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35" r:id="rId2"/>
    <p:sldId id="257" r:id="rId3"/>
    <p:sldId id="316" r:id="rId4"/>
    <p:sldId id="303" r:id="rId5"/>
    <p:sldId id="336" r:id="rId6"/>
    <p:sldId id="351" r:id="rId7"/>
    <p:sldId id="292" r:id="rId8"/>
    <p:sldId id="337" r:id="rId9"/>
    <p:sldId id="338" r:id="rId10"/>
    <p:sldId id="352" r:id="rId11"/>
    <p:sldId id="339" r:id="rId12"/>
    <p:sldId id="340" r:id="rId13"/>
    <p:sldId id="341" r:id="rId14"/>
    <p:sldId id="353" r:id="rId15"/>
    <p:sldId id="342" r:id="rId16"/>
    <p:sldId id="343" r:id="rId17"/>
    <p:sldId id="344" r:id="rId18"/>
    <p:sldId id="345" r:id="rId19"/>
    <p:sldId id="354" r:id="rId20"/>
    <p:sldId id="346" r:id="rId21"/>
    <p:sldId id="347" r:id="rId22"/>
    <p:sldId id="348" r:id="rId23"/>
    <p:sldId id="349" r:id="rId24"/>
    <p:sldId id="350" r:id="rId25"/>
    <p:sldId id="35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300BE-0930-4E3A-BBE7-856ECE811BF5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C295E-AF47-41D2-9C1D-508C57F40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58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F209-02D0-40C7-A3E7-C1F057488A3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8586D-FA47-42DD-B5CA-B05827FCB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C542C4-E982-41C6-B996-C8D94E64B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27FBCA-C42B-4F0F-BA78-1E5CCC84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1262F7-1A1D-4D2C-9B8E-A5E86824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6539D-4A01-4E7C-9729-51CD3906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89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F7C9D-0872-4B20-B4D4-C53F1918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D2770-E2B2-4071-BE4E-49155126C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E7705-910A-4D80-888B-F4DCDC8C9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4F95B3-FF39-4CD3-B96C-5081CCC0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9D3A7E-2B6D-46F3-A77A-B3C30527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72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6D40C-8CD6-4CD6-B596-F9FD512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708F63-82F0-493F-A4EC-FC420FA69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17A6FD-1AC4-43CC-A4EA-B7941983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384289-42C2-4687-A24D-CAD892C1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9AA728-26F4-4A47-8CB4-7E53ADEC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78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3B362-96EA-41BD-8016-6F634951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CF2D00-EAAE-4840-B59B-602AEC629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69714F-ED1A-4CDC-B642-AA7824264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C1668F-DB5A-4950-BDF8-96B2714C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12D6D-42B1-4C42-B0E4-B6D5CE32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C6CE5-B98E-4A98-993C-DD82FDE5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7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B2355-3689-4988-9AFF-6DB35515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28321C-71E8-451D-9006-C29ED04BC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AE547-D1AD-4E7B-B465-DB4743F1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165166-515D-418A-8D6E-83501496F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CC7884-C6B1-427A-8967-FE079AF78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5C4BCE-91A3-47FE-8A02-5BEC8C89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6A93A4-9B5C-4687-B43E-30E3C6D7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5701E5-FBA3-4D26-B785-E28A2DEB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79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DC10E-EB73-45E7-99F9-B9DE5C88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E2FEC3-7D2D-488E-B9ED-DF6092DE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6DE9F8-50E4-44D5-A967-58D4DCC4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DDD8AC-9A1A-4547-ADDE-EB067DC5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9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CEB1DA-BB10-4A19-B1A4-BCAFE198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312DF2-F480-4487-9E69-D2F1E9D6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8C1FA-2E6D-4C63-9C32-1B2F75B7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61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BB1EB-CCAE-4427-BD6C-567379E4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CCC75C-3B64-418C-9152-9D298FB7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D556D5-D402-4165-8EED-E77A2DB96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E8AB70-A709-442F-98EE-C90322EA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38FAE-63DB-4151-9D5D-029956AF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E8723-1A08-4D24-BF94-DA8740A1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28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F62E2-512D-49D6-9DC3-72EADF24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6B9D30-10DA-4C9A-932D-387A688FD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539FE5-DFE4-46D3-856B-E3A1C78EC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02321-5144-462A-AD7C-BA1B02F9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BD56C6-592E-46A2-A70D-2242393A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932C1D-9291-41BD-A8BA-7F43ED65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97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5C6FE-CB6E-4ABD-A94F-324AA465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5C93DF-DEF2-49A6-8620-15056921A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C595E6-194E-4C8A-9A12-D4E106BF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35510-3943-4F32-8722-D361F54D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41C0C3-F9D1-443B-8E9D-D929F39D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86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AF397B-750F-46DC-9F5A-F0E7A8CE1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842E47-FC83-4939-B0F7-3724D5ED7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7D592-C441-4CE5-A668-3427F4D0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D772C4-C29E-4965-9493-51AF1179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480DD-CF4C-4D57-B7AA-8CB5C7C8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11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ED0448-3D8F-487E-ACCC-F7EF798C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0421C1-CEF1-4DAD-90BF-9E561A1F6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4C78D3-DF09-44E1-998F-7382529B0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A678-0512-4213-8113-DED3E3383A8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B27FEF-47DC-421A-A97D-69A87F311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A8871C-DAE0-43A0-BC78-65F02A279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71A16-1C55-4839-8CDA-B2D0F09B7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59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flipH="1">
            <a:off x="0" y="0"/>
            <a:ext cx="7970521" cy="68580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20000" y="2543333"/>
            <a:ext cx="3658053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6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协议</a:t>
            </a:r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719999" y="3502109"/>
            <a:ext cx="5328000" cy="0"/>
          </a:xfrm>
          <a:prstGeom prst="line">
            <a:avLst/>
          </a:prstGeom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19999" y="3821360"/>
            <a:ext cx="2824491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吴永杰、徐小豪，田海博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计算机学院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9999" y="189638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计算机网络实验课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67"/>
          <p:cNvSpPr txBox="1"/>
          <p:nvPr/>
        </p:nvSpPr>
        <p:spPr>
          <a:xfrm>
            <a:off x="609932" y="4572107"/>
            <a:ext cx="17799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协议概述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53477" y="5325676"/>
            <a:ext cx="347731" cy="0"/>
          </a:xfrm>
          <a:prstGeom prst="line">
            <a:avLst/>
          </a:prstGeom>
          <a:ln w="25400">
            <a:solidFill>
              <a:srgbClr val="0056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71"/>
          <p:cNvSpPr txBox="1"/>
          <p:nvPr/>
        </p:nvSpPr>
        <p:spPr>
          <a:xfrm>
            <a:off x="645578" y="3795640"/>
            <a:ext cx="6784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>
                  <a:noFill/>
                </a:ln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2400" dirty="0">
              <a:ln>
                <a:noFill/>
              </a:ln>
              <a:solidFill>
                <a:srgbClr val="00561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8" name="文本框 9"/>
          <p:cNvSpPr txBox="1"/>
          <p:nvPr/>
        </p:nvSpPr>
        <p:spPr>
          <a:xfrm>
            <a:off x="2909413" y="4523722"/>
            <a:ext cx="17799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关键概念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2952958" y="5277291"/>
            <a:ext cx="347731" cy="0"/>
          </a:xfrm>
          <a:prstGeom prst="line">
            <a:avLst/>
          </a:prstGeom>
          <a:ln w="25400">
            <a:solidFill>
              <a:srgbClr val="0056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8"/>
          <p:cNvSpPr txBox="1"/>
          <p:nvPr/>
        </p:nvSpPr>
        <p:spPr>
          <a:xfrm>
            <a:off x="2945059" y="3747255"/>
            <a:ext cx="6784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>
                  <a:noFill/>
                </a:ln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2400" dirty="0">
              <a:ln>
                <a:noFill/>
              </a:ln>
              <a:solidFill>
                <a:srgbClr val="00561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5" name="文本框 22"/>
          <p:cNvSpPr txBox="1"/>
          <p:nvPr/>
        </p:nvSpPr>
        <p:spPr>
          <a:xfrm>
            <a:off x="5291461" y="4523722"/>
            <a:ext cx="202446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报文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5335006" y="5277291"/>
            <a:ext cx="347731" cy="0"/>
          </a:xfrm>
          <a:prstGeom prst="line">
            <a:avLst/>
          </a:prstGeom>
          <a:ln w="25400">
            <a:solidFill>
              <a:srgbClr val="0056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27"/>
          <p:cNvSpPr txBox="1"/>
          <p:nvPr/>
        </p:nvSpPr>
        <p:spPr>
          <a:xfrm>
            <a:off x="5327107" y="3747255"/>
            <a:ext cx="6784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>
                  <a:noFill/>
                </a:ln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2400" dirty="0">
              <a:ln>
                <a:noFill/>
              </a:ln>
              <a:solidFill>
                <a:srgbClr val="00561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0" name="文本框 39"/>
          <p:cNvSpPr txBox="1"/>
          <p:nvPr/>
        </p:nvSpPr>
        <p:spPr>
          <a:xfrm>
            <a:off x="7458084" y="4523722"/>
            <a:ext cx="195737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运行过程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7501629" y="5277291"/>
            <a:ext cx="347731" cy="0"/>
          </a:xfrm>
          <a:prstGeom prst="line">
            <a:avLst/>
          </a:prstGeom>
          <a:ln w="25400">
            <a:solidFill>
              <a:srgbClr val="0056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44"/>
          <p:cNvSpPr txBox="1"/>
          <p:nvPr/>
        </p:nvSpPr>
        <p:spPr>
          <a:xfrm>
            <a:off x="7493730" y="3747255"/>
            <a:ext cx="6784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>
                  <a:noFill/>
                </a:ln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2400" dirty="0">
              <a:ln>
                <a:noFill/>
              </a:ln>
              <a:solidFill>
                <a:srgbClr val="00561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99426" y="1265741"/>
            <a:ext cx="1538883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60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2331799" y="1574135"/>
            <a:ext cx="247599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0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4000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726196" y="6318000"/>
            <a:ext cx="1073960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20000" y="2190306"/>
            <a:ext cx="3942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39"/>
          <p:cNvSpPr txBox="1"/>
          <p:nvPr/>
        </p:nvSpPr>
        <p:spPr>
          <a:xfrm>
            <a:off x="10044179" y="4523722"/>
            <a:ext cx="195737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2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设计原则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087724" y="5277291"/>
            <a:ext cx="347731" cy="0"/>
          </a:xfrm>
          <a:prstGeom prst="line">
            <a:avLst/>
          </a:prstGeom>
          <a:ln w="25400">
            <a:solidFill>
              <a:srgbClr val="0056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4"/>
          <p:cNvSpPr txBox="1"/>
          <p:nvPr/>
        </p:nvSpPr>
        <p:spPr>
          <a:xfrm>
            <a:off x="10079825" y="3747255"/>
            <a:ext cx="6784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>
                  <a:noFill/>
                </a:ln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</a:t>
            </a:r>
            <a:r>
              <a:rPr lang="en-US" altLang="zh-CN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5</a:t>
            </a:r>
            <a:endParaRPr lang="zh-CN" altLang="en-US" sz="2400" dirty="0">
              <a:ln>
                <a:noFill/>
              </a:ln>
              <a:solidFill>
                <a:srgbClr val="00561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20001" y="2534727"/>
            <a:ext cx="519693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协议概述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0001" y="1435577"/>
            <a:ext cx="74699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20001" y="2365289"/>
            <a:ext cx="293637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20000" y="3514767"/>
            <a:ext cx="375985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协议简介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013869" y="4291880"/>
            <a:ext cx="1563648" cy="4147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输入关键词</a:t>
            </a:r>
          </a:p>
        </p:txBody>
      </p:sp>
      <p:pic>
        <p:nvPicPr>
          <p:cNvPr id="33" name="图片 32" descr="图片包含 游戏机, 门&#10;&#10;描述已自动生成"/>
          <p:cNvPicPr/>
          <p:nvPr/>
        </p:nvPicPr>
        <p:blipFill>
          <a:blip r:embed="rId4" cstate="print">
            <a:alphaModFix amt="35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56175" y="6124420"/>
            <a:ext cx="1679650" cy="7335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4995" y="1507497"/>
            <a:ext cx="10432472" cy="211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OSPF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，全称为“开放式最短路径优先”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(Open Shortest Path First)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，是一种专为多厂商设备环境设计的内部网关型动态路由选择协议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(IGP)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，具备出色的可扩展性。它作为一种链路状态协议，其核心思想是让网络中的每台路由器都通过交互链路状态信息，在本地构建出完整的网络拓扑“地图”，然后基于这份地图独立计算出到达各个目的地的无环路最佳路径。在网络传输层面，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OSPF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协议报文直接承载于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报文中，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IP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协议号为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89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。</a:t>
            </a:r>
            <a:endParaRPr lang="zh-CN" altLang="zh-CN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95" y="4189714"/>
            <a:ext cx="52673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协议的优势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013869" y="4291880"/>
            <a:ext cx="1563648" cy="4147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输入关键词</a:t>
            </a:r>
          </a:p>
        </p:txBody>
      </p:sp>
      <p:pic>
        <p:nvPicPr>
          <p:cNvPr id="33" name="图片 32" descr="图片包含 游戏机, 门&#10;&#10;描述已自动生成"/>
          <p:cNvPicPr/>
          <p:nvPr/>
        </p:nvPicPr>
        <p:blipFill>
          <a:blip r:embed="rId4" cstate="print">
            <a:alphaModFix amt="35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56175" y="6124420"/>
            <a:ext cx="1679650" cy="733580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24995" y="1607012"/>
            <a:ext cx="840664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OSPF具备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快速收敛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的能力，当网络拓扑发生变化时，能迅速触发更新并重新计算路由，在小规模网络中收敛时间可快至十多秒钟 。其次，其基于SPF（Dijkstra）算法的特性，使每台路由器都能计算出以自身为根的无环路路径图，从根本上杜绝了路由环路的产生。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支持VLSM: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协议支持可变长子网掩码，有助于实现优良的地址规划和IP地址的高效利用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良好的扩展性: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通过“区域”划分，能够有效支持大规模网络的部署 。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高安全性与可靠性: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支持认证机制，保证路由更新的合法性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20001" y="2534727"/>
            <a:ext cx="519693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关键概念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0001" y="1435577"/>
            <a:ext cx="74699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20001" y="2365289"/>
            <a:ext cx="293637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20000" y="3514767"/>
            <a:ext cx="375985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关键概念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48229" y="4688715"/>
            <a:ext cx="1602266" cy="4147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区域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(Area)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8229" y="5275003"/>
            <a:ext cx="5752096" cy="79246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OSPF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网络的基本组织单位。一个区域是由一组拥有完全相同拓扑数据库的路由器构成的集合。通过将大型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AS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划分为多个区域，可以显著降低路由信息的数量并建立分层网络。</a:t>
            </a:r>
          </a:p>
        </p:txBody>
      </p:sp>
      <p:sp>
        <p:nvSpPr>
          <p:cNvPr id="34" name="矩形 33"/>
          <p:cNvSpPr/>
          <p:nvPr/>
        </p:nvSpPr>
        <p:spPr>
          <a:xfrm>
            <a:off x="780496" y="1659484"/>
            <a:ext cx="5188504" cy="3760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自治系统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(AS-Autonomous System)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80496" y="2135843"/>
            <a:ext cx="5823504" cy="312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指的是使用一个共同路由协议来交换信息的一组路由器集合。</a:t>
            </a:r>
          </a:p>
        </p:txBody>
      </p:sp>
      <p:sp>
        <p:nvSpPr>
          <p:cNvPr id="9" name="矩形 8"/>
          <p:cNvSpPr/>
          <p:nvPr/>
        </p:nvSpPr>
        <p:spPr>
          <a:xfrm>
            <a:off x="780496" y="3032634"/>
            <a:ext cx="4991198" cy="4075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路由器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ID (Router ID)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3703" y="3568595"/>
            <a:ext cx="5819829" cy="5523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这是一个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32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位的数字，在整个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OSPF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自治系统中被赋予每台路由器，作为其独一无二的标识。</a:t>
            </a:r>
          </a:p>
        </p:txBody>
      </p:sp>
      <p:grpSp>
        <p:nvGrpSpPr>
          <p:cNvPr id="48" name="Group 3"/>
          <p:cNvGrpSpPr/>
          <p:nvPr/>
        </p:nvGrpSpPr>
        <p:grpSpPr bwMode="auto">
          <a:xfrm>
            <a:off x="7103435" y="2000476"/>
            <a:ext cx="4991198" cy="3103033"/>
            <a:chOff x="0" y="0"/>
            <a:chExt cx="4127" cy="2994"/>
          </a:xfrm>
        </p:grpSpPr>
        <p:sp>
          <p:nvSpPr>
            <p:cNvPr id="49" name="Oval 4"/>
            <p:cNvSpPr>
              <a:spLocks noChangeArrowheads="1"/>
            </p:cNvSpPr>
            <p:nvPr/>
          </p:nvSpPr>
          <p:spPr bwMode="auto">
            <a:xfrm>
              <a:off x="2132" y="1451"/>
              <a:ext cx="1995" cy="1543"/>
            </a:xfrm>
            <a:prstGeom prst="ellipse">
              <a:avLst/>
            </a:prstGeom>
            <a:solidFill>
              <a:srgbClr val="CED3D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1pPr>
              <a:lvl2pPr marL="742950" indent="-28575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2pPr>
              <a:lvl3pPr marL="11430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3pPr>
              <a:lvl4pPr marL="16002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4pPr>
              <a:lvl5pPr marL="20574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" name="Oval 5"/>
            <p:cNvSpPr>
              <a:spLocks noChangeArrowheads="1"/>
            </p:cNvSpPr>
            <p:nvPr/>
          </p:nvSpPr>
          <p:spPr bwMode="auto">
            <a:xfrm>
              <a:off x="0" y="1496"/>
              <a:ext cx="1950" cy="1452"/>
            </a:xfrm>
            <a:prstGeom prst="ellipse">
              <a:avLst/>
            </a:prstGeom>
            <a:solidFill>
              <a:srgbClr val="CED3D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1pPr>
              <a:lvl2pPr marL="742950" indent="-28575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2pPr>
              <a:lvl3pPr marL="11430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3pPr>
              <a:lvl4pPr marL="16002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4pPr>
              <a:lvl5pPr marL="20574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Oval 6"/>
            <p:cNvSpPr>
              <a:spLocks noChangeArrowheads="1"/>
            </p:cNvSpPr>
            <p:nvPr/>
          </p:nvSpPr>
          <p:spPr bwMode="auto">
            <a:xfrm>
              <a:off x="453" y="0"/>
              <a:ext cx="3176" cy="1587"/>
            </a:xfrm>
            <a:prstGeom prst="ellipse">
              <a:avLst/>
            </a:prstGeom>
            <a:solidFill>
              <a:srgbClr val="CED3D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1pPr>
              <a:lvl2pPr marL="742950" indent="-28575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2pPr>
              <a:lvl3pPr marL="11430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3pPr>
              <a:lvl4pPr marL="16002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4pPr>
              <a:lvl5pPr marL="20574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" name="Line 7"/>
            <p:cNvSpPr>
              <a:spLocks noChangeShapeType="1"/>
            </p:cNvSpPr>
            <p:nvPr/>
          </p:nvSpPr>
          <p:spPr bwMode="auto">
            <a:xfrm>
              <a:off x="2177" y="272"/>
              <a:ext cx="91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2177" y="272"/>
              <a:ext cx="72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9"/>
            <p:cNvSpPr>
              <a:spLocks noChangeShapeType="1"/>
            </p:cNvSpPr>
            <p:nvPr/>
          </p:nvSpPr>
          <p:spPr bwMode="auto">
            <a:xfrm flipH="1">
              <a:off x="2721" y="725"/>
              <a:ext cx="182" cy="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>
              <a:off x="1451" y="362"/>
              <a:ext cx="771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 flipH="1">
              <a:off x="1905" y="771"/>
              <a:ext cx="317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2"/>
            <p:cNvSpPr>
              <a:spLocks noChangeShapeType="1"/>
            </p:cNvSpPr>
            <p:nvPr/>
          </p:nvSpPr>
          <p:spPr bwMode="auto">
            <a:xfrm flipH="1">
              <a:off x="1270" y="362"/>
              <a:ext cx="136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1225" y="907"/>
              <a:ext cx="136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4"/>
            <p:cNvSpPr>
              <a:spLocks noChangeShapeType="1"/>
            </p:cNvSpPr>
            <p:nvPr/>
          </p:nvSpPr>
          <p:spPr bwMode="auto">
            <a:xfrm flipH="1">
              <a:off x="1361" y="1134"/>
              <a:ext cx="408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auto">
            <a:xfrm>
              <a:off x="2767" y="1587"/>
              <a:ext cx="453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495" y="1587"/>
              <a:ext cx="272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2404" y="2131"/>
              <a:ext cx="317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8"/>
            <p:cNvSpPr>
              <a:spLocks noChangeShapeType="1"/>
            </p:cNvSpPr>
            <p:nvPr/>
          </p:nvSpPr>
          <p:spPr bwMode="auto">
            <a:xfrm flipH="1">
              <a:off x="3311" y="1995"/>
              <a:ext cx="45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9"/>
            <p:cNvSpPr>
              <a:spLocks noChangeShapeType="1"/>
            </p:cNvSpPr>
            <p:nvPr/>
          </p:nvSpPr>
          <p:spPr bwMode="auto">
            <a:xfrm flipH="1">
              <a:off x="1270" y="2086"/>
              <a:ext cx="272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20"/>
            <p:cNvSpPr>
              <a:spLocks noChangeShapeType="1"/>
            </p:cNvSpPr>
            <p:nvPr/>
          </p:nvSpPr>
          <p:spPr bwMode="auto">
            <a:xfrm>
              <a:off x="1270" y="1587"/>
              <a:ext cx="272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1"/>
            <p:cNvSpPr>
              <a:spLocks noChangeShapeType="1"/>
            </p:cNvSpPr>
            <p:nvPr/>
          </p:nvSpPr>
          <p:spPr bwMode="auto">
            <a:xfrm flipH="1">
              <a:off x="726" y="1587"/>
              <a:ext cx="544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22"/>
            <p:cNvSpPr>
              <a:spLocks noChangeShapeType="1"/>
            </p:cNvSpPr>
            <p:nvPr/>
          </p:nvSpPr>
          <p:spPr bwMode="auto">
            <a:xfrm flipH="1">
              <a:off x="544" y="1905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3"/>
            <p:cNvSpPr>
              <a:spLocks noChangeShapeType="1"/>
            </p:cNvSpPr>
            <p:nvPr/>
          </p:nvSpPr>
          <p:spPr bwMode="auto">
            <a:xfrm>
              <a:off x="725" y="2449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45791" dir="2021404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3039" y="2540"/>
              <a:ext cx="862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1pPr>
              <a:lvl2pPr marL="742950" indent="-28575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2pPr>
              <a:lvl3pPr marL="11430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3pPr>
              <a:lvl4pPr marL="16002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4pPr>
              <a:lvl5pPr marL="20574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FontTx/>
                <a:buNone/>
              </a:pPr>
              <a:r>
                <a:rPr lang="zh-CN" altLang="zh-CN" sz="2800" b="1"/>
                <a:t>Area2</a:t>
              </a:r>
            </a:p>
          </p:txBody>
        </p:sp>
        <p:sp>
          <p:nvSpPr>
            <p:cNvPr id="74" name="Rectangle 25"/>
            <p:cNvSpPr>
              <a:spLocks noChangeArrowheads="1"/>
            </p:cNvSpPr>
            <p:nvPr/>
          </p:nvSpPr>
          <p:spPr bwMode="auto">
            <a:xfrm>
              <a:off x="726" y="2585"/>
              <a:ext cx="771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1pPr>
              <a:lvl2pPr marL="742950" indent="-28575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2pPr>
              <a:lvl3pPr marL="11430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3pPr>
              <a:lvl4pPr marL="16002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4pPr>
              <a:lvl5pPr marL="20574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FontTx/>
                <a:buNone/>
              </a:pPr>
              <a:r>
                <a:rPr lang="zh-CN" altLang="zh-CN" sz="2800" b="1"/>
                <a:t>Area1</a:t>
              </a:r>
            </a:p>
          </p:txBody>
        </p:sp>
        <p:sp>
          <p:nvSpPr>
            <p:cNvPr id="75" name="Rectangle 26"/>
            <p:cNvSpPr>
              <a:spLocks noChangeArrowheads="1"/>
            </p:cNvSpPr>
            <p:nvPr/>
          </p:nvSpPr>
          <p:spPr bwMode="auto">
            <a:xfrm>
              <a:off x="1723" y="1270"/>
              <a:ext cx="90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1pPr>
              <a:lvl2pPr marL="742950" indent="-28575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2pPr>
              <a:lvl3pPr marL="11430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3pPr>
              <a:lvl4pPr marL="16002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4pPr>
              <a:lvl5pPr marL="2057400" indent="-228600"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Arial" panose="0208060402020202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FontTx/>
                <a:buNone/>
              </a:pPr>
              <a:r>
                <a:rPr lang="zh-CN" altLang="zh-CN" sz="2800" b="1"/>
                <a:t>Area0</a:t>
              </a:r>
            </a:p>
          </p:txBody>
        </p:sp>
        <p:pic>
          <p:nvPicPr>
            <p:cNvPr id="76" name="Picture 2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3" y="635"/>
              <a:ext cx="4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" name="Picture 2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" y="155"/>
              <a:ext cx="4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Picture 2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1" y="59"/>
              <a:ext cx="4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" name="Picture 3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" y="875"/>
              <a:ext cx="4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" name="Picture 3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7" y="539"/>
              <a:ext cx="4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" name="Picture 3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" y="491"/>
              <a:ext cx="4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" name="Picture 3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3" y="1211"/>
              <a:ext cx="589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3" name="Picture 3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3" y="1883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" name="Picture 3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7" y="2363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" name="Picture 3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7" y="1739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3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3" y="2267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3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" y="1211"/>
              <a:ext cx="589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3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" y="1835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4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" y="2267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Picture 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" y="1691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1" name="Picture 4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" y="2219"/>
              <a:ext cx="40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关键概念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93703" y="4688715"/>
            <a:ext cx="6509304" cy="4075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链路状态通告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(LSA - Link State Advertisement)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7569" y="5267756"/>
            <a:ext cx="5752096" cy="79246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这是描述本地路由器或网络状态的数据单元。对于一台路由器而言，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LSA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包含了其接口状态和邻接状态等信息。所有收集到的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LSA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共同组成了路由器的链路状态数据库。</a:t>
            </a:r>
          </a:p>
        </p:txBody>
      </p:sp>
      <p:sp>
        <p:nvSpPr>
          <p:cNvPr id="34" name="矩形 33"/>
          <p:cNvSpPr/>
          <p:nvPr/>
        </p:nvSpPr>
        <p:spPr>
          <a:xfrm>
            <a:off x="780496" y="1659484"/>
            <a:ext cx="5188504" cy="3760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邻居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(Neighbor)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80496" y="2135843"/>
            <a:ext cx="5823504" cy="5523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当两台路由器的接口连接到同一个公共网络时，它们可以通过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OSPF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Hello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报文来维持邻居关系。</a:t>
            </a:r>
          </a:p>
        </p:txBody>
      </p:sp>
      <p:sp>
        <p:nvSpPr>
          <p:cNvPr id="9" name="矩形 8"/>
          <p:cNvSpPr/>
          <p:nvPr/>
        </p:nvSpPr>
        <p:spPr>
          <a:xfrm>
            <a:off x="780496" y="3032634"/>
            <a:ext cx="4991198" cy="4075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邻接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(Adjacency)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3703" y="3568595"/>
            <a:ext cx="5819829" cy="5523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OSPF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在相邻的路由器之间建立邻接关系，以便它们能够交换路由信息。需要注意的是，并非每对邻居路由器都能发展成邻接关系。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关键概念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80495" y="4790969"/>
            <a:ext cx="4841371" cy="4075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自治系统边界路由器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(ASBR)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80495" y="5338480"/>
            <a:ext cx="5752096" cy="312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位于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OSPF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自治系统边缘的路由器，它同时运行着其他路由协议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如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RIP)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。</a:t>
            </a:r>
          </a:p>
        </p:txBody>
      </p:sp>
      <p:sp>
        <p:nvSpPr>
          <p:cNvPr id="34" name="矩形 33"/>
          <p:cNvSpPr/>
          <p:nvPr/>
        </p:nvSpPr>
        <p:spPr>
          <a:xfrm>
            <a:off x="780496" y="1659484"/>
            <a:ext cx="5188504" cy="3760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指定路由器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(DR)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和 备用指定路由器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(BDR)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80495" y="2172524"/>
            <a:ext cx="6365372" cy="79246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在以太网等多路访问网络中，为了降低形成的邻接数量，会选举出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BDR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。网络中的其他路由器只与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BDR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形成邻接关系，并将自己的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LSA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发送给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，再由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负责将这些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LSA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发送到整个网络。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BDR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则作为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的备份，在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DR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失效时接管其任务。</a:t>
            </a:r>
          </a:p>
        </p:txBody>
      </p:sp>
      <p:sp>
        <p:nvSpPr>
          <p:cNvPr id="9" name="矩形 8"/>
          <p:cNvSpPr/>
          <p:nvPr/>
        </p:nvSpPr>
        <p:spPr>
          <a:xfrm>
            <a:off x="780495" y="3283532"/>
            <a:ext cx="4991198" cy="4075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区域边界路由器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(ABR)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0495" y="3864044"/>
            <a:ext cx="5819829" cy="312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10600030101010101" charset="-122"/>
                <a:ea typeface="思源黑体 CN Regular" panose="02010600030101010101" charset="-122"/>
              </a:rPr>
              <a:t>位于两个或多个区域之间的路由器。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20001" y="2534727"/>
            <a:ext cx="3658053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报文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0001" y="1435577"/>
            <a:ext cx="74699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20001" y="2365289"/>
            <a:ext cx="293637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20000" y="3514767"/>
            <a:ext cx="375985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报文结构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98400" y="1330676"/>
            <a:ext cx="5858600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OSPF</a:t>
            </a:r>
            <a:r>
              <a:rPr lang="zh-CN" altLang="en-US" dirty="0">
                <a:latin typeface="+mn-ea"/>
              </a:rPr>
              <a:t>的所有通信都通过其特定的报文格式进行。这些报文直接封装在</a:t>
            </a:r>
            <a:r>
              <a:rPr lang="en-US" altLang="zh-CN" dirty="0">
                <a:latin typeface="+mn-ea"/>
              </a:rPr>
              <a:t>IP</a:t>
            </a:r>
            <a:r>
              <a:rPr lang="zh-CN" altLang="en-US" dirty="0">
                <a:latin typeface="+mn-ea"/>
              </a:rPr>
              <a:t>报文内。每个</a:t>
            </a:r>
            <a:r>
              <a:rPr lang="en-US" altLang="zh-CN" dirty="0">
                <a:latin typeface="+mn-ea"/>
              </a:rPr>
              <a:t>OSPF</a:t>
            </a:r>
            <a:r>
              <a:rPr lang="zh-CN" altLang="en-US" dirty="0">
                <a:latin typeface="+mn-ea"/>
              </a:rPr>
              <a:t>报文都由一个统一格式的</a:t>
            </a:r>
            <a:r>
              <a:rPr lang="en-US" altLang="zh-CN" dirty="0">
                <a:latin typeface="+mn-ea"/>
              </a:rPr>
              <a:t>OSPF</a:t>
            </a:r>
            <a:r>
              <a:rPr lang="zh-CN" altLang="en-US" dirty="0">
                <a:latin typeface="+mn-ea"/>
              </a:rPr>
              <a:t>报文头开始，报头之后是具体的数据区，数据区的格式随报文类型的不同而变化。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63500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4995" y="1138034"/>
          <a:ext cx="4014638" cy="212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5" imgW="3991610" imgH="2552065" progId="Visio.Drawing.6">
                  <p:embed/>
                </p:oleObj>
              </mc:Choice>
              <mc:Fallback>
                <p:oleObj r:id="rId5" imgW="3991610" imgH="2552065" progId="Visio.Drawing.6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95" y="1138034"/>
                        <a:ext cx="4014638" cy="2124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827986" y="4155194"/>
            <a:ext cx="61301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通用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OSPF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头部关键字段: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Version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OSPF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的版本号，当前为版本2。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Type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标识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OSPF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报文的类型，共有5种。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Area ID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标识该报文产生的区域。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Checksum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用于校验整个报文的完整性。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Au Type &amp; Authentication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用于身份认证的相关信息。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24995" y="36425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76235" y="3609458"/>
          <a:ext cx="2782439" cy="3122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7" imgW="2912110" imgH="3295650" progId="Visio.Drawing.6">
                  <p:embed/>
                </p:oleObj>
              </mc:Choice>
              <mc:Fallback>
                <p:oleObj r:id="rId7" imgW="2912110" imgH="3295650" progId="Visio.Drawing.6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235" y="3609458"/>
                        <a:ext cx="2782439" cy="3122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报文类型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4838" y="1123235"/>
            <a:ext cx="537425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OSPF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定义了五种不同类型的报文，以完成从邻居发现到数据库同步的全部过程。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Hello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报文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Type 1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 用于建立和维护邻居关系，并在广播网络中选举DR。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数据库描述报文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DD-Type 2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 用于在数据库同步过程中，向邻居描述本地链路状态数据库的摘要信息。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链路状态请求报文</a:t>
            </a:r>
            <a:r>
              <a:rPr lang="en-US" altLang="zh-CN" sz="16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6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LSR-Type 3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 当路由器发现自己的数据库信息不完整时，通过LSR向邻居请求特定的LSA。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链路状态更新报文</a:t>
            </a:r>
            <a:r>
              <a:rPr lang="zh-CN" altLang="zh-CN" sz="1600" b="1" dirty="0">
                <a:latin typeface="宋体" pitchFamily="2" charset="-122"/>
                <a:ea typeface="宋体" pitchFamily="2" charset="-122"/>
              </a:rPr>
              <a:t>(LSU-Type 4)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 真正承载LSA详细信息的数据包，用于向邻居发送更新。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链路状态确认报文</a:t>
            </a:r>
            <a:r>
              <a:rPr lang="zh-CN" altLang="zh-CN" sz="1600" b="1" dirty="0">
                <a:latin typeface="宋体" pitchFamily="2" charset="-122"/>
                <a:ea typeface="宋体" pitchFamily="2" charset="-122"/>
              </a:rPr>
              <a:t>(LSAck-Type 5):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用于对收到的LSU报文进行确认，确保信息可靠传输。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675" y="1520855"/>
            <a:ext cx="526732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LSA</a:t>
            </a:r>
            <a:endParaRPr lang="zh-CN" altLang="en-US" sz="2400" dirty="0">
              <a:solidFill>
                <a:srgbClr val="00561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24994" y="1222755"/>
            <a:ext cx="65608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LSA是OSPF的核心数据结构，每一个LSA都由一个通用头部来标识和管理。这个头部确保了每个LSA在网络中都具有唯一性，并能判断其新旧程度。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176513" y="1698297"/>
            <a:ext cx="19404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24994" y="2423084"/>
          <a:ext cx="4628170" cy="339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5" imgW="3065780" imgH="2247265" progId="Visio.Drawing.6">
                  <p:embed/>
                </p:oleObj>
              </mc:Choice>
              <mc:Fallback>
                <p:oleObj r:id="rId5" imgW="3065780" imgH="2247265" progId="Visio.Drawing.6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94" y="2423084"/>
                        <a:ext cx="4628170" cy="3392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392173" y="2652624"/>
            <a:ext cx="5365632" cy="282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1800" dirty="0">
                <a:latin typeface="+mn-ea"/>
              </a:rPr>
              <a:t>LSA类型1 – 路由器LSA Router LSA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1800" dirty="0">
                <a:latin typeface="+mn-ea"/>
              </a:rPr>
              <a:t>LSA类型2 – 网络LSA Network LSA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1800" dirty="0">
                <a:latin typeface="+mn-ea"/>
              </a:rPr>
              <a:t>LSA类型3 – 网络汇总LSA Network Summary LSA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1800" dirty="0">
                <a:latin typeface="+mn-ea"/>
              </a:rPr>
              <a:t>LSA类型4 – ASBR汇总LSA ASBR Summary LSA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1800" dirty="0">
                <a:latin typeface="+mn-ea"/>
              </a:rPr>
              <a:t>LSA类型5 – 自治系统外部LSA AS External LSA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1800" dirty="0">
                <a:latin typeface="+mn-ea"/>
              </a:rPr>
              <a:t>LSA类型7 – NSSA外部LSA NSSA External LSA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20001" y="2534727"/>
            <a:ext cx="519693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协议运行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0001" y="1435577"/>
            <a:ext cx="74699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20001" y="2365289"/>
            <a:ext cx="293637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20000" y="3514767"/>
            <a:ext cx="375985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运行过程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995" y="1193884"/>
            <a:ext cx="8499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lt"/>
              </a:rPr>
              <a:t>OSPF</a:t>
            </a:r>
            <a:r>
              <a:rPr lang="zh-CN" altLang="en-US" dirty="0">
                <a:latin typeface="+mj-lt"/>
              </a:rPr>
              <a:t>路由器之间建立关系的过程是一个严谨的状态机模型，从最初的</a:t>
            </a:r>
            <a:r>
              <a:rPr lang="en-US" altLang="zh-CN" dirty="0">
                <a:latin typeface="+mj-lt"/>
              </a:rPr>
              <a:t>Down</a:t>
            </a:r>
            <a:r>
              <a:rPr lang="zh-CN" altLang="en-US" dirty="0">
                <a:latin typeface="+mj-lt"/>
              </a:rPr>
              <a:t>状态开始，直到建立完全的邻接关系。</a:t>
            </a:r>
            <a:endParaRPr lang="en-US" altLang="zh-CN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24995" y="1956974"/>
            <a:ext cx="4766514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Down: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这是初始状态，表示在规定时间内没有从邻居收到任何信息。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在此状态，路由器已收到邻居发来的Hello包，但自身的IP地址还未出现在对方的Hello包中，表示双向通信尚未建立。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2-Way: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在这个状态，路由器看到自身已经存在于邻居的Hello包内，标志着双向通信已经建立 。指定路由器（DR）和备份指定路由器（BDR）的选择正是在这个状态完成的。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109623"/>
            <a:ext cx="526732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运行过程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995" y="1354667"/>
            <a:ext cx="672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当双向通信建立后，路由器会根据网络类型等因素决定是否需要进入数据库同步阶段，以建立完全的邻接关系。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24995" y="2133972"/>
            <a:ext cx="6078108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Exstart: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 这是建立邻接关系的第一个步骤。在此状态，路由器决定用于数据交换的初始DD报文序列号，并确定主从（Master/Slave）关系。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Exchange: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 在此状态，路由器通过发送DD报文来交换链路状态信息的摘要。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Loading: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 路由器会根据对比发现的新的或过期的LSA，向邻居发送LSR请求，并等待对方的LSU应答。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Full: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 这是邻接关系的最终状态，此时两台路由器的链路状态数据库已经完全一致并同步。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10173"/>
            <a:ext cx="526732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3248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SPF</a:t>
            </a:r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算法与路由表构建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995" y="1447801"/>
            <a:ext cx="5522821" cy="378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当链路状态数据库（</a:t>
            </a:r>
            <a:r>
              <a:rPr lang="en-US" altLang="zh-CN" dirty="0"/>
              <a:t>LSDB</a:t>
            </a:r>
            <a:r>
              <a:rPr lang="zh-CN" altLang="en-US" dirty="0"/>
              <a:t>）同步完成后，每台路由器都会独立执行</a:t>
            </a:r>
            <a:r>
              <a:rPr lang="en-US" altLang="zh-CN" dirty="0"/>
              <a:t>SPF</a:t>
            </a:r>
            <a:r>
              <a:rPr lang="zh-CN" altLang="en-US" dirty="0"/>
              <a:t>算法来构建自己的路由表。这个过程分为几个步骤：首先，路由器将收集到的所有</a:t>
            </a:r>
            <a:r>
              <a:rPr lang="en-US" altLang="zh-CN" dirty="0"/>
              <a:t>LSA</a:t>
            </a:r>
            <a:r>
              <a:rPr lang="zh-CN" altLang="en-US" dirty="0"/>
              <a:t>组合成一个完整的</a:t>
            </a:r>
            <a:r>
              <a:rPr lang="en-US" altLang="zh-CN" dirty="0"/>
              <a:t>LSDB</a:t>
            </a:r>
            <a:r>
              <a:rPr lang="zh-CN" altLang="en-US" dirty="0"/>
              <a:t>，这个数据库就是对整个区域网络拓扑的描述。接着，路由器将这个数据库转换为一张带“权”的有向图。最后，每台路由器在这张图上，以自己为根节点，使用</a:t>
            </a:r>
            <a:r>
              <a:rPr lang="en-US" altLang="zh-CN" dirty="0"/>
              <a:t>SPF</a:t>
            </a:r>
            <a:r>
              <a:rPr lang="zh-CN" altLang="en-US" dirty="0"/>
              <a:t>算法计算出到达每个目的地的最短路径树。这棵树的结果最终被用来生成路由表条目。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495" y="1210734"/>
            <a:ext cx="426720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64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收敛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995" y="1456267"/>
            <a:ext cx="11160605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路由收敛是指当网络拓扑发生变化（如路由器或链路故障）后，网络中的路由器重新计算路由并达到稳定状态的过程。与一些需要经历漫长等待过程的协议不同，</a:t>
            </a:r>
            <a:r>
              <a:rPr lang="en-US" altLang="zh-CN" dirty="0"/>
              <a:t>OSPF</a:t>
            </a:r>
            <a:r>
              <a:rPr lang="zh-CN" altLang="en-US" dirty="0"/>
              <a:t>的收敛非常迅速。一旦网络中发生任何变化，会立刻有相应类型的</a:t>
            </a:r>
            <a:r>
              <a:rPr lang="en-US" altLang="zh-CN" dirty="0"/>
              <a:t>LSA</a:t>
            </a:r>
            <a:r>
              <a:rPr lang="zh-CN" altLang="en-US" dirty="0"/>
              <a:t>被发送出去。各个路由器收集到新的</a:t>
            </a:r>
            <a:r>
              <a:rPr lang="en-US" altLang="zh-CN" dirty="0"/>
              <a:t>LSA</a:t>
            </a:r>
            <a:r>
              <a:rPr lang="zh-CN" altLang="en-US" dirty="0"/>
              <a:t>后，会很快地对更新后的</a:t>
            </a:r>
            <a:r>
              <a:rPr lang="en-US" altLang="zh-CN" dirty="0"/>
              <a:t>LSDB</a:t>
            </a:r>
            <a:r>
              <a:rPr lang="zh-CN" altLang="en-US" dirty="0"/>
              <a:t>重新进行</a:t>
            </a:r>
            <a:r>
              <a:rPr lang="en-US" altLang="zh-CN" dirty="0"/>
              <a:t>SPF</a:t>
            </a:r>
            <a:r>
              <a:rPr lang="zh-CN" altLang="en-US" dirty="0"/>
              <a:t>计算，并生成新的路由表。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20001" y="2534727"/>
            <a:ext cx="519693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OSPF</a:t>
            </a:r>
            <a:r>
              <a:rPr lang="zh-CN" altLang="en-US" sz="60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设计概念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0001" y="1435577"/>
            <a:ext cx="74699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05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20001" y="2365289"/>
            <a:ext cx="293637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20000" y="3514767"/>
            <a:ext cx="375985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区域划分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995" y="1405466"/>
            <a:ext cx="5174671" cy="378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随着网络规模的扩大，如果所有路由器都运行在单一区域内，路由器的负担会急剧增加。这主要体现在三个方面：链路状态数据库（</a:t>
            </a:r>
            <a:r>
              <a:rPr lang="en-US" altLang="zh-CN" dirty="0"/>
              <a:t>LSDB</a:t>
            </a:r>
            <a:r>
              <a:rPr lang="zh-CN" altLang="en-US" dirty="0"/>
              <a:t>）会变得非常庞大，消耗大量路由器内存 ；任何微小的拓扑变化都会引发全网范围的</a:t>
            </a:r>
            <a:r>
              <a:rPr lang="en-US" altLang="zh-CN" dirty="0"/>
              <a:t>SPF</a:t>
            </a:r>
            <a:r>
              <a:rPr lang="zh-CN" altLang="en-US" dirty="0"/>
              <a:t>算法重算，占用大量</a:t>
            </a:r>
            <a:r>
              <a:rPr lang="en-US" altLang="zh-CN" dirty="0"/>
              <a:t>CPU</a:t>
            </a:r>
            <a:r>
              <a:rPr lang="zh-CN" altLang="en-US" dirty="0"/>
              <a:t>资源 ；</a:t>
            </a:r>
            <a:r>
              <a:rPr lang="en-US" altLang="zh-CN" dirty="0"/>
              <a:t>LSA</a:t>
            </a:r>
            <a:r>
              <a:rPr lang="zh-CN" altLang="en-US" dirty="0"/>
              <a:t>的洪泛（</a:t>
            </a:r>
            <a:r>
              <a:rPr lang="en-US" altLang="zh-CN" dirty="0"/>
              <a:t>Flooding</a:t>
            </a:r>
            <a:r>
              <a:rPr lang="zh-CN" altLang="en-US" dirty="0"/>
              <a:t>）也会消耗更多的网络带宽。因此，对网络进行区域划分，可以有效地将路由变化的影响范围限制在局部，实现网络体系化，并增强网络的可扩展性。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3"/>
          <a:stretch>
            <a:fillRect/>
          </a:stretch>
        </p:blipFill>
        <p:spPr bwMode="auto">
          <a:xfrm>
            <a:off x="6096000" y="1714500"/>
            <a:ext cx="52673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合理规划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4995" y="1354478"/>
            <a:ext cx="11270672" cy="295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每个区域的路由器数量: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一个区域内应包含多少台路由器并没有固定标准，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根据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区域类型、路由器CPU能力、链路状况以及外部LSA的数量等</a:t>
            </a:r>
            <a:r>
              <a:rPr lang="zh-CN" altLang="en-US" dirty="0">
                <a:latin typeface="+mn-ea"/>
              </a:rPr>
              <a:t>因素合理设定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LAN上的邻居数量: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连接在同一个局域网上的路由器数目也非常重要 。每个LAN上的邻居越少，DR和BDR需要建立的邻接关系就越少，其资源消耗也就越低。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DR的选择: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应避免让跨越多个网段的路由器成为DR，因为这可能导致该路由器因处理多个网段的LSA而过载。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关注核心设备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4995" y="1287375"/>
            <a:ext cx="11205713" cy="212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ABR连接的区域数量: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每个ABR都需要为它所连接的所有区域维护一份独立的链路状态数据库。如果一个ABR连接的区域过多，会严重影响其性能。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路由器自身性能: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OSPF协议的内存开销主要来自路由表和LSDB。如果网络中引入了大量的外部路由，内存开销将显著增加。同时，SPF是一种CPU密集型算法，拓扑变化过于频繁将导致CPU持续高负荷运行。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优化路由信息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4995" y="1563638"/>
            <a:ext cx="10847005" cy="2543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b="1" dirty="0">
                <a:latin typeface="+mn-ea"/>
              </a:rPr>
              <a:t>优良的地址规划</a:t>
            </a:r>
            <a:r>
              <a:rPr lang="en-US" altLang="zh-CN" b="1" dirty="0">
                <a:latin typeface="+mn-ea"/>
              </a:rPr>
              <a:t>: </a:t>
            </a:r>
            <a:r>
              <a:rPr lang="zh-CN" altLang="en-US" dirty="0">
                <a:latin typeface="+mn-ea"/>
              </a:rPr>
              <a:t>进行层次化的</a:t>
            </a:r>
            <a:r>
              <a:rPr lang="en-US" altLang="zh-CN" dirty="0">
                <a:latin typeface="+mn-ea"/>
              </a:rPr>
              <a:t>IP</a:t>
            </a:r>
            <a:r>
              <a:rPr lang="zh-CN" altLang="en-US" dirty="0">
                <a:latin typeface="+mn-ea"/>
              </a:rPr>
              <a:t>地址规划，使其与</a:t>
            </a:r>
            <a:r>
              <a:rPr lang="en-US" altLang="zh-CN" dirty="0">
                <a:latin typeface="+mn-ea"/>
              </a:rPr>
              <a:t>OSPF</a:t>
            </a:r>
            <a:r>
              <a:rPr lang="zh-CN" altLang="en-US" dirty="0">
                <a:latin typeface="+mn-ea"/>
              </a:rPr>
              <a:t>的区域结构相匹配，这有利于在</a:t>
            </a:r>
            <a:r>
              <a:rPr lang="en-US" altLang="zh-CN" dirty="0">
                <a:latin typeface="+mn-ea"/>
              </a:rPr>
              <a:t>ABR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ASBR</a:t>
            </a:r>
            <a:r>
              <a:rPr lang="zh-CN" altLang="en-US" dirty="0">
                <a:latin typeface="+mn-ea"/>
              </a:rPr>
              <a:t>上进行路由聚合</a:t>
            </a:r>
            <a:r>
              <a:rPr lang="en-US" altLang="zh-CN" dirty="0">
                <a:latin typeface="+mn-ea"/>
              </a:rPr>
              <a:t>(Summarization)</a:t>
            </a:r>
            <a:r>
              <a:rPr lang="zh-CN" altLang="en-US" dirty="0">
                <a:latin typeface="+mn-ea"/>
              </a:rPr>
              <a:t>，从而减少</a:t>
            </a:r>
            <a:r>
              <a:rPr lang="en-US" altLang="zh-CN" dirty="0">
                <a:latin typeface="+mn-ea"/>
              </a:rPr>
              <a:t>LSA</a:t>
            </a:r>
            <a:r>
              <a:rPr lang="zh-CN" altLang="en-US" dirty="0">
                <a:latin typeface="+mn-ea"/>
              </a:rPr>
              <a:t>的数量，减轻核心路由器的负担。</a:t>
            </a:r>
            <a:endParaRPr lang="en-US" altLang="zh-CN" dirty="0"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dirty="0"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b="1" dirty="0">
                <a:latin typeface="+mn-ea"/>
              </a:rPr>
              <a:t>正确控制路由重分布</a:t>
            </a:r>
            <a:r>
              <a:rPr lang="zh-CN" altLang="zh-CN" b="1" dirty="0">
                <a:latin typeface="+mn-ea"/>
              </a:rPr>
              <a:t>: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将外部路由引入</a:t>
            </a:r>
            <a:r>
              <a:rPr lang="en-US" altLang="zh-CN" dirty="0">
                <a:latin typeface="+mn-ea"/>
              </a:rPr>
              <a:t>OSPF</a:t>
            </a:r>
            <a:r>
              <a:rPr lang="zh-CN" altLang="en-US" dirty="0">
                <a:latin typeface="+mn-ea"/>
              </a:rPr>
              <a:t>时必须谨慎，应使用路由策略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如</a:t>
            </a:r>
            <a:r>
              <a:rPr lang="en-US" altLang="zh-CN" dirty="0">
                <a:latin typeface="+mn-ea"/>
              </a:rPr>
              <a:t>route-map, distribute-list)</a:t>
            </a:r>
            <a:r>
              <a:rPr lang="zh-CN" altLang="en-US" dirty="0">
                <a:latin typeface="+mn-ea"/>
              </a:rPr>
              <a:t>过滤掉不必要的外部路由，只引入真正需要的路由，并且合理设置引入路由的</a:t>
            </a:r>
            <a:r>
              <a:rPr lang="en-US" altLang="zh-CN" dirty="0">
                <a:latin typeface="+mn-ea"/>
              </a:rPr>
              <a:t>Metric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Metric-Type(E1/E2)</a:t>
            </a:r>
            <a:r>
              <a:rPr lang="zh-CN" altLang="en-US" dirty="0">
                <a:latin typeface="+mn-ea"/>
              </a:rPr>
              <a:t>，以实现精确的路径选择。</a:t>
            </a:r>
            <a:endParaRPr lang="zh-CN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总结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24995" y="1579581"/>
            <a:ext cx="10671744" cy="2125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本次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课程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深入探讨了OSPF协议的理论核心。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OSPF作为一种功能强大的链路状态协议，其核心工作机制是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发现邻居 -&gt; 同步LSDB -&gt; 运行SPF算法 -&gt; 生成路由表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。其中，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LSA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是构建网络拓扑的基石，而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区域划分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则是OSPF实现大规模网络扩展性的精髓所在。一个成功的OSPF网络，离不开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合理的区域规划、精细的地址规划、以及对路由器性能和路由策略的综合考量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 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995" y="4628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561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本次实验</a:t>
            </a: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21090" y="544421"/>
            <a:ext cx="1250910" cy="360000"/>
          </a:xfrm>
          <a:prstGeom prst="rect">
            <a:avLst/>
          </a:prstGeom>
        </p:spPr>
      </p:pic>
      <p:pic>
        <p:nvPicPr>
          <p:cNvPr id="6" name="图片 5" descr="/tablet/Download/未命名绘图.drawio (2).png未命名绘图.drawio (2)"/>
          <p:cNvPicPr>
            <a:picLocks noChangeAspect="1"/>
          </p:cNvPicPr>
          <p:nvPr/>
        </p:nvPicPr>
        <p:blipFill>
          <a:blip r:embed="rId4"/>
          <a:srcRect t="4736" b="-959"/>
          <a:stretch>
            <a:fillRect/>
          </a:stretch>
        </p:blipFill>
        <p:spPr>
          <a:xfrm>
            <a:off x="879475" y="1583055"/>
            <a:ext cx="8729345" cy="17595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82208" y="4453907"/>
            <a:ext cx="6927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为了避免校园网和实验网互相干扰，实验过程中需要</a:t>
            </a:r>
            <a:r>
              <a:rPr lang="zh-CN" altLang="en-US" b="1" i="1" u="sng" dirty="0">
                <a:solidFill>
                  <a:srgbClr val="FF0000"/>
                </a:solidFill>
              </a:rPr>
              <a:t>禁用校园网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8883" y="11316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网络拓扑：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2112</Words>
  <Application>Microsoft Office PowerPoint</Application>
  <PresentationFormat>宽屏</PresentationFormat>
  <Paragraphs>137</Paragraphs>
  <Slides>25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思源黑体 CN Regular</vt:lpstr>
      <vt:lpstr>思源宋体 CN Heavy</vt:lpstr>
      <vt:lpstr>宋体</vt:lpstr>
      <vt:lpstr>Arial</vt:lpstr>
      <vt:lpstr>Times New Roman</vt:lpstr>
      <vt:lpstr>Wingdings</vt:lpstr>
      <vt:lpstr>等线</vt:lpstr>
      <vt:lpstr>等线 Light</vt:lpstr>
      <vt:lpstr>Office 主题​​</vt:lpstr>
      <vt:lpstr>Microsoft Visio 2000/2002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P15</dc:creator>
  <cp:lastModifiedBy>P15</cp:lastModifiedBy>
  <cp:revision>4</cp:revision>
  <dcterms:created xsi:type="dcterms:W3CDTF">2025-09-18T12:30:46Z</dcterms:created>
  <dcterms:modified xsi:type="dcterms:W3CDTF">2025-09-18T12:32:31Z</dcterms:modified>
</cp:coreProperties>
</file>