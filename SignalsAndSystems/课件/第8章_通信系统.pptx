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5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png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0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7" Type="http://schemas.openxmlformats.org/officeDocument/2006/relationships/image" Target="../media/image43.wmf"/><Relationship Id="rId16" Type="http://schemas.openxmlformats.org/officeDocument/2006/relationships/image" Target="../media/image42.wmf"/><Relationship Id="rId15" Type="http://schemas.openxmlformats.org/officeDocument/2006/relationships/image" Target="../media/image41.wmf"/><Relationship Id="rId14" Type="http://schemas.openxmlformats.org/officeDocument/2006/relationships/image" Target="../media/image40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6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29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30.wmf"/><Relationship Id="rId3" Type="http://schemas.openxmlformats.org/officeDocument/2006/relationships/image" Target="../media/image31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image" Target="../media/image6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78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6C313-05DB-402A-A591-528956899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Program Files\Microsoft Office\MEDIA\OFFICE12\Lines\BD15035_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7" y="1993900"/>
            <a:ext cx="10382251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15035_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7" y="3429000"/>
            <a:ext cx="10382251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 b="1" i="0" baseline="0">
                <a:latin typeface="Arial Black" panose="020B0A040201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B3E30-931D-43BB-A6CC-90940250C7B0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5041A-158C-42EA-A707-B0D06D73BD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latin typeface="Georgia" panose="02040502050405020303" pitchFamily="18" charset="0"/>
                <a:ea typeface="华文行楷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A586E-80DF-4193-B246-B3F0F94DC7B2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9F989A-F7CB-4A22-BFDB-697BE01844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C0DA3-0CDC-4FCC-8B0A-B8C8B1E39FFE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927CF-39EE-457D-9623-8F666B7DA47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23938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Georgia" panose="02040502050405020303" pitchFamily="18" charset="0"/>
                <a:ea typeface="华文行楷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142984"/>
            <a:ext cx="5384800" cy="4983179"/>
          </a:xfrm>
        </p:spPr>
        <p:txBody>
          <a:bodyPr/>
          <a:lstStyle>
            <a:lvl1pPr>
              <a:defRPr sz="2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0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142984"/>
            <a:ext cx="5384800" cy="4983179"/>
          </a:xfrm>
        </p:spPr>
        <p:txBody>
          <a:bodyPr/>
          <a:lstStyle>
            <a:lvl1pPr>
              <a:defRPr sz="2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0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AF281-B9E5-4C16-9600-326A167765D8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322268-6BD6-431A-A661-4E04304DFF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14298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785926"/>
            <a:ext cx="5386917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14298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1785926"/>
            <a:ext cx="5389033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79132-AC65-4B4B-9D63-A86B1A7E685E}" type="datetime1">
              <a:rPr lang="zh-CN" altLang="en-US"/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363D12-DFF4-4695-8CD4-EF5E570A73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D2EAD-239B-4952-80F9-BBA0FA460052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F6393-69C8-49F1-9DA9-A55E66B524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6CA09-CC40-4060-86C5-D92F8EACA6D3}" type="datetime1">
              <a:rPr lang="zh-CN" altLang="en-US"/>
            </a:fld>
            <a:endParaRPr lang="zh-CN" altLang="en-US" dirty="0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BDE15-7318-4D10-9457-6E6A5287C0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71B12-7058-438C-87DB-5B42943033F8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D4EDD-592A-48E8-80C1-637715FBC6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C6459-0A65-43FC-B441-CC3CF0A20F21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EE3225-FAD9-4CBD-97A6-67BA5359F1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14422"/>
            <a:ext cx="10972800" cy="49117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D046E-7DDC-4D22-8F8A-F0F5E848F953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048763-1003-4B1A-ABBB-CC5B1193B5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87BEE-391F-4349-8058-1CD2530929BE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1AED9-CC6D-4D0A-8A4D-546673C1CA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Program Files\Microsoft Office\MEDIA\OFFICE12\Lines\BD15035_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7" y="1993900"/>
            <a:ext cx="10382251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15035_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7" y="3429000"/>
            <a:ext cx="10382251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 b="1" i="0" baseline="0">
                <a:latin typeface="Arial Black" panose="020B0A040201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FA172-656C-4823-8CFF-6EDDB79C6A20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9D33E-4E5D-4CD5-B8BE-3B788153EFD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latin typeface="Georgia" panose="02040502050405020303" pitchFamily="18" charset="0"/>
                <a:ea typeface="华文行楷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A178A-3E9C-4702-9DBB-9C27157AD417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02FDE2-2CF3-40DD-8D75-50485A4CD7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3FE61-45FF-45AF-A9FE-210FC002D32D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D29B4-4ADF-4DC1-8390-379BFE72D5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23938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latin typeface="Georgia" panose="02040502050405020303" pitchFamily="18" charset="0"/>
                <a:ea typeface="华文行楷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142984"/>
            <a:ext cx="5384800" cy="4983179"/>
          </a:xfrm>
        </p:spPr>
        <p:txBody>
          <a:bodyPr/>
          <a:lstStyle>
            <a:lvl1pPr>
              <a:defRPr sz="2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0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142984"/>
            <a:ext cx="5384800" cy="4983179"/>
          </a:xfrm>
        </p:spPr>
        <p:txBody>
          <a:bodyPr/>
          <a:lstStyle>
            <a:lvl1pPr>
              <a:defRPr sz="2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0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1800" b="1" i="0" baseline="0"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E2986-E8DD-4E3C-8827-F2246A75F267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0BB2A8-F469-4857-89EC-86F11DFC3FA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14298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785926"/>
            <a:ext cx="5386917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14298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1785926"/>
            <a:ext cx="5389033" cy="4340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9402C-ABE8-490F-964A-E44605938514}" type="datetime1">
              <a:rPr lang="zh-CN" altLang="en-US"/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252A4-FE3C-4F85-AB6D-653E65AB3E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CCC71-4E27-4C94-9EC7-88C6514B937C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DF2621-0A58-4262-85EB-CBF72AEA78D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E705A-04A8-4149-A09F-D6B83716E73F}" type="datetime1">
              <a:rPr lang="zh-CN" altLang="en-US"/>
            </a:fld>
            <a:endParaRPr lang="zh-CN" altLang="en-US" dirty="0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859A6-2E23-4281-8DF6-CD2EF0A107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8E768-1FC4-4D74-AF54-44241AC02547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2FA-3E9F-4BFB-B10C-37B50C0808A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B7D68-2B9D-4085-AA05-B6ED6FB68A0F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5D449-C228-4CAC-AE38-586A55D4C31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Program Files\Microsoft Office\MEDIA\OFFICE12\Lines\BD21427_.gif"/>
          <p:cNvPicPr>
            <a:picLocks noChangeAspect="1" noChangeArrowheads="1"/>
          </p:cNvPicPr>
          <p:nvPr userDrawn="1"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071563"/>
            <a:ext cx="11430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Program Files\Microsoft Office\MEDIA\OFFICE12\Lines\BD21390_.gif"/>
          <p:cNvPicPr>
            <a:picLocks noChangeAspect="1" noChangeArrowheads="1"/>
          </p:cNvPicPr>
          <p:nvPr userDrawn="1"/>
        </p:nvPicPr>
        <p:blipFill>
          <a:blip r:embed="rId3">
            <a:lum brigh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423333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14422"/>
            <a:ext cx="10972800" cy="49117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ED90D-D90F-4C64-B875-5B7B50107FFD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961E6-B3B4-4427-8A28-0EDF07472B8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889EB-B3D3-469C-8BD2-811769CF3085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37226-79E7-4FA1-B982-3AB4292484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57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285875"/>
            <a:ext cx="109728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6AD7236-D6F9-4D39-BFD7-0DC7BA14FB34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charset="0"/>
              </a:defRPr>
            </a:lvl1pPr>
          </a:lstStyle>
          <a:p>
            <a:fld id="{0C30F1DD-5B7E-4FE0-ABE2-6D9AB18D5EA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40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285875"/>
            <a:ext cx="109728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291604-1D87-4322-8430-7D3F9116C9FF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charset="0"/>
              </a:defRPr>
            </a:lvl1pPr>
          </a:lstStyle>
          <a:p>
            <a:fld id="{93F19310-047C-49D6-AF40-02D193E0F60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3.wmf"/><Relationship Id="rId2" Type="http://schemas.openxmlformats.org/officeDocument/2006/relationships/image" Target="../media/image4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1.png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png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png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0.wmf"/><Relationship Id="rId12" Type="http://schemas.openxmlformats.org/officeDocument/2006/relationships/oleObject" Target="../embeddings/oleObject16.bin"/><Relationship Id="rId11" Type="http://schemas.openxmlformats.org/officeDocument/2006/relationships/image" Target="../media/image19.png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wmf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Relationship Id="rId37" Type="http://schemas.openxmlformats.org/officeDocument/2006/relationships/vmlDrawing" Target="../drawings/vmlDrawing5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43.wmf"/><Relationship Id="rId34" Type="http://schemas.openxmlformats.org/officeDocument/2006/relationships/oleObject" Target="../embeddings/oleObject40.bin"/><Relationship Id="rId33" Type="http://schemas.openxmlformats.org/officeDocument/2006/relationships/image" Target="../media/image42.wmf"/><Relationship Id="rId32" Type="http://schemas.openxmlformats.org/officeDocument/2006/relationships/oleObject" Target="../embeddings/oleObject39.bin"/><Relationship Id="rId31" Type="http://schemas.openxmlformats.org/officeDocument/2006/relationships/image" Target="../media/image41.wmf"/><Relationship Id="rId30" Type="http://schemas.openxmlformats.org/officeDocument/2006/relationships/oleObject" Target="../embeddings/oleObject38.bin"/><Relationship Id="rId3" Type="http://schemas.openxmlformats.org/officeDocument/2006/relationships/oleObject" Target="../embeddings/oleObject24.bin"/><Relationship Id="rId29" Type="http://schemas.openxmlformats.org/officeDocument/2006/relationships/image" Target="../media/image40.wmf"/><Relationship Id="rId28" Type="http://schemas.openxmlformats.org/officeDocument/2006/relationships/oleObject" Target="../embeddings/oleObject37.bin"/><Relationship Id="rId27" Type="http://schemas.openxmlformats.org/officeDocument/2006/relationships/image" Target="../media/image39.wmf"/><Relationship Id="rId26" Type="http://schemas.openxmlformats.org/officeDocument/2006/relationships/oleObject" Target="../embeddings/oleObject36.bin"/><Relationship Id="rId25" Type="http://schemas.openxmlformats.org/officeDocument/2006/relationships/image" Target="../media/image38.wmf"/><Relationship Id="rId24" Type="http://schemas.openxmlformats.org/officeDocument/2006/relationships/oleObject" Target="../embeddings/oleObject35.bin"/><Relationship Id="rId23" Type="http://schemas.openxmlformats.org/officeDocument/2006/relationships/image" Target="../media/image37.wmf"/><Relationship Id="rId22" Type="http://schemas.openxmlformats.org/officeDocument/2006/relationships/oleObject" Target="../embeddings/oleObject34.bin"/><Relationship Id="rId21" Type="http://schemas.openxmlformats.org/officeDocument/2006/relationships/image" Target="../media/image36.wmf"/><Relationship Id="rId20" Type="http://schemas.openxmlformats.org/officeDocument/2006/relationships/oleObject" Target="../embeddings/oleObject33.bin"/><Relationship Id="rId2" Type="http://schemas.openxmlformats.org/officeDocument/2006/relationships/image" Target="../media/image27.w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4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4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7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2.wmf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5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63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60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8.wmf"/><Relationship Id="rId17" Type="http://schemas.openxmlformats.org/officeDocument/2006/relationships/oleObject" Target="../embeddings/oleObject70.bin"/><Relationship Id="rId16" Type="http://schemas.openxmlformats.org/officeDocument/2006/relationships/image" Target="../media/image67.wmf"/><Relationship Id="rId15" Type="http://schemas.openxmlformats.org/officeDocument/2006/relationships/oleObject" Target="../embeddings/oleObject69.bin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6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3.png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2.png"/><Relationship Id="rId1" Type="http://schemas.openxmlformats.org/officeDocument/2006/relationships/oleObject" Target="../embeddings/oleObject71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oleObject" Target="../embeddings/oleObject73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oleObject" Target="../embeddings/oleObject7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wmf"/><Relationship Id="rId8" Type="http://schemas.openxmlformats.org/officeDocument/2006/relationships/oleObject" Target="../embeddings/oleObject80.bin"/><Relationship Id="rId7" Type="http://schemas.openxmlformats.org/officeDocument/2006/relationships/image" Target="../media/image78.wmf"/><Relationship Id="rId6" Type="http://schemas.openxmlformats.org/officeDocument/2006/relationships/oleObject" Target="../embeddings/oleObject79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8.bin"/><Relationship Id="rId3" Type="http://schemas.openxmlformats.org/officeDocument/2006/relationships/image" Target="../media/image81.wmf"/><Relationship Id="rId2" Type="http://schemas.openxmlformats.org/officeDocument/2006/relationships/oleObject" Target="../embeddings/oleObject77.bin"/><Relationship Id="rId16" Type="http://schemas.openxmlformats.org/officeDocument/2006/relationships/notesSlide" Target="../notesSlides/notesSlide1.xml"/><Relationship Id="rId15" Type="http://schemas.openxmlformats.org/officeDocument/2006/relationships/vmlDrawing" Target="../drawings/vmlDrawing14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85.wmf"/><Relationship Id="rId12" Type="http://schemas.openxmlformats.org/officeDocument/2006/relationships/oleObject" Target="../embeddings/oleObject82.bin"/><Relationship Id="rId11" Type="http://schemas.openxmlformats.org/officeDocument/2006/relationships/image" Target="../media/image84.wmf"/><Relationship Id="rId10" Type="http://schemas.openxmlformats.org/officeDocument/2006/relationships/oleObject" Target="../embeddings/oleObject81.bin"/><Relationship Id="rId1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88.png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8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 通信系统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Communication Systems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6A6A16-3748-43AA-A6C1-BF7712F083F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8.0 </a:t>
            </a: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85875"/>
            <a:ext cx="8229600" cy="5072063"/>
          </a:xfrm>
        </p:spPr>
        <p:txBody>
          <a:bodyPr/>
          <a:lstStyle/>
          <a:p>
            <a:pPr algn="just"/>
            <a:r>
              <a:rPr lang="zh-CN" altLang="en-US" sz="2800" b="0" dirty="0"/>
              <a:t>一般的通信系统由以下环节组成</a:t>
            </a:r>
            <a:r>
              <a:rPr lang="en-US" altLang="zh-CN" sz="2800" b="0" dirty="0"/>
              <a:t>:</a:t>
            </a:r>
            <a:endParaRPr lang="en-US" altLang="zh-CN" sz="2800" b="0" dirty="0"/>
          </a:p>
          <a:p>
            <a:pPr algn="just"/>
            <a:endParaRPr lang="en-US" altLang="zh-CN" sz="2800" b="0" dirty="0"/>
          </a:p>
          <a:p>
            <a:pPr algn="just"/>
            <a:endParaRPr lang="en-US" altLang="zh-CN" sz="2800" b="0" dirty="0"/>
          </a:p>
          <a:p>
            <a:pPr algn="just"/>
            <a:endParaRPr lang="en-US" altLang="zh-CN" sz="2800" b="0" dirty="0"/>
          </a:p>
          <a:p>
            <a:pPr algn="just"/>
            <a:endParaRPr lang="en-US" altLang="zh-CN" sz="2800" b="0" dirty="0"/>
          </a:p>
          <a:p>
            <a:pPr lvl="1" algn="just"/>
            <a:r>
              <a:rPr lang="zh-CN" altLang="en-US" b="0" dirty="0">
                <a:solidFill>
                  <a:srgbClr val="FF0000"/>
                </a:solidFill>
              </a:rPr>
              <a:t>调制</a:t>
            </a:r>
            <a:r>
              <a:rPr lang="zh-CN" altLang="en-US" b="0" dirty="0"/>
              <a:t>是指用一个信号去控制另一个信号的某一个参量的过程。</a:t>
            </a:r>
            <a:endParaRPr lang="en-US" altLang="zh-CN" b="0" dirty="0"/>
          </a:p>
          <a:p>
            <a:pPr lvl="1" algn="just"/>
            <a:r>
              <a:rPr lang="zh-CN" altLang="en-US" b="0" dirty="0"/>
              <a:t>控制信号称为</a:t>
            </a:r>
            <a:r>
              <a:rPr lang="zh-CN" altLang="en-US" b="0" dirty="0">
                <a:solidFill>
                  <a:srgbClr val="FF0000"/>
                </a:solidFill>
              </a:rPr>
              <a:t>调制信号</a:t>
            </a:r>
            <a:r>
              <a:rPr lang="zh-CN" altLang="en-US" b="0" dirty="0"/>
              <a:t>，也称为</a:t>
            </a:r>
            <a:r>
              <a:rPr lang="zh-CN" altLang="en-US" b="0" dirty="0">
                <a:solidFill>
                  <a:srgbClr val="FF0000"/>
                </a:solidFill>
              </a:rPr>
              <a:t>基带信号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lvl="1" algn="just"/>
            <a:r>
              <a:rPr lang="zh-CN" altLang="en-US" b="0" dirty="0"/>
              <a:t>被控制的信号称为</a:t>
            </a:r>
            <a:r>
              <a:rPr lang="zh-CN" altLang="en-US" b="0" dirty="0">
                <a:solidFill>
                  <a:srgbClr val="FF0000"/>
                </a:solidFill>
              </a:rPr>
              <a:t>载波</a:t>
            </a:r>
            <a:r>
              <a:rPr lang="zh-CN" altLang="en-US" b="0" dirty="0"/>
              <a:t>。</a:t>
            </a:r>
            <a:endParaRPr lang="zh-CN" altLang="en-US" b="0" dirty="0"/>
          </a:p>
          <a:p>
            <a:pPr algn="just"/>
            <a:endParaRPr lang="zh-CN" alt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BB47B6-F950-40D2-B82F-3797D54DD6B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893" name="Group 8"/>
          <p:cNvGrpSpPr/>
          <p:nvPr/>
        </p:nvGrpSpPr>
        <p:grpSpPr bwMode="auto">
          <a:xfrm>
            <a:off x="2024063" y="1943100"/>
            <a:ext cx="8256588" cy="1630363"/>
            <a:chOff x="400" y="1399"/>
            <a:chExt cx="5201" cy="1027"/>
          </a:xfrm>
        </p:grpSpPr>
        <p:sp>
          <p:nvSpPr>
            <p:cNvPr id="37894" name="Line 9"/>
            <p:cNvSpPr>
              <a:spLocks noChangeShapeType="1"/>
            </p:cNvSpPr>
            <p:nvPr/>
          </p:nvSpPr>
          <p:spPr bwMode="auto">
            <a:xfrm flipH="1" flipV="1">
              <a:off x="2016" y="20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5" name="Line 10"/>
            <p:cNvSpPr>
              <a:spLocks noChangeShapeType="1"/>
            </p:cNvSpPr>
            <p:nvPr/>
          </p:nvSpPr>
          <p:spPr bwMode="auto">
            <a:xfrm>
              <a:off x="484" y="1839"/>
              <a:ext cx="42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6" name="Rectangle 11"/>
            <p:cNvSpPr>
              <a:spLocks noChangeArrowheads="1"/>
            </p:cNvSpPr>
            <p:nvPr/>
          </p:nvSpPr>
          <p:spPr bwMode="auto">
            <a:xfrm>
              <a:off x="906" y="1453"/>
              <a:ext cx="255" cy="7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897" name="Text Box 12"/>
            <p:cNvSpPr txBox="1">
              <a:spLocks noChangeArrowheads="1"/>
            </p:cNvSpPr>
            <p:nvPr/>
          </p:nvSpPr>
          <p:spPr bwMode="auto">
            <a:xfrm>
              <a:off x="862" y="1435"/>
              <a:ext cx="348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E0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变换器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E0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898" name="Line 13"/>
            <p:cNvSpPr>
              <a:spLocks noChangeShapeType="1"/>
            </p:cNvSpPr>
            <p:nvPr/>
          </p:nvSpPr>
          <p:spPr bwMode="auto">
            <a:xfrm>
              <a:off x="1170" y="1839"/>
              <a:ext cx="46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99" name="Rectangle 14"/>
            <p:cNvSpPr>
              <a:spLocks noChangeArrowheads="1"/>
            </p:cNvSpPr>
            <p:nvPr/>
          </p:nvSpPr>
          <p:spPr bwMode="auto">
            <a:xfrm>
              <a:off x="1632" y="1616"/>
              <a:ext cx="816" cy="42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E0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发送系统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E0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0" name="Line 15"/>
            <p:cNvSpPr>
              <a:spLocks noChangeShapeType="1"/>
            </p:cNvSpPr>
            <p:nvPr/>
          </p:nvSpPr>
          <p:spPr bwMode="auto">
            <a:xfrm>
              <a:off x="2448" y="1824"/>
              <a:ext cx="32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01" name="Rectangle 16"/>
            <p:cNvSpPr>
              <a:spLocks noChangeArrowheads="1"/>
            </p:cNvSpPr>
            <p:nvPr/>
          </p:nvSpPr>
          <p:spPr bwMode="auto">
            <a:xfrm>
              <a:off x="2771" y="1615"/>
              <a:ext cx="510" cy="427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E0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信道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E0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2" name="Rectangle 17"/>
            <p:cNvSpPr>
              <a:spLocks noChangeArrowheads="1"/>
            </p:cNvSpPr>
            <p:nvPr/>
          </p:nvSpPr>
          <p:spPr bwMode="auto">
            <a:xfrm>
              <a:off x="3648" y="1616"/>
              <a:ext cx="816" cy="42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E0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接收系统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E0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3" name="Line 18"/>
            <p:cNvSpPr>
              <a:spLocks noChangeShapeType="1"/>
            </p:cNvSpPr>
            <p:nvPr/>
          </p:nvSpPr>
          <p:spPr bwMode="auto">
            <a:xfrm>
              <a:off x="4470" y="1815"/>
              <a:ext cx="42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04" name="Rectangle 19"/>
            <p:cNvSpPr>
              <a:spLocks noChangeArrowheads="1"/>
            </p:cNvSpPr>
            <p:nvPr/>
          </p:nvSpPr>
          <p:spPr bwMode="auto">
            <a:xfrm>
              <a:off x="4892" y="1409"/>
              <a:ext cx="256" cy="8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5" name="Text Box 20"/>
            <p:cNvSpPr txBox="1">
              <a:spLocks noChangeArrowheads="1"/>
            </p:cNvSpPr>
            <p:nvPr/>
          </p:nvSpPr>
          <p:spPr bwMode="auto">
            <a:xfrm>
              <a:off x="4847" y="1399"/>
              <a:ext cx="348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E0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变换器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E0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6" name="Line 21"/>
            <p:cNvSpPr>
              <a:spLocks noChangeShapeType="1"/>
            </p:cNvSpPr>
            <p:nvPr/>
          </p:nvSpPr>
          <p:spPr bwMode="auto">
            <a:xfrm>
              <a:off x="5149" y="1815"/>
              <a:ext cx="42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07" name="Text Box 22"/>
            <p:cNvSpPr txBox="1">
              <a:spLocks noChangeArrowheads="1"/>
            </p:cNvSpPr>
            <p:nvPr/>
          </p:nvSpPr>
          <p:spPr bwMode="auto">
            <a:xfrm>
              <a:off x="400" y="1513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消息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8" name="Text Box 23"/>
            <p:cNvSpPr txBox="1">
              <a:spLocks noChangeArrowheads="1"/>
            </p:cNvSpPr>
            <p:nvPr/>
          </p:nvSpPr>
          <p:spPr bwMode="auto">
            <a:xfrm>
              <a:off x="1140" y="1521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信号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09" name="Text Box 24"/>
            <p:cNvSpPr txBox="1">
              <a:spLocks noChangeArrowheads="1"/>
            </p:cNvSpPr>
            <p:nvPr/>
          </p:nvSpPr>
          <p:spPr bwMode="auto">
            <a:xfrm>
              <a:off x="4427" y="1489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信号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10" name="Text Box 25"/>
            <p:cNvSpPr txBox="1">
              <a:spLocks noChangeArrowheads="1"/>
            </p:cNvSpPr>
            <p:nvPr/>
          </p:nvSpPr>
          <p:spPr bwMode="auto">
            <a:xfrm>
              <a:off x="5102" y="1489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消息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11" name="Text Box 26"/>
            <p:cNvSpPr txBox="1">
              <a:spLocks noChangeArrowheads="1"/>
            </p:cNvSpPr>
            <p:nvPr/>
          </p:nvSpPr>
          <p:spPr bwMode="auto">
            <a:xfrm>
              <a:off x="2016" y="2136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调制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12" name="Text Box 27"/>
            <p:cNvSpPr txBox="1">
              <a:spLocks noChangeArrowheads="1"/>
            </p:cNvSpPr>
            <p:nvPr/>
          </p:nvSpPr>
          <p:spPr bwMode="auto">
            <a:xfrm>
              <a:off x="4112" y="2120"/>
              <a:ext cx="49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解调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37913" name="Line 28"/>
            <p:cNvSpPr>
              <a:spLocks noChangeShapeType="1"/>
            </p:cNvSpPr>
            <p:nvPr/>
          </p:nvSpPr>
          <p:spPr bwMode="auto">
            <a:xfrm>
              <a:off x="3280" y="18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14" name="Line 29"/>
            <p:cNvSpPr>
              <a:spLocks noChangeShapeType="1"/>
            </p:cNvSpPr>
            <p:nvPr/>
          </p:nvSpPr>
          <p:spPr bwMode="auto">
            <a:xfrm flipH="1" flipV="1">
              <a:off x="4056" y="20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8.0 </a:t>
            </a:r>
            <a:r>
              <a:rPr lang="zh-CN" altLang="en-US"/>
              <a:t>引言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9784" y="1226373"/>
            <a:ext cx="8229600" cy="4840288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b="0" dirty="0"/>
              <a:t>在通信系统中广泛采用调制技术是因为</a:t>
            </a:r>
            <a:r>
              <a:rPr lang="en-US" altLang="zh-CN" sz="2800" b="0" dirty="0"/>
              <a:t>: </a:t>
            </a:r>
            <a:endParaRPr lang="en-US" altLang="zh-CN" sz="2800" b="0" dirty="0"/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任何信道都有它自己的传输特性</a:t>
            </a:r>
            <a:r>
              <a:rPr lang="en-US" altLang="zh-CN" b="0" dirty="0"/>
              <a:t>;</a:t>
            </a:r>
            <a:endParaRPr lang="en-US" altLang="zh-CN" b="0" dirty="0"/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信道的带宽往往比一路信号的带宽要大得多</a:t>
            </a:r>
            <a:r>
              <a:rPr lang="en-US" altLang="zh-CN" b="0" dirty="0"/>
              <a:t>;</a:t>
            </a:r>
            <a:endParaRPr lang="en-US" altLang="zh-CN" b="0" dirty="0"/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若信号以电磁波形式发送到信道，当发射天线的尺寸大约为信号波长的</a:t>
            </a:r>
            <a:r>
              <a:rPr lang="en-US" altLang="zh-CN" b="0" dirty="0"/>
              <a:t>1/10</a:t>
            </a:r>
            <a:r>
              <a:rPr lang="zh-CN" altLang="en-US" b="0" dirty="0"/>
              <a:t>或更大一些时，天线的辐射效率最高。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D73C8-E606-4CF6-97FA-0CAD877E328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87588" y="5692487"/>
            <a:ext cx="7416824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电磁波可以用波长、频率或能量来描述。波长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l-GR" altLang="zh-CN" i="1" dirty="0">
                <a:latin typeface="+mn-ea"/>
                <a:ea typeface="+mn-ea"/>
              </a:rPr>
              <a:t>λ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和频率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l-GR" altLang="zh-CN" i="1" dirty="0">
                <a:latin typeface="+mn-ea"/>
                <a:ea typeface="+mn-ea"/>
              </a:rPr>
              <a:t>ν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关系式为：</a:t>
            </a:r>
            <a:endParaRPr lang="zh-CN" altLang="en-US" dirty="0">
              <a:latin typeface="+mn-ea"/>
              <a:ea typeface="+mn-ea"/>
            </a:endParaRPr>
          </a:p>
          <a:p>
            <a:pPr algn="ctr"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lang="el-GR" altLang="zh-CN" i="1" dirty="0">
                <a:latin typeface="+mn-ea"/>
                <a:ea typeface="+mn-ea"/>
              </a:rPr>
              <a:t>λ</a:t>
            </a:r>
            <a:r>
              <a:rPr lang="el-GR" altLang="zh-CN" dirty="0">
                <a:latin typeface="+mn-ea"/>
                <a:ea typeface="+mn-ea"/>
              </a:rPr>
              <a:t> </a:t>
            </a:r>
            <a:r>
              <a:rPr lang="en-US" altLang="zh-CN" i="1" dirty="0">
                <a:latin typeface="+mn-ea"/>
                <a:ea typeface="+mn-ea"/>
              </a:rPr>
              <a:t>= </a:t>
            </a:r>
            <a:r>
              <a:rPr lang="en-US" altLang="zh-CN" sz="1600" i="1" dirty="0">
                <a:latin typeface="+mn-ea"/>
                <a:ea typeface="+mn-ea"/>
              </a:rPr>
              <a:t>c</a:t>
            </a:r>
            <a:r>
              <a:rPr lang="en-US" altLang="zh-CN" sz="1600" dirty="0">
                <a:latin typeface="+mn-ea"/>
                <a:ea typeface="+mn-ea"/>
              </a:rPr>
              <a:t> </a:t>
            </a:r>
            <a:r>
              <a:rPr lang="en-US" altLang="zh-CN" i="1" dirty="0">
                <a:latin typeface="+mn-ea"/>
                <a:ea typeface="+mn-ea"/>
              </a:rPr>
              <a:t>/ </a:t>
            </a:r>
            <a:r>
              <a:rPr lang="el-GR" altLang="zh-CN" sz="1600" i="1" dirty="0">
                <a:latin typeface="+mn-ea"/>
                <a:ea typeface="+mn-ea"/>
              </a:rPr>
              <a:t>ν</a:t>
            </a:r>
            <a:endParaRPr lang="el-GR" altLang="en-US" dirty="0">
              <a:latin typeface="+mn-ea"/>
              <a:ea typeface="+mn-ea"/>
            </a:endParaRP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dirty="0">
                <a:latin typeface="+mn-ea"/>
                <a:ea typeface="+mn-ea"/>
              </a:rPr>
              <a:t>其中</a:t>
            </a:r>
            <a:r>
              <a:rPr lang="en-US" altLang="zh-CN" dirty="0">
                <a:latin typeface="+mn-ea"/>
                <a:ea typeface="+mn-ea"/>
              </a:rPr>
              <a:t>c</a:t>
            </a:r>
            <a:r>
              <a:rPr lang="zh-CN" altLang="en-US" dirty="0">
                <a:latin typeface="+mn-ea"/>
                <a:ea typeface="+mn-ea"/>
              </a:rPr>
              <a:t>是光速（</a:t>
            </a:r>
            <a:r>
              <a:rPr lang="en-US" altLang="zh-CN" dirty="0">
                <a:latin typeface="+mn-ea"/>
                <a:ea typeface="+mn-ea"/>
              </a:rPr>
              <a:t>2.998x10</a:t>
            </a:r>
            <a:r>
              <a:rPr lang="en-US" altLang="zh-CN" baseline="30000" dirty="0">
                <a:latin typeface="+mn-ea"/>
                <a:ea typeface="+mn-ea"/>
              </a:rPr>
              <a:t>8</a:t>
            </a:r>
            <a:r>
              <a:rPr lang="en-US" altLang="zh-CN" i="1" dirty="0">
                <a:latin typeface="+mn-ea"/>
                <a:ea typeface="+mn-ea"/>
              </a:rPr>
              <a:t>m/s</a:t>
            </a:r>
            <a:r>
              <a:rPr lang="zh-CN" altLang="en-US" dirty="0">
                <a:latin typeface="+mn-ea"/>
                <a:ea typeface="+mn-ea"/>
              </a:rPr>
              <a:t>），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正弦幅度调制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85875"/>
            <a:ext cx="8229600" cy="5143500"/>
          </a:xfrm>
        </p:spPr>
        <p:txBody>
          <a:bodyPr/>
          <a:lstStyle/>
          <a:p>
            <a:r>
              <a:rPr lang="zh-CN" altLang="en-US" sz="2800" b="0"/>
              <a:t>幅度调制的数学模型是乘法器。</a:t>
            </a:r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pPr lvl="1">
              <a:lnSpc>
                <a:spcPct val="150000"/>
              </a:lnSpc>
            </a:pPr>
            <a:r>
              <a:rPr lang="zh-CN" altLang="en-US" b="0"/>
              <a:t>其中        为</a:t>
            </a:r>
            <a:r>
              <a:rPr lang="zh-CN" altLang="en-US" b="0">
                <a:solidFill>
                  <a:srgbClr val="FF0000"/>
                </a:solidFill>
              </a:rPr>
              <a:t>调制信号</a:t>
            </a:r>
            <a:r>
              <a:rPr lang="en-US" altLang="zh-CN" b="0"/>
              <a:t>(</a:t>
            </a:r>
            <a:r>
              <a:rPr lang="zh-CN" altLang="en-US" b="0">
                <a:solidFill>
                  <a:srgbClr val="FF0000"/>
                </a:solidFill>
              </a:rPr>
              <a:t>基带信号</a:t>
            </a:r>
            <a:r>
              <a:rPr lang="en-US" altLang="zh-CN" b="0"/>
              <a:t>)</a:t>
            </a:r>
            <a:r>
              <a:rPr lang="zh-CN" altLang="en-US" b="0"/>
              <a:t>，       为</a:t>
            </a:r>
            <a:r>
              <a:rPr lang="zh-CN" altLang="en-US" b="0">
                <a:solidFill>
                  <a:srgbClr val="FF0000"/>
                </a:solidFill>
              </a:rPr>
              <a:t>载波</a:t>
            </a:r>
            <a:r>
              <a:rPr lang="zh-CN" altLang="en-US" b="0"/>
              <a:t>，</a:t>
            </a:r>
            <a:br>
              <a:rPr lang="en-US" altLang="zh-CN" b="0"/>
            </a:br>
            <a:r>
              <a:rPr lang="en-US" altLang="zh-CN" b="0"/>
              <a:t>          </a:t>
            </a:r>
            <a:r>
              <a:rPr lang="zh-CN" altLang="en-US" b="0"/>
              <a:t>              为</a:t>
            </a:r>
            <a:r>
              <a:rPr lang="zh-CN" altLang="en-US" b="0">
                <a:solidFill>
                  <a:srgbClr val="FF0000"/>
                </a:solidFill>
              </a:rPr>
              <a:t>已调信号</a:t>
            </a:r>
            <a:r>
              <a:rPr lang="zh-CN" altLang="en-US" b="0"/>
              <a:t>。</a:t>
            </a:r>
            <a:endParaRPr lang="en-US" altLang="zh-CN" b="0"/>
          </a:p>
          <a:p>
            <a:pPr lvl="1">
              <a:lnSpc>
                <a:spcPct val="150000"/>
              </a:lnSpc>
            </a:pPr>
            <a:r>
              <a:rPr lang="zh-CN" altLang="en-US" b="0"/>
              <a:t>当                              时称为</a:t>
            </a:r>
            <a:r>
              <a:rPr lang="zh-CN" altLang="en-US" b="0">
                <a:solidFill>
                  <a:srgbClr val="FF0000"/>
                </a:solidFill>
              </a:rPr>
              <a:t>正弦幅度调制</a:t>
            </a:r>
            <a:r>
              <a:rPr lang="zh-CN" altLang="en-US" b="0"/>
              <a:t>。</a:t>
            </a:r>
            <a:endParaRPr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7EC714-BBB7-496C-B6E0-9FA3E42EB4C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31" name="Group 18"/>
          <p:cNvGrpSpPr/>
          <p:nvPr/>
        </p:nvGrpSpPr>
        <p:grpSpPr bwMode="auto">
          <a:xfrm>
            <a:off x="2493963" y="2322513"/>
            <a:ext cx="2959100" cy="1677987"/>
            <a:chOff x="521" y="2943"/>
            <a:chExt cx="1864" cy="1057"/>
          </a:xfrm>
        </p:grpSpPr>
        <p:sp>
          <p:nvSpPr>
            <p:cNvPr id="9233" name="Line 19"/>
            <p:cNvSpPr>
              <a:spLocks noChangeShapeType="1"/>
            </p:cNvSpPr>
            <p:nvPr/>
          </p:nvSpPr>
          <p:spPr bwMode="auto">
            <a:xfrm>
              <a:off x="532" y="3247"/>
              <a:ext cx="7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4" name="Line 20"/>
            <p:cNvSpPr>
              <a:spLocks noChangeShapeType="1"/>
            </p:cNvSpPr>
            <p:nvPr/>
          </p:nvSpPr>
          <p:spPr bwMode="auto">
            <a:xfrm flipV="1">
              <a:off x="1383" y="3327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5" name="Line 21"/>
            <p:cNvSpPr>
              <a:spLocks noChangeShapeType="1"/>
            </p:cNvSpPr>
            <p:nvPr/>
          </p:nvSpPr>
          <p:spPr bwMode="auto">
            <a:xfrm>
              <a:off x="1481" y="3247"/>
              <a:ext cx="9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225" name="Object 2"/>
            <p:cNvGraphicFramePr>
              <a:graphicFrameLocks noChangeAspect="1"/>
            </p:cNvGraphicFramePr>
            <p:nvPr/>
          </p:nvGraphicFramePr>
          <p:xfrm>
            <a:off x="521" y="2956"/>
            <a:ext cx="410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6" name="公式" r:id="rId1" imgW="292100" imgH="203200" progId="Equation.3">
                    <p:embed/>
                  </p:oleObj>
                </mc:Choice>
                <mc:Fallback>
                  <p:oleObj name="公式" r:id="rId1" imgW="292100" imgH="2032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956"/>
                          <a:ext cx="410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3"/>
            <p:cNvGraphicFramePr>
              <a:graphicFrameLocks noChangeAspect="1"/>
            </p:cNvGraphicFramePr>
            <p:nvPr/>
          </p:nvGraphicFramePr>
          <p:xfrm>
            <a:off x="1953" y="2943"/>
            <a:ext cx="37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7" name="Equation" r:id="rId3" imgW="292100" imgH="203200" progId="Equation.DSMT4">
                    <p:embed/>
                  </p:oleObj>
                </mc:Choice>
                <mc:Fallback>
                  <p:oleObj name="Equation" r:id="rId3" imgW="292100" imgH="203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2943"/>
                          <a:ext cx="37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4"/>
            <p:cNvGraphicFramePr>
              <a:graphicFrameLocks noChangeAspect="1"/>
            </p:cNvGraphicFramePr>
            <p:nvPr/>
          </p:nvGraphicFramePr>
          <p:xfrm>
            <a:off x="1202" y="3695"/>
            <a:ext cx="42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48" name="Equation" r:id="rId5" imgW="279400" imgH="203200" progId="Equation.DSMT4">
                    <p:embed/>
                  </p:oleObj>
                </mc:Choice>
                <mc:Fallback>
                  <p:oleObj name="Equation" r:id="rId5" imgW="279400" imgH="203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695"/>
                          <a:ext cx="422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6" name="AutoShape 25"/>
            <p:cNvSpPr>
              <a:spLocks noChangeArrowheads="1"/>
            </p:cNvSpPr>
            <p:nvPr/>
          </p:nvSpPr>
          <p:spPr bwMode="auto">
            <a:xfrm>
              <a:off x="1292" y="3158"/>
              <a:ext cx="182" cy="181"/>
            </a:xfrm>
            <a:prstGeom prst="flowChartSummingJunction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522663" y="4532313"/>
          <a:ext cx="6604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" name="Equation" r:id="rId7" imgW="279400" imgH="203200" progId="Equation.DSMT4">
                  <p:embed/>
                </p:oleObj>
              </mc:Choice>
              <mc:Fallback>
                <p:oleObj name="Equation" r:id="rId7" imgW="2794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4532313"/>
                        <a:ext cx="6604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7961313" y="4516438"/>
          <a:ext cx="6619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9" imgW="266700" imgH="203200" progId="Equation.DSMT4">
                  <p:embed/>
                </p:oleObj>
              </mc:Choice>
              <mc:Fallback>
                <p:oleObj name="Equation" r:id="rId9" imgW="2667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1313" y="4516438"/>
                        <a:ext cx="6619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2825750" y="5159375"/>
          <a:ext cx="21050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1" name="Equation" r:id="rId11" imgW="901065" imgH="203200" progId="Equation.DSMT4">
                  <p:embed/>
                </p:oleObj>
              </mc:Choice>
              <mc:Fallback>
                <p:oleObj name="Equation" r:id="rId11" imgW="901065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159375"/>
                        <a:ext cx="21050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3238500" y="5881688"/>
          <a:ext cx="25082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Equation" r:id="rId13" imgW="1206500" imgH="228600" progId="Equation.DSMT4">
                  <p:embed/>
                </p:oleObj>
              </mc:Choice>
              <mc:Fallback>
                <p:oleObj name="Equation" r:id="rId13" imgW="12065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881688"/>
                        <a:ext cx="250825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22"/>
          <p:cNvGrpSpPr/>
          <p:nvPr/>
        </p:nvGrpSpPr>
        <p:grpSpPr bwMode="auto">
          <a:xfrm>
            <a:off x="5810250" y="1928813"/>
            <a:ext cx="4419600" cy="2390775"/>
            <a:chOff x="2152664" y="4324373"/>
            <a:chExt cx="4419600" cy="2390775"/>
          </a:xfrm>
        </p:grpSpPr>
        <p:graphicFrame>
          <p:nvGraphicFramePr>
            <p:cNvPr id="9222" name="Object 12"/>
            <p:cNvGraphicFramePr>
              <a:graphicFrameLocks noChangeAspect="1"/>
            </p:cNvGraphicFramePr>
            <p:nvPr/>
          </p:nvGraphicFramePr>
          <p:xfrm>
            <a:off x="2152664" y="4324373"/>
            <a:ext cx="4419600" cy="2390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3" name="位图图像" r:id="rId15" imgW="5819775" imgH="3552825" progId="Paint.Picture">
                    <p:embed/>
                  </p:oleObj>
                </mc:Choice>
                <mc:Fallback>
                  <p:oleObj name="位图图像" r:id="rId15" imgW="5819775" imgH="3552825" progId="Paint.Picture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664" y="4324373"/>
                          <a:ext cx="4419600" cy="2390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3" name="Object 13"/>
            <p:cNvGraphicFramePr>
              <a:graphicFrameLocks noChangeAspect="1"/>
            </p:cNvGraphicFramePr>
            <p:nvPr/>
          </p:nvGraphicFramePr>
          <p:xfrm>
            <a:off x="5322902" y="4532336"/>
            <a:ext cx="43815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4" name="Equation" r:id="rId17" imgW="279400" imgH="203200" progId="Equation.DSMT4">
                    <p:embed/>
                  </p:oleObj>
                </mc:Choice>
                <mc:Fallback>
                  <p:oleObj name="Equation" r:id="rId17" imgW="279400" imgH="203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2902" y="4532336"/>
                          <a:ext cx="438150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14"/>
            <p:cNvGraphicFramePr>
              <a:graphicFrameLocks noChangeAspect="1"/>
            </p:cNvGraphicFramePr>
            <p:nvPr/>
          </p:nvGraphicFramePr>
          <p:xfrm>
            <a:off x="2522552" y="4638698"/>
            <a:ext cx="1284287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5" name="Equation" r:id="rId19" imgW="825500" imgH="228600" progId="Equation.DSMT4">
                    <p:embed/>
                  </p:oleObj>
                </mc:Choice>
                <mc:Fallback>
                  <p:oleObj name="Equation" r:id="rId19" imgW="825500" imgH="2286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2552" y="4638698"/>
                          <a:ext cx="1284287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8" name="Group 3"/>
          <p:cNvGrpSpPr/>
          <p:nvPr/>
        </p:nvGrpSpPr>
        <p:grpSpPr bwMode="auto">
          <a:xfrm>
            <a:off x="1993900" y="4286250"/>
            <a:ext cx="3068638" cy="1624013"/>
            <a:chOff x="2699" y="436"/>
            <a:chExt cx="2247" cy="1267"/>
          </a:xfrm>
        </p:grpSpPr>
        <p:graphicFrame>
          <p:nvGraphicFramePr>
            <p:cNvPr id="10246" name="Object 3"/>
            <p:cNvGraphicFramePr>
              <a:graphicFrameLocks noChangeAspect="1"/>
            </p:cNvGraphicFramePr>
            <p:nvPr/>
          </p:nvGraphicFramePr>
          <p:xfrm>
            <a:off x="2699" y="436"/>
            <a:ext cx="2241" cy="1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22" name="位图图像" r:id="rId1" imgW="3558540" imgH="2011680" progId="Paint.Picture">
                    <p:embed/>
                  </p:oleObj>
                </mc:Choice>
                <mc:Fallback>
                  <p:oleObj name="位图图像" r:id="rId1" imgW="3558540" imgH="2011680" progId="Paint.Picture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436"/>
                          <a:ext cx="2241" cy="1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7" name="Object 4"/>
            <p:cNvGraphicFramePr>
              <a:graphicFrameLocks noChangeAspect="1"/>
            </p:cNvGraphicFramePr>
            <p:nvPr/>
          </p:nvGraphicFramePr>
          <p:xfrm>
            <a:off x="4740" y="1344"/>
            <a:ext cx="206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23" name="位图图像" r:id="rId3" imgW="327660" imgH="182880" progId="Paint.Picture">
                    <p:embed/>
                  </p:oleObj>
                </mc:Choice>
                <mc:Fallback>
                  <p:oleObj name="位图图像" r:id="rId3" imgW="327660" imgH="182880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344"/>
                          <a:ext cx="206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3"/>
          <p:cNvGrpSpPr/>
          <p:nvPr/>
        </p:nvGrpSpPr>
        <p:grpSpPr bwMode="auto">
          <a:xfrm>
            <a:off x="3857625" y="4532313"/>
            <a:ext cx="1292225" cy="576262"/>
            <a:chOff x="4649" y="799"/>
            <a:chExt cx="814" cy="363"/>
          </a:xfrm>
        </p:grpSpPr>
        <p:sp>
          <p:nvSpPr>
            <p:cNvPr id="10258" name="Text Box 14"/>
            <p:cNvSpPr txBox="1">
              <a:spLocks noChangeArrowheads="1"/>
            </p:cNvSpPr>
            <p:nvPr/>
          </p:nvSpPr>
          <p:spPr bwMode="auto">
            <a:xfrm>
              <a:off x="4772" y="799"/>
              <a:ext cx="69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上边带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10259" name="Line 15"/>
            <p:cNvSpPr>
              <a:spLocks noChangeShapeType="1"/>
            </p:cNvSpPr>
            <p:nvPr/>
          </p:nvSpPr>
          <p:spPr bwMode="auto">
            <a:xfrm flipH="1">
              <a:off x="4649" y="935"/>
              <a:ext cx="18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6"/>
          <p:cNvGrpSpPr/>
          <p:nvPr/>
        </p:nvGrpSpPr>
        <p:grpSpPr bwMode="auto">
          <a:xfrm>
            <a:off x="2078038" y="4445000"/>
            <a:ext cx="1100137" cy="647700"/>
            <a:chOff x="3412" y="799"/>
            <a:chExt cx="693" cy="408"/>
          </a:xfrm>
        </p:grpSpPr>
        <p:sp>
          <p:nvSpPr>
            <p:cNvPr id="10256" name="Text Box 17"/>
            <p:cNvSpPr txBox="1">
              <a:spLocks noChangeArrowheads="1"/>
            </p:cNvSpPr>
            <p:nvPr/>
          </p:nvSpPr>
          <p:spPr bwMode="auto">
            <a:xfrm>
              <a:off x="3412" y="799"/>
              <a:ext cx="69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下边带</a:t>
              </a:r>
              <a:endPara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10257" name="Line 18"/>
            <p:cNvSpPr>
              <a:spLocks noChangeShapeType="1"/>
            </p:cNvSpPr>
            <p:nvPr/>
          </p:nvSpPr>
          <p:spPr bwMode="auto">
            <a:xfrm>
              <a:off x="3878" y="1026"/>
              <a:ext cx="22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正弦幅度调制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/>
              <a:t>若暂时不考虑载波的相位，即</a:t>
            </a:r>
            <a:endParaRPr lang="en-US" altLang="zh-CN" sz="2800" b="0"/>
          </a:p>
          <a:p>
            <a:r>
              <a:rPr lang="zh-CN" altLang="en-US" sz="2800" b="0"/>
              <a:t>此时载波                        的频谱为：</a:t>
            </a:r>
            <a:endParaRPr lang="en-US" altLang="zh-CN" sz="2800" b="0"/>
          </a:p>
          <a:p>
            <a:endParaRPr lang="en-US" altLang="zh-CN" sz="2800" b="0"/>
          </a:p>
          <a:p>
            <a:r>
              <a:rPr lang="zh-CN" altLang="en-US" sz="2800" b="0"/>
              <a:t>则已调信号的频谱为：</a:t>
            </a:r>
            <a:endParaRPr lang="zh-CN" altLang="en-US" sz="2800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BF3BB-CFE8-4EF6-AD7C-9D25666CF59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7151688" y="1301750"/>
          <a:ext cx="26638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4" name="Equation" r:id="rId5" imgW="1104900" imgH="228600" progId="Equation.DSMT4">
                  <p:embed/>
                </p:oleObj>
              </mc:Choice>
              <mc:Fallback>
                <p:oleObj name="Equation" r:id="rId5" imgW="11049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688" y="1301750"/>
                        <a:ext cx="26638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3524250" y="2327275"/>
          <a:ext cx="51847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5" name="Equation" r:id="rId7" imgW="2146300" imgH="228600" progId="Equation.DSMT4">
                  <p:embed/>
                </p:oleObj>
              </mc:Choice>
              <mc:Fallback>
                <p:oleObj name="Equation" r:id="rId7" imgW="2146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2327275"/>
                        <a:ext cx="51847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2667000" y="3429000"/>
          <a:ext cx="72009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6" name="Equation" r:id="rId9" imgW="3962400" imgH="393700" progId="Equation.DSMT4">
                  <p:embed/>
                </p:oleObj>
              </mc:Choice>
              <mc:Fallback>
                <p:oleObj name="Equation" r:id="rId9" imgW="39624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72009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50" y="4460875"/>
            <a:ext cx="4830763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3954463" y="1833563"/>
          <a:ext cx="19272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7" name="Equation" r:id="rId12" imgW="927100" imgH="228600" progId="Equation.DSMT4">
                  <p:embed/>
                </p:oleObj>
              </mc:Choice>
              <mc:Fallback>
                <p:oleObj name="Equation" r:id="rId12" imgW="9271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1833563"/>
                        <a:ext cx="19272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338388" y="5884863"/>
            <a:ext cx="775811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由于在已调信号的频谱中同时保留了基带信号的上、下两个边带，故称其为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双边带调制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。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225" y="3071813"/>
            <a:ext cx="50736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0" dirty="0"/>
              <a:t>同步解调</a:t>
            </a:r>
            <a:r>
              <a:rPr lang="en-US" altLang="zh-CN" sz="2800" b="0" dirty="0"/>
              <a:t>:</a:t>
            </a:r>
            <a:endParaRPr lang="en-US" altLang="zh-CN" sz="2800" b="0" dirty="0"/>
          </a:p>
          <a:p>
            <a:pPr lvl="1"/>
            <a:r>
              <a:rPr lang="zh-CN" altLang="en-US" b="0" dirty="0"/>
              <a:t>将        再次与同频载波相乘，有</a:t>
            </a:r>
            <a:r>
              <a:rPr lang="en-US" altLang="zh-CN" b="0" dirty="0"/>
              <a:t>: 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E5494D-BE77-43CF-B9FC-E9CF55E6F48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167063" y="1852613"/>
          <a:ext cx="6873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" name="Equation" r:id="rId2" imgW="292100" imgH="203200" progId="Equation.DSMT4">
                  <p:embed/>
                </p:oleObj>
              </mc:Choice>
              <mc:Fallback>
                <p:oleObj name="Equation" r:id="rId2" imgW="292100" imgH="20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1852613"/>
                        <a:ext cx="6873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320925" y="2270125"/>
          <a:ext cx="75612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1" name="Equation" r:id="rId4" imgW="3517900" imgH="393700" progId="Equation.DSMT4">
                  <p:embed/>
                </p:oleObj>
              </mc:Choice>
              <mc:Fallback>
                <p:oleObj name="Equation" r:id="rId4" imgW="35179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25" y="2270125"/>
                        <a:ext cx="756126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8382000" y="5848350"/>
          <a:ext cx="19970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2" name="Equation" r:id="rId6" imgW="1244600" imgH="228600" progId="Equation.DSMT4">
                  <p:embed/>
                </p:oleObj>
              </mc:Choice>
              <mc:Fallback>
                <p:oleObj name="Equation" r:id="rId6" imgW="1244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5848350"/>
                        <a:ext cx="19970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b="0"/>
              <a:t>只要滤掉第二项即可实现对         的恢复。</a:t>
            </a:r>
            <a:endParaRPr lang="en-US" altLang="zh-CN" b="0"/>
          </a:p>
          <a:p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endParaRPr lang="en-US" altLang="zh-CN" sz="2800" b="0"/>
          </a:p>
          <a:p>
            <a:r>
              <a:rPr lang="zh-CN" altLang="en-US" sz="2800" b="0"/>
              <a:t>技术关键：</a:t>
            </a:r>
            <a:endParaRPr lang="en-US" altLang="zh-CN" b="0"/>
          </a:p>
          <a:p>
            <a:pPr lvl="1"/>
            <a:r>
              <a:rPr lang="zh-CN" altLang="en-US" b="0"/>
              <a:t>解调端所用的载波必须与调制时的载波同频。</a:t>
            </a:r>
            <a:endParaRPr lang="en-US" altLang="zh-CN" b="0"/>
          </a:p>
          <a:p>
            <a:pPr lvl="1"/>
            <a:r>
              <a:rPr lang="zh-CN" altLang="en-US" b="0"/>
              <a:t>所用理想低通滤波器的截止频率要满足</a:t>
            </a:r>
            <a:r>
              <a:rPr lang="en-US" altLang="zh-CN" b="0"/>
              <a:t>:</a:t>
            </a:r>
            <a:endParaRPr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597D61-9D7B-4BBA-8B09-E519A2B4428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7167563" y="1312863"/>
          <a:ext cx="65881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4" name="Equation" r:id="rId1" imgW="279400" imgH="203200" progId="Equation.DSMT4">
                  <p:embed/>
                </p:oleObj>
              </mc:Choice>
              <mc:Fallback>
                <p:oleObj name="Equation" r:id="rId1" imgW="279400" imgH="20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1312863"/>
                        <a:ext cx="65881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4619625" y="5572125"/>
          <a:ext cx="3048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" name="Equation" r:id="rId3" imgW="1244600" imgH="228600" progId="Equation.DSMT4">
                  <p:embed/>
                </p:oleObj>
              </mc:Choice>
              <mc:Fallback>
                <p:oleObj name="Equation" r:id="rId3" imgW="12446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5572125"/>
                        <a:ext cx="3048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667000" y="1793875"/>
          <a:ext cx="702945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6" name="位图图像" r:id="rId5" imgW="7505700" imgH="2247900" progId="Paint.Picture">
                  <p:embed/>
                </p:oleObj>
              </mc:Choice>
              <mc:Fallback>
                <p:oleObj name="位图图像" r:id="rId5" imgW="7505700" imgH="22479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93875"/>
                        <a:ext cx="702945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相乘性质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2D0D8F-A3E1-4249-B84D-2B8D31B9C06B}" type="slidenum">
              <a:rPr kumimoji="0" lang="zh-CN" altLang="en-US" sz="120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497138" y="1571625"/>
          <a:ext cx="2111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2" name="Equation" r:id="rId1" imgW="876300" imgH="203200" progId="Equation.DSMT4">
                  <p:embed/>
                </p:oleObj>
              </mc:Choice>
              <mc:Fallback>
                <p:oleObj name="Equation" r:id="rId1" imgW="876300" imgH="20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1571625"/>
                        <a:ext cx="21113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2381250" y="3000375"/>
          <a:ext cx="21113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3" name="Equation" r:id="rId3" imgW="876300" imgH="228600" progId="Equation.DSMT4">
                  <p:embed/>
                </p:oleObj>
              </mc:Choice>
              <mc:Fallback>
                <p:oleObj name="Equation" r:id="rId3" imgW="8763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3000375"/>
                        <a:ext cx="21113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8" name="Group 15"/>
          <p:cNvGrpSpPr/>
          <p:nvPr/>
        </p:nvGrpSpPr>
        <p:grpSpPr bwMode="auto">
          <a:xfrm>
            <a:off x="5167313" y="1285875"/>
            <a:ext cx="3095625" cy="1582738"/>
            <a:chOff x="3379" y="1344"/>
            <a:chExt cx="1950" cy="997"/>
          </a:xfrm>
        </p:grpSpPr>
        <p:sp>
          <p:nvSpPr>
            <p:cNvPr id="19490" name="Line 16"/>
            <p:cNvSpPr>
              <a:spLocks noChangeShapeType="1"/>
            </p:cNvSpPr>
            <p:nvPr/>
          </p:nvSpPr>
          <p:spPr bwMode="auto">
            <a:xfrm flipV="1">
              <a:off x="4286" y="1410"/>
              <a:ext cx="0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91" name="Line 17"/>
            <p:cNvSpPr>
              <a:spLocks noChangeShapeType="1"/>
            </p:cNvSpPr>
            <p:nvPr/>
          </p:nvSpPr>
          <p:spPr bwMode="auto">
            <a:xfrm flipH="1">
              <a:off x="3944" y="1752"/>
              <a:ext cx="337" cy="31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92" name="Line 18"/>
            <p:cNvSpPr>
              <a:spLocks noChangeShapeType="1"/>
            </p:cNvSpPr>
            <p:nvPr/>
          </p:nvSpPr>
          <p:spPr bwMode="auto">
            <a:xfrm>
              <a:off x="4281" y="1752"/>
              <a:ext cx="338" cy="31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93" name="Text Box 19"/>
            <p:cNvSpPr txBox="1">
              <a:spLocks noChangeArrowheads="1"/>
            </p:cNvSpPr>
            <p:nvPr/>
          </p:nvSpPr>
          <p:spPr bwMode="auto">
            <a:xfrm>
              <a:off x="4057" y="1542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anose="02010609030101010101" pitchFamily="49" charset="-122"/>
                  <a:cs typeface="+mn-cs"/>
                </a:rPr>
                <a:t>1</a:t>
              </a:r>
              <a:endPara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19494" name="Text Box 20"/>
            <p:cNvSpPr txBox="1">
              <a:spLocks noChangeArrowheads="1"/>
            </p:cNvSpPr>
            <p:nvPr/>
          </p:nvSpPr>
          <p:spPr bwMode="auto">
            <a:xfrm>
              <a:off x="4156" y="2038"/>
              <a:ext cx="24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anose="02010609030101010101" pitchFamily="49" charset="-122"/>
                  <a:cs typeface="+mn-cs"/>
                </a:rPr>
                <a:t>0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anose="02010609030101010101" pitchFamily="49" charset="-122"/>
                <a:cs typeface="+mn-cs"/>
              </a:endParaRPr>
            </a:p>
          </p:txBody>
        </p:sp>
        <p:graphicFrame>
          <p:nvGraphicFramePr>
            <p:cNvPr id="19472" name="Object 9"/>
            <p:cNvGraphicFramePr>
              <a:graphicFrameLocks noChangeAspect="1"/>
            </p:cNvGraphicFramePr>
            <p:nvPr/>
          </p:nvGraphicFramePr>
          <p:xfrm>
            <a:off x="5077" y="1857"/>
            <a:ext cx="25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4" name="Equation" r:id="rId5" imgW="152400" imgH="139700" progId="Equation.DSMT4">
                    <p:embed/>
                  </p:oleObj>
                </mc:Choice>
                <mc:Fallback>
                  <p:oleObj name="Equation" r:id="rId5" imgW="152400" imgH="1397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7" y="1857"/>
                          <a:ext cx="25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10"/>
            <p:cNvGraphicFramePr>
              <a:graphicFrameLocks noChangeAspect="1"/>
            </p:cNvGraphicFramePr>
            <p:nvPr/>
          </p:nvGraphicFramePr>
          <p:xfrm>
            <a:off x="4506" y="2013"/>
            <a:ext cx="3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5" name="Equation" r:id="rId7" imgW="241300" imgH="215900" progId="Equation.DSMT4">
                    <p:embed/>
                  </p:oleObj>
                </mc:Choice>
                <mc:Fallback>
                  <p:oleObj name="Equation" r:id="rId7" imgW="241300" imgH="2159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6" y="2013"/>
                          <a:ext cx="3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11"/>
            <p:cNvGraphicFramePr>
              <a:graphicFrameLocks noChangeAspect="1"/>
            </p:cNvGraphicFramePr>
            <p:nvPr/>
          </p:nvGraphicFramePr>
          <p:xfrm>
            <a:off x="3742" y="2013"/>
            <a:ext cx="42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6" name="Equation" r:id="rId9" imgW="342900" imgH="215900" progId="Equation.DSMT4">
                    <p:embed/>
                  </p:oleObj>
                </mc:Choice>
                <mc:Fallback>
                  <p:oleObj name="Equation" r:id="rId9" imgW="342900" imgH="2159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2013"/>
                          <a:ext cx="427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12"/>
            <p:cNvGraphicFramePr>
              <a:graphicFrameLocks noChangeAspect="1"/>
            </p:cNvGraphicFramePr>
            <p:nvPr/>
          </p:nvGraphicFramePr>
          <p:xfrm>
            <a:off x="4323" y="1344"/>
            <a:ext cx="55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97" name="Equation" r:id="rId11" imgW="431800" imgH="203200" progId="Equation.DSMT4">
                    <p:embed/>
                  </p:oleObj>
                </mc:Choice>
                <mc:Fallback>
                  <p:oleObj name="Equation" r:id="rId11" imgW="431800" imgH="203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3" y="1344"/>
                          <a:ext cx="553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5" name="Line 25"/>
            <p:cNvSpPr>
              <a:spLocks noChangeShapeType="1"/>
            </p:cNvSpPr>
            <p:nvPr/>
          </p:nvSpPr>
          <p:spPr bwMode="auto">
            <a:xfrm>
              <a:off x="3379" y="2065"/>
              <a:ext cx="19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6093" name="Object 13"/>
          <p:cNvGraphicFramePr>
            <a:graphicFrameLocks noChangeAspect="1"/>
          </p:cNvGraphicFramePr>
          <p:nvPr/>
        </p:nvGraphicFramePr>
        <p:xfrm>
          <a:off x="5453063" y="3001963"/>
          <a:ext cx="44259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8" name="Equation" r:id="rId13" imgW="2120900" imgH="228600" progId="Equation.DSMT4">
                  <p:embed/>
                </p:oleObj>
              </mc:Choice>
              <mc:Fallback>
                <p:oleObj name="Equation" r:id="rId13" imgW="21209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3001963"/>
                        <a:ext cx="44259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4727575" y="3106738"/>
          <a:ext cx="4889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9" name="Equation" r:id="rId15" imgW="203200" imgH="139700" progId="Equation.DSMT4">
                  <p:embed/>
                </p:oleObj>
              </mc:Choice>
              <mc:Fallback>
                <p:oleObj name="Equation" r:id="rId15" imgW="203200" imgH="139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3106738"/>
                        <a:ext cx="4889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 bwMode="auto">
          <a:xfrm>
            <a:off x="4167188" y="3714750"/>
            <a:ext cx="3887787" cy="1584325"/>
            <a:chOff x="1565" y="890"/>
            <a:chExt cx="2449" cy="998"/>
          </a:xfrm>
        </p:grpSpPr>
        <p:sp>
          <p:nvSpPr>
            <p:cNvPr id="19485" name="Line 4"/>
            <p:cNvSpPr>
              <a:spLocks noChangeShapeType="1"/>
            </p:cNvSpPr>
            <p:nvPr/>
          </p:nvSpPr>
          <p:spPr bwMode="auto">
            <a:xfrm>
              <a:off x="1565" y="1638"/>
              <a:ext cx="24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86" name="Line 5"/>
            <p:cNvSpPr>
              <a:spLocks noChangeShapeType="1"/>
            </p:cNvSpPr>
            <p:nvPr/>
          </p:nvSpPr>
          <p:spPr bwMode="auto">
            <a:xfrm flipV="1">
              <a:off x="2707" y="937"/>
              <a:ext cx="0" cy="7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87" name="Line 6"/>
            <p:cNvSpPr>
              <a:spLocks noChangeShapeType="1"/>
            </p:cNvSpPr>
            <p:nvPr/>
          </p:nvSpPr>
          <p:spPr bwMode="auto">
            <a:xfrm flipV="1">
              <a:off x="2006" y="1223"/>
              <a:ext cx="0" cy="427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88" name="Line 7"/>
            <p:cNvSpPr>
              <a:spLocks noChangeShapeType="1"/>
            </p:cNvSpPr>
            <p:nvPr/>
          </p:nvSpPr>
          <p:spPr bwMode="auto">
            <a:xfrm flipV="1">
              <a:off x="3410" y="1223"/>
              <a:ext cx="0" cy="427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89" name="Text Box 8"/>
            <p:cNvSpPr txBox="1">
              <a:spLocks noChangeArrowheads="1"/>
            </p:cNvSpPr>
            <p:nvPr/>
          </p:nvSpPr>
          <p:spPr bwMode="auto">
            <a:xfrm>
              <a:off x="2567" y="1602"/>
              <a:ext cx="20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anose="02010609030101010101" pitchFamily="49" charset="-122"/>
                  <a:cs typeface="+mn-cs"/>
                </a:rPr>
                <a:t>0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anose="02010609030101010101" pitchFamily="49" charset="-122"/>
                <a:cs typeface="+mn-cs"/>
              </a:endParaRPr>
            </a:p>
          </p:txBody>
        </p:sp>
        <p:graphicFrame>
          <p:nvGraphicFramePr>
            <p:cNvPr id="19467" name="Object 20"/>
            <p:cNvGraphicFramePr>
              <a:graphicFrameLocks noChangeAspect="1"/>
            </p:cNvGraphicFramePr>
            <p:nvPr/>
          </p:nvGraphicFramePr>
          <p:xfrm>
            <a:off x="3461" y="1210"/>
            <a:ext cx="281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0" name="Equation" r:id="rId17" imgW="254000" imgH="203200" progId="Equation.DSMT4">
                    <p:embed/>
                  </p:oleObj>
                </mc:Choice>
                <mc:Fallback>
                  <p:oleObj name="Equation" r:id="rId17" imgW="254000" imgH="203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1" y="1210"/>
                          <a:ext cx="281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21"/>
            <p:cNvGraphicFramePr>
              <a:graphicFrameLocks noChangeAspect="1"/>
            </p:cNvGraphicFramePr>
            <p:nvPr/>
          </p:nvGraphicFramePr>
          <p:xfrm>
            <a:off x="3698" y="1455"/>
            <a:ext cx="316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1" name="Equation" r:id="rId19" imgW="152400" imgH="139700" progId="Equation.DSMT4">
                    <p:embed/>
                  </p:oleObj>
                </mc:Choice>
                <mc:Fallback>
                  <p:oleObj name="Equation" r:id="rId19" imgW="152400" imgH="1397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8" y="1455"/>
                          <a:ext cx="316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22"/>
            <p:cNvGraphicFramePr>
              <a:graphicFrameLocks noChangeAspect="1"/>
            </p:cNvGraphicFramePr>
            <p:nvPr/>
          </p:nvGraphicFramePr>
          <p:xfrm>
            <a:off x="3268" y="1602"/>
            <a:ext cx="29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2" name="Equation" r:id="rId20" imgW="190500" imgH="228600" progId="Equation.DSMT4">
                    <p:embed/>
                  </p:oleObj>
                </mc:Choice>
                <mc:Fallback>
                  <p:oleObj name="Equation" r:id="rId20" imgW="190500" imgH="228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" y="1602"/>
                          <a:ext cx="292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23"/>
            <p:cNvGraphicFramePr>
              <a:graphicFrameLocks noChangeAspect="1"/>
            </p:cNvGraphicFramePr>
            <p:nvPr/>
          </p:nvGraphicFramePr>
          <p:xfrm>
            <a:off x="1725" y="1602"/>
            <a:ext cx="429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3" name="Equation" r:id="rId22" imgW="304800" imgH="228600" progId="Equation.DSMT4">
                    <p:embed/>
                  </p:oleObj>
                </mc:Choice>
                <mc:Fallback>
                  <p:oleObj name="Equation" r:id="rId22" imgW="304800" imgH="2286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5" y="1602"/>
                          <a:ext cx="429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24"/>
            <p:cNvGraphicFramePr>
              <a:graphicFrameLocks noChangeAspect="1"/>
            </p:cNvGraphicFramePr>
            <p:nvPr/>
          </p:nvGraphicFramePr>
          <p:xfrm>
            <a:off x="2707" y="890"/>
            <a:ext cx="53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4" name="Equation" r:id="rId24" imgW="444500" imgH="203200" progId="Equation.DSMT4">
                    <p:embed/>
                  </p:oleObj>
                </mc:Choice>
                <mc:Fallback>
                  <p:oleObj name="Equation" r:id="rId24" imgW="444500" imgH="2032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890"/>
                          <a:ext cx="53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25"/>
          <p:cNvGraphicFramePr>
            <a:graphicFrameLocks noChangeAspect="1"/>
          </p:cNvGraphicFramePr>
          <p:nvPr/>
        </p:nvGraphicFramePr>
        <p:xfrm>
          <a:off x="2497138" y="5572125"/>
          <a:ext cx="21701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5" name="Equation" r:id="rId26" imgW="901065" imgH="203200" progId="Equation.DSMT4">
                  <p:embed/>
                </p:oleObj>
              </mc:Choice>
              <mc:Fallback>
                <p:oleObj name="Equation" r:id="rId26" imgW="901065" imgH="203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5572125"/>
                        <a:ext cx="21701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"/>
          <p:cNvGrpSpPr/>
          <p:nvPr/>
        </p:nvGrpSpPr>
        <p:grpSpPr bwMode="auto">
          <a:xfrm>
            <a:off x="5310188" y="5421313"/>
            <a:ext cx="2667000" cy="1293812"/>
            <a:chOff x="3012" y="579"/>
            <a:chExt cx="1615" cy="699"/>
          </a:xfrm>
        </p:grpSpPr>
        <p:graphicFrame>
          <p:nvGraphicFramePr>
            <p:cNvPr id="19463" name="Object 26"/>
            <p:cNvGraphicFramePr>
              <a:graphicFrameLocks noChangeAspect="1"/>
            </p:cNvGraphicFramePr>
            <p:nvPr/>
          </p:nvGraphicFramePr>
          <p:xfrm>
            <a:off x="3662" y="1015"/>
            <a:ext cx="39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06" name="Equation" r:id="rId28" imgW="304800" imgH="203200" progId="Equation.DSMT4">
                    <p:embed/>
                  </p:oleObj>
                </mc:Choice>
                <mc:Fallback>
                  <p:oleObj name="Equation" r:id="rId28" imgW="304800" imgH="2032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1015"/>
                          <a:ext cx="39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81" name="Group 8"/>
            <p:cNvGrpSpPr/>
            <p:nvPr/>
          </p:nvGrpSpPr>
          <p:grpSpPr bwMode="auto">
            <a:xfrm>
              <a:off x="3012" y="579"/>
              <a:ext cx="1615" cy="435"/>
              <a:chOff x="3012" y="689"/>
              <a:chExt cx="1615" cy="435"/>
            </a:xfrm>
          </p:grpSpPr>
          <p:graphicFrame>
            <p:nvGraphicFramePr>
              <p:cNvPr id="19464" name="Object 27"/>
              <p:cNvGraphicFramePr>
                <a:graphicFrameLocks noChangeAspect="1"/>
              </p:cNvGraphicFramePr>
              <p:nvPr/>
            </p:nvGraphicFramePr>
            <p:xfrm>
              <a:off x="3701" y="692"/>
              <a:ext cx="253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07" name="Equation" r:id="rId30" imgW="165100" imgH="177800" progId="Equation.DSMT4">
                      <p:embed/>
                    </p:oleObj>
                  </mc:Choice>
                  <mc:Fallback>
                    <p:oleObj name="Equation" r:id="rId30" imgW="165100" imgH="177800" progId="Equation.DSMT4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1" y="692"/>
                            <a:ext cx="253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2" name="Line 10"/>
              <p:cNvSpPr>
                <a:spLocks noChangeShapeType="1"/>
              </p:cNvSpPr>
              <p:nvPr/>
            </p:nvSpPr>
            <p:spPr bwMode="auto">
              <a:xfrm>
                <a:off x="3383" y="828"/>
                <a:ext cx="36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83" name="Line 11"/>
              <p:cNvSpPr>
                <a:spLocks noChangeShapeType="1"/>
              </p:cNvSpPr>
              <p:nvPr/>
            </p:nvSpPr>
            <p:spPr bwMode="auto">
              <a:xfrm>
                <a:off x="3902" y="828"/>
                <a:ext cx="36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484" name="Line 12"/>
              <p:cNvSpPr>
                <a:spLocks noChangeShapeType="1"/>
              </p:cNvSpPr>
              <p:nvPr/>
            </p:nvSpPr>
            <p:spPr bwMode="auto">
              <a:xfrm flipV="1">
                <a:off x="3832" y="897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19465" name="Object 28"/>
              <p:cNvGraphicFramePr>
                <a:graphicFrameLocks noChangeAspect="1"/>
              </p:cNvGraphicFramePr>
              <p:nvPr/>
            </p:nvGraphicFramePr>
            <p:xfrm>
              <a:off x="3012" y="689"/>
              <a:ext cx="34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08" name="Equation" r:id="rId32" imgW="266700" imgH="203200" progId="Equation.DSMT4">
                      <p:embed/>
                    </p:oleObj>
                  </mc:Choice>
                  <mc:Fallback>
                    <p:oleObj name="Equation" r:id="rId32" imgW="266700" imgH="20320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2" y="689"/>
                            <a:ext cx="34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6" name="Object 29"/>
              <p:cNvGraphicFramePr>
                <a:graphicFrameLocks noChangeAspect="1"/>
              </p:cNvGraphicFramePr>
              <p:nvPr/>
            </p:nvGraphicFramePr>
            <p:xfrm>
              <a:off x="4281" y="690"/>
              <a:ext cx="34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09" name="Equation" r:id="rId34" imgW="266700" imgH="203200" progId="Equation.DSMT4">
                      <p:embed/>
                    </p:oleObj>
                  </mc:Choice>
                  <mc:Fallback>
                    <p:oleObj name="Equation" r:id="rId34" imgW="266700" imgH="20320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1" y="690"/>
                            <a:ext cx="346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相乘性质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9C733D-BBC2-4F67-91F6-16DF4FF883E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482" name="Object 7"/>
          <p:cNvGraphicFramePr>
            <a:graphicFrameLocks noChangeAspect="1"/>
          </p:cNvGraphicFramePr>
          <p:nvPr/>
        </p:nvGraphicFramePr>
        <p:xfrm>
          <a:off x="2992438" y="1285875"/>
          <a:ext cx="54991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8" name="Equation" r:id="rId1" imgW="2794000" imgH="393700" progId="Equation.DSMT4">
                  <p:embed/>
                </p:oleObj>
              </mc:Choice>
              <mc:Fallback>
                <p:oleObj name="Equation" r:id="rId1" imgW="27940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1285875"/>
                        <a:ext cx="54991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3813175" y="2266950"/>
          <a:ext cx="420846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9" name="Equation" r:id="rId3" imgW="2032000" imgH="393700" progId="Equation.DSMT4">
                  <p:embed/>
                </p:oleObj>
              </mc:Choice>
              <mc:Fallback>
                <p:oleObj name="Equation" r:id="rId3" imgW="20320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2266950"/>
                        <a:ext cx="420846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 bwMode="auto">
          <a:xfrm>
            <a:off x="3667125" y="3379788"/>
            <a:ext cx="4968875" cy="1739900"/>
            <a:chOff x="1247" y="3022"/>
            <a:chExt cx="3130" cy="1096"/>
          </a:xfrm>
        </p:grpSpPr>
        <p:sp>
          <p:nvSpPr>
            <p:cNvPr id="20492" name="Line 18"/>
            <p:cNvSpPr>
              <a:spLocks noChangeShapeType="1"/>
            </p:cNvSpPr>
            <p:nvPr/>
          </p:nvSpPr>
          <p:spPr bwMode="auto">
            <a:xfrm>
              <a:off x="1247" y="3820"/>
              <a:ext cx="30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3" name="Line 19"/>
            <p:cNvSpPr>
              <a:spLocks noChangeShapeType="1"/>
            </p:cNvSpPr>
            <p:nvPr/>
          </p:nvSpPr>
          <p:spPr bwMode="auto">
            <a:xfrm flipH="1">
              <a:off x="1599" y="3527"/>
              <a:ext cx="424" cy="2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4" name="Line 20"/>
            <p:cNvSpPr>
              <a:spLocks noChangeShapeType="1"/>
            </p:cNvSpPr>
            <p:nvPr/>
          </p:nvSpPr>
          <p:spPr bwMode="auto">
            <a:xfrm>
              <a:off x="2025" y="3527"/>
              <a:ext cx="424" cy="2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5" name="Line 21"/>
            <p:cNvSpPr>
              <a:spLocks noChangeShapeType="1"/>
            </p:cNvSpPr>
            <p:nvPr/>
          </p:nvSpPr>
          <p:spPr bwMode="auto">
            <a:xfrm>
              <a:off x="3440" y="3527"/>
              <a:ext cx="422" cy="2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6" name="Line 22"/>
            <p:cNvSpPr>
              <a:spLocks noChangeShapeType="1"/>
            </p:cNvSpPr>
            <p:nvPr/>
          </p:nvSpPr>
          <p:spPr bwMode="auto">
            <a:xfrm flipH="1">
              <a:off x="3015" y="3527"/>
              <a:ext cx="425" cy="2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7" name="Line 23"/>
            <p:cNvSpPr>
              <a:spLocks noChangeShapeType="1"/>
            </p:cNvSpPr>
            <p:nvPr/>
          </p:nvSpPr>
          <p:spPr bwMode="auto">
            <a:xfrm>
              <a:off x="2025" y="377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8" name="Line 24"/>
            <p:cNvSpPr>
              <a:spLocks noChangeShapeType="1"/>
            </p:cNvSpPr>
            <p:nvPr/>
          </p:nvSpPr>
          <p:spPr bwMode="auto">
            <a:xfrm>
              <a:off x="3440" y="377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499" name="Line 25"/>
            <p:cNvSpPr>
              <a:spLocks noChangeShapeType="1"/>
            </p:cNvSpPr>
            <p:nvPr/>
          </p:nvSpPr>
          <p:spPr bwMode="auto">
            <a:xfrm flipH="1">
              <a:off x="2714" y="3492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0" name="Text Box 26"/>
            <p:cNvSpPr txBox="1">
              <a:spLocks noChangeArrowheads="1"/>
            </p:cNvSpPr>
            <p:nvPr/>
          </p:nvSpPr>
          <p:spPr bwMode="auto">
            <a:xfrm>
              <a:off x="2662" y="3231"/>
              <a:ext cx="32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1/2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graphicFrame>
          <p:nvGraphicFramePr>
            <p:cNvPr id="20484" name="Object 9"/>
            <p:cNvGraphicFramePr>
              <a:graphicFrameLocks noChangeAspect="1"/>
            </p:cNvGraphicFramePr>
            <p:nvPr/>
          </p:nvGraphicFramePr>
          <p:xfrm>
            <a:off x="4050" y="3595"/>
            <a:ext cx="3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10" name="Equation" r:id="rId5" imgW="152400" imgH="139700" progId="Equation.DSMT4">
                    <p:embed/>
                  </p:oleObj>
                </mc:Choice>
                <mc:Fallback>
                  <p:oleObj name="Equation" r:id="rId5" imgW="152400" imgH="1397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3595"/>
                          <a:ext cx="32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10"/>
            <p:cNvGraphicFramePr>
              <a:graphicFrameLocks noChangeAspect="1"/>
            </p:cNvGraphicFramePr>
            <p:nvPr/>
          </p:nvGraphicFramePr>
          <p:xfrm>
            <a:off x="3297" y="3770"/>
            <a:ext cx="309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11" name="Equation" r:id="rId7" imgW="190500" imgH="228600" progId="Equation.DSMT4">
                    <p:embed/>
                  </p:oleObj>
                </mc:Choice>
                <mc:Fallback>
                  <p:oleObj name="Equation" r:id="rId7" imgW="19050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" y="3770"/>
                          <a:ext cx="309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6" name="Object 11"/>
            <p:cNvGraphicFramePr>
              <a:graphicFrameLocks noChangeAspect="1"/>
            </p:cNvGraphicFramePr>
            <p:nvPr/>
          </p:nvGraphicFramePr>
          <p:xfrm>
            <a:off x="1718" y="3770"/>
            <a:ext cx="48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12" name="Equation" r:id="rId9" imgW="304800" imgH="228600" progId="Equation.DSMT4">
                    <p:embed/>
                  </p:oleObj>
                </mc:Choice>
                <mc:Fallback>
                  <p:oleObj name="Equation" r:id="rId9" imgW="30480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3770"/>
                          <a:ext cx="48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7" name="Object 12"/>
            <p:cNvGraphicFramePr>
              <a:graphicFrameLocks noChangeAspect="1"/>
            </p:cNvGraphicFramePr>
            <p:nvPr/>
          </p:nvGraphicFramePr>
          <p:xfrm>
            <a:off x="2782" y="3022"/>
            <a:ext cx="54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13" name="Equation" r:id="rId11" imgW="431800" imgH="203200" progId="Equation.DSMT4">
                    <p:embed/>
                  </p:oleObj>
                </mc:Choice>
                <mc:Fallback>
                  <p:oleObj name="Equation" r:id="rId11" imgW="431800" imgH="203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2" y="3022"/>
                          <a:ext cx="54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Line 31"/>
            <p:cNvSpPr>
              <a:spLocks noChangeShapeType="1"/>
            </p:cNvSpPr>
            <p:nvPr/>
          </p:nvSpPr>
          <p:spPr bwMode="auto">
            <a:xfrm flipV="1">
              <a:off x="2711" y="3164"/>
              <a:ext cx="0" cy="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2309813" y="5214938"/>
            <a:ext cx="7786687" cy="112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正弦幅度调制等效于在频域将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调制信号的频谱搬移到载频位置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。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相乘性质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827476-4F36-428D-9876-DDC5F585FD6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5" name="Text Box 3"/>
          <p:cNvSpPr txBox="1">
            <a:spLocks noChangeArrowheads="1"/>
          </p:cNvSpPr>
          <p:nvPr/>
        </p:nvSpPr>
        <p:spPr bwMode="auto">
          <a:xfrm>
            <a:off x="2290763" y="1323975"/>
            <a:ext cx="24155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例</a:t>
            </a:r>
            <a:r>
              <a:rPr kumimoji="0" lang="en-US" altLang="zh-CN" sz="280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2. </a:t>
            </a: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同步解调</a:t>
            </a:r>
            <a:r>
              <a:rPr kumimoji="0" lang="en-US" altLang="zh-CN" sz="280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:</a:t>
            </a:r>
            <a:endParaRPr kumimoji="0" lang="en-US" altLang="zh-CN" sz="280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667000" y="1857375"/>
          <a:ext cx="70199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1" name="Equation" r:id="rId1" imgW="3149600" imgH="393700" progId="Equation.DSMT4">
                  <p:embed/>
                </p:oleObj>
              </mc:Choice>
              <mc:Fallback>
                <p:oleObj name="Equation" r:id="rId1" imgW="3149600" imgH="393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57375"/>
                        <a:ext cx="70199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782888" y="2928938"/>
          <a:ext cx="67024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2" name="Equation" r:id="rId3" imgW="2794000" imgH="393700" progId="Equation.DSMT4">
                  <p:embed/>
                </p:oleObj>
              </mc:Choice>
              <mc:Fallback>
                <p:oleObj name="Equation" r:id="rId3" imgW="27940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928938"/>
                        <a:ext cx="67024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 bwMode="auto">
          <a:xfrm>
            <a:off x="2976563" y="4071938"/>
            <a:ext cx="6553200" cy="1633537"/>
            <a:chOff x="1008" y="3014"/>
            <a:chExt cx="4128" cy="1029"/>
          </a:xfrm>
        </p:grpSpPr>
        <p:sp>
          <p:nvSpPr>
            <p:cNvPr id="21517" name="Line 7"/>
            <p:cNvSpPr>
              <a:spLocks noChangeShapeType="1"/>
            </p:cNvSpPr>
            <p:nvPr/>
          </p:nvSpPr>
          <p:spPr bwMode="auto">
            <a:xfrm>
              <a:off x="1008" y="3782"/>
              <a:ext cx="41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18" name="Line 8"/>
            <p:cNvSpPr>
              <a:spLocks noChangeShapeType="1"/>
            </p:cNvSpPr>
            <p:nvPr/>
          </p:nvSpPr>
          <p:spPr bwMode="auto">
            <a:xfrm flipH="1">
              <a:off x="2641" y="3328"/>
              <a:ext cx="408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19" name="Line 9"/>
            <p:cNvSpPr>
              <a:spLocks noChangeShapeType="1"/>
            </p:cNvSpPr>
            <p:nvPr/>
          </p:nvSpPr>
          <p:spPr bwMode="auto">
            <a:xfrm>
              <a:off x="3049" y="3328"/>
              <a:ext cx="408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0" name="Line 10"/>
            <p:cNvSpPr>
              <a:spLocks noChangeShapeType="1"/>
            </p:cNvSpPr>
            <p:nvPr/>
          </p:nvSpPr>
          <p:spPr bwMode="auto">
            <a:xfrm flipH="1">
              <a:off x="1688" y="3782"/>
              <a:ext cx="9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1" name="Line 11"/>
            <p:cNvSpPr>
              <a:spLocks noChangeShapeType="1"/>
            </p:cNvSpPr>
            <p:nvPr/>
          </p:nvSpPr>
          <p:spPr bwMode="auto">
            <a:xfrm>
              <a:off x="1461" y="3782"/>
              <a:ext cx="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2" name="Line 12"/>
            <p:cNvSpPr>
              <a:spLocks noChangeShapeType="1"/>
            </p:cNvSpPr>
            <p:nvPr/>
          </p:nvSpPr>
          <p:spPr bwMode="auto">
            <a:xfrm flipH="1">
              <a:off x="3049" y="3782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3" name="Line 13"/>
            <p:cNvSpPr>
              <a:spLocks noChangeShapeType="1"/>
            </p:cNvSpPr>
            <p:nvPr/>
          </p:nvSpPr>
          <p:spPr bwMode="auto">
            <a:xfrm flipV="1">
              <a:off x="1688" y="3737"/>
              <a:ext cx="0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4" name="Line 14"/>
            <p:cNvSpPr>
              <a:spLocks noChangeShapeType="1"/>
            </p:cNvSpPr>
            <p:nvPr/>
          </p:nvSpPr>
          <p:spPr bwMode="auto">
            <a:xfrm flipH="1">
              <a:off x="2657" y="3597"/>
              <a:ext cx="384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5" name="Line 15"/>
            <p:cNvSpPr>
              <a:spLocks noChangeShapeType="1"/>
            </p:cNvSpPr>
            <p:nvPr/>
          </p:nvSpPr>
          <p:spPr bwMode="auto">
            <a:xfrm>
              <a:off x="1697" y="3597"/>
              <a:ext cx="363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6" name="Line 16"/>
            <p:cNvSpPr>
              <a:spLocks noChangeShapeType="1"/>
            </p:cNvSpPr>
            <p:nvPr/>
          </p:nvSpPr>
          <p:spPr bwMode="auto">
            <a:xfrm flipV="1">
              <a:off x="4410" y="3737"/>
              <a:ext cx="0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7" name="Line 17"/>
            <p:cNvSpPr>
              <a:spLocks noChangeShapeType="1"/>
            </p:cNvSpPr>
            <p:nvPr/>
          </p:nvSpPr>
          <p:spPr bwMode="auto">
            <a:xfrm flipV="1">
              <a:off x="4001" y="3601"/>
              <a:ext cx="409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8" name="Line 18"/>
            <p:cNvSpPr>
              <a:spLocks noChangeShapeType="1"/>
            </p:cNvSpPr>
            <p:nvPr/>
          </p:nvSpPr>
          <p:spPr bwMode="auto">
            <a:xfrm>
              <a:off x="4410" y="3601"/>
              <a:ext cx="363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9" name="Text Box 19"/>
            <p:cNvSpPr txBox="1">
              <a:spLocks noChangeArrowheads="1"/>
            </p:cNvSpPr>
            <p:nvPr/>
          </p:nvSpPr>
          <p:spPr bwMode="auto">
            <a:xfrm>
              <a:off x="2688" y="3168"/>
              <a:ext cx="37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1/2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21530" name="Text Box 20"/>
            <p:cNvSpPr txBox="1">
              <a:spLocks noChangeArrowheads="1"/>
            </p:cNvSpPr>
            <p:nvPr/>
          </p:nvSpPr>
          <p:spPr bwMode="auto">
            <a:xfrm>
              <a:off x="1539" y="3370"/>
              <a:ext cx="32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1/4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21531" name="Rectangle 21"/>
            <p:cNvSpPr>
              <a:spLocks noChangeArrowheads="1"/>
            </p:cNvSpPr>
            <p:nvPr/>
          </p:nvSpPr>
          <p:spPr bwMode="auto">
            <a:xfrm>
              <a:off x="4228" y="3374"/>
              <a:ext cx="32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1/4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graphicFrame>
          <p:nvGraphicFramePr>
            <p:cNvPr id="21508" name="Object 4"/>
            <p:cNvGraphicFramePr>
              <a:graphicFrameLocks noChangeAspect="1"/>
            </p:cNvGraphicFramePr>
            <p:nvPr/>
          </p:nvGraphicFramePr>
          <p:xfrm>
            <a:off x="2414" y="3731"/>
            <a:ext cx="40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3" name="Equation" r:id="rId5" imgW="342900" imgH="215900" progId="Equation.DSMT4">
                    <p:embed/>
                  </p:oleObj>
                </mc:Choice>
                <mc:Fallback>
                  <p:oleObj name="Equation" r:id="rId5" imgW="342900" imgH="2159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4" y="3731"/>
                          <a:ext cx="40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9" name="Object 5"/>
            <p:cNvGraphicFramePr>
              <a:graphicFrameLocks noChangeAspect="1"/>
            </p:cNvGraphicFramePr>
            <p:nvPr/>
          </p:nvGraphicFramePr>
          <p:xfrm>
            <a:off x="3321" y="3731"/>
            <a:ext cx="272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4" name="Equation" r:id="rId7" imgW="241300" imgH="215900" progId="Equation.DSMT4">
                    <p:embed/>
                  </p:oleObj>
                </mc:Choice>
                <mc:Fallback>
                  <p:oleObj name="Equation" r:id="rId7" imgW="241300" imgH="2159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3731"/>
                          <a:ext cx="272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Object 6"/>
            <p:cNvGraphicFramePr>
              <a:graphicFrameLocks noChangeAspect="1"/>
            </p:cNvGraphicFramePr>
            <p:nvPr/>
          </p:nvGraphicFramePr>
          <p:xfrm>
            <a:off x="1431" y="3767"/>
            <a:ext cx="459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5" name="Equation" r:id="rId9" imgW="381000" imgH="228600" progId="Equation.DSMT4">
                    <p:embed/>
                  </p:oleObj>
                </mc:Choice>
                <mc:Fallback>
                  <p:oleObj name="Equation" r:id="rId9" imgW="3810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" y="3767"/>
                          <a:ext cx="459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1" name="Object 7"/>
            <p:cNvGraphicFramePr>
              <a:graphicFrameLocks noChangeAspect="1"/>
            </p:cNvGraphicFramePr>
            <p:nvPr/>
          </p:nvGraphicFramePr>
          <p:xfrm>
            <a:off x="4274" y="3757"/>
            <a:ext cx="31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6" name="Equation" r:id="rId11" imgW="266700" imgH="228600" progId="Equation.DSMT4">
                    <p:embed/>
                  </p:oleObj>
                </mc:Choice>
                <mc:Fallback>
                  <p:oleObj name="Equation" r:id="rId11" imgW="2667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4" y="3757"/>
                          <a:ext cx="31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8"/>
            <p:cNvGraphicFramePr>
              <a:graphicFrameLocks noChangeAspect="1"/>
            </p:cNvGraphicFramePr>
            <p:nvPr/>
          </p:nvGraphicFramePr>
          <p:xfrm>
            <a:off x="4909" y="3571"/>
            <a:ext cx="2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7" name="Equation" r:id="rId13" imgW="152400" imgH="139700" progId="Equation.DSMT4">
                    <p:embed/>
                  </p:oleObj>
                </mc:Choice>
                <mc:Fallback>
                  <p:oleObj name="Equation" r:id="rId13" imgW="152400" imgH="139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9" y="3571"/>
                          <a:ext cx="22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2" name="Line 27"/>
            <p:cNvSpPr>
              <a:spLocks noChangeShapeType="1"/>
            </p:cNvSpPr>
            <p:nvPr/>
          </p:nvSpPr>
          <p:spPr bwMode="auto">
            <a:xfrm>
              <a:off x="3041" y="3597"/>
              <a:ext cx="411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33" name="Line 28"/>
            <p:cNvSpPr>
              <a:spLocks noChangeShapeType="1"/>
            </p:cNvSpPr>
            <p:nvPr/>
          </p:nvSpPr>
          <p:spPr bwMode="auto">
            <a:xfrm flipH="1">
              <a:off x="1313" y="3597"/>
              <a:ext cx="384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34" name="Line 29"/>
            <p:cNvSpPr>
              <a:spLocks noChangeShapeType="1"/>
            </p:cNvSpPr>
            <p:nvPr/>
          </p:nvSpPr>
          <p:spPr bwMode="auto">
            <a:xfrm flipV="1">
              <a:off x="3054" y="3014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4.5 </a:t>
            </a:r>
            <a:r>
              <a:rPr lang="zh-CN" altLang="en-US"/>
              <a:t>相乘性质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25EC15-357E-4EF4-8434-12040F19C9F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3" name="Text Box 3"/>
          <p:cNvSpPr txBox="1">
            <a:spLocks noChangeArrowheads="1"/>
          </p:cNvSpPr>
          <p:nvPr/>
        </p:nvSpPr>
        <p:spPr bwMode="auto">
          <a:xfrm>
            <a:off x="2024063" y="1285875"/>
            <a:ext cx="80010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此时，用一个频率特性为             的理想低通滤波器即可从        恢复出        。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6053138" y="1470025"/>
          <a:ext cx="1092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7" name="Equation" r:id="rId1" imgW="457200" imgH="203200" progId="Equation.DSMT4">
                  <p:embed/>
                </p:oleObj>
              </mc:Choice>
              <mc:Fallback>
                <p:oleObj name="Equation" r:id="rId1" imgW="457200" imgH="20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1470025"/>
                        <a:ext cx="10922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602038" y="2098675"/>
          <a:ext cx="6365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8" name="Equation" r:id="rId3" imgW="266700" imgH="203200" progId="Equation.DSMT4">
                  <p:embed/>
                </p:oleObj>
              </mc:Choice>
              <mc:Fallback>
                <p:oleObj name="Equation" r:id="rId3" imgW="2667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2098675"/>
                        <a:ext cx="6365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381625" y="2085975"/>
          <a:ext cx="6413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9" name="Equation" r:id="rId5" imgW="266700" imgH="203200" progId="Equation.DSMT4">
                  <p:embed/>
                </p:oleObj>
              </mc:Choice>
              <mc:Fallback>
                <p:oleObj name="Equation" r:id="rId5" imgW="2667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5" y="2085975"/>
                        <a:ext cx="6413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 bwMode="auto">
          <a:xfrm>
            <a:off x="7239000" y="2071688"/>
            <a:ext cx="2589213" cy="1612900"/>
            <a:chOff x="3984" y="634"/>
            <a:chExt cx="1631" cy="1016"/>
          </a:xfrm>
        </p:grpSpPr>
        <p:graphicFrame>
          <p:nvGraphicFramePr>
            <p:cNvPr id="22537" name="Object 5"/>
            <p:cNvGraphicFramePr>
              <a:graphicFrameLocks noChangeAspect="1"/>
            </p:cNvGraphicFramePr>
            <p:nvPr/>
          </p:nvGraphicFramePr>
          <p:xfrm>
            <a:off x="4777" y="634"/>
            <a:ext cx="56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0" name="Equation" r:id="rId7" imgW="457200" imgH="203200" progId="Equation.DSMT4">
                    <p:embed/>
                  </p:oleObj>
                </mc:Choice>
                <mc:Fallback>
                  <p:oleObj name="Equation" r:id="rId7" imgW="457200" imgH="203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" y="634"/>
                          <a:ext cx="56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Text Box 9"/>
            <p:cNvSpPr txBox="1">
              <a:spLocks noChangeArrowheads="1"/>
            </p:cNvSpPr>
            <p:nvPr/>
          </p:nvSpPr>
          <p:spPr bwMode="auto">
            <a:xfrm>
              <a:off x="4542" y="844"/>
              <a:ext cx="19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2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sp>
          <p:nvSpPr>
            <p:cNvPr id="22553" name="Line 10"/>
            <p:cNvSpPr>
              <a:spLocks noChangeShapeType="1"/>
            </p:cNvSpPr>
            <p:nvPr/>
          </p:nvSpPr>
          <p:spPr bwMode="auto">
            <a:xfrm>
              <a:off x="3984" y="1395"/>
              <a:ext cx="1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4" name="Line 11"/>
            <p:cNvSpPr>
              <a:spLocks noChangeShapeType="1"/>
            </p:cNvSpPr>
            <p:nvPr/>
          </p:nvSpPr>
          <p:spPr bwMode="auto">
            <a:xfrm flipV="1">
              <a:off x="4745" y="715"/>
              <a:ext cx="0" cy="6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5" name="Line 12"/>
            <p:cNvSpPr>
              <a:spLocks noChangeShapeType="1"/>
            </p:cNvSpPr>
            <p:nvPr/>
          </p:nvSpPr>
          <p:spPr bwMode="auto">
            <a:xfrm flipV="1">
              <a:off x="4427" y="1078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6" name="Line 13"/>
            <p:cNvSpPr>
              <a:spLocks noChangeShapeType="1"/>
            </p:cNvSpPr>
            <p:nvPr/>
          </p:nvSpPr>
          <p:spPr bwMode="auto">
            <a:xfrm flipV="1">
              <a:off x="5063" y="1078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7" name="Line 14"/>
            <p:cNvSpPr>
              <a:spLocks noChangeShapeType="1"/>
            </p:cNvSpPr>
            <p:nvPr/>
          </p:nvSpPr>
          <p:spPr bwMode="auto">
            <a:xfrm>
              <a:off x="4419" y="1078"/>
              <a:ext cx="6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8" name="Text Box 15"/>
            <p:cNvSpPr txBox="1">
              <a:spLocks noChangeArrowheads="1"/>
            </p:cNvSpPr>
            <p:nvPr/>
          </p:nvSpPr>
          <p:spPr bwMode="auto">
            <a:xfrm>
              <a:off x="4656" y="1392"/>
              <a:ext cx="19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0</a:t>
              </a:r>
              <a:endParaRPr kumimoji="0" lang="en-US" altLang="zh-CN" sz="2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  <p:graphicFrame>
          <p:nvGraphicFramePr>
            <p:cNvPr id="22538" name="Object 6"/>
            <p:cNvGraphicFramePr>
              <a:graphicFrameLocks noChangeAspect="1"/>
            </p:cNvGraphicFramePr>
            <p:nvPr/>
          </p:nvGraphicFramePr>
          <p:xfrm>
            <a:off x="4262" y="1342"/>
            <a:ext cx="363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1" name="Equation" r:id="rId9" imgW="279400" imgH="228600" progId="Equation.DSMT4">
                    <p:embed/>
                  </p:oleObj>
                </mc:Choice>
                <mc:Fallback>
                  <p:oleObj name="Equation" r:id="rId9" imgW="2794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2" y="1342"/>
                          <a:ext cx="363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7"/>
            <p:cNvGraphicFramePr>
              <a:graphicFrameLocks noChangeAspect="1"/>
            </p:cNvGraphicFramePr>
            <p:nvPr/>
          </p:nvGraphicFramePr>
          <p:xfrm>
            <a:off x="4944" y="1332"/>
            <a:ext cx="26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2" name="Equation" r:id="rId11" imgW="190500" imgH="228600" progId="Equation.DSMT4">
                    <p:embed/>
                  </p:oleObj>
                </mc:Choice>
                <mc:Fallback>
                  <p:oleObj name="Equation" r:id="rId11" imgW="1905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332"/>
                          <a:ext cx="26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0" name="Object 8"/>
            <p:cNvGraphicFramePr>
              <a:graphicFrameLocks noChangeAspect="1"/>
            </p:cNvGraphicFramePr>
            <p:nvPr/>
          </p:nvGraphicFramePr>
          <p:xfrm>
            <a:off x="5386" y="1230"/>
            <a:ext cx="18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3" name="Equation" r:id="rId13" imgW="152400" imgH="139700" progId="Equation.DSMT4">
                    <p:embed/>
                  </p:oleObj>
                </mc:Choice>
                <mc:Fallback>
                  <p:oleObj name="Equation" r:id="rId13" imgW="152400" imgH="139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6" y="1230"/>
                          <a:ext cx="181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2187575" y="2741613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只要</a:t>
            </a:r>
            <a:endParaRPr kumimoji="0" lang="zh-CN" altLang="en-US" sz="28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  <p:graphicFrame>
        <p:nvGraphicFramePr>
          <p:cNvPr id="24" name="Object 9"/>
          <p:cNvGraphicFramePr>
            <a:graphicFrameLocks noChangeAspect="1"/>
          </p:cNvGraphicFramePr>
          <p:nvPr/>
        </p:nvGraphicFramePr>
        <p:xfrm>
          <a:off x="3095625" y="2714625"/>
          <a:ext cx="26670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name="Equation" r:id="rId15" imgW="1270000" imgH="228600" progId="Equation.DSMT4">
                  <p:embed/>
                </p:oleObj>
              </mc:Choice>
              <mc:Fallback>
                <p:oleObj name="Equation" r:id="rId15" imgW="12700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2714625"/>
                        <a:ext cx="26670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5768975" y="2741613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即可。</a:t>
            </a:r>
            <a:endParaRPr kumimoji="0" lang="zh-CN" altLang="en-US" sz="28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166813"/>
            <a:ext cx="8229600" cy="5572125"/>
          </a:xfrm>
        </p:spPr>
        <p:txBody>
          <a:bodyPr/>
          <a:lstStyle/>
          <a:p>
            <a:r>
              <a:rPr lang="zh-CN" altLang="en-US" sz="2800" b="0" dirty="0"/>
              <a:t>载波相位的影响</a:t>
            </a:r>
            <a:r>
              <a:rPr lang="en-US" altLang="zh-CN" sz="2800" b="0" dirty="0">
                <a:solidFill>
                  <a:srgbClr val="FF0000"/>
                </a:solidFill>
              </a:rPr>
              <a:t>(</a:t>
            </a:r>
            <a:r>
              <a:rPr lang="zh-CN" altLang="en-US" sz="2800" b="0" dirty="0">
                <a:solidFill>
                  <a:srgbClr val="FF0000"/>
                </a:solidFill>
              </a:rPr>
              <a:t>调制与解调有同步要求</a:t>
            </a:r>
            <a:r>
              <a:rPr lang="en-US" altLang="zh-CN" sz="2800" b="0" dirty="0">
                <a:solidFill>
                  <a:srgbClr val="FF0000"/>
                </a:solidFill>
              </a:rPr>
              <a:t>)</a:t>
            </a:r>
            <a:r>
              <a:rPr lang="zh-CN" altLang="en-US" sz="2800" b="0" dirty="0"/>
              <a:t>：</a:t>
            </a:r>
            <a:br>
              <a:rPr lang="en-US" altLang="zh-CN" sz="2800" b="0" dirty="0"/>
            </a:br>
            <a:r>
              <a:rPr lang="zh-CN" altLang="en-US" sz="2800" b="0" dirty="0"/>
              <a:t>假定调制时载波                                     解调时载波</a:t>
            </a:r>
            <a:br>
              <a:rPr lang="en-US" altLang="zh-CN" sz="2800" b="0" dirty="0"/>
            </a:br>
            <a:r>
              <a:rPr lang="zh-CN" altLang="en-US" sz="2800" b="0" dirty="0"/>
              <a:t>                                 ，则</a:t>
            </a:r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pPr>
              <a:lnSpc>
                <a:spcPct val="120000"/>
              </a:lnSpc>
            </a:pPr>
            <a:r>
              <a:rPr lang="zh-CN" altLang="en-US" sz="2800" b="0" dirty="0"/>
              <a:t>当              不随时间变化，而且                          时</a:t>
            </a:r>
            <a:r>
              <a:rPr lang="en-US" altLang="zh-CN" sz="2800" b="0" dirty="0"/>
              <a:t>,</a:t>
            </a:r>
            <a:br>
              <a:rPr lang="en-US" altLang="zh-CN" sz="2800" b="0" dirty="0"/>
            </a:br>
            <a:r>
              <a:rPr lang="en-US" altLang="zh-CN" sz="2800" b="0" dirty="0"/>
              <a:t>                     </a:t>
            </a:r>
            <a:r>
              <a:rPr lang="zh-CN" altLang="en-US" sz="2800" b="0" dirty="0"/>
              <a:t>是一个常数。此时，可以通过前面讨论的解调系统实现解调。</a:t>
            </a:r>
            <a:endParaRPr lang="en-US" altLang="zh-CN" sz="2800" b="0" dirty="0"/>
          </a:p>
          <a:p>
            <a:pPr>
              <a:lnSpc>
                <a:spcPct val="120000"/>
              </a:lnSpc>
            </a:pPr>
            <a:r>
              <a:rPr lang="zh-CN" altLang="en-US" sz="2800" b="0" dirty="0"/>
              <a:t>当                          时，由于                         不能实现解调。</a:t>
            </a:r>
            <a:endParaRPr lang="zh-CN" alt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D19DDF-2CB9-4557-B037-0ED4C2880CB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4984750" y="1608138"/>
          <a:ext cx="30226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0" name="Equation" r:id="rId1" imgW="1257300" imgH="228600" progId="Equation.DSMT4">
                  <p:embed/>
                </p:oleObj>
              </mc:Choice>
              <mc:Fallback>
                <p:oleObj name="Equation" r:id="rId1" imgW="12573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1608138"/>
                        <a:ext cx="30226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413000" y="2030413"/>
          <a:ext cx="300513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1" name="Equation" r:id="rId3" imgW="1257300" imgH="228600" progId="Equation.DSMT4">
                  <p:embed/>
                </p:oleObj>
              </mc:Choice>
              <mc:Fallback>
                <p:oleObj name="Equation" r:id="rId3" imgW="1257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030413"/>
                        <a:ext cx="300513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2639616" y="2644775"/>
          <a:ext cx="55721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" name="Equation" r:id="rId5" imgW="2324100" imgH="228600" progId="Equation.DSMT4">
                  <p:embed/>
                </p:oleObj>
              </mc:Choice>
              <mc:Fallback>
                <p:oleObj name="Equation" r:id="rId5" imgW="2324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644775"/>
                        <a:ext cx="55721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836863" y="4159250"/>
          <a:ext cx="10334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3" name="Equation" r:id="rId7" imgW="431800" imgH="228600" progId="Equation.DSMT4">
                  <p:embed/>
                </p:oleObj>
              </mc:Choice>
              <mc:Fallback>
                <p:oleObj name="Equation" r:id="rId7" imgW="4318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4159250"/>
                        <a:ext cx="103346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7297738" y="4140200"/>
          <a:ext cx="21558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" name="Equation" r:id="rId9" imgW="965200" imgH="228600" progId="Equation.DSMT4">
                  <p:embed/>
                </p:oleObj>
              </mc:Choice>
              <mc:Fallback>
                <p:oleObj name="Equation" r:id="rId9" imgW="9652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4140200"/>
                        <a:ext cx="21558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2452688" y="4643438"/>
          <a:ext cx="18208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5" name="Equation" r:id="rId11" imgW="761365" imgH="228600" progId="Equation.DSMT4">
                  <p:embed/>
                </p:oleObj>
              </mc:Choice>
              <mc:Fallback>
                <p:oleObj name="Equation" r:id="rId11" imgW="761365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4643438"/>
                        <a:ext cx="182086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2787650" y="5746750"/>
          <a:ext cx="23082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6" name="Equation" r:id="rId13" imgW="965200" imgH="228600" progId="Equation.DSMT4">
                  <p:embed/>
                </p:oleObj>
              </mc:Choice>
              <mc:Fallback>
                <p:oleObj name="Equation" r:id="rId13" imgW="9652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5746750"/>
                        <a:ext cx="23082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6508750" y="5762625"/>
          <a:ext cx="21590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7" name="Equation" r:id="rId15" imgW="1002665" imgH="228600" progId="Equation.DSMT4">
                  <p:embed/>
                </p:oleObj>
              </mc:Choice>
              <mc:Fallback>
                <p:oleObj name="Equation" r:id="rId15" imgW="1002665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5762625"/>
                        <a:ext cx="21590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3335522" y="3134097"/>
          <a:ext cx="68834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8" name="Equation" r:id="rId17" imgW="2870200" imgH="393700" progId="Equation.DSMT4">
                  <p:embed/>
                </p:oleObj>
              </mc:Choice>
              <mc:Fallback>
                <p:oleObj name="Equation" r:id="rId17" imgW="2870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522" y="3134097"/>
                        <a:ext cx="68834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568692-2641-4F14-9AD6-31E3E453C9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342" name="Group 2"/>
          <p:cNvGrpSpPr/>
          <p:nvPr/>
        </p:nvGrpSpPr>
        <p:grpSpPr bwMode="auto">
          <a:xfrm>
            <a:off x="2095500" y="2060848"/>
            <a:ext cx="8001000" cy="2220913"/>
            <a:chOff x="480" y="1392"/>
            <a:chExt cx="5040" cy="1399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80" y="1392"/>
              <a:ext cx="5040" cy="13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4344" name="Rectangle 4"/>
            <p:cNvSpPr>
              <a:spLocks noChangeArrowheads="1"/>
            </p:cNvSpPr>
            <p:nvPr/>
          </p:nvSpPr>
          <p:spPr bwMode="auto">
            <a:xfrm>
              <a:off x="592" y="1440"/>
              <a:ext cx="4784" cy="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可见，必须要求</a:t>
              </a: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调制和解调时所使用的载波不仅要严格同频，而且要同相</a:t>
              </a: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。因此这种解调方法称为</a:t>
              </a: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楷体_GB2312" panose="02010609030101010101" pitchFamily="49" charset="-122"/>
                </a:rPr>
                <a:t>同步解调。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568692-2641-4F14-9AD6-31E3E453C9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"/>
              <p:cNvSpPr txBox="1"/>
              <p:nvPr/>
            </p:nvSpPr>
            <p:spPr bwMode="auto">
              <a:xfrm>
                <a:off x="2045494" y="1268760"/>
                <a:ext cx="8101012" cy="347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algn="just"/>
                <a:r>
                  <a:rPr lang="zh-CN" altLang="en-US" sz="2200" kern="100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练习</a:t>
                </a:r>
                <a:r>
                  <a:rPr lang="zh-CN" altLang="en-US" sz="2200" kern="1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：</a:t>
                </a:r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在讨论幅度调制系统时，调制和解调都是通过使用乘法器来完成的。由于乘法器的实现往往比较困难，因而在许多实际系统中都使用一种非线性单元。本题将要说明这一基本概念。</a:t>
                </a:r>
                <a:endParaRPr lang="en-US" altLang="zh-CN" sz="2200" kern="10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/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如图所示这样一个用于幅度调制的非线性系统。该系统由以下两部分组成：先将调制信号和载波相加再平方，然后通过带通滤波获得幅度已调信号。</a:t>
                </a:r>
                <a:endParaRPr lang="en-US" altLang="zh-CN" sz="2200" kern="10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/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r>
                      <a:rPr lang="en-US" sz="22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带限</a:t>
                </a:r>
                <a:r>
                  <a:rPr lang="zh-CN" alt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i="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。</a:t>
                </a:r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试确定带通滤波器的参数</a:t>
                </a:r>
                <a14:m>
                  <m:oMath xmlns:m="http://schemas.openxmlformats.org/officeDocument/2006/math"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</a:t>
                </a:r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就是用</a:t>
                </a:r>
                <a14:m>
                  <m:oMath xmlns:m="http://schemas.openxmlformats.org/officeDocument/2006/math"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进行幅度调制的结果，</a:t>
                </a:r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i="0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20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2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200" b="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。如果有</a:t>
                </a:r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，请给出对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必要的限制</a:t>
                </a:r>
                <a:r>
                  <a:rPr lang="en-US" sz="2200" i="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。</a:t>
                </a:r>
                <a:r>
                  <a:rPr lang="zh-CN" altLang="en-US" sz="2200" kern="1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（教材习题</a:t>
                </a:r>
                <a:r>
                  <a:rPr lang="en-US" altLang="zh-CN" sz="2200" kern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8.34</a:t>
                </a:r>
                <a:r>
                  <a:rPr lang="zh-CN" altLang="en-US" sz="2200" kern="1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）</a:t>
                </a:r>
                <a:endParaRPr lang="en-US" sz="2200" kern="10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5494" y="1268760"/>
                <a:ext cx="8101012" cy="3476625"/>
              </a:xfrm>
              <a:prstGeom prst="rect">
                <a:avLst/>
              </a:prstGeom>
              <a:blipFill rotWithShape="1">
                <a:blip r:embed="rId1"/>
                <a:stretch>
                  <a:fillRect l="-2" t="-1" r="6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35" y="4869160"/>
            <a:ext cx="6765530" cy="15983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正弦幅度调制的解调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568692-2641-4F14-9AD6-31E3E453C9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2"/>
              <p:cNvSpPr txBox="1"/>
              <p:nvPr/>
            </p:nvSpPr>
            <p:spPr bwMode="auto">
              <a:xfrm>
                <a:off x="2063552" y="1268760"/>
                <a:ext cx="8064896" cy="5400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en-US" sz="2200" i="0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解</a:t>
                </a:r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：</a:t>
                </a:r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平方单元的输出为：</a:t>
                </a:r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i="1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带通滤波器应滤除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 ，而将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乘以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因此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。</a:t>
                </a:r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由于信号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所处的频段为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所处频段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只在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处有冲激，因此：</a:t>
                </a:r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同时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200" i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，所以</a:t>
                </a:r>
                <a:endParaRPr lang="en-US" sz="2200" i="0" dirty="0">
                  <a:solidFill>
                    <a:srgbClr val="00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1268760"/>
                <a:ext cx="8064896" cy="5400675"/>
              </a:xfrm>
              <a:prstGeom prst="rect">
                <a:avLst/>
              </a:prstGeom>
              <a:blipFill rotWithShape="1">
                <a:blip r:embed="rId1"/>
                <a:stretch>
                  <a:fillRect l="-5" t="-1" r="-1753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频分多路复用</a:t>
            </a:r>
            <a:endParaRPr lang="zh-CN" altLang="en-US" dirty="0"/>
          </a:p>
        </p:txBody>
      </p:sp>
      <p:sp>
        <p:nvSpPr>
          <p:cNvPr id="17413" name="内容占位符 2"/>
          <p:cNvSpPr>
            <a:spLocks noGrp="1"/>
          </p:cNvSpPr>
          <p:nvPr>
            <p:ph idx="1"/>
          </p:nvPr>
        </p:nvSpPr>
        <p:spPr>
          <a:xfrm>
            <a:off x="1981200" y="1285875"/>
            <a:ext cx="3471863" cy="4840288"/>
          </a:xfrm>
        </p:spPr>
        <p:txBody>
          <a:bodyPr/>
          <a:lstStyle/>
          <a:p>
            <a:r>
              <a:rPr lang="zh-CN" altLang="en-US" sz="2800" b="0" dirty="0"/>
              <a:t>频分复用可以大大提高信道频率资源的利用率。</a:t>
            </a:r>
            <a:endParaRPr lang="zh-CN" alt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CACEB6-72F8-4091-948B-24D57C1A6C2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6064052" y="1195388"/>
          <a:ext cx="4071938" cy="55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4" name="位图图像" r:id="rId1" imgW="5981700" imgH="8334375" progId="Paint.Picture">
                  <p:embed/>
                </p:oleObj>
              </mc:Choice>
              <mc:Fallback>
                <p:oleObj name="位图图像" r:id="rId1" imgW="5981700" imgH="833437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052" y="1195388"/>
                        <a:ext cx="4071938" cy="557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2063552" y="2857500"/>
          <a:ext cx="4022725" cy="342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5" name="BMP 图像" r:id="rId3" imgW="7810500" imgH="7267575" progId="Paint.Picture">
                  <p:embed/>
                </p:oleObj>
              </mc:Choice>
              <mc:Fallback>
                <p:oleObj name="BMP 图像" r:id="rId3" imgW="7810500" imgH="726757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2857500"/>
                        <a:ext cx="4022725" cy="342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频分多路复用</a:t>
            </a:r>
            <a:endParaRPr lang="zh-CN" altLang="en-US" dirty="0"/>
          </a:p>
        </p:txBody>
      </p:sp>
      <p:sp>
        <p:nvSpPr>
          <p:cNvPr id="18436" name="内容占位符 2"/>
          <p:cNvSpPr>
            <a:spLocks noGrp="1"/>
          </p:cNvSpPr>
          <p:nvPr>
            <p:ph idx="1"/>
          </p:nvPr>
        </p:nvSpPr>
        <p:spPr>
          <a:xfrm>
            <a:off x="1981200" y="1428750"/>
            <a:ext cx="8229600" cy="1500188"/>
          </a:xfrm>
        </p:spPr>
        <p:txBody>
          <a:bodyPr/>
          <a:lstStyle/>
          <a:p>
            <a:r>
              <a:rPr lang="zh-CN" altLang="en-US" sz="2800" b="0" dirty="0"/>
              <a:t>对频分多路复用信号解调时，首先要</a:t>
            </a:r>
            <a:r>
              <a:rPr lang="zh-CN" altLang="en-US" sz="2800" b="0" dirty="0">
                <a:solidFill>
                  <a:srgbClr val="FF0000"/>
                </a:solidFill>
              </a:rPr>
              <a:t>解复用</a:t>
            </a:r>
            <a:r>
              <a:rPr lang="zh-CN" altLang="en-US" sz="2800" b="0" dirty="0"/>
              <a:t>：从复用信号的频谱中利用带通滤波器滤出所需的一路信号，然后对该路信号进行解调。</a:t>
            </a:r>
            <a:endParaRPr lang="zh-CN" alt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CF97BA-8C4C-4B72-8A02-4EF2D3A27EB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095500" y="2867025"/>
          <a:ext cx="8153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4" name="位图图像" r:id="rId1" imgW="9801225" imgH="2609850" progId="Paint.Picture">
                  <p:embed/>
                </p:oleObj>
              </mc:Choice>
              <mc:Fallback>
                <p:oleObj name="位图图像" r:id="rId1" imgW="9801225" imgH="260985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867025"/>
                        <a:ext cx="81534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889375" y="5624513"/>
            <a:ext cx="4094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 panose="02010609030101010101" pitchFamily="49" charset="-122"/>
              </a:rPr>
              <a:t>频分多路复用信号的解调</a:t>
            </a:r>
            <a:endParaRPr kumimoji="0" lang="zh-CN" altLang="en-US" sz="2800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75720" y="3161268"/>
            <a:ext cx="868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解复用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536160" y="3131676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解调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单边带正弦幅度调制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1383665"/>
          </a:xfrm>
        </p:spPr>
        <p:txBody>
          <a:bodyPr>
            <a:spAutoFit/>
          </a:bodyPr>
          <a:lstStyle/>
          <a:p>
            <a:pPr algn="just"/>
            <a:r>
              <a:rPr lang="zh-CN" altLang="en-US" sz="2800" b="0" dirty="0"/>
              <a:t>单边带正弦幅度调制信号的产生：一种方法是通过滤波法实现，即利用边带滤波器，滤除一个边带。</a:t>
            </a:r>
            <a:endParaRPr lang="zh-CN" alt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2DD575-5233-47B0-9220-4CF7022CCAD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2095500" y="2956966"/>
          <a:ext cx="8089900" cy="320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9" name="位图图像" r:id="rId1" imgW="12744450" imgH="5038725" progId="Paint.Picture">
                  <p:embed/>
                </p:oleObj>
              </mc:Choice>
              <mc:Fallback>
                <p:oleObj name="位图图像" r:id="rId1" imgW="12744450" imgH="503872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956966"/>
                        <a:ext cx="8089900" cy="320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49313" y="3293010"/>
            <a:ext cx="1080120" cy="2457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双边带信号</a:t>
            </a:r>
            <a:endParaRPr 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7968208" y="3293010"/>
            <a:ext cx="1080120" cy="2457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 panose="02010609030101010101" pitchFamily="49" charset="-122"/>
              </a:rPr>
              <a:t>下边带信号</a:t>
            </a:r>
            <a:endParaRPr 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2495600" y="6388763"/>
            <a:ext cx="310197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见习题</a:t>
            </a:r>
            <a:r>
              <a:rPr lang="en-US" altLang="zh-CN" dirty="0"/>
              <a:t>8.28</a:t>
            </a:r>
            <a:r>
              <a:rPr lang="zh-CN" altLang="en-US"/>
              <a:t>讨论，</a:t>
            </a:r>
            <a:r>
              <a:rPr lang="zh-CN" altLang="en-US" dirty="0"/>
              <a:t>保留下边带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21970"/>
          </a:xfrm>
        </p:spPr>
        <p:txBody>
          <a:bodyPr>
            <a:spAutoFit/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en-US" altLang="zh-CN" sz="2800" b="0" dirty="0"/>
              <a:t>8.24</a:t>
            </a:r>
            <a:endParaRPr lang="en-US" sz="2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C5206-228A-4188-B6B3-2BFCD2AC1E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8.5  </a:t>
            </a:r>
            <a:r>
              <a:rPr lang="zh-CN" altLang="en-US" dirty="0"/>
              <a:t>脉冲串作载波的幅度调制</a:t>
            </a:r>
            <a:endParaRPr lang="zh-CN" altLang="en-US" dirty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981200" y="1285875"/>
            <a:ext cx="4114800" cy="4840288"/>
          </a:xfrm>
        </p:spPr>
        <p:txBody>
          <a:bodyPr/>
          <a:lstStyle/>
          <a:p>
            <a:r>
              <a:rPr lang="zh-CN" altLang="en-US" sz="2800" b="0" dirty="0"/>
              <a:t>一</a:t>
            </a:r>
            <a:r>
              <a:rPr lang="en-US" altLang="zh-CN" sz="2800" b="0" dirty="0"/>
              <a:t>. </a:t>
            </a:r>
            <a:r>
              <a:rPr lang="zh-CN" altLang="en-US" sz="2800" b="0" dirty="0">
                <a:solidFill>
                  <a:srgbClr val="FF0000"/>
                </a:solidFill>
              </a:rPr>
              <a:t>脉冲串载波调制</a:t>
            </a:r>
            <a:r>
              <a:rPr lang="en-US" altLang="zh-CN" sz="2800" b="0" dirty="0"/>
              <a:t>: </a:t>
            </a:r>
            <a:r>
              <a:rPr lang="zh-CN" altLang="en-US" sz="2800" b="0" dirty="0"/>
              <a:t>幅度调制的载波信号是脉冲串。</a:t>
            </a:r>
            <a:endParaRPr lang="en-US" altLang="zh-CN" sz="2800" b="0" dirty="0"/>
          </a:p>
          <a:p>
            <a:r>
              <a:rPr lang="zh-CN" altLang="en-US" sz="2800" b="0" dirty="0"/>
              <a:t>频域分析：</a:t>
            </a:r>
            <a:endParaRPr lang="zh-CN" altLang="en-US" sz="2800" b="0" dirty="0"/>
          </a:p>
        </p:txBody>
      </p:sp>
      <p:pic>
        <p:nvPicPr>
          <p:cNvPr id="2253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063" y="1357313"/>
            <a:ext cx="33337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588" y="2500313"/>
            <a:ext cx="3744912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3" name="Object 3"/>
          <p:cNvGraphicFramePr>
            <a:graphicFrameLocks noChangeAspect="1"/>
          </p:cNvGraphicFramePr>
          <p:nvPr/>
        </p:nvGraphicFramePr>
        <p:xfrm>
          <a:off x="2166938" y="3143250"/>
          <a:ext cx="3763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4" name="Equation" r:id="rId3" imgW="1879600" imgH="431800" progId="Equation.DSMT4">
                  <p:embed/>
                </p:oleObj>
              </mc:Choice>
              <mc:Fallback>
                <p:oleObj name="Equation" r:id="rId3" imgW="18796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3143250"/>
                        <a:ext cx="37639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 bwMode="auto">
          <a:xfrm>
            <a:off x="2305050" y="4168775"/>
            <a:ext cx="3221038" cy="2260600"/>
            <a:chOff x="270" y="2488"/>
            <a:chExt cx="2029" cy="1424"/>
          </a:xfrm>
        </p:grpSpPr>
        <p:graphicFrame>
          <p:nvGraphicFramePr>
            <p:cNvPr id="22531" name="Object 7"/>
            <p:cNvGraphicFramePr>
              <a:graphicFrameLocks noChangeAspect="1"/>
            </p:cNvGraphicFramePr>
            <p:nvPr/>
          </p:nvGraphicFramePr>
          <p:xfrm>
            <a:off x="697" y="2694"/>
            <a:ext cx="1602" cy="1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05" name="Equation" r:id="rId5" imgW="1054100" imgH="965200" progId="Equation.DSMT4">
                    <p:embed/>
                  </p:oleObj>
                </mc:Choice>
                <mc:Fallback>
                  <p:oleObj name="Equation" r:id="rId5" imgW="1054100" imgH="965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" y="2694"/>
                          <a:ext cx="1602" cy="1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8" name="Text Box 8"/>
            <p:cNvSpPr txBox="1">
              <a:spLocks noChangeArrowheads="1"/>
            </p:cNvSpPr>
            <p:nvPr/>
          </p:nvSpPr>
          <p:spPr bwMode="auto">
            <a:xfrm>
              <a:off x="270" y="2488"/>
              <a:ext cx="78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楷体_GB2312" panose="02010609030101010101" pitchFamily="49" charset="-122"/>
                </a:rPr>
                <a:t>其中：</a:t>
              </a:r>
              <a:endPara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1187450"/>
            <a:ext cx="45370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8.5  </a:t>
            </a:r>
            <a:r>
              <a:rPr lang="zh-CN" altLang="en-US"/>
              <a:t>脉冲串作载波的幅度调制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4077072"/>
            <a:ext cx="3614738" cy="221456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/>
              <a:t>信号可恢复则要求</a:t>
            </a:r>
            <a:endParaRPr lang="en-US" altLang="zh-CN" sz="2400" b="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CN" sz="2400" b="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/>
              <a:t>恢复信号的低通滤波器截止频率</a:t>
            </a:r>
            <a:r>
              <a:rPr lang="en-US" altLang="zh-CN" sz="2400" b="0" i="1" dirty="0"/>
              <a:t>W</a:t>
            </a:r>
            <a:r>
              <a:rPr lang="zh-CN" altLang="en-US" sz="2400" b="0" dirty="0"/>
              <a:t>满足：</a:t>
            </a:r>
            <a:endParaRPr lang="zh-CN" altLang="en-US" sz="2400" b="0" dirty="0"/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2809875" y="3121025"/>
          <a:ext cx="29686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6" name="Equation" r:id="rId2" imgW="1548765" imgH="431800" progId="Equation.DSMT4">
                  <p:embed/>
                </p:oleObj>
              </mc:Choice>
              <mc:Fallback>
                <p:oleObj name="Equation" r:id="rId2" imgW="1548765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3121025"/>
                        <a:ext cx="29686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968500" y="2143125"/>
          <a:ext cx="3444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7" name="Equation" r:id="rId4" imgW="1726565" imgH="393700" progId="Equation.DSMT4">
                  <p:embed/>
                </p:oleObj>
              </mc:Choice>
              <mc:Fallback>
                <p:oleObj name="Equation" r:id="rId4" imgW="1726565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2143125"/>
                        <a:ext cx="34448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1881188" y="1285875"/>
          <a:ext cx="30114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8" name="Equation" r:id="rId6" imgW="1879600" imgH="431800" progId="Equation.DSMT4">
                  <p:embed/>
                </p:oleObj>
              </mc:Choice>
              <mc:Fallback>
                <p:oleObj name="Equation" r:id="rId6" imgW="18796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1285875"/>
                        <a:ext cx="3011487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759075" y="4616822"/>
          <a:ext cx="15636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9" name="Equation" r:id="rId8" imgW="850900" imgH="228600" progId="Equation.DSMT4">
                  <p:embed/>
                </p:oleObj>
              </mc:Choice>
              <mc:Fallback>
                <p:oleObj name="Equation" r:id="rId8" imgW="8509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4616822"/>
                        <a:ext cx="15636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2809875" y="6074419"/>
          <a:ext cx="1709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0" name="Equation" r:id="rId10" imgW="1168400" imgH="228600" progId="Equation.DSMT4">
                  <p:embed/>
                </p:oleObj>
              </mc:Choice>
              <mc:Fallback>
                <p:oleObj name="Equation" r:id="rId10" imgW="11684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6074419"/>
                        <a:ext cx="17097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8747417" y="4784273"/>
          <a:ext cx="432048" cy="15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1" name="Equation" r:id="rId12" imgW="12801600" imgH="4267200" progId="Equation.DSMT4">
                  <p:embed/>
                </p:oleObj>
              </mc:Choice>
              <mc:Fallback>
                <p:oleObj name="Equation" r:id="rId12" imgW="12801600" imgH="426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417" y="4784273"/>
                        <a:ext cx="432048" cy="157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8.5  </a:t>
            </a:r>
            <a:r>
              <a:rPr lang="zh-CN" altLang="en-US"/>
              <a:t>脉冲串作载波的幅度调制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160463"/>
            <a:ext cx="8229600" cy="2840037"/>
          </a:xfrm>
        </p:spPr>
        <p:txBody>
          <a:bodyPr/>
          <a:lstStyle/>
          <a:p>
            <a:r>
              <a:rPr lang="zh-CN" altLang="en-US" sz="2800" b="0" dirty="0"/>
              <a:t>二</a:t>
            </a:r>
            <a:r>
              <a:rPr lang="en-US" altLang="zh-CN" sz="2800" b="0" dirty="0"/>
              <a:t>. </a:t>
            </a:r>
            <a:r>
              <a:rPr lang="zh-CN" altLang="en-US" sz="2800" b="0" dirty="0">
                <a:solidFill>
                  <a:srgbClr val="FF0000"/>
                </a:solidFill>
              </a:rPr>
              <a:t>时分多路复用</a:t>
            </a:r>
            <a:r>
              <a:rPr lang="en-US" altLang="zh-CN" sz="2800" b="0" dirty="0"/>
              <a:t>:</a:t>
            </a:r>
            <a:endParaRPr lang="en-US" altLang="zh-CN" sz="2800" b="0" dirty="0"/>
          </a:p>
          <a:p>
            <a:pPr lvl="1"/>
            <a:r>
              <a:rPr lang="zh-CN" altLang="en-US" b="0" dirty="0"/>
              <a:t>脉冲串载波调制时能否解调出       ，与脉宽</a:t>
            </a:r>
            <a:br>
              <a:rPr lang="en-US" altLang="zh-CN" b="0" dirty="0"/>
            </a:br>
            <a:r>
              <a:rPr lang="zh-CN" altLang="en-US" b="0" dirty="0"/>
              <a:t>无关。</a:t>
            </a:r>
            <a:endParaRPr lang="en-US" altLang="zh-CN" b="0" dirty="0"/>
          </a:p>
          <a:p>
            <a:pPr lvl="1"/>
            <a:r>
              <a:rPr lang="zh-CN" altLang="en-US" b="0" dirty="0"/>
              <a:t>从时域角度，在一个周期内可以为每一路信号分配一个时隙，只要各路信号的时隙彼此不重叠，就可以实现多路信号的同时传送。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A19E38-0E71-4362-A591-028FCACD7AE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437438" y="1700213"/>
          <a:ext cx="7143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0" name="Equation" r:id="rId1" imgW="279400" imgH="203200" progId="Equation.DSMT4">
                  <p:embed/>
                </p:oleObj>
              </mc:Choice>
              <mc:Fallback>
                <p:oleObj name="Equation" r:id="rId1" imgW="2794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438" y="1700213"/>
                        <a:ext cx="7143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9525000" y="1731963"/>
          <a:ext cx="3571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1" name="Equation" r:id="rId3" imgW="139700" imgH="165100" progId="Equation.DSMT4">
                  <p:embed/>
                </p:oleObj>
              </mc:Choice>
              <mc:Fallback>
                <p:oleObj name="Equation" r:id="rId3" imgW="139700" imgH="165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0" y="1731963"/>
                        <a:ext cx="3571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25" y="3968750"/>
            <a:ext cx="3433763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738938" y="4838700"/>
            <a:ext cx="2316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 panose="02010609030101010101" pitchFamily="49" charset="-122"/>
              </a:rPr>
              <a:t>时分多路复用</a:t>
            </a:r>
            <a:endParaRPr kumimoji="0" lang="zh-CN" altLang="en-US" sz="2800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8.6  </a:t>
            </a:r>
            <a:r>
              <a:rPr lang="zh-CN" altLang="en-US" dirty="0"/>
              <a:t>脉冲幅度调制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285875"/>
                <a:ext cx="8229600" cy="2897505"/>
              </a:xfrm>
            </p:spPr>
            <p:txBody>
              <a:bodyPr>
                <a:spAutoFit/>
              </a:bodyPr>
              <a:lstStyle/>
              <a:p>
                <a:pPr algn="just"/>
                <a:r>
                  <a:rPr lang="zh-CN" altLang="en-US" sz="2400" b="0" dirty="0"/>
                  <a:t>一</a:t>
                </a:r>
                <a:r>
                  <a:rPr lang="en-US" altLang="zh-CN" sz="2400" b="0" dirty="0"/>
                  <a:t>. </a:t>
                </a:r>
                <a:r>
                  <a:rPr lang="zh-CN" altLang="en-US" sz="2400" b="0" dirty="0">
                    <a:solidFill>
                      <a:srgbClr val="FF0000"/>
                    </a:solidFill>
                  </a:rPr>
                  <a:t>脉冲幅度调制</a:t>
                </a:r>
                <a:r>
                  <a:rPr lang="zh-CN" altLang="en-US" sz="2400" b="0" dirty="0"/>
                  <a:t>：</a:t>
                </a:r>
                <a:endParaRPr lang="en-US" altLang="zh-CN" sz="2400" b="0" dirty="0"/>
              </a:p>
              <a:p>
                <a:pPr lvl="1" algn="just"/>
                <a:r>
                  <a:rPr lang="zh-CN" altLang="en-US" sz="2400" b="0" dirty="0"/>
                  <a:t>以脉冲串作载波的幅度调制，在载波的宽度内是以调制信号的原始波形为传送对象的。</a:t>
                </a:r>
                <a:endParaRPr lang="en-US" altLang="zh-CN" sz="2400" b="0" dirty="0"/>
              </a:p>
              <a:p>
                <a:pPr lvl="1" algn="just"/>
                <a:r>
                  <a:rPr lang="zh-CN" altLang="en-US" sz="2400" b="0" dirty="0"/>
                  <a:t>而实际上只要满足</a:t>
                </a:r>
                <a:r>
                  <a:rPr lang="en-US" altLang="zh-CN" sz="2400" b="0" dirty="0"/>
                  <a:t>Nyquist</a:t>
                </a:r>
                <a:r>
                  <a:rPr lang="zh-CN" altLang="en-US" sz="2400" b="0" dirty="0"/>
                  <a:t>采样率，在每个时隙内只需要传送信号的一个样本值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err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0" dirty="0"/>
                  <a:t>即可。</a:t>
                </a:r>
                <a:endParaRPr lang="en-US" altLang="zh-CN" sz="2400" b="0" dirty="0"/>
              </a:p>
              <a:p>
                <a:pPr lvl="1" algn="just"/>
                <a:r>
                  <a:rPr lang="zh-CN" altLang="en-US" sz="2400" b="0" dirty="0"/>
                  <a:t>脉冲幅度调制就是用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0" dirty="0"/>
                  <a:t>在各时隙的样本值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err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0" dirty="0"/>
                  <a:t>去调制载波脉冲的幅度。</a:t>
                </a:r>
                <a:endParaRPr lang="zh-CN" altLang="en-US" sz="2400" b="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285875"/>
                <a:ext cx="8229600" cy="289750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D687D7-1387-4525-8FE6-2590BB7AA3F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Picture 2" descr="8"/>
          <p:cNvPicPr>
            <a:picLocks noChangeAspect="1" noChangeArrowheads="1"/>
          </p:cNvPicPr>
          <p:nvPr/>
        </p:nvPicPr>
        <p:blipFill>
          <a:blip r:embed="rId2">
            <a:lum contras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4098892"/>
            <a:ext cx="6286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310896" y="6165304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实质上就是零阶保持采样</a:t>
            </a:r>
            <a:endParaRPr 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8.6  </a:t>
            </a:r>
            <a:r>
              <a:rPr lang="zh-CN" altLang="en-US"/>
              <a:t>脉冲幅度调制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85875"/>
            <a:ext cx="8229600" cy="5223510"/>
          </a:xfrm>
        </p:spPr>
        <p:txBody>
          <a:bodyPr>
            <a:spAutoFit/>
          </a:bodyPr>
          <a:lstStyle/>
          <a:p>
            <a:r>
              <a:rPr lang="zh-CN" altLang="en-US" sz="2800" b="0" dirty="0"/>
              <a:t>二</a:t>
            </a:r>
            <a:r>
              <a:rPr lang="en-US" altLang="zh-CN" sz="2800" b="0" dirty="0"/>
              <a:t>. </a:t>
            </a:r>
            <a:r>
              <a:rPr lang="zh-CN" altLang="en-US" sz="2800" b="0" dirty="0">
                <a:solidFill>
                  <a:srgbClr val="FF0000"/>
                </a:solidFill>
              </a:rPr>
              <a:t>脉冲幅度调制的时分多路复用</a:t>
            </a:r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pPr lvl="1">
              <a:spcBef>
                <a:spcPts val="2400"/>
              </a:spcBef>
            </a:pPr>
            <a:r>
              <a:rPr lang="zh-CN" altLang="en-US" b="0" dirty="0"/>
              <a:t>对时分复用的脉冲幅度调制信号，在理想情况下，若各路信号在传输过程中不发生波形失真，在接收端只要通过采样判决就可以解复用。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42E55D-4494-40A8-B38C-5447C4D1425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226" name="Picture 2" descr="8"/>
          <p:cNvPicPr>
            <a:picLocks noChangeAspect="1" noChangeArrowheads="1"/>
          </p:cNvPicPr>
          <p:nvPr/>
        </p:nvPicPr>
        <p:blipFill>
          <a:blip r:embed="rId1">
            <a:lum contras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50256"/>
            <a:ext cx="8382000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8.6  </a:t>
            </a:r>
            <a:r>
              <a:rPr lang="zh-CN" altLang="en-US"/>
              <a:t>脉冲幅度调制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340768"/>
                <a:ext cx="8229600" cy="4983480"/>
              </a:xfrm>
            </p:spPr>
            <p:txBody>
              <a:bodyPr>
                <a:spAutoFit/>
              </a:bodyPr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400" b="0" dirty="0"/>
                  <a:t>三</a:t>
                </a:r>
                <a:r>
                  <a:rPr lang="en-US" altLang="zh-CN" sz="2400" b="0" dirty="0"/>
                  <a:t>. </a:t>
                </a:r>
                <a:r>
                  <a:rPr lang="zh-CN" altLang="en-US" sz="2400" b="0" dirty="0">
                    <a:solidFill>
                      <a:srgbClr val="FF0000"/>
                    </a:solidFill>
                  </a:rPr>
                  <a:t>数字脉冲幅度调制与脉冲编码调制</a:t>
                </a:r>
                <a:endParaRPr lang="en-US" altLang="zh-CN" sz="2400" b="0" dirty="0">
                  <a:solidFill>
                    <a:srgbClr val="FF0000"/>
                  </a:solidFill>
                </a:endParaRPr>
              </a:p>
              <a:p>
                <a:pPr lvl="1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400" b="0" dirty="0"/>
                  <a:t>脉冲幅度调制中信号的样本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0" dirty="0"/>
                  <a:t>往往被量化成数字信号𝑥</a:t>
                </a:r>
                <a:r>
                  <a:rPr lang="en-US" altLang="zh-CN" sz="2400" b="0" dirty="0"/>
                  <a:t>[</a:t>
                </a:r>
                <a:r>
                  <a:rPr lang="zh-CN" altLang="en-US" sz="2400" b="0" dirty="0"/>
                  <a:t>𝑛</a:t>
                </a:r>
                <a:r>
                  <a:rPr lang="en-US" altLang="zh-CN" sz="2400" b="0" dirty="0"/>
                  <a:t>]</a:t>
                </a:r>
                <a:r>
                  <a:rPr lang="zh-CN" altLang="en-US" sz="2400" b="0" dirty="0"/>
                  <a:t>，从而造成已调脉冲的幅度只能有有限个可能的幅度值，称为</a:t>
                </a:r>
                <a:r>
                  <a:rPr lang="zh-CN" altLang="en-US" sz="2400" b="0" dirty="0">
                    <a:solidFill>
                      <a:srgbClr val="FF0000"/>
                    </a:solidFill>
                  </a:rPr>
                  <a:t>数字脉冲幅度调制</a:t>
                </a:r>
                <a:r>
                  <a:rPr lang="zh-CN" altLang="en-US" sz="2400" b="0" dirty="0"/>
                  <a:t>。</a:t>
                </a:r>
                <a:endParaRPr lang="en-US" altLang="zh-CN" sz="2400" b="0" dirty="0"/>
              </a:p>
              <a:p>
                <a:pPr lvl="1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400" b="0" dirty="0"/>
                  <a:t>数字化的脉冲幅度调制信号可以表示成一组二进制码字，其中的每一位称为一个比特。</a:t>
                </a:r>
                <a:endParaRPr lang="en-US" altLang="zh-CN" sz="2400" b="0" dirty="0"/>
              </a:p>
              <a:p>
                <a:pPr lvl="1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400" b="0" dirty="0"/>
                  <a:t>在传输数字脉冲幅度调制信号时，为了传输可靠，防止误码，往往要在传输前将其通过编码变换成另一个二进制序列，这种经编码后的脉冲幅度调制就称为</a:t>
                </a:r>
                <a:r>
                  <a:rPr lang="zh-CN" altLang="en-US" sz="2400" b="0" dirty="0">
                    <a:solidFill>
                      <a:srgbClr val="FF0000"/>
                    </a:solidFill>
                  </a:rPr>
                  <a:t>脉冲编码调制</a:t>
                </a:r>
                <a:r>
                  <a:rPr lang="zh-CN" altLang="en-US" sz="2400" b="0" dirty="0"/>
                  <a:t>。</a:t>
                </a:r>
                <a:endParaRPr lang="zh-CN" altLang="en-US" sz="2400" b="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340768"/>
                <a:ext cx="8229600" cy="4983480"/>
              </a:xfrm>
              <a:blipFill rotWithShape="1">
                <a:blip r:embed="rId1"/>
                <a:stretch>
                  <a:fillRect t="-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2A5C2C-37F3-4236-8CF1-D41D2E1C9D8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278</Paragraphs>
  <Slides>25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84</vt:i4>
      </vt:variant>
      <vt:variant>
        <vt:lpstr>幻灯片标题</vt:lpstr>
      </vt:variant>
      <vt:variant>
        <vt:i4>25</vt:i4>
      </vt:variant>
    </vt:vector>
  </HeadingPairs>
  <TitlesOfParts>
    <vt:vector size="13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 Black</vt:lpstr>
      <vt:lpstr>黑体</vt:lpstr>
      <vt:lpstr>Georgia</vt:lpstr>
      <vt:lpstr>华文行楷</vt:lpstr>
      <vt:lpstr>Times New Roman</vt:lpstr>
      <vt:lpstr>华文楷体</vt:lpstr>
      <vt:lpstr>楷体_GB2312</vt:lpstr>
      <vt:lpstr>新宋体</vt:lpstr>
      <vt:lpstr>Cambria Math</vt:lpstr>
      <vt:lpstr>楷体</vt:lpstr>
      <vt:lpstr>BatangChe</vt:lpstr>
      <vt:lpstr>Segoe Print</vt:lpstr>
      <vt:lpstr>1_Office 主题</vt:lpstr>
      <vt:lpstr>2_Office 主题</vt:lpstr>
      <vt:lpstr>Equation.3</vt:lpstr>
      <vt:lpstr>Equation.DSMT4</vt:lpstr>
      <vt:lpstr>Paint.Picture</vt:lpstr>
      <vt:lpstr>Paint.Picture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Paint.Picture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Paint.Picture</vt:lpstr>
      <vt:lpstr>Paint.Picture</vt:lpstr>
      <vt:lpstr>Paint.Picture</vt:lpstr>
      <vt:lpstr>Paint.Picture</vt:lpstr>
      <vt:lpstr>Equation.DSMT4</vt:lpstr>
      <vt:lpstr>Equation.DSMT4</vt:lpstr>
      <vt:lpstr>Equation.DSMT4</vt:lpstr>
      <vt:lpstr>Equation.DSMT4</vt:lpstr>
      <vt:lpstr>Equation.DSMT4</vt:lpstr>
      <vt:lpstr>Paint.Picture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第8章  通信系统</vt:lpstr>
      <vt:lpstr>8.0 引言</vt:lpstr>
      <vt:lpstr>8.0 引言</vt:lpstr>
      <vt:lpstr>8.1  正弦幅度调制</vt:lpstr>
      <vt:lpstr>8.1  正弦幅度调制</vt:lpstr>
      <vt:lpstr>8.2  正弦幅度调制的解调</vt:lpstr>
      <vt:lpstr>8.2  正弦幅度调制的解调</vt:lpstr>
      <vt:lpstr>4.5 相乘性质</vt:lpstr>
      <vt:lpstr>4.5 相乘性质</vt:lpstr>
      <vt:lpstr>4.5 相乘性质</vt:lpstr>
      <vt:lpstr>4.5 相乘性质</vt:lpstr>
      <vt:lpstr>8.2  正弦幅度调制的解调</vt:lpstr>
      <vt:lpstr>8.2  正弦幅度调制的解调</vt:lpstr>
      <vt:lpstr>8.2  正弦幅度调制的解调</vt:lpstr>
      <vt:lpstr>8.2  正弦幅度调制的解调</vt:lpstr>
      <vt:lpstr>8.3 频分多路复用</vt:lpstr>
      <vt:lpstr>8.3 频分多路复用</vt:lpstr>
      <vt:lpstr>8.4 单边带正弦幅度调制</vt:lpstr>
      <vt:lpstr>课后作业</vt:lpstr>
      <vt:lpstr>8.5  脉冲串作载波的幅度调制</vt:lpstr>
      <vt:lpstr>8.5  脉冲串作载波的幅度调制</vt:lpstr>
      <vt:lpstr>8.5  脉冲串作载波的幅度调制</vt:lpstr>
      <vt:lpstr>8.6  脉冲幅度调制</vt:lpstr>
      <vt:lpstr>8.6  脉冲幅度调制</vt:lpstr>
      <vt:lpstr>8.6  脉冲幅度调制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苏幕遮</cp:lastModifiedBy>
  <cp:revision>155</cp:revision>
  <dcterms:created xsi:type="dcterms:W3CDTF">2019-06-19T02:08:00Z</dcterms:created>
  <dcterms:modified xsi:type="dcterms:W3CDTF">2025-04-08T06:32:03Z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992223226F014174BB9E822F052A36DF_11</vt:lpwstr>
  </property>
</Properties>
</file>