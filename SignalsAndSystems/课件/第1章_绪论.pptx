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11" r:id="rId2"/>
    <p:sldMasterId id="2147483723" r:id="rId3"/>
  </p:sldMasterIdLst>
  <p:notesMasterIdLst>
    <p:notesMasterId r:id="rId102"/>
  </p:notesMasterIdLst>
  <p:handoutMasterIdLst>
    <p:handoutMasterId r:id="rId103"/>
  </p:handoutMasterIdLst>
  <p:sldIdLst>
    <p:sldId id="256" r:id="rId4"/>
    <p:sldId id="350" r:id="rId5"/>
    <p:sldId id="260" r:id="rId6"/>
    <p:sldId id="258" r:id="rId7"/>
    <p:sldId id="261" r:id="rId8"/>
    <p:sldId id="259" r:id="rId9"/>
    <p:sldId id="464" r:id="rId10"/>
    <p:sldId id="465" r:id="rId11"/>
    <p:sldId id="466" r:id="rId12"/>
    <p:sldId id="605" r:id="rId13"/>
    <p:sldId id="262" r:id="rId14"/>
    <p:sldId id="268" r:id="rId15"/>
    <p:sldId id="424" r:id="rId16"/>
    <p:sldId id="270" r:id="rId17"/>
    <p:sldId id="607" r:id="rId18"/>
    <p:sldId id="608" r:id="rId19"/>
    <p:sldId id="398" r:id="rId20"/>
    <p:sldId id="606" r:id="rId21"/>
    <p:sldId id="272" r:id="rId22"/>
    <p:sldId id="273" r:id="rId23"/>
    <p:sldId id="274" r:id="rId24"/>
    <p:sldId id="275" r:id="rId25"/>
    <p:sldId id="458" r:id="rId26"/>
    <p:sldId id="276" r:id="rId27"/>
    <p:sldId id="278" r:id="rId28"/>
    <p:sldId id="609" r:id="rId29"/>
    <p:sldId id="279" r:id="rId30"/>
    <p:sldId id="610" r:id="rId31"/>
    <p:sldId id="280" r:id="rId32"/>
    <p:sldId id="281" r:id="rId33"/>
    <p:sldId id="282" r:id="rId34"/>
    <p:sldId id="284" r:id="rId35"/>
    <p:sldId id="286" r:id="rId36"/>
    <p:sldId id="287" r:id="rId37"/>
    <p:sldId id="630" r:id="rId38"/>
    <p:sldId id="289" r:id="rId39"/>
    <p:sldId id="637" r:id="rId40"/>
    <p:sldId id="290" r:id="rId41"/>
    <p:sldId id="638" r:id="rId42"/>
    <p:sldId id="291" r:id="rId43"/>
    <p:sldId id="292" r:id="rId44"/>
    <p:sldId id="293" r:id="rId45"/>
    <p:sldId id="295" r:id="rId46"/>
    <p:sldId id="296" r:id="rId47"/>
    <p:sldId id="297" r:id="rId48"/>
    <p:sldId id="300" r:id="rId49"/>
    <p:sldId id="302" r:id="rId50"/>
    <p:sldId id="304" r:id="rId51"/>
    <p:sldId id="303" r:id="rId52"/>
    <p:sldId id="305" r:id="rId53"/>
    <p:sldId id="310" r:id="rId54"/>
    <p:sldId id="308" r:id="rId55"/>
    <p:sldId id="309" r:id="rId56"/>
    <p:sldId id="611" r:id="rId57"/>
    <p:sldId id="311" r:id="rId58"/>
    <p:sldId id="313" r:id="rId59"/>
    <p:sldId id="314" r:id="rId60"/>
    <p:sldId id="315" r:id="rId61"/>
    <p:sldId id="316" r:id="rId62"/>
    <p:sldId id="317" r:id="rId63"/>
    <p:sldId id="318" r:id="rId64"/>
    <p:sldId id="319" r:id="rId65"/>
    <p:sldId id="612" r:id="rId66"/>
    <p:sldId id="613" r:id="rId67"/>
    <p:sldId id="614" r:id="rId68"/>
    <p:sldId id="633" r:id="rId69"/>
    <p:sldId id="320" r:id="rId70"/>
    <p:sldId id="322" r:id="rId71"/>
    <p:sldId id="348" r:id="rId72"/>
    <p:sldId id="349" r:id="rId73"/>
    <p:sldId id="615" r:id="rId74"/>
    <p:sldId id="323" r:id="rId75"/>
    <p:sldId id="324" r:id="rId76"/>
    <p:sldId id="325" r:id="rId77"/>
    <p:sldId id="616" r:id="rId78"/>
    <p:sldId id="617" r:id="rId79"/>
    <p:sldId id="326" r:id="rId80"/>
    <p:sldId id="327" r:id="rId81"/>
    <p:sldId id="328" r:id="rId82"/>
    <p:sldId id="329" r:id="rId83"/>
    <p:sldId id="331" r:id="rId84"/>
    <p:sldId id="332" r:id="rId85"/>
    <p:sldId id="333" r:id="rId86"/>
    <p:sldId id="618" r:id="rId87"/>
    <p:sldId id="334" r:id="rId88"/>
    <p:sldId id="619" r:id="rId89"/>
    <p:sldId id="337" r:id="rId90"/>
    <p:sldId id="338" r:id="rId91"/>
    <p:sldId id="620" r:id="rId92"/>
    <p:sldId id="340" r:id="rId93"/>
    <p:sldId id="341" r:id="rId94"/>
    <p:sldId id="342" r:id="rId95"/>
    <p:sldId id="343" r:id="rId96"/>
    <p:sldId id="344" r:id="rId97"/>
    <p:sldId id="621" r:id="rId98"/>
    <p:sldId id="622" r:id="rId99"/>
    <p:sldId id="636" r:id="rId100"/>
    <p:sldId id="345" r:id="rId101"/>
  </p:sldIdLst>
  <p:sldSz cx="9144000" cy="6858000" type="screen4x3"/>
  <p:notesSz cx="7099300" cy="10234613"/>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312" autoAdjust="0"/>
  </p:normalViewPr>
  <p:slideViewPr>
    <p:cSldViewPr>
      <p:cViewPr varScale="1">
        <p:scale>
          <a:sx n="74" d="100"/>
          <a:sy n="74" d="100"/>
        </p:scale>
        <p:origin x="1060"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50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07" Type="http://schemas.openxmlformats.org/officeDocument/2006/relationships/tableStyles" Target="tableStyles.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notesMaster" Target="notesMasters/notesMaster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handoutMaster" Target="handoutMasters/handout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image" Target="../media/image12.png"/></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6.png"/><Relationship Id="rId7" Type="http://schemas.openxmlformats.org/officeDocument/2006/relationships/image" Target="../media/image21.png"/><Relationship Id="rId2" Type="http://schemas.openxmlformats.org/officeDocument/2006/relationships/image" Target="../media/image15.png"/><Relationship Id="rId1" Type="http://schemas.openxmlformats.org/officeDocument/2006/relationships/image" Target="../media/image14.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7.png"/></Relationships>
</file>

<file path=ppt/drawings/_rels/vmlDrawing3.v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image" Target="../media/image23.png"/><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54.wmf"/><Relationship Id="rId7" Type="http://schemas.openxmlformats.org/officeDocument/2006/relationships/image" Target="../media/image65.png"/><Relationship Id="rId2" Type="http://schemas.openxmlformats.org/officeDocument/2006/relationships/image" Target="../media/image53.wmf"/><Relationship Id="rId1" Type="http://schemas.openxmlformats.org/officeDocument/2006/relationships/image" Target="../media/image52.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 Id="rId4" Type="http://schemas.openxmlformats.org/officeDocument/2006/relationships/image" Target="../media/image7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2.png"/></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image" Target="../media/image126.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6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A4AFC74-3A0B-4844-98E6-632E1DFAE1CE}"/>
              </a:ext>
            </a:extLst>
          </p:cNvPr>
          <p:cNvSpPr>
            <a:spLocks noGrp="1"/>
          </p:cNvSpPr>
          <p:nvPr>
            <p:ph type="hdr" sz="quarter"/>
          </p:nvPr>
        </p:nvSpPr>
        <p:spPr>
          <a:xfrm>
            <a:off x="0" y="0"/>
            <a:ext cx="3076575" cy="512763"/>
          </a:xfrm>
          <a:prstGeom prst="rect">
            <a:avLst/>
          </a:prstGeom>
        </p:spPr>
        <p:txBody>
          <a:bodyPr vert="horz" lIns="95445" tIns="47723" rIns="95445" bIns="47723" rtlCol="0"/>
          <a:lstStyle>
            <a:lvl1pPr algn="l">
              <a:defRPr sz="1300">
                <a:latin typeface="Arial"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FD03BB73-6426-4BE2-A109-E71E790772F2}"/>
              </a:ext>
            </a:extLst>
          </p:cNvPr>
          <p:cNvSpPr>
            <a:spLocks noGrp="1"/>
          </p:cNvSpPr>
          <p:nvPr>
            <p:ph type="dt" sz="quarter" idx="1"/>
          </p:nvPr>
        </p:nvSpPr>
        <p:spPr>
          <a:xfrm>
            <a:off x="4021138" y="0"/>
            <a:ext cx="3076575" cy="512763"/>
          </a:xfrm>
          <a:prstGeom prst="rect">
            <a:avLst/>
          </a:prstGeom>
        </p:spPr>
        <p:txBody>
          <a:bodyPr vert="horz" lIns="95445" tIns="47723" rIns="95445" bIns="47723" rtlCol="0"/>
          <a:lstStyle>
            <a:lvl1pPr algn="r">
              <a:defRPr sz="1300">
                <a:latin typeface="Arial" charset="0"/>
                <a:ea typeface="宋体" charset="-122"/>
              </a:defRPr>
            </a:lvl1pPr>
          </a:lstStyle>
          <a:p>
            <a:pPr>
              <a:defRPr/>
            </a:pPr>
            <a:fld id="{4A8BE620-31D7-4812-B230-38D13330818A}" type="datetimeFigureOut">
              <a:rPr lang="zh-CN" altLang="en-US"/>
              <a:pPr>
                <a:defRPr/>
              </a:pPr>
              <a:t>2023/3/7</a:t>
            </a:fld>
            <a:endParaRPr lang="zh-CN" altLang="en-US"/>
          </a:p>
        </p:txBody>
      </p:sp>
      <p:sp>
        <p:nvSpPr>
          <p:cNvPr id="4" name="页脚占位符 3">
            <a:extLst>
              <a:ext uri="{FF2B5EF4-FFF2-40B4-BE49-F238E27FC236}">
                <a16:creationId xmlns:a16="http://schemas.microsoft.com/office/drawing/2014/main" id="{EB2416DC-4B56-434D-BDD7-985F40EEE0EB}"/>
              </a:ext>
            </a:extLst>
          </p:cNvPr>
          <p:cNvSpPr>
            <a:spLocks noGrp="1"/>
          </p:cNvSpPr>
          <p:nvPr>
            <p:ph type="ftr" sz="quarter" idx="2"/>
          </p:nvPr>
        </p:nvSpPr>
        <p:spPr>
          <a:xfrm>
            <a:off x="0" y="9720263"/>
            <a:ext cx="3076575" cy="512762"/>
          </a:xfrm>
          <a:prstGeom prst="rect">
            <a:avLst/>
          </a:prstGeom>
        </p:spPr>
        <p:txBody>
          <a:bodyPr vert="horz" lIns="95445" tIns="47723" rIns="95445" bIns="47723" rtlCol="0" anchor="b"/>
          <a:lstStyle>
            <a:lvl1pPr algn="l">
              <a:defRPr sz="1300">
                <a:latin typeface="Arial" charset="0"/>
                <a:ea typeface="宋体" charset="-122"/>
              </a:defRPr>
            </a:lvl1pPr>
          </a:lstStyle>
          <a:p>
            <a:pPr>
              <a:defRPr/>
            </a:pPr>
            <a:endParaRPr lang="zh-CN" altLang="en-US"/>
          </a:p>
        </p:txBody>
      </p:sp>
      <p:sp>
        <p:nvSpPr>
          <p:cNvPr id="5" name="灯片编号占位符 4">
            <a:extLst>
              <a:ext uri="{FF2B5EF4-FFF2-40B4-BE49-F238E27FC236}">
                <a16:creationId xmlns:a16="http://schemas.microsoft.com/office/drawing/2014/main" id="{EFAF4B5B-1676-42CB-A2B3-78E0209AC919}"/>
              </a:ext>
            </a:extLst>
          </p:cNvPr>
          <p:cNvSpPr>
            <a:spLocks noGrp="1"/>
          </p:cNvSpPr>
          <p:nvPr>
            <p:ph type="sldNum" sz="quarter" idx="3"/>
          </p:nvPr>
        </p:nvSpPr>
        <p:spPr>
          <a:xfrm>
            <a:off x="4021138" y="9720263"/>
            <a:ext cx="3076575" cy="512762"/>
          </a:xfrm>
          <a:prstGeom prst="rect">
            <a:avLst/>
          </a:prstGeom>
        </p:spPr>
        <p:txBody>
          <a:bodyPr vert="horz" wrap="square" lIns="95445" tIns="47723" rIns="95445" bIns="47723" numCol="1" anchor="b" anchorCtr="0" compatLnSpc="1">
            <a:prstTxWarp prst="textNoShape">
              <a:avLst/>
            </a:prstTxWarp>
          </a:bodyPr>
          <a:lstStyle>
            <a:lvl1pPr algn="r">
              <a:defRPr sz="1300"/>
            </a:lvl1pPr>
          </a:lstStyle>
          <a:p>
            <a:fld id="{C79B5B23-1FAE-475E-823B-516204AD621C}" type="slidenum">
              <a:rPr lang="zh-CN"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9DCD6C9E-B015-4C27-91FC-26FDA7D519A1}"/>
              </a:ext>
            </a:extLst>
          </p:cNvPr>
          <p:cNvSpPr>
            <a:spLocks noGrp="1"/>
          </p:cNvSpPr>
          <p:nvPr>
            <p:ph type="hdr" sz="quarter"/>
          </p:nvPr>
        </p:nvSpPr>
        <p:spPr>
          <a:xfrm>
            <a:off x="0" y="0"/>
            <a:ext cx="3076575" cy="511175"/>
          </a:xfrm>
          <a:prstGeom prst="rect">
            <a:avLst/>
          </a:prstGeom>
        </p:spPr>
        <p:txBody>
          <a:bodyPr vert="horz" lIns="95445" tIns="47723" rIns="95445" bIns="47723" rtlCol="0"/>
          <a:lstStyle>
            <a:lvl1pPr algn="l" fontAlgn="auto">
              <a:spcBef>
                <a:spcPts val="0"/>
              </a:spcBef>
              <a:spcAft>
                <a:spcPts val="0"/>
              </a:spcAft>
              <a:defRPr sz="13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B125B8F4-05E1-4C13-898C-49F7C8C9D808}"/>
              </a:ext>
            </a:extLst>
          </p:cNvPr>
          <p:cNvSpPr>
            <a:spLocks noGrp="1"/>
          </p:cNvSpPr>
          <p:nvPr>
            <p:ph type="dt" idx="1"/>
          </p:nvPr>
        </p:nvSpPr>
        <p:spPr>
          <a:xfrm>
            <a:off x="4021138" y="0"/>
            <a:ext cx="3076575" cy="511175"/>
          </a:xfrm>
          <a:prstGeom prst="rect">
            <a:avLst/>
          </a:prstGeom>
        </p:spPr>
        <p:txBody>
          <a:bodyPr vert="horz" lIns="95445" tIns="47723" rIns="95445" bIns="47723" rtlCol="0"/>
          <a:lstStyle>
            <a:lvl1pPr algn="r" fontAlgn="auto">
              <a:spcBef>
                <a:spcPts val="0"/>
              </a:spcBef>
              <a:spcAft>
                <a:spcPts val="0"/>
              </a:spcAft>
              <a:defRPr sz="1300">
                <a:latin typeface="+mn-lt"/>
                <a:ea typeface="+mn-ea"/>
              </a:defRPr>
            </a:lvl1pPr>
          </a:lstStyle>
          <a:p>
            <a:pPr>
              <a:defRPr/>
            </a:pPr>
            <a:fld id="{2091A768-8F37-4160-B825-00841E6FF77E}" type="datetimeFigureOut">
              <a:rPr lang="zh-CN" altLang="en-US"/>
              <a:pPr>
                <a:defRPr/>
              </a:pPr>
              <a:t>2023/3/7</a:t>
            </a:fld>
            <a:endParaRPr lang="zh-CN" altLang="en-US"/>
          </a:p>
        </p:txBody>
      </p:sp>
      <p:sp>
        <p:nvSpPr>
          <p:cNvPr id="4" name="幻灯片图像占位符 3">
            <a:extLst>
              <a:ext uri="{FF2B5EF4-FFF2-40B4-BE49-F238E27FC236}">
                <a16:creationId xmlns:a16="http://schemas.microsoft.com/office/drawing/2014/main" id="{5A3AAF15-90BC-44F9-AE9F-3656014A5AC8}"/>
              </a:ext>
            </a:extLst>
          </p:cNvPr>
          <p:cNvSpPr>
            <a:spLocks noGrp="1" noRot="1" noChangeAspect="1"/>
          </p:cNvSpPr>
          <p:nvPr>
            <p:ph type="sldImg" idx="2"/>
          </p:nvPr>
        </p:nvSpPr>
        <p:spPr>
          <a:xfrm>
            <a:off x="989013" y="766763"/>
            <a:ext cx="5121275" cy="3840162"/>
          </a:xfrm>
          <a:prstGeom prst="rect">
            <a:avLst/>
          </a:prstGeom>
          <a:noFill/>
          <a:ln w="12700">
            <a:solidFill>
              <a:prstClr val="black"/>
            </a:solidFill>
          </a:ln>
        </p:spPr>
        <p:txBody>
          <a:bodyPr vert="horz" lIns="95445" tIns="47723" rIns="95445" bIns="47723" rtlCol="0" anchor="ctr"/>
          <a:lstStyle/>
          <a:p>
            <a:pPr lvl="0"/>
            <a:endParaRPr lang="zh-CN" altLang="en-US" noProof="0"/>
          </a:p>
        </p:txBody>
      </p:sp>
      <p:sp>
        <p:nvSpPr>
          <p:cNvPr id="5" name="备注占位符 4">
            <a:extLst>
              <a:ext uri="{FF2B5EF4-FFF2-40B4-BE49-F238E27FC236}">
                <a16:creationId xmlns:a16="http://schemas.microsoft.com/office/drawing/2014/main" id="{A2145F95-357C-4D03-BCC0-765A29D45B36}"/>
              </a:ext>
            </a:extLst>
          </p:cNvPr>
          <p:cNvSpPr>
            <a:spLocks noGrp="1"/>
          </p:cNvSpPr>
          <p:nvPr>
            <p:ph type="body" sz="quarter" idx="3"/>
          </p:nvPr>
        </p:nvSpPr>
        <p:spPr>
          <a:xfrm>
            <a:off x="709613" y="4860925"/>
            <a:ext cx="5680075" cy="4605338"/>
          </a:xfrm>
          <a:prstGeom prst="rect">
            <a:avLst/>
          </a:prstGeom>
        </p:spPr>
        <p:txBody>
          <a:bodyPr vert="horz" lIns="95445" tIns="47723" rIns="95445" bIns="47723"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62CC9D1-B32E-40E5-8FD3-383873ABBDD9}"/>
              </a:ext>
            </a:extLst>
          </p:cNvPr>
          <p:cNvSpPr>
            <a:spLocks noGrp="1"/>
          </p:cNvSpPr>
          <p:nvPr>
            <p:ph type="ftr" sz="quarter" idx="4"/>
          </p:nvPr>
        </p:nvSpPr>
        <p:spPr>
          <a:xfrm>
            <a:off x="0" y="9721850"/>
            <a:ext cx="3076575" cy="511175"/>
          </a:xfrm>
          <a:prstGeom prst="rect">
            <a:avLst/>
          </a:prstGeom>
        </p:spPr>
        <p:txBody>
          <a:bodyPr vert="horz" lIns="95445" tIns="47723" rIns="95445" bIns="47723" rtlCol="0" anchor="b"/>
          <a:lstStyle>
            <a:lvl1pPr algn="l" fontAlgn="auto">
              <a:spcBef>
                <a:spcPts val="0"/>
              </a:spcBef>
              <a:spcAft>
                <a:spcPts val="0"/>
              </a:spcAft>
              <a:defRPr sz="13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53628C97-4EE7-4D46-AB3B-A45B48AA63C9}"/>
              </a:ext>
            </a:extLst>
          </p:cNvPr>
          <p:cNvSpPr>
            <a:spLocks noGrp="1"/>
          </p:cNvSpPr>
          <p:nvPr>
            <p:ph type="sldNum" sz="quarter" idx="5"/>
          </p:nvPr>
        </p:nvSpPr>
        <p:spPr>
          <a:xfrm>
            <a:off x="4021138" y="9721850"/>
            <a:ext cx="3076575" cy="511175"/>
          </a:xfrm>
          <a:prstGeom prst="rect">
            <a:avLst/>
          </a:prstGeom>
        </p:spPr>
        <p:txBody>
          <a:bodyPr vert="horz" wrap="square" lIns="95445" tIns="47723" rIns="95445" bIns="47723" numCol="1" anchor="b" anchorCtr="0" compatLnSpc="1">
            <a:prstTxWarp prst="textNoShape">
              <a:avLst/>
            </a:prstTxWarp>
          </a:bodyPr>
          <a:lstStyle>
            <a:lvl1pPr algn="r">
              <a:defRPr sz="1300">
                <a:latin typeface="Calibri" panose="020F0502020204030204" pitchFamily="34" charset="0"/>
              </a:defRPr>
            </a:lvl1pPr>
          </a:lstStyle>
          <a:p>
            <a:fld id="{3DCE9FCB-288D-4DD8-A390-12A17D5385E2}"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3DCE9FCB-288D-4DD8-A390-12A17D5385E2}" type="slidenum">
              <a:rPr lang="zh-CN" altLang="en-US" smtClean="0"/>
              <a:pPr/>
              <a:t>2</a:t>
            </a:fld>
            <a:endParaRPr lang="zh-CN" altLang="en-US"/>
          </a:p>
        </p:txBody>
      </p:sp>
    </p:spTree>
    <p:extLst>
      <p:ext uri="{BB962C8B-B14F-4D97-AF65-F5344CB8AC3E}">
        <p14:creationId xmlns:p14="http://schemas.microsoft.com/office/powerpoint/2010/main" val="2836267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3AAE09C6-1926-426B-BEF7-C379FDD919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eaLnBrk="0" hangingPunct="0">
              <a:defRPr sz="2400">
                <a:solidFill>
                  <a:schemeClr val="tx1"/>
                </a:solidFill>
                <a:latin typeface="Times New Roman" panose="02020603050405020304" pitchFamily="18" charset="0"/>
              </a:defRPr>
            </a:lvl1pPr>
            <a:lvl2pPr marL="742950" indent="-285750" defTabSz="987425" eaLnBrk="0" hangingPunct="0">
              <a:defRPr sz="2400">
                <a:solidFill>
                  <a:schemeClr val="tx1"/>
                </a:solidFill>
                <a:latin typeface="Times New Roman" panose="02020603050405020304" pitchFamily="18" charset="0"/>
              </a:defRPr>
            </a:lvl2pPr>
            <a:lvl3pPr marL="1143000" indent="-228600" defTabSz="987425" eaLnBrk="0" hangingPunct="0">
              <a:defRPr sz="2400">
                <a:solidFill>
                  <a:schemeClr val="tx1"/>
                </a:solidFill>
                <a:latin typeface="Times New Roman" panose="02020603050405020304" pitchFamily="18" charset="0"/>
              </a:defRPr>
            </a:lvl3pPr>
            <a:lvl4pPr marL="1600200" indent="-228600" defTabSz="987425" eaLnBrk="0" hangingPunct="0">
              <a:defRPr sz="2400">
                <a:solidFill>
                  <a:schemeClr val="tx1"/>
                </a:solidFill>
                <a:latin typeface="Times New Roman" panose="02020603050405020304" pitchFamily="18" charset="0"/>
              </a:defRPr>
            </a:lvl4pPr>
            <a:lvl5pPr marL="2057400" indent="-228600" defTabSz="987425" eaLnBrk="0" hangingPunct="0">
              <a:defRPr sz="2400">
                <a:solidFill>
                  <a:schemeClr val="tx1"/>
                </a:solidFill>
                <a:latin typeface="Times New Roman" panose="02020603050405020304" pitchFamily="18" charset="0"/>
              </a:defRPr>
            </a:lvl5pPr>
            <a:lvl6pPr marL="2514600" indent="-228600" defTabSz="98742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8742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8742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87425"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605C344-2505-4D17-A320-3228308A9587}" type="slidenum">
              <a:rPr lang="zh-CN" altLang="en-US" sz="1400"/>
              <a:pPr eaLnBrk="1" hangingPunct="1"/>
              <a:t>17</a:t>
            </a:fld>
            <a:endParaRPr lang="en-US" altLang="zh-CN" sz="1400"/>
          </a:p>
        </p:txBody>
      </p:sp>
      <p:sp>
        <p:nvSpPr>
          <p:cNvPr id="114691" name="Rectangle 2">
            <a:extLst>
              <a:ext uri="{FF2B5EF4-FFF2-40B4-BE49-F238E27FC236}">
                <a16:creationId xmlns:a16="http://schemas.microsoft.com/office/drawing/2014/main" id="{7D403D7B-DE87-4BBF-B03B-DAB256E8F77D}"/>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ED45BF38-C7C3-4888-A15E-8D6507F917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b="1">
                <a:latin typeface="楷体_GB2312" panose="02010609030101010101" pitchFamily="49" charset="-122"/>
                <a:ea typeface="楷体_GB2312" panose="02010609030101010101" pitchFamily="49" charset="-122"/>
              </a:rPr>
              <a:t>1</a:t>
            </a:r>
            <a:r>
              <a:rPr lang="zh-CN" altLang="en-US" b="1">
                <a:latin typeface="楷体_GB2312" panose="02010609030101010101" pitchFamily="49" charset="-122"/>
                <a:ea typeface="楷体_GB2312" panose="02010609030101010101" pitchFamily="49" charset="-122"/>
              </a:rPr>
              <a:t>、什么是连续信号，什么是离散信号，什么是数字信号？什么是取样信号？</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通信系统中传输的信号具有一定不确定性，属于随机信号</a:t>
            </a:r>
            <a:endParaRPr lang="zh-CN" altLang="en-US" dirty="0"/>
          </a:p>
        </p:txBody>
      </p:sp>
      <p:sp>
        <p:nvSpPr>
          <p:cNvPr id="4" name="灯片编号占位符 3"/>
          <p:cNvSpPr>
            <a:spLocks noGrp="1"/>
          </p:cNvSpPr>
          <p:nvPr>
            <p:ph type="sldNum" sz="quarter" idx="10"/>
          </p:nvPr>
        </p:nvSpPr>
        <p:spPr/>
        <p:txBody>
          <a:bodyPr/>
          <a:lstStyle/>
          <a:p>
            <a:fld id="{3DCE9FCB-288D-4DD8-A390-12A17D5385E2}" type="slidenum">
              <a:rPr lang="zh-CN" altLang="en-US" smtClean="0"/>
              <a:pPr/>
              <a:t>18</a:t>
            </a:fld>
            <a:endParaRPr lang="zh-CN" altLang="en-US"/>
          </a:p>
        </p:txBody>
      </p:sp>
    </p:spTree>
    <p:extLst>
      <p:ext uri="{BB962C8B-B14F-4D97-AF65-F5344CB8AC3E}">
        <p14:creationId xmlns:p14="http://schemas.microsoft.com/office/powerpoint/2010/main" val="1462338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对任何整数</a:t>
            </a:r>
            <a:r>
              <a:rPr lang="en-US" altLang="zh-CN" dirty="0" smtClean="0"/>
              <a:t>k</a:t>
            </a:r>
            <a:r>
              <a:rPr lang="zh-CN" altLang="en-US" dirty="0" smtClean="0"/>
              <a:t>，</a:t>
            </a:r>
            <a:r>
              <a:rPr lang="en-US" altLang="zh-CN" dirty="0" err="1" smtClean="0"/>
              <a:t>kN</a:t>
            </a:r>
            <a:r>
              <a:rPr lang="zh-CN" altLang="en-US" dirty="0" smtClean="0"/>
              <a:t>或</a:t>
            </a:r>
            <a:r>
              <a:rPr lang="en-US" altLang="zh-CN" dirty="0" err="1" smtClean="0"/>
              <a:t>kT</a:t>
            </a:r>
            <a:r>
              <a:rPr lang="zh-CN" altLang="en-US" smtClean="0"/>
              <a:t>也是周期 </a:t>
            </a:r>
            <a:endParaRPr lang="zh-CN" altLang="en-US" dirty="0"/>
          </a:p>
        </p:txBody>
      </p:sp>
      <p:sp>
        <p:nvSpPr>
          <p:cNvPr id="4" name="灯片编号占位符 3"/>
          <p:cNvSpPr>
            <a:spLocks noGrp="1"/>
          </p:cNvSpPr>
          <p:nvPr>
            <p:ph type="sldNum" sz="quarter" idx="10"/>
          </p:nvPr>
        </p:nvSpPr>
        <p:spPr/>
        <p:txBody>
          <a:bodyPr/>
          <a:lstStyle/>
          <a:p>
            <a:fld id="{3DCE9FCB-288D-4DD8-A390-12A17D5385E2}" type="slidenum">
              <a:rPr lang="zh-CN" altLang="en-US" smtClean="0"/>
              <a:pPr/>
              <a:t>24</a:t>
            </a:fld>
            <a:endParaRPr lang="zh-CN" altLang="en-US"/>
          </a:p>
        </p:txBody>
      </p:sp>
    </p:spTree>
    <p:extLst>
      <p:ext uri="{BB962C8B-B14F-4D97-AF65-F5344CB8AC3E}">
        <p14:creationId xmlns:p14="http://schemas.microsoft.com/office/powerpoint/2010/main" val="48889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C</a:t>
            </a:r>
            <a:r>
              <a:rPr lang="zh-CN" altLang="en-US" dirty="0" smtClean="0"/>
              <a:t>小于零，如何？</a:t>
            </a:r>
            <a:endParaRPr lang="zh-CN" altLang="en-US" dirty="0"/>
          </a:p>
        </p:txBody>
      </p:sp>
      <p:sp>
        <p:nvSpPr>
          <p:cNvPr id="4" name="灯片编号占位符 3"/>
          <p:cNvSpPr>
            <a:spLocks noGrp="1"/>
          </p:cNvSpPr>
          <p:nvPr>
            <p:ph type="sldNum" sz="quarter" idx="10"/>
          </p:nvPr>
        </p:nvSpPr>
        <p:spPr/>
        <p:txBody>
          <a:bodyPr/>
          <a:lstStyle/>
          <a:p>
            <a:fld id="{3DCE9FCB-288D-4DD8-A390-12A17D5385E2}" type="slidenum">
              <a:rPr lang="zh-CN" altLang="en-US" smtClean="0"/>
              <a:pPr/>
              <a:t>36</a:t>
            </a:fld>
            <a:endParaRPr lang="zh-CN" altLang="en-US"/>
          </a:p>
        </p:txBody>
      </p:sp>
    </p:spTree>
    <p:extLst>
      <p:ext uri="{BB962C8B-B14F-4D97-AF65-F5344CB8AC3E}">
        <p14:creationId xmlns:p14="http://schemas.microsoft.com/office/powerpoint/2010/main" val="991022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a:extLst>
              <a:ext uri="{FF2B5EF4-FFF2-40B4-BE49-F238E27FC236}">
                <a16:creationId xmlns:a16="http://schemas.microsoft.com/office/drawing/2014/main" id="{85361A39-7FCF-448A-8929-893B6C5559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备注占位符 2">
            <a:extLst>
              <a:ext uri="{FF2B5EF4-FFF2-40B4-BE49-F238E27FC236}">
                <a16:creationId xmlns:a16="http://schemas.microsoft.com/office/drawing/2014/main" id="{7915FAB7-9FD3-4C16-9AB4-33C6E930315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r = 0</a:t>
            </a:r>
            <a:r>
              <a:rPr lang="zh-CN" altLang="en-US"/>
              <a:t>时即为周期性复指数信号。</a:t>
            </a:r>
          </a:p>
        </p:txBody>
      </p:sp>
      <p:sp>
        <p:nvSpPr>
          <p:cNvPr id="4" name="灯片编号占位符 3">
            <a:extLst>
              <a:ext uri="{FF2B5EF4-FFF2-40B4-BE49-F238E27FC236}">
                <a16:creationId xmlns:a16="http://schemas.microsoft.com/office/drawing/2014/main" id="{71A61971-CD13-4C92-A1ED-3023F1B0BEAD}"/>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E9EF777-DE55-4510-B53A-6956FFD04616}" type="slidenum">
              <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a:extLst>
              <a:ext uri="{FF2B5EF4-FFF2-40B4-BE49-F238E27FC236}">
                <a16:creationId xmlns:a16="http://schemas.microsoft.com/office/drawing/2014/main" id="{AED70972-60E2-4429-90F6-F8A4E46EC6D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备注占位符 2">
            <a:extLst>
              <a:ext uri="{FF2B5EF4-FFF2-40B4-BE49-F238E27FC236}">
                <a16:creationId xmlns:a16="http://schemas.microsoft.com/office/drawing/2014/main" id="{990F8C79-AFB6-4C69-8489-F76C6B4609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l-GR" altLang="zh-CN" i="1">
                <a:latin typeface="Times New Roman" panose="02020603050405020304" pitchFamily="18" charset="0"/>
                <a:cs typeface="Times New Roman" panose="02020603050405020304" pitchFamily="18" charset="0"/>
              </a:rPr>
              <a:t>α</a:t>
            </a:r>
            <a:r>
              <a:rPr lang="en-US" altLang="zh-CN">
                <a:latin typeface="Times New Roman" panose="02020603050405020304" pitchFamily="18" charset="0"/>
                <a:cs typeface="Times New Roman" panose="02020603050405020304" pitchFamily="18" charset="0"/>
              </a:rPr>
              <a:t>= 1</a:t>
            </a:r>
            <a:r>
              <a:rPr lang="zh-CN" altLang="en-US">
                <a:latin typeface="Times New Roman" panose="02020603050405020304" pitchFamily="18" charset="0"/>
                <a:cs typeface="Times New Roman" panose="02020603050405020304" pitchFamily="18" charset="0"/>
              </a:rPr>
              <a:t>时为直流信号，</a:t>
            </a:r>
            <a:r>
              <a:rPr lang="el-GR" altLang="zh-CN" i="1">
                <a:latin typeface="Times New Roman" panose="02020603050405020304" pitchFamily="18" charset="0"/>
                <a:cs typeface="Times New Roman" panose="02020603050405020304" pitchFamily="18" charset="0"/>
              </a:rPr>
              <a:t>α</a:t>
            </a:r>
            <a:r>
              <a:rPr lang="en-US" altLang="zh-CN">
                <a:latin typeface="Times New Roman" panose="02020603050405020304" pitchFamily="18" charset="0"/>
                <a:cs typeface="Times New Roman" panose="02020603050405020304" pitchFamily="18" charset="0"/>
              </a:rPr>
              <a:t>= -1</a:t>
            </a:r>
            <a:r>
              <a:rPr lang="zh-CN" altLang="en-US">
                <a:latin typeface="Times New Roman" panose="02020603050405020304" pitchFamily="18" charset="0"/>
                <a:cs typeface="Times New Roman" panose="02020603050405020304" pitchFamily="18" charset="0"/>
              </a:rPr>
              <a:t>时为等幅摆动信号。</a:t>
            </a:r>
            <a:endParaRPr lang="zh-CN" altLang="en-US"/>
          </a:p>
        </p:txBody>
      </p:sp>
      <p:sp>
        <p:nvSpPr>
          <p:cNvPr id="4" name="灯片编号占位符 3">
            <a:extLst>
              <a:ext uri="{FF2B5EF4-FFF2-40B4-BE49-F238E27FC236}">
                <a16:creationId xmlns:a16="http://schemas.microsoft.com/office/drawing/2014/main" id="{C4680E9C-F4B7-48EF-93B9-1C14E37ED25F}"/>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398B8DC-93E5-4EB5-84E6-4EB10FEA433F}" type="slidenum">
              <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a:extLst>
              <a:ext uri="{FF2B5EF4-FFF2-40B4-BE49-F238E27FC236}">
                <a16:creationId xmlns:a16="http://schemas.microsoft.com/office/drawing/2014/main" id="{E0F0C508-77F8-46E2-BFC5-C91B8A8D8DC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备注占位符 2">
            <a:extLst>
              <a:ext uri="{FF2B5EF4-FFF2-40B4-BE49-F238E27FC236}">
                <a16:creationId xmlns:a16="http://schemas.microsoft.com/office/drawing/2014/main" id="{3B7E1024-BA1C-4690-9636-513BD8538B4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l-GR" altLang="zh-CN" i="1">
                <a:latin typeface="Times New Roman" panose="02020603050405020304" pitchFamily="18" charset="0"/>
                <a:cs typeface="Times New Roman" panose="02020603050405020304" pitchFamily="18" charset="0"/>
              </a:rPr>
              <a:t>α</a:t>
            </a:r>
            <a:r>
              <a:rPr lang="en-US" altLang="zh-CN">
                <a:latin typeface="Times New Roman" panose="02020603050405020304" pitchFamily="18" charset="0"/>
                <a:cs typeface="Times New Roman" panose="02020603050405020304" pitchFamily="18" charset="0"/>
              </a:rPr>
              <a:t>= e</a:t>
            </a:r>
            <a:r>
              <a:rPr lang="en-US" altLang="zh-CN" baseline="30000">
                <a:latin typeface="Times New Roman" panose="02020603050405020304" pitchFamily="18" charset="0"/>
                <a:cs typeface="Times New Roman" panose="02020603050405020304" pitchFamily="18" charset="0"/>
              </a:rPr>
              <a:t>j</a:t>
            </a:r>
            <a:r>
              <a:rPr lang="el-GR" altLang="zh-CN" baseline="30000">
                <a:latin typeface="Times New Roman" panose="02020603050405020304" pitchFamily="18" charset="0"/>
                <a:cs typeface="Times New Roman" panose="02020603050405020304" pitchFamily="18" charset="0"/>
              </a:rPr>
              <a:t>ω</a:t>
            </a:r>
            <a:r>
              <a:rPr lang="en-US" altLang="zh-CN" baseline="30000">
                <a:latin typeface="Times New Roman" panose="02020603050405020304" pitchFamily="18" charset="0"/>
                <a:cs typeface="Times New Roman" panose="02020603050405020304" pitchFamily="18" charset="0"/>
              </a:rPr>
              <a:t>0</a:t>
            </a:r>
            <a:r>
              <a:rPr lang="zh-CN" altLang="en-US">
                <a:latin typeface="Times New Roman" panose="02020603050405020304" pitchFamily="18" charset="0"/>
                <a:cs typeface="Times New Roman" panose="02020603050405020304" pitchFamily="18" charset="0"/>
              </a:rPr>
              <a:t>。</a:t>
            </a:r>
            <a:r>
              <a:rPr lang="en-US" altLang="zh-CN" i="1">
                <a:latin typeface="Times New Roman" panose="02020603050405020304" pitchFamily="18" charset="0"/>
                <a:cs typeface="Times New Roman" panose="02020603050405020304" pitchFamily="18" charset="0"/>
              </a:rPr>
              <a:t>x</a:t>
            </a:r>
            <a:r>
              <a:rPr lang="en-US" altLang="zh-CN">
                <a:latin typeface="Times New Roman" panose="02020603050405020304" pitchFamily="18" charset="0"/>
                <a:cs typeface="Times New Roman" panose="02020603050405020304" pitchFamily="18" charset="0"/>
              </a:rPr>
              <a:t>(</a:t>
            </a:r>
            <a:r>
              <a:rPr lang="en-US" altLang="zh-CN" i="1">
                <a:latin typeface="Times New Roman" panose="02020603050405020304" pitchFamily="18" charset="0"/>
                <a:cs typeface="Times New Roman" panose="02020603050405020304" pitchFamily="18" charset="0"/>
              </a:rPr>
              <a:t>n</a:t>
            </a:r>
            <a:r>
              <a:rPr lang="en-US" altLang="zh-CN">
                <a:latin typeface="Times New Roman" panose="02020603050405020304" pitchFamily="18" charset="0"/>
                <a:cs typeface="Times New Roman" panose="02020603050405020304" pitchFamily="18" charset="0"/>
              </a:rPr>
              <a:t>)</a:t>
            </a:r>
            <a:r>
              <a:rPr lang="zh-CN" altLang="en-US">
                <a:latin typeface="Times New Roman" panose="02020603050405020304" pitchFamily="18" charset="0"/>
                <a:cs typeface="Times New Roman" panose="02020603050405020304" pitchFamily="18" charset="0"/>
              </a:rPr>
              <a:t>是周期性的吗？如果是，基波周期为多少？</a:t>
            </a:r>
            <a:endParaRPr lang="zh-CN" altLang="en-US"/>
          </a:p>
        </p:txBody>
      </p:sp>
      <p:sp>
        <p:nvSpPr>
          <p:cNvPr id="4" name="灯片编号占位符 3">
            <a:extLst>
              <a:ext uri="{FF2B5EF4-FFF2-40B4-BE49-F238E27FC236}">
                <a16:creationId xmlns:a16="http://schemas.microsoft.com/office/drawing/2014/main" id="{CBC2B439-AFD2-4900-A482-E7767991BAED}"/>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5030DEA-89DE-4845-87AE-10C22ED5BFFE}" type="slidenum">
              <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B64FB44B-EEB0-41E6-97AE-AB9643A999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备注占位符 2">
            <a:extLst>
              <a:ext uri="{FF2B5EF4-FFF2-40B4-BE49-F238E27FC236}">
                <a16:creationId xmlns:a16="http://schemas.microsoft.com/office/drawing/2014/main" id="{EDFF2ECC-43E1-40B8-9B60-5D56098BF0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a:extLst>
              <a:ext uri="{FF2B5EF4-FFF2-40B4-BE49-F238E27FC236}">
                <a16:creationId xmlns:a16="http://schemas.microsoft.com/office/drawing/2014/main" id="{44CAB4CF-6980-44D5-A4CD-5CE9D13BE527}"/>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5AEA3C2-9387-4693-9069-B5480E29E683}" type="slidenum">
              <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a:extLst>
              <a:ext uri="{FF2B5EF4-FFF2-40B4-BE49-F238E27FC236}">
                <a16:creationId xmlns:a16="http://schemas.microsoft.com/office/drawing/2014/main" id="{4C75E835-DE85-4F65-A188-D8A62B6D09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备注占位符 2">
            <a:extLst>
              <a:ext uri="{FF2B5EF4-FFF2-40B4-BE49-F238E27FC236}">
                <a16:creationId xmlns:a16="http://schemas.microsoft.com/office/drawing/2014/main" id="{776B65CC-F131-4C93-B917-4A859132C7C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a:extLst>
              <a:ext uri="{FF2B5EF4-FFF2-40B4-BE49-F238E27FC236}">
                <a16:creationId xmlns:a16="http://schemas.microsoft.com/office/drawing/2014/main" id="{FC862F2B-21A8-4836-B0BD-0F763B44582C}"/>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F50CB58-FD23-49EF-9E9E-A1788EA92A14}" type="slidenum">
              <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a:extLst>
              <a:ext uri="{FF2B5EF4-FFF2-40B4-BE49-F238E27FC236}">
                <a16:creationId xmlns:a16="http://schemas.microsoft.com/office/drawing/2014/main" id="{4C75E835-DE85-4F65-A188-D8A62B6D09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备注占位符 2">
            <a:extLst>
              <a:ext uri="{FF2B5EF4-FFF2-40B4-BE49-F238E27FC236}">
                <a16:creationId xmlns:a16="http://schemas.microsoft.com/office/drawing/2014/main" id="{776B65CC-F131-4C93-B917-4A859132C7C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a:extLst>
              <a:ext uri="{FF2B5EF4-FFF2-40B4-BE49-F238E27FC236}">
                <a16:creationId xmlns:a16="http://schemas.microsoft.com/office/drawing/2014/main" id="{FC862F2B-21A8-4836-B0BD-0F763B44582C}"/>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F50CB58-FD23-49EF-9E9E-A1788EA92A14}" type="slidenum">
              <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319274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线圈是电感元件，</a:t>
            </a:r>
            <a:r>
              <a:rPr lang="en-US" altLang="zh-CN" dirty="0" smtClean="0"/>
              <a:t>L</a:t>
            </a:r>
            <a:r>
              <a:rPr lang="zh-CN" altLang="en-US" dirty="0" smtClean="0"/>
              <a:t>为自感系数；</a:t>
            </a:r>
            <a:r>
              <a:rPr lang="en-US" altLang="zh-CN" dirty="0" smtClean="0"/>
              <a:t>C</a:t>
            </a:r>
            <a:r>
              <a:rPr lang="zh-CN" altLang="en-US" dirty="0" smtClean="0"/>
              <a:t>为电容容量</a:t>
            </a:r>
            <a:endParaRPr lang="zh-CN" altLang="en-US" dirty="0"/>
          </a:p>
        </p:txBody>
      </p:sp>
      <p:sp>
        <p:nvSpPr>
          <p:cNvPr id="4" name="灯片编号占位符 3"/>
          <p:cNvSpPr>
            <a:spLocks noGrp="1"/>
          </p:cNvSpPr>
          <p:nvPr>
            <p:ph type="sldNum" sz="quarter" idx="10"/>
          </p:nvPr>
        </p:nvSpPr>
        <p:spPr/>
        <p:txBody>
          <a:bodyPr/>
          <a:lstStyle/>
          <a:p>
            <a:fld id="{3DCE9FCB-288D-4DD8-A390-12A17D5385E2}" type="slidenum">
              <a:rPr lang="zh-CN" altLang="en-US" smtClean="0"/>
              <a:pPr/>
              <a:t>69</a:t>
            </a:fld>
            <a:endParaRPr lang="zh-CN" altLang="en-US"/>
          </a:p>
        </p:txBody>
      </p:sp>
    </p:spTree>
    <p:extLst>
      <p:ext uri="{BB962C8B-B14F-4D97-AF65-F5344CB8AC3E}">
        <p14:creationId xmlns:p14="http://schemas.microsoft.com/office/powerpoint/2010/main" val="2706319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便于设计复杂系统</a:t>
            </a:r>
            <a:endParaRPr lang="zh-CN" altLang="en-US" dirty="0"/>
          </a:p>
        </p:txBody>
      </p:sp>
      <p:sp>
        <p:nvSpPr>
          <p:cNvPr id="4" name="灯片编号占位符 3"/>
          <p:cNvSpPr>
            <a:spLocks noGrp="1"/>
          </p:cNvSpPr>
          <p:nvPr>
            <p:ph type="sldNum" sz="quarter" idx="10"/>
          </p:nvPr>
        </p:nvSpPr>
        <p:spPr/>
        <p:txBody>
          <a:bodyPr/>
          <a:lstStyle/>
          <a:p>
            <a:fld id="{3DCE9FCB-288D-4DD8-A390-12A17D5385E2}" type="slidenum">
              <a:rPr lang="zh-CN" altLang="en-US" smtClean="0"/>
              <a:pPr/>
              <a:t>72</a:t>
            </a:fld>
            <a:endParaRPr lang="zh-CN" altLang="en-US"/>
          </a:p>
        </p:txBody>
      </p:sp>
    </p:spTree>
    <p:extLst>
      <p:ext uri="{BB962C8B-B14F-4D97-AF65-F5344CB8AC3E}">
        <p14:creationId xmlns:p14="http://schemas.microsoft.com/office/powerpoint/2010/main" val="3767930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64DEED6C-A97C-42C6-B77D-33A2A41AAD8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备注占位符 2">
            <a:extLst>
              <a:ext uri="{FF2B5EF4-FFF2-40B4-BE49-F238E27FC236}">
                <a16:creationId xmlns:a16="http://schemas.microsoft.com/office/drawing/2014/main" id="{86E01F06-D142-4E58-8E4D-95B4DE4028C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无记忆系统也称为即时系统。</a:t>
            </a:r>
          </a:p>
        </p:txBody>
      </p:sp>
      <p:sp>
        <p:nvSpPr>
          <p:cNvPr id="4" name="灯片编号占位符 3">
            <a:extLst>
              <a:ext uri="{FF2B5EF4-FFF2-40B4-BE49-F238E27FC236}">
                <a16:creationId xmlns:a16="http://schemas.microsoft.com/office/drawing/2014/main" id="{A2C1CFC1-F1EF-40F9-9A55-642EBA3C413E}"/>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8DF21FB-E801-48C1-9D2B-5CF46F578724}" type="slidenum">
              <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3DCE9FCB-288D-4DD8-A390-12A17D5385E2}" type="slidenum">
              <a:rPr lang="zh-CN" altLang="en-US" smtClean="0"/>
              <a:pPr/>
              <a:t>83</a:t>
            </a:fld>
            <a:endParaRPr lang="zh-CN" altLang="en-US"/>
          </a:p>
        </p:txBody>
      </p:sp>
    </p:spTree>
    <p:extLst>
      <p:ext uri="{BB962C8B-B14F-4D97-AF65-F5344CB8AC3E}">
        <p14:creationId xmlns:p14="http://schemas.microsoft.com/office/powerpoint/2010/main" val="38397318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3DCE9FCB-288D-4DD8-A390-12A17D5385E2}" type="slidenum">
              <a:rPr lang="zh-CN" altLang="en-US" smtClean="0"/>
              <a:pPr/>
              <a:t>84</a:t>
            </a:fld>
            <a:endParaRPr lang="zh-CN" altLang="en-US"/>
          </a:p>
        </p:txBody>
      </p:sp>
    </p:spTree>
    <p:extLst>
      <p:ext uri="{BB962C8B-B14F-4D97-AF65-F5344CB8AC3E}">
        <p14:creationId xmlns:p14="http://schemas.microsoft.com/office/powerpoint/2010/main" val="7380902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3DCE9FCB-288D-4DD8-A390-12A17D5385E2}" type="slidenum">
              <a:rPr lang="zh-CN" altLang="en-US" smtClean="0"/>
              <a:pPr/>
              <a:t>89</a:t>
            </a:fld>
            <a:endParaRPr lang="zh-CN" altLang="en-US"/>
          </a:p>
        </p:txBody>
      </p:sp>
    </p:spTree>
    <p:extLst>
      <p:ext uri="{BB962C8B-B14F-4D97-AF65-F5344CB8AC3E}">
        <p14:creationId xmlns:p14="http://schemas.microsoft.com/office/powerpoint/2010/main" val="3723302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a:extLst>
              <a:ext uri="{FF2B5EF4-FFF2-40B4-BE49-F238E27FC236}">
                <a16:creationId xmlns:a16="http://schemas.microsoft.com/office/drawing/2014/main" id="{0A9F8EDC-27B8-4C5A-80F5-7C2F99DC07D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备注占位符 2">
            <a:extLst>
              <a:ext uri="{FF2B5EF4-FFF2-40B4-BE49-F238E27FC236}">
                <a16:creationId xmlns:a16="http://schemas.microsoft.com/office/drawing/2014/main" id="{975EFDB1-09EA-4F38-94DE-194725DEB9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a:extLst>
              <a:ext uri="{FF2B5EF4-FFF2-40B4-BE49-F238E27FC236}">
                <a16:creationId xmlns:a16="http://schemas.microsoft.com/office/drawing/2014/main" id="{60DAE585-9CCA-4639-A9E8-7FA1690FEB96}"/>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48E1661-351A-4E29-9F60-7A0B0B234817}" type="slidenum">
              <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91</a:t>
            </a:fld>
            <a:endPar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a:extLst>
              <a:ext uri="{FF2B5EF4-FFF2-40B4-BE49-F238E27FC236}">
                <a16:creationId xmlns:a16="http://schemas.microsoft.com/office/drawing/2014/main" id="{A6CB6AF7-DA65-4768-99A0-6013E58D87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备注占位符 2">
            <a:extLst>
              <a:ext uri="{FF2B5EF4-FFF2-40B4-BE49-F238E27FC236}">
                <a16:creationId xmlns:a16="http://schemas.microsoft.com/office/drawing/2014/main" id="{797AF319-DB43-4F07-A25C-54BA7152CA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信号描述：连续、离散、周期、能量、功率</a:t>
            </a:r>
            <a:endParaRPr lang="en-US" altLang="zh-CN"/>
          </a:p>
          <a:p>
            <a:r>
              <a:rPr lang="zh-CN" altLang="en-US"/>
              <a:t>系统描述：微分方程、差分方程、方框图</a:t>
            </a:r>
            <a:endParaRPr lang="en-US" altLang="zh-CN"/>
          </a:p>
          <a:p>
            <a:r>
              <a:rPr lang="zh-CN" altLang="en-US"/>
              <a:t>信号自变量变换：时移变换、尺度变换、反转变换</a:t>
            </a:r>
            <a:endParaRPr lang="en-US" altLang="zh-CN"/>
          </a:p>
          <a:p>
            <a:r>
              <a:rPr lang="zh-CN" altLang="en-US"/>
              <a:t>系统的六大特性：记忆性、可逆性、因果性、稳定性、时不变性、线性</a:t>
            </a:r>
          </a:p>
        </p:txBody>
      </p:sp>
      <p:sp>
        <p:nvSpPr>
          <p:cNvPr id="4" name="灯片编号占位符 3">
            <a:extLst>
              <a:ext uri="{FF2B5EF4-FFF2-40B4-BE49-F238E27FC236}">
                <a16:creationId xmlns:a16="http://schemas.microsoft.com/office/drawing/2014/main" id="{A5D4F04A-3A3C-458B-B5C9-4F4EB300527A}"/>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D7812E-2523-49B2-96DB-5A236D45CF94}" type="slidenum">
              <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98</a:t>
            </a:fld>
            <a:endPar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a:extLst>
              <a:ext uri="{FF2B5EF4-FFF2-40B4-BE49-F238E27FC236}">
                <a16:creationId xmlns:a16="http://schemas.microsoft.com/office/drawing/2014/main" id="{FA637558-C951-4189-B6ED-C9297A5674F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a:extLst>
              <a:ext uri="{FF2B5EF4-FFF2-40B4-BE49-F238E27FC236}">
                <a16:creationId xmlns:a16="http://schemas.microsoft.com/office/drawing/2014/main" id="{78CA1586-E4AC-459F-BC84-0F677FF907A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itchFamily="34" charset="0"/>
                <a:ea typeface="黑体" pitchFamily="49"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itchFamily="34" charset="0"/>
                <a:ea typeface="黑体"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6" name="日期占位符 3">
            <a:extLst>
              <a:ext uri="{FF2B5EF4-FFF2-40B4-BE49-F238E27FC236}">
                <a16:creationId xmlns:a16="http://schemas.microsoft.com/office/drawing/2014/main" id="{AB453A66-D39D-4237-AED7-A147F8D687CE}"/>
              </a:ext>
            </a:extLst>
          </p:cNvPr>
          <p:cNvSpPr>
            <a:spLocks noGrp="1"/>
          </p:cNvSpPr>
          <p:nvPr>
            <p:ph type="dt" sz="half" idx="10"/>
          </p:nvPr>
        </p:nvSpPr>
        <p:spPr/>
        <p:txBody>
          <a:bodyPr/>
          <a:lstStyle>
            <a:lvl1pPr>
              <a:defRPr/>
            </a:lvl1pPr>
          </a:lstStyle>
          <a:p>
            <a:pPr>
              <a:defRPr/>
            </a:pPr>
            <a:fld id="{0796CDB0-245E-4A1C-B622-3651A57414F3}" type="datetime1">
              <a:rPr lang="zh-CN" altLang="en-US"/>
              <a:pPr>
                <a:defRPr/>
              </a:pPr>
              <a:t>2023/3/7</a:t>
            </a:fld>
            <a:endParaRPr lang="zh-CN" altLang="en-US"/>
          </a:p>
        </p:txBody>
      </p:sp>
      <p:sp>
        <p:nvSpPr>
          <p:cNvPr id="7" name="页脚占位符 4">
            <a:extLst>
              <a:ext uri="{FF2B5EF4-FFF2-40B4-BE49-F238E27FC236}">
                <a16:creationId xmlns:a16="http://schemas.microsoft.com/office/drawing/2014/main" id="{8514D31F-87FE-4BCF-9F01-52980F99A5C5}"/>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7DC83D2B-9CE0-4B38-A38A-A4287FA96982}"/>
              </a:ext>
            </a:extLst>
          </p:cNvPr>
          <p:cNvSpPr>
            <a:spLocks noGrp="1"/>
          </p:cNvSpPr>
          <p:nvPr>
            <p:ph type="sldNum" sz="quarter" idx="12"/>
          </p:nvPr>
        </p:nvSpPr>
        <p:spPr/>
        <p:txBody>
          <a:bodyPr/>
          <a:lstStyle>
            <a:lvl1pPr>
              <a:defRPr/>
            </a:lvl1pPr>
          </a:lstStyle>
          <a:p>
            <a:fld id="{08C4BC92-13C8-44A1-91D8-3ABD71F8F350}" type="slidenum">
              <a:rPr lang="zh-CN" altLang="en-US"/>
              <a:pPr/>
              <a:t>‹#›</a:t>
            </a:fld>
            <a:endParaRPr lang="zh-CN" altLang="en-US"/>
          </a:p>
        </p:txBody>
      </p:sp>
    </p:spTree>
    <p:extLst>
      <p:ext uri="{BB962C8B-B14F-4D97-AF65-F5344CB8AC3E}">
        <p14:creationId xmlns:p14="http://schemas.microsoft.com/office/powerpoint/2010/main" val="1956314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ACC456DB-77A9-4695-BF08-F75E9F57D9A5}"/>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F0B81EF6-60F0-4635-B137-5EE6C882CFCA}"/>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1" i="0" baseline="0">
                <a:latin typeface="Times New Roman" pitchFamily="18" charset="0"/>
                <a:ea typeface="楷体" pitchFamily="49" charset="-122"/>
              </a:defRPr>
            </a:lvl1pPr>
            <a:lvl2pPr>
              <a:defRPr b="1" i="0" baseline="0">
                <a:latin typeface="Times New Roman" pitchFamily="18" charset="0"/>
                <a:ea typeface="楷体" pitchFamily="49" charset="-122"/>
              </a:defRPr>
            </a:lvl2pPr>
            <a:lvl3pPr>
              <a:defRPr b="1" i="0" baseline="0">
                <a:latin typeface="Times New Roman" pitchFamily="18" charset="0"/>
                <a:ea typeface="楷体" pitchFamily="49" charset="-122"/>
              </a:defRPr>
            </a:lvl3pPr>
            <a:lvl4pPr>
              <a:defRPr b="1" i="0" baseline="0">
                <a:latin typeface="Times New Roman" pitchFamily="18" charset="0"/>
                <a:ea typeface="楷体" pitchFamily="49" charset="-122"/>
              </a:defRPr>
            </a:lvl4pPr>
            <a:lvl5pPr>
              <a:defRPr b="1" i="0" baseline="0">
                <a:latin typeface="Times New Roman" pitchFamily="18" charset="0"/>
                <a:ea typeface="楷体"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3">
            <a:extLst>
              <a:ext uri="{FF2B5EF4-FFF2-40B4-BE49-F238E27FC236}">
                <a16:creationId xmlns:a16="http://schemas.microsoft.com/office/drawing/2014/main" id="{1A3D225D-3B32-48F0-A9DB-D51823BCDA89}"/>
              </a:ext>
            </a:extLst>
          </p:cNvPr>
          <p:cNvSpPr>
            <a:spLocks noGrp="1"/>
          </p:cNvSpPr>
          <p:nvPr>
            <p:ph type="dt" sz="half" idx="10"/>
          </p:nvPr>
        </p:nvSpPr>
        <p:spPr/>
        <p:txBody>
          <a:bodyPr/>
          <a:lstStyle>
            <a:lvl1pPr>
              <a:defRPr/>
            </a:lvl1pPr>
          </a:lstStyle>
          <a:p>
            <a:pPr>
              <a:defRPr/>
            </a:pPr>
            <a:fld id="{11A3C245-5192-4DA9-9EDC-6A8E79FEA653}" type="datetime1">
              <a:rPr lang="zh-CN" altLang="en-US"/>
              <a:pPr>
                <a:defRPr/>
              </a:pPr>
              <a:t>2023/3/7</a:t>
            </a:fld>
            <a:endParaRPr lang="zh-CN" altLang="en-US"/>
          </a:p>
        </p:txBody>
      </p:sp>
      <p:sp>
        <p:nvSpPr>
          <p:cNvPr id="7" name="页脚占位符 4">
            <a:extLst>
              <a:ext uri="{FF2B5EF4-FFF2-40B4-BE49-F238E27FC236}">
                <a16:creationId xmlns:a16="http://schemas.microsoft.com/office/drawing/2014/main" id="{2CF4D038-1BA0-4526-A19B-939A33640EB0}"/>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B0E41E7D-64AA-468D-BFF2-A0FA582F1F87}"/>
              </a:ext>
            </a:extLst>
          </p:cNvPr>
          <p:cNvSpPr>
            <a:spLocks noGrp="1"/>
          </p:cNvSpPr>
          <p:nvPr>
            <p:ph type="sldNum" sz="quarter" idx="12"/>
          </p:nvPr>
        </p:nvSpPr>
        <p:spPr/>
        <p:txBody>
          <a:bodyPr/>
          <a:lstStyle>
            <a:lvl1pPr>
              <a:defRPr/>
            </a:lvl1pPr>
          </a:lstStyle>
          <a:p>
            <a:fld id="{D6CC5206-228A-4188-B6B3-2BFCD2AC1E6E}" type="slidenum">
              <a:rPr lang="zh-CN" altLang="en-US"/>
              <a:pPr/>
              <a:t>‹#›</a:t>
            </a:fld>
            <a:endParaRPr lang="zh-CN" altLang="en-US"/>
          </a:p>
        </p:txBody>
      </p:sp>
    </p:spTree>
    <p:extLst>
      <p:ext uri="{BB962C8B-B14F-4D97-AF65-F5344CB8AC3E}">
        <p14:creationId xmlns:p14="http://schemas.microsoft.com/office/powerpoint/2010/main" val="1773374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E3C540C-89BF-4167-9C14-F911A21B4E81}"/>
              </a:ext>
            </a:extLst>
          </p:cNvPr>
          <p:cNvSpPr>
            <a:spLocks noGrp="1"/>
          </p:cNvSpPr>
          <p:nvPr>
            <p:ph type="dt" sz="half" idx="10"/>
          </p:nvPr>
        </p:nvSpPr>
        <p:spPr/>
        <p:txBody>
          <a:bodyPr/>
          <a:lstStyle>
            <a:lvl1pPr>
              <a:defRPr/>
            </a:lvl1pPr>
          </a:lstStyle>
          <a:p>
            <a:pPr>
              <a:defRPr/>
            </a:pPr>
            <a:fld id="{F44981C3-0DCF-4072-8B8E-73E186641ADD}" type="datetime1">
              <a:rPr lang="zh-CN" altLang="en-US"/>
              <a:pPr>
                <a:defRPr/>
              </a:pPr>
              <a:t>2023/3/7</a:t>
            </a:fld>
            <a:endParaRPr lang="zh-CN" altLang="en-US" dirty="0"/>
          </a:p>
        </p:txBody>
      </p:sp>
      <p:sp>
        <p:nvSpPr>
          <p:cNvPr id="5" name="页脚占位符 4">
            <a:extLst>
              <a:ext uri="{FF2B5EF4-FFF2-40B4-BE49-F238E27FC236}">
                <a16:creationId xmlns:a16="http://schemas.microsoft.com/office/drawing/2014/main" id="{F4345536-CEBD-43DA-8442-EFA24C7DECB9}"/>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63C2533-777C-4184-B746-A91E58A66C6E}"/>
              </a:ext>
            </a:extLst>
          </p:cNvPr>
          <p:cNvSpPr>
            <a:spLocks noGrp="1"/>
          </p:cNvSpPr>
          <p:nvPr>
            <p:ph type="sldNum" sz="quarter" idx="12"/>
          </p:nvPr>
        </p:nvSpPr>
        <p:spPr/>
        <p:txBody>
          <a:bodyPr/>
          <a:lstStyle>
            <a:lvl1pPr>
              <a:defRPr/>
            </a:lvl1pPr>
          </a:lstStyle>
          <a:p>
            <a:fld id="{D292B29F-7510-4F8D-BBDB-A377B80DC2CD}" type="slidenum">
              <a:rPr lang="zh-CN" altLang="en-US"/>
              <a:pPr/>
              <a:t>‹#›</a:t>
            </a:fld>
            <a:endParaRPr lang="zh-CN" altLang="en-US"/>
          </a:p>
        </p:txBody>
      </p:sp>
    </p:spTree>
    <p:extLst>
      <p:ext uri="{BB962C8B-B14F-4D97-AF65-F5344CB8AC3E}">
        <p14:creationId xmlns:p14="http://schemas.microsoft.com/office/powerpoint/2010/main" val="3758930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a:extLst>
              <a:ext uri="{FF2B5EF4-FFF2-40B4-BE49-F238E27FC236}">
                <a16:creationId xmlns:a16="http://schemas.microsoft.com/office/drawing/2014/main" id="{62263B3B-894B-4674-BECA-302F3DCAC141}"/>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a:extLst>
              <a:ext uri="{FF2B5EF4-FFF2-40B4-BE49-F238E27FC236}">
                <a16:creationId xmlns:a16="http://schemas.microsoft.com/office/drawing/2014/main" id="{69E7896E-322E-45A0-A423-C0AEE4B45E8C}"/>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itchFamily="18" charset="0"/>
                <a:ea typeface="楷体" pitchFamily="49" charset="-122"/>
              </a:defRPr>
            </a:lvl1pPr>
            <a:lvl2pPr>
              <a:defRPr sz="2400" b="1" i="0" baseline="0">
                <a:latin typeface="Times New Roman" pitchFamily="18" charset="0"/>
                <a:ea typeface="楷体" pitchFamily="49" charset="-122"/>
              </a:defRPr>
            </a:lvl2pPr>
            <a:lvl3pPr>
              <a:defRPr sz="2000" b="1" i="0" baseline="0">
                <a:latin typeface="Times New Roman" pitchFamily="18" charset="0"/>
                <a:ea typeface="楷体" pitchFamily="49" charset="-122"/>
              </a:defRPr>
            </a:lvl3pPr>
            <a:lvl4pPr>
              <a:defRPr sz="1800" b="1" i="0" baseline="0">
                <a:latin typeface="Times New Roman" pitchFamily="18" charset="0"/>
                <a:ea typeface="楷体" pitchFamily="49" charset="-122"/>
              </a:defRPr>
            </a:lvl4pPr>
            <a:lvl5pPr>
              <a:defRPr sz="1800" b="1" i="0" baseline="0">
                <a:latin typeface="Times New Roman" pitchFamily="18" charset="0"/>
                <a:ea typeface="楷体" pitchFamily="49"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itchFamily="18" charset="0"/>
                <a:ea typeface="楷体" pitchFamily="49" charset="-122"/>
              </a:defRPr>
            </a:lvl1pPr>
            <a:lvl2pPr>
              <a:defRPr sz="2400" b="1" i="0" baseline="0">
                <a:latin typeface="Times New Roman" pitchFamily="18" charset="0"/>
                <a:ea typeface="楷体" pitchFamily="49" charset="-122"/>
              </a:defRPr>
            </a:lvl2pPr>
            <a:lvl3pPr>
              <a:defRPr sz="2000" b="1" i="0" baseline="0">
                <a:latin typeface="Times New Roman" pitchFamily="18" charset="0"/>
                <a:ea typeface="楷体" pitchFamily="49" charset="-122"/>
              </a:defRPr>
            </a:lvl3pPr>
            <a:lvl4pPr>
              <a:defRPr sz="1800" b="1" i="0" baseline="0">
                <a:latin typeface="Times New Roman" pitchFamily="18" charset="0"/>
                <a:ea typeface="楷体" pitchFamily="49" charset="-122"/>
              </a:defRPr>
            </a:lvl4pPr>
            <a:lvl5pPr>
              <a:defRPr sz="1800" b="1" i="0" baseline="0">
                <a:latin typeface="Times New Roman" pitchFamily="18" charset="0"/>
                <a:ea typeface="楷体" pitchFamily="49"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4">
            <a:extLst>
              <a:ext uri="{FF2B5EF4-FFF2-40B4-BE49-F238E27FC236}">
                <a16:creationId xmlns:a16="http://schemas.microsoft.com/office/drawing/2014/main" id="{F9031D11-06CB-4A07-B6B4-541FE97CC167}"/>
              </a:ext>
            </a:extLst>
          </p:cNvPr>
          <p:cNvSpPr>
            <a:spLocks noGrp="1"/>
          </p:cNvSpPr>
          <p:nvPr>
            <p:ph type="dt" sz="half" idx="10"/>
          </p:nvPr>
        </p:nvSpPr>
        <p:spPr/>
        <p:txBody>
          <a:bodyPr/>
          <a:lstStyle>
            <a:lvl1pPr>
              <a:defRPr/>
            </a:lvl1pPr>
          </a:lstStyle>
          <a:p>
            <a:pPr>
              <a:defRPr/>
            </a:pPr>
            <a:fld id="{FE3B2EEE-2DF8-4E84-921F-47EC20F06FA8}" type="datetime1">
              <a:rPr lang="zh-CN" altLang="en-US"/>
              <a:pPr>
                <a:defRPr/>
              </a:pPr>
              <a:t>2023/3/7</a:t>
            </a:fld>
            <a:endParaRPr lang="zh-CN" altLang="en-US"/>
          </a:p>
        </p:txBody>
      </p:sp>
      <p:sp>
        <p:nvSpPr>
          <p:cNvPr id="8" name="页脚占位符 5">
            <a:extLst>
              <a:ext uri="{FF2B5EF4-FFF2-40B4-BE49-F238E27FC236}">
                <a16:creationId xmlns:a16="http://schemas.microsoft.com/office/drawing/2014/main" id="{C874F842-96DE-44D4-BB80-B5ABA130CFD5}"/>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4E641196-FBBB-4ACF-9624-91D36A80591A}"/>
              </a:ext>
            </a:extLst>
          </p:cNvPr>
          <p:cNvSpPr>
            <a:spLocks noGrp="1"/>
          </p:cNvSpPr>
          <p:nvPr>
            <p:ph type="sldNum" sz="quarter" idx="12"/>
          </p:nvPr>
        </p:nvSpPr>
        <p:spPr/>
        <p:txBody>
          <a:bodyPr/>
          <a:lstStyle>
            <a:lvl1pPr>
              <a:defRPr/>
            </a:lvl1pPr>
          </a:lstStyle>
          <a:p>
            <a:fld id="{0EC37A75-123D-4D74-9A18-BA10B3BD40FA}" type="slidenum">
              <a:rPr lang="zh-CN" altLang="en-US"/>
              <a:pPr/>
              <a:t>‹#›</a:t>
            </a:fld>
            <a:endParaRPr lang="zh-CN" altLang="en-US"/>
          </a:p>
        </p:txBody>
      </p:sp>
    </p:spTree>
    <p:extLst>
      <p:ext uri="{BB962C8B-B14F-4D97-AF65-F5344CB8AC3E}">
        <p14:creationId xmlns:p14="http://schemas.microsoft.com/office/powerpoint/2010/main" val="1655555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a:extLst>
              <a:ext uri="{FF2B5EF4-FFF2-40B4-BE49-F238E27FC236}">
                <a16:creationId xmlns:a16="http://schemas.microsoft.com/office/drawing/2014/main" id="{45CBD99A-38B3-422C-9C47-615DEDE714DD}"/>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a:extLst>
              <a:ext uri="{FF2B5EF4-FFF2-40B4-BE49-F238E27FC236}">
                <a16:creationId xmlns:a16="http://schemas.microsoft.com/office/drawing/2014/main" id="{ADBD5C70-B8DD-44A2-8BEA-F7FD7C8992EA}"/>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6">
            <a:extLst>
              <a:ext uri="{FF2B5EF4-FFF2-40B4-BE49-F238E27FC236}">
                <a16:creationId xmlns:a16="http://schemas.microsoft.com/office/drawing/2014/main" id="{E94B0EE7-045A-4A57-A77F-F5F63194D4D9}"/>
              </a:ext>
            </a:extLst>
          </p:cNvPr>
          <p:cNvSpPr>
            <a:spLocks noGrp="1"/>
          </p:cNvSpPr>
          <p:nvPr>
            <p:ph type="dt" sz="half" idx="10"/>
          </p:nvPr>
        </p:nvSpPr>
        <p:spPr/>
        <p:txBody>
          <a:bodyPr/>
          <a:lstStyle>
            <a:lvl1pPr>
              <a:defRPr/>
            </a:lvl1pPr>
          </a:lstStyle>
          <a:p>
            <a:pPr>
              <a:defRPr/>
            </a:pPr>
            <a:fld id="{69277C0B-3A04-4FD7-9EC3-B1DF01C4E9DC}" type="datetime1">
              <a:rPr lang="zh-CN" altLang="en-US"/>
              <a:pPr>
                <a:defRPr/>
              </a:pPr>
              <a:t>2023/3/7</a:t>
            </a:fld>
            <a:endParaRPr lang="zh-CN" altLang="en-US"/>
          </a:p>
        </p:txBody>
      </p:sp>
      <p:sp>
        <p:nvSpPr>
          <p:cNvPr id="10" name="页脚占位符 7">
            <a:extLst>
              <a:ext uri="{FF2B5EF4-FFF2-40B4-BE49-F238E27FC236}">
                <a16:creationId xmlns:a16="http://schemas.microsoft.com/office/drawing/2014/main" id="{993A1CC6-3118-486C-AD7E-EC2A5D059470}"/>
              </a:ext>
            </a:extLst>
          </p:cNvPr>
          <p:cNvSpPr>
            <a:spLocks noGrp="1"/>
          </p:cNvSpPr>
          <p:nvPr>
            <p:ph type="ftr" sz="quarter" idx="11"/>
          </p:nvPr>
        </p:nvSpPr>
        <p:spPr/>
        <p:txBody>
          <a:bodyPr/>
          <a:lstStyle>
            <a:lvl1pPr>
              <a:defRPr/>
            </a:lvl1pPr>
          </a:lstStyle>
          <a:p>
            <a:pPr>
              <a:defRPr/>
            </a:pPr>
            <a:endParaRPr lang="zh-CN" altLang="en-US"/>
          </a:p>
        </p:txBody>
      </p:sp>
      <p:sp>
        <p:nvSpPr>
          <p:cNvPr id="11" name="灯片编号占位符 8">
            <a:extLst>
              <a:ext uri="{FF2B5EF4-FFF2-40B4-BE49-F238E27FC236}">
                <a16:creationId xmlns:a16="http://schemas.microsoft.com/office/drawing/2014/main" id="{265416AB-1977-4D36-BC1D-52EF6903D2F1}"/>
              </a:ext>
            </a:extLst>
          </p:cNvPr>
          <p:cNvSpPr>
            <a:spLocks noGrp="1"/>
          </p:cNvSpPr>
          <p:nvPr>
            <p:ph type="sldNum" sz="quarter" idx="12"/>
          </p:nvPr>
        </p:nvSpPr>
        <p:spPr/>
        <p:txBody>
          <a:bodyPr/>
          <a:lstStyle>
            <a:lvl1pPr>
              <a:defRPr/>
            </a:lvl1pPr>
          </a:lstStyle>
          <a:p>
            <a:fld id="{1B3503B4-8BC7-4336-AA16-CA0638ABFC9C}" type="slidenum">
              <a:rPr lang="zh-CN" altLang="en-US"/>
              <a:pPr/>
              <a:t>‹#›</a:t>
            </a:fld>
            <a:endParaRPr lang="zh-CN" altLang="en-US"/>
          </a:p>
        </p:txBody>
      </p:sp>
    </p:spTree>
    <p:extLst>
      <p:ext uri="{BB962C8B-B14F-4D97-AF65-F5344CB8AC3E}">
        <p14:creationId xmlns:p14="http://schemas.microsoft.com/office/powerpoint/2010/main" val="4012367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a:extLst>
              <a:ext uri="{FF2B5EF4-FFF2-40B4-BE49-F238E27FC236}">
                <a16:creationId xmlns:a16="http://schemas.microsoft.com/office/drawing/2014/main" id="{B71ED0F8-4A98-4201-984E-DF821271DADB}"/>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a:extLst>
              <a:ext uri="{FF2B5EF4-FFF2-40B4-BE49-F238E27FC236}">
                <a16:creationId xmlns:a16="http://schemas.microsoft.com/office/drawing/2014/main" id="{403FF265-D472-4BB0-9BBC-E53B60AA1002}"/>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5" name="日期占位符 2">
            <a:extLst>
              <a:ext uri="{FF2B5EF4-FFF2-40B4-BE49-F238E27FC236}">
                <a16:creationId xmlns:a16="http://schemas.microsoft.com/office/drawing/2014/main" id="{22A4C3A6-F3B3-499D-8E55-F0C50B05F4D2}"/>
              </a:ext>
            </a:extLst>
          </p:cNvPr>
          <p:cNvSpPr>
            <a:spLocks noGrp="1"/>
          </p:cNvSpPr>
          <p:nvPr>
            <p:ph type="dt" sz="half" idx="10"/>
          </p:nvPr>
        </p:nvSpPr>
        <p:spPr/>
        <p:txBody>
          <a:bodyPr/>
          <a:lstStyle>
            <a:lvl1pPr>
              <a:defRPr/>
            </a:lvl1pPr>
          </a:lstStyle>
          <a:p>
            <a:pPr>
              <a:defRPr/>
            </a:pPr>
            <a:fld id="{BEE3FE42-3F27-4C06-B42C-66B4C8D31882}" type="datetime1">
              <a:rPr lang="zh-CN" altLang="en-US"/>
              <a:pPr>
                <a:defRPr/>
              </a:pPr>
              <a:t>2023/3/7</a:t>
            </a:fld>
            <a:endParaRPr lang="zh-CN" altLang="en-US"/>
          </a:p>
        </p:txBody>
      </p:sp>
      <p:sp>
        <p:nvSpPr>
          <p:cNvPr id="6" name="页脚占位符 3">
            <a:extLst>
              <a:ext uri="{FF2B5EF4-FFF2-40B4-BE49-F238E27FC236}">
                <a16:creationId xmlns:a16="http://schemas.microsoft.com/office/drawing/2014/main" id="{5E3B7D63-1098-4AEA-B6E8-18029BDA9F6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A0293633-6F97-4A86-827A-A3D9BE5B37E3}"/>
              </a:ext>
            </a:extLst>
          </p:cNvPr>
          <p:cNvSpPr>
            <a:spLocks noGrp="1"/>
          </p:cNvSpPr>
          <p:nvPr>
            <p:ph type="sldNum" sz="quarter" idx="12"/>
          </p:nvPr>
        </p:nvSpPr>
        <p:spPr/>
        <p:txBody>
          <a:bodyPr/>
          <a:lstStyle>
            <a:lvl1pPr>
              <a:defRPr/>
            </a:lvl1pPr>
          </a:lstStyle>
          <a:p>
            <a:fld id="{FD8E64AC-62FF-460F-95F4-A290C32A82B4}" type="slidenum">
              <a:rPr lang="zh-CN" altLang="en-US"/>
              <a:pPr/>
              <a:t>‹#›</a:t>
            </a:fld>
            <a:endParaRPr lang="zh-CN" altLang="en-US"/>
          </a:p>
        </p:txBody>
      </p:sp>
    </p:spTree>
    <p:extLst>
      <p:ext uri="{BB962C8B-B14F-4D97-AF65-F5344CB8AC3E}">
        <p14:creationId xmlns:p14="http://schemas.microsoft.com/office/powerpoint/2010/main" val="4083888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91FDA71C-3ECF-4799-BD0F-AD9277F411D3}"/>
              </a:ext>
            </a:extLst>
          </p:cNvPr>
          <p:cNvSpPr>
            <a:spLocks noGrp="1"/>
          </p:cNvSpPr>
          <p:nvPr>
            <p:ph type="dt" sz="half" idx="10"/>
          </p:nvPr>
        </p:nvSpPr>
        <p:spPr/>
        <p:txBody>
          <a:bodyPr/>
          <a:lstStyle>
            <a:lvl1pPr>
              <a:defRPr/>
            </a:lvl1pPr>
          </a:lstStyle>
          <a:p>
            <a:pPr>
              <a:defRPr/>
            </a:pPr>
            <a:fld id="{DA7ACD8B-48F6-4547-A590-FDAB7644A3B8}" type="datetime1">
              <a:rPr lang="zh-CN" altLang="en-US"/>
              <a:pPr>
                <a:defRPr/>
              </a:pPr>
              <a:t>2023/3/7</a:t>
            </a:fld>
            <a:endParaRPr lang="zh-CN" altLang="en-US" dirty="0"/>
          </a:p>
        </p:txBody>
      </p:sp>
      <p:sp>
        <p:nvSpPr>
          <p:cNvPr id="3" name="页脚占位符 4">
            <a:extLst>
              <a:ext uri="{FF2B5EF4-FFF2-40B4-BE49-F238E27FC236}">
                <a16:creationId xmlns:a16="http://schemas.microsoft.com/office/drawing/2014/main" id="{6CE4681A-416C-4DA7-A899-C2CBA7E32B39}"/>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72581DEE-F4A5-4B2A-865D-4588FE1F04D6}"/>
              </a:ext>
            </a:extLst>
          </p:cNvPr>
          <p:cNvSpPr>
            <a:spLocks noGrp="1"/>
          </p:cNvSpPr>
          <p:nvPr>
            <p:ph type="sldNum" sz="quarter" idx="12"/>
          </p:nvPr>
        </p:nvSpPr>
        <p:spPr/>
        <p:txBody>
          <a:bodyPr/>
          <a:lstStyle>
            <a:lvl1pPr>
              <a:defRPr/>
            </a:lvl1pPr>
          </a:lstStyle>
          <a:p>
            <a:fld id="{D7FF7443-DCB5-4DDF-8BB6-611BA4318BF2}" type="slidenum">
              <a:rPr lang="zh-CN" altLang="en-US"/>
              <a:pPr/>
              <a:t>‹#›</a:t>
            </a:fld>
            <a:endParaRPr lang="zh-CN" altLang="en-US"/>
          </a:p>
        </p:txBody>
      </p:sp>
    </p:spTree>
    <p:extLst>
      <p:ext uri="{BB962C8B-B14F-4D97-AF65-F5344CB8AC3E}">
        <p14:creationId xmlns:p14="http://schemas.microsoft.com/office/powerpoint/2010/main" val="3144598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BB535AAD-C262-4916-BDC4-D280925136D6}"/>
              </a:ext>
            </a:extLst>
          </p:cNvPr>
          <p:cNvSpPr>
            <a:spLocks noGrp="1"/>
          </p:cNvSpPr>
          <p:nvPr>
            <p:ph type="dt" sz="half" idx="10"/>
          </p:nvPr>
        </p:nvSpPr>
        <p:spPr/>
        <p:txBody>
          <a:bodyPr/>
          <a:lstStyle>
            <a:lvl1pPr>
              <a:defRPr/>
            </a:lvl1pPr>
          </a:lstStyle>
          <a:p>
            <a:pPr>
              <a:defRPr/>
            </a:pPr>
            <a:fld id="{E6B04FCB-6219-4B04-B65F-0C69ECB050F6}" type="datetime1">
              <a:rPr lang="zh-CN" altLang="en-US"/>
              <a:pPr>
                <a:defRPr/>
              </a:pPr>
              <a:t>2023/3/7</a:t>
            </a:fld>
            <a:endParaRPr lang="zh-CN" altLang="en-US" dirty="0"/>
          </a:p>
        </p:txBody>
      </p:sp>
      <p:sp>
        <p:nvSpPr>
          <p:cNvPr id="6" name="页脚占位符 4">
            <a:extLst>
              <a:ext uri="{FF2B5EF4-FFF2-40B4-BE49-F238E27FC236}">
                <a16:creationId xmlns:a16="http://schemas.microsoft.com/office/drawing/2014/main" id="{A8584893-114C-4014-8D8F-3F68A53CD51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8284B63D-2353-481E-8BF8-1FA2A7913760}"/>
              </a:ext>
            </a:extLst>
          </p:cNvPr>
          <p:cNvSpPr>
            <a:spLocks noGrp="1"/>
          </p:cNvSpPr>
          <p:nvPr>
            <p:ph type="sldNum" sz="quarter" idx="12"/>
          </p:nvPr>
        </p:nvSpPr>
        <p:spPr/>
        <p:txBody>
          <a:bodyPr/>
          <a:lstStyle>
            <a:lvl1pPr>
              <a:defRPr/>
            </a:lvl1pPr>
          </a:lstStyle>
          <a:p>
            <a:fld id="{0031261F-3D7D-476E-A2EC-2F64500D50E5}" type="slidenum">
              <a:rPr lang="zh-CN" altLang="en-US"/>
              <a:pPr/>
              <a:t>‹#›</a:t>
            </a:fld>
            <a:endParaRPr lang="zh-CN" altLang="en-US"/>
          </a:p>
        </p:txBody>
      </p:sp>
    </p:spTree>
    <p:extLst>
      <p:ext uri="{BB962C8B-B14F-4D97-AF65-F5344CB8AC3E}">
        <p14:creationId xmlns:p14="http://schemas.microsoft.com/office/powerpoint/2010/main" val="3804233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B0D0956-ECAE-4881-B484-9419588F3CF1}"/>
              </a:ext>
            </a:extLst>
          </p:cNvPr>
          <p:cNvSpPr>
            <a:spLocks noGrp="1"/>
          </p:cNvSpPr>
          <p:nvPr>
            <p:ph type="dt" sz="half" idx="10"/>
          </p:nvPr>
        </p:nvSpPr>
        <p:spPr/>
        <p:txBody>
          <a:bodyPr/>
          <a:lstStyle>
            <a:lvl1pPr>
              <a:defRPr/>
            </a:lvl1pPr>
          </a:lstStyle>
          <a:p>
            <a:pPr>
              <a:defRPr/>
            </a:pPr>
            <a:fld id="{D95F7E45-E05B-4A4E-BC1C-872A79D6DB8A}" type="datetime1">
              <a:rPr lang="zh-CN" altLang="en-US"/>
              <a:pPr>
                <a:defRPr/>
              </a:pPr>
              <a:t>2023/3/7</a:t>
            </a:fld>
            <a:endParaRPr lang="zh-CN" altLang="en-US" dirty="0"/>
          </a:p>
        </p:txBody>
      </p:sp>
      <p:sp>
        <p:nvSpPr>
          <p:cNvPr id="6" name="页脚占位符 4">
            <a:extLst>
              <a:ext uri="{FF2B5EF4-FFF2-40B4-BE49-F238E27FC236}">
                <a16:creationId xmlns:a16="http://schemas.microsoft.com/office/drawing/2014/main" id="{3077A38A-AD81-45AF-8FB7-73CE0D22A0F1}"/>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6F69BF84-E6D1-404D-B158-2A6F0BBCB492}"/>
              </a:ext>
            </a:extLst>
          </p:cNvPr>
          <p:cNvSpPr>
            <a:spLocks noGrp="1"/>
          </p:cNvSpPr>
          <p:nvPr>
            <p:ph type="sldNum" sz="quarter" idx="12"/>
          </p:nvPr>
        </p:nvSpPr>
        <p:spPr/>
        <p:txBody>
          <a:bodyPr/>
          <a:lstStyle>
            <a:lvl1pPr>
              <a:defRPr/>
            </a:lvl1pPr>
          </a:lstStyle>
          <a:p>
            <a:fld id="{6925A845-59D9-47F2-A770-278106DA37C2}" type="slidenum">
              <a:rPr lang="zh-CN" altLang="en-US"/>
              <a:pPr/>
              <a:t>‹#›</a:t>
            </a:fld>
            <a:endParaRPr lang="zh-CN" altLang="en-US"/>
          </a:p>
        </p:txBody>
      </p:sp>
    </p:spTree>
    <p:extLst>
      <p:ext uri="{BB962C8B-B14F-4D97-AF65-F5344CB8AC3E}">
        <p14:creationId xmlns:p14="http://schemas.microsoft.com/office/powerpoint/2010/main" val="1960030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51D4F267-E961-4B63-BC53-2AAAD686B5BE}"/>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ECD98F2C-C31D-4158-BEB5-750A494A1B39}"/>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DEAD10AF-B0CF-49F0-BCF6-4B03D616F1E8}"/>
              </a:ext>
            </a:extLst>
          </p:cNvPr>
          <p:cNvSpPr>
            <a:spLocks noGrp="1"/>
          </p:cNvSpPr>
          <p:nvPr>
            <p:ph type="dt" sz="half" idx="10"/>
          </p:nvPr>
        </p:nvSpPr>
        <p:spPr/>
        <p:txBody>
          <a:bodyPr/>
          <a:lstStyle>
            <a:lvl1pPr>
              <a:defRPr/>
            </a:lvl1pPr>
          </a:lstStyle>
          <a:p>
            <a:pPr>
              <a:defRPr/>
            </a:pPr>
            <a:fld id="{4E489980-322B-4D50-86B2-6DD6CB5A1660}" type="datetime1">
              <a:rPr lang="zh-CN" altLang="en-US"/>
              <a:pPr>
                <a:defRPr/>
              </a:pPr>
              <a:t>2023/3/7</a:t>
            </a:fld>
            <a:endParaRPr lang="zh-CN" altLang="en-US"/>
          </a:p>
        </p:txBody>
      </p:sp>
      <p:sp>
        <p:nvSpPr>
          <p:cNvPr id="7" name="页脚占位符 4">
            <a:extLst>
              <a:ext uri="{FF2B5EF4-FFF2-40B4-BE49-F238E27FC236}">
                <a16:creationId xmlns:a16="http://schemas.microsoft.com/office/drawing/2014/main" id="{5A202CA2-771E-4A6B-B362-1606FBC9BE17}"/>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F776B3A6-8C50-4416-BD88-09D82EE90ED7}"/>
              </a:ext>
            </a:extLst>
          </p:cNvPr>
          <p:cNvSpPr>
            <a:spLocks noGrp="1"/>
          </p:cNvSpPr>
          <p:nvPr>
            <p:ph type="sldNum" sz="quarter" idx="12"/>
          </p:nvPr>
        </p:nvSpPr>
        <p:spPr/>
        <p:txBody>
          <a:bodyPr/>
          <a:lstStyle>
            <a:lvl1pPr>
              <a:defRPr/>
            </a:lvl1pPr>
          </a:lstStyle>
          <a:p>
            <a:fld id="{1ED1DABC-4EA4-47FE-BC4B-C6A5DBEF6616}" type="slidenum">
              <a:rPr lang="zh-CN" altLang="en-US"/>
              <a:pPr/>
              <a:t>‹#›</a:t>
            </a:fld>
            <a:endParaRPr lang="zh-CN" altLang="en-US"/>
          </a:p>
        </p:txBody>
      </p:sp>
    </p:spTree>
    <p:extLst>
      <p:ext uri="{BB962C8B-B14F-4D97-AF65-F5344CB8AC3E}">
        <p14:creationId xmlns:p14="http://schemas.microsoft.com/office/powerpoint/2010/main" val="1471253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B4177C8-CED3-4A3D-9B56-B14D9C644C98}"/>
              </a:ext>
            </a:extLst>
          </p:cNvPr>
          <p:cNvSpPr>
            <a:spLocks noGrp="1"/>
          </p:cNvSpPr>
          <p:nvPr>
            <p:ph type="dt" sz="half" idx="10"/>
          </p:nvPr>
        </p:nvSpPr>
        <p:spPr/>
        <p:txBody>
          <a:bodyPr/>
          <a:lstStyle>
            <a:lvl1pPr>
              <a:defRPr/>
            </a:lvl1pPr>
          </a:lstStyle>
          <a:p>
            <a:pPr>
              <a:defRPr/>
            </a:pPr>
            <a:fld id="{C4C28F5E-EFCC-4787-B3CC-7424856612E0}" type="datetime1">
              <a:rPr lang="zh-CN" altLang="en-US"/>
              <a:pPr>
                <a:defRPr/>
              </a:pPr>
              <a:t>2023/3/7</a:t>
            </a:fld>
            <a:endParaRPr lang="zh-CN" altLang="en-US" dirty="0"/>
          </a:p>
        </p:txBody>
      </p:sp>
      <p:sp>
        <p:nvSpPr>
          <p:cNvPr id="5" name="页脚占位符 4">
            <a:extLst>
              <a:ext uri="{FF2B5EF4-FFF2-40B4-BE49-F238E27FC236}">
                <a16:creationId xmlns:a16="http://schemas.microsoft.com/office/drawing/2014/main" id="{11869BE7-3E85-419B-AB04-7DB001C83549}"/>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2682156-687E-41C7-A95B-7C766941EA64}"/>
              </a:ext>
            </a:extLst>
          </p:cNvPr>
          <p:cNvSpPr>
            <a:spLocks noGrp="1"/>
          </p:cNvSpPr>
          <p:nvPr>
            <p:ph type="sldNum" sz="quarter" idx="12"/>
          </p:nvPr>
        </p:nvSpPr>
        <p:spPr/>
        <p:txBody>
          <a:bodyPr/>
          <a:lstStyle>
            <a:lvl1pPr>
              <a:defRPr/>
            </a:lvl1pPr>
          </a:lstStyle>
          <a:p>
            <a:fld id="{D8236BF1-E76A-42CF-889C-F80C73ECF99E}" type="slidenum">
              <a:rPr lang="zh-CN" altLang="en-US"/>
              <a:pPr/>
              <a:t>‹#›</a:t>
            </a:fld>
            <a:endParaRPr lang="zh-CN" altLang="en-US"/>
          </a:p>
        </p:txBody>
      </p:sp>
    </p:spTree>
    <p:extLst>
      <p:ext uri="{BB962C8B-B14F-4D97-AF65-F5344CB8AC3E}">
        <p14:creationId xmlns:p14="http://schemas.microsoft.com/office/powerpoint/2010/main" val="7927155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a:extLst>
              <a:ext uri="{FF2B5EF4-FFF2-40B4-BE49-F238E27FC236}">
                <a16:creationId xmlns:a16="http://schemas.microsoft.com/office/drawing/2014/main" id="{5FAED3E6-4E44-4218-81A1-C86F6C903F9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a:extLst>
              <a:ext uri="{FF2B5EF4-FFF2-40B4-BE49-F238E27FC236}">
                <a16:creationId xmlns:a16="http://schemas.microsoft.com/office/drawing/2014/main" id="{CA2BE3AB-B271-4DC0-A7A5-72137EB4851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itchFamily="34" charset="0"/>
                <a:ea typeface="黑体" pitchFamily="49"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itchFamily="34" charset="0"/>
                <a:ea typeface="黑体"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6" name="日期占位符 3">
            <a:extLst>
              <a:ext uri="{FF2B5EF4-FFF2-40B4-BE49-F238E27FC236}">
                <a16:creationId xmlns:a16="http://schemas.microsoft.com/office/drawing/2014/main" id="{191DF50C-7D58-4B15-8DC5-C720A325E98C}"/>
              </a:ext>
            </a:extLst>
          </p:cNvPr>
          <p:cNvSpPr>
            <a:spLocks noGrp="1"/>
          </p:cNvSpPr>
          <p:nvPr>
            <p:ph type="dt" sz="half" idx="10"/>
          </p:nvPr>
        </p:nvSpPr>
        <p:spPr/>
        <p:txBody>
          <a:bodyPr/>
          <a:lstStyle>
            <a:lvl1pPr>
              <a:defRPr/>
            </a:lvl1pPr>
          </a:lstStyle>
          <a:p>
            <a:pPr>
              <a:defRPr/>
            </a:pPr>
            <a:fld id="{37CAD915-7AB0-4B6E-8758-B5B01F5FB5F0}" type="datetime1">
              <a:rPr lang="zh-CN" altLang="en-US"/>
              <a:pPr>
                <a:defRPr/>
              </a:pPr>
              <a:t>2023/3/7</a:t>
            </a:fld>
            <a:endParaRPr lang="zh-CN" altLang="en-US"/>
          </a:p>
        </p:txBody>
      </p:sp>
      <p:sp>
        <p:nvSpPr>
          <p:cNvPr id="7" name="页脚占位符 4">
            <a:extLst>
              <a:ext uri="{FF2B5EF4-FFF2-40B4-BE49-F238E27FC236}">
                <a16:creationId xmlns:a16="http://schemas.microsoft.com/office/drawing/2014/main" id="{A30741F3-B30D-45F0-8FB3-5CA977930803}"/>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641510CF-2FAF-409D-8E89-E9F36625585E}"/>
              </a:ext>
            </a:extLst>
          </p:cNvPr>
          <p:cNvSpPr>
            <a:spLocks noGrp="1"/>
          </p:cNvSpPr>
          <p:nvPr>
            <p:ph type="sldNum" sz="quarter" idx="12"/>
          </p:nvPr>
        </p:nvSpPr>
        <p:spPr/>
        <p:txBody>
          <a:bodyPr/>
          <a:lstStyle>
            <a:lvl1pPr>
              <a:defRPr/>
            </a:lvl1pPr>
          </a:lstStyle>
          <a:p>
            <a:fld id="{A2C3E531-B42E-4DB3-82B0-CA04C988017A}" type="slidenum">
              <a:rPr lang="zh-CN" altLang="en-US"/>
              <a:pPr/>
              <a:t>‹#›</a:t>
            </a:fld>
            <a:endParaRPr lang="zh-CN" altLang="en-US"/>
          </a:p>
        </p:txBody>
      </p:sp>
    </p:spTree>
    <p:extLst>
      <p:ext uri="{BB962C8B-B14F-4D97-AF65-F5344CB8AC3E}">
        <p14:creationId xmlns:p14="http://schemas.microsoft.com/office/powerpoint/2010/main" val="553281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F9FF5A28-B5D4-4227-A821-0A881C7EF9B7}"/>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7011EE91-52D1-46C9-9639-EDF86784F96F}"/>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1" i="0" baseline="0">
                <a:latin typeface="Times New Roman" pitchFamily="18" charset="0"/>
                <a:ea typeface="华文楷体" pitchFamily="2" charset="-122"/>
              </a:defRPr>
            </a:lvl1pPr>
            <a:lvl2pPr>
              <a:defRPr b="1" i="0" baseline="0">
                <a:latin typeface="Times New Roman" pitchFamily="18" charset="0"/>
                <a:ea typeface="华文楷体" pitchFamily="2" charset="-122"/>
              </a:defRPr>
            </a:lvl2pPr>
            <a:lvl3pPr>
              <a:defRPr b="1" i="0" baseline="0">
                <a:latin typeface="Times New Roman" pitchFamily="18" charset="0"/>
                <a:ea typeface="华文楷体" pitchFamily="2" charset="-122"/>
              </a:defRPr>
            </a:lvl3pPr>
            <a:lvl4pPr>
              <a:defRPr b="1" i="0" baseline="0">
                <a:latin typeface="Times New Roman" pitchFamily="18" charset="0"/>
                <a:ea typeface="华文楷体" pitchFamily="2" charset="-122"/>
              </a:defRPr>
            </a:lvl4pPr>
            <a:lvl5pPr>
              <a:defRPr b="1" i="0" baseline="0">
                <a:latin typeface="Times New Roman" pitchFamily="18" charset="0"/>
                <a:ea typeface="华文楷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3">
            <a:extLst>
              <a:ext uri="{FF2B5EF4-FFF2-40B4-BE49-F238E27FC236}">
                <a16:creationId xmlns:a16="http://schemas.microsoft.com/office/drawing/2014/main" id="{6855E6C2-F11B-4391-B42B-B395A9C9B6BB}"/>
              </a:ext>
            </a:extLst>
          </p:cNvPr>
          <p:cNvSpPr>
            <a:spLocks noGrp="1"/>
          </p:cNvSpPr>
          <p:nvPr>
            <p:ph type="dt" sz="half" idx="10"/>
          </p:nvPr>
        </p:nvSpPr>
        <p:spPr/>
        <p:txBody>
          <a:bodyPr/>
          <a:lstStyle>
            <a:lvl1pPr>
              <a:defRPr/>
            </a:lvl1pPr>
          </a:lstStyle>
          <a:p>
            <a:pPr>
              <a:defRPr/>
            </a:pPr>
            <a:fld id="{B22A80F5-84E8-4200-88A3-D5C8902D1BB7}" type="datetime1">
              <a:rPr lang="zh-CN" altLang="en-US"/>
              <a:pPr>
                <a:defRPr/>
              </a:pPr>
              <a:t>2023/3/7</a:t>
            </a:fld>
            <a:endParaRPr lang="zh-CN" altLang="en-US"/>
          </a:p>
        </p:txBody>
      </p:sp>
      <p:sp>
        <p:nvSpPr>
          <p:cNvPr id="7" name="页脚占位符 4">
            <a:extLst>
              <a:ext uri="{FF2B5EF4-FFF2-40B4-BE49-F238E27FC236}">
                <a16:creationId xmlns:a16="http://schemas.microsoft.com/office/drawing/2014/main" id="{D11F6D97-2F97-41A1-BA1F-DC3B8DBF5936}"/>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98800382-E157-40B4-B7B3-D91BF5825D90}"/>
              </a:ext>
            </a:extLst>
          </p:cNvPr>
          <p:cNvSpPr>
            <a:spLocks noGrp="1"/>
          </p:cNvSpPr>
          <p:nvPr>
            <p:ph type="sldNum" sz="quarter" idx="12"/>
          </p:nvPr>
        </p:nvSpPr>
        <p:spPr/>
        <p:txBody>
          <a:bodyPr/>
          <a:lstStyle>
            <a:lvl1pPr>
              <a:defRPr/>
            </a:lvl1pPr>
          </a:lstStyle>
          <a:p>
            <a:fld id="{0E8FA468-2100-4503-986A-FF3D24DA23D6}" type="slidenum">
              <a:rPr lang="zh-CN" altLang="en-US"/>
              <a:pPr/>
              <a:t>‹#›</a:t>
            </a:fld>
            <a:endParaRPr lang="zh-CN" altLang="en-US"/>
          </a:p>
        </p:txBody>
      </p:sp>
    </p:spTree>
    <p:extLst>
      <p:ext uri="{BB962C8B-B14F-4D97-AF65-F5344CB8AC3E}">
        <p14:creationId xmlns:p14="http://schemas.microsoft.com/office/powerpoint/2010/main" val="19891791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CA780EA-1EB8-44DA-987B-E7BF1EA41CAE}"/>
              </a:ext>
            </a:extLst>
          </p:cNvPr>
          <p:cNvSpPr>
            <a:spLocks noGrp="1"/>
          </p:cNvSpPr>
          <p:nvPr>
            <p:ph type="dt" sz="half" idx="10"/>
          </p:nvPr>
        </p:nvSpPr>
        <p:spPr/>
        <p:txBody>
          <a:bodyPr/>
          <a:lstStyle>
            <a:lvl1pPr>
              <a:defRPr/>
            </a:lvl1pPr>
          </a:lstStyle>
          <a:p>
            <a:pPr>
              <a:defRPr/>
            </a:pPr>
            <a:fld id="{13D6469D-5A27-4088-A82F-B8AD360D9D0D}" type="datetime1">
              <a:rPr lang="zh-CN" altLang="en-US"/>
              <a:pPr>
                <a:defRPr/>
              </a:pPr>
              <a:t>2023/3/7</a:t>
            </a:fld>
            <a:endParaRPr lang="zh-CN" altLang="en-US" dirty="0"/>
          </a:p>
        </p:txBody>
      </p:sp>
      <p:sp>
        <p:nvSpPr>
          <p:cNvPr id="5" name="页脚占位符 4">
            <a:extLst>
              <a:ext uri="{FF2B5EF4-FFF2-40B4-BE49-F238E27FC236}">
                <a16:creationId xmlns:a16="http://schemas.microsoft.com/office/drawing/2014/main" id="{6547C13F-48B2-47EC-80BF-3F430445B622}"/>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34EC225-E135-43F8-A5EA-02647C95D010}"/>
              </a:ext>
            </a:extLst>
          </p:cNvPr>
          <p:cNvSpPr>
            <a:spLocks noGrp="1"/>
          </p:cNvSpPr>
          <p:nvPr>
            <p:ph type="sldNum" sz="quarter" idx="12"/>
          </p:nvPr>
        </p:nvSpPr>
        <p:spPr/>
        <p:txBody>
          <a:bodyPr/>
          <a:lstStyle>
            <a:lvl1pPr>
              <a:defRPr/>
            </a:lvl1pPr>
          </a:lstStyle>
          <a:p>
            <a:fld id="{751693E9-0C7D-46D5-8CF9-E808E8C57DBD}" type="slidenum">
              <a:rPr lang="zh-CN" altLang="en-US"/>
              <a:pPr/>
              <a:t>‹#›</a:t>
            </a:fld>
            <a:endParaRPr lang="zh-CN" altLang="en-US"/>
          </a:p>
        </p:txBody>
      </p:sp>
    </p:spTree>
    <p:extLst>
      <p:ext uri="{BB962C8B-B14F-4D97-AF65-F5344CB8AC3E}">
        <p14:creationId xmlns:p14="http://schemas.microsoft.com/office/powerpoint/2010/main" val="2098936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a:extLst>
              <a:ext uri="{FF2B5EF4-FFF2-40B4-BE49-F238E27FC236}">
                <a16:creationId xmlns:a16="http://schemas.microsoft.com/office/drawing/2014/main" id="{623EC122-4A0F-49BB-BB00-97F69650479D}"/>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a:extLst>
              <a:ext uri="{FF2B5EF4-FFF2-40B4-BE49-F238E27FC236}">
                <a16:creationId xmlns:a16="http://schemas.microsoft.com/office/drawing/2014/main" id="{A3670E92-C61E-47DF-9F08-9FCDFAC33422}"/>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4">
            <a:extLst>
              <a:ext uri="{FF2B5EF4-FFF2-40B4-BE49-F238E27FC236}">
                <a16:creationId xmlns:a16="http://schemas.microsoft.com/office/drawing/2014/main" id="{AABAB6F0-CA85-4BBC-9101-884126CDE62C}"/>
              </a:ext>
            </a:extLst>
          </p:cNvPr>
          <p:cNvSpPr>
            <a:spLocks noGrp="1"/>
          </p:cNvSpPr>
          <p:nvPr>
            <p:ph type="dt" sz="half" idx="10"/>
          </p:nvPr>
        </p:nvSpPr>
        <p:spPr/>
        <p:txBody>
          <a:bodyPr/>
          <a:lstStyle>
            <a:lvl1pPr>
              <a:defRPr/>
            </a:lvl1pPr>
          </a:lstStyle>
          <a:p>
            <a:pPr>
              <a:defRPr/>
            </a:pPr>
            <a:fld id="{8FFF2CC2-5A36-4578-A791-FB20173265D5}" type="datetime1">
              <a:rPr lang="zh-CN" altLang="en-US"/>
              <a:pPr>
                <a:defRPr/>
              </a:pPr>
              <a:t>2023/3/7</a:t>
            </a:fld>
            <a:endParaRPr lang="zh-CN" altLang="en-US"/>
          </a:p>
        </p:txBody>
      </p:sp>
      <p:sp>
        <p:nvSpPr>
          <p:cNvPr id="8" name="页脚占位符 5">
            <a:extLst>
              <a:ext uri="{FF2B5EF4-FFF2-40B4-BE49-F238E27FC236}">
                <a16:creationId xmlns:a16="http://schemas.microsoft.com/office/drawing/2014/main" id="{9C66103E-D84F-40D8-8A0F-0BFFD1DC669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CF2D3020-1AA9-4AEB-AEE0-3AD9E9E9769D}"/>
              </a:ext>
            </a:extLst>
          </p:cNvPr>
          <p:cNvSpPr>
            <a:spLocks noGrp="1"/>
          </p:cNvSpPr>
          <p:nvPr>
            <p:ph type="sldNum" sz="quarter" idx="12"/>
          </p:nvPr>
        </p:nvSpPr>
        <p:spPr/>
        <p:txBody>
          <a:bodyPr/>
          <a:lstStyle>
            <a:lvl1pPr>
              <a:defRPr/>
            </a:lvl1pPr>
          </a:lstStyle>
          <a:p>
            <a:fld id="{BAAED9F8-06FD-4A48-97A4-8DED5B30F806}" type="slidenum">
              <a:rPr lang="zh-CN" altLang="en-US"/>
              <a:pPr/>
              <a:t>‹#›</a:t>
            </a:fld>
            <a:endParaRPr lang="zh-CN" altLang="en-US"/>
          </a:p>
        </p:txBody>
      </p:sp>
    </p:spTree>
    <p:extLst>
      <p:ext uri="{BB962C8B-B14F-4D97-AF65-F5344CB8AC3E}">
        <p14:creationId xmlns:p14="http://schemas.microsoft.com/office/powerpoint/2010/main" val="4916303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a:extLst>
              <a:ext uri="{FF2B5EF4-FFF2-40B4-BE49-F238E27FC236}">
                <a16:creationId xmlns:a16="http://schemas.microsoft.com/office/drawing/2014/main" id="{28E19265-0F70-4664-BF69-1B9CB47FD465}"/>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a:extLst>
              <a:ext uri="{FF2B5EF4-FFF2-40B4-BE49-F238E27FC236}">
                <a16:creationId xmlns:a16="http://schemas.microsoft.com/office/drawing/2014/main" id="{9ADF3843-10D2-48FE-A769-71F253FF89B9}"/>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6">
            <a:extLst>
              <a:ext uri="{FF2B5EF4-FFF2-40B4-BE49-F238E27FC236}">
                <a16:creationId xmlns:a16="http://schemas.microsoft.com/office/drawing/2014/main" id="{50431805-3C18-436C-A3F6-9C5980A44F52}"/>
              </a:ext>
            </a:extLst>
          </p:cNvPr>
          <p:cNvSpPr>
            <a:spLocks noGrp="1"/>
          </p:cNvSpPr>
          <p:nvPr>
            <p:ph type="dt" sz="half" idx="10"/>
          </p:nvPr>
        </p:nvSpPr>
        <p:spPr/>
        <p:txBody>
          <a:bodyPr/>
          <a:lstStyle>
            <a:lvl1pPr>
              <a:defRPr/>
            </a:lvl1pPr>
          </a:lstStyle>
          <a:p>
            <a:pPr>
              <a:defRPr/>
            </a:pPr>
            <a:fld id="{EC81B0D2-853B-4DC1-AA85-D6812211A4A6}" type="datetime1">
              <a:rPr lang="zh-CN" altLang="en-US"/>
              <a:pPr>
                <a:defRPr/>
              </a:pPr>
              <a:t>2023/3/7</a:t>
            </a:fld>
            <a:endParaRPr lang="zh-CN" altLang="en-US"/>
          </a:p>
        </p:txBody>
      </p:sp>
      <p:sp>
        <p:nvSpPr>
          <p:cNvPr id="10" name="页脚占位符 7">
            <a:extLst>
              <a:ext uri="{FF2B5EF4-FFF2-40B4-BE49-F238E27FC236}">
                <a16:creationId xmlns:a16="http://schemas.microsoft.com/office/drawing/2014/main" id="{B047E83F-57D5-41F7-9C0F-658FEBFAE8C9}"/>
              </a:ext>
            </a:extLst>
          </p:cNvPr>
          <p:cNvSpPr>
            <a:spLocks noGrp="1"/>
          </p:cNvSpPr>
          <p:nvPr>
            <p:ph type="ftr" sz="quarter" idx="11"/>
          </p:nvPr>
        </p:nvSpPr>
        <p:spPr/>
        <p:txBody>
          <a:bodyPr/>
          <a:lstStyle>
            <a:lvl1pPr>
              <a:defRPr/>
            </a:lvl1pPr>
          </a:lstStyle>
          <a:p>
            <a:pPr>
              <a:defRPr/>
            </a:pPr>
            <a:endParaRPr lang="zh-CN" altLang="en-US"/>
          </a:p>
        </p:txBody>
      </p:sp>
      <p:sp>
        <p:nvSpPr>
          <p:cNvPr id="11" name="灯片编号占位符 8">
            <a:extLst>
              <a:ext uri="{FF2B5EF4-FFF2-40B4-BE49-F238E27FC236}">
                <a16:creationId xmlns:a16="http://schemas.microsoft.com/office/drawing/2014/main" id="{41C1635C-8EDD-42FF-BB93-EC0683FDB7E2}"/>
              </a:ext>
            </a:extLst>
          </p:cNvPr>
          <p:cNvSpPr>
            <a:spLocks noGrp="1"/>
          </p:cNvSpPr>
          <p:nvPr>
            <p:ph type="sldNum" sz="quarter" idx="12"/>
          </p:nvPr>
        </p:nvSpPr>
        <p:spPr/>
        <p:txBody>
          <a:bodyPr/>
          <a:lstStyle>
            <a:lvl1pPr>
              <a:defRPr/>
            </a:lvl1pPr>
          </a:lstStyle>
          <a:p>
            <a:fld id="{345476F3-86D1-4F6B-91A9-98113753FAD9}" type="slidenum">
              <a:rPr lang="zh-CN" altLang="en-US"/>
              <a:pPr/>
              <a:t>‹#›</a:t>
            </a:fld>
            <a:endParaRPr lang="zh-CN" altLang="en-US"/>
          </a:p>
        </p:txBody>
      </p:sp>
    </p:spTree>
    <p:extLst>
      <p:ext uri="{BB962C8B-B14F-4D97-AF65-F5344CB8AC3E}">
        <p14:creationId xmlns:p14="http://schemas.microsoft.com/office/powerpoint/2010/main" val="10919517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a:extLst>
              <a:ext uri="{FF2B5EF4-FFF2-40B4-BE49-F238E27FC236}">
                <a16:creationId xmlns:a16="http://schemas.microsoft.com/office/drawing/2014/main" id="{51E1261C-07E0-44A8-B110-1ABE247B5685}"/>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a:extLst>
              <a:ext uri="{FF2B5EF4-FFF2-40B4-BE49-F238E27FC236}">
                <a16:creationId xmlns:a16="http://schemas.microsoft.com/office/drawing/2014/main" id="{73011D34-5DAF-4235-AC8A-F2FB41F3790C}"/>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5" name="日期占位符 2">
            <a:extLst>
              <a:ext uri="{FF2B5EF4-FFF2-40B4-BE49-F238E27FC236}">
                <a16:creationId xmlns:a16="http://schemas.microsoft.com/office/drawing/2014/main" id="{0841912B-AD05-4850-98BE-A9F9C10DB4CD}"/>
              </a:ext>
            </a:extLst>
          </p:cNvPr>
          <p:cNvSpPr>
            <a:spLocks noGrp="1"/>
          </p:cNvSpPr>
          <p:nvPr>
            <p:ph type="dt" sz="half" idx="10"/>
          </p:nvPr>
        </p:nvSpPr>
        <p:spPr/>
        <p:txBody>
          <a:bodyPr/>
          <a:lstStyle>
            <a:lvl1pPr>
              <a:defRPr/>
            </a:lvl1pPr>
          </a:lstStyle>
          <a:p>
            <a:pPr>
              <a:defRPr/>
            </a:pPr>
            <a:fld id="{A88E3698-0349-4F96-8F91-6EEA4B538C90}" type="datetime1">
              <a:rPr lang="zh-CN" altLang="en-US"/>
              <a:pPr>
                <a:defRPr/>
              </a:pPr>
              <a:t>2023/3/7</a:t>
            </a:fld>
            <a:endParaRPr lang="zh-CN" altLang="en-US"/>
          </a:p>
        </p:txBody>
      </p:sp>
      <p:sp>
        <p:nvSpPr>
          <p:cNvPr id="6" name="页脚占位符 3">
            <a:extLst>
              <a:ext uri="{FF2B5EF4-FFF2-40B4-BE49-F238E27FC236}">
                <a16:creationId xmlns:a16="http://schemas.microsoft.com/office/drawing/2014/main" id="{ED3E303D-0D41-4DF3-81A1-4DA1350CCBFE}"/>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27CACAF1-711E-4734-83C4-5AA36FF77900}"/>
              </a:ext>
            </a:extLst>
          </p:cNvPr>
          <p:cNvSpPr>
            <a:spLocks noGrp="1"/>
          </p:cNvSpPr>
          <p:nvPr>
            <p:ph type="sldNum" sz="quarter" idx="12"/>
          </p:nvPr>
        </p:nvSpPr>
        <p:spPr/>
        <p:txBody>
          <a:bodyPr/>
          <a:lstStyle>
            <a:lvl1pPr>
              <a:defRPr/>
            </a:lvl1pPr>
          </a:lstStyle>
          <a:p>
            <a:fld id="{6293CDE8-D4A4-4662-B9C9-A117174E8C90}" type="slidenum">
              <a:rPr lang="zh-CN" altLang="en-US"/>
              <a:pPr/>
              <a:t>‹#›</a:t>
            </a:fld>
            <a:endParaRPr lang="zh-CN" altLang="en-US"/>
          </a:p>
        </p:txBody>
      </p:sp>
    </p:spTree>
    <p:extLst>
      <p:ext uri="{BB962C8B-B14F-4D97-AF65-F5344CB8AC3E}">
        <p14:creationId xmlns:p14="http://schemas.microsoft.com/office/powerpoint/2010/main" val="6389001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1F814D2F-F097-4BCD-9CC9-CA0078721863}"/>
              </a:ext>
            </a:extLst>
          </p:cNvPr>
          <p:cNvSpPr>
            <a:spLocks noGrp="1"/>
          </p:cNvSpPr>
          <p:nvPr>
            <p:ph type="dt" sz="half" idx="10"/>
          </p:nvPr>
        </p:nvSpPr>
        <p:spPr/>
        <p:txBody>
          <a:bodyPr/>
          <a:lstStyle>
            <a:lvl1pPr>
              <a:defRPr/>
            </a:lvl1pPr>
          </a:lstStyle>
          <a:p>
            <a:pPr>
              <a:defRPr/>
            </a:pPr>
            <a:fld id="{E3ECA6C1-5402-455C-95D7-36F64386B294}" type="datetime1">
              <a:rPr lang="zh-CN" altLang="en-US"/>
              <a:pPr>
                <a:defRPr/>
              </a:pPr>
              <a:t>2023/3/7</a:t>
            </a:fld>
            <a:endParaRPr lang="zh-CN" altLang="en-US" dirty="0"/>
          </a:p>
        </p:txBody>
      </p:sp>
      <p:sp>
        <p:nvSpPr>
          <p:cNvPr id="3" name="页脚占位符 4">
            <a:extLst>
              <a:ext uri="{FF2B5EF4-FFF2-40B4-BE49-F238E27FC236}">
                <a16:creationId xmlns:a16="http://schemas.microsoft.com/office/drawing/2014/main" id="{2453D3A8-D4CB-4200-BC1B-A9DD7763D731}"/>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A879E8D7-3FF0-4D68-8711-A722C6E9AA64}"/>
              </a:ext>
            </a:extLst>
          </p:cNvPr>
          <p:cNvSpPr>
            <a:spLocks noGrp="1"/>
          </p:cNvSpPr>
          <p:nvPr>
            <p:ph type="sldNum" sz="quarter" idx="12"/>
          </p:nvPr>
        </p:nvSpPr>
        <p:spPr/>
        <p:txBody>
          <a:bodyPr/>
          <a:lstStyle>
            <a:lvl1pPr>
              <a:defRPr/>
            </a:lvl1pPr>
          </a:lstStyle>
          <a:p>
            <a:fld id="{2641A6CA-F6CA-40CF-827F-0DE4578C6B5D}" type="slidenum">
              <a:rPr lang="zh-CN" altLang="en-US"/>
              <a:pPr/>
              <a:t>‹#›</a:t>
            </a:fld>
            <a:endParaRPr lang="zh-CN" altLang="en-US"/>
          </a:p>
        </p:txBody>
      </p:sp>
    </p:spTree>
    <p:extLst>
      <p:ext uri="{BB962C8B-B14F-4D97-AF65-F5344CB8AC3E}">
        <p14:creationId xmlns:p14="http://schemas.microsoft.com/office/powerpoint/2010/main" val="24237760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DA6DE550-D2BB-45CD-9A13-425BB1A9DDEF}"/>
              </a:ext>
            </a:extLst>
          </p:cNvPr>
          <p:cNvSpPr>
            <a:spLocks noGrp="1"/>
          </p:cNvSpPr>
          <p:nvPr>
            <p:ph type="dt" sz="half" idx="10"/>
          </p:nvPr>
        </p:nvSpPr>
        <p:spPr/>
        <p:txBody>
          <a:bodyPr/>
          <a:lstStyle>
            <a:lvl1pPr>
              <a:defRPr/>
            </a:lvl1pPr>
          </a:lstStyle>
          <a:p>
            <a:pPr>
              <a:defRPr/>
            </a:pPr>
            <a:fld id="{22A65DDD-88F8-452E-B3B9-FB63CA2F679A}" type="datetime1">
              <a:rPr lang="zh-CN" altLang="en-US"/>
              <a:pPr>
                <a:defRPr/>
              </a:pPr>
              <a:t>2023/3/7</a:t>
            </a:fld>
            <a:endParaRPr lang="zh-CN" altLang="en-US" dirty="0"/>
          </a:p>
        </p:txBody>
      </p:sp>
      <p:sp>
        <p:nvSpPr>
          <p:cNvPr id="6" name="页脚占位符 4">
            <a:extLst>
              <a:ext uri="{FF2B5EF4-FFF2-40B4-BE49-F238E27FC236}">
                <a16:creationId xmlns:a16="http://schemas.microsoft.com/office/drawing/2014/main" id="{D3FD4E68-A6B1-495D-BCC0-7BFE0378D8B8}"/>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D5DB3D4-229C-41B1-9537-80479B9E7B69}"/>
              </a:ext>
            </a:extLst>
          </p:cNvPr>
          <p:cNvSpPr>
            <a:spLocks noGrp="1"/>
          </p:cNvSpPr>
          <p:nvPr>
            <p:ph type="sldNum" sz="quarter" idx="12"/>
          </p:nvPr>
        </p:nvSpPr>
        <p:spPr/>
        <p:txBody>
          <a:bodyPr/>
          <a:lstStyle>
            <a:lvl1pPr>
              <a:defRPr/>
            </a:lvl1pPr>
          </a:lstStyle>
          <a:p>
            <a:fld id="{3B656565-B61C-4449-98B5-917F4ED69C18}" type="slidenum">
              <a:rPr lang="zh-CN" altLang="en-US"/>
              <a:pPr/>
              <a:t>‹#›</a:t>
            </a:fld>
            <a:endParaRPr lang="zh-CN" altLang="en-US"/>
          </a:p>
        </p:txBody>
      </p:sp>
    </p:spTree>
    <p:extLst>
      <p:ext uri="{BB962C8B-B14F-4D97-AF65-F5344CB8AC3E}">
        <p14:creationId xmlns:p14="http://schemas.microsoft.com/office/powerpoint/2010/main" val="224902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7B247C8E-0BA0-41ED-B328-CD31EA1E5167}"/>
              </a:ext>
            </a:extLst>
          </p:cNvPr>
          <p:cNvSpPr>
            <a:spLocks noGrp="1"/>
          </p:cNvSpPr>
          <p:nvPr>
            <p:ph type="dt" sz="half" idx="10"/>
          </p:nvPr>
        </p:nvSpPr>
        <p:spPr/>
        <p:txBody>
          <a:bodyPr/>
          <a:lstStyle>
            <a:lvl1pPr>
              <a:defRPr/>
            </a:lvl1pPr>
          </a:lstStyle>
          <a:p>
            <a:pPr>
              <a:defRPr/>
            </a:pPr>
            <a:fld id="{A40C9437-1A23-4464-BC29-DBD7EFD1203B}" type="datetime1">
              <a:rPr lang="zh-CN" altLang="en-US"/>
              <a:pPr>
                <a:defRPr/>
              </a:pPr>
              <a:t>2023/3/7</a:t>
            </a:fld>
            <a:endParaRPr lang="zh-CN" altLang="en-US" dirty="0"/>
          </a:p>
        </p:txBody>
      </p:sp>
      <p:sp>
        <p:nvSpPr>
          <p:cNvPr id="6" name="页脚占位符 4">
            <a:extLst>
              <a:ext uri="{FF2B5EF4-FFF2-40B4-BE49-F238E27FC236}">
                <a16:creationId xmlns:a16="http://schemas.microsoft.com/office/drawing/2014/main" id="{E8450691-8E63-47A9-9074-9B553D131833}"/>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5EDA195-B10A-45A8-B9CE-AE4CF35840A5}"/>
              </a:ext>
            </a:extLst>
          </p:cNvPr>
          <p:cNvSpPr>
            <a:spLocks noGrp="1"/>
          </p:cNvSpPr>
          <p:nvPr>
            <p:ph type="sldNum" sz="quarter" idx="12"/>
          </p:nvPr>
        </p:nvSpPr>
        <p:spPr/>
        <p:txBody>
          <a:bodyPr/>
          <a:lstStyle>
            <a:lvl1pPr>
              <a:defRPr/>
            </a:lvl1pPr>
          </a:lstStyle>
          <a:p>
            <a:fld id="{D1FBC71E-7277-4C86-BBCC-8E13ECFD8188}" type="slidenum">
              <a:rPr lang="zh-CN" altLang="en-US"/>
              <a:pPr/>
              <a:t>‹#›</a:t>
            </a:fld>
            <a:endParaRPr lang="zh-CN" altLang="en-US"/>
          </a:p>
        </p:txBody>
      </p:sp>
    </p:spTree>
    <p:extLst>
      <p:ext uri="{BB962C8B-B14F-4D97-AF65-F5344CB8AC3E}">
        <p14:creationId xmlns:p14="http://schemas.microsoft.com/office/powerpoint/2010/main" val="42934298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77551E6E-05A2-475E-96E8-ACF62C46C629}"/>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A6B80150-3FB6-4570-844A-ED513666E7C7}"/>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21874D4B-C032-4F03-A917-93136B57A79E}"/>
              </a:ext>
            </a:extLst>
          </p:cNvPr>
          <p:cNvSpPr>
            <a:spLocks noGrp="1"/>
          </p:cNvSpPr>
          <p:nvPr>
            <p:ph type="dt" sz="half" idx="10"/>
          </p:nvPr>
        </p:nvSpPr>
        <p:spPr/>
        <p:txBody>
          <a:bodyPr/>
          <a:lstStyle>
            <a:lvl1pPr>
              <a:defRPr/>
            </a:lvl1pPr>
          </a:lstStyle>
          <a:p>
            <a:pPr>
              <a:defRPr/>
            </a:pPr>
            <a:fld id="{9EF24922-88B4-446E-B374-D376E0AB259C}" type="datetime1">
              <a:rPr lang="zh-CN" altLang="en-US"/>
              <a:pPr>
                <a:defRPr/>
              </a:pPr>
              <a:t>2023/3/7</a:t>
            </a:fld>
            <a:endParaRPr lang="zh-CN" altLang="en-US"/>
          </a:p>
        </p:txBody>
      </p:sp>
      <p:sp>
        <p:nvSpPr>
          <p:cNvPr id="7" name="页脚占位符 4">
            <a:extLst>
              <a:ext uri="{FF2B5EF4-FFF2-40B4-BE49-F238E27FC236}">
                <a16:creationId xmlns:a16="http://schemas.microsoft.com/office/drawing/2014/main" id="{46D04242-17DD-4CD8-A0A5-ED20281A35D9}"/>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97B8846B-389B-488D-86B0-08FA15B4A52C}"/>
              </a:ext>
            </a:extLst>
          </p:cNvPr>
          <p:cNvSpPr>
            <a:spLocks noGrp="1"/>
          </p:cNvSpPr>
          <p:nvPr>
            <p:ph type="sldNum" sz="quarter" idx="12"/>
          </p:nvPr>
        </p:nvSpPr>
        <p:spPr/>
        <p:txBody>
          <a:bodyPr/>
          <a:lstStyle>
            <a:lvl1pPr>
              <a:defRPr/>
            </a:lvl1pPr>
          </a:lstStyle>
          <a:p>
            <a:fld id="{C189EF7E-0A9A-4D82-B956-FE3BAABCAC9E}" type="slidenum">
              <a:rPr lang="zh-CN" altLang="en-US"/>
              <a:pPr/>
              <a:t>‹#›</a:t>
            </a:fld>
            <a:endParaRPr lang="zh-CN" altLang="en-US"/>
          </a:p>
        </p:txBody>
      </p:sp>
    </p:spTree>
    <p:extLst>
      <p:ext uri="{BB962C8B-B14F-4D97-AF65-F5344CB8AC3E}">
        <p14:creationId xmlns:p14="http://schemas.microsoft.com/office/powerpoint/2010/main" val="26391838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FAB381A-17E1-44B9-B9BB-2DB2CA50C682}"/>
              </a:ext>
            </a:extLst>
          </p:cNvPr>
          <p:cNvSpPr>
            <a:spLocks noGrp="1"/>
          </p:cNvSpPr>
          <p:nvPr>
            <p:ph type="dt" sz="half" idx="10"/>
          </p:nvPr>
        </p:nvSpPr>
        <p:spPr/>
        <p:txBody>
          <a:bodyPr/>
          <a:lstStyle>
            <a:lvl1pPr>
              <a:defRPr/>
            </a:lvl1pPr>
          </a:lstStyle>
          <a:p>
            <a:pPr>
              <a:defRPr/>
            </a:pPr>
            <a:fld id="{AFB8A61C-9A27-4AA1-8E57-C7C1F630D1A8}" type="datetime1">
              <a:rPr lang="zh-CN" altLang="en-US"/>
              <a:pPr>
                <a:defRPr/>
              </a:pPr>
              <a:t>2023/3/7</a:t>
            </a:fld>
            <a:endParaRPr lang="zh-CN" altLang="en-US" dirty="0"/>
          </a:p>
        </p:txBody>
      </p:sp>
      <p:sp>
        <p:nvSpPr>
          <p:cNvPr id="5" name="页脚占位符 4">
            <a:extLst>
              <a:ext uri="{FF2B5EF4-FFF2-40B4-BE49-F238E27FC236}">
                <a16:creationId xmlns:a16="http://schemas.microsoft.com/office/drawing/2014/main" id="{FBB1F612-1150-4CBB-8C6D-BDCD9D8AA068}"/>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E4FCB6B-49AC-4061-929A-4930F3EB3F06}"/>
              </a:ext>
            </a:extLst>
          </p:cNvPr>
          <p:cNvSpPr>
            <a:spLocks noGrp="1"/>
          </p:cNvSpPr>
          <p:nvPr>
            <p:ph type="sldNum" sz="quarter" idx="12"/>
          </p:nvPr>
        </p:nvSpPr>
        <p:spPr/>
        <p:txBody>
          <a:bodyPr/>
          <a:lstStyle>
            <a:lvl1pPr>
              <a:defRPr/>
            </a:lvl1pPr>
          </a:lstStyle>
          <a:p>
            <a:fld id="{C1CD3353-320D-4AF0-9B6D-DE1A12191822}" type="slidenum">
              <a:rPr lang="zh-CN" altLang="en-US"/>
              <a:pPr/>
              <a:t>‹#›</a:t>
            </a:fld>
            <a:endParaRPr lang="zh-CN" altLang="en-US"/>
          </a:p>
        </p:txBody>
      </p:sp>
    </p:spTree>
    <p:extLst>
      <p:ext uri="{BB962C8B-B14F-4D97-AF65-F5344CB8AC3E}">
        <p14:creationId xmlns:p14="http://schemas.microsoft.com/office/powerpoint/2010/main" val="25250190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668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fld id="{7DD1AC04-EC64-4809-9378-05CB7BD0A36E}" type="datetime1">
              <a:rPr lang="zh-CN" altLang="en-US">
                <a:solidFill>
                  <a:srgbClr val="000000"/>
                </a:solidFill>
              </a:rPr>
              <a:pPr>
                <a:defRPr/>
              </a:pPr>
              <a:t>2023/3/7</a:t>
            </a:fld>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fld id="{4943D9A8-A43D-4377-AA14-FA86F06511F4}" type="slidenum">
              <a:rPr lang="zh-CN" altLang="en-US">
                <a:solidFill>
                  <a:srgbClr val="000000"/>
                </a:solidFill>
              </a:rPr>
              <a:pPr>
                <a:defRPr/>
              </a:pPr>
              <a:t>‹#›</a:t>
            </a:fld>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FAF3B950-6B5C-4CBA-929E-300E37101E3C}" type="slidenum">
              <a:rPr lang="zh-CN" altLang="en-US">
                <a:solidFill>
                  <a:srgbClr val="000000"/>
                </a:solidFill>
              </a:rPr>
              <a:pPr>
                <a:defRPr/>
              </a:pPr>
              <a:t>‹#›</a:t>
            </a:fld>
            <a:endParaRPr lang="en-US" altLang="zh-CN" sz="1400">
              <a:solidFill>
                <a:srgbClr val="000000"/>
              </a:solidFill>
            </a:endParaRPr>
          </a:p>
        </p:txBody>
      </p:sp>
    </p:spTree>
    <p:extLst>
      <p:ext uri="{BB962C8B-B14F-4D97-AF65-F5344CB8AC3E}">
        <p14:creationId xmlns:p14="http://schemas.microsoft.com/office/powerpoint/2010/main" val="3000241291"/>
      </p:ext>
    </p:extLst>
  </p:cSld>
  <p:clrMapOvr>
    <a:masterClrMapping/>
  </p:clrMapOvr>
  <p:transition advClick="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a:extLst>
              <a:ext uri="{FF2B5EF4-FFF2-40B4-BE49-F238E27FC236}">
                <a16:creationId xmlns:a16="http://schemas.microsoft.com/office/drawing/2014/main" id="{27249F70-62F9-428D-9BC8-897D9EBCA8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a:extLst>
              <a:ext uri="{FF2B5EF4-FFF2-40B4-BE49-F238E27FC236}">
                <a16:creationId xmlns:a16="http://schemas.microsoft.com/office/drawing/2014/main" id="{1DA0C85D-CF7E-44A2-8F5F-42EACF6F50C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itchFamily="34" charset="0"/>
                <a:ea typeface="黑体" pitchFamily="49"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itchFamily="34" charset="0"/>
                <a:ea typeface="黑体"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6" name="日期占位符 3">
            <a:extLst>
              <a:ext uri="{FF2B5EF4-FFF2-40B4-BE49-F238E27FC236}">
                <a16:creationId xmlns:a16="http://schemas.microsoft.com/office/drawing/2014/main" id="{F2899882-DAF6-40DD-9701-C696457ADA44}"/>
              </a:ext>
            </a:extLst>
          </p:cNvPr>
          <p:cNvSpPr>
            <a:spLocks noGrp="1"/>
          </p:cNvSpPr>
          <p:nvPr>
            <p:ph type="dt" sz="half" idx="10"/>
          </p:nvPr>
        </p:nvSpPr>
        <p:spPr/>
        <p:txBody>
          <a:bodyPr/>
          <a:lstStyle>
            <a:lvl1pPr>
              <a:defRPr/>
            </a:lvl1pPr>
          </a:lstStyle>
          <a:p>
            <a:pPr>
              <a:defRPr/>
            </a:pPr>
            <a:fld id="{1B819544-EA46-4872-BD18-6F212B550B47}" type="datetime1">
              <a:rPr lang="zh-CN" altLang="en-US"/>
              <a:pPr>
                <a:defRPr/>
              </a:pPr>
              <a:t>2023/3/7</a:t>
            </a:fld>
            <a:endParaRPr lang="zh-CN" altLang="en-US"/>
          </a:p>
        </p:txBody>
      </p:sp>
      <p:sp>
        <p:nvSpPr>
          <p:cNvPr id="7" name="页脚占位符 4">
            <a:extLst>
              <a:ext uri="{FF2B5EF4-FFF2-40B4-BE49-F238E27FC236}">
                <a16:creationId xmlns:a16="http://schemas.microsoft.com/office/drawing/2014/main" id="{5227F44B-F259-4A80-B827-6203CF22BF2F}"/>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F14F9B6F-185F-4059-AD62-D76FF8B7B61E}"/>
              </a:ext>
            </a:extLst>
          </p:cNvPr>
          <p:cNvSpPr>
            <a:spLocks noGrp="1"/>
          </p:cNvSpPr>
          <p:nvPr>
            <p:ph type="sldNum" sz="quarter" idx="12"/>
          </p:nvPr>
        </p:nvSpPr>
        <p:spPr/>
        <p:txBody>
          <a:bodyPr/>
          <a:lstStyle>
            <a:lvl1pPr>
              <a:defRPr/>
            </a:lvl1pPr>
          </a:lstStyle>
          <a:p>
            <a:fld id="{D9D4D457-1D3F-4C76-B963-C6D8658D9E0A}" type="slidenum">
              <a:rPr lang="zh-CN" altLang="en-US"/>
              <a:pPr/>
              <a:t>‹#›</a:t>
            </a:fld>
            <a:endParaRPr lang="zh-CN" altLang="en-US"/>
          </a:p>
        </p:txBody>
      </p:sp>
    </p:spTree>
    <p:extLst>
      <p:ext uri="{BB962C8B-B14F-4D97-AF65-F5344CB8AC3E}">
        <p14:creationId xmlns:p14="http://schemas.microsoft.com/office/powerpoint/2010/main" val="35655009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BD649FDC-7634-4636-9958-F2DAB63C1C0C}"/>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7CB808CA-DB75-4655-8397-01BA2B97A179}"/>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1" i="0" baseline="0">
                <a:latin typeface="Times New Roman" pitchFamily="18" charset="0"/>
                <a:ea typeface="华文楷体" pitchFamily="2" charset="-122"/>
              </a:defRPr>
            </a:lvl1pPr>
            <a:lvl2pPr>
              <a:defRPr b="1" i="0" baseline="0">
                <a:latin typeface="Times New Roman" pitchFamily="18" charset="0"/>
                <a:ea typeface="华文楷体" pitchFamily="2" charset="-122"/>
              </a:defRPr>
            </a:lvl2pPr>
            <a:lvl3pPr>
              <a:defRPr b="1" i="0" baseline="0">
                <a:latin typeface="Times New Roman" pitchFamily="18" charset="0"/>
                <a:ea typeface="华文楷体" pitchFamily="2" charset="-122"/>
              </a:defRPr>
            </a:lvl3pPr>
            <a:lvl4pPr>
              <a:defRPr b="1" i="0" baseline="0">
                <a:latin typeface="Times New Roman" pitchFamily="18" charset="0"/>
                <a:ea typeface="华文楷体" pitchFamily="2" charset="-122"/>
              </a:defRPr>
            </a:lvl4pPr>
            <a:lvl5pPr>
              <a:defRPr b="1" i="0" baseline="0">
                <a:latin typeface="Times New Roman" pitchFamily="18" charset="0"/>
                <a:ea typeface="华文楷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3">
            <a:extLst>
              <a:ext uri="{FF2B5EF4-FFF2-40B4-BE49-F238E27FC236}">
                <a16:creationId xmlns:a16="http://schemas.microsoft.com/office/drawing/2014/main" id="{5D5D4FB4-A0EC-452D-8382-99DAF2AFC04D}"/>
              </a:ext>
            </a:extLst>
          </p:cNvPr>
          <p:cNvSpPr>
            <a:spLocks noGrp="1"/>
          </p:cNvSpPr>
          <p:nvPr>
            <p:ph type="dt" sz="half" idx="10"/>
          </p:nvPr>
        </p:nvSpPr>
        <p:spPr/>
        <p:txBody>
          <a:bodyPr/>
          <a:lstStyle>
            <a:lvl1pPr>
              <a:defRPr/>
            </a:lvl1pPr>
          </a:lstStyle>
          <a:p>
            <a:pPr>
              <a:defRPr/>
            </a:pPr>
            <a:fld id="{893ABC4A-D381-4AA8-8506-2B8365D1DEAA}" type="datetime1">
              <a:rPr lang="zh-CN" altLang="en-US"/>
              <a:pPr>
                <a:defRPr/>
              </a:pPr>
              <a:t>2023/3/7</a:t>
            </a:fld>
            <a:endParaRPr lang="zh-CN" altLang="en-US"/>
          </a:p>
        </p:txBody>
      </p:sp>
      <p:sp>
        <p:nvSpPr>
          <p:cNvPr id="7" name="页脚占位符 4">
            <a:extLst>
              <a:ext uri="{FF2B5EF4-FFF2-40B4-BE49-F238E27FC236}">
                <a16:creationId xmlns:a16="http://schemas.microsoft.com/office/drawing/2014/main" id="{4273A6EA-397A-4468-98DF-69C14B9A2011}"/>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95B942D2-EB5C-4761-9832-6475B8900FB0}"/>
              </a:ext>
            </a:extLst>
          </p:cNvPr>
          <p:cNvSpPr>
            <a:spLocks noGrp="1"/>
          </p:cNvSpPr>
          <p:nvPr>
            <p:ph type="sldNum" sz="quarter" idx="12"/>
          </p:nvPr>
        </p:nvSpPr>
        <p:spPr/>
        <p:txBody>
          <a:bodyPr/>
          <a:lstStyle>
            <a:lvl1pPr>
              <a:defRPr/>
            </a:lvl1pPr>
          </a:lstStyle>
          <a:p>
            <a:fld id="{090FEBD5-88BC-434B-995F-87D7B61F486F}" type="slidenum">
              <a:rPr lang="zh-CN" altLang="en-US"/>
              <a:pPr/>
              <a:t>‹#›</a:t>
            </a:fld>
            <a:endParaRPr lang="zh-CN" altLang="en-US"/>
          </a:p>
        </p:txBody>
      </p:sp>
    </p:spTree>
    <p:extLst>
      <p:ext uri="{BB962C8B-B14F-4D97-AF65-F5344CB8AC3E}">
        <p14:creationId xmlns:p14="http://schemas.microsoft.com/office/powerpoint/2010/main" val="2718389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9FDA1A0-D9B8-4974-B630-AE8284981A47}"/>
              </a:ext>
            </a:extLst>
          </p:cNvPr>
          <p:cNvSpPr>
            <a:spLocks noGrp="1"/>
          </p:cNvSpPr>
          <p:nvPr>
            <p:ph type="dt" sz="half" idx="10"/>
          </p:nvPr>
        </p:nvSpPr>
        <p:spPr/>
        <p:txBody>
          <a:bodyPr/>
          <a:lstStyle>
            <a:lvl1pPr>
              <a:defRPr/>
            </a:lvl1pPr>
          </a:lstStyle>
          <a:p>
            <a:pPr>
              <a:defRPr/>
            </a:pPr>
            <a:fld id="{7E97AB73-BFA4-4BEA-89AA-C0F552D669FD}" type="datetime1">
              <a:rPr lang="zh-CN" altLang="en-US"/>
              <a:pPr>
                <a:defRPr/>
              </a:pPr>
              <a:t>2023/3/7</a:t>
            </a:fld>
            <a:endParaRPr lang="zh-CN" altLang="en-US" dirty="0"/>
          </a:p>
        </p:txBody>
      </p:sp>
      <p:sp>
        <p:nvSpPr>
          <p:cNvPr id="5" name="页脚占位符 4">
            <a:extLst>
              <a:ext uri="{FF2B5EF4-FFF2-40B4-BE49-F238E27FC236}">
                <a16:creationId xmlns:a16="http://schemas.microsoft.com/office/drawing/2014/main" id="{B8634339-490A-4830-A59D-9AEE1FDE1E2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723421DA-44AC-498D-B4A9-446328ACAAC0}"/>
              </a:ext>
            </a:extLst>
          </p:cNvPr>
          <p:cNvSpPr>
            <a:spLocks noGrp="1"/>
          </p:cNvSpPr>
          <p:nvPr>
            <p:ph type="sldNum" sz="quarter" idx="12"/>
          </p:nvPr>
        </p:nvSpPr>
        <p:spPr/>
        <p:txBody>
          <a:bodyPr/>
          <a:lstStyle>
            <a:lvl1pPr>
              <a:defRPr/>
            </a:lvl1pPr>
          </a:lstStyle>
          <a:p>
            <a:fld id="{D86DDB32-BACB-4CD1-B888-AED0216BB871}" type="slidenum">
              <a:rPr lang="zh-CN" altLang="en-US"/>
              <a:pPr/>
              <a:t>‹#›</a:t>
            </a:fld>
            <a:endParaRPr lang="zh-CN" altLang="en-US"/>
          </a:p>
        </p:txBody>
      </p:sp>
    </p:spTree>
    <p:extLst>
      <p:ext uri="{BB962C8B-B14F-4D97-AF65-F5344CB8AC3E}">
        <p14:creationId xmlns:p14="http://schemas.microsoft.com/office/powerpoint/2010/main" val="13647545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a:extLst>
              <a:ext uri="{FF2B5EF4-FFF2-40B4-BE49-F238E27FC236}">
                <a16:creationId xmlns:a16="http://schemas.microsoft.com/office/drawing/2014/main" id="{1539D6C4-24E7-490F-A5FD-64617F9DB25C}"/>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a:extLst>
              <a:ext uri="{FF2B5EF4-FFF2-40B4-BE49-F238E27FC236}">
                <a16:creationId xmlns:a16="http://schemas.microsoft.com/office/drawing/2014/main" id="{3A9B7DC8-72C3-4B59-8DBD-F30C01F09044}"/>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4">
            <a:extLst>
              <a:ext uri="{FF2B5EF4-FFF2-40B4-BE49-F238E27FC236}">
                <a16:creationId xmlns:a16="http://schemas.microsoft.com/office/drawing/2014/main" id="{7AF114BA-E8A8-44BF-AA8D-414E72590BFF}"/>
              </a:ext>
            </a:extLst>
          </p:cNvPr>
          <p:cNvSpPr>
            <a:spLocks noGrp="1"/>
          </p:cNvSpPr>
          <p:nvPr>
            <p:ph type="dt" sz="half" idx="10"/>
          </p:nvPr>
        </p:nvSpPr>
        <p:spPr/>
        <p:txBody>
          <a:bodyPr/>
          <a:lstStyle>
            <a:lvl1pPr>
              <a:defRPr/>
            </a:lvl1pPr>
          </a:lstStyle>
          <a:p>
            <a:pPr>
              <a:defRPr/>
            </a:pPr>
            <a:fld id="{1E37D120-58C1-4AD7-9491-F2976A6BD7A0}" type="datetime1">
              <a:rPr lang="zh-CN" altLang="en-US"/>
              <a:pPr>
                <a:defRPr/>
              </a:pPr>
              <a:t>2023/3/7</a:t>
            </a:fld>
            <a:endParaRPr lang="zh-CN" altLang="en-US"/>
          </a:p>
        </p:txBody>
      </p:sp>
      <p:sp>
        <p:nvSpPr>
          <p:cNvPr id="8" name="页脚占位符 5">
            <a:extLst>
              <a:ext uri="{FF2B5EF4-FFF2-40B4-BE49-F238E27FC236}">
                <a16:creationId xmlns:a16="http://schemas.microsoft.com/office/drawing/2014/main" id="{7AA73FAD-5130-4362-860B-8CEE4F4F19B3}"/>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1E4C683D-45CB-4826-A809-00AA7C80CF92}"/>
              </a:ext>
            </a:extLst>
          </p:cNvPr>
          <p:cNvSpPr>
            <a:spLocks noGrp="1"/>
          </p:cNvSpPr>
          <p:nvPr>
            <p:ph type="sldNum" sz="quarter" idx="12"/>
          </p:nvPr>
        </p:nvSpPr>
        <p:spPr/>
        <p:txBody>
          <a:bodyPr/>
          <a:lstStyle>
            <a:lvl1pPr>
              <a:defRPr/>
            </a:lvl1pPr>
          </a:lstStyle>
          <a:p>
            <a:fld id="{EEA6C92A-23A3-45F0-9102-158DDE623008}" type="slidenum">
              <a:rPr lang="zh-CN" altLang="en-US"/>
              <a:pPr/>
              <a:t>‹#›</a:t>
            </a:fld>
            <a:endParaRPr lang="zh-CN" altLang="en-US"/>
          </a:p>
        </p:txBody>
      </p:sp>
    </p:spTree>
    <p:extLst>
      <p:ext uri="{BB962C8B-B14F-4D97-AF65-F5344CB8AC3E}">
        <p14:creationId xmlns:p14="http://schemas.microsoft.com/office/powerpoint/2010/main" val="8469445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a:extLst>
              <a:ext uri="{FF2B5EF4-FFF2-40B4-BE49-F238E27FC236}">
                <a16:creationId xmlns:a16="http://schemas.microsoft.com/office/drawing/2014/main" id="{DCB4A3D6-19A2-477F-9ECD-D6ED45DA07A0}"/>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a:extLst>
              <a:ext uri="{FF2B5EF4-FFF2-40B4-BE49-F238E27FC236}">
                <a16:creationId xmlns:a16="http://schemas.microsoft.com/office/drawing/2014/main" id="{FAFFE528-3FC9-4C45-BF3D-50B6A1FE55CB}"/>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6">
            <a:extLst>
              <a:ext uri="{FF2B5EF4-FFF2-40B4-BE49-F238E27FC236}">
                <a16:creationId xmlns:a16="http://schemas.microsoft.com/office/drawing/2014/main" id="{EA0B0AE1-BA8E-4B4A-BC12-D76FFC81FB61}"/>
              </a:ext>
            </a:extLst>
          </p:cNvPr>
          <p:cNvSpPr>
            <a:spLocks noGrp="1"/>
          </p:cNvSpPr>
          <p:nvPr>
            <p:ph type="dt" sz="half" idx="10"/>
          </p:nvPr>
        </p:nvSpPr>
        <p:spPr/>
        <p:txBody>
          <a:bodyPr/>
          <a:lstStyle>
            <a:lvl1pPr>
              <a:defRPr/>
            </a:lvl1pPr>
          </a:lstStyle>
          <a:p>
            <a:pPr>
              <a:defRPr/>
            </a:pPr>
            <a:fld id="{2030E8DD-5B4C-4F60-BF28-167F3711619E}" type="datetime1">
              <a:rPr lang="zh-CN" altLang="en-US"/>
              <a:pPr>
                <a:defRPr/>
              </a:pPr>
              <a:t>2023/3/7</a:t>
            </a:fld>
            <a:endParaRPr lang="zh-CN" altLang="en-US"/>
          </a:p>
        </p:txBody>
      </p:sp>
      <p:sp>
        <p:nvSpPr>
          <p:cNvPr id="10" name="页脚占位符 7">
            <a:extLst>
              <a:ext uri="{FF2B5EF4-FFF2-40B4-BE49-F238E27FC236}">
                <a16:creationId xmlns:a16="http://schemas.microsoft.com/office/drawing/2014/main" id="{3CCD7E0E-95B0-4470-8932-07AE6722766B}"/>
              </a:ext>
            </a:extLst>
          </p:cNvPr>
          <p:cNvSpPr>
            <a:spLocks noGrp="1"/>
          </p:cNvSpPr>
          <p:nvPr>
            <p:ph type="ftr" sz="quarter" idx="11"/>
          </p:nvPr>
        </p:nvSpPr>
        <p:spPr/>
        <p:txBody>
          <a:bodyPr/>
          <a:lstStyle>
            <a:lvl1pPr>
              <a:defRPr/>
            </a:lvl1pPr>
          </a:lstStyle>
          <a:p>
            <a:pPr>
              <a:defRPr/>
            </a:pPr>
            <a:endParaRPr lang="zh-CN" altLang="en-US"/>
          </a:p>
        </p:txBody>
      </p:sp>
      <p:sp>
        <p:nvSpPr>
          <p:cNvPr id="11" name="灯片编号占位符 8">
            <a:extLst>
              <a:ext uri="{FF2B5EF4-FFF2-40B4-BE49-F238E27FC236}">
                <a16:creationId xmlns:a16="http://schemas.microsoft.com/office/drawing/2014/main" id="{BEBDFDEB-1555-4E1E-BDE5-EAAE6FFBD2EB}"/>
              </a:ext>
            </a:extLst>
          </p:cNvPr>
          <p:cNvSpPr>
            <a:spLocks noGrp="1"/>
          </p:cNvSpPr>
          <p:nvPr>
            <p:ph type="sldNum" sz="quarter" idx="12"/>
          </p:nvPr>
        </p:nvSpPr>
        <p:spPr/>
        <p:txBody>
          <a:bodyPr/>
          <a:lstStyle>
            <a:lvl1pPr>
              <a:defRPr/>
            </a:lvl1pPr>
          </a:lstStyle>
          <a:p>
            <a:fld id="{08B1C15B-CDC3-4F85-9DBE-A1A19B54544D}" type="slidenum">
              <a:rPr lang="zh-CN" altLang="en-US"/>
              <a:pPr/>
              <a:t>‹#›</a:t>
            </a:fld>
            <a:endParaRPr lang="zh-CN" altLang="en-US"/>
          </a:p>
        </p:txBody>
      </p:sp>
    </p:spTree>
    <p:extLst>
      <p:ext uri="{BB962C8B-B14F-4D97-AF65-F5344CB8AC3E}">
        <p14:creationId xmlns:p14="http://schemas.microsoft.com/office/powerpoint/2010/main" val="6054486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a:extLst>
              <a:ext uri="{FF2B5EF4-FFF2-40B4-BE49-F238E27FC236}">
                <a16:creationId xmlns:a16="http://schemas.microsoft.com/office/drawing/2014/main" id="{18ADAFB8-647E-4EE7-B35C-B4E28A270E14}"/>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a:extLst>
              <a:ext uri="{FF2B5EF4-FFF2-40B4-BE49-F238E27FC236}">
                <a16:creationId xmlns:a16="http://schemas.microsoft.com/office/drawing/2014/main" id="{6C13FFDD-B2FE-41DD-ABEE-8D91B0C0DAEE}"/>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5" name="日期占位符 2">
            <a:extLst>
              <a:ext uri="{FF2B5EF4-FFF2-40B4-BE49-F238E27FC236}">
                <a16:creationId xmlns:a16="http://schemas.microsoft.com/office/drawing/2014/main" id="{4160974A-45A7-48A5-9114-0D398A7F6CDC}"/>
              </a:ext>
            </a:extLst>
          </p:cNvPr>
          <p:cNvSpPr>
            <a:spLocks noGrp="1"/>
          </p:cNvSpPr>
          <p:nvPr>
            <p:ph type="dt" sz="half" idx="10"/>
          </p:nvPr>
        </p:nvSpPr>
        <p:spPr/>
        <p:txBody>
          <a:bodyPr/>
          <a:lstStyle>
            <a:lvl1pPr>
              <a:defRPr/>
            </a:lvl1pPr>
          </a:lstStyle>
          <a:p>
            <a:pPr>
              <a:defRPr/>
            </a:pPr>
            <a:fld id="{97BE1FD5-A03D-4740-BD46-18F1C3830475}" type="datetime1">
              <a:rPr lang="zh-CN" altLang="en-US"/>
              <a:pPr>
                <a:defRPr/>
              </a:pPr>
              <a:t>2023/3/7</a:t>
            </a:fld>
            <a:endParaRPr lang="zh-CN" altLang="en-US"/>
          </a:p>
        </p:txBody>
      </p:sp>
      <p:sp>
        <p:nvSpPr>
          <p:cNvPr id="6" name="页脚占位符 3">
            <a:extLst>
              <a:ext uri="{FF2B5EF4-FFF2-40B4-BE49-F238E27FC236}">
                <a16:creationId xmlns:a16="http://schemas.microsoft.com/office/drawing/2014/main" id="{C4F22310-81FD-448E-B69F-CEE65D7A7083}"/>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942CA155-88A7-4F9A-B1E3-9489850410C7}"/>
              </a:ext>
            </a:extLst>
          </p:cNvPr>
          <p:cNvSpPr>
            <a:spLocks noGrp="1"/>
          </p:cNvSpPr>
          <p:nvPr>
            <p:ph type="sldNum" sz="quarter" idx="12"/>
          </p:nvPr>
        </p:nvSpPr>
        <p:spPr/>
        <p:txBody>
          <a:bodyPr/>
          <a:lstStyle>
            <a:lvl1pPr>
              <a:defRPr/>
            </a:lvl1pPr>
          </a:lstStyle>
          <a:p>
            <a:fld id="{B7FB9A15-DCA5-454E-9903-73208F95A08E}" type="slidenum">
              <a:rPr lang="zh-CN" altLang="en-US"/>
              <a:pPr/>
              <a:t>‹#›</a:t>
            </a:fld>
            <a:endParaRPr lang="zh-CN" altLang="en-US"/>
          </a:p>
        </p:txBody>
      </p:sp>
    </p:spTree>
    <p:extLst>
      <p:ext uri="{BB962C8B-B14F-4D97-AF65-F5344CB8AC3E}">
        <p14:creationId xmlns:p14="http://schemas.microsoft.com/office/powerpoint/2010/main" val="14307160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3AA19DC6-F08D-4204-9882-B550053D687A}"/>
              </a:ext>
            </a:extLst>
          </p:cNvPr>
          <p:cNvSpPr>
            <a:spLocks noGrp="1"/>
          </p:cNvSpPr>
          <p:nvPr>
            <p:ph type="dt" sz="half" idx="10"/>
          </p:nvPr>
        </p:nvSpPr>
        <p:spPr/>
        <p:txBody>
          <a:bodyPr/>
          <a:lstStyle>
            <a:lvl1pPr>
              <a:defRPr/>
            </a:lvl1pPr>
          </a:lstStyle>
          <a:p>
            <a:pPr>
              <a:defRPr/>
            </a:pPr>
            <a:fld id="{9C1D4D99-C537-41D4-A5EF-EB72C44CF443}" type="datetime1">
              <a:rPr lang="zh-CN" altLang="en-US"/>
              <a:pPr>
                <a:defRPr/>
              </a:pPr>
              <a:t>2023/3/7</a:t>
            </a:fld>
            <a:endParaRPr lang="zh-CN" altLang="en-US" dirty="0"/>
          </a:p>
        </p:txBody>
      </p:sp>
      <p:sp>
        <p:nvSpPr>
          <p:cNvPr id="3" name="页脚占位符 4">
            <a:extLst>
              <a:ext uri="{FF2B5EF4-FFF2-40B4-BE49-F238E27FC236}">
                <a16:creationId xmlns:a16="http://schemas.microsoft.com/office/drawing/2014/main" id="{3BC707B9-D8C7-429A-89A1-FF3E021C56DA}"/>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6CA40FA8-169B-495D-869D-C727FC35D039}"/>
              </a:ext>
            </a:extLst>
          </p:cNvPr>
          <p:cNvSpPr>
            <a:spLocks noGrp="1"/>
          </p:cNvSpPr>
          <p:nvPr>
            <p:ph type="sldNum" sz="quarter" idx="12"/>
          </p:nvPr>
        </p:nvSpPr>
        <p:spPr/>
        <p:txBody>
          <a:bodyPr/>
          <a:lstStyle>
            <a:lvl1pPr>
              <a:defRPr/>
            </a:lvl1pPr>
          </a:lstStyle>
          <a:p>
            <a:fld id="{8AEF91A5-83CD-45D1-AC71-7F4C49023E2B}" type="slidenum">
              <a:rPr lang="zh-CN" altLang="en-US"/>
              <a:pPr/>
              <a:t>‹#›</a:t>
            </a:fld>
            <a:endParaRPr lang="zh-CN" altLang="en-US"/>
          </a:p>
        </p:txBody>
      </p:sp>
    </p:spTree>
    <p:extLst>
      <p:ext uri="{BB962C8B-B14F-4D97-AF65-F5344CB8AC3E}">
        <p14:creationId xmlns:p14="http://schemas.microsoft.com/office/powerpoint/2010/main" val="44574598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EAE16B1-7C30-4973-B3DD-E05B87B01CEF}"/>
              </a:ext>
            </a:extLst>
          </p:cNvPr>
          <p:cNvSpPr>
            <a:spLocks noGrp="1"/>
          </p:cNvSpPr>
          <p:nvPr>
            <p:ph type="dt" sz="half" idx="10"/>
          </p:nvPr>
        </p:nvSpPr>
        <p:spPr/>
        <p:txBody>
          <a:bodyPr/>
          <a:lstStyle>
            <a:lvl1pPr>
              <a:defRPr/>
            </a:lvl1pPr>
          </a:lstStyle>
          <a:p>
            <a:pPr>
              <a:defRPr/>
            </a:pPr>
            <a:fld id="{200C0FCC-1762-403B-86FA-CB48B7C467F4}" type="datetime1">
              <a:rPr lang="zh-CN" altLang="en-US"/>
              <a:pPr>
                <a:defRPr/>
              </a:pPr>
              <a:t>2023/3/7</a:t>
            </a:fld>
            <a:endParaRPr lang="zh-CN" altLang="en-US" dirty="0"/>
          </a:p>
        </p:txBody>
      </p:sp>
      <p:sp>
        <p:nvSpPr>
          <p:cNvPr id="6" name="页脚占位符 4">
            <a:extLst>
              <a:ext uri="{FF2B5EF4-FFF2-40B4-BE49-F238E27FC236}">
                <a16:creationId xmlns:a16="http://schemas.microsoft.com/office/drawing/2014/main" id="{4196CC5C-EDF5-45E8-8075-FF983B3FC7D2}"/>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3B106EB1-8B8E-4DA4-88EF-0ADA14FA51E5}"/>
              </a:ext>
            </a:extLst>
          </p:cNvPr>
          <p:cNvSpPr>
            <a:spLocks noGrp="1"/>
          </p:cNvSpPr>
          <p:nvPr>
            <p:ph type="sldNum" sz="quarter" idx="12"/>
          </p:nvPr>
        </p:nvSpPr>
        <p:spPr/>
        <p:txBody>
          <a:bodyPr/>
          <a:lstStyle>
            <a:lvl1pPr>
              <a:defRPr/>
            </a:lvl1pPr>
          </a:lstStyle>
          <a:p>
            <a:fld id="{E95B690A-8773-4199-97F8-7467BE874FC8}" type="slidenum">
              <a:rPr lang="zh-CN" altLang="en-US"/>
              <a:pPr/>
              <a:t>‹#›</a:t>
            </a:fld>
            <a:endParaRPr lang="zh-CN" altLang="en-US"/>
          </a:p>
        </p:txBody>
      </p:sp>
    </p:spTree>
    <p:extLst>
      <p:ext uri="{BB962C8B-B14F-4D97-AF65-F5344CB8AC3E}">
        <p14:creationId xmlns:p14="http://schemas.microsoft.com/office/powerpoint/2010/main" val="1961706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CFFE436-E2B1-403E-9516-DE72C7EB9B2E}"/>
              </a:ext>
            </a:extLst>
          </p:cNvPr>
          <p:cNvSpPr>
            <a:spLocks noGrp="1"/>
          </p:cNvSpPr>
          <p:nvPr>
            <p:ph type="dt" sz="half" idx="10"/>
          </p:nvPr>
        </p:nvSpPr>
        <p:spPr/>
        <p:txBody>
          <a:bodyPr/>
          <a:lstStyle>
            <a:lvl1pPr>
              <a:defRPr/>
            </a:lvl1pPr>
          </a:lstStyle>
          <a:p>
            <a:pPr>
              <a:defRPr/>
            </a:pPr>
            <a:fld id="{96D5967F-7F6F-4CC8-B2D3-9C28CEB4EC0C}" type="datetime1">
              <a:rPr lang="zh-CN" altLang="en-US"/>
              <a:pPr>
                <a:defRPr/>
              </a:pPr>
              <a:t>2023/3/7</a:t>
            </a:fld>
            <a:endParaRPr lang="zh-CN" altLang="en-US" dirty="0"/>
          </a:p>
        </p:txBody>
      </p:sp>
      <p:sp>
        <p:nvSpPr>
          <p:cNvPr id="6" name="页脚占位符 4">
            <a:extLst>
              <a:ext uri="{FF2B5EF4-FFF2-40B4-BE49-F238E27FC236}">
                <a16:creationId xmlns:a16="http://schemas.microsoft.com/office/drawing/2014/main" id="{22EBD710-D176-45EE-9959-58C46FBA39D2}"/>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A8C428E1-59D7-4AD6-A018-40E290F773A6}"/>
              </a:ext>
            </a:extLst>
          </p:cNvPr>
          <p:cNvSpPr>
            <a:spLocks noGrp="1"/>
          </p:cNvSpPr>
          <p:nvPr>
            <p:ph type="sldNum" sz="quarter" idx="12"/>
          </p:nvPr>
        </p:nvSpPr>
        <p:spPr/>
        <p:txBody>
          <a:bodyPr/>
          <a:lstStyle>
            <a:lvl1pPr>
              <a:defRPr/>
            </a:lvl1pPr>
          </a:lstStyle>
          <a:p>
            <a:fld id="{441E0FAC-F855-4C1A-AB4D-5D73E38193DF}" type="slidenum">
              <a:rPr lang="zh-CN" altLang="en-US"/>
              <a:pPr/>
              <a:t>‹#›</a:t>
            </a:fld>
            <a:endParaRPr lang="zh-CN" altLang="en-US"/>
          </a:p>
        </p:txBody>
      </p:sp>
    </p:spTree>
    <p:extLst>
      <p:ext uri="{BB962C8B-B14F-4D97-AF65-F5344CB8AC3E}">
        <p14:creationId xmlns:p14="http://schemas.microsoft.com/office/powerpoint/2010/main" val="24324212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E4C0D8F4-0E78-40FF-B457-754C70B5A733}"/>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665763F5-2C27-4E67-B06E-0DC59DEE332B}"/>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53858358-BDF1-4F30-8131-DFAB47B8CF79}"/>
              </a:ext>
            </a:extLst>
          </p:cNvPr>
          <p:cNvSpPr>
            <a:spLocks noGrp="1"/>
          </p:cNvSpPr>
          <p:nvPr>
            <p:ph type="dt" sz="half" idx="10"/>
          </p:nvPr>
        </p:nvSpPr>
        <p:spPr/>
        <p:txBody>
          <a:bodyPr/>
          <a:lstStyle>
            <a:lvl1pPr>
              <a:defRPr/>
            </a:lvl1pPr>
          </a:lstStyle>
          <a:p>
            <a:pPr>
              <a:defRPr/>
            </a:pPr>
            <a:fld id="{F937A3FB-F791-467C-87F4-930EAD983F31}" type="datetime1">
              <a:rPr lang="zh-CN" altLang="en-US"/>
              <a:pPr>
                <a:defRPr/>
              </a:pPr>
              <a:t>2023/3/7</a:t>
            </a:fld>
            <a:endParaRPr lang="zh-CN" altLang="en-US"/>
          </a:p>
        </p:txBody>
      </p:sp>
      <p:sp>
        <p:nvSpPr>
          <p:cNvPr id="7" name="页脚占位符 4">
            <a:extLst>
              <a:ext uri="{FF2B5EF4-FFF2-40B4-BE49-F238E27FC236}">
                <a16:creationId xmlns:a16="http://schemas.microsoft.com/office/drawing/2014/main" id="{49A0C3F7-9365-4275-9ABE-A82596C942CC}"/>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F50785F5-C3A5-4BCA-A0BC-9AA063160340}"/>
              </a:ext>
            </a:extLst>
          </p:cNvPr>
          <p:cNvSpPr>
            <a:spLocks noGrp="1"/>
          </p:cNvSpPr>
          <p:nvPr>
            <p:ph type="sldNum" sz="quarter" idx="12"/>
          </p:nvPr>
        </p:nvSpPr>
        <p:spPr/>
        <p:txBody>
          <a:bodyPr/>
          <a:lstStyle>
            <a:lvl1pPr>
              <a:defRPr/>
            </a:lvl1pPr>
          </a:lstStyle>
          <a:p>
            <a:fld id="{197C078B-31DF-4D91-82AF-C76911FBA05E}" type="slidenum">
              <a:rPr lang="zh-CN" altLang="en-US"/>
              <a:pPr/>
              <a:t>‹#›</a:t>
            </a:fld>
            <a:endParaRPr lang="zh-CN" altLang="en-US"/>
          </a:p>
        </p:txBody>
      </p:sp>
    </p:spTree>
    <p:extLst>
      <p:ext uri="{BB962C8B-B14F-4D97-AF65-F5344CB8AC3E}">
        <p14:creationId xmlns:p14="http://schemas.microsoft.com/office/powerpoint/2010/main" val="16380578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B9E1A98-048D-4B02-94CC-3E781BCD65B2}"/>
              </a:ext>
            </a:extLst>
          </p:cNvPr>
          <p:cNvSpPr>
            <a:spLocks noGrp="1"/>
          </p:cNvSpPr>
          <p:nvPr>
            <p:ph type="dt" sz="half" idx="10"/>
          </p:nvPr>
        </p:nvSpPr>
        <p:spPr/>
        <p:txBody>
          <a:bodyPr/>
          <a:lstStyle>
            <a:lvl1pPr>
              <a:defRPr/>
            </a:lvl1pPr>
          </a:lstStyle>
          <a:p>
            <a:pPr>
              <a:defRPr/>
            </a:pPr>
            <a:fld id="{770E0AD7-AE4B-4A4F-8AA0-62F966C4BDDF}" type="datetime1">
              <a:rPr lang="zh-CN" altLang="en-US"/>
              <a:pPr>
                <a:defRPr/>
              </a:pPr>
              <a:t>2023/3/7</a:t>
            </a:fld>
            <a:endParaRPr lang="zh-CN" altLang="en-US" dirty="0"/>
          </a:p>
        </p:txBody>
      </p:sp>
      <p:sp>
        <p:nvSpPr>
          <p:cNvPr id="5" name="页脚占位符 4">
            <a:extLst>
              <a:ext uri="{FF2B5EF4-FFF2-40B4-BE49-F238E27FC236}">
                <a16:creationId xmlns:a16="http://schemas.microsoft.com/office/drawing/2014/main" id="{D8A162BC-E2AD-4629-99A9-B4AD8C9A97DC}"/>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DAC86429-7C64-46C9-A45A-04FF19F7EB3F}"/>
              </a:ext>
            </a:extLst>
          </p:cNvPr>
          <p:cNvSpPr>
            <a:spLocks noGrp="1"/>
          </p:cNvSpPr>
          <p:nvPr>
            <p:ph type="sldNum" sz="quarter" idx="12"/>
          </p:nvPr>
        </p:nvSpPr>
        <p:spPr/>
        <p:txBody>
          <a:bodyPr/>
          <a:lstStyle>
            <a:lvl1pPr>
              <a:defRPr/>
            </a:lvl1pPr>
          </a:lstStyle>
          <a:p>
            <a:fld id="{34803AEE-DAF6-45AB-8046-D444144CBE2E}" type="slidenum">
              <a:rPr lang="zh-CN" altLang="en-US"/>
              <a:pPr/>
              <a:t>‹#›</a:t>
            </a:fld>
            <a:endParaRPr lang="zh-CN" altLang="en-US"/>
          </a:p>
        </p:txBody>
      </p:sp>
    </p:spTree>
    <p:extLst>
      <p:ext uri="{BB962C8B-B14F-4D97-AF65-F5344CB8AC3E}">
        <p14:creationId xmlns:p14="http://schemas.microsoft.com/office/powerpoint/2010/main" val="3889449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标题占位符 1">
            <a:extLst>
              <a:ext uri="{FF2B5EF4-FFF2-40B4-BE49-F238E27FC236}">
                <a16:creationId xmlns:a16="http://schemas.microsoft.com/office/drawing/2014/main" id="{B818F436-33B0-4B75-BDC4-44E6EACAD025}"/>
              </a:ext>
            </a:extLst>
          </p:cNvPr>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5603" name="文本占位符 2">
            <a:extLst>
              <a:ext uri="{FF2B5EF4-FFF2-40B4-BE49-F238E27FC236}">
                <a16:creationId xmlns:a16="http://schemas.microsoft.com/office/drawing/2014/main" id="{BE95F9F3-37EF-4181-BE96-AB58696C2646}"/>
              </a:ext>
            </a:extLst>
          </p:cNvPr>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D3A4262-67F9-4931-8CE8-DCAB7387D77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C439A4D5-339B-4D2F-8857-428F70CC4865}" type="datetime1">
              <a:rPr lang="zh-CN" altLang="en-US"/>
              <a:pPr>
                <a:defRPr/>
              </a:pPr>
              <a:t>2023/3/7</a:t>
            </a:fld>
            <a:endParaRPr lang="zh-CN" altLang="en-US" dirty="0"/>
          </a:p>
        </p:txBody>
      </p:sp>
      <p:sp>
        <p:nvSpPr>
          <p:cNvPr id="5" name="页脚占位符 4">
            <a:extLst>
              <a:ext uri="{FF2B5EF4-FFF2-40B4-BE49-F238E27FC236}">
                <a16:creationId xmlns:a16="http://schemas.microsoft.com/office/drawing/2014/main" id="{B8F22826-C3F5-4696-9320-69D63494518B}"/>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F0D647E5-DB8E-42A0-9643-43AC2FD5805C}"/>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C21A28AD-1896-4CF7-B481-56AA177207D1}"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0" r:id="rId3"/>
    <p:sldLayoutId id="2147483707" r:id="rId4"/>
    <p:sldLayoutId id="2147483708" r:id="rId5"/>
    <p:sldLayoutId id="2147483709" r:id="rId6"/>
    <p:sldLayoutId id="2147483701" r:id="rId7"/>
    <p:sldLayoutId id="2147483702" r:id="rId8"/>
    <p:sldLayoutId id="2147483703" r:id="rId9"/>
    <p:sldLayoutId id="2147483710" r:id="rId10"/>
    <p:sldLayoutId id="2147483704"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标题占位符 1">
            <a:extLst>
              <a:ext uri="{FF2B5EF4-FFF2-40B4-BE49-F238E27FC236}">
                <a16:creationId xmlns:a16="http://schemas.microsoft.com/office/drawing/2014/main" id="{D94996B0-41A6-464B-922E-7A6014CDB311}"/>
              </a:ext>
            </a:extLst>
          </p:cNvPr>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7891" name="文本占位符 2">
            <a:extLst>
              <a:ext uri="{FF2B5EF4-FFF2-40B4-BE49-F238E27FC236}">
                <a16:creationId xmlns:a16="http://schemas.microsoft.com/office/drawing/2014/main" id="{FEAD5DAD-AA4A-47DB-A99B-B58699ACA755}"/>
              </a:ext>
            </a:extLst>
          </p:cNvPr>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873A690-BEEF-41BC-B55B-168E940D5A80}"/>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02FE9820-06F8-4AF5-A1F5-28525268BD5A}" type="datetime1">
              <a:rPr lang="zh-CN" altLang="en-US"/>
              <a:pPr>
                <a:defRPr/>
              </a:pPr>
              <a:t>2023/3/7</a:t>
            </a:fld>
            <a:endParaRPr lang="zh-CN" altLang="en-US" dirty="0"/>
          </a:p>
        </p:txBody>
      </p:sp>
      <p:sp>
        <p:nvSpPr>
          <p:cNvPr id="5" name="页脚占位符 4">
            <a:extLst>
              <a:ext uri="{FF2B5EF4-FFF2-40B4-BE49-F238E27FC236}">
                <a16:creationId xmlns:a16="http://schemas.microsoft.com/office/drawing/2014/main" id="{479057A8-146A-4D85-8060-7598319A4F3F}"/>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601FEEE1-9E1E-4542-90B0-C47D2986A20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135B1DAC-F7D4-48DF-AB46-1DB58095F734}" type="slidenum">
              <a:rPr lang="zh-CN" altLang="en-US"/>
              <a:pPr/>
              <a:t>‹#›</a:t>
            </a:fld>
            <a:endParaRPr lang="zh-CN" altLang="en-US"/>
          </a:p>
        </p:txBody>
      </p:sp>
    </p:spTree>
    <p:extLst>
      <p:ext uri="{BB962C8B-B14F-4D97-AF65-F5344CB8AC3E}">
        <p14:creationId xmlns:p14="http://schemas.microsoft.com/office/powerpoint/2010/main" val="406809331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35" r:id="rId12"/>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标题占位符 1">
            <a:extLst>
              <a:ext uri="{FF2B5EF4-FFF2-40B4-BE49-F238E27FC236}">
                <a16:creationId xmlns:a16="http://schemas.microsoft.com/office/drawing/2014/main" id="{32824BEB-99EE-45ED-95C0-8D44D3CD11E1}"/>
              </a:ext>
            </a:extLst>
          </p:cNvPr>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5843" name="文本占位符 2">
            <a:extLst>
              <a:ext uri="{FF2B5EF4-FFF2-40B4-BE49-F238E27FC236}">
                <a16:creationId xmlns:a16="http://schemas.microsoft.com/office/drawing/2014/main" id="{59C9CC74-8C29-4E74-B04D-2C4DEDFDAB2F}"/>
              </a:ext>
            </a:extLst>
          </p:cNvPr>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AE009E9-8B69-40F9-AD24-FE52B55924C6}"/>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4CF82806-9760-4B07-A585-E37673F9F335}" type="datetime1">
              <a:rPr lang="zh-CN" altLang="en-US"/>
              <a:pPr>
                <a:defRPr/>
              </a:pPr>
              <a:t>2023/3/7</a:t>
            </a:fld>
            <a:endParaRPr lang="zh-CN" altLang="en-US" dirty="0"/>
          </a:p>
        </p:txBody>
      </p:sp>
      <p:sp>
        <p:nvSpPr>
          <p:cNvPr id="5" name="页脚占位符 4">
            <a:extLst>
              <a:ext uri="{FF2B5EF4-FFF2-40B4-BE49-F238E27FC236}">
                <a16:creationId xmlns:a16="http://schemas.microsoft.com/office/drawing/2014/main" id="{AA57E404-6C1C-4733-9F37-3BED92F22C4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FD3E61E7-2656-422E-9C4D-E6C75E052CE0}"/>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0018F8A4-4D41-4481-A737-804765B2EBAE}" type="slidenum">
              <a:rPr lang="zh-CN" altLang="en-US"/>
              <a:pPr/>
              <a:t>‹#›</a:t>
            </a:fld>
            <a:endParaRPr lang="zh-CN" altLang="en-US"/>
          </a:p>
        </p:txBody>
      </p:sp>
    </p:spTree>
    <p:extLst>
      <p:ext uri="{BB962C8B-B14F-4D97-AF65-F5344CB8AC3E}">
        <p14:creationId xmlns:p14="http://schemas.microsoft.com/office/powerpoint/2010/main" val="1204260898"/>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wmf"/><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 Id="rId9" Type="http://schemas.openxmlformats.org/officeDocument/2006/relationships/image" Target="../media/image11.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oleObject" Target="../embeddings/oleObject1.bin"/><Relationship Id="rId7"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3.png"/><Relationship Id="rId5" Type="http://schemas.openxmlformats.org/officeDocument/2006/relationships/oleObject" Target="../embeddings/oleObject2.bin"/><Relationship Id="rId10"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oleObject" Target="../embeddings/oleObject8.bin"/><Relationship Id="rId18" Type="http://schemas.openxmlformats.org/officeDocument/2006/relationships/image" Target="../media/image22.png"/><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19.png"/><Relationship Id="rId17" Type="http://schemas.openxmlformats.org/officeDocument/2006/relationships/oleObject" Target="../embeddings/oleObject10.bin"/><Relationship Id="rId2" Type="http://schemas.openxmlformats.org/officeDocument/2006/relationships/slideLayout" Target="../slideLayouts/slideLayout6.xml"/><Relationship Id="rId16" Type="http://schemas.openxmlformats.org/officeDocument/2006/relationships/image" Target="../media/image21.png"/><Relationship Id="rId1" Type="http://schemas.openxmlformats.org/officeDocument/2006/relationships/vmlDrawing" Target="../drawings/vmlDrawing2.vml"/><Relationship Id="rId6" Type="http://schemas.openxmlformats.org/officeDocument/2006/relationships/image" Target="../media/image15.png"/><Relationship Id="rId11" Type="http://schemas.openxmlformats.org/officeDocument/2006/relationships/oleObject" Target="../embeddings/oleObject7.bin"/><Relationship Id="rId5" Type="http://schemas.openxmlformats.org/officeDocument/2006/relationships/oleObject" Target="../embeddings/oleObject4.bin"/><Relationship Id="rId15" Type="http://schemas.openxmlformats.org/officeDocument/2006/relationships/oleObject" Target="../embeddings/oleObject9.bin"/><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oleObject" Target="../embeddings/oleObject6.bin"/><Relationship Id="rId1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oleObject" Target="../embeddings/oleObject16.bin"/><Relationship Id="rId18" Type="http://schemas.openxmlformats.org/officeDocument/2006/relationships/image" Target="../media/image34.png"/><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31.png"/><Relationship Id="rId17" Type="http://schemas.openxmlformats.org/officeDocument/2006/relationships/oleObject" Target="../embeddings/oleObject18.bin"/><Relationship Id="rId2" Type="http://schemas.openxmlformats.org/officeDocument/2006/relationships/slideLayout" Target="../slideLayouts/slideLayout2.xml"/><Relationship Id="rId16" Type="http://schemas.openxmlformats.org/officeDocument/2006/relationships/image" Target="../media/image33.png"/><Relationship Id="rId1" Type="http://schemas.openxmlformats.org/officeDocument/2006/relationships/vmlDrawing" Target="../drawings/vmlDrawing3.vml"/><Relationship Id="rId6" Type="http://schemas.openxmlformats.org/officeDocument/2006/relationships/image" Target="../media/image28.png"/><Relationship Id="rId11" Type="http://schemas.openxmlformats.org/officeDocument/2006/relationships/oleObject" Target="../embeddings/oleObject15.bin"/><Relationship Id="rId5" Type="http://schemas.openxmlformats.org/officeDocument/2006/relationships/oleObject" Target="../embeddings/oleObject12.bin"/><Relationship Id="rId15" Type="http://schemas.openxmlformats.org/officeDocument/2006/relationships/oleObject" Target="../embeddings/oleObject17.bin"/><Relationship Id="rId10" Type="http://schemas.openxmlformats.org/officeDocument/2006/relationships/image" Target="../media/image30.png"/><Relationship Id="rId4" Type="http://schemas.openxmlformats.org/officeDocument/2006/relationships/image" Target="../media/image23.png"/><Relationship Id="rId9" Type="http://schemas.openxmlformats.org/officeDocument/2006/relationships/oleObject" Target="../embeddings/oleObject14.bin"/><Relationship Id="rId1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46.png"/><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6.xml.rels><?xml version="1.0" encoding="UTF-8" standalone="yes"?>
<Relationships xmlns="http://schemas.openxmlformats.org/package/2006/relationships"><Relationship Id="rId8" Type="http://schemas.openxmlformats.org/officeDocument/2006/relationships/image" Target="../media/image640.png"/><Relationship Id="rId3" Type="http://schemas.openxmlformats.org/officeDocument/2006/relationships/image" Target="../media/image590.png"/><Relationship Id="rId7" Type="http://schemas.openxmlformats.org/officeDocument/2006/relationships/image" Target="../media/image630.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620.png"/><Relationship Id="rId5" Type="http://schemas.openxmlformats.org/officeDocument/2006/relationships/image" Target="../media/image610.png"/><Relationship Id="rId4" Type="http://schemas.openxmlformats.org/officeDocument/2006/relationships/image" Target="../media/image600.png"/></Relationships>
</file>

<file path=ppt/slides/_rels/slide27.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650.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11" Type="http://schemas.openxmlformats.org/officeDocument/2006/relationships/image" Target="../media/image81.png"/><Relationship Id="rId5" Type="http://schemas.openxmlformats.org/officeDocument/2006/relationships/image" Target="../media/image49.png"/><Relationship Id="rId10" Type="http://schemas.openxmlformats.org/officeDocument/2006/relationships/image" Target="../media/image80.png"/><Relationship Id="rId4" Type="http://schemas.openxmlformats.org/officeDocument/2006/relationships/image" Target="../media/image74.png"/><Relationship Id="rId9" Type="http://schemas.openxmlformats.org/officeDocument/2006/relationships/image" Target="../media/image79.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30.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png"/><Relationship Id="rId3" Type="http://schemas.openxmlformats.org/officeDocument/2006/relationships/image" Target="../media/image88.png"/><Relationship Id="rId7" Type="http://schemas.openxmlformats.org/officeDocument/2006/relationships/image" Target="../media/image92.png"/><Relationship Id="rId12" Type="http://schemas.openxmlformats.org/officeDocument/2006/relationships/image" Target="../media/image97.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png"/><Relationship Id="rId11" Type="http://schemas.openxmlformats.org/officeDocument/2006/relationships/image" Target="../media/image96.png"/><Relationship Id="rId5" Type="http://schemas.openxmlformats.org/officeDocument/2006/relationships/image" Target="../media/image90.pn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png"/></Relationships>
</file>

<file path=ppt/slides/_rels/slide31.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50.png"/><Relationship Id="rId3" Type="http://schemas.openxmlformats.org/officeDocument/2006/relationships/image" Target="../media/image100.png"/><Relationship Id="rId7" Type="http://schemas.openxmlformats.org/officeDocument/2006/relationships/image" Target="../media/image104.png"/><Relationship Id="rId12" Type="http://schemas.openxmlformats.org/officeDocument/2006/relationships/image" Target="../media/image109.png"/><Relationship Id="rId2"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png"/></Relationships>
</file>

<file path=ppt/slides/_rels/slide3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114.png"/><Relationship Id="rId4" Type="http://schemas.openxmlformats.org/officeDocument/2006/relationships/image" Target="../media/image113.png"/></Relationships>
</file>

<file path=ppt/slides/_rels/slide3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34.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image" Target="../media/image56.wmf"/><Relationship Id="rId18" Type="http://schemas.openxmlformats.org/officeDocument/2006/relationships/image" Target="../media/image65.png"/><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oleObject" Target="../embeddings/oleObject24.bin"/><Relationship Id="rId17" Type="http://schemas.openxmlformats.org/officeDocument/2006/relationships/oleObject" Target="../embeddings/oleObject27.bin"/><Relationship Id="rId2" Type="http://schemas.openxmlformats.org/officeDocument/2006/relationships/slideLayout" Target="../slideLayouts/slideLayout2.xml"/><Relationship Id="rId16" Type="http://schemas.openxmlformats.org/officeDocument/2006/relationships/image" Target="../media/image57.wmf"/><Relationship Id="rId1" Type="http://schemas.openxmlformats.org/officeDocument/2006/relationships/vmlDrawing" Target="../drawings/vmlDrawing4.vml"/><Relationship Id="rId6" Type="http://schemas.openxmlformats.org/officeDocument/2006/relationships/image" Target="../media/image53.wmf"/><Relationship Id="rId11" Type="http://schemas.openxmlformats.org/officeDocument/2006/relationships/image" Target="../media/image55.wmf"/><Relationship Id="rId5" Type="http://schemas.openxmlformats.org/officeDocument/2006/relationships/oleObject" Target="../embeddings/oleObject20.bin"/><Relationship Id="rId15" Type="http://schemas.openxmlformats.org/officeDocument/2006/relationships/oleObject" Target="../embeddings/oleObject26.bin"/><Relationship Id="rId10" Type="http://schemas.openxmlformats.org/officeDocument/2006/relationships/oleObject" Target="../embeddings/oleObject23.bin"/><Relationship Id="rId4" Type="http://schemas.openxmlformats.org/officeDocument/2006/relationships/image" Target="../media/image52.wmf"/><Relationship Id="rId9" Type="http://schemas.openxmlformats.org/officeDocument/2006/relationships/oleObject" Target="../embeddings/oleObject22.bin"/><Relationship Id="rId14" Type="http://schemas.openxmlformats.org/officeDocument/2006/relationships/oleObject" Target="../embeddings/oleObject25.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3" Type="http://schemas.openxmlformats.org/officeDocument/2006/relationships/image" Target="../media/image1300.png"/><Relationship Id="rId3" Type="http://schemas.openxmlformats.org/officeDocument/2006/relationships/image" Target="../media/image67.png"/><Relationship Id="rId21" Type="http://schemas.openxmlformats.org/officeDocument/2006/relationships/image" Target="../media/image1270.png"/><Relationship Id="rId17" Type="http://schemas.openxmlformats.org/officeDocument/2006/relationships/image" Target="../media/image135.png"/><Relationship Id="rId2" Type="http://schemas.openxmlformats.org/officeDocument/2006/relationships/notesSlide" Target="../notesSlides/notesSlide5.xml"/><Relationship Id="rId16" Type="http://schemas.openxmlformats.org/officeDocument/2006/relationships/image" Target="../media/image134.png"/><Relationship Id="rId20" Type="http://schemas.openxmlformats.org/officeDocument/2006/relationships/image" Target="../media/image1260.png"/><Relationship Id="rId1" Type="http://schemas.openxmlformats.org/officeDocument/2006/relationships/slideLayout" Target="../slideLayouts/slideLayout2.xml"/><Relationship Id="rId11" Type="http://schemas.openxmlformats.org/officeDocument/2006/relationships/image" Target="../media/image1280.png"/><Relationship Id="rId5" Type="http://schemas.openxmlformats.org/officeDocument/2006/relationships/image" Target="../media/image132.png"/><Relationship Id="rId15" Type="http://schemas.openxmlformats.org/officeDocument/2006/relationships/image" Target="../media/image1320.png"/><Relationship Id="rId19" Type="http://schemas.openxmlformats.org/officeDocument/2006/relationships/image" Target="../media/image1250.png"/><Relationship Id="rId4" Type="http://schemas.openxmlformats.org/officeDocument/2006/relationships/image" Target="../media/image131.png"/><Relationship Id="rId14" Type="http://schemas.openxmlformats.org/officeDocument/2006/relationships/image" Target="../media/image1310.png"/><Relationship Id="rId22" Type="http://schemas.openxmlformats.org/officeDocument/2006/relationships/image" Target="../media/image136.png"/></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72.jpeg"/><Relationship Id="rId7" Type="http://schemas.openxmlformats.org/officeDocument/2006/relationships/image" Target="../media/image69.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29.bin"/><Relationship Id="rId11" Type="http://schemas.openxmlformats.org/officeDocument/2006/relationships/image" Target="../media/image71.wmf"/><Relationship Id="rId5" Type="http://schemas.openxmlformats.org/officeDocument/2006/relationships/image" Target="../media/image68.wmf"/><Relationship Id="rId10" Type="http://schemas.openxmlformats.org/officeDocument/2006/relationships/oleObject" Target="../embeddings/oleObject31.bin"/><Relationship Id="rId4" Type="http://schemas.openxmlformats.org/officeDocument/2006/relationships/oleObject" Target="../embeddings/oleObject28.bin"/><Relationship Id="rId9" Type="http://schemas.openxmlformats.org/officeDocument/2006/relationships/image" Target="../media/image70.wmf"/></Relationships>
</file>

<file path=ppt/slides/_rels/slide38.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 Id="rId4" Type="http://schemas.openxmlformats.org/officeDocument/2006/relationships/image" Target="../media/image139.png"/></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74.wmf"/><Relationship Id="rId5" Type="http://schemas.openxmlformats.org/officeDocument/2006/relationships/oleObject" Target="../embeddings/oleObject33.bin"/><Relationship Id="rId4" Type="http://schemas.openxmlformats.org/officeDocument/2006/relationships/image" Target="../media/image73.wmf"/></Relationships>
</file>

<file path=ppt/slides/_rels/slide4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 Id="rId5" Type="http://schemas.openxmlformats.org/officeDocument/2006/relationships/image" Target="../media/image144.png"/><Relationship Id="rId4" Type="http://schemas.openxmlformats.org/officeDocument/2006/relationships/image" Target="../media/image1400.png"/></Relationships>
</file>

<file path=ppt/slides/_rels/slide42.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13.xml"/><Relationship Id="rId4" Type="http://schemas.openxmlformats.org/officeDocument/2006/relationships/image" Target="../media/image148.png"/></Relationships>
</file>

<file path=ppt/slides/_rels/slide44.xml.rels><?xml version="1.0" encoding="UTF-8" standalone="yes"?>
<Relationships xmlns="http://schemas.openxmlformats.org/package/2006/relationships"><Relationship Id="rId8" Type="http://schemas.openxmlformats.org/officeDocument/2006/relationships/image" Target="../media/image1510.png"/><Relationship Id="rId3" Type="http://schemas.openxmlformats.org/officeDocument/2006/relationships/image" Target="../media/image110.png"/><Relationship Id="rId7" Type="http://schemas.openxmlformats.org/officeDocument/2006/relationships/image" Target="../media/image1500.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490.png"/><Relationship Id="rId5" Type="http://schemas.openxmlformats.org/officeDocument/2006/relationships/image" Target="../media/image121.png"/><Relationship Id="rId4" Type="http://schemas.openxmlformats.org/officeDocument/2006/relationships/image" Target="../media/image115.png"/><Relationship Id="rId9" Type="http://schemas.openxmlformats.org/officeDocument/2006/relationships/image" Target="../media/image152.png"/></Relationships>
</file>

<file path=ppt/slides/_rels/slide45.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61.png"/><Relationship Id="rId3" Type="http://schemas.openxmlformats.org/officeDocument/2006/relationships/notesSlide" Target="../notesSlides/notesSlide7.xml"/><Relationship Id="rId7" Type="http://schemas.openxmlformats.org/officeDocument/2006/relationships/image" Target="../media/image154.png"/><Relationship Id="rId12" Type="http://schemas.openxmlformats.org/officeDocument/2006/relationships/image" Target="../media/image125.png"/><Relationship Id="rId2" Type="http://schemas.openxmlformats.org/officeDocument/2006/relationships/slideLayout" Target="../slideLayouts/slideLayout13.xml"/><Relationship Id="rId1" Type="http://schemas.openxmlformats.org/officeDocument/2006/relationships/vmlDrawing" Target="../drawings/vmlDrawing7.vml"/><Relationship Id="rId6" Type="http://schemas.openxmlformats.org/officeDocument/2006/relationships/image" Target="../media/image1480.png"/><Relationship Id="rId11" Type="http://schemas.openxmlformats.org/officeDocument/2006/relationships/image" Target="../media/image158.png"/><Relationship Id="rId5" Type="http://schemas.openxmlformats.org/officeDocument/2006/relationships/image" Target="../media/image122.png"/><Relationship Id="rId15" Type="http://schemas.openxmlformats.org/officeDocument/2006/relationships/image" Target="../media/image160.png"/><Relationship Id="rId10" Type="http://schemas.openxmlformats.org/officeDocument/2006/relationships/image" Target="../media/image157.png"/><Relationship Id="rId4" Type="http://schemas.openxmlformats.org/officeDocument/2006/relationships/oleObject" Target="../embeddings/oleObject34.bin"/><Relationship Id="rId9" Type="http://schemas.openxmlformats.org/officeDocument/2006/relationships/image" Target="../media/image124.png"/><Relationship Id="rId14" Type="http://schemas.openxmlformats.org/officeDocument/2006/relationships/image" Target="../media/image162.png"/></Relationships>
</file>

<file path=ppt/slides/_rels/slide46.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oleObject" Target="../embeddings/oleObject36.bin"/><Relationship Id="rId3" Type="http://schemas.openxmlformats.org/officeDocument/2006/relationships/notesSlide" Target="../notesSlides/notesSlide8.xml"/><Relationship Id="rId7" Type="http://schemas.openxmlformats.org/officeDocument/2006/relationships/image" Target="../media/image126.png"/><Relationship Id="rId12" Type="http://schemas.openxmlformats.org/officeDocument/2006/relationships/image" Target="../media/image169.png"/><Relationship Id="rId2" Type="http://schemas.openxmlformats.org/officeDocument/2006/relationships/slideLayout" Target="../slideLayouts/slideLayout13.xml"/><Relationship Id="rId1" Type="http://schemas.openxmlformats.org/officeDocument/2006/relationships/vmlDrawing" Target="../drawings/vmlDrawing8.vml"/><Relationship Id="rId6" Type="http://schemas.openxmlformats.org/officeDocument/2006/relationships/oleObject" Target="../embeddings/oleObject35.bin"/><Relationship Id="rId5" Type="http://schemas.openxmlformats.org/officeDocument/2006/relationships/image" Target="../media/image1640.png"/><Relationship Id="rId4" Type="http://schemas.openxmlformats.org/officeDocument/2006/relationships/image" Target="../media/image165.png"/><Relationship Id="rId9" Type="http://schemas.openxmlformats.org/officeDocument/2006/relationships/image" Target="../media/image167.png"/><Relationship Id="rId14" Type="http://schemas.openxmlformats.org/officeDocument/2006/relationships/image" Target="../media/image127.png"/></Relationships>
</file>

<file path=ppt/slides/_rels/slide47.xml.rels><?xml version="1.0" encoding="UTF-8" standalone="yes"?>
<Relationships xmlns="http://schemas.openxmlformats.org/package/2006/relationships"><Relationship Id="rId3" Type="http://schemas.openxmlformats.org/officeDocument/2006/relationships/image" Target="../media/image170.png"/><Relationship Id="rId7" Type="http://schemas.openxmlformats.org/officeDocument/2006/relationships/image" Target="../media/image175.png"/><Relationship Id="rId2" Type="http://schemas.openxmlformats.org/officeDocument/2006/relationships/image" Target="../media/image168.png"/><Relationship Id="rId1" Type="http://schemas.openxmlformats.org/officeDocument/2006/relationships/slideLayout" Target="../slideLayouts/slideLayout13.xml"/><Relationship Id="rId6" Type="http://schemas.openxmlformats.org/officeDocument/2006/relationships/image" Target="../media/image130.png"/><Relationship Id="rId5" Type="http://schemas.openxmlformats.org/officeDocument/2006/relationships/image" Target="../media/image173.png"/><Relationship Id="rId4" Type="http://schemas.openxmlformats.org/officeDocument/2006/relationships/image" Target="../media/image129.png"/></Relationships>
</file>

<file path=ppt/slides/_rels/slide48.xml.rels><?xml version="1.0" encoding="UTF-8" standalone="yes"?>
<Relationships xmlns="http://schemas.openxmlformats.org/package/2006/relationships"><Relationship Id="rId3" Type="http://schemas.openxmlformats.org/officeDocument/2006/relationships/image" Target="../media/image174.png"/><Relationship Id="rId7" Type="http://schemas.openxmlformats.org/officeDocument/2006/relationships/image" Target="../media/image178.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79.png"/><Relationship Id="rId5" Type="http://schemas.openxmlformats.org/officeDocument/2006/relationships/image" Target="../media/image177.png"/><Relationship Id="rId4" Type="http://schemas.openxmlformats.org/officeDocument/2006/relationships/image" Target="../media/image176.png"/></Relationships>
</file>

<file path=ppt/slides/_rels/slide49.xml.rels><?xml version="1.0" encoding="UTF-8" standalone="yes"?>
<Relationships xmlns="http://schemas.openxmlformats.org/package/2006/relationships"><Relationship Id="rId2" Type="http://schemas.openxmlformats.org/officeDocument/2006/relationships/image" Target="../media/image131.jpeg"/><Relationship Id="rId1" Type="http://schemas.openxmlformats.org/officeDocument/2006/relationships/slideLayout" Target="../slideLayouts/slideLayout23.xml"/></Relationships>
</file>

<file path=ppt/slides/_rels/slide50.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slideLayout" Target="../slideLayouts/slideLayout15.xml"/><Relationship Id="rId4" Type="http://schemas.openxmlformats.org/officeDocument/2006/relationships/image" Target="../media/image133.png"/></Relationships>
</file>

<file path=ppt/slides/_rels/slide52.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8" Type="http://schemas.openxmlformats.org/officeDocument/2006/relationships/image" Target="../media/image186.png"/><Relationship Id="rId13" Type="http://schemas.openxmlformats.org/officeDocument/2006/relationships/image" Target="../media/image197.png"/><Relationship Id="rId18" Type="http://schemas.openxmlformats.org/officeDocument/2006/relationships/image" Target="../media/image202.png"/><Relationship Id="rId3" Type="http://schemas.openxmlformats.org/officeDocument/2006/relationships/image" Target="../media/image185.png"/><Relationship Id="rId7" Type="http://schemas.openxmlformats.org/officeDocument/2006/relationships/image" Target="../media/image191.png"/><Relationship Id="rId12" Type="http://schemas.openxmlformats.org/officeDocument/2006/relationships/image" Target="../media/image196.png"/><Relationship Id="rId17" Type="http://schemas.openxmlformats.org/officeDocument/2006/relationships/image" Target="../media/image201.png"/><Relationship Id="rId2" Type="http://schemas.openxmlformats.org/officeDocument/2006/relationships/image" Target="../media/image1840.png"/><Relationship Id="rId16" Type="http://schemas.openxmlformats.org/officeDocument/2006/relationships/image" Target="../media/image200.png"/><Relationship Id="rId1" Type="http://schemas.openxmlformats.org/officeDocument/2006/relationships/slideLayout" Target="../slideLayouts/slideLayout13.xml"/><Relationship Id="rId6" Type="http://schemas.openxmlformats.org/officeDocument/2006/relationships/image" Target="../media/image190.png"/><Relationship Id="rId11" Type="http://schemas.openxmlformats.org/officeDocument/2006/relationships/image" Target="../media/image195.png"/><Relationship Id="rId5" Type="http://schemas.openxmlformats.org/officeDocument/2006/relationships/image" Target="../media/image189.png"/><Relationship Id="rId15" Type="http://schemas.openxmlformats.org/officeDocument/2006/relationships/image" Target="../media/image199.png"/><Relationship Id="rId10" Type="http://schemas.openxmlformats.org/officeDocument/2006/relationships/image" Target="../media/image194.png"/><Relationship Id="rId4" Type="http://schemas.openxmlformats.org/officeDocument/2006/relationships/image" Target="../media/image188.png"/><Relationship Id="rId9" Type="http://schemas.openxmlformats.org/officeDocument/2006/relationships/image" Target="../media/image193.png"/><Relationship Id="rId14" Type="http://schemas.openxmlformats.org/officeDocument/2006/relationships/image" Target="../media/image198.png"/></Relationships>
</file>

<file path=ppt/slides/_rels/slide56.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214.png"/><Relationship Id="rId3" Type="http://schemas.openxmlformats.org/officeDocument/2006/relationships/image" Target="../media/image204.png"/><Relationship Id="rId7" Type="http://schemas.openxmlformats.org/officeDocument/2006/relationships/image" Target="../media/image208.png"/><Relationship Id="rId12" Type="http://schemas.openxmlformats.org/officeDocument/2006/relationships/image" Target="../media/image213.png"/><Relationship Id="rId2" Type="http://schemas.openxmlformats.org/officeDocument/2006/relationships/image" Target="../media/image203.png"/><Relationship Id="rId1" Type="http://schemas.openxmlformats.org/officeDocument/2006/relationships/slideLayout" Target="../slideLayouts/slideLayout13.xml"/><Relationship Id="rId6" Type="http://schemas.openxmlformats.org/officeDocument/2006/relationships/image" Target="../media/image140.png"/><Relationship Id="rId11" Type="http://schemas.openxmlformats.org/officeDocument/2006/relationships/image" Target="../media/image212.png"/><Relationship Id="rId5" Type="http://schemas.openxmlformats.org/officeDocument/2006/relationships/image" Target="../media/image206.png"/><Relationship Id="rId15" Type="http://schemas.openxmlformats.org/officeDocument/2006/relationships/image" Target="../media/image216.png"/><Relationship Id="rId10" Type="http://schemas.openxmlformats.org/officeDocument/2006/relationships/image" Target="../media/image211.png"/><Relationship Id="rId4" Type="http://schemas.openxmlformats.org/officeDocument/2006/relationships/image" Target="../media/image205.png"/><Relationship Id="rId9" Type="http://schemas.openxmlformats.org/officeDocument/2006/relationships/image" Target="../media/image210.png"/><Relationship Id="rId14" Type="http://schemas.openxmlformats.org/officeDocument/2006/relationships/image" Target="../media/image215.png"/></Relationships>
</file>

<file path=ppt/slides/_rels/slide57.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image" Target="../media/image217.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8" Type="http://schemas.openxmlformats.org/officeDocument/2006/relationships/image" Target="../media/image225.png"/><Relationship Id="rId13" Type="http://schemas.openxmlformats.org/officeDocument/2006/relationships/image" Target="../media/image230.png"/><Relationship Id="rId3" Type="http://schemas.openxmlformats.org/officeDocument/2006/relationships/image" Target="../media/image220.png"/><Relationship Id="rId7" Type="http://schemas.openxmlformats.org/officeDocument/2006/relationships/image" Target="../media/image2090.png"/><Relationship Id="rId12" Type="http://schemas.openxmlformats.org/officeDocument/2006/relationships/image" Target="../media/image229.png"/><Relationship Id="rId2" Type="http://schemas.openxmlformats.org/officeDocument/2006/relationships/image" Target="../media/image219.png"/><Relationship Id="rId1" Type="http://schemas.openxmlformats.org/officeDocument/2006/relationships/slideLayout" Target="../slideLayouts/slideLayout13.xml"/><Relationship Id="rId6" Type="http://schemas.openxmlformats.org/officeDocument/2006/relationships/image" Target="../media/image209.png"/><Relationship Id="rId11" Type="http://schemas.openxmlformats.org/officeDocument/2006/relationships/image" Target="../media/image228.png"/><Relationship Id="rId5" Type="http://schemas.openxmlformats.org/officeDocument/2006/relationships/image" Target="../media/image207.png"/><Relationship Id="rId10" Type="http://schemas.openxmlformats.org/officeDocument/2006/relationships/image" Target="../media/image227.png"/><Relationship Id="rId4" Type="http://schemas.openxmlformats.org/officeDocument/2006/relationships/image" Target="../media/image221.png"/><Relationship Id="rId9" Type="http://schemas.openxmlformats.org/officeDocument/2006/relationships/image" Target="../media/image226.png"/></Relationships>
</file>

<file path=ppt/slides/_rels/slide59.xml.rels><?xml version="1.0" encoding="UTF-8" standalone="yes"?>
<Relationships xmlns="http://schemas.openxmlformats.org/package/2006/relationships"><Relationship Id="rId8" Type="http://schemas.openxmlformats.org/officeDocument/2006/relationships/image" Target="../media/image237.png"/><Relationship Id="rId13" Type="http://schemas.openxmlformats.org/officeDocument/2006/relationships/image" Target="../media/image242.png"/><Relationship Id="rId3" Type="http://schemas.openxmlformats.org/officeDocument/2006/relationships/image" Target="../media/image232.png"/><Relationship Id="rId7" Type="http://schemas.openxmlformats.org/officeDocument/2006/relationships/image" Target="../media/image236.png"/><Relationship Id="rId12" Type="http://schemas.openxmlformats.org/officeDocument/2006/relationships/image" Target="../media/image241.png"/><Relationship Id="rId2" Type="http://schemas.openxmlformats.org/officeDocument/2006/relationships/image" Target="../media/image231.png"/><Relationship Id="rId1" Type="http://schemas.openxmlformats.org/officeDocument/2006/relationships/slideLayout" Target="../slideLayouts/slideLayout13.xml"/><Relationship Id="rId6" Type="http://schemas.openxmlformats.org/officeDocument/2006/relationships/image" Target="../media/image235.png"/><Relationship Id="rId11" Type="http://schemas.openxmlformats.org/officeDocument/2006/relationships/image" Target="../media/image240.png"/><Relationship Id="rId5" Type="http://schemas.openxmlformats.org/officeDocument/2006/relationships/image" Target="../media/image234.png"/><Relationship Id="rId10" Type="http://schemas.openxmlformats.org/officeDocument/2006/relationships/image" Target="../media/image239.png"/><Relationship Id="rId4" Type="http://schemas.openxmlformats.org/officeDocument/2006/relationships/image" Target="../media/image233.png"/><Relationship Id="rId9" Type="http://schemas.openxmlformats.org/officeDocument/2006/relationships/image" Target="../media/image222.png"/><Relationship Id="rId14" Type="http://schemas.openxmlformats.org/officeDocument/2006/relationships/image" Target="../media/image243.png"/></Relationships>
</file>

<file path=ppt/slides/_rels/slide60.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245.png"/><Relationship Id="rId7" Type="http://schemas.openxmlformats.org/officeDocument/2006/relationships/image" Target="../media/image249.png"/><Relationship Id="rId2" Type="http://schemas.openxmlformats.org/officeDocument/2006/relationships/image" Target="../media/image244.png"/><Relationship Id="rId1" Type="http://schemas.openxmlformats.org/officeDocument/2006/relationships/slideLayout" Target="../slideLayouts/slideLayout13.xml"/><Relationship Id="rId6" Type="http://schemas.openxmlformats.org/officeDocument/2006/relationships/image" Target="../media/image248.png"/><Relationship Id="rId5" Type="http://schemas.openxmlformats.org/officeDocument/2006/relationships/image" Target="../media/image247.png"/><Relationship Id="rId10" Type="http://schemas.openxmlformats.org/officeDocument/2006/relationships/image" Target="../media/image153.png"/><Relationship Id="rId4" Type="http://schemas.openxmlformats.org/officeDocument/2006/relationships/image" Target="../media/image246.png"/><Relationship Id="rId9" Type="http://schemas.openxmlformats.org/officeDocument/2006/relationships/image" Target="../media/image151.png"/></Relationships>
</file>

<file path=ppt/slides/_rels/slide61.xml.rels><?xml version="1.0" encoding="UTF-8" standalone="yes"?>
<Relationships xmlns="http://schemas.openxmlformats.org/package/2006/relationships"><Relationship Id="rId8" Type="http://schemas.openxmlformats.org/officeDocument/2006/relationships/image" Target="../media/image258.png"/><Relationship Id="rId3" Type="http://schemas.openxmlformats.org/officeDocument/2006/relationships/image" Target="../media/image253.png"/><Relationship Id="rId7" Type="http://schemas.openxmlformats.org/officeDocument/2006/relationships/image" Target="../media/image257.png"/><Relationship Id="rId2" Type="http://schemas.openxmlformats.org/officeDocument/2006/relationships/image" Target="../media/image252.png"/><Relationship Id="rId1" Type="http://schemas.openxmlformats.org/officeDocument/2006/relationships/slideLayout" Target="../slideLayouts/slideLayout13.xml"/><Relationship Id="rId6" Type="http://schemas.openxmlformats.org/officeDocument/2006/relationships/image" Target="../media/image251.png"/><Relationship Id="rId5" Type="http://schemas.openxmlformats.org/officeDocument/2006/relationships/image" Target="../media/image250.png"/><Relationship Id="rId10" Type="http://schemas.openxmlformats.org/officeDocument/2006/relationships/image" Target="../media/image260.png"/><Relationship Id="rId4" Type="http://schemas.openxmlformats.org/officeDocument/2006/relationships/image" Target="../media/image254.png"/><Relationship Id="rId9" Type="http://schemas.openxmlformats.org/officeDocument/2006/relationships/image" Target="../media/image259.png"/></Relationships>
</file>

<file path=ppt/slides/_rels/slide62.xml.rels><?xml version="1.0" encoding="UTF-8" standalone="yes"?>
<Relationships xmlns="http://schemas.openxmlformats.org/package/2006/relationships"><Relationship Id="rId3" Type="http://schemas.openxmlformats.org/officeDocument/2006/relationships/image" Target="../media/image262.png"/><Relationship Id="rId7" Type="http://schemas.openxmlformats.org/officeDocument/2006/relationships/image" Target="../media/image264.png"/><Relationship Id="rId2" Type="http://schemas.openxmlformats.org/officeDocument/2006/relationships/image" Target="../media/image261.png"/><Relationship Id="rId1" Type="http://schemas.openxmlformats.org/officeDocument/2006/relationships/slideLayout" Target="../slideLayouts/slideLayout13.xml"/><Relationship Id="rId6" Type="http://schemas.openxmlformats.org/officeDocument/2006/relationships/image" Target="../media/image263.png"/><Relationship Id="rId5" Type="http://schemas.openxmlformats.org/officeDocument/2006/relationships/image" Target="../media/image256.png"/><Relationship Id="rId4" Type="http://schemas.openxmlformats.org/officeDocument/2006/relationships/image" Target="../media/image255.png"/></Relationships>
</file>

<file path=ppt/slides/_rels/slide63.xml.rels><?xml version="1.0" encoding="UTF-8" standalone="yes"?>
<Relationships xmlns="http://schemas.openxmlformats.org/package/2006/relationships"><Relationship Id="rId8" Type="http://schemas.openxmlformats.org/officeDocument/2006/relationships/image" Target="../media/image2690.png"/><Relationship Id="rId3" Type="http://schemas.openxmlformats.org/officeDocument/2006/relationships/image" Target="../media/image265.png"/><Relationship Id="rId7" Type="http://schemas.openxmlformats.org/officeDocument/2006/relationships/image" Target="../media/image269.png"/><Relationship Id="rId2" Type="http://schemas.openxmlformats.org/officeDocument/2006/relationships/image" Target="../media/image2630.png"/><Relationship Id="rId1" Type="http://schemas.openxmlformats.org/officeDocument/2006/relationships/slideLayout" Target="../slideLayouts/slideLayout13.xml"/><Relationship Id="rId6" Type="http://schemas.openxmlformats.org/officeDocument/2006/relationships/image" Target="../media/image268.png"/><Relationship Id="rId11" Type="http://schemas.openxmlformats.org/officeDocument/2006/relationships/image" Target="../media/image272.png"/><Relationship Id="rId5" Type="http://schemas.openxmlformats.org/officeDocument/2006/relationships/image" Target="../media/image267.png"/><Relationship Id="rId10" Type="http://schemas.openxmlformats.org/officeDocument/2006/relationships/image" Target="../media/image271.png"/><Relationship Id="rId4" Type="http://schemas.openxmlformats.org/officeDocument/2006/relationships/image" Target="../media/image266.png"/><Relationship Id="rId9" Type="http://schemas.openxmlformats.org/officeDocument/2006/relationships/image" Target="../media/image270.png"/></Relationships>
</file>

<file path=ppt/slides/_rels/slide64.xml.rels><?xml version="1.0" encoding="UTF-8" standalone="yes"?>
<Relationships xmlns="http://schemas.openxmlformats.org/package/2006/relationships"><Relationship Id="rId8" Type="http://schemas.openxmlformats.org/officeDocument/2006/relationships/image" Target="../media/image2730.png"/><Relationship Id="rId13" Type="http://schemas.openxmlformats.org/officeDocument/2006/relationships/image" Target="../media/image2780.png"/><Relationship Id="rId18" Type="http://schemas.openxmlformats.org/officeDocument/2006/relationships/image" Target="../media/image283.png"/><Relationship Id="rId3" Type="http://schemas.openxmlformats.org/officeDocument/2006/relationships/image" Target="../media/image2731.png"/><Relationship Id="rId7" Type="http://schemas.openxmlformats.org/officeDocument/2006/relationships/image" Target="../media/image2741.png"/><Relationship Id="rId12" Type="http://schemas.openxmlformats.org/officeDocument/2006/relationships/image" Target="../media/image2770.png"/><Relationship Id="rId17" Type="http://schemas.openxmlformats.org/officeDocument/2006/relationships/image" Target="../media/image282.png"/><Relationship Id="rId2" Type="http://schemas.openxmlformats.org/officeDocument/2006/relationships/slideLayout" Target="../slideLayouts/slideLayout13.xml"/><Relationship Id="rId16" Type="http://schemas.openxmlformats.org/officeDocument/2006/relationships/image" Target="../media/image281.png"/><Relationship Id="rId1" Type="http://schemas.openxmlformats.org/officeDocument/2006/relationships/vmlDrawing" Target="../drawings/vmlDrawing9.vml"/><Relationship Id="rId6" Type="http://schemas.openxmlformats.org/officeDocument/2006/relationships/image" Target="../media/image2710.png"/><Relationship Id="rId11" Type="http://schemas.openxmlformats.org/officeDocument/2006/relationships/image" Target="../media/image2760.png"/><Relationship Id="rId5" Type="http://schemas.openxmlformats.org/officeDocument/2006/relationships/image" Target="../media/image150.wmf"/><Relationship Id="rId15" Type="http://schemas.openxmlformats.org/officeDocument/2006/relationships/image" Target="../media/image2800.png"/><Relationship Id="rId10" Type="http://schemas.openxmlformats.org/officeDocument/2006/relationships/image" Target="../media/image2750.png"/><Relationship Id="rId4" Type="http://schemas.openxmlformats.org/officeDocument/2006/relationships/oleObject" Target="../embeddings/oleObject37.bin"/><Relationship Id="rId9" Type="http://schemas.openxmlformats.org/officeDocument/2006/relationships/image" Target="../media/image2740.png"/><Relationship Id="rId14" Type="http://schemas.openxmlformats.org/officeDocument/2006/relationships/image" Target="../media/image279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284.png"/><Relationship Id="rId2" Type="http://schemas.openxmlformats.org/officeDocument/2006/relationships/image" Target="../media/image2700.png"/><Relationship Id="rId1" Type="http://schemas.openxmlformats.org/officeDocument/2006/relationships/slideLayout" Target="../slideLayouts/slideLayout13.xml"/><Relationship Id="rId5" Type="http://schemas.openxmlformats.org/officeDocument/2006/relationships/image" Target="../media/image286.png"/><Relationship Id="rId4" Type="http://schemas.openxmlformats.org/officeDocument/2006/relationships/image" Target="../media/image285.png"/></Relationships>
</file>

<file path=ppt/slides/_rels/slide68.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287.png"/><Relationship Id="rId1" Type="http://schemas.openxmlformats.org/officeDocument/2006/relationships/slideLayout" Target="../slideLayouts/slideLayout13.xml"/><Relationship Id="rId5" Type="http://schemas.openxmlformats.org/officeDocument/2006/relationships/image" Target="../media/image2880.png"/><Relationship Id="rId4" Type="http://schemas.openxmlformats.org/officeDocument/2006/relationships/image" Target="../media/image289.png"/></Relationships>
</file>

<file path=ppt/slides/_rels/slide69.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2900.png"/><Relationship Id="rId4" Type="http://schemas.openxmlformats.org/officeDocument/2006/relationships/image" Target="../media/image156.png"/></Relationships>
</file>

<file path=ppt/slides/_rels/slide70.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293.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8" Type="http://schemas.openxmlformats.org/officeDocument/2006/relationships/image" Target="../media/image294.png"/><Relationship Id="rId13" Type="http://schemas.openxmlformats.org/officeDocument/2006/relationships/image" Target="../media/image299.png"/><Relationship Id="rId3" Type="http://schemas.openxmlformats.org/officeDocument/2006/relationships/oleObject" Target="../embeddings/oleObject38.bin"/><Relationship Id="rId7" Type="http://schemas.openxmlformats.org/officeDocument/2006/relationships/image" Target="../media/image2930.png"/><Relationship Id="rId12" Type="http://schemas.openxmlformats.org/officeDocument/2006/relationships/image" Target="../media/image298.png"/><Relationship Id="rId2" Type="http://schemas.openxmlformats.org/officeDocument/2006/relationships/slideLayout" Target="../slideLayouts/slideLayout13.xml"/><Relationship Id="rId1" Type="http://schemas.openxmlformats.org/officeDocument/2006/relationships/vmlDrawing" Target="../drawings/vmlDrawing10.vml"/><Relationship Id="rId6" Type="http://schemas.openxmlformats.org/officeDocument/2006/relationships/image" Target="../media/image160.wmf"/><Relationship Id="rId11" Type="http://schemas.openxmlformats.org/officeDocument/2006/relationships/image" Target="../media/image297.png"/><Relationship Id="rId5" Type="http://schemas.openxmlformats.org/officeDocument/2006/relationships/oleObject" Target="../embeddings/oleObject38.bin"/><Relationship Id="rId10" Type="http://schemas.openxmlformats.org/officeDocument/2006/relationships/image" Target="../media/image296.png"/><Relationship Id="rId4" Type="http://schemas.openxmlformats.org/officeDocument/2006/relationships/image" Target="../media/image160.wmf"/><Relationship Id="rId9" Type="http://schemas.openxmlformats.org/officeDocument/2006/relationships/image" Target="../media/image295.png"/><Relationship Id="rId14" Type="http://schemas.openxmlformats.org/officeDocument/2006/relationships/image" Target="../media/image300.png"/></Relationships>
</file>

<file path=ppt/slides/_rels/slide74.xml.rels><?xml version="1.0" encoding="UTF-8" standalone="yes"?>
<Relationships xmlns="http://schemas.openxmlformats.org/package/2006/relationships"><Relationship Id="rId8" Type="http://schemas.openxmlformats.org/officeDocument/2006/relationships/image" Target="../media/image304.png"/><Relationship Id="rId3" Type="http://schemas.openxmlformats.org/officeDocument/2006/relationships/oleObject" Target="../embeddings/oleObject39.bin"/><Relationship Id="rId7" Type="http://schemas.openxmlformats.org/officeDocument/2006/relationships/image" Target="../media/image303.png"/><Relationship Id="rId2" Type="http://schemas.openxmlformats.org/officeDocument/2006/relationships/slideLayout" Target="../slideLayouts/slideLayout13.xml"/><Relationship Id="rId1" Type="http://schemas.openxmlformats.org/officeDocument/2006/relationships/vmlDrawing" Target="../drawings/vmlDrawing11.vml"/><Relationship Id="rId6" Type="http://schemas.openxmlformats.org/officeDocument/2006/relationships/image" Target="../media/image302.png"/><Relationship Id="rId5" Type="http://schemas.openxmlformats.org/officeDocument/2006/relationships/image" Target="../media/image301.png"/><Relationship Id="rId4" Type="http://schemas.openxmlformats.org/officeDocument/2006/relationships/image" Target="../media/image160.wmf"/><Relationship Id="rId9" Type="http://schemas.openxmlformats.org/officeDocument/2006/relationships/oleObject" Target="../embeddings/oleObject40.bin"/></Relationships>
</file>

<file path=ppt/slides/_rels/slide75.xml.rels><?xml version="1.0" encoding="UTF-8" standalone="yes"?>
<Relationships xmlns="http://schemas.openxmlformats.org/package/2006/relationships"><Relationship Id="rId3" Type="http://schemas.openxmlformats.org/officeDocument/2006/relationships/image" Target="../media/image306.png"/><Relationship Id="rId2" Type="http://schemas.openxmlformats.org/officeDocument/2006/relationships/image" Target="../media/image163.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311.png"/><Relationship Id="rId5" Type="http://schemas.openxmlformats.org/officeDocument/2006/relationships/image" Target="../media/image310.png"/><Relationship Id="rId4" Type="http://schemas.openxmlformats.org/officeDocument/2006/relationships/image" Target="../media/image171.png"/></Relationships>
</file>

<file path=ppt/slides/_rels/slide78.xml.rels><?xml version="1.0" encoding="UTF-8" standalone="yes"?>
<Relationships xmlns="http://schemas.openxmlformats.org/package/2006/relationships"><Relationship Id="rId3" Type="http://schemas.openxmlformats.org/officeDocument/2006/relationships/image" Target="../media/image313.png"/><Relationship Id="rId2" Type="http://schemas.openxmlformats.org/officeDocument/2006/relationships/image" Target="../media/image312.png"/><Relationship Id="rId1" Type="http://schemas.openxmlformats.org/officeDocument/2006/relationships/slideLayout" Target="../slideLayouts/slideLayout13.xml"/><Relationship Id="rId6" Type="http://schemas.openxmlformats.org/officeDocument/2006/relationships/image" Target="../media/image172.png"/><Relationship Id="rId5" Type="http://schemas.openxmlformats.org/officeDocument/2006/relationships/image" Target="../media/image315.png"/><Relationship Id="rId4" Type="http://schemas.openxmlformats.org/officeDocument/2006/relationships/image" Target="../media/image314.png"/></Relationships>
</file>

<file path=ppt/slides/_rels/slide79.xml.rels><?xml version="1.0" encoding="UTF-8" standalone="yes"?>
<Relationships xmlns="http://schemas.openxmlformats.org/package/2006/relationships"><Relationship Id="rId3" Type="http://schemas.openxmlformats.org/officeDocument/2006/relationships/image" Target="../media/image317.png"/><Relationship Id="rId7" Type="http://schemas.openxmlformats.org/officeDocument/2006/relationships/image" Target="../media/image321.png"/><Relationship Id="rId2" Type="http://schemas.openxmlformats.org/officeDocument/2006/relationships/image" Target="../media/image3160.png"/><Relationship Id="rId1" Type="http://schemas.openxmlformats.org/officeDocument/2006/relationships/slideLayout" Target="../slideLayouts/slideLayout13.xml"/><Relationship Id="rId6" Type="http://schemas.openxmlformats.org/officeDocument/2006/relationships/image" Target="../media/image320.png"/><Relationship Id="rId5" Type="http://schemas.openxmlformats.org/officeDocument/2006/relationships/image" Target="../media/image319.png"/><Relationship Id="rId4" Type="http://schemas.openxmlformats.org/officeDocument/2006/relationships/image" Target="../media/image318.png"/></Relationships>
</file>

<file path=ppt/slides/_rels/slide80.xml.rels><?xml version="1.0" encoding="UTF-8" standalone="yes"?>
<Relationships xmlns="http://schemas.openxmlformats.org/package/2006/relationships"><Relationship Id="rId8" Type="http://schemas.openxmlformats.org/officeDocument/2006/relationships/image" Target="../media/image328.png"/><Relationship Id="rId3" Type="http://schemas.openxmlformats.org/officeDocument/2006/relationships/image" Target="../media/image323.png"/><Relationship Id="rId7" Type="http://schemas.openxmlformats.org/officeDocument/2006/relationships/image" Target="../media/image327.png"/><Relationship Id="rId2" Type="http://schemas.openxmlformats.org/officeDocument/2006/relationships/image" Target="../media/image322.png"/><Relationship Id="rId1" Type="http://schemas.openxmlformats.org/officeDocument/2006/relationships/slideLayout" Target="../slideLayouts/slideLayout13.xml"/><Relationship Id="rId6" Type="http://schemas.openxmlformats.org/officeDocument/2006/relationships/image" Target="../media/image326.png"/><Relationship Id="rId5" Type="http://schemas.openxmlformats.org/officeDocument/2006/relationships/image" Target="../media/image325.png"/><Relationship Id="rId4" Type="http://schemas.openxmlformats.org/officeDocument/2006/relationships/image" Target="../media/image324.png"/><Relationship Id="rId9" Type="http://schemas.openxmlformats.org/officeDocument/2006/relationships/image" Target="../media/image329.png"/></Relationships>
</file>

<file path=ppt/slides/_rels/slide81.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image" Target="../media/image187.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3330.png"/><Relationship Id="rId7" Type="http://schemas.openxmlformats.org/officeDocument/2006/relationships/image" Target="../media/image223.png"/><Relationship Id="rId2" Type="http://schemas.openxmlformats.org/officeDocument/2006/relationships/image" Target="../media/image332.png"/><Relationship Id="rId1" Type="http://schemas.openxmlformats.org/officeDocument/2006/relationships/slideLayout" Target="../slideLayouts/slideLayout13.xml"/><Relationship Id="rId6" Type="http://schemas.openxmlformats.org/officeDocument/2006/relationships/image" Target="../media/image336.png"/><Relationship Id="rId4" Type="http://schemas.openxmlformats.org/officeDocument/2006/relationships/image" Target="../media/image333.png"/></Relationships>
</file>

<file path=ppt/slides/_rels/slide83.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338.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341.png"/><Relationship Id="rId5" Type="http://schemas.openxmlformats.org/officeDocument/2006/relationships/image" Target="../media/image340.png"/><Relationship Id="rId4" Type="http://schemas.openxmlformats.org/officeDocument/2006/relationships/image" Target="../media/image339.png"/></Relationships>
</file>

<file path=ppt/slides/_rels/slide85.xml.rels><?xml version="1.0" encoding="UTF-8" standalone="yes"?>
<Relationships xmlns="http://schemas.openxmlformats.org/package/2006/relationships"><Relationship Id="rId3" Type="http://schemas.openxmlformats.org/officeDocument/2006/relationships/image" Target="../media/image343.png"/><Relationship Id="rId2" Type="http://schemas.openxmlformats.org/officeDocument/2006/relationships/image" Target="../media/image238.png"/><Relationship Id="rId1" Type="http://schemas.openxmlformats.org/officeDocument/2006/relationships/slideLayout" Target="../slideLayouts/slideLayout25.xml"/></Relationships>
</file>

<file path=ppt/slides/_rels/slide86.xml.rels><?xml version="1.0" encoding="UTF-8" standalone="yes"?>
<Relationships xmlns="http://schemas.openxmlformats.org/package/2006/relationships"><Relationship Id="rId2" Type="http://schemas.openxmlformats.org/officeDocument/2006/relationships/image" Target="../media/image337.png"/><Relationship Id="rId1" Type="http://schemas.openxmlformats.org/officeDocument/2006/relationships/slideLayout" Target="../slideLayouts/slideLayout25.xml"/></Relationships>
</file>

<file path=ppt/slides/_rels/slide87.xml.rels><?xml version="1.0" encoding="UTF-8" standalone="yes"?>
<Relationships xmlns="http://schemas.openxmlformats.org/package/2006/relationships"><Relationship Id="rId3" Type="http://schemas.openxmlformats.org/officeDocument/2006/relationships/image" Target="../media/image344.png"/><Relationship Id="rId7" Type="http://schemas.openxmlformats.org/officeDocument/2006/relationships/image" Target="../media/image348.png"/><Relationship Id="rId2" Type="http://schemas.openxmlformats.org/officeDocument/2006/relationships/image" Target="../media/image342.png"/><Relationship Id="rId1" Type="http://schemas.openxmlformats.org/officeDocument/2006/relationships/slideLayout" Target="../slideLayouts/slideLayout25.xml"/><Relationship Id="rId6" Type="http://schemas.openxmlformats.org/officeDocument/2006/relationships/image" Target="../media/image347.png"/><Relationship Id="rId5" Type="http://schemas.openxmlformats.org/officeDocument/2006/relationships/image" Target="../media/image346.png"/><Relationship Id="rId4" Type="http://schemas.openxmlformats.org/officeDocument/2006/relationships/image" Target="../media/image345.png"/></Relationships>
</file>

<file path=ppt/slides/_rels/slide88.xml.rels><?xml version="1.0" encoding="UTF-8" standalone="yes"?>
<Relationships xmlns="http://schemas.openxmlformats.org/package/2006/relationships"><Relationship Id="rId3" Type="http://schemas.openxmlformats.org/officeDocument/2006/relationships/image" Target="../media/image273.png"/><Relationship Id="rId2" Type="http://schemas.openxmlformats.org/officeDocument/2006/relationships/image" Target="../media/image358.png"/><Relationship Id="rId1" Type="http://schemas.openxmlformats.org/officeDocument/2006/relationships/slideLayout" Target="../slideLayouts/slideLayout25.xml"/></Relationships>
</file>

<file path=ppt/slides/_rels/slide89.xml.rels><?xml version="1.0" encoding="UTF-8" standalone="yes"?>
<Relationships xmlns="http://schemas.openxmlformats.org/package/2006/relationships"><Relationship Id="rId8" Type="http://schemas.openxmlformats.org/officeDocument/2006/relationships/image" Target="../media/image365.png"/><Relationship Id="rId3" Type="http://schemas.openxmlformats.org/officeDocument/2006/relationships/image" Target="../media/image360.png"/><Relationship Id="rId7" Type="http://schemas.openxmlformats.org/officeDocument/2006/relationships/image" Target="../media/image364.png"/><Relationship Id="rId2" Type="http://schemas.openxmlformats.org/officeDocument/2006/relationships/notesSlide" Target="../notesSlides/notesSlide17.xml"/><Relationship Id="rId1" Type="http://schemas.openxmlformats.org/officeDocument/2006/relationships/slideLayout" Target="../slideLayouts/slideLayout25.xml"/><Relationship Id="rId6" Type="http://schemas.openxmlformats.org/officeDocument/2006/relationships/image" Target="../media/image363.png"/><Relationship Id="rId5" Type="http://schemas.openxmlformats.org/officeDocument/2006/relationships/image" Target="../media/image362.png"/><Relationship Id="rId4" Type="http://schemas.openxmlformats.org/officeDocument/2006/relationships/image" Target="../media/image361.png"/></Relationships>
</file>

<file path=ppt/slides/_rels/slide90.xml.rels><?xml version="1.0" encoding="UTF-8" standalone="yes"?>
<Relationships xmlns="http://schemas.openxmlformats.org/package/2006/relationships"><Relationship Id="rId3" Type="http://schemas.openxmlformats.org/officeDocument/2006/relationships/image" Target="../media/image369.png"/><Relationship Id="rId2" Type="http://schemas.openxmlformats.org/officeDocument/2006/relationships/image" Target="../media/image368.png"/><Relationship Id="rId1" Type="http://schemas.openxmlformats.org/officeDocument/2006/relationships/slideLayout" Target="../slideLayouts/slideLayout2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92.xml.rels><?xml version="1.0" encoding="UTF-8" standalone="yes"?>
<Relationships xmlns="http://schemas.openxmlformats.org/package/2006/relationships"><Relationship Id="rId3" Type="http://schemas.openxmlformats.org/officeDocument/2006/relationships/image" Target="../media/image371.png"/><Relationship Id="rId2" Type="http://schemas.openxmlformats.org/officeDocument/2006/relationships/image" Target="../media/image370.png"/><Relationship Id="rId1" Type="http://schemas.openxmlformats.org/officeDocument/2006/relationships/slideLayout" Target="../slideLayouts/slideLayout25.xml"/><Relationship Id="rId5" Type="http://schemas.openxmlformats.org/officeDocument/2006/relationships/image" Target="../media/image373.png"/><Relationship Id="rId4" Type="http://schemas.openxmlformats.org/officeDocument/2006/relationships/image" Target="../media/image372.png"/></Relationships>
</file>

<file path=ppt/slides/_rels/slide93.xml.rels><?xml version="1.0" encoding="UTF-8" standalone="yes"?>
<Relationships xmlns="http://schemas.openxmlformats.org/package/2006/relationships"><Relationship Id="rId8" Type="http://schemas.openxmlformats.org/officeDocument/2006/relationships/image" Target="../media/image352.png"/><Relationship Id="rId3" Type="http://schemas.openxmlformats.org/officeDocument/2006/relationships/oleObject" Target="../embeddings/oleObject41.bin"/><Relationship Id="rId7" Type="http://schemas.openxmlformats.org/officeDocument/2006/relationships/image" Target="../media/image351.png"/><Relationship Id="rId2" Type="http://schemas.openxmlformats.org/officeDocument/2006/relationships/slideLayout" Target="../slideLayouts/slideLayout25.xml"/><Relationship Id="rId1" Type="http://schemas.openxmlformats.org/officeDocument/2006/relationships/vmlDrawing" Target="../drawings/vmlDrawing12.vml"/><Relationship Id="rId6" Type="http://schemas.openxmlformats.org/officeDocument/2006/relationships/image" Target="../media/image274.wmf"/><Relationship Id="rId11" Type="http://schemas.openxmlformats.org/officeDocument/2006/relationships/image" Target="../media/image366.png"/><Relationship Id="rId5" Type="http://schemas.openxmlformats.org/officeDocument/2006/relationships/oleObject" Target="../embeddings/oleObject41.bin"/><Relationship Id="rId10" Type="http://schemas.openxmlformats.org/officeDocument/2006/relationships/image" Target="../media/image354.png"/><Relationship Id="rId4" Type="http://schemas.openxmlformats.org/officeDocument/2006/relationships/image" Target="../media/image274.wmf"/><Relationship Id="rId9" Type="http://schemas.openxmlformats.org/officeDocument/2006/relationships/image" Target="../media/image353.png"/></Relationships>
</file>

<file path=ppt/slides/_rels/slide94.xml.rels><?xml version="1.0" encoding="UTF-8" standalone="yes"?>
<Relationships xmlns="http://schemas.openxmlformats.org/package/2006/relationships"><Relationship Id="rId3" Type="http://schemas.openxmlformats.org/officeDocument/2006/relationships/image" Target="../media/image275.png"/><Relationship Id="rId2" Type="http://schemas.openxmlformats.org/officeDocument/2006/relationships/image" Target="../media/image3510.png"/><Relationship Id="rId1" Type="http://schemas.openxmlformats.org/officeDocument/2006/relationships/slideLayout" Target="../slideLayouts/slideLayout2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6.xml.rels><?xml version="1.0" encoding="UTF-8" standalone="yes"?>
<Relationships xmlns="http://schemas.openxmlformats.org/package/2006/relationships"><Relationship Id="rId2" Type="http://schemas.openxmlformats.org/officeDocument/2006/relationships/image" Target="../media/image276.png"/><Relationship Id="rId1" Type="http://schemas.openxmlformats.org/officeDocument/2006/relationships/slideLayout" Target="../slideLayouts/slideLayout2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F1E99F96-833D-4717-B6F3-7AAA11528B72}"/>
              </a:ext>
            </a:extLst>
          </p:cNvPr>
          <p:cNvSpPr>
            <a:spLocks noGrp="1"/>
          </p:cNvSpPr>
          <p:nvPr>
            <p:ph type="ctrTitle"/>
          </p:nvPr>
        </p:nvSpPr>
        <p:spPr/>
        <p:txBody>
          <a:bodyPr/>
          <a:lstStyle/>
          <a:p>
            <a:pPr eaLnBrk="1" hangingPunct="1"/>
            <a:r>
              <a:rPr lang="zh-CN" altLang="en-US"/>
              <a:t>信号与系统</a:t>
            </a:r>
            <a:r>
              <a:rPr lang="en-US" altLang="zh-CN"/>
              <a:t/>
            </a:r>
            <a:br>
              <a:rPr lang="en-US" altLang="zh-CN"/>
            </a:br>
            <a:r>
              <a:rPr lang="en-US" altLang="zh-CN"/>
              <a:t>Signals and Systems</a:t>
            </a:r>
            <a:endParaRPr lang="zh-CN" altLang="en-US"/>
          </a:p>
        </p:txBody>
      </p:sp>
      <p:sp>
        <p:nvSpPr>
          <p:cNvPr id="4" name="灯片编号占位符 3">
            <a:extLst>
              <a:ext uri="{FF2B5EF4-FFF2-40B4-BE49-F238E27FC236}">
                <a16:creationId xmlns:a16="http://schemas.microsoft.com/office/drawing/2014/main" id="{49ABAE63-F6B3-4739-911F-4A736B6AE0F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12B8FC5-7CD3-4B51-B1B9-D8C30C06C363}" type="slidenum">
              <a:rPr lang="zh-CN" altLang="en-US">
                <a:solidFill>
                  <a:srgbClr val="898989"/>
                </a:solidFill>
                <a:latin typeface="Calibri" panose="020F0502020204030204" pitchFamily="34" charset="0"/>
              </a:rPr>
              <a:pPr eaLnBrk="1" hangingPunct="1"/>
              <a:t>1</a:t>
            </a:fld>
            <a:endParaRPr lang="zh-CN" altLang="en-US">
              <a:solidFill>
                <a:srgbClr val="898989"/>
              </a:solidFill>
              <a:latin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E25155-8BF8-4F4E-A4AC-F347AEC30A01}"/>
              </a:ext>
            </a:extLst>
          </p:cNvPr>
          <p:cNvSpPr>
            <a:spLocks noGrp="1"/>
          </p:cNvSpPr>
          <p:nvPr>
            <p:ph type="title"/>
          </p:nvPr>
        </p:nvSpPr>
        <p:spPr/>
        <p:txBody>
          <a:bodyPr rtlCol="0">
            <a:normAutofit fontScale="90000"/>
          </a:bodyPr>
          <a:lstStyle/>
          <a:p>
            <a:pPr eaLnBrk="1" fontAlgn="auto" hangingPunct="1">
              <a:spcAft>
                <a:spcPts val="0"/>
              </a:spcAft>
              <a:defRPr/>
            </a:pPr>
            <a:r>
              <a:rPr lang="zh-CN" altLang="en-US" dirty="0"/>
              <a:t>课程总览</a:t>
            </a:r>
          </a:p>
        </p:txBody>
      </p:sp>
      <p:sp>
        <p:nvSpPr>
          <p:cNvPr id="3" name="内容占位符 2">
            <a:extLst>
              <a:ext uri="{FF2B5EF4-FFF2-40B4-BE49-F238E27FC236}">
                <a16:creationId xmlns:a16="http://schemas.microsoft.com/office/drawing/2014/main" id="{B7BEF874-9DC0-40EA-B6C5-E752652F1278}"/>
              </a:ext>
            </a:extLst>
          </p:cNvPr>
          <p:cNvSpPr>
            <a:spLocks noGrp="1"/>
          </p:cNvSpPr>
          <p:nvPr>
            <p:ph idx="1"/>
          </p:nvPr>
        </p:nvSpPr>
        <p:spPr>
          <a:xfrm>
            <a:off x="457200" y="1285875"/>
            <a:ext cx="8229600" cy="5047536"/>
          </a:xfrm>
        </p:spPr>
        <p:txBody>
          <a:bodyPr rtlCol="0">
            <a:spAutoFit/>
          </a:bodyPr>
          <a:lstStyle/>
          <a:p>
            <a:pPr eaLnBrk="1" fontAlgn="auto" hangingPunct="1">
              <a:spcBef>
                <a:spcPts val="0"/>
              </a:spcBef>
              <a:spcAft>
                <a:spcPts val="1200"/>
              </a:spcAft>
              <a:defRPr/>
            </a:pPr>
            <a:r>
              <a:rPr lang="zh-CN" altLang="en-US" sz="2400" b="0" dirty="0"/>
              <a:t>教材：</a:t>
            </a:r>
            <a:r>
              <a:rPr lang="en-US" altLang="zh-CN" sz="2400" b="0" dirty="0"/>
              <a:t/>
            </a:r>
            <a:br>
              <a:rPr lang="en-US" altLang="zh-CN" sz="2400" b="0" dirty="0"/>
            </a:br>
            <a:r>
              <a:rPr lang="en-US" altLang="zh-CN" sz="2400" dirty="0">
                <a:solidFill>
                  <a:srgbClr val="0000FF"/>
                </a:solidFill>
              </a:rPr>
              <a:t>A.V. Oppenheim</a:t>
            </a:r>
            <a:r>
              <a:rPr lang="zh-CN" altLang="en-US" sz="2400" dirty="0">
                <a:solidFill>
                  <a:srgbClr val="0000FF"/>
                </a:solidFill>
              </a:rPr>
              <a:t>等，信号与系统（第二版），刘树棠译，电子工业出版社，</a:t>
            </a:r>
            <a:r>
              <a:rPr lang="en-US" altLang="zh-CN" sz="2400" dirty="0">
                <a:solidFill>
                  <a:srgbClr val="0000FF"/>
                </a:solidFill>
              </a:rPr>
              <a:t>2020</a:t>
            </a:r>
            <a:r>
              <a:rPr lang="zh-CN" altLang="en-US" sz="2400" dirty="0">
                <a:solidFill>
                  <a:srgbClr val="0000FF"/>
                </a:solidFill>
              </a:rPr>
              <a:t>年</a:t>
            </a:r>
            <a:r>
              <a:rPr lang="en-US" altLang="zh-CN" sz="2400" dirty="0">
                <a:solidFill>
                  <a:srgbClr val="0000FF"/>
                </a:solidFill>
              </a:rPr>
              <a:t>8</a:t>
            </a:r>
            <a:r>
              <a:rPr lang="zh-CN" altLang="en-US" sz="2400" dirty="0">
                <a:solidFill>
                  <a:srgbClr val="0000FF"/>
                </a:solidFill>
              </a:rPr>
              <a:t>月，</a:t>
            </a:r>
            <a:r>
              <a:rPr lang="en-US" altLang="zh-CN" sz="2400" dirty="0">
                <a:solidFill>
                  <a:srgbClr val="0000FF"/>
                </a:solidFill>
              </a:rPr>
              <a:t>ISBN</a:t>
            </a:r>
            <a:r>
              <a:rPr lang="zh-CN" altLang="en-US" sz="2400" dirty="0">
                <a:solidFill>
                  <a:srgbClr val="0000FF"/>
                </a:solidFill>
              </a:rPr>
              <a:t>：</a:t>
            </a:r>
            <a:r>
              <a:rPr lang="en-US" altLang="zh-CN" sz="2400" dirty="0">
                <a:solidFill>
                  <a:srgbClr val="0000FF"/>
                </a:solidFill>
              </a:rPr>
              <a:t>9787121388378</a:t>
            </a:r>
          </a:p>
          <a:p>
            <a:pPr eaLnBrk="1" fontAlgn="auto" hangingPunct="1">
              <a:spcBef>
                <a:spcPts val="0"/>
              </a:spcBef>
              <a:spcAft>
                <a:spcPts val="1200"/>
              </a:spcAft>
              <a:defRPr/>
            </a:pPr>
            <a:r>
              <a:rPr lang="zh-CN" altLang="en-US" sz="2400" b="0" dirty="0"/>
              <a:t>参考书：</a:t>
            </a:r>
            <a:r>
              <a:rPr lang="en-US" altLang="zh-CN" sz="2400" b="0" dirty="0"/>
              <a:t/>
            </a:r>
            <a:br>
              <a:rPr lang="en-US" altLang="zh-CN" sz="2400" b="0" dirty="0"/>
            </a:br>
            <a:r>
              <a:rPr lang="en-US" altLang="zh-CN" sz="2400" b="0" dirty="0"/>
              <a:t>[1] </a:t>
            </a:r>
            <a:r>
              <a:rPr lang="zh-CN" altLang="en-US" sz="2400" b="0" dirty="0"/>
              <a:t>吴大正，杨林耀，张永瑞，王松林，郭宝龙，信号与线性系统分析，高等教育出版社，第</a:t>
            </a:r>
            <a:r>
              <a:rPr lang="en-US" altLang="zh-CN" sz="2400" b="0" dirty="0"/>
              <a:t>5</a:t>
            </a:r>
            <a:r>
              <a:rPr lang="zh-CN" altLang="en-US" sz="2400" b="0" dirty="0"/>
              <a:t>版，</a:t>
            </a:r>
            <a:r>
              <a:rPr lang="en-US" altLang="zh-CN" sz="2400" b="0" dirty="0"/>
              <a:t>2019</a:t>
            </a:r>
            <a:r>
              <a:rPr lang="zh-CN" altLang="en-US" sz="2400" b="0" dirty="0"/>
              <a:t>年</a:t>
            </a:r>
            <a:r>
              <a:rPr lang="en-US" altLang="zh-CN" sz="2400" b="0" dirty="0"/>
              <a:t>3</a:t>
            </a:r>
            <a:r>
              <a:rPr lang="zh-CN" altLang="en-US" sz="2400" b="0" dirty="0"/>
              <a:t>月</a:t>
            </a:r>
            <a:r>
              <a:rPr lang="en-US" altLang="zh-CN" sz="2400" b="0" dirty="0"/>
              <a:t>1</a:t>
            </a:r>
            <a:r>
              <a:rPr lang="zh-CN" altLang="en-US" sz="2400" b="0" dirty="0"/>
              <a:t>日</a:t>
            </a:r>
            <a:r>
              <a:rPr lang="en-US" altLang="zh-CN" sz="2400" b="0" dirty="0"/>
              <a:t/>
            </a:r>
            <a:br>
              <a:rPr lang="en-US" altLang="zh-CN" sz="2400" b="0" dirty="0"/>
            </a:br>
            <a:r>
              <a:rPr lang="en-US" altLang="zh-CN" sz="2400" b="0" dirty="0"/>
              <a:t>[2] </a:t>
            </a:r>
            <a:r>
              <a:rPr lang="zh-CN" altLang="en-US" sz="2400" b="0" dirty="0"/>
              <a:t>郑君里，应启珩，杨为理，信号与系统（上下册），高等教育出版社，第</a:t>
            </a:r>
            <a:r>
              <a:rPr lang="en-US" altLang="zh-CN" sz="2400" b="0" dirty="0"/>
              <a:t>3</a:t>
            </a:r>
            <a:r>
              <a:rPr lang="zh-CN" altLang="en-US" sz="2400" b="0" dirty="0"/>
              <a:t>版，</a:t>
            </a:r>
            <a:r>
              <a:rPr lang="en-US" altLang="zh-CN" sz="2400" b="0" dirty="0"/>
              <a:t>2011</a:t>
            </a:r>
            <a:r>
              <a:rPr lang="zh-CN" altLang="en-US" sz="2400" b="0" dirty="0"/>
              <a:t>年</a:t>
            </a:r>
            <a:r>
              <a:rPr lang="en-US" altLang="zh-CN" sz="2400" b="0" dirty="0"/>
              <a:t>3</a:t>
            </a:r>
            <a:r>
              <a:rPr lang="zh-CN" altLang="en-US" sz="2400" b="0" dirty="0"/>
              <a:t>月</a:t>
            </a:r>
            <a:r>
              <a:rPr lang="en-US" altLang="zh-CN" sz="2400" b="0" dirty="0"/>
              <a:t/>
            </a:r>
            <a:br>
              <a:rPr lang="en-US" altLang="zh-CN" sz="2400" b="0" dirty="0"/>
            </a:br>
            <a:r>
              <a:rPr lang="en-US" altLang="zh-CN" sz="2400" b="0" dirty="0"/>
              <a:t>[3] Luis F. Chaparro</a:t>
            </a:r>
            <a:r>
              <a:rPr lang="zh-CN" altLang="en-US" sz="2400" b="0" dirty="0"/>
              <a:t>（作者），宋琪（译者），信号与系统：使用</a:t>
            </a:r>
            <a:r>
              <a:rPr lang="en-US" altLang="zh-CN" sz="2400" b="0" dirty="0"/>
              <a:t>MATLAB</a:t>
            </a:r>
            <a:r>
              <a:rPr lang="zh-CN" altLang="en-US" sz="2400" b="0" dirty="0"/>
              <a:t>分析与实现，清华大学出版社，第</a:t>
            </a:r>
            <a:r>
              <a:rPr lang="en-US" altLang="zh-CN" sz="2400" b="0" dirty="0"/>
              <a:t>2</a:t>
            </a:r>
            <a:r>
              <a:rPr lang="zh-CN" altLang="en-US" sz="2400" b="0" dirty="0"/>
              <a:t>版，</a:t>
            </a:r>
            <a:r>
              <a:rPr lang="en-US" altLang="zh-CN" sz="2400" b="0" dirty="0"/>
              <a:t>2017</a:t>
            </a:r>
            <a:r>
              <a:rPr lang="zh-CN" altLang="en-US" sz="2400" b="0" dirty="0"/>
              <a:t>年</a:t>
            </a:r>
            <a:r>
              <a:rPr lang="en-US" altLang="zh-CN" sz="2400" b="0" dirty="0"/>
              <a:t>1</a:t>
            </a:r>
            <a:r>
              <a:rPr lang="zh-CN" altLang="en-US" sz="2400" b="0" dirty="0"/>
              <a:t>月</a:t>
            </a:r>
            <a:r>
              <a:rPr lang="en-US" altLang="zh-CN" sz="2400" b="0" dirty="0"/>
              <a:t>1</a:t>
            </a:r>
            <a:r>
              <a:rPr lang="zh-CN" altLang="en-US" sz="2400" b="0" dirty="0"/>
              <a:t>日</a:t>
            </a:r>
            <a:r>
              <a:rPr lang="en-US" altLang="zh-CN" sz="2400" b="0" dirty="0"/>
              <a:t/>
            </a:r>
            <a:br>
              <a:rPr lang="en-US" altLang="zh-CN" sz="2400" b="0" dirty="0"/>
            </a:br>
            <a:r>
              <a:rPr lang="en-US" altLang="zh-CN" sz="2400" b="0" dirty="0"/>
              <a:t>[4] </a:t>
            </a:r>
            <a:r>
              <a:rPr lang="zh-CN" altLang="en-US" sz="2400" b="0" dirty="0"/>
              <a:t>王文光，魏少明，任欣，信号处理与系统分析的</a:t>
            </a:r>
            <a:r>
              <a:rPr lang="en-US" altLang="zh-CN" sz="2400" b="0" dirty="0"/>
              <a:t>MATLAB</a:t>
            </a:r>
            <a:r>
              <a:rPr lang="zh-CN" altLang="en-US" sz="2400" b="0" dirty="0"/>
              <a:t>实现，电子工业出版社，第</a:t>
            </a:r>
            <a:r>
              <a:rPr lang="en-US" altLang="zh-CN" sz="2400" b="0" dirty="0"/>
              <a:t>1</a:t>
            </a:r>
            <a:r>
              <a:rPr lang="zh-CN" altLang="en-US" sz="2400" b="0" dirty="0"/>
              <a:t>版，</a:t>
            </a:r>
            <a:r>
              <a:rPr lang="en-US" altLang="zh-CN" sz="2400" b="0" dirty="0"/>
              <a:t>2018</a:t>
            </a:r>
            <a:r>
              <a:rPr lang="zh-CN" altLang="en-US" sz="2400" b="0" dirty="0"/>
              <a:t>年</a:t>
            </a:r>
            <a:r>
              <a:rPr lang="en-US" altLang="zh-CN" sz="2400" b="0" dirty="0"/>
              <a:t>5</a:t>
            </a:r>
            <a:r>
              <a:rPr lang="zh-CN" altLang="en-US" sz="2400" b="0" dirty="0"/>
              <a:t>月</a:t>
            </a:r>
            <a:r>
              <a:rPr lang="en-US" altLang="zh-CN" sz="2400" b="0" dirty="0"/>
              <a:t>1</a:t>
            </a:r>
            <a:r>
              <a:rPr lang="zh-CN" altLang="en-US" sz="2400" b="0" dirty="0"/>
              <a:t>日</a:t>
            </a:r>
          </a:p>
        </p:txBody>
      </p:sp>
      <p:sp>
        <p:nvSpPr>
          <p:cNvPr id="4" name="灯片编号占位符 3">
            <a:extLst>
              <a:ext uri="{FF2B5EF4-FFF2-40B4-BE49-F238E27FC236}">
                <a16:creationId xmlns:a16="http://schemas.microsoft.com/office/drawing/2014/main" id="{4ED7CD52-64A3-4F59-98CC-741A7D054CD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297C54B-5704-4D5B-AD16-E97F074B8DC9}" type="slidenum">
              <a:rPr lang="zh-CN" altLang="en-US">
                <a:solidFill>
                  <a:srgbClr val="898989"/>
                </a:solidFill>
                <a:latin typeface="Calibri" panose="020F0502020204030204" pitchFamily="34" charset="0"/>
              </a:rPr>
              <a:pPr eaLnBrk="1" hangingPunct="1"/>
              <a:t>2</a:t>
            </a:fld>
            <a:endParaRPr lang="zh-CN" altLang="en-US">
              <a:solidFill>
                <a:srgbClr val="898989"/>
              </a:solidFill>
              <a:latin typeface="Calibri" panose="020F0502020204030204" pitchFamily="34" charset="0"/>
            </a:endParaRPr>
          </a:p>
        </p:txBody>
      </p:sp>
    </p:spTree>
    <p:extLst>
      <p:ext uri="{BB962C8B-B14F-4D97-AF65-F5344CB8AC3E}">
        <p14:creationId xmlns:p14="http://schemas.microsoft.com/office/powerpoint/2010/main" val="38576273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4625BD-E453-438F-A28F-32EC4BC6A0DD}"/>
              </a:ext>
            </a:extLst>
          </p:cNvPr>
          <p:cNvSpPr>
            <a:spLocks noGrp="1"/>
          </p:cNvSpPr>
          <p:nvPr>
            <p:ph type="title"/>
          </p:nvPr>
        </p:nvSpPr>
        <p:spPr/>
        <p:txBody>
          <a:bodyPr rtlCol="0">
            <a:normAutofit fontScale="90000"/>
          </a:bodyPr>
          <a:lstStyle/>
          <a:p>
            <a:pPr eaLnBrk="1" fontAlgn="auto" hangingPunct="1">
              <a:spcAft>
                <a:spcPts val="0"/>
              </a:spcAft>
              <a:defRPr/>
            </a:pPr>
            <a:r>
              <a:rPr lang="zh-CN" altLang="en-US" dirty="0"/>
              <a:t>什么是信号？</a:t>
            </a:r>
          </a:p>
        </p:txBody>
      </p:sp>
      <p:sp>
        <p:nvSpPr>
          <p:cNvPr id="34819" name="内容占位符 2">
            <a:extLst>
              <a:ext uri="{FF2B5EF4-FFF2-40B4-BE49-F238E27FC236}">
                <a16:creationId xmlns:a16="http://schemas.microsoft.com/office/drawing/2014/main" id="{414FA11C-9CC6-44F1-8B1C-296C312AB95E}"/>
              </a:ext>
            </a:extLst>
          </p:cNvPr>
          <p:cNvSpPr>
            <a:spLocks noGrp="1"/>
          </p:cNvSpPr>
          <p:nvPr>
            <p:ph sz="half" idx="1"/>
          </p:nvPr>
        </p:nvSpPr>
        <p:spPr>
          <a:xfrm>
            <a:off x="457200" y="2286000"/>
            <a:ext cx="4038600" cy="3840163"/>
          </a:xfrm>
        </p:spPr>
        <p:txBody>
          <a:bodyPr/>
          <a:lstStyle/>
          <a:p>
            <a:pPr marL="342900" lvl="1" indent="-342900" eaLnBrk="1" hangingPunct="1"/>
            <a:r>
              <a:rPr lang="zh-CN" altLang="en-US" b="0" dirty="0"/>
              <a:t>光信号：烽火、火炬</a:t>
            </a:r>
            <a:endParaRPr lang="en-US" altLang="zh-CN" b="0" dirty="0"/>
          </a:p>
          <a:p>
            <a:pPr eaLnBrk="1" hangingPunct="1"/>
            <a:endParaRPr lang="en-US" altLang="zh-CN" b="0" dirty="0"/>
          </a:p>
          <a:p>
            <a:pPr eaLnBrk="1" hangingPunct="1"/>
            <a:endParaRPr lang="en-US" altLang="zh-CN" b="0" dirty="0"/>
          </a:p>
          <a:p>
            <a:pPr eaLnBrk="1" hangingPunct="1"/>
            <a:endParaRPr lang="en-US" altLang="zh-CN" b="0" dirty="0"/>
          </a:p>
          <a:p>
            <a:pPr marL="342900" lvl="1" indent="-342900" eaLnBrk="1" hangingPunct="1"/>
            <a:r>
              <a:rPr lang="zh-CN" altLang="en-US" b="0" dirty="0"/>
              <a:t>声信号：击鼓、鸣金</a:t>
            </a:r>
            <a:endParaRPr lang="en-US" altLang="zh-CN" b="0" dirty="0"/>
          </a:p>
          <a:p>
            <a:pPr eaLnBrk="1" hangingPunct="1"/>
            <a:endParaRPr lang="zh-CN" altLang="en-US" b="0" dirty="0"/>
          </a:p>
        </p:txBody>
      </p:sp>
      <p:sp>
        <p:nvSpPr>
          <p:cNvPr id="34820" name="内容占位符 3">
            <a:extLst>
              <a:ext uri="{FF2B5EF4-FFF2-40B4-BE49-F238E27FC236}">
                <a16:creationId xmlns:a16="http://schemas.microsoft.com/office/drawing/2014/main" id="{AF33159F-23CD-40E7-B3E5-401AB145F484}"/>
              </a:ext>
            </a:extLst>
          </p:cNvPr>
          <p:cNvSpPr>
            <a:spLocks noGrp="1"/>
          </p:cNvSpPr>
          <p:nvPr>
            <p:ph sz="half" idx="2"/>
          </p:nvPr>
        </p:nvSpPr>
        <p:spPr>
          <a:xfrm>
            <a:off x="4495800" y="2286000"/>
            <a:ext cx="4036640" cy="830997"/>
          </a:xfrm>
        </p:spPr>
        <p:txBody>
          <a:bodyPr wrap="square">
            <a:spAutoFit/>
          </a:bodyPr>
          <a:lstStyle/>
          <a:p>
            <a:pPr marL="342900" lvl="1" indent="-342900" algn="just" eaLnBrk="1" hangingPunct="1"/>
            <a:r>
              <a:rPr lang="zh-CN" altLang="en-US" b="0" dirty="0"/>
              <a:t>电信号：电报、电话、无线电、</a:t>
            </a:r>
            <a:r>
              <a:rPr lang="zh-CN" altLang="en-US" b="0" dirty="0" smtClean="0"/>
              <a:t>手机、 </a:t>
            </a:r>
            <a:r>
              <a:rPr lang="en-US" altLang="zh-CN" b="0" dirty="0"/>
              <a:t>GPS</a:t>
            </a:r>
            <a:r>
              <a:rPr lang="zh-CN" altLang="en-US" b="0" dirty="0"/>
              <a:t>、网络</a:t>
            </a:r>
            <a:endParaRPr lang="en-US" altLang="zh-CN" b="0" dirty="0"/>
          </a:p>
        </p:txBody>
      </p:sp>
      <p:sp>
        <p:nvSpPr>
          <p:cNvPr id="34821" name="内容占位符 2">
            <a:extLst>
              <a:ext uri="{FF2B5EF4-FFF2-40B4-BE49-F238E27FC236}">
                <a16:creationId xmlns:a16="http://schemas.microsoft.com/office/drawing/2014/main" id="{29BAD892-BEE3-4602-AFF5-1F98BA63372B}"/>
              </a:ext>
            </a:extLst>
          </p:cNvPr>
          <p:cNvSpPr txBox="1">
            <a:spLocks/>
          </p:cNvSpPr>
          <p:nvPr/>
        </p:nvSpPr>
        <p:spPr bwMode="auto">
          <a:xfrm>
            <a:off x="457200" y="1285875"/>
            <a:ext cx="82296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20000"/>
              </a:spcBef>
              <a:buFont typeface="Arial" panose="020B0604020202020204" pitchFamily="34" charset="0"/>
              <a:buChar char="•"/>
            </a:pPr>
            <a:r>
              <a:rPr lang="zh-CN" altLang="en-US" sz="2800" b="1" dirty="0">
                <a:solidFill>
                  <a:srgbClr val="FF0000"/>
                </a:solidFill>
                <a:latin typeface="Times New Roman" panose="02020603050405020304" pitchFamily="18" charset="0"/>
                <a:ea typeface="楷体" panose="02010609060101010101" pitchFamily="49" charset="-122"/>
              </a:rPr>
              <a:t>信号</a:t>
            </a:r>
            <a:r>
              <a:rPr lang="zh-CN" altLang="en-US" sz="2800" dirty="0">
                <a:latin typeface="Times New Roman" panose="02020603050405020304" pitchFamily="18" charset="0"/>
                <a:ea typeface="楷体" panose="02010609060101010101" pitchFamily="49" charset="-122"/>
              </a:rPr>
              <a:t>的基本定义：信号是用来传递某种消息或</a:t>
            </a:r>
            <a:r>
              <a:rPr lang="zh-CN" altLang="en-US" sz="2800" b="1" dirty="0">
                <a:solidFill>
                  <a:srgbClr val="FF0000"/>
                </a:solidFill>
                <a:latin typeface="Times New Roman" panose="02020603050405020304" pitchFamily="18" charset="0"/>
                <a:ea typeface="楷体" panose="02010609060101010101" pitchFamily="49" charset="-122"/>
              </a:rPr>
              <a:t>信息</a:t>
            </a:r>
            <a:r>
              <a:rPr lang="zh-CN" altLang="en-US" sz="2800" dirty="0">
                <a:latin typeface="Times New Roman" panose="02020603050405020304" pitchFamily="18" charset="0"/>
                <a:ea typeface="楷体" panose="02010609060101010101" pitchFamily="49" charset="-122"/>
              </a:rPr>
              <a:t>的物理形式。</a:t>
            </a:r>
            <a:endParaRPr lang="en-US" altLang="zh-CN" sz="2400" dirty="0">
              <a:latin typeface="Times New Roman" panose="02020603050405020304" pitchFamily="18" charset="0"/>
              <a:ea typeface="华文楷体" panose="02010600040101010101" pitchFamily="2" charset="-122"/>
            </a:endParaRPr>
          </a:p>
        </p:txBody>
      </p:sp>
      <p:pic>
        <p:nvPicPr>
          <p:cNvPr id="6" name="Picture 13" descr="fenghuo">
            <a:extLst>
              <a:ext uri="{FF2B5EF4-FFF2-40B4-BE49-F238E27FC236}">
                <a16:creationId xmlns:a16="http://schemas.microsoft.com/office/drawing/2014/main" id="{F92F428B-87E5-4E44-84D9-864586EBB6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75" y="2714625"/>
            <a:ext cx="2089150"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2" descr="jigu">
            <a:extLst>
              <a:ext uri="{FF2B5EF4-FFF2-40B4-BE49-F238E27FC236}">
                <a16:creationId xmlns:a16="http://schemas.microsoft.com/office/drawing/2014/main" id="{52039914-F571-4D57-8BC0-EA92AEE607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3063" y="4786313"/>
            <a:ext cx="1268412" cy="190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descr="j0332268">
            <a:extLst>
              <a:ext uri="{FF2B5EF4-FFF2-40B4-BE49-F238E27FC236}">
                <a16:creationId xmlns:a16="http://schemas.microsoft.com/office/drawing/2014/main" id="{322464D0-6008-4641-A9CA-0CD1A5EEA92B}"/>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5857875" y="3569593"/>
            <a:ext cx="5730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descr="MCj03501200000[1]">
            <a:extLst>
              <a:ext uri="{FF2B5EF4-FFF2-40B4-BE49-F238E27FC236}">
                <a16:creationId xmlns:a16="http://schemas.microsoft.com/office/drawing/2014/main" id="{1E37C989-2FD5-4E91-ADA9-C2113348B0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72438" y="3283843"/>
            <a:ext cx="89535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7" descr="MCj02334850000[1]">
            <a:extLst>
              <a:ext uri="{FF2B5EF4-FFF2-40B4-BE49-F238E27FC236}">
                <a16:creationId xmlns:a16="http://schemas.microsoft.com/office/drawing/2014/main" id="{268E32F6-B95A-4A57-A22D-DA4060948CDA}"/>
              </a:ext>
            </a:extLst>
          </p:cNvPr>
          <p:cNvPicPr>
            <a:picLocks noChangeAspect="1" noChangeArrowheads="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4357688" y="3498156"/>
            <a:ext cx="1296987"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8" descr="MCj02808880000[1]">
            <a:extLst>
              <a:ext uri="{FF2B5EF4-FFF2-40B4-BE49-F238E27FC236}">
                <a16:creationId xmlns:a16="http://schemas.microsoft.com/office/drawing/2014/main" id="{35D09276-B3B0-4122-BE01-028BDE3D0D1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43688" y="3140968"/>
            <a:ext cx="1403350"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9" descr="GPS">
            <a:extLst>
              <a:ext uri="{FF2B5EF4-FFF2-40B4-BE49-F238E27FC236}">
                <a16:creationId xmlns:a16="http://schemas.microsoft.com/office/drawing/2014/main" id="{7EA1A89A-3F22-4A17-8418-8C401CB9C16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72250" y="4712593"/>
            <a:ext cx="2016125" cy="142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21" descr="MCj02937420000[1]">
            <a:extLst>
              <a:ext uri="{FF2B5EF4-FFF2-40B4-BE49-F238E27FC236}">
                <a16:creationId xmlns:a16="http://schemas.microsoft.com/office/drawing/2014/main" id="{6C3E09CB-1DE8-430D-B019-A99E6832660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9188" y="5069781"/>
            <a:ext cx="1296987" cy="88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灯片编号占位符 13">
            <a:extLst>
              <a:ext uri="{FF2B5EF4-FFF2-40B4-BE49-F238E27FC236}">
                <a16:creationId xmlns:a16="http://schemas.microsoft.com/office/drawing/2014/main" id="{373EEBD1-6997-401D-8C00-60627386CAA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E58F782-0FDA-4390-A9FA-082C5FF00705}" type="slidenum">
              <a:rPr lang="zh-CN" altLang="en-US">
                <a:solidFill>
                  <a:srgbClr val="898989"/>
                </a:solidFill>
                <a:latin typeface="Calibri" panose="020F0502020204030204" pitchFamily="34" charset="0"/>
              </a:rPr>
              <a:pPr eaLnBrk="1" hangingPunct="1"/>
              <a:t>3</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B33668-6ACA-439F-8C1E-D2E1E115C2A1}"/>
              </a:ext>
            </a:extLst>
          </p:cNvPr>
          <p:cNvSpPr>
            <a:spLocks noGrp="1"/>
          </p:cNvSpPr>
          <p:nvPr>
            <p:ph type="title"/>
          </p:nvPr>
        </p:nvSpPr>
        <p:spPr/>
        <p:txBody>
          <a:bodyPr rtlCol="0">
            <a:normAutofit fontScale="90000"/>
          </a:bodyPr>
          <a:lstStyle/>
          <a:p>
            <a:pPr eaLnBrk="1" fontAlgn="auto" hangingPunct="1">
              <a:spcAft>
                <a:spcPts val="0"/>
              </a:spcAft>
              <a:defRPr/>
            </a:pPr>
            <a:r>
              <a:rPr lang="zh-CN" altLang="en-US" dirty="0"/>
              <a:t>什么是信号？</a:t>
            </a:r>
          </a:p>
        </p:txBody>
      </p:sp>
      <p:sp>
        <p:nvSpPr>
          <p:cNvPr id="35843" name="内容占位符 2">
            <a:extLst>
              <a:ext uri="{FF2B5EF4-FFF2-40B4-BE49-F238E27FC236}">
                <a16:creationId xmlns:a16="http://schemas.microsoft.com/office/drawing/2014/main" id="{BA2467F7-4474-4467-8D8A-A10FA8B4100F}"/>
              </a:ext>
            </a:extLst>
          </p:cNvPr>
          <p:cNvSpPr>
            <a:spLocks noGrp="1"/>
          </p:cNvSpPr>
          <p:nvPr>
            <p:ph idx="1"/>
          </p:nvPr>
        </p:nvSpPr>
        <p:spPr/>
        <p:txBody>
          <a:bodyPr/>
          <a:lstStyle/>
          <a:p>
            <a:pPr eaLnBrk="1" hangingPunct="1">
              <a:lnSpc>
                <a:spcPct val="150000"/>
              </a:lnSpc>
            </a:pPr>
            <a:r>
              <a:rPr lang="zh-CN" altLang="en-US" sz="2800" b="0" dirty="0"/>
              <a:t>以上信号形式不同，但都是</a:t>
            </a:r>
            <a:r>
              <a:rPr lang="zh-CN" altLang="en-US" sz="2800" b="0" dirty="0">
                <a:solidFill>
                  <a:srgbClr val="FF0000"/>
                </a:solidFill>
              </a:rPr>
              <a:t>信息或消息的载体</a:t>
            </a:r>
            <a:r>
              <a:rPr lang="zh-CN" altLang="en-US" sz="2800" b="0" dirty="0"/>
              <a:t>。</a:t>
            </a:r>
            <a:endParaRPr lang="en-US" altLang="zh-CN" sz="2800" b="0" dirty="0"/>
          </a:p>
          <a:p>
            <a:pPr lvl="1" eaLnBrk="1" hangingPunct="1">
              <a:lnSpc>
                <a:spcPct val="150000"/>
              </a:lnSpc>
            </a:pPr>
            <a:r>
              <a:rPr lang="zh-CN" altLang="en-US" b="0" dirty="0">
                <a:solidFill>
                  <a:srgbClr val="0000FF"/>
                </a:solidFill>
              </a:rPr>
              <a:t>声音</a:t>
            </a:r>
            <a:r>
              <a:rPr lang="en-US" altLang="zh-CN" b="0" dirty="0">
                <a:solidFill>
                  <a:srgbClr val="0000FF"/>
                </a:solidFill>
              </a:rPr>
              <a:t>/</a:t>
            </a:r>
            <a:r>
              <a:rPr lang="zh-CN" altLang="en-US" b="0" dirty="0">
                <a:solidFill>
                  <a:srgbClr val="0000FF"/>
                </a:solidFill>
              </a:rPr>
              <a:t>图像</a:t>
            </a:r>
            <a:r>
              <a:rPr lang="en-US" altLang="zh-CN" b="0" dirty="0">
                <a:solidFill>
                  <a:srgbClr val="0000FF"/>
                </a:solidFill>
              </a:rPr>
              <a:t>/</a:t>
            </a:r>
            <a:r>
              <a:rPr lang="zh-CN" altLang="en-US" b="0" dirty="0">
                <a:solidFill>
                  <a:srgbClr val="0000FF"/>
                </a:solidFill>
              </a:rPr>
              <a:t>视频</a:t>
            </a:r>
            <a:r>
              <a:rPr lang="en-US" altLang="zh-CN" b="0" dirty="0"/>
              <a:t>——</a:t>
            </a:r>
            <a:r>
              <a:rPr lang="zh-CN" altLang="en-US" b="0" dirty="0"/>
              <a:t>知识、思想和情感</a:t>
            </a:r>
            <a:endParaRPr lang="en-US" altLang="zh-CN" b="0" dirty="0"/>
          </a:p>
          <a:p>
            <a:pPr lvl="1" eaLnBrk="1" hangingPunct="1">
              <a:lnSpc>
                <a:spcPct val="150000"/>
              </a:lnSpc>
            </a:pPr>
            <a:r>
              <a:rPr lang="zh-CN" altLang="en-US" b="0" dirty="0">
                <a:solidFill>
                  <a:srgbClr val="0000FF"/>
                </a:solidFill>
              </a:rPr>
              <a:t>键盘电信号</a:t>
            </a:r>
            <a:r>
              <a:rPr lang="en-US" altLang="zh-CN" b="0" dirty="0"/>
              <a:t>——</a:t>
            </a:r>
            <a:r>
              <a:rPr lang="zh-CN" altLang="en-US" b="0" dirty="0"/>
              <a:t>电脑指令</a:t>
            </a:r>
          </a:p>
          <a:p>
            <a:pPr lvl="1" eaLnBrk="1" hangingPunct="1">
              <a:lnSpc>
                <a:spcPct val="150000"/>
              </a:lnSpc>
            </a:pPr>
            <a:r>
              <a:rPr lang="zh-CN" altLang="en-US" b="0" dirty="0">
                <a:solidFill>
                  <a:srgbClr val="0000FF"/>
                </a:solidFill>
              </a:rPr>
              <a:t>生物电信号</a:t>
            </a:r>
            <a:r>
              <a:rPr lang="en-US" altLang="zh-CN" b="0" dirty="0"/>
              <a:t>——</a:t>
            </a:r>
            <a:r>
              <a:rPr lang="zh-CN" altLang="en-US" b="0" dirty="0"/>
              <a:t>器官功能</a:t>
            </a:r>
          </a:p>
          <a:p>
            <a:pPr lvl="1" eaLnBrk="1" hangingPunct="1">
              <a:lnSpc>
                <a:spcPct val="150000"/>
              </a:lnSpc>
            </a:pPr>
            <a:r>
              <a:rPr lang="zh-CN" altLang="en-US" b="0" dirty="0">
                <a:solidFill>
                  <a:srgbClr val="0000FF"/>
                </a:solidFill>
              </a:rPr>
              <a:t>经济统计数据</a:t>
            </a:r>
            <a:r>
              <a:rPr lang="en-US" altLang="zh-CN" b="0" dirty="0"/>
              <a:t>——</a:t>
            </a:r>
            <a:r>
              <a:rPr lang="zh-CN" altLang="en-US" b="0" dirty="0"/>
              <a:t>社会经济的发展</a:t>
            </a:r>
            <a:endParaRPr lang="en-US" altLang="zh-CN" sz="2800" b="0" dirty="0"/>
          </a:p>
        </p:txBody>
      </p:sp>
      <p:sp>
        <p:nvSpPr>
          <p:cNvPr id="7" name="灯片编号占位符 6">
            <a:extLst>
              <a:ext uri="{FF2B5EF4-FFF2-40B4-BE49-F238E27FC236}">
                <a16:creationId xmlns:a16="http://schemas.microsoft.com/office/drawing/2014/main" id="{178C891F-758A-4099-8AB4-246B479E72A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B43F19F-1E05-4BF0-B025-0A48E09833F4}" type="slidenum">
              <a:rPr lang="zh-CN" altLang="en-US">
                <a:solidFill>
                  <a:srgbClr val="898989"/>
                </a:solidFill>
                <a:latin typeface="Calibri" panose="020F0502020204030204" pitchFamily="34" charset="0"/>
              </a:rPr>
              <a:pPr eaLnBrk="1" hangingPunct="1"/>
              <a:t>4</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D0A158-02E6-45A1-B77A-064129FF0659}"/>
              </a:ext>
            </a:extLst>
          </p:cNvPr>
          <p:cNvSpPr>
            <a:spLocks noGrp="1"/>
          </p:cNvSpPr>
          <p:nvPr>
            <p:ph type="title"/>
          </p:nvPr>
        </p:nvSpPr>
        <p:spPr/>
        <p:txBody>
          <a:bodyPr rtlCol="0">
            <a:normAutofit fontScale="90000"/>
          </a:bodyPr>
          <a:lstStyle/>
          <a:p>
            <a:pPr eaLnBrk="1" fontAlgn="auto" hangingPunct="1">
              <a:spcAft>
                <a:spcPts val="0"/>
              </a:spcAft>
              <a:defRPr/>
            </a:pPr>
            <a:r>
              <a:rPr lang="zh-CN" altLang="en-US" dirty="0"/>
              <a:t>什么是系统？</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E69673A-543B-4F28-865F-9B792699E3A4}"/>
                  </a:ext>
                </a:extLst>
              </p:cNvPr>
              <p:cNvSpPr>
                <a:spLocks noGrp="1"/>
              </p:cNvSpPr>
              <p:nvPr>
                <p:ph idx="1"/>
              </p:nvPr>
            </p:nvSpPr>
            <p:spPr/>
            <p:txBody>
              <a:bodyPr rtlCol="0">
                <a:normAutofit fontScale="92500" lnSpcReduction="10000"/>
              </a:bodyPr>
              <a:lstStyle/>
              <a:p>
                <a:pPr algn="just" eaLnBrk="1" fontAlgn="auto" hangingPunct="1">
                  <a:lnSpc>
                    <a:spcPct val="150000"/>
                  </a:lnSpc>
                  <a:spcAft>
                    <a:spcPts val="0"/>
                  </a:spcAft>
                  <a:defRPr/>
                </a:pPr>
                <a:r>
                  <a:rPr lang="zh-CN" altLang="en-US" sz="2800" dirty="0">
                    <a:solidFill>
                      <a:srgbClr val="FF0000"/>
                    </a:solidFill>
                  </a:rPr>
                  <a:t>系统</a:t>
                </a:r>
                <a:r>
                  <a:rPr lang="zh-CN" altLang="en-US" sz="2800" b="0" dirty="0"/>
                  <a:t>的基本定义：系统是对输入信号作出响应的物理结构，本质上是对输入信号进行处理，并将处理后的信号作为系统输出，称为系统的</a:t>
                </a:r>
                <a:r>
                  <a:rPr lang="zh-CN" altLang="en-US" sz="2800" dirty="0">
                    <a:solidFill>
                      <a:srgbClr val="FF0000"/>
                    </a:solidFill>
                  </a:rPr>
                  <a:t>响应</a:t>
                </a:r>
                <a:r>
                  <a:rPr lang="zh-CN" altLang="en-US" sz="2800" b="0" dirty="0"/>
                  <a:t>。</a:t>
                </a:r>
              </a:p>
              <a:p>
                <a:pPr lvl="1" eaLnBrk="1" fontAlgn="auto" hangingPunct="1">
                  <a:lnSpc>
                    <a:spcPct val="150000"/>
                  </a:lnSpc>
                  <a:spcAft>
                    <a:spcPts val="0"/>
                  </a:spcAft>
                  <a:defRPr/>
                </a:pPr>
                <a:r>
                  <a:rPr lang="zh-CN" altLang="en-US" b="0" dirty="0"/>
                  <a:t>例：</a:t>
                </a:r>
                <a:r>
                  <a:rPr lang="en-US" altLang="zh-CN" b="0" dirty="0"/>
                  <a:t/>
                </a:r>
                <a:br>
                  <a:rPr lang="en-US" altLang="zh-CN" b="0" dirty="0"/>
                </a:br>
                <a:r>
                  <a:rPr lang="zh-CN" altLang="en-US" b="0" dirty="0"/>
                  <a:t>声音</a:t>
                </a:r>
                <a:r>
                  <a:rPr lang="en-US" altLang="zh-CN" b="0" dirty="0"/>
                  <a:t>/</a:t>
                </a:r>
                <a:r>
                  <a:rPr lang="zh-CN" altLang="en-US" b="0" dirty="0"/>
                  <a:t>图像</a:t>
                </a:r>
                <a:r>
                  <a:rPr lang="en-US" altLang="zh-CN" b="0" dirty="0"/>
                  <a:t>/</a:t>
                </a:r>
                <a:r>
                  <a:rPr lang="zh-CN" altLang="en-US" b="0" dirty="0"/>
                  <a:t>视频</a:t>
                </a:r>
                <a14:m>
                  <m:oMath xmlns:m="http://schemas.openxmlformats.org/officeDocument/2006/math">
                    <m:r>
                      <a:rPr lang="en-US" altLang="zh-CN" b="0" i="1" dirty="0" smtClean="0">
                        <a:latin typeface="Cambria Math" panose="02040503050406030204" pitchFamily="18" charset="0"/>
                        <a:ea typeface="Cambria Math" panose="02040503050406030204" pitchFamily="18" charset="0"/>
                      </a:rPr>
                      <m:t>⟶</m:t>
                    </m:r>
                  </m:oMath>
                </a14:m>
                <a:r>
                  <a:rPr lang="zh-CN" altLang="en-US" b="0" dirty="0">
                    <a:solidFill>
                      <a:srgbClr val="0000FF"/>
                    </a:solidFill>
                  </a:rPr>
                  <a:t>计算机系统</a:t>
                </a:r>
                <a14:m>
                  <m:oMath xmlns:m="http://schemas.openxmlformats.org/officeDocument/2006/math">
                    <m:r>
                      <a:rPr lang="en-US" altLang="zh-CN" b="0" i="1" dirty="0">
                        <a:latin typeface="Cambria Math" panose="02040503050406030204" pitchFamily="18" charset="0"/>
                        <a:ea typeface="Cambria Math" panose="02040503050406030204" pitchFamily="18" charset="0"/>
                      </a:rPr>
                      <m:t>⟶</m:t>
                    </m:r>
                  </m:oMath>
                </a14:m>
                <a:r>
                  <a:rPr lang="zh-CN" altLang="en-US" b="0" dirty="0"/>
                  <a:t>文字描述</a:t>
                </a:r>
                <a:r>
                  <a:rPr lang="en-US" altLang="zh-CN" b="0" dirty="0"/>
                  <a:t/>
                </a:r>
                <a:br>
                  <a:rPr lang="en-US" altLang="zh-CN" b="0" dirty="0"/>
                </a:br>
                <a:r>
                  <a:rPr lang="zh-CN" altLang="en-US" b="0" dirty="0"/>
                  <a:t>行人</a:t>
                </a:r>
                <a14:m>
                  <m:oMath xmlns:m="http://schemas.openxmlformats.org/officeDocument/2006/math">
                    <m:r>
                      <a:rPr lang="en-US" altLang="zh-CN" b="0" i="1" dirty="0">
                        <a:latin typeface="Cambria Math" panose="02040503050406030204" pitchFamily="18" charset="0"/>
                        <a:ea typeface="Cambria Math" panose="02040503050406030204" pitchFamily="18" charset="0"/>
                      </a:rPr>
                      <m:t>⟶</m:t>
                    </m:r>
                  </m:oMath>
                </a14:m>
                <a:r>
                  <a:rPr lang="zh-CN" altLang="en-US" b="0" dirty="0">
                    <a:solidFill>
                      <a:srgbClr val="0000FF"/>
                    </a:solidFill>
                  </a:rPr>
                  <a:t>校门口闸机</a:t>
                </a:r>
                <a14:m>
                  <m:oMath xmlns:m="http://schemas.openxmlformats.org/officeDocument/2006/math">
                    <m:r>
                      <a:rPr lang="en-US" altLang="zh-CN" b="0" i="1" dirty="0">
                        <a:latin typeface="Cambria Math" panose="02040503050406030204" pitchFamily="18" charset="0"/>
                        <a:ea typeface="Cambria Math" panose="02040503050406030204" pitchFamily="18" charset="0"/>
                      </a:rPr>
                      <m:t>⟶</m:t>
                    </m:r>
                  </m:oMath>
                </a14:m>
                <a:r>
                  <a:rPr lang="zh-CN" altLang="en-US" b="0" dirty="0"/>
                  <a:t>身份</a:t>
                </a:r>
                <a:r>
                  <a:rPr lang="en-US" altLang="zh-CN" b="0" dirty="0"/>
                  <a:t/>
                </a:r>
                <a:br>
                  <a:rPr lang="en-US" altLang="zh-CN" b="0" dirty="0"/>
                </a:br>
                <a:r>
                  <a:rPr lang="zh-CN" altLang="en-US" b="0" dirty="0"/>
                  <a:t>食物</a:t>
                </a:r>
                <a14:m>
                  <m:oMath xmlns:m="http://schemas.openxmlformats.org/officeDocument/2006/math">
                    <m:r>
                      <a:rPr lang="en-US" altLang="zh-CN" b="0" i="1" dirty="0">
                        <a:latin typeface="Cambria Math" panose="02040503050406030204" pitchFamily="18" charset="0"/>
                        <a:ea typeface="Cambria Math" panose="02040503050406030204" pitchFamily="18" charset="0"/>
                      </a:rPr>
                      <m:t>⟶</m:t>
                    </m:r>
                  </m:oMath>
                </a14:m>
                <a:r>
                  <a:rPr lang="zh-CN" altLang="en-US" b="0" dirty="0">
                    <a:solidFill>
                      <a:srgbClr val="0000FF"/>
                    </a:solidFill>
                  </a:rPr>
                  <a:t>味觉神经系统</a:t>
                </a:r>
                <a14:m>
                  <m:oMath xmlns:m="http://schemas.openxmlformats.org/officeDocument/2006/math">
                    <m:r>
                      <a:rPr lang="en-US" altLang="zh-CN" b="0" i="1" dirty="0">
                        <a:latin typeface="Cambria Math" panose="02040503050406030204" pitchFamily="18" charset="0"/>
                        <a:ea typeface="Cambria Math" panose="02040503050406030204" pitchFamily="18" charset="0"/>
                      </a:rPr>
                      <m:t>⟶</m:t>
                    </m:r>
                  </m:oMath>
                </a14:m>
                <a:r>
                  <a:rPr lang="zh-CN" altLang="en-US" b="0" dirty="0"/>
                  <a:t>酸甜苦辣味道</a:t>
                </a:r>
              </a:p>
              <a:p>
                <a:pPr eaLnBrk="1" fontAlgn="auto" hangingPunct="1">
                  <a:lnSpc>
                    <a:spcPct val="150000"/>
                  </a:lnSpc>
                  <a:spcAft>
                    <a:spcPts val="0"/>
                  </a:spcAft>
                  <a:defRPr/>
                </a:pPr>
                <a:r>
                  <a:rPr lang="zh-CN" altLang="en-US" sz="2800" b="0" dirty="0"/>
                  <a:t>以上系统的共同点：</a:t>
                </a:r>
                <a:r>
                  <a:rPr lang="zh-CN" altLang="en-US" sz="2800" b="0" dirty="0">
                    <a:solidFill>
                      <a:srgbClr val="FF0000"/>
                    </a:solidFill>
                  </a:rPr>
                  <a:t>对输入信号作出响应</a:t>
                </a:r>
                <a:r>
                  <a:rPr lang="zh-CN" altLang="en-US" sz="2800" b="0" dirty="0"/>
                  <a:t>。</a:t>
                </a:r>
              </a:p>
            </p:txBody>
          </p:sp>
        </mc:Choice>
        <mc:Fallback xmlns="">
          <p:sp>
            <p:nvSpPr>
              <p:cNvPr id="3" name="内容占位符 2">
                <a:extLst>
                  <a:ext uri="{FF2B5EF4-FFF2-40B4-BE49-F238E27FC236}">
                    <a16:creationId xmlns:a16="http://schemas.microsoft.com/office/drawing/2014/main" id="{6E69673A-543B-4F28-865F-9B792699E3A4}"/>
                  </a:ext>
                </a:extLst>
              </p:cNvPr>
              <p:cNvSpPr>
                <a:spLocks noGrp="1" noRot="1" noChangeAspect="1" noMove="1" noResize="1" noEditPoints="1" noAdjustHandles="1" noChangeArrowheads="1" noChangeShapeType="1" noTextEdit="1"/>
              </p:cNvSpPr>
              <p:nvPr>
                <p:ph idx="1"/>
              </p:nvPr>
            </p:nvSpPr>
            <p:spPr>
              <a:blipFill>
                <a:blip r:embed="rId2"/>
                <a:stretch>
                  <a:fillRect l="-1111" r="-133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5D243E4E-BF89-41B6-A4D6-29CADF18660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B7EB45A-BE81-45E7-B096-4118A9094A92}" type="slidenum">
              <a:rPr lang="zh-CN" altLang="en-US">
                <a:solidFill>
                  <a:srgbClr val="898989"/>
                </a:solidFill>
                <a:latin typeface="Calibri" panose="020F0502020204030204" pitchFamily="34" charset="0"/>
              </a:rPr>
              <a:pPr eaLnBrk="1" hangingPunct="1"/>
              <a:t>5</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B11420-2AB0-4E19-B4D1-538D67377441}"/>
              </a:ext>
            </a:extLst>
          </p:cNvPr>
          <p:cNvSpPr>
            <a:spLocks noGrp="1"/>
          </p:cNvSpPr>
          <p:nvPr>
            <p:ph type="title"/>
          </p:nvPr>
        </p:nvSpPr>
        <p:spPr/>
        <p:txBody>
          <a:bodyPr rtlCol="0">
            <a:normAutofit fontScale="90000"/>
          </a:bodyPr>
          <a:lstStyle/>
          <a:p>
            <a:pPr eaLnBrk="1" fontAlgn="auto" hangingPunct="1">
              <a:spcAft>
                <a:spcPts val="0"/>
              </a:spcAft>
              <a:defRPr/>
            </a:pPr>
            <a:r>
              <a:rPr lang="zh-CN" altLang="en-US" dirty="0"/>
              <a:t>为什么要学习</a:t>
            </a:r>
            <a:r>
              <a:rPr lang="en-US" altLang="zh-CN" dirty="0"/>
              <a:t>《</a:t>
            </a:r>
            <a:r>
              <a:rPr lang="zh-CN" altLang="en-US" dirty="0"/>
              <a:t>信号与系统</a:t>
            </a:r>
            <a:r>
              <a:rPr lang="en-US" altLang="zh-CN" dirty="0"/>
              <a:t>》</a:t>
            </a:r>
            <a:r>
              <a:rPr lang="zh-CN" altLang="en-US" dirty="0"/>
              <a:t>？</a:t>
            </a:r>
          </a:p>
        </p:txBody>
      </p:sp>
      <p:sp>
        <p:nvSpPr>
          <p:cNvPr id="37891" name="内容占位符 2">
            <a:extLst>
              <a:ext uri="{FF2B5EF4-FFF2-40B4-BE49-F238E27FC236}">
                <a16:creationId xmlns:a16="http://schemas.microsoft.com/office/drawing/2014/main" id="{173671CE-6F8A-4629-A202-74B4E71257FB}"/>
              </a:ext>
            </a:extLst>
          </p:cNvPr>
          <p:cNvSpPr>
            <a:spLocks noGrp="1"/>
          </p:cNvSpPr>
          <p:nvPr>
            <p:ph idx="1"/>
          </p:nvPr>
        </p:nvSpPr>
        <p:spPr/>
        <p:txBody>
          <a:bodyPr/>
          <a:lstStyle/>
          <a:p>
            <a:pPr algn="just" eaLnBrk="1" hangingPunct="1">
              <a:lnSpc>
                <a:spcPct val="150000"/>
              </a:lnSpc>
            </a:pPr>
            <a:r>
              <a:rPr lang="zh-CN" altLang="en-US" sz="2800" b="0" dirty="0"/>
              <a:t>信号与系统是一门重要的</a:t>
            </a:r>
            <a:r>
              <a:rPr lang="zh-CN" altLang="en-US" sz="2800" b="0" dirty="0">
                <a:solidFill>
                  <a:srgbClr val="FF0000"/>
                </a:solidFill>
              </a:rPr>
              <a:t>专业基础</a:t>
            </a:r>
            <a:r>
              <a:rPr lang="zh-CN" altLang="en-US" sz="2800" b="0" dirty="0"/>
              <a:t>课，是以下后续课程的基础：数字信号处理、数字图像处理、通信原理、多媒体技术、信息安全技术、计算机视觉、智能机器人等。</a:t>
            </a:r>
          </a:p>
          <a:p>
            <a:pPr algn="just" eaLnBrk="1" hangingPunct="1">
              <a:lnSpc>
                <a:spcPct val="150000"/>
              </a:lnSpc>
            </a:pPr>
            <a:r>
              <a:rPr lang="zh-CN" altLang="en-US" sz="2800" b="0" dirty="0"/>
              <a:t>信号与系统的基本概念与分析方法具有</a:t>
            </a:r>
            <a:r>
              <a:rPr lang="zh-CN" altLang="en-US" sz="2800" b="0" dirty="0">
                <a:solidFill>
                  <a:srgbClr val="FF0000"/>
                </a:solidFill>
              </a:rPr>
              <a:t>广泛的应用范围</a:t>
            </a:r>
            <a:r>
              <a:rPr lang="zh-CN" altLang="en-US" sz="2800" b="0" dirty="0"/>
              <a:t>：声音</a:t>
            </a:r>
            <a:r>
              <a:rPr lang="en-US" altLang="zh-CN" sz="2800" b="0" dirty="0"/>
              <a:t>/</a:t>
            </a:r>
            <a:r>
              <a:rPr lang="zh-CN" altLang="en-US" sz="2800" b="0" dirty="0"/>
              <a:t>图像</a:t>
            </a:r>
            <a:r>
              <a:rPr lang="en-US" altLang="zh-CN" sz="2800" b="0" dirty="0"/>
              <a:t>/</a:t>
            </a:r>
            <a:r>
              <a:rPr lang="zh-CN" altLang="en-US" sz="2800" b="0" dirty="0"/>
              <a:t>视频处理、通信、控制、微电子、机械、甚至生物、化学、地质、经济等。</a:t>
            </a:r>
          </a:p>
        </p:txBody>
      </p:sp>
      <p:sp>
        <p:nvSpPr>
          <p:cNvPr id="4" name="灯片编号占位符 3">
            <a:extLst>
              <a:ext uri="{FF2B5EF4-FFF2-40B4-BE49-F238E27FC236}">
                <a16:creationId xmlns:a16="http://schemas.microsoft.com/office/drawing/2014/main" id="{E29C0966-5F38-4780-8164-3520AEC1FAE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0A2A9C7-A0B0-43DF-B438-8A8F29686061}" type="slidenum">
              <a:rPr lang="zh-CN" altLang="en-US">
                <a:solidFill>
                  <a:srgbClr val="898989"/>
                </a:solidFill>
                <a:latin typeface="Calibri" panose="020F0502020204030204" pitchFamily="34" charset="0"/>
              </a:rPr>
              <a:pPr eaLnBrk="1" hangingPunct="1"/>
              <a:t>6</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a:extLst>
              <a:ext uri="{FF2B5EF4-FFF2-40B4-BE49-F238E27FC236}">
                <a16:creationId xmlns:a16="http://schemas.microsoft.com/office/drawing/2014/main" id="{E015FDD4-9FEC-4922-8707-C4341F94B525}"/>
              </a:ext>
            </a:extLst>
          </p:cNvPr>
          <p:cNvSpPr>
            <a:spLocks noGrp="1"/>
          </p:cNvSpPr>
          <p:nvPr>
            <p:ph type="sldNum" sz="quarter" idx="12"/>
          </p:nvPr>
        </p:nvSpPr>
        <p:spPr/>
        <p:txBody>
          <a:bodyPr vert="horz" wrap="square" lIns="91440" tIns="45720" rIns="91440" bIns="45720" numCol="1" anchor="ctr" anchorCtr="0" compatLnSpc="1">
            <a:prstTxWarp prst="textNoShape">
              <a:avLst/>
            </a:prstTxWarp>
          </a:bodyPr>
          <a:lstStyle/>
          <a:p>
            <a:fld id="{2082989C-123F-4503-BBDC-46064AB21AD2}" type="slidenum">
              <a:rPr lang="zh-CN" altLang="en-US"/>
              <a:pPr/>
              <a:t>7</a:t>
            </a:fld>
            <a:endParaRPr lang="en-US" altLang="zh-CN" dirty="0"/>
          </a:p>
        </p:txBody>
      </p:sp>
      <p:graphicFrame>
        <p:nvGraphicFramePr>
          <p:cNvPr id="13315" name="Object 6">
            <a:extLst>
              <a:ext uri="{FF2B5EF4-FFF2-40B4-BE49-F238E27FC236}">
                <a16:creationId xmlns:a16="http://schemas.microsoft.com/office/drawing/2014/main" id="{BB3A1E63-45C2-403D-A78F-CF58ED7B1B31}"/>
              </a:ext>
            </a:extLst>
          </p:cNvPr>
          <p:cNvGraphicFramePr>
            <a:graphicFrameLocks noChangeAspect="1"/>
          </p:cNvGraphicFramePr>
          <p:nvPr>
            <p:extLst>
              <p:ext uri="{D42A27DB-BD31-4B8C-83A1-F6EECF244321}">
                <p14:modId xmlns:p14="http://schemas.microsoft.com/office/powerpoint/2010/main" val="1179197473"/>
              </p:ext>
            </p:extLst>
          </p:nvPr>
        </p:nvGraphicFramePr>
        <p:xfrm>
          <a:off x="757808" y="1443038"/>
          <a:ext cx="3192463" cy="3192462"/>
        </p:xfrm>
        <a:graphic>
          <a:graphicData uri="http://schemas.openxmlformats.org/presentationml/2006/ole">
            <mc:AlternateContent xmlns:mc="http://schemas.openxmlformats.org/markup-compatibility/2006">
              <mc:Choice xmlns:v="urn:schemas-microsoft-com:vml" Requires="v">
                <p:oleObj spid="_x0000_s1262" name="位图图像" r:id="rId3" imgW="4877481" imgH="4877481" progId="Paint.Picture">
                  <p:embed/>
                </p:oleObj>
              </mc:Choice>
              <mc:Fallback>
                <p:oleObj name="位图图像" r:id="rId3" imgW="4877481" imgH="4877481" progId="Paint.Picture">
                  <p:embed/>
                  <p:pic>
                    <p:nvPicPr>
                      <p:cNvPr id="13315" name="Object 6">
                        <a:extLst>
                          <a:ext uri="{FF2B5EF4-FFF2-40B4-BE49-F238E27FC236}">
                            <a16:creationId xmlns:a16="http://schemas.microsoft.com/office/drawing/2014/main" id="{BB3A1E63-45C2-403D-A78F-CF58ED7B1B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7808" y="1443038"/>
                        <a:ext cx="3192463" cy="3192462"/>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 name="Object 8">
            <a:extLst>
              <a:ext uri="{FF2B5EF4-FFF2-40B4-BE49-F238E27FC236}">
                <a16:creationId xmlns:a16="http://schemas.microsoft.com/office/drawing/2014/main" id="{2BCB89AB-1757-4E8C-8317-398B0DC0005D}"/>
              </a:ext>
            </a:extLst>
          </p:cNvPr>
          <p:cNvGraphicFramePr>
            <a:graphicFrameLocks noChangeAspect="1"/>
          </p:cNvGraphicFramePr>
          <p:nvPr>
            <p:extLst>
              <p:ext uri="{D42A27DB-BD31-4B8C-83A1-F6EECF244321}">
                <p14:modId xmlns:p14="http://schemas.microsoft.com/office/powerpoint/2010/main" val="820570592"/>
              </p:ext>
            </p:extLst>
          </p:nvPr>
        </p:nvGraphicFramePr>
        <p:xfrm>
          <a:off x="5400571" y="1443038"/>
          <a:ext cx="3276600" cy="3192462"/>
        </p:xfrm>
        <a:graphic>
          <a:graphicData uri="http://schemas.openxmlformats.org/presentationml/2006/ole">
            <mc:AlternateContent xmlns:mc="http://schemas.openxmlformats.org/markup-compatibility/2006">
              <mc:Choice xmlns:v="urn:schemas-microsoft-com:vml" Requires="v">
                <p:oleObj spid="_x0000_s1263" name="位图图像" r:id="rId5" imgW="4877481" imgH="4877481" progId="Paint.Picture">
                  <p:embed/>
                </p:oleObj>
              </mc:Choice>
              <mc:Fallback>
                <p:oleObj name="位图图像" r:id="rId5" imgW="4877481" imgH="4877481" progId="Paint.Picture">
                  <p:embed/>
                  <p:pic>
                    <p:nvPicPr>
                      <p:cNvPr id="1027" name="Object 8">
                        <a:extLst>
                          <a:ext uri="{FF2B5EF4-FFF2-40B4-BE49-F238E27FC236}">
                            <a16:creationId xmlns:a16="http://schemas.microsoft.com/office/drawing/2014/main" id="{2BCB89AB-1757-4E8C-8317-398B0DC000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0571" y="1443038"/>
                        <a:ext cx="3276600" cy="3192462"/>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7" name="TextBox 4">
            <a:extLst>
              <a:ext uri="{FF2B5EF4-FFF2-40B4-BE49-F238E27FC236}">
                <a16:creationId xmlns:a16="http://schemas.microsoft.com/office/drawing/2014/main" id="{98ECEB73-4442-413A-9C0A-93F3C8EC643F}"/>
              </a:ext>
            </a:extLst>
          </p:cNvPr>
          <p:cNvSpPr txBox="1">
            <a:spLocks noChangeArrowheads="1"/>
          </p:cNvSpPr>
          <p:nvPr/>
        </p:nvSpPr>
        <p:spPr bwMode="auto">
          <a:xfrm>
            <a:off x="1184488" y="4799434"/>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zh-CN" altLang="en-US" dirty="0">
                <a:latin typeface="楷体" panose="02010609060101010101" pitchFamily="49" charset="-122"/>
                <a:ea typeface="楷体" panose="02010609060101010101" pitchFamily="49" charset="-122"/>
              </a:rPr>
              <a:t>信号的空域表示</a:t>
            </a:r>
          </a:p>
        </p:txBody>
      </p:sp>
      <p:sp>
        <p:nvSpPr>
          <p:cNvPr id="1030" name="TextBox 5">
            <a:extLst>
              <a:ext uri="{FF2B5EF4-FFF2-40B4-BE49-F238E27FC236}">
                <a16:creationId xmlns:a16="http://schemas.microsoft.com/office/drawing/2014/main" id="{0DB15AAE-12B0-49DD-94BE-ABB7B166D275}"/>
              </a:ext>
            </a:extLst>
          </p:cNvPr>
          <p:cNvSpPr txBox="1">
            <a:spLocks noChangeArrowheads="1"/>
          </p:cNvSpPr>
          <p:nvPr/>
        </p:nvSpPr>
        <p:spPr bwMode="auto">
          <a:xfrm>
            <a:off x="5869320" y="4799433"/>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zh-CN" altLang="en-US" dirty="0">
                <a:latin typeface="楷体" panose="02010609060101010101" pitchFamily="49" charset="-122"/>
                <a:ea typeface="楷体" panose="02010609060101010101" pitchFamily="49" charset="-122"/>
              </a:rPr>
              <a:t>信号的频域表示</a:t>
            </a:r>
          </a:p>
        </p:txBody>
      </p:sp>
      <p:sp>
        <p:nvSpPr>
          <p:cNvPr id="8" name="左右箭头 7">
            <a:extLst>
              <a:ext uri="{FF2B5EF4-FFF2-40B4-BE49-F238E27FC236}">
                <a16:creationId xmlns:a16="http://schemas.microsoft.com/office/drawing/2014/main" id="{42F86100-DEC3-412C-8EB4-7A2E438A3A52}"/>
              </a:ext>
            </a:extLst>
          </p:cNvPr>
          <p:cNvSpPr/>
          <p:nvPr/>
        </p:nvSpPr>
        <p:spPr>
          <a:xfrm>
            <a:off x="4034408" y="2814638"/>
            <a:ext cx="1143000" cy="4572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a typeface="宋体" charset="-122"/>
            </a:endParaRPr>
          </a:p>
        </p:txBody>
      </p:sp>
      <p:sp>
        <p:nvSpPr>
          <p:cNvPr id="1032" name="TextBox 8">
            <a:extLst>
              <a:ext uri="{FF2B5EF4-FFF2-40B4-BE49-F238E27FC236}">
                <a16:creationId xmlns:a16="http://schemas.microsoft.com/office/drawing/2014/main" id="{F6837F3F-32CA-4C74-AD12-FDFF4DE8FDEC}"/>
              </a:ext>
            </a:extLst>
          </p:cNvPr>
          <p:cNvSpPr txBox="1">
            <a:spLocks noChangeArrowheads="1"/>
          </p:cNvSpPr>
          <p:nvPr/>
        </p:nvSpPr>
        <p:spPr bwMode="auto">
          <a:xfrm>
            <a:off x="4145771" y="2309842"/>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zh-CN" altLang="en-US" sz="2800" b="1" dirty="0">
                <a:solidFill>
                  <a:srgbClr val="FF0000"/>
                </a:solidFill>
                <a:latin typeface="楷体" panose="02010609060101010101" pitchFamily="49" charset="-122"/>
                <a:ea typeface="楷体" panose="02010609060101010101" pitchFamily="49" charset="-122"/>
              </a:rPr>
              <a:t>等价</a:t>
            </a:r>
          </a:p>
        </p:txBody>
      </p:sp>
      <p:sp>
        <p:nvSpPr>
          <p:cNvPr id="1033" name="TextBox 9">
            <a:extLst>
              <a:ext uri="{FF2B5EF4-FFF2-40B4-BE49-F238E27FC236}">
                <a16:creationId xmlns:a16="http://schemas.microsoft.com/office/drawing/2014/main" id="{4623C8B5-4A91-4FC3-AA68-14BF1CD91999}"/>
              </a:ext>
            </a:extLst>
          </p:cNvPr>
          <p:cNvSpPr txBox="1">
            <a:spLocks noChangeArrowheads="1"/>
          </p:cNvSpPr>
          <p:nvPr/>
        </p:nvSpPr>
        <p:spPr bwMode="auto">
          <a:xfrm>
            <a:off x="5869320" y="5269087"/>
            <a:ext cx="2497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zh-CN" altLang="en-US" dirty="0">
                <a:solidFill>
                  <a:srgbClr val="FF0000"/>
                </a:solidFill>
                <a:latin typeface="楷体" panose="02010609060101010101" pitchFamily="49" charset="-122"/>
                <a:ea typeface="楷体" panose="02010609060101010101" pitchFamily="49" charset="-122"/>
              </a:rPr>
              <a:t>抽象，但</a:t>
            </a:r>
            <a:r>
              <a:rPr lang="zh-CN" altLang="en-US" b="1" dirty="0">
                <a:solidFill>
                  <a:srgbClr val="FF0000"/>
                </a:solidFill>
                <a:latin typeface="楷体" panose="02010609060101010101" pitchFamily="49" charset="-122"/>
                <a:ea typeface="楷体" panose="02010609060101010101" pitchFamily="49" charset="-122"/>
              </a:rPr>
              <a:t>很有用</a:t>
            </a:r>
            <a:r>
              <a:rPr lang="en-US" altLang="zh-CN" dirty="0">
                <a:solidFill>
                  <a:srgbClr val="FF0000"/>
                </a:solidFill>
                <a:latin typeface="楷体" panose="02010609060101010101" pitchFamily="49" charset="-122"/>
                <a:ea typeface="楷体" panose="02010609060101010101" pitchFamily="49" charset="-122"/>
              </a:rPr>
              <a:t>!</a:t>
            </a:r>
            <a:endParaRPr lang="zh-CN" altLang="en-US" dirty="0">
              <a:solidFill>
                <a:srgbClr val="FF0000"/>
              </a:solidFill>
              <a:latin typeface="楷体" panose="02010609060101010101" pitchFamily="49" charset="-122"/>
              <a:ea typeface="楷体" panose="02010609060101010101" pitchFamily="49" charset="-122"/>
            </a:endParaRPr>
          </a:p>
        </p:txBody>
      </p:sp>
      <p:sp>
        <p:nvSpPr>
          <p:cNvPr id="11" name="标题 1">
            <a:extLst>
              <a:ext uri="{FF2B5EF4-FFF2-40B4-BE49-F238E27FC236}">
                <a16:creationId xmlns:a16="http://schemas.microsoft.com/office/drawing/2014/main" id="{3DFE2516-A630-40FE-9C1A-E893E29FE332}"/>
              </a:ext>
            </a:extLst>
          </p:cNvPr>
          <p:cNvSpPr txBox="1">
            <a:spLocks/>
          </p:cNvSpPr>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fontScale="97500" lnSpcReduction="10000"/>
          </a:bodyPr>
          <a:lstStyle>
            <a:lvl1pPr algn="ctr" rtl="0" eaLnBrk="0" fontAlgn="base" hangingPunct="0">
              <a:spcBef>
                <a:spcPct val="0"/>
              </a:spcBef>
              <a:spcAft>
                <a:spcPct val="0"/>
              </a:spcAft>
              <a:defRPr sz="4400" b="1" kern="1200" baseline="0">
                <a:solidFill>
                  <a:schemeClr val="tx1"/>
                </a:solidFill>
                <a:latin typeface="Georgia" pitchFamily="18" charset="0"/>
                <a:ea typeface="华文行楷" pitchFamily="2" charset="-122"/>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a:lstStyle>
          <a:p>
            <a:pPr eaLnBrk="1" fontAlgn="auto" hangingPunct="1">
              <a:spcAft>
                <a:spcPts val="0"/>
              </a:spcAft>
              <a:defRPr/>
            </a:pPr>
            <a:r>
              <a:rPr lang="zh-CN" altLang="en-US" sz="4400" dirty="0"/>
              <a:t>频域视角</a:t>
            </a:r>
            <a:endParaRPr lang="zh-CN" altLang="en-US" dirty="0"/>
          </a:p>
        </p:txBody>
      </p:sp>
      <p:cxnSp>
        <p:nvCxnSpPr>
          <p:cNvPr id="3" name="直接箭头连接符 2">
            <a:extLst>
              <a:ext uri="{FF2B5EF4-FFF2-40B4-BE49-F238E27FC236}">
                <a16:creationId xmlns:a16="http://schemas.microsoft.com/office/drawing/2014/main" id="{44BF38FA-2EA2-4AAD-B4DF-2F142A604452}"/>
              </a:ext>
            </a:extLst>
          </p:cNvPr>
          <p:cNvCxnSpPr/>
          <p:nvPr/>
        </p:nvCxnSpPr>
        <p:spPr>
          <a:xfrm>
            <a:off x="611560" y="4725144"/>
            <a:ext cx="35342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A14F9415-CF05-42B8-A5AC-0E64C7B22DE6}"/>
              </a:ext>
            </a:extLst>
          </p:cNvPr>
          <p:cNvCxnSpPr/>
          <p:nvPr/>
        </p:nvCxnSpPr>
        <p:spPr>
          <a:xfrm flipV="1">
            <a:off x="611560" y="1340768"/>
            <a:ext cx="0" cy="3384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C6BD06A-8E49-4A16-9C02-C1E774E2A8E2}"/>
                  </a:ext>
                </a:extLst>
              </p:cNvPr>
              <p:cNvSpPr txBox="1"/>
              <p:nvPr/>
            </p:nvSpPr>
            <p:spPr>
              <a:xfrm>
                <a:off x="3813193" y="4678631"/>
                <a:ext cx="44242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𝑥</m:t>
                      </m:r>
                    </m:oMath>
                  </m:oMathPara>
                </a14:m>
                <a:endParaRPr lang="en-US" sz="2400" dirty="0"/>
              </a:p>
            </p:txBody>
          </p:sp>
        </mc:Choice>
        <mc:Fallback xmlns="">
          <p:sp>
            <p:nvSpPr>
              <p:cNvPr id="6" name="文本框 5">
                <a:extLst>
                  <a:ext uri="{FF2B5EF4-FFF2-40B4-BE49-F238E27FC236}">
                    <a16:creationId xmlns:a16="http://schemas.microsoft.com/office/drawing/2014/main" id="{DC6BD06A-8E49-4A16-9C02-C1E774E2A8E2}"/>
                  </a:ext>
                </a:extLst>
              </p:cNvPr>
              <p:cNvSpPr txBox="1">
                <a:spLocks noRot="1" noChangeAspect="1" noMove="1" noResize="1" noEditPoints="1" noAdjustHandles="1" noChangeArrowheads="1" noChangeShapeType="1" noTextEdit="1"/>
              </p:cNvSpPr>
              <p:nvPr/>
            </p:nvSpPr>
            <p:spPr>
              <a:xfrm>
                <a:off x="3813193" y="4678631"/>
                <a:ext cx="442429"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A3973DE3-D723-40B8-A77B-4E0364D3D6AF}"/>
                  </a:ext>
                </a:extLst>
              </p:cNvPr>
              <p:cNvSpPr txBox="1"/>
              <p:nvPr/>
            </p:nvSpPr>
            <p:spPr>
              <a:xfrm>
                <a:off x="241139" y="1268760"/>
                <a:ext cx="44242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𝑦</m:t>
                      </m:r>
                    </m:oMath>
                  </m:oMathPara>
                </a14:m>
                <a:endParaRPr lang="en-US" sz="2400" dirty="0"/>
              </a:p>
            </p:txBody>
          </p:sp>
        </mc:Choice>
        <mc:Fallback xmlns="">
          <p:sp>
            <p:nvSpPr>
              <p:cNvPr id="16" name="文本框 15">
                <a:extLst>
                  <a:ext uri="{FF2B5EF4-FFF2-40B4-BE49-F238E27FC236}">
                    <a16:creationId xmlns:a16="http://schemas.microsoft.com/office/drawing/2014/main" id="{A3973DE3-D723-40B8-A77B-4E0364D3D6AF}"/>
                  </a:ext>
                </a:extLst>
              </p:cNvPr>
              <p:cNvSpPr txBox="1">
                <a:spLocks noRot="1" noChangeAspect="1" noMove="1" noResize="1" noEditPoints="1" noAdjustHandles="1" noChangeArrowheads="1" noChangeShapeType="1" noTextEdit="1"/>
              </p:cNvSpPr>
              <p:nvPr/>
            </p:nvSpPr>
            <p:spPr>
              <a:xfrm>
                <a:off x="241139" y="1268760"/>
                <a:ext cx="442429" cy="461665"/>
              </a:xfrm>
              <a:prstGeom prst="rect">
                <a:avLst/>
              </a:prstGeom>
              <a:blipFill>
                <a:blip r:embed="rId8"/>
                <a:stretch>
                  <a:fillRect b="-13158"/>
                </a:stretch>
              </a:blipFill>
            </p:spPr>
            <p:txBody>
              <a:bodyPr/>
              <a:lstStyle/>
              <a:p>
                <a:r>
                  <a:rPr lang="en-US">
                    <a:noFill/>
                  </a:rPr>
                  <a:t> </a:t>
                </a:r>
              </a:p>
            </p:txBody>
          </p:sp>
        </mc:Fallback>
      </mc:AlternateContent>
      <p:cxnSp>
        <p:nvCxnSpPr>
          <p:cNvPr id="17" name="直接箭头连接符 16">
            <a:extLst>
              <a:ext uri="{FF2B5EF4-FFF2-40B4-BE49-F238E27FC236}">
                <a16:creationId xmlns:a16="http://schemas.microsoft.com/office/drawing/2014/main" id="{64D30D16-9A50-49CF-815C-D1F180A1EDF4}"/>
              </a:ext>
            </a:extLst>
          </p:cNvPr>
          <p:cNvCxnSpPr/>
          <p:nvPr/>
        </p:nvCxnSpPr>
        <p:spPr>
          <a:xfrm>
            <a:off x="5298696" y="4725144"/>
            <a:ext cx="35342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BAD9895A-C364-4BD9-80C6-94FCC6A07CD1}"/>
              </a:ext>
            </a:extLst>
          </p:cNvPr>
          <p:cNvCxnSpPr/>
          <p:nvPr/>
        </p:nvCxnSpPr>
        <p:spPr>
          <a:xfrm flipV="1">
            <a:off x="5298696" y="1340768"/>
            <a:ext cx="0" cy="3384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B68A37A3-F231-4A67-A4EE-3604EA6543EB}"/>
                  </a:ext>
                </a:extLst>
              </p:cNvPr>
              <p:cNvSpPr txBox="1"/>
              <p:nvPr/>
            </p:nvSpPr>
            <p:spPr>
              <a:xfrm>
                <a:off x="8500329" y="4678631"/>
                <a:ext cx="45377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𝑢</m:t>
                      </m:r>
                    </m:oMath>
                  </m:oMathPara>
                </a14:m>
                <a:endParaRPr lang="en-US" sz="2400" dirty="0"/>
              </a:p>
            </p:txBody>
          </p:sp>
        </mc:Choice>
        <mc:Fallback xmlns="">
          <p:sp>
            <p:nvSpPr>
              <p:cNvPr id="19" name="文本框 18">
                <a:extLst>
                  <a:ext uri="{FF2B5EF4-FFF2-40B4-BE49-F238E27FC236}">
                    <a16:creationId xmlns:a16="http://schemas.microsoft.com/office/drawing/2014/main" id="{B68A37A3-F231-4A67-A4EE-3604EA6543EB}"/>
                  </a:ext>
                </a:extLst>
              </p:cNvPr>
              <p:cNvSpPr txBox="1">
                <a:spLocks noRot="1" noChangeAspect="1" noMove="1" noResize="1" noEditPoints="1" noAdjustHandles="1" noChangeArrowheads="1" noChangeShapeType="1" noTextEdit="1"/>
              </p:cNvSpPr>
              <p:nvPr/>
            </p:nvSpPr>
            <p:spPr>
              <a:xfrm>
                <a:off x="8500329" y="4678631"/>
                <a:ext cx="453778"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ED291672-1B2E-428C-B608-68CD1516E635}"/>
                  </a:ext>
                </a:extLst>
              </p:cNvPr>
              <p:cNvSpPr txBox="1"/>
              <p:nvPr/>
            </p:nvSpPr>
            <p:spPr>
              <a:xfrm>
                <a:off x="4917894" y="1268760"/>
                <a:ext cx="44242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𝑣</m:t>
                      </m:r>
                    </m:oMath>
                  </m:oMathPara>
                </a14:m>
                <a:endParaRPr lang="en-US" sz="2400" dirty="0"/>
              </a:p>
            </p:txBody>
          </p:sp>
        </mc:Choice>
        <mc:Fallback xmlns="">
          <p:sp>
            <p:nvSpPr>
              <p:cNvPr id="20" name="文本框 19">
                <a:extLst>
                  <a:ext uri="{FF2B5EF4-FFF2-40B4-BE49-F238E27FC236}">
                    <a16:creationId xmlns:a16="http://schemas.microsoft.com/office/drawing/2014/main" id="{ED291672-1B2E-428C-B608-68CD1516E635}"/>
                  </a:ext>
                </a:extLst>
              </p:cNvPr>
              <p:cNvSpPr txBox="1">
                <a:spLocks noRot="1" noChangeAspect="1" noMove="1" noResize="1" noEditPoints="1" noAdjustHandles="1" noChangeArrowheads="1" noChangeShapeType="1" noTextEdit="1"/>
              </p:cNvSpPr>
              <p:nvPr/>
            </p:nvSpPr>
            <p:spPr>
              <a:xfrm>
                <a:off x="4917894" y="1268760"/>
                <a:ext cx="442429" cy="461665"/>
              </a:xfrm>
              <a:prstGeom prst="rect">
                <a:avLst/>
              </a:prstGeom>
              <a:blipFill>
                <a:blip r:embed="rId10"/>
                <a:stretch>
                  <a:fillRect/>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 grpId="0"/>
      <p:bldP spid="8" grpId="0" animBg="1"/>
      <p:bldP spid="1032" grpId="0"/>
      <p:bldP spid="1033" grpId="0"/>
      <p:bldP spid="19"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7D7E41B4-B909-4194-84B2-18DC7DD36B92}"/>
              </a:ext>
            </a:extLst>
          </p:cNvPr>
          <p:cNvSpPr>
            <a:spLocks noGrp="1"/>
          </p:cNvSpPr>
          <p:nvPr>
            <p:ph type="sldNum" sz="quarter" idx="12"/>
          </p:nvPr>
        </p:nvSpPr>
        <p:spPr/>
        <p:txBody>
          <a:bodyPr vert="horz" wrap="square" lIns="91440" tIns="45720" rIns="91440" bIns="45720" numCol="1" anchor="ctr" anchorCtr="0" compatLnSpc="1">
            <a:prstTxWarp prst="textNoShape">
              <a:avLst/>
            </a:prstTxWarp>
          </a:bodyPr>
          <a:lstStyle/>
          <a:p>
            <a:fld id="{135406D3-743B-40BE-81D4-6FBB25459515}" type="slidenum">
              <a:rPr lang="zh-CN" altLang="en-US"/>
              <a:pPr/>
              <a:t>8</a:t>
            </a:fld>
            <a:endParaRPr lang="en-US" altLang="zh-CN"/>
          </a:p>
        </p:txBody>
      </p:sp>
      <p:sp>
        <p:nvSpPr>
          <p:cNvPr id="14339" name="TextBox 4">
            <a:extLst>
              <a:ext uri="{FF2B5EF4-FFF2-40B4-BE49-F238E27FC236}">
                <a16:creationId xmlns:a16="http://schemas.microsoft.com/office/drawing/2014/main" id="{C3867CC2-2E29-4317-93F6-3D462BC044EF}"/>
              </a:ext>
            </a:extLst>
          </p:cNvPr>
          <p:cNvSpPr txBox="1">
            <a:spLocks noChangeArrowheads="1"/>
          </p:cNvSpPr>
          <p:nvPr/>
        </p:nvSpPr>
        <p:spPr bwMode="auto">
          <a:xfrm>
            <a:off x="2633007" y="5992960"/>
            <a:ext cx="38779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zh-CN" altLang="en-US" dirty="0">
                <a:latin typeface="楷体" panose="02010609060101010101" pitchFamily="49" charset="-122"/>
                <a:ea typeface="楷体" panose="02010609060101010101" pitchFamily="49" charset="-122"/>
              </a:rPr>
              <a:t>移除高频成分（</a:t>
            </a:r>
            <a:r>
              <a:rPr lang="zh-CN" altLang="en-US" b="1" dirty="0">
                <a:solidFill>
                  <a:srgbClr val="FF0000"/>
                </a:solidFill>
                <a:latin typeface="楷体" panose="02010609060101010101" pitchFamily="49" charset="-122"/>
                <a:ea typeface="楷体" panose="02010609060101010101" pitchFamily="49" charset="-122"/>
              </a:rPr>
              <a:t>低通滤波</a:t>
            </a:r>
            <a:r>
              <a:rPr lang="zh-CN" altLang="en-US" dirty="0">
                <a:latin typeface="楷体" panose="02010609060101010101" pitchFamily="49" charset="-122"/>
                <a:ea typeface="楷体" panose="02010609060101010101" pitchFamily="49" charset="-122"/>
              </a:rPr>
              <a:t>）</a:t>
            </a:r>
          </a:p>
        </p:txBody>
      </p:sp>
      <p:graphicFrame>
        <p:nvGraphicFramePr>
          <p:cNvPr id="56325" name="Object 5">
            <a:extLst>
              <a:ext uri="{FF2B5EF4-FFF2-40B4-BE49-F238E27FC236}">
                <a16:creationId xmlns:a16="http://schemas.microsoft.com/office/drawing/2014/main" id="{0641E2F4-CA12-4F3C-86C3-F723E5E14043}"/>
              </a:ext>
            </a:extLst>
          </p:cNvPr>
          <p:cNvGraphicFramePr>
            <a:graphicFrameLocks/>
          </p:cNvGraphicFramePr>
          <p:nvPr/>
        </p:nvGraphicFramePr>
        <p:xfrm>
          <a:off x="2357438" y="1481138"/>
          <a:ext cx="2159000" cy="2160587"/>
        </p:xfrm>
        <a:graphic>
          <a:graphicData uri="http://schemas.openxmlformats.org/presentationml/2006/ole">
            <mc:AlternateContent xmlns:mc="http://schemas.openxmlformats.org/markup-compatibility/2006">
              <mc:Choice xmlns:v="urn:schemas-microsoft-com:vml" Requires="v">
                <p:oleObj spid="_x0000_s2994" name="位图图像" r:id="rId3" imgW="4877481" imgH="4877481" progId="Paint.Picture">
                  <p:embed/>
                </p:oleObj>
              </mc:Choice>
              <mc:Fallback>
                <p:oleObj name="位图图像" r:id="rId3" imgW="4877481" imgH="4877481" progId="Paint.Picture">
                  <p:embed/>
                  <p:pic>
                    <p:nvPicPr>
                      <p:cNvPr id="56325" name="Object 5">
                        <a:extLst>
                          <a:ext uri="{FF2B5EF4-FFF2-40B4-BE49-F238E27FC236}">
                            <a16:creationId xmlns:a16="http://schemas.microsoft.com/office/drawing/2014/main" id="{0641E2F4-CA12-4F3C-86C3-F723E5E1404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7438" y="1481138"/>
                        <a:ext cx="2159000" cy="2160587"/>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6" name="Object 6">
            <a:extLst>
              <a:ext uri="{FF2B5EF4-FFF2-40B4-BE49-F238E27FC236}">
                <a16:creationId xmlns:a16="http://schemas.microsoft.com/office/drawing/2014/main" id="{05A8CFCC-7585-4893-AB29-4B6A7BB5C564}"/>
              </a:ext>
            </a:extLst>
          </p:cNvPr>
          <p:cNvGraphicFramePr>
            <a:graphicFrameLocks/>
          </p:cNvGraphicFramePr>
          <p:nvPr/>
        </p:nvGraphicFramePr>
        <p:xfrm>
          <a:off x="2357438" y="3733800"/>
          <a:ext cx="2159000" cy="2160588"/>
        </p:xfrm>
        <a:graphic>
          <a:graphicData uri="http://schemas.openxmlformats.org/presentationml/2006/ole">
            <mc:AlternateContent xmlns:mc="http://schemas.openxmlformats.org/markup-compatibility/2006">
              <mc:Choice xmlns:v="urn:schemas-microsoft-com:vml" Requires="v">
                <p:oleObj spid="_x0000_s2995" name="位图图像" r:id="rId5" imgW="4877481" imgH="4877481" progId="Paint.Picture">
                  <p:embed/>
                </p:oleObj>
              </mc:Choice>
              <mc:Fallback>
                <p:oleObj name="位图图像" r:id="rId5" imgW="4877481" imgH="4877481" progId="Paint.Picture">
                  <p:embed/>
                  <p:pic>
                    <p:nvPicPr>
                      <p:cNvPr id="56326" name="Object 6">
                        <a:extLst>
                          <a:ext uri="{FF2B5EF4-FFF2-40B4-BE49-F238E27FC236}">
                            <a16:creationId xmlns:a16="http://schemas.microsoft.com/office/drawing/2014/main" id="{05A8CFCC-7585-4893-AB29-4B6A7BB5C564}"/>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7438" y="3733800"/>
                        <a:ext cx="2159000" cy="2160588"/>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7" name="Object 7">
            <a:extLst>
              <a:ext uri="{FF2B5EF4-FFF2-40B4-BE49-F238E27FC236}">
                <a16:creationId xmlns:a16="http://schemas.microsoft.com/office/drawing/2014/main" id="{A30BF295-5EF1-4602-8E2C-631863BB27E5}"/>
              </a:ext>
            </a:extLst>
          </p:cNvPr>
          <p:cNvGraphicFramePr>
            <a:graphicFrameLocks noChangeAspect="1"/>
          </p:cNvGraphicFramePr>
          <p:nvPr/>
        </p:nvGraphicFramePr>
        <p:xfrm>
          <a:off x="4621213" y="3733800"/>
          <a:ext cx="2160587" cy="2160588"/>
        </p:xfrm>
        <a:graphic>
          <a:graphicData uri="http://schemas.openxmlformats.org/presentationml/2006/ole">
            <mc:AlternateContent xmlns:mc="http://schemas.openxmlformats.org/markup-compatibility/2006">
              <mc:Choice xmlns:v="urn:schemas-microsoft-com:vml" Requires="v">
                <p:oleObj spid="_x0000_s2996" name="位图图像" r:id="rId7" imgW="4877481" imgH="4877481" progId="Paint.Picture">
                  <p:embed/>
                </p:oleObj>
              </mc:Choice>
              <mc:Fallback>
                <p:oleObj name="位图图像" r:id="rId7" imgW="4877481" imgH="4877481" progId="Paint.Picture">
                  <p:embed/>
                  <p:pic>
                    <p:nvPicPr>
                      <p:cNvPr id="56327" name="Object 7">
                        <a:extLst>
                          <a:ext uri="{FF2B5EF4-FFF2-40B4-BE49-F238E27FC236}">
                            <a16:creationId xmlns:a16="http://schemas.microsoft.com/office/drawing/2014/main" id="{A30BF295-5EF1-4602-8E2C-631863BB27E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21213" y="3733800"/>
                        <a:ext cx="2160587" cy="2160588"/>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8" name="Object 8">
            <a:extLst>
              <a:ext uri="{FF2B5EF4-FFF2-40B4-BE49-F238E27FC236}">
                <a16:creationId xmlns:a16="http://schemas.microsoft.com/office/drawing/2014/main" id="{CFCC1D3E-C3CD-4367-9A94-ED35217912C7}"/>
              </a:ext>
            </a:extLst>
          </p:cNvPr>
          <p:cNvGraphicFramePr>
            <a:graphicFrameLocks/>
          </p:cNvGraphicFramePr>
          <p:nvPr/>
        </p:nvGraphicFramePr>
        <p:xfrm>
          <a:off x="4622800" y="1481138"/>
          <a:ext cx="2159000" cy="2160587"/>
        </p:xfrm>
        <a:graphic>
          <a:graphicData uri="http://schemas.openxmlformats.org/presentationml/2006/ole">
            <mc:AlternateContent xmlns:mc="http://schemas.openxmlformats.org/markup-compatibility/2006">
              <mc:Choice xmlns:v="urn:schemas-microsoft-com:vml" Requires="v">
                <p:oleObj spid="_x0000_s2997" name="位图图像" r:id="rId9" imgW="4877481" imgH="4877481" progId="Paint.Picture">
                  <p:embed/>
                </p:oleObj>
              </mc:Choice>
              <mc:Fallback>
                <p:oleObj name="位图图像" r:id="rId9" imgW="4877481" imgH="4877481" progId="Paint.Picture">
                  <p:embed/>
                  <p:pic>
                    <p:nvPicPr>
                      <p:cNvPr id="56328" name="Object 8">
                        <a:extLst>
                          <a:ext uri="{FF2B5EF4-FFF2-40B4-BE49-F238E27FC236}">
                            <a16:creationId xmlns:a16="http://schemas.microsoft.com/office/drawing/2014/main" id="{CFCC1D3E-C3CD-4367-9A94-ED35217912C7}"/>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22800" y="1481138"/>
                        <a:ext cx="2159000" cy="2160587"/>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9" name="Object 9">
            <a:extLst>
              <a:ext uri="{FF2B5EF4-FFF2-40B4-BE49-F238E27FC236}">
                <a16:creationId xmlns:a16="http://schemas.microsoft.com/office/drawing/2014/main" id="{C05F20F2-6D09-4D23-A33F-8DBE860E2060}"/>
              </a:ext>
            </a:extLst>
          </p:cNvPr>
          <p:cNvGraphicFramePr>
            <a:graphicFrameLocks/>
          </p:cNvGraphicFramePr>
          <p:nvPr/>
        </p:nvGraphicFramePr>
        <p:xfrm>
          <a:off x="6886575" y="1481138"/>
          <a:ext cx="2159000" cy="2160587"/>
        </p:xfrm>
        <a:graphic>
          <a:graphicData uri="http://schemas.openxmlformats.org/presentationml/2006/ole">
            <mc:AlternateContent xmlns:mc="http://schemas.openxmlformats.org/markup-compatibility/2006">
              <mc:Choice xmlns:v="urn:schemas-microsoft-com:vml" Requires="v">
                <p:oleObj spid="_x0000_s2998" name="位图图像" r:id="rId11" imgW="4877481" imgH="4877481" progId="Paint.Picture">
                  <p:embed/>
                </p:oleObj>
              </mc:Choice>
              <mc:Fallback>
                <p:oleObj name="位图图像" r:id="rId11" imgW="4877481" imgH="4877481" progId="Paint.Picture">
                  <p:embed/>
                  <p:pic>
                    <p:nvPicPr>
                      <p:cNvPr id="56329" name="Object 9">
                        <a:extLst>
                          <a:ext uri="{FF2B5EF4-FFF2-40B4-BE49-F238E27FC236}">
                            <a16:creationId xmlns:a16="http://schemas.microsoft.com/office/drawing/2014/main" id="{C05F20F2-6D09-4D23-A33F-8DBE860E2060}"/>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86575" y="1481138"/>
                        <a:ext cx="2159000" cy="2160587"/>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30" name="Object 10">
            <a:extLst>
              <a:ext uri="{FF2B5EF4-FFF2-40B4-BE49-F238E27FC236}">
                <a16:creationId xmlns:a16="http://schemas.microsoft.com/office/drawing/2014/main" id="{491D59E0-4D9F-41FB-B041-67CF2BDCFDBE}"/>
              </a:ext>
            </a:extLst>
          </p:cNvPr>
          <p:cNvGraphicFramePr>
            <a:graphicFrameLocks/>
          </p:cNvGraphicFramePr>
          <p:nvPr/>
        </p:nvGraphicFramePr>
        <p:xfrm>
          <a:off x="6886575" y="3733800"/>
          <a:ext cx="2159000" cy="2160588"/>
        </p:xfrm>
        <a:graphic>
          <a:graphicData uri="http://schemas.openxmlformats.org/presentationml/2006/ole">
            <mc:AlternateContent xmlns:mc="http://schemas.openxmlformats.org/markup-compatibility/2006">
              <mc:Choice xmlns:v="urn:schemas-microsoft-com:vml" Requires="v">
                <p:oleObj spid="_x0000_s2999" name="位图图像" r:id="rId13" imgW="4877481" imgH="4877481" progId="Paint.Picture">
                  <p:embed/>
                </p:oleObj>
              </mc:Choice>
              <mc:Fallback>
                <p:oleObj name="位图图像" r:id="rId13" imgW="4877481" imgH="4877481" progId="Paint.Picture">
                  <p:embed/>
                  <p:pic>
                    <p:nvPicPr>
                      <p:cNvPr id="56330" name="Object 10">
                        <a:extLst>
                          <a:ext uri="{FF2B5EF4-FFF2-40B4-BE49-F238E27FC236}">
                            <a16:creationId xmlns:a16="http://schemas.microsoft.com/office/drawing/2014/main" id="{491D59E0-4D9F-41FB-B041-67CF2BDCFDBE}"/>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86575" y="3733800"/>
                        <a:ext cx="2159000" cy="2160588"/>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31" name="Object 11">
            <a:extLst>
              <a:ext uri="{FF2B5EF4-FFF2-40B4-BE49-F238E27FC236}">
                <a16:creationId xmlns:a16="http://schemas.microsoft.com/office/drawing/2014/main" id="{67A90B20-563D-4C3F-B2CE-6AC9FF862B0B}"/>
              </a:ext>
            </a:extLst>
          </p:cNvPr>
          <p:cNvGraphicFramePr>
            <a:graphicFrameLocks noChangeAspect="1"/>
          </p:cNvGraphicFramePr>
          <p:nvPr/>
        </p:nvGraphicFramePr>
        <p:xfrm>
          <a:off x="92075" y="1481138"/>
          <a:ext cx="2160588" cy="2160587"/>
        </p:xfrm>
        <a:graphic>
          <a:graphicData uri="http://schemas.openxmlformats.org/presentationml/2006/ole">
            <mc:AlternateContent xmlns:mc="http://schemas.openxmlformats.org/markup-compatibility/2006">
              <mc:Choice xmlns:v="urn:schemas-microsoft-com:vml" Requires="v">
                <p:oleObj spid="_x0000_s3000" name="位图图像" r:id="rId15" imgW="4877481" imgH="4877481" progId="Paint.Picture">
                  <p:embed/>
                </p:oleObj>
              </mc:Choice>
              <mc:Fallback>
                <p:oleObj name="位图图像" r:id="rId15" imgW="4877481" imgH="4877481" progId="Paint.Picture">
                  <p:embed/>
                  <p:pic>
                    <p:nvPicPr>
                      <p:cNvPr id="56331" name="Object 11">
                        <a:extLst>
                          <a:ext uri="{FF2B5EF4-FFF2-40B4-BE49-F238E27FC236}">
                            <a16:creationId xmlns:a16="http://schemas.microsoft.com/office/drawing/2014/main" id="{67A90B20-563D-4C3F-B2CE-6AC9FF862B0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2075" y="1481138"/>
                        <a:ext cx="2160588" cy="2160587"/>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32" name="Object 12">
            <a:extLst>
              <a:ext uri="{FF2B5EF4-FFF2-40B4-BE49-F238E27FC236}">
                <a16:creationId xmlns:a16="http://schemas.microsoft.com/office/drawing/2014/main" id="{24200023-6E10-436F-9392-A8F20C0DCABB}"/>
              </a:ext>
            </a:extLst>
          </p:cNvPr>
          <p:cNvGraphicFramePr>
            <a:graphicFrameLocks noChangeAspect="1"/>
          </p:cNvGraphicFramePr>
          <p:nvPr/>
        </p:nvGraphicFramePr>
        <p:xfrm>
          <a:off x="92075" y="3733800"/>
          <a:ext cx="2160588" cy="2160588"/>
        </p:xfrm>
        <a:graphic>
          <a:graphicData uri="http://schemas.openxmlformats.org/presentationml/2006/ole">
            <mc:AlternateContent xmlns:mc="http://schemas.openxmlformats.org/markup-compatibility/2006">
              <mc:Choice xmlns:v="urn:schemas-microsoft-com:vml" Requires="v">
                <p:oleObj spid="_x0000_s3001" name="位图图像" r:id="rId17" imgW="4877481" imgH="4877481" progId="Paint.Picture">
                  <p:embed/>
                </p:oleObj>
              </mc:Choice>
              <mc:Fallback>
                <p:oleObj name="位图图像" r:id="rId17" imgW="4877481" imgH="4877481" progId="Paint.Picture">
                  <p:embed/>
                  <p:pic>
                    <p:nvPicPr>
                      <p:cNvPr id="56332" name="Object 12">
                        <a:extLst>
                          <a:ext uri="{FF2B5EF4-FFF2-40B4-BE49-F238E27FC236}">
                            <a16:creationId xmlns:a16="http://schemas.microsoft.com/office/drawing/2014/main" id="{24200023-6E10-436F-9392-A8F20C0DCAB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2075" y="3733800"/>
                        <a:ext cx="2160588" cy="2160588"/>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椭圆 1">
            <a:extLst>
              <a:ext uri="{FF2B5EF4-FFF2-40B4-BE49-F238E27FC236}">
                <a16:creationId xmlns:a16="http://schemas.microsoft.com/office/drawing/2014/main" id="{D363CE93-76B6-4E4C-BB9C-EA264678D87E}"/>
              </a:ext>
            </a:extLst>
          </p:cNvPr>
          <p:cNvSpPr/>
          <p:nvPr/>
        </p:nvSpPr>
        <p:spPr>
          <a:xfrm>
            <a:off x="7391400" y="1990725"/>
            <a:ext cx="1143000" cy="11430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a typeface="宋体" pitchFamily="2" charset="-122"/>
            </a:endParaRPr>
          </a:p>
        </p:txBody>
      </p:sp>
      <p:sp>
        <p:nvSpPr>
          <p:cNvPr id="13" name="标题 1">
            <a:extLst>
              <a:ext uri="{FF2B5EF4-FFF2-40B4-BE49-F238E27FC236}">
                <a16:creationId xmlns:a16="http://schemas.microsoft.com/office/drawing/2014/main" id="{810AB6AB-272E-45CB-97EF-993DBD476369}"/>
              </a:ext>
            </a:extLst>
          </p:cNvPr>
          <p:cNvSpPr txBox="1">
            <a:spLocks/>
          </p:cNvSpPr>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fontScale="97500" lnSpcReduction="10000"/>
          </a:bodyPr>
          <a:lstStyle>
            <a:lvl1pPr algn="ctr" rtl="0" eaLnBrk="0" fontAlgn="base" hangingPunct="0">
              <a:spcBef>
                <a:spcPct val="0"/>
              </a:spcBef>
              <a:spcAft>
                <a:spcPct val="0"/>
              </a:spcAft>
              <a:defRPr sz="4400" b="1" kern="1200" baseline="0">
                <a:solidFill>
                  <a:schemeClr val="tx1"/>
                </a:solidFill>
                <a:latin typeface="Georgia" pitchFamily="18" charset="0"/>
                <a:ea typeface="华文行楷" pitchFamily="2" charset="-122"/>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a:lstStyle>
          <a:p>
            <a:pPr eaLnBrk="1" fontAlgn="auto" hangingPunct="1">
              <a:spcAft>
                <a:spcPts val="0"/>
              </a:spcAft>
              <a:defRPr/>
            </a:pPr>
            <a:r>
              <a:rPr lang="zh-CN" altLang="en-US" sz="4400" dirty="0"/>
              <a:t>频域视角</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6331"/>
                                        </p:tgtEl>
                                        <p:attrNameLst>
                                          <p:attrName>style.visibility</p:attrName>
                                        </p:attrNameLst>
                                      </p:cBhvr>
                                      <p:to>
                                        <p:strVal val="visible"/>
                                      </p:to>
                                    </p:set>
                                    <p:animEffect transition="in" filter="blinds(horizontal)">
                                      <p:cBhvr>
                                        <p:cTn id="7" dur="500"/>
                                        <p:tgtEl>
                                          <p:spTgt spid="563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6332"/>
                                        </p:tgtEl>
                                        <p:attrNameLst>
                                          <p:attrName>style.visibility</p:attrName>
                                        </p:attrNameLst>
                                      </p:cBhvr>
                                      <p:to>
                                        <p:strVal val="visible"/>
                                      </p:to>
                                    </p:set>
                                    <p:animEffect transition="in" filter="blinds(horizontal)">
                                      <p:cBhvr>
                                        <p:cTn id="12" dur="500"/>
                                        <p:tgtEl>
                                          <p:spTgt spid="563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6325"/>
                                        </p:tgtEl>
                                        <p:attrNameLst>
                                          <p:attrName>style.visibility</p:attrName>
                                        </p:attrNameLst>
                                      </p:cBhvr>
                                      <p:to>
                                        <p:strVal val="visible"/>
                                      </p:to>
                                    </p:set>
                                    <p:animEffect transition="in" filter="blinds(horizontal)">
                                      <p:cBhvr>
                                        <p:cTn id="17" dur="500"/>
                                        <p:tgtEl>
                                          <p:spTgt spid="563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6326"/>
                                        </p:tgtEl>
                                        <p:attrNameLst>
                                          <p:attrName>style.visibility</p:attrName>
                                        </p:attrNameLst>
                                      </p:cBhvr>
                                      <p:to>
                                        <p:strVal val="visible"/>
                                      </p:to>
                                    </p:set>
                                    <p:animEffect transition="in" filter="blinds(horizontal)">
                                      <p:cBhvr>
                                        <p:cTn id="22" dur="500"/>
                                        <p:tgtEl>
                                          <p:spTgt spid="563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6328"/>
                                        </p:tgtEl>
                                        <p:attrNameLst>
                                          <p:attrName>style.visibility</p:attrName>
                                        </p:attrNameLst>
                                      </p:cBhvr>
                                      <p:to>
                                        <p:strVal val="visible"/>
                                      </p:to>
                                    </p:set>
                                    <p:animEffect transition="in" filter="blinds(horizontal)">
                                      <p:cBhvr>
                                        <p:cTn id="27" dur="500"/>
                                        <p:tgtEl>
                                          <p:spTgt spid="5632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6327"/>
                                        </p:tgtEl>
                                        <p:attrNameLst>
                                          <p:attrName>style.visibility</p:attrName>
                                        </p:attrNameLst>
                                      </p:cBhvr>
                                      <p:to>
                                        <p:strVal val="visible"/>
                                      </p:to>
                                    </p:set>
                                    <p:animEffect transition="in" filter="blinds(horizontal)">
                                      <p:cBhvr>
                                        <p:cTn id="32" dur="500"/>
                                        <p:tgtEl>
                                          <p:spTgt spid="563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6329"/>
                                        </p:tgtEl>
                                        <p:attrNameLst>
                                          <p:attrName>style.visibility</p:attrName>
                                        </p:attrNameLst>
                                      </p:cBhvr>
                                      <p:to>
                                        <p:strVal val="visible"/>
                                      </p:to>
                                    </p:set>
                                    <p:animEffect transition="in" filter="blinds(horizontal)">
                                      <p:cBhvr>
                                        <p:cTn id="37" dur="500"/>
                                        <p:tgtEl>
                                          <p:spTgt spid="5632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56330"/>
                                        </p:tgtEl>
                                        <p:attrNameLst>
                                          <p:attrName>style.visibility</p:attrName>
                                        </p:attrNameLst>
                                      </p:cBhvr>
                                      <p:to>
                                        <p:strVal val="visible"/>
                                      </p:to>
                                    </p:set>
                                    <p:animEffect transition="in" filter="blinds(horizontal)">
                                      <p:cBhvr>
                                        <p:cTn id="47" dur="500"/>
                                        <p:tgtEl>
                                          <p:spTgt spid="56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EEBEF546-622F-4BFA-95C0-48D58F63C514}"/>
              </a:ext>
            </a:extLst>
          </p:cNvPr>
          <p:cNvSpPr>
            <a:spLocks noGrp="1"/>
          </p:cNvSpPr>
          <p:nvPr>
            <p:ph type="sldNum" sz="quarter" idx="12"/>
          </p:nvPr>
        </p:nvSpPr>
        <p:spPr/>
        <p:txBody>
          <a:bodyPr vert="horz" wrap="square" lIns="91440" tIns="45720" rIns="91440" bIns="45720" numCol="1" anchor="ctr" anchorCtr="0" compatLnSpc="1">
            <a:prstTxWarp prst="textNoShape">
              <a:avLst/>
            </a:prstTxWarp>
          </a:bodyPr>
          <a:lstStyle/>
          <a:p>
            <a:fld id="{DBFBAAF2-6BE0-416A-9309-8C168A7530C7}" type="slidenum">
              <a:rPr lang="zh-CN" altLang="en-US"/>
              <a:pPr/>
              <a:t>9</a:t>
            </a:fld>
            <a:endParaRPr lang="en-US" altLang="zh-CN"/>
          </a:p>
        </p:txBody>
      </p:sp>
      <p:sp>
        <p:nvSpPr>
          <p:cNvPr id="5" name="TextBox 4">
            <a:extLst>
              <a:ext uri="{FF2B5EF4-FFF2-40B4-BE49-F238E27FC236}">
                <a16:creationId xmlns:a16="http://schemas.microsoft.com/office/drawing/2014/main" id="{7B608206-DC8B-4D9F-AF78-100B676C069B}"/>
              </a:ext>
            </a:extLst>
          </p:cNvPr>
          <p:cNvSpPr txBox="1">
            <a:spLocks noChangeArrowheads="1"/>
          </p:cNvSpPr>
          <p:nvPr/>
        </p:nvSpPr>
        <p:spPr bwMode="auto">
          <a:xfrm>
            <a:off x="1440103" y="6242917"/>
            <a:ext cx="63722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zh-CN" altLang="en-US" b="1" dirty="0">
                <a:solidFill>
                  <a:srgbClr val="FF0000"/>
                </a:solidFill>
                <a:latin typeface="楷体" panose="02010609060101010101" pitchFamily="49" charset="-122"/>
                <a:ea typeface="楷体" panose="02010609060101010101" pitchFamily="49" charset="-122"/>
              </a:rPr>
              <a:t>频域提供了一种理解和分析信号的重要视角！</a:t>
            </a:r>
          </a:p>
        </p:txBody>
      </p:sp>
      <p:graphicFrame>
        <p:nvGraphicFramePr>
          <p:cNvPr id="57350" name="Object 6">
            <a:extLst>
              <a:ext uri="{FF2B5EF4-FFF2-40B4-BE49-F238E27FC236}">
                <a16:creationId xmlns:a16="http://schemas.microsoft.com/office/drawing/2014/main" id="{B621BA27-C85B-49AF-9D87-D16BE6C65FC7}"/>
              </a:ext>
            </a:extLst>
          </p:cNvPr>
          <p:cNvGraphicFramePr>
            <a:graphicFrameLocks/>
          </p:cNvGraphicFramePr>
          <p:nvPr/>
        </p:nvGraphicFramePr>
        <p:xfrm>
          <a:off x="2354263" y="1219200"/>
          <a:ext cx="2159000" cy="2160588"/>
        </p:xfrm>
        <a:graphic>
          <a:graphicData uri="http://schemas.openxmlformats.org/presentationml/2006/ole">
            <mc:AlternateContent xmlns:mc="http://schemas.openxmlformats.org/markup-compatibility/2006">
              <mc:Choice xmlns:v="urn:schemas-microsoft-com:vml" Requires="v">
                <p:oleObj spid="_x0000_s4018" name="位图图像" r:id="rId3" imgW="4877481" imgH="4877481" progId="Paint.Picture">
                  <p:embed/>
                </p:oleObj>
              </mc:Choice>
              <mc:Fallback>
                <p:oleObj name="位图图像" r:id="rId3" imgW="4877481" imgH="4877481" progId="Paint.Picture">
                  <p:embed/>
                  <p:pic>
                    <p:nvPicPr>
                      <p:cNvPr id="57350" name="Object 6">
                        <a:extLst>
                          <a:ext uri="{FF2B5EF4-FFF2-40B4-BE49-F238E27FC236}">
                            <a16:creationId xmlns:a16="http://schemas.microsoft.com/office/drawing/2014/main" id="{B621BA27-C85B-49AF-9D87-D16BE6C65FC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4263" y="1219200"/>
                        <a:ext cx="21590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51" name="Object 7">
            <a:extLst>
              <a:ext uri="{FF2B5EF4-FFF2-40B4-BE49-F238E27FC236}">
                <a16:creationId xmlns:a16="http://schemas.microsoft.com/office/drawing/2014/main" id="{25901BA0-B528-4DA4-8B10-9EC07F3C4A34}"/>
              </a:ext>
            </a:extLst>
          </p:cNvPr>
          <p:cNvGraphicFramePr>
            <a:graphicFrameLocks/>
          </p:cNvGraphicFramePr>
          <p:nvPr/>
        </p:nvGraphicFramePr>
        <p:xfrm>
          <a:off x="2352675" y="3505200"/>
          <a:ext cx="2159000" cy="2160588"/>
        </p:xfrm>
        <a:graphic>
          <a:graphicData uri="http://schemas.openxmlformats.org/presentationml/2006/ole">
            <mc:AlternateContent xmlns:mc="http://schemas.openxmlformats.org/markup-compatibility/2006">
              <mc:Choice xmlns:v="urn:schemas-microsoft-com:vml" Requires="v">
                <p:oleObj spid="_x0000_s4019" name="位图图像" r:id="rId5" imgW="4877481" imgH="4877481" progId="Paint.Picture">
                  <p:embed/>
                </p:oleObj>
              </mc:Choice>
              <mc:Fallback>
                <p:oleObj name="位图图像" r:id="rId5" imgW="4877481" imgH="4877481" progId="Paint.Picture">
                  <p:embed/>
                  <p:pic>
                    <p:nvPicPr>
                      <p:cNvPr id="57351" name="Object 7">
                        <a:extLst>
                          <a:ext uri="{FF2B5EF4-FFF2-40B4-BE49-F238E27FC236}">
                            <a16:creationId xmlns:a16="http://schemas.microsoft.com/office/drawing/2014/main" id="{25901BA0-B528-4DA4-8B10-9EC07F3C4A34}"/>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2675" y="3505200"/>
                        <a:ext cx="2159000" cy="2160588"/>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2" name="Object 8">
            <a:extLst>
              <a:ext uri="{FF2B5EF4-FFF2-40B4-BE49-F238E27FC236}">
                <a16:creationId xmlns:a16="http://schemas.microsoft.com/office/drawing/2014/main" id="{6ECBC132-FF4A-4176-B887-D2E086949C75}"/>
              </a:ext>
            </a:extLst>
          </p:cNvPr>
          <p:cNvGraphicFramePr>
            <a:graphicFrameLocks/>
          </p:cNvGraphicFramePr>
          <p:nvPr/>
        </p:nvGraphicFramePr>
        <p:xfrm>
          <a:off x="4621213" y="1219200"/>
          <a:ext cx="2159000" cy="2160588"/>
        </p:xfrm>
        <a:graphic>
          <a:graphicData uri="http://schemas.openxmlformats.org/presentationml/2006/ole">
            <mc:AlternateContent xmlns:mc="http://schemas.openxmlformats.org/markup-compatibility/2006">
              <mc:Choice xmlns:v="urn:schemas-microsoft-com:vml" Requires="v">
                <p:oleObj spid="_x0000_s4020" name="位图图像" r:id="rId7" imgW="4877481" imgH="4877481" progId="Paint.Picture">
                  <p:embed/>
                </p:oleObj>
              </mc:Choice>
              <mc:Fallback>
                <p:oleObj name="位图图像" r:id="rId7" imgW="4877481" imgH="4877481" progId="Paint.Picture">
                  <p:embed/>
                  <p:pic>
                    <p:nvPicPr>
                      <p:cNvPr id="57352" name="Object 8">
                        <a:extLst>
                          <a:ext uri="{FF2B5EF4-FFF2-40B4-BE49-F238E27FC236}">
                            <a16:creationId xmlns:a16="http://schemas.microsoft.com/office/drawing/2014/main" id="{6ECBC132-FF4A-4176-B887-D2E086949C75}"/>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21213" y="1219200"/>
                        <a:ext cx="2159000" cy="2160588"/>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3" name="Object 9">
            <a:extLst>
              <a:ext uri="{FF2B5EF4-FFF2-40B4-BE49-F238E27FC236}">
                <a16:creationId xmlns:a16="http://schemas.microsoft.com/office/drawing/2014/main" id="{DEA7E53C-88EB-4014-BE9E-4F851E1C8EFC}"/>
              </a:ext>
            </a:extLst>
          </p:cNvPr>
          <p:cNvGraphicFramePr>
            <a:graphicFrameLocks/>
          </p:cNvGraphicFramePr>
          <p:nvPr/>
        </p:nvGraphicFramePr>
        <p:xfrm>
          <a:off x="4621213" y="3505200"/>
          <a:ext cx="2159000" cy="2160588"/>
        </p:xfrm>
        <a:graphic>
          <a:graphicData uri="http://schemas.openxmlformats.org/presentationml/2006/ole">
            <mc:AlternateContent xmlns:mc="http://schemas.openxmlformats.org/markup-compatibility/2006">
              <mc:Choice xmlns:v="urn:schemas-microsoft-com:vml" Requires="v">
                <p:oleObj spid="_x0000_s4021" name="位图图像" r:id="rId9" imgW="4877481" imgH="4877481" progId="Paint.Picture">
                  <p:embed/>
                </p:oleObj>
              </mc:Choice>
              <mc:Fallback>
                <p:oleObj name="位图图像" r:id="rId9" imgW="4877481" imgH="4877481" progId="Paint.Picture">
                  <p:embed/>
                  <p:pic>
                    <p:nvPicPr>
                      <p:cNvPr id="57353" name="Object 9">
                        <a:extLst>
                          <a:ext uri="{FF2B5EF4-FFF2-40B4-BE49-F238E27FC236}">
                            <a16:creationId xmlns:a16="http://schemas.microsoft.com/office/drawing/2014/main" id="{DEA7E53C-88EB-4014-BE9E-4F851E1C8EFC}"/>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21213" y="3505200"/>
                        <a:ext cx="2159000" cy="2160588"/>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4" name="Object 10">
            <a:extLst>
              <a:ext uri="{FF2B5EF4-FFF2-40B4-BE49-F238E27FC236}">
                <a16:creationId xmlns:a16="http://schemas.microsoft.com/office/drawing/2014/main" id="{92A9D771-0DAA-4390-9F6C-9DEBA11F5CA2}"/>
              </a:ext>
            </a:extLst>
          </p:cNvPr>
          <p:cNvGraphicFramePr>
            <a:graphicFrameLocks/>
          </p:cNvGraphicFramePr>
          <p:nvPr/>
        </p:nvGraphicFramePr>
        <p:xfrm>
          <a:off x="6888163" y="1219200"/>
          <a:ext cx="2159000" cy="2160588"/>
        </p:xfrm>
        <a:graphic>
          <a:graphicData uri="http://schemas.openxmlformats.org/presentationml/2006/ole">
            <mc:AlternateContent xmlns:mc="http://schemas.openxmlformats.org/markup-compatibility/2006">
              <mc:Choice xmlns:v="urn:schemas-microsoft-com:vml" Requires="v">
                <p:oleObj spid="_x0000_s4022" name="位图图像" r:id="rId11" imgW="4877481" imgH="4877481" progId="Paint.Picture">
                  <p:embed/>
                </p:oleObj>
              </mc:Choice>
              <mc:Fallback>
                <p:oleObj name="位图图像" r:id="rId11" imgW="4877481" imgH="4877481" progId="Paint.Picture">
                  <p:embed/>
                  <p:pic>
                    <p:nvPicPr>
                      <p:cNvPr id="57354" name="Object 10">
                        <a:extLst>
                          <a:ext uri="{FF2B5EF4-FFF2-40B4-BE49-F238E27FC236}">
                            <a16:creationId xmlns:a16="http://schemas.microsoft.com/office/drawing/2014/main" id="{92A9D771-0DAA-4390-9F6C-9DEBA11F5CA2}"/>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88163" y="1219200"/>
                        <a:ext cx="2159000" cy="2160588"/>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5" name="Object 11">
            <a:extLst>
              <a:ext uri="{FF2B5EF4-FFF2-40B4-BE49-F238E27FC236}">
                <a16:creationId xmlns:a16="http://schemas.microsoft.com/office/drawing/2014/main" id="{1D43EDBF-4B82-49A2-84E7-4DBDA22FAD55}"/>
              </a:ext>
            </a:extLst>
          </p:cNvPr>
          <p:cNvGraphicFramePr>
            <a:graphicFrameLocks/>
          </p:cNvGraphicFramePr>
          <p:nvPr/>
        </p:nvGraphicFramePr>
        <p:xfrm>
          <a:off x="6888163" y="3505200"/>
          <a:ext cx="2159000" cy="2160588"/>
        </p:xfrm>
        <a:graphic>
          <a:graphicData uri="http://schemas.openxmlformats.org/presentationml/2006/ole">
            <mc:AlternateContent xmlns:mc="http://schemas.openxmlformats.org/markup-compatibility/2006">
              <mc:Choice xmlns:v="urn:schemas-microsoft-com:vml" Requires="v">
                <p:oleObj spid="_x0000_s4023" name="位图图像" r:id="rId13" imgW="4877481" imgH="4877481" progId="Paint.Picture">
                  <p:embed/>
                </p:oleObj>
              </mc:Choice>
              <mc:Fallback>
                <p:oleObj name="位图图像" r:id="rId13" imgW="4877481" imgH="4877481" progId="Paint.Picture">
                  <p:embed/>
                  <p:pic>
                    <p:nvPicPr>
                      <p:cNvPr id="57355" name="Object 11">
                        <a:extLst>
                          <a:ext uri="{FF2B5EF4-FFF2-40B4-BE49-F238E27FC236}">
                            <a16:creationId xmlns:a16="http://schemas.microsoft.com/office/drawing/2014/main" id="{1D43EDBF-4B82-49A2-84E7-4DBDA22FAD55}"/>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88163" y="3505200"/>
                        <a:ext cx="2159000" cy="2160588"/>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6" name="Object 12">
            <a:extLst>
              <a:ext uri="{FF2B5EF4-FFF2-40B4-BE49-F238E27FC236}">
                <a16:creationId xmlns:a16="http://schemas.microsoft.com/office/drawing/2014/main" id="{0D1C7FC9-A495-4DD2-93E3-94D822A078AD}"/>
              </a:ext>
            </a:extLst>
          </p:cNvPr>
          <p:cNvGraphicFramePr>
            <a:graphicFrameLocks noChangeAspect="1"/>
          </p:cNvGraphicFramePr>
          <p:nvPr/>
        </p:nvGraphicFramePr>
        <p:xfrm>
          <a:off x="85725" y="1219200"/>
          <a:ext cx="2159000" cy="2160588"/>
        </p:xfrm>
        <a:graphic>
          <a:graphicData uri="http://schemas.openxmlformats.org/presentationml/2006/ole">
            <mc:AlternateContent xmlns:mc="http://schemas.openxmlformats.org/markup-compatibility/2006">
              <mc:Choice xmlns:v="urn:schemas-microsoft-com:vml" Requires="v">
                <p:oleObj spid="_x0000_s4024" name="位图图像" r:id="rId15" imgW="4877481" imgH="4877481" progId="Paint.Picture">
                  <p:embed/>
                </p:oleObj>
              </mc:Choice>
              <mc:Fallback>
                <p:oleObj name="位图图像" r:id="rId15" imgW="4877481" imgH="4877481" progId="Paint.Picture">
                  <p:embed/>
                  <p:pic>
                    <p:nvPicPr>
                      <p:cNvPr id="57356" name="Object 12">
                        <a:extLst>
                          <a:ext uri="{FF2B5EF4-FFF2-40B4-BE49-F238E27FC236}">
                            <a16:creationId xmlns:a16="http://schemas.microsoft.com/office/drawing/2014/main" id="{0D1C7FC9-A495-4DD2-93E3-94D822A078A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5725" y="1219200"/>
                        <a:ext cx="2159000" cy="2160588"/>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7" name="Object 13">
            <a:extLst>
              <a:ext uri="{FF2B5EF4-FFF2-40B4-BE49-F238E27FC236}">
                <a16:creationId xmlns:a16="http://schemas.microsoft.com/office/drawing/2014/main" id="{BFB6D963-57A0-47C0-8479-A108EFE5C0FE}"/>
              </a:ext>
            </a:extLst>
          </p:cNvPr>
          <p:cNvGraphicFramePr>
            <a:graphicFrameLocks/>
          </p:cNvGraphicFramePr>
          <p:nvPr/>
        </p:nvGraphicFramePr>
        <p:xfrm>
          <a:off x="85725" y="3505200"/>
          <a:ext cx="2159000" cy="2160588"/>
        </p:xfrm>
        <a:graphic>
          <a:graphicData uri="http://schemas.openxmlformats.org/presentationml/2006/ole">
            <mc:AlternateContent xmlns:mc="http://schemas.openxmlformats.org/markup-compatibility/2006">
              <mc:Choice xmlns:v="urn:schemas-microsoft-com:vml" Requires="v">
                <p:oleObj spid="_x0000_s4025" name="位图图像" r:id="rId17" imgW="4877481" imgH="4877481" progId="Paint.Picture">
                  <p:embed/>
                </p:oleObj>
              </mc:Choice>
              <mc:Fallback>
                <p:oleObj name="位图图像" r:id="rId17" imgW="4877481" imgH="4877481" progId="Paint.Picture">
                  <p:embed/>
                  <p:pic>
                    <p:nvPicPr>
                      <p:cNvPr id="57357" name="Object 13">
                        <a:extLst>
                          <a:ext uri="{FF2B5EF4-FFF2-40B4-BE49-F238E27FC236}">
                            <a16:creationId xmlns:a16="http://schemas.microsoft.com/office/drawing/2014/main" id="{BFB6D963-57A0-47C0-8479-A108EFE5C0FE}"/>
                          </a:ext>
                        </a:extLst>
                      </p:cNvPr>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5725" y="3505200"/>
                        <a:ext cx="2159000" cy="2160588"/>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标题 1">
            <a:extLst>
              <a:ext uri="{FF2B5EF4-FFF2-40B4-BE49-F238E27FC236}">
                <a16:creationId xmlns:a16="http://schemas.microsoft.com/office/drawing/2014/main" id="{FB91F8FF-9E99-4446-AA3B-CC68D3D7FF86}"/>
              </a:ext>
            </a:extLst>
          </p:cNvPr>
          <p:cNvSpPr txBox="1">
            <a:spLocks/>
          </p:cNvSpPr>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fontScale="97500" lnSpcReduction="10000"/>
          </a:bodyPr>
          <a:lstStyle>
            <a:lvl1pPr algn="ctr" rtl="0" eaLnBrk="0" fontAlgn="base" hangingPunct="0">
              <a:spcBef>
                <a:spcPct val="0"/>
              </a:spcBef>
              <a:spcAft>
                <a:spcPct val="0"/>
              </a:spcAft>
              <a:defRPr sz="4400" b="1" kern="1200" baseline="0">
                <a:solidFill>
                  <a:schemeClr val="tx1"/>
                </a:solidFill>
                <a:latin typeface="Georgia" pitchFamily="18" charset="0"/>
                <a:ea typeface="华文行楷" pitchFamily="2" charset="-122"/>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a:lstStyle>
          <a:p>
            <a:pPr eaLnBrk="1" fontAlgn="auto" hangingPunct="1">
              <a:spcAft>
                <a:spcPts val="0"/>
              </a:spcAft>
              <a:defRPr/>
            </a:pPr>
            <a:r>
              <a:rPr lang="zh-CN" altLang="en-US" sz="4400" dirty="0"/>
              <a:t>频域视角</a:t>
            </a:r>
            <a:endParaRPr lang="zh-CN" altLang="en-US" dirty="0"/>
          </a:p>
        </p:txBody>
      </p:sp>
      <p:sp>
        <p:nvSpPr>
          <p:cNvPr id="14" name="TextBox 4">
            <a:extLst>
              <a:ext uri="{FF2B5EF4-FFF2-40B4-BE49-F238E27FC236}">
                <a16:creationId xmlns:a16="http://schemas.microsoft.com/office/drawing/2014/main" id="{E5C7AA77-CF2A-45B4-9404-B1C4ED32770A}"/>
              </a:ext>
            </a:extLst>
          </p:cNvPr>
          <p:cNvSpPr txBox="1">
            <a:spLocks noChangeArrowheads="1"/>
          </p:cNvSpPr>
          <p:nvPr/>
        </p:nvSpPr>
        <p:spPr bwMode="auto">
          <a:xfrm>
            <a:off x="2629801" y="5781252"/>
            <a:ext cx="38843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zh-CN" altLang="en-US" dirty="0">
                <a:latin typeface="楷体" panose="02010609060101010101" pitchFamily="49" charset="-122"/>
                <a:ea typeface="楷体" panose="02010609060101010101" pitchFamily="49" charset="-122"/>
              </a:rPr>
              <a:t>移除低频成分（</a:t>
            </a:r>
            <a:r>
              <a:rPr lang="zh-CN" altLang="en-US" b="1" dirty="0">
                <a:solidFill>
                  <a:srgbClr val="FF0000"/>
                </a:solidFill>
                <a:latin typeface="楷体" panose="02010609060101010101" pitchFamily="49" charset="-122"/>
                <a:ea typeface="楷体" panose="02010609060101010101" pitchFamily="49" charset="-122"/>
              </a:rPr>
              <a:t>高通滤波</a:t>
            </a:r>
            <a:r>
              <a:rPr lang="zh-CN" altLang="en-US" dirty="0">
                <a:latin typeface="楷体" panose="02010609060101010101" pitchFamily="49" charset="-122"/>
                <a:ea typeface="楷体" panose="02010609060101010101" pitchFamily="49"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7356"/>
                                        </p:tgtEl>
                                        <p:attrNameLst>
                                          <p:attrName>style.visibility</p:attrName>
                                        </p:attrNameLst>
                                      </p:cBhvr>
                                      <p:to>
                                        <p:strVal val="visible"/>
                                      </p:to>
                                    </p:set>
                                    <p:animEffect transition="in" filter="blinds(horizontal)">
                                      <p:cBhvr>
                                        <p:cTn id="7" dur="500"/>
                                        <p:tgtEl>
                                          <p:spTgt spid="573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7357"/>
                                        </p:tgtEl>
                                        <p:attrNameLst>
                                          <p:attrName>style.visibility</p:attrName>
                                        </p:attrNameLst>
                                      </p:cBhvr>
                                      <p:to>
                                        <p:strVal val="visible"/>
                                      </p:to>
                                    </p:set>
                                    <p:animEffect transition="in" filter="blinds(horizontal)">
                                      <p:cBhvr>
                                        <p:cTn id="12" dur="500"/>
                                        <p:tgtEl>
                                          <p:spTgt spid="573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7350"/>
                                        </p:tgtEl>
                                        <p:attrNameLst>
                                          <p:attrName>style.visibility</p:attrName>
                                        </p:attrNameLst>
                                      </p:cBhvr>
                                      <p:to>
                                        <p:strVal val="visible"/>
                                      </p:to>
                                    </p:set>
                                    <p:animEffect transition="in" filter="blinds(horizontal)">
                                      <p:cBhvr>
                                        <p:cTn id="17" dur="500"/>
                                        <p:tgtEl>
                                          <p:spTgt spid="573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7351"/>
                                        </p:tgtEl>
                                        <p:attrNameLst>
                                          <p:attrName>style.visibility</p:attrName>
                                        </p:attrNameLst>
                                      </p:cBhvr>
                                      <p:to>
                                        <p:strVal val="visible"/>
                                      </p:to>
                                    </p:set>
                                    <p:animEffect transition="in" filter="blinds(horizontal)">
                                      <p:cBhvr>
                                        <p:cTn id="22" dur="500"/>
                                        <p:tgtEl>
                                          <p:spTgt spid="573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7352"/>
                                        </p:tgtEl>
                                        <p:attrNameLst>
                                          <p:attrName>style.visibility</p:attrName>
                                        </p:attrNameLst>
                                      </p:cBhvr>
                                      <p:to>
                                        <p:strVal val="visible"/>
                                      </p:to>
                                    </p:set>
                                    <p:animEffect transition="in" filter="blinds(horizontal)">
                                      <p:cBhvr>
                                        <p:cTn id="27" dur="500"/>
                                        <p:tgtEl>
                                          <p:spTgt spid="573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7353"/>
                                        </p:tgtEl>
                                        <p:attrNameLst>
                                          <p:attrName>style.visibility</p:attrName>
                                        </p:attrNameLst>
                                      </p:cBhvr>
                                      <p:to>
                                        <p:strVal val="visible"/>
                                      </p:to>
                                    </p:set>
                                    <p:animEffect transition="in" filter="blinds(horizontal)">
                                      <p:cBhvr>
                                        <p:cTn id="32" dur="500"/>
                                        <p:tgtEl>
                                          <p:spTgt spid="5735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7354"/>
                                        </p:tgtEl>
                                        <p:attrNameLst>
                                          <p:attrName>style.visibility</p:attrName>
                                        </p:attrNameLst>
                                      </p:cBhvr>
                                      <p:to>
                                        <p:strVal val="visible"/>
                                      </p:to>
                                    </p:set>
                                    <p:animEffect transition="in" filter="blinds(horizontal)">
                                      <p:cBhvr>
                                        <p:cTn id="37" dur="500"/>
                                        <p:tgtEl>
                                          <p:spTgt spid="5735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7355"/>
                                        </p:tgtEl>
                                        <p:attrNameLst>
                                          <p:attrName>style.visibility</p:attrName>
                                        </p:attrNameLst>
                                      </p:cBhvr>
                                      <p:to>
                                        <p:strVal val="visible"/>
                                      </p:to>
                                    </p:set>
                                    <p:animEffect transition="in" filter="blinds(horizontal)">
                                      <p:cBhvr>
                                        <p:cTn id="42" dur="500"/>
                                        <p:tgtEl>
                                          <p:spTgt spid="5735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1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p:cTn id="47" dur="500" fill="hold"/>
                                        <p:tgtEl>
                                          <p:spTgt spid="5"/>
                                        </p:tgtEl>
                                        <p:attrNameLst>
                                          <p:attrName>ppt_w</p:attrName>
                                        </p:attrNameLst>
                                      </p:cBhvr>
                                      <p:tavLst>
                                        <p:tav tm="0">
                                          <p:val>
                                            <p:fltVal val="0"/>
                                          </p:val>
                                        </p:tav>
                                        <p:tav tm="100000">
                                          <p:val>
                                            <p:strVal val="#ppt_w"/>
                                          </p:val>
                                        </p:tav>
                                      </p:tavLst>
                                    </p:anim>
                                    <p:anim calcmode="lin" valueType="num">
                                      <p:cBhvr>
                                        <p:cTn id="48"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a:extLst>
              <a:ext uri="{FF2B5EF4-FFF2-40B4-BE49-F238E27FC236}">
                <a16:creationId xmlns:a16="http://schemas.microsoft.com/office/drawing/2014/main" id="{E015FDD4-9FEC-4922-8707-C4341F94B525}"/>
              </a:ext>
            </a:extLst>
          </p:cNvPr>
          <p:cNvSpPr>
            <a:spLocks noGrp="1"/>
          </p:cNvSpPr>
          <p:nvPr>
            <p:ph type="sldNum" sz="quarter" idx="12"/>
          </p:nvPr>
        </p:nvSpPr>
        <p:spPr/>
        <p:txBody>
          <a:bodyPr vert="horz" wrap="square" lIns="91440" tIns="45720" rIns="91440" bIns="45720" numCol="1" anchor="ctr" anchorCtr="0" compatLnSpc="1">
            <a:prstTxWarp prst="textNoShape">
              <a:avLst/>
            </a:prstTxWarp>
          </a:bodyPr>
          <a:lstStyle/>
          <a:p>
            <a:fld id="{2082989C-123F-4503-BBDC-46064AB21AD2}" type="slidenum">
              <a:rPr lang="zh-CN" altLang="en-US"/>
              <a:pPr/>
              <a:t>10</a:t>
            </a:fld>
            <a:endParaRPr lang="en-US" altLang="zh-CN" dirty="0"/>
          </a:p>
        </p:txBody>
      </p:sp>
      <p:sp>
        <p:nvSpPr>
          <p:cNvPr id="11" name="标题 1">
            <a:extLst>
              <a:ext uri="{FF2B5EF4-FFF2-40B4-BE49-F238E27FC236}">
                <a16:creationId xmlns:a16="http://schemas.microsoft.com/office/drawing/2014/main" id="{3DFE2516-A630-40FE-9C1A-E893E29FE332}"/>
              </a:ext>
            </a:extLst>
          </p:cNvPr>
          <p:cNvSpPr txBox="1">
            <a:spLocks/>
          </p:cNvSpPr>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fontScale="97500" lnSpcReduction="10000"/>
          </a:bodyPr>
          <a:lstStyle>
            <a:lvl1pPr algn="ctr" rtl="0" eaLnBrk="0" fontAlgn="base" hangingPunct="0">
              <a:spcBef>
                <a:spcPct val="0"/>
              </a:spcBef>
              <a:spcAft>
                <a:spcPct val="0"/>
              </a:spcAft>
              <a:defRPr sz="4400" b="1" kern="1200" baseline="0">
                <a:solidFill>
                  <a:schemeClr val="tx1"/>
                </a:solidFill>
                <a:latin typeface="Georgia" pitchFamily="18" charset="0"/>
                <a:ea typeface="华文行楷" pitchFamily="2" charset="-122"/>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a:lstStyle>
          <a:p>
            <a:pPr eaLnBrk="1" fontAlgn="auto" hangingPunct="1">
              <a:spcAft>
                <a:spcPts val="0"/>
              </a:spcAft>
              <a:defRPr/>
            </a:pPr>
            <a:r>
              <a:rPr lang="zh-CN" altLang="en-US" sz="4400" dirty="0"/>
              <a:t>频域视角</a:t>
            </a:r>
            <a:endParaRPr lang="zh-CN" altLang="en-US" dirty="0"/>
          </a:p>
        </p:txBody>
      </p:sp>
      <p:pic>
        <p:nvPicPr>
          <p:cNvPr id="12" name="图片 2">
            <a:extLst>
              <a:ext uri="{FF2B5EF4-FFF2-40B4-BE49-F238E27FC236}">
                <a16:creationId xmlns:a16="http://schemas.microsoft.com/office/drawing/2014/main" id="{A9A845C8-6F89-4F33-9339-7D6FB4DA20B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72063" y="1628800"/>
            <a:ext cx="2809875"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3">
            <a:extLst>
              <a:ext uri="{FF2B5EF4-FFF2-40B4-BE49-F238E27FC236}">
                <a16:creationId xmlns:a16="http://schemas.microsoft.com/office/drawing/2014/main" id="{9B36D409-F584-4344-9436-E9569FFE023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69988" y="1628800"/>
            <a:ext cx="2789237"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4">
            <a:extLst>
              <a:ext uri="{FF2B5EF4-FFF2-40B4-BE49-F238E27FC236}">
                <a16:creationId xmlns:a16="http://schemas.microsoft.com/office/drawing/2014/main" id="{D0A4FAB4-0D09-4F1D-ACCA-A76BB6441BC8}"/>
              </a:ext>
            </a:extLst>
          </p:cNvPr>
          <p:cNvSpPr txBox="1">
            <a:spLocks noChangeArrowheads="1"/>
          </p:cNvSpPr>
          <p:nvPr/>
        </p:nvSpPr>
        <p:spPr bwMode="auto">
          <a:xfrm>
            <a:off x="1043608" y="1196752"/>
            <a:ext cx="38779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zh-CN" altLang="en-US" dirty="0">
                <a:latin typeface="楷体" panose="02010609060101010101" pitchFamily="49" charset="-122"/>
                <a:ea typeface="楷体" panose="02010609060101010101" pitchFamily="49" charset="-122"/>
              </a:rPr>
              <a:t>基于频域处理的图像复原：</a:t>
            </a:r>
          </a:p>
        </p:txBody>
      </p:sp>
      <p:sp>
        <p:nvSpPr>
          <p:cNvPr id="15" name="TextBox 5">
            <a:extLst>
              <a:ext uri="{FF2B5EF4-FFF2-40B4-BE49-F238E27FC236}">
                <a16:creationId xmlns:a16="http://schemas.microsoft.com/office/drawing/2014/main" id="{FB8ED72B-EB83-4F2E-A879-D180482FB728}"/>
              </a:ext>
            </a:extLst>
          </p:cNvPr>
          <p:cNvSpPr txBox="1">
            <a:spLocks noChangeArrowheads="1"/>
          </p:cNvSpPr>
          <p:nvPr/>
        </p:nvSpPr>
        <p:spPr bwMode="auto">
          <a:xfrm>
            <a:off x="1820502" y="6326113"/>
            <a:ext cx="1486619"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zh-CN" altLang="en-US" sz="2000" dirty="0">
                <a:latin typeface="楷体" panose="02010609060101010101" pitchFamily="49" charset="-122"/>
                <a:ea typeface="楷体" panose="02010609060101010101" pitchFamily="49" charset="-122"/>
              </a:rPr>
              <a:t>带阻滤波器</a:t>
            </a:r>
          </a:p>
        </p:txBody>
      </p:sp>
      <p:sp>
        <p:nvSpPr>
          <p:cNvPr id="16" name="TextBox 6">
            <a:extLst>
              <a:ext uri="{FF2B5EF4-FFF2-40B4-BE49-F238E27FC236}">
                <a16:creationId xmlns:a16="http://schemas.microsoft.com/office/drawing/2014/main" id="{121D22C5-E46C-4F1B-A4E6-3C1880830ECD}"/>
              </a:ext>
            </a:extLst>
          </p:cNvPr>
          <p:cNvSpPr txBox="1">
            <a:spLocks noChangeArrowheads="1"/>
          </p:cNvSpPr>
          <p:nvPr/>
        </p:nvSpPr>
        <p:spPr bwMode="auto">
          <a:xfrm>
            <a:off x="5841504" y="3749030"/>
            <a:ext cx="127099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zh-CN" altLang="en-US" sz="2000" dirty="0">
                <a:latin typeface="楷体" panose="02010609060101010101" pitchFamily="49" charset="-122"/>
                <a:ea typeface="楷体" panose="02010609060101010101" pitchFamily="49" charset="-122"/>
              </a:rPr>
              <a:t>频域表达</a:t>
            </a:r>
          </a:p>
        </p:txBody>
      </p:sp>
      <p:pic>
        <p:nvPicPr>
          <p:cNvPr id="17" name="图片 7">
            <a:extLst>
              <a:ext uri="{FF2B5EF4-FFF2-40B4-BE49-F238E27FC236}">
                <a16:creationId xmlns:a16="http://schemas.microsoft.com/office/drawing/2014/main" id="{4159A28D-3B4C-4131-A736-8CCA876F6F9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4221088"/>
            <a:ext cx="28003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8">
            <a:extLst>
              <a:ext uri="{FF2B5EF4-FFF2-40B4-BE49-F238E27FC236}">
                <a16:creationId xmlns:a16="http://schemas.microsoft.com/office/drawing/2014/main" id="{231DE044-F26C-4A58-9D2D-BC00758BD4F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69988" y="4221088"/>
            <a:ext cx="2789237"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9">
            <a:extLst>
              <a:ext uri="{FF2B5EF4-FFF2-40B4-BE49-F238E27FC236}">
                <a16:creationId xmlns:a16="http://schemas.microsoft.com/office/drawing/2014/main" id="{FE6C7F5C-6A39-45F6-8F81-F6B7EA9C4FBF}"/>
              </a:ext>
            </a:extLst>
          </p:cNvPr>
          <p:cNvSpPr txBox="1">
            <a:spLocks noChangeArrowheads="1"/>
          </p:cNvSpPr>
          <p:nvPr/>
        </p:nvSpPr>
        <p:spPr bwMode="auto">
          <a:xfrm>
            <a:off x="1060227" y="3748970"/>
            <a:ext cx="30071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zh-CN" altLang="en-US" sz="2000" dirty="0">
                <a:latin typeface="楷体" panose="02010609060101010101" pitchFamily="49" charset="-122"/>
                <a:ea typeface="楷体" panose="02010609060101010101" pitchFamily="49" charset="-122"/>
              </a:rPr>
              <a:t>受正弦波噪声干扰的图像</a:t>
            </a:r>
          </a:p>
        </p:txBody>
      </p:sp>
      <p:sp>
        <p:nvSpPr>
          <p:cNvPr id="20" name="TextBox 10">
            <a:extLst>
              <a:ext uri="{FF2B5EF4-FFF2-40B4-BE49-F238E27FC236}">
                <a16:creationId xmlns:a16="http://schemas.microsoft.com/office/drawing/2014/main" id="{8B43FAE0-3EBF-46FD-973E-3F6C951E1E91}"/>
              </a:ext>
            </a:extLst>
          </p:cNvPr>
          <p:cNvSpPr txBox="1">
            <a:spLocks noChangeArrowheads="1"/>
          </p:cNvSpPr>
          <p:nvPr/>
        </p:nvSpPr>
        <p:spPr bwMode="auto">
          <a:xfrm>
            <a:off x="5873130" y="6326113"/>
            <a:ext cx="120774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zh-CN" altLang="en-US" sz="2000" dirty="0">
                <a:latin typeface="楷体" panose="02010609060101010101" pitchFamily="49" charset="-122"/>
                <a:ea typeface="楷体" panose="02010609060101010101" pitchFamily="49" charset="-122"/>
              </a:rPr>
              <a:t>恢复图像</a:t>
            </a:r>
          </a:p>
        </p:txBody>
      </p:sp>
    </p:spTree>
    <p:extLst>
      <p:ext uri="{BB962C8B-B14F-4D97-AF65-F5344CB8AC3E}">
        <p14:creationId xmlns:p14="http://schemas.microsoft.com/office/powerpoint/2010/main" val="28470401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blinds(horizontal)">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down)">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linds(horizontal)">
                                      <p:cBhvr>
                                        <p:cTn id="23" dur="500"/>
                                        <p:tgtEl>
                                          <p:spTgt spid="1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blinds(horizontal)">
                                      <p:cBhvr>
                                        <p:cTn id="2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50A1B3-DBD3-4668-8C21-4CC6E599ADDA}"/>
              </a:ext>
            </a:extLst>
          </p:cNvPr>
          <p:cNvSpPr>
            <a:spLocks noGrp="1"/>
          </p:cNvSpPr>
          <p:nvPr>
            <p:ph type="title"/>
          </p:nvPr>
        </p:nvSpPr>
        <p:spPr/>
        <p:txBody>
          <a:bodyPr rtlCol="0">
            <a:normAutofit fontScale="90000"/>
          </a:bodyPr>
          <a:lstStyle/>
          <a:p>
            <a:pPr eaLnBrk="1" fontAlgn="auto" hangingPunct="1">
              <a:spcAft>
                <a:spcPts val="0"/>
              </a:spcAft>
              <a:defRPr/>
            </a:pPr>
            <a:r>
              <a:rPr lang="zh-CN" altLang="en-US" dirty="0"/>
              <a:t>本课程的研究内容</a:t>
            </a:r>
          </a:p>
        </p:txBody>
      </p:sp>
      <p:sp>
        <p:nvSpPr>
          <p:cNvPr id="38915" name="内容占位符 2">
            <a:extLst>
              <a:ext uri="{FF2B5EF4-FFF2-40B4-BE49-F238E27FC236}">
                <a16:creationId xmlns:a16="http://schemas.microsoft.com/office/drawing/2014/main" id="{B7CF35FC-4996-4010-B799-D1677A59181D}"/>
              </a:ext>
            </a:extLst>
          </p:cNvPr>
          <p:cNvSpPr>
            <a:spLocks noGrp="1"/>
          </p:cNvSpPr>
          <p:nvPr>
            <p:ph idx="1"/>
          </p:nvPr>
        </p:nvSpPr>
        <p:spPr/>
        <p:txBody>
          <a:bodyPr/>
          <a:lstStyle/>
          <a:p>
            <a:pPr eaLnBrk="1" hangingPunct="1">
              <a:lnSpc>
                <a:spcPct val="150000"/>
              </a:lnSpc>
              <a:spcBef>
                <a:spcPts val="600"/>
              </a:spcBef>
            </a:pPr>
            <a:r>
              <a:rPr lang="zh-CN" altLang="en-US" sz="2400" b="0" dirty="0"/>
              <a:t>两大模块：信号分析、系统分析</a:t>
            </a:r>
          </a:p>
          <a:p>
            <a:pPr algn="just" eaLnBrk="1" hangingPunct="1">
              <a:lnSpc>
                <a:spcPct val="150000"/>
              </a:lnSpc>
              <a:spcBef>
                <a:spcPts val="600"/>
              </a:spcBef>
            </a:pPr>
            <a:r>
              <a:rPr lang="zh-CN" altLang="en-US" sz="2400" b="0" dirty="0"/>
              <a:t>研究对象：</a:t>
            </a:r>
            <a:r>
              <a:rPr lang="zh-CN" altLang="en-US" sz="2400" b="0" dirty="0">
                <a:solidFill>
                  <a:srgbClr val="FF0000"/>
                </a:solidFill>
              </a:rPr>
              <a:t>确知信号</a:t>
            </a:r>
            <a:r>
              <a:rPr lang="zh-CN" altLang="en-US" sz="2400" b="0" dirty="0"/>
              <a:t>与</a:t>
            </a:r>
            <a:r>
              <a:rPr lang="zh-CN" altLang="en-US" sz="2400" dirty="0">
                <a:solidFill>
                  <a:srgbClr val="FF0000"/>
                </a:solidFill>
              </a:rPr>
              <a:t>线性时不变</a:t>
            </a:r>
            <a:r>
              <a:rPr lang="zh-CN" altLang="en-US" sz="2400" b="0" dirty="0">
                <a:solidFill>
                  <a:srgbClr val="FF0000"/>
                </a:solidFill>
              </a:rPr>
              <a:t>系统</a:t>
            </a:r>
            <a:r>
              <a:rPr lang="zh-CN" altLang="en-US" sz="2400" b="0" dirty="0"/>
              <a:t>（</a:t>
            </a:r>
            <a:r>
              <a:rPr lang="en-US" altLang="zh-CN" sz="2400" b="0" dirty="0"/>
              <a:t>Linear Time-Invariant System</a:t>
            </a:r>
            <a:r>
              <a:rPr lang="zh-CN" altLang="en-US" sz="2400" b="0" dirty="0"/>
              <a:t>，</a:t>
            </a:r>
            <a:r>
              <a:rPr lang="en-US" altLang="zh-CN" sz="2400" dirty="0">
                <a:solidFill>
                  <a:srgbClr val="FF0000"/>
                </a:solidFill>
              </a:rPr>
              <a:t>LTI</a:t>
            </a:r>
            <a:r>
              <a:rPr lang="zh-CN" altLang="en-US" sz="2400" b="0" dirty="0"/>
              <a:t>系统）</a:t>
            </a:r>
            <a:endParaRPr lang="en-US" altLang="zh-CN" sz="2400" b="0" dirty="0"/>
          </a:p>
          <a:p>
            <a:pPr algn="just" eaLnBrk="1" hangingPunct="1">
              <a:lnSpc>
                <a:spcPct val="150000"/>
              </a:lnSpc>
              <a:spcBef>
                <a:spcPts val="600"/>
              </a:spcBef>
            </a:pPr>
            <a:r>
              <a:rPr lang="zh-CN" altLang="en-US" sz="2400" b="0" dirty="0"/>
              <a:t>以信号分解为核心思想，研究确知信号的分析方法：</a:t>
            </a:r>
            <a:r>
              <a:rPr lang="zh-CN" altLang="en-US" sz="2400" b="0" dirty="0">
                <a:solidFill>
                  <a:srgbClr val="FF0000"/>
                </a:solidFill>
              </a:rPr>
              <a:t>时域分析</a:t>
            </a:r>
            <a:r>
              <a:rPr lang="zh-CN" altLang="en-US" sz="2400" b="0" dirty="0"/>
              <a:t>、</a:t>
            </a:r>
            <a:r>
              <a:rPr lang="zh-CN" altLang="en-US" sz="2400" b="0" dirty="0">
                <a:solidFill>
                  <a:srgbClr val="FF0000"/>
                </a:solidFill>
              </a:rPr>
              <a:t>变换域分析</a:t>
            </a:r>
            <a:r>
              <a:rPr lang="zh-CN" altLang="en-US" sz="2400" b="0" dirty="0"/>
              <a:t>（傅里叶变换、拉普拉斯变换和</a:t>
            </a:r>
            <a:r>
              <a:rPr lang="en-US" altLang="zh-CN" sz="2400" b="0" i="1" dirty="0"/>
              <a:t>z</a:t>
            </a:r>
            <a:r>
              <a:rPr lang="zh-CN" altLang="en-US" sz="2400" b="0" dirty="0"/>
              <a:t>变换）；</a:t>
            </a:r>
            <a:endParaRPr lang="en-US" altLang="zh-CN" sz="2400" b="0" dirty="0"/>
          </a:p>
          <a:p>
            <a:pPr eaLnBrk="1" hangingPunct="1">
              <a:lnSpc>
                <a:spcPct val="150000"/>
              </a:lnSpc>
              <a:spcBef>
                <a:spcPts val="600"/>
              </a:spcBef>
            </a:pPr>
            <a:r>
              <a:rPr lang="zh-CN" altLang="en-US" sz="2400" b="0" dirty="0"/>
              <a:t>以信号分析为基础，建立分析</a:t>
            </a:r>
            <a:r>
              <a:rPr lang="en-US" altLang="zh-CN" sz="2400" b="0" dirty="0"/>
              <a:t>LTI</a:t>
            </a:r>
            <a:r>
              <a:rPr lang="zh-CN" altLang="en-US" sz="2400" b="0" dirty="0"/>
              <a:t>系统的相应方法。</a:t>
            </a:r>
            <a:endParaRPr lang="en-US" altLang="zh-CN" sz="2400" b="0" dirty="0"/>
          </a:p>
          <a:p>
            <a:pPr eaLnBrk="1" hangingPunct="1">
              <a:lnSpc>
                <a:spcPct val="150000"/>
              </a:lnSpc>
              <a:spcBef>
                <a:spcPts val="600"/>
              </a:spcBef>
            </a:pPr>
            <a:r>
              <a:rPr lang="zh-CN" altLang="en-US" sz="2400" b="0" dirty="0"/>
              <a:t>本课程的先修课程包括：高等代数、数学分析、程序设计</a:t>
            </a:r>
          </a:p>
        </p:txBody>
      </p:sp>
      <p:sp>
        <p:nvSpPr>
          <p:cNvPr id="4" name="灯片编号占位符 3">
            <a:extLst>
              <a:ext uri="{FF2B5EF4-FFF2-40B4-BE49-F238E27FC236}">
                <a16:creationId xmlns:a16="http://schemas.microsoft.com/office/drawing/2014/main" id="{9173A8C3-298C-4215-A067-6684AAC071D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019D190-C724-433C-8E67-F46DC15DE749}" type="slidenum">
              <a:rPr lang="zh-CN" altLang="en-US">
                <a:solidFill>
                  <a:srgbClr val="898989"/>
                </a:solidFill>
                <a:latin typeface="Calibri" panose="020F0502020204030204" pitchFamily="34" charset="0"/>
              </a:rPr>
              <a:pPr eaLnBrk="1" hangingPunct="1"/>
              <a:t>11</a:t>
            </a:fld>
            <a:endParaRPr lang="zh-CN" altLang="en-US" dirty="0">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4DD0CD0F-18D9-4856-ABE9-C84D3D49CA67}"/>
              </a:ext>
            </a:extLst>
          </p:cNvPr>
          <p:cNvSpPr>
            <a:spLocks noGrp="1"/>
          </p:cNvSpPr>
          <p:nvPr>
            <p:ph type="ctrTitle"/>
          </p:nvPr>
        </p:nvSpPr>
        <p:spPr/>
        <p:txBody>
          <a:bodyPr/>
          <a:lstStyle/>
          <a:p>
            <a:pPr eaLnBrk="1" hangingPunct="1"/>
            <a:r>
              <a:rPr lang="zh-CN" altLang="en-US"/>
              <a:t>第一章 信号与系统</a:t>
            </a:r>
          </a:p>
        </p:txBody>
      </p:sp>
      <p:sp>
        <p:nvSpPr>
          <p:cNvPr id="3" name="副标题 2">
            <a:extLst>
              <a:ext uri="{FF2B5EF4-FFF2-40B4-BE49-F238E27FC236}">
                <a16:creationId xmlns:a16="http://schemas.microsoft.com/office/drawing/2014/main" id="{A5B76BCD-AD87-4FC4-8F43-8EB8ADE6767C}"/>
              </a:ext>
            </a:extLst>
          </p:cNvPr>
          <p:cNvSpPr>
            <a:spLocks noGrp="1"/>
          </p:cNvSpPr>
          <p:nvPr>
            <p:ph type="subTitle" idx="1"/>
          </p:nvPr>
        </p:nvSpPr>
        <p:spPr/>
        <p:txBody>
          <a:bodyPr/>
          <a:lstStyle/>
          <a:p>
            <a:pPr eaLnBrk="1" hangingPunct="1">
              <a:buFont typeface="Arial" charset="0"/>
              <a:buNone/>
              <a:defRPr/>
            </a:pPr>
            <a:endParaRPr lang="zh-CN" altLang="en-US"/>
          </a:p>
        </p:txBody>
      </p:sp>
      <p:sp>
        <p:nvSpPr>
          <p:cNvPr id="4" name="灯片编号占位符 3">
            <a:extLst>
              <a:ext uri="{FF2B5EF4-FFF2-40B4-BE49-F238E27FC236}">
                <a16:creationId xmlns:a16="http://schemas.microsoft.com/office/drawing/2014/main" id="{3A14B5B6-BB8E-48C0-A908-557499C247C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D23C6C5-9554-42E5-B92F-639066A1C290}" type="slidenum">
              <a:rPr lang="zh-CN" altLang="en-US">
                <a:solidFill>
                  <a:srgbClr val="898989"/>
                </a:solidFill>
                <a:latin typeface="Calibri" panose="020F0502020204030204" pitchFamily="34" charset="0"/>
              </a:rPr>
              <a:pPr eaLnBrk="1" hangingPunct="1"/>
              <a:t>12</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92D07CD2-E700-4950-A221-3A2E44A80955}"/>
              </a:ext>
            </a:extLst>
          </p:cNvPr>
          <p:cNvSpPr>
            <a:spLocks noGrp="1"/>
          </p:cNvSpPr>
          <p:nvPr>
            <p:ph type="sldNum" sz="quarter" idx="12"/>
          </p:nvPr>
        </p:nvSpPr>
        <p:spPr/>
        <p:txBody>
          <a:bodyPr vert="horz" wrap="square" lIns="91440" tIns="45720" rIns="91440" bIns="45720" numCol="1" anchor="ctr" anchorCtr="0" compatLnSpc="1">
            <a:prstTxWarp prst="textNoShape">
              <a:avLst/>
            </a:prstTxWarp>
          </a:bodyPr>
          <a:lstStyle/>
          <a:p>
            <a:fld id="{78AE2F23-0BB6-4248-A6E0-8953C501616A}" type="slidenum">
              <a:rPr lang="zh-CN" altLang="en-US"/>
              <a:pPr/>
              <a:t>13</a:t>
            </a:fld>
            <a:endParaRPr lang="en-US" altLang="zh-CN"/>
          </a:p>
        </p:txBody>
      </p:sp>
      <p:sp>
        <p:nvSpPr>
          <p:cNvPr id="48132" name="Rectangle 3">
            <a:extLst>
              <a:ext uri="{FF2B5EF4-FFF2-40B4-BE49-F238E27FC236}">
                <a16:creationId xmlns:a16="http://schemas.microsoft.com/office/drawing/2014/main" id="{A80D0404-2BE3-41C9-B1F1-02EC73352885}"/>
              </a:ext>
            </a:extLst>
          </p:cNvPr>
          <p:cNvSpPr>
            <a:spLocks noGrp="1" noChangeArrowheads="1"/>
          </p:cNvSpPr>
          <p:nvPr>
            <p:ph type="body" idx="1"/>
          </p:nvPr>
        </p:nvSpPr>
        <p:spPr bwMode="auto">
          <a:xfrm>
            <a:off x="457200" y="1376942"/>
            <a:ext cx="8229600" cy="4961358"/>
          </a:xfrm>
          <a:ln>
            <a:miter lim="800000"/>
            <a:headEnd/>
            <a:tailEnd/>
          </a:ln>
        </p:spPr>
        <p:txBody>
          <a:bodyPr vert="horz" wrap="square" lIns="91440" tIns="45720" rIns="91440" bIns="45720" numCol="1" anchor="t" anchorCtr="0" compatLnSpc="1">
            <a:prstTxWarp prst="textNoShape">
              <a:avLst/>
            </a:prstTxWarp>
            <a:spAutoFit/>
          </a:bodyPr>
          <a:lstStyle/>
          <a:p>
            <a:pPr eaLnBrk="1" hangingPunct="1">
              <a:lnSpc>
                <a:spcPct val="150000"/>
              </a:lnSpc>
              <a:defRPr/>
            </a:pPr>
            <a:r>
              <a:rPr lang="zh-CN" altLang="en-US" sz="2800" b="0" dirty="0">
                <a:latin typeface="楷体" panose="02010609060101010101" pitchFamily="49" charset="-122"/>
              </a:rPr>
              <a:t>本章介绍信号的数学表示及系统的概念与性质。</a:t>
            </a:r>
            <a:endParaRPr lang="en-US" altLang="zh-CN" sz="2800" b="0" dirty="0">
              <a:latin typeface="楷体" panose="02010609060101010101" pitchFamily="49" charset="-122"/>
            </a:endParaRPr>
          </a:p>
          <a:p>
            <a:pPr lvl="1" eaLnBrk="1" hangingPunct="1">
              <a:lnSpc>
                <a:spcPct val="150000"/>
              </a:lnSpc>
              <a:defRPr/>
            </a:pPr>
            <a:r>
              <a:rPr lang="zh-CN" altLang="en-US" dirty="0">
                <a:solidFill>
                  <a:srgbClr val="FF0000"/>
                </a:solidFill>
                <a:latin typeface="楷体" panose="02010609060101010101" pitchFamily="49" charset="-122"/>
              </a:rPr>
              <a:t>信号</a:t>
            </a:r>
            <a:r>
              <a:rPr lang="zh-CN" altLang="en-US" b="0" dirty="0">
                <a:latin typeface="楷体" panose="02010609060101010101" pitchFamily="49" charset="-122"/>
              </a:rPr>
              <a:t>是承载信息的函数。</a:t>
            </a:r>
            <a:endParaRPr lang="en-US" altLang="zh-CN" b="0" dirty="0">
              <a:latin typeface="楷体" panose="02010609060101010101" pitchFamily="49" charset="-122"/>
            </a:endParaRPr>
          </a:p>
          <a:p>
            <a:pPr lvl="2" eaLnBrk="1" hangingPunct="1">
              <a:lnSpc>
                <a:spcPct val="150000"/>
              </a:lnSpc>
              <a:buFont typeface="Wingdings" panose="05000000000000000000" pitchFamily="2" charset="2"/>
              <a:buChar char="§"/>
              <a:defRPr/>
            </a:pPr>
            <a:r>
              <a:rPr lang="zh-CN" altLang="en-US" sz="2800" b="0" dirty="0">
                <a:solidFill>
                  <a:srgbClr val="0000FF"/>
                </a:solidFill>
                <a:latin typeface="楷体" panose="02010609060101010101" pitchFamily="49" charset="-122"/>
              </a:rPr>
              <a:t>自变量</a:t>
            </a:r>
            <a:r>
              <a:rPr lang="zh-CN" altLang="en-US" sz="2800" b="0" dirty="0">
                <a:latin typeface="楷体" panose="02010609060101010101" pitchFamily="49" charset="-122"/>
              </a:rPr>
              <a:t>：如时间、空间、</a:t>
            </a:r>
            <a:r>
              <a:rPr lang="en-US" altLang="zh-CN" sz="2800" b="0" dirty="0">
                <a:latin typeface="楷体" panose="02010609060101010101" pitchFamily="49" charset="-122"/>
              </a:rPr>
              <a:t>…</a:t>
            </a:r>
          </a:p>
          <a:p>
            <a:pPr lvl="2" eaLnBrk="1" hangingPunct="1">
              <a:lnSpc>
                <a:spcPct val="150000"/>
              </a:lnSpc>
              <a:buFont typeface="Wingdings" panose="05000000000000000000" pitchFamily="2" charset="2"/>
              <a:buChar char="§"/>
              <a:defRPr/>
            </a:pPr>
            <a:r>
              <a:rPr lang="zh-CN" altLang="en-US" sz="2800" b="0" dirty="0">
                <a:solidFill>
                  <a:srgbClr val="0000FF"/>
                </a:solidFill>
                <a:latin typeface="楷体" panose="02010609060101010101" pitchFamily="49" charset="-122"/>
              </a:rPr>
              <a:t>因变量</a:t>
            </a:r>
            <a:r>
              <a:rPr lang="zh-CN" altLang="en-US" sz="2800" b="0" dirty="0">
                <a:latin typeface="楷体" panose="02010609060101010101" pitchFamily="49" charset="-122"/>
              </a:rPr>
              <a:t>：如声压（或电压、电流）、亮度、</a:t>
            </a:r>
            <a:r>
              <a:rPr lang="en-US" altLang="zh-CN" sz="2800" b="0" dirty="0">
                <a:latin typeface="楷体" panose="02010609060101010101" pitchFamily="49" charset="-122"/>
              </a:rPr>
              <a:t>…</a:t>
            </a:r>
          </a:p>
          <a:p>
            <a:pPr lvl="1" eaLnBrk="1" hangingPunct="1">
              <a:lnSpc>
                <a:spcPct val="150000"/>
              </a:lnSpc>
              <a:defRPr/>
            </a:pPr>
            <a:r>
              <a:rPr lang="zh-CN" altLang="en-US" dirty="0">
                <a:solidFill>
                  <a:srgbClr val="FF0000"/>
                </a:solidFill>
                <a:latin typeface="楷体" panose="02010609060101010101" pitchFamily="49" charset="-122"/>
              </a:rPr>
              <a:t>系统</a:t>
            </a:r>
            <a:r>
              <a:rPr lang="zh-CN" altLang="en-US" b="0" dirty="0">
                <a:latin typeface="楷体" panose="02010609060101010101" pitchFamily="49" charset="-122"/>
              </a:rPr>
              <a:t>是能够处理输入信号并产生输出信号的结构</a:t>
            </a:r>
            <a:r>
              <a:rPr lang="zh-CN" altLang="en-US" b="0" dirty="0" smtClean="0">
                <a:latin typeface="楷体" panose="02010609060101010101" pitchFamily="49" charset="-122"/>
              </a:rPr>
              <a:t>。  </a:t>
            </a:r>
            <a:r>
              <a:rPr lang="en-US" altLang="zh-CN" b="0" dirty="0" smtClean="0">
                <a:latin typeface="楷体" panose="02010609060101010101" pitchFamily="49" charset="-122"/>
              </a:rPr>
              <a:t>x              y</a:t>
            </a:r>
            <a:endParaRPr lang="zh-CN" altLang="en-US" sz="2800" b="0" dirty="0">
              <a:latin typeface="楷体" panose="02010609060101010101" pitchFamily="49" charset="-122"/>
            </a:endParaRPr>
          </a:p>
        </p:txBody>
      </p:sp>
      <p:sp>
        <p:nvSpPr>
          <p:cNvPr id="5" name="标题 1">
            <a:extLst>
              <a:ext uri="{FF2B5EF4-FFF2-40B4-BE49-F238E27FC236}">
                <a16:creationId xmlns:a16="http://schemas.microsoft.com/office/drawing/2014/main" id="{8E446FA8-C053-43C3-964E-B9C49DA281E1}"/>
              </a:ext>
            </a:extLst>
          </p:cNvPr>
          <p:cNvSpPr txBox="1">
            <a:spLocks/>
          </p:cNvSpPr>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kern="1200" baseline="0">
                <a:solidFill>
                  <a:schemeClr val="tx1"/>
                </a:solidFill>
                <a:latin typeface="Georgia" pitchFamily="18" charset="0"/>
                <a:ea typeface="华文行楷" pitchFamily="2" charset="-122"/>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a:lstStyle>
          <a:p>
            <a:pPr eaLnBrk="1" hangingPunct="1"/>
            <a:r>
              <a:rPr lang="zh-CN" altLang="en-US" dirty="0"/>
              <a:t>基本概念</a:t>
            </a:r>
          </a:p>
        </p:txBody>
      </p:sp>
      <p:sp>
        <p:nvSpPr>
          <p:cNvPr id="3" name="文本框 2"/>
          <p:cNvSpPr txBox="1"/>
          <p:nvPr/>
        </p:nvSpPr>
        <p:spPr>
          <a:xfrm>
            <a:off x="3433263" y="5882341"/>
            <a:ext cx="706689" cy="369332"/>
          </a:xfrm>
          <a:prstGeom prst="rect">
            <a:avLst/>
          </a:prstGeom>
          <a:noFill/>
          <a:ln w="19050">
            <a:solidFill>
              <a:schemeClr val="tx1"/>
            </a:solidFill>
          </a:ln>
        </p:spPr>
        <p:txBody>
          <a:bodyPr wrap="square" rtlCol="0">
            <a:spAutoFit/>
          </a:bodyPr>
          <a:lstStyle/>
          <a:p>
            <a:r>
              <a:rPr lang="zh-CN" altLang="en-US" dirty="0" smtClean="0">
                <a:latin typeface="楷体" panose="02010609060101010101" pitchFamily="49" charset="-122"/>
              </a:rPr>
              <a:t>系统</a:t>
            </a:r>
            <a:endParaRPr lang="zh-CN" altLang="en-US" dirty="0"/>
          </a:p>
        </p:txBody>
      </p:sp>
      <p:sp>
        <p:nvSpPr>
          <p:cNvPr id="4" name="右箭头 3"/>
          <p:cNvSpPr/>
          <p:nvPr/>
        </p:nvSpPr>
        <p:spPr>
          <a:xfrm>
            <a:off x="2699792" y="6021288"/>
            <a:ext cx="648072"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右箭头 7"/>
          <p:cNvSpPr/>
          <p:nvPr/>
        </p:nvSpPr>
        <p:spPr>
          <a:xfrm>
            <a:off x="4211960" y="6033220"/>
            <a:ext cx="648072"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9EDCB6EC-95B8-48BC-AE46-BD36558A49AE}"/>
              </a:ext>
            </a:extLst>
          </p:cNvPr>
          <p:cNvSpPr>
            <a:spLocks noGrp="1"/>
          </p:cNvSpPr>
          <p:nvPr>
            <p:ph type="title"/>
          </p:nvPr>
        </p:nvSpPr>
        <p:spPr/>
        <p:txBody>
          <a:bodyPr/>
          <a:lstStyle/>
          <a:p>
            <a:pPr eaLnBrk="1" hangingPunct="1"/>
            <a:r>
              <a:rPr lang="en-US" altLang="zh-CN" dirty="0"/>
              <a:t>1.1  </a:t>
            </a:r>
            <a:r>
              <a:rPr lang="zh-CN" altLang="en-US" dirty="0"/>
              <a:t>连续时间与离散时间信号</a:t>
            </a:r>
          </a:p>
        </p:txBody>
      </p:sp>
      <p:sp>
        <p:nvSpPr>
          <p:cNvPr id="47107" name="内容占位符 2">
            <a:extLst>
              <a:ext uri="{FF2B5EF4-FFF2-40B4-BE49-F238E27FC236}">
                <a16:creationId xmlns:a16="http://schemas.microsoft.com/office/drawing/2014/main" id="{9F9FC8E5-94F3-4388-BA8F-E4D9CC4EA1A7}"/>
              </a:ext>
            </a:extLst>
          </p:cNvPr>
          <p:cNvSpPr>
            <a:spLocks noGrp="1"/>
          </p:cNvSpPr>
          <p:nvPr>
            <p:ph idx="1"/>
          </p:nvPr>
        </p:nvSpPr>
        <p:spPr/>
        <p:txBody>
          <a:bodyPr/>
          <a:lstStyle/>
          <a:p>
            <a:pPr eaLnBrk="1" hangingPunct="1"/>
            <a:r>
              <a:rPr lang="zh-CN" altLang="en-US" sz="2800" b="0" dirty="0"/>
              <a:t>一</a:t>
            </a:r>
            <a:r>
              <a:rPr lang="en-US" altLang="zh-CN" sz="2800" b="0" dirty="0"/>
              <a:t>. </a:t>
            </a:r>
            <a:r>
              <a:rPr lang="zh-CN" altLang="en-US" sz="2800" b="0" dirty="0"/>
              <a:t>信号：</a:t>
            </a:r>
          </a:p>
          <a:p>
            <a:pPr eaLnBrk="1" hangingPunct="1"/>
            <a:r>
              <a:rPr lang="zh-CN" altLang="en-US" sz="2800" b="0" dirty="0"/>
              <a:t>信号可能是一个或几个自变量的函数。</a:t>
            </a:r>
            <a:endParaRPr lang="en-US" altLang="zh-CN" sz="2800" b="0" dirty="0"/>
          </a:p>
        </p:txBody>
      </p:sp>
      <p:sp>
        <p:nvSpPr>
          <p:cNvPr id="4" name="灯片编号占位符 3">
            <a:extLst>
              <a:ext uri="{FF2B5EF4-FFF2-40B4-BE49-F238E27FC236}">
                <a16:creationId xmlns:a16="http://schemas.microsoft.com/office/drawing/2014/main" id="{0CD3A2B6-410C-436B-B819-20A536EFF8A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24DB852-FB67-42F5-A76D-15045772E45E}" type="slidenum">
              <a:rPr lang="zh-CN" altLang="en-US">
                <a:solidFill>
                  <a:srgbClr val="898989"/>
                </a:solidFill>
                <a:latin typeface="Calibri" panose="020F0502020204030204" pitchFamily="34" charset="0"/>
              </a:rPr>
              <a:pPr eaLnBrk="1" hangingPunct="1"/>
              <a:t>14</a:t>
            </a:fld>
            <a:endParaRPr lang="zh-CN" altLang="en-US">
              <a:solidFill>
                <a:srgbClr val="898989"/>
              </a:solidFill>
              <a:latin typeface="Calibri" panose="020F0502020204030204" pitchFamily="34" charset="0"/>
            </a:endParaRPr>
          </a:p>
        </p:txBody>
      </p:sp>
      <p:pic>
        <p:nvPicPr>
          <p:cNvPr id="5" name="Picture 7" descr="01-03">
            <a:extLst>
              <a:ext uri="{FF2B5EF4-FFF2-40B4-BE49-F238E27FC236}">
                <a16:creationId xmlns:a16="http://schemas.microsoft.com/office/drawing/2014/main" id="{9BDE73F0-B4F9-4CEA-ABB0-3CDD09694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4469" y="2322120"/>
            <a:ext cx="3921947" cy="4174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19E9BCBC-5FCB-4525-95EE-6801E62D0521}"/>
              </a:ext>
            </a:extLst>
          </p:cNvPr>
          <p:cNvSpPr>
            <a:spLocks noChangeArrowheads="1"/>
          </p:cNvSpPr>
          <p:nvPr/>
        </p:nvSpPr>
        <p:spPr bwMode="auto">
          <a:xfrm>
            <a:off x="827583" y="2647690"/>
            <a:ext cx="3196501"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r>
              <a:rPr lang="zh-CN" altLang="en-US" sz="2800" dirty="0">
                <a:solidFill>
                  <a:srgbClr val="0000FF"/>
                </a:solidFill>
                <a:ea typeface="楷体_GB2312" panose="02010609030101010101" pitchFamily="49" charset="-122"/>
              </a:rPr>
              <a:t>一维信号实例：一段语音可表示为声压随时间变化的函数。</a:t>
            </a:r>
            <a:endParaRPr lang="en-US" altLang="zh-CN" sz="2800" dirty="0">
              <a:solidFill>
                <a:srgbClr val="0000FF"/>
              </a:solidFill>
              <a:ea typeface="楷体_GB2312" panose="02010609030101010101" pitchFamily="49"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9EDCB6EC-95B8-48BC-AE46-BD36558A49AE}"/>
              </a:ext>
            </a:extLst>
          </p:cNvPr>
          <p:cNvSpPr>
            <a:spLocks noGrp="1"/>
          </p:cNvSpPr>
          <p:nvPr>
            <p:ph type="title"/>
          </p:nvPr>
        </p:nvSpPr>
        <p:spPr/>
        <p:txBody>
          <a:bodyPr/>
          <a:lstStyle/>
          <a:p>
            <a:pPr eaLnBrk="1" hangingPunct="1"/>
            <a:r>
              <a:rPr lang="en-US" altLang="zh-CN" dirty="0"/>
              <a:t>1.1  </a:t>
            </a:r>
            <a:r>
              <a:rPr lang="zh-CN" altLang="en-US" dirty="0"/>
              <a:t>连续时间与离散时间信号</a:t>
            </a:r>
          </a:p>
        </p:txBody>
      </p:sp>
      <p:sp>
        <p:nvSpPr>
          <p:cNvPr id="4" name="灯片编号占位符 3">
            <a:extLst>
              <a:ext uri="{FF2B5EF4-FFF2-40B4-BE49-F238E27FC236}">
                <a16:creationId xmlns:a16="http://schemas.microsoft.com/office/drawing/2014/main" id="{0CD3A2B6-410C-436B-B819-20A536EFF8A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24DB852-FB67-42F5-A76D-15045772E45E}" type="slidenum">
              <a:rPr lang="zh-CN" altLang="en-US">
                <a:solidFill>
                  <a:srgbClr val="898989"/>
                </a:solidFill>
                <a:latin typeface="Calibri" panose="020F0502020204030204" pitchFamily="34" charset="0"/>
              </a:rPr>
              <a:pPr eaLnBrk="1" hangingPunct="1"/>
              <a:t>15</a:t>
            </a:fld>
            <a:endParaRPr lang="zh-CN" altLang="en-US">
              <a:solidFill>
                <a:srgbClr val="898989"/>
              </a:solidFill>
              <a:latin typeface="Calibri" panose="020F0502020204030204" pitchFamily="34" charset="0"/>
            </a:endParaRPr>
          </a:p>
        </p:txBody>
      </p:sp>
      <p:sp>
        <p:nvSpPr>
          <p:cNvPr id="9" name="文本框 8">
            <a:extLst>
              <a:ext uri="{FF2B5EF4-FFF2-40B4-BE49-F238E27FC236}">
                <a16:creationId xmlns:a16="http://schemas.microsoft.com/office/drawing/2014/main" id="{A39C380C-D03D-477A-B423-80433879D66E}"/>
              </a:ext>
            </a:extLst>
          </p:cNvPr>
          <p:cNvSpPr txBox="1"/>
          <p:nvPr/>
        </p:nvSpPr>
        <p:spPr>
          <a:xfrm>
            <a:off x="683568" y="4971355"/>
            <a:ext cx="8003232" cy="1384995"/>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zh-CN" altLang="en-US" sz="2800" b="0" i="0" u="none" strike="noStrike" kern="1200" cap="none" spc="0" normalizeH="0" baseline="0" noProof="0" dirty="0">
                <a:ln>
                  <a:noFill/>
                </a:ln>
                <a:solidFill>
                  <a:prstClr val="black"/>
                </a:solidFill>
                <a:effectLst/>
                <a:uLnTx/>
                <a:uFillTx/>
                <a:latin typeface="Times New Roman" pitchFamily="18" charset="0"/>
                <a:ea typeface="楷体" pitchFamily="49" charset="-122"/>
                <a:cs typeface="+mn-cs"/>
              </a:rPr>
              <a:t>作为信号分析的基础，本课程只研究</a:t>
            </a:r>
            <a:r>
              <a:rPr kumimoji="0" lang="zh-CN" altLang="en-US" sz="2800" b="0" i="0" u="none" strike="noStrike" kern="1200" cap="none" spc="0" normalizeH="0" baseline="0" noProof="0" dirty="0">
                <a:ln>
                  <a:noFill/>
                </a:ln>
                <a:solidFill>
                  <a:srgbClr val="FF0000"/>
                </a:solidFill>
                <a:effectLst/>
                <a:uLnTx/>
                <a:uFillTx/>
                <a:latin typeface="Times New Roman" pitchFamily="18" charset="0"/>
                <a:ea typeface="楷体" pitchFamily="49" charset="-122"/>
                <a:cs typeface="+mn-cs"/>
              </a:rPr>
              <a:t>单一自变量的信号</a:t>
            </a:r>
            <a:r>
              <a:rPr kumimoji="0" lang="zh-CN" altLang="en-US" sz="2800" b="0" i="0" u="none" strike="noStrike" kern="1200" cap="none" spc="0" normalizeH="0" baseline="0" noProof="0" dirty="0">
                <a:ln>
                  <a:noFill/>
                </a:ln>
                <a:effectLst/>
                <a:uLnTx/>
                <a:uFillTx/>
                <a:latin typeface="Times New Roman" pitchFamily="18" charset="0"/>
                <a:ea typeface="楷体" pitchFamily="49" charset="-122"/>
                <a:cs typeface="+mn-cs"/>
              </a:rPr>
              <a:t>，即</a:t>
            </a:r>
            <a:r>
              <a:rPr kumimoji="0" lang="zh-CN" altLang="en-US" sz="2800" b="0" i="0" u="none" strike="noStrike" kern="1200" cap="none" spc="0" normalizeH="0" baseline="0" noProof="0" dirty="0">
                <a:ln>
                  <a:noFill/>
                </a:ln>
                <a:solidFill>
                  <a:srgbClr val="FF0000"/>
                </a:solidFill>
                <a:effectLst/>
                <a:uLnTx/>
                <a:uFillTx/>
                <a:latin typeface="Times New Roman" pitchFamily="18" charset="0"/>
                <a:ea typeface="楷体" pitchFamily="49" charset="-122"/>
                <a:cs typeface="+mn-cs"/>
              </a:rPr>
              <a:t>一维信号</a:t>
            </a:r>
            <a:r>
              <a:rPr kumimoji="0" lang="zh-CN" altLang="en-US" sz="2800" b="0" i="0" u="none" strike="noStrike" kern="1200" cap="none" spc="0" normalizeH="0" baseline="0" noProof="0" dirty="0">
                <a:ln>
                  <a:noFill/>
                </a:ln>
                <a:effectLst/>
                <a:uLnTx/>
                <a:uFillTx/>
                <a:latin typeface="Times New Roman" pitchFamily="18" charset="0"/>
                <a:ea typeface="楷体" pitchFamily="49" charset="-122"/>
                <a:cs typeface="+mn-cs"/>
              </a:rPr>
              <a:t>。一般假定该自变量为</a:t>
            </a:r>
            <a:r>
              <a:rPr kumimoji="0" lang="zh-CN" altLang="en-US" sz="2800" b="0" i="0" u="none" strike="noStrike" kern="1200" cap="none" spc="0" normalizeH="0" baseline="0" noProof="0" dirty="0">
                <a:ln>
                  <a:noFill/>
                </a:ln>
                <a:solidFill>
                  <a:srgbClr val="FF0000"/>
                </a:solidFill>
                <a:effectLst/>
                <a:uLnTx/>
                <a:uFillTx/>
                <a:latin typeface="Times New Roman" pitchFamily="18" charset="0"/>
                <a:ea typeface="楷体" pitchFamily="49" charset="-122"/>
                <a:cs typeface="+mn-cs"/>
              </a:rPr>
              <a:t>时间</a:t>
            </a:r>
            <a:r>
              <a:rPr kumimoji="0" lang="zh-CN" altLang="en-US" sz="2800" b="0" i="0" u="none" strike="noStrike" kern="1200" cap="none" spc="0" normalizeH="0" baseline="0" noProof="0" dirty="0">
                <a:ln>
                  <a:noFill/>
                </a:ln>
                <a:effectLst/>
                <a:uLnTx/>
                <a:uFillTx/>
                <a:latin typeface="Times New Roman" pitchFamily="18" charset="0"/>
                <a:ea typeface="楷体" pitchFamily="49" charset="-122"/>
                <a:cs typeface="+mn-cs"/>
              </a:rPr>
              <a:t>，但在实际上</a:t>
            </a:r>
            <a:r>
              <a:rPr kumimoji="0" lang="zh-CN" altLang="en-US" sz="2800" b="0" i="0" u="none" strike="noStrike" kern="1200" cap="none" spc="0" normalizeH="0" baseline="0" noProof="0" dirty="0">
                <a:ln>
                  <a:noFill/>
                </a:ln>
                <a:solidFill>
                  <a:srgbClr val="FF0000"/>
                </a:solidFill>
                <a:effectLst/>
                <a:uLnTx/>
                <a:uFillTx/>
                <a:latin typeface="Times New Roman" pitchFamily="18" charset="0"/>
                <a:ea typeface="楷体" pitchFamily="49" charset="-122"/>
                <a:cs typeface="+mn-cs"/>
              </a:rPr>
              <a:t>具有更一般的含义</a:t>
            </a:r>
            <a:r>
              <a:rPr kumimoji="0" lang="zh-CN" altLang="en-US" sz="2800" b="0" i="0" u="none" strike="noStrike" kern="1200" cap="none" spc="0" normalizeH="0" baseline="0" noProof="0" dirty="0">
                <a:ln>
                  <a:noFill/>
                </a:ln>
                <a:solidFill>
                  <a:prstClr val="black"/>
                </a:solidFill>
                <a:effectLst/>
                <a:uLnTx/>
                <a:uFillTx/>
                <a:latin typeface="Times New Roman" pitchFamily="18" charset="0"/>
                <a:ea typeface="楷体" pitchFamily="49" charset="-122"/>
                <a:cs typeface="+mn-cs"/>
              </a:rPr>
              <a:t>。</a:t>
            </a:r>
            <a:endParaRPr kumimoji="0" lang="en-US" altLang="zh-CN" sz="2800" b="0" i="0" u="none" strike="noStrike" kern="1200" cap="none" spc="0" normalizeH="0" baseline="0" noProof="0" dirty="0">
              <a:ln>
                <a:noFill/>
              </a:ln>
              <a:solidFill>
                <a:prstClr val="black"/>
              </a:solidFill>
              <a:effectLst/>
              <a:uLnTx/>
              <a:uFillTx/>
              <a:latin typeface="Times New Roman" pitchFamily="18" charset="0"/>
              <a:ea typeface="楷体" pitchFamily="49" charset="-122"/>
              <a:cs typeface="+mn-cs"/>
            </a:endParaRPr>
          </a:p>
        </p:txBody>
      </p:sp>
      <p:pic>
        <p:nvPicPr>
          <p:cNvPr id="10" name="Picture 3">
            <a:extLst>
              <a:ext uri="{FF2B5EF4-FFF2-40B4-BE49-F238E27FC236}">
                <a16:creationId xmlns:a16="http://schemas.microsoft.com/office/drawing/2014/main" id="{12028553-3A57-444C-808E-5044BA1747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160" t="29933" r="14322" b="25166"/>
          <a:stretch>
            <a:fillRect/>
          </a:stretch>
        </p:blipFill>
        <p:spPr bwMode="auto">
          <a:xfrm>
            <a:off x="4932040" y="1383481"/>
            <a:ext cx="3633200" cy="352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6">
            <a:extLst>
              <a:ext uri="{FF2B5EF4-FFF2-40B4-BE49-F238E27FC236}">
                <a16:creationId xmlns:a16="http://schemas.microsoft.com/office/drawing/2014/main" id="{4CF2B599-09F8-40F9-B59A-477469AA412D}"/>
              </a:ext>
            </a:extLst>
          </p:cNvPr>
          <p:cNvSpPr>
            <a:spLocks noChangeArrowheads="1"/>
          </p:cNvSpPr>
          <p:nvPr/>
        </p:nvSpPr>
        <p:spPr bwMode="auto">
          <a:xfrm>
            <a:off x="683568" y="1556039"/>
            <a:ext cx="3744416"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r>
              <a:rPr lang="zh-CN" altLang="en-US" sz="2800" dirty="0">
                <a:solidFill>
                  <a:srgbClr val="0000FF"/>
                </a:solidFill>
                <a:ea typeface="楷体_GB2312" panose="02010609030101010101" pitchFamily="49" charset="-122"/>
              </a:rPr>
              <a:t>二维信号实例：一幅图像可表示为亮度随空间二维坐标变化的函数。</a:t>
            </a:r>
            <a:endParaRPr lang="en-US" altLang="zh-CN" sz="2800" dirty="0">
              <a:solidFill>
                <a:srgbClr val="0000FF"/>
              </a:solidFill>
              <a:ea typeface="楷体_GB2312" panose="02010609030101010101" pitchFamily="49" charset="-122"/>
            </a:endParaRPr>
          </a:p>
        </p:txBody>
      </p:sp>
    </p:spTree>
    <p:extLst>
      <p:ext uri="{BB962C8B-B14F-4D97-AF65-F5344CB8AC3E}">
        <p14:creationId xmlns:p14="http://schemas.microsoft.com/office/powerpoint/2010/main" val="42233776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9EDCB6EC-95B8-48BC-AE46-BD36558A49AE}"/>
              </a:ext>
            </a:extLst>
          </p:cNvPr>
          <p:cNvSpPr>
            <a:spLocks noGrp="1"/>
          </p:cNvSpPr>
          <p:nvPr>
            <p:ph type="title"/>
          </p:nvPr>
        </p:nvSpPr>
        <p:spPr/>
        <p:txBody>
          <a:bodyPr/>
          <a:lstStyle/>
          <a:p>
            <a:pPr eaLnBrk="1" hangingPunct="1"/>
            <a:r>
              <a:rPr lang="en-US" altLang="zh-CN" dirty="0"/>
              <a:t>1.1  </a:t>
            </a:r>
            <a:r>
              <a:rPr lang="zh-CN" altLang="en-US" dirty="0"/>
              <a:t>连续时间与离散时间信号</a:t>
            </a:r>
          </a:p>
        </p:txBody>
      </p:sp>
      <p:sp>
        <p:nvSpPr>
          <p:cNvPr id="47107" name="内容占位符 2">
            <a:extLst>
              <a:ext uri="{FF2B5EF4-FFF2-40B4-BE49-F238E27FC236}">
                <a16:creationId xmlns:a16="http://schemas.microsoft.com/office/drawing/2014/main" id="{9F9FC8E5-94F3-4388-BA8F-E4D9CC4EA1A7}"/>
              </a:ext>
            </a:extLst>
          </p:cNvPr>
          <p:cNvSpPr>
            <a:spLocks noGrp="1"/>
          </p:cNvSpPr>
          <p:nvPr>
            <p:ph idx="1"/>
          </p:nvPr>
        </p:nvSpPr>
        <p:spPr>
          <a:xfrm>
            <a:off x="457200" y="1285875"/>
            <a:ext cx="8229600" cy="558949"/>
          </a:xfrm>
        </p:spPr>
        <p:txBody>
          <a:bodyPr/>
          <a:lstStyle/>
          <a:p>
            <a:pPr eaLnBrk="1" hangingPunct="1"/>
            <a:r>
              <a:rPr lang="zh-CN" altLang="en-US" sz="2800" b="0" dirty="0"/>
              <a:t>可以分为</a:t>
            </a:r>
            <a:r>
              <a:rPr lang="zh-CN" altLang="en-US" sz="2800" b="0" dirty="0">
                <a:solidFill>
                  <a:srgbClr val="FF0000"/>
                </a:solidFill>
              </a:rPr>
              <a:t>连续时间信号</a:t>
            </a:r>
            <a:r>
              <a:rPr lang="zh-CN" altLang="en-US" sz="2800" b="0" dirty="0"/>
              <a:t>与</a:t>
            </a:r>
            <a:r>
              <a:rPr lang="zh-CN" altLang="en-US" sz="2800" b="0" dirty="0">
                <a:solidFill>
                  <a:srgbClr val="FF0000"/>
                </a:solidFill>
              </a:rPr>
              <a:t>离散时间信号</a:t>
            </a:r>
            <a:r>
              <a:rPr lang="zh-CN" altLang="en-US" sz="2800" b="0" dirty="0"/>
              <a:t>。</a:t>
            </a:r>
            <a:endParaRPr lang="en-US" altLang="zh-CN" sz="2800" b="0" dirty="0"/>
          </a:p>
        </p:txBody>
      </p:sp>
      <p:sp>
        <p:nvSpPr>
          <p:cNvPr id="4" name="灯片编号占位符 3">
            <a:extLst>
              <a:ext uri="{FF2B5EF4-FFF2-40B4-BE49-F238E27FC236}">
                <a16:creationId xmlns:a16="http://schemas.microsoft.com/office/drawing/2014/main" id="{0CD3A2B6-410C-436B-B819-20A536EFF8A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24DB852-FB67-42F5-A76D-15045772E45E}" type="slidenum">
              <a:rPr lang="zh-CN" altLang="en-US">
                <a:solidFill>
                  <a:srgbClr val="898989"/>
                </a:solidFill>
                <a:latin typeface="Calibri" panose="020F0502020204030204" pitchFamily="34" charset="0"/>
              </a:rPr>
              <a:pPr eaLnBrk="1" hangingPunct="1"/>
              <a:t>16</a:t>
            </a:fld>
            <a:endParaRPr lang="zh-CN" altLang="en-US">
              <a:solidFill>
                <a:srgbClr val="898989"/>
              </a:solidFill>
              <a:latin typeface="Calibri" panose="020F0502020204030204" pitchFamily="34" charset="0"/>
            </a:endParaRPr>
          </a:p>
        </p:txBody>
      </p:sp>
      <p:pic>
        <p:nvPicPr>
          <p:cNvPr id="5" name="Picture 4">
            <a:extLst>
              <a:ext uri="{FF2B5EF4-FFF2-40B4-BE49-F238E27FC236}">
                <a16:creationId xmlns:a16="http://schemas.microsoft.com/office/drawing/2014/main" id="{DFD85660-8878-43D8-8F4E-FFCAC7AE16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692268"/>
            <a:ext cx="6906344" cy="313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a:extLst>
              <a:ext uri="{FF2B5EF4-FFF2-40B4-BE49-F238E27FC236}">
                <a16:creationId xmlns:a16="http://schemas.microsoft.com/office/drawing/2014/main" id="{8A9A8895-5C29-4593-B480-B867C24B7E5A}"/>
              </a:ext>
            </a:extLst>
          </p:cNvPr>
          <p:cNvSpPr txBox="1">
            <a:spLocks/>
          </p:cNvSpPr>
          <p:nvPr/>
        </p:nvSpPr>
        <p:spPr bwMode="auto">
          <a:xfrm>
            <a:off x="457200" y="4725144"/>
            <a:ext cx="8229600" cy="18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楷体"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楷体"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楷体" pitchFamily="49"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楷体" pitchFamily="49"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楷体"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spcBef>
                <a:spcPts val="600"/>
              </a:spcBef>
            </a:pPr>
            <a:r>
              <a:rPr lang="zh-CN" altLang="en-US" sz="2800" b="0" dirty="0"/>
              <a:t>天然的离散时间信号：如</a:t>
            </a:r>
            <a:r>
              <a:rPr lang="zh-CN" altLang="en-US" sz="2800" b="0" dirty="0">
                <a:solidFill>
                  <a:srgbClr val="0000FF"/>
                </a:solidFill>
              </a:rPr>
              <a:t>每年的利率或人口</a:t>
            </a:r>
            <a:endParaRPr lang="en-US" altLang="zh-CN" sz="2800" b="0" dirty="0">
              <a:solidFill>
                <a:srgbClr val="0000FF"/>
              </a:solidFill>
            </a:endParaRPr>
          </a:p>
          <a:p>
            <a:pPr algn="just" eaLnBrk="1" hangingPunct="1">
              <a:spcBef>
                <a:spcPts val="600"/>
              </a:spcBef>
            </a:pPr>
            <a:r>
              <a:rPr lang="zh-CN" altLang="en-US" sz="2800" b="0" dirty="0"/>
              <a:t>对连续时间信号采样获得的离散时间信号：</a:t>
            </a:r>
            <a:r>
              <a:rPr lang="en-US" altLang="zh-CN" sz="2800" b="0" dirty="0">
                <a:solidFill>
                  <a:srgbClr val="0000FF"/>
                </a:solidFill>
              </a:rPr>
              <a:t>CD</a:t>
            </a:r>
            <a:r>
              <a:rPr lang="zh-CN" altLang="en-US" sz="2800" b="0" dirty="0">
                <a:solidFill>
                  <a:srgbClr val="0000FF"/>
                </a:solidFill>
              </a:rPr>
              <a:t>上存储的音频信号（</a:t>
            </a:r>
            <a:r>
              <a:rPr lang="en-US" altLang="zh-CN" sz="2800" b="0" dirty="0">
                <a:solidFill>
                  <a:srgbClr val="0000FF"/>
                </a:solidFill>
              </a:rPr>
              <a:t>44kHz = </a:t>
            </a:r>
            <a:r>
              <a:rPr lang="zh-CN" altLang="en-US" sz="2800" b="0" dirty="0">
                <a:solidFill>
                  <a:srgbClr val="0000FF"/>
                </a:solidFill>
              </a:rPr>
              <a:t>对原始声音信号每秒采样</a:t>
            </a:r>
            <a:r>
              <a:rPr lang="en-US" altLang="zh-CN" sz="2800" b="0" dirty="0">
                <a:solidFill>
                  <a:srgbClr val="0000FF"/>
                </a:solidFill>
              </a:rPr>
              <a:t>44k</a:t>
            </a:r>
            <a:r>
              <a:rPr lang="zh-CN" altLang="en-US" sz="2800" b="0" dirty="0">
                <a:solidFill>
                  <a:srgbClr val="0000FF"/>
                </a:solidFill>
              </a:rPr>
              <a:t>个点）</a:t>
            </a:r>
            <a:endParaRPr lang="en-US" altLang="zh-CN" sz="2800" b="0" dirty="0">
              <a:solidFill>
                <a:srgbClr val="0000FF"/>
              </a:solidFill>
            </a:endParaRPr>
          </a:p>
        </p:txBody>
      </p:sp>
    </p:spTree>
    <p:extLst>
      <p:ext uri="{BB962C8B-B14F-4D97-AF65-F5344CB8AC3E}">
        <p14:creationId xmlns:p14="http://schemas.microsoft.com/office/powerpoint/2010/main" val="5804169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a:extLst>
              <a:ext uri="{FF2B5EF4-FFF2-40B4-BE49-F238E27FC236}">
                <a16:creationId xmlns:a16="http://schemas.microsoft.com/office/drawing/2014/main" id="{887449CA-C34A-41F3-9D8F-70F0942C8455}"/>
              </a:ext>
            </a:extLst>
          </p:cNvPr>
          <p:cNvSpPr>
            <a:spLocks noGrp="1"/>
          </p:cNvSpPr>
          <p:nvPr>
            <p:ph type="sldNum" sz="quarter" idx="12"/>
          </p:nvPr>
        </p:nvSpPr>
        <p:spPr/>
        <p:txBody>
          <a:bodyPr vert="horz" wrap="square" lIns="91440" tIns="45720" rIns="91440" bIns="45720" numCol="1" anchor="ctr" anchorCtr="0" compatLnSpc="1">
            <a:prstTxWarp prst="textNoShape">
              <a:avLst/>
            </a:prstTxWarp>
          </a:bodyPr>
          <a:lstStyle/>
          <a:p>
            <a:fld id="{CD828253-1C0C-42C7-8F9C-9A97709BF0AE}" type="slidenum">
              <a:rPr lang="zh-CN" altLang="en-US"/>
              <a:pPr/>
              <a:t>17</a:t>
            </a:fld>
            <a:endParaRPr lang="en-US" altLang="zh-CN"/>
          </a:p>
        </p:txBody>
      </p:sp>
      <p:sp>
        <p:nvSpPr>
          <p:cNvPr id="26627" name="TextBox 8">
            <a:extLst>
              <a:ext uri="{FF2B5EF4-FFF2-40B4-BE49-F238E27FC236}">
                <a16:creationId xmlns:a16="http://schemas.microsoft.com/office/drawing/2014/main" id="{1EBE87D2-39F7-4E2C-8601-E92AD722096C}"/>
              </a:ext>
            </a:extLst>
          </p:cNvPr>
          <p:cNvSpPr txBox="1">
            <a:spLocks noChangeArrowheads="1"/>
          </p:cNvSpPr>
          <p:nvPr/>
        </p:nvSpPr>
        <p:spPr bwMode="auto">
          <a:xfrm>
            <a:off x="2195736" y="4572000"/>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zh-CN" altLang="en-US" sz="2800" dirty="0">
                <a:latin typeface="楷体" panose="02010609060101010101" pitchFamily="49" charset="-122"/>
                <a:ea typeface="楷体" panose="02010609060101010101" pitchFamily="49" charset="-122"/>
              </a:rPr>
              <a:t>采样信号</a:t>
            </a:r>
          </a:p>
        </p:txBody>
      </p:sp>
      <p:sp>
        <p:nvSpPr>
          <p:cNvPr id="26628" name="TextBox 9">
            <a:extLst>
              <a:ext uri="{FF2B5EF4-FFF2-40B4-BE49-F238E27FC236}">
                <a16:creationId xmlns:a16="http://schemas.microsoft.com/office/drawing/2014/main" id="{EEBC2963-14C9-42F4-B6FF-9E1CCE6E18CB}"/>
              </a:ext>
            </a:extLst>
          </p:cNvPr>
          <p:cNvSpPr txBox="1">
            <a:spLocks noChangeArrowheads="1"/>
          </p:cNvSpPr>
          <p:nvPr/>
        </p:nvSpPr>
        <p:spPr bwMode="auto">
          <a:xfrm>
            <a:off x="5220072" y="4572000"/>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zh-CN" altLang="en-US" sz="2800" dirty="0">
                <a:latin typeface="楷体" panose="02010609060101010101" pitchFamily="49" charset="-122"/>
                <a:ea typeface="楷体" panose="02010609060101010101" pitchFamily="49" charset="-122"/>
              </a:rPr>
              <a:t>数字信号</a:t>
            </a:r>
          </a:p>
        </p:txBody>
      </p:sp>
      <p:pic>
        <p:nvPicPr>
          <p:cNvPr id="26629" name="Picture 10">
            <a:extLst>
              <a:ext uri="{FF2B5EF4-FFF2-40B4-BE49-F238E27FC236}">
                <a16:creationId xmlns:a16="http://schemas.microsoft.com/office/drawing/2014/main" id="{30204CED-566A-4CFE-B263-6229FAC69C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981200"/>
            <a:ext cx="61722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a:extLst>
              <a:ext uri="{FF2B5EF4-FFF2-40B4-BE49-F238E27FC236}">
                <a16:creationId xmlns:a16="http://schemas.microsoft.com/office/drawing/2014/main" id="{DDA0DD14-5049-42E9-83A2-629FEC73622F}"/>
              </a:ext>
            </a:extLst>
          </p:cNvPr>
          <p:cNvSpPr>
            <a:spLocks noGrp="1"/>
          </p:cNvSpPr>
          <p:nvPr>
            <p:ph type="title"/>
          </p:nvPr>
        </p:nvSpPr>
        <p:spPr>
          <a:xfrm>
            <a:off x="457200" y="274638"/>
            <a:ext cx="8229600" cy="725487"/>
          </a:xfrm>
        </p:spPr>
        <p:txBody>
          <a:bodyPr/>
          <a:lstStyle/>
          <a:p>
            <a:pPr eaLnBrk="1" hangingPunct="1"/>
            <a:r>
              <a:rPr lang="en-US" altLang="zh-CN" dirty="0"/>
              <a:t>1.1  </a:t>
            </a:r>
            <a:r>
              <a:rPr lang="zh-CN" altLang="en-US" dirty="0"/>
              <a:t>连续时间与离散时间信号</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9EDCB6EC-95B8-48BC-AE46-BD36558A49AE}"/>
              </a:ext>
            </a:extLst>
          </p:cNvPr>
          <p:cNvSpPr>
            <a:spLocks noGrp="1"/>
          </p:cNvSpPr>
          <p:nvPr>
            <p:ph type="title"/>
          </p:nvPr>
        </p:nvSpPr>
        <p:spPr/>
        <p:txBody>
          <a:bodyPr/>
          <a:lstStyle/>
          <a:p>
            <a:pPr eaLnBrk="1" hangingPunct="1"/>
            <a:r>
              <a:rPr lang="en-US" altLang="zh-CN" dirty="0"/>
              <a:t>1.1  </a:t>
            </a:r>
            <a:r>
              <a:rPr lang="zh-CN" altLang="en-US" dirty="0"/>
              <a:t>连续时间与离散时间信号</a:t>
            </a:r>
          </a:p>
        </p:txBody>
      </p:sp>
      <p:sp>
        <p:nvSpPr>
          <p:cNvPr id="47107" name="内容占位符 2">
            <a:extLst>
              <a:ext uri="{FF2B5EF4-FFF2-40B4-BE49-F238E27FC236}">
                <a16:creationId xmlns:a16="http://schemas.microsoft.com/office/drawing/2014/main" id="{9F9FC8E5-94F3-4388-BA8F-E4D9CC4EA1A7}"/>
              </a:ext>
            </a:extLst>
          </p:cNvPr>
          <p:cNvSpPr>
            <a:spLocks noGrp="1"/>
          </p:cNvSpPr>
          <p:nvPr>
            <p:ph idx="1"/>
          </p:nvPr>
        </p:nvSpPr>
        <p:spPr>
          <a:xfrm>
            <a:off x="457200" y="1285875"/>
            <a:ext cx="8229600" cy="523220"/>
          </a:xfrm>
        </p:spPr>
        <p:txBody>
          <a:bodyPr>
            <a:spAutoFit/>
          </a:bodyPr>
          <a:lstStyle/>
          <a:p>
            <a:pPr eaLnBrk="1" hangingPunct="1"/>
            <a:r>
              <a:rPr lang="zh-CN" altLang="en-US" sz="2800" b="0" dirty="0"/>
              <a:t>信号可以分为确知信号与随机信号。</a:t>
            </a:r>
            <a:endParaRPr lang="en-US" altLang="zh-CN" sz="2800" b="0" dirty="0"/>
          </a:p>
        </p:txBody>
      </p:sp>
      <p:sp>
        <p:nvSpPr>
          <p:cNvPr id="4" name="灯片编号占位符 3">
            <a:extLst>
              <a:ext uri="{FF2B5EF4-FFF2-40B4-BE49-F238E27FC236}">
                <a16:creationId xmlns:a16="http://schemas.microsoft.com/office/drawing/2014/main" id="{0CD3A2B6-410C-436B-B819-20A536EFF8A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24DB852-FB67-42F5-A76D-15045772E45E}" type="slidenum">
              <a:rPr lang="zh-CN" altLang="en-US">
                <a:solidFill>
                  <a:srgbClr val="898989"/>
                </a:solidFill>
                <a:latin typeface="Calibri" panose="020F0502020204030204" pitchFamily="34" charset="0"/>
              </a:rPr>
              <a:pPr eaLnBrk="1" hangingPunct="1"/>
              <a:t>18</a:t>
            </a:fld>
            <a:endParaRPr lang="zh-CN" altLang="en-US">
              <a:solidFill>
                <a:srgbClr val="898989"/>
              </a:solidFill>
              <a:latin typeface="Calibri" panose="020F0502020204030204" pitchFamily="34" charset="0"/>
            </a:endParaRPr>
          </a:p>
        </p:txBody>
      </p:sp>
      <p:sp>
        <p:nvSpPr>
          <p:cNvPr id="8" name="文本框 7">
            <a:extLst>
              <a:ext uri="{FF2B5EF4-FFF2-40B4-BE49-F238E27FC236}">
                <a16:creationId xmlns:a16="http://schemas.microsoft.com/office/drawing/2014/main" id="{9BC332BA-939E-4156-AFA1-9C8C3B850C9C}"/>
              </a:ext>
            </a:extLst>
          </p:cNvPr>
          <p:cNvSpPr txBox="1"/>
          <p:nvPr/>
        </p:nvSpPr>
        <p:spPr>
          <a:xfrm>
            <a:off x="457200" y="5570076"/>
            <a:ext cx="8229600" cy="523220"/>
          </a:xfrm>
          <a:prstGeom prst="rect">
            <a:avLst/>
          </a:prstGeom>
          <a:noFill/>
        </p:spPr>
        <p:txBody>
          <a:bodyPr wrap="square">
            <a:spAutoFit/>
          </a:bodyPr>
          <a:lstStyle/>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zh-CN" altLang="en-US" sz="2800" b="0" i="0" u="none" strike="noStrike" kern="1200" cap="none" spc="0" normalizeH="0" baseline="0" noProof="0" dirty="0">
                <a:ln>
                  <a:noFill/>
                </a:ln>
                <a:solidFill>
                  <a:prstClr val="black"/>
                </a:solidFill>
                <a:effectLst/>
                <a:uLnTx/>
                <a:uFillTx/>
                <a:latin typeface="Times New Roman" pitchFamily="18" charset="0"/>
                <a:ea typeface="楷体" pitchFamily="49" charset="-122"/>
                <a:cs typeface="+mn-cs"/>
              </a:rPr>
              <a:t>本课程只研究</a:t>
            </a:r>
            <a:r>
              <a:rPr kumimoji="0" lang="zh-CN" altLang="en-US" sz="2800" b="0" i="0" u="none" strike="noStrike" kern="1200" cap="none" spc="0" normalizeH="0" baseline="0" noProof="0" dirty="0">
                <a:ln>
                  <a:noFill/>
                </a:ln>
                <a:solidFill>
                  <a:srgbClr val="FF0000"/>
                </a:solidFill>
                <a:effectLst/>
                <a:uLnTx/>
                <a:uFillTx/>
                <a:latin typeface="Times New Roman" pitchFamily="18" charset="0"/>
                <a:ea typeface="楷体" pitchFamily="49" charset="-122"/>
                <a:cs typeface="+mn-cs"/>
              </a:rPr>
              <a:t>确知信号</a:t>
            </a:r>
            <a:r>
              <a:rPr kumimoji="0" lang="zh-CN" altLang="en-US" sz="2800" b="0" i="0" u="none" strike="noStrike" kern="1200" cap="none" spc="0" normalizeH="0" baseline="0" noProof="0" dirty="0">
                <a:ln>
                  <a:noFill/>
                </a:ln>
                <a:solidFill>
                  <a:prstClr val="black"/>
                </a:solidFill>
                <a:effectLst/>
                <a:uLnTx/>
                <a:uFillTx/>
                <a:latin typeface="Times New Roman" pitchFamily="18" charset="0"/>
                <a:ea typeface="楷体" pitchFamily="49" charset="-122"/>
                <a:cs typeface="+mn-cs"/>
              </a:rPr>
              <a:t>。</a:t>
            </a:r>
            <a:endParaRPr kumimoji="0" lang="en-US" altLang="zh-CN" sz="2800" b="0" i="0" u="none" strike="noStrike" kern="1200" cap="none" spc="0" normalizeH="0" baseline="0" noProof="0" dirty="0">
              <a:ln>
                <a:noFill/>
              </a:ln>
              <a:solidFill>
                <a:prstClr val="black"/>
              </a:solidFill>
              <a:effectLst/>
              <a:uLnTx/>
              <a:uFillTx/>
              <a:latin typeface="Times New Roman" pitchFamily="18" charset="0"/>
              <a:ea typeface="楷体" pitchFamily="49" charset="-122"/>
              <a:cs typeface="+mn-cs"/>
            </a:endParaRPr>
          </a:p>
        </p:txBody>
      </p:sp>
      <p:pic>
        <p:nvPicPr>
          <p:cNvPr id="9" name="Picture 4">
            <a:extLst>
              <a:ext uri="{FF2B5EF4-FFF2-40B4-BE49-F238E27FC236}">
                <a16:creationId xmlns:a16="http://schemas.microsoft.com/office/drawing/2014/main" id="{7576251E-9088-4617-8592-C6D35FFAA2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2680" y="2132856"/>
            <a:ext cx="5915744" cy="306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a:extLst>
              <a:ext uri="{FF2B5EF4-FFF2-40B4-BE49-F238E27FC236}">
                <a16:creationId xmlns:a16="http://schemas.microsoft.com/office/drawing/2014/main" id="{C86F723F-D75C-4B82-9102-84EF3BEEA919}"/>
              </a:ext>
            </a:extLst>
          </p:cNvPr>
          <p:cNvSpPr txBox="1"/>
          <p:nvPr/>
        </p:nvSpPr>
        <p:spPr>
          <a:xfrm>
            <a:off x="733690" y="2462472"/>
            <a:ext cx="1637928" cy="523220"/>
          </a:xfrm>
          <a:prstGeom prst="rect">
            <a:avLst/>
          </a:prstGeom>
          <a:noFill/>
        </p:spPr>
        <p:txBody>
          <a:bodyPr wrap="square">
            <a:spAutoFit/>
          </a:bodyPr>
          <a:lstStyle/>
          <a:p>
            <a:r>
              <a:rPr kumimoji="0" lang="zh-CN" altLang="en-US" sz="2800" b="0" i="0" u="none" strike="noStrike" kern="1200" cap="none" spc="0" normalizeH="0" baseline="0" noProof="0" dirty="0">
                <a:ln>
                  <a:noFill/>
                </a:ln>
                <a:solidFill>
                  <a:srgbClr val="0000FF"/>
                </a:solidFill>
                <a:effectLst/>
                <a:uLnTx/>
                <a:uFillTx/>
                <a:latin typeface="Times New Roman" pitchFamily="18" charset="0"/>
                <a:ea typeface="楷体" pitchFamily="49" charset="-122"/>
                <a:cs typeface="+mn-cs"/>
              </a:rPr>
              <a:t>确知信号</a:t>
            </a:r>
            <a:endParaRPr lang="en-US" dirty="0">
              <a:solidFill>
                <a:srgbClr val="0000FF"/>
              </a:solidFill>
            </a:endParaRPr>
          </a:p>
        </p:txBody>
      </p:sp>
      <p:sp>
        <p:nvSpPr>
          <p:cNvPr id="14" name="文本框 13">
            <a:extLst>
              <a:ext uri="{FF2B5EF4-FFF2-40B4-BE49-F238E27FC236}">
                <a16:creationId xmlns:a16="http://schemas.microsoft.com/office/drawing/2014/main" id="{0123EDAA-1468-4390-BDDA-69A50A96EFC4}"/>
              </a:ext>
            </a:extLst>
          </p:cNvPr>
          <p:cNvSpPr txBox="1"/>
          <p:nvPr/>
        </p:nvSpPr>
        <p:spPr>
          <a:xfrm>
            <a:off x="733690" y="4123672"/>
            <a:ext cx="1637928" cy="523220"/>
          </a:xfrm>
          <a:prstGeom prst="rect">
            <a:avLst/>
          </a:prstGeom>
          <a:noFill/>
        </p:spPr>
        <p:txBody>
          <a:bodyPr wrap="square">
            <a:spAutoFit/>
          </a:bodyPr>
          <a:lstStyle/>
          <a:p>
            <a:r>
              <a:rPr kumimoji="0" lang="zh-CN" altLang="en-US" sz="2800" b="0" i="0" u="none" strike="noStrike" kern="1200" cap="none" spc="0" normalizeH="0" baseline="0" noProof="0" dirty="0">
                <a:ln>
                  <a:noFill/>
                </a:ln>
                <a:solidFill>
                  <a:srgbClr val="0000FF"/>
                </a:solidFill>
                <a:effectLst/>
                <a:uLnTx/>
                <a:uFillTx/>
                <a:latin typeface="Times New Roman" pitchFamily="18" charset="0"/>
                <a:ea typeface="楷体" pitchFamily="49" charset="-122"/>
                <a:cs typeface="+mn-cs"/>
              </a:rPr>
              <a:t>随机信号</a:t>
            </a:r>
            <a:endParaRPr lang="en-US" dirty="0">
              <a:solidFill>
                <a:srgbClr val="0000FF"/>
              </a:solidFill>
            </a:endParaRPr>
          </a:p>
        </p:txBody>
      </p:sp>
    </p:spTree>
    <p:extLst>
      <p:ext uri="{BB962C8B-B14F-4D97-AF65-F5344CB8AC3E}">
        <p14:creationId xmlns:p14="http://schemas.microsoft.com/office/powerpoint/2010/main" val="29074729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标题 1">
            <a:extLst>
              <a:ext uri="{FF2B5EF4-FFF2-40B4-BE49-F238E27FC236}">
                <a16:creationId xmlns:a16="http://schemas.microsoft.com/office/drawing/2014/main" id="{F2D0B650-6FD3-4C86-B4BB-681F65FEC21D}"/>
              </a:ext>
            </a:extLst>
          </p:cNvPr>
          <p:cNvSpPr>
            <a:spLocks noGrp="1"/>
          </p:cNvSpPr>
          <p:nvPr>
            <p:ph type="title"/>
          </p:nvPr>
        </p:nvSpPr>
        <p:spPr/>
        <p:txBody>
          <a:bodyPr/>
          <a:lstStyle/>
          <a:p>
            <a:pPr eaLnBrk="1" hangingPunct="1"/>
            <a:r>
              <a:rPr lang="en-US" altLang="zh-CN"/>
              <a:t>1.1  </a:t>
            </a:r>
            <a:r>
              <a:rPr lang="zh-CN" altLang="en-US"/>
              <a:t>连续时间与离散时间信号</a:t>
            </a:r>
          </a:p>
        </p:txBody>
      </p:sp>
      <mc:AlternateContent xmlns:mc="http://schemas.openxmlformats.org/markup-compatibility/2006" xmlns:a14="http://schemas.microsoft.com/office/drawing/2010/main">
        <mc:Choice Requires="a14">
          <p:sp>
            <p:nvSpPr>
              <p:cNvPr id="2055" name="内容占位符 2">
                <a:extLst>
                  <a:ext uri="{FF2B5EF4-FFF2-40B4-BE49-F238E27FC236}">
                    <a16:creationId xmlns:a16="http://schemas.microsoft.com/office/drawing/2014/main" id="{511581E8-E6EB-4227-83AF-11D2753F0BFC}"/>
                  </a:ext>
                </a:extLst>
              </p:cNvPr>
              <p:cNvSpPr>
                <a:spLocks noGrp="1"/>
              </p:cNvSpPr>
              <p:nvPr>
                <p:ph idx="1"/>
              </p:nvPr>
            </p:nvSpPr>
            <p:spPr>
              <a:xfrm>
                <a:off x="457200" y="1285875"/>
                <a:ext cx="8229600" cy="4794518"/>
              </a:xfrm>
            </p:spPr>
            <p:txBody>
              <a:bodyPr>
                <a:spAutoFit/>
              </a:bodyPr>
              <a:lstStyle/>
              <a:p>
                <a:pPr eaLnBrk="1" hangingPunct="1">
                  <a:lnSpc>
                    <a:spcPct val="130000"/>
                  </a:lnSpc>
                  <a:spcBef>
                    <a:spcPts val="0"/>
                  </a:spcBef>
                  <a:spcAft>
                    <a:spcPts val="600"/>
                  </a:spcAft>
                </a:pPr>
                <a:r>
                  <a:rPr lang="zh-CN" altLang="en-US" sz="2800" b="0" dirty="0"/>
                  <a:t>二</a:t>
                </a:r>
                <a:r>
                  <a:rPr lang="en-US" altLang="zh-CN" sz="2800" b="0" dirty="0"/>
                  <a:t>. </a:t>
                </a:r>
                <a:r>
                  <a:rPr lang="zh-CN" altLang="en-US" sz="2800" b="0" dirty="0"/>
                  <a:t>信号的能量与功率：</a:t>
                </a:r>
                <a:endParaRPr lang="en-US" altLang="zh-CN" sz="2800" b="0" dirty="0"/>
              </a:p>
              <a:p>
                <a:pPr eaLnBrk="1" hangingPunct="1">
                  <a:lnSpc>
                    <a:spcPct val="130000"/>
                  </a:lnSpc>
                  <a:spcBef>
                    <a:spcPts val="0"/>
                  </a:spcBef>
                  <a:spcAft>
                    <a:spcPts val="600"/>
                  </a:spcAft>
                </a:pPr>
                <a:r>
                  <a:rPr lang="zh-CN" altLang="en-US" sz="2800" b="0" dirty="0"/>
                  <a:t>连续时间信号</a:t>
                </a:r>
                <a14:m>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lang="zh-CN" altLang="en-US" sz="2800" b="0" dirty="0"/>
                  <a:t>在</a:t>
                </a:r>
                <a14:m>
                  <m:oMath xmlns:m="http://schemas.openxmlformats.org/officeDocument/2006/math">
                    <m:r>
                      <a:rPr lang="en-US" sz="2800" i="1" smtClean="0">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oMath>
                </a14:m>
                <a:r>
                  <a:rPr lang="zh-CN" altLang="en-US" sz="2800" b="0" dirty="0"/>
                  <a:t>区间的</a:t>
                </a:r>
                <a:r>
                  <a:rPr lang="zh-CN" altLang="en-US" sz="2800" dirty="0">
                    <a:solidFill>
                      <a:srgbClr val="FF0000"/>
                    </a:solidFill>
                  </a:rPr>
                  <a:t>能量</a:t>
                </a:r>
                <a:r>
                  <a:rPr lang="zh-CN" altLang="en-US" sz="2800" b="0" dirty="0"/>
                  <a:t>：</a:t>
                </a:r>
                <a:endParaRPr lang="en-US" altLang="zh-CN" sz="2800" b="0" dirty="0"/>
              </a:p>
              <a:p>
                <a:pPr marL="0" indent="0" eaLnBrk="1" hangingPunct="1">
                  <a:lnSpc>
                    <a:spcPct val="13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rPr>
                        <m:t>𝐸</m:t>
                      </m:r>
                      <m:r>
                        <a:rPr lang="en-US" sz="2800" i="1" smtClean="0">
                          <a:solidFill>
                            <a:srgbClr val="FF0000"/>
                          </a:solidFill>
                          <a:latin typeface="Cambria Math" panose="02040503050406030204" pitchFamily="18" charset="0"/>
                        </a:rPr>
                        <m:t>=</m:t>
                      </m:r>
                      <m:nary>
                        <m:naryPr>
                          <m:ctrlPr>
                            <a:rPr lang="en-US" sz="2800" i="1">
                              <a:solidFill>
                                <a:srgbClr val="FF0000"/>
                              </a:solidFill>
                              <a:latin typeface="Cambria Math" panose="02040503050406030204" pitchFamily="18" charset="0"/>
                            </a:rPr>
                          </m:ctrlPr>
                        </m:naryPr>
                        <m:sub>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1</m:t>
                              </m:r>
                            </m:sub>
                          </m:sSub>
                        </m:sub>
                        <m:sup>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2</m:t>
                              </m:r>
                            </m:sub>
                          </m:sSub>
                        </m:sup>
                        <m:e>
                          <m:sSup>
                            <m:sSupPr>
                              <m:ctrlPr>
                                <a:rPr lang="en-US" sz="2800" i="1">
                                  <a:solidFill>
                                    <a:srgbClr val="FF0000"/>
                                  </a:solidFill>
                                  <a:latin typeface="Cambria Math" panose="02040503050406030204" pitchFamily="18" charset="0"/>
                                </a:rPr>
                              </m:ctrlPr>
                            </m:sSupPr>
                            <m:e>
                              <m:d>
                                <m:dPr>
                                  <m:begChr m:val="|"/>
                                  <m:endChr m:val="|"/>
                                  <m:ctrlPr>
                                    <a:rPr lang="en-US" sz="2800" i="1">
                                      <a:solidFill>
                                        <a:srgbClr val="FF0000"/>
                                      </a:solidFill>
                                      <a:latin typeface="Cambria Math" panose="02040503050406030204" pitchFamily="18" charset="0"/>
                                    </a:rPr>
                                  </m:ctrlPr>
                                </m:dPr>
                                <m:e>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e>
                              </m:d>
                            </m:e>
                            <m:sup>
                              <m:r>
                                <a:rPr lang="en-US" sz="2800" i="1">
                                  <a:solidFill>
                                    <a:srgbClr val="FF0000"/>
                                  </a:solidFill>
                                  <a:latin typeface="Cambria Math" panose="02040503050406030204" pitchFamily="18" charset="0"/>
                                </a:rPr>
                                <m:t>2</m:t>
                              </m:r>
                            </m:sup>
                          </m:sSup>
                          <m:r>
                            <a:rPr lang="en-US" sz="2800" i="1">
                              <a:solidFill>
                                <a:srgbClr val="FF0000"/>
                              </a:solidFill>
                              <a:latin typeface="Cambria Math" panose="02040503050406030204" pitchFamily="18" charset="0"/>
                            </a:rPr>
                            <m:t>𝑑𝑡</m:t>
                          </m:r>
                        </m:e>
                      </m:nary>
                    </m:oMath>
                  </m:oMathPara>
                </a14:m>
                <a:endParaRPr lang="en-US" altLang="zh-CN" sz="2800" b="0" dirty="0">
                  <a:solidFill>
                    <a:srgbClr val="FF0000"/>
                  </a:solidFill>
                </a:endParaRPr>
              </a:p>
              <a:p>
                <a:pPr eaLnBrk="1" hangingPunct="1">
                  <a:lnSpc>
                    <a:spcPct val="130000"/>
                  </a:lnSpc>
                  <a:spcBef>
                    <a:spcPts val="0"/>
                  </a:spcBef>
                  <a:spcAft>
                    <a:spcPts val="600"/>
                  </a:spcAft>
                </a:pPr>
                <a:r>
                  <a:rPr lang="zh-CN" altLang="en-US" sz="2800" b="0" dirty="0"/>
                  <a:t>连续时间信号</a:t>
                </a:r>
                <a14:m>
                  <m:oMath xmlns:m="http://schemas.openxmlformats.org/officeDocument/2006/math">
                    <m:r>
                      <a:rPr lang="en-US" sz="2800" i="1" smtClean="0">
                        <a:solidFill>
                          <a:srgbClr val="000000"/>
                        </a:solidFill>
                        <a:latin typeface="Cambria Math" panose="02040503050406030204" pitchFamily="18" charset="0"/>
                      </a:rPr>
                      <m:t>𝑥</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oMath>
                </a14:m>
                <a:r>
                  <a:rPr lang="zh-CN" altLang="en-US" sz="2800" b="0" dirty="0"/>
                  <a:t>在</a:t>
                </a:r>
                <a14:m>
                  <m:oMath xmlns:m="http://schemas.openxmlformats.org/officeDocument/2006/math">
                    <m:r>
                      <a:rPr lang="en-US" sz="2800" i="1" smtClean="0">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oMath>
                </a14:m>
                <a:r>
                  <a:rPr lang="zh-CN" altLang="en-US" sz="2800" b="0" dirty="0"/>
                  <a:t>上的</a:t>
                </a:r>
                <a:r>
                  <a:rPr lang="zh-CN" altLang="en-US" sz="2800" dirty="0">
                    <a:solidFill>
                      <a:srgbClr val="FF0000"/>
                    </a:solidFill>
                  </a:rPr>
                  <a:t>平均功率</a:t>
                </a:r>
                <a:r>
                  <a:rPr lang="zh-CN" altLang="en-US" sz="2800" b="0" dirty="0"/>
                  <a:t>：</a:t>
                </a:r>
                <a:endParaRPr lang="en-US" altLang="zh-CN" sz="2800" b="0" dirty="0"/>
              </a:p>
              <a:p>
                <a:pPr marL="0" indent="0" eaLnBrk="1" hangingPunct="1">
                  <a:lnSpc>
                    <a:spcPct val="13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rPr>
                        <m:t>𝑃</m:t>
                      </m:r>
                      <m:r>
                        <a:rPr lang="en-US" sz="2800" i="1" smtClean="0">
                          <a:solidFill>
                            <a:srgbClr val="FF0000"/>
                          </a:solidFill>
                          <a:latin typeface="Cambria Math" panose="02040503050406030204" pitchFamily="18" charset="0"/>
                        </a:rPr>
                        <m:t>=</m:t>
                      </m:r>
                      <m:f>
                        <m:fPr>
                          <m:ctrlPr>
                            <a:rPr lang="en-US" sz="2800" i="1">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1</m:t>
                          </m:r>
                        </m:num>
                        <m:den>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1</m:t>
                              </m:r>
                            </m:sub>
                          </m:sSub>
                        </m:den>
                      </m:f>
                      <m:nary>
                        <m:naryPr>
                          <m:ctrlPr>
                            <a:rPr lang="en-US" sz="2800" i="1">
                              <a:solidFill>
                                <a:srgbClr val="FF0000"/>
                              </a:solidFill>
                              <a:latin typeface="Cambria Math" panose="02040503050406030204" pitchFamily="18" charset="0"/>
                            </a:rPr>
                          </m:ctrlPr>
                        </m:naryPr>
                        <m:sub>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1</m:t>
                              </m:r>
                            </m:sub>
                          </m:sSub>
                        </m:sub>
                        <m:sup>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2</m:t>
                              </m:r>
                            </m:sub>
                          </m:sSub>
                        </m:sup>
                        <m:e>
                          <m:sSup>
                            <m:sSupPr>
                              <m:ctrlPr>
                                <a:rPr lang="en-US" sz="2800" i="1">
                                  <a:solidFill>
                                    <a:srgbClr val="FF0000"/>
                                  </a:solidFill>
                                  <a:latin typeface="Cambria Math" panose="02040503050406030204" pitchFamily="18" charset="0"/>
                                </a:rPr>
                              </m:ctrlPr>
                            </m:sSupPr>
                            <m:e>
                              <m:d>
                                <m:dPr>
                                  <m:begChr m:val="|"/>
                                  <m:endChr m:val="|"/>
                                  <m:ctrlPr>
                                    <a:rPr lang="en-US" sz="2800" i="1">
                                      <a:solidFill>
                                        <a:srgbClr val="FF0000"/>
                                      </a:solidFill>
                                      <a:latin typeface="Cambria Math" panose="02040503050406030204" pitchFamily="18" charset="0"/>
                                    </a:rPr>
                                  </m:ctrlPr>
                                </m:dPr>
                                <m:e>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e>
                              </m:d>
                            </m:e>
                            <m:sup>
                              <m:r>
                                <a:rPr lang="en-US" sz="2800" i="1">
                                  <a:solidFill>
                                    <a:srgbClr val="FF0000"/>
                                  </a:solidFill>
                                  <a:latin typeface="Cambria Math" panose="02040503050406030204" pitchFamily="18" charset="0"/>
                                </a:rPr>
                                <m:t>2</m:t>
                              </m:r>
                            </m:sup>
                          </m:sSup>
                          <m:r>
                            <a:rPr lang="en-US" sz="2800" i="1">
                              <a:solidFill>
                                <a:srgbClr val="FF0000"/>
                              </a:solidFill>
                              <a:latin typeface="Cambria Math" panose="02040503050406030204" pitchFamily="18" charset="0"/>
                            </a:rPr>
                            <m:t>𝑑𝑡</m:t>
                          </m:r>
                        </m:e>
                      </m:nary>
                    </m:oMath>
                  </m:oMathPara>
                </a14:m>
                <a:endParaRPr lang="zh-CN" altLang="en-US" sz="2800" b="0" dirty="0">
                  <a:solidFill>
                    <a:srgbClr val="FF0000"/>
                  </a:solidFill>
                </a:endParaRPr>
              </a:p>
            </p:txBody>
          </p:sp>
        </mc:Choice>
        <mc:Fallback xmlns="">
          <p:sp>
            <p:nvSpPr>
              <p:cNvPr id="2055" name="内容占位符 2">
                <a:extLst>
                  <a:ext uri="{FF2B5EF4-FFF2-40B4-BE49-F238E27FC236}">
                    <a16:creationId xmlns:a16="http://schemas.microsoft.com/office/drawing/2014/main" id="{511581E8-E6EB-4227-83AF-11D2753F0BFC}"/>
                  </a:ext>
                </a:extLst>
              </p:cNvPr>
              <p:cNvSpPr>
                <a:spLocks noGrp="1" noRot="1" noChangeAspect="1" noMove="1" noResize="1" noEditPoints="1" noAdjustHandles="1" noChangeArrowheads="1" noChangeShapeType="1" noTextEdit="1"/>
              </p:cNvSpPr>
              <p:nvPr>
                <p:ph idx="1"/>
              </p:nvPr>
            </p:nvSpPr>
            <p:spPr>
              <a:xfrm>
                <a:off x="457200" y="1285875"/>
                <a:ext cx="8229600" cy="4794518"/>
              </a:xfrm>
              <a:blipFill>
                <a:blip r:embed="rId2"/>
                <a:stretch>
                  <a:fillRect l="-1333" t="-382"/>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831C2FA0-6659-4443-B982-E0F3987DB5A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02B35D0-AC45-4C70-85C8-62329B9ACB61}" type="slidenum">
              <a:rPr lang="zh-CN" altLang="en-US">
                <a:solidFill>
                  <a:srgbClr val="898989"/>
                </a:solidFill>
                <a:latin typeface="Calibri" panose="020F0502020204030204" pitchFamily="34" charset="0"/>
              </a:rPr>
              <a:pPr eaLnBrk="1" hangingPunct="1"/>
              <a:t>19</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 name="标题 1">
            <a:extLst>
              <a:ext uri="{FF2B5EF4-FFF2-40B4-BE49-F238E27FC236}">
                <a16:creationId xmlns:a16="http://schemas.microsoft.com/office/drawing/2014/main" id="{DAC43322-CD1B-4908-865E-08AF7544A3B9}"/>
              </a:ext>
            </a:extLst>
          </p:cNvPr>
          <p:cNvSpPr>
            <a:spLocks noGrp="1"/>
          </p:cNvSpPr>
          <p:nvPr>
            <p:ph type="title"/>
          </p:nvPr>
        </p:nvSpPr>
        <p:spPr/>
        <p:txBody>
          <a:bodyPr/>
          <a:lstStyle/>
          <a:p>
            <a:pPr eaLnBrk="1" hangingPunct="1"/>
            <a:r>
              <a:rPr lang="en-US" altLang="zh-CN"/>
              <a:t>1.1  </a:t>
            </a:r>
            <a:r>
              <a:rPr lang="zh-CN" altLang="en-US"/>
              <a:t>连续时间与离散时间信号</a:t>
            </a:r>
          </a:p>
        </p:txBody>
      </p:sp>
      <mc:AlternateContent xmlns:mc="http://schemas.openxmlformats.org/markup-compatibility/2006" xmlns:a14="http://schemas.microsoft.com/office/drawing/2010/main">
        <mc:Choice Requires="a14">
          <p:sp>
            <p:nvSpPr>
              <p:cNvPr id="3080" name="内容占位符 2">
                <a:extLst>
                  <a:ext uri="{FF2B5EF4-FFF2-40B4-BE49-F238E27FC236}">
                    <a16:creationId xmlns:a16="http://schemas.microsoft.com/office/drawing/2014/main" id="{84987B48-22E9-47F9-AFBE-09812073C85B}"/>
                  </a:ext>
                </a:extLst>
              </p:cNvPr>
              <p:cNvSpPr>
                <a:spLocks noGrp="1"/>
              </p:cNvSpPr>
              <p:nvPr>
                <p:ph idx="1"/>
              </p:nvPr>
            </p:nvSpPr>
            <p:spPr/>
            <p:txBody>
              <a:bodyPr>
                <a:spAutoFit/>
              </a:bodyPr>
              <a:lstStyle/>
              <a:p>
                <a:pPr eaLnBrk="1" hangingPunct="1">
                  <a:lnSpc>
                    <a:spcPct val="130000"/>
                  </a:lnSpc>
                  <a:spcBef>
                    <a:spcPts val="0"/>
                  </a:spcBef>
                  <a:spcAft>
                    <a:spcPts val="600"/>
                  </a:spcAft>
                </a:pPr>
                <a:r>
                  <a:rPr lang="zh-CN" altLang="en-US" sz="2800" b="0" dirty="0"/>
                  <a:t>离散时间信号在</a:t>
                </a:r>
                <a14:m>
                  <m:oMath xmlns:m="http://schemas.openxmlformats.org/officeDocument/2006/math">
                    <m:r>
                      <a:rPr lang="en-US" sz="2800" i="1" smtClean="0">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𝑛</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𝑛</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oMath>
                </a14:m>
                <a:r>
                  <a:rPr lang="zh-CN" altLang="en-US" sz="2800" b="0" dirty="0"/>
                  <a:t>区间的</a:t>
                </a:r>
                <a:r>
                  <a:rPr lang="zh-CN" altLang="en-US" sz="2800" dirty="0">
                    <a:solidFill>
                      <a:srgbClr val="FF0000"/>
                    </a:solidFill>
                  </a:rPr>
                  <a:t>能量</a:t>
                </a:r>
                <a:r>
                  <a:rPr lang="zh-CN" altLang="en-US" sz="2800" b="0" dirty="0"/>
                  <a:t>：</a:t>
                </a:r>
                <a:endParaRPr lang="en-US" altLang="zh-CN" sz="2800" b="0" dirty="0"/>
              </a:p>
              <a:p>
                <a:pPr marL="0" indent="0" eaLnBrk="1" hangingPunct="1">
                  <a:lnSpc>
                    <a:spcPct val="13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rPr>
                        <m:t>𝐸</m:t>
                      </m:r>
                      <m:r>
                        <a:rPr lang="en-US" sz="2800" i="1" smtClean="0">
                          <a:solidFill>
                            <a:srgbClr val="FF0000"/>
                          </a:solidFill>
                          <a:latin typeface="Cambria Math" panose="02040503050406030204" pitchFamily="18" charset="0"/>
                        </a:rPr>
                        <m:t>=</m:t>
                      </m:r>
                      <m:nary>
                        <m:naryPr>
                          <m:chr m:val="∑"/>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𝑛</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𝑛</m:t>
                              </m:r>
                            </m:e>
                            <m:sub>
                              <m:r>
                                <a:rPr lang="en-US" sz="2800" i="1">
                                  <a:solidFill>
                                    <a:srgbClr val="FF0000"/>
                                  </a:solidFill>
                                  <a:latin typeface="Cambria Math" panose="02040503050406030204" pitchFamily="18" charset="0"/>
                                </a:rPr>
                                <m:t>1</m:t>
                              </m:r>
                            </m:sub>
                          </m:sSub>
                        </m:sub>
                        <m:sup>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𝑛</m:t>
                              </m:r>
                            </m:e>
                            <m:sub>
                              <m:r>
                                <a:rPr lang="en-US" sz="2800" i="1">
                                  <a:solidFill>
                                    <a:srgbClr val="FF0000"/>
                                  </a:solidFill>
                                  <a:latin typeface="Cambria Math" panose="02040503050406030204" pitchFamily="18" charset="0"/>
                                </a:rPr>
                                <m:t>2</m:t>
                              </m:r>
                            </m:sub>
                          </m:sSub>
                        </m:sup>
                        <m:e>
                          <m:sSup>
                            <m:sSupPr>
                              <m:ctrlPr>
                                <a:rPr lang="en-US" sz="2800" i="1">
                                  <a:solidFill>
                                    <a:srgbClr val="FF0000"/>
                                  </a:solidFill>
                                  <a:latin typeface="Cambria Math" panose="02040503050406030204" pitchFamily="18" charset="0"/>
                                </a:rPr>
                              </m:ctrlPr>
                            </m:sSupPr>
                            <m:e>
                              <m:d>
                                <m:dPr>
                                  <m:begChr m:val="|"/>
                                  <m:endChr m:val="|"/>
                                  <m:ctrlPr>
                                    <a:rPr lang="en-US" sz="2800" i="1">
                                      <a:solidFill>
                                        <a:srgbClr val="FF0000"/>
                                      </a:solidFill>
                                      <a:latin typeface="Cambria Math" panose="02040503050406030204" pitchFamily="18" charset="0"/>
                                    </a:rPr>
                                  </m:ctrlPr>
                                </m:dPr>
                                <m:e>
                                  <m:r>
                                    <a:rPr lang="en-US" sz="2800" i="1">
                                      <a:solidFill>
                                        <a:srgbClr val="FF0000"/>
                                      </a:solidFill>
                                      <a:latin typeface="Cambria Math" panose="02040503050406030204" pitchFamily="18" charset="0"/>
                                    </a:rPr>
                                    <m:t>𝑥</m:t>
                                  </m:r>
                                  <m:r>
                                    <a:rPr lang="en-US" sz="2800" b="1" i="1" smtClean="0">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𝑛</m:t>
                                  </m:r>
                                  <m:r>
                                    <a:rPr lang="en-US" sz="2800" b="1" i="1" smtClean="0">
                                      <a:solidFill>
                                        <a:srgbClr val="FF0000"/>
                                      </a:solidFill>
                                      <a:latin typeface="Cambria Math" panose="02040503050406030204" pitchFamily="18" charset="0"/>
                                    </a:rPr>
                                    <m:t>]</m:t>
                                  </m:r>
                                </m:e>
                              </m:d>
                            </m:e>
                            <m:sup>
                              <m:r>
                                <a:rPr lang="en-US" sz="2800" i="1">
                                  <a:solidFill>
                                    <a:srgbClr val="FF0000"/>
                                  </a:solidFill>
                                  <a:latin typeface="Cambria Math" panose="02040503050406030204" pitchFamily="18" charset="0"/>
                                </a:rPr>
                                <m:t>2</m:t>
                              </m:r>
                            </m:sup>
                          </m:sSup>
                        </m:e>
                      </m:nary>
                    </m:oMath>
                  </m:oMathPara>
                </a14:m>
                <a:endParaRPr lang="en-US" altLang="zh-CN" sz="2800" b="0" dirty="0"/>
              </a:p>
              <a:p>
                <a:pPr eaLnBrk="1" hangingPunct="1">
                  <a:lnSpc>
                    <a:spcPct val="130000"/>
                  </a:lnSpc>
                  <a:spcBef>
                    <a:spcPts val="0"/>
                  </a:spcBef>
                  <a:spcAft>
                    <a:spcPts val="600"/>
                  </a:spcAft>
                </a:pPr>
                <a:r>
                  <a:rPr lang="zh-CN" altLang="en-US" sz="2800" b="0" dirty="0"/>
                  <a:t>离散时间信号在</a:t>
                </a:r>
                <a14:m>
                  <m:oMath xmlns:m="http://schemas.openxmlformats.org/officeDocument/2006/math">
                    <m:r>
                      <a:rPr lang="en-US" sz="2800" i="1" smtClean="0">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𝑛</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𝑛</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oMath>
                </a14:m>
                <a:r>
                  <a:rPr lang="zh-CN" altLang="en-US" sz="2800" b="0" dirty="0"/>
                  <a:t>区间的</a:t>
                </a:r>
                <a:r>
                  <a:rPr lang="zh-CN" altLang="en-US" sz="2800" dirty="0">
                    <a:solidFill>
                      <a:srgbClr val="FF0000"/>
                    </a:solidFill>
                  </a:rPr>
                  <a:t>平均功率</a:t>
                </a:r>
                <a:r>
                  <a:rPr lang="zh-CN" altLang="en-US" sz="2800" b="0" dirty="0"/>
                  <a:t>：</a:t>
                </a:r>
              </a:p>
              <a:p>
                <a:pPr marL="0" indent="0" eaLnBrk="1" hangingPunct="1">
                  <a:lnSpc>
                    <a:spcPct val="13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rPr>
                        <m:t>𝑃</m:t>
                      </m:r>
                      <m:r>
                        <a:rPr lang="en-US" sz="2800" i="1" smtClean="0">
                          <a:solidFill>
                            <a:srgbClr val="FF0000"/>
                          </a:solidFill>
                          <a:latin typeface="Cambria Math" panose="02040503050406030204" pitchFamily="18" charset="0"/>
                        </a:rPr>
                        <m:t>=</m:t>
                      </m:r>
                      <m:f>
                        <m:fPr>
                          <m:ctrlPr>
                            <a:rPr lang="en-US" sz="2800" i="1">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1</m:t>
                          </m:r>
                        </m:num>
                        <m:den>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𝑛</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𝑛</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+1</m:t>
                          </m:r>
                        </m:den>
                      </m:f>
                      <m:nary>
                        <m:naryPr>
                          <m:chr m:val="∑"/>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𝑛</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𝑛</m:t>
                              </m:r>
                            </m:e>
                            <m:sub>
                              <m:r>
                                <a:rPr lang="en-US" sz="2800" i="1">
                                  <a:solidFill>
                                    <a:srgbClr val="FF0000"/>
                                  </a:solidFill>
                                  <a:latin typeface="Cambria Math" panose="02040503050406030204" pitchFamily="18" charset="0"/>
                                </a:rPr>
                                <m:t>1</m:t>
                              </m:r>
                            </m:sub>
                          </m:sSub>
                        </m:sub>
                        <m:sup>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𝑛</m:t>
                              </m:r>
                            </m:e>
                            <m:sub>
                              <m:r>
                                <a:rPr lang="en-US" sz="2800" i="1">
                                  <a:solidFill>
                                    <a:srgbClr val="FF0000"/>
                                  </a:solidFill>
                                  <a:latin typeface="Cambria Math" panose="02040503050406030204" pitchFamily="18" charset="0"/>
                                </a:rPr>
                                <m:t>2</m:t>
                              </m:r>
                            </m:sub>
                          </m:sSub>
                        </m:sup>
                        <m:e>
                          <m:sSup>
                            <m:sSupPr>
                              <m:ctrlPr>
                                <a:rPr lang="en-US" sz="2800" i="1">
                                  <a:solidFill>
                                    <a:srgbClr val="FF0000"/>
                                  </a:solidFill>
                                  <a:latin typeface="Cambria Math" panose="02040503050406030204" pitchFamily="18" charset="0"/>
                                </a:rPr>
                              </m:ctrlPr>
                            </m:sSupPr>
                            <m:e>
                              <m:d>
                                <m:dPr>
                                  <m:begChr m:val="|"/>
                                  <m:endChr m:val="|"/>
                                  <m:ctrlPr>
                                    <a:rPr lang="en-US" sz="2800" i="1">
                                      <a:solidFill>
                                        <a:srgbClr val="FF0000"/>
                                      </a:solidFill>
                                      <a:latin typeface="Cambria Math" panose="02040503050406030204" pitchFamily="18" charset="0"/>
                                    </a:rPr>
                                  </m:ctrlPr>
                                </m:dPr>
                                <m:e>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𝑛</m:t>
                                  </m:r>
                                  <m:r>
                                    <a:rPr lang="en-US" sz="2800" i="1">
                                      <a:solidFill>
                                        <a:srgbClr val="FF0000"/>
                                      </a:solidFill>
                                      <a:latin typeface="Cambria Math" panose="02040503050406030204" pitchFamily="18" charset="0"/>
                                    </a:rPr>
                                    <m:t>]</m:t>
                                  </m:r>
                                </m:e>
                              </m:d>
                            </m:e>
                            <m:sup>
                              <m:r>
                                <a:rPr lang="en-US" sz="2800" i="1">
                                  <a:solidFill>
                                    <a:srgbClr val="FF0000"/>
                                  </a:solidFill>
                                  <a:latin typeface="Cambria Math" panose="02040503050406030204" pitchFamily="18" charset="0"/>
                                </a:rPr>
                                <m:t>2</m:t>
                              </m:r>
                            </m:sup>
                          </m:sSup>
                        </m:e>
                      </m:nary>
                    </m:oMath>
                  </m:oMathPara>
                </a14:m>
                <a:endParaRPr lang="en-US" altLang="zh-CN" sz="2800" b="0" dirty="0"/>
              </a:p>
            </p:txBody>
          </p:sp>
        </mc:Choice>
        <mc:Fallback xmlns="">
          <p:sp>
            <p:nvSpPr>
              <p:cNvPr id="3080" name="内容占位符 2">
                <a:extLst>
                  <a:ext uri="{FF2B5EF4-FFF2-40B4-BE49-F238E27FC236}">
                    <a16:creationId xmlns:a16="http://schemas.microsoft.com/office/drawing/2014/main" id="{84987B48-22E9-47F9-AFBE-09812073C85B}"/>
                  </a:ext>
                </a:extLst>
              </p:cNvPr>
              <p:cNvSpPr>
                <a:spLocks noGrp="1" noRot="1" noChangeAspect="1" noMove="1" noResize="1" noEditPoints="1" noAdjustHandles="1" noChangeArrowheads="1" noChangeShapeType="1" noTextEdit="1"/>
              </p:cNvSpPr>
              <p:nvPr>
                <p:ph idx="1"/>
              </p:nvPr>
            </p:nvSpPr>
            <p:spPr>
              <a:blipFill>
                <a:blip r:embed="rId2"/>
                <a:stretch>
                  <a:fillRect l="-1333" t="-378"/>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234A4848-281D-47C9-BE4C-83C1ED98AB2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548B232-6F12-4499-B9BD-5712347CE7DF}" type="slidenum">
              <a:rPr lang="zh-CN" altLang="en-US">
                <a:solidFill>
                  <a:srgbClr val="898989"/>
                </a:solidFill>
                <a:latin typeface="Calibri" panose="020F0502020204030204" pitchFamily="34" charset="0"/>
              </a:rPr>
              <a:pPr eaLnBrk="1" hangingPunct="1"/>
              <a:t>20</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标题 1">
            <a:extLst>
              <a:ext uri="{FF2B5EF4-FFF2-40B4-BE49-F238E27FC236}">
                <a16:creationId xmlns:a16="http://schemas.microsoft.com/office/drawing/2014/main" id="{D9570D32-2D1B-4001-BA43-ECCA723621AB}"/>
              </a:ext>
            </a:extLst>
          </p:cNvPr>
          <p:cNvSpPr>
            <a:spLocks noGrp="1"/>
          </p:cNvSpPr>
          <p:nvPr>
            <p:ph type="title"/>
          </p:nvPr>
        </p:nvSpPr>
        <p:spPr/>
        <p:txBody>
          <a:bodyPr/>
          <a:lstStyle/>
          <a:p>
            <a:pPr eaLnBrk="1" hangingPunct="1"/>
            <a:r>
              <a:rPr lang="en-US" altLang="zh-CN"/>
              <a:t>1.1  </a:t>
            </a:r>
            <a:r>
              <a:rPr lang="zh-CN" altLang="en-US"/>
              <a:t>连续时间与离散时间信号</a:t>
            </a:r>
          </a:p>
        </p:txBody>
      </p:sp>
      <mc:AlternateContent xmlns:mc="http://schemas.openxmlformats.org/markup-compatibility/2006" xmlns:a14="http://schemas.microsoft.com/office/drawing/2010/main">
        <mc:Choice Requires="a14">
          <p:sp>
            <p:nvSpPr>
              <p:cNvPr id="4102" name="内容占位符 2">
                <a:extLst>
                  <a:ext uri="{FF2B5EF4-FFF2-40B4-BE49-F238E27FC236}">
                    <a16:creationId xmlns:a16="http://schemas.microsoft.com/office/drawing/2014/main" id="{14746F97-4B76-43EB-81A5-9962CE9EC287}"/>
                  </a:ext>
                </a:extLst>
              </p:cNvPr>
              <p:cNvSpPr>
                <a:spLocks noGrp="1"/>
              </p:cNvSpPr>
              <p:nvPr>
                <p:ph idx="1"/>
              </p:nvPr>
            </p:nvSpPr>
            <p:spPr>
              <a:xfrm>
                <a:off x="457200" y="1285875"/>
                <a:ext cx="8229600" cy="5399299"/>
              </a:xfrm>
            </p:spPr>
            <p:txBody>
              <a:bodyPr>
                <a:spAutoFit/>
              </a:bodyPr>
              <a:lstStyle/>
              <a:p>
                <a:pPr marL="342900" marR="0" lvl="0" indent="-342900" algn="l" defTabSz="914400" rtl="0" eaLnBrk="1" fontAlgn="base" latinLnBrk="0" hangingPunct="1">
                  <a:spcBef>
                    <a:spcPts val="0"/>
                  </a:spcBef>
                  <a:spcAft>
                    <a:spcPts val="600"/>
                  </a:spcAft>
                  <a:buClrTx/>
                  <a:buSzTx/>
                  <a:buFont typeface="Arial" panose="020B0604020202020204" pitchFamily="34" charset="0"/>
                  <a:buChar char="•"/>
                  <a:tabLst/>
                  <a:defRPr/>
                </a:pPr>
                <a:r>
                  <a:rPr kumimoji="0" lang="zh-CN" altLang="en-US" sz="2600" b="0" i="0" u="none" strike="noStrike" kern="1200" cap="none" spc="0" normalizeH="0" baseline="0" noProof="0" dirty="0">
                    <a:ln>
                      <a:noFill/>
                    </a:ln>
                    <a:solidFill>
                      <a:srgbClr val="FF0000"/>
                    </a:solidFill>
                    <a:effectLst/>
                    <a:uLnTx/>
                    <a:uFillTx/>
                    <a:latin typeface="Times New Roman" pitchFamily="18" charset="0"/>
                    <a:ea typeface="楷体" pitchFamily="49" charset="-122"/>
                    <a:cs typeface="+mn-cs"/>
                  </a:rPr>
                  <a:t>无限区间</a:t>
                </a:r>
                <a:r>
                  <a:rPr kumimoji="0" lang="zh-CN" altLang="en-US" sz="2600" b="0" i="0" u="none" strike="noStrike" kern="1200" cap="none" spc="0" normalizeH="0" baseline="0" noProof="0" dirty="0">
                    <a:ln>
                      <a:noFill/>
                    </a:ln>
                    <a:solidFill>
                      <a:prstClr val="black"/>
                    </a:solidFill>
                    <a:effectLst/>
                    <a:uLnTx/>
                    <a:uFillTx/>
                    <a:latin typeface="Times New Roman" pitchFamily="18" charset="0"/>
                    <a:ea typeface="楷体" pitchFamily="49" charset="-122"/>
                    <a:cs typeface="+mn-cs"/>
                  </a:rPr>
                  <a:t>上的信号总能量：</a:t>
                </a:r>
                <a:endParaRPr kumimoji="0" lang="en-US" altLang="zh-CN" sz="2600" b="0" i="0" u="none" strike="noStrike" kern="1200" cap="none" spc="0" normalizeH="0" baseline="0" noProof="0" dirty="0">
                  <a:ln>
                    <a:noFill/>
                  </a:ln>
                  <a:solidFill>
                    <a:prstClr val="black"/>
                  </a:solidFill>
                  <a:effectLst/>
                  <a:uLnTx/>
                  <a:uFillTx/>
                  <a:latin typeface="Times New Roman" pitchFamily="18" charset="0"/>
                  <a:ea typeface="楷体" pitchFamily="49" charset="-122"/>
                  <a:cs typeface="+mn-cs"/>
                </a:endParaRPr>
              </a:p>
              <a:p>
                <a:pPr marL="457200" lvl="1" indent="0" eaLnBrk="1" hangingPunct="1">
                  <a:spcBef>
                    <a:spcPts val="0"/>
                  </a:spcBef>
                  <a:spcAft>
                    <a:spcPts val="600"/>
                  </a:spcAft>
                  <a:buNone/>
                </a:pPr>
                <a14:m>
                  <m:oMathPara xmlns:m="http://schemas.openxmlformats.org/officeDocument/2006/math">
                    <m:oMathParaPr>
                      <m:jc m:val="centerGroup"/>
                    </m:oMathParaPr>
                    <m:oMath xmlns:m="http://schemas.openxmlformats.org/officeDocument/2006/math">
                      <m:sSub>
                        <m:sSubPr>
                          <m:ctrlPr>
                            <a:rPr lang="en-US" sz="2600" i="1" smtClean="0">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𝐸</m:t>
                          </m:r>
                        </m:e>
                        <m:sub>
                          <m:r>
                            <a:rPr lang="en-US" sz="2600" i="0">
                              <a:solidFill>
                                <a:srgbClr val="FF0000"/>
                              </a:solidFill>
                              <a:latin typeface="Cambria Math" panose="02040503050406030204" pitchFamily="18" charset="0"/>
                            </a:rPr>
                            <m:t>∞</m:t>
                          </m:r>
                        </m:sub>
                      </m:sSub>
                      <m:r>
                        <a:rPr lang="en-US" sz="2600" i="0">
                          <a:latin typeface="Cambria Math" panose="02040503050406030204" pitchFamily="18" charset="0"/>
                        </a:rPr>
                        <m:t>=</m:t>
                      </m:r>
                      <m:limLow>
                        <m:limLowPr>
                          <m:ctrlPr>
                            <a:rPr lang="en-US" sz="2600" i="1">
                              <a:solidFill>
                                <a:srgbClr val="836967"/>
                              </a:solidFill>
                              <a:latin typeface="Cambria Math" panose="02040503050406030204" pitchFamily="18" charset="0"/>
                            </a:rPr>
                          </m:ctrlPr>
                        </m:limLowPr>
                        <m:e>
                          <m:r>
                            <m:rPr>
                              <m:sty m:val="p"/>
                            </m:rPr>
                            <a:rPr lang="en-US" sz="2600" i="0">
                              <a:latin typeface="Cambria Math" panose="02040503050406030204" pitchFamily="18" charset="0"/>
                            </a:rPr>
                            <m:t>lim</m:t>
                          </m:r>
                        </m:e>
                        <m:lim>
                          <m:r>
                            <a:rPr lang="en-US" sz="2600" i="1">
                              <a:latin typeface="Cambria Math" panose="02040503050406030204" pitchFamily="18" charset="0"/>
                            </a:rPr>
                            <m:t>𝑇</m:t>
                          </m:r>
                          <m:r>
                            <a:rPr lang="en-US" sz="2600" i="0">
                              <a:latin typeface="Cambria Math" panose="02040503050406030204" pitchFamily="18" charset="0"/>
                            </a:rPr>
                            <m:t>→∞</m:t>
                          </m:r>
                        </m:lim>
                      </m:limLow>
                      <m:nary>
                        <m:naryPr>
                          <m:limLoc m:val="subSup"/>
                          <m:grow m:val="on"/>
                          <m:ctrlPr>
                            <a:rPr lang="en-US" sz="2600" i="1">
                              <a:latin typeface="Cambria Math" panose="02040503050406030204" pitchFamily="18" charset="0"/>
                            </a:rPr>
                          </m:ctrlPr>
                        </m:naryPr>
                        <m:sub>
                          <m:r>
                            <a:rPr lang="en-US" sz="2600" i="0">
                              <a:latin typeface="Cambria Math" panose="02040503050406030204" pitchFamily="18" charset="0"/>
                            </a:rPr>
                            <m:t>−</m:t>
                          </m:r>
                          <m:r>
                            <a:rPr lang="en-US" sz="2600" i="1">
                              <a:latin typeface="Cambria Math" panose="02040503050406030204" pitchFamily="18" charset="0"/>
                            </a:rPr>
                            <m:t>𝑇</m:t>
                          </m:r>
                        </m:sub>
                        <m:sup>
                          <m:r>
                            <a:rPr lang="en-US" sz="2600" i="1">
                              <a:latin typeface="Cambria Math" panose="02040503050406030204" pitchFamily="18" charset="0"/>
                            </a:rPr>
                            <m:t>𝑇</m:t>
                          </m:r>
                        </m:sup>
                        <m:e>
                          <m:sSup>
                            <m:sSupPr>
                              <m:ctrlPr>
                                <a:rPr lang="en-US" sz="2600" i="1">
                                  <a:solidFill>
                                    <a:srgbClr val="836967"/>
                                  </a:solidFill>
                                  <a:latin typeface="Cambria Math" panose="02040503050406030204" pitchFamily="18" charset="0"/>
                                </a:rPr>
                              </m:ctrlPr>
                            </m:sSupPr>
                            <m:e>
                              <m:d>
                                <m:dPr>
                                  <m:begChr m:val="|"/>
                                  <m:endChr m:val="|"/>
                                  <m:ctrlPr>
                                    <a:rPr lang="en-US" sz="2600" i="1">
                                      <a:latin typeface="Cambria Math" panose="02040503050406030204" pitchFamily="18" charset="0"/>
                                    </a:rPr>
                                  </m:ctrlPr>
                                </m:dPr>
                                <m:e>
                                  <m:r>
                                    <a:rPr lang="en-US" sz="2600" i="1">
                                      <a:latin typeface="Cambria Math" panose="02040503050406030204" pitchFamily="18" charset="0"/>
                                    </a:rPr>
                                    <m:t>𝑥</m:t>
                                  </m:r>
                                  <m:d>
                                    <m:dPr>
                                      <m:ctrlPr>
                                        <a:rPr lang="en-US" sz="2600" i="1">
                                          <a:latin typeface="Cambria Math" panose="02040503050406030204" pitchFamily="18" charset="0"/>
                                        </a:rPr>
                                      </m:ctrlPr>
                                    </m:dPr>
                                    <m:e>
                                      <m:r>
                                        <a:rPr lang="en-US" sz="2600" i="1">
                                          <a:latin typeface="Cambria Math" panose="02040503050406030204" pitchFamily="18" charset="0"/>
                                        </a:rPr>
                                        <m:t>𝑡</m:t>
                                      </m:r>
                                    </m:e>
                                  </m:d>
                                </m:e>
                              </m:d>
                            </m:e>
                            <m:sup>
                              <m:r>
                                <a:rPr lang="en-US" sz="2600" i="0">
                                  <a:latin typeface="Cambria Math" panose="02040503050406030204" pitchFamily="18" charset="0"/>
                                </a:rPr>
                                <m:t>2</m:t>
                              </m:r>
                            </m:sup>
                          </m:sSup>
                        </m:e>
                      </m:nary>
                      <m:r>
                        <a:rPr lang="en-US" sz="2600" i="1">
                          <a:latin typeface="Cambria Math" panose="02040503050406030204" pitchFamily="18" charset="0"/>
                        </a:rPr>
                        <m:t>𝑑𝑡</m:t>
                      </m:r>
                      <m:r>
                        <a:rPr lang="en-US" sz="2600" i="0">
                          <a:latin typeface="Cambria Math" panose="02040503050406030204" pitchFamily="18" charset="0"/>
                        </a:rPr>
                        <m:t>=</m:t>
                      </m:r>
                      <m:nary>
                        <m:naryPr>
                          <m:limLoc m:val="subSup"/>
                          <m:grow m:val="on"/>
                          <m:ctrlPr>
                            <a:rPr lang="en-US" sz="2600" i="1">
                              <a:latin typeface="Cambria Math" panose="02040503050406030204" pitchFamily="18" charset="0"/>
                            </a:rPr>
                          </m:ctrlPr>
                        </m:naryPr>
                        <m:sub>
                          <m:r>
                            <a:rPr lang="en-US" sz="2600" i="0">
                              <a:latin typeface="Cambria Math" panose="02040503050406030204" pitchFamily="18" charset="0"/>
                            </a:rPr>
                            <m:t>−∞</m:t>
                          </m:r>
                        </m:sub>
                        <m:sup>
                          <m:r>
                            <a:rPr lang="en-US" sz="2600" i="0">
                              <a:latin typeface="Cambria Math" panose="02040503050406030204" pitchFamily="18" charset="0"/>
                            </a:rPr>
                            <m:t>∞</m:t>
                          </m:r>
                        </m:sup>
                        <m:e>
                          <m:sSup>
                            <m:sSupPr>
                              <m:ctrlPr>
                                <a:rPr lang="en-US" sz="2600" i="1">
                                  <a:solidFill>
                                    <a:srgbClr val="836967"/>
                                  </a:solidFill>
                                  <a:latin typeface="Cambria Math" panose="02040503050406030204" pitchFamily="18" charset="0"/>
                                </a:rPr>
                              </m:ctrlPr>
                            </m:sSupPr>
                            <m:e>
                              <m:d>
                                <m:dPr>
                                  <m:begChr m:val="|"/>
                                  <m:endChr m:val="|"/>
                                  <m:ctrlPr>
                                    <a:rPr lang="en-US" sz="2600" i="1">
                                      <a:latin typeface="Cambria Math" panose="02040503050406030204" pitchFamily="18" charset="0"/>
                                    </a:rPr>
                                  </m:ctrlPr>
                                </m:dPr>
                                <m:e>
                                  <m:r>
                                    <a:rPr lang="en-US" sz="2600" i="1">
                                      <a:latin typeface="Cambria Math" panose="02040503050406030204" pitchFamily="18" charset="0"/>
                                    </a:rPr>
                                    <m:t>𝑥</m:t>
                                  </m:r>
                                  <m:d>
                                    <m:dPr>
                                      <m:ctrlPr>
                                        <a:rPr lang="en-US" sz="2600" i="1">
                                          <a:latin typeface="Cambria Math" panose="02040503050406030204" pitchFamily="18" charset="0"/>
                                        </a:rPr>
                                      </m:ctrlPr>
                                    </m:dPr>
                                    <m:e>
                                      <m:r>
                                        <a:rPr lang="en-US" sz="2600" i="1">
                                          <a:latin typeface="Cambria Math" panose="02040503050406030204" pitchFamily="18" charset="0"/>
                                        </a:rPr>
                                        <m:t>𝑡</m:t>
                                      </m:r>
                                    </m:e>
                                  </m:d>
                                </m:e>
                              </m:d>
                            </m:e>
                            <m:sup>
                              <m:r>
                                <a:rPr lang="en-US" sz="2600" i="0">
                                  <a:latin typeface="Cambria Math" panose="02040503050406030204" pitchFamily="18" charset="0"/>
                                </a:rPr>
                                <m:t>2</m:t>
                              </m:r>
                            </m:sup>
                          </m:sSup>
                        </m:e>
                      </m:nary>
                      <m:r>
                        <a:rPr lang="en-US" sz="2600" i="1">
                          <a:latin typeface="Cambria Math" panose="02040503050406030204" pitchFamily="18" charset="0"/>
                        </a:rPr>
                        <m:t>𝑑𝑡</m:t>
                      </m:r>
                    </m:oMath>
                  </m:oMathPara>
                </a14:m>
                <a:endParaRPr lang="en-US" altLang="zh-CN" sz="2600" dirty="0"/>
              </a:p>
              <a:p>
                <a:pPr marL="457200" lvl="1" indent="0" eaLnBrk="1" hangingPunct="1">
                  <a:spcBef>
                    <a:spcPts val="0"/>
                  </a:spcBef>
                  <a:spcAft>
                    <a:spcPts val="600"/>
                  </a:spcAft>
                  <a:buNone/>
                </a:pPr>
                <a14:m>
                  <m:oMathPara xmlns:m="http://schemas.openxmlformats.org/officeDocument/2006/math">
                    <m:oMathParaPr>
                      <m:jc m:val="centerGroup"/>
                    </m:oMathParaPr>
                    <m:oMath xmlns:m="http://schemas.openxmlformats.org/officeDocument/2006/math">
                      <m:sSub>
                        <m:sSubPr>
                          <m:ctrlPr>
                            <a:rPr lang="en-US" sz="2600" i="1" smtClean="0">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𝐸</m:t>
                          </m:r>
                        </m:e>
                        <m:sub>
                          <m:r>
                            <a:rPr lang="en-US" sz="2600" i="1">
                              <a:solidFill>
                                <a:srgbClr val="FF0000"/>
                              </a:solidFill>
                              <a:latin typeface="Cambria Math" panose="02040503050406030204" pitchFamily="18" charset="0"/>
                            </a:rPr>
                            <m:t>∞</m:t>
                          </m:r>
                        </m:sub>
                      </m:sSub>
                      <m:r>
                        <a:rPr lang="en-US" sz="2600" i="1">
                          <a:solidFill>
                            <a:srgbClr val="000000"/>
                          </a:solidFill>
                          <a:latin typeface="Cambria Math" panose="02040503050406030204" pitchFamily="18" charset="0"/>
                        </a:rPr>
                        <m:t>=</m:t>
                      </m:r>
                      <m:func>
                        <m:funcPr>
                          <m:ctrlPr>
                            <a:rPr lang="en-US" sz="2600" i="1">
                              <a:solidFill>
                                <a:srgbClr val="000000"/>
                              </a:solidFill>
                              <a:latin typeface="Cambria Math" panose="02040503050406030204" pitchFamily="18" charset="0"/>
                            </a:rPr>
                          </m:ctrlPr>
                        </m:funcPr>
                        <m:fName>
                          <m:limLow>
                            <m:limLowPr>
                              <m:ctrlPr>
                                <a:rPr lang="en-US" sz="2600" i="1">
                                  <a:solidFill>
                                    <a:srgbClr val="000000"/>
                                  </a:solidFill>
                                  <a:latin typeface="Cambria Math" panose="02040503050406030204" pitchFamily="18" charset="0"/>
                                </a:rPr>
                              </m:ctrlPr>
                            </m:limLowPr>
                            <m:e>
                              <m:r>
                                <m:rPr>
                                  <m:sty m:val="p"/>
                                </m:rPr>
                                <a:rPr lang="en-US" sz="2600" i="0">
                                  <a:solidFill>
                                    <a:srgbClr val="000000"/>
                                  </a:solidFill>
                                  <a:latin typeface="Cambria Math" panose="02040503050406030204" pitchFamily="18" charset="0"/>
                                </a:rPr>
                                <m:t>lim</m:t>
                              </m:r>
                            </m:e>
                            <m:lim>
                              <m:r>
                                <a:rPr lang="en-US" sz="2600" i="1">
                                  <a:solidFill>
                                    <a:srgbClr val="000000"/>
                                  </a:solidFill>
                                  <a:latin typeface="Cambria Math" panose="02040503050406030204" pitchFamily="18" charset="0"/>
                                </a:rPr>
                                <m:t>𝑁</m:t>
                              </m:r>
                              <m:r>
                                <a:rPr lang="en-US" sz="2600" i="1">
                                  <a:solidFill>
                                    <a:srgbClr val="000000"/>
                                  </a:solidFill>
                                  <a:latin typeface="Cambria Math" panose="02040503050406030204" pitchFamily="18" charset="0"/>
                                </a:rPr>
                                <m:t>→∞</m:t>
                              </m:r>
                            </m:lim>
                          </m:limLow>
                        </m:fName>
                        <m:e>
                          <m:nary>
                            <m:naryPr>
                              <m:chr m:val="∑"/>
                              <m:ctrlPr>
                                <a:rPr lang="en-US" sz="2600" i="1">
                                  <a:solidFill>
                                    <a:srgbClr val="000000"/>
                                  </a:solidFill>
                                  <a:latin typeface="Cambria Math" panose="02040503050406030204" pitchFamily="18" charset="0"/>
                                </a:rPr>
                              </m:ctrlPr>
                            </m:naryPr>
                            <m:sub>
                              <m:r>
                                <a:rPr lang="en-US" sz="2600" b="0" i="1" smtClean="0">
                                  <a:solidFill>
                                    <a:srgbClr val="000000"/>
                                  </a:solidFill>
                                  <a:latin typeface="Cambria Math" panose="02040503050406030204" pitchFamily="18" charset="0"/>
                                </a:rPr>
                                <m:t>𝑛</m:t>
                              </m:r>
                              <m:r>
                                <a:rPr lang="en-US" sz="2600" b="0" i="1" smtClean="0">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𝑁</m:t>
                              </m:r>
                            </m:sub>
                            <m:sup>
                              <m:r>
                                <a:rPr lang="en-US" sz="2600" i="1">
                                  <a:solidFill>
                                    <a:srgbClr val="000000"/>
                                  </a:solidFill>
                                  <a:latin typeface="Cambria Math" panose="02040503050406030204" pitchFamily="18" charset="0"/>
                                </a:rPr>
                                <m:t>𝑁</m:t>
                              </m:r>
                            </m:sup>
                            <m:e>
                              <m:sSup>
                                <m:sSupPr>
                                  <m:ctrlPr>
                                    <a:rPr lang="en-US" sz="2600" i="1">
                                      <a:solidFill>
                                        <a:srgbClr val="000000"/>
                                      </a:solidFill>
                                      <a:latin typeface="Cambria Math" panose="02040503050406030204" pitchFamily="18" charset="0"/>
                                    </a:rPr>
                                  </m:ctrlPr>
                                </m:sSupPr>
                                <m:e>
                                  <m:d>
                                    <m:dPr>
                                      <m:begChr m:val="|"/>
                                      <m:endChr m:val="|"/>
                                      <m:ctrlPr>
                                        <a:rPr lang="en-US" sz="2600" i="1">
                                          <a:solidFill>
                                            <a:srgbClr val="000000"/>
                                          </a:solidFill>
                                          <a:latin typeface="Cambria Math" panose="02040503050406030204" pitchFamily="18" charset="0"/>
                                        </a:rPr>
                                      </m:ctrlPr>
                                    </m:dPr>
                                    <m:e>
                                      <m:r>
                                        <a:rPr lang="en-US" sz="2600" i="1">
                                          <a:solidFill>
                                            <a:srgbClr val="000000"/>
                                          </a:solidFill>
                                          <a:latin typeface="Cambria Math" panose="02040503050406030204" pitchFamily="18" charset="0"/>
                                        </a:rPr>
                                        <m:t>𝑥</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𝑛</m:t>
                                      </m:r>
                                      <m:r>
                                        <a:rPr lang="en-US" sz="2600" i="1">
                                          <a:solidFill>
                                            <a:srgbClr val="000000"/>
                                          </a:solidFill>
                                          <a:latin typeface="Cambria Math" panose="02040503050406030204" pitchFamily="18" charset="0"/>
                                        </a:rPr>
                                        <m:t>]</m:t>
                                      </m:r>
                                    </m:e>
                                  </m:d>
                                </m:e>
                                <m:sup>
                                  <m:r>
                                    <a:rPr lang="en-US" sz="2600" i="1">
                                      <a:solidFill>
                                        <a:srgbClr val="000000"/>
                                      </a:solidFill>
                                      <a:latin typeface="Cambria Math" panose="02040503050406030204" pitchFamily="18" charset="0"/>
                                    </a:rPr>
                                    <m:t>2</m:t>
                                  </m:r>
                                </m:sup>
                              </m:sSup>
                            </m:e>
                          </m:nary>
                        </m:e>
                      </m:func>
                      <m:r>
                        <a:rPr lang="en-US" sz="2600" i="1">
                          <a:solidFill>
                            <a:srgbClr val="000000"/>
                          </a:solidFill>
                          <a:latin typeface="Cambria Math" panose="02040503050406030204" pitchFamily="18" charset="0"/>
                        </a:rPr>
                        <m:t>=</m:t>
                      </m:r>
                      <m:nary>
                        <m:naryPr>
                          <m:chr m:val="∑"/>
                          <m:ctrlPr>
                            <a:rPr lang="en-US" sz="2600" i="1">
                              <a:solidFill>
                                <a:srgbClr val="000000"/>
                              </a:solidFill>
                              <a:latin typeface="Cambria Math" panose="02040503050406030204" pitchFamily="18" charset="0"/>
                            </a:rPr>
                          </m:ctrlPr>
                        </m:naryPr>
                        <m:sub>
                          <m:r>
                            <a:rPr lang="en-US" sz="2600" b="0" i="1" smtClean="0">
                              <a:solidFill>
                                <a:srgbClr val="000000"/>
                              </a:solidFill>
                              <a:latin typeface="Cambria Math" panose="02040503050406030204" pitchFamily="18" charset="0"/>
                            </a:rPr>
                            <m:t>𝑛</m:t>
                          </m:r>
                          <m:r>
                            <a:rPr lang="en-US" sz="2600" b="0" i="1" smtClean="0">
                              <a:solidFill>
                                <a:srgbClr val="000000"/>
                              </a:solidFill>
                              <a:latin typeface="Cambria Math" panose="02040503050406030204" pitchFamily="18" charset="0"/>
                            </a:rPr>
                            <m:t>=−∞</m:t>
                          </m:r>
                        </m:sub>
                        <m:sup>
                          <m:r>
                            <a:rPr lang="en-US" sz="2600" i="1">
                              <a:solidFill>
                                <a:srgbClr val="000000"/>
                              </a:solidFill>
                              <a:latin typeface="Cambria Math" panose="02040503050406030204" pitchFamily="18" charset="0"/>
                            </a:rPr>
                            <m:t>∞</m:t>
                          </m:r>
                        </m:sup>
                        <m:e>
                          <m:sSup>
                            <m:sSupPr>
                              <m:ctrlPr>
                                <a:rPr lang="en-US" sz="2600" i="1">
                                  <a:solidFill>
                                    <a:srgbClr val="000000"/>
                                  </a:solidFill>
                                  <a:latin typeface="Cambria Math" panose="02040503050406030204" pitchFamily="18" charset="0"/>
                                </a:rPr>
                              </m:ctrlPr>
                            </m:sSupPr>
                            <m:e>
                              <m:d>
                                <m:dPr>
                                  <m:begChr m:val="|"/>
                                  <m:endChr m:val="|"/>
                                  <m:ctrlPr>
                                    <a:rPr lang="en-US" sz="2600" i="1">
                                      <a:solidFill>
                                        <a:srgbClr val="000000"/>
                                      </a:solidFill>
                                      <a:latin typeface="Cambria Math" panose="02040503050406030204" pitchFamily="18" charset="0"/>
                                    </a:rPr>
                                  </m:ctrlPr>
                                </m:dPr>
                                <m:e>
                                  <m:r>
                                    <a:rPr lang="en-US" sz="2600" i="1">
                                      <a:solidFill>
                                        <a:srgbClr val="000000"/>
                                      </a:solidFill>
                                      <a:latin typeface="Cambria Math" panose="02040503050406030204" pitchFamily="18" charset="0"/>
                                    </a:rPr>
                                    <m:t>𝑥</m:t>
                                  </m:r>
                                  <m:r>
                                    <a:rPr lang="en-US" sz="2600" b="1" i="1" smtClean="0">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𝑛</m:t>
                                  </m:r>
                                  <m:r>
                                    <a:rPr lang="en-US" sz="2600" b="1" i="1" smtClean="0">
                                      <a:solidFill>
                                        <a:srgbClr val="000000"/>
                                      </a:solidFill>
                                      <a:latin typeface="Cambria Math" panose="02040503050406030204" pitchFamily="18" charset="0"/>
                                    </a:rPr>
                                    <m:t>]</m:t>
                                  </m:r>
                                </m:e>
                              </m:d>
                            </m:e>
                            <m:sup>
                              <m:r>
                                <a:rPr lang="en-US" sz="2600" i="1">
                                  <a:solidFill>
                                    <a:srgbClr val="000000"/>
                                  </a:solidFill>
                                  <a:latin typeface="Cambria Math" panose="02040503050406030204" pitchFamily="18" charset="0"/>
                                </a:rPr>
                                <m:t>2</m:t>
                              </m:r>
                            </m:sup>
                          </m:sSup>
                        </m:e>
                      </m:nary>
                    </m:oMath>
                  </m:oMathPara>
                </a14:m>
                <a:endParaRPr lang="en-US" altLang="zh-CN" sz="2600" dirty="0"/>
              </a:p>
              <a:p>
                <a:pPr eaLnBrk="1" hangingPunct="1">
                  <a:spcBef>
                    <a:spcPts val="0"/>
                  </a:spcBef>
                  <a:spcAft>
                    <a:spcPts val="600"/>
                  </a:spcAft>
                </a:pPr>
                <a:r>
                  <a:rPr kumimoji="0" lang="zh-CN" altLang="en-US" sz="2600" b="0" i="0" u="none" strike="noStrike" kern="1200" cap="none" spc="0" normalizeH="0" baseline="0" noProof="0" dirty="0">
                    <a:ln>
                      <a:noFill/>
                    </a:ln>
                    <a:solidFill>
                      <a:prstClr val="black"/>
                    </a:solidFill>
                    <a:effectLst/>
                    <a:uLnTx/>
                    <a:uFillTx/>
                    <a:latin typeface="Times New Roman" pitchFamily="18" charset="0"/>
                    <a:ea typeface="楷体" pitchFamily="49" charset="-122"/>
                    <a:cs typeface="+mn-cs"/>
                  </a:rPr>
                  <a:t>无限区间上的信号平均功率</a:t>
                </a:r>
                <a:r>
                  <a:rPr lang="zh-CN" altLang="en-US" sz="2600" dirty="0"/>
                  <a:t>：</a:t>
                </a:r>
                <a:endParaRPr lang="en-US" altLang="zh-CN" sz="2600" dirty="0"/>
              </a:p>
              <a:p>
                <a:pPr marL="0" indent="0" eaLnBrk="1" hangingPunct="1">
                  <a:spcBef>
                    <a:spcPts val="0"/>
                  </a:spcBef>
                  <a:spcAft>
                    <a:spcPts val="600"/>
                  </a:spcAft>
                  <a:buNone/>
                </a:pPr>
                <a14:m>
                  <m:oMathPara xmlns:m="http://schemas.openxmlformats.org/officeDocument/2006/math">
                    <m:oMathParaPr>
                      <m:jc m:val="centerGroup"/>
                    </m:oMathParaPr>
                    <m:oMath xmlns:m="http://schemas.openxmlformats.org/officeDocument/2006/math">
                      <m:sSub>
                        <m:sSubPr>
                          <m:ctrlPr>
                            <a:rPr lang="en-US" sz="2600" i="1" smtClean="0">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𝑃</m:t>
                          </m:r>
                        </m:e>
                        <m:sub>
                          <m:r>
                            <a:rPr lang="en-US" sz="2600" i="0">
                              <a:solidFill>
                                <a:srgbClr val="FF0000"/>
                              </a:solidFill>
                              <a:latin typeface="Cambria Math" panose="02040503050406030204" pitchFamily="18" charset="0"/>
                            </a:rPr>
                            <m:t>∞</m:t>
                          </m:r>
                        </m:sub>
                      </m:sSub>
                      <m:r>
                        <a:rPr lang="en-US" sz="2600" i="0">
                          <a:latin typeface="Cambria Math" panose="02040503050406030204" pitchFamily="18" charset="0"/>
                        </a:rPr>
                        <m:t>=</m:t>
                      </m:r>
                      <m:limLow>
                        <m:limLowPr>
                          <m:ctrlPr>
                            <a:rPr lang="en-US" sz="2600" i="1">
                              <a:solidFill>
                                <a:srgbClr val="836967"/>
                              </a:solidFill>
                              <a:latin typeface="Cambria Math" panose="02040503050406030204" pitchFamily="18" charset="0"/>
                            </a:rPr>
                          </m:ctrlPr>
                        </m:limLowPr>
                        <m:e>
                          <m:r>
                            <m:rPr>
                              <m:sty m:val="p"/>
                            </m:rPr>
                            <a:rPr lang="en-US" sz="2600" i="0">
                              <a:latin typeface="Cambria Math" panose="02040503050406030204" pitchFamily="18" charset="0"/>
                            </a:rPr>
                            <m:t>lim</m:t>
                          </m:r>
                        </m:e>
                        <m:lim>
                          <m:r>
                            <a:rPr lang="en-US" sz="2600" i="1">
                              <a:latin typeface="Cambria Math" panose="02040503050406030204" pitchFamily="18" charset="0"/>
                            </a:rPr>
                            <m:t>𝑇</m:t>
                          </m:r>
                          <m:r>
                            <a:rPr lang="en-US" sz="2600" i="0">
                              <a:latin typeface="Cambria Math" panose="02040503050406030204" pitchFamily="18" charset="0"/>
                            </a:rPr>
                            <m:t>→∞</m:t>
                          </m:r>
                        </m:lim>
                      </m:limLow>
                      <m:f>
                        <m:fPr>
                          <m:ctrlPr>
                            <a:rPr lang="en-US" sz="2600" i="1">
                              <a:solidFill>
                                <a:srgbClr val="836967"/>
                              </a:solidFill>
                              <a:latin typeface="Cambria Math" panose="02040503050406030204" pitchFamily="18" charset="0"/>
                            </a:rPr>
                          </m:ctrlPr>
                        </m:fPr>
                        <m:num>
                          <m:r>
                            <a:rPr lang="en-US" sz="2600" i="0">
                              <a:latin typeface="Cambria Math" panose="02040503050406030204" pitchFamily="18" charset="0"/>
                            </a:rPr>
                            <m:t>1</m:t>
                          </m:r>
                        </m:num>
                        <m:den>
                          <m:r>
                            <a:rPr lang="en-US" sz="2600" i="0">
                              <a:latin typeface="Cambria Math" panose="02040503050406030204" pitchFamily="18" charset="0"/>
                            </a:rPr>
                            <m:t>2</m:t>
                          </m:r>
                          <m:r>
                            <a:rPr lang="en-US" sz="2600" i="1">
                              <a:latin typeface="Cambria Math" panose="02040503050406030204" pitchFamily="18" charset="0"/>
                            </a:rPr>
                            <m:t>𝑇</m:t>
                          </m:r>
                        </m:den>
                      </m:f>
                      <m:nary>
                        <m:naryPr>
                          <m:limLoc m:val="subSup"/>
                          <m:grow m:val="on"/>
                          <m:ctrlPr>
                            <a:rPr lang="en-US" sz="2600" i="1">
                              <a:latin typeface="Cambria Math" panose="02040503050406030204" pitchFamily="18" charset="0"/>
                            </a:rPr>
                          </m:ctrlPr>
                        </m:naryPr>
                        <m:sub>
                          <m:r>
                            <a:rPr lang="en-US" sz="2600" i="0">
                              <a:latin typeface="Cambria Math" panose="02040503050406030204" pitchFamily="18" charset="0"/>
                            </a:rPr>
                            <m:t>−</m:t>
                          </m:r>
                          <m:r>
                            <a:rPr lang="en-US" sz="2600" i="1">
                              <a:latin typeface="Cambria Math" panose="02040503050406030204" pitchFamily="18" charset="0"/>
                            </a:rPr>
                            <m:t>𝑇</m:t>
                          </m:r>
                        </m:sub>
                        <m:sup>
                          <m:r>
                            <a:rPr lang="en-US" sz="2600" i="1">
                              <a:latin typeface="Cambria Math" panose="02040503050406030204" pitchFamily="18" charset="0"/>
                            </a:rPr>
                            <m:t>𝑇</m:t>
                          </m:r>
                        </m:sup>
                        <m:e>
                          <m:sSup>
                            <m:sSupPr>
                              <m:ctrlPr>
                                <a:rPr lang="en-US" sz="2600" i="1">
                                  <a:solidFill>
                                    <a:srgbClr val="836967"/>
                                  </a:solidFill>
                                  <a:latin typeface="Cambria Math" panose="02040503050406030204" pitchFamily="18" charset="0"/>
                                </a:rPr>
                              </m:ctrlPr>
                            </m:sSupPr>
                            <m:e>
                              <m:d>
                                <m:dPr>
                                  <m:begChr m:val="|"/>
                                  <m:endChr m:val="|"/>
                                  <m:ctrlPr>
                                    <a:rPr lang="en-US" sz="2600" i="1">
                                      <a:latin typeface="Cambria Math" panose="02040503050406030204" pitchFamily="18" charset="0"/>
                                    </a:rPr>
                                  </m:ctrlPr>
                                </m:dPr>
                                <m:e>
                                  <m:r>
                                    <a:rPr lang="en-US" sz="2600" i="1">
                                      <a:latin typeface="Cambria Math" panose="02040503050406030204" pitchFamily="18" charset="0"/>
                                    </a:rPr>
                                    <m:t>𝑥</m:t>
                                  </m:r>
                                  <m:d>
                                    <m:dPr>
                                      <m:ctrlPr>
                                        <a:rPr lang="en-US" sz="2600" i="1">
                                          <a:latin typeface="Cambria Math" panose="02040503050406030204" pitchFamily="18" charset="0"/>
                                        </a:rPr>
                                      </m:ctrlPr>
                                    </m:dPr>
                                    <m:e>
                                      <m:r>
                                        <a:rPr lang="en-US" sz="2600" i="1">
                                          <a:latin typeface="Cambria Math" panose="02040503050406030204" pitchFamily="18" charset="0"/>
                                        </a:rPr>
                                        <m:t>𝑡</m:t>
                                      </m:r>
                                    </m:e>
                                  </m:d>
                                </m:e>
                              </m:d>
                            </m:e>
                            <m:sup>
                              <m:r>
                                <a:rPr lang="en-US" sz="2600" i="0">
                                  <a:latin typeface="Cambria Math" panose="02040503050406030204" pitchFamily="18" charset="0"/>
                                </a:rPr>
                                <m:t>2</m:t>
                              </m:r>
                            </m:sup>
                          </m:sSup>
                        </m:e>
                      </m:nary>
                      <m:r>
                        <a:rPr lang="en-US" sz="2600" i="1">
                          <a:latin typeface="Cambria Math" panose="02040503050406030204" pitchFamily="18" charset="0"/>
                        </a:rPr>
                        <m:t>𝑑𝑡</m:t>
                      </m:r>
                    </m:oMath>
                  </m:oMathPara>
                </a14:m>
                <a:endParaRPr lang="en-US" altLang="zh-CN" sz="2600" dirty="0"/>
              </a:p>
              <a:p>
                <a:pPr marL="0" indent="0" eaLnBrk="1" hangingPunct="1">
                  <a:spcBef>
                    <a:spcPts val="0"/>
                  </a:spcBef>
                  <a:spcAft>
                    <a:spcPts val="600"/>
                  </a:spcAft>
                  <a:buNone/>
                </a:pPr>
                <a14:m>
                  <m:oMathPara xmlns:m="http://schemas.openxmlformats.org/officeDocument/2006/math">
                    <m:oMathParaPr>
                      <m:jc m:val="centerGroup"/>
                    </m:oMathParaPr>
                    <m:oMath xmlns:m="http://schemas.openxmlformats.org/officeDocument/2006/math">
                      <m:sSub>
                        <m:sSubPr>
                          <m:ctrlPr>
                            <a:rPr lang="en-US" sz="2600" i="1" smtClean="0">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𝑃</m:t>
                          </m:r>
                        </m:e>
                        <m:sub>
                          <m:r>
                            <a:rPr lang="en-US" sz="2600" i="1">
                              <a:solidFill>
                                <a:srgbClr val="FF0000"/>
                              </a:solidFill>
                              <a:latin typeface="Cambria Math" panose="02040503050406030204" pitchFamily="18" charset="0"/>
                            </a:rPr>
                            <m:t>∞</m:t>
                          </m:r>
                        </m:sub>
                      </m:sSub>
                      <m:r>
                        <a:rPr lang="en-US" sz="2600" i="1">
                          <a:solidFill>
                            <a:srgbClr val="000000"/>
                          </a:solidFill>
                          <a:latin typeface="Cambria Math" panose="02040503050406030204" pitchFamily="18" charset="0"/>
                        </a:rPr>
                        <m:t>=</m:t>
                      </m:r>
                      <m:func>
                        <m:funcPr>
                          <m:ctrlPr>
                            <a:rPr lang="en-US" sz="2600" i="1">
                              <a:solidFill>
                                <a:srgbClr val="000000"/>
                              </a:solidFill>
                              <a:latin typeface="Cambria Math" panose="02040503050406030204" pitchFamily="18" charset="0"/>
                            </a:rPr>
                          </m:ctrlPr>
                        </m:funcPr>
                        <m:fName>
                          <m:limLow>
                            <m:limLowPr>
                              <m:ctrlPr>
                                <a:rPr lang="en-US" sz="2600" i="1">
                                  <a:solidFill>
                                    <a:srgbClr val="000000"/>
                                  </a:solidFill>
                                  <a:latin typeface="Cambria Math" panose="02040503050406030204" pitchFamily="18" charset="0"/>
                                </a:rPr>
                              </m:ctrlPr>
                            </m:limLowPr>
                            <m:e>
                              <m:r>
                                <m:rPr>
                                  <m:sty m:val="p"/>
                                </m:rPr>
                                <a:rPr lang="en-US" sz="2600" i="0">
                                  <a:solidFill>
                                    <a:srgbClr val="000000"/>
                                  </a:solidFill>
                                  <a:latin typeface="Cambria Math" panose="02040503050406030204" pitchFamily="18" charset="0"/>
                                </a:rPr>
                                <m:t>lim</m:t>
                              </m:r>
                            </m:e>
                            <m:lim>
                              <m:r>
                                <a:rPr lang="en-US" sz="2600" i="1">
                                  <a:solidFill>
                                    <a:srgbClr val="000000"/>
                                  </a:solidFill>
                                  <a:latin typeface="Cambria Math" panose="02040503050406030204" pitchFamily="18" charset="0"/>
                                </a:rPr>
                                <m:t>𝑁</m:t>
                              </m:r>
                              <m:r>
                                <a:rPr lang="en-US" sz="2600" i="1">
                                  <a:solidFill>
                                    <a:srgbClr val="000000"/>
                                  </a:solidFill>
                                  <a:latin typeface="Cambria Math" panose="02040503050406030204" pitchFamily="18" charset="0"/>
                                </a:rPr>
                                <m:t>→∞</m:t>
                              </m:r>
                            </m:lim>
                          </m:limLow>
                        </m:fName>
                        <m:e>
                          <m:f>
                            <m:fPr>
                              <m:ctrlPr>
                                <a:rPr lang="en-US" sz="2600" i="1">
                                  <a:solidFill>
                                    <a:srgbClr val="000000"/>
                                  </a:solidFill>
                                  <a:latin typeface="Cambria Math" panose="02040503050406030204" pitchFamily="18" charset="0"/>
                                </a:rPr>
                              </m:ctrlPr>
                            </m:fPr>
                            <m:num>
                              <m:r>
                                <a:rPr lang="en-US" sz="2600" i="1">
                                  <a:solidFill>
                                    <a:srgbClr val="000000"/>
                                  </a:solidFill>
                                  <a:latin typeface="Cambria Math" panose="02040503050406030204" pitchFamily="18" charset="0"/>
                                </a:rPr>
                                <m:t>1</m:t>
                              </m:r>
                            </m:num>
                            <m:den>
                              <m:r>
                                <a:rPr lang="en-US" sz="2600" i="1">
                                  <a:solidFill>
                                    <a:srgbClr val="000000"/>
                                  </a:solidFill>
                                  <a:latin typeface="Cambria Math" panose="02040503050406030204" pitchFamily="18" charset="0"/>
                                </a:rPr>
                                <m:t>2</m:t>
                              </m:r>
                              <m:r>
                                <a:rPr lang="en-US" sz="2600" i="1">
                                  <a:solidFill>
                                    <a:srgbClr val="000000"/>
                                  </a:solidFill>
                                  <a:latin typeface="Cambria Math" panose="02040503050406030204" pitchFamily="18" charset="0"/>
                                </a:rPr>
                                <m:t>𝑁</m:t>
                              </m:r>
                              <m:r>
                                <a:rPr lang="en-US" sz="2600" i="1">
                                  <a:solidFill>
                                    <a:srgbClr val="000000"/>
                                  </a:solidFill>
                                  <a:latin typeface="Cambria Math" panose="02040503050406030204" pitchFamily="18" charset="0"/>
                                </a:rPr>
                                <m:t>+1</m:t>
                              </m:r>
                            </m:den>
                          </m:f>
                        </m:e>
                      </m:func>
                      <m:nary>
                        <m:naryPr>
                          <m:chr m:val="∑"/>
                          <m:ctrlPr>
                            <a:rPr lang="en-US" sz="2600" i="1">
                              <a:solidFill>
                                <a:srgbClr val="000000"/>
                              </a:solidFill>
                              <a:latin typeface="Cambria Math" panose="02040503050406030204" pitchFamily="18" charset="0"/>
                            </a:rPr>
                          </m:ctrlPr>
                        </m:naryPr>
                        <m:sub>
                          <m:r>
                            <a:rPr lang="en-US" sz="2600" b="0" i="1" smtClean="0">
                              <a:solidFill>
                                <a:srgbClr val="000000"/>
                              </a:solidFill>
                              <a:latin typeface="Cambria Math" panose="02040503050406030204" pitchFamily="18" charset="0"/>
                            </a:rPr>
                            <m:t>𝑛</m:t>
                          </m:r>
                          <m:r>
                            <a:rPr lang="en-US" sz="2600" b="0" i="1" smtClean="0">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𝑁</m:t>
                          </m:r>
                        </m:sub>
                        <m:sup>
                          <m:r>
                            <a:rPr lang="en-US" sz="2600" i="1">
                              <a:solidFill>
                                <a:srgbClr val="000000"/>
                              </a:solidFill>
                              <a:latin typeface="Cambria Math" panose="02040503050406030204" pitchFamily="18" charset="0"/>
                            </a:rPr>
                            <m:t>𝑁</m:t>
                          </m:r>
                        </m:sup>
                        <m:e>
                          <m:sSup>
                            <m:sSupPr>
                              <m:ctrlPr>
                                <a:rPr lang="en-US" sz="2600" i="1">
                                  <a:solidFill>
                                    <a:srgbClr val="000000"/>
                                  </a:solidFill>
                                  <a:latin typeface="Cambria Math" panose="02040503050406030204" pitchFamily="18" charset="0"/>
                                </a:rPr>
                              </m:ctrlPr>
                            </m:sSupPr>
                            <m:e>
                              <m:d>
                                <m:dPr>
                                  <m:begChr m:val="|"/>
                                  <m:endChr m:val="|"/>
                                  <m:ctrlPr>
                                    <a:rPr lang="en-US" sz="2600" i="1">
                                      <a:solidFill>
                                        <a:srgbClr val="000000"/>
                                      </a:solidFill>
                                      <a:latin typeface="Cambria Math" panose="02040503050406030204" pitchFamily="18" charset="0"/>
                                    </a:rPr>
                                  </m:ctrlPr>
                                </m:dPr>
                                <m:e>
                                  <m:r>
                                    <a:rPr lang="en-US" sz="2600" i="1">
                                      <a:solidFill>
                                        <a:srgbClr val="000000"/>
                                      </a:solidFill>
                                      <a:latin typeface="Cambria Math" panose="02040503050406030204" pitchFamily="18" charset="0"/>
                                    </a:rPr>
                                    <m:t>𝑥</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𝑛</m:t>
                                  </m:r>
                                  <m:r>
                                    <a:rPr lang="en-US" sz="2600" i="1">
                                      <a:solidFill>
                                        <a:srgbClr val="000000"/>
                                      </a:solidFill>
                                      <a:latin typeface="Cambria Math" panose="02040503050406030204" pitchFamily="18" charset="0"/>
                                    </a:rPr>
                                    <m:t>]</m:t>
                                  </m:r>
                                </m:e>
                              </m:d>
                            </m:e>
                            <m:sup>
                              <m:r>
                                <a:rPr lang="en-US" sz="2600" i="1">
                                  <a:solidFill>
                                    <a:srgbClr val="000000"/>
                                  </a:solidFill>
                                  <a:latin typeface="Cambria Math" panose="02040503050406030204" pitchFamily="18" charset="0"/>
                                </a:rPr>
                                <m:t>2</m:t>
                              </m:r>
                            </m:sup>
                          </m:sSup>
                        </m:e>
                      </m:nary>
                    </m:oMath>
                  </m:oMathPara>
                </a14:m>
                <a:endParaRPr lang="zh-CN" altLang="en-US" sz="2600" dirty="0"/>
              </a:p>
            </p:txBody>
          </p:sp>
        </mc:Choice>
        <mc:Fallback xmlns="">
          <p:sp>
            <p:nvSpPr>
              <p:cNvPr id="4102" name="内容占位符 2">
                <a:extLst>
                  <a:ext uri="{FF2B5EF4-FFF2-40B4-BE49-F238E27FC236}">
                    <a16:creationId xmlns:a16="http://schemas.microsoft.com/office/drawing/2014/main" id="{14746F97-4B76-43EB-81A5-9962CE9EC287}"/>
                  </a:ext>
                </a:extLst>
              </p:cNvPr>
              <p:cNvSpPr>
                <a:spLocks noGrp="1" noRot="1" noChangeAspect="1" noMove="1" noResize="1" noEditPoints="1" noAdjustHandles="1" noChangeArrowheads="1" noChangeShapeType="1" noTextEdit="1"/>
              </p:cNvSpPr>
              <p:nvPr>
                <p:ph idx="1"/>
              </p:nvPr>
            </p:nvSpPr>
            <p:spPr>
              <a:xfrm>
                <a:off x="457200" y="1285875"/>
                <a:ext cx="8229600" cy="5399299"/>
              </a:xfrm>
              <a:blipFill>
                <a:blip r:embed="rId2"/>
                <a:stretch>
                  <a:fillRect l="-1111" t="-1242"/>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2EAFC0B7-A36C-4982-A94A-EE11B1D9C85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FF573FE-F844-4149-9E97-61D284C6FB8D}" type="slidenum">
              <a:rPr lang="zh-CN" altLang="en-US">
                <a:solidFill>
                  <a:srgbClr val="898989"/>
                </a:solidFill>
                <a:latin typeface="Calibri" panose="020F0502020204030204" pitchFamily="34" charset="0"/>
              </a:rPr>
              <a:pPr eaLnBrk="1" hangingPunct="1"/>
              <a:t>21</a:t>
            </a:fld>
            <a:endParaRPr lang="zh-CN" altLang="en-US">
              <a:solidFill>
                <a:srgbClr val="898989"/>
              </a:solidFill>
              <a:latin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标题 1">
            <a:extLst>
              <a:ext uri="{FF2B5EF4-FFF2-40B4-BE49-F238E27FC236}">
                <a16:creationId xmlns:a16="http://schemas.microsoft.com/office/drawing/2014/main" id="{9830AF40-6297-456F-8D27-F5EB3D193A54}"/>
              </a:ext>
            </a:extLst>
          </p:cNvPr>
          <p:cNvSpPr>
            <a:spLocks noGrp="1"/>
          </p:cNvSpPr>
          <p:nvPr>
            <p:ph type="title"/>
          </p:nvPr>
        </p:nvSpPr>
        <p:spPr/>
        <p:txBody>
          <a:bodyPr/>
          <a:lstStyle/>
          <a:p>
            <a:pPr eaLnBrk="1" hangingPunct="1"/>
            <a:r>
              <a:rPr lang="en-US" altLang="zh-CN" dirty="0"/>
              <a:t>1.1  </a:t>
            </a:r>
            <a:r>
              <a:rPr lang="zh-CN" altLang="en-US" dirty="0"/>
              <a:t>连续时间与离散时间信号</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E41B53E-0B8B-478B-BAF1-6C69CBF81F87}"/>
                  </a:ext>
                </a:extLst>
              </p:cNvPr>
              <p:cNvSpPr>
                <a:spLocks noGrp="1"/>
              </p:cNvSpPr>
              <p:nvPr>
                <p:ph idx="1"/>
              </p:nvPr>
            </p:nvSpPr>
            <p:spPr>
              <a:xfrm>
                <a:off x="457200" y="1285875"/>
                <a:ext cx="8229600" cy="4956742"/>
              </a:xfrm>
            </p:spPr>
            <p:txBody>
              <a:bodyPr>
                <a:spAutoFit/>
              </a:bodyPr>
              <a:lstStyle/>
              <a:p>
                <a:pPr eaLnBrk="1" hangingPunct="1">
                  <a:lnSpc>
                    <a:spcPct val="120000"/>
                  </a:lnSpc>
                  <a:spcBef>
                    <a:spcPts val="0"/>
                  </a:spcBef>
                  <a:spcAft>
                    <a:spcPts val="600"/>
                  </a:spcAft>
                  <a:buFont typeface="Arial" charset="0"/>
                  <a:buChar char="•"/>
                  <a:defRPr/>
                </a:pPr>
                <a:r>
                  <a:rPr lang="zh-CN" altLang="en-US" sz="2800" b="0" dirty="0"/>
                  <a:t>三类重要信号：</a:t>
                </a:r>
                <a:endParaRPr lang="en-US" altLang="zh-CN" sz="2800" b="0" dirty="0"/>
              </a:p>
              <a:p>
                <a:pPr marL="971550" lvl="1" indent="-514350" eaLnBrk="1" hangingPunct="1">
                  <a:lnSpc>
                    <a:spcPct val="120000"/>
                  </a:lnSpc>
                  <a:spcBef>
                    <a:spcPts val="0"/>
                  </a:spcBef>
                  <a:spcAft>
                    <a:spcPts val="600"/>
                  </a:spcAft>
                  <a:buFont typeface="+mj-lt"/>
                  <a:buAutoNum type="arabicPeriod"/>
                  <a:defRPr/>
                </a:pPr>
                <a:r>
                  <a:rPr lang="zh-CN" altLang="en-US" dirty="0">
                    <a:solidFill>
                      <a:srgbClr val="FF0000"/>
                    </a:solidFill>
                  </a:rPr>
                  <a:t>能量信号</a:t>
                </a:r>
                <a:r>
                  <a:rPr lang="en-US" altLang="zh-CN" b="0" dirty="0"/>
                  <a:t>——</a:t>
                </a:r>
                <a:r>
                  <a:rPr lang="zh-CN" altLang="en-US" b="0" dirty="0"/>
                  <a:t>信号总能量有限，即：</a:t>
                </a:r>
                <a:endParaRPr lang="en-US" altLang="zh-CN" b="0" dirty="0"/>
              </a:p>
              <a:p>
                <a:pPr marL="457200" lvl="1" indent="0" eaLnBrk="1" hangingPunct="1">
                  <a:lnSpc>
                    <a:spcPct val="120000"/>
                  </a:lnSpc>
                  <a:spcBef>
                    <a:spcPts val="0"/>
                  </a:spcBef>
                  <a:spcAft>
                    <a:spcPts val="600"/>
                  </a:spcAft>
                  <a:buNone/>
                  <a:defRPr/>
                </a:pPr>
                <a14:m>
                  <m:oMathPara xmlns:m="http://schemas.openxmlformats.org/officeDocument/2006/math">
                    <m:oMathParaPr>
                      <m:jc m:val="centerGroup"/>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𝐸</m:t>
                          </m:r>
                        </m:e>
                        <m:sub>
                          <m:r>
                            <a:rPr lang="en-US" i="1">
                              <a:solidFill>
                                <a:srgbClr val="000000"/>
                              </a:solidFill>
                              <a:latin typeface="Cambria Math" panose="02040503050406030204" pitchFamily="18" charset="0"/>
                            </a:rPr>
                            <m:t>∞</m:t>
                          </m:r>
                        </m:sub>
                      </m:sSub>
                      <m:r>
                        <a:rPr lang="en-US" i="1">
                          <a:solidFill>
                            <a:srgbClr val="000000"/>
                          </a:solidFill>
                          <a:latin typeface="Cambria Math" panose="02040503050406030204" pitchFamily="18" charset="0"/>
                        </a:rPr>
                        <m:t>&lt;∞, 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m:t>
                          </m:r>
                        </m:sub>
                      </m:sSub>
                      <m:r>
                        <a:rPr lang="en-US" i="1">
                          <a:solidFill>
                            <a:srgbClr val="000000"/>
                          </a:solidFill>
                          <a:latin typeface="Cambria Math" panose="02040503050406030204" pitchFamily="18" charset="0"/>
                        </a:rPr>
                        <m:t>=0</m:t>
                      </m:r>
                    </m:oMath>
                  </m:oMathPara>
                </a14:m>
                <a:endParaRPr lang="en-US" altLang="zh-CN" b="0" dirty="0"/>
              </a:p>
              <a:p>
                <a:pPr marL="971550" lvl="1" indent="-514350" eaLnBrk="1" hangingPunct="1">
                  <a:lnSpc>
                    <a:spcPct val="120000"/>
                  </a:lnSpc>
                  <a:spcBef>
                    <a:spcPts val="0"/>
                  </a:spcBef>
                  <a:spcAft>
                    <a:spcPts val="600"/>
                  </a:spcAft>
                  <a:buFont typeface="+mj-lt"/>
                  <a:buAutoNum type="arabicPeriod" startAt="2"/>
                  <a:defRPr/>
                </a:pPr>
                <a:r>
                  <a:rPr lang="zh-CN" altLang="en-US" dirty="0">
                    <a:solidFill>
                      <a:srgbClr val="FF0000"/>
                    </a:solidFill>
                  </a:rPr>
                  <a:t>功率信号</a:t>
                </a:r>
                <a:r>
                  <a:rPr lang="en-US" altLang="zh-CN" b="0" dirty="0"/>
                  <a:t>——</a:t>
                </a:r>
                <a:r>
                  <a:rPr lang="zh-CN" altLang="en-US" b="0" dirty="0"/>
                  <a:t>信号平均功率有限，但总能量无限。即：</a:t>
                </a:r>
                <a:endParaRPr lang="en-US" altLang="zh-CN" b="0" dirty="0"/>
              </a:p>
              <a:p>
                <a:pPr marL="457200" lvl="1" indent="0" eaLnBrk="1" hangingPunct="1">
                  <a:lnSpc>
                    <a:spcPct val="120000"/>
                  </a:lnSpc>
                  <a:spcBef>
                    <a:spcPts val="0"/>
                  </a:spcBef>
                  <a:spcAft>
                    <a:spcPts val="600"/>
                  </a:spcAft>
                  <a:buNone/>
                  <a:defRPr/>
                </a:pPr>
                <a14:m>
                  <m:oMathPara xmlns:m="http://schemas.openxmlformats.org/officeDocument/2006/math">
                    <m:oMathParaPr>
                      <m:jc m:val="centerGroup"/>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𝐸</m:t>
                          </m:r>
                        </m:e>
                        <m:sub>
                          <m:r>
                            <a:rPr lang="en-US" i="1">
                              <a:solidFill>
                                <a:srgbClr val="000000"/>
                              </a:solidFill>
                              <a:latin typeface="Cambria Math" panose="02040503050406030204" pitchFamily="18" charset="0"/>
                            </a:rPr>
                            <m:t>∞</m:t>
                          </m:r>
                        </m:sub>
                      </m:sSub>
                      <m:r>
                        <a:rPr lang="en-US" i="1">
                          <a:solidFill>
                            <a:srgbClr val="000000"/>
                          </a:solidFill>
                          <a:latin typeface="Cambria Math" panose="02040503050406030204" pitchFamily="18" charset="0"/>
                        </a:rPr>
                        <m:t>=∞, 0&lt;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m:t>
                          </m:r>
                        </m:sub>
                      </m:sSub>
                      <m:r>
                        <a:rPr lang="en-US" i="1">
                          <a:solidFill>
                            <a:srgbClr val="000000"/>
                          </a:solidFill>
                          <a:latin typeface="Cambria Math" panose="02040503050406030204" pitchFamily="18" charset="0"/>
                        </a:rPr>
                        <m:t>&lt;∞</m:t>
                      </m:r>
                    </m:oMath>
                  </m:oMathPara>
                </a14:m>
                <a:endParaRPr lang="en-US" altLang="zh-CN" b="0" dirty="0"/>
              </a:p>
              <a:p>
                <a:pPr marL="971550" lvl="1" indent="-514350" eaLnBrk="1" hangingPunct="1">
                  <a:lnSpc>
                    <a:spcPct val="120000"/>
                  </a:lnSpc>
                  <a:spcBef>
                    <a:spcPts val="0"/>
                  </a:spcBef>
                  <a:spcAft>
                    <a:spcPts val="600"/>
                  </a:spcAft>
                  <a:buFont typeface="+mj-lt"/>
                  <a:buAutoNum type="arabicPeriod" startAt="3"/>
                  <a:defRPr/>
                </a:pPr>
                <a:r>
                  <a:rPr lang="zh-CN" altLang="en-US" b="0" dirty="0"/>
                  <a:t>信号的总能量和平均功率都无限，即：</a:t>
                </a:r>
                <a:endParaRPr lang="en-US" altLang="zh-CN" b="0" dirty="0"/>
              </a:p>
              <a:p>
                <a:pPr marL="457200" lvl="1" indent="0" eaLnBrk="1" hangingPunct="1">
                  <a:lnSpc>
                    <a:spcPct val="120000"/>
                  </a:lnSpc>
                  <a:spcBef>
                    <a:spcPts val="0"/>
                  </a:spcBef>
                  <a:spcAft>
                    <a:spcPts val="600"/>
                  </a:spcAft>
                  <a:buNone/>
                  <a:defRPr/>
                </a:pPr>
                <a14:m>
                  <m:oMathPara xmlns:m="http://schemas.openxmlformats.org/officeDocument/2006/math">
                    <m:oMathParaPr>
                      <m:jc m:val="centerGroup"/>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𝐸</m:t>
                          </m:r>
                        </m:e>
                        <m:sub>
                          <m:r>
                            <a:rPr lang="en-US" i="1">
                              <a:solidFill>
                                <a:srgbClr val="000000"/>
                              </a:solidFill>
                              <a:latin typeface="Cambria Math" panose="02040503050406030204" pitchFamily="18" charset="0"/>
                            </a:rPr>
                            <m:t>∞</m:t>
                          </m:r>
                        </m:sub>
                      </m:sSub>
                      <m:r>
                        <a:rPr lang="en-US" i="1">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m:t>
                          </m:r>
                        </m:sub>
                      </m:sSub>
                      <m:r>
                        <a:rPr lang="en-US" i="1">
                          <a:solidFill>
                            <a:srgbClr val="000000"/>
                          </a:solidFill>
                          <a:latin typeface="Cambria Math" panose="02040503050406030204" pitchFamily="18" charset="0"/>
                        </a:rPr>
                        <m:t>=∞</m:t>
                      </m:r>
                    </m:oMath>
                  </m:oMathPara>
                </a14:m>
                <a:endParaRPr lang="zh-CN" altLang="en-US" b="0" dirty="0"/>
              </a:p>
            </p:txBody>
          </p:sp>
        </mc:Choice>
        <mc:Fallback xmlns="">
          <p:sp>
            <p:nvSpPr>
              <p:cNvPr id="3" name="内容占位符 2">
                <a:extLst>
                  <a:ext uri="{FF2B5EF4-FFF2-40B4-BE49-F238E27FC236}">
                    <a16:creationId xmlns:a16="http://schemas.microsoft.com/office/drawing/2014/main" id="{AE41B53E-0B8B-478B-BAF1-6C69CBF81F87}"/>
                  </a:ext>
                </a:extLst>
              </p:cNvPr>
              <p:cNvSpPr>
                <a:spLocks noGrp="1" noRot="1" noChangeAspect="1" noMove="1" noResize="1" noEditPoints="1" noAdjustHandles="1" noChangeArrowheads="1" noChangeShapeType="1" noTextEdit="1"/>
              </p:cNvSpPr>
              <p:nvPr>
                <p:ph idx="1"/>
              </p:nvPr>
            </p:nvSpPr>
            <p:spPr>
              <a:xfrm>
                <a:off x="457200" y="1285875"/>
                <a:ext cx="8229600" cy="4956742"/>
              </a:xfrm>
              <a:blipFill>
                <a:blip r:embed="rId2"/>
                <a:stretch>
                  <a:fillRect l="-1333" t="-984"/>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CE64E152-DC86-447B-B9F8-DEB13DCD45D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72FE5C9-2890-43C6-848B-3C35B15C65AE}" type="slidenum">
              <a:rPr lang="zh-CN" altLang="en-US">
                <a:solidFill>
                  <a:srgbClr val="898989"/>
                </a:solidFill>
                <a:latin typeface="Calibri" panose="020F0502020204030204" pitchFamily="34" charset="0"/>
              </a:rPr>
              <a:pPr eaLnBrk="1" hangingPunct="1"/>
              <a:t>22</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a:extLst>
              <a:ext uri="{FF2B5EF4-FFF2-40B4-BE49-F238E27FC236}">
                <a16:creationId xmlns:a16="http://schemas.microsoft.com/office/drawing/2014/main" id="{10989569-EF10-4B1B-9A7E-0A4301ACD523}"/>
              </a:ext>
            </a:extLst>
          </p:cNvPr>
          <p:cNvSpPr>
            <a:spLocks noGrp="1"/>
          </p:cNvSpPr>
          <p:nvPr>
            <p:ph type="sldNum" sz="quarter" idx="12"/>
          </p:nvPr>
        </p:nvSpPr>
        <p:spPr/>
        <p:txBody>
          <a:bodyPr vert="horz" wrap="square" lIns="91440" tIns="45720" rIns="91440" bIns="45720" numCol="1" anchor="ctr" anchorCtr="0" compatLnSpc="1">
            <a:prstTxWarp prst="textNoShape">
              <a:avLst/>
            </a:prstTxWarp>
          </a:bodyPr>
          <a:lstStyle/>
          <a:p>
            <a:fld id="{AA0CBC92-E9B3-49A2-9FD4-3D0565A4BDBF}" type="slidenum">
              <a:rPr lang="zh-CN" altLang="en-US"/>
              <a:pPr/>
              <a:t>23</a:t>
            </a:fld>
            <a:endParaRPr lang="en-US" altLang="zh-CN"/>
          </a:p>
        </p:txBody>
      </p:sp>
      <p:pic>
        <p:nvPicPr>
          <p:cNvPr id="30724" name="Picture 4">
            <a:extLst>
              <a:ext uri="{FF2B5EF4-FFF2-40B4-BE49-F238E27FC236}">
                <a16:creationId xmlns:a16="http://schemas.microsoft.com/office/drawing/2014/main" id="{4179EE47-A138-4A48-A231-539597A6CC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163817"/>
            <a:ext cx="8077200"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矩形 2">
            <a:extLst>
              <a:ext uri="{FF2B5EF4-FFF2-40B4-BE49-F238E27FC236}">
                <a16:creationId xmlns:a16="http://schemas.microsoft.com/office/drawing/2014/main" id="{1A6F49C5-00C1-4C43-BBFC-1CD3AA42E40B}"/>
              </a:ext>
            </a:extLst>
          </p:cNvPr>
          <p:cNvSpPr>
            <a:spLocks noChangeArrowheads="1"/>
          </p:cNvSpPr>
          <p:nvPr/>
        </p:nvSpPr>
        <p:spPr bwMode="auto">
          <a:xfrm>
            <a:off x="358755" y="4601050"/>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zh-CN" altLang="en-US" sz="2800" dirty="0">
                <a:solidFill>
                  <a:srgbClr val="0000FF"/>
                </a:solidFill>
                <a:latin typeface="楷体" panose="02010609060101010101" pitchFamily="49" charset="-122"/>
                <a:ea typeface="楷体" panose="02010609060101010101" pitchFamily="49" charset="-122"/>
              </a:rPr>
              <a:t>能量信号</a:t>
            </a:r>
            <a:endParaRPr lang="en-US" altLang="en-US" sz="2800" dirty="0">
              <a:solidFill>
                <a:srgbClr val="0000FF"/>
              </a:solidFill>
              <a:latin typeface="楷体" panose="02010609060101010101" pitchFamily="49" charset="-122"/>
              <a:ea typeface="楷体" panose="02010609060101010101" pitchFamily="49" charset="-122"/>
            </a:endParaRPr>
          </a:p>
        </p:txBody>
      </p:sp>
      <p:sp>
        <p:nvSpPr>
          <p:cNvPr id="30726" name="矩形 6">
            <a:extLst>
              <a:ext uri="{FF2B5EF4-FFF2-40B4-BE49-F238E27FC236}">
                <a16:creationId xmlns:a16="http://schemas.microsoft.com/office/drawing/2014/main" id="{B9DD7E40-6A95-465D-9117-805C91103DEF}"/>
              </a:ext>
            </a:extLst>
          </p:cNvPr>
          <p:cNvSpPr>
            <a:spLocks noChangeArrowheads="1"/>
          </p:cNvSpPr>
          <p:nvPr/>
        </p:nvSpPr>
        <p:spPr bwMode="auto">
          <a:xfrm>
            <a:off x="2959366" y="4601050"/>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zh-CN" altLang="en-US" sz="2800" dirty="0">
                <a:solidFill>
                  <a:srgbClr val="0000FF"/>
                </a:solidFill>
                <a:latin typeface="楷体" panose="02010609060101010101" pitchFamily="49" charset="-122"/>
                <a:ea typeface="楷体" panose="02010609060101010101" pitchFamily="49" charset="-122"/>
              </a:rPr>
              <a:t>功率信号</a:t>
            </a:r>
            <a:endParaRPr lang="en-US" altLang="en-US" sz="2800" dirty="0">
              <a:solidFill>
                <a:srgbClr val="0000FF"/>
              </a:solidFill>
              <a:latin typeface="楷体" panose="02010609060101010101" pitchFamily="49" charset="-122"/>
              <a:ea typeface="楷体" panose="02010609060101010101" pitchFamily="49" charset="-122"/>
            </a:endParaRPr>
          </a:p>
        </p:txBody>
      </p:sp>
      <p:sp>
        <p:nvSpPr>
          <p:cNvPr id="30727" name="矩形 7">
            <a:extLst>
              <a:ext uri="{FF2B5EF4-FFF2-40B4-BE49-F238E27FC236}">
                <a16:creationId xmlns:a16="http://schemas.microsoft.com/office/drawing/2014/main" id="{9BD72464-56BD-4981-99CA-CFB2533E9EFB}"/>
              </a:ext>
            </a:extLst>
          </p:cNvPr>
          <p:cNvSpPr>
            <a:spLocks noChangeArrowheads="1"/>
          </p:cNvSpPr>
          <p:nvPr/>
        </p:nvSpPr>
        <p:spPr bwMode="auto">
          <a:xfrm>
            <a:off x="5724128" y="4385606"/>
            <a:ext cx="252028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zh-CN" altLang="en-US" sz="2800" dirty="0">
                <a:solidFill>
                  <a:srgbClr val="0000FF"/>
                </a:solidFill>
                <a:latin typeface="楷体" panose="02010609060101010101" pitchFamily="49" charset="-122"/>
                <a:ea typeface="楷体" panose="02010609060101010101" pitchFamily="49" charset="-122"/>
              </a:rPr>
              <a:t>既非能量信号</a:t>
            </a:r>
            <a:endParaRPr lang="en-US" altLang="zh-CN" sz="2800" dirty="0">
              <a:solidFill>
                <a:srgbClr val="0000FF"/>
              </a:solidFill>
              <a:latin typeface="楷体" panose="02010609060101010101" pitchFamily="49" charset="-122"/>
              <a:ea typeface="楷体" panose="02010609060101010101" pitchFamily="49" charset="-122"/>
            </a:endParaRPr>
          </a:p>
          <a:p>
            <a:pPr algn="ctr" eaLnBrk="1" hangingPunct="1"/>
            <a:r>
              <a:rPr lang="zh-CN" altLang="en-US" sz="2800" dirty="0">
                <a:solidFill>
                  <a:srgbClr val="0000FF"/>
                </a:solidFill>
                <a:latin typeface="楷体" panose="02010609060101010101" pitchFamily="49" charset="-122"/>
                <a:ea typeface="楷体" panose="02010609060101010101" pitchFamily="49" charset="-122"/>
              </a:rPr>
              <a:t>又非功率信号</a:t>
            </a:r>
            <a:endParaRPr lang="en-US" altLang="en-US" sz="2800" dirty="0">
              <a:solidFill>
                <a:srgbClr val="0000FF"/>
              </a:solidFill>
              <a:latin typeface="楷体" panose="02010609060101010101" pitchFamily="49" charset="-122"/>
              <a:ea typeface="楷体" panose="02010609060101010101" pitchFamily="49" charset="-122"/>
            </a:endParaRPr>
          </a:p>
        </p:txBody>
      </p:sp>
      <p:sp>
        <p:nvSpPr>
          <p:cNvPr id="9" name="标题 1">
            <a:extLst>
              <a:ext uri="{FF2B5EF4-FFF2-40B4-BE49-F238E27FC236}">
                <a16:creationId xmlns:a16="http://schemas.microsoft.com/office/drawing/2014/main" id="{C0D47613-7C54-420D-9E57-3EAB9847844D}"/>
              </a:ext>
            </a:extLst>
          </p:cNvPr>
          <p:cNvSpPr>
            <a:spLocks noGrp="1"/>
          </p:cNvSpPr>
          <p:nvPr>
            <p:ph type="title"/>
          </p:nvPr>
        </p:nvSpPr>
        <p:spPr>
          <a:xfrm>
            <a:off x="457200" y="274638"/>
            <a:ext cx="8229600" cy="725487"/>
          </a:xfrm>
        </p:spPr>
        <p:txBody>
          <a:bodyPr/>
          <a:lstStyle/>
          <a:p>
            <a:pPr eaLnBrk="1" hangingPunct="1"/>
            <a:r>
              <a:rPr lang="en-US" altLang="zh-CN" dirty="0"/>
              <a:t>1.1  </a:t>
            </a:r>
            <a:r>
              <a:rPr lang="zh-CN" altLang="en-US" dirty="0"/>
              <a:t>连续时间与离散时间信号</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标题 1">
            <a:extLst>
              <a:ext uri="{FF2B5EF4-FFF2-40B4-BE49-F238E27FC236}">
                <a16:creationId xmlns:a16="http://schemas.microsoft.com/office/drawing/2014/main" id="{479B9139-5050-4A55-A479-C2D9662651C4}"/>
              </a:ext>
            </a:extLst>
          </p:cNvPr>
          <p:cNvSpPr>
            <a:spLocks noGrp="1"/>
          </p:cNvSpPr>
          <p:nvPr>
            <p:ph type="title"/>
          </p:nvPr>
        </p:nvSpPr>
        <p:spPr/>
        <p:txBody>
          <a:bodyPr/>
          <a:lstStyle/>
          <a:p>
            <a:pPr eaLnBrk="1" hangingPunct="1"/>
            <a:r>
              <a:rPr lang="en-US" altLang="zh-CN"/>
              <a:t>1.1  </a:t>
            </a:r>
            <a:r>
              <a:rPr lang="zh-CN" altLang="en-US"/>
              <a:t>连续时间与离散时间信号</a:t>
            </a:r>
          </a:p>
        </p:txBody>
      </p:sp>
      <mc:AlternateContent xmlns:mc="http://schemas.openxmlformats.org/markup-compatibility/2006" xmlns:a14="http://schemas.microsoft.com/office/drawing/2010/main">
        <mc:Choice Requires="a14">
          <p:sp>
            <p:nvSpPr>
              <p:cNvPr id="6150" name="内容占位符 2">
                <a:extLst>
                  <a:ext uri="{FF2B5EF4-FFF2-40B4-BE49-F238E27FC236}">
                    <a16:creationId xmlns:a16="http://schemas.microsoft.com/office/drawing/2014/main" id="{3CB84080-D832-4E9D-B969-EDF2B503427A}"/>
                  </a:ext>
                </a:extLst>
              </p:cNvPr>
              <p:cNvSpPr>
                <a:spLocks noGrp="1"/>
              </p:cNvSpPr>
              <p:nvPr>
                <p:ph idx="1"/>
              </p:nvPr>
            </p:nvSpPr>
            <p:spPr>
              <a:xfrm>
                <a:off x="457200" y="1285875"/>
                <a:ext cx="8229600" cy="2012859"/>
              </a:xfrm>
            </p:spPr>
            <p:txBody>
              <a:bodyPr>
                <a:spAutoFit/>
              </a:bodyPr>
              <a:lstStyle/>
              <a:p>
                <a:pPr eaLnBrk="1" hangingPunct="1"/>
                <a:r>
                  <a:rPr lang="zh-CN" altLang="en-US" sz="2400" b="0" dirty="0"/>
                  <a:t>三</a:t>
                </a:r>
                <a:r>
                  <a:rPr lang="en-US" altLang="zh-CN" sz="2400" b="0" dirty="0"/>
                  <a:t>. </a:t>
                </a:r>
                <a:r>
                  <a:rPr lang="zh-CN" altLang="en-US" sz="2400" b="0" dirty="0"/>
                  <a:t>周期信号：</a:t>
                </a:r>
              </a:p>
              <a:p>
                <a:pPr algn="just" eaLnBrk="1" hangingPunct="1"/>
                <a:r>
                  <a:rPr lang="zh-CN" altLang="en-US" sz="2400" b="0" dirty="0"/>
                  <a:t>如果存在正实数</a:t>
                </a:r>
                <a14:m>
                  <m:oMath xmlns:m="http://schemas.openxmlformats.org/officeDocument/2006/math">
                    <m:r>
                      <a:rPr lang="en-US" sz="2400" b="0" i="1">
                        <a:solidFill>
                          <a:srgbClr val="000000"/>
                        </a:solidFill>
                        <a:latin typeface="Cambria Math" panose="02040503050406030204" pitchFamily="18" charset="0"/>
                      </a:rPr>
                      <m:t>𝑇</m:t>
                    </m:r>
                  </m:oMath>
                </a14:m>
                <a:r>
                  <a:rPr lang="zh-CN" altLang="en-US" sz="2400" b="0" dirty="0"/>
                  <a:t>，使</a:t>
                </a:r>
                <a14:m>
                  <m:oMath xmlns:m="http://schemas.openxmlformats.org/officeDocument/2006/math">
                    <m:r>
                      <a:rPr lang="en-US" sz="2400" b="0" i="1">
                        <a:solidFill>
                          <a:srgbClr val="000000"/>
                        </a:solidFill>
                        <a:latin typeface="Cambria Math" panose="02040503050406030204" pitchFamily="18" charset="0"/>
                      </a:rPr>
                      <m:t>𝑥</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𝑇</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𝑥</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oMath>
                </a14:m>
                <a:r>
                  <a:rPr lang="zh-CN" altLang="en-US" sz="2400" b="0" dirty="0"/>
                  <a:t>对任意</a:t>
                </a:r>
                <a14:m>
                  <m:oMath xmlns:m="http://schemas.openxmlformats.org/officeDocument/2006/math">
                    <m:r>
                      <a:rPr lang="en-US" sz="2400" b="0" i="1">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ea typeface="Cambria Math" panose="02040503050406030204" pitchFamily="18" charset="0"/>
                      </a:rPr>
                      <m:t>∈</m:t>
                    </m:r>
                    <m:r>
                      <a:rPr lang="en-US" sz="2400" b="0" i="1" smtClean="0">
                        <a:solidFill>
                          <a:srgbClr val="000000"/>
                        </a:solidFill>
                        <a:latin typeface="Cambria Math" panose="02040503050406030204" pitchFamily="18" charset="0"/>
                        <a:ea typeface="Cambria Math" panose="02040503050406030204" pitchFamily="18" charset="0"/>
                      </a:rPr>
                      <m:t>𝑅</m:t>
                    </m:r>
                  </m:oMath>
                </a14:m>
                <a:r>
                  <a:rPr lang="zh-CN" altLang="en-US" sz="2400" b="0" dirty="0"/>
                  <a:t>成立，或存在正整数</a:t>
                </a:r>
                <a14:m>
                  <m:oMath xmlns:m="http://schemas.openxmlformats.org/officeDocument/2006/math">
                    <m:r>
                      <a:rPr lang="en-US" sz="2400" b="0" i="1" smtClean="0">
                        <a:solidFill>
                          <a:srgbClr val="000000"/>
                        </a:solidFill>
                        <a:latin typeface="Cambria Math" panose="02040503050406030204" pitchFamily="18" charset="0"/>
                      </a:rPr>
                      <m:t>𝑁</m:t>
                    </m:r>
                  </m:oMath>
                </a14:m>
                <a:r>
                  <a:rPr lang="zh-CN" altLang="en-US" sz="2400" b="0" dirty="0"/>
                  <a:t>，使</a:t>
                </a:r>
                <a14:m>
                  <m:oMath xmlns:m="http://schemas.openxmlformats.org/officeDocument/2006/math">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𝑁</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a14:m>
                <a:r>
                  <a:rPr lang="zh-CN" altLang="en-US" sz="2400" b="0" dirty="0"/>
                  <a:t>对任意</a:t>
                </a:r>
                <a14:m>
                  <m:oMath xmlns:m="http://schemas.openxmlformats.org/officeDocument/2006/math">
                    <m:r>
                      <a:rPr lang="en-US" sz="2400" b="0" i="1" smtClean="0">
                        <a:solidFill>
                          <a:srgbClr val="000000"/>
                        </a:solidFill>
                        <a:latin typeface="Cambria Math" panose="02040503050406030204" pitchFamily="18" charset="0"/>
                      </a:rPr>
                      <m:t>𝑛</m:t>
                    </m:r>
                    <m:r>
                      <a:rPr lang="en-US" sz="2400" b="0" i="1">
                        <a:solidFill>
                          <a:srgbClr val="000000"/>
                        </a:solidFill>
                        <a:latin typeface="Cambria Math" panose="02040503050406030204" pitchFamily="18" charset="0"/>
                        <a:ea typeface="Cambria Math" panose="02040503050406030204" pitchFamily="18" charset="0"/>
                      </a:rPr>
                      <m:t>∈</m:t>
                    </m:r>
                    <m:r>
                      <a:rPr lang="en-US" sz="2400" b="0" i="1" smtClean="0">
                        <a:solidFill>
                          <a:srgbClr val="000000"/>
                        </a:solidFill>
                        <a:latin typeface="Cambria Math" panose="02040503050406030204" pitchFamily="18" charset="0"/>
                        <a:ea typeface="Cambria Math" panose="02040503050406030204" pitchFamily="18" charset="0"/>
                      </a:rPr>
                      <m:t>𝑍</m:t>
                    </m:r>
                  </m:oMath>
                </a14:m>
                <a:r>
                  <a:rPr lang="zh-CN" altLang="en-US" sz="2400" b="0" dirty="0"/>
                  <a:t>，则称信号</a:t>
                </a:r>
                <a14:m>
                  <m:oMath xmlns:m="http://schemas.openxmlformats.org/officeDocument/2006/math">
                    <m:r>
                      <a:rPr lang="en-US" sz="2400" b="0" i="1">
                        <a:solidFill>
                          <a:srgbClr val="000000"/>
                        </a:solidFill>
                        <a:latin typeface="Cambria Math" panose="02040503050406030204" pitchFamily="18" charset="0"/>
                      </a:rPr>
                      <m:t>𝑥</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oMath>
                </a14:m>
                <a:r>
                  <a:rPr lang="zh-CN" altLang="en-US" sz="2400" b="0" dirty="0"/>
                  <a:t>或</a:t>
                </a:r>
                <a14:m>
                  <m:oMath xmlns:m="http://schemas.openxmlformats.org/officeDocument/2006/math">
                    <m:r>
                      <a:rPr lang="en-US" sz="2400" b="0" i="1">
                        <a:solidFill>
                          <a:srgbClr val="000000"/>
                        </a:solidFill>
                        <a:latin typeface="Cambria Math" panose="02040503050406030204" pitchFamily="18" charset="0"/>
                      </a:rPr>
                      <m:t>𝑥</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a14:m>
                <a:r>
                  <a:rPr lang="zh-CN" altLang="en-US" sz="2400" b="0" dirty="0"/>
                  <a:t>是</a:t>
                </a:r>
                <a:r>
                  <a:rPr lang="zh-CN" altLang="en-US" sz="2400" dirty="0">
                    <a:solidFill>
                      <a:srgbClr val="FF0000"/>
                    </a:solidFill>
                  </a:rPr>
                  <a:t>周期信号</a:t>
                </a:r>
                <a:r>
                  <a:rPr lang="zh-CN" altLang="en-US" sz="2400" b="0" dirty="0"/>
                  <a:t>。其中</a:t>
                </a:r>
                <a:r>
                  <a:rPr lang="zh-CN" altLang="en-US" sz="2400" b="0" dirty="0">
                    <a:solidFill>
                      <a:srgbClr val="FF0000"/>
                    </a:solidFill>
                  </a:rPr>
                  <a:t>最小的</a:t>
                </a:r>
                <a14:m>
                  <m:oMath xmlns:m="http://schemas.openxmlformats.org/officeDocument/2006/math">
                    <m:r>
                      <a:rPr lang="en-US" sz="2400" b="0" i="1" smtClean="0">
                        <a:solidFill>
                          <a:srgbClr val="FF0000"/>
                        </a:solidFill>
                        <a:latin typeface="Cambria Math" panose="02040503050406030204" pitchFamily="18" charset="0"/>
                      </a:rPr>
                      <m:t>𝑇</m:t>
                    </m:r>
                  </m:oMath>
                </a14:m>
                <a:r>
                  <a:rPr lang="zh-CN" altLang="en-US" sz="2400" b="0" dirty="0">
                    <a:solidFill>
                      <a:srgbClr val="FF0000"/>
                    </a:solidFill>
                  </a:rPr>
                  <a:t>或</a:t>
                </a:r>
                <a14:m>
                  <m:oMath xmlns:m="http://schemas.openxmlformats.org/officeDocument/2006/math">
                    <m:r>
                      <a:rPr lang="en-US" sz="2400" b="0" i="1" smtClean="0">
                        <a:solidFill>
                          <a:srgbClr val="FF0000"/>
                        </a:solidFill>
                        <a:latin typeface="Cambria Math" panose="02040503050406030204" pitchFamily="18" charset="0"/>
                      </a:rPr>
                      <m:t>𝑁</m:t>
                    </m:r>
                  </m:oMath>
                </a14:m>
                <a:r>
                  <a:rPr lang="zh-CN" altLang="en-US" sz="2400" b="0" dirty="0"/>
                  <a:t>称为信号的</a:t>
                </a:r>
                <a:r>
                  <a:rPr lang="zh-CN" altLang="en-US" sz="2400" dirty="0">
                    <a:solidFill>
                      <a:srgbClr val="FF0000"/>
                    </a:solidFill>
                  </a:rPr>
                  <a:t>基波周期</a:t>
                </a:r>
                <a:r>
                  <a:rPr lang="zh-CN" altLang="en-US" sz="2400" b="0" dirty="0"/>
                  <a:t>。</a:t>
                </a:r>
              </a:p>
            </p:txBody>
          </p:sp>
        </mc:Choice>
        <mc:Fallback xmlns="">
          <p:sp>
            <p:nvSpPr>
              <p:cNvPr id="6150" name="内容占位符 2">
                <a:extLst>
                  <a:ext uri="{FF2B5EF4-FFF2-40B4-BE49-F238E27FC236}">
                    <a16:creationId xmlns:a16="http://schemas.microsoft.com/office/drawing/2014/main" id="{3CB84080-D832-4E9D-B969-EDF2B503427A}"/>
                  </a:ext>
                </a:extLst>
              </p:cNvPr>
              <p:cNvSpPr>
                <a:spLocks noGrp="1" noRot="1" noChangeAspect="1" noMove="1" noResize="1" noEditPoints="1" noAdjustHandles="1" noChangeArrowheads="1" noChangeShapeType="1" noTextEdit="1"/>
              </p:cNvSpPr>
              <p:nvPr>
                <p:ph idx="1"/>
              </p:nvPr>
            </p:nvSpPr>
            <p:spPr>
              <a:xfrm>
                <a:off x="457200" y="1285875"/>
                <a:ext cx="8229600" cy="2012859"/>
              </a:xfrm>
              <a:blipFill>
                <a:blip r:embed="rId3"/>
                <a:stretch>
                  <a:fillRect l="-963" t="-3333" r="-1111" b="-5152"/>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0681DE4B-C2EB-4982-80EE-D806CA1C59B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516CC62-3F10-4D1A-8B35-33C20B70E342}" type="slidenum">
              <a:rPr lang="zh-CN" altLang="en-US">
                <a:solidFill>
                  <a:srgbClr val="898989"/>
                </a:solidFill>
                <a:latin typeface="Calibri" panose="020F0502020204030204" pitchFamily="34" charset="0"/>
              </a:rPr>
              <a:pPr eaLnBrk="1" hangingPunct="1"/>
              <a:t>24</a:t>
            </a:fld>
            <a:endParaRPr lang="zh-CN" altLang="en-US">
              <a:solidFill>
                <a:srgbClr val="898989"/>
              </a:solidFill>
              <a:latin typeface="Calibri" panose="020F0502020204030204" pitchFamily="34" charset="0"/>
            </a:endParaRPr>
          </a:p>
        </p:txBody>
      </p:sp>
      <p:sp>
        <p:nvSpPr>
          <p:cNvPr id="6152" name="Text Box 10">
            <a:extLst>
              <a:ext uri="{FF2B5EF4-FFF2-40B4-BE49-F238E27FC236}">
                <a16:creationId xmlns:a16="http://schemas.microsoft.com/office/drawing/2014/main" id="{0CD5FF97-2AD6-466D-B420-2123D31D0734}"/>
              </a:ext>
            </a:extLst>
          </p:cNvPr>
          <p:cNvSpPr txBox="1">
            <a:spLocks noChangeArrowheads="1"/>
          </p:cNvSpPr>
          <p:nvPr/>
        </p:nvSpPr>
        <p:spPr bwMode="auto">
          <a:xfrm>
            <a:off x="1481161" y="4703733"/>
            <a:ext cx="26590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0000FF"/>
                </a:solidFill>
                <a:latin typeface="楷体" panose="02010609060101010101" pitchFamily="49" charset="-122"/>
                <a:ea typeface="楷体" panose="02010609060101010101" pitchFamily="49" charset="-122"/>
              </a:rPr>
              <a:t>连续时间周期信号</a:t>
            </a:r>
          </a:p>
        </p:txBody>
      </p:sp>
      <p:sp>
        <p:nvSpPr>
          <p:cNvPr id="6153" name="Rectangle 11">
            <a:extLst>
              <a:ext uri="{FF2B5EF4-FFF2-40B4-BE49-F238E27FC236}">
                <a16:creationId xmlns:a16="http://schemas.microsoft.com/office/drawing/2014/main" id="{72A1A378-ACAC-480D-AAEF-6CB2016E47BB}"/>
              </a:ext>
            </a:extLst>
          </p:cNvPr>
          <p:cNvSpPr>
            <a:spLocks noChangeArrowheads="1"/>
          </p:cNvSpPr>
          <p:nvPr/>
        </p:nvSpPr>
        <p:spPr bwMode="auto">
          <a:xfrm>
            <a:off x="5207997" y="4703733"/>
            <a:ext cx="26590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dirty="0">
                <a:solidFill>
                  <a:srgbClr val="0000FF"/>
                </a:solidFill>
                <a:latin typeface="楷体" panose="02010609060101010101" pitchFamily="49" charset="-122"/>
                <a:ea typeface="楷体" panose="02010609060101010101" pitchFamily="49" charset="-122"/>
              </a:rPr>
              <a:t>离散时间周期信号</a:t>
            </a:r>
          </a:p>
        </p:txBody>
      </p:sp>
      <p:pic>
        <p:nvPicPr>
          <p:cNvPr id="8" name="图片 7">
            <a:extLst>
              <a:ext uri="{FF2B5EF4-FFF2-40B4-BE49-F238E27FC236}">
                <a16:creationId xmlns:a16="http://schemas.microsoft.com/office/drawing/2014/main" id="{BAE568E4-42DD-4A00-ABB2-0E1BBCCDC8EB}"/>
              </a:ext>
            </a:extLst>
          </p:cNvPr>
          <p:cNvPicPr>
            <a:picLocks noChangeAspect="1"/>
          </p:cNvPicPr>
          <p:nvPr/>
        </p:nvPicPr>
        <p:blipFill>
          <a:blip r:embed="rId4"/>
          <a:stretch>
            <a:fillRect/>
          </a:stretch>
        </p:blipFill>
        <p:spPr>
          <a:xfrm>
            <a:off x="1096194" y="3284984"/>
            <a:ext cx="3421380" cy="1363980"/>
          </a:xfrm>
          <a:prstGeom prst="rect">
            <a:avLst/>
          </a:prstGeom>
        </p:spPr>
      </p:pic>
      <p:pic>
        <p:nvPicPr>
          <p:cNvPr id="12" name="图片 11">
            <a:extLst>
              <a:ext uri="{FF2B5EF4-FFF2-40B4-BE49-F238E27FC236}">
                <a16:creationId xmlns:a16="http://schemas.microsoft.com/office/drawing/2014/main" id="{EBDD2C23-FE1E-4C34-9F98-35E6ADF86C7C}"/>
              </a:ext>
            </a:extLst>
          </p:cNvPr>
          <p:cNvPicPr>
            <a:picLocks noChangeAspect="1"/>
          </p:cNvPicPr>
          <p:nvPr/>
        </p:nvPicPr>
        <p:blipFill>
          <a:blip r:embed="rId5"/>
          <a:stretch>
            <a:fillRect/>
          </a:stretch>
        </p:blipFill>
        <p:spPr>
          <a:xfrm>
            <a:off x="4830648" y="3323084"/>
            <a:ext cx="3413760" cy="1287780"/>
          </a:xfrm>
          <a:prstGeom prst="rect">
            <a:avLst/>
          </a:prstGeom>
        </p:spPr>
      </p:pic>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A77EA637-A268-4606-BBBA-82594555C0D7}"/>
                  </a:ext>
                </a:extLst>
              </p:cNvPr>
              <p:cNvSpPr txBox="1"/>
              <p:nvPr/>
            </p:nvSpPr>
            <p:spPr>
              <a:xfrm>
                <a:off x="457200" y="5229200"/>
                <a:ext cx="8229600" cy="830997"/>
              </a:xfrm>
              <a:prstGeom prst="rect">
                <a:avLst/>
              </a:prstGeom>
              <a:noFill/>
            </p:spPr>
            <p:txBody>
              <a:bodyPr wrap="square">
                <a:spAutoFit/>
              </a:bodyPr>
              <a:lstStyle/>
              <a:p>
                <a:pPr marL="342900" lvl="0" indent="-342900" algn="just">
                  <a:spcBef>
                    <a:spcPct val="20000"/>
                  </a:spcBef>
                  <a:buFont typeface="Arial" panose="020B0604020202020204" pitchFamily="34" charset="0"/>
                  <a:buChar char="•"/>
                  <a:defRPr/>
                </a:pPr>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楷体" pitchFamily="49" charset="-122"/>
                  </a:rPr>
                  <a:t> </a:t>
                </a:r>
                <a14:m>
                  <m:oMath xmlns:m="http://schemas.openxmlformats.org/officeDocument/2006/math">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𝑐</m:t>
                    </m:r>
                  </m:oMath>
                </a14:m>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楷体" pitchFamily="49" charset="-122"/>
                  </a:rPr>
                  <a:t>可视为周期信号，其基波周期没有确切定义。</a:t>
                </a:r>
                <a14:m>
                  <m:oMath xmlns:m="http://schemas.openxmlformats.org/officeDocument/2006/math">
                    <m:r>
                      <a:rPr lang="en-US" sz="2400" b="0" i="1">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𝑐</m:t>
                    </m:r>
                  </m:oMath>
                </a14:m>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楷体" pitchFamily="49" charset="-122"/>
                  </a:rPr>
                  <a:t>也可视为周期信号，其基波周期</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𝑁</m:t>
                        </m:r>
                      </m:e>
                      <m:sub>
                        <m:r>
                          <a:rPr lang="en-US" sz="2400" b="0" i="1">
                            <a:solidFill>
                              <a:srgbClr val="000000"/>
                            </a:solidFill>
                            <a:latin typeface="Cambria Math" panose="02040503050406030204" pitchFamily="18" charset="0"/>
                          </a:rPr>
                          <m:t>0</m:t>
                        </m:r>
                      </m:sub>
                    </m:sSub>
                    <m:r>
                      <a:rPr lang="en-US" sz="2400" b="0" i="1">
                        <a:solidFill>
                          <a:srgbClr val="000000"/>
                        </a:solidFill>
                        <a:latin typeface="Cambria Math" panose="02040503050406030204" pitchFamily="18" charset="0"/>
                      </a:rPr>
                      <m:t>=1</m:t>
                    </m:r>
                  </m:oMath>
                </a14:m>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楷体" pitchFamily="49" charset="-122"/>
                  </a:rPr>
                  <a:t>。</a:t>
                </a:r>
                <a:endParaRPr lang="en-US" sz="1400" dirty="0"/>
              </a:p>
            </p:txBody>
          </p:sp>
        </mc:Choice>
        <mc:Fallback xmlns="">
          <p:sp>
            <p:nvSpPr>
              <p:cNvPr id="23" name="文本框 22">
                <a:extLst>
                  <a:ext uri="{FF2B5EF4-FFF2-40B4-BE49-F238E27FC236}">
                    <a16:creationId xmlns:a16="http://schemas.microsoft.com/office/drawing/2014/main" id="{A77EA637-A268-4606-BBBA-82594555C0D7}"/>
                  </a:ext>
                </a:extLst>
              </p:cNvPr>
              <p:cNvSpPr txBox="1">
                <a:spLocks noRot="1" noChangeAspect="1" noMove="1" noResize="1" noEditPoints="1" noAdjustHandles="1" noChangeArrowheads="1" noChangeShapeType="1" noTextEdit="1"/>
              </p:cNvSpPr>
              <p:nvPr/>
            </p:nvSpPr>
            <p:spPr>
              <a:xfrm>
                <a:off x="457200" y="5229200"/>
                <a:ext cx="8229600" cy="830997"/>
              </a:xfrm>
              <a:prstGeom prst="rect">
                <a:avLst/>
              </a:prstGeom>
              <a:blipFill>
                <a:blip r:embed="rId6"/>
                <a:stretch>
                  <a:fillRect l="-963" t="-8088" r="-1111" b="-13971"/>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6" name="标题 1">
            <a:extLst>
              <a:ext uri="{FF2B5EF4-FFF2-40B4-BE49-F238E27FC236}">
                <a16:creationId xmlns:a16="http://schemas.microsoft.com/office/drawing/2014/main" id="{3C38545F-BED5-4017-A787-42475818D5C5}"/>
              </a:ext>
            </a:extLst>
          </p:cNvPr>
          <p:cNvSpPr>
            <a:spLocks noGrp="1"/>
          </p:cNvSpPr>
          <p:nvPr>
            <p:ph type="title"/>
          </p:nvPr>
        </p:nvSpPr>
        <p:spPr/>
        <p:txBody>
          <a:bodyPr/>
          <a:lstStyle/>
          <a:p>
            <a:pPr eaLnBrk="1" hangingPunct="1"/>
            <a:r>
              <a:rPr lang="en-US" altLang="zh-CN" dirty="0"/>
              <a:t>1.2  </a:t>
            </a:r>
            <a:r>
              <a:rPr lang="zh-CN" altLang="en-US" dirty="0"/>
              <a:t>自变量变换</a:t>
            </a:r>
          </a:p>
        </p:txBody>
      </p:sp>
      <p:sp>
        <p:nvSpPr>
          <p:cNvPr id="8207" name="内容占位符 2">
            <a:extLst>
              <a:ext uri="{FF2B5EF4-FFF2-40B4-BE49-F238E27FC236}">
                <a16:creationId xmlns:a16="http://schemas.microsoft.com/office/drawing/2014/main" id="{CCD429A0-9B60-4624-BE12-B8BD22AB0194}"/>
              </a:ext>
            </a:extLst>
          </p:cNvPr>
          <p:cNvSpPr>
            <a:spLocks noGrp="1"/>
          </p:cNvSpPr>
          <p:nvPr>
            <p:ph idx="1"/>
          </p:nvPr>
        </p:nvSpPr>
        <p:spPr>
          <a:xfrm>
            <a:off x="457200" y="1285875"/>
            <a:ext cx="8229600" cy="1557349"/>
          </a:xfrm>
        </p:spPr>
        <p:txBody>
          <a:bodyPr>
            <a:spAutoFit/>
          </a:bodyPr>
          <a:lstStyle/>
          <a:p>
            <a:pPr eaLnBrk="1" hangingPunct="1"/>
            <a:r>
              <a:rPr lang="zh-CN" altLang="en-US" sz="2800" b="0" dirty="0"/>
              <a:t>通过改变自变量，可产生其它信号。</a:t>
            </a:r>
            <a:endParaRPr lang="en-US" altLang="zh-CN" sz="2800" b="0" dirty="0"/>
          </a:p>
          <a:p>
            <a:pPr eaLnBrk="1" hangingPunct="1"/>
            <a:r>
              <a:rPr lang="zh-CN" altLang="en-US" sz="2800" b="0" dirty="0"/>
              <a:t>一</a:t>
            </a:r>
            <a:r>
              <a:rPr lang="en-US" altLang="zh-CN" sz="2800" b="0" dirty="0"/>
              <a:t>. </a:t>
            </a:r>
            <a:r>
              <a:rPr lang="zh-CN" altLang="en-US" sz="2800" b="0" dirty="0"/>
              <a:t>自变量变换</a:t>
            </a:r>
            <a:endParaRPr lang="en-US" altLang="zh-CN" sz="2800" b="0" dirty="0"/>
          </a:p>
          <a:p>
            <a:pPr eaLnBrk="1" hangingPunct="1"/>
            <a:r>
              <a:rPr lang="en-US" altLang="zh-CN" sz="2800" b="0" dirty="0"/>
              <a:t>1. </a:t>
            </a:r>
            <a:r>
              <a:rPr lang="zh-CN" altLang="en-US" sz="2800" dirty="0">
                <a:solidFill>
                  <a:srgbClr val="FF0000"/>
                </a:solidFill>
              </a:rPr>
              <a:t>时移变换</a:t>
            </a:r>
            <a:endParaRPr lang="zh-CN" altLang="en-US" sz="2800" b="0" dirty="0"/>
          </a:p>
        </p:txBody>
      </p:sp>
      <p:sp>
        <p:nvSpPr>
          <p:cNvPr id="4" name="灯片编号占位符 3">
            <a:extLst>
              <a:ext uri="{FF2B5EF4-FFF2-40B4-BE49-F238E27FC236}">
                <a16:creationId xmlns:a16="http://schemas.microsoft.com/office/drawing/2014/main" id="{FAE28D34-94EB-4779-A828-5F30CBE185D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B94D3F8-8426-41FE-BCE5-D6214925777C}" type="slidenum">
              <a:rPr lang="zh-CN" altLang="en-US">
                <a:solidFill>
                  <a:srgbClr val="898989"/>
                </a:solidFill>
                <a:latin typeface="Calibri" panose="020F0502020204030204" pitchFamily="34" charset="0"/>
              </a:rPr>
              <a:pPr eaLnBrk="1" hangingPunct="1"/>
              <a:t>25</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8194" name="Object 2">
                <a:extLst>
                  <a:ext uri="{FF2B5EF4-FFF2-40B4-BE49-F238E27FC236}">
                    <a16:creationId xmlns:a16="http://schemas.microsoft.com/office/drawing/2014/main" id="{962D86FB-04B8-4A78-B97F-A0A40E2AC270}"/>
                  </a:ext>
                </a:extLst>
              </p:cNvPr>
              <p:cNvSpPr txBox="1"/>
              <p:nvPr/>
            </p:nvSpPr>
            <p:spPr bwMode="auto">
              <a:xfrm>
                <a:off x="1167838" y="2832894"/>
                <a:ext cx="2828098" cy="520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b="0" i="1">
                          <a:solidFill>
                            <a:srgbClr val="000000"/>
                          </a:solidFill>
                          <a:latin typeface="Cambria Math" panose="02040503050406030204" pitchFamily="18" charset="0"/>
                        </a:rPr>
                        <m:t>𝑥</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𝑡</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𝑥</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𝑡</m:t>
                      </m:r>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𝑡</m:t>
                          </m:r>
                        </m:e>
                        <m:sub>
                          <m:r>
                            <a:rPr lang="en-US" sz="2800" b="0" i="1">
                              <a:solidFill>
                                <a:srgbClr val="000000"/>
                              </a:solidFill>
                              <a:latin typeface="Cambria Math" panose="02040503050406030204" pitchFamily="18" charset="0"/>
                            </a:rPr>
                            <m:t>0</m:t>
                          </m:r>
                        </m:sub>
                      </m:sSub>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8194" name="Object 2">
                <a:extLst>
                  <a:ext uri="{FF2B5EF4-FFF2-40B4-BE49-F238E27FC236}">
                    <a16:creationId xmlns:a16="http://schemas.microsoft.com/office/drawing/2014/main" id="{962D86FB-04B8-4A78-B97F-A0A40E2AC270}"/>
                  </a:ext>
                </a:extLst>
              </p:cNvPr>
              <p:cNvSpPr txBox="1">
                <a:spLocks noRot="1" noChangeAspect="1" noMove="1" noResize="1" noEditPoints="1" noAdjustHandles="1" noChangeArrowheads="1" noChangeShapeType="1" noTextEdit="1"/>
              </p:cNvSpPr>
              <p:nvPr/>
            </p:nvSpPr>
            <p:spPr bwMode="auto">
              <a:xfrm>
                <a:off x="1167838" y="2832894"/>
                <a:ext cx="2828098" cy="520700"/>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10" name="Text Box 7">
                <a:extLst>
                  <a:ext uri="{FF2B5EF4-FFF2-40B4-BE49-F238E27FC236}">
                    <a16:creationId xmlns:a16="http://schemas.microsoft.com/office/drawing/2014/main" id="{1D97E520-1AC1-4B73-BBC3-F3746C49F934}"/>
                  </a:ext>
                </a:extLst>
              </p:cNvPr>
              <p:cNvSpPr txBox="1">
                <a:spLocks noChangeArrowheads="1"/>
              </p:cNvSpPr>
              <p:nvPr/>
            </p:nvSpPr>
            <p:spPr bwMode="auto">
              <a:xfrm>
                <a:off x="2123728" y="3439754"/>
                <a:ext cx="4759701"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99"/>
                    </a:solidFill>
                    <a:latin typeface="Times New Roman" panose="02020603050405020304" pitchFamily="18" charset="0"/>
                    <a:ea typeface="楷体" panose="02010609060101010101" pitchFamily="49" charset="-122"/>
                  </a:rPr>
                  <a:t>当</a:t>
                </a: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𝑡</m:t>
                        </m:r>
                      </m:e>
                      <m:sub>
                        <m:r>
                          <a:rPr lang="en-US" sz="2800" b="0" i="1">
                            <a:solidFill>
                              <a:srgbClr val="000000"/>
                            </a:solidFill>
                            <a:latin typeface="Cambria Math" panose="02040503050406030204" pitchFamily="18" charset="0"/>
                          </a:rPr>
                          <m:t>0</m:t>
                        </m:r>
                      </m:sub>
                    </m:sSub>
                    <m:r>
                      <a:rPr lang="en-US" sz="2800" b="0" i="1">
                        <a:solidFill>
                          <a:srgbClr val="000000"/>
                        </a:solidFill>
                        <a:latin typeface="Cambria Math" panose="02040503050406030204" pitchFamily="18" charset="0"/>
                      </a:rPr>
                      <m:t>&gt;0</m:t>
                    </m:r>
                  </m:oMath>
                </a14:m>
                <a:r>
                  <a:rPr lang="zh-CN" altLang="en-US" sz="2800" dirty="0">
                    <a:solidFill>
                      <a:srgbClr val="000099"/>
                    </a:solidFill>
                    <a:latin typeface="Times New Roman" panose="02020603050405020304" pitchFamily="18" charset="0"/>
                    <a:ea typeface="楷体" panose="02010609060101010101" pitchFamily="49" charset="-122"/>
                  </a:rPr>
                  <a:t>时，信号向右平移</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𝑡</m:t>
                        </m:r>
                      </m:e>
                      <m:sub>
                        <m:r>
                          <a:rPr lang="en-US" sz="2800" b="0" i="1">
                            <a:solidFill>
                              <a:srgbClr val="000000"/>
                            </a:solidFill>
                            <a:latin typeface="Cambria Math" panose="02040503050406030204" pitchFamily="18" charset="0"/>
                          </a:rPr>
                          <m:t>0</m:t>
                        </m:r>
                      </m:sub>
                    </m:sSub>
                  </m:oMath>
                </a14:m>
                <a:endParaRPr lang="zh-CN" altLang="en-US" sz="2800" dirty="0">
                  <a:solidFill>
                    <a:srgbClr val="000099"/>
                  </a:solidFill>
                  <a:latin typeface="Times New Roman" panose="02020603050405020304" pitchFamily="18" charset="0"/>
                  <a:ea typeface="楷体" panose="02010609060101010101" pitchFamily="49" charset="-122"/>
                </a:endParaRPr>
              </a:p>
            </p:txBody>
          </p:sp>
        </mc:Choice>
        <mc:Fallback xmlns="">
          <p:sp>
            <p:nvSpPr>
              <p:cNvPr id="8210" name="Text Box 7">
                <a:extLst>
                  <a:ext uri="{FF2B5EF4-FFF2-40B4-BE49-F238E27FC236}">
                    <a16:creationId xmlns:a16="http://schemas.microsoft.com/office/drawing/2014/main" id="{1D97E520-1AC1-4B73-BBC3-F3746C49F934}"/>
                  </a:ext>
                </a:extLst>
              </p:cNvPr>
              <p:cNvSpPr txBox="1">
                <a:spLocks noRot="1" noChangeAspect="1" noMove="1" noResize="1" noEditPoints="1" noAdjustHandles="1" noChangeArrowheads="1" noChangeShapeType="1" noTextEdit="1"/>
              </p:cNvSpPr>
              <p:nvPr/>
            </p:nvSpPr>
            <p:spPr bwMode="auto">
              <a:xfrm>
                <a:off x="2123728" y="3439754"/>
                <a:ext cx="4759701" cy="523220"/>
              </a:xfrm>
              <a:prstGeom prst="rect">
                <a:avLst/>
              </a:prstGeom>
              <a:blipFill>
                <a:blip r:embed="rId3"/>
                <a:stretch>
                  <a:fillRect l="-2561" t="-15116" b="-2790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11" name="Text Box 11">
                <a:extLst>
                  <a:ext uri="{FF2B5EF4-FFF2-40B4-BE49-F238E27FC236}">
                    <a16:creationId xmlns:a16="http://schemas.microsoft.com/office/drawing/2014/main" id="{8BF2B106-FD53-4FC0-B7D0-14D6505B54A8}"/>
                  </a:ext>
                </a:extLst>
              </p:cNvPr>
              <p:cNvSpPr txBox="1">
                <a:spLocks noChangeArrowheads="1"/>
              </p:cNvSpPr>
              <p:nvPr/>
            </p:nvSpPr>
            <p:spPr bwMode="auto">
              <a:xfrm>
                <a:off x="2483768" y="4049134"/>
                <a:ext cx="4626266"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𝑡</m:t>
                        </m:r>
                      </m:e>
                      <m:sub>
                        <m:r>
                          <a:rPr lang="en-US" sz="2800" b="0" i="1">
                            <a:solidFill>
                              <a:srgbClr val="000000"/>
                            </a:solidFill>
                            <a:latin typeface="Cambria Math" panose="02040503050406030204" pitchFamily="18" charset="0"/>
                          </a:rPr>
                          <m:t>0</m:t>
                        </m:r>
                      </m:sub>
                    </m:sSub>
                    <m:r>
                      <a:rPr lang="en-US" sz="2800" b="0" i="1">
                        <a:solidFill>
                          <a:srgbClr val="000000"/>
                        </a:solidFill>
                        <a:latin typeface="Cambria Math" panose="02040503050406030204" pitchFamily="18" charset="0"/>
                      </a:rPr>
                      <m:t>&lt;0</m:t>
                    </m:r>
                  </m:oMath>
                </a14:m>
                <a:r>
                  <a:rPr lang="zh-CN" altLang="en-US" sz="2800" dirty="0">
                    <a:solidFill>
                      <a:srgbClr val="000099"/>
                    </a:solidFill>
                    <a:latin typeface="Times New Roman" panose="02020603050405020304" pitchFamily="18" charset="0"/>
                    <a:ea typeface="楷体" panose="02010609060101010101" pitchFamily="49" charset="-122"/>
                  </a:rPr>
                  <a:t>时，信号向左平移</a:t>
                </a:r>
                <a14:m>
                  <m:oMath xmlns:m="http://schemas.openxmlformats.org/officeDocument/2006/math">
                    <m:d>
                      <m:dPr>
                        <m:begChr m:val="|"/>
                        <m:endChr m:val="|"/>
                        <m:ctrlPr>
                          <a:rPr lang="en-US" sz="2800" i="1">
                            <a:solidFill>
                              <a:srgbClr val="000000"/>
                            </a:solidFill>
                            <a:latin typeface="Cambria Math" panose="02040503050406030204" pitchFamily="18" charset="0"/>
                          </a:rPr>
                        </m:ctrlPr>
                      </m:dPr>
                      <m:e>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𝑡</m:t>
                            </m:r>
                          </m:e>
                          <m:sub>
                            <m:r>
                              <a:rPr lang="en-US" sz="2800" b="0" i="1">
                                <a:solidFill>
                                  <a:srgbClr val="000000"/>
                                </a:solidFill>
                                <a:latin typeface="Cambria Math" panose="02040503050406030204" pitchFamily="18" charset="0"/>
                              </a:rPr>
                              <m:t>0</m:t>
                            </m:r>
                          </m:sub>
                        </m:sSub>
                      </m:e>
                    </m:d>
                  </m:oMath>
                </a14:m>
                <a:endParaRPr lang="zh-CN" altLang="en-US" sz="2800" dirty="0">
                  <a:solidFill>
                    <a:srgbClr val="000099"/>
                  </a:solidFill>
                  <a:latin typeface="Times New Roman" panose="02020603050405020304" pitchFamily="18" charset="0"/>
                  <a:ea typeface="楷体" panose="02010609060101010101" pitchFamily="49" charset="-122"/>
                </a:endParaRPr>
              </a:p>
            </p:txBody>
          </p:sp>
        </mc:Choice>
        <mc:Fallback xmlns="">
          <p:sp>
            <p:nvSpPr>
              <p:cNvPr id="8211" name="Text Box 11">
                <a:extLst>
                  <a:ext uri="{FF2B5EF4-FFF2-40B4-BE49-F238E27FC236}">
                    <a16:creationId xmlns:a16="http://schemas.microsoft.com/office/drawing/2014/main" id="{8BF2B106-FD53-4FC0-B7D0-14D6505B54A8}"/>
                  </a:ext>
                </a:extLst>
              </p:cNvPr>
              <p:cNvSpPr txBox="1">
                <a:spLocks noRot="1" noChangeAspect="1" noMove="1" noResize="1" noEditPoints="1" noAdjustHandles="1" noChangeArrowheads="1" noChangeShapeType="1" noTextEdit="1"/>
              </p:cNvSpPr>
              <p:nvPr/>
            </p:nvSpPr>
            <p:spPr bwMode="auto">
              <a:xfrm>
                <a:off x="2483768" y="4049134"/>
                <a:ext cx="4626266" cy="523220"/>
              </a:xfrm>
              <a:prstGeom prst="rect">
                <a:avLst/>
              </a:prstGeom>
              <a:blipFill>
                <a:blip r:embed="rId4"/>
                <a:stretch>
                  <a:fillRect t="-15116" b="-2790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00" name="Object 8">
                <a:extLst>
                  <a:ext uri="{FF2B5EF4-FFF2-40B4-BE49-F238E27FC236}">
                    <a16:creationId xmlns:a16="http://schemas.microsoft.com/office/drawing/2014/main" id="{17FCDF40-B078-4497-A481-F66BD1205767}"/>
                  </a:ext>
                </a:extLst>
              </p:cNvPr>
              <p:cNvSpPr txBox="1"/>
              <p:nvPr/>
            </p:nvSpPr>
            <p:spPr bwMode="auto">
              <a:xfrm>
                <a:off x="1167838" y="4658514"/>
                <a:ext cx="2828098" cy="523220"/>
              </a:xfrm>
              <a:prstGeom prst="rect">
                <a:avLst/>
              </a:prstGeom>
              <a:noFill/>
              <a:ln>
                <a:noFill/>
              </a:ln>
              <a:effectLst/>
            </p:spPr>
            <p:txBody>
              <a:bodyPr wrap="square">
                <a:spAutoFit/>
              </a:bodyPr>
              <a:lstStyle/>
              <a:p>
                <a14:m>
                  <m:oMath xmlns:m="http://schemas.openxmlformats.org/officeDocument/2006/math">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ea typeface="Cambria Math" panose="02040503050406030204" pitchFamily="18" charset="0"/>
                      </a:rPr>
                      <m:t>→</m:t>
                    </m:r>
                    <m:r>
                      <a:rPr lang="en-US" sz="2800" b="0" i="1">
                        <a:solidFill>
                          <a:srgbClr val="000000"/>
                        </a:solidFill>
                        <a:latin typeface="Cambria Math" panose="02040503050406030204" pitchFamily="18" charset="0"/>
                      </a:rPr>
                      <m:t>𝑥</m:t>
                    </m:r>
                  </m:oMath>
                </a14:m>
                <a:r>
                  <a:rPr lang="en-US" sz="2800" dirty="0"/>
                  <a:t>[</a:t>
                </a:r>
                <a14:m>
                  <m:oMath xmlns:m="http://schemas.openxmlformats.org/officeDocument/2006/math">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𝑛</m:t>
                        </m:r>
                      </m:e>
                      <m:sub>
                        <m:r>
                          <a:rPr lang="en-US" sz="2800" i="1">
                            <a:solidFill>
                              <a:srgbClr val="000000"/>
                            </a:solidFill>
                            <a:latin typeface="Cambria Math" panose="02040503050406030204" pitchFamily="18" charset="0"/>
                          </a:rPr>
                          <m:t>0</m:t>
                        </m:r>
                      </m:sub>
                    </m:sSub>
                  </m:oMath>
                </a14:m>
                <a:r>
                  <a:rPr lang="en-US" sz="2800" dirty="0"/>
                  <a:t>]</a:t>
                </a:r>
              </a:p>
            </p:txBody>
          </p:sp>
        </mc:Choice>
        <mc:Fallback xmlns="">
          <p:sp>
            <p:nvSpPr>
              <p:cNvPr id="8200" name="Object 8">
                <a:extLst>
                  <a:ext uri="{FF2B5EF4-FFF2-40B4-BE49-F238E27FC236}">
                    <a16:creationId xmlns:a16="http://schemas.microsoft.com/office/drawing/2014/main" id="{17FCDF40-B078-4497-A481-F66BD1205767}"/>
                  </a:ext>
                </a:extLst>
              </p:cNvPr>
              <p:cNvSpPr txBox="1">
                <a:spLocks noRot="1" noChangeAspect="1" noMove="1" noResize="1" noEditPoints="1" noAdjustHandles="1" noChangeArrowheads="1" noChangeShapeType="1" noTextEdit="1"/>
              </p:cNvSpPr>
              <p:nvPr/>
            </p:nvSpPr>
            <p:spPr bwMode="auto">
              <a:xfrm>
                <a:off x="1167838" y="4658514"/>
                <a:ext cx="2828098" cy="523220"/>
              </a:xfrm>
              <a:prstGeom prst="rect">
                <a:avLst/>
              </a:prstGeom>
              <a:blipFill>
                <a:blip r:embed="rId5"/>
                <a:stretch>
                  <a:fillRect t="-11628" r="-1078" b="-3139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13" name="Text Box 16">
                <a:extLst>
                  <a:ext uri="{FF2B5EF4-FFF2-40B4-BE49-F238E27FC236}">
                    <a16:creationId xmlns:a16="http://schemas.microsoft.com/office/drawing/2014/main" id="{80C9472A-2E1A-4F8D-9654-98EC0DF23A2D}"/>
                  </a:ext>
                </a:extLst>
              </p:cNvPr>
              <p:cNvSpPr txBox="1">
                <a:spLocks noChangeArrowheads="1"/>
              </p:cNvSpPr>
              <p:nvPr/>
            </p:nvSpPr>
            <p:spPr bwMode="auto">
              <a:xfrm>
                <a:off x="2123728" y="5267894"/>
                <a:ext cx="4923207"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99"/>
                    </a:solidFill>
                    <a:latin typeface="Times New Roman" panose="02020603050405020304" pitchFamily="18" charset="0"/>
                    <a:ea typeface="楷体" panose="02010609060101010101" pitchFamily="49" charset="-122"/>
                  </a:rPr>
                  <a:t>当</a:t>
                </a: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𝑛</m:t>
                        </m:r>
                      </m:e>
                      <m:sub>
                        <m:r>
                          <a:rPr lang="en-US" sz="2800" b="0" i="1">
                            <a:solidFill>
                              <a:srgbClr val="000000"/>
                            </a:solidFill>
                            <a:latin typeface="Cambria Math" panose="02040503050406030204" pitchFamily="18" charset="0"/>
                          </a:rPr>
                          <m:t>0</m:t>
                        </m:r>
                      </m:sub>
                    </m:sSub>
                    <m:r>
                      <a:rPr lang="en-US" sz="2800" b="0" i="1">
                        <a:solidFill>
                          <a:srgbClr val="000000"/>
                        </a:solidFill>
                        <a:latin typeface="Cambria Math" panose="02040503050406030204" pitchFamily="18" charset="0"/>
                      </a:rPr>
                      <m:t>&gt;0</m:t>
                    </m:r>
                  </m:oMath>
                </a14:m>
                <a:r>
                  <a:rPr lang="zh-CN" altLang="en-US" sz="2800" dirty="0">
                    <a:solidFill>
                      <a:srgbClr val="000099"/>
                    </a:solidFill>
                    <a:latin typeface="Times New Roman" panose="02020603050405020304" pitchFamily="18" charset="0"/>
                    <a:ea typeface="楷体" panose="02010609060101010101" pitchFamily="49" charset="-122"/>
                  </a:rPr>
                  <a:t>时，信号向右平移</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𝑛</m:t>
                        </m:r>
                      </m:e>
                      <m:sub>
                        <m:r>
                          <a:rPr lang="en-US" sz="2800" b="0" i="1">
                            <a:solidFill>
                              <a:srgbClr val="000000"/>
                            </a:solidFill>
                            <a:latin typeface="Cambria Math" panose="02040503050406030204" pitchFamily="18" charset="0"/>
                          </a:rPr>
                          <m:t>0</m:t>
                        </m:r>
                      </m:sub>
                    </m:sSub>
                  </m:oMath>
                </a14:m>
                <a:endParaRPr lang="zh-CN" altLang="en-US" sz="2800" dirty="0">
                  <a:solidFill>
                    <a:srgbClr val="000099"/>
                  </a:solidFill>
                  <a:latin typeface="Times New Roman" panose="02020603050405020304" pitchFamily="18" charset="0"/>
                  <a:ea typeface="楷体" panose="02010609060101010101" pitchFamily="49" charset="-122"/>
                </a:endParaRPr>
              </a:p>
            </p:txBody>
          </p:sp>
        </mc:Choice>
        <mc:Fallback xmlns="">
          <p:sp>
            <p:nvSpPr>
              <p:cNvPr id="8213" name="Text Box 16">
                <a:extLst>
                  <a:ext uri="{FF2B5EF4-FFF2-40B4-BE49-F238E27FC236}">
                    <a16:creationId xmlns:a16="http://schemas.microsoft.com/office/drawing/2014/main" id="{80C9472A-2E1A-4F8D-9654-98EC0DF23A2D}"/>
                  </a:ext>
                </a:extLst>
              </p:cNvPr>
              <p:cNvSpPr txBox="1">
                <a:spLocks noRot="1" noChangeAspect="1" noMove="1" noResize="1" noEditPoints="1" noAdjustHandles="1" noChangeArrowheads="1" noChangeShapeType="1" noTextEdit="1"/>
              </p:cNvSpPr>
              <p:nvPr/>
            </p:nvSpPr>
            <p:spPr bwMode="auto">
              <a:xfrm>
                <a:off x="2123728" y="5267894"/>
                <a:ext cx="4923207" cy="523220"/>
              </a:xfrm>
              <a:prstGeom prst="rect">
                <a:avLst/>
              </a:prstGeom>
              <a:blipFill>
                <a:blip r:embed="rId6"/>
                <a:stretch>
                  <a:fillRect l="-2475" t="-15116" b="-2790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14" name="Text Box 20">
                <a:extLst>
                  <a:ext uri="{FF2B5EF4-FFF2-40B4-BE49-F238E27FC236}">
                    <a16:creationId xmlns:a16="http://schemas.microsoft.com/office/drawing/2014/main" id="{DF737D5A-D8A6-48D7-8461-B07543CAD603}"/>
                  </a:ext>
                </a:extLst>
              </p:cNvPr>
              <p:cNvSpPr txBox="1">
                <a:spLocks noChangeArrowheads="1"/>
              </p:cNvSpPr>
              <p:nvPr/>
            </p:nvSpPr>
            <p:spPr bwMode="auto">
              <a:xfrm>
                <a:off x="2483768" y="5877272"/>
                <a:ext cx="4790157"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𝑛</m:t>
                        </m:r>
                      </m:e>
                      <m:sub>
                        <m:r>
                          <a:rPr lang="en-US" sz="2800" b="0" i="1">
                            <a:solidFill>
                              <a:srgbClr val="000000"/>
                            </a:solidFill>
                            <a:latin typeface="Cambria Math" panose="02040503050406030204" pitchFamily="18" charset="0"/>
                          </a:rPr>
                          <m:t>0</m:t>
                        </m:r>
                      </m:sub>
                    </m:sSub>
                    <m:r>
                      <a:rPr lang="en-US" sz="2800" b="0" i="1">
                        <a:solidFill>
                          <a:srgbClr val="000000"/>
                        </a:solidFill>
                        <a:latin typeface="Cambria Math" panose="02040503050406030204" pitchFamily="18" charset="0"/>
                      </a:rPr>
                      <m:t>&lt;0</m:t>
                    </m:r>
                  </m:oMath>
                </a14:m>
                <a:r>
                  <a:rPr lang="zh-CN" altLang="en-US" sz="2800" dirty="0">
                    <a:solidFill>
                      <a:srgbClr val="000099"/>
                    </a:solidFill>
                    <a:latin typeface="Times New Roman" panose="02020603050405020304" pitchFamily="18" charset="0"/>
                    <a:ea typeface="楷体" panose="02010609060101010101" pitchFamily="49" charset="-122"/>
                  </a:rPr>
                  <a:t>时，信号向左平移</a:t>
                </a:r>
                <a14:m>
                  <m:oMath xmlns:m="http://schemas.openxmlformats.org/officeDocument/2006/math">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𝑛</m:t>
                        </m:r>
                      </m:e>
                      <m:sub>
                        <m:r>
                          <a:rPr lang="en-US" sz="2800" b="0" i="1">
                            <a:solidFill>
                              <a:srgbClr val="000000"/>
                            </a:solidFill>
                            <a:latin typeface="Cambria Math" panose="02040503050406030204" pitchFamily="18" charset="0"/>
                          </a:rPr>
                          <m:t>0</m:t>
                        </m:r>
                      </m:sub>
                    </m:sSub>
                    <m:r>
                      <a:rPr lang="en-US" sz="2800" b="0" i="1">
                        <a:solidFill>
                          <a:srgbClr val="000000"/>
                        </a:solidFill>
                        <a:latin typeface="Cambria Math" panose="02040503050406030204" pitchFamily="18" charset="0"/>
                      </a:rPr>
                      <m:t>|</m:t>
                    </m:r>
                  </m:oMath>
                </a14:m>
                <a:endParaRPr lang="zh-CN" altLang="en-US" sz="2800" dirty="0">
                  <a:solidFill>
                    <a:srgbClr val="000099"/>
                  </a:solidFill>
                  <a:latin typeface="Times New Roman" panose="02020603050405020304" pitchFamily="18" charset="0"/>
                  <a:ea typeface="楷体" panose="02010609060101010101" pitchFamily="49" charset="-122"/>
                </a:endParaRPr>
              </a:p>
            </p:txBody>
          </p:sp>
        </mc:Choice>
        <mc:Fallback xmlns="">
          <p:sp>
            <p:nvSpPr>
              <p:cNvPr id="8214" name="Text Box 20">
                <a:extLst>
                  <a:ext uri="{FF2B5EF4-FFF2-40B4-BE49-F238E27FC236}">
                    <a16:creationId xmlns:a16="http://schemas.microsoft.com/office/drawing/2014/main" id="{DF737D5A-D8A6-48D7-8461-B07543CAD603}"/>
                  </a:ext>
                </a:extLst>
              </p:cNvPr>
              <p:cNvSpPr txBox="1">
                <a:spLocks noRot="1" noChangeAspect="1" noMove="1" noResize="1" noEditPoints="1" noAdjustHandles="1" noChangeArrowheads="1" noChangeShapeType="1" noTextEdit="1"/>
              </p:cNvSpPr>
              <p:nvPr/>
            </p:nvSpPr>
            <p:spPr bwMode="auto">
              <a:xfrm>
                <a:off x="2483768" y="5877272"/>
                <a:ext cx="4790157" cy="523220"/>
              </a:xfrm>
              <a:prstGeom prst="rect">
                <a:avLst/>
              </a:prstGeom>
              <a:blipFill>
                <a:blip r:embed="rId7"/>
                <a:stretch>
                  <a:fillRect t="-15116" b="-2790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A071B530-0D0E-469B-8BE8-DF4208E980A1}"/>
              </a:ext>
            </a:extLst>
          </p:cNvPr>
          <p:cNvPicPr>
            <a:picLocks noChangeAspect="1"/>
          </p:cNvPicPr>
          <p:nvPr/>
        </p:nvPicPr>
        <p:blipFill>
          <a:blip r:embed="rId2"/>
          <a:stretch>
            <a:fillRect/>
          </a:stretch>
        </p:blipFill>
        <p:spPr>
          <a:xfrm>
            <a:off x="945433" y="1484784"/>
            <a:ext cx="7253133" cy="4804023"/>
          </a:xfrm>
          <a:prstGeom prst="rect">
            <a:avLst/>
          </a:prstGeom>
        </p:spPr>
      </p:pic>
      <p:sp>
        <p:nvSpPr>
          <p:cNvPr id="8206" name="标题 1">
            <a:extLst>
              <a:ext uri="{FF2B5EF4-FFF2-40B4-BE49-F238E27FC236}">
                <a16:creationId xmlns:a16="http://schemas.microsoft.com/office/drawing/2014/main" id="{3C38545F-BED5-4017-A787-42475818D5C5}"/>
              </a:ext>
            </a:extLst>
          </p:cNvPr>
          <p:cNvSpPr>
            <a:spLocks noGrp="1"/>
          </p:cNvSpPr>
          <p:nvPr>
            <p:ph type="title"/>
          </p:nvPr>
        </p:nvSpPr>
        <p:spPr/>
        <p:txBody>
          <a:bodyPr/>
          <a:lstStyle/>
          <a:p>
            <a:pPr eaLnBrk="1" hangingPunct="1"/>
            <a:r>
              <a:rPr lang="en-US" altLang="zh-CN" dirty="0"/>
              <a:t>1.2  </a:t>
            </a:r>
            <a:r>
              <a:rPr lang="zh-CN" altLang="en-US" dirty="0"/>
              <a:t>自变量变换</a:t>
            </a:r>
            <a:endParaRPr lang="zh-CN" altLang="en-US" sz="3600" dirty="0"/>
          </a:p>
        </p:txBody>
      </p:sp>
      <p:sp>
        <p:nvSpPr>
          <p:cNvPr id="4" name="灯片编号占位符 3">
            <a:extLst>
              <a:ext uri="{FF2B5EF4-FFF2-40B4-BE49-F238E27FC236}">
                <a16:creationId xmlns:a16="http://schemas.microsoft.com/office/drawing/2014/main" id="{FAE28D34-94EB-4779-A828-5F30CBE185D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B94D3F8-8426-41FE-BCE5-D6214925777C}" type="slidenum">
              <a:rPr lang="zh-CN" altLang="en-US">
                <a:solidFill>
                  <a:srgbClr val="898989"/>
                </a:solidFill>
                <a:latin typeface="Calibri" panose="020F0502020204030204" pitchFamily="34" charset="0"/>
              </a:rPr>
              <a:pPr eaLnBrk="1" hangingPunct="1"/>
              <a:t>26</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C81A9A10-567C-4406-8581-7C26D1B30097}"/>
                  </a:ext>
                </a:extLst>
              </p:cNvPr>
              <p:cNvSpPr txBox="1"/>
              <p:nvPr/>
            </p:nvSpPr>
            <p:spPr>
              <a:xfrm>
                <a:off x="1115616" y="1484784"/>
                <a:ext cx="64807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𝑥</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𝑡</m:t>
                      </m:r>
                      <m:r>
                        <a:rPr lang="en-US" sz="2000" b="0" i="1" smtClean="0">
                          <a:solidFill>
                            <a:srgbClr val="000000"/>
                          </a:solidFill>
                          <a:latin typeface="Cambria Math" panose="02040503050406030204" pitchFamily="18" charset="0"/>
                        </a:rPr>
                        <m:t>)</m:t>
                      </m:r>
                    </m:oMath>
                  </m:oMathPara>
                </a14:m>
                <a:endParaRPr lang="en-US" sz="2000" dirty="0"/>
              </a:p>
            </p:txBody>
          </p:sp>
        </mc:Choice>
        <mc:Fallback xmlns="">
          <p:sp>
            <p:nvSpPr>
              <p:cNvPr id="16" name="文本框 15">
                <a:extLst>
                  <a:ext uri="{FF2B5EF4-FFF2-40B4-BE49-F238E27FC236}">
                    <a16:creationId xmlns:a16="http://schemas.microsoft.com/office/drawing/2014/main" id="{C81A9A10-567C-4406-8581-7C26D1B30097}"/>
                  </a:ext>
                </a:extLst>
              </p:cNvPr>
              <p:cNvSpPr txBox="1">
                <a:spLocks noRot="1" noChangeAspect="1" noMove="1" noResize="1" noEditPoints="1" noAdjustHandles="1" noChangeArrowheads="1" noChangeShapeType="1" noTextEdit="1"/>
              </p:cNvSpPr>
              <p:nvPr/>
            </p:nvSpPr>
            <p:spPr>
              <a:xfrm>
                <a:off x="1115616" y="1484784"/>
                <a:ext cx="648072" cy="400110"/>
              </a:xfrm>
              <a:prstGeom prst="rect">
                <a:avLst/>
              </a:prstGeom>
              <a:blipFill>
                <a:blip r:embed="rId3"/>
                <a:stretch>
                  <a:fillRect r="-4717" b="-18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5ADA957C-ED4C-40A3-B31D-9CC2E116D6C8}"/>
                  </a:ext>
                </a:extLst>
              </p:cNvPr>
              <p:cNvSpPr txBox="1"/>
              <p:nvPr/>
            </p:nvSpPr>
            <p:spPr>
              <a:xfrm>
                <a:off x="4788024" y="1484784"/>
                <a:ext cx="128418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𝑥</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𝑡</m:t>
                      </m:r>
                      <m:r>
                        <a:rPr lang="en-US" sz="2000" b="0" i="1" smtClean="0">
                          <a:solidFill>
                            <a:srgbClr val="000000"/>
                          </a:solidFill>
                          <a:latin typeface="Cambria Math" panose="02040503050406030204" pitchFamily="18" charset="0"/>
                        </a:rPr>
                        <m:t>−1)</m:t>
                      </m:r>
                    </m:oMath>
                  </m:oMathPara>
                </a14:m>
                <a:endParaRPr lang="en-US" sz="2000" dirty="0"/>
              </a:p>
            </p:txBody>
          </p:sp>
        </mc:Choice>
        <mc:Fallback xmlns="">
          <p:sp>
            <p:nvSpPr>
              <p:cNvPr id="19" name="文本框 18">
                <a:extLst>
                  <a:ext uri="{FF2B5EF4-FFF2-40B4-BE49-F238E27FC236}">
                    <a16:creationId xmlns:a16="http://schemas.microsoft.com/office/drawing/2014/main" id="{5ADA957C-ED4C-40A3-B31D-9CC2E116D6C8}"/>
                  </a:ext>
                </a:extLst>
              </p:cNvPr>
              <p:cNvSpPr txBox="1">
                <a:spLocks noRot="1" noChangeAspect="1" noMove="1" noResize="1" noEditPoints="1" noAdjustHandles="1" noChangeArrowheads="1" noChangeShapeType="1" noTextEdit="1"/>
              </p:cNvSpPr>
              <p:nvPr/>
            </p:nvSpPr>
            <p:spPr>
              <a:xfrm>
                <a:off x="4788024" y="1484784"/>
                <a:ext cx="1284188" cy="400110"/>
              </a:xfrm>
              <a:prstGeom prst="rect">
                <a:avLst/>
              </a:prstGeom>
              <a:blipFill>
                <a:blip r:embed="rId4"/>
                <a:stretch>
                  <a:fillRect b="-18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32806B5-BCB0-4A23-B56C-71CECB83378D}"/>
                  </a:ext>
                </a:extLst>
              </p:cNvPr>
              <p:cNvSpPr txBox="1"/>
              <p:nvPr/>
            </p:nvSpPr>
            <p:spPr>
              <a:xfrm>
                <a:off x="6089824" y="3843117"/>
                <a:ext cx="142820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𝑥</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𝑡</m:t>
                      </m:r>
                      <m:r>
                        <a:rPr lang="en-US" sz="2000" b="0" i="1" smtClean="0">
                          <a:solidFill>
                            <a:srgbClr val="000000"/>
                          </a:solidFill>
                          <a:latin typeface="Cambria Math" panose="02040503050406030204" pitchFamily="18" charset="0"/>
                        </a:rPr>
                        <m:t>+1)</m:t>
                      </m:r>
                    </m:oMath>
                  </m:oMathPara>
                </a14:m>
                <a:endParaRPr lang="en-US" sz="2000" dirty="0"/>
              </a:p>
            </p:txBody>
          </p:sp>
        </mc:Choice>
        <mc:Fallback xmlns="">
          <p:sp>
            <p:nvSpPr>
              <p:cNvPr id="20" name="文本框 19">
                <a:extLst>
                  <a:ext uri="{FF2B5EF4-FFF2-40B4-BE49-F238E27FC236}">
                    <a16:creationId xmlns:a16="http://schemas.microsoft.com/office/drawing/2014/main" id="{A32806B5-BCB0-4A23-B56C-71CECB83378D}"/>
                  </a:ext>
                </a:extLst>
              </p:cNvPr>
              <p:cNvSpPr txBox="1">
                <a:spLocks noRot="1" noChangeAspect="1" noMove="1" noResize="1" noEditPoints="1" noAdjustHandles="1" noChangeArrowheads="1" noChangeShapeType="1" noTextEdit="1"/>
              </p:cNvSpPr>
              <p:nvPr/>
            </p:nvSpPr>
            <p:spPr>
              <a:xfrm>
                <a:off x="6089824" y="3843117"/>
                <a:ext cx="1428204" cy="400110"/>
              </a:xfrm>
              <a:prstGeom prst="rect">
                <a:avLst/>
              </a:prstGeom>
              <a:blipFill>
                <a:blip r:embed="rId5"/>
                <a:stretch>
                  <a:fillRect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0AB4C505-2120-4CE7-836F-B5C8D8081346}"/>
                  </a:ext>
                </a:extLst>
              </p:cNvPr>
              <p:cNvSpPr txBox="1"/>
              <p:nvPr/>
            </p:nvSpPr>
            <p:spPr>
              <a:xfrm>
                <a:off x="3347864" y="2994291"/>
                <a:ext cx="41379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𝑡</m:t>
                      </m:r>
                    </m:oMath>
                  </m:oMathPara>
                </a14:m>
                <a:endParaRPr lang="en-US" sz="2000" dirty="0"/>
              </a:p>
            </p:txBody>
          </p:sp>
        </mc:Choice>
        <mc:Fallback xmlns="">
          <p:sp>
            <p:nvSpPr>
              <p:cNvPr id="22" name="文本框 21">
                <a:extLst>
                  <a:ext uri="{FF2B5EF4-FFF2-40B4-BE49-F238E27FC236}">
                    <a16:creationId xmlns:a16="http://schemas.microsoft.com/office/drawing/2014/main" id="{0AB4C505-2120-4CE7-836F-B5C8D8081346}"/>
                  </a:ext>
                </a:extLst>
              </p:cNvPr>
              <p:cNvSpPr txBox="1">
                <a:spLocks noRot="1" noChangeAspect="1" noMove="1" noResize="1" noEditPoints="1" noAdjustHandles="1" noChangeArrowheads="1" noChangeShapeType="1" noTextEdit="1"/>
              </p:cNvSpPr>
              <p:nvPr/>
            </p:nvSpPr>
            <p:spPr>
              <a:xfrm>
                <a:off x="3347864" y="2994291"/>
                <a:ext cx="413792"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A15D088E-E34A-4059-B730-F8A8A8DC7577}"/>
                  </a:ext>
                </a:extLst>
              </p:cNvPr>
              <p:cNvSpPr txBox="1"/>
              <p:nvPr/>
            </p:nvSpPr>
            <p:spPr>
              <a:xfrm>
                <a:off x="7326038" y="3158403"/>
                <a:ext cx="41379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𝑡</m:t>
                      </m:r>
                    </m:oMath>
                  </m:oMathPara>
                </a14:m>
                <a:endParaRPr lang="en-US" sz="2000" dirty="0"/>
              </a:p>
            </p:txBody>
          </p:sp>
        </mc:Choice>
        <mc:Fallback xmlns="">
          <p:sp>
            <p:nvSpPr>
              <p:cNvPr id="23" name="文本框 22">
                <a:extLst>
                  <a:ext uri="{FF2B5EF4-FFF2-40B4-BE49-F238E27FC236}">
                    <a16:creationId xmlns:a16="http://schemas.microsoft.com/office/drawing/2014/main" id="{A15D088E-E34A-4059-B730-F8A8A8DC7577}"/>
                  </a:ext>
                </a:extLst>
              </p:cNvPr>
              <p:cNvSpPr txBox="1">
                <a:spLocks noRot="1" noChangeAspect="1" noMove="1" noResize="1" noEditPoints="1" noAdjustHandles="1" noChangeArrowheads="1" noChangeShapeType="1" noTextEdit="1"/>
              </p:cNvSpPr>
              <p:nvPr/>
            </p:nvSpPr>
            <p:spPr>
              <a:xfrm>
                <a:off x="7326038" y="3158403"/>
                <a:ext cx="413792" cy="40011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2B30692B-B3A9-40A1-8B74-3928100772B6}"/>
                  </a:ext>
                </a:extLst>
              </p:cNvPr>
              <p:cNvSpPr txBox="1"/>
              <p:nvPr/>
            </p:nvSpPr>
            <p:spPr>
              <a:xfrm>
                <a:off x="7812360" y="5445224"/>
                <a:ext cx="41379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𝑡</m:t>
                      </m:r>
                    </m:oMath>
                  </m:oMathPara>
                </a14:m>
                <a:endParaRPr lang="en-US" sz="2000" dirty="0"/>
              </a:p>
            </p:txBody>
          </p:sp>
        </mc:Choice>
        <mc:Fallback xmlns="">
          <p:sp>
            <p:nvSpPr>
              <p:cNvPr id="24" name="文本框 23">
                <a:extLst>
                  <a:ext uri="{FF2B5EF4-FFF2-40B4-BE49-F238E27FC236}">
                    <a16:creationId xmlns:a16="http://schemas.microsoft.com/office/drawing/2014/main" id="{2B30692B-B3A9-40A1-8B74-3928100772B6}"/>
                  </a:ext>
                </a:extLst>
              </p:cNvPr>
              <p:cNvSpPr txBox="1">
                <a:spLocks noRot="1" noChangeAspect="1" noMove="1" noResize="1" noEditPoints="1" noAdjustHandles="1" noChangeArrowheads="1" noChangeShapeType="1" noTextEdit="1"/>
              </p:cNvSpPr>
              <p:nvPr/>
            </p:nvSpPr>
            <p:spPr>
              <a:xfrm>
                <a:off x="7812360" y="5445224"/>
                <a:ext cx="413792" cy="400110"/>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734421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1" name="标题 1">
            <a:extLst>
              <a:ext uri="{FF2B5EF4-FFF2-40B4-BE49-F238E27FC236}">
                <a16:creationId xmlns:a16="http://schemas.microsoft.com/office/drawing/2014/main" id="{B296DC80-9B6A-4FC0-A472-75A67E23022C}"/>
              </a:ext>
            </a:extLst>
          </p:cNvPr>
          <p:cNvSpPr>
            <a:spLocks noGrp="1"/>
          </p:cNvSpPr>
          <p:nvPr>
            <p:ph type="title"/>
          </p:nvPr>
        </p:nvSpPr>
        <p:spPr/>
        <p:txBody>
          <a:bodyPr/>
          <a:lstStyle/>
          <a:p>
            <a:pPr eaLnBrk="1" hangingPunct="1"/>
            <a:r>
              <a:rPr lang="en-US" altLang="zh-CN"/>
              <a:t>1.2  </a:t>
            </a:r>
            <a:r>
              <a:rPr lang="zh-CN" altLang="en-US"/>
              <a:t>自变量变换</a:t>
            </a:r>
          </a:p>
        </p:txBody>
      </p:sp>
      <p:sp>
        <p:nvSpPr>
          <p:cNvPr id="9232" name="内容占位符 2">
            <a:extLst>
              <a:ext uri="{FF2B5EF4-FFF2-40B4-BE49-F238E27FC236}">
                <a16:creationId xmlns:a16="http://schemas.microsoft.com/office/drawing/2014/main" id="{D2C4C1B0-D68E-4C5D-96BA-8C80764F5A96}"/>
              </a:ext>
            </a:extLst>
          </p:cNvPr>
          <p:cNvSpPr>
            <a:spLocks noGrp="1"/>
          </p:cNvSpPr>
          <p:nvPr>
            <p:ph idx="1"/>
          </p:nvPr>
        </p:nvSpPr>
        <p:spPr>
          <a:xfrm>
            <a:off x="457200" y="1285875"/>
            <a:ext cx="8229600" cy="523220"/>
          </a:xfrm>
        </p:spPr>
        <p:txBody>
          <a:bodyPr>
            <a:spAutoFit/>
          </a:bodyPr>
          <a:lstStyle/>
          <a:p>
            <a:pPr eaLnBrk="1" hangingPunct="1"/>
            <a:r>
              <a:rPr lang="en-US" altLang="zh-CN" sz="2800" b="0" dirty="0"/>
              <a:t>2. </a:t>
            </a:r>
            <a:r>
              <a:rPr lang="zh-CN" altLang="en-US" sz="2800" dirty="0">
                <a:solidFill>
                  <a:srgbClr val="FF0000"/>
                </a:solidFill>
              </a:rPr>
              <a:t>反转变换</a:t>
            </a:r>
            <a:endParaRPr lang="zh-CN" altLang="en-US" sz="2800" b="0" dirty="0"/>
          </a:p>
        </p:txBody>
      </p:sp>
      <p:sp>
        <p:nvSpPr>
          <p:cNvPr id="4" name="灯片编号占位符 3">
            <a:extLst>
              <a:ext uri="{FF2B5EF4-FFF2-40B4-BE49-F238E27FC236}">
                <a16:creationId xmlns:a16="http://schemas.microsoft.com/office/drawing/2014/main" id="{C1315BD4-19C4-463F-8147-F5F93D8F8AD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9F55A6E-E533-4F78-9076-165C47FC6A2F}" type="slidenum">
              <a:rPr lang="zh-CN" altLang="en-US">
                <a:solidFill>
                  <a:srgbClr val="898989"/>
                </a:solidFill>
                <a:latin typeface="Calibri" panose="020F0502020204030204" pitchFamily="34" charset="0"/>
              </a:rPr>
              <a:pPr eaLnBrk="1" hangingPunct="1"/>
              <a:t>27</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9235" name="Text Box 6">
                <a:extLst>
                  <a:ext uri="{FF2B5EF4-FFF2-40B4-BE49-F238E27FC236}">
                    <a16:creationId xmlns:a16="http://schemas.microsoft.com/office/drawing/2014/main" id="{FB9D6D5B-1B8B-40FB-A38E-F0741B5D0899}"/>
                  </a:ext>
                </a:extLst>
              </p:cNvPr>
              <p:cNvSpPr txBox="1">
                <a:spLocks noChangeArrowheads="1"/>
              </p:cNvSpPr>
              <p:nvPr/>
            </p:nvSpPr>
            <p:spPr bwMode="auto">
              <a:xfrm>
                <a:off x="1120914" y="1971958"/>
                <a:ext cx="7125669"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14:m>
                  <m:oMath xmlns:m="http://schemas.openxmlformats.org/officeDocument/2006/math">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𝑡</m:t>
                    </m:r>
                    <m:r>
                      <a:rPr lang="en-US" sz="2800" b="0" i="1" smtClean="0">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𝑥</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𝑡</m:t>
                    </m:r>
                    <m:r>
                      <a:rPr lang="en-US" sz="2800" b="0" i="1">
                        <a:solidFill>
                          <a:srgbClr val="000000"/>
                        </a:solidFill>
                        <a:latin typeface="Cambria Math" panose="02040503050406030204" pitchFamily="18" charset="0"/>
                      </a:rPr>
                      <m:t>)</m:t>
                    </m:r>
                  </m:oMath>
                </a14:m>
                <a:r>
                  <a:rPr lang="zh-CN" altLang="en-US" sz="2800" dirty="0">
                    <a:solidFill>
                      <a:srgbClr val="000099"/>
                    </a:solidFill>
                    <a:latin typeface="Times New Roman" panose="02020603050405020304" pitchFamily="18" charset="0"/>
                    <a:ea typeface="楷体" panose="02010609060101010101" pitchFamily="49" charset="-122"/>
                  </a:rPr>
                  <a:t>信号以</a:t>
                </a:r>
                <a14:m>
                  <m:oMath xmlns:m="http://schemas.openxmlformats.org/officeDocument/2006/math">
                    <m:r>
                      <a:rPr lang="en-US" sz="2800" b="0" i="1">
                        <a:solidFill>
                          <a:srgbClr val="000000"/>
                        </a:solidFill>
                        <a:latin typeface="Cambria Math" panose="02040503050406030204" pitchFamily="18" charset="0"/>
                      </a:rPr>
                      <m:t>𝑡</m:t>
                    </m:r>
                    <m:r>
                      <a:rPr lang="en-US" sz="2800" b="0" i="1">
                        <a:solidFill>
                          <a:srgbClr val="000000"/>
                        </a:solidFill>
                        <a:latin typeface="Cambria Math" panose="02040503050406030204" pitchFamily="18" charset="0"/>
                      </a:rPr>
                      <m:t>=0</m:t>
                    </m:r>
                  </m:oMath>
                </a14:m>
                <a:r>
                  <a:rPr lang="zh-CN" altLang="en-US" sz="2800" dirty="0">
                    <a:solidFill>
                      <a:srgbClr val="000099"/>
                    </a:solidFill>
                    <a:latin typeface="Times New Roman" panose="02020603050405020304" pitchFamily="18" charset="0"/>
                    <a:ea typeface="楷体" panose="02010609060101010101" pitchFamily="49" charset="-122"/>
                  </a:rPr>
                  <a:t>为轴呈镜像对称。</a:t>
                </a:r>
              </a:p>
            </p:txBody>
          </p:sp>
        </mc:Choice>
        <mc:Fallback xmlns="">
          <p:sp>
            <p:nvSpPr>
              <p:cNvPr id="9235" name="Text Box 6">
                <a:extLst>
                  <a:ext uri="{FF2B5EF4-FFF2-40B4-BE49-F238E27FC236}">
                    <a16:creationId xmlns:a16="http://schemas.microsoft.com/office/drawing/2014/main" id="{FB9D6D5B-1B8B-40FB-A38E-F0741B5D0899}"/>
                  </a:ext>
                </a:extLst>
              </p:cNvPr>
              <p:cNvSpPr txBox="1">
                <a:spLocks noRot="1" noChangeAspect="1" noMove="1" noResize="1" noEditPoints="1" noAdjustHandles="1" noChangeArrowheads="1" noChangeShapeType="1" noTextEdit="1"/>
              </p:cNvSpPr>
              <p:nvPr/>
            </p:nvSpPr>
            <p:spPr bwMode="auto">
              <a:xfrm>
                <a:off x="1120914" y="1971958"/>
                <a:ext cx="7125669" cy="523220"/>
              </a:xfrm>
              <a:prstGeom prst="rect">
                <a:avLst/>
              </a:prstGeom>
              <a:blipFill>
                <a:blip r:embed="rId2"/>
                <a:stretch>
                  <a:fillRect t="-15116" b="-2790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37" name="Text Box 12">
                <a:extLst>
                  <a:ext uri="{FF2B5EF4-FFF2-40B4-BE49-F238E27FC236}">
                    <a16:creationId xmlns:a16="http://schemas.microsoft.com/office/drawing/2014/main" id="{1295661E-4ADB-4CC6-B822-0D078352711C}"/>
                  </a:ext>
                </a:extLst>
              </p:cNvPr>
              <p:cNvSpPr txBox="1">
                <a:spLocks noChangeArrowheads="1"/>
              </p:cNvSpPr>
              <p:nvPr/>
            </p:nvSpPr>
            <p:spPr bwMode="auto">
              <a:xfrm>
                <a:off x="1120914" y="2658041"/>
                <a:ext cx="6245236"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14:m>
                  <m:oMath xmlns:m="http://schemas.openxmlformats.org/officeDocument/2006/math">
                    <m:r>
                      <a:rPr lang="en-US" sz="2800" b="0" i="1">
                        <a:solidFill>
                          <a:srgbClr val="000000"/>
                        </a:solidFill>
                        <a:latin typeface="Cambria Math" panose="02040503050406030204" pitchFamily="18" charset="0"/>
                      </a:rPr>
                      <m:t>𝑥</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𝑛</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𝑥</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𝑛</m:t>
                    </m:r>
                  </m:oMath>
                </a14:m>
                <a:r>
                  <a:rPr lang="en-US" altLang="zh-CN" sz="2800" dirty="0">
                    <a:solidFill>
                      <a:srgbClr val="000099"/>
                    </a:solidFill>
                    <a:latin typeface="Times New Roman" panose="02020603050405020304" pitchFamily="18" charset="0"/>
                    <a:ea typeface="楷体" panose="02010609060101010101" pitchFamily="49" charset="-122"/>
                  </a:rPr>
                  <a:t>]</a:t>
                </a:r>
                <a:r>
                  <a:rPr lang="zh-CN" altLang="en-US" sz="2800" dirty="0">
                    <a:solidFill>
                      <a:srgbClr val="000099"/>
                    </a:solidFill>
                    <a:latin typeface="Times New Roman" panose="02020603050405020304" pitchFamily="18" charset="0"/>
                    <a:ea typeface="楷体" panose="02010609060101010101" pitchFamily="49" charset="-122"/>
                  </a:rPr>
                  <a:t>与连续时间的情况类似。</a:t>
                </a:r>
              </a:p>
            </p:txBody>
          </p:sp>
        </mc:Choice>
        <mc:Fallback xmlns="">
          <p:sp>
            <p:nvSpPr>
              <p:cNvPr id="9237" name="Text Box 12">
                <a:extLst>
                  <a:ext uri="{FF2B5EF4-FFF2-40B4-BE49-F238E27FC236}">
                    <a16:creationId xmlns:a16="http://schemas.microsoft.com/office/drawing/2014/main" id="{1295661E-4ADB-4CC6-B822-0D078352711C}"/>
                  </a:ext>
                </a:extLst>
              </p:cNvPr>
              <p:cNvSpPr txBox="1">
                <a:spLocks noRot="1" noChangeAspect="1" noMove="1" noResize="1" noEditPoints="1" noAdjustHandles="1" noChangeArrowheads="1" noChangeShapeType="1" noTextEdit="1"/>
              </p:cNvSpPr>
              <p:nvPr/>
            </p:nvSpPr>
            <p:spPr bwMode="auto">
              <a:xfrm>
                <a:off x="1120914" y="2658041"/>
                <a:ext cx="6245236" cy="523220"/>
              </a:xfrm>
              <a:prstGeom prst="rect">
                <a:avLst/>
              </a:prstGeom>
              <a:blipFill>
                <a:blip r:embed="rId3"/>
                <a:stretch>
                  <a:fillRect t="-15116" r="-391" b="-325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6" name="图片 5">
            <a:extLst>
              <a:ext uri="{FF2B5EF4-FFF2-40B4-BE49-F238E27FC236}">
                <a16:creationId xmlns:a16="http://schemas.microsoft.com/office/drawing/2014/main" id="{573B18FB-B433-4561-96C7-20B5781D8DF0}"/>
              </a:ext>
            </a:extLst>
          </p:cNvPr>
          <p:cNvPicPr>
            <a:picLocks noChangeAspect="1"/>
          </p:cNvPicPr>
          <p:nvPr/>
        </p:nvPicPr>
        <p:blipFill>
          <a:blip r:embed="rId4"/>
          <a:stretch>
            <a:fillRect/>
          </a:stretch>
        </p:blipFill>
        <p:spPr>
          <a:xfrm>
            <a:off x="1120914" y="3578039"/>
            <a:ext cx="7261025" cy="2515257"/>
          </a:xfrm>
          <a:prstGeom prst="rect">
            <a:avLst/>
          </a:prstGeom>
        </p:spPr>
      </p:pic>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B181A0F4-8D8B-4AF9-A0B9-CE6F6652B709}"/>
                  </a:ext>
                </a:extLst>
              </p:cNvPr>
              <p:cNvSpPr txBox="1"/>
              <p:nvPr/>
            </p:nvSpPr>
            <p:spPr>
              <a:xfrm>
                <a:off x="1259632" y="3347206"/>
                <a:ext cx="72008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31" name="文本框 30">
                <a:extLst>
                  <a:ext uri="{FF2B5EF4-FFF2-40B4-BE49-F238E27FC236}">
                    <a16:creationId xmlns:a16="http://schemas.microsoft.com/office/drawing/2014/main" id="{B181A0F4-8D8B-4AF9-A0B9-CE6F6652B709}"/>
                  </a:ext>
                </a:extLst>
              </p:cNvPr>
              <p:cNvSpPr txBox="1">
                <a:spLocks noRot="1" noChangeAspect="1" noMove="1" noResize="1" noEditPoints="1" noAdjustHandles="1" noChangeArrowheads="1" noChangeShapeType="1" noTextEdit="1"/>
              </p:cNvSpPr>
              <p:nvPr/>
            </p:nvSpPr>
            <p:spPr>
              <a:xfrm>
                <a:off x="1259632" y="3347206"/>
                <a:ext cx="720080" cy="461665"/>
              </a:xfrm>
              <a:prstGeom prst="rect">
                <a:avLst/>
              </a:prstGeom>
              <a:blipFill>
                <a:blip r:embed="rId5"/>
                <a:stretch>
                  <a:fillRect r="-9322" b="-197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340EF50E-EC3F-46AF-8D34-D02659EDC4CD}"/>
                  </a:ext>
                </a:extLst>
              </p:cNvPr>
              <p:cNvSpPr txBox="1"/>
              <p:nvPr/>
            </p:nvSpPr>
            <p:spPr>
              <a:xfrm>
                <a:off x="3707904" y="5204320"/>
                <a:ext cx="41379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𝑡</m:t>
                      </m:r>
                    </m:oMath>
                  </m:oMathPara>
                </a14:m>
                <a:endParaRPr lang="en-US" sz="2400" dirty="0"/>
              </a:p>
            </p:txBody>
          </p:sp>
        </mc:Choice>
        <mc:Fallback xmlns="">
          <p:sp>
            <p:nvSpPr>
              <p:cNvPr id="32" name="文本框 31">
                <a:extLst>
                  <a:ext uri="{FF2B5EF4-FFF2-40B4-BE49-F238E27FC236}">
                    <a16:creationId xmlns:a16="http://schemas.microsoft.com/office/drawing/2014/main" id="{340EF50E-EC3F-46AF-8D34-D02659EDC4CD}"/>
                  </a:ext>
                </a:extLst>
              </p:cNvPr>
              <p:cNvSpPr txBox="1">
                <a:spLocks noRot="1" noChangeAspect="1" noMove="1" noResize="1" noEditPoints="1" noAdjustHandles="1" noChangeArrowheads="1" noChangeShapeType="1" noTextEdit="1"/>
              </p:cNvSpPr>
              <p:nvPr/>
            </p:nvSpPr>
            <p:spPr>
              <a:xfrm>
                <a:off x="3707904" y="5204320"/>
                <a:ext cx="413792"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841B0DD9-9619-4B0E-9D6C-F8A3D51F4B83}"/>
                  </a:ext>
                </a:extLst>
              </p:cNvPr>
              <p:cNvSpPr txBox="1"/>
              <p:nvPr/>
            </p:nvSpPr>
            <p:spPr>
              <a:xfrm>
                <a:off x="6999285" y="3466584"/>
                <a:ext cx="102380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33" name="文本框 32">
                <a:extLst>
                  <a:ext uri="{FF2B5EF4-FFF2-40B4-BE49-F238E27FC236}">
                    <a16:creationId xmlns:a16="http://schemas.microsoft.com/office/drawing/2014/main" id="{841B0DD9-9619-4B0E-9D6C-F8A3D51F4B83}"/>
                  </a:ext>
                </a:extLst>
              </p:cNvPr>
              <p:cNvSpPr txBox="1">
                <a:spLocks noRot="1" noChangeAspect="1" noMove="1" noResize="1" noEditPoints="1" noAdjustHandles="1" noChangeArrowheads="1" noChangeShapeType="1" noTextEdit="1"/>
              </p:cNvSpPr>
              <p:nvPr/>
            </p:nvSpPr>
            <p:spPr>
              <a:xfrm>
                <a:off x="6999285" y="3466584"/>
                <a:ext cx="1023801" cy="461665"/>
              </a:xfrm>
              <a:prstGeom prst="rect">
                <a:avLst/>
              </a:prstGeom>
              <a:blipFill>
                <a:blip r:embed="rId7"/>
                <a:stretch>
                  <a:fillRect r="-2381" b="-2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E90CB008-0B9B-4452-B2AB-414234C0EFEA}"/>
                  </a:ext>
                </a:extLst>
              </p:cNvPr>
              <p:cNvSpPr txBox="1"/>
              <p:nvPr/>
            </p:nvSpPr>
            <p:spPr>
              <a:xfrm>
                <a:off x="8100392" y="5232920"/>
                <a:ext cx="41379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𝑡</m:t>
                      </m:r>
                    </m:oMath>
                  </m:oMathPara>
                </a14:m>
                <a:endParaRPr lang="en-US" sz="2400" dirty="0"/>
              </a:p>
            </p:txBody>
          </p:sp>
        </mc:Choice>
        <mc:Fallback xmlns="">
          <p:sp>
            <p:nvSpPr>
              <p:cNvPr id="34" name="文本框 33">
                <a:extLst>
                  <a:ext uri="{FF2B5EF4-FFF2-40B4-BE49-F238E27FC236}">
                    <a16:creationId xmlns:a16="http://schemas.microsoft.com/office/drawing/2014/main" id="{E90CB008-0B9B-4452-B2AB-414234C0EFEA}"/>
                  </a:ext>
                </a:extLst>
              </p:cNvPr>
              <p:cNvSpPr txBox="1">
                <a:spLocks noRot="1" noChangeAspect="1" noMove="1" noResize="1" noEditPoints="1" noAdjustHandles="1" noChangeArrowheads="1" noChangeShapeType="1" noTextEdit="1"/>
              </p:cNvSpPr>
              <p:nvPr/>
            </p:nvSpPr>
            <p:spPr>
              <a:xfrm>
                <a:off x="8100392" y="5232920"/>
                <a:ext cx="413792" cy="461665"/>
              </a:xfrm>
              <a:prstGeom prst="rect">
                <a:avLst/>
              </a:prstGeom>
              <a:blipFill>
                <a:blip r:embed="rId8"/>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1" name="标题 1">
            <a:extLst>
              <a:ext uri="{FF2B5EF4-FFF2-40B4-BE49-F238E27FC236}">
                <a16:creationId xmlns:a16="http://schemas.microsoft.com/office/drawing/2014/main" id="{B296DC80-9B6A-4FC0-A472-75A67E23022C}"/>
              </a:ext>
            </a:extLst>
          </p:cNvPr>
          <p:cNvSpPr>
            <a:spLocks noGrp="1"/>
          </p:cNvSpPr>
          <p:nvPr>
            <p:ph type="title"/>
          </p:nvPr>
        </p:nvSpPr>
        <p:spPr/>
        <p:txBody>
          <a:bodyPr/>
          <a:lstStyle/>
          <a:p>
            <a:pPr eaLnBrk="1" hangingPunct="1"/>
            <a:r>
              <a:rPr lang="en-US" altLang="zh-CN"/>
              <a:t>1.2  </a:t>
            </a:r>
            <a:r>
              <a:rPr lang="zh-CN" altLang="en-US"/>
              <a:t>自变量变换</a:t>
            </a:r>
          </a:p>
        </p:txBody>
      </p:sp>
      <p:sp>
        <p:nvSpPr>
          <p:cNvPr id="9232" name="内容占位符 2">
            <a:extLst>
              <a:ext uri="{FF2B5EF4-FFF2-40B4-BE49-F238E27FC236}">
                <a16:creationId xmlns:a16="http://schemas.microsoft.com/office/drawing/2014/main" id="{D2C4C1B0-D68E-4C5D-96BA-8C80764F5A96}"/>
              </a:ext>
            </a:extLst>
          </p:cNvPr>
          <p:cNvSpPr>
            <a:spLocks noGrp="1"/>
          </p:cNvSpPr>
          <p:nvPr>
            <p:ph idx="1"/>
          </p:nvPr>
        </p:nvSpPr>
        <p:spPr>
          <a:xfrm>
            <a:off x="457200" y="1285875"/>
            <a:ext cx="8229600" cy="523220"/>
          </a:xfrm>
        </p:spPr>
        <p:txBody>
          <a:bodyPr>
            <a:spAutoFit/>
          </a:bodyPr>
          <a:lstStyle/>
          <a:p>
            <a:pPr eaLnBrk="1" hangingPunct="1"/>
            <a:r>
              <a:rPr lang="en-US" altLang="zh-CN" sz="2800" b="0" dirty="0"/>
              <a:t>3. </a:t>
            </a:r>
            <a:r>
              <a:rPr lang="zh-CN" altLang="en-US" sz="2800" dirty="0">
                <a:solidFill>
                  <a:srgbClr val="FF0000"/>
                </a:solidFill>
              </a:rPr>
              <a:t>尺度变换</a:t>
            </a:r>
            <a:endParaRPr lang="zh-CN" altLang="en-US" sz="2800" b="0" dirty="0"/>
          </a:p>
        </p:txBody>
      </p:sp>
      <p:sp>
        <p:nvSpPr>
          <p:cNvPr id="4" name="灯片编号占位符 3">
            <a:extLst>
              <a:ext uri="{FF2B5EF4-FFF2-40B4-BE49-F238E27FC236}">
                <a16:creationId xmlns:a16="http://schemas.microsoft.com/office/drawing/2014/main" id="{C1315BD4-19C4-463F-8147-F5F93D8F8AD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9F55A6E-E533-4F78-9076-165C47FC6A2F}" type="slidenum">
              <a:rPr lang="zh-CN" altLang="en-US">
                <a:solidFill>
                  <a:srgbClr val="898989"/>
                </a:solidFill>
                <a:latin typeface="Calibri" panose="020F0502020204030204" pitchFamily="34" charset="0"/>
              </a:rPr>
              <a:pPr eaLnBrk="1" hangingPunct="1"/>
              <a:t>28</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9239" name="Text Box 18">
                <a:extLst>
                  <a:ext uri="{FF2B5EF4-FFF2-40B4-BE49-F238E27FC236}">
                    <a16:creationId xmlns:a16="http://schemas.microsoft.com/office/drawing/2014/main" id="{AB7EB68F-998E-4807-A3C9-319C9BFF69AF}"/>
                  </a:ext>
                </a:extLst>
              </p:cNvPr>
              <p:cNvSpPr txBox="1">
                <a:spLocks noChangeArrowheads="1"/>
              </p:cNvSpPr>
              <p:nvPr/>
            </p:nvSpPr>
            <p:spPr bwMode="auto">
              <a:xfrm>
                <a:off x="1143267" y="2505475"/>
                <a:ext cx="6720109"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14:m>
                  <m:oMath xmlns:m="http://schemas.openxmlformats.org/officeDocument/2006/math">
                    <m:r>
                      <a:rPr lang="en-US" sz="2800" b="0" i="1" smtClean="0">
                        <a:solidFill>
                          <a:srgbClr val="000000"/>
                        </a:solidFill>
                        <a:latin typeface="Cambria Math" panose="02040503050406030204" pitchFamily="18" charset="0"/>
                      </a:rPr>
                      <m:t>𝑎</m:t>
                    </m:r>
                    <m:r>
                      <a:rPr lang="en-US" sz="2800" b="0" i="1" smtClean="0">
                        <a:solidFill>
                          <a:srgbClr val="000000"/>
                        </a:solidFill>
                        <a:latin typeface="Cambria Math" panose="02040503050406030204" pitchFamily="18" charset="0"/>
                      </a:rPr>
                      <m:t>&gt;1</m:t>
                    </m:r>
                  </m:oMath>
                </a14:m>
                <a:r>
                  <a:rPr lang="zh-CN" altLang="en-US" sz="2800" dirty="0">
                    <a:solidFill>
                      <a:srgbClr val="000099"/>
                    </a:solidFill>
                    <a:latin typeface="Times New Roman" panose="02020603050405020304" pitchFamily="18" charset="0"/>
                    <a:ea typeface="楷体" panose="02010609060101010101" pitchFamily="49" charset="-122"/>
                  </a:rPr>
                  <a:t>时，</a:t>
                </a:r>
                <a14:m>
                  <m:oMath xmlns:m="http://schemas.openxmlformats.org/officeDocument/2006/math">
                    <m:r>
                      <a:rPr lang="en-US" sz="2800" b="0" i="1">
                        <a:solidFill>
                          <a:srgbClr val="000000"/>
                        </a:solidFill>
                        <a:latin typeface="Cambria Math" panose="02040503050406030204" pitchFamily="18" charset="0"/>
                      </a:rPr>
                      <m:t>𝑥</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𝑎𝑡</m:t>
                    </m:r>
                    <m:r>
                      <a:rPr lang="en-US" sz="2800" b="0" i="1">
                        <a:solidFill>
                          <a:srgbClr val="000000"/>
                        </a:solidFill>
                        <a:latin typeface="Cambria Math" panose="02040503050406030204" pitchFamily="18" charset="0"/>
                      </a:rPr>
                      <m:t>)</m:t>
                    </m:r>
                  </m:oMath>
                </a14:m>
                <a:r>
                  <a:rPr lang="zh-CN" altLang="en-US" sz="2800" dirty="0">
                    <a:solidFill>
                      <a:srgbClr val="000099"/>
                    </a:solidFill>
                    <a:latin typeface="Times New Roman" panose="02020603050405020304" pitchFamily="18" charset="0"/>
                    <a:ea typeface="楷体" panose="02010609060101010101" pitchFamily="49" charset="-122"/>
                  </a:rPr>
                  <a:t>将</a:t>
                </a:r>
                <a14:m>
                  <m:oMath xmlns:m="http://schemas.openxmlformats.org/officeDocument/2006/math">
                    <m:r>
                      <a:rPr lang="en-US" sz="2800" b="0" i="1">
                        <a:solidFill>
                          <a:srgbClr val="000000"/>
                        </a:solidFill>
                        <a:latin typeface="Cambria Math" panose="02040503050406030204" pitchFamily="18" charset="0"/>
                      </a:rPr>
                      <m:t>𝑥</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𝑡</m:t>
                    </m:r>
                    <m:r>
                      <a:rPr lang="en-US" sz="2800" b="0" i="1">
                        <a:solidFill>
                          <a:srgbClr val="000000"/>
                        </a:solidFill>
                        <a:latin typeface="Cambria Math" panose="02040503050406030204" pitchFamily="18" charset="0"/>
                      </a:rPr>
                      <m:t>)</m:t>
                    </m:r>
                  </m:oMath>
                </a14:m>
                <a:r>
                  <a:rPr lang="zh-CN" altLang="en-US" sz="2800" dirty="0">
                    <a:solidFill>
                      <a:srgbClr val="000099"/>
                    </a:solidFill>
                    <a:latin typeface="Times New Roman" panose="02020603050405020304" pitchFamily="18" charset="0"/>
                    <a:ea typeface="楷体" panose="02010609060101010101" pitchFamily="49" charset="-122"/>
                  </a:rPr>
                  <a:t>在时间上压缩</a:t>
                </a:r>
                <a14:m>
                  <m:oMath xmlns:m="http://schemas.openxmlformats.org/officeDocument/2006/math">
                    <m:r>
                      <a:rPr lang="en-US" sz="2800" b="0" i="1">
                        <a:solidFill>
                          <a:srgbClr val="000000"/>
                        </a:solidFill>
                        <a:latin typeface="Cambria Math" panose="02040503050406030204" pitchFamily="18" charset="0"/>
                      </a:rPr>
                      <m:t>𝑎</m:t>
                    </m:r>
                  </m:oMath>
                </a14:m>
                <a:r>
                  <a:rPr lang="zh-CN" altLang="en-US" sz="2800" dirty="0">
                    <a:solidFill>
                      <a:srgbClr val="000099"/>
                    </a:solidFill>
                    <a:latin typeface="Times New Roman" panose="02020603050405020304" pitchFamily="18" charset="0"/>
                    <a:ea typeface="楷体" panose="02010609060101010101" pitchFamily="49" charset="-122"/>
                  </a:rPr>
                  <a:t>倍，</a:t>
                </a:r>
              </a:p>
            </p:txBody>
          </p:sp>
        </mc:Choice>
        <mc:Fallback xmlns="">
          <p:sp>
            <p:nvSpPr>
              <p:cNvPr id="9239" name="Text Box 18">
                <a:extLst>
                  <a:ext uri="{FF2B5EF4-FFF2-40B4-BE49-F238E27FC236}">
                    <a16:creationId xmlns:a16="http://schemas.microsoft.com/office/drawing/2014/main" id="{AB7EB68F-998E-4807-A3C9-319C9BFF69AF}"/>
                  </a:ext>
                </a:extLst>
              </p:cNvPr>
              <p:cNvSpPr txBox="1">
                <a:spLocks noRot="1" noChangeAspect="1" noMove="1" noResize="1" noEditPoints="1" noAdjustHandles="1" noChangeArrowheads="1" noChangeShapeType="1" noTextEdit="1"/>
              </p:cNvSpPr>
              <p:nvPr/>
            </p:nvSpPr>
            <p:spPr bwMode="auto">
              <a:xfrm>
                <a:off x="1143267" y="2505475"/>
                <a:ext cx="6720109" cy="523220"/>
              </a:xfrm>
              <a:prstGeom prst="rect">
                <a:avLst/>
              </a:prstGeom>
              <a:blipFill>
                <a:blip r:embed="rId2"/>
                <a:stretch>
                  <a:fillRect t="-15116" r="-907" b="-2790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40" name="Text Box 22">
                <a:extLst>
                  <a:ext uri="{FF2B5EF4-FFF2-40B4-BE49-F238E27FC236}">
                    <a16:creationId xmlns:a16="http://schemas.microsoft.com/office/drawing/2014/main" id="{A4A04D40-BA0D-4A4F-986D-CC34A0FF2DDB}"/>
                  </a:ext>
                </a:extLst>
              </p:cNvPr>
              <p:cNvSpPr txBox="1">
                <a:spLocks noChangeArrowheads="1"/>
              </p:cNvSpPr>
              <p:nvPr/>
            </p:nvSpPr>
            <p:spPr bwMode="auto">
              <a:xfrm>
                <a:off x="1144589" y="3208160"/>
                <a:ext cx="7762831"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14:m>
                  <m:oMath xmlns:m="http://schemas.openxmlformats.org/officeDocument/2006/math">
                    <m:r>
                      <a:rPr lang="en-US" sz="2800" b="0" i="1" smtClean="0">
                        <a:solidFill>
                          <a:srgbClr val="000000"/>
                        </a:solidFill>
                        <a:latin typeface="Cambria Math" panose="02040503050406030204" pitchFamily="18" charset="0"/>
                      </a:rPr>
                      <m:t>0&lt;</m:t>
                    </m:r>
                    <m:r>
                      <a:rPr lang="en-US" sz="2800" b="0" i="1" smtClean="0">
                        <a:solidFill>
                          <a:srgbClr val="000000"/>
                        </a:solidFill>
                        <a:latin typeface="Cambria Math" panose="02040503050406030204" pitchFamily="18" charset="0"/>
                      </a:rPr>
                      <m:t>𝑎</m:t>
                    </m:r>
                    <m:r>
                      <a:rPr lang="en-US" sz="2800" b="0" i="1" smtClean="0">
                        <a:solidFill>
                          <a:srgbClr val="000000"/>
                        </a:solidFill>
                        <a:latin typeface="Cambria Math" panose="02040503050406030204" pitchFamily="18" charset="0"/>
                      </a:rPr>
                      <m:t>&lt;1</m:t>
                    </m:r>
                  </m:oMath>
                </a14:m>
                <a:r>
                  <a:rPr lang="zh-CN" altLang="en-US" sz="2800" dirty="0">
                    <a:solidFill>
                      <a:srgbClr val="000099"/>
                    </a:solidFill>
                    <a:latin typeface="Times New Roman" panose="02020603050405020304" pitchFamily="18" charset="0"/>
                    <a:ea typeface="楷体" panose="02010609060101010101" pitchFamily="49" charset="-122"/>
                  </a:rPr>
                  <a:t>时，</a:t>
                </a:r>
                <a14:m>
                  <m:oMath xmlns:m="http://schemas.openxmlformats.org/officeDocument/2006/math">
                    <m:r>
                      <a:rPr lang="en-US" sz="2800" b="0" i="1">
                        <a:solidFill>
                          <a:srgbClr val="000000"/>
                        </a:solidFill>
                        <a:latin typeface="Cambria Math" panose="02040503050406030204" pitchFamily="18" charset="0"/>
                      </a:rPr>
                      <m:t>𝑥</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𝑎𝑡</m:t>
                    </m:r>
                    <m:r>
                      <a:rPr lang="en-US" sz="2800" b="0" i="1">
                        <a:solidFill>
                          <a:srgbClr val="000000"/>
                        </a:solidFill>
                        <a:latin typeface="Cambria Math" panose="02040503050406030204" pitchFamily="18" charset="0"/>
                      </a:rPr>
                      <m:t>)</m:t>
                    </m:r>
                  </m:oMath>
                </a14:m>
                <a:r>
                  <a:rPr lang="zh-CN" altLang="en-US" sz="2800" dirty="0">
                    <a:solidFill>
                      <a:srgbClr val="000099"/>
                    </a:solidFill>
                    <a:latin typeface="Times New Roman" panose="02020603050405020304" pitchFamily="18" charset="0"/>
                    <a:ea typeface="楷体" panose="02010609060101010101" pitchFamily="49" charset="-122"/>
                  </a:rPr>
                  <a:t>将</a:t>
                </a:r>
                <a14:m>
                  <m:oMath xmlns:m="http://schemas.openxmlformats.org/officeDocument/2006/math">
                    <m:r>
                      <a:rPr lang="en-US" sz="2800" b="0" i="1">
                        <a:solidFill>
                          <a:srgbClr val="000000"/>
                        </a:solidFill>
                        <a:latin typeface="Cambria Math" panose="02040503050406030204" pitchFamily="18" charset="0"/>
                      </a:rPr>
                      <m:t>𝑥</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𝑡</m:t>
                    </m:r>
                    <m:r>
                      <a:rPr lang="en-US" sz="2800" b="0" i="1">
                        <a:solidFill>
                          <a:srgbClr val="000000"/>
                        </a:solidFill>
                        <a:latin typeface="Cambria Math" panose="02040503050406030204" pitchFamily="18" charset="0"/>
                      </a:rPr>
                      <m:t>)</m:t>
                    </m:r>
                  </m:oMath>
                </a14:m>
                <a:r>
                  <a:rPr lang="zh-CN" altLang="en-US" sz="2800" dirty="0">
                    <a:solidFill>
                      <a:srgbClr val="000099"/>
                    </a:solidFill>
                    <a:latin typeface="Times New Roman" panose="02020603050405020304" pitchFamily="18" charset="0"/>
                    <a:ea typeface="楷体" panose="02010609060101010101" pitchFamily="49" charset="-122"/>
                  </a:rPr>
                  <a:t>在时间上扩展</a:t>
                </a:r>
                <a14:m>
                  <m:oMath xmlns:m="http://schemas.openxmlformats.org/officeDocument/2006/math">
                    <m:r>
                      <a:rPr lang="en-US" sz="2800" b="0" i="1" smtClean="0">
                        <a:solidFill>
                          <a:srgbClr val="000000"/>
                        </a:solidFill>
                        <a:latin typeface="Cambria Math" panose="02040503050406030204" pitchFamily="18" charset="0"/>
                      </a:rPr>
                      <m:t>1/</m:t>
                    </m:r>
                    <m:r>
                      <a:rPr lang="en-US" sz="2800" b="0" i="1" smtClean="0">
                        <a:solidFill>
                          <a:srgbClr val="000000"/>
                        </a:solidFill>
                        <a:latin typeface="Cambria Math" panose="02040503050406030204" pitchFamily="18" charset="0"/>
                      </a:rPr>
                      <m:t>𝑎</m:t>
                    </m:r>
                  </m:oMath>
                </a14:m>
                <a:r>
                  <a:rPr lang="zh-CN" altLang="en-US" sz="2800" dirty="0">
                    <a:solidFill>
                      <a:srgbClr val="000099"/>
                    </a:solidFill>
                    <a:latin typeface="Times New Roman" panose="02020603050405020304" pitchFamily="18" charset="0"/>
                    <a:ea typeface="楷体" panose="02010609060101010101" pitchFamily="49" charset="-122"/>
                  </a:rPr>
                  <a:t>倍。</a:t>
                </a:r>
              </a:p>
            </p:txBody>
          </p:sp>
        </mc:Choice>
        <mc:Fallback xmlns="">
          <p:sp>
            <p:nvSpPr>
              <p:cNvPr id="9240" name="Text Box 22">
                <a:extLst>
                  <a:ext uri="{FF2B5EF4-FFF2-40B4-BE49-F238E27FC236}">
                    <a16:creationId xmlns:a16="http://schemas.microsoft.com/office/drawing/2014/main" id="{A4A04D40-BA0D-4A4F-986D-CC34A0FF2DDB}"/>
                  </a:ext>
                </a:extLst>
              </p:cNvPr>
              <p:cNvSpPr txBox="1">
                <a:spLocks noRot="1" noChangeAspect="1" noMove="1" noResize="1" noEditPoints="1" noAdjustHandles="1" noChangeArrowheads="1" noChangeShapeType="1" noTextEdit="1"/>
              </p:cNvSpPr>
              <p:nvPr/>
            </p:nvSpPr>
            <p:spPr bwMode="auto">
              <a:xfrm>
                <a:off x="1144589" y="3208160"/>
                <a:ext cx="7762831" cy="523220"/>
              </a:xfrm>
              <a:prstGeom prst="rect">
                <a:avLst/>
              </a:prstGeom>
              <a:blipFill>
                <a:blip r:embed="rId3"/>
                <a:stretch>
                  <a:fillRect t="-15116" r="-707" b="-2790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2">
                <a:extLst>
                  <a:ext uri="{FF2B5EF4-FFF2-40B4-BE49-F238E27FC236}">
                    <a16:creationId xmlns:a16="http://schemas.microsoft.com/office/drawing/2014/main" id="{D930E9A4-8611-4099-9F40-07E5B6884180}"/>
                  </a:ext>
                </a:extLst>
              </p:cNvPr>
              <p:cNvSpPr txBox="1"/>
              <p:nvPr/>
            </p:nvSpPr>
            <p:spPr bwMode="auto">
              <a:xfrm>
                <a:off x="1144589" y="1860210"/>
                <a:ext cx="2232248" cy="520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𝑡</m:t>
                      </m:r>
                      <m:r>
                        <a:rPr lang="en-US" sz="2800" b="0" i="1" smtClean="0">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𝑥</m:t>
                      </m:r>
                      <m:r>
                        <a:rPr lang="en-US" sz="2800" b="0" i="1">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𝑎</m:t>
                      </m:r>
                      <m:r>
                        <a:rPr lang="en-US" sz="2800" b="0" i="1">
                          <a:solidFill>
                            <a:srgbClr val="000000"/>
                          </a:solidFill>
                          <a:latin typeface="Cambria Math" panose="02040503050406030204" pitchFamily="18" charset="0"/>
                        </a:rPr>
                        <m:t>𝑡</m:t>
                      </m:r>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26" name="Object 2">
                <a:extLst>
                  <a:ext uri="{FF2B5EF4-FFF2-40B4-BE49-F238E27FC236}">
                    <a16:creationId xmlns:a16="http://schemas.microsoft.com/office/drawing/2014/main" id="{D930E9A4-8611-4099-9F40-07E5B6884180}"/>
                  </a:ext>
                </a:extLst>
              </p:cNvPr>
              <p:cNvSpPr txBox="1">
                <a:spLocks noRot="1" noChangeAspect="1" noMove="1" noResize="1" noEditPoints="1" noAdjustHandles="1" noChangeArrowheads="1" noChangeShapeType="1" noTextEdit="1"/>
              </p:cNvSpPr>
              <p:nvPr/>
            </p:nvSpPr>
            <p:spPr bwMode="auto">
              <a:xfrm>
                <a:off x="1144589" y="1860210"/>
                <a:ext cx="2232248" cy="520700"/>
              </a:xfrm>
              <a:prstGeom prst="rect">
                <a:avLst/>
              </a:prstGeom>
              <a:blipFill>
                <a:blip r:embed="rId4"/>
                <a:stretch>
                  <a:fillRect/>
                </a:stretch>
              </a:blipFill>
              <a:ln>
                <a:noFill/>
              </a:ln>
              <a:effectLst/>
            </p:spPr>
            <p:txBody>
              <a:bodyPr/>
              <a:lstStyle/>
              <a:p>
                <a:r>
                  <a:rPr lang="en-US">
                    <a:noFill/>
                  </a:rPr>
                  <a:t> </a:t>
                </a:r>
              </a:p>
            </p:txBody>
          </p:sp>
        </mc:Fallback>
      </mc:AlternateContent>
      <p:pic>
        <p:nvPicPr>
          <p:cNvPr id="16" name="图片 15">
            <a:extLst>
              <a:ext uri="{FF2B5EF4-FFF2-40B4-BE49-F238E27FC236}">
                <a16:creationId xmlns:a16="http://schemas.microsoft.com/office/drawing/2014/main" id="{241FD8B9-EF2B-4ED8-9595-4CCA7FAE8B99}"/>
              </a:ext>
            </a:extLst>
          </p:cNvPr>
          <p:cNvPicPr>
            <a:picLocks noChangeAspect="1"/>
          </p:cNvPicPr>
          <p:nvPr/>
        </p:nvPicPr>
        <p:blipFill>
          <a:blip r:embed="rId5"/>
          <a:stretch>
            <a:fillRect/>
          </a:stretch>
        </p:blipFill>
        <p:spPr>
          <a:xfrm>
            <a:off x="721584" y="3910845"/>
            <a:ext cx="8001000" cy="2305050"/>
          </a:xfrm>
          <a:prstGeom prst="rect">
            <a:avLst/>
          </a:prstGeom>
        </p:spPr>
      </p:pic>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F75CDBE0-1E41-4B82-94DF-6168ABBA8351}"/>
                  </a:ext>
                </a:extLst>
              </p:cNvPr>
              <p:cNvSpPr txBox="1"/>
              <p:nvPr/>
            </p:nvSpPr>
            <p:spPr>
              <a:xfrm>
                <a:off x="1900673" y="3910845"/>
                <a:ext cx="72008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43" name="文本框 42">
                <a:extLst>
                  <a:ext uri="{FF2B5EF4-FFF2-40B4-BE49-F238E27FC236}">
                    <a16:creationId xmlns:a16="http://schemas.microsoft.com/office/drawing/2014/main" id="{F75CDBE0-1E41-4B82-94DF-6168ABBA8351}"/>
                  </a:ext>
                </a:extLst>
              </p:cNvPr>
              <p:cNvSpPr txBox="1">
                <a:spLocks noRot="1" noChangeAspect="1" noMove="1" noResize="1" noEditPoints="1" noAdjustHandles="1" noChangeArrowheads="1" noChangeShapeType="1" noTextEdit="1"/>
              </p:cNvSpPr>
              <p:nvPr/>
            </p:nvSpPr>
            <p:spPr>
              <a:xfrm>
                <a:off x="1900673" y="3910845"/>
                <a:ext cx="720080" cy="461665"/>
              </a:xfrm>
              <a:prstGeom prst="rect">
                <a:avLst/>
              </a:prstGeom>
              <a:blipFill>
                <a:blip r:embed="rId6"/>
                <a:stretch>
                  <a:fillRect r="-9322" b="-2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EADD405F-6EF3-42F7-A829-5F34E2EC3E41}"/>
                  </a:ext>
                </a:extLst>
              </p:cNvPr>
              <p:cNvSpPr txBox="1"/>
              <p:nvPr/>
            </p:nvSpPr>
            <p:spPr>
              <a:xfrm>
                <a:off x="2699792" y="5528526"/>
                <a:ext cx="41379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𝑡</m:t>
                      </m:r>
                    </m:oMath>
                  </m:oMathPara>
                </a14:m>
                <a:endParaRPr lang="en-US" sz="2400" dirty="0"/>
              </a:p>
            </p:txBody>
          </p:sp>
        </mc:Choice>
        <mc:Fallback xmlns="">
          <p:sp>
            <p:nvSpPr>
              <p:cNvPr id="44" name="文本框 43">
                <a:extLst>
                  <a:ext uri="{FF2B5EF4-FFF2-40B4-BE49-F238E27FC236}">
                    <a16:creationId xmlns:a16="http://schemas.microsoft.com/office/drawing/2014/main" id="{EADD405F-6EF3-42F7-A829-5F34E2EC3E41}"/>
                  </a:ext>
                </a:extLst>
              </p:cNvPr>
              <p:cNvSpPr txBox="1">
                <a:spLocks noRot="1" noChangeAspect="1" noMove="1" noResize="1" noEditPoints="1" noAdjustHandles="1" noChangeArrowheads="1" noChangeShapeType="1" noTextEdit="1"/>
              </p:cNvSpPr>
              <p:nvPr/>
            </p:nvSpPr>
            <p:spPr>
              <a:xfrm>
                <a:off x="2699792" y="5528526"/>
                <a:ext cx="413792"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30D79A86-CF2B-4B50-988A-D16BBD277D60}"/>
                  </a:ext>
                </a:extLst>
              </p:cNvPr>
              <p:cNvSpPr txBox="1"/>
              <p:nvPr/>
            </p:nvSpPr>
            <p:spPr>
              <a:xfrm>
                <a:off x="4427984" y="3910844"/>
                <a:ext cx="93277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(2</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45" name="文本框 44">
                <a:extLst>
                  <a:ext uri="{FF2B5EF4-FFF2-40B4-BE49-F238E27FC236}">
                    <a16:creationId xmlns:a16="http://schemas.microsoft.com/office/drawing/2014/main" id="{30D79A86-CF2B-4B50-988A-D16BBD277D60}"/>
                  </a:ext>
                </a:extLst>
              </p:cNvPr>
              <p:cNvSpPr txBox="1">
                <a:spLocks noRot="1" noChangeAspect="1" noMove="1" noResize="1" noEditPoints="1" noAdjustHandles="1" noChangeArrowheads="1" noChangeShapeType="1" noTextEdit="1"/>
              </p:cNvSpPr>
              <p:nvPr/>
            </p:nvSpPr>
            <p:spPr>
              <a:xfrm>
                <a:off x="4427984" y="3910844"/>
                <a:ext cx="932775" cy="461665"/>
              </a:xfrm>
              <a:prstGeom prst="rect">
                <a:avLst/>
              </a:prstGeom>
              <a:blipFill>
                <a:blip r:embed="rId8"/>
                <a:stretch>
                  <a:fillRect r="-4575" b="-2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199AC53D-F6B5-4ED6-AF52-8A47795D35CE}"/>
                  </a:ext>
                </a:extLst>
              </p:cNvPr>
              <p:cNvSpPr txBox="1"/>
              <p:nvPr/>
            </p:nvSpPr>
            <p:spPr>
              <a:xfrm>
                <a:off x="5360759" y="5528526"/>
                <a:ext cx="41379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𝑡</m:t>
                      </m:r>
                    </m:oMath>
                  </m:oMathPara>
                </a14:m>
                <a:endParaRPr lang="en-US" sz="2400" dirty="0"/>
              </a:p>
            </p:txBody>
          </p:sp>
        </mc:Choice>
        <mc:Fallback xmlns="">
          <p:sp>
            <p:nvSpPr>
              <p:cNvPr id="46" name="文本框 45">
                <a:extLst>
                  <a:ext uri="{FF2B5EF4-FFF2-40B4-BE49-F238E27FC236}">
                    <a16:creationId xmlns:a16="http://schemas.microsoft.com/office/drawing/2014/main" id="{199AC53D-F6B5-4ED6-AF52-8A47795D35CE}"/>
                  </a:ext>
                </a:extLst>
              </p:cNvPr>
              <p:cNvSpPr txBox="1">
                <a:spLocks noRot="1" noChangeAspect="1" noMove="1" noResize="1" noEditPoints="1" noAdjustHandles="1" noChangeArrowheads="1" noChangeShapeType="1" noTextEdit="1"/>
              </p:cNvSpPr>
              <p:nvPr/>
            </p:nvSpPr>
            <p:spPr>
              <a:xfrm>
                <a:off x="5360759" y="5528526"/>
                <a:ext cx="413792"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DB0634B5-5967-4318-A7C9-B6B2F62A61A2}"/>
                  </a:ext>
                </a:extLst>
              </p:cNvPr>
              <p:cNvSpPr txBox="1"/>
              <p:nvPr/>
            </p:nvSpPr>
            <p:spPr>
              <a:xfrm>
                <a:off x="8528607" y="5477750"/>
                <a:ext cx="41379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𝑡</m:t>
                      </m:r>
                    </m:oMath>
                  </m:oMathPara>
                </a14:m>
                <a:endParaRPr lang="en-US" sz="2400" dirty="0"/>
              </a:p>
            </p:txBody>
          </p:sp>
        </mc:Choice>
        <mc:Fallback xmlns="">
          <p:sp>
            <p:nvSpPr>
              <p:cNvPr id="47" name="文本框 46">
                <a:extLst>
                  <a:ext uri="{FF2B5EF4-FFF2-40B4-BE49-F238E27FC236}">
                    <a16:creationId xmlns:a16="http://schemas.microsoft.com/office/drawing/2014/main" id="{DB0634B5-5967-4318-A7C9-B6B2F62A61A2}"/>
                  </a:ext>
                </a:extLst>
              </p:cNvPr>
              <p:cNvSpPr txBox="1">
                <a:spLocks noRot="1" noChangeAspect="1" noMove="1" noResize="1" noEditPoints="1" noAdjustHandles="1" noChangeArrowheads="1" noChangeShapeType="1" noTextEdit="1"/>
              </p:cNvSpPr>
              <p:nvPr/>
            </p:nvSpPr>
            <p:spPr>
              <a:xfrm>
                <a:off x="8528607" y="5477750"/>
                <a:ext cx="413792"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A48F383E-83DA-4BFD-970E-E8B5BF652A8B}"/>
                  </a:ext>
                </a:extLst>
              </p:cNvPr>
              <p:cNvSpPr txBox="1"/>
              <p:nvPr/>
            </p:nvSpPr>
            <p:spPr>
              <a:xfrm>
                <a:off x="7003230" y="3910844"/>
                <a:ext cx="123353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/2)</m:t>
                      </m:r>
                    </m:oMath>
                  </m:oMathPara>
                </a14:m>
                <a:endParaRPr lang="en-US" sz="2400" dirty="0"/>
              </a:p>
            </p:txBody>
          </p:sp>
        </mc:Choice>
        <mc:Fallback xmlns="">
          <p:sp>
            <p:nvSpPr>
              <p:cNvPr id="48" name="文本框 47">
                <a:extLst>
                  <a:ext uri="{FF2B5EF4-FFF2-40B4-BE49-F238E27FC236}">
                    <a16:creationId xmlns:a16="http://schemas.microsoft.com/office/drawing/2014/main" id="{A48F383E-83DA-4BFD-970E-E8B5BF652A8B}"/>
                  </a:ext>
                </a:extLst>
              </p:cNvPr>
              <p:cNvSpPr txBox="1">
                <a:spLocks noRot="1" noChangeAspect="1" noMove="1" noResize="1" noEditPoints="1" noAdjustHandles="1" noChangeArrowheads="1" noChangeShapeType="1" noTextEdit="1"/>
              </p:cNvSpPr>
              <p:nvPr/>
            </p:nvSpPr>
            <p:spPr>
              <a:xfrm>
                <a:off x="7003230" y="3910844"/>
                <a:ext cx="1233539" cy="461665"/>
              </a:xfrm>
              <a:prstGeom prst="rect">
                <a:avLst/>
              </a:prstGeom>
              <a:blipFill>
                <a:blip r:embed="rId11"/>
                <a:stretch>
                  <a:fillRect b="-21333"/>
                </a:stretch>
              </a:blipFill>
            </p:spPr>
            <p:txBody>
              <a:bodyPr/>
              <a:lstStyle/>
              <a:p>
                <a:r>
                  <a:rPr lang="en-US">
                    <a:noFill/>
                  </a:rPr>
                  <a:t> </a:t>
                </a:r>
              </a:p>
            </p:txBody>
          </p:sp>
        </mc:Fallback>
      </mc:AlternateContent>
    </p:spTree>
    <p:extLst>
      <p:ext uri="{BB962C8B-B14F-4D97-AF65-F5344CB8AC3E}">
        <p14:creationId xmlns:p14="http://schemas.microsoft.com/office/powerpoint/2010/main" val="7428237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8" name="标题 1">
            <a:extLst>
              <a:ext uri="{FF2B5EF4-FFF2-40B4-BE49-F238E27FC236}">
                <a16:creationId xmlns:a16="http://schemas.microsoft.com/office/drawing/2014/main" id="{63E761A8-DEBD-4433-B8F0-B8C31707CD3B}"/>
              </a:ext>
            </a:extLst>
          </p:cNvPr>
          <p:cNvSpPr>
            <a:spLocks noGrp="1"/>
          </p:cNvSpPr>
          <p:nvPr>
            <p:ph type="title"/>
          </p:nvPr>
        </p:nvSpPr>
        <p:spPr/>
        <p:txBody>
          <a:bodyPr/>
          <a:lstStyle/>
          <a:p>
            <a:pPr eaLnBrk="1" hangingPunct="1"/>
            <a:r>
              <a:rPr lang="en-US" altLang="zh-CN"/>
              <a:t>1.2  </a:t>
            </a:r>
            <a:r>
              <a:rPr lang="zh-CN" altLang="en-US"/>
              <a:t>自变量变换</a:t>
            </a:r>
          </a:p>
        </p:txBody>
      </p:sp>
      <p:sp>
        <p:nvSpPr>
          <p:cNvPr id="10249" name="内容占位符 2">
            <a:extLst>
              <a:ext uri="{FF2B5EF4-FFF2-40B4-BE49-F238E27FC236}">
                <a16:creationId xmlns:a16="http://schemas.microsoft.com/office/drawing/2014/main" id="{C3A30299-E1DC-44E0-A0E6-FB8B21A68203}"/>
              </a:ext>
            </a:extLst>
          </p:cNvPr>
          <p:cNvSpPr>
            <a:spLocks noGrp="1"/>
          </p:cNvSpPr>
          <p:nvPr>
            <p:ph idx="1"/>
          </p:nvPr>
        </p:nvSpPr>
        <p:spPr>
          <a:xfrm>
            <a:off x="457200" y="1285875"/>
            <a:ext cx="8229600" cy="954107"/>
          </a:xfrm>
        </p:spPr>
        <p:txBody>
          <a:bodyPr>
            <a:spAutoFit/>
          </a:bodyPr>
          <a:lstStyle/>
          <a:p>
            <a:pPr eaLnBrk="1" hangingPunct="1"/>
            <a:r>
              <a:rPr lang="zh-CN" altLang="en-US" sz="2800" b="0" dirty="0"/>
              <a:t>由于离散时间信号的自变量只能取整数值，通常不考虑其尺度变换。</a:t>
            </a:r>
          </a:p>
        </p:txBody>
      </p:sp>
      <p:sp>
        <p:nvSpPr>
          <p:cNvPr id="4" name="灯片编号占位符 3">
            <a:extLst>
              <a:ext uri="{FF2B5EF4-FFF2-40B4-BE49-F238E27FC236}">
                <a16:creationId xmlns:a16="http://schemas.microsoft.com/office/drawing/2014/main" id="{90359591-AC1A-4C22-842D-F10B875D7B8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57EA203-AF4F-40B2-86BC-0207C1BFDBCF}" type="slidenum">
              <a:rPr lang="zh-CN" altLang="en-US">
                <a:solidFill>
                  <a:srgbClr val="898989"/>
                </a:solidFill>
                <a:latin typeface="Calibri" panose="020F0502020204030204" pitchFamily="34" charset="0"/>
              </a:rPr>
              <a:pPr eaLnBrk="1" hangingPunct="1"/>
              <a:t>29</a:t>
            </a:fld>
            <a:endParaRPr lang="zh-CN" altLang="en-US">
              <a:solidFill>
                <a:srgbClr val="898989"/>
              </a:solidFill>
              <a:latin typeface="Calibri" panose="020F0502020204030204" pitchFamily="34" charset="0"/>
            </a:endParaRPr>
          </a:p>
        </p:txBody>
      </p:sp>
      <p:grpSp>
        <p:nvGrpSpPr>
          <p:cNvPr id="10252" name="Group 6">
            <a:extLst>
              <a:ext uri="{FF2B5EF4-FFF2-40B4-BE49-F238E27FC236}">
                <a16:creationId xmlns:a16="http://schemas.microsoft.com/office/drawing/2014/main" id="{12F9D3C3-D091-4683-AE6F-D6A4B668F0E6}"/>
              </a:ext>
            </a:extLst>
          </p:cNvPr>
          <p:cNvGrpSpPr>
            <a:grpSpLocks/>
          </p:cNvGrpSpPr>
          <p:nvPr/>
        </p:nvGrpSpPr>
        <p:grpSpPr bwMode="auto">
          <a:xfrm>
            <a:off x="1259632" y="3879304"/>
            <a:ext cx="3581401" cy="2286000"/>
            <a:chOff x="766" y="2416"/>
            <a:chExt cx="2256" cy="1440"/>
          </a:xfrm>
        </p:grpSpPr>
        <p:sp>
          <p:nvSpPr>
            <p:cNvPr id="10268" name="Line 7">
              <a:extLst>
                <a:ext uri="{FF2B5EF4-FFF2-40B4-BE49-F238E27FC236}">
                  <a16:creationId xmlns:a16="http://schemas.microsoft.com/office/drawing/2014/main" id="{9447FC5A-1D1C-4A39-A45F-B9C40596E49F}"/>
                </a:ext>
              </a:extLst>
            </p:cNvPr>
            <p:cNvSpPr>
              <a:spLocks noChangeShapeType="1"/>
            </p:cNvSpPr>
            <p:nvPr/>
          </p:nvSpPr>
          <p:spPr bwMode="auto">
            <a:xfrm>
              <a:off x="766" y="3493"/>
              <a:ext cx="20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9" name="Line 8">
              <a:extLst>
                <a:ext uri="{FF2B5EF4-FFF2-40B4-BE49-F238E27FC236}">
                  <a16:creationId xmlns:a16="http://schemas.microsoft.com/office/drawing/2014/main" id="{091B28C8-8072-4D60-8E93-4BAE6B6C1DED}"/>
                </a:ext>
              </a:extLst>
            </p:cNvPr>
            <p:cNvSpPr>
              <a:spLocks noChangeShapeType="1"/>
            </p:cNvSpPr>
            <p:nvPr/>
          </p:nvSpPr>
          <p:spPr bwMode="auto">
            <a:xfrm flipV="1">
              <a:off x="992" y="2496"/>
              <a:ext cx="0" cy="1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70" name="Line 9">
              <a:extLst>
                <a:ext uri="{FF2B5EF4-FFF2-40B4-BE49-F238E27FC236}">
                  <a16:creationId xmlns:a16="http://schemas.microsoft.com/office/drawing/2014/main" id="{F5A3E830-F287-41E4-8201-ED20F027C8C6}"/>
                </a:ext>
              </a:extLst>
            </p:cNvPr>
            <p:cNvSpPr>
              <a:spLocks noChangeShapeType="1"/>
            </p:cNvSpPr>
            <p:nvPr/>
          </p:nvSpPr>
          <p:spPr bwMode="auto">
            <a:xfrm flipV="1">
              <a:off x="992" y="2994"/>
              <a:ext cx="0" cy="499"/>
            </a:xfrm>
            <a:prstGeom prst="line">
              <a:avLst/>
            </a:prstGeom>
            <a:noFill/>
            <a:ln w="28575">
              <a:solidFill>
                <a:srgbClr val="000099"/>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271" name="Line 10">
              <a:extLst>
                <a:ext uri="{FF2B5EF4-FFF2-40B4-BE49-F238E27FC236}">
                  <a16:creationId xmlns:a16="http://schemas.microsoft.com/office/drawing/2014/main" id="{D48B85B1-987A-4EA0-B014-0772B4146962}"/>
                </a:ext>
              </a:extLst>
            </p:cNvPr>
            <p:cNvSpPr>
              <a:spLocks noChangeShapeType="1"/>
            </p:cNvSpPr>
            <p:nvPr/>
          </p:nvSpPr>
          <p:spPr bwMode="auto">
            <a:xfrm flipV="1">
              <a:off x="1219" y="3221"/>
              <a:ext cx="0" cy="272"/>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272" name="Line 11">
              <a:extLst>
                <a:ext uri="{FF2B5EF4-FFF2-40B4-BE49-F238E27FC236}">
                  <a16:creationId xmlns:a16="http://schemas.microsoft.com/office/drawing/2014/main" id="{9EB02313-8FB2-4A86-9E74-4B7664C9CAD2}"/>
                </a:ext>
              </a:extLst>
            </p:cNvPr>
            <p:cNvSpPr>
              <a:spLocks noChangeShapeType="1"/>
            </p:cNvSpPr>
            <p:nvPr/>
          </p:nvSpPr>
          <p:spPr bwMode="auto">
            <a:xfrm flipV="1">
              <a:off x="1446" y="3448"/>
              <a:ext cx="0" cy="45"/>
            </a:xfrm>
            <a:prstGeom prst="line">
              <a:avLst/>
            </a:prstGeom>
            <a:noFill/>
            <a:ln w="28575">
              <a:solidFill>
                <a:srgbClr val="000099"/>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273" name="Line 12">
              <a:extLst>
                <a:ext uri="{FF2B5EF4-FFF2-40B4-BE49-F238E27FC236}">
                  <a16:creationId xmlns:a16="http://schemas.microsoft.com/office/drawing/2014/main" id="{D19DCBAB-6276-43FF-A9EE-A3F24400C591}"/>
                </a:ext>
              </a:extLst>
            </p:cNvPr>
            <p:cNvSpPr>
              <a:spLocks noChangeShapeType="1"/>
            </p:cNvSpPr>
            <p:nvPr/>
          </p:nvSpPr>
          <p:spPr bwMode="auto">
            <a:xfrm flipV="1">
              <a:off x="1673" y="3221"/>
              <a:ext cx="0" cy="273"/>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274" name="Line 13">
              <a:extLst>
                <a:ext uri="{FF2B5EF4-FFF2-40B4-BE49-F238E27FC236}">
                  <a16:creationId xmlns:a16="http://schemas.microsoft.com/office/drawing/2014/main" id="{D95554AA-57CC-4C49-8B0A-4A0DF399CC96}"/>
                </a:ext>
              </a:extLst>
            </p:cNvPr>
            <p:cNvSpPr>
              <a:spLocks noChangeShapeType="1"/>
            </p:cNvSpPr>
            <p:nvPr/>
          </p:nvSpPr>
          <p:spPr bwMode="auto">
            <a:xfrm flipV="1">
              <a:off x="1900" y="2994"/>
              <a:ext cx="0" cy="499"/>
            </a:xfrm>
            <a:prstGeom prst="line">
              <a:avLst/>
            </a:prstGeom>
            <a:noFill/>
            <a:ln w="28575">
              <a:solidFill>
                <a:srgbClr val="000099"/>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275" name="Line 14">
              <a:extLst>
                <a:ext uri="{FF2B5EF4-FFF2-40B4-BE49-F238E27FC236}">
                  <a16:creationId xmlns:a16="http://schemas.microsoft.com/office/drawing/2014/main" id="{7ED43325-D48A-4B0C-8C95-B852148D16E3}"/>
                </a:ext>
              </a:extLst>
            </p:cNvPr>
            <p:cNvSpPr>
              <a:spLocks noChangeShapeType="1"/>
            </p:cNvSpPr>
            <p:nvPr/>
          </p:nvSpPr>
          <p:spPr bwMode="auto">
            <a:xfrm flipV="1">
              <a:off x="2126" y="2722"/>
              <a:ext cx="0" cy="771"/>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276" name="Line 15">
              <a:extLst>
                <a:ext uri="{FF2B5EF4-FFF2-40B4-BE49-F238E27FC236}">
                  <a16:creationId xmlns:a16="http://schemas.microsoft.com/office/drawing/2014/main" id="{0F36561E-DFB5-4C54-94A3-0AD1422B6A1F}"/>
                </a:ext>
              </a:extLst>
            </p:cNvPr>
            <p:cNvSpPr>
              <a:spLocks noChangeShapeType="1"/>
            </p:cNvSpPr>
            <p:nvPr/>
          </p:nvSpPr>
          <p:spPr bwMode="auto">
            <a:xfrm flipV="1">
              <a:off x="2353" y="2994"/>
              <a:ext cx="0" cy="499"/>
            </a:xfrm>
            <a:prstGeom prst="line">
              <a:avLst/>
            </a:prstGeom>
            <a:noFill/>
            <a:ln w="28575">
              <a:solidFill>
                <a:srgbClr val="000099"/>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277" name="Text Box 16">
              <a:extLst>
                <a:ext uri="{FF2B5EF4-FFF2-40B4-BE49-F238E27FC236}">
                  <a16:creationId xmlns:a16="http://schemas.microsoft.com/office/drawing/2014/main" id="{E1B8E477-C1D1-4D88-9348-B4152C723565}"/>
                </a:ext>
              </a:extLst>
            </p:cNvPr>
            <p:cNvSpPr txBox="1">
              <a:spLocks noChangeArrowheads="1"/>
            </p:cNvSpPr>
            <p:nvPr/>
          </p:nvSpPr>
          <p:spPr bwMode="auto">
            <a:xfrm>
              <a:off x="811" y="3448"/>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0</a:t>
              </a:r>
            </a:p>
          </p:txBody>
        </p:sp>
        <p:sp>
          <p:nvSpPr>
            <p:cNvPr id="10278" name="Text Box 17">
              <a:extLst>
                <a:ext uri="{FF2B5EF4-FFF2-40B4-BE49-F238E27FC236}">
                  <a16:creationId xmlns:a16="http://schemas.microsoft.com/office/drawing/2014/main" id="{8F0E1C06-60C7-4E8F-994C-F8D739953047}"/>
                </a:ext>
              </a:extLst>
            </p:cNvPr>
            <p:cNvSpPr txBox="1">
              <a:spLocks noChangeArrowheads="1"/>
            </p:cNvSpPr>
            <p:nvPr/>
          </p:nvSpPr>
          <p:spPr bwMode="auto">
            <a:xfrm>
              <a:off x="1083" y="3448"/>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1</a:t>
              </a:r>
            </a:p>
          </p:txBody>
        </p:sp>
        <p:sp>
          <p:nvSpPr>
            <p:cNvPr id="10279" name="Text Box 18">
              <a:extLst>
                <a:ext uri="{FF2B5EF4-FFF2-40B4-BE49-F238E27FC236}">
                  <a16:creationId xmlns:a16="http://schemas.microsoft.com/office/drawing/2014/main" id="{B96C97DD-1549-4F19-8997-70FB84DDBADA}"/>
                </a:ext>
              </a:extLst>
            </p:cNvPr>
            <p:cNvSpPr txBox="1">
              <a:spLocks noChangeArrowheads="1"/>
            </p:cNvSpPr>
            <p:nvPr/>
          </p:nvSpPr>
          <p:spPr bwMode="auto">
            <a:xfrm>
              <a:off x="1320" y="3448"/>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2</a:t>
              </a:r>
            </a:p>
          </p:txBody>
        </p:sp>
        <p:sp>
          <p:nvSpPr>
            <p:cNvPr id="10280" name="Text Box 19">
              <a:extLst>
                <a:ext uri="{FF2B5EF4-FFF2-40B4-BE49-F238E27FC236}">
                  <a16:creationId xmlns:a16="http://schemas.microsoft.com/office/drawing/2014/main" id="{CBB7E970-E725-412F-89A0-0C4B5433514B}"/>
                </a:ext>
              </a:extLst>
            </p:cNvPr>
            <p:cNvSpPr txBox="1">
              <a:spLocks noChangeArrowheads="1"/>
            </p:cNvSpPr>
            <p:nvPr/>
          </p:nvSpPr>
          <p:spPr bwMode="auto">
            <a:xfrm>
              <a:off x="1569" y="3448"/>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3</a:t>
              </a:r>
            </a:p>
          </p:txBody>
        </p:sp>
        <p:sp>
          <p:nvSpPr>
            <p:cNvPr id="10281" name="Text Box 20">
              <a:extLst>
                <a:ext uri="{FF2B5EF4-FFF2-40B4-BE49-F238E27FC236}">
                  <a16:creationId xmlns:a16="http://schemas.microsoft.com/office/drawing/2014/main" id="{FCB3EC2D-4145-4092-BB96-4D992EA7EC1F}"/>
                </a:ext>
              </a:extLst>
            </p:cNvPr>
            <p:cNvSpPr txBox="1">
              <a:spLocks noChangeArrowheads="1"/>
            </p:cNvSpPr>
            <p:nvPr/>
          </p:nvSpPr>
          <p:spPr bwMode="auto">
            <a:xfrm>
              <a:off x="1796" y="3448"/>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4</a:t>
              </a:r>
            </a:p>
          </p:txBody>
        </p:sp>
        <p:sp>
          <p:nvSpPr>
            <p:cNvPr id="10282" name="Text Box 21">
              <a:extLst>
                <a:ext uri="{FF2B5EF4-FFF2-40B4-BE49-F238E27FC236}">
                  <a16:creationId xmlns:a16="http://schemas.microsoft.com/office/drawing/2014/main" id="{B9A860EB-4998-4D79-86CC-9497B788900F}"/>
                </a:ext>
              </a:extLst>
            </p:cNvPr>
            <p:cNvSpPr txBox="1">
              <a:spLocks noChangeArrowheads="1"/>
            </p:cNvSpPr>
            <p:nvPr/>
          </p:nvSpPr>
          <p:spPr bwMode="auto">
            <a:xfrm>
              <a:off x="2036" y="3448"/>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5</a:t>
              </a:r>
            </a:p>
          </p:txBody>
        </p:sp>
        <p:sp>
          <p:nvSpPr>
            <p:cNvPr id="10283" name="Text Box 22">
              <a:extLst>
                <a:ext uri="{FF2B5EF4-FFF2-40B4-BE49-F238E27FC236}">
                  <a16:creationId xmlns:a16="http://schemas.microsoft.com/office/drawing/2014/main" id="{D94253EB-E61A-48DC-8544-892D11970018}"/>
                </a:ext>
              </a:extLst>
            </p:cNvPr>
            <p:cNvSpPr txBox="1">
              <a:spLocks noChangeArrowheads="1"/>
            </p:cNvSpPr>
            <p:nvPr/>
          </p:nvSpPr>
          <p:spPr bwMode="auto">
            <a:xfrm>
              <a:off x="2250" y="3448"/>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6</a:t>
              </a:r>
            </a:p>
          </p:txBody>
        </p:sp>
        <p:sp>
          <p:nvSpPr>
            <p:cNvPr id="10284" name="Text Box 24">
              <a:extLst>
                <a:ext uri="{FF2B5EF4-FFF2-40B4-BE49-F238E27FC236}">
                  <a16:creationId xmlns:a16="http://schemas.microsoft.com/office/drawing/2014/main" id="{54BAB93E-D4F7-43BA-83A7-6AD4BDD715B7}"/>
                </a:ext>
              </a:extLst>
            </p:cNvPr>
            <p:cNvSpPr txBox="1">
              <a:spLocks noChangeArrowheads="1"/>
            </p:cNvSpPr>
            <p:nvPr/>
          </p:nvSpPr>
          <p:spPr bwMode="auto">
            <a:xfrm>
              <a:off x="771" y="2768"/>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2</a:t>
              </a:r>
            </a:p>
          </p:txBody>
        </p:sp>
        <p:sp>
          <p:nvSpPr>
            <p:cNvPr id="10285" name="Text Box 25">
              <a:extLst>
                <a:ext uri="{FF2B5EF4-FFF2-40B4-BE49-F238E27FC236}">
                  <a16:creationId xmlns:a16="http://schemas.microsoft.com/office/drawing/2014/main" id="{010B30BE-688C-410B-B7BC-588423987BD1}"/>
                </a:ext>
              </a:extLst>
            </p:cNvPr>
            <p:cNvSpPr txBox="1">
              <a:spLocks noChangeArrowheads="1"/>
            </p:cNvSpPr>
            <p:nvPr/>
          </p:nvSpPr>
          <p:spPr bwMode="auto">
            <a:xfrm>
              <a:off x="1116" y="2949"/>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1</a:t>
              </a:r>
            </a:p>
          </p:txBody>
        </p:sp>
        <p:sp>
          <p:nvSpPr>
            <p:cNvPr id="10286" name="Text Box 26">
              <a:extLst>
                <a:ext uri="{FF2B5EF4-FFF2-40B4-BE49-F238E27FC236}">
                  <a16:creationId xmlns:a16="http://schemas.microsoft.com/office/drawing/2014/main" id="{B3CC57C5-D14D-4B22-8B7A-4392DCB676DD}"/>
                </a:ext>
              </a:extLst>
            </p:cNvPr>
            <p:cNvSpPr txBox="1">
              <a:spLocks noChangeArrowheads="1"/>
            </p:cNvSpPr>
            <p:nvPr/>
          </p:nvSpPr>
          <p:spPr bwMode="auto">
            <a:xfrm>
              <a:off x="1569" y="2949"/>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1</a:t>
              </a:r>
            </a:p>
          </p:txBody>
        </p:sp>
        <p:sp>
          <p:nvSpPr>
            <p:cNvPr id="10287" name="Text Box 27">
              <a:extLst>
                <a:ext uri="{FF2B5EF4-FFF2-40B4-BE49-F238E27FC236}">
                  <a16:creationId xmlns:a16="http://schemas.microsoft.com/office/drawing/2014/main" id="{16407B60-072E-4E21-B0AC-49B7DEE175E1}"/>
                </a:ext>
              </a:extLst>
            </p:cNvPr>
            <p:cNvSpPr txBox="1">
              <a:spLocks noChangeArrowheads="1"/>
            </p:cNvSpPr>
            <p:nvPr/>
          </p:nvSpPr>
          <p:spPr bwMode="auto">
            <a:xfrm>
              <a:off x="1796" y="2677"/>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2</a:t>
              </a:r>
            </a:p>
          </p:txBody>
        </p:sp>
        <p:sp>
          <p:nvSpPr>
            <p:cNvPr id="10288" name="Text Box 28">
              <a:extLst>
                <a:ext uri="{FF2B5EF4-FFF2-40B4-BE49-F238E27FC236}">
                  <a16:creationId xmlns:a16="http://schemas.microsoft.com/office/drawing/2014/main" id="{208361F6-4FC9-462C-BC2B-7B4AA96DD224}"/>
                </a:ext>
              </a:extLst>
            </p:cNvPr>
            <p:cNvSpPr txBox="1">
              <a:spLocks noChangeArrowheads="1"/>
            </p:cNvSpPr>
            <p:nvPr/>
          </p:nvSpPr>
          <p:spPr bwMode="auto">
            <a:xfrm>
              <a:off x="2016" y="2416"/>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3</a:t>
              </a:r>
            </a:p>
          </p:txBody>
        </p:sp>
        <p:sp>
          <p:nvSpPr>
            <p:cNvPr id="10289" name="Text Box 29">
              <a:extLst>
                <a:ext uri="{FF2B5EF4-FFF2-40B4-BE49-F238E27FC236}">
                  <a16:creationId xmlns:a16="http://schemas.microsoft.com/office/drawing/2014/main" id="{4F0CBEB9-69F9-4EE9-9275-A67ADE50938A}"/>
                </a:ext>
              </a:extLst>
            </p:cNvPr>
            <p:cNvSpPr txBox="1">
              <a:spLocks noChangeArrowheads="1"/>
            </p:cNvSpPr>
            <p:nvPr/>
          </p:nvSpPr>
          <p:spPr bwMode="auto">
            <a:xfrm>
              <a:off x="2250" y="2722"/>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2</a:t>
              </a:r>
            </a:p>
          </p:txBody>
        </p:sp>
        <mc:AlternateContent xmlns:mc="http://schemas.openxmlformats.org/markup-compatibility/2006" xmlns:a14="http://schemas.microsoft.com/office/drawing/2010/main">
          <mc:Choice Requires="a14">
            <p:sp>
              <p:nvSpPr>
                <p:cNvPr id="10247" name="Object 5">
                  <a:extLst>
                    <a:ext uri="{FF2B5EF4-FFF2-40B4-BE49-F238E27FC236}">
                      <a16:creationId xmlns:a16="http://schemas.microsoft.com/office/drawing/2014/main" id="{5074C777-A686-48E7-AAB3-F5ECC33324B5}"/>
                    </a:ext>
                  </a:extLst>
                </p:cNvPr>
                <p:cNvSpPr txBox="1"/>
                <p:nvPr/>
              </p:nvSpPr>
              <p:spPr bwMode="auto">
                <a:xfrm>
                  <a:off x="2750" y="3466"/>
                  <a:ext cx="272" cy="3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𝑛</m:t>
                        </m:r>
                      </m:oMath>
                    </m:oMathPara>
                  </a14:m>
                  <a:endParaRPr lang="en-US" sz="2800" dirty="0"/>
                </a:p>
              </p:txBody>
            </p:sp>
          </mc:Choice>
          <mc:Fallback xmlns="">
            <p:sp>
              <p:nvSpPr>
                <p:cNvPr id="10247" name="Object 5">
                  <a:extLst>
                    <a:ext uri="{FF2B5EF4-FFF2-40B4-BE49-F238E27FC236}">
                      <a16:creationId xmlns:a16="http://schemas.microsoft.com/office/drawing/2014/main" id="{5074C777-A686-48E7-AAB3-F5ECC33324B5}"/>
                    </a:ext>
                  </a:extLst>
                </p:cNvPr>
                <p:cNvSpPr txBox="1">
                  <a:spLocks noRot="1" noChangeAspect="1" noMove="1" noResize="1" noEditPoints="1" noAdjustHandles="1" noChangeArrowheads="1" noChangeShapeType="1" noTextEdit="1"/>
                </p:cNvSpPr>
                <p:nvPr/>
              </p:nvSpPr>
              <p:spPr bwMode="auto">
                <a:xfrm>
                  <a:off x="2750" y="3466"/>
                  <a:ext cx="272" cy="363"/>
                </a:xfrm>
                <a:prstGeom prst="rect">
                  <a:avLst/>
                </a:prstGeom>
                <a:blipFill>
                  <a:blip r:embed="rId2"/>
                  <a:stretch>
                    <a:fillRect/>
                  </a:stretch>
                </a:blipFill>
                <a:ln>
                  <a:noFill/>
                </a:ln>
                <a:effectLst/>
              </p:spPr>
              <p:txBody>
                <a:bodyPr/>
                <a:lstStyle/>
                <a:p>
                  <a:r>
                    <a:rPr lang="en-US">
                      <a:noFill/>
                    </a:rPr>
                    <a:t> </a:t>
                  </a:r>
                </a:p>
              </p:txBody>
            </p:sp>
          </mc:Fallback>
        </mc:AlternateContent>
      </p:grpSp>
      <p:grpSp>
        <p:nvGrpSpPr>
          <p:cNvPr id="10253" name="组合 48">
            <a:extLst>
              <a:ext uri="{FF2B5EF4-FFF2-40B4-BE49-F238E27FC236}">
                <a16:creationId xmlns:a16="http://schemas.microsoft.com/office/drawing/2014/main" id="{70D9B48C-3CE4-4BCF-9EED-BF03E3C8F4D6}"/>
              </a:ext>
            </a:extLst>
          </p:cNvPr>
          <p:cNvGrpSpPr>
            <a:grpSpLocks/>
          </p:cNvGrpSpPr>
          <p:nvPr/>
        </p:nvGrpSpPr>
        <p:grpSpPr bwMode="auto">
          <a:xfrm>
            <a:off x="4928344" y="3879304"/>
            <a:ext cx="3728241" cy="2261964"/>
            <a:chOff x="5143504" y="3835400"/>
            <a:chExt cx="3728240" cy="2261964"/>
          </a:xfrm>
        </p:grpSpPr>
        <p:sp>
          <p:nvSpPr>
            <p:cNvPr id="10255" name="Line 31">
              <a:extLst>
                <a:ext uri="{FF2B5EF4-FFF2-40B4-BE49-F238E27FC236}">
                  <a16:creationId xmlns:a16="http://schemas.microsoft.com/office/drawing/2014/main" id="{8B402AEC-0A13-4722-9CB4-B827D16A8B1B}"/>
                </a:ext>
              </a:extLst>
            </p:cNvPr>
            <p:cNvSpPr>
              <a:spLocks noChangeShapeType="1"/>
            </p:cNvSpPr>
            <p:nvPr/>
          </p:nvSpPr>
          <p:spPr bwMode="auto">
            <a:xfrm>
              <a:off x="5143504" y="5545138"/>
              <a:ext cx="34559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56" name="Line 32">
              <a:extLst>
                <a:ext uri="{FF2B5EF4-FFF2-40B4-BE49-F238E27FC236}">
                  <a16:creationId xmlns:a16="http://schemas.microsoft.com/office/drawing/2014/main" id="{C357642B-C975-4A28-A115-DCECD21A59B4}"/>
                </a:ext>
              </a:extLst>
            </p:cNvPr>
            <p:cNvSpPr>
              <a:spLocks noChangeShapeType="1"/>
            </p:cNvSpPr>
            <p:nvPr/>
          </p:nvSpPr>
          <p:spPr bwMode="auto">
            <a:xfrm flipV="1">
              <a:off x="5865816" y="3835400"/>
              <a:ext cx="0" cy="22320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57" name="Line 33">
              <a:extLst>
                <a:ext uri="{FF2B5EF4-FFF2-40B4-BE49-F238E27FC236}">
                  <a16:creationId xmlns:a16="http://schemas.microsoft.com/office/drawing/2014/main" id="{AE731EE2-08ED-4D34-AC3F-6025D5B35F15}"/>
                </a:ext>
              </a:extLst>
            </p:cNvPr>
            <p:cNvSpPr>
              <a:spLocks noChangeShapeType="1"/>
            </p:cNvSpPr>
            <p:nvPr/>
          </p:nvSpPr>
          <p:spPr bwMode="auto">
            <a:xfrm flipV="1">
              <a:off x="5864229" y="4752975"/>
              <a:ext cx="0" cy="792163"/>
            </a:xfrm>
            <a:prstGeom prst="line">
              <a:avLst/>
            </a:prstGeom>
            <a:noFill/>
            <a:ln w="28575">
              <a:solidFill>
                <a:srgbClr val="000099"/>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258" name="Line 34">
              <a:extLst>
                <a:ext uri="{FF2B5EF4-FFF2-40B4-BE49-F238E27FC236}">
                  <a16:creationId xmlns:a16="http://schemas.microsoft.com/office/drawing/2014/main" id="{3B63FF2F-D26A-4708-B1A1-9A4F0C6CC81C}"/>
                </a:ext>
              </a:extLst>
            </p:cNvPr>
            <p:cNvSpPr>
              <a:spLocks noChangeShapeType="1"/>
            </p:cNvSpPr>
            <p:nvPr/>
          </p:nvSpPr>
          <p:spPr bwMode="auto">
            <a:xfrm flipV="1">
              <a:off x="6223004" y="5473700"/>
              <a:ext cx="0" cy="71438"/>
            </a:xfrm>
            <a:prstGeom prst="line">
              <a:avLst/>
            </a:prstGeom>
            <a:noFill/>
            <a:ln w="28575">
              <a:solidFill>
                <a:srgbClr val="000099"/>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259" name="Line 35">
              <a:extLst>
                <a:ext uri="{FF2B5EF4-FFF2-40B4-BE49-F238E27FC236}">
                  <a16:creationId xmlns:a16="http://schemas.microsoft.com/office/drawing/2014/main" id="{DE465010-D468-46DF-8CDF-BD62AAFFAA9C}"/>
                </a:ext>
              </a:extLst>
            </p:cNvPr>
            <p:cNvSpPr>
              <a:spLocks noChangeShapeType="1"/>
            </p:cNvSpPr>
            <p:nvPr/>
          </p:nvSpPr>
          <p:spPr bwMode="auto">
            <a:xfrm flipV="1">
              <a:off x="6583366" y="4752975"/>
              <a:ext cx="0" cy="792163"/>
            </a:xfrm>
            <a:prstGeom prst="line">
              <a:avLst/>
            </a:prstGeom>
            <a:noFill/>
            <a:ln w="28575">
              <a:solidFill>
                <a:srgbClr val="000099"/>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260" name="Line 36">
              <a:extLst>
                <a:ext uri="{FF2B5EF4-FFF2-40B4-BE49-F238E27FC236}">
                  <a16:creationId xmlns:a16="http://schemas.microsoft.com/office/drawing/2014/main" id="{0839072E-19F9-4C1F-BE31-99F139DFA0CC}"/>
                </a:ext>
              </a:extLst>
            </p:cNvPr>
            <p:cNvSpPr>
              <a:spLocks noChangeShapeType="1"/>
            </p:cNvSpPr>
            <p:nvPr/>
          </p:nvSpPr>
          <p:spPr bwMode="auto">
            <a:xfrm flipV="1">
              <a:off x="6943729" y="4752975"/>
              <a:ext cx="0" cy="792163"/>
            </a:xfrm>
            <a:prstGeom prst="line">
              <a:avLst/>
            </a:prstGeom>
            <a:noFill/>
            <a:ln w="28575">
              <a:solidFill>
                <a:srgbClr val="000099"/>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261" name="Text Box 37">
              <a:extLst>
                <a:ext uri="{FF2B5EF4-FFF2-40B4-BE49-F238E27FC236}">
                  <a16:creationId xmlns:a16="http://schemas.microsoft.com/office/drawing/2014/main" id="{0EF78A3E-2C8A-4959-ADFD-AD1933E9B0A3}"/>
                </a:ext>
              </a:extLst>
            </p:cNvPr>
            <p:cNvSpPr txBox="1">
              <a:spLocks noChangeArrowheads="1"/>
            </p:cNvSpPr>
            <p:nvPr/>
          </p:nvSpPr>
          <p:spPr bwMode="auto">
            <a:xfrm>
              <a:off x="5556254" y="4392613"/>
              <a:ext cx="338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2</a:t>
              </a:r>
            </a:p>
          </p:txBody>
        </p:sp>
        <p:sp>
          <p:nvSpPr>
            <p:cNvPr id="10262" name="Text Box 38">
              <a:extLst>
                <a:ext uri="{FF2B5EF4-FFF2-40B4-BE49-F238E27FC236}">
                  <a16:creationId xmlns:a16="http://schemas.microsoft.com/office/drawing/2014/main" id="{709C2981-8927-48DB-BEE1-36B574860CB7}"/>
                </a:ext>
              </a:extLst>
            </p:cNvPr>
            <p:cNvSpPr txBox="1">
              <a:spLocks noChangeArrowheads="1"/>
            </p:cNvSpPr>
            <p:nvPr/>
          </p:nvSpPr>
          <p:spPr bwMode="auto">
            <a:xfrm>
              <a:off x="6419854" y="4321175"/>
              <a:ext cx="338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2</a:t>
              </a:r>
            </a:p>
          </p:txBody>
        </p:sp>
        <p:sp>
          <p:nvSpPr>
            <p:cNvPr id="10263" name="Text Box 39">
              <a:extLst>
                <a:ext uri="{FF2B5EF4-FFF2-40B4-BE49-F238E27FC236}">
                  <a16:creationId xmlns:a16="http://schemas.microsoft.com/office/drawing/2014/main" id="{EE75AE20-FFE1-4013-8E0C-31DE636CCAED}"/>
                </a:ext>
              </a:extLst>
            </p:cNvPr>
            <p:cNvSpPr txBox="1">
              <a:spLocks noChangeArrowheads="1"/>
            </p:cNvSpPr>
            <p:nvPr/>
          </p:nvSpPr>
          <p:spPr bwMode="auto">
            <a:xfrm>
              <a:off x="6780216" y="4321175"/>
              <a:ext cx="338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2</a:t>
              </a:r>
            </a:p>
          </p:txBody>
        </p:sp>
        <p:sp>
          <p:nvSpPr>
            <p:cNvPr id="10264" name="Text Box 40">
              <a:extLst>
                <a:ext uri="{FF2B5EF4-FFF2-40B4-BE49-F238E27FC236}">
                  <a16:creationId xmlns:a16="http://schemas.microsoft.com/office/drawing/2014/main" id="{A2FA7618-D6F1-4064-AE33-9366BCC6528B}"/>
                </a:ext>
              </a:extLst>
            </p:cNvPr>
            <p:cNvSpPr txBox="1">
              <a:spLocks noChangeArrowheads="1"/>
            </p:cNvSpPr>
            <p:nvPr/>
          </p:nvSpPr>
          <p:spPr bwMode="auto">
            <a:xfrm>
              <a:off x="5503866" y="5473700"/>
              <a:ext cx="338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0</a:t>
              </a:r>
            </a:p>
          </p:txBody>
        </p:sp>
        <p:sp>
          <p:nvSpPr>
            <p:cNvPr id="10265" name="Text Box 41">
              <a:extLst>
                <a:ext uri="{FF2B5EF4-FFF2-40B4-BE49-F238E27FC236}">
                  <a16:creationId xmlns:a16="http://schemas.microsoft.com/office/drawing/2014/main" id="{E2A3200A-AC19-4CDB-9D7E-7AE699D5FB71}"/>
                </a:ext>
              </a:extLst>
            </p:cNvPr>
            <p:cNvSpPr txBox="1">
              <a:spLocks noChangeArrowheads="1"/>
            </p:cNvSpPr>
            <p:nvPr/>
          </p:nvSpPr>
          <p:spPr bwMode="auto">
            <a:xfrm>
              <a:off x="6032504" y="5464175"/>
              <a:ext cx="338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1</a:t>
              </a:r>
            </a:p>
          </p:txBody>
        </p:sp>
        <p:sp>
          <p:nvSpPr>
            <p:cNvPr id="10266" name="Text Box 42">
              <a:extLst>
                <a:ext uri="{FF2B5EF4-FFF2-40B4-BE49-F238E27FC236}">
                  <a16:creationId xmlns:a16="http://schemas.microsoft.com/office/drawing/2014/main" id="{D638B5E6-C337-47B8-A0E9-D178512A956D}"/>
                </a:ext>
              </a:extLst>
            </p:cNvPr>
            <p:cNvSpPr txBox="1">
              <a:spLocks noChangeArrowheads="1"/>
            </p:cNvSpPr>
            <p:nvPr/>
          </p:nvSpPr>
          <p:spPr bwMode="auto">
            <a:xfrm>
              <a:off x="6419854" y="5473700"/>
              <a:ext cx="338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2</a:t>
              </a:r>
            </a:p>
          </p:txBody>
        </p:sp>
        <p:sp>
          <p:nvSpPr>
            <p:cNvPr id="10267" name="Text Box 43">
              <a:extLst>
                <a:ext uri="{FF2B5EF4-FFF2-40B4-BE49-F238E27FC236}">
                  <a16:creationId xmlns:a16="http://schemas.microsoft.com/office/drawing/2014/main" id="{799DB1B2-7BE6-47DC-83BD-A1375A112EFD}"/>
                </a:ext>
              </a:extLst>
            </p:cNvPr>
            <p:cNvSpPr txBox="1">
              <a:spLocks noChangeArrowheads="1"/>
            </p:cNvSpPr>
            <p:nvPr/>
          </p:nvSpPr>
          <p:spPr bwMode="auto">
            <a:xfrm>
              <a:off x="6780216" y="5473700"/>
              <a:ext cx="338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latin typeface="宋体" panose="02010600030101010101" pitchFamily="2" charset="-122"/>
                </a:rPr>
                <a:t>3</a:t>
              </a:r>
            </a:p>
          </p:txBody>
        </p:sp>
        <mc:AlternateContent xmlns:mc="http://schemas.openxmlformats.org/markup-compatibility/2006" xmlns:a14="http://schemas.microsoft.com/office/drawing/2010/main">
          <mc:Choice Requires="a14">
            <p:sp>
              <p:nvSpPr>
                <p:cNvPr id="10244" name="Object 6">
                  <a:extLst>
                    <a:ext uri="{FF2B5EF4-FFF2-40B4-BE49-F238E27FC236}">
                      <a16:creationId xmlns:a16="http://schemas.microsoft.com/office/drawing/2014/main" id="{D148A912-A857-4B10-994D-D2798D6D2E96}"/>
                    </a:ext>
                  </a:extLst>
                </p:cNvPr>
                <p:cNvSpPr txBox="1"/>
                <p:nvPr/>
              </p:nvSpPr>
              <p:spPr bwMode="auto">
                <a:xfrm>
                  <a:off x="8425663" y="5502275"/>
                  <a:ext cx="446081" cy="59508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𝑛</m:t>
                        </m:r>
                      </m:oMath>
                    </m:oMathPara>
                  </a14:m>
                  <a:endParaRPr lang="en-US" sz="2800" dirty="0"/>
                </a:p>
              </p:txBody>
            </p:sp>
          </mc:Choice>
          <mc:Fallback xmlns="">
            <p:sp>
              <p:nvSpPr>
                <p:cNvPr id="10244" name="Object 6">
                  <a:extLst>
                    <a:ext uri="{FF2B5EF4-FFF2-40B4-BE49-F238E27FC236}">
                      <a16:creationId xmlns:a16="http://schemas.microsoft.com/office/drawing/2014/main" id="{D148A912-A857-4B10-994D-D2798D6D2E96}"/>
                    </a:ext>
                  </a:extLst>
                </p:cNvPr>
                <p:cNvSpPr txBox="1">
                  <a:spLocks noRot="1" noChangeAspect="1" noMove="1" noResize="1" noEditPoints="1" noAdjustHandles="1" noChangeArrowheads="1" noChangeShapeType="1" noTextEdit="1"/>
                </p:cNvSpPr>
                <p:nvPr/>
              </p:nvSpPr>
              <p:spPr bwMode="auto">
                <a:xfrm>
                  <a:off x="8425663" y="5502275"/>
                  <a:ext cx="446081" cy="595089"/>
                </a:xfrm>
                <a:prstGeom prst="rect">
                  <a:avLst/>
                </a:prstGeom>
                <a:blipFill>
                  <a:blip r:embed="rId3"/>
                  <a:stretch>
                    <a:fillRect/>
                  </a:stretch>
                </a:blipFill>
                <a:ln>
                  <a:noFill/>
                </a:ln>
                <a:effectLst/>
              </p:spPr>
              <p:txBody>
                <a:bodyPr/>
                <a:lstStyle/>
                <a:p>
                  <a:r>
                    <a:rPr lang="en-US">
                      <a:noFill/>
                    </a:rPr>
                    <a:t> </a:t>
                  </a:r>
                </a:p>
              </p:txBody>
            </p:sp>
          </mc:Fallback>
        </mc:AlternateContent>
      </p:grpSp>
      <p:sp>
        <p:nvSpPr>
          <p:cNvPr id="10254" name="Text Box 46">
            <a:extLst>
              <a:ext uri="{FF2B5EF4-FFF2-40B4-BE49-F238E27FC236}">
                <a16:creationId xmlns:a16="http://schemas.microsoft.com/office/drawing/2014/main" id="{FDAE0B22-F25B-44FF-9DDF-10BA90C352EC}"/>
              </a:ext>
            </a:extLst>
          </p:cNvPr>
          <p:cNvSpPr txBox="1">
            <a:spLocks noChangeArrowheads="1"/>
          </p:cNvSpPr>
          <p:nvPr/>
        </p:nvSpPr>
        <p:spPr bwMode="auto">
          <a:xfrm>
            <a:off x="815975" y="2340446"/>
            <a:ext cx="1255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dirty="0">
                <a:solidFill>
                  <a:srgbClr val="000099"/>
                </a:solidFill>
                <a:latin typeface="楷体" panose="02010609060101010101" pitchFamily="49" charset="-122"/>
                <a:ea typeface="楷体" panose="02010609060101010101" pitchFamily="49" charset="-122"/>
              </a:rPr>
              <a:t>例如：</a:t>
            </a:r>
          </a:p>
        </p:txBody>
      </p:sp>
      <mc:AlternateContent xmlns:mc="http://schemas.openxmlformats.org/markup-compatibility/2006" xmlns:a14="http://schemas.microsoft.com/office/drawing/2010/main">
        <mc:Choice Requires="a14">
          <p:sp>
            <p:nvSpPr>
              <p:cNvPr id="50" name="Object 8">
                <a:extLst>
                  <a:ext uri="{FF2B5EF4-FFF2-40B4-BE49-F238E27FC236}">
                    <a16:creationId xmlns:a16="http://schemas.microsoft.com/office/drawing/2014/main" id="{8854611A-F6E3-4587-9480-99318448BCA5}"/>
                  </a:ext>
                </a:extLst>
              </p:cNvPr>
              <p:cNvSpPr txBox="1"/>
              <p:nvPr/>
            </p:nvSpPr>
            <p:spPr bwMode="auto">
              <a:xfrm>
                <a:off x="1267570" y="2974430"/>
                <a:ext cx="2236784" cy="523220"/>
              </a:xfrm>
              <a:prstGeom prst="rect">
                <a:avLst/>
              </a:prstGeom>
              <a:noFill/>
              <a:ln>
                <a:noFill/>
              </a:ln>
              <a:effectLst/>
            </p:spPr>
            <p:txBody>
              <a:bodyPr wrap="square">
                <a:spAutoFit/>
              </a:bodyPr>
              <a:lstStyle/>
              <a:p>
                <a14:m>
                  <m:oMath xmlns:m="http://schemas.openxmlformats.org/officeDocument/2006/math">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ea typeface="Cambria Math" panose="02040503050406030204" pitchFamily="18" charset="0"/>
                      </a:rPr>
                      <m:t>→</m:t>
                    </m:r>
                    <m:r>
                      <a:rPr lang="en-US" sz="2800" b="0" i="1">
                        <a:solidFill>
                          <a:srgbClr val="000000"/>
                        </a:solidFill>
                        <a:latin typeface="Cambria Math" panose="02040503050406030204" pitchFamily="18" charset="0"/>
                      </a:rPr>
                      <m:t>𝑥</m:t>
                    </m:r>
                  </m:oMath>
                </a14:m>
                <a:r>
                  <a:rPr lang="en-US" sz="2800" dirty="0"/>
                  <a:t>[</a:t>
                </a:r>
                <a14:m>
                  <m:oMath xmlns:m="http://schemas.openxmlformats.org/officeDocument/2006/math">
                    <m:r>
                      <a:rPr lang="en-US" sz="2800" b="0" i="0" smtClean="0">
                        <a:solidFill>
                          <a:srgbClr val="000000"/>
                        </a:solidFill>
                        <a:latin typeface="Cambria Math" panose="02040503050406030204" pitchFamily="18" charset="0"/>
                      </a:rPr>
                      <m:t>2</m:t>
                    </m:r>
                    <m:r>
                      <a:rPr lang="en-US" sz="2800" i="1">
                        <a:solidFill>
                          <a:srgbClr val="000000"/>
                        </a:solidFill>
                        <a:latin typeface="Cambria Math" panose="02040503050406030204" pitchFamily="18" charset="0"/>
                      </a:rPr>
                      <m:t>𝑛</m:t>
                    </m:r>
                  </m:oMath>
                </a14:m>
                <a:r>
                  <a:rPr lang="en-US" sz="2800" dirty="0"/>
                  <a:t>]</a:t>
                </a:r>
              </a:p>
            </p:txBody>
          </p:sp>
        </mc:Choice>
        <mc:Fallback xmlns="">
          <p:sp>
            <p:nvSpPr>
              <p:cNvPr id="50" name="Object 8">
                <a:extLst>
                  <a:ext uri="{FF2B5EF4-FFF2-40B4-BE49-F238E27FC236}">
                    <a16:creationId xmlns:a16="http://schemas.microsoft.com/office/drawing/2014/main" id="{8854611A-F6E3-4587-9480-99318448BCA5}"/>
                  </a:ext>
                </a:extLst>
              </p:cNvPr>
              <p:cNvSpPr txBox="1">
                <a:spLocks noRot="1" noChangeAspect="1" noMove="1" noResize="1" noEditPoints="1" noAdjustHandles="1" noChangeArrowheads="1" noChangeShapeType="1" noTextEdit="1"/>
              </p:cNvSpPr>
              <p:nvPr/>
            </p:nvSpPr>
            <p:spPr bwMode="auto">
              <a:xfrm>
                <a:off x="1267570" y="2974430"/>
                <a:ext cx="2236784" cy="523220"/>
              </a:xfrm>
              <a:prstGeom prst="rect">
                <a:avLst/>
              </a:prstGeom>
              <a:blipFill>
                <a:blip r:embed="rId4"/>
                <a:stretch>
                  <a:fillRect t="-12791" r="-1090" b="-3139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157C6254-90A5-4D53-BEE3-3600ACE78EE5}"/>
                  </a:ext>
                </a:extLst>
              </p:cNvPr>
              <p:cNvSpPr txBox="1"/>
              <p:nvPr/>
            </p:nvSpPr>
            <p:spPr>
              <a:xfrm>
                <a:off x="1684815" y="3637926"/>
                <a:ext cx="82390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52" name="文本框 51">
                <a:extLst>
                  <a:ext uri="{FF2B5EF4-FFF2-40B4-BE49-F238E27FC236}">
                    <a16:creationId xmlns:a16="http://schemas.microsoft.com/office/drawing/2014/main" id="{157C6254-90A5-4D53-BEE3-3600ACE78EE5}"/>
                  </a:ext>
                </a:extLst>
              </p:cNvPr>
              <p:cNvSpPr txBox="1">
                <a:spLocks noRot="1" noChangeAspect="1" noMove="1" noResize="1" noEditPoints="1" noAdjustHandles="1" noChangeArrowheads="1" noChangeShapeType="1" noTextEdit="1"/>
              </p:cNvSpPr>
              <p:nvPr/>
            </p:nvSpPr>
            <p:spPr>
              <a:xfrm>
                <a:off x="1684815" y="3637926"/>
                <a:ext cx="823908"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C52B281F-8DBD-4C6D-BD1F-382FB1E54400}"/>
                  </a:ext>
                </a:extLst>
              </p:cNvPr>
              <p:cNvSpPr txBox="1"/>
              <p:nvPr/>
            </p:nvSpPr>
            <p:spPr>
              <a:xfrm>
                <a:off x="5698369" y="3637926"/>
                <a:ext cx="101265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[2</m:t>
                      </m:r>
                      <m:r>
                        <a:rPr lang="en-US" sz="2800" b="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53" name="文本框 52">
                <a:extLst>
                  <a:ext uri="{FF2B5EF4-FFF2-40B4-BE49-F238E27FC236}">
                    <a16:creationId xmlns:a16="http://schemas.microsoft.com/office/drawing/2014/main" id="{C52B281F-8DBD-4C6D-BD1F-382FB1E54400}"/>
                  </a:ext>
                </a:extLst>
              </p:cNvPr>
              <p:cNvSpPr txBox="1">
                <a:spLocks noRot="1" noChangeAspect="1" noMove="1" noResize="1" noEditPoints="1" noAdjustHandles="1" noChangeArrowheads="1" noChangeShapeType="1" noTextEdit="1"/>
              </p:cNvSpPr>
              <p:nvPr/>
            </p:nvSpPr>
            <p:spPr>
              <a:xfrm>
                <a:off x="5698369" y="3637926"/>
                <a:ext cx="1012650" cy="523220"/>
              </a:xfrm>
              <a:prstGeom prst="rect">
                <a:avLst/>
              </a:prstGeom>
              <a:blipFill>
                <a:blip r:embed="rId6"/>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1" name="标题 1">
            <a:extLst>
              <a:ext uri="{FF2B5EF4-FFF2-40B4-BE49-F238E27FC236}">
                <a16:creationId xmlns:a16="http://schemas.microsoft.com/office/drawing/2014/main" id="{6BF503B3-E3D4-4D5F-BC5C-2A3F3413A8B4}"/>
              </a:ext>
            </a:extLst>
          </p:cNvPr>
          <p:cNvSpPr>
            <a:spLocks noGrp="1"/>
          </p:cNvSpPr>
          <p:nvPr>
            <p:ph type="title"/>
          </p:nvPr>
        </p:nvSpPr>
        <p:spPr/>
        <p:txBody>
          <a:bodyPr/>
          <a:lstStyle/>
          <a:p>
            <a:pPr eaLnBrk="1" hangingPunct="1"/>
            <a:r>
              <a:rPr lang="en-US" altLang="zh-CN"/>
              <a:t>1.2  </a:t>
            </a:r>
            <a:r>
              <a:rPr lang="zh-CN" altLang="en-US"/>
              <a:t>自变量变换</a:t>
            </a:r>
          </a:p>
        </p:txBody>
      </p:sp>
      <p:sp>
        <p:nvSpPr>
          <p:cNvPr id="4" name="灯片编号占位符 3">
            <a:extLst>
              <a:ext uri="{FF2B5EF4-FFF2-40B4-BE49-F238E27FC236}">
                <a16:creationId xmlns:a16="http://schemas.microsoft.com/office/drawing/2014/main" id="{D23FACE8-F683-40AD-B0AF-698820C6C71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9D82698-B045-49B8-B54E-6672B47CDCC1}" type="slidenum">
              <a:rPr lang="zh-CN" altLang="en-US">
                <a:solidFill>
                  <a:srgbClr val="898989"/>
                </a:solidFill>
                <a:latin typeface="Calibri" panose="020F0502020204030204" pitchFamily="34" charset="0"/>
              </a:rPr>
              <a:pPr eaLnBrk="1" hangingPunct="1"/>
              <a:t>30</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1285" name="Text Box 8">
                <a:extLst>
                  <a:ext uri="{FF2B5EF4-FFF2-40B4-BE49-F238E27FC236}">
                    <a16:creationId xmlns:a16="http://schemas.microsoft.com/office/drawing/2014/main" id="{CE21166D-AFF7-4FCD-A8FB-1ADCA4A6976E}"/>
                  </a:ext>
                </a:extLst>
              </p:cNvPr>
              <p:cNvSpPr txBox="1">
                <a:spLocks noChangeArrowheads="1"/>
              </p:cNvSpPr>
              <p:nvPr/>
            </p:nvSpPr>
            <p:spPr bwMode="auto">
              <a:xfrm>
                <a:off x="781050" y="1496343"/>
                <a:ext cx="5465855" cy="70070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dirty="0">
                    <a:solidFill>
                      <a:srgbClr val="000099"/>
                    </a:solidFill>
                    <a:latin typeface="楷体" panose="02010609060101010101" pitchFamily="49" charset="-122"/>
                    <a:ea typeface="楷体" panose="02010609060101010101" pitchFamily="49" charset="-122"/>
                  </a:rPr>
                  <a:t>综合示例：   由</a:t>
                </a:r>
                <a14:m>
                  <m:oMath xmlns:m="http://schemas.openxmlformats.org/officeDocument/2006/math">
                    <m:r>
                      <a:rPr lang="en-US" sz="2800" i="1" smtClean="0">
                        <a:solidFill>
                          <a:srgbClr val="000000"/>
                        </a:solidFill>
                        <a:latin typeface="Cambria Math" panose="02040503050406030204" pitchFamily="18" charset="0"/>
                      </a:rPr>
                      <m:t>𝑥</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𝑥</m:t>
                    </m:r>
                    <m:r>
                      <a:rPr lang="en-US" sz="2800" i="1" smtClean="0">
                        <a:solidFill>
                          <a:srgbClr val="000000"/>
                        </a:solidFill>
                        <a:latin typeface="Cambria Math" panose="02040503050406030204" pitchFamily="18" charset="0"/>
                      </a:rPr>
                      <m:t>(3</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2</m:t>
                        </m:r>
                      </m:den>
                    </m:f>
                    <m:r>
                      <a:rPr lang="en-US" sz="2800" i="1">
                        <a:solidFill>
                          <a:srgbClr val="000000"/>
                        </a:solidFill>
                        <a:latin typeface="Cambria Math" panose="02040503050406030204" pitchFamily="18" charset="0"/>
                      </a:rPr>
                      <m:t>)</m:t>
                    </m:r>
                  </m:oMath>
                </a14:m>
                <a:endParaRPr lang="zh-CN" altLang="en-US" sz="2800" dirty="0">
                  <a:latin typeface="楷体" panose="02010609060101010101" pitchFamily="49" charset="-122"/>
                  <a:ea typeface="楷体" panose="02010609060101010101" pitchFamily="49" charset="-122"/>
                </a:endParaRPr>
              </a:p>
            </p:txBody>
          </p:sp>
        </mc:Choice>
        <mc:Fallback xmlns="">
          <p:sp>
            <p:nvSpPr>
              <p:cNvPr id="11285" name="Text Box 8">
                <a:extLst>
                  <a:ext uri="{FF2B5EF4-FFF2-40B4-BE49-F238E27FC236}">
                    <a16:creationId xmlns:a16="http://schemas.microsoft.com/office/drawing/2014/main" id="{CE21166D-AFF7-4FCD-A8FB-1ADCA4A6976E}"/>
                  </a:ext>
                </a:extLst>
              </p:cNvPr>
              <p:cNvSpPr txBox="1">
                <a:spLocks noRot="1" noChangeAspect="1" noMove="1" noResize="1" noEditPoints="1" noAdjustHandles="1" noChangeArrowheads="1" noChangeShapeType="1" noTextEdit="1"/>
              </p:cNvSpPr>
              <p:nvPr/>
            </p:nvSpPr>
            <p:spPr bwMode="auto">
              <a:xfrm>
                <a:off x="781050" y="1496343"/>
                <a:ext cx="5465855" cy="700705"/>
              </a:xfrm>
              <a:prstGeom prst="rect">
                <a:avLst/>
              </a:prstGeom>
              <a:blipFill>
                <a:blip r:embed="rId2"/>
                <a:stretch>
                  <a:fillRect l="-2230" b="-695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2" name="组合 1">
            <a:extLst>
              <a:ext uri="{FF2B5EF4-FFF2-40B4-BE49-F238E27FC236}">
                <a16:creationId xmlns:a16="http://schemas.microsoft.com/office/drawing/2014/main" id="{FAC14812-07AB-45F2-ABB5-BF40F4AE3CF7}"/>
              </a:ext>
            </a:extLst>
          </p:cNvPr>
          <p:cNvGrpSpPr/>
          <p:nvPr/>
        </p:nvGrpSpPr>
        <p:grpSpPr>
          <a:xfrm>
            <a:off x="683568" y="3434680"/>
            <a:ext cx="2092326" cy="1879600"/>
            <a:chOff x="683568" y="3434680"/>
            <a:chExt cx="2092326" cy="1879600"/>
          </a:xfrm>
        </p:grpSpPr>
        <p:sp>
          <p:nvSpPr>
            <p:cNvPr id="11288" name="Line 11">
              <a:extLst>
                <a:ext uri="{FF2B5EF4-FFF2-40B4-BE49-F238E27FC236}">
                  <a16:creationId xmlns:a16="http://schemas.microsoft.com/office/drawing/2014/main" id="{AF623AA4-1494-48DC-8D8B-142A1524AC10}"/>
                </a:ext>
              </a:extLst>
            </p:cNvPr>
            <p:cNvSpPr>
              <a:spLocks noChangeShapeType="1"/>
            </p:cNvSpPr>
            <p:nvPr/>
          </p:nvSpPr>
          <p:spPr bwMode="auto">
            <a:xfrm flipV="1">
              <a:off x="683568" y="4944392"/>
              <a:ext cx="1863725" cy="95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89" name="Line 12">
              <a:extLst>
                <a:ext uri="{FF2B5EF4-FFF2-40B4-BE49-F238E27FC236}">
                  <a16:creationId xmlns:a16="http://schemas.microsoft.com/office/drawing/2014/main" id="{A038905C-C0DE-4B6B-A04F-BA8C538A9651}"/>
                </a:ext>
              </a:extLst>
            </p:cNvPr>
            <p:cNvSpPr>
              <a:spLocks noChangeShapeType="1"/>
            </p:cNvSpPr>
            <p:nvPr/>
          </p:nvSpPr>
          <p:spPr bwMode="auto">
            <a:xfrm flipV="1">
              <a:off x="1043931" y="3729955"/>
              <a:ext cx="0" cy="15843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90" name="Line 13">
              <a:extLst>
                <a:ext uri="{FF2B5EF4-FFF2-40B4-BE49-F238E27FC236}">
                  <a16:creationId xmlns:a16="http://schemas.microsoft.com/office/drawing/2014/main" id="{44F68515-6287-47B6-9451-AA9D535F0F58}"/>
                </a:ext>
              </a:extLst>
            </p:cNvPr>
            <p:cNvSpPr>
              <a:spLocks noChangeShapeType="1"/>
            </p:cNvSpPr>
            <p:nvPr/>
          </p:nvSpPr>
          <p:spPr bwMode="auto">
            <a:xfrm flipV="1">
              <a:off x="1045518" y="4377655"/>
              <a:ext cx="720725" cy="5762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91" name="Line 14">
              <a:extLst>
                <a:ext uri="{FF2B5EF4-FFF2-40B4-BE49-F238E27FC236}">
                  <a16:creationId xmlns:a16="http://schemas.microsoft.com/office/drawing/2014/main" id="{BADA23DA-2384-4E2F-92E1-46CE2F238D36}"/>
                </a:ext>
              </a:extLst>
            </p:cNvPr>
            <p:cNvSpPr>
              <a:spLocks noChangeShapeType="1"/>
            </p:cNvSpPr>
            <p:nvPr/>
          </p:nvSpPr>
          <p:spPr bwMode="auto">
            <a:xfrm>
              <a:off x="1766243" y="4377655"/>
              <a:ext cx="0" cy="5762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92" name="Text Box 15">
              <a:extLst>
                <a:ext uri="{FF2B5EF4-FFF2-40B4-BE49-F238E27FC236}">
                  <a16:creationId xmlns:a16="http://schemas.microsoft.com/office/drawing/2014/main" id="{9AF69A5B-A2C0-4007-87CD-354C7C9C2CE9}"/>
                </a:ext>
              </a:extLst>
            </p:cNvPr>
            <p:cNvSpPr txBox="1">
              <a:spLocks noChangeArrowheads="1"/>
            </p:cNvSpPr>
            <p:nvPr/>
          </p:nvSpPr>
          <p:spPr bwMode="auto">
            <a:xfrm>
              <a:off x="756593" y="4882480"/>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0</a:t>
              </a:r>
            </a:p>
          </p:txBody>
        </p:sp>
        <p:sp>
          <p:nvSpPr>
            <p:cNvPr id="11293" name="Text Box 16">
              <a:extLst>
                <a:ext uri="{FF2B5EF4-FFF2-40B4-BE49-F238E27FC236}">
                  <a16:creationId xmlns:a16="http://schemas.microsoft.com/office/drawing/2014/main" id="{EA2FE463-BF38-47BD-808F-0B08C6EAB2DA}"/>
                </a:ext>
              </a:extLst>
            </p:cNvPr>
            <p:cNvSpPr txBox="1">
              <a:spLocks noChangeArrowheads="1"/>
            </p:cNvSpPr>
            <p:nvPr/>
          </p:nvSpPr>
          <p:spPr bwMode="auto">
            <a:xfrm>
              <a:off x="1620193" y="4882480"/>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mc:AlternateContent xmlns:mc="http://schemas.openxmlformats.org/markup-compatibility/2006" xmlns:a14="http://schemas.microsoft.com/office/drawing/2010/main">
          <mc:Choice Requires="a14">
            <p:sp>
              <p:nvSpPr>
                <p:cNvPr id="11271" name="Object 7">
                  <a:extLst>
                    <a:ext uri="{FF2B5EF4-FFF2-40B4-BE49-F238E27FC236}">
                      <a16:creationId xmlns:a16="http://schemas.microsoft.com/office/drawing/2014/main" id="{0F81C641-C832-4970-98C8-01D1FBD3A2D1}"/>
                    </a:ext>
                  </a:extLst>
                </p:cNvPr>
                <p:cNvSpPr txBox="1"/>
                <p:nvPr/>
              </p:nvSpPr>
              <p:spPr bwMode="auto">
                <a:xfrm>
                  <a:off x="1069331" y="3434680"/>
                  <a:ext cx="720725" cy="5000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1271" name="Object 7">
                  <a:extLst>
                    <a:ext uri="{FF2B5EF4-FFF2-40B4-BE49-F238E27FC236}">
                      <a16:creationId xmlns:a16="http://schemas.microsoft.com/office/drawing/2014/main" id="{0F81C641-C832-4970-98C8-01D1FBD3A2D1}"/>
                    </a:ext>
                  </a:extLst>
                </p:cNvPr>
                <p:cNvSpPr txBox="1">
                  <a:spLocks noRot="1" noChangeAspect="1" noMove="1" noResize="1" noEditPoints="1" noAdjustHandles="1" noChangeArrowheads="1" noChangeShapeType="1" noTextEdit="1"/>
                </p:cNvSpPr>
                <p:nvPr/>
              </p:nvSpPr>
              <p:spPr bwMode="auto">
                <a:xfrm>
                  <a:off x="1069331" y="3434680"/>
                  <a:ext cx="720725" cy="500063"/>
                </a:xfrm>
                <a:prstGeom prst="rect">
                  <a:avLst/>
                </a:prstGeom>
                <a:blipFill>
                  <a:blip r:embed="rId3"/>
                  <a:stretch>
                    <a:fillRect r="-9244" b="-10976"/>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2" name="Object 8">
                  <a:extLst>
                    <a:ext uri="{FF2B5EF4-FFF2-40B4-BE49-F238E27FC236}">
                      <a16:creationId xmlns:a16="http://schemas.microsoft.com/office/drawing/2014/main" id="{18738594-DA53-4C4F-BE27-FBE7E159EA98}"/>
                    </a:ext>
                  </a:extLst>
                </p:cNvPr>
                <p:cNvSpPr txBox="1"/>
                <p:nvPr/>
              </p:nvSpPr>
              <p:spPr bwMode="auto">
                <a:xfrm>
                  <a:off x="2491731" y="4814217"/>
                  <a:ext cx="284163" cy="4651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𝑡</m:t>
                        </m:r>
                      </m:oMath>
                    </m:oMathPara>
                  </a14:m>
                  <a:endParaRPr lang="en-US" sz="2400" dirty="0"/>
                </a:p>
              </p:txBody>
            </p:sp>
          </mc:Choice>
          <mc:Fallback xmlns="">
            <p:sp>
              <p:nvSpPr>
                <p:cNvPr id="11272" name="Object 8">
                  <a:extLst>
                    <a:ext uri="{FF2B5EF4-FFF2-40B4-BE49-F238E27FC236}">
                      <a16:creationId xmlns:a16="http://schemas.microsoft.com/office/drawing/2014/main" id="{18738594-DA53-4C4F-BE27-FBE7E159EA98}"/>
                    </a:ext>
                  </a:extLst>
                </p:cNvPr>
                <p:cNvSpPr txBox="1">
                  <a:spLocks noRot="1" noChangeAspect="1" noMove="1" noResize="1" noEditPoints="1" noAdjustHandles="1" noChangeArrowheads="1" noChangeShapeType="1" noTextEdit="1"/>
                </p:cNvSpPr>
                <p:nvPr/>
              </p:nvSpPr>
              <p:spPr bwMode="auto">
                <a:xfrm>
                  <a:off x="2491731" y="4814217"/>
                  <a:ext cx="284163" cy="465138"/>
                </a:xfrm>
                <a:prstGeom prst="rect">
                  <a:avLst/>
                </a:prstGeom>
                <a:blipFill>
                  <a:blip r:embed="rId4"/>
                  <a:stretch>
                    <a:fillRect l="-2174" r="-8696"/>
                  </a:stretch>
                </a:blipFill>
                <a:ln>
                  <a:noFill/>
                </a:ln>
                <a:effectLst/>
              </p:spPr>
              <p:txBody>
                <a:bodyPr/>
                <a:lstStyle/>
                <a:p>
                  <a:r>
                    <a:rPr lang="en-US">
                      <a:noFill/>
                    </a:rPr>
                    <a:t> </a:t>
                  </a:r>
                </a:p>
              </p:txBody>
            </p:sp>
          </mc:Fallback>
        </mc:AlternateContent>
        <p:sp>
          <p:nvSpPr>
            <p:cNvPr id="11294" name="Line 19">
              <a:extLst>
                <a:ext uri="{FF2B5EF4-FFF2-40B4-BE49-F238E27FC236}">
                  <a16:creationId xmlns:a16="http://schemas.microsoft.com/office/drawing/2014/main" id="{C3C5B0B4-C6F0-40C7-B2E2-9FF4FDAB8F1F}"/>
                </a:ext>
              </a:extLst>
            </p:cNvPr>
            <p:cNvSpPr>
              <a:spLocks noChangeShapeType="1"/>
            </p:cNvSpPr>
            <p:nvPr/>
          </p:nvSpPr>
          <p:spPr bwMode="auto">
            <a:xfrm flipH="1">
              <a:off x="1045518" y="4377655"/>
              <a:ext cx="730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95" name="Text Box 20">
              <a:extLst>
                <a:ext uri="{FF2B5EF4-FFF2-40B4-BE49-F238E27FC236}">
                  <a16:creationId xmlns:a16="http://schemas.microsoft.com/office/drawing/2014/main" id="{64744A62-B4FE-40EB-9680-E81DDB3381D8}"/>
                </a:ext>
              </a:extLst>
            </p:cNvPr>
            <p:cNvSpPr txBox="1">
              <a:spLocks noChangeArrowheads="1"/>
            </p:cNvSpPr>
            <p:nvPr/>
          </p:nvSpPr>
          <p:spPr bwMode="auto">
            <a:xfrm>
              <a:off x="810568" y="4141117"/>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grpSp>
      <p:grpSp>
        <p:nvGrpSpPr>
          <p:cNvPr id="3" name="组合 2">
            <a:extLst>
              <a:ext uri="{FF2B5EF4-FFF2-40B4-BE49-F238E27FC236}">
                <a16:creationId xmlns:a16="http://schemas.microsoft.com/office/drawing/2014/main" id="{4C504FA2-ABA1-4FB9-8B02-E70F4F3416DD}"/>
              </a:ext>
            </a:extLst>
          </p:cNvPr>
          <p:cNvGrpSpPr/>
          <p:nvPr/>
        </p:nvGrpSpPr>
        <p:grpSpPr>
          <a:xfrm>
            <a:off x="3615681" y="3277517"/>
            <a:ext cx="2154238" cy="2036763"/>
            <a:chOff x="3615681" y="3277517"/>
            <a:chExt cx="2154238" cy="2036763"/>
          </a:xfrm>
        </p:grpSpPr>
        <p:sp>
          <p:nvSpPr>
            <p:cNvPr id="11296" name="Line 21">
              <a:extLst>
                <a:ext uri="{FF2B5EF4-FFF2-40B4-BE49-F238E27FC236}">
                  <a16:creationId xmlns:a16="http://schemas.microsoft.com/office/drawing/2014/main" id="{0B737B75-7E95-4650-9707-8FF12A30F5A3}"/>
                </a:ext>
              </a:extLst>
            </p:cNvPr>
            <p:cNvSpPr>
              <a:spLocks noChangeShapeType="1"/>
            </p:cNvSpPr>
            <p:nvPr/>
          </p:nvSpPr>
          <p:spPr bwMode="auto">
            <a:xfrm flipV="1">
              <a:off x="3615681" y="4944392"/>
              <a:ext cx="1903413" cy="95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97" name="Line 22">
              <a:extLst>
                <a:ext uri="{FF2B5EF4-FFF2-40B4-BE49-F238E27FC236}">
                  <a16:creationId xmlns:a16="http://schemas.microsoft.com/office/drawing/2014/main" id="{934D99B8-4455-44D9-8F20-9E391FC6D193}"/>
                </a:ext>
              </a:extLst>
            </p:cNvPr>
            <p:cNvSpPr>
              <a:spLocks noChangeShapeType="1"/>
            </p:cNvSpPr>
            <p:nvPr/>
          </p:nvSpPr>
          <p:spPr bwMode="auto">
            <a:xfrm flipV="1">
              <a:off x="3976043" y="3729955"/>
              <a:ext cx="0" cy="15843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98" name="Line 23">
              <a:extLst>
                <a:ext uri="{FF2B5EF4-FFF2-40B4-BE49-F238E27FC236}">
                  <a16:creationId xmlns:a16="http://schemas.microsoft.com/office/drawing/2014/main" id="{3CC4AA26-A33F-499A-9CE2-F16A6EC2C3BC}"/>
                </a:ext>
              </a:extLst>
            </p:cNvPr>
            <p:cNvSpPr>
              <a:spLocks noChangeShapeType="1"/>
            </p:cNvSpPr>
            <p:nvPr/>
          </p:nvSpPr>
          <p:spPr bwMode="auto">
            <a:xfrm flipV="1">
              <a:off x="4336406" y="4377655"/>
              <a:ext cx="720725" cy="5762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99" name="Line 24">
              <a:extLst>
                <a:ext uri="{FF2B5EF4-FFF2-40B4-BE49-F238E27FC236}">
                  <a16:creationId xmlns:a16="http://schemas.microsoft.com/office/drawing/2014/main" id="{7E22B97F-C35D-436F-8B80-938A7A7D1AEA}"/>
                </a:ext>
              </a:extLst>
            </p:cNvPr>
            <p:cNvSpPr>
              <a:spLocks noChangeShapeType="1"/>
            </p:cNvSpPr>
            <p:nvPr/>
          </p:nvSpPr>
          <p:spPr bwMode="auto">
            <a:xfrm>
              <a:off x="5055543" y="4377655"/>
              <a:ext cx="0" cy="5762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00" name="Text Box 25">
              <a:extLst>
                <a:ext uri="{FF2B5EF4-FFF2-40B4-BE49-F238E27FC236}">
                  <a16:creationId xmlns:a16="http://schemas.microsoft.com/office/drawing/2014/main" id="{24562BFA-28A2-4BC1-949E-D11158994F93}"/>
                </a:ext>
              </a:extLst>
            </p:cNvPr>
            <p:cNvSpPr txBox="1">
              <a:spLocks noChangeArrowheads="1"/>
            </p:cNvSpPr>
            <p:nvPr/>
          </p:nvSpPr>
          <p:spPr bwMode="auto">
            <a:xfrm>
              <a:off x="3688706" y="4882480"/>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0</a:t>
              </a:r>
            </a:p>
          </p:txBody>
        </p:sp>
        <mc:AlternateContent xmlns:mc="http://schemas.openxmlformats.org/markup-compatibility/2006" xmlns:a14="http://schemas.microsoft.com/office/drawing/2010/main">
          <mc:Choice Requires="a14">
            <p:sp>
              <p:nvSpPr>
                <p:cNvPr id="11273" name="Object 9">
                  <a:extLst>
                    <a:ext uri="{FF2B5EF4-FFF2-40B4-BE49-F238E27FC236}">
                      <a16:creationId xmlns:a16="http://schemas.microsoft.com/office/drawing/2014/main" id="{A51848E4-080B-4EA1-BEE4-904C3F3D7C76}"/>
                    </a:ext>
                  </a:extLst>
                </p:cNvPr>
                <p:cNvSpPr txBox="1"/>
                <p:nvPr/>
              </p:nvSpPr>
              <p:spPr bwMode="auto">
                <a:xfrm>
                  <a:off x="5431781" y="4793580"/>
                  <a:ext cx="338138" cy="5048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𝑡</m:t>
                        </m:r>
                      </m:oMath>
                    </m:oMathPara>
                  </a14:m>
                  <a:endParaRPr lang="en-US" sz="2400" dirty="0"/>
                </a:p>
              </p:txBody>
            </p:sp>
          </mc:Choice>
          <mc:Fallback xmlns="">
            <p:sp>
              <p:nvSpPr>
                <p:cNvPr id="11273" name="Object 9">
                  <a:extLst>
                    <a:ext uri="{FF2B5EF4-FFF2-40B4-BE49-F238E27FC236}">
                      <a16:creationId xmlns:a16="http://schemas.microsoft.com/office/drawing/2014/main" id="{A51848E4-080B-4EA1-BEE4-904C3F3D7C76}"/>
                    </a:ext>
                  </a:extLst>
                </p:cNvPr>
                <p:cNvSpPr txBox="1">
                  <a:spLocks noRot="1" noChangeAspect="1" noMove="1" noResize="1" noEditPoints="1" noAdjustHandles="1" noChangeArrowheads="1" noChangeShapeType="1" noTextEdit="1"/>
                </p:cNvSpPr>
                <p:nvPr/>
              </p:nvSpPr>
              <p:spPr bwMode="auto">
                <a:xfrm>
                  <a:off x="5431781" y="4793580"/>
                  <a:ext cx="338138" cy="504825"/>
                </a:xfrm>
                <a:prstGeom prst="rect">
                  <a:avLst/>
                </a:prstGeom>
                <a:blipFill>
                  <a:blip r:embed="rId5"/>
                  <a:stretch>
                    <a:fillRect/>
                  </a:stretch>
                </a:blipFill>
                <a:ln>
                  <a:noFill/>
                </a:ln>
                <a:effectLst/>
              </p:spPr>
              <p:txBody>
                <a:bodyPr/>
                <a:lstStyle/>
                <a:p>
                  <a:r>
                    <a:rPr lang="en-US">
                      <a:noFill/>
                    </a:rPr>
                    <a:t> </a:t>
                  </a:r>
                </a:p>
              </p:txBody>
            </p:sp>
          </mc:Fallback>
        </mc:AlternateContent>
        <p:sp>
          <p:nvSpPr>
            <p:cNvPr id="11301" name="Line 27">
              <a:extLst>
                <a:ext uri="{FF2B5EF4-FFF2-40B4-BE49-F238E27FC236}">
                  <a16:creationId xmlns:a16="http://schemas.microsoft.com/office/drawing/2014/main" id="{DD67EDD4-D7EF-4953-9B4E-B7D1104038B9}"/>
                </a:ext>
              </a:extLst>
            </p:cNvPr>
            <p:cNvSpPr>
              <a:spLocks noChangeShapeType="1"/>
            </p:cNvSpPr>
            <p:nvPr/>
          </p:nvSpPr>
          <p:spPr bwMode="auto">
            <a:xfrm flipH="1">
              <a:off x="3976043" y="4377655"/>
              <a:ext cx="730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02" name="Text Box 28">
              <a:extLst>
                <a:ext uri="{FF2B5EF4-FFF2-40B4-BE49-F238E27FC236}">
                  <a16:creationId xmlns:a16="http://schemas.microsoft.com/office/drawing/2014/main" id="{59557426-51E3-4887-88CB-43233C982A31}"/>
                </a:ext>
              </a:extLst>
            </p:cNvPr>
            <p:cNvSpPr txBox="1">
              <a:spLocks noChangeArrowheads="1"/>
            </p:cNvSpPr>
            <p:nvPr/>
          </p:nvSpPr>
          <p:spPr bwMode="auto">
            <a:xfrm>
              <a:off x="3741093" y="4141117"/>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sp>
          <p:nvSpPr>
            <p:cNvPr id="11303" name="Text Box 29">
              <a:extLst>
                <a:ext uri="{FF2B5EF4-FFF2-40B4-BE49-F238E27FC236}">
                  <a16:creationId xmlns:a16="http://schemas.microsoft.com/office/drawing/2014/main" id="{5C54194B-C952-40B7-BE96-FC90A65DE295}"/>
                </a:ext>
              </a:extLst>
            </p:cNvPr>
            <p:cNvSpPr txBox="1">
              <a:spLocks noChangeArrowheads="1"/>
            </p:cNvSpPr>
            <p:nvPr/>
          </p:nvSpPr>
          <p:spPr bwMode="auto">
            <a:xfrm>
              <a:off x="4047481" y="4882480"/>
              <a:ext cx="569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1/2</a:t>
              </a:r>
            </a:p>
          </p:txBody>
        </p:sp>
        <p:sp>
          <p:nvSpPr>
            <p:cNvPr id="11304" name="Text Box 30">
              <a:extLst>
                <a:ext uri="{FF2B5EF4-FFF2-40B4-BE49-F238E27FC236}">
                  <a16:creationId xmlns:a16="http://schemas.microsoft.com/office/drawing/2014/main" id="{0406BFCB-6BED-4C92-887B-E2D4F8D64C65}"/>
                </a:ext>
              </a:extLst>
            </p:cNvPr>
            <p:cNvSpPr txBox="1">
              <a:spLocks noChangeArrowheads="1"/>
            </p:cNvSpPr>
            <p:nvPr/>
          </p:nvSpPr>
          <p:spPr bwMode="auto">
            <a:xfrm>
              <a:off x="4768206" y="4882480"/>
              <a:ext cx="569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3/2</a:t>
              </a:r>
            </a:p>
          </p:txBody>
        </p:sp>
        <mc:AlternateContent xmlns:mc="http://schemas.openxmlformats.org/markup-compatibility/2006" xmlns:a14="http://schemas.microsoft.com/office/drawing/2010/main">
          <mc:Choice Requires="a14">
            <p:sp>
              <p:nvSpPr>
                <p:cNvPr id="11275" name="Object 11">
                  <a:extLst>
                    <a:ext uri="{FF2B5EF4-FFF2-40B4-BE49-F238E27FC236}">
                      <a16:creationId xmlns:a16="http://schemas.microsoft.com/office/drawing/2014/main" id="{59344B92-4683-4208-B7D9-DFB21C4B21EC}"/>
                    </a:ext>
                  </a:extLst>
                </p:cNvPr>
                <p:cNvSpPr txBox="1"/>
                <p:nvPr/>
              </p:nvSpPr>
              <p:spPr bwMode="auto">
                <a:xfrm>
                  <a:off x="4012556" y="3277517"/>
                  <a:ext cx="1281113" cy="8143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1275" name="Object 11">
                  <a:extLst>
                    <a:ext uri="{FF2B5EF4-FFF2-40B4-BE49-F238E27FC236}">
                      <a16:creationId xmlns:a16="http://schemas.microsoft.com/office/drawing/2014/main" id="{59344B92-4683-4208-B7D9-DFB21C4B21EC}"/>
                    </a:ext>
                  </a:extLst>
                </p:cNvPr>
                <p:cNvSpPr txBox="1">
                  <a:spLocks noRot="1" noChangeAspect="1" noMove="1" noResize="1" noEditPoints="1" noAdjustHandles="1" noChangeArrowheads="1" noChangeShapeType="1" noTextEdit="1"/>
                </p:cNvSpPr>
                <p:nvPr/>
              </p:nvSpPr>
              <p:spPr bwMode="auto">
                <a:xfrm>
                  <a:off x="4012556" y="3277517"/>
                  <a:ext cx="1281113" cy="814388"/>
                </a:xfrm>
                <a:prstGeom prst="rect">
                  <a:avLst/>
                </a:prstGeom>
                <a:blipFill>
                  <a:blip r:embed="rId6"/>
                  <a:stretch>
                    <a:fillRect/>
                  </a:stretch>
                </a:blipFill>
                <a:ln>
                  <a:noFill/>
                </a:ln>
                <a:effectLst/>
              </p:spPr>
              <p:txBody>
                <a:bodyPr/>
                <a:lstStyle/>
                <a:p>
                  <a:r>
                    <a:rPr lang="en-US">
                      <a:noFill/>
                    </a:rPr>
                    <a:t> </a:t>
                  </a:r>
                </a:p>
              </p:txBody>
            </p:sp>
          </mc:Fallback>
        </mc:AlternateContent>
      </p:grpSp>
      <p:grpSp>
        <p:nvGrpSpPr>
          <p:cNvPr id="5" name="组合 4">
            <a:extLst>
              <a:ext uri="{FF2B5EF4-FFF2-40B4-BE49-F238E27FC236}">
                <a16:creationId xmlns:a16="http://schemas.microsoft.com/office/drawing/2014/main" id="{B68FC4C2-513E-4BD9-8512-F858CE11BF94}"/>
              </a:ext>
            </a:extLst>
          </p:cNvPr>
          <p:cNvGrpSpPr/>
          <p:nvPr/>
        </p:nvGrpSpPr>
        <p:grpSpPr>
          <a:xfrm>
            <a:off x="6662093" y="3291805"/>
            <a:ext cx="2190751" cy="2022475"/>
            <a:chOff x="6662093" y="3291805"/>
            <a:chExt cx="2190751" cy="2022475"/>
          </a:xfrm>
        </p:grpSpPr>
        <p:sp>
          <p:nvSpPr>
            <p:cNvPr id="11305" name="Line 31">
              <a:extLst>
                <a:ext uri="{FF2B5EF4-FFF2-40B4-BE49-F238E27FC236}">
                  <a16:creationId xmlns:a16="http://schemas.microsoft.com/office/drawing/2014/main" id="{8342300D-A9CD-4B75-9FA5-6E0FB5301403}"/>
                </a:ext>
              </a:extLst>
            </p:cNvPr>
            <p:cNvSpPr>
              <a:spLocks noChangeShapeType="1"/>
            </p:cNvSpPr>
            <p:nvPr/>
          </p:nvSpPr>
          <p:spPr bwMode="auto">
            <a:xfrm flipV="1">
              <a:off x="6782743" y="4944392"/>
              <a:ext cx="1860550" cy="95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306" name="Line 32">
              <a:extLst>
                <a:ext uri="{FF2B5EF4-FFF2-40B4-BE49-F238E27FC236}">
                  <a16:creationId xmlns:a16="http://schemas.microsoft.com/office/drawing/2014/main" id="{04AD40AF-DC1D-42A0-9837-F8A923E34A2D}"/>
                </a:ext>
              </a:extLst>
            </p:cNvPr>
            <p:cNvSpPr>
              <a:spLocks noChangeShapeType="1"/>
            </p:cNvSpPr>
            <p:nvPr/>
          </p:nvSpPr>
          <p:spPr bwMode="auto">
            <a:xfrm flipV="1">
              <a:off x="6949431" y="3729955"/>
              <a:ext cx="0" cy="15843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307" name="Line 33">
              <a:extLst>
                <a:ext uri="{FF2B5EF4-FFF2-40B4-BE49-F238E27FC236}">
                  <a16:creationId xmlns:a16="http://schemas.microsoft.com/office/drawing/2014/main" id="{CF0FB216-0F1F-4557-A3C4-E38F0EE1F513}"/>
                </a:ext>
              </a:extLst>
            </p:cNvPr>
            <p:cNvSpPr>
              <a:spLocks noChangeShapeType="1"/>
            </p:cNvSpPr>
            <p:nvPr/>
          </p:nvSpPr>
          <p:spPr bwMode="auto">
            <a:xfrm flipV="1">
              <a:off x="7093893" y="4377655"/>
              <a:ext cx="431800" cy="5762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08" name="Line 34">
              <a:extLst>
                <a:ext uri="{FF2B5EF4-FFF2-40B4-BE49-F238E27FC236}">
                  <a16:creationId xmlns:a16="http://schemas.microsoft.com/office/drawing/2014/main" id="{FB1FCB0D-472B-4111-8B89-59A52E897068}"/>
                </a:ext>
              </a:extLst>
            </p:cNvPr>
            <p:cNvSpPr>
              <a:spLocks noChangeShapeType="1"/>
            </p:cNvSpPr>
            <p:nvPr/>
          </p:nvSpPr>
          <p:spPr bwMode="auto">
            <a:xfrm>
              <a:off x="7525693" y="4377655"/>
              <a:ext cx="0" cy="5762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09" name="Text Box 35">
              <a:extLst>
                <a:ext uri="{FF2B5EF4-FFF2-40B4-BE49-F238E27FC236}">
                  <a16:creationId xmlns:a16="http://schemas.microsoft.com/office/drawing/2014/main" id="{28A26F47-B351-42EA-9FB9-6018231CD9B3}"/>
                </a:ext>
              </a:extLst>
            </p:cNvPr>
            <p:cNvSpPr txBox="1">
              <a:spLocks noChangeArrowheads="1"/>
            </p:cNvSpPr>
            <p:nvPr/>
          </p:nvSpPr>
          <p:spPr bwMode="auto">
            <a:xfrm>
              <a:off x="6662093" y="4882480"/>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0</a:t>
              </a:r>
            </a:p>
          </p:txBody>
        </p:sp>
        <mc:AlternateContent xmlns:mc="http://schemas.openxmlformats.org/markup-compatibility/2006" xmlns:a14="http://schemas.microsoft.com/office/drawing/2010/main">
          <mc:Choice Requires="a14">
            <p:sp>
              <p:nvSpPr>
                <p:cNvPr id="11274" name="Object 10">
                  <a:extLst>
                    <a:ext uri="{FF2B5EF4-FFF2-40B4-BE49-F238E27FC236}">
                      <a16:creationId xmlns:a16="http://schemas.microsoft.com/office/drawing/2014/main" id="{D5207A90-D6CB-4785-8908-A5E6C92FA15A}"/>
                    </a:ext>
                  </a:extLst>
                </p:cNvPr>
                <p:cNvSpPr txBox="1"/>
                <p:nvPr/>
              </p:nvSpPr>
              <p:spPr bwMode="auto">
                <a:xfrm>
                  <a:off x="8565506" y="4804692"/>
                  <a:ext cx="287338" cy="4651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𝑡</m:t>
                        </m:r>
                      </m:oMath>
                    </m:oMathPara>
                  </a14:m>
                  <a:endParaRPr lang="en-US" sz="2400" dirty="0"/>
                </a:p>
              </p:txBody>
            </p:sp>
          </mc:Choice>
          <mc:Fallback xmlns="">
            <p:sp>
              <p:nvSpPr>
                <p:cNvPr id="11274" name="Object 10">
                  <a:extLst>
                    <a:ext uri="{FF2B5EF4-FFF2-40B4-BE49-F238E27FC236}">
                      <a16:creationId xmlns:a16="http://schemas.microsoft.com/office/drawing/2014/main" id="{D5207A90-D6CB-4785-8908-A5E6C92FA15A}"/>
                    </a:ext>
                  </a:extLst>
                </p:cNvPr>
                <p:cNvSpPr txBox="1">
                  <a:spLocks noRot="1" noChangeAspect="1" noMove="1" noResize="1" noEditPoints="1" noAdjustHandles="1" noChangeArrowheads="1" noChangeShapeType="1" noTextEdit="1"/>
                </p:cNvSpPr>
                <p:nvPr/>
              </p:nvSpPr>
              <p:spPr bwMode="auto">
                <a:xfrm>
                  <a:off x="8565506" y="4804692"/>
                  <a:ext cx="287338" cy="465138"/>
                </a:xfrm>
                <a:prstGeom prst="rect">
                  <a:avLst/>
                </a:prstGeom>
                <a:blipFill>
                  <a:blip r:embed="rId7"/>
                  <a:stretch>
                    <a:fillRect r="-8511"/>
                  </a:stretch>
                </a:blipFill>
                <a:ln>
                  <a:noFill/>
                </a:ln>
                <a:effectLst/>
              </p:spPr>
              <p:txBody>
                <a:bodyPr/>
                <a:lstStyle/>
                <a:p>
                  <a:r>
                    <a:rPr lang="en-US">
                      <a:noFill/>
                    </a:rPr>
                    <a:t> </a:t>
                  </a:r>
                </a:p>
              </p:txBody>
            </p:sp>
          </mc:Fallback>
        </mc:AlternateContent>
        <p:sp>
          <p:nvSpPr>
            <p:cNvPr id="11310" name="Line 37">
              <a:extLst>
                <a:ext uri="{FF2B5EF4-FFF2-40B4-BE49-F238E27FC236}">
                  <a16:creationId xmlns:a16="http://schemas.microsoft.com/office/drawing/2014/main" id="{DF827432-0205-4E62-AD03-F7B4392AD2C7}"/>
                </a:ext>
              </a:extLst>
            </p:cNvPr>
            <p:cNvSpPr>
              <a:spLocks noChangeShapeType="1"/>
            </p:cNvSpPr>
            <p:nvPr/>
          </p:nvSpPr>
          <p:spPr bwMode="auto">
            <a:xfrm flipH="1">
              <a:off x="6949431" y="4377655"/>
              <a:ext cx="730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11" name="Text Box 38">
              <a:extLst>
                <a:ext uri="{FF2B5EF4-FFF2-40B4-BE49-F238E27FC236}">
                  <a16:creationId xmlns:a16="http://schemas.microsoft.com/office/drawing/2014/main" id="{4ADD76B9-E6F4-4607-931B-7A0FBBE0AFCE}"/>
                </a:ext>
              </a:extLst>
            </p:cNvPr>
            <p:cNvSpPr txBox="1">
              <a:spLocks noChangeArrowheads="1"/>
            </p:cNvSpPr>
            <p:nvPr/>
          </p:nvSpPr>
          <p:spPr bwMode="auto">
            <a:xfrm>
              <a:off x="6714481" y="4141117"/>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sp>
          <p:nvSpPr>
            <p:cNvPr id="11312" name="Text Box 39">
              <a:extLst>
                <a:ext uri="{FF2B5EF4-FFF2-40B4-BE49-F238E27FC236}">
                  <a16:creationId xmlns:a16="http://schemas.microsoft.com/office/drawing/2014/main" id="{1CBC3222-F3FF-479B-9151-DA0F10FA0E13}"/>
                </a:ext>
              </a:extLst>
            </p:cNvPr>
            <p:cNvSpPr txBox="1">
              <a:spLocks noChangeArrowheads="1"/>
            </p:cNvSpPr>
            <p:nvPr/>
          </p:nvSpPr>
          <p:spPr bwMode="auto">
            <a:xfrm>
              <a:off x="7382818" y="4882480"/>
              <a:ext cx="569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1/2</a:t>
              </a:r>
            </a:p>
          </p:txBody>
        </p:sp>
        <p:sp>
          <p:nvSpPr>
            <p:cNvPr id="11313" name="Text Box 40">
              <a:extLst>
                <a:ext uri="{FF2B5EF4-FFF2-40B4-BE49-F238E27FC236}">
                  <a16:creationId xmlns:a16="http://schemas.microsoft.com/office/drawing/2014/main" id="{B62215B1-8FC2-42E8-91A4-902D78A2C2EE}"/>
                </a:ext>
              </a:extLst>
            </p:cNvPr>
            <p:cNvSpPr txBox="1">
              <a:spLocks noChangeArrowheads="1"/>
            </p:cNvSpPr>
            <p:nvPr/>
          </p:nvSpPr>
          <p:spPr bwMode="auto">
            <a:xfrm>
              <a:off x="6877993" y="4882480"/>
              <a:ext cx="569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1/6</a:t>
              </a:r>
            </a:p>
          </p:txBody>
        </p:sp>
        <mc:AlternateContent xmlns:mc="http://schemas.openxmlformats.org/markup-compatibility/2006" xmlns:a14="http://schemas.microsoft.com/office/drawing/2010/main">
          <mc:Choice Requires="a14">
            <p:sp>
              <p:nvSpPr>
                <p:cNvPr id="11276" name="Object 12">
                  <a:extLst>
                    <a:ext uri="{FF2B5EF4-FFF2-40B4-BE49-F238E27FC236}">
                      <a16:creationId xmlns:a16="http://schemas.microsoft.com/office/drawing/2014/main" id="{DD994BCE-2D6D-4BFE-8155-8486DF05A69A}"/>
                    </a:ext>
                  </a:extLst>
                </p:cNvPr>
                <p:cNvSpPr txBox="1"/>
                <p:nvPr/>
              </p:nvSpPr>
              <p:spPr bwMode="auto">
                <a:xfrm>
                  <a:off x="7025631" y="3291805"/>
                  <a:ext cx="1506538" cy="7572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1276" name="Object 12">
                  <a:extLst>
                    <a:ext uri="{FF2B5EF4-FFF2-40B4-BE49-F238E27FC236}">
                      <a16:creationId xmlns:a16="http://schemas.microsoft.com/office/drawing/2014/main" id="{DD994BCE-2D6D-4BFE-8155-8486DF05A69A}"/>
                    </a:ext>
                  </a:extLst>
                </p:cNvPr>
                <p:cNvSpPr txBox="1">
                  <a:spLocks noRot="1" noChangeAspect="1" noMove="1" noResize="1" noEditPoints="1" noAdjustHandles="1" noChangeArrowheads="1" noChangeShapeType="1" noTextEdit="1"/>
                </p:cNvSpPr>
                <p:nvPr/>
              </p:nvSpPr>
              <p:spPr bwMode="auto">
                <a:xfrm>
                  <a:off x="7025631" y="3291805"/>
                  <a:ext cx="1506538" cy="757238"/>
                </a:xfrm>
                <a:prstGeom prst="rect">
                  <a:avLst/>
                </a:prstGeom>
                <a:blipFill>
                  <a:blip r:embed="rId8"/>
                  <a:stretch>
                    <a:fillRect/>
                  </a:stretch>
                </a:blipFill>
                <a:ln>
                  <a:noFill/>
                </a:ln>
                <a:effectLst/>
              </p:spPr>
              <p:txBody>
                <a:bodyPr/>
                <a:lstStyle/>
                <a:p>
                  <a:r>
                    <a:rPr lang="en-US">
                      <a:noFill/>
                    </a:rPr>
                    <a:t> </a:t>
                  </a:r>
                </a:p>
              </p:txBody>
            </p:sp>
          </mc:Fallback>
        </mc:AlternateContent>
      </p:grpSp>
      <p:grpSp>
        <p:nvGrpSpPr>
          <p:cNvPr id="6" name="组合 5">
            <a:extLst>
              <a:ext uri="{FF2B5EF4-FFF2-40B4-BE49-F238E27FC236}">
                <a16:creationId xmlns:a16="http://schemas.microsoft.com/office/drawing/2014/main" id="{A7CAFB9D-4070-4CA2-87AB-01E807AD6B8A}"/>
              </a:ext>
            </a:extLst>
          </p:cNvPr>
          <p:cNvGrpSpPr/>
          <p:nvPr/>
        </p:nvGrpSpPr>
        <p:grpSpPr>
          <a:xfrm>
            <a:off x="2402831" y="3842667"/>
            <a:ext cx="1301750" cy="1073150"/>
            <a:chOff x="2402831" y="3842667"/>
            <a:chExt cx="1301750" cy="1073150"/>
          </a:xfrm>
        </p:grpSpPr>
        <mc:AlternateContent xmlns:mc="http://schemas.openxmlformats.org/markup-compatibility/2006" xmlns:a14="http://schemas.microsoft.com/office/drawing/2010/main">
          <mc:Choice Requires="a14">
            <p:sp>
              <p:nvSpPr>
                <p:cNvPr id="11277" name="Object 13">
                  <a:extLst>
                    <a:ext uri="{FF2B5EF4-FFF2-40B4-BE49-F238E27FC236}">
                      <a16:creationId xmlns:a16="http://schemas.microsoft.com/office/drawing/2014/main" id="{CEFE6FD8-DCCD-46FC-9147-0B06A01C32C8}"/>
                    </a:ext>
                  </a:extLst>
                </p:cNvPr>
                <p:cNvSpPr txBox="1"/>
                <p:nvPr/>
              </p:nvSpPr>
              <p:spPr bwMode="auto">
                <a:xfrm>
                  <a:off x="2845743" y="4410992"/>
                  <a:ext cx="520700" cy="5048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m:t>
                        </m:r>
                      </m:oMath>
                    </m:oMathPara>
                  </a14:m>
                  <a:endParaRPr lang="en-US" sz="2400" dirty="0"/>
                </a:p>
              </p:txBody>
            </p:sp>
          </mc:Choice>
          <mc:Fallback xmlns="">
            <p:sp>
              <p:nvSpPr>
                <p:cNvPr id="11277" name="Object 13">
                  <a:extLst>
                    <a:ext uri="{FF2B5EF4-FFF2-40B4-BE49-F238E27FC236}">
                      <a16:creationId xmlns:a16="http://schemas.microsoft.com/office/drawing/2014/main" id="{CEFE6FD8-DCCD-46FC-9147-0B06A01C32C8}"/>
                    </a:ext>
                  </a:extLst>
                </p:cNvPr>
                <p:cNvSpPr txBox="1">
                  <a:spLocks noRot="1" noChangeAspect="1" noMove="1" noResize="1" noEditPoints="1" noAdjustHandles="1" noChangeArrowheads="1" noChangeShapeType="1" noTextEdit="1"/>
                </p:cNvSpPr>
                <p:nvPr/>
              </p:nvSpPr>
              <p:spPr bwMode="auto">
                <a:xfrm>
                  <a:off x="2845743" y="4410992"/>
                  <a:ext cx="520700" cy="504825"/>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8" name="Object 14">
                  <a:extLst>
                    <a:ext uri="{FF2B5EF4-FFF2-40B4-BE49-F238E27FC236}">
                      <a16:creationId xmlns:a16="http://schemas.microsoft.com/office/drawing/2014/main" id="{97FD072E-4E38-4769-83F8-C398ECA7C62C}"/>
                    </a:ext>
                  </a:extLst>
                </p:cNvPr>
                <p:cNvSpPr txBox="1"/>
                <p:nvPr/>
              </p:nvSpPr>
              <p:spPr bwMode="auto">
                <a:xfrm>
                  <a:off x="2402831" y="3842667"/>
                  <a:ext cx="1301750" cy="7683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2</m:t>
                            </m:r>
                          </m:den>
                        </m:f>
                      </m:oMath>
                    </m:oMathPara>
                  </a14:m>
                  <a:endParaRPr lang="en-US" sz="2000" dirty="0"/>
                </a:p>
              </p:txBody>
            </p:sp>
          </mc:Choice>
          <mc:Fallback xmlns="">
            <p:sp>
              <p:nvSpPr>
                <p:cNvPr id="11278" name="Object 14">
                  <a:extLst>
                    <a:ext uri="{FF2B5EF4-FFF2-40B4-BE49-F238E27FC236}">
                      <a16:creationId xmlns:a16="http://schemas.microsoft.com/office/drawing/2014/main" id="{97FD072E-4E38-4769-83F8-C398ECA7C62C}"/>
                    </a:ext>
                  </a:extLst>
                </p:cNvPr>
                <p:cNvSpPr txBox="1">
                  <a:spLocks noRot="1" noChangeAspect="1" noMove="1" noResize="1" noEditPoints="1" noAdjustHandles="1" noChangeArrowheads="1" noChangeShapeType="1" noTextEdit="1"/>
                </p:cNvSpPr>
                <p:nvPr/>
              </p:nvSpPr>
              <p:spPr bwMode="auto">
                <a:xfrm>
                  <a:off x="2402831" y="3842667"/>
                  <a:ext cx="1301750" cy="768350"/>
                </a:xfrm>
                <a:prstGeom prst="rect">
                  <a:avLst/>
                </a:prstGeom>
                <a:blipFill>
                  <a:blip r:embed="rId10"/>
                  <a:stretch>
                    <a:fillRect/>
                  </a:stretch>
                </a:blipFill>
                <a:ln>
                  <a:noFill/>
                </a:ln>
                <a:effectLst/>
              </p:spPr>
              <p:txBody>
                <a:bodyPr/>
                <a:lstStyle/>
                <a:p>
                  <a:r>
                    <a:rPr lang="en-US">
                      <a:noFill/>
                    </a:rPr>
                    <a:t> </a:t>
                  </a:r>
                </a:p>
              </p:txBody>
            </p:sp>
          </mc:Fallback>
        </mc:AlternateContent>
      </p:grpSp>
      <p:grpSp>
        <p:nvGrpSpPr>
          <p:cNvPr id="7" name="组合 6">
            <a:extLst>
              <a:ext uri="{FF2B5EF4-FFF2-40B4-BE49-F238E27FC236}">
                <a16:creationId xmlns:a16="http://schemas.microsoft.com/office/drawing/2014/main" id="{D48144F1-E165-42A1-B8DF-E53CFB27FA60}"/>
              </a:ext>
            </a:extLst>
          </p:cNvPr>
          <p:cNvGrpSpPr/>
          <p:nvPr/>
        </p:nvGrpSpPr>
        <p:grpSpPr>
          <a:xfrm>
            <a:off x="5646093" y="3983955"/>
            <a:ext cx="939800" cy="869950"/>
            <a:chOff x="5646093" y="3983955"/>
            <a:chExt cx="939800" cy="869950"/>
          </a:xfrm>
        </p:grpSpPr>
        <mc:AlternateContent xmlns:mc="http://schemas.openxmlformats.org/markup-compatibility/2006" xmlns:a14="http://schemas.microsoft.com/office/drawing/2010/main">
          <mc:Choice Requires="a14">
            <p:sp>
              <p:nvSpPr>
                <p:cNvPr id="11279" name="Object 15">
                  <a:extLst>
                    <a:ext uri="{FF2B5EF4-FFF2-40B4-BE49-F238E27FC236}">
                      <a16:creationId xmlns:a16="http://schemas.microsoft.com/office/drawing/2014/main" id="{4D6C83E1-71A5-4416-A005-17C4DA54C5C6}"/>
                    </a:ext>
                  </a:extLst>
                </p:cNvPr>
                <p:cNvSpPr txBox="1"/>
                <p:nvPr/>
              </p:nvSpPr>
              <p:spPr bwMode="auto">
                <a:xfrm>
                  <a:off x="5904856" y="4366542"/>
                  <a:ext cx="460375" cy="4873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1279" name="Object 15">
                  <a:extLst>
                    <a:ext uri="{FF2B5EF4-FFF2-40B4-BE49-F238E27FC236}">
                      <a16:creationId xmlns:a16="http://schemas.microsoft.com/office/drawing/2014/main" id="{4D6C83E1-71A5-4416-A005-17C4DA54C5C6}"/>
                    </a:ext>
                  </a:extLst>
                </p:cNvPr>
                <p:cNvSpPr txBox="1">
                  <a:spLocks noRot="1" noChangeAspect="1" noMove="1" noResize="1" noEditPoints="1" noAdjustHandles="1" noChangeArrowheads="1" noChangeShapeType="1" noTextEdit="1"/>
                </p:cNvSpPr>
                <p:nvPr/>
              </p:nvSpPr>
              <p:spPr bwMode="auto">
                <a:xfrm>
                  <a:off x="5904856" y="4366542"/>
                  <a:ext cx="460375" cy="487363"/>
                </a:xfrm>
                <a:prstGeom prst="rect">
                  <a:avLst/>
                </a:prstGeom>
                <a:blipFill>
                  <a:blip r:embed="rId11"/>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80" name="Object 16">
                  <a:extLst>
                    <a:ext uri="{FF2B5EF4-FFF2-40B4-BE49-F238E27FC236}">
                      <a16:creationId xmlns:a16="http://schemas.microsoft.com/office/drawing/2014/main" id="{C94B91C5-C1AB-4B02-8210-8931B939D98E}"/>
                    </a:ext>
                  </a:extLst>
                </p:cNvPr>
                <p:cNvSpPr txBox="1"/>
                <p:nvPr/>
              </p:nvSpPr>
              <p:spPr bwMode="auto">
                <a:xfrm>
                  <a:off x="5646093" y="3983955"/>
                  <a:ext cx="939800" cy="3635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→3</m:t>
                        </m:r>
                        <m:r>
                          <a:rPr lang="en-US" sz="2000" i="1">
                            <a:solidFill>
                              <a:srgbClr val="000000"/>
                            </a:solidFill>
                            <a:latin typeface="Cambria Math" panose="02040503050406030204" pitchFamily="18" charset="0"/>
                          </a:rPr>
                          <m:t>𝑡</m:t>
                        </m:r>
                      </m:oMath>
                    </m:oMathPara>
                  </a14:m>
                  <a:endParaRPr lang="en-US" sz="2000" dirty="0"/>
                </a:p>
              </p:txBody>
            </p:sp>
          </mc:Choice>
          <mc:Fallback xmlns="">
            <p:sp>
              <p:nvSpPr>
                <p:cNvPr id="11280" name="Object 16">
                  <a:extLst>
                    <a:ext uri="{FF2B5EF4-FFF2-40B4-BE49-F238E27FC236}">
                      <a16:creationId xmlns:a16="http://schemas.microsoft.com/office/drawing/2014/main" id="{C94B91C5-C1AB-4B02-8210-8931B939D98E}"/>
                    </a:ext>
                  </a:extLst>
                </p:cNvPr>
                <p:cNvSpPr txBox="1">
                  <a:spLocks noRot="1" noChangeAspect="1" noMove="1" noResize="1" noEditPoints="1" noAdjustHandles="1" noChangeArrowheads="1" noChangeShapeType="1" noTextEdit="1"/>
                </p:cNvSpPr>
                <p:nvPr/>
              </p:nvSpPr>
              <p:spPr bwMode="auto">
                <a:xfrm>
                  <a:off x="5646093" y="3983955"/>
                  <a:ext cx="939800" cy="363538"/>
                </a:xfrm>
                <a:prstGeom prst="rect">
                  <a:avLst/>
                </a:prstGeom>
                <a:blipFill>
                  <a:blip r:embed="rId12"/>
                  <a:stretch>
                    <a:fillRect b="-6780"/>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1287" name="Text Box 47">
                <a:extLst>
                  <a:ext uri="{FF2B5EF4-FFF2-40B4-BE49-F238E27FC236}">
                    <a16:creationId xmlns:a16="http://schemas.microsoft.com/office/drawing/2014/main" id="{7BECAE47-80EA-4A95-B8DC-4A23F2054955}"/>
                  </a:ext>
                </a:extLst>
              </p:cNvPr>
              <p:cNvSpPr txBox="1">
                <a:spLocks noChangeArrowheads="1"/>
              </p:cNvSpPr>
              <p:nvPr/>
            </p:nvSpPr>
            <p:spPr bwMode="auto">
              <a:xfrm>
                <a:off x="857250" y="2386930"/>
                <a:ext cx="6028958" cy="70070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dirty="0">
                    <a:solidFill>
                      <a:srgbClr val="990033"/>
                    </a:solidFill>
                    <a:latin typeface="楷体" panose="02010609060101010101" pitchFamily="49" charset="-122"/>
                    <a:ea typeface="楷体" panose="02010609060101010101" pitchFamily="49" charset="-122"/>
                  </a:rPr>
                  <a:t>做法一：</a:t>
                </a:r>
                <a:r>
                  <a:rPr lang="en-US" sz="2800" dirty="0">
                    <a:solidFill>
                      <a:srgbClr val="000000"/>
                    </a:solidFill>
                  </a:rPr>
                  <a:t> </a:t>
                </a:r>
                <a14:m>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2</m:t>
                        </m:r>
                      </m:den>
                    </m:f>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(3</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2</m:t>
                        </m:r>
                      </m:den>
                    </m:f>
                    <m:r>
                      <a:rPr lang="en-US" sz="2800" i="1">
                        <a:solidFill>
                          <a:srgbClr val="000000"/>
                        </a:solidFill>
                        <a:latin typeface="Cambria Math" panose="02040503050406030204" pitchFamily="18" charset="0"/>
                      </a:rPr>
                      <m:t>)</m:t>
                    </m:r>
                  </m:oMath>
                </a14:m>
                <a:endParaRPr lang="zh-CN" altLang="en-US" sz="2800" dirty="0">
                  <a:solidFill>
                    <a:srgbClr val="990033"/>
                  </a:solidFill>
                  <a:latin typeface="楷体" panose="02010609060101010101" pitchFamily="49" charset="-122"/>
                  <a:ea typeface="楷体" panose="02010609060101010101" pitchFamily="49" charset="-122"/>
                </a:endParaRPr>
              </a:p>
            </p:txBody>
          </p:sp>
        </mc:Choice>
        <mc:Fallback xmlns="">
          <p:sp>
            <p:nvSpPr>
              <p:cNvPr id="11287" name="Text Box 47">
                <a:extLst>
                  <a:ext uri="{FF2B5EF4-FFF2-40B4-BE49-F238E27FC236}">
                    <a16:creationId xmlns:a16="http://schemas.microsoft.com/office/drawing/2014/main" id="{7BECAE47-80EA-4A95-B8DC-4A23F2054955}"/>
                  </a:ext>
                </a:extLst>
              </p:cNvPr>
              <p:cNvSpPr txBox="1">
                <a:spLocks noRot="1" noChangeAspect="1" noMove="1" noResize="1" noEditPoints="1" noAdjustHandles="1" noChangeArrowheads="1" noChangeShapeType="1" noTextEdit="1"/>
              </p:cNvSpPr>
              <p:nvPr/>
            </p:nvSpPr>
            <p:spPr bwMode="auto">
              <a:xfrm>
                <a:off x="857250" y="2386930"/>
                <a:ext cx="6028958" cy="700705"/>
              </a:xfrm>
              <a:prstGeom prst="rect">
                <a:avLst/>
              </a:prstGeom>
              <a:blipFill>
                <a:blip r:embed="rId13"/>
                <a:stretch>
                  <a:fillRect l="-2123" t="-870" b="-695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287"/>
                                        </p:tgtEl>
                                        <p:attrNameLst>
                                          <p:attrName>style.visibility</p:attrName>
                                        </p:attrNameLst>
                                      </p:cBhvr>
                                      <p:to>
                                        <p:strVal val="visible"/>
                                      </p:to>
                                    </p:set>
                                    <p:animEffect transition="in" filter="circle(in)">
                                      <p:cBhvr>
                                        <p:cTn id="7" dur="2000"/>
                                        <p:tgtEl>
                                          <p:spTgt spid="11287"/>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ircle(in)">
                                      <p:cBhvr>
                                        <p:cTn id="17" dur="2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ircle(in)">
                                      <p:cBhvr>
                                        <p:cTn id="22" dur="2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ircle(in)">
                                      <p:cBhvr>
                                        <p:cTn id="2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12" name="标题 1">
            <a:extLst>
              <a:ext uri="{FF2B5EF4-FFF2-40B4-BE49-F238E27FC236}">
                <a16:creationId xmlns:a16="http://schemas.microsoft.com/office/drawing/2014/main" id="{D49DA653-562C-4875-A80D-0A8CE201C018}"/>
              </a:ext>
            </a:extLst>
          </p:cNvPr>
          <p:cNvSpPr>
            <a:spLocks noGrp="1"/>
          </p:cNvSpPr>
          <p:nvPr>
            <p:ph type="title"/>
          </p:nvPr>
        </p:nvSpPr>
        <p:spPr/>
        <p:txBody>
          <a:bodyPr/>
          <a:lstStyle/>
          <a:p>
            <a:pPr eaLnBrk="1" hangingPunct="1"/>
            <a:r>
              <a:rPr lang="en-US" altLang="zh-CN"/>
              <a:t>1.2  </a:t>
            </a:r>
            <a:r>
              <a:rPr lang="zh-CN" altLang="en-US"/>
              <a:t>自变量变换</a:t>
            </a:r>
          </a:p>
        </p:txBody>
      </p:sp>
      <p:sp>
        <p:nvSpPr>
          <p:cNvPr id="4" name="灯片编号占位符 3">
            <a:extLst>
              <a:ext uri="{FF2B5EF4-FFF2-40B4-BE49-F238E27FC236}">
                <a16:creationId xmlns:a16="http://schemas.microsoft.com/office/drawing/2014/main" id="{55FC5931-DC4F-4F69-88EF-54FA79758D5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6E57417-640D-476F-B098-C9DFCC9DDB9E}" type="slidenum">
              <a:rPr lang="zh-CN" altLang="en-US">
                <a:solidFill>
                  <a:srgbClr val="898989"/>
                </a:solidFill>
                <a:latin typeface="Calibri" panose="020F0502020204030204" pitchFamily="34" charset="0"/>
              </a:rPr>
              <a:pPr eaLnBrk="1" hangingPunct="1"/>
              <a:t>31</a:t>
            </a:fld>
            <a:endParaRPr lang="zh-CN" altLang="en-US">
              <a:solidFill>
                <a:srgbClr val="898989"/>
              </a:solidFill>
              <a:latin typeface="Calibri" panose="020F0502020204030204" pitchFamily="34" charset="0"/>
            </a:endParaRPr>
          </a:p>
        </p:txBody>
      </p:sp>
      <p:sp>
        <p:nvSpPr>
          <p:cNvPr id="12316" name="Rectangle 3">
            <a:extLst>
              <a:ext uri="{FF2B5EF4-FFF2-40B4-BE49-F238E27FC236}">
                <a16:creationId xmlns:a16="http://schemas.microsoft.com/office/drawing/2014/main" id="{7893B2C6-C88F-4F0B-992E-AC2CBC128B50}"/>
              </a:ext>
            </a:extLst>
          </p:cNvPr>
          <p:cNvSpPr>
            <a:spLocks noChangeArrowheads="1"/>
          </p:cNvSpPr>
          <p:nvPr/>
        </p:nvSpPr>
        <p:spPr bwMode="auto">
          <a:xfrm>
            <a:off x="762000" y="1006475"/>
            <a:ext cx="6172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mc:AlternateContent xmlns:mc="http://schemas.openxmlformats.org/markup-compatibility/2006" xmlns:a14="http://schemas.microsoft.com/office/drawing/2010/main">
        <mc:Choice Requires="a14">
          <p:sp>
            <p:nvSpPr>
              <p:cNvPr id="12317" name="Text Box 4">
                <a:extLst>
                  <a:ext uri="{FF2B5EF4-FFF2-40B4-BE49-F238E27FC236}">
                    <a16:creationId xmlns:a16="http://schemas.microsoft.com/office/drawing/2014/main" id="{0622A642-C8C0-4340-8181-62A2073F5845}"/>
                  </a:ext>
                </a:extLst>
              </p:cNvPr>
              <p:cNvSpPr txBox="1">
                <a:spLocks noChangeArrowheads="1"/>
              </p:cNvSpPr>
              <p:nvPr/>
            </p:nvSpPr>
            <p:spPr bwMode="auto">
              <a:xfrm>
                <a:off x="758379" y="1576167"/>
                <a:ext cx="5827749" cy="70070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dirty="0">
                    <a:solidFill>
                      <a:srgbClr val="990033"/>
                    </a:solidFill>
                    <a:latin typeface="楷体" panose="02010609060101010101" pitchFamily="49" charset="-122"/>
                    <a:ea typeface="楷体" panose="02010609060101010101" pitchFamily="49" charset="-122"/>
                  </a:rPr>
                  <a:t>做法二：</a:t>
                </a:r>
                <a:r>
                  <a:rPr lang="en-US" sz="2800" dirty="0">
                    <a:solidFill>
                      <a:srgbClr val="000000"/>
                    </a:solidFill>
                  </a:rPr>
                  <a:t> </a:t>
                </a:r>
                <a14:m>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(3</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(3</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2</m:t>
                        </m:r>
                      </m:den>
                    </m:f>
                    <m:r>
                      <a:rPr lang="en-US" sz="2800" i="1">
                        <a:solidFill>
                          <a:srgbClr val="000000"/>
                        </a:solidFill>
                        <a:latin typeface="Cambria Math" panose="02040503050406030204" pitchFamily="18" charset="0"/>
                      </a:rPr>
                      <m:t>)</m:t>
                    </m:r>
                  </m:oMath>
                </a14:m>
                <a:endParaRPr lang="zh-CN" altLang="en-US" sz="2800" dirty="0">
                  <a:solidFill>
                    <a:srgbClr val="990033"/>
                  </a:solidFill>
                  <a:latin typeface="楷体" panose="02010609060101010101" pitchFamily="49" charset="-122"/>
                  <a:ea typeface="楷体" panose="02010609060101010101" pitchFamily="49" charset="-122"/>
                </a:endParaRPr>
              </a:p>
            </p:txBody>
          </p:sp>
        </mc:Choice>
        <mc:Fallback xmlns="">
          <p:sp>
            <p:nvSpPr>
              <p:cNvPr id="12317" name="Text Box 4">
                <a:extLst>
                  <a:ext uri="{FF2B5EF4-FFF2-40B4-BE49-F238E27FC236}">
                    <a16:creationId xmlns:a16="http://schemas.microsoft.com/office/drawing/2014/main" id="{0622A642-C8C0-4340-8181-62A2073F5845}"/>
                  </a:ext>
                </a:extLst>
              </p:cNvPr>
              <p:cNvSpPr txBox="1">
                <a:spLocks noRot="1" noChangeAspect="1" noMove="1" noResize="1" noEditPoints="1" noAdjustHandles="1" noChangeArrowheads="1" noChangeShapeType="1" noTextEdit="1"/>
              </p:cNvSpPr>
              <p:nvPr/>
            </p:nvSpPr>
            <p:spPr bwMode="auto">
              <a:xfrm>
                <a:off x="758379" y="1576167"/>
                <a:ext cx="5827749" cy="700705"/>
              </a:xfrm>
              <a:prstGeom prst="rect">
                <a:avLst/>
              </a:prstGeom>
              <a:blipFill>
                <a:blip r:embed="rId2"/>
                <a:stretch>
                  <a:fillRect l="-2092" t="-870" b="-695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2" name="组合 1">
            <a:extLst>
              <a:ext uri="{FF2B5EF4-FFF2-40B4-BE49-F238E27FC236}">
                <a16:creationId xmlns:a16="http://schemas.microsoft.com/office/drawing/2014/main" id="{FB04246B-FF4A-426D-859A-B2FBA294814B}"/>
              </a:ext>
            </a:extLst>
          </p:cNvPr>
          <p:cNvGrpSpPr/>
          <p:nvPr/>
        </p:nvGrpSpPr>
        <p:grpSpPr>
          <a:xfrm>
            <a:off x="532954" y="2725688"/>
            <a:ext cx="2265363" cy="1873249"/>
            <a:chOff x="532954" y="2725688"/>
            <a:chExt cx="2265363" cy="1873249"/>
          </a:xfrm>
        </p:grpSpPr>
        <p:sp>
          <p:nvSpPr>
            <p:cNvPr id="12348" name="Line 9">
              <a:extLst>
                <a:ext uri="{FF2B5EF4-FFF2-40B4-BE49-F238E27FC236}">
                  <a16:creationId xmlns:a16="http://schemas.microsoft.com/office/drawing/2014/main" id="{3E47E7FD-9A73-497B-80A6-4F3CDCD522E5}"/>
                </a:ext>
              </a:extLst>
            </p:cNvPr>
            <p:cNvSpPr>
              <a:spLocks noChangeShapeType="1"/>
            </p:cNvSpPr>
            <p:nvPr/>
          </p:nvSpPr>
          <p:spPr bwMode="auto">
            <a:xfrm>
              <a:off x="532954" y="4165550"/>
              <a:ext cx="20891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49" name="Line 10">
              <a:extLst>
                <a:ext uri="{FF2B5EF4-FFF2-40B4-BE49-F238E27FC236}">
                  <a16:creationId xmlns:a16="http://schemas.microsoft.com/office/drawing/2014/main" id="{22103452-397B-4E19-AB6E-9EC5EBC55E83}"/>
                </a:ext>
              </a:extLst>
            </p:cNvPr>
            <p:cNvSpPr>
              <a:spLocks noChangeShapeType="1"/>
            </p:cNvSpPr>
            <p:nvPr/>
          </p:nvSpPr>
          <p:spPr bwMode="auto">
            <a:xfrm flipV="1">
              <a:off x="893317" y="2941588"/>
              <a:ext cx="0" cy="1584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50" name="Line 11">
              <a:extLst>
                <a:ext uri="{FF2B5EF4-FFF2-40B4-BE49-F238E27FC236}">
                  <a16:creationId xmlns:a16="http://schemas.microsoft.com/office/drawing/2014/main" id="{26567E5C-3A09-474D-AE00-18F1A09511D2}"/>
                </a:ext>
              </a:extLst>
            </p:cNvPr>
            <p:cNvSpPr>
              <a:spLocks noChangeShapeType="1"/>
            </p:cNvSpPr>
            <p:nvPr/>
          </p:nvSpPr>
          <p:spPr bwMode="auto">
            <a:xfrm flipV="1">
              <a:off x="893317" y="3589287"/>
              <a:ext cx="720725"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51" name="Line 12">
              <a:extLst>
                <a:ext uri="{FF2B5EF4-FFF2-40B4-BE49-F238E27FC236}">
                  <a16:creationId xmlns:a16="http://schemas.microsoft.com/office/drawing/2014/main" id="{AD4B1BDE-F4E7-461C-9DA9-2B8F547E56C7}"/>
                </a:ext>
              </a:extLst>
            </p:cNvPr>
            <p:cNvSpPr>
              <a:spLocks noChangeShapeType="1"/>
            </p:cNvSpPr>
            <p:nvPr/>
          </p:nvSpPr>
          <p:spPr bwMode="auto">
            <a:xfrm>
              <a:off x="1614042" y="3589287"/>
              <a:ext cx="0"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52" name="Text Box 13">
              <a:extLst>
                <a:ext uri="{FF2B5EF4-FFF2-40B4-BE49-F238E27FC236}">
                  <a16:creationId xmlns:a16="http://schemas.microsoft.com/office/drawing/2014/main" id="{AC161CAA-9FB0-4686-97CF-BB85317F6E24}"/>
                </a:ext>
              </a:extLst>
            </p:cNvPr>
            <p:cNvSpPr txBox="1">
              <a:spLocks noChangeArrowheads="1"/>
            </p:cNvSpPr>
            <p:nvPr/>
          </p:nvSpPr>
          <p:spPr bwMode="auto">
            <a:xfrm>
              <a:off x="605979" y="4094112"/>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0</a:t>
              </a:r>
            </a:p>
          </p:txBody>
        </p:sp>
        <p:sp>
          <p:nvSpPr>
            <p:cNvPr id="12353" name="Text Box 14">
              <a:extLst>
                <a:ext uri="{FF2B5EF4-FFF2-40B4-BE49-F238E27FC236}">
                  <a16:creationId xmlns:a16="http://schemas.microsoft.com/office/drawing/2014/main" id="{7DDC4400-B909-4E49-90E6-4C39BC06AB1C}"/>
                </a:ext>
              </a:extLst>
            </p:cNvPr>
            <p:cNvSpPr txBox="1">
              <a:spLocks noChangeArrowheads="1"/>
            </p:cNvSpPr>
            <p:nvPr/>
          </p:nvSpPr>
          <p:spPr bwMode="auto">
            <a:xfrm>
              <a:off x="1469579" y="4094112"/>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mc:AlternateContent xmlns:mc="http://schemas.openxmlformats.org/markup-compatibility/2006" xmlns:a14="http://schemas.microsoft.com/office/drawing/2010/main">
          <mc:Choice Requires="a14">
            <p:sp>
              <p:nvSpPr>
                <p:cNvPr id="12302" name="Object 26">
                  <a:extLst>
                    <a:ext uri="{FF2B5EF4-FFF2-40B4-BE49-F238E27FC236}">
                      <a16:creationId xmlns:a16="http://schemas.microsoft.com/office/drawing/2014/main" id="{1F29E365-7878-4B50-A549-B78222792463}"/>
                    </a:ext>
                  </a:extLst>
                </p:cNvPr>
                <p:cNvSpPr txBox="1"/>
                <p:nvPr/>
              </p:nvSpPr>
              <p:spPr bwMode="auto">
                <a:xfrm>
                  <a:off x="986979" y="2725688"/>
                  <a:ext cx="720725" cy="46831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2302" name="Object 26">
                  <a:extLst>
                    <a:ext uri="{FF2B5EF4-FFF2-40B4-BE49-F238E27FC236}">
                      <a16:creationId xmlns:a16="http://schemas.microsoft.com/office/drawing/2014/main" id="{1F29E365-7878-4B50-A549-B78222792463}"/>
                    </a:ext>
                  </a:extLst>
                </p:cNvPr>
                <p:cNvSpPr txBox="1">
                  <a:spLocks noRot="1" noChangeAspect="1" noMove="1" noResize="1" noEditPoints="1" noAdjustHandles="1" noChangeArrowheads="1" noChangeShapeType="1" noTextEdit="1"/>
                </p:cNvSpPr>
                <p:nvPr/>
              </p:nvSpPr>
              <p:spPr bwMode="auto">
                <a:xfrm>
                  <a:off x="986979" y="2725688"/>
                  <a:ext cx="720725" cy="468312"/>
                </a:xfrm>
                <a:prstGeom prst="rect">
                  <a:avLst/>
                </a:prstGeom>
                <a:blipFill>
                  <a:blip r:embed="rId3"/>
                  <a:stretch>
                    <a:fillRect r="-9322" b="-1818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03" name="Object 27">
                  <a:extLst>
                    <a:ext uri="{FF2B5EF4-FFF2-40B4-BE49-F238E27FC236}">
                      <a16:creationId xmlns:a16="http://schemas.microsoft.com/office/drawing/2014/main" id="{EB45A6AA-809F-4EFE-8CBB-164641241FD5}"/>
                    </a:ext>
                  </a:extLst>
                </p:cNvPr>
                <p:cNvSpPr txBox="1"/>
                <p:nvPr/>
              </p:nvSpPr>
              <p:spPr bwMode="auto">
                <a:xfrm>
                  <a:off x="2509392" y="4129037"/>
                  <a:ext cx="288925" cy="4699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𝑡</m:t>
                        </m:r>
                      </m:oMath>
                    </m:oMathPara>
                  </a14:m>
                  <a:endParaRPr lang="en-US" sz="2400" dirty="0"/>
                </a:p>
              </p:txBody>
            </p:sp>
          </mc:Choice>
          <mc:Fallback xmlns="">
            <p:sp>
              <p:nvSpPr>
                <p:cNvPr id="12303" name="Object 27">
                  <a:extLst>
                    <a:ext uri="{FF2B5EF4-FFF2-40B4-BE49-F238E27FC236}">
                      <a16:creationId xmlns:a16="http://schemas.microsoft.com/office/drawing/2014/main" id="{EB45A6AA-809F-4EFE-8CBB-164641241FD5}"/>
                    </a:ext>
                  </a:extLst>
                </p:cNvPr>
                <p:cNvSpPr txBox="1">
                  <a:spLocks noRot="1" noChangeAspect="1" noMove="1" noResize="1" noEditPoints="1" noAdjustHandles="1" noChangeArrowheads="1" noChangeShapeType="1" noTextEdit="1"/>
                </p:cNvSpPr>
                <p:nvPr/>
              </p:nvSpPr>
              <p:spPr bwMode="auto">
                <a:xfrm>
                  <a:off x="2509392" y="4129037"/>
                  <a:ext cx="288925" cy="469900"/>
                </a:xfrm>
                <a:prstGeom prst="rect">
                  <a:avLst/>
                </a:prstGeom>
                <a:blipFill>
                  <a:blip r:embed="rId4"/>
                  <a:stretch>
                    <a:fillRect l="-2128" r="-6383"/>
                  </a:stretch>
                </a:blipFill>
                <a:ln>
                  <a:noFill/>
                </a:ln>
                <a:effectLst/>
              </p:spPr>
              <p:txBody>
                <a:bodyPr/>
                <a:lstStyle/>
                <a:p>
                  <a:r>
                    <a:rPr lang="en-US">
                      <a:noFill/>
                    </a:rPr>
                    <a:t> </a:t>
                  </a:r>
                </a:p>
              </p:txBody>
            </p:sp>
          </mc:Fallback>
        </mc:AlternateContent>
        <p:sp>
          <p:nvSpPr>
            <p:cNvPr id="12354" name="Line 17">
              <a:extLst>
                <a:ext uri="{FF2B5EF4-FFF2-40B4-BE49-F238E27FC236}">
                  <a16:creationId xmlns:a16="http://schemas.microsoft.com/office/drawing/2014/main" id="{EFFA8487-548D-46FD-BB86-5A6E8728B355}"/>
                </a:ext>
              </a:extLst>
            </p:cNvPr>
            <p:cNvSpPr>
              <a:spLocks noChangeShapeType="1"/>
            </p:cNvSpPr>
            <p:nvPr/>
          </p:nvSpPr>
          <p:spPr bwMode="auto">
            <a:xfrm flipH="1">
              <a:off x="893317" y="3589287"/>
              <a:ext cx="730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55" name="Text Box 18">
              <a:extLst>
                <a:ext uri="{FF2B5EF4-FFF2-40B4-BE49-F238E27FC236}">
                  <a16:creationId xmlns:a16="http://schemas.microsoft.com/office/drawing/2014/main" id="{68709FC0-E821-4331-959B-A021739647FB}"/>
                </a:ext>
              </a:extLst>
            </p:cNvPr>
            <p:cNvSpPr txBox="1">
              <a:spLocks noChangeArrowheads="1"/>
            </p:cNvSpPr>
            <p:nvPr/>
          </p:nvSpPr>
          <p:spPr bwMode="auto">
            <a:xfrm>
              <a:off x="658367" y="3352750"/>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grpSp>
      <p:grpSp>
        <p:nvGrpSpPr>
          <p:cNvPr id="5" name="组合 4">
            <a:extLst>
              <a:ext uri="{FF2B5EF4-FFF2-40B4-BE49-F238E27FC236}">
                <a16:creationId xmlns:a16="http://schemas.microsoft.com/office/drawing/2014/main" id="{01B44597-8DCA-402D-9A00-389B2C84A809}"/>
              </a:ext>
            </a:extLst>
          </p:cNvPr>
          <p:cNvGrpSpPr/>
          <p:nvPr/>
        </p:nvGrpSpPr>
        <p:grpSpPr>
          <a:xfrm>
            <a:off x="3695254" y="2719338"/>
            <a:ext cx="2297113" cy="1817687"/>
            <a:chOff x="3695254" y="2719338"/>
            <a:chExt cx="2297113" cy="1817687"/>
          </a:xfrm>
        </p:grpSpPr>
        <p:sp>
          <p:nvSpPr>
            <p:cNvPr id="12356" name="Line 19">
              <a:extLst>
                <a:ext uri="{FF2B5EF4-FFF2-40B4-BE49-F238E27FC236}">
                  <a16:creationId xmlns:a16="http://schemas.microsoft.com/office/drawing/2014/main" id="{6BA2515C-ADF4-461F-94B3-C5126E6803D7}"/>
                </a:ext>
              </a:extLst>
            </p:cNvPr>
            <p:cNvSpPr>
              <a:spLocks noChangeShapeType="1"/>
            </p:cNvSpPr>
            <p:nvPr/>
          </p:nvSpPr>
          <p:spPr bwMode="auto">
            <a:xfrm>
              <a:off x="3695254" y="4165550"/>
              <a:ext cx="20891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57" name="Line 20">
              <a:extLst>
                <a:ext uri="{FF2B5EF4-FFF2-40B4-BE49-F238E27FC236}">
                  <a16:creationId xmlns:a16="http://schemas.microsoft.com/office/drawing/2014/main" id="{51DEFE66-F218-4783-A282-F8C30C359D3A}"/>
                </a:ext>
              </a:extLst>
            </p:cNvPr>
            <p:cNvSpPr>
              <a:spLocks noChangeShapeType="1"/>
            </p:cNvSpPr>
            <p:nvPr/>
          </p:nvSpPr>
          <p:spPr bwMode="auto">
            <a:xfrm flipV="1">
              <a:off x="3982592" y="2941588"/>
              <a:ext cx="0" cy="1584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58" name="Line 21">
              <a:extLst>
                <a:ext uri="{FF2B5EF4-FFF2-40B4-BE49-F238E27FC236}">
                  <a16:creationId xmlns:a16="http://schemas.microsoft.com/office/drawing/2014/main" id="{36540CC6-DB9D-4012-9C66-0DF356163897}"/>
                </a:ext>
              </a:extLst>
            </p:cNvPr>
            <p:cNvSpPr>
              <a:spLocks noChangeShapeType="1"/>
            </p:cNvSpPr>
            <p:nvPr/>
          </p:nvSpPr>
          <p:spPr bwMode="auto">
            <a:xfrm flipV="1">
              <a:off x="3982592" y="3589287"/>
              <a:ext cx="360363"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59" name="Line 22">
              <a:extLst>
                <a:ext uri="{FF2B5EF4-FFF2-40B4-BE49-F238E27FC236}">
                  <a16:creationId xmlns:a16="http://schemas.microsoft.com/office/drawing/2014/main" id="{E5D6C126-9FF0-4ABB-9831-DAFDDBD5CC6F}"/>
                </a:ext>
              </a:extLst>
            </p:cNvPr>
            <p:cNvSpPr>
              <a:spLocks noChangeShapeType="1"/>
            </p:cNvSpPr>
            <p:nvPr/>
          </p:nvSpPr>
          <p:spPr bwMode="auto">
            <a:xfrm>
              <a:off x="4342954" y="3589287"/>
              <a:ext cx="0"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60" name="Text Box 23">
              <a:extLst>
                <a:ext uri="{FF2B5EF4-FFF2-40B4-BE49-F238E27FC236}">
                  <a16:creationId xmlns:a16="http://schemas.microsoft.com/office/drawing/2014/main" id="{25B4AB26-229B-4E5B-B88B-F43153EA79E8}"/>
                </a:ext>
              </a:extLst>
            </p:cNvPr>
            <p:cNvSpPr txBox="1">
              <a:spLocks noChangeArrowheads="1"/>
            </p:cNvSpPr>
            <p:nvPr/>
          </p:nvSpPr>
          <p:spPr bwMode="auto">
            <a:xfrm>
              <a:off x="3695254" y="4094112"/>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0</a:t>
              </a:r>
            </a:p>
          </p:txBody>
        </p:sp>
        <mc:AlternateContent xmlns:mc="http://schemas.openxmlformats.org/markup-compatibility/2006" xmlns:a14="http://schemas.microsoft.com/office/drawing/2010/main">
          <mc:Choice Requires="a14">
            <p:sp>
              <p:nvSpPr>
                <p:cNvPr id="12304" name="Object 28">
                  <a:extLst>
                    <a:ext uri="{FF2B5EF4-FFF2-40B4-BE49-F238E27FC236}">
                      <a16:creationId xmlns:a16="http://schemas.microsoft.com/office/drawing/2014/main" id="{874D78F1-9C41-4F39-9035-1469C58E8BC2}"/>
                    </a:ext>
                  </a:extLst>
                </p:cNvPr>
                <p:cNvSpPr txBox="1"/>
                <p:nvPr/>
              </p:nvSpPr>
              <p:spPr bwMode="auto">
                <a:xfrm>
                  <a:off x="5698679" y="4089350"/>
                  <a:ext cx="293688" cy="4476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𝑡</m:t>
                        </m:r>
                      </m:oMath>
                    </m:oMathPara>
                  </a14:m>
                  <a:endParaRPr lang="en-US" sz="2400" dirty="0"/>
                </a:p>
              </p:txBody>
            </p:sp>
          </mc:Choice>
          <mc:Fallback xmlns="">
            <p:sp>
              <p:nvSpPr>
                <p:cNvPr id="12304" name="Object 28">
                  <a:extLst>
                    <a:ext uri="{FF2B5EF4-FFF2-40B4-BE49-F238E27FC236}">
                      <a16:creationId xmlns:a16="http://schemas.microsoft.com/office/drawing/2014/main" id="{874D78F1-9C41-4F39-9035-1469C58E8BC2}"/>
                    </a:ext>
                  </a:extLst>
                </p:cNvPr>
                <p:cNvSpPr txBox="1">
                  <a:spLocks noRot="1" noChangeAspect="1" noMove="1" noResize="1" noEditPoints="1" noAdjustHandles="1" noChangeArrowheads="1" noChangeShapeType="1" noTextEdit="1"/>
                </p:cNvSpPr>
                <p:nvPr/>
              </p:nvSpPr>
              <p:spPr bwMode="auto">
                <a:xfrm>
                  <a:off x="5698679" y="4089350"/>
                  <a:ext cx="293688" cy="447675"/>
                </a:xfrm>
                <a:prstGeom prst="rect">
                  <a:avLst/>
                </a:prstGeom>
                <a:blipFill>
                  <a:blip r:embed="rId5"/>
                  <a:stretch>
                    <a:fillRect l="-2083" r="-4167"/>
                  </a:stretch>
                </a:blipFill>
                <a:ln>
                  <a:noFill/>
                </a:ln>
                <a:effectLst/>
              </p:spPr>
              <p:txBody>
                <a:bodyPr/>
                <a:lstStyle/>
                <a:p>
                  <a:r>
                    <a:rPr lang="en-US">
                      <a:noFill/>
                    </a:rPr>
                    <a:t> </a:t>
                  </a:r>
                </a:p>
              </p:txBody>
            </p:sp>
          </mc:Fallback>
        </mc:AlternateContent>
        <p:sp>
          <p:nvSpPr>
            <p:cNvPr id="12361" name="Line 25">
              <a:extLst>
                <a:ext uri="{FF2B5EF4-FFF2-40B4-BE49-F238E27FC236}">
                  <a16:creationId xmlns:a16="http://schemas.microsoft.com/office/drawing/2014/main" id="{9812A1DB-12F3-44AD-BB0B-32AA37033B69}"/>
                </a:ext>
              </a:extLst>
            </p:cNvPr>
            <p:cNvSpPr>
              <a:spLocks noChangeShapeType="1"/>
            </p:cNvSpPr>
            <p:nvPr/>
          </p:nvSpPr>
          <p:spPr bwMode="auto">
            <a:xfrm flipH="1">
              <a:off x="3982592" y="3589287"/>
              <a:ext cx="730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62" name="Text Box 26">
              <a:extLst>
                <a:ext uri="{FF2B5EF4-FFF2-40B4-BE49-F238E27FC236}">
                  <a16:creationId xmlns:a16="http://schemas.microsoft.com/office/drawing/2014/main" id="{C0790F33-112F-4541-ADFC-7A7C6AFE6C6F}"/>
                </a:ext>
              </a:extLst>
            </p:cNvPr>
            <p:cNvSpPr txBox="1">
              <a:spLocks noChangeArrowheads="1"/>
            </p:cNvSpPr>
            <p:nvPr/>
          </p:nvSpPr>
          <p:spPr bwMode="auto">
            <a:xfrm>
              <a:off x="3747642" y="3352750"/>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sp>
          <p:nvSpPr>
            <p:cNvPr id="12363" name="Text Box 27">
              <a:extLst>
                <a:ext uri="{FF2B5EF4-FFF2-40B4-BE49-F238E27FC236}">
                  <a16:creationId xmlns:a16="http://schemas.microsoft.com/office/drawing/2014/main" id="{82AA8F5A-FA2E-4D7B-9487-FBA96B741CDF}"/>
                </a:ext>
              </a:extLst>
            </p:cNvPr>
            <p:cNvSpPr txBox="1">
              <a:spLocks noChangeArrowheads="1"/>
            </p:cNvSpPr>
            <p:nvPr/>
          </p:nvSpPr>
          <p:spPr bwMode="auto">
            <a:xfrm>
              <a:off x="4127054" y="4094112"/>
              <a:ext cx="569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dirty="0">
                  <a:latin typeface="宋体" panose="02010600030101010101" pitchFamily="2" charset="-122"/>
                </a:rPr>
                <a:t>1/3</a:t>
              </a:r>
            </a:p>
          </p:txBody>
        </p:sp>
        <mc:AlternateContent xmlns:mc="http://schemas.openxmlformats.org/markup-compatibility/2006" xmlns:a14="http://schemas.microsoft.com/office/drawing/2010/main">
          <mc:Choice Requires="a14">
            <p:sp>
              <p:nvSpPr>
                <p:cNvPr id="12305" name="Object 29">
                  <a:extLst>
                    <a:ext uri="{FF2B5EF4-FFF2-40B4-BE49-F238E27FC236}">
                      <a16:creationId xmlns:a16="http://schemas.microsoft.com/office/drawing/2014/main" id="{EFFA5B5F-F7DE-411C-AD19-1E1CDA18BF9E}"/>
                    </a:ext>
                  </a:extLst>
                </p:cNvPr>
                <p:cNvSpPr txBox="1"/>
                <p:nvPr/>
              </p:nvSpPr>
              <p:spPr bwMode="auto">
                <a:xfrm>
                  <a:off x="4063554" y="2719338"/>
                  <a:ext cx="896938" cy="51276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2305" name="Object 29">
                  <a:extLst>
                    <a:ext uri="{FF2B5EF4-FFF2-40B4-BE49-F238E27FC236}">
                      <a16:creationId xmlns:a16="http://schemas.microsoft.com/office/drawing/2014/main" id="{EFFA5B5F-F7DE-411C-AD19-1E1CDA18BF9E}"/>
                    </a:ext>
                  </a:extLst>
                </p:cNvPr>
                <p:cNvSpPr txBox="1">
                  <a:spLocks noRot="1" noChangeAspect="1" noMove="1" noResize="1" noEditPoints="1" noAdjustHandles="1" noChangeArrowheads="1" noChangeShapeType="1" noTextEdit="1"/>
                </p:cNvSpPr>
                <p:nvPr/>
              </p:nvSpPr>
              <p:spPr bwMode="auto">
                <a:xfrm>
                  <a:off x="4063554" y="2719338"/>
                  <a:ext cx="896938" cy="512762"/>
                </a:xfrm>
                <a:prstGeom prst="rect">
                  <a:avLst/>
                </a:prstGeom>
                <a:blipFill>
                  <a:blip r:embed="rId6"/>
                  <a:stretch>
                    <a:fillRect r="-6803" b="-8333"/>
                  </a:stretch>
                </a:blipFill>
                <a:ln>
                  <a:noFill/>
                </a:ln>
                <a:effectLst/>
              </p:spPr>
              <p:txBody>
                <a:bodyPr/>
                <a:lstStyle/>
                <a:p>
                  <a:r>
                    <a:rPr lang="en-US">
                      <a:noFill/>
                    </a:rPr>
                    <a:t> </a:t>
                  </a:r>
                </a:p>
              </p:txBody>
            </p:sp>
          </mc:Fallback>
        </mc:AlternateContent>
      </p:grpSp>
      <p:grpSp>
        <p:nvGrpSpPr>
          <p:cNvPr id="6" name="组合 5">
            <a:extLst>
              <a:ext uri="{FF2B5EF4-FFF2-40B4-BE49-F238E27FC236}">
                <a16:creationId xmlns:a16="http://schemas.microsoft.com/office/drawing/2014/main" id="{D6C5EC7C-5A4A-449C-B324-C89B6B25A5B9}"/>
              </a:ext>
            </a:extLst>
          </p:cNvPr>
          <p:cNvGrpSpPr/>
          <p:nvPr/>
        </p:nvGrpSpPr>
        <p:grpSpPr>
          <a:xfrm>
            <a:off x="5625654" y="3160663"/>
            <a:ext cx="1317625" cy="1035049"/>
            <a:chOff x="5625654" y="3160663"/>
            <a:chExt cx="1317625" cy="1035049"/>
          </a:xfrm>
        </p:grpSpPr>
        <mc:AlternateContent xmlns:mc="http://schemas.openxmlformats.org/markup-compatibility/2006" xmlns:a14="http://schemas.microsoft.com/office/drawing/2010/main">
          <mc:Choice Requires="a14">
            <p:sp>
              <p:nvSpPr>
                <p:cNvPr id="12307" name="Object 31">
                  <a:extLst>
                    <a:ext uri="{FF2B5EF4-FFF2-40B4-BE49-F238E27FC236}">
                      <a16:creationId xmlns:a16="http://schemas.microsoft.com/office/drawing/2014/main" id="{7D557E65-4005-4972-8C69-05B7EF9E1D31}"/>
                    </a:ext>
                  </a:extLst>
                </p:cNvPr>
                <p:cNvSpPr txBox="1"/>
                <p:nvPr/>
              </p:nvSpPr>
              <p:spPr bwMode="auto">
                <a:xfrm>
                  <a:off x="6032054" y="3690887"/>
                  <a:ext cx="512763" cy="5048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2307" name="Object 31">
                  <a:extLst>
                    <a:ext uri="{FF2B5EF4-FFF2-40B4-BE49-F238E27FC236}">
                      <a16:creationId xmlns:a16="http://schemas.microsoft.com/office/drawing/2014/main" id="{7D557E65-4005-4972-8C69-05B7EF9E1D31}"/>
                    </a:ext>
                  </a:extLst>
                </p:cNvPr>
                <p:cNvSpPr txBox="1">
                  <a:spLocks noRot="1" noChangeAspect="1" noMove="1" noResize="1" noEditPoints="1" noAdjustHandles="1" noChangeArrowheads="1" noChangeShapeType="1" noTextEdit="1"/>
                </p:cNvSpPr>
                <p:nvPr/>
              </p:nvSpPr>
              <p:spPr bwMode="auto">
                <a:xfrm>
                  <a:off x="6032054" y="3690887"/>
                  <a:ext cx="512763" cy="504825"/>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09" name="Object 33">
                  <a:extLst>
                    <a:ext uri="{FF2B5EF4-FFF2-40B4-BE49-F238E27FC236}">
                      <a16:creationId xmlns:a16="http://schemas.microsoft.com/office/drawing/2014/main" id="{8133E16B-0D7A-4A48-B3F9-5EFD1273A891}"/>
                    </a:ext>
                  </a:extLst>
                </p:cNvPr>
                <p:cNvSpPr txBox="1"/>
                <p:nvPr/>
              </p:nvSpPr>
              <p:spPr bwMode="auto">
                <a:xfrm>
                  <a:off x="5625654" y="3160663"/>
                  <a:ext cx="1317625" cy="7080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6</m:t>
                            </m:r>
                          </m:den>
                        </m:f>
                      </m:oMath>
                    </m:oMathPara>
                  </a14:m>
                  <a:endParaRPr lang="en-US" sz="2000" dirty="0"/>
                </a:p>
              </p:txBody>
            </p:sp>
          </mc:Choice>
          <mc:Fallback xmlns="">
            <p:sp>
              <p:nvSpPr>
                <p:cNvPr id="12309" name="Object 33">
                  <a:extLst>
                    <a:ext uri="{FF2B5EF4-FFF2-40B4-BE49-F238E27FC236}">
                      <a16:creationId xmlns:a16="http://schemas.microsoft.com/office/drawing/2014/main" id="{8133E16B-0D7A-4A48-B3F9-5EFD1273A891}"/>
                    </a:ext>
                  </a:extLst>
                </p:cNvPr>
                <p:cNvSpPr txBox="1">
                  <a:spLocks noRot="1" noChangeAspect="1" noMove="1" noResize="1" noEditPoints="1" noAdjustHandles="1" noChangeArrowheads="1" noChangeShapeType="1" noTextEdit="1"/>
                </p:cNvSpPr>
                <p:nvPr/>
              </p:nvSpPr>
              <p:spPr bwMode="auto">
                <a:xfrm>
                  <a:off x="5625654" y="3160663"/>
                  <a:ext cx="1317625" cy="708025"/>
                </a:xfrm>
                <a:prstGeom prst="rect">
                  <a:avLst/>
                </a:prstGeom>
                <a:blipFill>
                  <a:blip r:embed="rId8"/>
                  <a:stretch>
                    <a:fillRect/>
                  </a:stretch>
                </a:blipFill>
                <a:ln>
                  <a:noFill/>
                </a:ln>
                <a:effectLst/>
              </p:spPr>
              <p:txBody>
                <a:bodyPr/>
                <a:lstStyle/>
                <a:p>
                  <a:r>
                    <a:rPr lang="en-US">
                      <a:noFill/>
                    </a:rPr>
                    <a:t> </a:t>
                  </a:r>
                </a:p>
              </p:txBody>
            </p:sp>
          </mc:Fallback>
        </mc:AlternateContent>
      </p:grpSp>
      <p:grpSp>
        <p:nvGrpSpPr>
          <p:cNvPr id="3" name="组合 2">
            <a:extLst>
              <a:ext uri="{FF2B5EF4-FFF2-40B4-BE49-F238E27FC236}">
                <a16:creationId xmlns:a16="http://schemas.microsoft.com/office/drawing/2014/main" id="{3BA84009-E8E7-49A5-8D30-D13874C2E035}"/>
              </a:ext>
            </a:extLst>
          </p:cNvPr>
          <p:cNvGrpSpPr/>
          <p:nvPr/>
        </p:nvGrpSpPr>
        <p:grpSpPr>
          <a:xfrm>
            <a:off x="2696717" y="3378150"/>
            <a:ext cx="962025" cy="812800"/>
            <a:chOff x="2696717" y="3378150"/>
            <a:chExt cx="962025" cy="812800"/>
          </a:xfrm>
        </p:grpSpPr>
        <mc:AlternateContent xmlns:mc="http://schemas.openxmlformats.org/markup-compatibility/2006" xmlns:a14="http://schemas.microsoft.com/office/drawing/2010/main">
          <mc:Choice Requires="a14">
            <p:sp>
              <p:nvSpPr>
                <p:cNvPr id="12308" name="Object 32">
                  <a:extLst>
                    <a:ext uri="{FF2B5EF4-FFF2-40B4-BE49-F238E27FC236}">
                      <a16:creationId xmlns:a16="http://schemas.microsoft.com/office/drawing/2014/main" id="{255FD08D-D851-42D7-949A-6DF19DAC31FB}"/>
                    </a:ext>
                  </a:extLst>
                </p:cNvPr>
                <p:cNvSpPr txBox="1"/>
                <p:nvPr/>
              </p:nvSpPr>
              <p:spPr bwMode="auto">
                <a:xfrm>
                  <a:off x="2942779" y="3686125"/>
                  <a:ext cx="485775" cy="5048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2308" name="Object 32">
                  <a:extLst>
                    <a:ext uri="{FF2B5EF4-FFF2-40B4-BE49-F238E27FC236}">
                      <a16:creationId xmlns:a16="http://schemas.microsoft.com/office/drawing/2014/main" id="{255FD08D-D851-42D7-949A-6DF19DAC31FB}"/>
                    </a:ext>
                  </a:extLst>
                </p:cNvPr>
                <p:cNvSpPr txBox="1">
                  <a:spLocks noRot="1" noChangeAspect="1" noMove="1" noResize="1" noEditPoints="1" noAdjustHandles="1" noChangeArrowheads="1" noChangeShapeType="1" noTextEdit="1"/>
                </p:cNvSpPr>
                <p:nvPr/>
              </p:nvSpPr>
              <p:spPr bwMode="auto">
                <a:xfrm>
                  <a:off x="2942779" y="3686125"/>
                  <a:ext cx="485775" cy="504825"/>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10" name="Object 34">
                  <a:extLst>
                    <a:ext uri="{FF2B5EF4-FFF2-40B4-BE49-F238E27FC236}">
                      <a16:creationId xmlns:a16="http://schemas.microsoft.com/office/drawing/2014/main" id="{01926955-E516-4C09-99BD-62308E328AF5}"/>
                    </a:ext>
                  </a:extLst>
                </p:cNvPr>
                <p:cNvSpPr txBox="1"/>
                <p:nvPr/>
              </p:nvSpPr>
              <p:spPr bwMode="auto">
                <a:xfrm>
                  <a:off x="2696717" y="3378150"/>
                  <a:ext cx="962025" cy="41433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→3</m:t>
                        </m:r>
                        <m:r>
                          <a:rPr lang="en-US" sz="2000" i="1">
                            <a:solidFill>
                              <a:srgbClr val="000000"/>
                            </a:solidFill>
                            <a:latin typeface="Cambria Math" panose="02040503050406030204" pitchFamily="18" charset="0"/>
                          </a:rPr>
                          <m:t>𝑡</m:t>
                        </m:r>
                      </m:oMath>
                    </m:oMathPara>
                  </a14:m>
                  <a:endParaRPr lang="en-US" sz="2000" dirty="0"/>
                </a:p>
              </p:txBody>
            </p:sp>
          </mc:Choice>
          <mc:Fallback xmlns="">
            <p:sp>
              <p:nvSpPr>
                <p:cNvPr id="12310" name="Object 34">
                  <a:extLst>
                    <a:ext uri="{FF2B5EF4-FFF2-40B4-BE49-F238E27FC236}">
                      <a16:creationId xmlns:a16="http://schemas.microsoft.com/office/drawing/2014/main" id="{01926955-E516-4C09-99BD-62308E328AF5}"/>
                    </a:ext>
                  </a:extLst>
                </p:cNvPr>
                <p:cNvSpPr txBox="1">
                  <a:spLocks noRot="1" noChangeAspect="1" noMove="1" noResize="1" noEditPoints="1" noAdjustHandles="1" noChangeArrowheads="1" noChangeShapeType="1" noTextEdit="1"/>
                </p:cNvSpPr>
                <p:nvPr/>
              </p:nvSpPr>
              <p:spPr bwMode="auto">
                <a:xfrm>
                  <a:off x="2696717" y="3378150"/>
                  <a:ext cx="962025" cy="414337"/>
                </a:xfrm>
                <a:prstGeom prst="rect">
                  <a:avLst/>
                </a:prstGeom>
                <a:blipFill>
                  <a:blip r:embed="rId10"/>
                  <a:stretch>
                    <a:fillRect/>
                  </a:stretch>
                </a:blipFill>
                <a:ln>
                  <a:noFill/>
                </a:ln>
                <a:effectLst/>
              </p:spPr>
              <p:txBody>
                <a:bodyPr/>
                <a:lstStyle/>
                <a:p>
                  <a:r>
                    <a:rPr lang="en-US">
                      <a:noFill/>
                    </a:rPr>
                    <a:t> </a:t>
                  </a:r>
                </a:p>
              </p:txBody>
            </p:sp>
          </mc:Fallback>
        </mc:AlternateContent>
      </p:grpSp>
      <p:grpSp>
        <p:nvGrpSpPr>
          <p:cNvPr id="7" name="组合 6">
            <a:extLst>
              <a:ext uri="{FF2B5EF4-FFF2-40B4-BE49-F238E27FC236}">
                <a16:creationId xmlns:a16="http://schemas.microsoft.com/office/drawing/2014/main" id="{A20262D6-A163-48D4-9891-4941C7958F61}"/>
              </a:ext>
            </a:extLst>
          </p:cNvPr>
          <p:cNvGrpSpPr/>
          <p:nvPr/>
        </p:nvGrpSpPr>
        <p:grpSpPr>
          <a:xfrm>
            <a:off x="6705154" y="2420888"/>
            <a:ext cx="2286001" cy="2282824"/>
            <a:chOff x="6705154" y="2420888"/>
            <a:chExt cx="2286001" cy="2282824"/>
          </a:xfrm>
        </p:grpSpPr>
        <p:sp>
          <p:nvSpPr>
            <p:cNvPr id="12364" name="Line 29">
              <a:extLst>
                <a:ext uri="{FF2B5EF4-FFF2-40B4-BE49-F238E27FC236}">
                  <a16:creationId xmlns:a16="http://schemas.microsoft.com/office/drawing/2014/main" id="{7C9F4E90-7E7A-4782-BCE6-DE47A5057709}"/>
                </a:ext>
              </a:extLst>
            </p:cNvPr>
            <p:cNvSpPr>
              <a:spLocks noChangeShapeType="1"/>
            </p:cNvSpPr>
            <p:nvPr/>
          </p:nvSpPr>
          <p:spPr bwMode="auto">
            <a:xfrm>
              <a:off x="6705154" y="4165550"/>
              <a:ext cx="20891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65" name="Line 30">
              <a:extLst>
                <a:ext uri="{FF2B5EF4-FFF2-40B4-BE49-F238E27FC236}">
                  <a16:creationId xmlns:a16="http://schemas.microsoft.com/office/drawing/2014/main" id="{28C26600-BB80-477C-B222-10C80AAA8E5D}"/>
                </a:ext>
              </a:extLst>
            </p:cNvPr>
            <p:cNvSpPr>
              <a:spLocks noChangeShapeType="1"/>
            </p:cNvSpPr>
            <p:nvPr/>
          </p:nvSpPr>
          <p:spPr bwMode="auto">
            <a:xfrm flipV="1">
              <a:off x="7065517" y="2941588"/>
              <a:ext cx="0" cy="1584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66" name="Line 31">
              <a:extLst>
                <a:ext uri="{FF2B5EF4-FFF2-40B4-BE49-F238E27FC236}">
                  <a16:creationId xmlns:a16="http://schemas.microsoft.com/office/drawing/2014/main" id="{ADF197CB-36E3-4E92-A0ED-7EEEDDE9E526}"/>
                </a:ext>
              </a:extLst>
            </p:cNvPr>
            <p:cNvSpPr>
              <a:spLocks noChangeShapeType="1"/>
            </p:cNvSpPr>
            <p:nvPr/>
          </p:nvSpPr>
          <p:spPr bwMode="auto">
            <a:xfrm flipV="1">
              <a:off x="7352854" y="3589287"/>
              <a:ext cx="433388"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67" name="Line 32">
              <a:extLst>
                <a:ext uri="{FF2B5EF4-FFF2-40B4-BE49-F238E27FC236}">
                  <a16:creationId xmlns:a16="http://schemas.microsoft.com/office/drawing/2014/main" id="{64EF1E5B-945E-44F6-82E1-A4D859C814F5}"/>
                </a:ext>
              </a:extLst>
            </p:cNvPr>
            <p:cNvSpPr>
              <a:spLocks noChangeShapeType="1"/>
            </p:cNvSpPr>
            <p:nvPr/>
          </p:nvSpPr>
          <p:spPr bwMode="auto">
            <a:xfrm>
              <a:off x="7786242" y="3589287"/>
              <a:ext cx="0"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68" name="Text Box 33">
              <a:extLst>
                <a:ext uri="{FF2B5EF4-FFF2-40B4-BE49-F238E27FC236}">
                  <a16:creationId xmlns:a16="http://schemas.microsoft.com/office/drawing/2014/main" id="{B202F032-DFC8-4AC9-A587-B92C37B835AB}"/>
                </a:ext>
              </a:extLst>
            </p:cNvPr>
            <p:cNvSpPr txBox="1">
              <a:spLocks noChangeArrowheads="1"/>
            </p:cNvSpPr>
            <p:nvPr/>
          </p:nvSpPr>
          <p:spPr bwMode="auto">
            <a:xfrm>
              <a:off x="6778179" y="4094112"/>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0</a:t>
              </a:r>
            </a:p>
          </p:txBody>
        </p:sp>
        <mc:AlternateContent xmlns:mc="http://schemas.openxmlformats.org/markup-compatibility/2006" xmlns:a14="http://schemas.microsoft.com/office/drawing/2010/main">
          <mc:Choice Requires="a14">
            <p:sp>
              <p:nvSpPr>
                <p:cNvPr id="12306" name="Object 30">
                  <a:extLst>
                    <a:ext uri="{FF2B5EF4-FFF2-40B4-BE49-F238E27FC236}">
                      <a16:creationId xmlns:a16="http://schemas.microsoft.com/office/drawing/2014/main" id="{161D1D71-5CFE-4A0A-97F8-FE2321840E07}"/>
                    </a:ext>
                  </a:extLst>
                </p:cNvPr>
                <p:cNvSpPr txBox="1"/>
                <p:nvPr/>
              </p:nvSpPr>
              <p:spPr bwMode="auto">
                <a:xfrm>
                  <a:off x="8678417" y="4095700"/>
                  <a:ext cx="312738" cy="4699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𝑡</m:t>
                        </m:r>
                      </m:oMath>
                    </m:oMathPara>
                  </a14:m>
                  <a:endParaRPr lang="en-US" sz="2400" dirty="0"/>
                </a:p>
              </p:txBody>
            </p:sp>
          </mc:Choice>
          <mc:Fallback xmlns="">
            <p:sp>
              <p:nvSpPr>
                <p:cNvPr id="12306" name="Object 30">
                  <a:extLst>
                    <a:ext uri="{FF2B5EF4-FFF2-40B4-BE49-F238E27FC236}">
                      <a16:creationId xmlns:a16="http://schemas.microsoft.com/office/drawing/2014/main" id="{161D1D71-5CFE-4A0A-97F8-FE2321840E07}"/>
                    </a:ext>
                  </a:extLst>
                </p:cNvPr>
                <p:cNvSpPr txBox="1">
                  <a:spLocks noRot="1" noChangeAspect="1" noMove="1" noResize="1" noEditPoints="1" noAdjustHandles="1" noChangeArrowheads="1" noChangeShapeType="1" noTextEdit="1"/>
                </p:cNvSpPr>
                <p:nvPr/>
              </p:nvSpPr>
              <p:spPr bwMode="auto">
                <a:xfrm>
                  <a:off x="8678417" y="4095700"/>
                  <a:ext cx="312738" cy="469900"/>
                </a:xfrm>
                <a:prstGeom prst="rect">
                  <a:avLst/>
                </a:prstGeom>
                <a:blipFill>
                  <a:blip r:embed="rId11"/>
                  <a:stretch>
                    <a:fillRect l="-1961"/>
                  </a:stretch>
                </a:blipFill>
                <a:ln>
                  <a:noFill/>
                </a:ln>
                <a:effectLst/>
              </p:spPr>
              <p:txBody>
                <a:bodyPr/>
                <a:lstStyle/>
                <a:p>
                  <a:r>
                    <a:rPr lang="en-US">
                      <a:noFill/>
                    </a:rPr>
                    <a:t> </a:t>
                  </a:r>
                </a:p>
              </p:txBody>
            </p:sp>
          </mc:Fallback>
        </mc:AlternateContent>
        <p:sp>
          <p:nvSpPr>
            <p:cNvPr id="12369" name="Line 35">
              <a:extLst>
                <a:ext uri="{FF2B5EF4-FFF2-40B4-BE49-F238E27FC236}">
                  <a16:creationId xmlns:a16="http://schemas.microsoft.com/office/drawing/2014/main" id="{E46E3255-6342-4767-9FE2-28A8F0C95779}"/>
                </a:ext>
              </a:extLst>
            </p:cNvPr>
            <p:cNvSpPr>
              <a:spLocks noChangeShapeType="1"/>
            </p:cNvSpPr>
            <p:nvPr/>
          </p:nvSpPr>
          <p:spPr bwMode="auto">
            <a:xfrm flipH="1">
              <a:off x="7065517" y="3589287"/>
              <a:ext cx="730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70" name="Text Box 36">
              <a:extLst>
                <a:ext uri="{FF2B5EF4-FFF2-40B4-BE49-F238E27FC236}">
                  <a16:creationId xmlns:a16="http://schemas.microsoft.com/office/drawing/2014/main" id="{E87D1649-2523-47DF-8186-956DBC73FA82}"/>
                </a:ext>
              </a:extLst>
            </p:cNvPr>
            <p:cNvSpPr txBox="1">
              <a:spLocks noChangeArrowheads="1"/>
            </p:cNvSpPr>
            <p:nvPr/>
          </p:nvSpPr>
          <p:spPr bwMode="auto">
            <a:xfrm>
              <a:off x="6830567" y="3352750"/>
              <a:ext cx="312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sp>
          <p:nvSpPr>
            <p:cNvPr id="12371" name="Text Box 37">
              <a:extLst>
                <a:ext uri="{FF2B5EF4-FFF2-40B4-BE49-F238E27FC236}">
                  <a16:creationId xmlns:a16="http://schemas.microsoft.com/office/drawing/2014/main" id="{9EFCB40F-FA04-4CC0-9CDB-C7D32E2F3A4A}"/>
                </a:ext>
              </a:extLst>
            </p:cNvPr>
            <p:cNvSpPr txBox="1">
              <a:spLocks noChangeArrowheads="1"/>
            </p:cNvSpPr>
            <p:nvPr/>
          </p:nvSpPr>
          <p:spPr bwMode="auto">
            <a:xfrm>
              <a:off x="7065517" y="4165550"/>
              <a:ext cx="569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1/6</a:t>
              </a:r>
            </a:p>
          </p:txBody>
        </p:sp>
        <p:sp>
          <p:nvSpPr>
            <p:cNvPr id="12372" name="Text Box 38">
              <a:extLst>
                <a:ext uri="{FF2B5EF4-FFF2-40B4-BE49-F238E27FC236}">
                  <a16:creationId xmlns:a16="http://schemas.microsoft.com/office/drawing/2014/main" id="{639EDBAB-975C-4747-90D4-C3D88A105AE3}"/>
                </a:ext>
              </a:extLst>
            </p:cNvPr>
            <p:cNvSpPr txBox="1">
              <a:spLocks noChangeArrowheads="1"/>
            </p:cNvSpPr>
            <p:nvPr/>
          </p:nvSpPr>
          <p:spPr bwMode="auto">
            <a:xfrm>
              <a:off x="7568754" y="4165550"/>
              <a:ext cx="569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1/2</a:t>
              </a:r>
            </a:p>
          </p:txBody>
        </p:sp>
        <p:sp>
          <p:nvSpPr>
            <p:cNvPr id="12373" name="Text Box 39">
              <a:extLst>
                <a:ext uri="{FF2B5EF4-FFF2-40B4-BE49-F238E27FC236}">
                  <a16:creationId xmlns:a16="http://schemas.microsoft.com/office/drawing/2014/main" id="{0E7F2A22-998B-464B-80F5-AA470B7C67D3}"/>
                </a:ext>
              </a:extLst>
            </p:cNvPr>
            <p:cNvSpPr txBox="1">
              <a:spLocks noChangeArrowheads="1"/>
            </p:cNvSpPr>
            <p:nvPr/>
          </p:nvSpPr>
          <p:spPr bwMode="auto">
            <a:xfrm>
              <a:off x="7765604" y="4184600"/>
              <a:ext cx="184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sz="2800" b="1">
                <a:ea typeface="楷体_GB2312" panose="02010609030101010101" pitchFamily="49" charset="-122"/>
              </a:endParaRPr>
            </a:p>
          </p:txBody>
        </p:sp>
        <mc:AlternateContent xmlns:mc="http://schemas.openxmlformats.org/markup-compatibility/2006" xmlns:a14="http://schemas.microsoft.com/office/drawing/2010/main">
          <mc:Choice Requires="a14">
            <p:sp>
              <p:nvSpPr>
                <p:cNvPr id="12311" name="Object 35">
                  <a:extLst>
                    <a:ext uri="{FF2B5EF4-FFF2-40B4-BE49-F238E27FC236}">
                      <a16:creationId xmlns:a16="http://schemas.microsoft.com/office/drawing/2014/main" id="{DB745377-B071-4FB2-8432-E5755FD6FA72}"/>
                    </a:ext>
                  </a:extLst>
                </p:cNvPr>
                <p:cNvSpPr txBox="1"/>
                <p:nvPr/>
              </p:nvSpPr>
              <p:spPr bwMode="auto">
                <a:xfrm>
                  <a:off x="7121079" y="2420888"/>
                  <a:ext cx="1500188" cy="8255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2311" name="Object 35">
                  <a:extLst>
                    <a:ext uri="{FF2B5EF4-FFF2-40B4-BE49-F238E27FC236}">
                      <a16:creationId xmlns:a16="http://schemas.microsoft.com/office/drawing/2014/main" id="{DB745377-B071-4FB2-8432-E5755FD6FA72}"/>
                    </a:ext>
                  </a:extLst>
                </p:cNvPr>
                <p:cNvSpPr txBox="1">
                  <a:spLocks noRot="1" noChangeAspect="1" noMove="1" noResize="1" noEditPoints="1" noAdjustHandles="1" noChangeArrowheads="1" noChangeShapeType="1" noTextEdit="1"/>
                </p:cNvSpPr>
                <p:nvPr/>
              </p:nvSpPr>
              <p:spPr bwMode="auto">
                <a:xfrm>
                  <a:off x="7121079" y="2420888"/>
                  <a:ext cx="1500188" cy="825500"/>
                </a:xfrm>
                <a:prstGeom prst="rect">
                  <a:avLst/>
                </a:prstGeom>
                <a:blipFill>
                  <a:blip r:embed="rId12"/>
                  <a:stretch>
                    <a:fillRect/>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6" name="Object 8">
                <a:extLst>
                  <a:ext uri="{FF2B5EF4-FFF2-40B4-BE49-F238E27FC236}">
                    <a16:creationId xmlns:a16="http://schemas.microsoft.com/office/drawing/2014/main" id="{0913C784-92BC-4AB4-AC70-C953E3E4696E}"/>
                  </a:ext>
                </a:extLst>
              </p:cNvPr>
              <p:cNvSpPr txBox="1"/>
              <p:nvPr/>
            </p:nvSpPr>
            <p:spPr bwMode="auto">
              <a:xfrm>
                <a:off x="758378" y="5229200"/>
                <a:ext cx="8035925" cy="698525"/>
              </a:xfrm>
              <a:prstGeom prst="rect">
                <a:avLst/>
              </a:prstGeom>
              <a:noFill/>
              <a:ln>
                <a:noFill/>
              </a:ln>
              <a:effectLst/>
            </p:spPr>
            <p:txBody>
              <a:bodyPr wrap="square">
                <a:spAutoFit/>
              </a:bodyPr>
              <a:lstStyle/>
              <a:p>
                <a14:m>
                  <m:oMath xmlns:m="http://schemas.openxmlformats.org/officeDocument/2006/math">
                    <m:r>
                      <a:rPr lang="zh-CN" altLang="en-US" sz="2800" i="1" dirty="0">
                        <a:solidFill>
                          <a:srgbClr val="000099"/>
                        </a:solidFill>
                        <a:latin typeface="Cambria Math" panose="02040503050406030204" pitchFamily="18" charset="0"/>
                        <a:ea typeface="楷体" panose="02010609060101010101" pitchFamily="49" charset="-122"/>
                      </a:rPr>
                      <m:t>再如</m:t>
                    </m:r>
                    <m:r>
                      <a:rPr lang="zh-CN" altLang="en-US" sz="2800" i="1" dirty="0" smtClean="0">
                        <a:solidFill>
                          <a:srgbClr val="000099"/>
                        </a:solidFill>
                        <a:latin typeface="Cambria Math" panose="02040503050406030204" pitchFamily="18" charset="0"/>
                        <a:ea typeface="楷体" panose="02010609060101010101" pitchFamily="49" charset="-122"/>
                      </a:rPr>
                      <m:t>：</m:t>
                    </m:r>
                    <m:r>
                      <a:rPr lang="en-US" altLang="zh-CN" sz="2800" i="1">
                        <a:solidFill>
                          <a:srgbClr val="0000FF"/>
                        </a:solidFill>
                        <a:latin typeface="Cambria Math" panose="02040503050406030204" pitchFamily="18" charset="0"/>
                      </a:rPr>
                      <m:t>𝑥</m:t>
                    </m:r>
                    <m:r>
                      <a:rPr lang="en-US" altLang="zh-CN" sz="2800" i="1">
                        <a:solidFill>
                          <a:srgbClr val="0000FF"/>
                        </a:solidFill>
                        <a:latin typeface="Cambria Math" panose="02040503050406030204" pitchFamily="18" charset="0"/>
                      </a:rPr>
                      <m:t>(</m:t>
                    </m:r>
                    <m:r>
                      <a:rPr lang="en-US" altLang="zh-CN" sz="2800" i="1">
                        <a:solidFill>
                          <a:srgbClr val="0000FF"/>
                        </a:solidFill>
                        <a:latin typeface="Cambria Math" panose="02040503050406030204" pitchFamily="18" charset="0"/>
                      </a:rPr>
                      <m:t>𝑡</m:t>
                    </m:r>
                    <m:r>
                      <a:rPr lang="en-US" altLang="zh-CN" sz="2800" i="1">
                        <a:solidFill>
                          <a:srgbClr val="0000FF"/>
                        </a:solidFill>
                        <a:latin typeface="Cambria Math" panose="02040503050406030204" pitchFamily="18" charset="0"/>
                      </a:rPr>
                      <m:t>)→</m:t>
                    </m:r>
                    <m:r>
                      <a:rPr lang="en-US" sz="2800" i="1" smtClean="0">
                        <a:solidFill>
                          <a:srgbClr val="0000FF"/>
                        </a:solidFill>
                        <a:latin typeface="Cambria Math" panose="02040503050406030204" pitchFamily="18" charset="0"/>
                      </a:rPr>
                      <m:t>𝑥</m:t>
                    </m:r>
                    <m:r>
                      <a:rPr lang="en-US" sz="2800" i="1" smtClean="0">
                        <a:solidFill>
                          <a:srgbClr val="0000FF"/>
                        </a:solidFill>
                        <a:latin typeface="Cambria Math" panose="02040503050406030204" pitchFamily="18" charset="0"/>
                      </a:rPr>
                      <m:t>(5−2</m:t>
                    </m:r>
                    <m:r>
                      <a:rPr lang="en-US" sz="2800" i="1" smtClean="0">
                        <a:solidFill>
                          <a:srgbClr val="0000FF"/>
                        </a:solidFill>
                        <a:latin typeface="Cambria Math" panose="02040503050406030204" pitchFamily="18" charset="0"/>
                      </a:rPr>
                      <m:t>𝑡</m:t>
                    </m:r>
                    <m:r>
                      <a:rPr lang="en-US" sz="2800" i="1" smtClean="0">
                        <a:solidFill>
                          <a:srgbClr val="0000FF"/>
                        </a:solidFill>
                        <a:latin typeface="Cambria Math" panose="02040503050406030204" pitchFamily="18" charset="0"/>
                      </a:rPr>
                      <m:t>)</m:t>
                    </m:r>
                  </m:oMath>
                </a14:m>
                <a:r>
                  <a:rPr lang="zh-CN" altLang="en-US" sz="2800" dirty="0"/>
                  <a:t>、</a:t>
                </a:r>
                <a:r>
                  <a:rPr lang="en-US" sz="2800" dirty="0">
                    <a:solidFill>
                      <a:srgbClr val="000000"/>
                    </a:solidFill>
                  </a:rPr>
                  <a:t> </a:t>
                </a:r>
                <a14:m>
                  <m:oMath xmlns:m="http://schemas.openxmlformats.org/officeDocument/2006/math">
                    <m:r>
                      <a:rPr lang="en-US" sz="2800" i="1" smtClean="0">
                        <a:solidFill>
                          <a:srgbClr val="0000FF"/>
                        </a:solidFill>
                        <a:latin typeface="Cambria Math" panose="02040503050406030204" pitchFamily="18" charset="0"/>
                      </a:rPr>
                      <m:t>𝑥</m:t>
                    </m:r>
                    <m:r>
                      <a:rPr lang="en-US" sz="2800" i="1" smtClean="0">
                        <a:solidFill>
                          <a:srgbClr val="0000FF"/>
                        </a:solidFill>
                        <a:latin typeface="Cambria Math" panose="02040503050406030204" pitchFamily="18" charset="0"/>
                      </a:rPr>
                      <m:t>(</m:t>
                    </m:r>
                    <m:r>
                      <a:rPr lang="en-US" sz="2800" i="1" smtClean="0">
                        <a:solidFill>
                          <a:srgbClr val="0000FF"/>
                        </a:solidFill>
                        <a:latin typeface="Cambria Math" panose="02040503050406030204" pitchFamily="18" charset="0"/>
                      </a:rPr>
                      <m:t>𝑡</m:t>
                    </m:r>
                    <m:r>
                      <a:rPr lang="en-US" sz="2800" i="1" smtClean="0">
                        <a:solidFill>
                          <a:srgbClr val="0000FF"/>
                        </a:solidFill>
                        <a:latin typeface="Cambria Math" panose="02040503050406030204" pitchFamily="18" charset="0"/>
                      </a:rPr>
                      <m:t>)→</m:t>
                    </m:r>
                    <m:r>
                      <a:rPr lang="en-US" sz="2800" i="1" smtClean="0">
                        <a:solidFill>
                          <a:srgbClr val="0000FF"/>
                        </a:solidFill>
                        <a:latin typeface="Cambria Math" panose="02040503050406030204" pitchFamily="18" charset="0"/>
                      </a:rPr>
                      <m:t>𝑥</m:t>
                    </m:r>
                    <m:r>
                      <a:rPr lang="en-US" sz="2800" i="1" smtClean="0">
                        <a:solidFill>
                          <a:srgbClr val="0000FF"/>
                        </a:solidFill>
                        <a:latin typeface="Cambria Math" panose="02040503050406030204" pitchFamily="18" charset="0"/>
                      </a:rPr>
                      <m:t>(−</m:t>
                    </m:r>
                    <m:f>
                      <m:fPr>
                        <m:ctrlPr>
                          <a:rPr lang="en-US" sz="2800" i="1">
                            <a:solidFill>
                              <a:srgbClr val="0000FF"/>
                            </a:solidFill>
                            <a:latin typeface="Cambria Math" panose="02040503050406030204" pitchFamily="18" charset="0"/>
                          </a:rPr>
                        </m:ctrlPr>
                      </m:fPr>
                      <m:num>
                        <m:r>
                          <a:rPr lang="en-US" sz="2800" i="1">
                            <a:solidFill>
                              <a:srgbClr val="0000FF"/>
                            </a:solidFill>
                            <a:latin typeface="Cambria Math" panose="02040503050406030204" pitchFamily="18" charset="0"/>
                          </a:rPr>
                          <m:t>𝑡</m:t>
                        </m:r>
                      </m:num>
                      <m:den>
                        <m:r>
                          <a:rPr lang="en-US" sz="2800" i="1">
                            <a:solidFill>
                              <a:srgbClr val="0000FF"/>
                            </a:solidFill>
                            <a:latin typeface="Cambria Math" panose="02040503050406030204" pitchFamily="18" charset="0"/>
                          </a:rPr>
                          <m:t>3</m:t>
                        </m:r>
                      </m:den>
                    </m:f>
                    <m:r>
                      <a:rPr lang="en-US" sz="2800" i="1">
                        <a:solidFill>
                          <a:srgbClr val="0000FF"/>
                        </a:solidFill>
                        <a:latin typeface="Cambria Math" panose="02040503050406030204" pitchFamily="18" charset="0"/>
                      </a:rPr>
                      <m:t>+2)</m:t>
                    </m:r>
                  </m:oMath>
                </a14:m>
                <a:endParaRPr lang="en-US" sz="2800" dirty="0"/>
              </a:p>
            </p:txBody>
          </p:sp>
        </mc:Choice>
        <mc:Fallback xmlns="">
          <p:sp>
            <p:nvSpPr>
              <p:cNvPr id="126" name="Object 8">
                <a:extLst>
                  <a:ext uri="{FF2B5EF4-FFF2-40B4-BE49-F238E27FC236}">
                    <a16:creationId xmlns:a16="http://schemas.microsoft.com/office/drawing/2014/main" id="{0913C784-92BC-4AB4-AC70-C953E3E4696E}"/>
                  </a:ext>
                </a:extLst>
              </p:cNvPr>
              <p:cNvSpPr txBox="1">
                <a:spLocks noRot="1" noChangeAspect="1" noMove="1" noResize="1" noEditPoints="1" noAdjustHandles="1" noChangeArrowheads="1" noChangeShapeType="1" noTextEdit="1"/>
              </p:cNvSpPr>
              <p:nvPr/>
            </p:nvSpPr>
            <p:spPr bwMode="auto">
              <a:xfrm>
                <a:off x="758378" y="5229200"/>
                <a:ext cx="8035925" cy="698525"/>
              </a:xfrm>
              <a:prstGeom prst="rect">
                <a:avLst/>
              </a:prstGeom>
              <a:blipFill>
                <a:blip r:embed="rId13"/>
                <a:stretch>
                  <a:fillRect t="-1754" b="-7018"/>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ircle(in)">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ircle(in)">
                                      <p:cBhvr>
                                        <p:cTn id="22" dur="1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26"/>
                                        </p:tgtEl>
                                        <p:attrNameLst>
                                          <p:attrName>style.visibility</p:attrName>
                                        </p:attrNameLst>
                                      </p:cBhvr>
                                      <p:to>
                                        <p:strVal val="visible"/>
                                      </p:to>
                                    </p:set>
                                    <p:animEffect transition="in" filter="circle(in)">
                                      <p:cBhvr>
                                        <p:cTn id="27" dur="10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标题 1">
            <a:extLst>
              <a:ext uri="{FF2B5EF4-FFF2-40B4-BE49-F238E27FC236}">
                <a16:creationId xmlns:a16="http://schemas.microsoft.com/office/drawing/2014/main" id="{A69C42C7-07E2-41B1-8E02-D2B92ACB3F06}"/>
              </a:ext>
            </a:extLst>
          </p:cNvPr>
          <p:cNvSpPr>
            <a:spLocks noGrp="1"/>
          </p:cNvSpPr>
          <p:nvPr>
            <p:ph type="title"/>
          </p:nvPr>
        </p:nvSpPr>
        <p:spPr/>
        <p:txBody>
          <a:bodyPr/>
          <a:lstStyle/>
          <a:p>
            <a:pPr eaLnBrk="1" hangingPunct="1"/>
            <a:r>
              <a:rPr lang="en-US" altLang="zh-CN"/>
              <a:t>1.2  </a:t>
            </a:r>
            <a:r>
              <a:rPr lang="zh-CN" altLang="en-US"/>
              <a:t>自变量变换</a:t>
            </a:r>
          </a:p>
        </p:txBody>
      </p:sp>
      <p:sp>
        <p:nvSpPr>
          <p:cNvPr id="14342" name="内容占位符 2">
            <a:extLst>
              <a:ext uri="{FF2B5EF4-FFF2-40B4-BE49-F238E27FC236}">
                <a16:creationId xmlns:a16="http://schemas.microsoft.com/office/drawing/2014/main" id="{509C48C6-C180-464B-9F67-CF5A2C4C362F}"/>
              </a:ext>
            </a:extLst>
          </p:cNvPr>
          <p:cNvSpPr>
            <a:spLocks noGrp="1"/>
          </p:cNvSpPr>
          <p:nvPr>
            <p:ph idx="1"/>
          </p:nvPr>
        </p:nvSpPr>
        <p:spPr>
          <a:xfrm>
            <a:off x="457200" y="1268760"/>
            <a:ext cx="8229600" cy="523220"/>
          </a:xfrm>
        </p:spPr>
        <p:txBody>
          <a:bodyPr>
            <a:spAutoFit/>
          </a:bodyPr>
          <a:lstStyle/>
          <a:p>
            <a:pPr eaLnBrk="1" hangingPunct="1"/>
            <a:r>
              <a:rPr lang="zh-CN" altLang="en-US" sz="2800" b="0" dirty="0"/>
              <a:t>二</a:t>
            </a:r>
            <a:r>
              <a:rPr lang="en-US" altLang="zh-CN" sz="2800" b="0" dirty="0"/>
              <a:t>. </a:t>
            </a:r>
            <a:r>
              <a:rPr lang="zh-CN" altLang="en-US" sz="2800" b="0" dirty="0"/>
              <a:t>奇信号与偶信号</a:t>
            </a:r>
          </a:p>
        </p:txBody>
      </p:sp>
      <p:sp>
        <p:nvSpPr>
          <p:cNvPr id="4" name="灯片编号占位符 3">
            <a:extLst>
              <a:ext uri="{FF2B5EF4-FFF2-40B4-BE49-F238E27FC236}">
                <a16:creationId xmlns:a16="http://schemas.microsoft.com/office/drawing/2014/main" id="{EC324F81-D5B6-4579-8413-CEF6F9F34FA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701426F-C5B4-41E9-AE01-ADAD5E0F91C0}" type="slidenum">
              <a:rPr lang="zh-CN" altLang="en-US">
                <a:solidFill>
                  <a:srgbClr val="898989"/>
                </a:solidFill>
                <a:latin typeface="Calibri" panose="020F0502020204030204" pitchFamily="34" charset="0"/>
              </a:rPr>
              <a:pPr eaLnBrk="1" hangingPunct="1"/>
              <a:t>32</a:t>
            </a:fld>
            <a:endParaRPr lang="zh-CN" altLang="en-US">
              <a:solidFill>
                <a:srgbClr val="898989"/>
              </a:solidFill>
              <a:latin typeface="Calibri" panose="020F0502020204030204" pitchFamily="34" charset="0"/>
            </a:endParaRPr>
          </a:p>
        </p:txBody>
      </p:sp>
      <p:sp>
        <p:nvSpPr>
          <p:cNvPr id="14347" name="Text Box 4">
            <a:extLst>
              <a:ext uri="{FF2B5EF4-FFF2-40B4-BE49-F238E27FC236}">
                <a16:creationId xmlns:a16="http://schemas.microsoft.com/office/drawing/2014/main" id="{4A8C6411-D829-4A2A-8CEC-626D881ADB2A}"/>
              </a:ext>
            </a:extLst>
          </p:cNvPr>
          <p:cNvSpPr txBox="1">
            <a:spLocks noChangeArrowheads="1"/>
          </p:cNvSpPr>
          <p:nvPr/>
        </p:nvSpPr>
        <p:spPr bwMode="auto">
          <a:xfrm>
            <a:off x="1214438" y="2086124"/>
            <a:ext cx="72278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dirty="0">
                <a:solidFill>
                  <a:srgbClr val="000099"/>
                </a:solidFill>
                <a:latin typeface="楷体" panose="02010609060101010101" pitchFamily="49" charset="-122"/>
                <a:ea typeface="楷体" panose="02010609060101010101" pitchFamily="49" charset="-122"/>
              </a:rPr>
              <a:t>如果有             则称该信号是</a:t>
            </a:r>
            <a:r>
              <a:rPr lang="zh-CN" altLang="en-US" sz="2800" b="1" dirty="0">
                <a:solidFill>
                  <a:srgbClr val="990033"/>
                </a:solidFill>
                <a:latin typeface="楷体" panose="02010609060101010101" pitchFamily="49" charset="-122"/>
                <a:ea typeface="楷体" panose="02010609060101010101" pitchFamily="49" charset="-122"/>
              </a:rPr>
              <a:t>偶信号</a:t>
            </a:r>
            <a:r>
              <a:rPr lang="zh-CN" altLang="en-US" sz="2800" dirty="0">
                <a:solidFill>
                  <a:srgbClr val="000099"/>
                </a:solidFill>
                <a:latin typeface="楷体" panose="02010609060101010101" pitchFamily="49" charset="-122"/>
                <a:ea typeface="楷体" panose="02010609060101010101" pitchFamily="49" charset="-122"/>
              </a:rPr>
              <a:t>。</a:t>
            </a:r>
          </a:p>
        </p:txBody>
      </p:sp>
      <mc:AlternateContent xmlns:mc="http://schemas.openxmlformats.org/markup-compatibility/2006" xmlns:a14="http://schemas.microsoft.com/office/drawing/2010/main">
        <mc:Choice Requires="a14">
          <p:sp>
            <p:nvSpPr>
              <p:cNvPr id="14339" name="Object 3">
                <a:extLst>
                  <a:ext uri="{FF2B5EF4-FFF2-40B4-BE49-F238E27FC236}">
                    <a16:creationId xmlns:a16="http://schemas.microsoft.com/office/drawing/2014/main" id="{0C9FE6BF-F6E0-443F-BB0C-A1ACCB448ACA}"/>
                  </a:ext>
                </a:extLst>
              </p:cNvPr>
              <p:cNvSpPr txBox="1"/>
              <p:nvPr/>
            </p:nvSpPr>
            <p:spPr bwMode="auto">
              <a:xfrm>
                <a:off x="2536825" y="1844824"/>
                <a:ext cx="1963167" cy="50125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4339" name="Object 3">
                <a:extLst>
                  <a:ext uri="{FF2B5EF4-FFF2-40B4-BE49-F238E27FC236}">
                    <a16:creationId xmlns:a16="http://schemas.microsoft.com/office/drawing/2014/main" id="{0C9FE6BF-F6E0-443F-BB0C-A1ACCB448ACA}"/>
                  </a:ext>
                </a:extLst>
              </p:cNvPr>
              <p:cNvSpPr txBox="1">
                <a:spLocks noRot="1" noChangeAspect="1" noMove="1" noResize="1" noEditPoints="1" noAdjustHandles="1" noChangeArrowheads="1" noChangeShapeType="1" noTextEdit="1"/>
              </p:cNvSpPr>
              <p:nvPr/>
            </p:nvSpPr>
            <p:spPr bwMode="auto">
              <a:xfrm>
                <a:off x="2536825" y="1844824"/>
                <a:ext cx="1963167" cy="501253"/>
              </a:xfrm>
              <a:prstGeom prst="rect">
                <a:avLst/>
              </a:prstGeom>
              <a:blipFill>
                <a:blip r:embed="rId2"/>
                <a:stretch>
                  <a:fillRect r="-311" b="-10976"/>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340" name="Object 4">
                <a:extLst>
                  <a:ext uri="{FF2B5EF4-FFF2-40B4-BE49-F238E27FC236}">
                    <a16:creationId xmlns:a16="http://schemas.microsoft.com/office/drawing/2014/main" id="{21066B68-3500-4A4D-807E-8C34E0F8EA22}"/>
                  </a:ext>
                </a:extLst>
              </p:cNvPr>
              <p:cNvSpPr txBox="1"/>
              <p:nvPr/>
            </p:nvSpPr>
            <p:spPr bwMode="auto">
              <a:xfrm>
                <a:off x="2536824" y="2368001"/>
                <a:ext cx="1963167" cy="501253"/>
              </a:xfrm>
              <a:prstGeom prst="rect">
                <a:avLst/>
              </a:prstGeom>
              <a:noFill/>
              <a:ln>
                <a:noFill/>
              </a:ln>
              <a:effectLst/>
            </p:spPr>
            <p:txBody>
              <a:bodyPr>
                <a:normAutofit/>
              </a:bodyPr>
              <a:lstStyle/>
              <a:p>
                <a14:m>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oMath>
                </a14:m>
                <a:r>
                  <a:rPr lang="en-US" sz="2400" dirty="0"/>
                  <a:t>]</a:t>
                </a:r>
              </a:p>
            </p:txBody>
          </p:sp>
        </mc:Choice>
        <mc:Fallback xmlns="">
          <p:sp>
            <p:nvSpPr>
              <p:cNvPr id="14340" name="Object 4">
                <a:extLst>
                  <a:ext uri="{FF2B5EF4-FFF2-40B4-BE49-F238E27FC236}">
                    <a16:creationId xmlns:a16="http://schemas.microsoft.com/office/drawing/2014/main" id="{21066B68-3500-4A4D-807E-8C34E0F8EA22}"/>
                  </a:ext>
                </a:extLst>
              </p:cNvPr>
              <p:cNvSpPr txBox="1">
                <a:spLocks noRot="1" noChangeAspect="1" noMove="1" noResize="1" noEditPoints="1" noAdjustHandles="1" noChangeArrowheads="1" noChangeShapeType="1" noTextEdit="1"/>
              </p:cNvSpPr>
              <p:nvPr/>
            </p:nvSpPr>
            <p:spPr bwMode="auto">
              <a:xfrm>
                <a:off x="2536824" y="2368001"/>
                <a:ext cx="1963167" cy="501253"/>
              </a:xfrm>
              <a:prstGeom prst="rect">
                <a:avLst/>
              </a:prstGeom>
              <a:blipFill>
                <a:blip r:embed="rId3"/>
                <a:stretch>
                  <a:fillRect t="-8434" r="-2484" b="-19277"/>
                </a:stretch>
              </a:blipFill>
              <a:ln>
                <a:noFill/>
              </a:ln>
              <a:effectLst/>
            </p:spPr>
            <p:txBody>
              <a:bodyPr/>
              <a:lstStyle/>
              <a:p>
                <a:r>
                  <a:rPr lang="en-US">
                    <a:noFill/>
                  </a:rPr>
                  <a:t> </a:t>
                </a:r>
              </a:p>
            </p:txBody>
          </p:sp>
        </mc:Fallback>
      </mc:AlternateContent>
      <p:sp>
        <p:nvSpPr>
          <p:cNvPr id="18" name="Text Box 2">
            <a:extLst>
              <a:ext uri="{FF2B5EF4-FFF2-40B4-BE49-F238E27FC236}">
                <a16:creationId xmlns:a16="http://schemas.microsoft.com/office/drawing/2014/main" id="{DFC82B5C-8729-47E8-B8BC-89CB4397AEF2}"/>
              </a:ext>
            </a:extLst>
          </p:cNvPr>
          <p:cNvSpPr txBox="1">
            <a:spLocks noChangeArrowheads="1"/>
          </p:cNvSpPr>
          <p:nvPr/>
        </p:nvSpPr>
        <p:spPr bwMode="auto">
          <a:xfrm>
            <a:off x="1218788" y="3178625"/>
            <a:ext cx="71865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dirty="0">
                <a:solidFill>
                  <a:srgbClr val="000099"/>
                </a:solidFill>
                <a:latin typeface="楷体" panose="02010609060101010101" pitchFamily="49" charset="-122"/>
                <a:ea typeface="楷体" panose="02010609060101010101" pitchFamily="49" charset="-122"/>
              </a:rPr>
              <a:t>如果有             则称该信号为</a:t>
            </a:r>
            <a:r>
              <a:rPr lang="zh-CN" altLang="en-US" sz="2800" b="1" dirty="0">
                <a:solidFill>
                  <a:srgbClr val="990033"/>
                </a:solidFill>
                <a:latin typeface="楷体" panose="02010609060101010101" pitchFamily="49" charset="-122"/>
                <a:ea typeface="楷体" panose="02010609060101010101" pitchFamily="49" charset="-122"/>
              </a:rPr>
              <a:t>奇信号</a:t>
            </a:r>
            <a:r>
              <a:rPr lang="zh-CN" altLang="en-US" sz="2800" dirty="0">
                <a:solidFill>
                  <a:srgbClr val="000099"/>
                </a:solidFill>
                <a:latin typeface="楷体" panose="02010609060101010101" pitchFamily="49" charset="-122"/>
                <a:ea typeface="楷体" panose="02010609060101010101" pitchFamily="49" charset="-122"/>
              </a:rPr>
              <a:t>。</a:t>
            </a:r>
          </a:p>
        </p:txBody>
      </p:sp>
      <mc:AlternateContent xmlns:mc="http://schemas.openxmlformats.org/markup-compatibility/2006" xmlns:a14="http://schemas.microsoft.com/office/drawing/2010/main">
        <mc:Choice Requires="a14">
          <p:sp>
            <p:nvSpPr>
              <p:cNvPr id="19" name="Object 2">
                <a:extLst>
                  <a:ext uri="{FF2B5EF4-FFF2-40B4-BE49-F238E27FC236}">
                    <a16:creationId xmlns:a16="http://schemas.microsoft.com/office/drawing/2014/main" id="{10955A47-1900-4856-9AAD-166CAD745F17}"/>
                  </a:ext>
                </a:extLst>
              </p:cNvPr>
              <p:cNvSpPr txBox="1"/>
              <p:nvPr/>
            </p:nvSpPr>
            <p:spPr bwMode="auto">
              <a:xfrm>
                <a:off x="2536824" y="2977133"/>
                <a:ext cx="2181309" cy="5238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b="0" i="1">
                          <a:solidFill>
                            <a:srgbClr val="000000"/>
                          </a:solidFill>
                          <a:latin typeface="Cambria Math" panose="02040503050406030204" pitchFamily="18" charset="0"/>
                        </a:rPr>
                        <m:t>𝑥</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𝑥</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oMath>
                  </m:oMathPara>
                </a14:m>
                <a:endParaRPr lang="en-US" sz="2400" dirty="0"/>
              </a:p>
            </p:txBody>
          </p:sp>
        </mc:Choice>
        <mc:Fallback xmlns="">
          <p:sp>
            <p:nvSpPr>
              <p:cNvPr id="19" name="Object 2">
                <a:extLst>
                  <a:ext uri="{FF2B5EF4-FFF2-40B4-BE49-F238E27FC236}">
                    <a16:creationId xmlns:a16="http://schemas.microsoft.com/office/drawing/2014/main" id="{10955A47-1900-4856-9AAD-166CAD745F17}"/>
                  </a:ext>
                </a:extLst>
              </p:cNvPr>
              <p:cNvSpPr txBox="1">
                <a:spLocks noRot="1" noChangeAspect="1" noMove="1" noResize="1" noEditPoints="1" noAdjustHandles="1" noChangeArrowheads="1" noChangeShapeType="1" noTextEdit="1"/>
              </p:cNvSpPr>
              <p:nvPr/>
            </p:nvSpPr>
            <p:spPr bwMode="auto">
              <a:xfrm>
                <a:off x="2536824" y="2977133"/>
                <a:ext cx="2181309" cy="523875"/>
              </a:xfrm>
              <a:prstGeom prst="rect">
                <a:avLst/>
              </a:prstGeom>
              <a:blipFill>
                <a:blip r:embed="rId4"/>
                <a:stretch>
                  <a:fillRect r="-559" b="-5814"/>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Object 3">
                <a:extLst>
                  <a:ext uri="{FF2B5EF4-FFF2-40B4-BE49-F238E27FC236}">
                    <a16:creationId xmlns:a16="http://schemas.microsoft.com/office/drawing/2014/main" id="{CF4A39B4-FFF0-4877-9EF8-6C184DD53532}"/>
                  </a:ext>
                </a:extLst>
              </p:cNvPr>
              <p:cNvSpPr txBox="1"/>
              <p:nvPr/>
            </p:nvSpPr>
            <p:spPr bwMode="auto">
              <a:xfrm>
                <a:off x="2536824" y="3501008"/>
                <a:ext cx="2181309" cy="523875"/>
              </a:xfrm>
              <a:prstGeom prst="rect">
                <a:avLst/>
              </a:prstGeom>
              <a:noFill/>
              <a:ln>
                <a:noFill/>
              </a:ln>
              <a:effectLst/>
            </p:spPr>
            <p:txBody>
              <a:bodyPr>
                <a:normAutofit/>
              </a:bodyPr>
              <a:lstStyle/>
              <a:p>
                <a14:m>
                  <m:oMath xmlns:m="http://schemas.openxmlformats.org/officeDocument/2006/math">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oMath>
                </a14:m>
                <a:r>
                  <a:rPr lang="en-US" sz="2400" dirty="0"/>
                  <a:t>]</a:t>
                </a:r>
              </a:p>
            </p:txBody>
          </p:sp>
        </mc:Choice>
        <mc:Fallback xmlns="">
          <p:sp>
            <p:nvSpPr>
              <p:cNvPr id="20" name="Object 3">
                <a:extLst>
                  <a:ext uri="{FF2B5EF4-FFF2-40B4-BE49-F238E27FC236}">
                    <a16:creationId xmlns:a16="http://schemas.microsoft.com/office/drawing/2014/main" id="{CF4A39B4-FFF0-4877-9EF8-6C184DD53532}"/>
                  </a:ext>
                </a:extLst>
              </p:cNvPr>
              <p:cNvSpPr txBox="1">
                <a:spLocks noRot="1" noChangeAspect="1" noMove="1" noResize="1" noEditPoints="1" noAdjustHandles="1" noChangeArrowheads="1" noChangeShapeType="1" noTextEdit="1"/>
              </p:cNvSpPr>
              <p:nvPr/>
            </p:nvSpPr>
            <p:spPr bwMode="auto">
              <a:xfrm>
                <a:off x="2536824" y="3501008"/>
                <a:ext cx="2181309" cy="523875"/>
              </a:xfrm>
              <a:prstGeom prst="rect">
                <a:avLst/>
              </a:prstGeom>
              <a:blipFill>
                <a:blip r:embed="rId5"/>
                <a:stretch>
                  <a:fillRect t="-8140" r="-2514" b="-15116"/>
                </a:stretch>
              </a:blipFill>
              <a:ln>
                <a:noFill/>
              </a:ln>
              <a:effectLst/>
            </p:spPr>
            <p:txBody>
              <a:bodyPr/>
              <a:lstStyle/>
              <a:p>
                <a:r>
                  <a:rPr lang="en-US">
                    <a:noFill/>
                  </a:rPr>
                  <a:t> </a:t>
                </a:r>
              </a:p>
            </p:txBody>
          </p:sp>
        </mc:Fallback>
      </mc:AlternateContent>
      <p:pic>
        <p:nvPicPr>
          <p:cNvPr id="12" name="图片 11">
            <a:extLst>
              <a:ext uri="{FF2B5EF4-FFF2-40B4-BE49-F238E27FC236}">
                <a16:creationId xmlns:a16="http://schemas.microsoft.com/office/drawing/2014/main" id="{68B9750F-FA73-4C02-B44C-C2F46D0D9600}"/>
              </a:ext>
            </a:extLst>
          </p:cNvPr>
          <p:cNvPicPr>
            <a:picLocks noChangeAspect="1"/>
          </p:cNvPicPr>
          <p:nvPr/>
        </p:nvPicPr>
        <p:blipFill>
          <a:blip r:embed="rId6"/>
          <a:stretch>
            <a:fillRect/>
          </a:stretch>
        </p:blipFill>
        <p:spPr>
          <a:xfrm>
            <a:off x="1991335" y="4293096"/>
            <a:ext cx="5161330" cy="1724035"/>
          </a:xfrm>
          <a:prstGeom prst="rect">
            <a:avLst/>
          </a:prstGeom>
        </p:spPr>
      </p:pic>
      <p:sp>
        <p:nvSpPr>
          <p:cNvPr id="28" name="文本框 27">
            <a:extLst>
              <a:ext uri="{FF2B5EF4-FFF2-40B4-BE49-F238E27FC236}">
                <a16:creationId xmlns:a16="http://schemas.microsoft.com/office/drawing/2014/main" id="{C29BB861-380D-4562-ABD2-6B7DAE0D0352}"/>
              </a:ext>
            </a:extLst>
          </p:cNvPr>
          <p:cNvSpPr txBox="1"/>
          <p:nvPr/>
        </p:nvSpPr>
        <p:spPr>
          <a:xfrm>
            <a:off x="2699792" y="5998715"/>
            <a:ext cx="1131755" cy="461665"/>
          </a:xfrm>
          <a:prstGeom prst="rect">
            <a:avLst/>
          </a:prstGeom>
          <a:noFill/>
        </p:spPr>
        <p:txBody>
          <a:bodyPr wrap="square">
            <a:spAutoFit/>
          </a:bodyPr>
          <a:lstStyle/>
          <a:p>
            <a:pPr algn="ctr"/>
            <a:r>
              <a:rPr lang="zh-CN" altLang="en-US" sz="2400" dirty="0">
                <a:solidFill>
                  <a:srgbClr val="0000FF"/>
                </a:solidFill>
                <a:latin typeface="楷体" panose="02010609060101010101" pitchFamily="49" charset="-122"/>
                <a:ea typeface="楷体" panose="02010609060101010101" pitchFamily="49" charset="-122"/>
              </a:rPr>
              <a:t>偶信号</a:t>
            </a:r>
            <a:endParaRPr lang="en-US" sz="2400" dirty="0">
              <a:solidFill>
                <a:srgbClr val="0000FF"/>
              </a:solidFill>
            </a:endParaRPr>
          </a:p>
        </p:txBody>
      </p:sp>
      <p:sp>
        <p:nvSpPr>
          <p:cNvPr id="29" name="文本框 28">
            <a:extLst>
              <a:ext uri="{FF2B5EF4-FFF2-40B4-BE49-F238E27FC236}">
                <a16:creationId xmlns:a16="http://schemas.microsoft.com/office/drawing/2014/main" id="{58DE4320-7CD3-45A4-BCDB-B018D9B7E741}"/>
              </a:ext>
            </a:extLst>
          </p:cNvPr>
          <p:cNvSpPr txBox="1"/>
          <p:nvPr/>
        </p:nvSpPr>
        <p:spPr>
          <a:xfrm>
            <a:off x="5312455" y="5995733"/>
            <a:ext cx="1131755" cy="461665"/>
          </a:xfrm>
          <a:prstGeom prst="rect">
            <a:avLst/>
          </a:prstGeom>
          <a:noFill/>
        </p:spPr>
        <p:txBody>
          <a:bodyPr wrap="square">
            <a:spAutoFit/>
          </a:bodyPr>
          <a:lstStyle/>
          <a:p>
            <a:pPr algn="ctr"/>
            <a:r>
              <a:rPr lang="zh-CN" altLang="en-US" sz="2400" dirty="0">
                <a:solidFill>
                  <a:srgbClr val="0000FF"/>
                </a:solidFill>
                <a:latin typeface="楷体" panose="02010609060101010101" pitchFamily="49" charset="-122"/>
                <a:ea typeface="楷体" panose="02010609060101010101" pitchFamily="49" charset="-122"/>
              </a:rPr>
              <a:t>奇信号</a:t>
            </a:r>
            <a:endParaRPr lang="en-US" sz="2400" dirty="0">
              <a:solidFill>
                <a:srgbClr val="0000FF"/>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2" name="标题 1">
            <a:extLst>
              <a:ext uri="{FF2B5EF4-FFF2-40B4-BE49-F238E27FC236}">
                <a16:creationId xmlns:a16="http://schemas.microsoft.com/office/drawing/2014/main" id="{D598FADB-DC82-4B1C-8BCD-F5FF92F0ED85}"/>
              </a:ext>
            </a:extLst>
          </p:cNvPr>
          <p:cNvSpPr>
            <a:spLocks noGrp="1"/>
          </p:cNvSpPr>
          <p:nvPr>
            <p:ph type="title"/>
          </p:nvPr>
        </p:nvSpPr>
        <p:spPr/>
        <p:txBody>
          <a:bodyPr/>
          <a:lstStyle/>
          <a:p>
            <a:pPr eaLnBrk="1" hangingPunct="1"/>
            <a:r>
              <a:rPr lang="en-US" altLang="zh-CN"/>
              <a:t>1.2  </a:t>
            </a:r>
            <a:r>
              <a:rPr lang="zh-CN" altLang="en-US"/>
              <a:t>自变量变换</a:t>
            </a:r>
          </a:p>
        </p:txBody>
      </p:sp>
      <mc:AlternateContent xmlns:mc="http://schemas.openxmlformats.org/markup-compatibility/2006" xmlns:a14="http://schemas.microsoft.com/office/drawing/2010/main">
        <mc:Choice Requires="a14">
          <p:sp>
            <p:nvSpPr>
              <p:cNvPr id="16393" name="内容占位符 2">
                <a:extLst>
                  <a:ext uri="{FF2B5EF4-FFF2-40B4-BE49-F238E27FC236}">
                    <a16:creationId xmlns:a16="http://schemas.microsoft.com/office/drawing/2014/main" id="{97BB537E-FE3E-4119-AC87-A27B649B3778}"/>
                  </a:ext>
                </a:extLst>
              </p:cNvPr>
              <p:cNvSpPr>
                <a:spLocks noGrp="1"/>
              </p:cNvSpPr>
              <p:nvPr>
                <p:ph idx="1"/>
              </p:nvPr>
            </p:nvSpPr>
            <p:spPr>
              <a:xfrm>
                <a:off x="457200" y="1285875"/>
                <a:ext cx="8229600" cy="954107"/>
              </a:xfrm>
            </p:spPr>
            <p:txBody>
              <a:bodyPr>
                <a:spAutoFit/>
              </a:bodyPr>
              <a:lstStyle/>
              <a:p>
                <a:pPr eaLnBrk="1" hangingPunct="1"/>
                <a:r>
                  <a:rPr lang="zh-CN" altLang="en-US" sz="2800" b="0" dirty="0"/>
                  <a:t>任何信号都能分解成一个偶信号</a:t>
                </a: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𝑒</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lang="zh-CN" altLang="en-US" sz="2800" b="0" dirty="0"/>
                  <a:t>或</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𝑒</m:t>
                        </m:r>
                      </m:sub>
                    </m:sSub>
                    <m:r>
                      <a:rPr lang="en-US" sz="2800" b="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a:solidFill>
                          <a:srgbClr val="000000"/>
                        </a:solidFill>
                        <a:latin typeface="Cambria Math" panose="02040503050406030204" pitchFamily="18" charset="0"/>
                      </a:rPr>
                      <m:t>]</m:t>
                    </m:r>
                  </m:oMath>
                </a14:m>
                <a:r>
                  <a:rPr lang="zh-CN" altLang="en-US" sz="2800" b="0" dirty="0"/>
                  <a:t>与一个奇信号</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𝑜</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lang="zh-CN" altLang="en-US" sz="2800" b="0" dirty="0"/>
                  <a:t>或</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𝑜</m:t>
                        </m:r>
                      </m:sub>
                    </m:sSub>
                    <m:r>
                      <a:rPr lang="en-US" sz="2800" b="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a:solidFill>
                          <a:srgbClr val="000000"/>
                        </a:solidFill>
                        <a:latin typeface="Cambria Math" panose="02040503050406030204" pitchFamily="18" charset="0"/>
                      </a:rPr>
                      <m:t>]</m:t>
                    </m:r>
                  </m:oMath>
                </a14:m>
                <a:r>
                  <a:rPr lang="zh-CN" altLang="en-US" sz="2800" b="0" dirty="0"/>
                  <a:t>之和：</a:t>
                </a:r>
              </a:p>
            </p:txBody>
          </p:sp>
        </mc:Choice>
        <mc:Fallback xmlns="">
          <p:sp>
            <p:nvSpPr>
              <p:cNvPr id="16393" name="内容占位符 2">
                <a:extLst>
                  <a:ext uri="{FF2B5EF4-FFF2-40B4-BE49-F238E27FC236}">
                    <a16:creationId xmlns:a16="http://schemas.microsoft.com/office/drawing/2014/main" id="{97BB537E-FE3E-4119-AC87-A27B649B3778}"/>
                  </a:ext>
                </a:extLst>
              </p:cNvPr>
              <p:cNvSpPr>
                <a:spLocks noGrp="1" noRot="1" noChangeAspect="1" noMove="1" noResize="1" noEditPoints="1" noAdjustHandles="1" noChangeArrowheads="1" noChangeShapeType="1" noTextEdit="1"/>
              </p:cNvSpPr>
              <p:nvPr>
                <p:ph idx="1"/>
              </p:nvPr>
            </p:nvSpPr>
            <p:spPr>
              <a:xfrm>
                <a:off x="457200" y="1285875"/>
                <a:ext cx="8229600" cy="954107"/>
              </a:xfrm>
              <a:blipFill>
                <a:blip r:embed="rId2"/>
                <a:stretch>
                  <a:fillRect l="-1333" t="-8333" r="-815" b="-15385"/>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6EBD0CAA-EBE0-472A-BCE2-997888236D8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39A0E57-16A7-4D9B-AF8B-C4007302FA38}" type="slidenum">
              <a:rPr lang="zh-CN" altLang="en-US">
                <a:solidFill>
                  <a:srgbClr val="898989"/>
                </a:solidFill>
                <a:latin typeface="Calibri" panose="020F0502020204030204" pitchFamily="34" charset="0"/>
              </a:rPr>
              <a:pPr eaLnBrk="1" hangingPunct="1"/>
              <a:t>33</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6386" name="Object 2">
                <a:extLst>
                  <a:ext uri="{FF2B5EF4-FFF2-40B4-BE49-F238E27FC236}">
                    <a16:creationId xmlns:a16="http://schemas.microsoft.com/office/drawing/2014/main" id="{98D1AFF6-0813-4355-86B2-4C518FFC8F2B}"/>
                  </a:ext>
                </a:extLst>
              </p:cNvPr>
              <p:cNvSpPr txBox="1"/>
              <p:nvPr/>
            </p:nvSpPr>
            <p:spPr bwMode="auto">
              <a:xfrm>
                <a:off x="900609" y="2348880"/>
                <a:ext cx="3311525" cy="5556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𝑒</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𝑜</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6386" name="Object 2">
                <a:extLst>
                  <a:ext uri="{FF2B5EF4-FFF2-40B4-BE49-F238E27FC236}">
                    <a16:creationId xmlns:a16="http://schemas.microsoft.com/office/drawing/2014/main" id="{98D1AFF6-0813-4355-86B2-4C518FFC8F2B}"/>
                  </a:ext>
                </a:extLst>
              </p:cNvPr>
              <p:cNvSpPr txBox="1">
                <a:spLocks noRot="1" noChangeAspect="1" noMove="1" noResize="1" noEditPoints="1" noAdjustHandles="1" noChangeArrowheads="1" noChangeShapeType="1" noTextEdit="1"/>
              </p:cNvSpPr>
              <p:nvPr/>
            </p:nvSpPr>
            <p:spPr bwMode="auto">
              <a:xfrm>
                <a:off x="900609" y="2348880"/>
                <a:ext cx="3311525" cy="555625"/>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87" name="Object 3">
                <a:extLst>
                  <a:ext uri="{FF2B5EF4-FFF2-40B4-BE49-F238E27FC236}">
                    <a16:creationId xmlns:a16="http://schemas.microsoft.com/office/drawing/2014/main" id="{19081645-64CD-4729-A45F-E65E0BC2A29E}"/>
                  </a:ext>
                </a:extLst>
              </p:cNvPr>
              <p:cNvSpPr txBox="1"/>
              <p:nvPr/>
            </p:nvSpPr>
            <p:spPr bwMode="auto">
              <a:xfrm>
                <a:off x="900608" y="3104530"/>
                <a:ext cx="7847855" cy="9429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𝑒</m:t>
                          </m:r>
                        </m:sub>
                      </m:sSub>
                      <m:d>
                        <m:dPr>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𝑡</m:t>
                          </m:r>
                        </m:e>
                      </m:d>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2</m:t>
                          </m:r>
                        </m:den>
                      </m:f>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𝑥</m:t>
                          </m:r>
                          <m:d>
                            <m:dPr>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𝑡</m:t>
                              </m:r>
                            </m:e>
                          </m:d>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d>
                            <m:dPr>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e>
                          </m:d>
                        </m:e>
                      </m:d>
                      <m:r>
                        <a:rPr lang="en-US" sz="2800" b="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𝑜</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2</m:t>
                          </m:r>
                        </m:den>
                      </m:f>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6387" name="Object 3">
                <a:extLst>
                  <a:ext uri="{FF2B5EF4-FFF2-40B4-BE49-F238E27FC236}">
                    <a16:creationId xmlns:a16="http://schemas.microsoft.com/office/drawing/2014/main" id="{19081645-64CD-4729-A45F-E65E0BC2A29E}"/>
                  </a:ext>
                </a:extLst>
              </p:cNvPr>
              <p:cNvSpPr txBox="1">
                <a:spLocks noRot="1" noChangeAspect="1" noMove="1" noResize="1" noEditPoints="1" noAdjustHandles="1" noChangeArrowheads="1" noChangeShapeType="1" noTextEdit="1"/>
              </p:cNvSpPr>
              <p:nvPr/>
            </p:nvSpPr>
            <p:spPr bwMode="auto">
              <a:xfrm>
                <a:off x="900608" y="3104530"/>
                <a:ext cx="7847855" cy="942975"/>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89" name="Object 5">
                <a:extLst>
                  <a:ext uri="{FF2B5EF4-FFF2-40B4-BE49-F238E27FC236}">
                    <a16:creationId xmlns:a16="http://schemas.microsoft.com/office/drawing/2014/main" id="{562CAFF1-3BAF-4CA9-AB47-2DEFFA5A64A8}"/>
                  </a:ext>
                </a:extLst>
              </p:cNvPr>
              <p:cNvSpPr txBox="1"/>
              <p:nvPr/>
            </p:nvSpPr>
            <p:spPr bwMode="auto">
              <a:xfrm>
                <a:off x="827584" y="4293567"/>
                <a:ext cx="3384550" cy="6270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𝑒</m:t>
                          </m:r>
                        </m:sub>
                      </m:sSub>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𝑜</m:t>
                          </m:r>
                        </m:sub>
                      </m:sSub>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16389" name="Object 5">
                <a:extLst>
                  <a:ext uri="{FF2B5EF4-FFF2-40B4-BE49-F238E27FC236}">
                    <a16:creationId xmlns:a16="http://schemas.microsoft.com/office/drawing/2014/main" id="{562CAFF1-3BAF-4CA9-AB47-2DEFFA5A64A8}"/>
                  </a:ext>
                </a:extLst>
              </p:cNvPr>
              <p:cNvSpPr txBox="1">
                <a:spLocks noRot="1" noChangeAspect="1" noMove="1" noResize="1" noEditPoints="1" noAdjustHandles="1" noChangeArrowheads="1" noChangeShapeType="1" noTextEdit="1"/>
              </p:cNvSpPr>
              <p:nvPr/>
            </p:nvSpPr>
            <p:spPr bwMode="auto">
              <a:xfrm>
                <a:off x="827584" y="4293567"/>
                <a:ext cx="3384550" cy="627063"/>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90" name="Object 6">
                <a:extLst>
                  <a:ext uri="{FF2B5EF4-FFF2-40B4-BE49-F238E27FC236}">
                    <a16:creationId xmlns:a16="http://schemas.microsoft.com/office/drawing/2014/main" id="{C98C8D3E-F114-4167-B53C-A102BBEA37E3}"/>
                  </a:ext>
                </a:extLst>
              </p:cNvPr>
              <p:cNvSpPr txBox="1"/>
              <p:nvPr/>
            </p:nvSpPr>
            <p:spPr bwMode="auto">
              <a:xfrm>
                <a:off x="899839" y="5099844"/>
                <a:ext cx="7920633" cy="9445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𝑒</m:t>
                          </m:r>
                        </m:sub>
                      </m:sSub>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2</m:t>
                          </m:r>
                        </m:den>
                      </m:f>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𝑥</m:t>
                          </m:r>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𝑛</m:t>
                              </m:r>
                            </m:e>
                          </m:d>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d>
                            <m:dPr>
                              <m:begChr m:val="["/>
                              <m:endChr m:val="]"/>
                              <m:ctrlPr>
                                <a:rPr lang="en-US" sz="2800" i="1">
                                  <a:solidFill>
                                    <a:srgbClr val="000000"/>
                                  </a:solidFill>
                                  <a:latin typeface="Cambria Math" panose="02040503050406030204" pitchFamily="18" charset="0"/>
                                </a:rPr>
                              </m:ctrlPr>
                            </m:dPr>
                            <m:e>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e>
                          </m:d>
                        </m:e>
                      </m:d>
                      <m:r>
                        <a:rPr lang="en-US" sz="2800" b="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𝑜</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2</m:t>
                          </m:r>
                        </m:den>
                      </m:f>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6390" name="Object 6">
                <a:extLst>
                  <a:ext uri="{FF2B5EF4-FFF2-40B4-BE49-F238E27FC236}">
                    <a16:creationId xmlns:a16="http://schemas.microsoft.com/office/drawing/2014/main" id="{C98C8D3E-F114-4167-B53C-A102BBEA37E3}"/>
                  </a:ext>
                </a:extLst>
              </p:cNvPr>
              <p:cNvSpPr txBox="1">
                <a:spLocks noRot="1" noChangeAspect="1" noMove="1" noResize="1" noEditPoints="1" noAdjustHandles="1" noChangeArrowheads="1" noChangeShapeType="1" noTextEdit="1"/>
              </p:cNvSpPr>
              <p:nvPr/>
            </p:nvSpPr>
            <p:spPr bwMode="auto">
              <a:xfrm>
                <a:off x="899839" y="5099844"/>
                <a:ext cx="7920633" cy="944562"/>
              </a:xfrm>
              <a:prstGeom prst="rect">
                <a:avLst/>
              </a:prstGeom>
              <a:blipFill>
                <a:blip r:embed="rId6"/>
                <a:stretch>
                  <a:fillRect/>
                </a:stretch>
              </a:blipFill>
              <a:ln>
                <a:noFill/>
              </a:ln>
              <a:effectLst/>
            </p:spPr>
            <p:txBody>
              <a:bodyPr/>
              <a:lstStyle/>
              <a:p>
                <a:r>
                  <a:rPr lang="en-US">
                    <a:noFill/>
                  </a:rPr>
                  <a:t> </a:t>
                </a:r>
              </a:p>
            </p:txBody>
          </p:sp>
        </mc:Fallback>
      </mc:AlternateContent>
      <p:sp>
        <p:nvSpPr>
          <p:cNvPr id="16395" name="Rectangle 10">
            <a:extLst>
              <a:ext uri="{FF2B5EF4-FFF2-40B4-BE49-F238E27FC236}">
                <a16:creationId xmlns:a16="http://schemas.microsoft.com/office/drawing/2014/main" id="{F861E56E-125A-45BD-9894-E8D1539D2D21}"/>
              </a:ext>
            </a:extLst>
          </p:cNvPr>
          <p:cNvSpPr>
            <a:spLocks noChangeArrowheads="1"/>
          </p:cNvSpPr>
          <p:nvPr/>
        </p:nvSpPr>
        <p:spPr bwMode="auto">
          <a:xfrm>
            <a:off x="4105771" y="2346125"/>
            <a:ext cx="898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dirty="0">
                <a:solidFill>
                  <a:srgbClr val="000099"/>
                </a:solidFill>
                <a:latin typeface="楷体" panose="02010609060101010101" pitchFamily="49" charset="-122"/>
                <a:ea typeface="楷体" panose="02010609060101010101" pitchFamily="49" charset="-122"/>
              </a:rPr>
              <a:t>其中</a:t>
            </a:r>
          </a:p>
        </p:txBody>
      </p:sp>
      <p:sp>
        <p:nvSpPr>
          <p:cNvPr id="16396" name="Rectangle 11">
            <a:extLst>
              <a:ext uri="{FF2B5EF4-FFF2-40B4-BE49-F238E27FC236}">
                <a16:creationId xmlns:a16="http://schemas.microsoft.com/office/drawing/2014/main" id="{CC4BE5E1-A538-4FDB-9061-80BBFDF43283}"/>
              </a:ext>
            </a:extLst>
          </p:cNvPr>
          <p:cNvSpPr>
            <a:spLocks noChangeArrowheads="1"/>
          </p:cNvSpPr>
          <p:nvPr/>
        </p:nvSpPr>
        <p:spPr bwMode="auto">
          <a:xfrm>
            <a:off x="4105770" y="4295501"/>
            <a:ext cx="898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dirty="0">
                <a:solidFill>
                  <a:srgbClr val="000099"/>
                </a:solidFill>
                <a:latin typeface="楷体" panose="02010609060101010101" pitchFamily="49" charset="-122"/>
                <a:ea typeface="楷体" panose="02010609060101010101" pitchFamily="49" charset="-122"/>
              </a:rPr>
              <a:t>其中</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4" name="标题 1">
            <a:extLst>
              <a:ext uri="{FF2B5EF4-FFF2-40B4-BE49-F238E27FC236}">
                <a16:creationId xmlns:a16="http://schemas.microsoft.com/office/drawing/2014/main" id="{6F5CE4E7-8991-403B-9795-47FC78659A81}"/>
              </a:ext>
            </a:extLst>
          </p:cNvPr>
          <p:cNvSpPr>
            <a:spLocks noGrp="1"/>
          </p:cNvSpPr>
          <p:nvPr>
            <p:ph type="title"/>
          </p:nvPr>
        </p:nvSpPr>
        <p:spPr/>
        <p:txBody>
          <a:bodyPr/>
          <a:lstStyle/>
          <a:p>
            <a:pPr eaLnBrk="1" hangingPunct="1"/>
            <a:r>
              <a:rPr lang="en-US" altLang="zh-CN"/>
              <a:t>1.2  </a:t>
            </a:r>
            <a:r>
              <a:rPr lang="zh-CN" altLang="en-US"/>
              <a:t>自变量变换</a:t>
            </a:r>
          </a:p>
        </p:txBody>
      </p:sp>
      <p:sp>
        <p:nvSpPr>
          <p:cNvPr id="4" name="灯片编号占位符 3">
            <a:extLst>
              <a:ext uri="{FF2B5EF4-FFF2-40B4-BE49-F238E27FC236}">
                <a16:creationId xmlns:a16="http://schemas.microsoft.com/office/drawing/2014/main" id="{566B4D0A-246F-40EF-B1DE-B57CED68407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9AAB73D-06ED-4FDB-89C2-0FA956677354}" type="slidenum">
              <a:rPr lang="zh-CN" altLang="en-US">
                <a:solidFill>
                  <a:srgbClr val="898989"/>
                </a:solidFill>
                <a:latin typeface="Calibri" panose="020F0502020204030204" pitchFamily="34" charset="0"/>
              </a:rPr>
              <a:pPr eaLnBrk="1" hangingPunct="1"/>
              <a:t>34</a:t>
            </a:fld>
            <a:endParaRPr lang="zh-CN" altLang="en-US">
              <a:solidFill>
                <a:srgbClr val="898989"/>
              </a:solidFill>
              <a:latin typeface="Calibri" panose="020F0502020204030204" pitchFamily="34" charset="0"/>
            </a:endParaRPr>
          </a:p>
        </p:txBody>
      </p:sp>
      <p:grpSp>
        <p:nvGrpSpPr>
          <p:cNvPr id="17429" name="Group 11">
            <a:extLst>
              <a:ext uri="{FF2B5EF4-FFF2-40B4-BE49-F238E27FC236}">
                <a16:creationId xmlns:a16="http://schemas.microsoft.com/office/drawing/2014/main" id="{EA36F1EF-F91D-48C6-A913-5201D967AB54}"/>
              </a:ext>
            </a:extLst>
          </p:cNvPr>
          <p:cNvGrpSpPr>
            <a:grpSpLocks/>
          </p:cNvGrpSpPr>
          <p:nvPr/>
        </p:nvGrpSpPr>
        <p:grpSpPr bwMode="auto">
          <a:xfrm>
            <a:off x="646770" y="1289797"/>
            <a:ext cx="8077200" cy="1758950"/>
            <a:chOff x="576" y="2784"/>
            <a:chExt cx="5088" cy="1108"/>
          </a:xfrm>
        </p:grpSpPr>
        <p:sp>
          <p:nvSpPr>
            <p:cNvPr id="17431" name="Line 12">
              <a:extLst>
                <a:ext uri="{FF2B5EF4-FFF2-40B4-BE49-F238E27FC236}">
                  <a16:creationId xmlns:a16="http://schemas.microsoft.com/office/drawing/2014/main" id="{B3617B43-B8A5-49AF-9039-D0100EF33021}"/>
                </a:ext>
              </a:extLst>
            </p:cNvPr>
            <p:cNvSpPr>
              <a:spLocks noChangeShapeType="1"/>
            </p:cNvSpPr>
            <p:nvPr/>
          </p:nvSpPr>
          <p:spPr bwMode="auto">
            <a:xfrm flipV="1">
              <a:off x="576" y="3636"/>
              <a:ext cx="139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32" name="Line 13">
              <a:extLst>
                <a:ext uri="{FF2B5EF4-FFF2-40B4-BE49-F238E27FC236}">
                  <a16:creationId xmlns:a16="http://schemas.microsoft.com/office/drawing/2014/main" id="{04AEEF0F-1B34-45A1-AD7D-5B7B63B91099}"/>
                </a:ext>
              </a:extLst>
            </p:cNvPr>
            <p:cNvSpPr>
              <a:spLocks noChangeShapeType="1"/>
            </p:cNvSpPr>
            <p:nvPr/>
          </p:nvSpPr>
          <p:spPr bwMode="auto">
            <a:xfrm flipV="1">
              <a:off x="1297" y="2912"/>
              <a:ext cx="0" cy="9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33" name="Line 14">
              <a:extLst>
                <a:ext uri="{FF2B5EF4-FFF2-40B4-BE49-F238E27FC236}">
                  <a16:creationId xmlns:a16="http://schemas.microsoft.com/office/drawing/2014/main" id="{8A248F82-58C1-4FA3-9DA1-C045A833F27B}"/>
                </a:ext>
              </a:extLst>
            </p:cNvPr>
            <p:cNvSpPr>
              <a:spLocks noChangeShapeType="1"/>
            </p:cNvSpPr>
            <p:nvPr/>
          </p:nvSpPr>
          <p:spPr bwMode="auto">
            <a:xfrm flipV="1">
              <a:off x="788" y="3423"/>
              <a:ext cx="0" cy="2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4" name="Line 15">
              <a:extLst>
                <a:ext uri="{FF2B5EF4-FFF2-40B4-BE49-F238E27FC236}">
                  <a16:creationId xmlns:a16="http://schemas.microsoft.com/office/drawing/2014/main" id="{C5027148-7EE6-48EC-9527-318D60832862}"/>
                </a:ext>
              </a:extLst>
            </p:cNvPr>
            <p:cNvSpPr>
              <a:spLocks noChangeShapeType="1"/>
            </p:cNvSpPr>
            <p:nvPr/>
          </p:nvSpPr>
          <p:spPr bwMode="auto">
            <a:xfrm>
              <a:off x="788" y="3423"/>
              <a:ext cx="25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5" name="Line 16">
              <a:extLst>
                <a:ext uri="{FF2B5EF4-FFF2-40B4-BE49-F238E27FC236}">
                  <a16:creationId xmlns:a16="http://schemas.microsoft.com/office/drawing/2014/main" id="{517364FE-78D1-4082-A5CD-96A4C3486154}"/>
                </a:ext>
              </a:extLst>
            </p:cNvPr>
            <p:cNvSpPr>
              <a:spLocks noChangeShapeType="1"/>
            </p:cNvSpPr>
            <p:nvPr/>
          </p:nvSpPr>
          <p:spPr bwMode="auto">
            <a:xfrm>
              <a:off x="1042" y="3423"/>
              <a:ext cx="0" cy="2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6" name="Line 17">
              <a:extLst>
                <a:ext uri="{FF2B5EF4-FFF2-40B4-BE49-F238E27FC236}">
                  <a16:creationId xmlns:a16="http://schemas.microsoft.com/office/drawing/2014/main" id="{38B1EF16-5B13-4300-8A4F-289974237B3F}"/>
                </a:ext>
              </a:extLst>
            </p:cNvPr>
            <p:cNvSpPr>
              <a:spLocks noChangeShapeType="1"/>
            </p:cNvSpPr>
            <p:nvPr/>
          </p:nvSpPr>
          <p:spPr bwMode="auto">
            <a:xfrm flipV="1">
              <a:off x="1806" y="3423"/>
              <a:ext cx="0" cy="2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7" name="Line 18">
              <a:extLst>
                <a:ext uri="{FF2B5EF4-FFF2-40B4-BE49-F238E27FC236}">
                  <a16:creationId xmlns:a16="http://schemas.microsoft.com/office/drawing/2014/main" id="{99236D9B-1C13-40B4-8183-D2FCA4861591}"/>
                </a:ext>
              </a:extLst>
            </p:cNvPr>
            <p:cNvSpPr>
              <a:spLocks noChangeShapeType="1"/>
            </p:cNvSpPr>
            <p:nvPr/>
          </p:nvSpPr>
          <p:spPr bwMode="auto">
            <a:xfrm flipH="1">
              <a:off x="1551" y="3423"/>
              <a:ext cx="25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8" name="Line 19">
              <a:extLst>
                <a:ext uri="{FF2B5EF4-FFF2-40B4-BE49-F238E27FC236}">
                  <a16:creationId xmlns:a16="http://schemas.microsoft.com/office/drawing/2014/main" id="{DFE32AA5-59BE-4041-889D-481955BAD69F}"/>
                </a:ext>
              </a:extLst>
            </p:cNvPr>
            <p:cNvSpPr>
              <a:spLocks noChangeShapeType="1"/>
            </p:cNvSpPr>
            <p:nvPr/>
          </p:nvSpPr>
          <p:spPr bwMode="auto">
            <a:xfrm flipV="1">
              <a:off x="1551" y="3211"/>
              <a:ext cx="0" cy="2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9" name="Line 20">
              <a:extLst>
                <a:ext uri="{FF2B5EF4-FFF2-40B4-BE49-F238E27FC236}">
                  <a16:creationId xmlns:a16="http://schemas.microsoft.com/office/drawing/2014/main" id="{33B2309F-2D62-45F7-BE29-74F51CD1C677}"/>
                </a:ext>
              </a:extLst>
            </p:cNvPr>
            <p:cNvSpPr>
              <a:spLocks noChangeShapeType="1"/>
            </p:cNvSpPr>
            <p:nvPr/>
          </p:nvSpPr>
          <p:spPr bwMode="auto">
            <a:xfrm flipV="1">
              <a:off x="1042" y="3211"/>
              <a:ext cx="509" cy="4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0" name="Line 21">
              <a:extLst>
                <a:ext uri="{FF2B5EF4-FFF2-40B4-BE49-F238E27FC236}">
                  <a16:creationId xmlns:a16="http://schemas.microsoft.com/office/drawing/2014/main" id="{79B1990D-EC1A-4AF3-93FE-B33C5ED0A957}"/>
                </a:ext>
              </a:extLst>
            </p:cNvPr>
            <p:cNvSpPr>
              <a:spLocks noChangeShapeType="1"/>
            </p:cNvSpPr>
            <p:nvPr/>
          </p:nvSpPr>
          <p:spPr bwMode="auto">
            <a:xfrm flipH="1">
              <a:off x="1297" y="3211"/>
              <a:ext cx="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1" name="Line 22">
              <a:extLst>
                <a:ext uri="{FF2B5EF4-FFF2-40B4-BE49-F238E27FC236}">
                  <a16:creationId xmlns:a16="http://schemas.microsoft.com/office/drawing/2014/main" id="{931B46DF-094C-492F-A381-A1015EC2C499}"/>
                </a:ext>
              </a:extLst>
            </p:cNvPr>
            <p:cNvSpPr>
              <a:spLocks noChangeShapeType="1"/>
            </p:cNvSpPr>
            <p:nvPr/>
          </p:nvSpPr>
          <p:spPr bwMode="auto">
            <a:xfrm flipH="1">
              <a:off x="1297" y="3423"/>
              <a:ext cx="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2" name="Text Box 23">
              <a:extLst>
                <a:ext uri="{FF2B5EF4-FFF2-40B4-BE49-F238E27FC236}">
                  <a16:creationId xmlns:a16="http://schemas.microsoft.com/office/drawing/2014/main" id="{F8084984-C576-4BD6-BF56-4D02FE1F1FAF}"/>
                </a:ext>
              </a:extLst>
            </p:cNvPr>
            <p:cNvSpPr txBox="1">
              <a:spLocks noChangeArrowheads="1"/>
            </p:cNvSpPr>
            <p:nvPr/>
          </p:nvSpPr>
          <p:spPr bwMode="auto">
            <a:xfrm>
              <a:off x="1128" y="3583"/>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0</a:t>
              </a:r>
            </a:p>
          </p:txBody>
        </p:sp>
        <p:sp>
          <p:nvSpPr>
            <p:cNvPr id="17443" name="Text Box 24">
              <a:extLst>
                <a:ext uri="{FF2B5EF4-FFF2-40B4-BE49-F238E27FC236}">
                  <a16:creationId xmlns:a16="http://schemas.microsoft.com/office/drawing/2014/main" id="{94AE6642-6D16-4368-BABD-AEDF6F2D7A67}"/>
                </a:ext>
              </a:extLst>
            </p:cNvPr>
            <p:cNvSpPr txBox="1">
              <a:spLocks noChangeArrowheads="1"/>
            </p:cNvSpPr>
            <p:nvPr/>
          </p:nvSpPr>
          <p:spPr bwMode="auto">
            <a:xfrm>
              <a:off x="902" y="3582"/>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sp>
          <p:nvSpPr>
            <p:cNvPr id="17444" name="Text Box 25">
              <a:extLst>
                <a:ext uri="{FF2B5EF4-FFF2-40B4-BE49-F238E27FC236}">
                  <a16:creationId xmlns:a16="http://schemas.microsoft.com/office/drawing/2014/main" id="{09C9CB3F-1181-44F5-A2E4-46ACE9183BAA}"/>
                </a:ext>
              </a:extLst>
            </p:cNvPr>
            <p:cNvSpPr txBox="1">
              <a:spLocks noChangeArrowheads="1"/>
            </p:cNvSpPr>
            <p:nvPr/>
          </p:nvSpPr>
          <p:spPr bwMode="auto">
            <a:xfrm>
              <a:off x="661" y="3595"/>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-2</a:t>
              </a:r>
            </a:p>
          </p:txBody>
        </p:sp>
        <p:sp>
          <p:nvSpPr>
            <p:cNvPr id="17445" name="Text Box 26">
              <a:extLst>
                <a:ext uri="{FF2B5EF4-FFF2-40B4-BE49-F238E27FC236}">
                  <a16:creationId xmlns:a16="http://schemas.microsoft.com/office/drawing/2014/main" id="{BD23D9B9-7C75-433E-B799-ECF3A0242441}"/>
                </a:ext>
              </a:extLst>
            </p:cNvPr>
            <p:cNvSpPr txBox="1">
              <a:spLocks noChangeArrowheads="1"/>
            </p:cNvSpPr>
            <p:nvPr/>
          </p:nvSpPr>
          <p:spPr bwMode="auto">
            <a:xfrm>
              <a:off x="1128" y="3253"/>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sp>
          <p:nvSpPr>
            <p:cNvPr id="17446" name="Text Box 27">
              <a:extLst>
                <a:ext uri="{FF2B5EF4-FFF2-40B4-BE49-F238E27FC236}">
                  <a16:creationId xmlns:a16="http://schemas.microsoft.com/office/drawing/2014/main" id="{47C76C50-4E0F-43A4-B837-D58A96E63EB5}"/>
                </a:ext>
              </a:extLst>
            </p:cNvPr>
            <p:cNvSpPr txBox="1">
              <a:spLocks noChangeArrowheads="1"/>
            </p:cNvSpPr>
            <p:nvPr/>
          </p:nvSpPr>
          <p:spPr bwMode="auto">
            <a:xfrm>
              <a:off x="1115" y="302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2</a:t>
              </a:r>
            </a:p>
          </p:txBody>
        </p:sp>
        <p:sp>
          <p:nvSpPr>
            <p:cNvPr id="17447" name="Line 28">
              <a:extLst>
                <a:ext uri="{FF2B5EF4-FFF2-40B4-BE49-F238E27FC236}">
                  <a16:creationId xmlns:a16="http://schemas.microsoft.com/office/drawing/2014/main" id="{849D552E-6A98-405D-9FF1-83C041380D74}"/>
                </a:ext>
              </a:extLst>
            </p:cNvPr>
            <p:cNvSpPr>
              <a:spLocks noChangeShapeType="1"/>
            </p:cNvSpPr>
            <p:nvPr/>
          </p:nvSpPr>
          <p:spPr bwMode="auto">
            <a:xfrm>
              <a:off x="1551" y="3594"/>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8" name="Text Box 29">
              <a:extLst>
                <a:ext uri="{FF2B5EF4-FFF2-40B4-BE49-F238E27FC236}">
                  <a16:creationId xmlns:a16="http://schemas.microsoft.com/office/drawing/2014/main" id="{C26A5596-FEA9-4E61-A06D-3A811E045D03}"/>
                </a:ext>
              </a:extLst>
            </p:cNvPr>
            <p:cNvSpPr txBox="1">
              <a:spLocks noChangeArrowheads="1"/>
            </p:cNvSpPr>
            <p:nvPr/>
          </p:nvSpPr>
          <p:spPr bwMode="auto">
            <a:xfrm>
              <a:off x="1466" y="3595"/>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sp>
          <p:nvSpPr>
            <p:cNvPr id="17449" name="Text Box 30">
              <a:extLst>
                <a:ext uri="{FF2B5EF4-FFF2-40B4-BE49-F238E27FC236}">
                  <a16:creationId xmlns:a16="http://schemas.microsoft.com/office/drawing/2014/main" id="{EF78F442-41DC-406F-9E23-42B238FE3A0F}"/>
                </a:ext>
              </a:extLst>
            </p:cNvPr>
            <p:cNvSpPr txBox="1">
              <a:spLocks noChangeArrowheads="1"/>
            </p:cNvSpPr>
            <p:nvPr/>
          </p:nvSpPr>
          <p:spPr bwMode="auto">
            <a:xfrm>
              <a:off x="1709" y="3582"/>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2</a:t>
              </a:r>
            </a:p>
          </p:txBody>
        </p:sp>
        <p:graphicFrame>
          <p:nvGraphicFramePr>
            <p:cNvPr id="17416" name="Object 8">
              <a:extLst>
                <a:ext uri="{FF2B5EF4-FFF2-40B4-BE49-F238E27FC236}">
                  <a16:creationId xmlns:a16="http://schemas.microsoft.com/office/drawing/2014/main" id="{EFE80785-325E-4234-BA5E-117AC68B7951}"/>
                </a:ext>
              </a:extLst>
            </p:cNvPr>
            <p:cNvGraphicFramePr>
              <a:graphicFrameLocks noChangeAspect="1"/>
            </p:cNvGraphicFramePr>
            <p:nvPr/>
          </p:nvGraphicFramePr>
          <p:xfrm>
            <a:off x="1340" y="2784"/>
            <a:ext cx="361" cy="265"/>
          </p:xfrm>
          <a:graphic>
            <a:graphicData uri="http://schemas.openxmlformats.org/presentationml/2006/ole">
              <mc:AlternateContent xmlns:mc="http://schemas.openxmlformats.org/markup-compatibility/2006">
                <mc:Choice xmlns:v="urn:schemas-microsoft-com:vml" Requires="v">
                  <p:oleObj spid="_x0000_s14376" name="Equation" r:id="rId3" imgW="279360" imgH="203040" progId="Equation.DSMT4">
                    <p:embed/>
                  </p:oleObj>
                </mc:Choice>
                <mc:Fallback>
                  <p:oleObj name="Equation" r:id="rId3" imgW="279360" imgH="20304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0" y="2784"/>
                          <a:ext cx="361"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7" name="Object 9">
              <a:extLst>
                <a:ext uri="{FF2B5EF4-FFF2-40B4-BE49-F238E27FC236}">
                  <a16:creationId xmlns:a16="http://schemas.microsoft.com/office/drawing/2014/main" id="{0A7D75B5-FF14-4341-8A8E-08B57F32F391}"/>
                </a:ext>
              </a:extLst>
            </p:cNvPr>
            <p:cNvGraphicFramePr>
              <a:graphicFrameLocks noChangeAspect="1"/>
            </p:cNvGraphicFramePr>
            <p:nvPr/>
          </p:nvGraphicFramePr>
          <p:xfrm>
            <a:off x="1848" y="3423"/>
            <a:ext cx="125" cy="215"/>
          </p:xfrm>
          <a:graphic>
            <a:graphicData uri="http://schemas.openxmlformats.org/presentationml/2006/ole">
              <mc:AlternateContent xmlns:mc="http://schemas.openxmlformats.org/markup-compatibility/2006">
                <mc:Choice xmlns:v="urn:schemas-microsoft-com:vml" Requires="v">
                  <p:oleObj spid="_x0000_s14377" name="Equation" r:id="rId5" imgW="88560" imgH="152280" progId="Equation.DSMT4">
                    <p:embed/>
                  </p:oleObj>
                </mc:Choice>
                <mc:Fallback>
                  <p:oleObj name="Equation" r:id="rId5" imgW="88560" imgH="15228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8" y="3423"/>
                          <a:ext cx="125"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50" name="Line 33">
              <a:extLst>
                <a:ext uri="{FF2B5EF4-FFF2-40B4-BE49-F238E27FC236}">
                  <a16:creationId xmlns:a16="http://schemas.microsoft.com/office/drawing/2014/main" id="{B331E53C-82DB-4D8A-B6E2-EDF38806F556}"/>
                </a:ext>
              </a:extLst>
            </p:cNvPr>
            <p:cNvSpPr>
              <a:spLocks noChangeShapeType="1"/>
            </p:cNvSpPr>
            <p:nvPr/>
          </p:nvSpPr>
          <p:spPr bwMode="auto">
            <a:xfrm>
              <a:off x="2357" y="3636"/>
              <a:ext cx="165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51" name="Line 34">
              <a:extLst>
                <a:ext uri="{FF2B5EF4-FFF2-40B4-BE49-F238E27FC236}">
                  <a16:creationId xmlns:a16="http://schemas.microsoft.com/office/drawing/2014/main" id="{8EC261AB-3EF3-445A-ACBB-2BFCF6785C6F}"/>
                </a:ext>
              </a:extLst>
            </p:cNvPr>
            <p:cNvSpPr>
              <a:spLocks noChangeShapeType="1"/>
            </p:cNvSpPr>
            <p:nvPr/>
          </p:nvSpPr>
          <p:spPr bwMode="auto">
            <a:xfrm flipV="1">
              <a:off x="3163" y="2954"/>
              <a:ext cx="0" cy="8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52" name="Line 35">
              <a:extLst>
                <a:ext uri="{FF2B5EF4-FFF2-40B4-BE49-F238E27FC236}">
                  <a16:creationId xmlns:a16="http://schemas.microsoft.com/office/drawing/2014/main" id="{DA8C025B-4FE7-4F5C-8E66-B4AAB854BCA4}"/>
                </a:ext>
              </a:extLst>
            </p:cNvPr>
            <p:cNvSpPr>
              <a:spLocks noChangeShapeType="1"/>
            </p:cNvSpPr>
            <p:nvPr/>
          </p:nvSpPr>
          <p:spPr bwMode="auto">
            <a:xfrm>
              <a:off x="2654" y="3423"/>
              <a:ext cx="10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3" name="Line 36">
              <a:extLst>
                <a:ext uri="{FF2B5EF4-FFF2-40B4-BE49-F238E27FC236}">
                  <a16:creationId xmlns:a16="http://schemas.microsoft.com/office/drawing/2014/main" id="{CEE4F133-3EA8-4C81-BED1-F68C09500576}"/>
                </a:ext>
              </a:extLst>
            </p:cNvPr>
            <p:cNvSpPr>
              <a:spLocks noChangeShapeType="1"/>
            </p:cNvSpPr>
            <p:nvPr/>
          </p:nvSpPr>
          <p:spPr bwMode="auto">
            <a:xfrm>
              <a:off x="2654" y="3423"/>
              <a:ext cx="0" cy="2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4" name="Line 37">
              <a:extLst>
                <a:ext uri="{FF2B5EF4-FFF2-40B4-BE49-F238E27FC236}">
                  <a16:creationId xmlns:a16="http://schemas.microsoft.com/office/drawing/2014/main" id="{1503276F-3AD2-4A4E-8544-5CF9C3E556B2}"/>
                </a:ext>
              </a:extLst>
            </p:cNvPr>
            <p:cNvSpPr>
              <a:spLocks noChangeShapeType="1"/>
            </p:cNvSpPr>
            <p:nvPr/>
          </p:nvSpPr>
          <p:spPr bwMode="auto">
            <a:xfrm flipV="1">
              <a:off x="3671" y="3423"/>
              <a:ext cx="0" cy="2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5" name="Text Box 38">
              <a:extLst>
                <a:ext uri="{FF2B5EF4-FFF2-40B4-BE49-F238E27FC236}">
                  <a16:creationId xmlns:a16="http://schemas.microsoft.com/office/drawing/2014/main" id="{096B9857-9BFE-4E61-B3C1-0776676C1915}"/>
                </a:ext>
              </a:extLst>
            </p:cNvPr>
            <p:cNvSpPr txBox="1">
              <a:spLocks noChangeArrowheads="1"/>
            </p:cNvSpPr>
            <p:nvPr/>
          </p:nvSpPr>
          <p:spPr bwMode="auto">
            <a:xfrm>
              <a:off x="2515" y="3582"/>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-2</a:t>
              </a:r>
            </a:p>
          </p:txBody>
        </p:sp>
        <p:sp>
          <p:nvSpPr>
            <p:cNvPr id="17456" name="Text Box 39">
              <a:extLst>
                <a:ext uri="{FF2B5EF4-FFF2-40B4-BE49-F238E27FC236}">
                  <a16:creationId xmlns:a16="http://schemas.microsoft.com/office/drawing/2014/main" id="{118D8F2C-4C68-4365-A961-38ECAA6EF02A}"/>
                </a:ext>
              </a:extLst>
            </p:cNvPr>
            <p:cNvSpPr txBox="1">
              <a:spLocks noChangeArrowheads="1"/>
            </p:cNvSpPr>
            <p:nvPr/>
          </p:nvSpPr>
          <p:spPr bwMode="auto">
            <a:xfrm>
              <a:off x="3587" y="3595"/>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2</a:t>
              </a:r>
            </a:p>
          </p:txBody>
        </p:sp>
        <p:sp>
          <p:nvSpPr>
            <p:cNvPr id="17457" name="Text Box 40">
              <a:extLst>
                <a:ext uri="{FF2B5EF4-FFF2-40B4-BE49-F238E27FC236}">
                  <a16:creationId xmlns:a16="http://schemas.microsoft.com/office/drawing/2014/main" id="{DF7F8889-D800-4F55-BDF2-F165871AC259}"/>
                </a:ext>
              </a:extLst>
            </p:cNvPr>
            <p:cNvSpPr txBox="1">
              <a:spLocks noChangeArrowheads="1"/>
            </p:cNvSpPr>
            <p:nvPr/>
          </p:nvSpPr>
          <p:spPr bwMode="auto">
            <a:xfrm>
              <a:off x="2993" y="3211"/>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sp>
          <p:nvSpPr>
            <p:cNvPr id="17458" name="Text Box 41">
              <a:extLst>
                <a:ext uri="{FF2B5EF4-FFF2-40B4-BE49-F238E27FC236}">
                  <a16:creationId xmlns:a16="http://schemas.microsoft.com/office/drawing/2014/main" id="{BCAE9F3E-1614-4175-9E3E-B38FFDF6B9CE}"/>
                </a:ext>
              </a:extLst>
            </p:cNvPr>
            <p:cNvSpPr txBox="1">
              <a:spLocks noChangeArrowheads="1"/>
            </p:cNvSpPr>
            <p:nvPr/>
          </p:nvSpPr>
          <p:spPr bwMode="auto">
            <a:xfrm>
              <a:off x="3151" y="3582"/>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0</a:t>
              </a:r>
            </a:p>
          </p:txBody>
        </p:sp>
        <p:graphicFrame>
          <p:nvGraphicFramePr>
            <p:cNvPr id="17418" name="Object 10">
              <a:extLst>
                <a:ext uri="{FF2B5EF4-FFF2-40B4-BE49-F238E27FC236}">
                  <a16:creationId xmlns:a16="http://schemas.microsoft.com/office/drawing/2014/main" id="{A15AAF1D-1EE4-43CB-B7B7-F1702B1938EA}"/>
                </a:ext>
              </a:extLst>
            </p:cNvPr>
            <p:cNvGraphicFramePr>
              <a:graphicFrameLocks noChangeAspect="1"/>
            </p:cNvGraphicFramePr>
            <p:nvPr/>
          </p:nvGraphicFramePr>
          <p:xfrm>
            <a:off x="3205" y="2826"/>
            <a:ext cx="401" cy="279"/>
          </p:xfrm>
          <a:graphic>
            <a:graphicData uri="http://schemas.openxmlformats.org/presentationml/2006/ole">
              <mc:AlternateContent xmlns:mc="http://schemas.openxmlformats.org/markup-compatibility/2006">
                <mc:Choice xmlns:v="urn:schemas-microsoft-com:vml" Requires="v">
                  <p:oleObj spid="_x0000_s14378" name="Equation" r:id="rId7" imgW="330120" imgH="228600" progId="Equation.DSMT4">
                    <p:embed/>
                  </p:oleObj>
                </mc:Choice>
                <mc:Fallback>
                  <p:oleObj name="Equation" r:id="rId7" imgW="330120" imgH="2286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5" y="2826"/>
                          <a:ext cx="401"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9" name="Object 11">
              <a:extLst>
                <a:ext uri="{FF2B5EF4-FFF2-40B4-BE49-F238E27FC236}">
                  <a16:creationId xmlns:a16="http://schemas.microsoft.com/office/drawing/2014/main" id="{6CCBD912-8742-4357-8907-352B861157AE}"/>
                </a:ext>
              </a:extLst>
            </p:cNvPr>
            <p:cNvGraphicFramePr>
              <a:graphicFrameLocks noChangeAspect="1"/>
            </p:cNvGraphicFramePr>
            <p:nvPr/>
          </p:nvGraphicFramePr>
          <p:xfrm>
            <a:off x="3841" y="3423"/>
            <a:ext cx="125" cy="215"/>
          </p:xfrm>
          <a:graphic>
            <a:graphicData uri="http://schemas.openxmlformats.org/presentationml/2006/ole">
              <mc:AlternateContent xmlns:mc="http://schemas.openxmlformats.org/markup-compatibility/2006">
                <mc:Choice xmlns:v="urn:schemas-microsoft-com:vml" Requires="v">
                  <p:oleObj spid="_x0000_s14379" name="Equation" r:id="rId9" imgW="88560" imgH="152280" progId="Equation.DSMT4">
                    <p:embed/>
                  </p:oleObj>
                </mc:Choice>
                <mc:Fallback>
                  <p:oleObj name="Equation" r:id="rId9" imgW="88560" imgH="152280"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1" y="3423"/>
                          <a:ext cx="125"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59" name="Line 44">
              <a:extLst>
                <a:ext uri="{FF2B5EF4-FFF2-40B4-BE49-F238E27FC236}">
                  <a16:creationId xmlns:a16="http://schemas.microsoft.com/office/drawing/2014/main" id="{8905D2AD-9BBF-42A2-AA62-76278B2FA1B5}"/>
                </a:ext>
              </a:extLst>
            </p:cNvPr>
            <p:cNvSpPr>
              <a:spLocks noChangeShapeType="1"/>
            </p:cNvSpPr>
            <p:nvPr/>
          </p:nvSpPr>
          <p:spPr bwMode="auto">
            <a:xfrm>
              <a:off x="4350" y="3466"/>
              <a:ext cx="131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60" name="Line 45">
              <a:extLst>
                <a:ext uri="{FF2B5EF4-FFF2-40B4-BE49-F238E27FC236}">
                  <a16:creationId xmlns:a16="http://schemas.microsoft.com/office/drawing/2014/main" id="{E3434F48-2A62-4880-93A0-7C18E617005F}"/>
                </a:ext>
              </a:extLst>
            </p:cNvPr>
            <p:cNvSpPr>
              <a:spLocks noChangeShapeType="1"/>
            </p:cNvSpPr>
            <p:nvPr/>
          </p:nvSpPr>
          <p:spPr bwMode="auto">
            <a:xfrm flipV="1">
              <a:off x="5028" y="2912"/>
              <a:ext cx="0" cy="9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61" name="Line 46">
              <a:extLst>
                <a:ext uri="{FF2B5EF4-FFF2-40B4-BE49-F238E27FC236}">
                  <a16:creationId xmlns:a16="http://schemas.microsoft.com/office/drawing/2014/main" id="{8C0DC6E2-DA41-4898-8815-414C3EF7D872}"/>
                </a:ext>
              </a:extLst>
            </p:cNvPr>
            <p:cNvSpPr>
              <a:spLocks noChangeShapeType="1"/>
            </p:cNvSpPr>
            <p:nvPr/>
          </p:nvSpPr>
          <p:spPr bwMode="auto">
            <a:xfrm flipV="1">
              <a:off x="5283" y="3253"/>
              <a:ext cx="0" cy="2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2" name="Line 47">
              <a:extLst>
                <a:ext uri="{FF2B5EF4-FFF2-40B4-BE49-F238E27FC236}">
                  <a16:creationId xmlns:a16="http://schemas.microsoft.com/office/drawing/2014/main" id="{D69FAFC9-B0AC-4333-8253-3A619E57F459}"/>
                </a:ext>
              </a:extLst>
            </p:cNvPr>
            <p:cNvSpPr>
              <a:spLocks noChangeShapeType="1"/>
            </p:cNvSpPr>
            <p:nvPr/>
          </p:nvSpPr>
          <p:spPr bwMode="auto">
            <a:xfrm flipV="1">
              <a:off x="4774" y="3466"/>
              <a:ext cx="0" cy="21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3" name="Line 48">
              <a:extLst>
                <a:ext uri="{FF2B5EF4-FFF2-40B4-BE49-F238E27FC236}">
                  <a16:creationId xmlns:a16="http://schemas.microsoft.com/office/drawing/2014/main" id="{2FCE7360-167E-48E0-B227-7BEF887E935A}"/>
                </a:ext>
              </a:extLst>
            </p:cNvPr>
            <p:cNvSpPr>
              <a:spLocks noChangeShapeType="1"/>
            </p:cNvSpPr>
            <p:nvPr/>
          </p:nvSpPr>
          <p:spPr bwMode="auto">
            <a:xfrm flipV="1">
              <a:off x="4774" y="3253"/>
              <a:ext cx="509" cy="42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4" name="Text Box 49">
              <a:extLst>
                <a:ext uri="{FF2B5EF4-FFF2-40B4-BE49-F238E27FC236}">
                  <a16:creationId xmlns:a16="http://schemas.microsoft.com/office/drawing/2014/main" id="{459F75C6-018B-454F-8C6B-8E8CFC96CAB2}"/>
                </a:ext>
              </a:extLst>
            </p:cNvPr>
            <p:cNvSpPr txBox="1">
              <a:spLocks noChangeArrowheads="1"/>
            </p:cNvSpPr>
            <p:nvPr/>
          </p:nvSpPr>
          <p:spPr bwMode="auto">
            <a:xfrm>
              <a:off x="4689" y="3253"/>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sp>
          <p:nvSpPr>
            <p:cNvPr id="17465" name="Text Box 50">
              <a:extLst>
                <a:ext uri="{FF2B5EF4-FFF2-40B4-BE49-F238E27FC236}">
                  <a16:creationId xmlns:a16="http://schemas.microsoft.com/office/drawing/2014/main" id="{33E42469-45F1-47C2-AF4D-FD1495688938}"/>
                </a:ext>
              </a:extLst>
            </p:cNvPr>
            <p:cNvSpPr txBox="1">
              <a:spLocks noChangeArrowheads="1"/>
            </p:cNvSpPr>
            <p:nvPr/>
          </p:nvSpPr>
          <p:spPr bwMode="auto">
            <a:xfrm>
              <a:off x="5187" y="3412"/>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sp>
          <p:nvSpPr>
            <p:cNvPr id="17466" name="Line 51">
              <a:extLst>
                <a:ext uri="{FF2B5EF4-FFF2-40B4-BE49-F238E27FC236}">
                  <a16:creationId xmlns:a16="http://schemas.microsoft.com/office/drawing/2014/main" id="{D64E98BB-FB7E-445F-BAC9-D4CC68BA22A8}"/>
                </a:ext>
              </a:extLst>
            </p:cNvPr>
            <p:cNvSpPr>
              <a:spLocks noChangeShapeType="1"/>
            </p:cNvSpPr>
            <p:nvPr/>
          </p:nvSpPr>
          <p:spPr bwMode="auto">
            <a:xfrm flipH="1">
              <a:off x="5028" y="3253"/>
              <a:ext cx="4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7" name="Line 52">
              <a:extLst>
                <a:ext uri="{FF2B5EF4-FFF2-40B4-BE49-F238E27FC236}">
                  <a16:creationId xmlns:a16="http://schemas.microsoft.com/office/drawing/2014/main" id="{D777CF4C-EBBC-4F05-9DAB-727C64B43778}"/>
                </a:ext>
              </a:extLst>
            </p:cNvPr>
            <p:cNvSpPr>
              <a:spLocks noChangeShapeType="1"/>
            </p:cNvSpPr>
            <p:nvPr/>
          </p:nvSpPr>
          <p:spPr bwMode="auto">
            <a:xfrm>
              <a:off x="4985" y="3680"/>
              <a:ext cx="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8" name="Text Box 53">
              <a:extLst>
                <a:ext uri="{FF2B5EF4-FFF2-40B4-BE49-F238E27FC236}">
                  <a16:creationId xmlns:a16="http://schemas.microsoft.com/office/drawing/2014/main" id="{E0F8B649-0175-4719-97F0-B89773309637}"/>
                </a:ext>
              </a:extLst>
            </p:cNvPr>
            <p:cNvSpPr txBox="1">
              <a:spLocks noChangeArrowheads="1"/>
            </p:cNvSpPr>
            <p:nvPr/>
          </p:nvSpPr>
          <p:spPr bwMode="auto">
            <a:xfrm>
              <a:off x="4851" y="3071"/>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sp>
          <p:nvSpPr>
            <p:cNvPr id="17469" name="Text Box 54">
              <a:extLst>
                <a:ext uri="{FF2B5EF4-FFF2-40B4-BE49-F238E27FC236}">
                  <a16:creationId xmlns:a16="http://schemas.microsoft.com/office/drawing/2014/main" id="{4F163FF4-48D2-42AB-BCF9-D7518C8D8FD1}"/>
                </a:ext>
              </a:extLst>
            </p:cNvPr>
            <p:cNvSpPr txBox="1">
              <a:spLocks noChangeArrowheads="1"/>
            </p:cNvSpPr>
            <p:nvPr/>
          </p:nvSpPr>
          <p:spPr bwMode="auto">
            <a:xfrm>
              <a:off x="4774" y="3552"/>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latin typeface="宋体" panose="02010600030101010101" pitchFamily="2" charset="-122"/>
                </a:rPr>
                <a:t>-1</a:t>
              </a:r>
            </a:p>
          </p:txBody>
        </p:sp>
        <p:graphicFrame>
          <p:nvGraphicFramePr>
            <p:cNvPr id="17420" name="Object 12">
              <a:extLst>
                <a:ext uri="{FF2B5EF4-FFF2-40B4-BE49-F238E27FC236}">
                  <a16:creationId xmlns:a16="http://schemas.microsoft.com/office/drawing/2014/main" id="{4857B670-6959-4C51-8871-423FC922116F}"/>
                </a:ext>
              </a:extLst>
            </p:cNvPr>
            <p:cNvGraphicFramePr>
              <a:graphicFrameLocks noChangeAspect="1"/>
            </p:cNvGraphicFramePr>
            <p:nvPr/>
          </p:nvGraphicFramePr>
          <p:xfrm>
            <a:off x="2102" y="3083"/>
            <a:ext cx="297" cy="239"/>
          </p:xfrm>
          <a:graphic>
            <a:graphicData uri="http://schemas.openxmlformats.org/presentationml/2006/ole">
              <mc:AlternateContent xmlns:mc="http://schemas.openxmlformats.org/markup-compatibility/2006">
                <mc:Choice xmlns:v="urn:schemas-microsoft-com:vml" Requires="v">
                  <p:oleObj spid="_x0000_s14380" name="Equation" r:id="rId10" imgW="190440" imgH="152280" progId="Equation.DSMT4">
                    <p:embed/>
                  </p:oleObj>
                </mc:Choice>
                <mc:Fallback>
                  <p:oleObj name="Equation" r:id="rId10" imgW="190440" imgH="152280" progId="Equation.DSMT4">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02" y="3083"/>
                          <a:ext cx="297"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21" name="Object 13">
              <a:extLst>
                <a:ext uri="{FF2B5EF4-FFF2-40B4-BE49-F238E27FC236}">
                  <a16:creationId xmlns:a16="http://schemas.microsoft.com/office/drawing/2014/main" id="{6BC84318-9DA1-4C17-89D1-4AD52F4B0C36}"/>
                </a:ext>
              </a:extLst>
            </p:cNvPr>
            <p:cNvGraphicFramePr>
              <a:graphicFrameLocks noChangeAspect="1"/>
            </p:cNvGraphicFramePr>
            <p:nvPr/>
          </p:nvGraphicFramePr>
          <p:xfrm>
            <a:off x="4053" y="3083"/>
            <a:ext cx="246" cy="266"/>
          </p:xfrm>
          <a:graphic>
            <a:graphicData uri="http://schemas.openxmlformats.org/presentationml/2006/ole">
              <mc:AlternateContent xmlns:mc="http://schemas.openxmlformats.org/markup-compatibility/2006">
                <mc:Choice xmlns:v="urn:schemas-microsoft-com:vml" Requires="v">
                  <p:oleObj spid="_x0000_s14381" name="Equation" r:id="rId12" imgW="164880" imgH="177480" progId="Equation.DSMT4">
                    <p:embed/>
                  </p:oleObj>
                </mc:Choice>
                <mc:Fallback>
                  <p:oleObj name="Equation" r:id="rId12" imgW="164880" imgH="177480" progId="Equation.DSMT4">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53" y="3083"/>
                          <a:ext cx="246"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22" name="Object 14">
              <a:extLst>
                <a:ext uri="{FF2B5EF4-FFF2-40B4-BE49-F238E27FC236}">
                  <a16:creationId xmlns:a16="http://schemas.microsoft.com/office/drawing/2014/main" id="{14CFCCD6-2A5E-4065-A634-99D62743D81B}"/>
                </a:ext>
              </a:extLst>
            </p:cNvPr>
            <p:cNvGraphicFramePr>
              <a:graphicFrameLocks noChangeAspect="1"/>
            </p:cNvGraphicFramePr>
            <p:nvPr/>
          </p:nvGraphicFramePr>
          <p:xfrm>
            <a:off x="5537" y="3253"/>
            <a:ext cx="124" cy="215"/>
          </p:xfrm>
          <a:graphic>
            <a:graphicData uri="http://schemas.openxmlformats.org/presentationml/2006/ole">
              <mc:AlternateContent xmlns:mc="http://schemas.openxmlformats.org/markup-compatibility/2006">
                <mc:Choice xmlns:v="urn:schemas-microsoft-com:vml" Requires="v">
                  <p:oleObj spid="_x0000_s14382" name="Equation" r:id="rId14" imgW="88560" imgH="152280" progId="Equation.DSMT4">
                    <p:embed/>
                  </p:oleObj>
                </mc:Choice>
                <mc:Fallback>
                  <p:oleObj name="Equation" r:id="rId14" imgW="88560" imgH="152280" progId="Equation.DSMT4">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37" y="3253"/>
                          <a:ext cx="124"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23" name="Object 15">
              <a:extLst>
                <a:ext uri="{FF2B5EF4-FFF2-40B4-BE49-F238E27FC236}">
                  <a16:creationId xmlns:a16="http://schemas.microsoft.com/office/drawing/2014/main" id="{10DA95A4-BA78-4ECD-B145-B8B766E3735A}"/>
                </a:ext>
              </a:extLst>
            </p:cNvPr>
            <p:cNvGraphicFramePr>
              <a:graphicFrameLocks noChangeAspect="1"/>
            </p:cNvGraphicFramePr>
            <p:nvPr/>
          </p:nvGraphicFramePr>
          <p:xfrm>
            <a:off x="5070" y="2826"/>
            <a:ext cx="441" cy="295"/>
          </p:xfrm>
          <a:graphic>
            <a:graphicData uri="http://schemas.openxmlformats.org/presentationml/2006/ole">
              <mc:AlternateContent xmlns:mc="http://schemas.openxmlformats.org/markup-compatibility/2006">
                <mc:Choice xmlns:v="urn:schemas-microsoft-com:vml" Requires="v">
                  <p:oleObj spid="_x0000_s14383" name="Equation" r:id="rId15" imgW="342720" imgH="228600" progId="Equation.DSMT4">
                    <p:embed/>
                  </p:oleObj>
                </mc:Choice>
                <mc:Fallback>
                  <p:oleObj name="Equation" r:id="rId15" imgW="342720" imgH="228600" progId="Equation.DSMT4">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70" y="2826"/>
                          <a:ext cx="441"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7430" name="Text Box 59">
            <a:extLst>
              <a:ext uri="{FF2B5EF4-FFF2-40B4-BE49-F238E27FC236}">
                <a16:creationId xmlns:a16="http://schemas.microsoft.com/office/drawing/2014/main" id="{86FCE6C2-18A6-4948-A982-95EE13477CC3}"/>
              </a:ext>
            </a:extLst>
          </p:cNvPr>
          <p:cNvSpPr txBox="1">
            <a:spLocks noChangeArrowheads="1"/>
          </p:cNvSpPr>
          <p:nvPr/>
        </p:nvSpPr>
        <p:spPr bwMode="auto">
          <a:xfrm>
            <a:off x="560368" y="1288713"/>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dirty="0">
                <a:solidFill>
                  <a:srgbClr val="000099"/>
                </a:solidFill>
                <a:latin typeface="Times New Roman" panose="02020603050405020304" pitchFamily="18" charset="0"/>
                <a:ea typeface="楷体" panose="02010609060101010101" pitchFamily="49" charset="-122"/>
              </a:rPr>
              <a:t>例</a:t>
            </a:r>
            <a:r>
              <a:rPr lang="en-US" altLang="zh-CN" sz="2400" dirty="0">
                <a:solidFill>
                  <a:srgbClr val="000099"/>
                </a:solidFill>
                <a:latin typeface="Times New Roman" panose="02020603050405020304" pitchFamily="18" charset="0"/>
                <a:ea typeface="楷体" panose="02010609060101010101" pitchFamily="49" charset="-122"/>
              </a:rPr>
              <a:t>1</a:t>
            </a:r>
            <a:r>
              <a:rPr lang="zh-CN" altLang="en-US" sz="2400" dirty="0">
                <a:solidFill>
                  <a:srgbClr val="000099"/>
                </a:solidFill>
                <a:latin typeface="Times New Roman" panose="02020603050405020304" pitchFamily="18" charset="0"/>
                <a:ea typeface="楷体" panose="02010609060101010101" pitchFamily="49" charset="-122"/>
              </a:rPr>
              <a:t>：</a:t>
            </a:r>
          </a:p>
        </p:txBody>
      </p:sp>
      <p:graphicFrame>
        <p:nvGraphicFramePr>
          <p:cNvPr id="62" name="Object 2">
            <a:extLst>
              <a:ext uri="{FF2B5EF4-FFF2-40B4-BE49-F238E27FC236}">
                <a16:creationId xmlns:a16="http://schemas.microsoft.com/office/drawing/2014/main" id="{FDE029AC-8822-4D56-A276-5D52CB4F55FF}"/>
              </a:ext>
            </a:extLst>
          </p:cNvPr>
          <p:cNvGraphicFramePr>
            <a:graphicFrameLocks noChangeAspect="1"/>
          </p:cNvGraphicFramePr>
          <p:nvPr>
            <p:extLst>
              <p:ext uri="{D42A27DB-BD31-4B8C-83A1-F6EECF244321}">
                <p14:modId xmlns:p14="http://schemas.microsoft.com/office/powerpoint/2010/main" val="1798296742"/>
              </p:ext>
            </p:extLst>
          </p:nvPr>
        </p:nvGraphicFramePr>
        <p:xfrm>
          <a:off x="1863894" y="3196044"/>
          <a:ext cx="5569439" cy="3458441"/>
        </p:xfrm>
        <a:graphic>
          <a:graphicData uri="http://schemas.openxmlformats.org/presentationml/2006/ole">
            <mc:AlternateContent xmlns:mc="http://schemas.openxmlformats.org/markup-compatibility/2006">
              <mc:Choice xmlns:v="urn:schemas-microsoft-com:vml" Requires="v">
                <p:oleObj spid="_x0000_s14384" r:id="rId17" imgW="3543795" imgH="2200582" progId="Paint.Picture">
                  <p:embed/>
                </p:oleObj>
              </mc:Choice>
              <mc:Fallback>
                <p:oleObj r:id="rId17" imgW="3543795" imgH="2200582" progId="Paint.Picture">
                  <p:embed/>
                  <p:pic>
                    <p:nvPicPr>
                      <p:cNvPr id="18434" name="Object 2">
                        <a:extLst>
                          <a:ext uri="{FF2B5EF4-FFF2-40B4-BE49-F238E27FC236}">
                            <a16:creationId xmlns:a16="http://schemas.microsoft.com/office/drawing/2014/main" id="{05D12973-6685-4E74-9D7E-38AC9AC66D2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63894" y="3196044"/>
                        <a:ext cx="5569439" cy="3458441"/>
                      </a:xfrm>
                      <a:prstGeom prst="rect">
                        <a:avLst/>
                      </a:prstGeom>
                      <a:noFill/>
                    </p:spPr>
                  </p:pic>
                </p:oleObj>
              </mc:Fallback>
            </mc:AlternateContent>
          </a:graphicData>
        </a:graphic>
      </p:graphicFrame>
      <p:sp>
        <p:nvSpPr>
          <p:cNvPr id="63" name="Text Box 4">
            <a:extLst>
              <a:ext uri="{FF2B5EF4-FFF2-40B4-BE49-F238E27FC236}">
                <a16:creationId xmlns:a16="http://schemas.microsoft.com/office/drawing/2014/main" id="{E0389801-84E3-4A48-A6C0-4A41AC84D641}"/>
              </a:ext>
            </a:extLst>
          </p:cNvPr>
          <p:cNvSpPr txBox="1">
            <a:spLocks noChangeArrowheads="1"/>
          </p:cNvSpPr>
          <p:nvPr/>
        </p:nvSpPr>
        <p:spPr bwMode="auto">
          <a:xfrm>
            <a:off x="560367" y="3124948"/>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dirty="0">
                <a:solidFill>
                  <a:srgbClr val="000099"/>
                </a:solidFill>
                <a:latin typeface="Times New Roman" panose="02020603050405020304" pitchFamily="18" charset="0"/>
                <a:ea typeface="楷体" panose="02010609060101010101" pitchFamily="49" charset="-122"/>
              </a:rPr>
              <a:t>例</a:t>
            </a:r>
            <a:r>
              <a:rPr lang="en-US" altLang="zh-CN" sz="2400" dirty="0">
                <a:solidFill>
                  <a:srgbClr val="000099"/>
                </a:solidFill>
                <a:latin typeface="Times New Roman" panose="02020603050405020304" pitchFamily="18" charset="0"/>
                <a:ea typeface="楷体" panose="02010609060101010101" pitchFamily="49" charset="-122"/>
              </a:rPr>
              <a:t>2</a:t>
            </a:r>
            <a:r>
              <a:rPr lang="zh-CN" altLang="en-US" sz="2400" dirty="0">
                <a:solidFill>
                  <a:srgbClr val="000099"/>
                </a:solidFill>
                <a:latin typeface="Times New Roman" panose="02020603050405020304" pitchFamily="18" charset="0"/>
                <a:ea typeface="楷体" panose="02010609060101010101" pitchFamily="49" charset="-122"/>
              </a:rPr>
              <a:t>：</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p:txBody>
          <a:bodyPr/>
          <a:lstStyle/>
          <a:p>
            <a:r>
              <a:rPr lang="en-US" altLang="zh-CN" sz="2400" b="0" dirty="0"/>
              <a:t>1.24(b)</a:t>
            </a:r>
            <a:r>
              <a:rPr lang="zh-CN" altLang="en-US" sz="2400" b="0" dirty="0"/>
              <a:t>、</a:t>
            </a:r>
            <a:r>
              <a:rPr lang="en-US" sz="2400" b="0" dirty="0"/>
              <a:t>1.25(b)、1.26(c)</a:t>
            </a:r>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fld id="{D6CC5206-228A-4188-B6B3-2BFCD2AC1E6E}" type="slidenum">
              <a:rPr lang="zh-CN" altLang="en-US" smtClean="0"/>
              <a:pPr/>
              <a:t>35</a:t>
            </a:fld>
            <a:endParaRPr lang="zh-CN" altLang="en-US"/>
          </a:p>
        </p:txBody>
      </p:sp>
    </p:spTree>
    <p:extLst>
      <p:ext uri="{BB962C8B-B14F-4D97-AF65-F5344CB8AC3E}">
        <p14:creationId xmlns:p14="http://schemas.microsoft.com/office/powerpoint/2010/main" val="27806044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2F9485E6-D386-4655-A1E0-073C6ABD843E}"/>
              </a:ext>
            </a:extLst>
          </p:cNvPr>
          <p:cNvPicPr>
            <a:picLocks noChangeAspect="1"/>
          </p:cNvPicPr>
          <p:nvPr/>
        </p:nvPicPr>
        <p:blipFill>
          <a:blip r:embed="rId3"/>
          <a:stretch>
            <a:fillRect/>
          </a:stretch>
        </p:blipFill>
        <p:spPr>
          <a:xfrm flipH="1">
            <a:off x="1295584" y="3423881"/>
            <a:ext cx="3086100" cy="1809750"/>
          </a:xfrm>
          <a:prstGeom prst="rect">
            <a:avLst/>
          </a:prstGeom>
        </p:spPr>
      </p:pic>
      <p:sp>
        <p:nvSpPr>
          <p:cNvPr id="19467" name="标题 1">
            <a:extLst>
              <a:ext uri="{FF2B5EF4-FFF2-40B4-BE49-F238E27FC236}">
                <a16:creationId xmlns:a16="http://schemas.microsoft.com/office/drawing/2014/main" id="{7725B228-6CA9-4F76-B19A-27D1852537C4}"/>
              </a:ext>
            </a:extLst>
          </p:cNvPr>
          <p:cNvSpPr>
            <a:spLocks noGrp="1"/>
          </p:cNvSpPr>
          <p:nvPr>
            <p:ph type="title"/>
          </p:nvPr>
        </p:nvSpPr>
        <p:spPr>
          <a:xfrm>
            <a:off x="457200" y="142875"/>
            <a:ext cx="8229600" cy="857250"/>
          </a:xfrm>
        </p:spPr>
        <p:txBody>
          <a:bodyPr/>
          <a:lstStyle/>
          <a:p>
            <a:pPr eaLnBrk="1" hangingPunct="1"/>
            <a:r>
              <a:rPr lang="en-US" altLang="zh-CN" dirty="0"/>
              <a:t>1.3  </a:t>
            </a:r>
            <a:r>
              <a:rPr lang="zh-CN" altLang="en-US" dirty="0"/>
              <a:t>复指数信号与正弦信号</a:t>
            </a:r>
          </a:p>
        </p:txBody>
      </p:sp>
      <p:sp>
        <p:nvSpPr>
          <p:cNvPr id="19468" name="内容占位符 2">
            <a:extLst>
              <a:ext uri="{FF2B5EF4-FFF2-40B4-BE49-F238E27FC236}">
                <a16:creationId xmlns:a16="http://schemas.microsoft.com/office/drawing/2014/main" id="{9F86C3AC-3060-4F35-A878-10BC4A7546DA}"/>
              </a:ext>
            </a:extLst>
          </p:cNvPr>
          <p:cNvSpPr>
            <a:spLocks noGrp="1"/>
          </p:cNvSpPr>
          <p:nvPr>
            <p:ph idx="1"/>
          </p:nvPr>
        </p:nvSpPr>
        <p:spPr/>
        <p:txBody>
          <a:bodyPr/>
          <a:lstStyle/>
          <a:p>
            <a:pPr eaLnBrk="1" hangingPunct="1"/>
            <a:r>
              <a:rPr lang="zh-CN" altLang="en-US" b="0"/>
              <a:t>一</a:t>
            </a:r>
            <a:r>
              <a:rPr lang="en-US" altLang="zh-CN" b="0"/>
              <a:t>. </a:t>
            </a:r>
            <a:r>
              <a:rPr lang="zh-CN" altLang="en-US" b="0"/>
              <a:t>连续时间复指数信号与正弦信号</a:t>
            </a:r>
          </a:p>
          <a:p>
            <a:pPr eaLnBrk="1" hangingPunct="1"/>
            <a:endParaRPr lang="zh-CN" altLang="en-US" b="0"/>
          </a:p>
        </p:txBody>
      </p:sp>
      <p:sp>
        <p:nvSpPr>
          <p:cNvPr id="4" name="灯片编号占位符 3">
            <a:extLst>
              <a:ext uri="{FF2B5EF4-FFF2-40B4-BE49-F238E27FC236}">
                <a16:creationId xmlns:a16="http://schemas.microsoft.com/office/drawing/2014/main" id="{FC5A2678-6830-4E65-A4AC-6A35F316E3D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D4507E7-CC83-450E-A1E5-F64A60DC3DD0}" type="slidenum">
              <a:rPr lang="zh-CN" altLang="en-US">
                <a:solidFill>
                  <a:srgbClr val="898989"/>
                </a:solidFill>
                <a:latin typeface="Calibri" panose="020F0502020204030204" pitchFamily="34" charset="0"/>
              </a:rPr>
              <a:pPr eaLnBrk="1" hangingPunct="1"/>
              <a:t>36</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9470" name="Text Box 5">
                <a:extLst>
                  <a:ext uri="{FF2B5EF4-FFF2-40B4-BE49-F238E27FC236}">
                    <a16:creationId xmlns:a16="http://schemas.microsoft.com/office/drawing/2014/main" id="{D1F469D9-FBFD-48F5-ACDD-4D65C38B0C0C}"/>
                  </a:ext>
                </a:extLst>
              </p:cNvPr>
              <p:cNvSpPr txBox="1">
                <a:spLocks noChangeArrowheads="1"/>
              </p:cNvSpPr>
              <p:nvPr/>
            </p:nvSpPr>
            <p:spPr bwMode="auto">
              <a:xfrm>
                <a:off x="911225" y="1934374"/>
                <a:ext cx="4603055"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14:m>
                  <m:oMath xmlns:m="http://schemas.openxmlformats.org/officeDocument/2006/math">
                    <m:r>
                      <a:rPr lang="en-US" sz="2800" i="1" smtClean="0">
                        <a:solidFill>
                          <a:schemeClr val="tx1"/>
                        </a:solidFill>
                        <a:latin typeface="Cambria Math" panose="02040503050406030204" pitchFamily="18" charset="0"/>
                      </a:rPr>
                      <m:t>𝑥</m:t>
                    </m:r>
                    <m:r>
                      <a:rPr lang="en-US" sz="2800" i="1" smtClean="0">
                        <a:solidFill>
                          <a:schemeClr val="tx1"/>
                        </a:solidFill>
                        <a:latin typeface="Cambria Math" panose="02040503050406030204" pitchFamily="18" charset="0"/>
                      </a:rPr>
                      <m:t>(</m:t>
                    </m:r>
                    <m:r>
                      <a:rPr lang="en-US" sz="2800" i="1" smtClean="0">
                        <a:solidFill>
                          <a:schemeClr val="tx1"/>
                        </a:solidFill>
                        <a:latin typeface="Cambria Math" panose="02040503050406030204" pitchFamily="18" charset="0"/>
                      </a:rPr>
                      <m:t>𝑡</m:t>
                    </m:r>
                    <m:r>
                      <a:rPr lang="en-US" sz="2800" i="1" smtClean="0">
                        <a:solidFill>
                          <a:schemeClr val="tx1"/>
                        </a:solidFill>
                        <a:latin typeface="Cambria Math" panose="02040503050406030204" pitchFamily="18" charset="0"/>
                      </a:rPr>
                      <m:t>)=</m:t>
                    </m:r>
                    <m:r>
                      <a:rPr lang="en-US" sz="2800" i="1" smtClean="0">
                        <a:solidFill>
                          <a:srgbClr val="FF0000"/>
                        </a:solidFill>
                        <a:latin typeface="Cambria Math" panose="02040503050406030204" pitchFamily="18" charset="0"/>
                      </a:rPr>
                      <m:t>𝐶</m:t>
                    </m:r>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a:rPr lang="en-US" sz="2800" i="1">
                            <a:solidFill>
                              <a:srgbClr val="FF0000"/>
                            </a:solidFill>
                            <a:latin typeface="Cambria Math" panose="02040503050406030204" pitchFamily="18" charset="0"/>
                          </a:rPr>
                          <m:t>𝑎𝑡</m:t>
                        </m:r>
                      </m:sup>
                    </m:sSup>
                  </m:oMath>
                </a14:m>
                <a:r>
                  <a:rPr lang="zh-CN" altLang="en-US" sz="2800" dirty="0">
                    <a:solidFill>
                      <a:schemeClr val="tx1"/>
                    </a:solidFill>
                    <a:latin typeface="Times New Roman" panose="02020603050405020304" pitchFamily="18" charset="0"/>
                    <a:ea typeface="楷体" panose="02010609060101010101" pitchFamily="49" charset="-122"/>
                  </a:rPr>
                  <a:t>其中 </a:t>
                </a:r>
                <a14:m>
                  <m:oMath xmlns:m="http://schemas.openxmlformats.org/officeDocument/2006/math">
                    <m:r>
                      <a:rPr lang="en-US" altLang="zh-CN" sz="2800" i="1" dirty="0" smtClean="0">
                        <a:solidFill>
                          <a:schemeClr val="tx1"/>
                        </a:solidFill>
                        <a:latin typeface="Cambria Math" panose="02040503050406030204" pitchFamily="18" charset="0"/>
                        <a:ea typeface="楷体" panose="02010609060101010101" pitchFamily="49" charset="-122"/>
                      </a:rPr>
                      <m:t>𝐶</m:t>
                    </m:r>
                  </m:oMath>
                </a14:m>
                <a:r>
                  <a:rPr lang="en-US" altLang="zh-CN" sz="2800" dirty="0">
                    <a:solidFill>
                      <a:schemeClr val="tx1"/>
                    </a:solidFill>
                    <a:latin typeface="Times New Roman" panose="02020603050405020304" pitchFamily="18" charset="0"/>
                    <a:ea typeface="楷体" panose="02010609060101010101" pitchFamily="49" charset="-122"/>
                  </a:rPr>
                  <a:t>, </a:t>
                </a:r>
                <a14:m>
                  <m:oMath xmlns:m="http://schemas.openxmlformats.org/officeDocument/2006/math">
                    <m:r>
                      <a:rPr lang="en-US" altLang="zh-CN" sz="2800" i="1" dirty="0" smtClean="0">
                        <a:solidFill>
                          <a:schemeClr val="tx1"/>
                        </a:solidFill>
                        <a:latin typeface="Cambria Math" panose="02040503050406030204" pitchFamily="18" charset="0"/>
                        <a:ea typeface="楷体" panose="02010609060101010101" pitchFamily="49" charset="-122"/>
                      </a:rPr>
                      <m:t>𝑎</m:t>
                    </m:r>
                  </m:oMath>
                </a14:m>
                <a:r>
                  <a:rPr lang="en-US" altLang="zh-CN" sz="2800" dirty="0">
                    <a:solidFill>
                      <a:schemeClr val="tx1"/>
                    </a:solidFill>
                    <a:latin typeface="Times New Roman" panose="02020603050405020304" pitchFamily="18" charset="0"/>
                    <a:ea typeface="楷体" panose="02010609060101010101" pitchFamily="49" charset="-122"/>
                  </a:rPr>
                  <a:t> </a:t>
                </a:r>
                <a:r>
                  <a:rPr lang="zh-CN" altLang="en-US" sz="2800" dirty="0">
                    <a:solidFill>
                      <a:schemeClr val="tx1"/>
                    </a:solidFill>
                    <a:latin typeface="Times New Roman" panose="02020603050405020304" pitchFamily="18" charset="0"/>
                    <a:ea typeface="楷体" panose="02010609060101010101" pitchFamily="49" charset="-122"/>
                  </a:rPr>
                  <a:t>为复数</a:t>
                </a:r>
              </a:p>
            </p:txBody>
          </p:sp>
        </mc:Choice>
        <mc:Fallback xmlns="">
          <p:sp>
            <p:nvSpPr>
              <p:cNvPr id="19470" name="Text Box 5">
                <a:extLst>
                  <a:ext uri="{FF2B5EF4-FFF2-40B4-BE49-F238E27FC236}">
                    <a16:creationId xmlns:a16="http://schemas.microsoft.com/office/drawing/2014/main" id="{D1F469D9-FBFD-48F5-ACDD-4D65C38B0C0C}"/>
                  </a:ext>
                </a:extLst>
              </p:cNvPr>
              <p:cNvSpPr txBox="1">
                <a:spLocks noRot="1" noChangeAspect="1" noMove="1" noResize="1" noEditPoints="1" noAdjustHandles="1" noChangeArrowheads="1" noChangeShapeType="1" noTextEdit="1"/>
              </p:cNvSpPr>
              <p:nvPr/>
            </p:nvSpPr>
            <p:spPr bwMode="auto">
              <a:xfrm>
                <a:off x="911225" y="1934374"/>
                <a:ext cx="4603055" cy="523220"/>
              </a:xfrm>
              <a:prstGeom prst="rect">
                <a:avLst/>
              </a:prstGeom>
              <a:blipFill>
                <a:blip r:embed="rId4"/>
                <a:stretch>
                  <a:fillRect t="-15116" r="-1455" b="-325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471" name="Text Box 6">
                <a:extLst>
                  <a:ext uri="{FF2B5EF4-FFF2-40B4-BE49-F238E27FC236}">
                    <a16:creationId xmlns:a16="http://schemas.microsoft.com/office/drawing/2014/main" id="{0C310376-06A4-4087-A287-74FD07521EAA}"/>
                  </a:ext>
                </a:extLst>
              </p:cNvPr>
              <p:cNvSpPr txBox="1">
                <a:spLocks noChangeArrowheads="1"/>
              </p:cNvSpPr>
              <p:nvPr/>
            </p:nvSpPr>
            <p:spPr bwMode="auto">
              <a:xfrm>
                <a:off x="911225" y="2571750"/>
                <a:ext cx="4552849"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dirty="0">
                    <a:latin typeface="Times New Roman" panose="02020603050405020304" pitchFamily="18" charset="0"/>
                    <a:ea typeface="楷体" panose="02010609060101010101" pitchFamily="49" charset="-122"/>
                  </a:rPr>
                  <a:t>1. </a:t>
                </a:r>
                <a:r>
                  <a:rPr lang="zh-CN" altLang="en-US" sz="2800" dirty="0">
                    <a:latin typeface="Times New Roman" panose="02020603050405020304" pitchFamily="18" charset="0"/>
                    <a:ea typeface="楷体" panose="02010609060101010101" pitchFamily="49" charset="-122"/>
                  </a:rPr>
                  <a:t>实指数信号：</a:t>
                </a:r>
                <a14:m>
                  <m:oMath xmlns:m="http://schemas.openxmlformats.org/officeDocument/2006/math">
                    <m:r>
                      <a:rPr lang="en-US" altLang="zh-CN" sz="2800" i="1" dirty="0" smtClean="0">
                        <a:latin typeface="Cambria Math" panose="02040503050406030204" pitchFamily="18" charset="0"/>
                        <a:ea typeface="楷体" panose="02010609060101010101" pitchFamily="49" charset="-122"/>
                      </a:rPr>
                      <m:t>𝐶</m:t>
                    </m:r>
                  </m:oMath>
                </a14:m>
                <a:r>
                  <a:rPr lang="en-US" altLang="zh-CN" sz="2800" dirty="0">
                    <a:latin typeface="Times New Roman" panose="02020603050405020304" pitchFamily="18" charset="0"/>
                    <a:ea typeface="楷体" panose="02010609060101010101" pitchFamily="49" charset="-122"/>
                  </a:rPr>
                  <a:t>, </a:t>
                </a:r>
                <a14:m>
                  <m:oMath xmlns:m="http://schemas.openxmlformats.org/officeDocument/2006/math">
                    <m:r>
                      <a:rPr lang="en-US" altLang="zh-CN" sz="2800" i="1" dirty="0" smtClean="0">
                        <a:latin typeface="Cambria Math" panose="02040503050406030204" pitchFamily="18" charset="0"/>
                        <a:ea typeface="楷体" panose="02010609060101010101" pitchFamily="49" charset="-122"/>
                      </a:rPr>
                      <m:t>𝑎</m:t>
                    </m:r>
                  </m:oMath>
                </a14:m>
                <a:r>
                  <a:rPr lang="zh-CN" altLang="en-US" sz="2800" dirty="0">
                    <a:latin typeface="Times New Roman" panose="02020603050405020304" pitchFamily="18" charset="0"/>
                    <a:ea typeface="楷体" panose="02010609060101010101" pitchFamily="49" charset="-122"/>
                  </a:rPr>
                  <a:t>为实数</a:t>
                </a:r>
              </a:p>
            </p:txBody>
          </p:sp>
        </mc:Choice>
        <mc:Fallback xmlns="">
          <p:sp>
            <p:nvSpPr>
              <p:cNvPr id="19471" name="Text Box 6">
                <a:extLst>
                  <a:ext uri="{FF2B5EF4-FFF2-40B4-BE49-F238E27FC236}">
                    <a16:creationId xmlns:a16="http://schemas.microsoft.com/office/drawing/2014/main" id="{0C310376-06A4-4087-A287-74FD07521EAA}"/>
                  </a:ext>
                </a:extLst>
              </p:cNvPr>
              <p:cNvSpPr txBox="1">
                <a:spLocks noRot="1" noChangeAspect="1" noMove="1" noResize="1" noEditPoints="1" noAdjustHandles="1" noChangeArrowheads="1" noChangeShapeType="1" noTextEdit="1"/>
              </p:cNvSpPr>
              <p:nvPr/>
            </p:nvSpPr>
            <p:spPr bwMode="auto">
              <a:xfrm>
                <a:off x="911225" y="2571750"/>
                <a:ext cx="4552849" cy="523220"/>
              </a:xfrm>
              <a:prstGeom prst="rect">
                <a:avLst/>
              </a:prstGeom>
              <a:blipFill>
                <a:blip r:embed="rId5"/>
                <a:stretch>
                  <a:fillRect l="-2677" t="-16279" b="-325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479" name="Text Box 6">
                <a:extLst>
                  <a:ext uri="{FF2B5EF4-FFF2-40B4-BE49-F238E27FC236}">
                    <a16:creationId xmlns:a16="http://schemas.microsoft.com/office/drawing/2014/main" id="{601F9A25-ABD4-4974-8BF2-32A94AEC4A00}"/>
                  </a:ext>
                </a:extLst>
              </p:cNvPr>
              <p:cNvSpPr txBox="1">
                <a:spLocks noChangeArrowheads="1"/>
              </p:cNvSpPr>
              <p:nvPr/>
            </p:nvSpPr>
            <p:spPr bwMode="auto">
              <a:xfrm>
                <a:off x="1187624" y="5858108"/>
                <a:ext cx="4202689"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14:m>
                  <m:oMath xmlns:m="http://schemas.openxmlformats.org/officeDocument/2006/math">
                    <m:r>
                      <a:rPr lang="en-US" sz="2800" i="1" smtClean="0">
                        <a:solidFill>
                          <a:schemeClr val="tx1"/>
                        </a:solidFill>
                        <a:latin typeface="Cambria Math" panose="02040503050406030204" pitchFamily="18" charset="0"/>
                      </a:rPr>
                      <m:t>𝑎</m:t>
                    </m:r>
                    <m:r>
                      <a:rPr lang="en-US" sz="2800" i="1" smtClean="0">
                        <a:solidFill>
                          <a:schemeClr val="tx1"/>
                        </a:solidFill>
                        <a:latin typeface="Cambria Math" panose="02040503050406030204" pitchFamily="18" charset="0"/>
                      </a:rPr>
                      <m:t>=0</m:t>
                    </m:r>
                  </m:oMath>
                </a14:m>
                <a:r>
                  <a:rPr lang="zh-CN" altLang="en-US" sz="2800" dirty="0">
                    <a:solidFill>
                      <a:schemeClr val="tx1"/>
                    </a:solidFill>
                    <a:latin typeface="楷体" panose="02010609060101010101" pitchFamily="49" charset="-122"/>
                    <a:ea typeface="楷体" panose="02010609060101010101" pitchFamily="49" charset="-122"/>
                  </a:rPr>
                  <a:t>，</a:t>
                </a:r>
                <a14:m>
                  <m:oMath xmlns:m="http://schemas.openxmlformats.org/officeDocument/2006/math">
                    <m:r>
                      <a:rPr lang="en-US" sz="2800" i="1">
                        <a:solidFill>
                          <a:schemeClr val="tx1"/>
                        </a:solidFill>
                        <a:latin typeface="Cambria Math" panose="02040503050406030204" pitchFamily="18" charset="0"/>
                      </a:rPr>
                      <m:t>𝑥</m:t>
                    </m:r>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𝑡</m:t>
                    </m:r>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𝐶</m:t>
                    </m:r>
                  </m:oMath>
                </a14:m>
                <a:r>
                  <a:rPr lang="zh-CN" altLang="en-US" sz="2800" dirty="0">
                    <a:solidFill>
                      <a:schemeClr val="tx1"/>
                    </a:solidFill>
                    <a:latin typeface="楷体" panose="02010609060101010101" pitchFamily="49" charset="-122"/>
                    <a:ea typeface="楷体" panose="02010609060101010101" pitchFamily="49" charset="-122"/>
                  </a:rPr>
                  <a:t>是常数。</a:t>
                </a:r>
              </a:p>
            </p:txBody>
          </p:sp>
        </mc:Choice>
        <mc:Fallback xmlns="">
          <p:sp>
            <p:nvSpPr>
              <p:cNvPr id="19479" name="Text Box 6">
                <a:extLst>
                  <a:ext uri="{FF2B5EF4-FFF2-40B4-BE49-F238E27FC236}">
                    <a16:creationId xmlns:a16="http://schemas.microsoft.com/office/drawing/2014/main" id="{601F9A25-ABD4-4974-8BF2-32A94AEC4A00}"/>
                  </a:ext>
                </a:extLst>
              </p:cNvPr>
              <p:cNvSpPr txBox="1">
                <a:spLocks noRot="1" noChangeAspect="1" noMove="1" noResize="1" noEditPoints="1" noAdjustHandles="1" noChangeArrowheads="1" noChangeShapeType="1" noTextEdit="1"/>
              </p:cNvSpPr>
              <p:nvPr/>
            </p:nvSpPr>
            <p:spPr bwMode="auto">
              <a:xfrm>
                <a:off x="1187624" y="5858108"/>
                <a:ext cx="4202689" cy="523220"/>
              </a:xfrm>
              <a:prstGeom prst="rect">
                <a:avLst/>
              </a:prstGeom>
              <a:blipFill>
                <a:blip r:embed="rId11"/>
                <a:stretch>
                  <a:fillRect t="-15116" r="-2032" b="-2907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5" name="组合 4">
            <a:extLst>
              <a:ext uri="{FF2B5EF4-FFF2-40B4-BE49-F238E27FC236}">
                <a16:creationId xmlns:a16="http://schemas.microsoft.com/office/drawing/2014/main" id="{5160756E-635B-4663-BCF3-86ACF7C5A646}"/>
              </a:ext>
            </a:extLst>
          </p:cNvPr>
          <p:cNvGrpSpPr/>
          <p:nvPr/>
        </p:nvGrpSpPr>
        <p:grpSpPr>
          <a:xfrm>
            <a:off x="4849793" y="3150073"/>
            <a:ext cx="3318242" cy="2277408"/>
            <a:chOff x="4849793" y="3782626"/>
            <a:chExt cx="3318242" cy="2277408"/>
          </a:xfrm>
        </p:grpSpPr>
        <p:pic>
          <p:nvPicPr>
            <p:cNvPr id="3" name="图片 2">
              <a:extLst>
                <a:ext uri="{FF2B5EF4-FFF2-40B4-BE49-F238E27FC236}">
                  <a16:creationId xmlns:a16="http://schemas.microsoft.com/office/drawing/2014/main" id="{2F9485E6-D386-4655-A1E0-073C6ABD843E}"/>
                </a:ext>
              </a:extLst>
            </p:cNvPr>
            <p:cNvPicPr>
              <a:picLocks noChangeAspect="1"/>
            </p:cNvPicPr>
            <p:nvPr/>
          </p:nvPicPr>
          <p:blipFill>
            <a:blip r:embed="rId3"/>
            <a:stretch>
              <a:fillRect/>
            </a:stretch>
          </p:blipFill>
          <p:spPr>
            <a:xfrm>
              <a:off x="4849793" y="4066401"/>
              <a:ext cx="3086100" cy="1809750"/>
            </a:xfrm>
            <a:prstGeom prst="rect">
              <a:avLst/>
            </a:prstGeom>
          </p:spPr>
        </p:pic>
        <mc:AlternateContent xmlns:mc="http://schemas.openxmlformats.org/markup-compatibility/2006" xmlns:a14="http://schemas.microsoft.com/office/drawing/2010/main">
          <mc:Choice Requires="a14">
            <p:sp>
              <p:nvSpPr>
                <p:cNvPr id="31" name="Object 5">
                  <a:extLst>
                    <a:ext uri="{FF2B5EF4-FFF2-40B4-BE49-F238E27FC236}">
                      <a16:creationId xmlns:a16="http://schemas.microsoft.com/office/drawing/2014/main" id="{0B7CA7B4-05FF-4D13-9483-3287F1BDBAC4}"/>
                    </a:ext>
                  </a:extLst>
                </p:cNvPr>
                <p:cNvSpPr txBox="1"/>
                <p:nvPr/>
              </p:nvSpPr>
              <p:spPr bwMode="auto">
                <a:xfrm>
                  <a:off x="6983966" y="4399156"/>
                  <a:ext cx="1119063" cy="5238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𝑎</m:t>
                        </m:r>
                        <m:r>
                          <a:rPr lang="en-US" sz="2800" i="1">
                            <a:solidFill>
                              <a:srgbClr val="000000"/>
                            </a:solidFill>
                            <a:latin typeface="Cambria Math" panose="02040503050406030204" pitchFamily="18" charset="0"/>
                          </a:rPr>
                          <m:t>&lt;0</m:t>
                        </m:r>
                      </m:oMath>
                    </m:oMathPara>
                  </a14:m>
                  <a:endParaRPr lang="en-US" sz="2800" dirty="0"/>
                </a:p>
              </p:txBody>
            </p:sp>
          </mc:Choice>
          <mc:Fallback xmlns="">
            <p:sp>
              <p:nvSpPr>
                <p:cNvPr id="31" name="Object 5">
                  <a:extLst>
                    <a:ext uri="{FF2B5EF4-FFF2-40B4-BE49-F238E27FC236}">
                      <a16:creationId xmlns:a16="http://schemas.microsoft.com/office/drawing/2014/main" id="{0B7CA7B4-05FF-4D13-9483-3287F1BDBAC4}"/>
                    </a:ext>
                  </a:extLst>
                </p:cNvPr>
                <p:cNvSpPr txBox="1">
                  <a:spLocks noRot="1" noChangeAspect="1" noMove="1" noResize="1" noEditPoints="1" noAdjustHandles="1" noChangeArrowheads="1" noChangeShapeType="1" noTextEdit="1"/>
                </p:cNvSpPr>
                <p:nvPr/>
              </p:nvSpPr>
              <p:spPr bwMode="auto">
                <a:xfrm>
                  <a:off x="6983966" y="4399156"/>
                  <a:ext cx="1119063" cy="523875"/>
                </a:xfrm>
                <a:prstGeom prst="rect">
                  <a:avLst/>
                </a:prstGeom>
                <a:blipFill>
                  <a:blip r:embed="rId13"/>
                  <a:stretch>
                    <a:fillRect/>
                  </a:stretch>
                </a:blipFill>
                <a:ln>
                  <a:noFill/>
                </a:ln>
                <a:effectLst/>
              </p:spPr>
              <p:txBody>
                <a:bodyPr/>
                <a:lstStyle/>
                <a:p>
                  <a:r>
                    <a:rPr lang="en-US">
                      <a:noFill/>
                    </a:rPr>
                    <a:t> </a:t>
                  </a:r>
                </a:p>
              </p:txBody>
            </p:sp>
          </mc:Fallback>
        </mc:AlternateContent>
        <p:sp>
          <p:nvSpPr>
            <p:cNvPr id="32" name="Text Box 18">
              <a:extLst>
                <a:ext uri="{FF2B5EF4-FFF2-40B4-BE49-F238E27FC236}">
                  <a16:creationId xmlns:a16="http://schemas.microsoft.com/office/drawing/2014/main" id="{0073910C-0F76-4439-93EF-1E42E8EB3EDF}"/>
                </a:ext>
              </a:extLst>
            </p:cNvPr>
            <p:cNvSpPr txBox="1">
              <a:spLocks noChangeArrowheads="1"/>
            </p:cNvSpPr>
            <p:nvPr/>
          </p:nvSpPr>
          <p:spPr bwMode="auto">
            <a:xfrm>
              <a:off x="6172994" y="5536814"/>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dirty="0">
                  <a:solidFill>
                    <a:srgbClr val="000808"/>
                  </a:solidFill>
                  <a:latin typeface="宋体" panose="02010600030101010101" pitchFamily="2" charset="-122"/>
                </a:rPr>
                <a:t>0</a:t>
              </a:r>
            </a:p>
          </p:txBody>
        </p:sp>
        <mc:AlternateContent xmlns:mc="http://schemas.openxmlformats.org/markup-compatibility/2006" xmlns:a14="http://schemas.microsoft.com/office/drawing/2010/main">
          <mc:Choice Requires="a14">
            <p:sp>
              <p:nvSpPr>
                <p:cNvPr id="33" name="Object 6">
                  <a:extLst>
                    <a:ext uri="{FF2B5EF4-FFF2-40B4-BE49-F238E27FC236}">
                      <a16:creationId xmlns:a16="http://schemas.microsoft.com/office/drawing/2014/main" id="{63EF13A2-9DA0-4B37-BBAE-2E570B3F250D}"/>
                    </a:ext>
                  </a:extLst>
                </p:cNvPr>
                <p:cNvSpPr txBox="1"/>
                <p:nvPr/>
              </p:nvSpPr>
              <p:spPr bwMode="auto">
                <a:xfrm>
                  <a:off x="7882296" y="5203827"/>
                  <a:ext cx="285739" cy="4726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𝑡</m:t>
                        </m:r>
                      </m:oMath>
                    </m:oMathPara>
                  </a14:m>
                  <a:endParaRPr lang="en-US" sz="2800" dirty="0"/>
                </a:p>
              </p:txBody>
            </p:sp>
          </mc:Choice>
          <mc:Fallback xmlns="">
            <p:sp>
              <p:nvSpPr>
                <p:cNvPr id="33" name="Object 6">
                  <a:extLst>
                    <a:ext uri="{FF2B5EF4-FFF2-40B4-BE49-F238E27FC236}">
                      <a16:creationId xmlns:a16="http://schemas.microsoft.com/office/drawing/2014/main" id="{63EF13A2-9DA0-4B37-BBAE-2E570B3F250D}"/>
                    </a:ext>
                  </a:extLst>
                </p:cNvPr>
                <p:cNvSpPr txBox="1">
                  <a:spLocks noRot="1" noChangeAspect="1" noMove="1" noResize="1" noEditPoints="1" noAdjustHandles="1" noChangeArrowheads="1" noChangeShapeType="1" noTextEdit="1"/>
                </p:cNvSpPr>
                <p:nvPr/>
              </p:nvSpPr>
              <p:spPr bwMode="auto">
                <a:xfrm>
                  <a:off x="7882296" y="5203827"/>
                  <a:ext cx="285739" cy="472688"/>
                </a:xfrm>
                <a:prstGeom prst="rect">
                  <a:avLst/>
                </a:prstGeom>
                <a:blipFill>
                  <a:blip r:embed="rId1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bject 7">
                  <a:extLst>
                    <a:ext uri="{FF2B5EF4-FFF2-40B4-BE49-F238E27FC236}">
                      <a16:creationId xmlns:a16="http://schemas.microsoft.com/office/drawing/2014/main" id="{01B9C927-51D4-447F-9152-EED7D078AF6D}"/>
                    </a:ext>
                  </a:extLst>
                </p:cNvPr>
                <p:cNvSpPr txBox="1"/>
                <p:nvPr/>
              </p:nvSpPr>
              <p:spPr bwMode="auto">
                <a:xfrm>
                  <a:off x="6542881" y="3858825"/>
                  <a:ext cx="837417" cy="5238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34" name="Object 7">
                  <a:extLst>
                    <a:ext uri="{FF2B5EF4-FFF2-40B4-BE49-F238E27FC236}">
                      <a16:creationId xmlns:a16="http://schemas.microsoft.com/office/drawing/2014/main" id="{01B9C927-51D4-447F-9152-EED7D078AF6D}"/>
                    </a:ext>
                  </a:extLst>
                </p:cNvPr>
                <p:cNvSpPr txBox="1">
                  <a:spLocks noRot="1" noChangeAspect="1" noMove="1" noResize="1" noEditPoints="1" noAdjustHandles="1" noChangeArrowheads="1" noChangeShapeType="1" noTextEdit="1"/>
                </p:cNvSpPr>
                <p:nvPr/>
              </p:nvSpPr>
              <p:spPr bwMode="auto">
                <a:xfrm>
                  <a:off x="6542881" y="3858825"/>
                  <a:ext cx="837417" cy="523875"/>
                </a:xfrm>
                <a:prstGeom prst="rect">
                  <a:avLst/>
                </a:prstGeom>
                <a:blipFill>
                  <a:blip r:embed="rId15"/>
                  <a:stretch>
                    <a:fillRect/>
                  </a:stretch>
                </a:blipFill>
                <a:ln>
                  <a:noFill/>
                </a:ln>
                <a:effectLst/>
              </p:spPr>
              <p:txBody>
                <a:bodyPr/>
                <a:lstStyle/>
                <a:p>
                  <a:r>
                    <a:rPr lang="en-US">
                      <a:noFill/>
                    </a:rPr>
                    <a:t> </a:t>
                  </a:r>
                </a:p>
              </p:txBody>
            </p:sp>
          </mc:Fallback>
        </mc:AlternateContent>
        <p:sp>
          <p:nvSpPr>
            <p:cNvPr id="35" name="Line 21">
              <a:extLst>
                <a:ext uri="{FF2B5EF4-FFF2-40B4-BE49-F238E27FC236}">
                  <a16:creationId xmlns:a16="http://schemas.microsoft.com/office/drawing/2014/main" id="{1A90E5BE-97B4-43FE-B18A-727F49B368BB}"/>
                </a:ext>
              </a:extLst>
            </p:cNvPr>
            <p:cNvSpPr>
              <a:spLocks noChangeShapeType="1"/>
            </p:cNvSpPr>
            <p:nvPr/>
          </p:nvSpPr>
          <p:spPr bwMode="auto">
            <a:xfrm flipV="1">
              <a:off x="6482557" y="4074726"/>
              <a:ext cx="0" cy="1657350"/>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US"/>
            </a:p>
          </p:txBody>
        </p:sp>
        <p:sp>
          <p:nvSpPr>
            <p:cNvPr id="36" name="Rectangle 22">
              <a:extLst>
                <a:ext uri="{FF2B5EF4-FFF2-40B4-BE49-F238E27FC236}">
                  <a16:creationId xmlns:a16="http://schemas.microsoft.com/office/drawing/2014/main" id="{41137307-1A44-4217-85E8-7E9B7955FE5E}"/>
                </a:ext>
              </a:extLst>
            </p:cNvPr>
            <p:cNvSpPr>
              <a:spLocks noChangeArrowheads="1"/>
            </p:cNvSpPr>
            <p:nvPr/>
          </p:nvSpPr>
          <p:spPr bwMode="auto">
            <a:xfrm>
              <a:off x="6398419" y="3782626"/>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7" name="Line 23">
              <a:extLst>
                <a:ext uri="{FF2B5EF4-FFF2-40B4-BE49-F238E27FC236}">
                  <a16:creationId xmlns:a16="http://schemas.microsoft.com/office/drawing/2014/main" id="{D8AADC8D-5FFC-4694-A02C-21DD0C7DFF3F}"/>
                </a:ext>
              </a:extLst>
            </p:cNvPr>
            <p:cNvSpPr>
              <a:spLocks noChangeShapeType="1"/>
            </p:cNvSpPr>
            <p:nvPr/>
          </p:nvSpPr>
          <p:spPr bwMode="auto">
            <a:xfrm>
              <a:off x="5037932" y="5613014"/>
              <a:ext cx="2881313" cy="0"/>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US"/>
            </a:p>
          </p:txBody>
        </p:sp>
        <mc:AlternateContent xmlns:mc="http://schemas.openxmlformats.org/markup-compatibility/2006" xmlns:a14="http://schemas.microsoft.com/office/drawing/2010/main">
          <mc:Choice Requires="a14">
            <p:sp>
              <p:nvSpPr>
                <p:cNvPr id="38" name="Text Box 24">
                  <a:extLst>
                    <a:ext uri="{FF2B5EF4-FFF2-40B4-BE49-F238E27FC236}">
                      <a16:creationId xmlns:a16="http://schemas.microsoft.com/office/drawing/2014/main" id="{6E402EDD-07D0-4E89-9817-E2822ED918B1}"/>
                    </a:ext>
                  </a:extLst>
                </p:cNvPr>
                <p:cNvSpPr txBox="1">
                  <a:spLocks noChangeArrowheads="1"/>
                </p:cNvSpPr>
                <p:nvPr/>
              </p:nvSpPr>
              <p:spPr bwMode="auto">
                <a:xfrm>
                  <a:off x="6452742" y="4994012"/>
                  <a:ext cx="505010"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14:m>
                    <m:oMathPara xmlns:m="http://schemas.openxmlformats.org/officeDocument/2006/math">
                      <m:oMathParaPr>
                        <m:jc m:val="centerGroup"/>
                      </m:oMathParaPr>
                      <m:oMath xmlns:m="http://schemas.openxmlformats.org/officeDocument/2006/math">
                        <m:r>
                          <a:rPr lang="en-US" altLang="zh-CN" sz="2800" i="1" dirty="0" smtClean="0">
                            <a:solidFill>
                              <a:srgbClr val="000808"/>
                            </a:solidFill>
                            <a:latin typeface="Cambria Math" panose="02040503050406030204" pitchFamily="18" charset="0"/>
                            <a:ea typeface="楷体_GB2312" panose="02010609030101010101" pitchFamily="49" charset="-122"/>
                            <a:cs typeface="Times New Roman" panose="02020603050405020304" pitchFamily="18" charset="0"/>
                          </a:rPr>
                          <m:t>𝐶</m:t>
                        </m:r>
                      </m:oMath>
                    </m:oMathPara>
                  </a14:m>
                  <a:endParaRPr lang="en-US" altLang="zh-CN" sz="2800" i="1" dirty="0">
                    <a:solidFill>
                      <a:srgbClr val="000808"/>
                    </a:solidFill>
                    <a:latin typeface="Times New Roman" panose="02020603050405020304" pitchFamily="18" charset="0"/>
                    <a:ea typeface="楷体_GB2312" panose="02010609030101010101" pitchFamily="49" charset="-122"/>
                    <a:cs typeface="Times New Roman" panose="02020603050405020304" pitchFamily="18" charset="0"/>
                  </a:endParaRPr>
                </a:p>
              </p:txBody>
            </p:sp>
          </mc:Choice>
          <mc:Fallback xmlns="">
            <p:sp>
              <p:nvSpPr>
                <p:cNvPr id="38" name="Text Box 24">
                  <a:extLst>
                    <a:ext uri="{FF2B5EF4-FFF2-40B4-BE49-F238E27FC236}">
                      <a16:creationId xmlns:a16="http://schemas.microsoft.com/office/drawing/2014/main" id="{6E402EDD-07D0-4E89-9817-E2822ED918B1}"/>
                    </a:ext>
                  </a:extLst>
                </p:cNvPr>
                <p:cNvSpPr txBox="1">
                  <a:spLocks noRot="1" noChangeAspect="1" noMove="1" noResize="1" noEditPoints="1" noAdjustHandles="1" noChangeArrowheads="1" noChangeShapeType="1" noTextEdit="1"/>
                </p:cNvSpPr>
                <p:nvPr/>
              </p:nvSpPr>
              <p:spPr bwMode="auto">
                <a:xfrm>
                  <a:off x="6452742" y="4994012"/>
                  <a:ext cx="505010" cy="523220"/>
                </a:xfrm>
                <a:prstGeom prst="rect">
                  <a:avLst/>
                </a:prstGeom>
                <a:blipFill>
                  <a:blip r:embed="rId16"/>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7" name="矩形 17">
                <a:extLst>
                  <a:ext uri="{FF2B5EF4-FFF2-40B4-BE49-F238E27FC236}">
                    <a16:creationId xmlns:a16="http://schemas.microsoft.com/office/drawing/2014/main" id="{5B414B54-1E70-4675-9A18-169774F23264}"/>
                  </a:ext>
                </a:extLst>
              </p:cNvPr>
              <p:cNvSpPr>
                <a:spLocks noChangeArrowheads="1"/>
              </p:cNvSpPr>
              <p:nvPr/>
            </p:nvSpPr>
            <p:spPr bwMode="auto">
              <a:xfrm>
                <a:off x="3927475" y="5207082"/>
                <a:ext cx="1480405"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p>
                <a:pPr fontAlgn="base">
                  <a:spcBef>
                    <a:spcPct val="0"/>
                  </a:spcBef>
                  <a:spcAft>
                    <a:spcPct val="0"/>
                  </a:spcAft>
                </a:pPr>
                <a:r>
                  <a:rPr lang="en-US" altLang="zh-CN" sz="2800" dirty="0">
                    <a:latin typeface="Times New Roman" panose="02020603050405020304" pitchFamily="18" charset="0"/>
                    <a:ea typeface="楷体_GB2312" pitchFamily="49" charset="-122"/>
                    <a:cs typeface="Times New Roman" panose="02020603050405020304" pitchFamily="18" charset="0"/>
                  </a:rPr>
                  <a:t>(</a:t>
                </a:r>
                <a14:m>
                  <m:oMath xmlns:m="http://schemas.openxmlformats.org/officeDocument/2006/math">
                    <m:r>
                      <a:rPr lang="en-US" altLang="zh-CN" sz="2800" i="1" dirty="0" smtClean="0">
                        <a:latin typeface="Cambria Math" panose="02040503050406030204" pitchFamily="18" charset="0"/>
                        <a:ea typeface="楷体_GB2312" pitchFamily="49" charset="-122"/>
                        <a:cs typeface="Times New Roman" panose="02020603050405020304" pitchFamily="18" charset="0"/>
                      </a:rPr>
                      <m:t>𝐶</m:t>
                    </m:r>
                    <m:r>
                      <a:rPr lang="en-US" altLang="zh-CN" sz="2800" i="1" dirty="0" smtClean="0">
                        <a:latin typeface="Cambria Math" panose="02040503050406030204" pitchFamily="18" charset="0"/>
                        <a:ea typeface="楷体_GB2312" pitchFamily="49" charset="-122"/>
                        <a:cs typeface="Times New Roman" panose="02020603050405020304" pitchFamily="18" charset="0"/>
                      </a:rPr>
                      <m:t> &gt; 0</m:t>
                    </m:r>
                  </m:oMath>
                </a14:m>
                <a:r>
                  <a:rPr lang="en-US" altLang="zh-CN" sz="2800" dirty="0">
                    <a:latin typeface="Times New Roman" panose="02020603050405020304" pitchFamily="18" charset="0"/>
                    <a:ea typeface="楷体_GB2312" pitchFamily="49" charset="-122"/>
                    <a:cs typeface="Times New Roman" panose="02020603050405020304" pitchFamily="18" charset="0"/>
                  </a:rPr>
                  <a:t>)</a:t>
                </a:r>
                <a:endParaRPr lang="zh-CN" altLang="en-US" sz="2800" dirty="0">
                  <a:latin typeface="Times New Roman" panose="02020603050405020304" pitchFamily="18" charset="0"/>
                  <a:cs typeface="Times New Roman" panose="02020603050405020304" pitchFamily="18" charset="0"/>
                </a:endParaRPr>
              </a:p>
            </p:txBody>
          </p:sp>
        </mc:Choice>
        <mc:Fallback xmlns="">
          <p:sp>
            <p:nvSpPr>
              <p:cNvPr id="57" name="矩形 17">
                <a:extLst>
                  <a:ext uri="{FF2B5EF4-FFF2-40B4-BE49-F238E27FC236}">
                    <a16:creationId xmlns:a16="http://schemas.microsoft.com/office/drawing/2014/main" id="{5B414B54-1E70-4675-9A18-169774F23264}"/>
                  </a:ext>
                </a:extLst>
              </p:cNvPr>
              <p:cNvSpPr>
                <a:spLocks noRot="1" noChangeAspect="1" noMove="1" noResize="1" noEditPoints="1" noAdjustHandles="1" noChangeArrowheads="1" noChangeShapeType="1" noTextEdit="1"/>
              </p:cNvSpPr>
              <p:nvPr/>
            </p:nvSpPr>
            <p:spPr bwMode="auto">
              <a:xfrm>
                <a:off x="3927475" y="5207082"/>
                <a:ext cx="1480405" cy="523220"/>
              </a:xfrm>
              <a:prstGeom prst="rect">
                <a:avLst/>
              </a:prstGeom>
              <a:blipFill>
                <a:blip r:embed="rId17"/>
                <a:stretch>
                  <a:fillRect l="-8230" t="-11628" r="-6996"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Object 5">
                <a:extLst>
                  <a:ext uri="{FF2B5EF4-FFF2-40B4-BE49-F238E27FC236}">
                    <a16:creationId xmlns:a16="http://schemas.microsoft.com/office/drawing/2014/main" id="{A16E6B4D-C66C-491A-9D9B-FA60B58CD98F}"/>
                  </a:ext>
                </a:extLst>
              </p:cNvPr>
              <p:cNvSpPr txBox="1"/>
              <p:nvPr/>
            </p:nvSpPr>
            <p:spPr bwMode="auto">
              <a:xfrm>
                <a:off x="1285875" y="3585437"/>
                <a:ext cx="1143000" cy="5238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chemeClr val="tx1"/>
                          </a:solidFill>
                          <a:latin typeface="Cambria Math" panose="02040503050406030204" pitchFamily="18" charset="0"/>
                        </a:rPr>
                        <m:t>𝑎</m:t>
                      </m:r>
                      <m:r>
                        <a:rPr lang="en-US" sz="2800" i="1" smtClean="0">
                          <a:solidFill>
                            <a:schemeClr val="tx1"/>
                          </a:solidFill>
                          <a:latin typeface="Cambria Math" panose="02040503050406030204" pitchFamily="18" charset="0"/>
                        </a:rPr>
                        <m:t>&gt;0</m:t>
                      </m:r>
                    </m:oMath>
                  </m:oMathPara>
                </a14:m>
                <a:endParaRPr lang="en-US" sz="2800" dirty="0">
                  <a:solidFill>
                    <a:schemeClr val="tx1"/>
                  </a:solidFill>
                </a:endParaRPr>
              </a:p>
            </p:txBody>
          </p:sp>
        </mc:Choice>
        <mc:Fallback xmlns="">
          <p:sp>
            <p:nvSpPr>
              <p:cNvPr id="39" name="Object 5">
                <a:extLst>
                  <a:ext uri="{FF2B5EF4-FFF2-40B4-BE49-F238E27FC236}">
                    <a16:creationId xmlns:a16="http://schemas.microsoft.com/office/drawing/2014/main" id="{A16E6B4D-C66C-491A-9D9B-FA60B58CD98F}"/>
                  </a:ext>
                </a:extLst>
              </p:cNvPr>
              <p:cNvSpPr txBox="1">
                <a:spLocks noRot="1" noChangeAspect="1" noMove="1" noResize="1" noEditPoints="1" noAdjustHandles="1" noChangeArrowheads="1" noChangeShapeType="1" noTextEdit="1"/>
              </p:cNvSpPr>
              <p:nvPr/>
            </p:nvSpPr>
            <p:spPr bwMode="auto">
              <a:xfrm>
                <a:off x="1285875" y="3585437"/>
                <a:ext cx="1143000" cy="523875"/>
              </a:xfrm>
              <a:prstGeom prst="rect">
                <a:avLst/>
              </a:prstGeom>
              <a:blipFill>
                <a:blip r:embed="rId19"/>
                <a:stretch>
                  <a:fillRect/>
                </a:stretch>
              </a:blipFill>
              <a:ln>
                <a:noFill/>
              </a:ln>
              <a:effectLst/>
            </p:spPr>
            <p:txBody>
              <a:bodyPr/>
              <a:lstStyle/>
              <a:p>
                <a:r>
                  <a:rPr lang="en-US">
                    <a:noFill/>
                  </a:rPr>
                  <a:t> </a:t>
                </a:r>
              </a:p>
            </p:txBody>
          </p:sp>
        </mc:Fallback>
      </mc:AlternateContent>
      <p:sp>
        <p:nvSpPr>
          <p:cNvPr id="40" name="Text Box 18">
            <a:extLst>
              <a:ext uri="{FF2B5EF4-FFF2-40B4-BE49-F238E27FC236}">
                <a16:creationId xmlns:a16="http://schemas.microsoft.com/office/drawing/2014/main" id="{313866F5-A111-45D5-9FAB-12229C41C951}"/>
              </a:ext>
            </a:extLst>
          </p:cNvPr>
          <p:cNvSpPr txBox="1">
            <a:spLocks noChangeArrowheads="1"/>
          </p:cNvSpPr>
          <p:nvPr/>
        </p:nvSpPr>
        <p:spPr bwMode="auto">
          <a:xfrm>
            <a:off x="2428875" y="4903063"/>
            <a:ext cx="3635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dirty="0">
                <a:latin typeface="宋体" panose="02010600030101010101" pitchFamily="2" charset="-122"/>
              </a:rPr>
              <a:t>0</a:t>
            </a:r>
          </a:p>
        </p:txBody>
      </p:sp>
      <mc:AlternateContent xmlns:mc="http://schemas.openxmlformats.org/markup-compatibility/2006" xmlns:a14="http://schemas.microsoft.com/office/drawing/2010/main">
        <mc:Choice Requires="a14">
          <p:sp>
            <p:nvSpPr>
              <p:cNvPr id="41" name="Object 6">
                <a:extLst>
                  <a:ext uri="{FF2B5EF4-FFF2-40B4-BE49-F238E27FC236}">
                    <a16:creationId xmlns:a16="http://schemas.microsoft.com/office/drawing/2014/main" id="{BA9944C1-E496-4350-9A2B-D22AF385F3B3}"/>
                  </a:ext>
                </a:extLst>
              </p:cNvPr>
              <p:cNvSpPr txBox="1"/>
              <p:nvPr/>
            </p:nvSpPr>
            <p:spPr bwMode="auto">
              <a:xfrm>
                <a:off x="4084638" y="4574450"/>
                <a:ext cx="295275" cy="5048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chemeClr val="tx1"/>
                          </a:solidFill>
                          <a:latin typeface="Cambria Math" panose="02040503050406030204" pitchFamily="18" charset="0"/>
                        </a:rPr>
                        <m:t>𝑡</m:t>
                      </m:r>
                    </m:oMath>
                  </m:oMathPara>
                </a14:m>
                <a:endParaRPr lang="en-US" sz="2800" dirty="0">
                  <a:solidFill>
                    <a:schemeClr val="tx1"/>
                  </a:solidFill>
                </a:endParaRPr>
              </a:p>
            </p:txBody>
          </p:sp>
        </mc:Choice>
        <mc:Fallback xmlns="">
          <p:sp>
            <p:nvSpPr>
              <p:cNvPr id="41" name="Object 6">
                <a:extLst>
                  <a:ext uri="{FF2B5EF4-FFF2-40B4-BE49-F238E27FC236}">
                    <a16:creationId xmlns:a16="http://schemas.microsoft.com/office/drawing/2014/main" id="{BA9944C1-E496-4350-9A2B-D22AF385F3B3}"/>
                  </a:ext>
                </a:extLst>
              </p:cNvPr>
              <p:cNvSpPr txBox="1">
                <a:spLocks noRot="1" noChangeAspect="1" noMove="1" noResize="1" noEditPoints="1" noAdjustHandles="1" noChangeArrowheads="1" noChangeShapeType="1" noTextEdit="1"/>
              </p:cNvSpPr>
              <p:nvPr/>
            </p:nvSpPr>
            <p:spPr bwMode="auto">
              <a:xfrm>
                <a:off x="4084638" y="4574450"/>
                <a:ext cx="295275" cy="504825"/>
              </a:xfrm>
              <a:prstGeom prst="rect">
                <a:avLst/>
              </a:prstGeom>
              <a:blipFill>
                <a:blip r:embed="rId20"/>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bject 7">
                <a:extLst>
                  <a:ext uri="{FF2B5EF4-FFF2-40B4-BE49-F238E27FC236}">
                    <a16:creationId xmlns:a16="http://schemas.microsoft.com/office/drawing/2014/main" id="{88E6AF78-C8E5-43DD-9B33-C9671FD09410}"/>
                  </a:ext>
                </a:extLst>
              </p:cNvPr>
              <p:cNvSpPr txBox="1"/>
              <p:nvPr/>
            </p:nvSpPr>
            <p:spPr bwMode="auto">
              <a:xfrm>
                <a:off x="2798763" y="3225074"/>
                <a:ext cx="836613" cy="5572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chemeClr val="tx1"/>
                          </a:solidFill>
                          <a:latin typeface="Cambria Math" panose="02040503050406030204" pitchFamily="18" charset="0"/>
                        </a:rPr>
                        <m:t>𝑥</m:t>
                      </m:r>
                      <m:r>
                        <a:rPr lang="en-US" sz="2800" i="1" smtClean="0">
                          <a:solidFill>
                            <a:schemeClr val="tx1"/>
                          </a:solidFill>
                          <a:latin typeface="Cambria Math" panose="02040503050406030204" pitchFamily="18" charset="0"/>
                        </a:rPr>
                        <m:t>(</m:t>
                      </m:r>
                      <m:r>
                        <a:rPr lang="en-US" sz="2800" i="1" smtClean="0">
                          <a:solidFill>
                            <a:schemeClr val="tx1"/>
                          </a:solidFill>
                          <a:latin typeface="Cambria Math" panose="02040503050406030204" pitchFamily="18" charset="0"/>
                        </a:rPr>
                        <m:t>𝑡</m:t>
                      </m:r>
                      <m:r>
                        <a:rPr lang="en-US" sz="2800" i="1" smtClean="0">
                          <a:solidFill>
                            <a:schemeClr val="tx1"/>
                          </a:solidFill>
                          <a:latin typeface="Cambria Math" panose="02040503050406030204" pitchFamily="18" charset="0"/>
                        </a:rPr>
                        <m:t>)</m:t>
                      </m:r>
                    </m:oMath>
                  </m:oMathPara>
                </a14:m>
                <a:endParaRPr lang="en-US" sz="2800" dirty="0">
                  <a:solidFill>
                    <a:schemeClr val="tx1"/>
                  </a:solidFill>
                </a:endParaRPr>
              </a:p>
            </p:txBody>
          </p:sp>
        </mc:Choice>
        <mc:Fallback xmlns="">
          <p:sp>
            <p:nvSpPr>
              <p:cNvPr id="42" name="Object 7">
                <a:extLst>
                  <a:ext uri="{FF2B5EF4-FFF2-40B4-BE49-F238E27FC236}">
                    <a16:creationId xmlns:a16="http://schemas.microsoft.com/office/drawing/2014/main" id="{88E6AF78-C8E5-43DD-9B33-C9671FD09410}"/>
                  </a:ext>
                </a:extLst>
              </p:cNvPr>
              <p:cNvSpPr txBox="1">
                <a:spLocks noRot="1" noChangeAspect="1" noMove="1" noResize="1" noEditPoints="1" noAdjustHandles="1" noChangeArrowheads="1" noChangeShapeType="1" noTextEdit="1"/>
              </p:cNvSpPr>
              <p:nvPr/>
            </p:nvSpPr>
            <p:spPr bwMode="auto">
              <a:xfrm>
                <a:off x="2798763" y="3225074"/>
                <a:ext cx="836613" cy="557213"/>
              </a:xfrm>
              <a:prstGeom prst="rect">
                <a:avLst/>
              </a:prstGeom>
              <a:blipFill>
                <a:blip r:embed="rId21"/>
                <a:stretch>
                  <a:fillRect/>
                </a:stretch>
              </a:blipFill>
              <a:ln>
                <a:noFill/>
              </a:ln>
              <a:effectLst/>
            </p:spPr>
            <p:txBody>
              <a:bodyPr/>
              <a:lstStyle/>
              <a:p>
                <a:r>
                  <a:rPr lang="en-US">
                    <a:noFill/>
                  </a:rPr>
                  <a:t> </a:t>
                </a:r>
              </a:p>
            </p:txBody>
          </p:sp>
        </mc:Fallback>
      </mc:AlternateContent>
      <p:sp>
        <p:nvSpPr>
          <p:cNvPr id="43" name="Line 21">
            <a:extLst>
              <a:ext uri="{FF2B5EF4-FFF2-40B4-BE49-F238E27FC236}">
                <a16:creationId xmlns:a16="http://schemas.microsoft.com/office/drawing/2014/main" id="{E116116D-A4F4-4034-B504-FC143D868D4C}"/>
              </a:ext>
            </a:extLst>
          </p:cNvPr>
          <p:cNvSpPr>
            <a:spLocks noChangeShapeType="1"/>
          </p:cNvSpPr>
          <p:nvPr/>
        </p:nvSpPr>
        <p:spPr bwMode="auto">
          <a:xfrm flipV="1">
            <a:off x="2738438" y="3440974"/>
            <a:ext cx="0" cy="1657351"/>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US"/>
          </a:p>
        </p:txBody>
      </p:sp>
      <p:sp>
        <p:nvSpPr>
          <p:cNvPr id="44" name="Rectangle 22">
            <a:extLst>
              <a:ext uri="{FF2B5EF4-FFF2-40B4-BE49-F238E27FC236}">
                <a16:creationId xmlns:a16="http://schemas.microsoft.com/office/drawing/2014/main" id="{47D38DF6-F256-4AA7-872C-89ED48BFAD48}"/>
              </a:ext>
            </a:extLst>
          </p:cNvPr>
          <p:cNvSpPr>
            <a:spLocks noChangeArrowheads="1"/>
          </p:cNvSpPr>
          <p:nvPr/>
        </p:nvSpPr>
        <p:spPr bwMode="auto">
          <a:xfrm>
            <a:off x="2654300" y="3148874"/>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 name="Line 23">
            <a:extLst>
              <a:ext uri="{FF2B5EF4-FFF2-40B4-BE49-F238E27FC236}">
                <a16:creationId xmlns:a16="http://schemas.microsoft.com/office/drawing/2014/main" id="{580E0196-A350-4F8B-AA1A-20154334407F}"/>
              </a:ext>
            </a:extLst>
          </p:cNvPr>
          <p:cNvSpPr>
            <a:spLocks noChangeShapeType="1"/>
          </p:cNvSpPr>
          <p:nvPr/>
        </p:nvSpPr>
        <p:spPr bwMode="auto">
          <a:xfrm>
            <a:off x="1293813" y="4979263"/>
            <a:ext cx="2881313" cy="0"/>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US"/>
          </a:p>
        </p:txBody>
      </p:sp>
      <mc:AlternateContent xmlns:mc="http://schemas.openxmlformats.org/markup-compatibility/2006" xmlns:a14="http://schemas.microsoft.com/office/drawing/2010/main">
        <mc:Choice Requires="a14">
          <p:sp>
            <p:nvSpPr>
              <p:cNvPr id="46" name="Text Box 24">
                <a:extLst>
                  <a:ext uri="{FF2B5EF4-FFF2-40B4-BE49-F238E27FC236}">
                    <a16:creationId xmlns:a16="http://schemas.microsoft.com/office/drawing/2014/main" id="{43AAD452-B5BF-4143-BAB6-CFB06D72D446}"/>
                  </a:ext>
                </a:extLst>
              </p:cNvPr>
              <p:cNvSpPr txBox="1">
                <a:spLocks noChangeArrowheads="1"/>
              </p:cNvSpPr>
              <p:nvPr/>
            </p:nvSpPr>
            <p:spPr bwMode="auto">
              <a:xfrm>
                <a:off x="2268538" y="4309337"/>
                <a:ext cx="505010"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ea typeface="楷体_GB2312" panose="02010609030101010101" pitchFamily="49" charset="-122"/>
                          <a:cs typeface="Times New Roman" panose="02020603050405020304" pitchFamily="18" charset="0"/>
                        </a:rPr>
                        <m:t>𝐶</m:t>
                      </m:r>
                    </m:oMath>
                  </m:oMathPara>
                </a14:m>
                <a:endParaRPr lang="en-US" altLang="zh-CN" sz="2800" i="1" dirty="0">
                  <a:latin typeface="Times New Roman" panose="02020603050405020304" pitchFamily="18" charset="0"/>
                  <a:ea typeface="楷体_GB2312" panose="02010609030101010101" pitchFamily="49" charset="-122"/>
                  <a:cs typeface="Times New Roman" panose="02020603050405020304" pitchFamily="18" charset="0"/>
                </a:endParaRPr>
              </a:p>
            </p:txBody>
          </p:sp>
        </mc:Choice>
        <mc:Fallback xmlns="">
          <p:sp>
            <p:nvSpPr>
              <p:cNvPr id="46" name="Text Box 24">
                <a:extLst>
                  <a:ext uri="{FF2B5EF4-FFF2-40B4-BE49-F238E27FC236}">
                    <a16:creationId xmlns:a16="http://schemas.microsoft.com/office/drawing/2014/main" id="{43AAD452-B5BF-4143-BAB6-CFB06D72D446}"/>
                  </a:ext>
                </a:extLst>
              </p:cNvPr>
              <p:cNvSpPr txBox="1">
                <a:spLocks noRot="1" noChangeAspect="1" noMove="1" noResize="1" noEditPoints="1" noAdjustHandles="1" noChangeArrowheads="1" noChangeShapeType="1" noTextEdit="1"/>
              </p:cNvSpPr>
              <p:nvPr/>
            </p:nvSpPr>
            <p:spPr bwMode="auto">
              <a:xfrm>
                <a:off x="2268538" y="4309337"/>
                <a:ext cx="505010" cy="523220"/>
              </a:xfrm>
              <a:prstGeom prst="rect">
                <a:avLst/>
              </a:prstGeom>
              <a:blipFill>
                <a:blip r:embed="rId2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2" descr="http://ww3.sinaimg.cn/mw690/7cc829d3gw1eh5q2kqrs0j20go09iaaq.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9175" y="4254500"/>
            <a:ext cx="4565650"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293" name="Object 4"/>
          <p:cNvGraphicFramePr>
            <a:graphicFrameLocks noChangeAspect="1"/>
          </p:cNvGraphicFramePr>
          <p:nvPr/>
        </p:nvGraphicFramePr>
        <p:xfrm>
          <a:off x="3201988" y="1470025"/>
          <a:ext cx="1825625" cy="427038"/>
        </p:xfrm>
        <a:graphic>
          <a:graphicData uri="http://schemas.openxmlformats.org/presentationml/2006/ole">
            <mc:AlternateContent xmlns:mc="http://schemas.openxmlformats.org/markup-compatibility/2006">
              <mc:Choice xmlns:v="urn:schemas-microsoft-com:vml" Requires="v">
                <p:oleObj spid="_x0000_s12342" name="公式" r:id="rId4" imgW="685800" imgH="203200" progId="Equation.3">
                  <p:embed/>
                </p:oleObj>
              </mc:Choice>
              <mc:Fallback>
                <p:oleObj name="公式" r:id="rId4" imgW="685800" imgH="203200" progId="Equation.3">
                  <p:embed/>
                  <p:pic>
                    <p:nvPicPr>
                      <p:cNvPr id="1229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1988" y="1470025"/>
                        <a:ext cx="18256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4" name="Text Box 2"/>
          <p:cNvSpPr txBox="1">
            <a:spLocks noChangeArrowheads="1"/>
          </p:cNvSpPr>
          <p:nvPr/>
        </p:nvSpPr>
        <p:spPr bwMode="auto">
          <a:xfrm>
            <a:off x="354013" y="1968500"/>
            <a:ext cx="8161337"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indent="5349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2400" b="1" dirty="0">
                <a:latin typeface="Times New Roman" panose="02020603050405020304" pitchFamily="18" charset="0"/>
                <a:ea typeface="楷体_GB2312" panose="02010609030101010101" pitchFamily="49" charset="-122"/>
              </a:rPr>
              <a:t>复数极坐标表示</a:t>
            </a:r>
            <a:endParaRPr lang="zh-CN" altLang="en-US" sz="2000" b="1" dirty="0">
              <a:latin typeface="Times New Roman" panose="02020603050405020304" pitchFamily="18" charset="0"/>
              <a:ea typeface="楷体_GB2312" panose="02010609030101010101" pitchFamily="49" charset="-122"/>
            </a:endParaRPr>
          </a:p>
        </p:txBody>
      </p:sp>
      <p:graphicFrame>
        <p:nvGraphicFramePr>
          <p:cNvPr id="12295" name="Object 4"/>
          <p:cNvGraphicFramePr>
            <a:graphicFrameLocks noChangeAspect="1"/>
          </p:cNvGraphicFramePr>
          <p:nvPr>
            <p:extLst>
              <p:ext uri="{D42A27DB-BD31-4B8C-83A1-F6EECF244321}">
                <p14:modId xmlns:p14="http://schemas.microsoft.com/office/powerpoint/2010/main" val="611543773"/>
              </p:ext>
            </p:extLst>
          </p:nvPr>
        </p:nvGraphicFramePr>
        <p:xfrm>
          <a:off x="827584" y="2412660"/>
          <a:ext cx="7920880" cy="717890"/>
        </p:xfrm>
        <a:graphic>
          <a:graphicData uri="http://schemas.openxmlformats.org/presentationml/2006/ole">
            <mc:AlternateContent xmlns:mc="http://schemas.openxmlformats.org/markup-compatibility/2006">
              <mc:Choice xmlns:v="urn:schemas-microsoft-com:vml" Requires="v">
                <p:oleObj spid="_x0000_s12343" name="公式" r:id="rId6" imgW="4279680" imgH="406080" progId="Equation.3">
                  <p:embed/>
                </p:oleObj>
              </mc:Choice>
              <mc:Fallback>
                <p:oleObj name="公式" r:id="rId6" imgW="4279680" imgH="406080" progId="Equation.3">
                  <p:embed/>
                  <p:pic>
                    <p:nvPicPr>
                      <p:cNvPr id="12295" name="Object 4"/>
                      <p:cNvPicPr>
                        <a:picLocks noChangeAspect="1" noChangeArrowheads="1"/>
                      </p:cNvPicPr>
                      <p:nvPr/>
                    </p:nvPicPr>
                    <p:blipFill>
                      <a:blip r:embed="rId7"/>
                      <a:srcRect/>
                      <a:stretch>
                        <a:fillRect/>
                      </a:stretch>
                    </p:blipFill>
                    <p:spPr bwMode="auto">
                      <a:xfrm>
                        <a:off x="827584" y="2412660"/>
                        <a:ext cx="7920880" cy="717890"/>
                      </a:xfrm>
                      <a:prstGeom prst="rect">
                        <a:avLst/>
                      </a:prstGeom>
                      <a:noFill/>
                      <a:ln>
                        <a:noFill/>
                      </a:ln>
                    </p:spPr>
                  </p:pic>
                </p:oleObj>
              </mc:Fallback>
            </mc:AlternateContent>
          </a:graphicData>
        </a:graphic>
      </p:graphicFrame>
      <p:sp>
        <p:nvSpPr>
          <p:cNvPr id="12296" name="Text Box 2"/>
          <p:cNvSpPr txBox="1">
            <a:spLocks noChangeArrowheads="1"/>
          </p:cNvSpPr>
          <p:nvPr/>
        </p:nvSpPr>
        <p:spPr bwMode="auto">
          <a:xfrm>
            <a:off x="334963" y="3168650"/>
            <a:ext cx="8162925"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indent="5349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2400" b="1">
                <a:latin typeface="Times New Roman" panose="02020603050405020304" pitchFamily="18" charset="0"/>
                <a:ea typeface="楷体_GB2312" panose="02010609030101010101" pitchFamily="49" charset="-122"/>
              </a:rPr>
              <a:t>欧拉公式</a:t>
            </a:r>
            <a:endParaRPr lang="zh-CN" altLang="en-US" sz="2000" b="1">
              <a:latin typeface="Times New Roman" panose="02020603050405020304" pitchFamily="18" charset="0"/>
              <a:ea typeface="楷体_GB2312" panose="02010609030101010101" pitchFamily="49" charset="-122"/>
            </a:endParaRPr>
          </a:p>
        </p:txBody>
      </p:sp>
      <p:graphicFrame>
        <p:nvGraphicFramePr>
          <p:cNvPr id="12297" name="Object 4"/>
          <p:cNvGraphicFramePr>
            <a:graphicFrameLocks noChangeAspect="1"/>
          </p:cNvGraphicFramePr>
          <p:nvPr/>
        </p:nvGraphicFramePr>
        <p:xfrm>
          <a:off x="2970213" y="3130550"/>
          <a:ext cx="3076575" cy="481013"/>
        </p:xfrm>
        <a:graphic>
          <a:graphicData uri="http://schemas.openxmlformats.org/presentationml/2006/ole">
            <mc:AlternateContent xmlns:mc="http://schemas.openxmlformats.org/markup-compatibility/2006">
              <mc:Choice xmlns:v="urn:schemas-microsoft-com:vml" Requires="v">
                <p:oleObj spid="_x0000_s12344" name="公式" r:id="rId8" imgW="1155700" imgH="228600" progId="Equation.3">
                  <p:embed/>
                </p:oleObj>
              </mc:Choice>
              <mc:Fallback>
                <p:oleObj name="公式" r:id="rId8" imgW="1155700" imgH="228600" progId="Equation.3">
                  <p:embed/>
                  <p:pic>
                    <p:nvPicPr>
                      <p:cNvPr id="12297"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0213" y="3130550"/>
                        <a:ext cx="3076575"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8" name="Object 4"/>
          <p:cNvGraphicFramePr>
            <a:graphicFrameLocks noChangeAspect="1"/>
          </p:cNvGraphicFramePr>
          <p:nvPr/>
        </p:nvGraphicFramePr>
        <p:xfrm>
          <a:off x="4494213" y="3709988"/>
          <a:ext cx="1790700" cy="479425"/>
        </p:xfrm>
        <a:graphic>
          <a:graphicData uri="http://schemas.openxmlformats.org/presentationml/2006/ole">
            <mc:AlternateContent xmlns:mc="http://schemas.openxmlformats.org/markup-compatibility/2006">
              <mc:Choice xmlns:v="urn:schemas-microsoft-com:vml" Requires="v">
                <p:oleObj spid="_x0000_s12345" name="公式" r:id="rId10" imgW="672808" imgH="228501" progId="Equation.3">
                  <p:embed/>
                </p:oleObj>
              </mc:Choice>
              <mc:Fallback>
                <p:oleObj name="公式" r:id="rId10" imgW="672808" imgH="228501" progId="Equation.3">
                  <p:embed/>
                  <p:pic>
                    <p:nvPicPr>
                      <p:cNvPr id="12298"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94213" y="3709988"/>
                        <a:ext cx="17907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9" name="Text Box 2"/>
          <p:cNvSpPr txBox="1">
            <a:spLocks noChangeArrowheads="1"/>
          </p:cNvSpPr>
          <p:nvPr/>
        </p:nvSpPr>
        <p:spPr bwMode="auto">
          <a:xfrm>
            <a:off x="334963" y="3713163"/>
            <a:ext cx="8161337"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indent="5349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2400" b="1">
                <a:latin typeface="Times New Roman" panose="02020603050405020304" pitchFamily="18" charset="0"/>
                <a:ea typeface="楷体_GB2312" panose="02010609030101010101" pitchFamily="49" charset="-122"/>
              </a:rPr>
              <a:t>极坐标下复数的另种表示</a:t>
            </a:r>
            <a:endParaRPr lang="zh-CN" altLang="en-US" sz="2000" b="1">
              <a:latin typeface="Times New Roman" panose="02020603050405020304" pitchFamily="18" charset="0"/>
              <a:ea typeface="楷体_GB2312" panose="02010609030101010101" pitchFamily="49" charset="-122"/>
            </a:endParaRPr>
          </a:p>
        </p:txBody>
      </p:sp>
      <p:sp>
        <p:nvSpPr>
          <p:cNvPr id="2" name="标题 1"/>
          <p:cNvSpPr>
            <a:spLocks noGrp="1"/>
          </p:cNvSpPr>
          <p:nvPr>
            <p:ph type="title"/>
          </p:nvPr>
        </p:nvSpPr>
        <p:spPr>
          <a:xfrm>
            <a:off x="457200" y="131235"/>
            <a:ext cx="8229600" cy="725487"/>
          </a:xfrm>
        </p:spPr>
        <p:txBody>
          <a:bodyPr/>
          <a:lstStyle/>
          <a:p>
            <a:r>
              <a:rPr lang="zh-CN" altLang="en-US" dirty="0" smtClean="0"/>
              <a:t>复数概念</a:t>
            </a:r>
            <a:endParaRPr lang="zh-CN" altLang="en-US" dirty="0"/>
          </a:p>
        </p:txBody>
      </p:sp>
    </p:spTree>
    <p:extLst>
      <p:ext uri="{BB962C8B-B14F-4D97-AF65-F5344CB8AC3E}">
        <p14:creationId xmlns:p14="http://schemas.microsoft.com/office/powerpoint/2010/main" val="203837957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7" name="标题 1">
            <a:extLst>
              <a:ext uri="{FF2B5EF4-FFF2-40B4-BE49-F238E27FC236}">
                <a16:creationId xmlns:a16="http://schemas.microsoft.com/office/drawing/2014/main" id="{0AA5BCDA-B5F9-4C7D-96F3-EB015D6455CE}"/>
              </a:ext>
            </a:extLst>
          </p:cNvPr>
          <p:cNvSpPr>
            <a:spLocks noGrp="1"/>
          </p:cNvSpPr>
          <p:nvPr>
            <p:ph type="title"/>
          </p:nvPr>
        </p:nvSpPr>
        <p:spPr/>
        <p:txBody>
          <a:bodyPr/>
          <a:lstStyle/>
          <a:p>
            <a:pPr eaLnBrk="1" hangingPunct="1"/>
            <a:r>
              <a:rPr lang="en-US" altLang="zh-CN" dirty="0"/>
              <a:t>1.3  </a:t>
            </a:r>
            <a:r>
              <a:rPr lang="zh-CN" altLang="en-US" dirty="0"/>
              <a:t>复指数信号与正弦信号</a:t>
            </a:r>
          </a:p>
        </p:txBody>
      </p:sp>
      <p:sp>
        <p:nvSpPr>
          <p:cNvPr id="4" name="灯片编号占位符 3">
            <a:extLst>
              <a:ext uri="{FF2B5EF4-FFF2-40B4-BE49-F238E27FC236}">
                <a16:creationId xmlns:a16="http://schemas.microsoft.com/office/drawing/2014/main" id="{3D85D18B-C62B-4522-A7DF-15D2494CE7D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4F7A0BB-176A-4023-9CB4-F4AAD0FB3ED3}" type="slidenum">
              <a:rPr lang="zh-CN" altLang="en-US">
                <a:solidFill>
                  <a:srgbClr val="898989"/>
                </a:solidFill>
                <a:latin typeface="Calibri" panose="020F0502020204030204" pitchFamily="34" charset="0"/>
              </a:rPr>
              <a:pPr eaLnBrk="1" hangingPunct="1"/>
              <a:t>38</a:t>
            </a:fld>
            <a:endParaRPr lang="zh-CN" altLang="en-US">
              <a:solidFill>
                <a:srgbClr val="898989"/>
              </a:solidFill>
              <a:latin typeface="Calibri" panose="020F0502020204030204" pitchFamily="34" charset="0"/>
            </a:endParaRPr>
          </a:p>
        </p:txBody>
      </p:sp>
      <p:sp>
        <p:nvSpPr>
          <p:cNvPr id="20489" name="Text Box 7">
            <a:extLst>
              <a:ext uri="{FF2B5EF4-FFF2-40B4-BE49-F238E27FC236}">
                <a16:creationId xmlns:a16="http://schemas.microsoft.com/office/drawing/2014/main" id="{566EB6C5-7EA0-4B4F-A699-0D2B063E173E}"/>
              </a:ext>
            </a:extLst>
          </p:cNvPr>
          <p:cNvSpPr txBox="1">
            <a:spLocks noChangeArrowheads="1"/>
          </p:cNvSpPr>
          <p:nvPr/>
        </p:nvSpPr>
        <p:spPr bwMode="auto">
          <a:xfrm>
            <a:off x="571500" y="1285875"/>
            <a:ext cx="53419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dirty="0">
                <a:latin typeface="Times New Roman" panose="02020603050405020304" pitchFamily="18" charset="0"/>
                <a:ea typeface="楷体" panose="02010609060101010101" pitchFamily="49" charset="-122"/>
              </a:rPr>
              <a:t>2. </a:t>
            </a:r>
            <a:r>
              <a:rPr lang="zh-CN" altLang="en-US" sz="2800" b="1" dirty="0">
                <a:solidFill>
                  <a:srgbClr val="FF0000"/>
                </a:solidFill>
                <a:latin typeface="Times New Roman" panose="02020603050405020304" pitchFamily="18" charset="0"/>
                <a:ea typeface="楷体" panose="02010609060101010101" pitchFamily="49" charset="-122"/>
              </a:rPr>
              <a:t>周期性复指数信号</a:t>
            </a:r>
            <a:r>
              <a:rPr lang="zh-CN" altLang="en-US" sz="2800" dirty="0">
                <a:latin typeface="Times New Roman" panose="02020603050405020304" pitchFamily="18" charset="0"/>
                <a:ea typeface="楷体" panose="02010609060101010101" pitchFamily="49" charset="-122"/>
              </a:rPr>
              <a:t>与正弦信号</a:t>
            </a:r>
            <a:r>
              <a:rPr lang="en-US" altLang="zh-CN" sz="2800" dirty="0">
                <a:latin typeface="Times New Roman" panose="02020603050405020304" pitchFamily="18" charset="0"/>
                <a:ea typeface="楷体" panose="02010609060101010101" pitchFamily="49" charset="-122"/>
              </a:rPr>
              <a:t>:</a:t>
            </a:r>
          </a:p>
        </p:txBody>
      </p:sp>
      <mc:AlternateContent xmlns:mc="http://schemas.openxmlformats.org/markup-compatibility/2006" xmlns:a14="http://schemas.microsoft.com/office/drawing/2010/main">
        <mc:Choice Requires="a14">
          <p:sp>
            <p:nvSpPr>
              <p:cNvPr id="20490" name="Text Box 9">
                <a:extLst>
                  <a:ext uri="{FF2B5EF4-FFF2-40B4-BE49-F238E27FC236}">
                    <a16:creationId xmlns:a16="http://schemas.microsoft.com/office/drawing/2014/main" id="{27B1C8E1-8362-4F51-95E8-AA9529DE3C23}"/>
                  </a:ext>
                </a:extLst>
              </p:cNvPr>
              <p:cNvSpPr txBox="1">
                <a:spLocks noChangeArrowheads="1"/>
              </p:cNvSpPr>
              <p:nvPr/>
            </p:nvSpPr>
            <p:spPr bwMode="auto">
              <a:xfrm>
                <a:off x="971600" y="1844824"/>
                <a:ext cx="6367769"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14:m>
                  <m:oMath xmlns:m="http://schemas.openxmlformats.org/officeDocument/2006/math">
                    <m:r>
                      <a:rPr lang="en-US" sz="2400" i="1" smtClean="0">
                        <a:solidFill>
                          <a:schemeClr val="tx1"/>
                        </a:solidFill>
                        <a:latin typeface="Cambria Math" panose="02040503050406030204" pitchFamily="18" charset="0"/>
                      </a:rPr>
                      <m:t>𝑥</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𝑡</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𝐶</m:t>
                    </m:r>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𝑎𝑡</m:t>
                        </m:r>
                      </m:sup>
                    </m:sSup>
                    <m:r>
                      <m:rPr>
                        <m:nor/>
                      </m:rPr>
                      <a:rPr lang="zh-CN" altLang="en-US" sz="2400" dirty="0">
                        <a:solidFill>
                          <a:schemeClr val="tx1"/>
                        </a:solidFill>
                        <a:latin typeface="Times New Roman" panose="02020603050405020304" pitchFamily="18" charset="0"/>
                        <a:ea typeface="楷体" panose="02010609060101010101" pitchFamily="49" charset="-122"/>
                      </a:rPr>
                      <m:t>其中</m:t>
                    </m:r>
                    <m:r>
                      <a:rPr lang="en-US" sz="2400" i="1" smtClean="0">
                        <a:solidFill>
                          <a:schemeClr val="tx1"/>
                        </a:solidFill>
                        <a:latin typeface="Cambria Math" panose="02040503050406030204" pitchFamily="18" charset="0"/>
                      </a:rPr>
                      <m:t>𝑎</m:t>
                    </m:r>
                    <m:r>
                      <a:rPr lang="en-US" sz="2400" i="1" smtClean="0">
                        <a:solidFill>
                          <a:schemeClr val="tx1"/>
                        </a:solidFill>
                        <a:latin typeface="Cambria Math" panose="02040503050406030204" pitchFamily="18" charset="0"/>
                      </a:rPr>
                      <m:t>=</m:t>
                    </m:r>
                    <m:r>
                      <m:rPr>
                        <m:sty m:val="p"/>
                      </m:rPr>
                      <a:rPr lang="en-US" sz="2400" i="0" smtClean="0">
                        <a:solidFill>
                          <a:schemeClr val="tx1"/>
                        </a:solidFill>
                        <a:latin typeface="Cambria Math" panose="02040503050406030204" pitchFamily="18" charset="0"/>
                      </a:rPr>
                      <m:t>j</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oMath>
                </a14:m>
                <a:r>
                  <a:rPr lang="zh-CN" altLang="en-US" sz="2400" dirty="0">
                    <a:solidFill>
                      <a:schemeClr val="tx1"/>
                    </a:solidFill>
                    <a:latin typeface="Times New Roman" panose="02020603050405020304" pitchFamily="18" charset="0"/>
                    <a:ea typeface="楷体" panose="02010609060101010101" pitchFamily="49" charset="-122"/>
                  </a:rPr>
                  <a:t>，不失一般性取</a:t>
                </a:r>
                <a14:m>
                  <m:oMath xmlns:m="http://schemas.openxmlformats.org/officeDocument/2006/math">
                    <m:r>
                      <a:rPr lang="en-US" sz="2400" i="1">
                        <a:solidFill>
                          <a:schemeClr val="tx1"/>
                        </a:solidFill>
                        <a:latin typeface="Cambria Math" panose="02040503050406030204" pitchFamily="18" charset="0"/>
                      </a:rPr>
                      <m:t>𝐶</m:t>
                    </m:r>
                    <m:r>
                      <a:rPr lang="en-US" sz="2400" i="1">
                        <a:solidFill>
                          <a:schemeClr val="tx1"/>
                        </a:solidFill>
                        <a:latin typeface="Cambria Math" panose="02040503050406030204" pitchFamily="18" charset="0"/>
                      </a:rPr>
                      <m:t>=1</m:t>
                    </m:r>
                  </m:oMath>
                </a14:m>
                <a:endParaRPr lang="zh-CN" altLang="en-US" sz="2400" dirty="0">
                  <a:solidFill>
                    <a:schemeClr val="tx1"/>
                  </a:solidFill>
                  <a:latin typeface="Times New Roman" panose="02020603050405020304" pitchFamily="18" charset="0"/>
                  <a:ea typeface="楷体" panose="02010609060101010101" pitchFamily="49" charset="-122"/>
                </a:endParaRPr>
              </a:p>
            </p:txBody>
          </p:sp>
        </mc:Choice>
        <mc:Fallback xmlns="">
          <p:sp>
            <p:nvSpPr>
              <p:cNvPr id="20490" name="Text Box 9">
                <a:extLst>
                  <a:ext uri="{FF2B5EF4-FFF2-40B4-BE49-F238E27FC236}">
                    <a16:creationId xmlns:a16="http://schemas.microsoft.com/office/drawing/2014/main" id="{27B1C8E1-8362-4F51-95E8-AA9529DE3C23}"/>
                  </a:ext>
                </a:extLst>
              </p:cNvPr>
              <p:cNvSpPr txBox="1">
                <a:spLocks noRot="1" noChangeAspect="1" noMove="1" noResize="1" noEditPoints="1" noAdjustHandles="1" noChangeArrowheads="1" noChangeShapeType="1" noTextEdit="1"/>
              </p:cNvSpPr>
              <p:nvPr/>
            </p:nvSpPr>
            <p:spPr bwMode="auto">
              <a:xfrm>
                <a:off x="971600" y="1844824"/>
                <a:ext cx="6367769" cy="461665"/>
              </a:xfrm>
              <a:prstGeom prst="rect">
                <a:avLst/>
              </a:prstGeom>
              <a:blipFill>
                <a:blip r:embed="rId2"/>
                <a:stretch>
                  <a:fillRect t="-14667" b="-26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84" name="Object 4">
                <a:extLst>
                  <a:ext uri="{FF2B5EF4-FFF2-40B4-BE49-F238E27FC236}">
                    <a16:creationId xmlns:a16="http://schemas.microsoft.com/office/drawing/2014/main" id="{A60F2AED-43D7-45B1-ACCA-EAF4AE63C315}"/>
                  </a:ext>
                </a:extLst>
              </p:cNvPr>
              <p:cNvSpPr txBox="1"/>
              <p:nvPr/>
            </p:nvSpPr>
            <p:spPr bwMode="auto">
              <a:xfrm>
                <a:off x="971600" y="2420888"/>
                <a:ext cx="5976664" cy="5699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i="1" dirty="0" smtClean="0">
                          <a:solidFill>
                            <a:schemeClr val="tx1"/>
                          </a:solidFill>
                          <a:latin typeface="Cambria Math" panose="02040503050406030204" pitchFamily="18" charset="0"/>
                          <a:ea typeface="楷体" panose="02010609060101010101" pitchFamily="49" charset="-122"/>
                        </a:rPr>
                        <m:t>则</m:t>
                      </m:r>
                      <m:r>
                        <a:rPr lang="en-US" sz="2400" i="1" smtClean="0">
                          <a:solidFill>
                            <a:schemeClr val="tx1"/>
                          </a:solidFill>
                          <a:latin typeface="Cambria Math" panose="02040503050406030204" pitchFamily="18" charset="0"/>
                        </a:rPr>
                        <m:t>𝑥</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𝑡</m:t>
                      </m:r>
                      <m:r>
                        <a:rPr lang="en-US" sz="2400" i="1" smtClean="0">
                          <a:solidFill>
                            <a:schemeClr val="tx1"/>
                          </a:solidFill>
                          <a:latin typeface="Cambria Math" panose="02040503050406030204" pitchFamily="18" charset="0"/>
                        </a:rPr>
                        <m:t>)=</m:t>
                      </m:r>
                      <m:sSup>
                        <m:sSupPr>
                          <m:ctrlPr>
                            <a:rPr lang="en-US" sz="2400" i="1" smtClean="0">
                              <a:solidFill>
                                <a:srgbClr val="FF0000"/>
                              </a:solidFill>
                              <a:latin typeface="Cambria Math" panose="02040503050406030204" pitchFamily="18" charset="0"/>
                            </a:rPr>
                          </m:ctrlPr>
                        </m:sSupPr>
                        <m:e>
                          <m:r>
                            <m:rPr>
                              <m:sty m:val="p"/>
                            </m:rPr>
                            <a:rPr lang="en-US" sz="2400" i="0">
                              <a:solidFill>
                                <a:srgbClr val="FF0000"/>
                              </a:solidFill>
                              <a:latin typeface="Cambria Math" panose="02040503050406030204" pitchFamily="18" charset="0"/>
                            </a:rPr>
                            <m:t>e</m:t>
                          </m:r>
                        </m:e>
                        <m:sup>
                          <m:r>
                            <m:rPr>
                              <m:sty m:val="p"/>
                            </m:rPr>
                            <a:rPr lang="en-US" sz="2400" i="0">
                              <a:solidFill>
                                <a:srgbClr val="FF0000"/>
                              </a:solidFill>
                              <a:latin typeface="Cambria Math" panose="02040503050406030204" pitchFamily="18" charset="0"/>
                            </a:rPr>
                            <m:t>j</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𝜔</m:t>
                              </m:r>
                            </m:e>
                            <m:sub>
                              <m:r>
                                <a:rPr lang="en-US" sz="2400" i="1">
                                  <a:solidFill>
                                    <a:srgbClr val="FF0000"/>
                                  </a:solidFill>
                                  <a:latin typeface="Cambria Math" panose="02040503050406030204" pitchFamily="18" charset="0"/>
                                </a:rPr>
                                <m:t>0</m:t>
                              </m:r>
                            </m:sub>
                          </m:sSub>
                          <m:r>
                            <a:rPr lang="en-US" sz="2400" i="1">
                              <a:solidFill>
                                <a:srgbClr val="FF0000"/>
                              </a:solidFill>
                              <a:latin typeface="Cambria Math" panose="02040503050406030204" pitchFamily="18" charset="0"/>
                            </a:rPr>
                            <m:t>𝑡</m:t>
                          </m:r>
                        </m:sup>
                      </m:sSup>
                      <m:r>
                        <a:rPr lang="en-US" sz="2400" i="1" smtClean="0">
                          <a:solidFill>
                            <a:srgbClr val="FF0000"/>
                          </a:solidFill>
                          <a:latin typeface="Cambria Math" panose="02040503050406030204" pitchFamily="18" charset="0"/>
                        </a:rPr>
                        <m:t>=</m:t>
                      </m:r>
                      <m:func>
                        <m:funcPr>
                          <m:ctrlPr>
                            <a:rPr lang="en-US" sz="2400" i="1">
                              <a:solidFill>
                                <a:srgbClr val="FF0000"/>
                              </a:solidFill>
                              <a:latin typeface="Cambria Math" panose="02040503050406030204" pitchFamily="18" charset="0"/>
                            </a:rPr>
                          </m:ctrlPr>
                        </m:funcPr>
                        <m:fName>
                          <m:r>
                            <m:rPr>
                              <m:sty m:val="p"/>
                            </m:rPr>
                            <a:rPr lang="en-US" sz="2400" i="0">
                              <a:solidFill>
                                <a:srgbClr val="FF0000"/>
                              </a:solidFill>
                              <a:latin typeface="Cambria Math" panose="02040503050406030204" pitchFamily="18" charset="0"/>
                            </a:rPr>
                            <m:t>cos</m:t>
                          </m:r>
                        </m:fName>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𝜔</m:t>
                              </m:r>
                            </m:e>
                            <m:sub>
                              <m:r>
                                <a:rPr lang="en-US" sz="2400" i="1">
                                  <a:solidFill>
                                    <a:srgbClr val="FF0000"/>
                                  </a:solidFill>
                                  <a:latin typeface="Cambria Math" panose="02040503050406030204" pitchFamily="18" charset="0"/>
                                </a:rPr>
                                <m:t>0</m:t>
                              </m:r>
                            </m:sub>
                          </m:sSub>
                          <m:r>
                            <a:rPr lang="en-US" sz="2400" i="1">
                              <a:solidFill>
                                <a:srgbClr val="FF0000"/>
                              </a:solidFill>
                              <a:latin typeface="Cambria Math" panose="02040503050406030204" pitchFamily="18" charset="0"/>
                            </a:rPr>
                            <m:t>𝑡</m:t>
                          </m:r>
                        </m:e>
                      </m:func>
                      <m:r>
                        <a:rPr lang="en-US" sz="2400" i="1">
                          <a:solidFill>
                            <a:srgbClr val="FF0000"/>
                          </a:solidFill>
                          <a:latin typeface="Cambria Math" panose="02040503050406030204" pitchFamily="18" charset="0"/>
                        </a:rPr>
                        <m:t>+</m:t>
                      </m:r>
                      <m:r>
                        <m:rPr>
                          <m:sty m:val="p"/>
                        </m:rPr>
                        <a:rPr lang="en-US" sz="2400" i="0">
                          <a:solidFill>
                            <a:srgbClr val="FF0000"/>
                          </a:solidFill>
                          <a:latin typeface="Cambria Math" panose="02040503050406030204" pitchFamily="18" charset="0"/>
                        </a:rPr>
                        <m:t>j</m:t>
                      </m:r>
                      <m:func>
                        <m:funcPr>
                          <m:ctrlPr>
                            <a:rPr lang="en-US" sz="2400" i="1">
                              <a:solidFill>
                                <a:srgbClr val="FF0000"/>
                              </a:solidFill>
                              <a:latin typeface="Cambria Math" panose="02040503050406030204" pitchFamily="18" charset="0"/>
                            </a:rPr>
                          </m:ctrlPr>
                        </m:funcPr>
                        <m:fName>
                          <m:r>
                            <m:rPr>
                              <m:sty m:val="p"/>
                            </m:rPr>
                            <a:rPr lang="en-US" sz="2400" i="0">
                              <a:solidFill>
                                <a:srgbClr val="FF0000"/>
                              </a:solidFill>
                              <a:latin typeface="Cambria Math" panose="02040503050406030204" pitchFamily="18" charset="0"/>
                            </a:rPr>
                            <m:t>sin</m:t>
                          </m:r>
                        </m:fName>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𝜔</m:t>
                              </m:r>
                            </m:e>
                            <m:sub>
                              <m:r>
                                <a:rPr lang="en-US" sz="2400" i="1">
                                  <a:solidFill>
                                    <a:srgbClr val="FF0000"/>
                                  </a:solidFill>
                                  <a:latin typeface="Cambria Math" panose="02040503050406030204" pitchFamily="18" charset="0"/>
                                </a:rPr>
                                <m:t>0</m:t>
                              </m:r>
                            </m:sub>
                          </m:sSub>
                          <m:r>
                            <a:rPr lang="en-US" sz="2400" i="1">
                              <a:solidFill>
                                <a:srgbClr val="FF0000"/>
                              </a:solidFill>
                              <a:latin typeface="Cambria Math" panose="02040503050406030204" pitchFamily="18" charset="0"/>
                            </a:rPr>
                            <m:t>𝑡</m:t>
                          </m:r>
                        </m:e>
                      </m:func>
                    </m:oMath>
                  </m:oMathPara>
                </a14:m>
                <a:endParaRPr lang="en-US" sz="2400" dirty="0">
                  <a:solidFill>
                    <a:schemeClr val="tx1"/>
                  </a:solidFill>
                </a:endParaRPr>
              </a:p>
            </p:txBody>
          </p:sp>
        </mc:Choice>
        <mc:Fallback xmlns="">
          <p:sp>
            <p:nvSpPr>
              <p:cNvPr id="20484" name="Object 4">
                <a:extLst>
                  <a:ext uri="{FF2B5EF4-FFF2-40B4-BE49-F238E27FC236}">
                    <a16:creationId xmlns:a16="http://schemas.microsoft.com/office/drawing/2014/main" id="{A60F2AED-43D7-45B1-ACCA-EAF4AE63C315}"/>
                  </a:ext>
                </a:extLst>
              </p:cNvPr>
              <p:cNvSpPr txBox="1">
                <a:spLocks noRot="1" noChangeAspect="1" noMove="1" noResize="1" noEditPoints="1" noAdjustHandles="1" noChangeArrowheads="1" noChangeShapeType="1" noTextEdit="1"/>
              </p:cNvSpPr>
              <p:nvPr/>
            </p:nvSpPr>
            <p:spPr bwMode="auto">
              <a:xfrm>
                <a:off x="971600" y="2420888"/>
                <a:ext cx="5976664" cy="569912"/>
              </a:xfrm>
              <a:prstGeom prst="rect">
                <a:avLst/>
              </a:prstGeom>
              <a:blipFill>
                <a:blip r:embed="rId3"/>
                <a:stretch>
                  <a:fillRect l="-815"/>
                </a:stretch>
              </a:blipFill>
              <a:ln>
                <a:noFill/>
              </a:ln>
              <a:effectLst/>
            </p:spPr>
            <p:txBody>
              <a:bodyPr/>
              <a:lstStyle/>
              <a:p>
                <a:r>
                  <a:rPr lang="en-US">
                    <a:noFill/>
                  </a:rPr>
                  <a:t> </a:t>
                </a:r>
              </a:p>
            </p:txBody>
          </p:sp>
        </mc:Fallback>
      </mc:AlternateContent>
      <p:sp>
        <p:nvSpPr>
          <p:cNvPr id="20491" name="Text Box 12">
            <a:extLst>
              <a:ext uri="{FF2B5EF4-FFF2-40B4-BE49-F238E27FC236}">
                <a16:creationId xmlns:a16="http://schemas.microsoft.com/office/drawing/2014/main" id="{F8DF6ED7-5FAA-4CE2-978E-89AECA4B1017}"/>
              </a:ext>
            </a:extLst>
          </p:cNvPr>
          <p:cNvSpPr txBox="1">
            <a:spLocks noChangeArrowheads="1"/>
          </p:cNvSpPr>
          <p:nvPr/>
        </p:nvSpPr>
        <p:spPr bwMode="auto">
          <a:xfrm>
            <a:off x="971600" y="3068960"/>
            <a:ext cx="38779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dirty="0">
                <a:latin typeface="Times New Roman" panose="02020603050405020304" pitchFamily="18" charset="0"/>
                <a:ea typeface="楷体" panose="02010609060101010101" pitchFamily="49" charset="-122"/>
              </a:rPr>
              <a:t>实部与虚部都是正弦信号。</a:t>
            </a:r>
          </a:p>
        </p:txBody>
      </p:sp>
      <mc:AlternateContent xmlns:mc="http://schemas.openxmlformats.org/markup-compatibility/2006" xmlns:a14="http://schemas.microsoft.com/office/drawing/2010/main">
        <mc:Choice Requires="a14">
          <p:sp>
            <p:nvSpPr>
              <p:cNvPr id="20492" name="Text Box 14">
                <a:extLst>
                  <a:ext uri="{FF2B5EF4-FFF2-40B4-BE49-F238E27FC236}">
                    <a16:creationId xmlns:a16="http://schemas.microsoft.com/office/drawing/2014/main" id="{D1A80487-8F6E-416F-BCAC-6857349636B2}"/>
                  </a:ext>
                </a:extLst>
              </p:cNvPr>
              <p:cNvSpPr txBox="1">
                <a:spLocks noChangeArrowheads="1"/>
              </p:cNvSpPr>
              <p:nvPr/>
            </p:nvSpPr>
            <p:spPr bwMode="auto">
              <a:xfrm>
                <a:off x="971600" y="3656174"/>
                <a:ext cx="7560840" cy="267342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Aft>
                    <a:spcPts val="600"/>
                  </a:spcAft>
                </a:pPr>
                <a14:m>
                  <m:oMath xmlns:m="http://schemas.openxmlformats.org/officeDocument/2006/math">
                    <m:r>
                      <a:rPr lang="zh-CN" altLang="en-US" sz="2400" i="1" dirty="0" smtClean="0">
                        <a:solidFill>
                          <a:schemeClr val="tx1"/>
                        </a:solidFill>
                        <a:latin typeface="Cambria Math" panose="02040503050406030204" pitchFamily="18" charset="0"/>
                        <a:ea typeface="楷体" panose="02010609060101010101" pitchFamily="49" charset="-122"/>
                      </a:rPr>
                      <m:t>此时</m:t>
                    </m:r>
                    <m:r>
                      <a:rPr lang="en-US" sz="2400" i="1" smtClean="0">
                        <a:solidFill>
                          <a:schemeClr val="tx1"/>
                        </a:solidFill>
                        <a:latin typeface="Cambria Math" panose="02040503050406030204" pitchFamily="18" charset="0"/>
                      </a:rPr>
                      <m:t>𝑥</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𝑡</m:t>
                    </m:r>
                    <m:r>
                      <a:rPr lang="en-US" sz="2400" i="1" smtClean="0">
                        <a:solidFill>
                          <a:schemeClr val="tx1"/>
                        </a:solidFill>
                        <a:latin typeface="Cambria Math" panose="02040503050406030204" pitchFamily="18" charset="0"/>
                      </a:rPr>
                      <m:t>)</m:t>
                    </m:r>
                  </m:oMath>
                </a14:m>
                <a:r>
                  <a:rPr lang="zh-CN" altLang="en-US" sz="2400" dirty="0">
                    <a:solidFill>
                      <a:schemeClr val="tx1"/>
                    </a:solidFill>
                    <a:latin typeface="Times New Roman" panose="02020603050405020304" pitchFamily="18" charset="0"/>
                    <a:ea typeface="楷体" panose="02010609060101010101" pitchFamily="49" charset="-122"/>
                  </a:rPr>
                  <a:t>显然是周期的。设其周期为</a:t>
                </a:r>
                <a14:m>
                  <m:oMath xmlns:m="http://schemas.openxmlformats.org/officeDocument/2006/math">
                    <m:r>
                      <a:rPr lang="en-US" sz="2400" i="1">
                        <a:solidFill>
                          <a:schemeClr val="tx1"/>
                        </a:solidFill>
                        <a:latin typeface="Cambria Math" panose="02040503050406030204" pitchFamily="18" charset="0"/>
                      </a:rPr>
                      <m:t>𝑇</m:t>
                    </m:r>
                  </m:oMath>
                </a14:m>
                <a:r>
                  <a:rPr lang="zh-CN" altLang="en-US" sz="2400" dirty="0">
                    <a:solidFill>
                      <a:schemeClr val="tx1"/>
                    </a:solidFill>
                    <a:latin typeface="Times New Roman" panose="02020603050405020304" pitchFamily="18" charset="0"/>
                    <a:ea typeface="楷体" panose="02010609060101010101" pitchFamily="49" charset="-122"/>
                  </a:rPr>
                  <a:t>，则</a:t>
                </a:r>
                <a:endParaRPr lang="en-US" altLang="zh-CN" sz="2400" dirty="0">
                  <a:solidFill>
                    <a:schemeClr val="tx1"/>
                  </a:solidFill>
                  <a:latin typeface="Times New Roman" panose="02020603050405020304" pitchFamily="18" charset="0"/>
                  <a:ea typeface="楷体" panose="02010609060101010101" pitchFamily="49" charset="-122"/>
                </a:endParaRPr>
              </a:p>
              <a:p>
                <a:pPr algn="just">
                  <a:spcAft>
                    <a:spcPts val="600"/>
                  </a:spcAft>
                </a:pPr>
                <a14:m>
                  <m:oMathPara xmlns:m="http://schemas.openxmlformats.org/officeDocument/2006/math">
                    <m:oMathParaPr>
                      <m:jc m:val="centerGroup"/>
                    </m:oMathParaPr>
                    <m:oMath xmlns:m="http://schemas.openxmlformats.org/officeDocument/2006/math">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m:rPr>
                              <m:sty m:val="p"/>
                            </m:rPr>
                            <a:rPr lang="en-US" sz="2400" i="0">
                              <a:solidFill>
                                <a:schemeClr val="tx1"/>
                              </a:solidFill>
                              <a:latin typeface="Cambria Math" panose="02040503050406030204" pitchFamily="18" charset="0"/>
                            </a:rPr>
                            <m:t>j</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r>
                            <a:rPr lang="en-US" sz="2400" i="1">
                              <a:solidFill>
                                <a:schemeClr val="tx1"/>
                              </a:solidFill>
                              <a:latin typeface="Cambria Math" panose="02040503050406030204" pitchFamily="18" charset="0"/>
                            </a:rPr>
                            <m:t>𝑡</m:t>
                          </m:r>
                        </m:sup>
                      </m:sSup>
                      <m:r>
                        <a:rPr lang="en-US" sz="240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m:rPr>
                              <m:sty m:val="p"/>
                            </m:rPr>
                            <a:rPr lang="en-US" sz="2400" i="0">
                              <a:solidFill>
                                <a:schemeClr val="tx1"/>
                              </a:solidFill>
                              <a:latin typeface="Cambria Math" panose="02040503050406030204" pitchFamily="18" charset="0"/>
                            </a:rPr>
                            <m:t>j</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𝑡</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𝑇</m:t>
                              </m:r>
                            </m:e>
                          </m:d>
                        </m:sup>
                      </m:sSup>
                      <m:r>
                        <a:rPr lang="en-US" sz="2400" i="1" smtClean="0">
                          <a:solidFill>
                            <a:schemeClr val="tx1"/>
                          </a:solidFill>
                          <a:latin typeface="Cambria Math" panose="02040503050406030204" pitchFamily="18" charset="0"/>
                          <a:ea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m:rPr>
                              <m:sty m:val="p"/>
                            </m:rPr>
                            <a:rPr lang="en-US" sz="2400" i="0">
                              <a:solidFill>
                                <a:schemeClr val="tx1"/>
                              </a:solidFill>
                              <a:latin typeface="Cambria Math" panose="02040503050406030204" pitchFamily="18" charset="0"/>
                            </a:rPr>
                            <m:t>j</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r>
                            <a:rPr lang="en-US" sz="2400" i="1">
                              <a:solidFill>
                                <a:schemeClr val="tx1"/>
                              </a:solidFill>
                              <a:latin typeface="Cambria Math" panose="02040503050406030204" pitchFamily="18" charset="0"/>
                            </a:rPr>
                            <m:t>𝑇</m:t>
                          </m:r>
                        </m:sup>
                      </m:sSup>
                      <m:r>
                        <a:rPr lang="en-US" sz="2400" i="1">
                          <a:solidFill>
                            <a:schemeClr val="tx1"/>
                          </a:solidFill>
                          <a:latin typeface="Cambria Math" panose="02040503050406030204" pitchFamily="18" charset="0"/>
                        </a:rPr>
                        <m:t>=1</m:t>
                      </m:r>
                      <m:r>
                        <a:rPr lang="en-US" sz="2400" i="1" smtClean="0">
                          <a:solidFill>
                            <a:schemeClr val="tx1"/>
                          </a:solidFill>
                          <a:latin typeface="Cambria Math" panose="02040503050406030204" pitchFamily="18" charset="0"/>
                          <a:ea typeface="Cambria Math" panose="02040503050406030204" pitchFamily="18" charset="0"/>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r>
                        <a:rPr lang="en-US" sz="2400" b="0" i="1" smtClean="0">
                          <a:solidFill>
                            <a:schemeClr val="tx1"/>
                          </a:solidFill>
                          <a:latin typeface="Cambria Math" panose="02040503050406030204" pitchFamily="18" charset="0"/>
                          <a:ea typeface="Cambria Math" panose="02040503050406030204" pitchFamily="18" charset="0"/>
                        </a:rPr>
                        <m:t>𝑇</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𝑘</m:t>
                      </m:r>
                      <m:r>
                        <a:rPr lang="en-US" sz="2400" b="0" i="1" smtClean="0">
                          <a:solidFill>
                            <a:schemeClr val="tx1"/>
                          </a:solidFill>
                          <a:latin typeface="Cambria Math" panose="02040503050406030204" pitchFamily="18" charset="0"/>
                          <a:ea typeface="Cambria Math" panose="02040503050406030204" pitchFamily="18" charset="0"/>
                        </a:rPr>
                        <m:t>⋅2</m:t>
                      </m:r>
                      <m:r>
                        <m:rPr>
                          <m:sty m:val="p"/>
                        </m:rPr>
                        <a:rPr lang="en-US" sz="2400" b="0" i="0" smtClean="0">
                          <a:solidFill>
                            <a:schemeClr val="tx1"/>
                          </a:solidFill>
                          <a:latin typeface="Cambria Math" panose="02040503050406030204" pitchFamily="18" charset="0"/>
                          <a:ea typeface="Cambria Math" panose="02040503050406030204" pitchFamily="18" charset="0"/>
                        </a:rPr>
                        <m:t>π</m:t>
                      </m:r>
                    </m:oMath>
                  </m:oMathPara>
                </a14:m>
                <a:endParaRPr lang="en-US" sz="2400" b="0" dirty="0">
                  <a:solidFill>
                    <a:schemeClr val="tx1"/>
                  </a:solidFill>
                  <a:latin typeface="Times New Roman" panose="02020603050405020304" pitchFamily="18" charset="0"/>
                  <a:ea typeface="Cambria Math" panose="02040503050406030204" pitchFamily="18" charset="0"/>
                </a:endParaRPr>
              </a:p>
              <a:p>
                <a:pPr algn="just">
                  <a:spcAft>
                    <a:spcPts val="600"/>
                  </a:spcAft>
                </a:pPr>
                <a:r>
                  <a:rPr lang="zh-CN" altLang="en-US" sz="2400" dirty="0">
                    <a:solidFill>
                      <a:schemeClr val="tx1"/>
                    </a:solidFill>
                    <a:latin typeface="Times New Roman" panose="02020603050405020304" pitchFamily="18" charset="0"/>
                    <a:ea typeface="楷体" panose="02010609060101010101" pitchFamily="49" charset="-122"/>
                  </a:rPr>
                  <a:t>其中</a:t>
                </a:r>
                <a14:m>
                  <m:oMath xmlns:m="http://schemas.openxmlformats.org/officeDocument/2006/math">
                    <m:r>
                      <a:rPr lang="en-US" sz="2400" i="1">
                        <a:solidFill>
                          <a:schemeClr val="tx1"/>
                        </a:solidFill>
                        <a:latin typeface="Cambria Math" panose="02040503050406030204" pitchFamily="18" charset="0"/>
                        <a:ea typeface="Cambria Math" panose="02040503050406030204" pitchFamily="18" charset="0"/>
                      </a:rPr>
                      <m:t>𝑇</m:t>
                    </m:r>
                    <m:r>
                      <a:rPr lang="en-US" sz="2400" b="0" i="1" smtClean="0">
                        <a:solidFill>
                          <a:schemeClr val="tx1"/>
                        </a:solidFill>
                        <a:latin typeface="Cambria Math" panose="02040503050406030204" pitchFamily="18" charset="0"/>
                        <a:ea typeface="Cambria Math" panose="02040503050406030204" pitchFamily="18" charset="0"/>
                      </a:rPr>
                      <m:t>&gt;0</m:t>
                    </m:r>
                  </m:oMath>
                </a14:m>
                <a:r>
                  <a:rPr lang="zh-CN" altLang="en-US" sz="2400" dirty="0">
                    <a:solidFill>
                      <a:schemeClr val="tx1"/>
                    </a:solidFill>
                    <a:latin typeface="Times New Roman" panose="02020603050405020304" pitchFamily="18" charset="0"/>
                    <a:ea typeface="楷体" panose="02010609060101010101" pitchFamily="49" charset="-122"/>
                  </a:rPr>
                  <a:t>，则</a:t>
                </a:r>
                <a14:m>
                  <m:oMath xmlns:m="http://schemas.openxmlformats.org/officeDocument/2006/math">
                    <m:r>
                      <a:rPr lang="en-US" sz="2400" i="1">
                        <a:solidFill>
                          <a:schemeClr val="tx1"/>
                        </a:solidFill>
                        <a:latin typeface="Cambria Math" panose="02040503050406030204" pitchFamily="18" charset="0"/>
                        <a:ea typeface="Cambria Math" panose="02040503050406030204" pitchFamily="18" charset="0"/>
                      </a:rPr>
                      <m:t>𝑇</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𝑘</m:t>
                    </m:r>
                    <m:r>
                      <a:rPr lang="en-US" sz="2400" i="1">
                        <a:solidFill>
                          <a:schemeClr val="tx1"/>
                        </a:solidFill>
                        <a:latin typeface="Cambria Math" panose="02040503050406030204" pitchFamily="18" charset="0"/>
                        <a:ea typeface="Cambria Math" panose="02040503050406030204" pitchFamily="18" charset="0"/>
                      </a:rPr>
                      <m:t>⋅</m:t>
                    </m:r>
                    <m:f>
                      <m:fPr>
                        <m:ctrlPr>
                          <a:rPr lang="en-US"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2</m:t>
                        </m:r>
                        <m:r>
                          <m:rPr>
                            <m:sty m:val="p"/>
                          </m:rPr>
                          <a:rPr lang="en-US" sz="2400" i="0">
                            <a:solidFill>
                              <a:schemeClr val="tx1"/>
                            </a:solidFill>
                            <a:latin typeface="Cambria Math" panose="02040503050406030204" pitchFamily="18" charset="0"/>
                          </a:rPr>
                          <m:t>π</m:t>
                        </m:r>
                      </m:num>
                      <m:den>
                        <m:d>
                          <m:dPr>
                            <m:begChr m:val="|"/>
                            <m:endChr m:val="|"/>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e>
                        </m:d>
                      </m:den>
                    </m:f>
                  </m:oMath>
                </a14:m>
                <a:r>
                  <a:rPr lang="zh-CN" altLang="en-US" sz="2400" dirty="0">
                    <a:solidFill>
                      <a:schemeClr val="tx1"/>
                    </a:solidFill>
                    <a:latin typeface="Times New Roman" panose="02020603050405020304" pitchFamily="18" charset="0"/>
                    <a:ea typeface="楷体" panose="02010609060101010101" pitchFamily="49" charset="-122"/>
                  </a:rPr>
                  <a:t>，其中</a:t>
                </a:r>
                <a14:m>
                  <m:oMath xmlns:m="http://schemas.openxmlformats.org/officeDocument/2006/math">
                    <m:r>
                      <a:rPr lang="en-US" sz="2400" i="1">
                        <a:solidFill>
                          <a:schemeClr val="tx1"/>
                        </a:solidFill>
                        <a:latin typeface="Cambria Math" panose="02040503050406030204" pitchFamily="18" charset="0"/>
                        <a:ea typeface="Cambria Math" panose="02040503050406030204" pitchFamily="18" charset="0"/>
                      </a:rPr>
                      <m:t>𝑘</m:t>
                    </m:r>
                  </m:oMath>
                </a14:m>
                <a:r>
                  <a:rPr lang="zh-CN" altLang="en-US" sz="2400" dirty="0">
                    <a:solidFill>
                      <a:schemeClr val="tx1"/>
                    </a:solidFill>
                    <a:latin typeface="Times New Roman" panose="02020603050405020304" pitchFamily="18" charset="0"/>
                    <a:ea typeface="楷体" panose="02010609060101010101" pitchFamily="49" charset="-122"/>
                  </a:rPr>
                  <a:t>为正整数。</a:t>
                </a:r>
                <a:endParaRPr lang="en-US" altLang="zh-CN" sz="2400" dirty="0">
                  <a:solidFill>
                    <a:schemeClr val="tx1"/>
                  </a:solidFill>
                  <a:latin typeface="Times New Roman" panose="02020603050405020304" pitchFamily="18" charset="0"/>
                  <a:ea typeface="楷体" panose="02010609060101010101" pitchFamily="49" charset="-122"/>
                </a:endParaRPr>
              </a:p>
              <a:p>
                <a:pPr algn="just">
                  <a:spcAft>
                    <a:spcPts val="600"/>
                  </a:spcAft>
                </a:pPr>
                <a:r>
                  <a:rPr lang="zh-CN" altLang="en-US" sz="2400" dirty="0">
                    <a:solidFill>
                      <a:srgbClr val="FF0000"/>
                    </a:solidFill>
                    <a:latin typeface="Times New Roman" panose="02020603050405020304" pitchFamily="18" charset="0"/>
                    <a:ea typeface="楷体" panose="02010609060101010101" pitchFamily="49" charset="-122"/>
                  </a:rPr>
                  <a:t>基波周期</a:t>
                </a:r>
                <a:r>
                  <a:rPr lang="zh-CN" altLang="en-US" sz="2400" dirty="0">
                    <a:solidFill>
                      <a:schemeClr val="tx1"/>
                    </a:solidFill>
                    <a:latin typeface="Times New Roman" panose="02020603050405020304" pitchFamily="18" charset="0"/>
                    <a:ea typeface="楷体" panose="02010609060101010101" pitchFamily="49" charset="-122"/>
                  </a:rPr>
                  <a:t>为</a:t>
                </a:r>
                <a14:m>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𝑇</m:t>
                        </m:r>
                      </m:e>
                      <m:sub>
                        <m:r>
                          <a:rPr lang="en-US" sz="2400" i="1">
                            <a:solidFill>
                              <a:schemeClr val="tx1"/>
                            </a:solidFill>
                            <a:latin typeface="Cambria Math" panose="02040503050406030204" pitchFamily="18" charset="0"/>
                          </a:rPr>
                          <m:t>0</m:t>
                        </m:r>
                      </m:sub>
                    </m:sSub>
                    <m:r>
                      <a:rPr lang="en-US" sz="2400" i="1">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2</m:t>
                        </m:r>
                        <m:r>
                          <a:rPr lang="en-US" sz="2400" i="1">
                            <a:solidFill>
                              <a:schemeClr val="tx1"/>
                            </a:solidFill>
                            <a:latin typeface="Cambria Math" panose="02040503050406030204" pitchFamily="18" charset="0"/>
                          </a:rPr>
                          <m:t>𝜋</m:t>
                        </m:r>
                      </m:num>
                      <m:den>
                        <m:d>
                          <m:dPr>
                            <m:begChr m:val="|"/>
                            <m:endChr m:val="|"/>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e>
                        </m:d>
                      </m:den>
                    </m:f>
                    <m:r>
                      <a:rPr lang="en-US" sz="2400" i="1">
                        <a:solidFill>
                          <a:schemeClr val="tx1"/>
                        </a:solidFill>
                        <a:latin typeface="Cambria Math" panose="02040503050406030204" pitchFamily="18" charset="0"/>
                      </a:rPr>
                      <m:t> </m:t>
                    </m:r>
                  </m:oMath>
                </a14:m>
                <a:r>
                  <a:rPr lang="zh-CN" altLang="en-US" sz="2400" dirty="0">
                    <a:solidFill>
                      <a:schemeClr val="tx1"/>
                    </a:solidFill>
                    <a:latin typeface="Times New Roman" panose="02020603050405020304" pitchFamily="18" charset="0"/>
                    <a:ea typeface="楷体" panose="02010609060101010101" pitchFamily="49" charset="-122"/>
                  </a:rPr>
                  <a:t>，</a:t>
                </a:r>
                <a:r>
                  <a:rPr lang="zh-CN" altLang="en-US" sz="2400" dirty="0">
                    <a:solidFill>
                      <a:srgbClr val="FF0000"/>
                    </a:solidFill>
                    <a:latin typeface="Times New Roman" panose="02020603050405020304" pitchFamily="18" charset="0"/>
                    <a:ea typeface="楷体" panose="02010609060101010101" pitchFamily="49" charset="-122"/>
                  </a:rPr>
                  <a:t>基波频率</a:t>
                </a:r>
                <a:r>
                  <a:rPr lang="zh-CN" altLang="en-US" sz="2400" dirty="0">
                    <a:solidFill>
                      <a:schemeClr val="tx1"/>
                    </a:solidFill>
                    <a:latin typeface="Times New Roman" panose="02020603050405020304" pitchFamily="18" charset="0"/>
                    <a:ea typeface="楷体" panose="02010609060101010101" pitchFamily="49" charset="-122"/>
                  </a:rPr>
                  <a:t>为</a:t>
                </a:r>
                <a14:m>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oMath>
                </a14:m>
                <a:r>
                  <a:rPr lang="zh-CN" altLang="en-US" sz="2400" dirty="0">
                    <a:solidFill>
                      <a:schemeClr val="tx1"/>
                    </a:solidFill>
                    <a:latin typeface="Times New Roman" panose="02020603050405020304" pitchFamily="18" charset="0"/>
                    <a:ea typeface="楷体" panose="02010609060101010101" pitchFamily="49" charset="-122"/>
                  </a:rPr>
                  <a:t>。</a:t>
                </a:r>
                <a:endParaRPr lang="en-US" altLang="zh-CN" sz="2400" dirty="0">
                  <a:solidFill>
                    <a:schemeClr val="tx1"/>
                  </a:solidFill>
                  <a:latin typeface="Times New Roman" panose="02020603050405020304" pitchFamily="18" charset="0"/>
                  <a:ea typeface="楷体" panose="02010609060101010101" pitchFamily="49" charset="-122"/>
                </a:endParaRPr>
              </a:p>
              <a:p>
                <a:pPr algn="just">
                  <a:spcAft>
                    <a:spcPts val="600"/>
                  </a:spcAft>
                </a:pPr>
                <a:r>
                  <a:rPr lang="zh-CN" altLang="en-US" sz="2400" dirty="0">
                    <a:solidFill>
                      <a:schemeClr val="tx1"/>
                    </a:solidFill>
                    <a:latin typeface="Times New Roman" panose="02020603050405020304" pitchFamily="18" charset="0"/>
                    <a:ea typeface="楷体" panose="02010609060101010101" pitchFamily="49" charset="-122"/>
                  </a:rPr>
                  <a:t>当</a:t>
                </a:r>
                <a14:m>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r>
                      <a:rPr lang="en-US" sz="2400" i="1">
                        <a:solidFill>
                          <a:schemeClr val="tx1"/>
                        </a:solidFill>
                        <a:latin typeface="Cambria Math" panose="02040503050406030204" pitchFamily="18" charset="0"/>
                      </a:rPr>
                      <m:t>=0</m:t>
                    </m:r>
                  </m:oMath>
                </a14:m>
                <a:r>
                  <a:rPr lang="zh-CN" altLang="en-US" sz="2400" dirty="0">
                    <a:solidFill>
                      <a:schemeClr val="tx1"/>
                    </a:solidFill>
                    <a:latin typeface="Times New Roman" panose="02020603050405020304" pitchFamily="18" charset="0"/>
                    <a:ea typeface="楷体" panose="02010609060101010101" pitchFamily="49" charset="-122"/>
                  </a:rPr>
                  <a:t>时</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𝐶</m:t>
                    </m:r>
                  </m:oMath>
                </a14:m>
                <a:r>
                  <a:rPr lang="zh-CN" altLang="en-US" sz="2400" dirty="0">
                    <a:solidFill>
                      <a:schemeClr val="tx1"/>
                    </a:solidFill>
                    <a:latin typeface="Times New Roman" panose="02020603050405020304" pitchFamily="18" charset="0"/>
                    <a:ea typeface="楷体" panose="02010609060101010101" pitchFamily="49" charset="-122"/>
                  </a:rPr>
                  <a:t>，通常称为直流信号。</a:t>
                </a:r>
              </a:p>
            </p:txBody>
          </p:sp>
        </mc:Choice>
        <mc:Fallback xmlns="">
          <p:sp>
            <p:nvSpPr>
              <p:cNvPr id="20492" name="Text Box 14">
                <a:extLst>
                  <a:ext uri="{FF2B5EF4-FFF2-40B4-BE49-F238E27FC236}">
                    <a16:creationId xmlns:a16="http://schemas.microsoft.com/office/drawing/2014/main" id="{D1A80487-8F6E-416F-BCAC-6857349636B2}"/>
                  </a:ext>
                </a:extLst>
              </p:cNvPr>
              <p:cNvSpPr txBox="1">
                <a:spLocks noRot="1" noChangeAspect="1" noMove="1" noResize="1" noEditPoints="1" noAdjustHandles="1" noChangeArrowheads="1" noChangeShapeType="1" noTextEdit="1"/>
              </p:cNvSpPr>
              <p:nvPr/>
            </p:nvSpPr>
            <p:spPr bwMode="auto">
              <a:xfrm>
                <a:off x="971600" y="3656174"/>
                <a:ext cx="7560840" cy="2673424"/>
              </a:xfrm>
              <a:prstGeom prst="rect">
                <a:avLst/>
              </a:prstGeom>
              <a:blipFill>
                <a:blip r:embed="rId4"/>
                <a:stretch>
                  <a:fillRect l="-1209" t="-2511" b="-365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6" name="Text Box 2"/>
          <p:cNvSpPr txBox="1">
            <a:spLocks noChangeArrowheads="1"/>
          </p:cNvSpPr>
          <p:nvPr/>
        </p:nvSpPr>
        <p:spPr bwMode="auto">
          <a:xfrm>
            <a:off x="179512" y="1526966"/>
            <a:ext cx="8162925"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indent="5349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2400" b="1" dirty="0">
                <a:latin typeface="Times New Roman" panose="02020603050405020304" pitchFamily="18" charset="0"/>
                <a:ea typeface="楷体_GB2312" panose="02010609030101010101" pitchFamily="49" charset="-122"/>
              </a:rPr>
              <a:t>欧拉</a:t>
            </a:r>
            <a:r>
              <a:rPr lang="zh-CN" altLang="en-US" sz="2400" b="1" dirty="0" smtClean="0">
                <a:latin typeface="Times New Roman" panose="02020603050405020304" pitchFamily="18" charset="0"/>
                <a:ea typeface="楷体_GB2312" panose="02010609030101010101" pitchFamily="49" charset="-122"/>
              </a:rPr>
              <a:t>公式：</a:t>
            </a:r>
            <a:endParaRPr lang="zh-CN" altLang="en-US" sz="2000" b="1" dirty="0">
              <a:latin typeface="Times New Roman" panose="02020603050405020304" pitchFamily="18" charset="0"/>
              <a:ea typeface="楷体_GB2312" panose="02010609030101010101" pitchFamily="49" charset="-122"/>
            </a:endParaRPr>
          </a:p>
        </p:txBody>
      </p:sp>
      <p:graphicFrame>
        <p:nvGraphicFramePr>
          <p:cNvPr id="12297" name="Object 4"/>
          <p:cNvGraphicFramePr>
            <a:graphicFrameLocks noChangeAspect="1"/>
          </p:cNvGraphicFramePr>
          <p:nvPr>
            <p:extLst>
              <p:ext uri="{D42A27DB-BD31-4B8C-83A1-F6EECF244321}">
                <p14:modId xmlns:p14="http://schemas.microsoft.com/office/powerpoint/2010/main" val="2192913521"/>
              </p:ext>
            </p:extLst>
          </p:nvPr>
        </p:nvGraphicFramePr>
        <p:xfrm>
          <a:off x="2124869" y="1340768"/>
          <a:ext cx="4894262" cy="1385887"/>
        </p:xfrm>
        <a:graphic>
          <a:graphicData uri="http://schemas.openxmlformats.org/presentationml/2006/ole">
            <mc:AlternateContent xmlns:mc="http://schemas.openxmlformats.org/markup-compatibility/2006">
              <mc:Choice xmlns:v="urn:schemas-microsoft-com:vml" Requires="v">
                <p:oleObj spid="_x0000_s13336" name="公式" r:id="rId3" imgW="1765080" imgH="533160" progId="Equation.3">
                  <p:embed/>
                </p:oleObj>
              </mc:Choice>
              <mc:Fallback>
                <p:oleObj name="公式" r:id="rId3" imgW="1765080" imgH="533160" progId="Equation.3">
                  <p:embed/>
                  <p:pic>
                    <p:nvPicPr>
                      <p:cNvPr id="12297" name="Object 4"/>
                      <p:cNvPicPr>
                        <a:picLocks noChangeAspect="1" noChangeArrowheads="1"/>
                      </p:cNvPicPr>
                      <p:nvPr/>
                    </p:nvPicPr>
                    <p:blipFill>
                      <a:blip r:embed="rId4"/>
                      <a:srcRect/>
                      <a:stretch>
                        <a:fillRect/>
                      </a:stretch>
                    </p:blipFill>
                    <p:spPr bwMode="auto">
                      <a:xfrm>
                        <a:off x="2124869" y="1340768"/>
                        <a:ext cx="4894262" cy="1385887"/>
                      </a:xfrm>
                      <a:prstGeom prst="rect">
                        <a:avLst/>
                      </a:prstGeom>
                      <a:noFill/>
                      <a:ln>
                        <a:noFill/>
                      </a:ln>
                    </p:spPr>
                  </p:pic>
                </p:oleObj>
              </mc:Fallback>
            </mc:AlternateContent>
          </a:graphicData>
        </a:graphic>
      </p:graphicFrame>
      <p:sp>
        <p:nvSpPr>
          <p:cNvPr id="2" name="标题 1"/>
          <p:cNvSpPr>
            <a:spLocks noGrp="1"/>
          </p:cNvSpPr>
          <p:nvPr>
            <p:ph type="title"/>
          </p:nvPr>
        </p:nvSpPr>
        <p:spPr/>
        <p:txBody>
          <a:bodyPr/>
          <a:lstStyle/>
          <a:p>
            <a:r>
              <a:rPr lang="zh-CN" altLang="en-US" dirty="0" smtClean="0"/>
              <a:t>复数概念</a:t>
            </a:r>
            <a:endParaRPr lang="zh-CN" altLang="en-US" dirty="0"/>
          </a:p>
        </p:txBody>
      </p:sp>
      <p:sp>
        <p:nvSpPr>
          <p:cNvPr id="12" name="Text Box 2"/>
          <p:cNvSpPr txBox="1">
            <a:spLocks noChangeArrowheads="1"/>
          </p:cNvSpPr>
          <p:nvPr/>
        </p:nvSpPr>
        <p:spPr bwMode="auto">
          <a:xfrm>
            <a:off x="179512" y="2160091"/>
            <a:ext cx="8162925"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indent="5349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2400" b="1" dirty="0" smtClean="0">
                <a:latin typeface="Times New Roman" panose="02020603050405020304" pitchFamily="18" charset="0"/>
                <a:ea typeface="楷体_GB2312" panose="02010609030101010101" pitchFamily="49" charset="-122"/>
              </a:rPr>
              <a:t>显然：</a:t>
            </a:r>
            <a:endParaRPr lang="zh-CN" altLang="en-US" sz="2000" b="1" dirty="0">
              <a:latin typeface="Times New Roman" panose="02020603050405020304" pitchFamily="18" charset="0"/>
              <a:ea typeface="楷体_GB2312" panose="02010609030101010101" pitchFamily="49" charset="-122"/>
            </a:endParaRPr>
          </a:p>
        </p:txBody>
      </p:sp>
      <p:sp>
        <p:nvSpPr>
          <p:cNvPr id="13" name="Text Box 2"/>
          <p:cNvSpPr txBox="1">
            <a:spLocks noChangeArrowheads="1"/>
          </p:cNvSpPr>
          <p:nvPr/>
        </p:nvSpPr>
        <p:spPr bwMode="auto">
          <a:xfrm>
            <a:off x="209654" y="3105145"/>
            <a:ext cx="8162925"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indent="5349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2400" b="1" dirty="0" smtClean="0">
                <a:latin typeface="Times New Roman" panose="02020603050405020304" pitchFamily="18" charset="0"/>
                <a:ea typeface="楷体_GB2312" panose="02010609030101010101" pitchFamily="49" charset="-122"/>
              </a:rPr>
              <a:t>于是：</a:t>
            </a:r>
            <a:endParaRPr lang="zh-CN" altLang="en-US" sz="2000" b="1" dirty="0">
              <a:latin typeface="Times New Roman" panose="02020603050405020304" pitchFamily="18" charset="0"/>
              <a:ea typeface="楷体_GB2312" panose="02010609030101010101" pitchFamily="49" charset="-122"/>
            </a:endParaRPr>
          </a:p>
        </p:txBody>
      </p:sp>
      <p:graphicFrame>
        <p:nvGraphicFramePr>
          <p:cNvPr id="15" name="Object 4"/>
          <p:cNvGraphicFramePr>
            <a:graphicFrameLocks noChangeAspect="1"/>
          </p:cNvGraphicFramePr>
          <p:nvPr>
            <p:extLst>
              <p:ext uri="{D42A27DB-BD31-4B8C-83A1-F6EECF244321}">
                <p14:modId xmlns:p14="http://schemas.microsoft.com/office/powerpoint/2010/main" val="1996137308"/>
              </p:ext>
            </p:extLst>
          </p:nvPr>
        </p:nvGraphicFramePr>
        <p:xfrm>
          <a:off x="1979712" y="2754831"/>
          <a:ext cx="5316538" cy="2178050"/>
        </p:xfrm>
        <a:graphic>
          <a:graphicData uri="http://schemas.openxmlformats.org/presentationml/2006/ole">
            <mc:AlternateContent xmlns:mc="http://schemas.openxmlformats.org/markup-compatibility/2006">
              <mc:Choice xmlns:v="urn:schemas-microsoft-com:vml" Requires="v">
                <p:oleObj spid="_x0000_s13337" name="公式" r:id="rId5" imgW="1917360" imgH="838080" progId="Equation.3">
                  <p:embed/>
                </p:oleObj>
              </mc:Choice>
              <mc:Fallback>
                <p:oleObj name="公式" r:id="rId5" imgW="1917360" imgH="838080" progId="Equation.3">
                  <p:embed/>
                  <p:pic>
                    <p:nvPicPr>
                      <p:cNvPr id="12297" name="Object 4"/>
                      <p:cNvPicPr>
                        <a:picLocks noChangeAspect="1" noChangeArrowheads="1"/>
                      </p:cNvPicPr>
                      <p:nvPr/>
                    </p:nvPicPr>
                    <p:blipFill>
                      <a:blip r:embed="rId6"/>
                      <a:srcRect/>
                      <a:stretch>
                        <a:fillRect/>
                      </a:stretch>
                    </p:blipFill>
                    <p:spPr bwMode="auto">
                      <a:xfrm>
                        <a:off x="1979712" y="2754831"/>
                        <a:ext cx="5316538" cy="217805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37675238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1" name="标题 1">
            <a:extLst>
              <a:ext uri="{FF2B5EF4-FFF2-40B4-BE49-F238E27FC236}">
                <a16:creationId xmlns:a16="http://schemas.microsoft.com/office/drawing/2014/main" id="{5CDE1C21-E32A-4B1C-88E7-1111EE759837}"/>
              </a:ext>
            </a:extLst>
          </p:cNvPr>
          <p:cNvSpPr>
            <a:spLocks noGrp="1"/>
          </p:cNvSpPr>
          <p:nvPr>
            <p:ph type="title"/>
          </p:nvPr>
        </p:nvSpPr>
        <p:spPr/>
        <p:txBody>
          <a:bodyPr/>
          <a:lstStyle/>
          <a:p>
            <a:pPr eaLnBrk="1" hangingPunct="1"/>
            <a:r>
              <a:rPr lang="en-US" altLang="zh-CN"/>
              <a:t>1.3  </a:t>
            </a:r>
            <a:r>
              <a:rPr lang="zh-CN" altLang="en-US"/>
              <a:t>复指数信号与正弦信号</a:t>
            </a:r>
          </a:p>
        </p:txBody>
      </p:sp>
      <p:sp>
        <p:nvSpPr>
          <p:cNvPr id="4" name="灯片编号占位符 3">
            <a:extLst>
              <a:ext uri="{FF2B5EF4-FFF2-40B4-BE49-F238E27FC236}">
                <a16:creationId xmlns:a16="http://schemas.microsoft.com/office/drawing/2014/main" id="{6FA90226-F7C8-4534-8C39-29C7FDF10F6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90E30B4-8DAC-4F72-B216-CD9CC01710E3}" type="slidenum">
              <a:rPr lang="zh-CN" altLang="en-US">
                <a:solidFill>
                  <a:srgbClr val="898989"/>
                </a:solidFill>
                <a:latin typeface="Calibri" panose="020F0502020204030204" pitchFamily="34" charset="0"/>
              </a:rPr>
              <a:pPr eaLnBrk="1" hangingPunct="1"/>
              <a:t>40</a:t>
            </a:fld>
            <a:endParaRPr lang="zh-CN" altLang="en-US">
              <a:solidFill>
                <a:srgbClr val="898989"/>
              </a:solidFill>
              <a:latin typeface="Calibri" panose="020F0502020204030204" pitchFamily="34" charset="0"/>
            </a:endParaRPr>
          </a:p>
        </p:txBody>
      </p:sp>
      <p:grpSp>
        <p:nvGrpSpPr>
          <p:cNvPr id="21513" name="Group 2">
            <a:extLst>
              <a:ext uri="{FF2B5EF4-FFF2-40B4-BE49-F238E27FC236}">
                <a16:creationId xmlns:a16="http://schemas.microsoft.com/office/drawing/2014/main" id="{409E02DE-9647-4B7E-8DA9-AD67550B4E56}"/>
              </a:ext>
            </a:extLst>
          </p:cNvPr>
          <p:cNvGrpSpPr>
            <a:grpSpLocks/>
          </p:cNvGrpSpPr>
          <p:nvPr/>
        </p:nvGrpSpPr>
        <p:grpSpPr bwMode="auto">
          <a:xfrm>
            <a:off x="1723755" y="2492896"/>
            <a:ext cx="5760640" cy="3944855"/>
            <a:chOff x="1247" y="2416"/>
            <a:chExt cx="3583" cy="1699"/>
          </a:xfrm>
        </p:grpSpPr>
        <p:pic>
          <p:nvPicPr>
            <p:cNvPr id="21516" name="Picture 3">
              <a:extLst>
                <a:ext uri="{FF2B5EF4-FFF2-40B4-BE49-F238E27FC236}">
                  <a16:creationId xmlns:a16="http://schemas.microsoft.com/office/drawing/2014/main" id="{8B0EED82-B42D-475E-A3F8-B517826291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6" y="2416"/>
              <a:ext cx="3534" cy="1699"/>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1517" name="Text Box 4">
              <a:extLst>
                <a:ext uri="{FF2B5EF4-FFF2-40B4-BE49-F238E27FC236}">
                  <a16:creationId xmlns:a16="http://schemas.microsoft.com/office/drawing/2014/main" id="{E05681BD-87E1-4CDE-911D-F105BC1ADDFA}"/>
                </a:ext>
              </a:extLst>
            </p:cNvPr>
            <p:cNvSpPr txBox="1">
              <a:spLocks noChangeArrowheads="1"/>
            </p:cNvSpPr>
            <p:nvPr/>
          </p:nvSpPr>
          <p:spPr bwMode="auto">
            <a:xfrm>
              <a:off x="2634" y="3430"/>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rgbClr val="000808"/>
                  </a:solidFill>
                  <a:latin typeface="Times New Roman" panose="02020603050405020304" pitchFamily="18" charset="0"/>
                  <a:ea typeface="楷体" panose="02010609060101010101" pitchFamily="49" charset="-122"/>
                </a:rPr>
                <a:t>0</a:t>
              </a:r>
            </a:p>
          </p:txBody>
        </p:sp>
        <p:sp>
          <p:nvSpPr>
            <p:cNvPr id="21518" name="Line 5">
              <a:extLst>
                <a:ext uri="{FF2B5EF4-FFF2-40B4-BE49-F238E27FC236}">
                  <a16:creationId xmlns:a16="http://schemas.microsoft.com/office/drawing/2014/main" id="{2D81BACD-D2B1-413E-AB20-AFCA250699B2}"/>
                </a:ext>
              </a:extLst>
            </p:cNvPr>
            <p:cNvSpPr>
              <a:spLocks noChangeShapeType="1"/>
            </p:cNvSpPr>
            <p:nvPr/>
          </p:nvSpPr>
          <p:spPr bwMode="auto">
            <a:xfrm>
              <a:off x="1247" y="3451"/>
              <a:ext cx="3538" cy="0"/>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US"/>
            </a:p>
          </p:txBody>
        </p:sp>
        <p:sp>
          <p:nvSpPr>
            <p:cNvPr id="21519" name="Line 6">
              <a:extLst>
                <a:ext uri="{FF2B5EF4-FFF2-40B4-BE49-F238E27FC236}">
                  <a16:creationId xmlns:a16="http://schemas.microsoft.com/office/drawing/2014/main" id="{BB96CD4D-2D8F-4A3A-9B9B-5897686B77BF}"/>
                </a:ext>
              </a:extLst>
            </p:cNvPr>
            <p:cNvSpPr>
              <a:spLocks noChangeShapeType="1"/>
            </p:cNvSpPr>
            <p:nvPr/>
          </p:nvSpPr>
          <p:spPr bwMode="auto">
            <a:xfrm flipH="1" flipV="1">
              <a:off x="2648" y="2656"/>
              <a:ext cx="0" cy="1440"/>
            </a:xfrm>
            <a:prstGeom prst="line">
              <a:avLst/>
            </a:prstGeom>
            <a:noFill/>
            <a:ln w="28575">
              <a:solidFill>
                <a:srgbClr val="000808"/>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grpSp>
      <p:sp>
        <p:nvSpPr>
          <p:cNvPr id="21514" name="Text Box 7">
            <a:extLst>
              <a:ext uri="{FF2B5EF4-FFF2-40B4-BE49-F238E27FC236}">
                <a16:creationId xmlns:a16="http://schemas.microsoft.com/office/drawing/2014/main" id="{1E9E571B-CBC1-484C-872D-FE81B76221B6}"/>
              </a:ext>
            </a:extLst>
          </p:cNvPr>
          <p:cNvSpPr txBox="1">
            <a:spLocks noChangeArrowheads="1"/>
          </p:cNvSpPr>
          <p:nvPr/>
        </p:nvSpPr>
        <p:spPr bwMode="auto">
          <a:xfrm>
            <a:off x="469610" y="1248764"/>
            <a:ext cx="41344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dirty="0">
                <a:latin typeface="Times New Roman" panose="02020603050405020304" pitchFamily="18" charset="0"/>
                <a:ea typeface="楷体" panose="02010609060101010101" pitchFamily="49" charset="-122"/>
              </a:rPr>
              <a:t>一般情况下的正弦信号：</a:t>
            </a:r>
          </a:p>
        </p:txBody>
      </p:sp>
      <mc:AlternateContent xmlns:mc="http://schemas.openxmlformats.org/markup-compatibility/2006" xmlns:a14="http://schemas.microsoft.com/office/drawing/2010/main">
        <mc:Choice Requires="a14">
          <p:sp>
            <p:nvSpPr>
              <p:cNvPr id="21506" name="Object 2">
                <a:extLst>
                  <a:ext uri="{FF2B5EF4-FFF2-40B4-BE49-F238E27FC236}">
                    <a16:creationId xmlns:a16="http://schemas.microsoft.com/office/drawing/2014/main" id="{1DE2A394-046B-4FA8-B99E-69FD0B8ED1B3}"/>
                  </a:ext>
                </a:extLst>
              </p:cNvPr>
              <p:cNvSpPr txBox="1"/>
              <p:nvPr/>
            </p:nvSpPr>
            <p:spPr bwMode="auto">
              <a:xfrm>
                <a:off x="611499" y="1887620"/>
                <a:ext cx="8208912" cy="750887"/>
              </a:xfrm>
              <a:prstGeom prst="rect">
                <a:avLst/>
              </a:prstGeom>
              <a:noFill/>
              <a:ln>
                <a:noFill/>
              </a:ln>
              <a:effectLst/>
            </p:spPr>
            <p:txBody>
              <a:bodyPr>
                <a:noAutofit/>
              </a:bodyPr>
              <a:lstStyle/>
              <a:p>
                <a:pPr algn="ctr"/>
                <a14:m>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𝐴</m:t>
                    </m:r>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cos</m:t>
                        </m:r>
                      </m:fName>
                      <m:e>
                        <m:r>
                          <a:rPr lang="en-US" sz="2800" i="1">
                            <a:solidFill>
                              <a:srgbClr val="000000"/>
                            </a:solidFill>
                            <a:latin typeface="Cambria Math" panose="02040503050406030204" pitchFamily="18" charset="0"/>
                          </a:rPr>
                          <m:t>(</m:t>
                        </m:r>
                      </m:e>
                    </m:func>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𝜔</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𝜑</m:t>
                    </m:r>
                    <m:r>
                      <a:rPr lang="en-US" sz="2800" i="1">
                        <a:solidFill>
                          <a:srgbClr val="000000"/>
                        </a:solidFill>
                        <a:latin typeface="Cambria Math" panose="02040503050406030204" pitchFamily="18" charset="0"/>
                      </a:rPr>
                      <m:t>)</m:t>
                    </m:r>
                  </m:oMath>
                </a14:m>
                <a:r>
                  <a:rPr lang="en-US" sz="2800" dirty="0">
                    <a:solidFill>
                      <a:srgbClr val="000000"/>
                    </a:solidFill>
                  </a:rPr>
                  <a:t> </a:t>
                </a:r>
                <a14:m>
                  <m:oMath xmlns:m="http://schemas.openxmlformats.org/officeDocument/2006/math">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𝐴</m:t>
                        </m:r>
                      </m:num>
                      <m:den>
                        <m:r>
                          <a:rPr lang="en-US" sz="2800" i="1">
                            <a:solidFill>
                              <a:srgbClr val="000000"/>
                            </a:solidFill>
                            <a:latin typeface="Cambria Math" panose="02040503050406030204" pitchFamily="18" charset="0"/>
                          </a:rPr>
                          <m:t>2</m:t>
                        </m:r>
                      </m:den>
                    </m:f>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𝜑</m:t>
                        </m:r>
                      </m:sup>
                    </m:sSup>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𝜔</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𝑡</m:t>
                        </m:r>
                      </m:sup>
                    </m:sSup>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𝐴</m:t>
                        </m:r>
                      </m:num>
                      <m:den>
                        <m:r>
                          <a:rPr lang="en-US" sz="2800" i="1">
                            <a:solidFill>
                              <a:srgbClr val="000000"/>
                            </a:solidFill>
                            <a:latin typeface="Cambria Math" panose="02040503050406030204" pitchFamily="18" charset="0"/>
                          </a:rPr>
                          <m:t>2</m:t>
                        </m:r>
                      </m:den>
                    </m:f>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𝜑</m:t>
                        </m:r>
                      </m:sup>
                    </m:sSup>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𝜔</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𝑡</m:t>
                        </m:r>
                      </m:sup>
                    </m:sSup>
                  </m:oMath>
                </a14:m>
                <a:endParaRPr lang="en-US" sz="2800" dirty="0"/>
              </a:p>
            </p:txBody>
          </p:sp>
        </mc:Choice>
        <mc:Fallback xmlns="">
          <p:sp>
            <p:nvSpPr>
              <p:cNvPr id="21506" name="Object 2">
                <a:extLst>
                  <a:ext uri="{FF2B5EF4-FFF2-40B4-BE49-F238E27FC236}">
                    <a16:creationId xmlns:a16="http://schemas.microsoft.com/office/drawing/2014/main" id="{1DE2A394-046B-4FA8-B99E-69FD0B8ED1B3}"/>
                  </a:ext>
                </a:extLst>
              </p:cNvPr>
              <p:cNvSpPr txBox="1">
                <a:spLocks noRot="1" noChangeAspect="1" noMove="1" noResize="1" noEditPoints="1" noAdjustHandles="1" noChangeArrowheads="1" noChangeShapeType="1" noTextEdit="1"/>
              </p:cNvSpPr>
              <p:nvPr/>
            </p:nvSpPr>
            <p:spPr bwMode="auto">
              <a:xfrm>
                <a:off x="611499" y="1887620"/>
                <a:ext cx="8208912" cy="750887"/>
              </a:xfrm>
              <a:prstGeom prst="rect">
                <a:avLst/>
              </a:prstGeom>
              <a:blipFill>
                <a:blip r:embed="rId3"/>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标题 1">
            <a:extLst>
              <a:ext uri="{FF2B5EF4-FFF2-40B4-BE49-F238E27FC236}">
                <a16:creationId xmlns:a16="http://schemas.microsoft.com/office/drawing/2014/main" id="{582F0AA1-0220-4079-96CC-9F4C7DCE692F}"/>
              </a:ext>
            </a:extLst>
          </p:cNvPr>
          <p:cNvSpPr>
            <a:spLocks noGrp="1"/>
          </p:cNvSpPr>
          <p:nvPr>
            <p:ph type="title"/>
          </p:nvPr>
        </p:nvSpPr>
        <p:spPr/>
        <p:txBody>
          <a:bodyPr/>
          <a:lstStyle/>
          <a:p>
            <a:pPr eaLnBrk="1" hangingPunct="1"/>
            <a:r>
              <a:rPr lang="en-US" altLang="zh-CN"/>
              <a:t>1.3  </a:t>
            </a:r>
            <a:r>
              <a:rPr lang="zh-CN" altLang="en-US"/>
              <a:t>复指数信号与正弦信号</a:t>
            </a:r>
          </a:p>
        </p:txBody>
      </p:sp>
      <p:sp>
        <p:nvSpPr>
          <p:cNvPr id="4" name="灯片编号占位符 3">
            <a:extLst>
              <a:ext uri="{FF2B5EF4-FFF2-40B4-BE49-F238E27FC236}">
                <a16:creationId xmlns:a16="http://schemas.microsoft.com/office/drawing/2014/main" id="{B7ABDDBA-CB97-488D-BDB7-D93587B99C8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BE50C4-1F2D-4AEE-9FFF-1B6A2E6BF7C8}" type="slidenum">
              <a:rPr lang="zh-CN" altLang="en-US">
                <a:solidFill>
                  <a:srgbClr val="898989"/>
                </a:solidFill>
                <a:latin typeface="Calibri" panose="020F0502020204030204" pitchFamily="34" charset="0"/>
              </a:rPr>
              <a:pPr eaLnBrk="1" hangingPunct="1"/>
              <a:t>41</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22535" name="Text Box 2">
                <a:extLst>
                  <a:ext uri="{FF2B5EF4-FFF2-40B4-BE49-F238E27FC236}">
                    <a16:creationId xmlns:a16="http://schemas.microsoft.com/office/drawing/2014/main" id="{A0419A3A-E4C2-4495-8F3B-07806A25F56E}"/>
                  </a:ext>
                </a:extLst>
              </p:cNvPr>
              <p:cNvSpPr txBox="1">
                <a:spLocks noChangeArrowheads="1"/>
              </p:cNvSpPr>
              <p:nvPr/>
            </p:nvSpPr>
            <p:spPr bwMode="auto">
              <a:xfrm>
                <a:off x="785813" y="1340768"/>
                <a:ext cx="7503721" cy="226068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dirty="0">
                    <a:solidFill>
                      <a:schemeClr val="tx1"/>
                    </a:solidFill>
                    <a:latin typeface="Times New Roman" panose="02020603050405020304" pitchFamily="18" charset="0"/>
                    <a:ea typeface="楷体" panose="02010609060101010101" pitchFamily="49" charset="-122"/>
                  </a:rPr>
                  <a:t>对</a:t>
                </a:r>
                <a14:m>
                  <m:oMath xmlns:m="http://schemas.openxmlformats.org/officeDocument/2006/math">
                    <m:r>
                      <a:rPr lang="en-US" sz="2800" i="1" smtClean="0">
                        <a:solidFill>
                          <a:schemeClr val="tx1"/>
                        </a:solidFill>
                        <a:latin typeface="Cambria Math" panose="02040503050406030204" pitchFamily="18" charset="0"/>
                      </a:rPr>
                      <m:t>𝑥</m:t>
                    </m:r>
                    <m:r>
                      <a:rPr lang="en-US" sz="2800" i="1" smtClean="0">
                        <a:solidFill>
                          <a:schemeClr val="tx1"/>
                        </a:solidFill>
                        <a:latin typeface="Cambria Math" panose="02040503050406030204" pitchFamily="18" charset="0"/>
                      </a:rPr>
                      <m:t>(</m:t>
                    </m:r>
                    <m:r>
                      <a:rPr lang="en-US" sz="2800" i="1" smtClean="0">
                        <a:solidFill>
                          <a:schemeClr val="tx1"/>
                        </a:solidFill>
                        <a:latin typeface="Cambria Math" panose="02040503050406030204" pitchFamily="18" charset="0"/>
                      </a:rPr>
                      <m:t>𝑡</m:t>
                    </m:r>
                    <m:r>
                      <a:rPr lang="en-US" sz="2800" i="1" smtClean="0">
                        <a:solidFill>
                          <a:schemeClr val="tx1"/>
                        </a:solidFill>
                        <a:latin typeface="Cambria Math" panose="02040503050406030204" pitchFamily="18" charset="0"/>
                      </a:rPr>
                      <m:t>)=</m:t>
                    </m:r>
                    <m:sSup>
                      <m:sSupPr>
                        <m:ctrlPr>
                          <a:rPr lang="en-US" sz="2800" i="1">
                            <a:solidFill>
                              <a:schemeClr val="tx1"/>
                            </a:solidFill>
                            <a:latin typeface="Cambria Math" panose="02040503050406030204" pitchFamily="18" charset="0"/>
                          </a:rPr>
                        </m:ctrlPr>
                      </m:sSupPr>
                      <m:e>
                        <m:r>
                          <m:rPr>
                            <m:sty m:val="p"/>
                          </m:rPr>
                          <a:rPr lang="en-US" sz="2800" i="0">
                            <a:solidFill>
                              <a:schemeClr val="tx1"/>
                            </a:solidFill>
                            <a:latin typeface="Cambria Math" panose="02040503050406030204" pitchFamily="18" charset="0"/>
                          </a:rPr>
                          <m:t>e</m:t>
                        </m:r>
                      </m:e>
                      <m:sup>
                        <m:r>
                          <m:rPr>
                            <m:sty m:val="p"/>
                          </m:rPr>
                          <a:rPr lang="en-US" sz="2800" i="0">
                            <a:solidFill>
                              <a:schemeClr val="tx1"/>
                            </a:solidFill>
                            <a:latin typeface="Cambria Math" panose="02040503050406030204" pitchFamily="18" charset="0"/>
                          </a:rPr>
                          <m:t>j</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𝜔</m:t>
                            </m:r>
                          </m:e>
                          <m:sub>
                            <m:r>
                              <a:rPr lang="en-US" sz="2800" i="1">
                                <a:solidFill>
                                  <a:schemeClr val="tx1"/>
                                </a:solidFill>
                                <a:latin typeface="Cambria Math" panose="02040503050406030204" pitchFamily="18" charset="0"/>
                              </a:rPr>
                              <m:t>0</m:t>
                            </m:r>
                          </m:sub>
                        </m:sSub>
                        <m:r>
                          <a:rPr lang="en-US" sz="2800" i="1">
                            <a:solidFill>
                              <a:schemeClr val="tx1"/>
                            </a:solidFill>
                            <a:latin typeface="Cambria Math" panose="02040503050406030204" pitchFamily="18" charset="0"/>
                          </a:rPr>
                          <m:t>𝑡</m:t>
                        </m:r>
                      </m:sup>
                    </m:sSup>
                  </m:oMath>
                </a14:m>
                <a:r>
                  <a:rPr lang="zh-CN" altLang="en-US" sz="2800" dirty="0">
                    <a:solidFill>
                      <a:schemeClr val="tx1"/>
                    </a:solidFill>
                    <a:latin typeface="Times New Roman" panose="02020603050405020304" pitchFamily="18" charset="0"/>
                    <a:ea typeface="楷体" panose="02010609060101010101" pitchFamily="49" charset="-122"/>
                  </a:rPr>
                  <a:t>而言，它在一个周期内的能量是</a:t>
                </a:r>
              </a:p>
              <a:p>
                <a:endParaRPr lang="zh-CN" altLang="en-US" sz="2800" dirty="0">
                  <a:solidFill>
                    <a:schemeClr val="tx1"/>
                  </a:solidFill>
                  <a:latin typeface="Times New Roman" panose="02020603050405020304" pitchFamily="18" charset="0"/>
                  <a:ea typeface="楷体" panose="02010609060101010101" pitchFamily="49" charset="-122"/>
                </a:endParaRPr>
              </a:p>
              <a:p>
                <a:endParaRPr lang="zh-CN" altLang="en-US" sz="2800" dirty="0">
                  <a:solidFill>
                    <a:schemeClr val="tx1"/>
                  </a:solidFill>
                  <a:latin typeface="Times New Roman" panose="02020603050405020304" pitchFamily="18" charset="0"/>
                  <a:ea typeface="楷体" panose="02010609060101010101" pitchFamily="49" charset="-122"/>
                </a:endParaRPr>
              </a:p>
              <a:p>
                <a:endParaRPr lang="zh-CN" altLang="en-US" sz="2800" dirty="0">
                  <a:solidFill>
                    <a:schemeClr val="tx1"/>
                  </a:solidFill>
                  <a:latin typeface="Times New Roman" panose="02020603050405020304" pitchFamily="18" charset="0"/>
                  <a:ea typeface="楷体" panose="02010609060101010101" pitchFamily="49" charset="-122"/>
                </a:endParaRPr>
              </a:p>
              <a:p>
                <a:r>
                  <a:rPr lang="zh-CN" altLang="en-US" sz="2800" dirty="0">
                    <a:solidFill>
                      <a:schemeClr val="tx1"/>
                    </a:solidFill>
                    <a:latin typeface="Times New Roman" panose="02020603050405020304" pitchFamily="18" charset="0"/>
                    <a:ea typeface="楷体" panose="02010609060101010101" pitchFamily="49" charset="-122"/>
                  </a:rPr>
                  <a:t>它的平均功率为：</a:t>
                </a:r>
              </a:p>
            </p:txBody>
          </p:sp>
        </mc:Choice>
        <mc:Fallback xmlns="">
          <p:sp>
            <p:nvSpPr>
              <p:cNvPr id="22535" name="Text Box 2">
                <a:extLst>
                  <a:ext uri="{FF2B5EF4-FFF2-40B4-BE49-F238E27FC236}">
                    <a16:creationId xmlns:a16="http://schemas.microsoft.com/office/drawing/2014/main" id="{A0419A3A-E4C2-4495-8F3B-07806A25F56E}"/>
                  </a:ext>
                </a:extLst>
              </p:cNvPr>
              <p:cNvSpPr txBox="1">
                <a:spLocks noRot="1" noChangeAspect="1" noMove="1" noResize="1" noEditPoints="1" noAdjustHandles="1" noChangeArrowheads="1" noChangeShapeType="1" noTextEdit="1"/>
              </p:cNvSpPr>
              <p:nvPr/>
            </p:nvSpPr>
            <p:spPr bwMode="auto">
              <a:xfrm>
                <a:off x="785813" y="1340768"/>
                <a:ext cx="7503721" cy="2260683"/>
              </a:xfrm>
              <a:prstGeom prst="rect">
                <a:avLst/>
              </a:prstGeom>
              <a:blipFill>
                <a:blip r:embed="rId2"/>
                <a:stretch>
                  <a:fillRect l="-1706" t="-3235" b="-566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31" name="Object 3">
                <a:extLst>
                  <a:ext uri="{FF2B5EF4-FFF2-40B4-BE49-F238E27FC236}">
                    <a16:creationId xmlns:a16="http://schemas.microsoft.com/office/drawing/2014/main" id="{8B2AC1C4-194C-417A-9377-B6491994FC8B}"/>
                  </a:ext>
                </a:extLst>
              </p:cNvPr>
              <p:cNvSpPr txBox="1"/>
              <p:nvPr/>
            </p:nvSpPr>
            <p:spPr bwMode="auto">
              <a:xfrm>
                <a:off x="1585677" y="1917511"/>
                <a:ext cx="5972646" cy="1131862"/>
              </a:xfrm>
              <a:prstGeom prst="rect">
                <a:avLst/>
              </a:prstGeom>
              <a:noFill/>
              <a:ln>
                <a:noFill/>
              </a:ln>
              <a:effectLst/>
            </p:spPr>
            <p:txBody>
              <a:bodyPr>
                <a:noAutofit/>
              </a:bodyPr>
              <a:lstStyle/>
              <a:p>
                <a:pPr/>
                <a14:m>
                  <m:oMathPara xmlns:m="http://schemas.openxmlformats.org/officeDocument/2006/math">
                    <m:oMathParaPr>
                      <m:jc m:val="center"/>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𝐸</m:t>
                          </m:r>
                        </m:e>
                        <m:sub>
                          <m:r>
                            <a:rPr lang="en-US" sz="2800" i="1">
                              <a:solidFill>
                                <a:schemeClr val="tx1"/>
                              </a:solidFill>
                              <a:latin typeface="Cambria Math" panose="02040503050406030204" pitchFamily="18" charset="0"/>
                            </a:rPr>
                            <m:t>𝑇</m:t>
                          </m:r>
                        </m:sub>
                      </m:sSub>
                      <m:r>
                        <a:rPr lang="en-US" sz="2800" i="1">
                          <a:solidFill>
                            <a:schemeClr val="tx1"/>
                          </a:solidFill>
                          <a:latin typeface="Cambria Math" panose="02040503050406030204" pitchFamily="18" charset="0"/>
                        </a:rPr>
                        <m:t>=</m:t>
                      </m:r>
                      <m:nary>
                        <m:naryPr>
                          <m:ctrlPr>
                            <a:rPr lang="en-US" sz="2800" i="1">
                              <a:solidFill>
                                <a:schemeClr val="tx1"/>
                              </a:solidFill>
                              <a:latin typeface="Cambria Math" panose="02040503050406030204" pitchFamily="18" charset="0"/>
                            </a:rPr>
                          </m:ctrlPr>
                        </m:naryPr>
                        <m:sub>
                          <m:r>
                            <a:rPr lang="en-US" sz="2800" i="1">
                              <a:solidFill>
                                <a:schemeClr val="tx1"/>
                              </a:solidFill>
                              <a:latin typeface="Cambria Math" panose="02040503050406030204" pitchFamily="18" charset="0"/>
                            </a:rPr>
                            <m:t>0</m:t>
                          </m:r>
                        </m:sub>
                        <m:sup>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𝑇</m:t>
                              </m:r>
                            </m:e>
                            <m:sub>
                              <m:r>
                                <a:rPr lang="en-US" sz="2800" i="1">
                                  <a:solidFill>
                                    <a:schemeClr val="tx1"/>
                                  </a:solidFill>
                                  <a:latin typeface="Cambria Math" panose="02040503050406030204" pitchFamily="18" charset="0"/>
                                </a:rPr>
                                <m:t>0</m:t>
                              </m:r>
                            </m:sub>
                          </m:sSub>
                        </m:sup>
                        <m:e>
                          <m:sSup>
                            <m:sSupPr>
                              <m:ctrlPr>
                                <a:rPr lang="en-US" sz="2800" i="1">
                                  <a:solidFill>
                                    <a:schemeClr val="tx1"/>
                                  </a:solidFill>
                                  <a:latin typeface="Cambria Math" panose="02040503050406030204" pitchFamily="18" charset="0"/>
                                </a:rPr>
                              </m:ctrlPr>
                            </m:sSupPr>
                            <m:e>
                              <m:d>
                                <m:dPr>
                                  <m:begChr m:val="|"/>
                                  <m:endChr m:val="|"/>
                                  <m:ctrlPr>
                                    <a:rPr lang="en-US" sz="2800" i="1">
                                      <a:solidFill>
                                        <a:schemeClr val="tx1"/>
                                      </a:solidFill>
                                      <a:latin typeface="Cambria Math" panose="02040503050406030204" pitchFamily="18" charset="0"/>
                                    </a:rPr>
                                  </m:ctrlPr>
                                </m:dPr>
                                <m:e>
                                  <m:sSup>
                                    <m:sSupPr>
                                      <m:ctrlPr>
                                        <a:rPr lang="en-US" sz="2800" i="1">
                                          <a:solidFill>
                                            <a:schemeClr val="tx1"/>
                                          </a:solidFill>
                                          <a:latin typeface="Cambria Math" panose="02040503050406030204" pitchFamily="18" charset="0"/>
                                        </a:rPr>
                                      </m:ctrlPr>
                                    </m:sSupPr>
                                    <m:e>
                                      <m:r>
                                        <m:rPr>
                                          <m:sty m:val="p"/>
                                        </m:rPr>
                                        <a:rPr lang="en-US" sz="2800" i="0">
                                          <a:solidFill>
                                            <a:schemeClr val="tx1"/>
                                          </a:solidFill>
                                          <a:latin typeface="Cambria Math" panose="02040503050406030204" pitchFamily="18" charset="0"/>
                                        </a:rPr>
                                        <m:t>e</m:t>
                                      </m:r>
                                    </m:e>
                                    <m:sup>
                                      <m:r>
                                        <m:rPr>
                                          <m:sty m:val="p"/>
                                        </m:rPr>
                                        <a:rPr lang="en-US" sz="2800" i="0">
                                          <a:solidFill>
                                            <a:schemeClr val="tx1"/>
                                          </a:solidFill>
                                          <a:latin typeface="Cambria Math" panose="02040503050406030204" pitchFamily="18" charset="0"/>
                                        </a:rPr>
                                        <m:t>j</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𝜔</m:t>
                                          </m:r>
                                        </m:e>
                                        <m:sub>
                                          <m:r>
                                            <a:rPr lang="en-US" sz="2800" i="1">
                                              <a:solidFill>
                                                <a:schemeClr val="tx1"/>
                                              </a:solidFill>
                                              <a:latin typeface="Cambria Math" panose="02040503050406030204" pitchFamily="18" charset="0"/>
                                            </a:rPr>
                                            <m:t>0</m:t>
                                          </m:r>
                                        </m:sub>
                                      </m:sSub>
                                      <m:r>
                                        <a:rPr lang="en-US" sz="2800" i="1">
                                          <a:solidFill>
                                            <a:schemeClr val="tx1"/>
                                          </a:solidFill>
                                          <a:latin typeface="Cambria Math" panose="02040503050406030204" pitchFamily="18" charset="0"/>
                                        </a:rPr>
                                        <m:t>𝑡</m:t>
                                      </m:r>
                                    </m:sup>
                                  </m:sSup>
                                </m:e>
                              </m:d>
                            </m:e>
                            <m:sup>
                              <m:r>
                                <a:rPr lang="en-US" sz="2800" i="1">
                                  <a:solidFill>
                                    <a:schemeClr val="tx1"/>
                                  </a:solidFill>
                                  <a:latin typeface="Cambria Math" panose="02040503050406030204" pitchFamily="18" charset="0"/>
                                </a:rPr>
                                <m:t>2</m:t>
                              </m:r>
                            </m:sup>
                          </m:sSup>
                          <m:r>
                            <m:rPr>
                              <m:sty m:val="p"/>
                            </m:rPr>
                            <a:rPr lang="en-US" sz="2800" i="0">
                              <a:solidFill>
                                <a:schemeClr val="tx1"/>
                              </a:solidFill>
                              <a:latin typeface="Cambria Math" panose="02040503050406030204" pitchFamily="18" charset="0"/>
                            </a:rPr>
                            <m:t>d</m:t>
                          </m:r>
                          <m:r>
                            <a:rPr lang="en-US" sz="2800" i="1">
                              <a:solidFill>
                                <a:schemeClr val="tx1"/>
                              </a:solidFill>
                              <a:latin typeface="Cambria Math" panose="02040503050406030204" pitchFamily="18" charset="0"/>
                            </a:rPr>
                            <m:t>𝑡</m:t>
                          </m:r>
                        </m:e>
                      </m:nary>
                      <m:r>
                        <a:rPr lang="en-US" sz="2800" i="1">
                          <a:solidFill>
                            <a:schemeClr val="tx1"/>
                          </a:solidFill>
                          <a:latin typeface="Cambria Math" panose="02040503050406030204" pitchFamily="18" charset="0"/>
                        </a:rPr>
                        <m:t>=</m:t>
                      </m:r>
                      <m:nary>
                        <m:naryPr>
                          <m:ctrlPr>
                            <a:rPr lang="en-US" sz="2800" i="1">
                              <a:solidFill>
                                <a:schemeClr val="tx1"/>
                              </a:solidFill>
                              <a:latin typeface="Cambria Math" panose="02040503050406030204" pitchFamily="18" charset="0"/>
                            </a:rPr>
                          </m:ctrlPr>
                        </m:naryPr>
                        <m:sub>
                          <m:r>
                            <a:rPr lang="en-US" sz="2800" i="1">
                              <a:solidFill>
                                <a:schemeClr val="tx1"/>
                              </a:solidFill>
                              <a:latin typeface="Cambria Math" panose="02040503050406030204" pitchFamily="18" charset="0"/>
                            </a:rPr>
                            <m:t>0</m:t>
                          </m:r>
                        </m:sub>
                        <m:sup>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𝑇</m:t>
                              </m:r>
                            </m:e>
                            <m:sub>
                              <m:r>
                                <a:rPr lang="en-US" sz="2800" i="1">
                                  <a:solidFill>
                                    <a:schemeClr val="tx1"/>
                                  </a:solidFill>
                                  <a:latin typeface="Cambria Math" panose="02040503050406030204" pitchFamily="18" charset="0"/>
                                </a:rPr>
                                <m:t>0</m:t>
                              </m:r>
                            </m:sub>
                          </m:sSub>
                        </m:sup>
                        <m:e>
                          <m:r>
                            <a:rPr lang="en-US" sz="2800" i="1">
                              <a:solidFill>
                                <a:schemeClr val="tx1"/>
                              </a:solidFill>
                              <a:latin typeface="Cambria Math" panose="02040503050406030204" pitchFamily="18" charset="0"/>
                            </a:rPr>
                            <m:t>1⋅</m:t>
                          </m:r>
                          <m:r>
                            <m:rPr>
                              <m:sty m:val="p"/>
                            </m:rPr>
                            <a:rPr lang="en-US" sz="2800" i="0">
                              <a:solidFill>
                                <a:schemeClr val="tx1"/>
                              </a:solidFill>
                              <a:latin typeface="Cambria Math" panose="02040503050406030204" pitchFamily="18" charset="0"/>
                            </a:rPr>
                            <m:t>d</m:t>
                          </m:r>
                          <m:r>
                            <a:rPr lang="en-US" sz="2800" i="1">
                              <a:solidFill>
                                <a:schemeClr val="tx1"/>
                              </a:solidFill>
                              <a:latin typeface="Cambria Math" panose="02040503050406030204" pitchFamily="18" charset="0"/>
                            </a:rPr>
                            <m:t>𝑡</m:t>
                          </m:r>
                        </m:e>
                      </m:nary>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𝑇</m:t>
                          </m:r>
                        </m:e>
                        <m:sub>
                          <m:r>
                            <a:rPr lang="en-US" sz="2800" i="1">
                              <a:solidFill>
                                <a:schemeClr val="tx1"/>
                              </a:solidFill>
                              <a:latin typeface="Cambria Math" panose="02040503050406030204" pitchFamily="18" charset="0"/>
                            </a:rPr>
                            <m:t>0</m:t>
                          </m:r>
                        </m:sub>
                      </m:sSub>
                    </m:oMath>
                  </m:oMathPara>
                </a14:m>
                <a:endParaRPr lang="en-US" sz="2800" dirty="0">
                  <a:solidFill>
                    <a:schemeClr val="tx1"/>
                  </a:solidFill>
                </a:endParaRPr>
              </a:p>
            </p:txBody>
          </p:sp>
        </mc:Choice>
        <mc:Fallback xmlns="">
          <p:sp>
            <p:nvSpPr>
              <p:cNvPr id="22531" name="Object 3">
                <a:extLst>
                  <a:ext uri="{FF2B5EF4-FFF2-40B4-BE49-F238E27FC236}">
                    <a16:creationId xmlns:a16="http://schemas.microsoft.com/office/drawing/2014/main" id="{8B2AC1C4-194C-417A-9377-B6491994FC8B}"/>
                  </a:ext>
                </a:extLst>
              </p:cNvPr>
              <p:cNvSpPr txBox="1">
                <a:spLocks noRot="1" noChangeAspect="1" noMove="1" noResize="1" noEditPoints="1" noAdjustHandles="1" noChangeArrowheads="1" noChangeShapeType="1" noTextEdit="1"/>
              </p:cNvSpPr>
              <p:nvPr/>
            </p:nvSpPr>
            <p:spPr bwMode="auto">
              <a:xfrm>
                <a:off x="1585677" y="1917511"/>
                <a:ext cx="5972646" cy="1131862"/>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5">
                <a:extLst>
                  <a:ext uri="{FF2B5EF4-FFF2-40B4-BE49-F238E27FC236}">
                    <a16:creationId xmlns:a16="http://schemas.microsoft.com/office/drawing/2014/main" id="{A38D200C-A300-49B3-AD7B-B95AADEE314A}"/>
                  </a:ext>
                </a:extLst>
              </p:cNvPr>
              <p:cNvSpPr txBox="1"/>
              <p:nvPr/>
            </p:nvSpPr>
            <p:spPr bwMode="auto">
              <a:xfrm>
                <a:off x="3311860" y="3789040"/>
                <a:ext cx="2520280" cy="1114425"/>
              </a:xfrm>
              <a:prstGeom prst="rect">
                <a:avLst/>
              </a:prstGeom>
              <a:noFill/>
              <a:ln>
                <a:noFill/>
              </a:ln>
              <a:effectLst/>
            </p:spPr>
            <p:txBody>
              <a:bodyPr>
                <a:noAutofit/>
              </a:bodyPr>
              <a:lstStyle/>
              <a:p>
                <a:pPr/>
                <a14:m>
                  <m:oMathPara xmlns:m="http://schemas.openxmlformats.org/officeDocument/2006/math">
                    <m:oMathParaPr>
                      <m:jc m:val="center"/>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𝑃</m:t>
                          </m:r>
                        </m:e>
                        <m:sub>
                          <m:r>
                            <a:rPr lang="en-US" sz="2800" b="0" i="1" smtClean="0">
                              <a:solidFill>
                                <a:srgbClr val="000000"/>
                              </a:solidFill>
                              <a:latin typeface="Cambria Math" panose="02040503050406030204" pitchFamily="18" charset="0"/>
                            </a:rPr>
                            <m:t>𝑇</m:t>
                          </m:r>
                        </m:sub>
                      </m:sSub>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0</m:t>
                              </m:r>
                            </m:sub>
                          </m:sSub>
                        </m:den>
                      </m:f>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b="0" i="1" smtClean="0">
                              <a:solidFill>
                                <a:srgbClr val="000000"/>
                              </a:solidFill>
                              <a:latin typeface="Cambria Math" panose="02040503050406030204" pitchFamily="18" charset="0"/>
                            </a:rPr>
                            <m:t>𝑇</m:t>
                          </m:r>
                        </m:sub>
                      </m:sSub>
                      <m:r>
                        <a:rPr lang="en-US" sz="2800" i="1">
                          <a:solidFill>
                            <a:srgbClr val="000000"/>
                          </a:solidFill>
                          <a:latin typeface="Cambria Math" panose="02040503050406030204" pitchFamily="18" charset="0"/>
                        </a:rPr>
                        <m:t>=1</m:t>
                      </m:r>
                    </m:oMath>
                  </m:oMathPara>
                </a14:m>
                <a:endParaRPr lang="en-US" sz="2800" dirty="0"/>
              </a:p>
            </p:txBody>
          </p:sp>
        </mc:Choice>
        <mc:Fallback xmlns="">
          <p:sp>
            <p:nvSpPr>
              <p:cNvPr id="14" name="Object 5">
                <a:extLst>
                  <a:ext uri="{FF2B5EF4-FFF2-40B4-BE49-F238E27FC236}">
                    <a16:creationId xmlns:a16="http://schemas.microsoft.com/office/drawing/2014/main" id="{A38D200C-A300-49B3-AD7B-B95AADEE314A}"/>
                  </a:ext>
                </a:extLst>
              </p:cNvPr>
              <p:cNvSpPr txBox="1">
                <a:spLocks noRot="1" noChangeAspect="1" noMove="1" noResize="1" noEditPoints="1" noAdjustHandles="1" noChangeArrowheads="1" noChangeShapeType="1" noTextEdit="1"/>
              </p:cNvSpPr>
              <p:nvPr/>
            </p:nvSpPr>
            <p:spPr bwMode="auto">
              <a:xfrm>
                <a:off x="3311860" y="3789040"/>
                <a:ext cx="2520280" cy="1114425"/>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8D8C5EFC-C24D-44C5-9E9D-82C9535D1A2C}"/>
                  </a:ext>
                </a:extLst>
              </p:cNvPr>
              <p:cNvSpPr txBox="1"/>
              <p:nvPr/>
            </p:nvSpPr>
            <p:spPr>
              <a:xfrm>
                <a:off x="1979712" y="5091054"/>
                <a:ext cx="5184576" cy="10586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836967"/>
                              </a:solidFill>
                              <a:latin typeface="Cambria Math" panose="02040503050406030204" pitchFamily="18" charset="0"/>
                            </a:rPr>
                          </m:ctrlPr>
                        </m:sSubPr>
                        <m:e>
                          <m:r>
                            <a:rPr lang="en-US" sz="2800" i="1">
                              <a:latin typeface="Cambria Math" panose="02040503050406030204" pitchFamily="18" charset="0"/>
                            </a:rPr>
                            <m:t>𝑃</m:t>
                          </m:r>
                        </m:e>
                        <m:sub>
                          <m:r>
                            <a:rPr lang="en-US" sz="2800" i="0">
                              <a:latin typeface="Cambria Math" panose="02040503050406030204" pitchFamily="18" charset="0"/>
                            </a:rPr>
                            <m:t>∞</m:t>
                          </m:r>
                        </m:sub>
                      </m:sSub>
                      <m:r>
                        <a:rPr lang="en-US" sz="2800" i="0">
                          <a:latin typeface="Cambria Math" panose="02040503050406030204" pitchFamily="18" charset="0"/>
                        </a:rPr>
                        <m:t>=</m:t>
                      </m:r>
                      <m:limLow>
                        <m:limLowPr>
                          <m:ctrlPr>
                            <a:rPr lang="en-US" sz="2800" i="1">
                              <a:solidFill>
                                <a:srgbClr val="836967"/>
                              </a:solidFill>
                              <a:latin typeface="Cambria Math" panose="02040503050406030204" pitchFamily="18" charset="0"/>
                            </a:rPr>
                          </m:ctrlPr>
                        </m:limLowPr>
                        <m:e>
                          <m:r>
                            <m:rPr>
                              <m:sty m:val="p"/>
                            </m:rPr>
                            <a:rPr lang="en-US" sz="2800" i="0">
                              <a:latin typeface="Cambria Math" panose="02040503050406030204" pitchFamily="18" charset="0"/>
                            </a:rPr>
                            <m:t>lim</m:t>
                          </m:r>
                        </m:e>
                        <m:lim>
                          <m:r>
                            <a:rPr lang="en-US" sz="2800" i="1">
                              <a:latin typeface="Cambria Math" panose="02040503050406030204" pitchFamily="18" charset="0"/>
                            </a:rPr>
                            <m:t>𝑇</m:t>
                          </m:r>
                          <m:r>
                            <a:rPr lang="en-US" sz="2800" i="0">
                              <a:latin typeface="Cambria Math" panose="02040503050406030204" pitchFamily="18" charset="0"/>
                            </a:rPr>
                            <m:t>→∞</m:t>
                          </m:r>
                        </m:lim>
                      </m:limLow>
                      <m:f>
                        <m:fPr>
                          <m:ctrlPr>
                            <a:rPr lang="en-US" sz="2800" i="1">
                              <a:solidFill>
                                <a:srgbClr val="836967"/>
                              </a:solidFill>
                              <a:latin typeface="Cambria Math" panose="02040503050406030204" pitchFamily="18" charset="0"/>
                            </a:rPr>
                          </m:ctrlPr>
                        </m:fPr>
                        <m:num>
                          <m:r>
                            <a:rPr lang="en-US" sz="2800" i="0">
                              <a:latin typeface="Cambria Math" panose="02040503050406030204" pitchFamily="18" charset="0"/>
                            </a:rPr>
                            <m:t>1</m:t>
                          </m:r>
                        </m:num>
                        <m:den>
                          <m:r>
                            <a:rPr lang="en-US" sz="2800" i="0">
                              <a:latin typeface="Cambria Math" panose="02040503050406030204" pitchFamily="18" charset="0"/>
                            </a:rPr>
                            <m:t>2</m:t>
                          </m:r>
                          <m:r>
                            <a:rPr lang="en-US" sz="2800" i="1">
                              <a:latin typeface="Cambria Math" panose="02040503050406030204" pitchFamily="18" charset="0"/>
                            </a:rPr>
                            <m:t>𝑇</m:t>
                          </m:r>
                        </m:den>
                      </m:f>
                      <m:nary>
                        <m:naryPr>
                          <m:limLoc m:val="subSup"/>
                          <m:grow m:val="on"/>
                          <m:ctrlPr>
                            <a:rPr lang="en-US" sz="2800" i="1">
                              <a:latin typeface="Cambria Math" panose="02040503050406030204" pitchFamily="18" charset="0"/>
                            </a:rPr>
                          </m:ctrlPr>
                        </m:naryPr>
                        <m:sub>
                          <m:r>
                            <a:rPr lang="en-US" sz="2800">
                              <a:latin typeface="Cambria Math" panose="02040503050406030204" pitchFamily="18" charset="0"/>
                            </a:rPr>
                            <m:t>−</m:t>
                          </m:r>
                          <m:r>
                            <a:rPr lang="en-US" sz="2800" i="1">
                              <a:latin typeface="Cambria Math" panose="02040503050406030204" pitchFamily="18" charset="0"/>
                            </a:rPr>
                            <m:t>𝑇</m:t>
                          </m:r>
                        </m:sub>
                        <m:sup>
                          <m:r>
                            <a:rPr lang="en-US" sz="2800" i="1">
                              <a:latin typeface="Cambria Math" panose="02040503050406030204" pitchFamily="18" charset="0"/>
                            </a:rPr>
                            <m:t>𝑇</m:t>
                          </m:r>
                        </m:sup>
                        <m:e>
                          <m:sSup>
                            <m:sSupPr>
                              <m:ctrlPr>
                                <a:rPr lang="en-US" sz="2800" i="1" smtClean="0">
                                  <a:latin typeface="Cambria Math" panose="02040503050406030204" pitchFamily="18" charset="0"/>
                                </a:rPr>
                              </m:ctrlPr>
                            </m:sSupPr>
                            <m:e>
                              <m:d>
                                <m:dPr>
                                  <m:begChr m:val="|"/>
                                  <m:endChr m:val="|"/>
                                  <m:ctrlPr>
                                    <a:rPr lang="en-US" sz="2800" i="1">
                                      <a:latin typeface="Cambria Math" panose="02040503050406030204" pitchFamily="18" charset="0"/>
                                    </a:rPr>
                                  </m:ctrlPr>
                                </m:dPr>
                                <m:e>
                                  <m:sSup>
                                    <m:sSupPr>
                                      <m:ctrlPr>
                                        <a:rPr lang="en-US" sz="2800" i="1">
                                          <a:solidFill>
                                            <a:srgbClr val="836967"/>
                                          </a:solidFill>
                                          <a:latin typeface="Cambria Math" panose="02040503050406030204" pitchFamily="18" charset="0"/>
                                        </a:rPr>
                                      </m:ctrlPr>
                                    </m:sSupPr>
                                    <m:e>
                                      <m:r>
                                        <m:rPr>
                                          <m:sty m:val="p"/>
                                        </m:rPr>
                                        <a:rPr lang="en-US" sz="2800" i="0">
                                          <a:latin typeface="Cambria Math" panose="02040503050406030204" pitchFamily="18" charset="0"/>
                                        </a:rPr>
                                        <m:t>e</m:t>
                                      </m:r>
                                    </m:e>
                                    <m:sup>
                                      <m:r>
                                        <m:rPr>
                                          <m:sty m:val="p"/>
                                        </m:rPr>
                                        <a:rPr lang="en-US" sz="2800" i="0">
                                          <a:latin typeface="Cambria Math" panose="02040503050406030204" pitchFamily="18" charset="0"/>
                                        </a:rPr>
                                        <m:t>j</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𝜔</m:t>
                                          </m:r>
                                        </m:e>
                                        <m:sub>
                                          <m:r>
                                            <a:rPr lang="en-US" sz="2800">
                                              <a:latin typeface="Cambria Math" panose="02040503050406030204" pitchFamily="18" charset="0"/>
                                            </a:rPr>
                                            <m:t>0</m:t>
                                          </m:r>
                                        </m:sub>
                                      </m:sSub>
                                      <m:r>
                                        <a:rPr lang="en-US" sz="2800" i="1">
                                          <a:latin typeface="Cambria Math" panose="02040503050406030204" pitchFamily="18" charset="0"/>
                                        </a:rPr>
                                        <m:t>𝑡</m:t>
                                      </m:r>
                                    </m:sup>
                                  </m:sSup>
                                </m:e>
                              </m:d>
                            </m:e>
                            <m:sup>
                              <m:r>
                                <a:rPr lang="en-US" sz="2800" b="0" i="1" smtClean="0">
                                  <a:latin typeface="Cambria Math" panose="02040503050406030204" pitchFamily="18" charset="0"/>
                                </a:rPr>
                                <m:t>2</m:t>
                              </m:r>
                            </m:sup>
                          </m:sSup>
                        </m:e>
                      </m:nary>
                      <m:r>
                        <m:rPr>
                          <m:sty m:val="p"/>
                        </m:rPr>
                        <a:rPr lang="en-US" sz="2800" i="0">
                          <a:latin typeface="Cambria Math" panose="02040503050406030204" pitchFamily="18" charset="0"/>
                        </a:rPr>
                        <m:t>d</m:t>
                      </m:r>
                      <m:r>
                        <a:rPr lang="en-US" sz="2800" i="1">
                          <a:latin typeface="Cambria Math" panose="02040503050406030204" pitchFamily="18" charset="0"/>
                        </a:rPr>
                        <m:t>𝑡</m:t>
                      </m:r>
                      <m:r>
                        <a:rPr lang="en-US" sz="2800" i="0">
                          <a:latin typeface="Cambria Math" panose="02040503050406030204" pitchFamily="18" charset="0"/>
                        </a:rPr>
                        <m:t>=1</m:t>
                      </m:r>
                    </m:oMath>
                  </m:oMathPara>
                </a14:m>
                <a:endParaRPr lang="en-US" sz="2800" dirty="0"/>
              </a:p>
            </p:txBody>
          </p:sp>
        </mc:Choice>
        <mc:Fallback xmlns="">
          <p:sp>
            <p:nvSpPr>
              <p:cNvPr id="19" name="文本框 18">
                <a:extLst>
                  <a:ext uri="{FF2B5EF4-FFF2-40B4-BE49-F238E27FC236}">
                    <a16:creationId xmlns:a16="http://schemas.microsoft.com/office/drawing/2014/main" id="{8D8C5EFC-C24D-44C5-9E9D-82C9535D1A2C}"/>
                  </a:ext>
                </a:extLst>
              </p:cNvPr>
              <p:cNvSpPr txBox="1">
                <a:spLocks noRot="1" noChangeAspect="1" noMove="1" noResize="1" noEditPoints="1" noAdjustHandles="1" noChangeArrowheads="1" noChangeShapeType="1" noTextEdit="1"/>
              </p:cNvSpPr>
              <p:nvPr/>
            </p:nvSpPr>
            <p:spPr>
              <a:xfrm>
                <a:off x="1979712" y="5091054"/>
                <a:ext cx="5184576" cy="1058688"/>
              </a:xfrm>
              <a:prstGeom prst="rect">
                <a:avLst/>
              </a:prstGeom>
              <a:blipFill>
                <a:blip r:embed="rId5"/>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2" name="标题 1">
            <a:extLst>
              <a:ext uri="{FF2B5EF4-FFF2-40B4-BE49-F238E27FC236}">
                <a16:creationId xmlns:a16="http://schemas.microsoft.com/office/drawing/2014/main" id="{1392EA18-B408-4B1C-9582-F515641F345D}"/>
              </a:ext>
            </a:extLst>
          </p:cNvPr>
          <p:cNvSpPr>
            <a:spLocks noGrp="1"/>
          </p:cNvSpPr>
          <p:nvPr>
            <p:ph type="title"/>
          </p:nvPr>
        </p:nvSpPr>
        <p:spPr/>
        <p:txBody>
          <a:bodyPr/>
          <a:lstStyle/>
          <a:p>
            <a:pPr eaLnBrk="1" hangingPunct="1"/>
            <a:r>
              <a:rPr lang="en-US" altLang="zh-CN"/>
              <a:t>1.3  </a:t>
            </a:r>
            <a:r>
              <a:rPr lang="zh-CN" altLang="en-US"/>
              <a:t>复指数信号与正弦信号</a:t>
            </a:r>
          </a:p>
        </p:txBody>
      </p:sp>
      <mc:AlternateContent xmlns:mc="http://schemas.openxmlformats.org/markup-compatibility/2006" xmlns:a14="http://schemas.microsoft.com/office/drawing/2010/main">
        <mc:Choice Requires="a14">
          <p:sp>
            <p:nvSpPr>
              <p:cNvPr id="23563" name="内容占位符 2">
                <a:extLst>
                  <a:ext uri="{FF2B5EF4-FFF2-40B4-BE49-F238E27FC236}">
                    <a16:creationId xmlns:a16="http://schemas.microsoft.com/office/drawing/2014/main" id="{344E3D3A-B6D8-45D6-A1AA-CC04508C3B76}"/>
                  </a:ext>
                </a:extLst>
              </p:cNvPr>
              <p:cNvSpPr>
                <a:spLocks noGrp="1"/>
              </p:cNvSpPr>
              <p:nvPr>
                <p:ph idx="1"/>
              </p:nvPr>
            </p:nvSpPr>
            <p:spPr>
              <a:xfrm>
                <a:off x="457200" y="1285875"/>
                <a:ext cx="8229600" cy="4742067"/>
              </a:xfrm>
            </p:spPr>
            <p:txBody>
              <a:bodyPr>
                <a:spAutoFit/>
              </a:bodyPr>
              <a:lstStyle/>
              <a:p>
                <a:pPr>
                  <a:lnSpc>
                    <a:spcPct val="120000"/>
                  </a:lnSpc>
                  <a:spcBef>
                    <a:spcPct val="0"/>
                  </a:spcBef>
                  <a:spcAft>
                    <a:spcPts val="1200"/>
                  </a:spcAft>
                </a:pPr>
                <a:r>
                  <a:rPr lang="en-US" altLang="zh-CN" sz="2800" b="0" dirty="0"/>
                  <a:t>3. </a:t>
                </a:r>
                <a:r>
                  <a:rPr lang="zh-CN" altLang="en-US" sz="2800" b="0" dirty="0"/>
                  <a:t>成谐波关系的复指数信号集：</a:t>
                </a:r>
                <a:endParaRPr lang="en-US" altLang="zh-CN" sz="2800" b="0" dirty="0"/>
              </a:p>
              <a:p>
                <a:pPr marL="0" indent="0">
                  <a:lnSpc>
                    <a:spcPct val="120000"/>
                  </a:lnSpc>
                  <a:spcBef>
                    <a:spcPct val="0"/>
                  </a:spcBef>
                  <a:spcAft>
                    <a:spcPts val="1200"/>
                  </a:spcAft>
                  <a:buNone/>
                </a:pPr>
                <a14:m>
                  <m:oMathPara xmlns:m="http://schemas.openxmlformats.org/officeDocument/2006/math">
                    <m:oMathParaPr>
                      <m:jc m:val="centerGroup"/>
                    </m:oMathParaPr>
                    <m:oMath xmlns:m="http://schemas.openxmlformats.org/officeDocument/2006/math">
                      <m:d>
                        <m:dPr>
                          <m:begChr m:val="{"/>
                          <m:endChr m:val="}"/>
                          <m:ctrlPr>
                            <a:rPr lang="en-US" sz="2800" i="1">
                              <a:solidFill>
                                <a:srgbClr val="000000"/>
                              </a:solidFill>
                              <a:latin typeface="Cambria Math" panose="02040503050406030204" pitchFamily="18" charset="0"/>
                            </a:rPr>
                          </m:ctrlPr>
                        </m:dPr>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𝜑</m:t>
                              </m:r>
                            </m:e>
                            <m:sub>
                              <m:r>
                                <a:rPr lang="en-US" sz="2800" i="1">
                                  <a:solidFill>
                                    <a:srgbClr val="000000"/>
                                  </a:solidFill>
                                  <a:latin typeface="Cambria Math" panose="02040503050406030204" pitchFamily="18" charset="0"/>
                                </a:rPr>
                                <m:t>𝑘</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e>
                      </m:d>
                      <m:r>
                        <a:rPr lang="en-US" sz="2800" i="1">
                          <a:solidFill>
                            <a:srgbClr val="000000"/>
                          </a:solidFill>
                          <a:latin typeface="Cambria Math" panose="02040503050406030204" pitchFamily="18" charset="0"/>
                        </a:rPr>
                        <m:t>=</m:t>
                      </m:r>
                      <m:d>
                        <m:dPr>
                          <m:begChr m:val="{"/>
                          <m:endChr m:val="}"/>
                          <m:ctrlPr>
                            <a:rPr lang="en-US" sz="2800" i="1">
                              <a:solidFill>
                                <a:srgbClr val="000000"/>
                              </a:solidFill>
                              <a:latin typeface="Cambria Math" panose="02040503050406030204" pitchFamily="18" charset="0"/>
                            </a:rPr>
                          </m:ctrlPr>
                        </m:dPr>
                        <m:e>
                          <m:sSup>
                            <m:sSupPr>
                              <m:ctrlPr>
                                <a:rPr lang="en-US" sz="2800" i="1" smtClean="0">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m:rPr>
                                  <m:sty m:val="p"/>
                                </m:rPr>
                                <a:rPr lang="en-US" sz="2800" i="0">
                                  <a:solidFill>
                                    <a:srgbClr val="FF0000"/>
                                  </a:solidFill>
                                  <a:latin typeface="Cambria Math" panose="02040503050406030204" pitchFamily="18" charset="0"/>
                                </a:rPr>
                                <m:t>j</m:t>
                              </m:r>
                              <m:r>
                                <a:rPr lang="en-US" sz="2800" i="1">
                                  <a:solidFill>
                                    <a:srgbClr val="FF0000"/>
                                  </a:solidFill>
                                  <a:latin typeface="Cambria Math" panose="02040503050406030204" pitchFamily="18" charset="0"/>
                                </a:rPr>
                                <m:t>𝑘</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𝜔</m:t>
                                  </m:r>
                                </m:e>
                                <m:sub>
                                  <m:r>
                                    <a:rPr lang="en-US" sz="2800" i="1">
                                      <a:solidFill>
                                        <a:srgbClr val="FF0000"/>
                                      </a:solidFill>
                                      <a:latin typeface="Cambria Math" panose="02040503050406030204" pitchFamily="18" charset="0"/>
                                    </a:rPr>
                                    <m:t>0</m:t>
                                  </m:r>
                                </m:sub>
                              </m:sSub>
                              <m:r>
                                <a:rPr lang="en-US" sz="2800" i="1">
                                  <a:solidFill>
                                    <a:srgbClr val="FF0000"/>
                                  </a:solidFill>
                                  <a:latin typeface="Cambria Math" panose="02040503050406030204" pitchFamily="18" charset="0"/>
                                </a:rPr>
                                <m:t>𝑡</m:t>
                              </m:r>
                            </m:sup>
                          </m:sSup>
                        </m:e>
                      </m:d>
                      <m:r>
                        <a:rPr lang="en-US" sz="2800" i="1">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 </m:t>
                      </m:r>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=0,±1,±2⋅⋅⋅⋅⋅⋅</m:t>
                      </m:r>
                    </m:oMath>
                  </m:oMathPara>
                </a14:m>
                <a:endParaRPr lang="en-US" altLang="zh-CN" sz="2800" b="0" dirty="0">
                  <a:solidFill>
                    <a:srgbClr val="000099"/>
                  </a:solidFill>
                </a:endParaRPr>
              </a:p>
              <a:p>
                <a:pPr lvl="1" algn="just">
                  <a:lnSpc>
                    <a:spcPct val="120000"/>
                  </a:lnSpc>
                  <a:spcBef>
                    <a:spcPct val="0"/>
                  </a:spcBef>
                  <a:spcAft>
                    <a:spcPts val="1200"/>
                  </a:spcAft>
                </a:pPr>
                <a:r>
                  <a:rPr lang="zh-CN" altLang="en-US" b="0" dirty="0"/>
                  <a:t>该集合中的每个信号都是周期的，它们的频率分别为</a:t>
                </a:r>
                <a14:m>
                  <m:oMath xmlns:m="http://schemas.openxmlformats.org/officeDocument/2006/math">
                    <m:r>
                      <a:rPr lang="en-US" i="1" smtClean="0">
                        <a:solidFill>
                          <a:srgbClr val="000000"/>
                        </a:solidFill>
                        <a:latin typeface="Cambria Math" panose="02040503050406030204" pitchFamily="18" charset="0"/>
                      </a:rPr>
                      <m:t>𝑘</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𝜔</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 </m:t>
                    </m:r>
                  </m:oMath>
                </a14:m>
                <a:r>
                  <a:rPr lang="zh-CN" altLang="en-US" b="0" dirty="0"/>
                  <a:t>，都是</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𝜔</m:t>
                        </m:r>
                      </m:e>
                      <m:sub>
                        <m:r>
                          <a:rPr lang="en-US" i="1">
                            <a:solidFill>
                              <a:srgbClr val="000000"/>
                            </a:solidFill>
                            <a:latin typeface="Cambria Math" panose="02040503050406030204" pitchFamily="18" charset="0"/>
                          </a:rPr>
                          <m:t>0</m:t>
                        </m:r>
                      </m:sub>
                    </m:sSub>
                  </m:oMath>
                </a14:m>
                <a:r>
                  <a:rPr lang="zh-CN" altLang="en-US" b="0" dirty="0"/>
                  <a:t>的整数倍，因而称它们是</a:t>
                </a:r>
                <a:r>
                  <a:rPr lang="zh-CN" altLang="en-US" dirty="0">
                    <a:solidFill>
                      <a:srgbClr val="FF0000"/>
                    </a:solidFill>
                  </a:rPr>
                  <a:t>成谐波关系</a:t>
                </a:r>
                <a:r>
                  <a:rPr lang="zh-CN" altLang="en-US" b="0" dirty="0"/>
                  <a:t>的。</a:t>
                </a:r>
                <a:endParaRPr lang="en-US" altLang="zh-CN" b="0" dirty="0"/>
              </a:p>
              <a:p>
                <a:pPr lvl="1" algn="just">
                  <a:lnSpc>
                    <a:spcPct val="120000"/>
                  </a:lnSpc>
                  <a:spcBef>
                    <a:spcPct val="0"/>
                  </a:spcBef>
                  <a:spcAft>
                    <a:spcPts val="1200"/>
                  </a:spcAft>
                </a:pPr>
                <a:r>
                  <a:rPr lang="zh-CN" altLang="en-US" b="0" dirty="0"/>
                  <a:t>集合中信号的基波频率为</a:t>
                </a:r>
                <a14:m>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𝜔</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 </m:t>
                    </m:r>
                  </m:oMath>
                </a14:m>
                <a:r>
                  <a:rPr lang="zh-CN" altLang="en-US" b="0" dirty="0"/>
                  <a:t>，基波周期为</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𝑇</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 </m:t>
                    </m:r>
                  </m:oMath>
                </a14:m>
                <a:r>
                  <a:rPr lang="zh-CN" altLang="en-US" b="0" dirty="0"/>
                  <a:t>，各次谐波的周期分别为</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𝑇</m:t>
                        </m:r>
                      </m:e>
                      <m:sub>
                        <m:r>
                          <a:rPr lang="en-US" i="1">
                            <a:solidFill>
                              <a:srgbClr val="000000"/>
                            </a:solidFill>
                            <a:latin typeface="Cambria Math" panose="02040503050406030204" pitchFamily="18" charset="0"/>
                          </a:rPr>
                          <m:t>𝑘</m:t>
                        </m:r>
                      </m:sub>
                    </m:sSub>
                    <m:r>
                      <a:rPr lang="en-US" i="1">
                        <a:solidFill>
                          <a:srgbClr val="000000"/>
                        </a:solidFill>
                        <a:latin typeface="Cambria Math" panose="02040503050406030204" pitchFamily="18" charset="0"/>
                      </a:rPr>
                      <m:t>=2</m:t>
                    </m:r>
                    <m:r>
                      <m:rPr>
                        <m:sty m:val="p"/>
                      </m:rPr>
                      <a:rPr lang="en-US" i="0">
                        <a:solidFill>
                          <a:srgbClr val="000000"/>
                        </a:solidFill>
                        <a:latin typeface="Cambria Math" panose="02040503050406030204" pitchFamily="18" charset="0"/>
                      </a:rPr>
                      <m:t>π</m:t>
                    </m:r>
                    <m:r>
                      <a:rPr lang="en-US" i="1">
                        <a:solidFill>
                          <a:srgbClr val="000000"/>
                        </a:solidFill>
                        <a:latin typeface="Cambria Math" panose="02040503050406030204" pitchFamily="18" charset="0"/>
                      </a:rPr>
                      <m:t>/</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𝑘</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𝜔</m:t>
                            </m:r>
                          </m:e>
                          <m:sub>
                            <m:r>
                              <a:rPr lang="en-US" i="1">
                                <a:solidFill>
                                  <a:srgbClr val="000000"/>
                                </a:solidFill>
                                <a:latin typeface="Cambria Math" panose="02040503050406030204" pitchFamily="18" charset="0"/>
                              </a:rPr>
                              <m:t>0</m:t>
                            </m:r>
                          </m:sub>
                        </m:sSub>
                      </m:e>
                    </m:d>
                  </m:oMath>
                </a14:m>
                <a:r>
                  <a:rPr lang="zh-CN" altLang="en-US" b="0" dirty="0"/>
                  <a:t>，它们的</a:t>
                </a:r>
                <a:r>
                  <a:rPr lang="zh-CN" altLang="en-US" b="0" dirty="0">
                    <a:solidFill>
                      <a:srgbClr val="FF0000"/>
                    </a:solidFill>
                  </a:rPr>
                  <a:t>公共周期是</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𝑇</m:t>
                        </m:r>
                      </m:e>
                      <m:sub>
                        <m:r>
                          <a:rPr lang="en-US" i="1">
                            <a:solidFill>
                              <a:srgbClr val="FF0000"/>
                            </a:solidFill>
                            <a:latin typeface="Cambria Math" panose="02040503050406030204" pitchFamily="18" charset="0"/>
                          </a:rPr>
                          <m:t>0</m:t>
                        </m:r>
                      </m:sub>
                    </m:sSub>
                    <m:r>
                      <a:rPr lang="en-US" i="1">
                        <a:solidFill>
                          <a:srgbClr val="000000"/>
                        </a:solidFill>
                        <a:latin typeface="Cambria Math" panose="02040503050406030204" pitchFamily="18" charset="0"/>
                      </a:rPr>
                      <m:t>=2</m:t>
                    </m:r>
                    <m:r>
                      <m:rPr>
                        <m:sty m:val="p"/>
                      </m:rPr>
                      <a:rPr lang="en-US" i="0">
                        <a:solidFill>
                          <a:srgbClr val="000000"/>
                        </a:solidFill>
                        <a:latin typeface="Cambria Math" panose="02040503050406030204" pitchFamily="18" charset="0"/>
                      </a:rPr>
                      <m:t>π</m:t>
                    </m:r>
                    <m:r>
                      <a:rPr lang="en-US" i="1">
                        <a:solidFill>
                          <a:srgbClr val="000000"/>
                        </a:solidFill>
                        <a:latin typeface="Cambria Math" panose="02040503050406030204" pitchFamily="18" charset="0"/>
                      </a:rPr>
                      <m:t>/</m:t>
                    </m:r>
                    <m:d>
                      <m:dPr>
                        <m:begChr m:val="|"/>
                        <m:endChr m:val="|"/>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𝜔</m:t>
                            </m:r>
                          </m:e>
                          <m:sub>
                            <m:r>
                              <a:rPr lang="en-US" i="1">
                                <a:solidFill>
                                  <a:srgbClr val="000000"/>
                                </a:solidFill>
                                <a:latin typeface="Cambria Math" panose="02040503050406030204" pitchFamily="18" charset="0"/>
                              </a:rPr>
                              <m:t>0</m:t>
                            </m:r>
                          </m:sub>
                        </m:sSub>
                      </m:e>
                    </m:d>
                  </m:oMath>
                </a14:m>
                <a:r>
                  <a:rPr lang="zh-CN" altLang="en-US" b="0" dirty="0"/>
                  <a:t>。</a:t>
                </a:r>
                <a:endParaRPr lang="en-US" altLang="zh-CN" b="0" dirty="0"/>
              </a:p>
            </p:txBody>
          </p:sp>
        </mc:Choice>
        <mc:Fallback xmlns="">
          <p:sp>
            <p:nvSpPr>
              <p:cNvPr id="23563" name="内容占位符 2">
                <a:extLst>
                  <a:ext uri="{FF2B5EF4-FFF2-40B4-BE49-F238E27FC236}">
                    <a16:creationId xmlns:a16="http://schemas.microsoft.com/office/drawing/2014/main" id="{344E3D3A-B6D8-45D6-A1AA-CC04508C3B76}"/>
                  </a:ext>
                </a:extLst>
              </p:cNvPr>
              <p:cNvSpPr>
                <a:spLocks noGrp="1" noRot="1" noChangeAspect="1" noMove="1" noResize="1" noEditPoints="1" noAdjustHandles="1" noChangeArrowheads="1" noChangeShapeType="1" noTextEdit="1"/>
              </p:cNvSpPr>
              <p:nvPr>
                <p:ph idx="1"/>
              </p:nvPr>
            </p:nvSpPr>
            <p:spPr>
              <a:xfrm>
                <a:off x="457200" y="1285875"/>
                <a:ext cx="8229600" cy="4742067"/>
              </a:xfrm>
              <a:blipFill>
                <a:blip r:embed="rId2"/>
                <a:stretch>
                  <a:fillRect l="-1333" t="-1028" r="-1481" b="-2185"/>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49C91B05-E678-43F5-83B7-98670C8D112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9061E21-77EE-4666-A415-D08B281F34EA}" type="slidenum">
              <a:rPr lang="zh-CN" altLang="en-US">
                <a:solidFill>
                  <a:srgbClr val="898989"/>
                </a:solidFill>
                <a:latin typeface="Calibri" panose="020F0502020204030204" pitchFamily="34" charset="0"/>
              </a:rPr>
              <a:pPr eaLnBrk="1" hangingPunct="1"/>
              <a:t>42</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标题 1">
            <a:extLst>
              <a:ext uri="{FF2B5EF4-FFF2-40B4-BE49-F238E27FC236}">
                <a16:creationId xmlns:a16="http://schemas.microsoft.com/office/drawing/2014/main" id="{5E9B0216-5998-469F-AB59-6CD4370405BD}"/>
              </a:ext>
            </a:extLst>
          </p:cNvPr>
          <p:cNvSpPr>
            <a:spLocks noGrp="1"/>
          </p:cNvSpPr>
          <p:nvPr>
            <p:ph type="title"/>
          </p:nvPr>
        </p:nvSpPr>
        <p:spPr/>
        <p:txBody>
          <a:bodyPr/>
          <a:lstStyle/>
          <a:p>
            <a:pPr eaLnBrk="1" hangingPunct="1"/>
            <a:r>
              <a:rPr lang="en-US" altLang="zh-CN"/>
              <a:t>1.3  </a:t>
            </a:r>
            <a:r>
              <a:rPr lang="zh-CN" altLang="en-US"/>
              <a:t>复指数信号与正弦信号</a:t>
            </a:r>
          </a:p>
        </p:txBody>
      </p:sp>
      <p:sp>
        <p:nvSpPr>
          <p:cNvPr id="1031" name="内容占位符 2">
            <a:extLst>
              <a:ext uri="{FF2B5EF4-FFF2-40B4-BE49-F238E27FC236}">
                <a16:creationId xmlns:a16="http://schemas.microsoft.com/office/drawing/2014/main" id="{6020960C-E2FA-448C-A917-F322EECDEE7C}"/>
              </a:ext>
            </a:extLst>
          </p:cNvPr>
          <p:cNvSpPr>
            <a:spLocks noGrp="1"/>
          </p:cNvSpPr>
          <p:nvPr>
            <p:ph idx="1"/>
          </p:nvPr>
        </p:nvSpPr>
        <p:spPr/>
        <p:txBody>
          <a:bodyPr/>
          <a:lstStyle/>
          <a:p>
            <a:pPr>
              <a:spcBef>
                <a:spcPct val="0"/>
              </a:spcBef>
            </a:pPr>
            <a:r>
              <a:rPr lang="en-US" altLang="zh-CN" sz="2800" b="0" dirty="0"/>
              <a:t>4. </a:t>
            </a:r>
            <a:r>
              <a:rPr lang="zh-CN" altLang="en-US" sz="2800" b="0" dirty="0"/>
              <a:t>一般复指数信号</a:t>
            </a:r>
            <a:r>
              <a:rPr lang="en-US" altLang="zh-CN" sz="2800" b="0" dirty="0"/>
              <a:t>:</a:t>
            </a:r>
          </a:p>
          <a:p>
            <a:pPr eaLnBrk="1" hangingPunct="1"/>
            <a:endParaRPr lang="en-US" altLang="zh-CN" b="0" dirty="0"/>
          </a:p>
          <a:p>
            <a:pPr eaLnBrk="1" hangingPunct="1"/>
            <a:endParaRPr lang="en-US" altLang="zh-CN" b="0" dirty="0"/>
          </a:p>
          <a:p>
            <a:pPr eaLnBrk="1" hangingPunct="1"/>
            <a:endParaRPr lang="en-US" altLang="zh-CN" b="0" dirty="0"/>
          </a:p>
          <a:p>
            <a:pPr eaLnBrk="1" hangingPunct="1"/>
            <a:endParaRPr lang="en-US" altLang="zh-CN" b="0" dirty="0"/>
          </a:p>
          <a:p>
            <a:pPr lvl="1" eaLnBrk="1" hangingPunct="1"/>
            <a:r>
              <a:rPr lang="zh-CN" altLang="en-US" b="0" dirty="0"/>
              <a:t>该信号可看成是</a:t>
            </a:r>
            <a:r>
              <a:rPr lang="zh-CN" altLang="en-US" b="0" dirty="0">
                <a:solidFill>
                  <a:srgbClr val="FF0000"/>
                </a:solidFill>
              </a:rPr>
              <a:t>振幅按实指数信号规律变化的周期性复指数信号</a:t>
            </a:r>
            <a:r>
              <a:rPr lang="zh-CN" altLang="en-US" b="0" dirty="0"/>
              <a:t>。它的实部与虚部都是振幅呈实指数规律变化的正弦振荡。</a:t>
            </a:r>
          </a:p>
        </p:txBody>
      </p:sp>
      <p:sp>
        <p:nvSpPr>
          <p:cNvPr id="4" name="灯片编号占位符 3">
            <a:extLst>
              <a:ext uri="{FF2B5EF4-FFF2-40B4-BE49-F238E27FC236}">
                <a16:creationId xmlns:a16="http://schemas.microsoft.com/office/drawing/2014/main" id="{E5FF7A05-922B-422B-BB1C-B878776B3E9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24605FE-F32A-4D11-9F2D-B8C632ADEA2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33" name="Rectangle 5">
                <a:extLst>
                  <a:ext uri="{FF2B5EF4-FFF2-40B4-BE49-F238E27FC236}">
                    <a16:creationId xmlns:a16="http://schemas.microsoft.com/office/drawing/2014/main" id="{1B55DAF2-CA9B-4DCC-A3DC-D3DB8C1E9062}"/>
                  </a:ext>
                </a:extLst>
              </p:cNvPr>
              <p:cNvSpPr>
                <a:spLocks noChangeArrowheads="1"/>
              </p:cNvSpPr>
              <p:nvPr/>
            </p:nvSpPr>
            <p:spPr bwMode="auto">
              <a:xfrm>
                <a:off x="1500188" y="1932643"/>
                <a:ext cx="4513287"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14:m>
                  <m:oMath xmlns:m="http://schemas.openxmlformats.org/officeDocument/2006/math">
                    <m:r>
                      <a:rPr lang="en-US" sz="2800" i="1" smtClean="0">
                        <a:solidFill>
                          <a:schemeClr val="tx1"/>
                        </a:solidFill>
                        <a:latin typeface="Cambria Math" panose="02040503050406030204" pitchFamily="18" charset="0"/>
                      </a:rPr>
                      <m:t>𝑥</m:t>
                    </m:r>
                    <m:r>
                      <a:rPr lang="en-US" sz="2800" i="1" smtClean="0">
                        <a:solidFill>
                          <a:schemeClr val="tx1"/>
                        </a:solidFill>
                        <a:latin typeface="Cambria Math" panose="02040503050406030204" pitchFamily="18" charset="0"/>
                      </a:rPr>
                      <m:t>(</m:t>
                    </m:r>
                    <m:r>
                      <a:rPr lang="en-US" sz="2800" i="1" smtClean="0">
                        <a:solidFill>
                          <a:schemeClr val="tx1"/>
                        </a:solidFill>
                        <a:latin typeface="Cambria Math" panose="02040503050406030204" pitchFamily="18" charset="0"/>
                      </a:rPr>
                      <m:t>𝑡</m:t>
                    </m:r>
                    <m:r>
                      <a:rPr lang="en-US" sz="2800" i="1" smtClean="0">
                        <a:solidFill>
                          <a:schemeClr val="tx1"/>
                        </a:solidFill>
                        <a:latin typeface="Cambria Math" panose="02040503050406030204" pitchFamily="18" charset="0"/>
                      </a:rPr>
                      <m:t>)=</m:t>
                    </m:r>
                    <m:r>
                      <a:rPr lang="en-US" sz="2800" i="1" smtClean="0">
                        <a:solidFill>
                          <a:schemeClr val="tx1"/>
                        </a:solidFill>
                        <a:latin typeface="Cambria Math" panose="02040503050406030204" pitchFamily="18" charset="0"/>
                      </a:rPr>
                      <m:t>𝐶</m:t>
                    </m:r>
                    <m:sSup>
                      <m:sSupPr>
                        <m:ctrlPr>
                          <a:rPr lang="en-US" sz="2800" i="1">
                            <a:solidFill>
                              <a:schemeClr val="tx1"/>
                            </a:solidFill>
                            <a:latin typeface="Cambria Math" panose="02040503050406030204" pitchFamily="18" charset="0"/>
                          </a:rPr>
                        </m:ctrlPr>
                      </m:sSupPr>
                      <m:e>
                        <m:r>
                          <m:rPr>
                            <m:sty m:val="p"/>
                          </m:rPr>
                          <a:rPr lang="en-US" sz="2800" i="0">
                            <a:solidFill>
                              <a:schemeClr val="tx1"/>
                            </a:solidFill>
                            <a:latin typeface="Cambria Math" panose="02040503050406030204" pitchFamily="18" charset="0"/>
                          </a:rPr>
                          <m:t>e</m:t>
                        </m:r>
                      </m:e>
                      <m:sup>
                        <m:r>
                          <a:rPr lang="en-US" sz="2800" i="1">
                            <a:solidFill>
                              <a:schemeClr val="tx1"/>
                            </a:solidFill>
                            <a:latin typeface="Cambria Math" panose="02040503050406030204" pitchFamily="18" charset="0"/>
                          </a:rPr>
                          <m:t>𝑎𝑡</m:t>
                        </m:r>
                      </m:sup>
                    </m:sSup>
                  </m:oMath>
                </a14:m>
                <a:r>
                  <a:rPr kumimoji="0" lang="zh-CN" altLang="en-US"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mn-cs"/>
                  </a:rPr>
                  <a:t>其中 </a:t>
                </a:r>
                <a14:m>
                  <m:oMath xmlns:m="http://schemas.openxmlformats.org/officeDocument/2006/math">
                    <m:r>
                      <a:rPr kumimoji="0" lang="en-US" altLang="zh-CN" sz="2800" i="1" u="none" strike="noStrike" kern="1200" cap="none" spc="0" normalizeH="0" baseline="0" noProof="0" dirty="0" smtClean="0">
                        <a:ln>
                          <a:noFill/>
                        </a:ln>
                        <a:solidFill>
                          <a:schemeClr val="tx1"/>
                        </a:solidFill>
                        <a:effectLst/>
                        <a:uLnTx/>
                        <a:uFillTx/>
                        <a:latin typeface="Cambria Math" panose="02040503050406030204" pitchFamily="18" charset="0"/>
                        <a:ea typeface="华文楷体" panose="02010600040101010101" pitchFamily="2" charset="-122"/>
                        <a:cs typeface="+mn-cs"/>
                      </a:rPr>
                      <m:t>𝐶</m:t>
                    </m:r>
                  </m:oMath>
                </a14:m>
                <a:r>
                  <a:rPr kumimoji="0" lang="en-US" altLang="zh-CN"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mn-cs"/>
                  </a:rPr>
                  <a:t>, </a:t>
                </a:r>
                <a14:m>
                  <m:oMath xmlns:m="http://schemas.openxmlformats.org/officeDocument/2006/math">
                    <m:r>
                      <a:rPr kumimoji="0" lang="en-US" altLang="zh-CN" sz="2800" i="1" u="none" strike="noStrike" kern="1200" cap="none" spc="0" normalizeH="0" baseline="0" noProof="0" dirty="0" smtClean="0">
                        <a:ln>
                          <a:noFill/>
                        </a:ln>
                        <a:solidFill>
                          <a:schemeClr val="tx1"/>
                        </a:solidFill>
                        <a:effectLst/>
                        <a:uLnTx/>
                        <a:uFillTx/>
                        <a:latin typeface="Cambria Math" panose="02040503050406030204" pitchFamily="18" charset="0"/>
                        <a:ea typeface="华文楷体" panose="02010600040101010101" pitchFamily="2" charset="-122"/>
                        <a:cs typeface="+mn-cs"/>
                      </a:rPr>
                      <m:t>𝑎</m:t>
                    </m:r>
                  </m:oMath>
                </a14:m>
                <a:r>
                  <a:rPr kumimoji="0" lang="zh-CN" altLang="en-US"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mn-cs"/>
                  </a:rPr>
                  <a:t>为复数</a:t>
                </a:r>
              </a:p>
            </p:txBody>
          </p:sp>
        </mc:Choice>
        <mc:Fallback xmlns="">
          <p:sp>
            <p:nvSpPr>
              <p:cNvPr id="1033" name="Rectangle 5">
                <a:extLst>
                  <a:ext uri="{FF2B5EF4-FFF2-40B4-BE49-F238E27FC236}">
                    <a16:creationId xmlns:a16="http://schemas.microsoft.com/office/drawing/2014/main" id="{1B55DAF2-CA9B-4DCC-A3DC-D3DB8C1E9062}"/>
                  </a:ext>
                </a:extLst>
              </p:cNvPr>
              <p:cNvSpPr>
                <a:spLocks noRot="1" noChangeAspect="1" noMove="1" noResize="1" noEditPoints="1" noAdjustHandles="1" noChangeArrowheads="1" noChangeShapeType="1" noTextEdit="1"/>
              </p:cNvSpPr>
              <p:nvPr/>
            </p:nvSpPr>
            <p:spPr bwMode="auto">
              <a:xfrm>
                <a:off x="1500188" y="1932643"/>
                <a:ext cx="4513287" cy="523220"/>
              </a:xfrm>
              <a:prstGeom prst="rect">
                <a:avLst/>
              </a:prstGeom>
              <a:blipFill>
                <a:blip r:embed="rId2"/>
                <a:stretch>
                  <a:fillRect t="-13953" r="-1622"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4" name="Text Box 7">
                <a:extLst>
                  <a:ext uri="{FF2B5EF4-FFF2-40B4-BE49-F238E27FC236}">
                    <a16:creationId xmlns:a16="http://schemas.microsoft.com/office/drawing/2014/main" id="{DA851CF4-0559-41EF-AB23-3D4A6DC61E15}"/>
                  </a:ext>
                </a:extLst>
              </p:cNvPr>
              <p:cNvSpPr txBox="1">
                <a:spLocks noChangeArrowheads="1"/>
              </p:cNvSpPr>
              <p:nvPr/>
            </p:nvSpPr>
            <p:spPr bwMode="auto">
              <a:xfrm>
                <a:off x="1500188" y="2697163"/>
                <a:ext cx="5086350" cy="54213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defRPr/>
                </a:pPr>
                <a:r>
                  <a:rPr kumimoji="0" lang="zh-CN" altLang="en-US"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mn-cs"/>
                  </a:rPr>
                  <a:t>令</a:t>
                </a:r>
                <a14:m>
                  <m:oMath xmlns:m="http://schemas.openxmlformats.org/officeDocument/2006/math">
                    <m:r>
                      <a:rPr lang="en-US" sz="2800" i="1" smtClean="0">
                        <a:solidFill>
                          <a:schemeClr val="tx1"/>
                        </a:solidFill>
                        <a:latin typeface="Cambria Math" panose="02040503050406030204" pitchFamily="18" charset="0"/>
                      </a:rPr>
                      <m:t>𝐶</m:t>
                    </m:r>
                    <m:r>
                      <a:rPr lang="en-US" sz="2800" i="1" smtClean="0">
                        <a:solidFill>
                          <a:schemeClr val="tx1"/>
                        </a:solidFill>
                        <a:latin typeface="Cambria Math" panose="02040503050406030204" pitchFamily="18" charset="0"/>
                      </a:rPr>
                      <m:t>=</m:t>
                    </m:r>
                    <m:d>
                      <m:dPr>
                        <m:begChr m:val="|"/>
                        <m:endChr m:val="|"/>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𝐶</m:t>
                        </m:r>
                      </m:e>
                    </m:d>
                    <m:sSup>
                      <m:sSupPr>
                        <m:ctrlPr>
                          <a:rPr lang="en-US" sz="2800" i="1">
                            <a:solidFill>
                              <a:schemeClr val="tx1"/>
                            </a:solidFill>
                            <a:latin typeface="Cambria Math" panose="02040503050406030204" pitchFamily="18" charset="0"/>
                          </a:rPr>
                        </m:ctrlPr>
                      </m:sSupPr>
                      <m:e>
                        <m:r>
                          <m:rPr>
                            <m:sty m:val="p"/>
                          </m:rPr>
                          <a:rPr lang="en-US" sz="2800" i="0">
                            <a:solidFill>
                              <a:schemeClr val="tx1"/>
                            </a:solidFill>
                            <a:latin typeface="Cambria Math" panose="02040503050406030204" pitchFamily="18" charset="0"/>
                          </a:rPr>
                          <m:t>e</m:t>
                        </m:r>
                      </m:e>
                      <m:sup>
                        <m:r>
                          <m:rPr>
                            <m:sty m:val="p"/>
                          </m:rPr>
                          <a:rPr lang="en-US" sz="2800" i="0">
                            <a:solidFill>
                              <a:schemeClr val="tx1"/>
                            </a:solidFill>
                            <a:latin typeface="Cambria Math" panose="02040503050406030204" pitchFamily="18" charset="0"/>
                          </a:rPr>
                          <m:t>j</m:t>
                        </m:r>
                        <m:r>
                          <a:rPr lang="en-US" sz="2800" i="1">
                            <a:solidFill>
                              <a:schemeClr val="tx1"/>
                            </a:solidFill>
                            <a:latin typeface="Cambria Math" panose="02040503050406030204" pitchFamily="18" charset="0"/>
                          </a:rPr>
                          <m:t>𝜃</m:t>
                        </m:r>
                      </m:sup>
                    </m:sSup>
                  </m:oMath>
                </a14:m>
                <a:r>
                  <a:rPr kumimoji="0" lang="zh-CN" altLang="en-US"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mn-cs"/>
                  </a:rPr>
                  <a:t>，</a:t>
                </a:r>
                <a14:m>
                  <m:oMath xmlns:m="http://schemas.openxmlformats.org/officeDocument/2006/math">
                    <m:r>
                      <a:rPr lang="en-US" sz="2800" i="1">
                        <a:solidFill>
                          <a:schemeClr val="tx1"/>
                        </a:solidFill>
                        <a:latin typeface="Cambria Math" panose="02040503050406030204" pitchFamily="18" charset="0"/>
                      </a:rPr>
                      <m:t>𝑎</m:t>
                    </m:r>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𝑟</m:t>
                    </m:r>
                    <m:r>
                      <a:rPr lang="en-US" sz="2800" i="1">
                        <a:solidFill>
                          <a:schemeClr val="tx1"/>
                        </a:solidFill>
                        <a:latin typeface="Cambria Math" panose="02040503050406030204" pitchFamily="18" charset="0"/>
                      </a:rPr>
                      <m:t>+</m:t>
                    </m:r>
                    <m:r>
                      <m:rPr>
                        <m:sty m:val="p"/>
                      </m:rPr>
                      <a:rPr lang="en-US" sz="2800" i="0">
                        <a:solidFill>
                          <a:schemeClr val="tx1"/>
                        </a:solidFill>
                        <a:latin typeface="Cambria Math" panose="02040503050406030204" pitchFamily="18" charset="0"/>
                      </a:rPr>
                      <m:t>j</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𝜔</m:t>
                        </m:r>
                      </m:e>
                      <m:sub>
                        <m:r>
                          <a:rPr lang="en-US" sz="2800" i="1">
                            <a:solidFill>
                              <a:schemeClr val="tx1"/>
                            </a:solidFill>
                            <a:latin typeface="Cambria Math" panose="02040503050406030204" pitchFamily="18" charset="0"/>
                          </a:rPr>
                          <m:t>0</m:t>
                        </m:r>
                      </m:sub>
                    </m:sSub>
                  </m:oMath>
                </a14:m>
                <a:r>
                  <a:rPr kumimoji="0" lang="zh-CN" altLang="en-US"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mn-cs"/>
                  </a:rPr>
                  <a:t>则                </a:t>
                </a:r>
              </a:p>
            </p:txBody>
          </p:sp>
        </mc:Choice>
        <mc:Fallback xmlns="">
          <p:sp>
            <p:nvSpPr>
              <p:cNvPr id="1034" name="Text Box 7">
                <a:extLst>
                  <a:ext uri="{FF2B5EF4-FFF2-40B4-BE49-F238E27FC236}">
                    <a16:creationId xmlns:a16="http://schemas.microsoft.com/office/drawing/2014/main" id="{DA851CF4-0559-41EF-AB23-3D4A6DC61E15}"/>
                  </a:ext>
                </a:extLst>
              </p:cNvPr>
              <p:cNvSpPr txBox="1">
                <a:spLocks noRot="1" noChangeAspect="1" noMove="1" noResize="1" noEditPoints="1" noAdjustHandles="1" noChangeArrowheads="1" noChangeShapeType="1" noTextEdit="1"/>
              </p:cNvSpPr>
              <p:nvPr/>
            </p:nvSpPr>
            <p:spPr bwMode="auto">
              <a:xfrm>
                <a:off x="1500188" y="2697163"/>
                <a:ext cx="5086350" cy="542136"/>
              </a:xfrm>
              <a:prstGeom prst="rect">
                <a:avLst/>
              </a:prstGeom>
              <a:blipFill>
                <a:blip r:embed="rId3"/>
                <a:stretch>
                  <a:fillRect l="-2398" t="-6742" b="-3146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9" name="Object 5">
                <a:extLst>
                  <a:ext uri="{FF2B5EF4-FFF2-40B4-BE49-F238E27FC236}">
                    <a16:creationId xmlns:a16="http://schemas.microsoft.com/office/drawing/2014/main" id="{06AA3E5D-3931-4F81-BA8A-E1C9C42B6BE3}"/>
                  </a:ext>
                </a:extLst>
              </p:cNvPr>
              <p:cNvSpPr txBox="1"/>
              <p:nvPr/>
            </p:nvSpPr>
            <p:spPr bwMode="auto">
              <a:xfrm>
                <a:off x="1500188" y="3429000"/>
                <a:ext cx="6410722" cy="7048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𝑥</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𝐶</m:t>
                          </m:r>
                        </m:e>
                      </m:d>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𝜃</m:t>
                          </m:r>
                        </m:sup>
                      </m:sSup>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𝑟𝑡</m:t>
                          </m:r>
                        </m:sup>
                      </m:sSup>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𝜔</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𝑡</m:t>
                          </m:r>
                        </m:sup>
                      </m:sSup>
                      <m:r>
                        <a:rPr lang="en-US" sz="2800" i="1">
                          <a:solidFill>
                            <a:srgbClr val="000000"/>
                          </a:solidFill>
                          <a:latin typeface="Cambria Math" panose="02040503050406030204" pitchFamily="18" charset="0"/>
                        </a:rPr>
                        <m:t>=</m:t>
                      </m:r>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𝐶</m:t>
                          </m:r>
                        </m:e>
                      </m:d>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𝑟𝑡</m:t>
                          </m:r>
                        </m:sup>
                      </m:sSup>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𝜔</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𝜃</m:t>
                          </m:r>
                          <m:r>
                            <a:rPr lang="en-US" sz="2800" i="1">
                              <a:solidFill>
                                <a:srgbClr val="000000"/>
                              </a:solidFill>
                              <a:latin typeface="Cambria Math" panose="02040503050406030204" pitchFamily="18" charset="0"/>
                            </a:rPr>
                            <m:t>)</m:t>
                          </m:r>
                        </m:sup>
                      </m:sSup>
                    </m:oMath>
                  </m:oMathPara>
                </a14:m>
                <a:endParaRPr lang="en-US" dirty="0"/>
              </a:p>
            </p:txBody>
          </p:sp>
        </mc:Choice>
        <mc:Fallback xmlns="">
          <p:sp>
            <p:nvSpPr>
              <p:cNvPr id="1029" name="Object 5">
                <a:extLst>
                  <a:ext uri="{FF2B5EF4-FFF2-40B4-BE49-F238E27FC236}">
                    <a16:creationId xmlns:a16="http://schemas.microsoft.com/office/drawing/2014/main" id="{06AA3E5D-3931-4F81-BA8A-E1C9C42B6BE3}"/>
                  </a:ext>
                </a:extLst>
              </p:cNvPr>
              <p:cNvSpPr txBox="1">
                <a:spLocks noRot="1" noChangeAspect="1" noMove="1" noResize="1" noEditPoints="1" noAdjustHandles="1" noChangeArrowheads="1" noChangeShapeType="1" noTextEdit="1"/>
              </p:cNvSpPr>
              <p:nvPr/>
            </p:nvSpPr>
            <p:spPr bwMode="auto">
              <a:xfrm>
                <a:off x="1500188" y="3429000"/>
                <a:ext cx="6410722" cy="704850"/>
              </a:xfrm>
              <a:prstGeom prst="rect">
                <a:avLst/>
              </a:prstGeom>
              <a:blipFill>
                <a:blip r:embed="rId4"/>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标题 1">
            <a:extLst>
              <a:ext uri="{FF2B5EF4-FFF2-40B4-BE49-F238E27FC236}">
                <a16:creationId xmlns:a16="http://schemas.microsoft.com/office/drawing/2014/main" id="{5F5DD753-A43C-476E-AC2B-93E5FC30FAD2}"/>
              </a:ext>
            </a:extLst>
          </p:cNvPr>
          <p:cNvSpPr>
            <a:spLocks noGrp="1"/>
          </p:cNvSpPr>
          <p:nvPr>
            <p:ph type="title"/>
          </p:nvPr>
        </p:nvSpPr>
        <p:spPr/>
        <p:txBody>
          <a:bodyPr/>
          <a:lstStyle/>
          <a:p>
            <a:pPr eaLnBrk="1" hangingPunct="1"/>
            <a:r>
              <a:rPr lang="en-US" altLang="zh-CN"/>
              <a:t>1.3  </a:t>
            </a:r>
            <a:r>
              <a:rPr lang="zh-CN" altLang="en-US"/>
              <a:t>复指数信号与正弦信号</a:t>
            </a:r>
          </a:p>
        </p:txBody>
      </p:sp>
      <p:sp>
        <p:nvSpPr>
          <p:cNvPr id="4" name="灯片编号占位符 3">
            <a:extLst>
              <a:ext uri="{FF2B5EF4-FFF2-40B4-BE49-F238E27FC236}">
                <a16:creationId xmlns:a16="http://schemas.microsoft.com/office/drawing/2014/main" id="{33406EA5-E021-45B9-AE23-7CFF39420FC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A43E3E7-75E5-4BDE-A314-0DDBF51C820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2058" name="Picture 2">
            <a:extLst>
              <a:ext uri="{FF2B5EF4-FFF2-40B4-BE49-F238E27FC236}">
                <a16:creationId xmlns:a16="http://schemas.microsoft.com/office/drawing/2014/main" id="{BBEEA10F-EB8A-4AAF-A5BC-C524AA8C90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203723"/>
            <a:ext cx="3527425" cy="211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0" name="Picture 9">
            <a:extLst>
              <a:ext uri="{FF2B5EF4-FFF2-40B4-BE49-F238E27FC236}">
                <a16:creationId xmlns:a16="http://schemas.microsoft.com/office/drawing/2014/main" id="{4217EEC0-CAFB-42F1-B402-9C500B03B6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4367485"/>
            <a:ext cx="4191000"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0">
            <a:extLst>
              <a:ext uri="{FF2B5EF4-FFF2-40B4-BE49-F238E27FC236}">
                <a16:creationId xmlns:a16="http://schemas.microsoft.com/office/drawing/2014/main" id="{F15B3205-1723-4704-8F18-F30BECA527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800" y="2132285"/>
            <a:ext cx="3744913"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2" name="Line 11">
            <a:extLst>
              <a:ext uri="{FF2B5EF4-FFF2-40B4-BE49-F238E27FC236}">
                <a16:creationId xmlns:a16="http://schemas.microsoft.com/office/drawing/2014/main" id="{BD839B94-B7E9-4C8B-BCCE-12C8806D9635}"/>
              </a:ext>
            </a:extLst>
          </p:cNvPr>
          <p:cNvSpPr>
            <a:spLocks noChangeShapeType="1"/>
          </p:cNvSpPr>
          <p:nvPr/>
        </p:nvSpPr>
        <p:spPr bwMode="auto">
          <a:xfrm>
            <a:off x="611188" y="3224485"/>
            <a:ext cx="3816350" cy="0"/>
          </a:xfrm>
          <a:prstGeom prst="line">
            <a:avLst/>
          </a:prstGeom>
          <a:noFill/>
          <a:ln w="19050">
            <a:solidFill>
              <a:srgbClr val="000808"/>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63" name="Line 12">
            <a:extLst>
              <a:ext uri="{FF2B5EF4-FFF2-40B4-BE49-F238E27FC236}">
                <a16:creationId xmlns:a16="http://schemas.microsoft.com/office/drawing/2014/main" id="{CEDA694B-5E87-48AF-9724-1114BBB497D3}"/>
              </a:ext>
            </a:extLst>
          </p:cNvPr>
          <p:cNvSpPr>
            <a:spLocks noChangeShapeType="1"/>
          </p:cNvSpPr>
          <p:nvPr/>
        </p:nvSpPr>
        <p:spPr bwMode="auto">
          <a:xfrm flipV="1">
            <a:off x="2076450" y="2203723"/>
            <a:ext cx="0" cy="2089150"/>
          </a:xfrm>
          <a:prstGeom prst="line">
            <a:avLst/>
          </a:prstGeom>
          <a:noFill/>
          <a:ln w="19050">
            <a:solidFill>
              <a:srgbClr val="000808"/>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64" name="Line 13">
            <a:extLst>
              <a:ext uri="{FF2B5EF4-FFF2-40B4-BE49-F238E27FC236}">
                <a16:creationId xmlns:a16="http://schemas.microsoft.com/office/drawing/2014/main" id="{8D77238C-9490-4169-893A-F7BBD976B0BE}"/>
              </a:ext>
            </a:extLst>
          </p:cNvPr>
          <p:cNvSpPr>
            <a:spLocks noChangeShapeType="1"/>
          </p:cNvSpPr>
          <p:nvPr/>
        </p:nvSpPr>
        <p:spPr bwMode="auto">
          <a:xfrm>
            <a:off x="5003800" y="3211785"/>
            <a:ext cx="3816350" cy="0"/>
          </a:xfrm>
          <a:prstGeom prst="line">
            <a:avLst/>
          </a:prstGeom>
          <a:noFill/>
          <a:ln w="19050">
            <a:solidFill>
              <a:srgbClr val="000808"/>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65" name="Line 14">
            <a:extLst>
              <a:ext uri="{FF2B5EF4-FFF2-40B4-BE49-F238E27FC236}">
                <a16:creationId xmlns:a16="http://schemas.microsoft.com/office/drawing/2014/main" id="{4CC60291-7D6F-442C-97F2-19525FC0241B}"/>
              </a:ext>
            </a:extLst>
          </p:cNvPr>
          <p:cNvSpPr>
            <a:spLocks noChangeShapeType="1"/>
          </p:cNvSpPr>
          <p:nvPr/>
        </p:nvSpPr>
        <p:spPr bwMode="auto">
          <a:xfrm flipV="1">
            <a:off x="7273925" y="2060848"/>
            <a:ext cx="0" cy="2374900"/>
          </a:xfrm>
          <a:prstGeom prst="line">
            <a:avLst/>
          </a:prstGeom>
          <a:noFill/>
          <a:ln w="19050">
            <a:solidFill>
              <a:srgbClr val="000808"/>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66" name="Line 15">
            <a:extLst>
              <a:ext uri="{FF2B5EF4-FFF2-40B4-BE49-F238E27FC236}">
                <a16:creationId xmlns:a16="http://schemas.microsoft.com/office/drawing/2014/main" id="{FA3D0A2B-5C40-409D-B393-4AE7D5D1909E}"/>
              </a:ext>
            </a:extLst>
          </p:cNvPr>
          <p:cNvSpPr>
            <a:spLocks noChangeShapeType="1"/>
          </p:cNvSpPr>
          <p:nvPr/>
        </p:nvSpPr>
        <p:spPr bwMode="auto">
          <a:xfrm>
            <a:off x="2627313" y="5304110"/>
            <a:ext cx="3960812" cy="0"/>
          </a:xfrm>
          <a:prstGeom prst="line">
            <a:avLst/>
          </a:prstGeom>
          <a:noFill/>
          <a:ln w="19050">
            <a:solidFill>
              <a:srgbClr val="000808"/>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67" name="Line 16">
            <a:extLst>
              <a:ext uri="{FF2B5EF4-FFF2-40B4-BE49-F238E27FC236}">
                <a16:creationId xmlns:a16="http://schemas.microsoft.com/office/drawing/2014/main" id="{5C283FCD-93CA-4ED0-AA01-20C77C1BB192}"/>
              </a:ext>
            </a:extLst>
          </p:cNvPr>
          <p:cNvSpPr>
            <a:spLocks noChangeShapeType="1"/>
          </p:cNvSpPr>
          <p:nvPr/>
        </p:nvSpPr>
        <p:spPr bwMode="auto">
          <a:xfrm flipV="1">
            <a:off x="4092575" y="4296048"/>
            <a:ext cx="0" cy="1944687"/>
          </a:xfrm>
          <a:prstGeom prst="line">
            <a:avLst/>
          </a:prstGeom>
          <a:noFill/>
          <a:ln w="19050">
            <a:solidFill>
              <a:srgbClr val="000808"/>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053" name="Object 5">
                <a:extLst>
                  <a:ext uri="{FF2B5EF4-FFF2-40B4-BE49-F238E27FC236}">
                    <a16:creationId xmlns:a16="http://schemas.microsoft.com/office/drawing/2014/main" id="{0D19BCD5-281C-4F3D-90AC-91E2480859E5}"/>
                  </a:ext>
                </a:extLst>
              </p:cNvPr>
              <p:cNvSpPr txBox="1"/>
              <p:nvPr/>
            </p:nvSpPr>
            <p:spPr bwMode="auto">
              <a:xfrm>
                <a:off x="761999" y="2454548"/>
                <a:ext cx="929675" cy="4492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𝑟</m:t>
                      </m:r>
                      <m:r>
                        <a:rPr lang="en-US" sz="2400" i="1">
                          <a:solidFill>
                            <a:srgbClr val="000000"/>
                          </a:solidFill>
                          <a:latin typeface="Cambria Math" panose="02040503050406030204" pitchFamily="18" charset="0"/>
                        </a:rPr>
                        <m:t>&gt;0</m:t>
                      </m:r>
                    </m:oMath>
                  </m:oMathPara>
                </a14:m>
                <a:endParaRPr lang="en-US" sz="2400" dirty="0"/>
              </a:p>
            </p:txBody>
          </p:sp>
        </mc:Choice>
        <mc:Fallback xmlns="">
          <p:sp>
            <p:nvSpPr>
              <p:cNvPr id="2053" name="Object 5">
                <a:extLst>
                  <a:ext uri="{FF2B5EF4-FFF2-40B4-BE49-F238E27FC236}">
                    <a16:creationId xmlns:a16="http://schemas.microsoft.com/office/drawing/2014/main" id="{0D19BCD5-281C-4F3D-90AC-91E2480859E5}"/>
                  </a:ext>
                </a:extLst>
              </p:cNvPr>
              <p:cNvSpPr txBox="1">
                <a:spLocks noRot="1" noChangeAspect="1" noMove="1" noResize="1" noEditPoints="1" noAdjustHandles="1" noChangeArrowheads="1" noChangeShapeType="1" noTextEdit="1"/>
              </p:cNvSpPr>
              <p:nvPr/>
            </p:nvSpPr>
            <p:spPr bwMode="auto">
              <a:xfrm>
                <a:off x="761999" y="2454548"/>
                <a:ext cx="929675" cy="449262"/>
              </a:xfrm>
              <a:prstGeom prst="rect">
                <a:avLst/>
              </a:prstGeom>
              <a:blipFill>
                <a:blip r:embed="rId6"/>
                <a:stretch>
                  <a:fillRect b="-137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4" name="Object 6">
                <a:extLst>
                  <a:ext uri="{FF2B5EF4-FFF2-40B4-BE49-F238E27FC236}">
                    <a16:creationId xmlns:a16="http://schemas.microsoft.com/office/drawing/2014/main" id="{43D93D38-FE1B-4A1A-B21A-B0C0A55697D1}"/>
                  </a:ext>
                </a:extLst>
              </p:cNvPr>
              <p:cNvSpPr txBox="1"/>
              <p:nvPr/>
            </p:nvSpPr>
            <p:spPr bwMode="auto">
              <a:xfrm>
                <a:off x="7596346" y="2302148"/>
                <a:ext cx="915830" cy="4619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𝑟</m:t>
                      </m:r>
                      <m:r>
                        <a:rPr lang="en-US" sz="2400" i="1">
                          <a:solidFill>
                            <a:srgbClr val="000000"/>
                          </a:solidFill>
                          <a:latin typeface="Cambria Math" panose="02040503050406030204" pitchFamily="18" charset="0"/>
                        </a:rPr>
                        <m:t>&lt;0</m:t>
                      </m:r>
                    </m:oMath>
                  </m:oMathPara>
                </a14:m>
                <a:endParaRPr lang="en-US" sz="2400" dirty="0"/>
              </a:p>
            </p:txBody>
          </p:sp>
        </mc:Choice>
        <mc:Fallback xmlns="">
          <p:sp>
            <p:nvSpPr>
              <p:cNvPr id="2054" name="Object 6">
                <a:extLst>
                  <a:ext uri="{FF2B5EF4-FFF2-40B4-BE49-F238E27FC236}">
                    <a16:creationId xmlns:a16="http://schemas.microsoft.com/office/drawing/2014/main" id="{43D93D38-FE1B-4A1A-B21A-B0C0A55697D1}"/>
                  </a:ext>
                </a:extLst>
              </p:cNvPr>
              <p:cNvSpPr txBox="1">
                <a:spLocks noRot="1" noChangeAspect="1" noMove="1" noResize="1" noEditPoints="1" noAdjustHandles="1" noChangeArrowheads="1" noChangeShapeType="1" noTextEdit="1"/>
              </p:cNvSpPr>
              <p:nvPr/>
            </p:nvSpPr>
            <p:spPr bwMode="auto">
              <a:xfrm>
                <a:off x="7596346" y="2302148"/>
                <a:ext cx="915830" cy="461962"/>
              </a:xfrm>
              <a:prstGeom prst="rect">
                <a:avLst/>
              </a:prstGeom>
              <a:blipFill>
                <a:blip r:embed="rId7"/>
                <a:stretch>
                  <a:fillRect r="-66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5" name="Object 7">
                <a:extLst>
                  <a:ext uri="{FF2B5EF4-FFF2-40B4-BE49-F238E27FC236}">
                    <a16:creationId xmlns:a16="http://schemas.microsoft.com/office/drawing/2014/main" id="{7F82FDFE-9B4F-4BBC-932C-2E6BD70B2BB5}"/>
                  </a:ext>
                </a:extLst>
              </p:cNvPr>
              <p:cNvSpPr txBox="1"/>
              <p:nvPr/>
            </p:nvSpPr>
            <p:spPr bwMode="auto">
              <a:xfrm>
                <a:off x="6096000" y="4596085"/>
                <a:ext cx="924267" cy="4619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𝑟</m:t>
                      </m:r>
                      <m:r>
                        <a:rPr lang="en-US" sz="2400" i="1">
                          <a:solidFill>
                            <a:srgbClr val="000000"/>
                          </a:solidFill>
                          <a:latin typeface="Cambria Math" panose="02040503050406030204" pitchFamily="18" charset="0"/>
                        </a:rPr>
                        <m:t>=0</m:t>
                      </m:r>
                    </m:oMath>
                  </m:oMathPara>
                </a14:m>
                <a:endParaRPr lang="en-US" sz="2400" dirty="0"/>
              </a:p>
            </p:txBody>
          </p:sp>
        </mc:Choice>
        <mc:Fallback xmlns="">
          <p:sp>
            <p:nvSpPr>
              <p:cNvPr id="2055" name="Object 7">
                <a:extLst>
                  <a:ext uri="{FF2B5EF4-FFF2-40B4-BE49-F238E27FC236}">
                    <a16:creationId xmlns:a16="http://schemas.microsoft.com/office/drawing/2014/main" id="{7F82FDFE-9B4F-4BBC-932C-2E6BD70B2BB5}"/>
                  </a:ext>
                </a:extLst>
              </p:cNvPr>
              <p:cNvSpPr txBox="1">
                <a:spLocks noRot="1" noChangeAspect="1" noMove="1" noResize="1" noEditPoints="1" noAdjustHandles="1" noChangeArrowheads="1" noChangeShapeType="1" noTextEdit="1"/>
              </p:cNvSpPr>
              <p:nvPr/>
            </p:nvSpPr>
            <p:spPr bwMode="auto">
              <a:xfrm>
                <a:off x="6096000" y="4596085"/>
                <a:ext cx="924267" cy="461963"/>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7CE03158-E78A-429D-B0BA-064D1A790763}"/>
                  </a:ext>
                </a:extLst>
              </p:cNvPr>
              <p:cNvSpPr txBox="1"/>
              <p:nvPr/>
            </p:nvSpPr>
            <p:spPr>
              <a:xfrm>
                <a:off x="611188" y="1344147"/>
                <a:ext cx="5442813" cy="477888"/>
              </a:xfrm>
              <a:prstGeom prst="rect">
                <a:avLst/>
              </a:prstGeom>
              <a:noFill/>
            </p:spPr>
            <p:txBody>
              <a:bodyPr wrap="square">
                <a:spAutoFit/>
              </a:bodyPr>
              <a:lstStyle/>
              <a:p>
                <a:pPr algn="just"/>
                <a14:m>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𝐶</m:t>
                        </m:r>
                      </m:e>
                    </m:d>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𝑟𝑡</m:t>
                        </m:r>
                      </m:sup>
                    </m:sSup>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𝜃</m:t>
                        </m:r>
                        <m:r>
                          <a:rPr lang="en-US" sz="2400" i="1">
                            <a:solidFill>
                              <a:srgbClr val="000000"/>
                            </a:solidFill>
                            <a:latin typeface="Cambria Math" panose="02040503050406030204" pitchFamily="18" charset="0"/>
                          </a:rPr>
                          <m:t>)</m:t>
                        </m:r>
                      </m:sup>
                    </m:sSup>
                  </m:oMath>
                </a14:m>
                <a:r>
                  <a:rPr lang="zh-CN" altLang="en-US" sz="2400" dirty="0">
                    <a:latin typeface="华文楷体" panose="02010600040101010101" pitchFamily="2" charset="-122"/>
                    <a:ea typeface="华文楷体" panose="02010600040101010101" pitchFamily="2" charset="-122"/>
                  </a:rPr>
                  <a:t>的实部或虚部：</a:t>
                </a:r>
                <a:endParaRPr lang="en-US" sz="2400" dirty="0">
                  <a:latin typeface="华文楷体" panose="02010600040101010101" pitchFamily="2" charset="-122"/>
                  <a:ea typeface="华文楷体" panose="02010600040101010101" pitchFamily="2" charset="-122"/>
                </a:endParaRPr>
              </a:p>
            </p:txBody>
          </p:sp>
        </mc:Choice>
        <mc:Fallback xmlns="">
          <p:sp>
            <p:nvSpPr>
              <p:cNvPr id="28" name="文本框 27">
                <a:extLst>
                  <a:ext uri="{FF2B5EF4-FFF2-40B4-BE49-F238E27FC236}">
                    <a16:creationId xmlns:a16="http://schemas.microsoft.com/office/drawing/2014/main" id="{7CE03158-E78A-429D-B0BA-064D1A790763}"/>
                  </a:ext>
                </a:extLst>
              </p:cNvPr>
              <p:cNvSpPr txBox="1">
                <a:spLocks noRot="1" noChangeAspect="1" noMove="1" noResize="1" noEditPoints="1" noAdjustHandles="1" noChangeArrowheads="1" noChangeShapeType="1" noTextEdit="1"/>
              </p:cNvSpPr>
              <p:nvPr/>
            </p:nvSpPr>
            <p:spPr>
              <a:xfrm>
                <a:off x="611188" y="1344147"/>
                <a:ext cx="5442813" cy="477888"/>
              </a:xfrm>
              <a:prstGeom prst="rect">
                <a:avLst/>
              </a:prstGeom>
              <a:blipFill>
                <a:blip r:embed="rId9"/>
                <a:stretch>
                  <a:fillRect t="-6329" b="-27848"/>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Object 2">
            <a:extLst>
              <a:ext uri="{FF2B5EF4-FFF2-40B4-BE49-F238E27FC236}">
                <a16:creationId xmlns:a16="http://schemas.microsoft.com/office/drawing/2014/main" id="{239D0C16-D6B4-4D4F-8C14-0FEC5B06728A}"/>
              </a:ext>
            </a:extLst>
          </p:cNvPr>
          <p:cNvGraphicFramePr>
            <a:graphicFrameLocks noChangeAspect="1"/>
          </p:cNvGraphicFramePr>
          <p:nvPr>
            <p:extLst>
              <p:ext uri="{D42A27DB-BD31-4B8C-83A1-F6EECF244321}">
                <p14:modId xmlns:p14="http://schemas.microsoft.com/office/powerpoint/2010/main" val="4207591684"/>
              </p:ext>
            </p:extLst>
          </p:nvPr>
        </p:nvGraphicFramePr>
        <p:xfrm>
          <a:off x="1331640" y="4778133"/>
          <a:ext cx="3471238" cy="1612190"/>
        </p:xfrm>
        <a:graphic>
          <a:graphicData uri="http://schemas.openxmlformats.org/presentationml/2006/ole">
            <mc:AlternateContent xmlns:mc="http://schemas.openxmlformats.org/markup-compatibility/2006">
              <mc:Choice xmlns:v="urn:schemas-microsoft-com:vml" Requires="v">
                <p:oleObj spid="_x0000_s6265" name="位图图像" r:id="rId4" imgW="10847619" imgH="5038095" progId="Paint.Picture">
                  <p:embed/>
                </p:oleObj>
              </mc:Choice>
              <mc:Fallback>
                <p:oleObj name="位图图像" r:id="rId4" imgW="10847619" imgH="5038095" progId="Paint.Picture">
                  <p:embed/>
                  <p:pic>
                    <p:nvPicPr>
                      <p:cNvPr id="37" name="Object 2">
                        <a:extLst>
                          <a:ext uri="{FF2B5EF4-FFF2-40B4-BE49-F238E27FC236}">
                            <a16:creationId xmlns:a16="http://schemas.microsoft.com/office/drawing/2014/main" id="{5F938CDF-E973-4749-9B53-79261378A7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640" y="4778133"/>
                        <a:ext cx="3471238" cy="1612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82" name="标题 1">
            <a:extLst>
              <a:ext uri="{FF2B5EF4-FFF2-40B4-BE49-F238E27FC236}">
                <a16:creationId xmlns:a16="http://schemas.microsoft.com/office/drawing/2014/main" id="{3E0958BF-C255-4FFD-89FF-C72A4C48C0DE}"/>
              </a:ext>
            </a:extLst>
          </p:cNvPr>
          <p:cNvSpPr>
            <a:spLocks noGrp="1"/>
          </p:cNvSpPr>
          <p:nvPr>
            <p:ph type="title"/>
          </p:nvPr>
        </p:nvSpPr>
        <p:spPr/>
        <p:txBody>
          <a:bodyPr/>
          <a:lstStyle/>
          <a:p>
            <a:pPr eaLnBrk="1" hangingPunct="1"/>
            <a:r>
              <a:rPr lang="en-US" altLang="zh-CN"/>
              <a:t>1.3  </a:t>
            </a:r>
            <a:r>
              <a:rPr lang="zh-CN" altLang="en-US"/>
              <a:t>复指数信号与正弦信号</a:t>
            </a:r>
          </a:p>
        </p:txBody>
      </p:sp>
      <p:sp>
        <p:nvSpPr>
          <p:cNvPr id="3083" name="内容占位符 2">
            <a:extLst>
              <a:ext uri="{FF2B5EF4-FFF2-40B4-BE49-F238E27FC236}">
                <a16:creationId xmlns:a16="http://schemas.microsoft.com/office/drawing/2014/main" id="{44620FF7-6419-4803-B5F3-B748249DB2A7}"/>
              </a:ext>
            </a:extLst>
          </p:cNvPr>
          <p:cNvSpPr>
            <a:spLocks noGrp="1"/>
          </p:cNvSpPr>
          <p:nvPr>
            <p:ph idx="1"/>
          </p:nvPr>
        </p:nvSpPr>
        <p:spPr>
          <a:xfrm>
            <a:off x="457200" y="1285875"/>
            <a:ext cx="8229600" cy="523220"/>
          </a:xfrm>
        </p:spPr>
        <p:txBody>
          <a:bodyPr>
            <a:spAutoFit/>
          </a:bodyPr>
          <a:lstStyle/>
          <a:p>
            <a:pPr eaLnBrk="1" hangingPunct="1"/>
            <a:r>
              <a:rPr lang="zh-CN" altLang="en-US" sz="2800" b="0" dirty="0"/>
              <a:t>二</a:t>
            </a:r>
            <a:r>
              <a:rPr lang="en-US" altLang="zh-CN" sz="2800" b="0" dirty="0"/>
              <a:t>. </a:t>
            </a:r>
            <a:r>
              <a:rPr lang="zh-CN" altLang="en-US" sz="2800" b="0" dirty="0"/>
              <a:t>离散时间复指数信号与正弦信号</a:t>
            </a:r>
          </a:p>
        </p:txBody>
      </p:sp>
      <p:sp>
        <p:nvSpPr>
          <p:cNvPr id="4" name="灯片编号占位符 3">
            <a:extLst>
              <a:ext uri="{FF2B5EF4-FFF2-40B4-BE49-F238E27FC236}">
                <a16:creationId xmlns:a16="http://schemas.microsoft.com/office/drawing/2014/main" id="{5DB5D96C-BFDB-4827-BA09-4C8A08F95F7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95A442F-F11B-4F77-9E4E-62302E4A87A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086" name="Text Box 12">
                <a:extLst>
                  <a:ext uri="{FF2B5EF4-FFF2-40B4-BE49-F238E27FC236}">
                    <a16:creationId xmlns:a16="http://schemas.microsoft.com/office/drawing/2014/main" id="{A9CCD1C6-88DA-48AC-A303-C8418C0F170C}"/>
                  </a:ext>
                </a:extLst>
              </p:cNvPr>
              <p:cNvSpPr txBox="1">
                <a:spLocks noChangeArrowheads="1"/>
              </p:cNvSpPr>
              <p:nvPr/>
            </p:nvSpPr>
            <p:spPr bwMode="auto">
              <a:xfrm>
                <a:off x="899592" y="1765029"/>
                <a:ext cx="4330544"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just">
                  <a:defRPr/>
                </a:pPr>
                <a:r>
                  <a:rPr kumimoji="0" lang="en-US" altLang="zh-CN" sz="240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rPr>
                  <a:t> </a:t>
                </a:r>
                <a14:m>
                  <m:oMath xmlns:m="http://schemas.openxmlformats.org/officeDocument/2006/math">
                    <m:r>
                      <a:rPr lang="en-US" sz="240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𝐶</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𝛼</m:t>
                        </m:r>
                      </m:e>
                      <m:sup>
                        <m:r>
                          <a:rPr lang="en-US" sz="2400" i="1">
                            <a:solidFill>
                              <a:schemeClr val="tx1"/>
                            </a:solidFill>
                            <a:latin typeface="Cambria Math" panose="02040503050406030204" pitchFamily="18" charset="0"/>
                          </a:rPr>
                          <m:t>𝑛</m:t>
                        </m:r>
                      </m:sup>
                    </m:sSup>
                  </m:oMath>
                </a14:m>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rPr>
                  <a:t>，</a:t>
                </a:r>
                <a:r>
                  <a:rPr lang="en-US" sz="2400" dirty="0">
                    <a:solidFill>
                      <a:schemeClr val="tx1"/>
                    </a:solidFill>
                  </a:rPr>
                  <a:t> </a:t>
                </a:r>
                <a14:m>
                  <m:oMath xmlns:m="http://schemas.openxmlformats.org/officeDocument/2006/math">
                    <m:r>
                      <a:rPr lang="en-US" sz="2400" i="1">
                        <a:solidFill>
                          <a:schemeClr val="tx1"/>
                        </a:solidFill>
                        <a:latin typeface="Cambria Math" panose="02040503050406030204" pitchFamily="18" charset="0"/>
                      </a:rPr>
                      <m:t>𝐶</m:t>
                    </m:r>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𝛼</m:t>
                    </m:r>
                  </m:oMath>
                </a14:m>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rPr>
                  <a:t>一般为复数</a:t>
                </a:r>
              </a:p>
            </p:txBody>
          </p:sp>
        </mc:Choice>
        <mc:Fallback xmlns="">
          <p:sp>
            <p:nvSpPr>
              <p:cNvPr id="3086" name="Text Box 12">
                <a:extLst>
                  <a:ext uri="{FF2B5EF4-FFF2-40B4-BE49-F238E27FC236}">
                    <a16:creationId xmlns:a16="http://schemas.microsoft.com/office/drawing/2014/main" id="{A9CCD1C6-88DA-48AC-A303-C8418C0F170C}"/>
                  </a:ext>
                </a:extLst>
              </p:cNvPr>
              <p:cNvSpPr txBox="1">
                <a:spLocks noRot="1" noChangeAspect="1" noMove="1" noResize="1" noEditPoints="1" noAdjustHandles="1" noChangeArrowheads="1" noChangeShapeType="1" noTextEdit="1"/>
              </p:cNvSpPr>
              <p:nvPr/>
            </p:nvSpPr>
            <p:spPr bwMode="auto">
              <a:xfrm>
                <a:off x="899592" y="1765029"/>
                <a:ext cx="4330544" cy="461665"/>
              </a:xfrm>
              <a:prstGeom prst="rect">
                <a:avLst/>
              </a:prstGeom>
              <a:blipFill>
                <a:blip r:embed="rId6"/>
                <a:stretch>
                  <a:fillRect t="-14667" r="-1127" b="-26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87" name="Text Box 13">
                <a:extLst>
                  <a:ext uri="{FF2B5EF4-FFF2-40B4-BE49-F238E27FC236}">
                    <a16:creationId xmlns:a16="http://schemas.microsoft.com/office/drawing/2014/main" id="{65B7BC64-621F-4586-953E-EE815263CC96}"/>
                  </a:ext>
                </a:extLst>
              </p:cNvPr>
              <p:cNvSpPr txBox="1">
                <a:spLocks noChangeArrowheads="1"/>
              </p:cNvSpPr>
              <p:nvPr/>
            </p:nvSpPr>
            <p:spPr bwMode="auto">
              <a:xfrm>
                <a:off x="967046" y="2255045"/>
                <a:ext cx="4263090"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1. </a:t>
                </a:r>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实指数信号：</a:t>
                </a:r>
                <a:r>
                  <a:rPr lang="en-US" sz="2400" dirty="0">
                    <a:solidFill>
                      <a:schemeClr val="tx1"/>
                    </a:solidFill>
                  </a:rPr>
                  <a:t> </a:t>
                </a:r>
                <a14:m>
                  <m:oMath xmlns:m="http://schemas.openxmlformats.org/officeDocument/2006/math">
                    <m:r>
                      <a:rPr lang="en-US" sz="2400" i="1">
                        <a:solidFill>
                          <a:schemeClr val="tx1"/>
                        </a:solidFill>
                        <a:latin typeface="Cambria Math" panose="02040503050406030204" pitchFamily="18" charset="0"/>
                      </a:rPr>
                      <m:t>𝐶</m:t>
                    </m:r>
                    <m:r>
                      <a:rPr lang="en-US" sz="2400" i="1">
                        <a:solidFill>
                          <a:schemeClr val="tx1"/>
                        </a:solidFill>
                        <a:latin typeface="Cambria Math" panose="02040503050406030204" pitchFamily="18" charset="0"/>
                      </a:rPr>
                      <m:t>, </m:t>
                    </m:r>
                    <m:r>
                      <a:rPr lang="en-US" sz="2400" i="1">
                        <a:solidFill>
                          <a:schemeClr val="tx1"/>
                        </a:solidFill>
                        <a:latin typeface="Cambria Math" panose="02040503050406030204" pitchFamily="18" charset="0"/>
                      </a:rPr>
                      <m:t>𝛼</m:t>
                    </m:r>
                  </m:oMath>
                </a14:m>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均为实数</a:t>
                </a:r>
              </a:p>
            </p:txBody>
          </p:sp>
        </mc:Choice>
        <mc:Fallback xmlns="">
          <p:sp>
            <p:nvSpPr>
              <p:cNvPr id="3087" name="Text Box 13">
                <a:extLst>
                  <a:ext uri="{FF2B5EF4-FFF2-40B4-BE49-F238E27FC236}">
                    <a16:creationId xmlns:a16="http://schemas.microsoft.com/office/drawing/2014/main" id="{65B7BC64-621F-4586-953E-EE815263CC96}"/>
                  </a:ext>
                </a:extLst>
              </p:cNvPr>
              <p:cNvSpPr txBox="1">
                <a:spLocks noRot="1" noChangeAspect="1" noMove="1" noResize="1" noEditPoints="1" noAdjustHandles="1" noChangeArrowheads="1" noChangeShapeType="1" noTextEdit="1"/>
              </p:cNvSpPr>
              <p:nvPr/>
            </p:nvSpPr>
            <p:spPr bwMode="auto">
              <a:xfrm>
                <a:off x="967046" y="2255045"/>
                <a:ext cx="4263090" cy="461665"/>
              </a:xfrm>
              <a:prstGeom prst="rect">
                <a:avLst/>
              </a:prstGeom>
              <a:blipFill>
                <a:blip r:embed="rId7"/>
                <a:stretch>
                  <a:fillRect l="-2289" t="-11842" r="-1288"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24" name="Picture 2">
            <a:extLst>
              <a:ext uri="{FF2B5EF4-FFF2-40B4-BE49-F238E27FC236}">
                <a16:creationId xmlns:a16="http://schemas.microsoft.com/office/drawing/2014/main" id="{0EAA391A-977E-485E-BD2A-7F43F039B2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640" y="2897549"/>
            <a:ext cx="3339876"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3">
            <a:extLst>
              <a:ext uri="{FF2B5EF4-FFF2-40B4-BE49-F238E27FC236}">
                <a16:creationId xmlns:a16="http://schemas.microsoft.com/office/drawing/2014/main" id="{55459EC1-64DF-4981-9C5F-CF5056FF0DE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04258" y="2919894"/>
            <a:ext cx="3609336" cy="1389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6" name="Object 2">
                <a:extLst>
                  <a:ext uri="{FF2B5EF4-FFF2-40B4-BE49-F238E27FC236}">
                    <a16:creationId xmlns:a16="http://schemas.microsoft.com/office/drawing/2014/main" id="{306F0821-7ADB-437D-B104-DCFFAF1A7CF4}"/>
                  </a:ext>
                </a:extLst>
              </p:cNvPr>
              <p:cNvSpPr txBox="1"/>
              <p:nvPr/>
            </p:nvSpPr>
            <p:spPr bwMode="auto">
              <a:xfrm>
                <a:off x="1403648" y="2909024"/>
                <a:ext cx="1028079" cy="4254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𝛼</m:t>
                      </m:r>
                      <m:r>
                        <a:rPr lang="en-US" sz="2400" i="1">
                          <a:solidFill>
                            <a:srgbClr val="000000"/>
                          </a:solidFill>
                          <a:latin typeface="Cambria Math" panose="02040503050406030204" pitchFamily="18" charset="0"/>
                        </a:rPr>
                        <m:t>&gt;1</m:t>
                      </m:r>
                    </m:oMath>
                  </m:oMathPara>
                </a14:m>
                <a:endParaRPr lang="en-US" sz="2400" dirty="0"/>
              </a:p>
            </p:txBody>
          </p:sp>
        </mc:Choice>
        <mc:Fallback xmlns="">
          <p:sp>
            <p:nvSpPr>
              <p:cNvPr id="26" name="Object 2">
                <a:extLst>
                  <a:ext uri="{FF2B5EF4-FFF2-40B4-BE49-F238E27FC236}">
                    <a16:creationId xmlns:a16="http://schemas.microsoft.com/office/drawing/2014/main" id="{306F0821-7ADB-437D-B104-DCFFAF1A7CF4}"/>
                  </a:ext>
                </a:extLst>
              </p:cNvPr>
              <p:cNvSpPr txBox="1">
                <a:spLocks noRot="1" noChangeAspect="1" noMove="1" noResize="1" noEditPoints="1" noAdjustHandles="1" noChangeArrowheads="1" noChangeShapeType="1" noTextEdit="1"/>
              </p:cNvSpPr>
              <p:nvPr/>
            </p:nvSpPr>
            <p:spPr bwMode="auto">
              <a:xfrm>
                <a:off x="1403648" y="2909024"/>
                <a:ext cx="1028079" cy="425450"/>
              </a:xfrm>
              <a:prstGeom prst="rect">
                <a:avLst/>
              </a:prstGeom>
              <a:blipFill>
                <a:blip r:embed="rId10"/>
                <a:stretch>
                  <a:fillRect b="-5714"/>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bject 3">
                <a:extLst>
                  <a:ext uri="{FF2B5EF4-FFF2-40B4-BE49-F238E27FC236}">
                    <a16:creationId xmlns:a16="http://schemas.microsoft.com/office/drawing/2014/main" id="{FAC9CBA5-FDBE-416D-B399-8DBDD7C63C72}"/>
                  </a:ext>
                </a:extLst>
              </p:cNvPr>
              <p:cNvSpPr txBox="1"/>
              <p:nvPr/>
            </p:nvSpPr>
            <p:spPr bwMode="auto">
              <a:xfrm>
                <a:off x="6553200" y="2909024"/>
                <a:ext cx="1542404" cy="4254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0&lt;</m:t>
                      </m:r>
                      <m:r>
                        <a:rPr lang="en-US" sz="2400" i="1">
                          <a:solidFill>
                            <a:srgbClr val="000000"/>
                          </a:solidFill>
                          <a:latin typeface="Cambria Math" panose="02040503050406030204" pitchFamily="18" charset="0"/>
                        </a:rPr>
                        <m:t>𝛼</m:t>
                      </m:r>
                      <m:r>
                        <a:rPr lang="en-US" sz="2400" i="1">
                          <a:solidFill>
                            <a:srgbClr val="000000"/>
                          </a:solidFill>
                          <a:latin typeface="Cambria Math" panose="02040503050406030204" pitchFamily="18" charset="0"/>
                        </a:rPr>
                        <m:t>&lt;1</m:t>
                      </m:r>
                    </m:oMath>
                  </m:oMathPara>
                </a14:m>
                <a:endParaRPr lang="en-US" sz="2400" dirty="0"/>
              </a:p>
            </p:txBody>
          </p:sp>
        </mc:Choice>
        <mc:Fallback xmlns="">
          <p:sp>
            <p:nvSpPr>
              <p:cNvPr id="27" name="Object 3">
                <a:extLst>
                  <a:ext uri="{FF2B5EF4-FFF2-40B4-BE49-F238E27FC236}">
                    <a16:creationId xmlns:a16="http://schemas.microsoft.com/office/drawing/2014/main" id="{FAC9CBA5-FDBE-416D-B399-8DBDD7C63C72}"/>
                  </a:ext>
                </a:extLst>
              </p:cNvPr>
              <p:cNvSpPr txBox="1">
                <a:spLocks noRot="1" noChangeAspect="1" noMove="1" noResize="1" noEditPoints="1" noAdjustHandles="1" noChangeArrowheads="1" noChangeShapeType="1" noTextEdit="1"/>
              </p:cNvSpPr>
              <p:nvPr/>
            </p:nvSpPr>
            <p:spPr bwMode="auto">
              <a:xfrm>
                <a:off x="6553200" y="2909024"/>
                <a:ext cx="1542404" cy="425450"/>
              </a:xfrm>
              <a:prstGeom prst="rect">
                <a:avLst/>
              </a:prstGeom>
              <a:blipFill>
                <a:blip r:embed="rId11"/>
                <a:stretch>
                  <a:fillRect l="-791" b="-5714"/>
                </a:stretch>
              </a:blipFill>
              <a:ln>
                <a:noFill/>
              </a:ln>
              <a:effectLst/>
            </p:spPr>
            <p:txBody>
              <a:bodyPr/>
              <a:lstStyle/>
              <a:p>
                <a:r>
                  <a:rPr lang="en-US">
                    <a:noFill/>
                  </a:rPr>
                  <a:t> </a:t>
                </a:r>
              </a:p>
            </p:txBody>
          </p:sp>
        </mc:Fallback>
      </mc:AlternateContent>
      <p:pic>
        <p:nvPicPr>
          <p:cNvPr id="36" name="Picture 2">
            <a:extLst>
              <a:ext uri="{FF2B5EF4-FFF2-40B4-BE49-F238E27FC236}">
                <a16:creationId xmlns:a16="http://schemas.microsoft.com/office/drawing/2014/main" id="{967A75F5-3725-442E-B749-DC735611178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18902" y="4714625"/>
            <a:ext cx="3694692" cy="1590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8" name="Object 3">
                <a:extLst>
                  <a:ext uri="{FF2B5EF4-FFF2-40B4-BE49-F238E27FC236}">
                    <a16:creationId xmlns:a16="http://schemas.microsoft.com/office/drawing/2014/main" id="{EE52B7B7-0AA8-4FD2-AF16-3F9EF42395CE}"/>
                  </a:ext>
                </a:extLst>
              </p:cNvPr>
              <p:cNvSpPr txBox="1"/>
              <p:nvPr/>
            </p:nvSpPr>
            <p:spPr bwMode="auto">
              <a:xfrm>
                <a:off x="6425072" y="4714625"/>
                <a:ext cx="1798660" cy="4318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−1&lt;</m:t>
                      </m:r>
                      <m:r>
                        <a:rPr lang="en-US" sz="2400" i="1">
                          <a:solidFill>
                            <a:srgbClr val="000000"/>
                          </a:solidFill>
                          <a:latin typeface="Cambria Math" panose="02040503050406030204" pitchFamily="18" charset="0"/>
                        </a:rPr>
                        <m:t>𝛼</m:t>
                      </m:r>
                      <m:r>
                        <a:rPr lang="en-US" sz="2400" i="1">
                          <a:solidFill>
                            <a:srgbClr val="000000"/>
                          </a:solidFill>
                          <a:latin typeface="Cambria Math" panose="02040503050406030204" pitchFamily="18" charset="0"/>
                        </a:rPr>
                        <m:t>&lt;0</m:t>
                      </m:r>
                    </m:oMath>
                  </m:oMathPara>
                </a14:m>
                <a:endParaRPr lang="en-US" sz="2400" dirty="0"/>
              </a:p>
            </p:txBody>
          </p:sp>
        </mc:Choice>
        <mc:Fallback xmlns="">
          <p:sp>
            <p:nvSpPr>
              <p:cNvPr id="38" name="Object 3">
                <a:extLst>
                  <a:ext uri="{FF2B5EF4-FFF2-40B4-BE49-F238E27FC236}">
                    <a16:creationId xmlns:a16="http://schemas.microsoft.com/office/drawing/2014/main" id="{EE52B7B7-0AA8-4FD2-AF16-3F9EF42395CE}"/>
                  </a:ext>
                </a:extLst>
              </p:cNvPr>
              <p:cNvSpPr txBox="1">
                <a:spLocks noRot="1" noChangeAspect="1" noMove="1" noResize="1" noEditPoints="1" noAdjustHandles="1" noChangeArrowheads="1" noChangeShapeType="1" noTextEdit="1"/>
              </p:cNvSpPr>
              <p:nvPr/>
            </p:nvSpPr>
            <p:spPr bwMode="auto">
              <a:xfrm>
                <a:off x="6425072" y="4714625"/>
                <a:ext cx="1798660" cy="431800"/>
              </a:xfrm>
              <a:prstGeom prst="rect">
                <a:avLst/>
              </a:prstGeom>
              <a:blipFill>
                <a:blip r:embed="rId13"/>
                <a:stretch>
                  <a:fillRect b="-422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Object 4">
                <a:extLst>
                  <a:ext uri="{FF2B5EF4-FFF2-40B4-BE49-F238E27FC236}">
                    <a16:creationId xmlns:a16="http://schemas.microsoft.com/office/drawing/2014/main" id="{C5EEA2EB-DC39-432B-86EE-D5F4A25550BA}"/>
                  </a:ext>
                </a:extLst>
              </p:cNvPr>
              <p:cNvSpPr txBox="1"/>
              <p:nvPr/>
            </p:nvSpPr>
            <p:spPr bwMode="auto">
              <a:xfrm>
                <a:off x="1403648" y="4716300"/>
                <a:ext cx="1224136" cy="4318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𝛼</m:t>
                      </m:r>
                      <m:r>
                        <a:rPr lang="en-US" sz="2400" i="1">
                          <a:solidFill>
                            <a:srgbClr val="000000"/>
                          </a:solidFill>
                          <a:latin typeface="Cambria Math" panose="02040503050406030204" pitchFamily="18" charset="0"/>
                        </a:rPr>
                        <m:t>&lt;−1</m:t>
                      </m:r>
                    </m:oMath>
                  </m:oMathPara>
                </a14:m>
                <a:endParaRPr lang="en-US" sz="2400" dirty="0"/>
              </a:p>
            </p:txBody>
          </p:sp>
        </mc:Choice>
        <mc:Fallback xmlns="">
          <p:sp>
            <p:nvSpPr>
              <p:cNvPr id="39" name="Object 4">
                <a:extLst>
                  <a:ext uri="{FF2B5EF4-FFF2-40B4-BE49-F238E27FC236}">
                    <a16:creationId xmlns:a16="http://schemas.microsoft.com/office/drawing/2014/main" id="{C5EEA2EB-DC39-432B-86EE-D5F4A25550BA}"/>
                  </a:ext>
                </a:extLst>
              </p:cNvPr>
              <p:cNvSpPr txBox="1">
                <a:spLocks noRot="1" noChangeAspect="1" noMove="1" noResize="1" noEditPoints="1" noAdjustHandles="1" noChangeArrowheads="1" noChangeShapeType="1" noTextEdit="1"/>
              </p:cNvSpPr>
              <p:nvPr/>
            </p:nvSpPr>
            <p:spPr bwMode="auto">
              <a:xfrm>
                <a:off x="1403648" y="4716300"/>
                <a:ext cx="1224136" cy="431800"/>
              </a:xfrm>
              <a:prstGeom prst="rect">
                <a:avLst/>
              </a:prstGeom>
              <a:blipFill>
                <a:blip r:embed="rId14"/>
                <a:stretch>
                  <a:fillRect b="-422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矩形 5">
                <a:extLst>
                  <a:ext uri="{FF2B5EF4-FFF2-40B4-BE49-F238E27FC236}">
                    <a16:creationId xmlns:a16="http://schemas.microsoft.com/office/drawing/2014/main" id="{9EBA9DE2-9245-4E84-ABCA-C18F107150EB}"/>
                  </a:ext>
                </a:extLst>
              </p:cNvPr>
              <p:cNvSpPr>
                <a:spLocks noChangeArrowheads="1"/>
              </p:cNvSpPr>
              <p:nvPr/>
            </p:nvSpPr>
            <p:spPr bwMode="auto">
              <a:xfrm>
                <a:off x="4157025" y="6221323"/>
                <a:ext cx="1294072"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p>
                <a:pPr fontAlgn="base">
                  <a:spcBef>
                    <a:spcPct val="0"/>
                  </a:spcBef>
                  <a:spcAft>
                    <a:spcPct val="0"/>
                  </a:spcAft>
                </a:pPr>
                <a:r>
                  <a:rPr lang="en-US" altLang="zh-CN" sz="2400" dirty="0">
                    <a:solidFill>
                      <a:srgbClr val="000000"/>
                    </a:solidFill>
                    <a:latin typeface="Times New Roman" panose="02020603050405020304" pitchFamily="18" charset="0"/>
                    <a:ea typeface="楷体_GB2312" pitchFamily="49" charset="-122"/>
                    <a:cs typeface="Times New Roman" panose="02020603050405020304" pitchFamily="18" charset="0"/>
                  </a:rPr>
                  <a:t>(</a:t>
                </a:r>
                <a14:m>
                  <m:oMath xmlns:m="http://schemas.openxmlformats.org/officeDocument/2006/math">
                    <m:r>
                      <a:rPr lang="en-US" altLang="zh-CN" sz="2400" i="1" dirty="0" smtClean="0">
                        <a:solidFill>
                          <a:srgbClr val="000000"/>
                        </a:solidFill>
                        <a:latin typeface="Cambria Math" panose="02040503050406030204" pitchFamily="18" charset="0"/>
                        <a:ea typeface="楷体_GB2312" pitchFamily="49" charset="-122"/>
                        <a:cs typeface="Times New Roman" panose="02020603050405020304" pitchFamily="18" charset="0"/>
                      </a:rPr>
                      <m:t>𝐶</m:t>
                    </m:r>
                    <m:r>
                      <a:rPr lang="en-US" altLang="zh-CN" sz="2400" i="1" dirty="0" smtClean="0">
                        <a:solidFill>
                          <a:srgbClr val="000000"/>
                        </a:solidFill>
                        <a:latin typeface="Cambria Math" panose="02040503050406030204" pitchFamily="18" charset="0"/>
                        <a:ea typeface="楷体_GB2312" pitchFamily="49" charset="-122"/>
                        <a:cs typeface="Times New Roman" panose="02020603050405020304" pitchFamily="18" charset="0"/>
                      </a:rPr>
                      <m:t> &gt; 0</m:t>
                    </m:r>
                  </m:oMath>
                </a14:m>
                <a:r>
                  <a:rPr lang="en-US" altLang="zh-CN" sz="2400" dirty="0">
                    <a:solidFill>
                      <a:srgbClr val="000000"/>
                    </a:solidFill>
                    <a:latin typeface="Times New Roman" panose="02020603050405020304" pitchFamily="18" charset="0"/>
                    <a:ea typeface="楷体_GB2312" pitchFamily="49" charset="-122"/>
                    <a:cs typeface="Times New Roman" panose="02020603050405020304" pitchFamily="18" charset="0"/>
                  </a:rPr>
                  <a:t>)</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44" name="矩形 5">
                <a:extLst>
                  <a:ext uri="{FF2B5EF4-FFF2-40B4-BE49-F238E27FC236}">
                    <a16:creationId xmlns:a16="http://schemas.microsoft.com/office/drawing/2014/main" id="{9EBA9DE2-9245-4E84-ABCA-C18F107150EB}"/>
                  </a:ext>
                </a:extLst>
              </p:cNvPr>
              <p:cNvSpPr>
                <a:spLocks noRot="1" noChangeAspect="1" noMove="1" noResize="1" noEditPoints="1" noAdjustHandles="1" noChangeArrowheads="1" noChangeShapeType="1" noTextEdit="1"/>
              </p:cNvSpPr>
              <p:nvPr/>
            </p:nvSpPr>
            <p:spPr bwMode="auto">
              <a:xfrm>
                <a:off x="4157025" y="6221323"/>
                <a:ext cx="1294072" cy="461665"/>
              </a:xfrm>
              <a:prstGeom prst="rect">
                <a:avLst/>
              </a:prstGeom>
              <a:blipFill>
                <a:blip r:embed="rId15"/>
                <a:stretch>
                  <a:fillRect l="-7547" t="-10667" r="-6604" b="-30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标题 1">
            <a:extLst>
              <a:ext uri="{FF2B5EF4-FFF2-40B4-BE49-F238E27FC236}">
                <a16:creationId xmlns:a16="http://schemas.microsoft.com/office/drawing/2014/main" id="{86EA1343-A639-4EC8-BC5F-2F7DA03E3C8B}"/>
              </a:ext>
            </a:extLst>
          </p:cNvPr>
          <p:cNvSpPr>
            <a:spLocks noGrp="1"/>
          </p:cNvSpPr>
          <p:nvPr>
            <p:ph type="title"/>
          </p:nvPr>
        </p:nvSpPr>
        <p:spPr/>
        <p:txBody>
          <a:bodyPr/>
          <a:lstStyle/>
          <a:p>
            <a:pPr eaLnBrk="1" hangingPunct="1"/>
            <a:r>
              <a:rPr lang="en-US" altLang="zh-CN"/>
              <a:t>1.3  </a:t>
            </a:r>
            <a:r>
              <a:rPr lang="zh-CN" altLang="en-US"/>
              <a:t>复指数信号与正弦信号</a:t>
            </a:r>
          </a:p>
        </p:txBody>
      </p:sp>
      <p:sp>
        <p:nvSpPr>
          <p:cNvPr id="4" name="灯片编号占位符 3">
            <a:extLst>
              <a:ext uri="{FF2B5EF4-FFF2-40B4-BE49-F238E27FC236}">
                <a16:creationId xmlns:a16="http://schemas.microsoft.com/office/drawing/2014/main" id="{2D2103E5-6494-412F-ACB9-E8E0FFCD689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E267404-2374-4943-B05C-3FD6C483748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3" name="Text Box 2">
            <a:extLst>
              <a:ext uri="{FF2B5EF4-FFF2-40B4-BE49-F238E27FC236}">
                <a16:creationId xmlns:a16="http://schemas.microsoft.com/office/drawing/2014/main" id="{ED56B1ED-D967-4833-8751-71B1E9FFB8D5}"/>
              </a:ext>
            </a:extLst>
          </p:cNvPr>
          <p:cNvSpPr txBox="1">
            <a:spLocks noChangeArrowheads="1"/>
          </p:cNvSpPr>
          <p:nvPr/>
        </p:nvSpPr>
        <p:spPr bwMode="auto">
          <a:xfrm>
            <a:off x="690563" y="1246188"/>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2. </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正弦信号：</a:t>
            </a:r>
          </a:p>
        </p:txBody>
      </p:sp>
      <mc:AlternateContent xmlns:mc="http://schemas.openxmlformats.org/markup-compatibility/2006" xmlns:a14="http://schemas.microsoft.com/office/drawing/2010/main">
        <mc:Choice Requires="a14">
          <p:sp>
            <p:nvSpPr>
              <p:cNvPr id="6154" name="Text Box 4">
                <a:extLst>
                  <a:ext uri="{FF2B5EF4-FFF2-40B4-BE49-F238E27FC236}">
                    <a16:creationId xmlns:a16="http://schemas.microsoft.com/office/drawing/2014/main" id="{1A406BF6-1BAD-4EFC-93F2-F5DF9CEA1243}"/>
                  </a:ext>
                </a:extLst>
              </p:cNvPr>
              <p:cNvSpPr txBox="1">
                <a:spLocks noChangeArrowheads="1"/>
              </p:cNvSpPr>
              <p:nvPr/>
            </p:nvSpPr>
            <p:spPr bwMode="auto">
              <a:xfrm>
                <a:off x="1043608" y="1785641"/>
                <a:ext cx="7498719" cy="47410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defRPr/>
                </a:pPr>
                <a14:m>
                  <m:oMath xmlns:m="http://schemas.openxmlformats.org/officeDocument/2006/math">
                    <m:r>
                      <a:rPr lang="en-US" sz="240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m:rPr>
                            <m:sty m:val="p"/>
                          </m:rPr>
                          <a:rPr lang="en-US" sz="2400" i="0">
                            <a:solidFill>
                              <a:schemeClr val="tx1"/>
                            </a:solidFill>
                            <a:latin typeface="Cambria Math" panose="02040503050406030204" pitchFamily="18" charset="0"/>
                          </a:rPr>
                          <m:t>j</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r>
                          <a:rPr lang="en-US" sz="2400" i="1">
                            <a:solidFill>
                              <a:schemeClr val="tx1"/>
                            </a:solidFill>
                            <a:latin typeface="Cambria Math" panose="02040503050406030204" pitchFamily="18" charset="0"/>
                          </a:rPr>
                          <m:t>𝑛</m:t>
                        </m:r>
                      </m:sup>
                    </m:sSup>
                  </m:oMath>
                </a14:m>
                <a:r>
                  <a:rPr lang="en-US" sz="2400" dirty="0">
                    <a:solidFill>
                      <a:schemeClr val="tx1"/>
                    </a:solidFill>
                  </a:rPr>
                  <a:t> </a:t>
                </a:r>
                <a14:m>
                  <m:oMath xmlns:m="http://schemas.openxmlformats.org/officeDocument/2006/math">
                    <m:r>
                      <a:rPr lang="en-US" sz="2400" i="1">
                        <a:solidFill>
                          <a:schemeClr val="tx1"/>
                        </a:solidFill>
                        <a:latin typeface="Cambria Math" panose="02040503050406030204" pitchFamily="18" charset="0"/>
                      </a:rPr>
                      <m:t>=</m:t>
                    </m:r>
                    <m:func>
                      <m:funcPr>
                        <m:ctrlPr>
                          <a:rPr lang="en-US" sz="2400" i="1">
                            <a:solidFill>
                              <a:schemeClr val="tx1"/>
                            </a:solidFill>
                            <a:latin typeface="Cambria Math" panose="02040503050406030204" pitchFamily="18" charset="0"/>
                          </a:rPr>
                        </m:ctrlPr>
                      </m:funcPr>
                      <m:fName>
                        <m:r>
                          <m:rPr>
                            <m:sty m:val="p"/>
                          </m:rPr>
                          <a:rPr lang="en-US" sz="2400">
                            <a:solidFill>
                              <a:schemeClr val="tx1"/>
                            </a:solidFill>
                            <a:latin typeface="Cambria Math" panose="02040503050406030204" pitchFamily="18" charset="0"/>
                          </a:rPr>
                          <m:t>cos</m:t>
                        </m:r>
                      </m:fName>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r>
                          <a:rPr lang="en-US" sz="2400" i="1">
                            <a:solidFill>
                              <a:schemeClr val="tx1"/>
                            </a:solidFill>
                            <a:latin typeface="Cambria Math" panose="02040503050406030204" pitchFamily="18" charset="0"/>
                          </a:rPr>
                          <m:t>𝑛</m:t>
                        </m:r>
                      </m:e>
                    </m:func>
                    <m:r>
                      <a:rPr lang="en-US" sz="2400" i="1">
                        <a:solidFill>
                          <a:schemeClr val="tx1"/>
                        </a:solidFill>
                        <a:latin typeface="Cambria Math" panose="02040503050406030204" pitchFamily="18" charset="0"/>
                      </a:rPr>
                      <m:t>+</m:t>
                    </m:r>
                    <m:r>
                      <m:rPr>
                        <m:sty m:val="p"/>
                      </m:rPr>
                      <a:rPr lang="en-US" sz="2400" i="0">
                        <a:solidFill>
                          <a:schemeClr val="tx1"/>
                        </a:solidFill>
                        <a:latin typeface="Cambria Math" panose="02040503050406030204" pitchFamily="18" charset="0"/>
                      </a:rPr>
                      <m:t>j</m:t>
                    </m:r>
                    <m:func>
                      <m:funcPr>
                        <m:ctrlPr>
                          <a:rPr lang="en-US" sz="2400" i="1">
                            <a:solidFill>
                              <a:schemeClr val="tx1"/>
                            </a:solidFill>
                            <a:latin typeface="Cambria Math" panose="02040503050406030204" pitchFamily="18" charset="0"/>
                          </a:rPr>
                        </m:ctrlPr>
                      </m:funcPr>
                      <m:fName>
                        <m:r>
                          <m:rPr>
                            <m:sty m:val="p"/>
                          </m:rPr>
                          <a:rPr lang="en-US" sz="2400">
                            <a:solidFill>
                              <a:schemeClr val="tx1"/>
                            </a:solidFill>
                            <a:latin typeface="Cambria Math" panose="02040503050406030204" pitchFamily="18" charset="0"/>
                          </a:rPr>
                          <m:t>sin</m:t>
                        </m:r>
                      </m:fName>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r>
                          <a:rPr lang="en-US" sz="2400" i="1">
                            <a:solidFill>
                              <a:schemeClr val="tx1"/>
                            </a:solidFill>
                            <a:latin typeface="Cambria Math" panose="02040503050406030204" pitchFamily="18" charset="0"/>
                          </a:rPr>
                          <m:t>𝑛</m:t>
                        </m:r>
                      </m:e>
                    </m:func>
                  </m:oMath>
                </a14:m>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，其中</a:t>
                </a:r>
                <a14:m>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oMath>
                </a14:m>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为实数。</a:t>
                </a:r>
              </a:p>
            </p:txBody>
          </p:sp>
        </mc:Choice>
        <mc:Fallback xmlns="">
          <p:sp>
            <p:nvSpPr>
              <p:cNvPr id="6154" name="Text Box 4">
                <a:extLst>
                  <a:ext uri="{FF2B5EF4-FFF2-40B4-BE49-F238E27FC236}">
                    <a16:creationId xmlns:a16="http://schemas.microsoft.com/office/drawing/2014/main" id="{1A406BF6-1BAD-4EFC-93F2-F5DF9CEA1243}"/>
                  </a:ext>
                </a:extLst>
              </p:cNvPr>
              <p:cNvSpPr txBox="1">
                <a:spLocks noRot="1" noChangeAspect="1" noMove="1" noResize="1" noEditPoints="1" noAdjustHandles="1" noChangeArrowheads="1" noChangeShapeType="1" noTextEdit="1"/>
              </p:cNvSpPr>
              <p:nvPr/>
            </p:nvSpPr>
            <p:spPr bwMode="auto">
              <a:xfrm>
                <a:off x="1043608" y="1785641"/>
                <a:ext cx="7498719" cy="474104"/>
              </a:xfrm>
              <a:prstGeom prst="rect">
                <a:avLst/>
              </a:prstGeom>
              <a:blipFill>
                <a:blip r:embed="rId4"/>
                <a:stretch>
                  <a:fillRect t="-6410" b="-2948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49" name="Object 5">
                <a:extLst>
                  <a:ext uri="{FF2B5EF4-FFF2-40B4-BE49-F238E27FC236}">
                    <a16:creationId xmlns:a16="http://schemas.microsoft.com/office/drawing/2014/main" id="{3EFFF155-0951-4948-A518-18172CB252AA}"/>
                  </a:ext>
                </a:extLst>
              </p:cNvPr>
              <p:cNvSpPr txBox="1"/>
              <p:nvPr/>
            </p:nvSpPr>
            <p:spPr bwMode="auto">
              <a:xfrm>
                <a:off x="1043608" y="3788100"/>
                <a:ext cx="2988667" cy="47359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𝑛</m:t>
                      </m:r>
                      <m:r>
                        <a:rPr lang="en-US" sz="2400" i="1">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𝜋</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/12)</m:t>
                          </m:r>
                        </m:e>
                      </m:func>
                    </m:oMath>
                  </m:oMathPara>
                </a14:m>
                <a:endParaRPr lang="en-US" sz="2400" dirty="0"/>
              </a:p>
            </p:txBody>
          </p:sp>
        </mc:Choice>
        <mc:Fallback xmlns="">
          <p:sp>
            <p:nvSpPr>
              <p:cNvPr id="6149" name="Object 5">
                <a:extLst>
                  <a:ext uri="{FF2B5EF4-FFF2-40B4-BE49-F238E27FC236}">
                    <a16:creationId xmlns:a16="http://schemas.microsoft.com/office/drawing/2014/main" id="{3EFFF155-0951-4948-A518-18172CB252AA}"/>
                  </a:ext>
                </a:extLst>
              </p:cNvPr>
              <p:cNvSpPr txBox="1">
                <a:spLocks noRot="1" noChangeAspect="1" noMove="1" noResize="1" noEditPoints="1" noAdjustHandles="1" noChangeArrowheads="1" noChangeShapeType="1" noTextEdit="1"/>
              </p:cNvSpPr>
              <p:nvPr/>
            </p:nvSpPr>
            <p:spPr bwMode="auto">
              <a:xfrm>
                <a:off x="1043608" y="3788100"/>
                <a:ext cx="2988667" cy="473590"/>
              </a:xfrm>
              <a:prstGeom prst="rect">
                <a:avLst/>
              </a:prstGeom>
              <a:blipFill>
                <a:blip r:embed="rId5"/>
                <a:stretch>
                  <a:fillRect b="-16667"/>
                </a:stretch>
              </a:blipFill>
              <a:ln>
                <a:noFill/>
              </a:ln>
              <a:effectLst/>
            </p:spPr>
            <p:txBody>
              <a:bodyPr/>
              <a:lstStyle/>
              <a:p>
                <a:r>
                  <a:rPr lang="en-US">
                    <a:noFill/>
                  </a:rPr>
                  <a:t> </a:t>
                </a:r>
              </a:p>
            </p:txBody>
          </p:sp>
        </mc:Fallback>
      </mc:AlternateContent>
      <p:graphicFrame>
        <p:nvGraphicFramePr>
          <p:cNvPr id="6150" name="Object 6">
            <a:extLst>
              <a:ext uri="{FF2B5EF4-FFF2-40B4-BE49-F238E27FC236}">
                <a16:creationId xmlns:a16="http://schemas.microsoft.com/office/drawing/2014/main" id="{E2D876D5-FBCE-4169-AEB7-8A2618EA9F37}"/>
              </a:ext>
            </a:extLst>
          </p:cNvPr>
          <p:cNvGraphicFramePr>
            <a:graphicFrameLocks noChangeAspect="1"/>
          </p:cNvGraphicFramePr>
          <p:nvPr>
            <p:extLst>
              <p:ext uri="{D42A27DB-BD31-4B8C-83A1-F6EECF244321}">
                <p14:modId xmlns:p14="http://schemas.microsoft.com/office/powerpoint/2010/main" val="3554593935"/>
              </p:ext>
            </p:extLst>
          </p:nvPr>
        </p:nvGraphicFramePr>
        <p:xfrm>
          <a:off x="920832" y="2462752"/>
          <a:ext cx="3436996" cy="1286601"/>
        </p:xfrm>
        <a:graphic>
          <a:graphicData uri="http://schemas.openxmlformats.org/presentationml/2006/ole">
            <mc:AlternateContent xmlns:mc="http://schemas.openxmlformats.org/markup-compatibility/2006">
              <mc:Choice xmlns:v="urn:schemas-microsoft-com:vml" Requires="v">
                <p:oleObj spid="_x0000_s7408" name="位图图像" r:id="rId6" imgW="6106377" imgH="2285714" progId="Paint.Picture">
                  <p:embed/>
                </p:oleObj>
              </mc:Choice>
              <mc:Fallback>
                <p:oleObj name="位图图像" r:id="rId6" imgW="6106377" imgH="2285714" progId="Paint.Picture">
                  <p:embed/>
                  <p:pic>
                    <p:nvPicPr>
                      <p:cNvPr id="6150" name="Object 6">
                        <a:extLst>
                          <a:ext uri="{FF2B5EF4-FFF2-40B4-BE49-F238E27FC236}">
                            <a16:creationId xmlns:a16="http://schemas.microsoft.com/office/drawing/2014/main" id="{E2D876D5-FBCE-4169-AEB7-8A2618EA9F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0832" y="2462752"/>
                        <a:ext cx="3436996" cy="1286601"/>
                      </a:xfrm>
                      <a:prstGeom prst="rect">
                        <a:avLst/>
                      </a:prstGeom>
                      <a:noFill/>
                      <a:ln>
                        <a:noFill/>
                      </a:ln>
                      <a:effectLst/>
                    </p:spPr>
                  </p:pic>
                </p:oleObj>
              </mc:Fallback>
            </mc:AlternateContent>
          </a:graphicData>
        </a:graphic>
      </p:graphicFrame>
      <p:pic>
        <p:nvPicPr>
          <p:cNvPr id="19" name="Picture 2">
            <a:extLst>
              <a:ext uri="{FF2B5EF4-FFF2-40B4-BE49-F238E27FC236}">
                <a16:creationId xmlns:a16="http://schemas.microsoft.com/office/drawing/2014/main" id="{444391C5-F36F-493B-B915-2ADEF1D3B58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11373" y="2379978"/>
            <a:ext cx="3797555" cy="1501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0" name="Object 2">
                <a:extLst>
                  <a:ext uri="{FF2B5EF4-FFF2-40B4-BE49-F238E27FC236}">
                    <a16:creationId xmlns:a16="http://schemas.microsoft.com/office/drawing/2014/main" id="{85FD0B33-1ACD-486A-9CF9-83AFF3171008}"/>
                  </a:ext>
                </a:extLst>
              </p:cNvPr>
              <p:cNvSpPr txBox="1"/>
              <p:nvPr/>
            </p:nvSpPr>
            <p:spPr bwMode="auto">
              <a:xfrm>
                <a:off x="5015816" y="3793674"/>
                <a:ext cx="2988667" cy="47359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𝑛</m:t>
                      </m:r>
                      <m:r>
                        <a:rPr lang="en-US" sz="2400" i="1">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r>
                            <a:rPr lang="en-US" sz="2400" i="1">
                              <a:solidFill>
                                <a:srgbClr val="000000"/>
                              </a:solidFill>
                              <a:latin typeface="Cambria Math" panose="02040503050406030204" pitchFamily="18" charset="0"/>
                            </a:rPr>
                            <m:t>(8</m:t>
                          </m:r>
                          <m:r>
                            <a:rPr lang="en-US" sz="2400" i="1">
                              <a:solidFill>
                                <a:srgbClr val="000000"/>
                              </a:solidFill>
                              <a:latin typeface="Cambria Math" panose="02040503050406030204" pitchFamily="18" charset="0"/>
                            </a:rPr>
                            <m:t>𝜋</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/31)</m:t>
                          </m:r>
                        </m:e>
                      </m:func>
                    </m:oMath>
                  </m:oMathPara>
                </a14:m>
                <a:endParaRPr lang="en-US" sz="2400" dirty="0"/>
              </a:p>
            </p:txBody>
          </p:sp>
        </mc:Choice>
        <mc:Fallback xmlns="">
          <p:sp>
            <p:nvSpPr>
              <p:cNvPr id="20" name="Object 2">
                <a:extLst>
                  <a:ext uri="{FF2B5EF4-FFF2-40B4-BE49-F238E27FC236}">
                    <a16:creationId xmlns:a16="http://schemas.microsoft.com/office/drawing/2014/main" id="{85FD0B33-1ACD-486A-9CF9-83AFF3171008}"/>
                  </a:ext>
                </a:extLst>
              </p:cNvPr>
              <p:cNvSpPr txBox="1">
                <a:spLocks noRot="1" noChangeAspect="1" noMove="1" noResize="1" noEditPoints="1" noAdjustHandles="1" noChangeArrowheads="1" noChangeShapeType="1" noTextEdit="1"/>
              </p:cNvSpPr>
              <p:nvPr/>
            </p:nvSpPr>
            <p:spPr bwMode="auto">
              <a:xfrm>
                <a:off x="5015816" y="3793674"/>
                <a:ext cx="2988667" cy="473590"/>
              </a:xfrm>
              <a:prstGeom prst="rect">
                <a:avLst/>
              </a:prstGeom>
              <a:blipFill>
                <a:blip r:embed="rId9"/>
                <a:stretch>
                  <a:fillRect b="-1666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bject 4">
                <a:extLst>
                  <a:ext uri="{FF2B5EF4-FFF2-40B4-BE49-F238E27FC236}">
                    <a16:creationId xmlns:a16="http://schemas.microsoft.com/office/drawing/2014/main" id="{5B428847-9268-4773-83C7-CEDD72659767}"/>
                  </a:ext>
                </a:extLst>
              </p:cNvPr>
              <p:cNvSpPr txBox="1"/>
              <p:nvPr/>
            </p:nvSpPr>
            <p:spPr bwMode="auto">
              <a:xfrm>
                <a:off x="3370944" y="5962916"/>
                <a:ext cx="2480858" cy="43753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𝑛</m:t>
                      </m:r>
                      <m:r>
                        <a:rPr lang="en-US" sz="2400" i="1">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/6)</m:t>
                          </m:r>
                        </m:e>
                      </m:func>
                    </m:oMath>
                  </m:oMathPara>
                </a14:m>
                <a:endParaRPr lang="en-US" sz="2400" dirty="0"/>
              </a:p>
            </p:txBody>
          </p:sp>
        </mc:Choice>
        <mc:Fallback xmlns="">
          <p:sp>
            <p:nvSpPr>
              <p:cNvPr id="22" name="Object 4">
                <a:extLst>
                  <a:ext uri="{FF2B5EF4-FFF2-40B4-BE49-F238E27FC236}">
                    <a16:creationId xmlns:a16="http://schemas.microsoft.com/office/drawing/2014/main" id="{5B428847-9268-4773-83C7-CEDD72659767}"/>
                  </a:ext>
                </a:extLst>
              </p:cNvPr>
              <p:cNvSpPr txBox="1">
                <a:spLocks noRot="1" noChangeAspect="1" noMove="1" noResize="1" noEditPoints="1" noAdjustHandles="1" noChangeArrowheads="1" noChangeShapeType="1" noTextEdit="1"/>
              </p:cNvSpPr>
              <p:nvPr/>
            </p:nvSpPr>
            <p:spPr bwMode="auto">
              <a:xfrm>
                <a:off x="3370944" y="5962916"/>
                <a:ext cx="2480858" cy="437530"/>
              </a:xfrm>
              <a:prstGeom prst="rect">
                <a:avLst/>
              </a:prstGeom>
              <a:blipFill>
                <a:blip r:embed="rId12"/>
                <a:stretch>
                  <a:fillRect b="-26389"/>
                </a:stretch>
              </a:blipFill>
              <a:ln>
                <a:noFill/>
              </a:ln>
              <a:effectLst/>
            </p:spPr>
            <p:txBody>
              <a:bodyPr/>
              <a:lstStyle/>
              <a:p>
                <a:r>
                  <a:rPr lang="en-US">
                    <a:noFill/>
                  </a:rPr>
                  <a:t> </a:t>
                </a:r>
              </a:p>
            </p:txBody>
          </p:sp>
        </mc:Fallback>
      </mc:AlternateContent>
      <p:graphicFrame>
        <p:nvGraphicFramePr>
          <p:cNvPr id="12" name="Object 3">
            <a:extLst>
              <a:ext uri="{FF2B5EF4-FFF2-40B4-BE49-F238E27FC236}">
                <a16:creationId xmlns:a16="http://schemas.microsoft.com/office/drawing/2014/main" id="{C94533A0-1B1B-4531-AFCF-B6E938C64A05}"/>
              </a:ext>
            </a:extLst>
          </p:cNvPr>
          <p:cNvGraphicFramePr>
            <a:graphicFrameLocks noChangeAspect="1"/>
          </p:cNvGraphicFramePr>
          <p:nvPr>
            <p:extLst>
              <p:ext uri="{D42A27DB-BD31-4B8C-83A1-F6EECF244321}">
                <p14:modId xmlns:p14="http://schemas.microsoft.com/office/powerpoint/2010/main" val="4276870616"/>
              </p:ext>
            </p:extLst>
          </p:nvPr>
        </p:nvGraphicFramePr>
        <p:xfrm>
          <a:off x="2568938" y="4341821"/>
          <a:ext cx="3797555" cy="1575749"/>
        </p:xfrm>
        <a:graphic>
          <a:graphicData uri="http://schemas.openxmlformats.org/presentationml/2006/ole">
            <mc:AlternateContent xmlns:mc="http://schemas.openxmlformats.org/markup-compatibility/2006">
              <mc:Choice xmlns:v="urn:schemas-microsoft-com:vml" Requires="v">
                <p:oleObj spid="_x0000_s7409" name="位图图像" r:id="rId13" imgW="12793861" imgH="5304762" progId="Paint.Picture">
                  <p:embed/>
                </p:oleObj>
              </mc:Choice>
              <mc:Fallback>
                <p:oleObj name="位图图像" r:id="rId13" imgW="12793861" imgH="5304762" progId="Paint.Picture">
                  <p:embed/>
                  <p:pic>
                    <p:nvPicPr>
                      <p:cNvPr id="21" name="Object 3">
                        <a:extLst>
                          <a:ext uri="{FF2B5EF4-FFF2-40B4-BE49-F238E27FC236}">
                            <a16:creationId xmlns:a16="http://schemas.microsoft.com/office/drawing/2014/main" id="{C94533A0-1B1B-4531-AFCF-B6E938C64A0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68938" y="4341821"/>
                        <a:ext cx="3797555" cy="1575749"/>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标题 1">
            <a:extLst>
              <a:ext uri="{FF2B5EF4-FFF2-40B4-BE49-F238E27FC236}">
                <a16:creationId xmlns:a16="http://schemas.microsoft.com/office/drawing/2014/main" id="{2FD044F4-08FD-4C96-A7A8-403FA9ABD0B5}"/>
              </a:ext>
            </a:extLst>
          </p:cNvPr>
          <p:cNvSpPr>
            <a:spLocks noGrp="1"/>
          </p:cNvSpPr>
          <p:nvPr>
            <p:ph type="title"/>
          </p:nvPr>
        </p:nvSpPr>
        <p:spPr/>
        <p:txBody>
          <a:bodyPr/>
          <a:lstStyle/>
          <a:p>
            <a:pPr eaLnBrk="1" hangingPunct="1"/>
            <a:r>
              <a:rPr lang="en-US" altLang="zh-CN"/>
              <a:t>1.3  </a:t>
            </a:r>
            <a:r>
              <a:rPr lang="zh-CN" altLang="en-US"/>
              <a:t>复指数信号与正弦信号</a:t>
            </a:r>
          </a:p>
        </p:txBody>
      </p:sp>
      <p:sp>
        <p:nvSpPr>
          <p:cNvPr id="8201" name="内容占位符 2">
            <a:extLst>
              <a:ext uri="{FF2B5EF4-FFF2-40B4-BE49-F238E27FC236}">
                <a16:creationId xmlns:a16="http://schemas.microsoft.com/office/drawing/2014/main" id="{7AC0720B-D4FA-4238-BE04-CEA39E35EDFF}"/>
              </a:ext>
            </a:extLst>
          </p:cNvPr>
          <p:cNvSpPr>
            <a:spLocks noGrp="1"/>
          </p:cNvSpPr>
          <p:nvPr>
            <p:ph idx="1"/>
          </p:nvPr>
        </p:nvSpPr>
        <p:spPr>
          <a:xfrm>
            <a:off x="755576" y="1285875"/>
            <a:ext cx="7931224" cy="461665"/>
          </a:xfrm>
        </p:spPr>
        <p:txBody>
          <a:bodyPr wrap="square">
            <a:spAutoFit/>
          </a:bodyPr>
          <a:lstStyle/>
          <a:p>
            <a:pPr marL="0" indent="0">
              <a:spcBef>
                <a:spcPts val="600"/>
              </a:spcBef>
              <a:buNone/>
            </a:pPr>
            <a:r>
              <a:rPr lang="en-US" altLang="zh-CN" sz="2400" b="0" dirty="0"/>
              <a:t>3. </a:t>
            </a:r>
            <a:r>
              <a:rPr lang="zh-CN" altLang="en-US" sz="2400" b="0" dirty="0"/>
              <a:t>一般复指数信号：</a:t>
            </a:r>
          </a:p>
        </p:txBody>
      </p:sp>
      <p:sp>
        <p:nvSpPr>
          <p:cNvPr id="4" name="灯片编号占位符 3">
            <a:extLst>
              <a:ext uri="{FF2B5EF4-FFF2-40B4-BE49-F238E27FC236}">
                <a16:creationId xmlns:a16="http://schemas.microsoft.com/office/drawing/2014/main" id="{73CDE33F-86FF-4451-875B-DBB21B0A92B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6C0C4BD-7E06-4D01-B6B5-2993F7047F6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8198" name="Object 6">
                <a:extLst>
                  <a:ext uri="{FF2B5EF4-FFF2-40B4-BE49-F238E27FC236}">
                    <a16:creationId xmlns:a16="http://schemas.microsoft.com/office/drawing/2014/main" id="{AD775E2B-20B7-4441-9434-14185F6A7A93}"/>
                  </a:ext>
                </a:extLst>
              </p:cNvPr>
              <p:cNvSpPr txBox="1"/>
              <p:nvPr/>
            </p:nvSpPr>
            <p:spPr bwMode="auto">
              <a:xfrm>
                <a:off x="1115616" y="2507206"/>
                <a:ext cx="7407275" cy="85600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𝑛</m:t>
                      </m:r>
                      <m:r>
                        <a:rPr lang="en-US" sz="2400" i="1">
                          <a:latin typeface="Cambria Math" panose="02040503050406030204" pitchFamily="18" charset="0"/>
                        </a:rPr>
                        <m:t>]=</m:t>
                      </m:r>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𝐶</m:t>
                          </m:r>
                        </m:e>
                      </m:d>
                      <m:sSup>
                        <m:sSupPr>
                          <m:ctrlPr>
                            <a:rPr lang="en-US" sz="2400" i="1">
                              <a:solidFill>
                                <a:schemeClr val="tx1"/>
                              </a:solidFill>
                              <a:latin typeface="Cambria Math" panose="02040503050406030204" pitchFamily="18" charset="0"/>
                            </a:rPr>
                          </m:ctrlPr>
                        </m:sSupPr>
                        <m:e>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𝛼</m:t>
                              </m:r>
                            </m:e>
                          </m:d>
                        </m:e>
                        <m:sup>
                          <m:r>
                            <a:rPr lang="en-US" sz="2400" i="1">
                              <a:solidFill>
                                <a:schemeClr val="tx1"/>
                              </a:solidFill>
                              <a:latin typeface="Cambria Math" panose="02040503050406030204" pitchFamily="18" charset="0"/>
                            </a:rPr>
                            <m:t>𝑛</m:t>
                          </m:r>
                        </m:sup>
                      </m:sSup>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m:rPr>
                              <m:sty m:val="p"/>
                            </m:rPr>
                            <a:rPr lang="en-US" sz="2400" i="0">
                              <a:solidFill>
                                <a:schemeClr val="tx1"/>
                              </a:solidFill>
                              <a:latin typeface="Cambria Math" panose="02040503050406030204" pitchFamily="18" charset="0"/>
                            </a:rPr>
                            <m:t>j</m:t>
                          </m:r>
                          <m:d>
                            <m:dPr>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r>
                                <a:rPr lang="en-US" sz="2400" i="1">
                                  <a:solidFill>
                                    <a:schemeClr val="tx1"/>
                                  </a:solidFill>
                                  <a:latin typeface="Cambria Math" panose="02040503050406030204" pitchFamily="18" charset="0"/>
                                </a:rPr>
                                <m:t>𝑛</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𝜃</m:t>
                              </m:r>
                            </m:e>
                          </m:d>
                        </m:sup>
                      </m:sSup>
                    </m:oMath>
                  </m:oMathPara>
                </a14:m>
                <a:endParaRPr lang="en-US" sz="2400" i="1" dirty="0">
                  <a:solidFill>
                    <a:schemeClr val="tx1"/>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2400" i="1">
                          <a:solidFill>
                            <a:schemeClr val="tx1"/>
                          </a:solidFill>
                          <a:latin typeface="Cambria Math" panose="02040503050406030204" pitchFamily="18" charset="0"/>
                        </a:rPr>
                        <m:t>=</m:t>
                      </m:r>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𝐶</m:t>
                          </m:r>
                        </m:e>
                      </m:d>
                      <m:r>
                        <a:rPr lang="en-US" sz="240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𝛼</m:t>
                              </m:r>
                            </m:e>
                          </m:d>
                        </m:e>
                        <m:sup>
                          <m:r>
                            <a:rPr lang="en-US" sz="2400" i="1">
                              <a:solidFill>
                                <a:schemeClr val="tx1"/>
                              </a:solidFill>
                              <a:latin typeface="Cambria Math" panose="02040503050406030204" pitchFamily="18" charset="0"/>
                            </a:rPr>
                            <m:t>𝑛</m:t>
                          </m:r>
                        </m:sup>
                      </m:sSup>
                      <m:r>
                        <a:rPr lang="en-US" sz="2400" i="1">
                          <a:solidFill>
                            <a:schemeClr val="tx1"/>
                          </a:solidFill>
                          <a:latin typeface="Cambria Math" panose="02040503050406030204" pitchFamily="18" charset="0"/>
                        </a:rPr>
                        <m:t>⋅[</m:t>
                      </m:r>
                      <m:func>
                        <m:funcPr>
                          <m:ctrlPr>
                            <a:rPr lang="en-US" sz="2400" i="1">
                              <a:solidFill>
                                <a:schemeClr val="tx1"/>
                              </a:solidFill>
                              <a:latin typeface="Cambria Math" panose="02040503050406030204" pitchFamily="18" charset="0"/>
                            </a:rPr>
                          </m:ctrlPr>
                        </m:funcPr>
                        <m:fName>
                          <m:r>
                            <m:rPr>
                              <m:sty m:val="p"/>
                            </m:rPr>
                            <a:rPr lang="en-US" sz="2400">
                              <a:solidFill>
                                <a:schemeClr val="tx1"/>
                              </a:solidFill>
                              <a:latin typeface="Cambria Math" panose="02040503050406030204" pitchFamily="18" charset="0"/>
                            </a:rPr>
                            <m:t>cos</m:t>
                          </m:r>
                        </m:fName>
                        <m:e>
                          <m:r>
                            <a:rPr lang="en-US" sz="2400" i="1">
                              <a:solidFill>
                                <a:schemeClr val="tx1"/>
                              </a:solidFill>
                              <a:latin typeface="Cambria Math" panose="02040503050406030204" pitchFamily="18" charset="0"/>
                            </a:rPr>
                            <m:t>(</m:t>
                          </m:r>
                        </m:e>
                      </m:func>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r>
                        <a:rPr lang="en-US" sz="2400" i="1">
                          <a:solidFill>
                            <a:schemeClr val="tx1"/>
                          </a:solidFill>
                          <a:latin typeface="Cambria Math" panose="02040503050406030204" pitchFamily="18" charset="0"/>
                        </a:rPr>
                        <m:t>𝑛</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𝜃</m:t>
                      </m:r>
                      <m:r>
                        <a:rPr lang="en-US" sz="2400" i="1">
                          <a:solidFill>
                            <a:schemeClr val="tx1"/>
                          </a:solidFill>
                          <a:latin typeface="Cambria Math" panose="02040503050406030204" pitchFamily="18" charset="0"/>
                        </a:rPr>
                        <m:t>)+</m:t>
                      </m:r>
                      <m:r>
                        <m:rPr>
                          <m:sty m:val="p"/>
                        </m:rPr>
                        <a:rPr lang="en-US" sz="2400" i="0">
                          <a:solidFill>
                            <a:schemeClr val="tx1"/>
                          </a:solidFill>
                          <a:latin typeface="Cambria Math" panose="02040503050406030204" pitchFamily="18" charset="0"/>
                        </a:rPr>
                        <m:t>j</m:t>
                      </m:r>
                      <m:func>
                        <m:funcPr>
                          <m:ctrlPr>
                            <a:rPr lang="en-US" sz="2400" i="1">
                              <a:solidFill>
                                <a:schemeClr val="tx1"/>
                              </a:solidFill>
                              <a:latin typeface="Cambria Math" panose="02040503050406030204" pitchFamily="18" charset="0"/>
                            </a:rPr>
                          </m:ctrlPr>
                        </m:funcPr>
                        <m:fName>
                          <m:r>
                            <m:rPr>
                              <m:sty m:val="p"/>
                            </m:rPr>
                            <a:rPr lang="en-US" sz="2400">
                              <a:solidFill>
                                <a:schemeClr val="tx1"/>
                              </a:solidFill>
                              <a:latin typeface="Cambria Math" panose="02040503050406030204" pitchFamily="18" charset="0"/>
                            </a:rPr>
                            <m:t>sin</m:t>
                          </m:r>
                        </m:fName>
                        <m:e>
                          <m:r>
                            <a:rPr lang="en-US" sz="2400" i="1">
                              <a:solidFill>
                                <a:schemeClr val="tx1"/>
                              </a:solidFill>
                              <a:latin typeface="Cambria Math" panose="02040503050406030204" pitchFamily="18" charset="0"/>
                            </a:rPr>
                            <m:t>(</m:t>
                          </m:r>
                        </m:e>
                      </m:func>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r>
                        <a:rPr lang="en-US" sz="2400" i="1">
                          <a:solidFill>
                            <a:schemeClr val="tx1"/>
                          </a:solidFill>
                          <a:latin typeface="Cambria Math" panose="02040503050406030204" pitchFamily="18" charset="0"/>
                        </a:rPr>
                        <m:t>𝑛</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𝜃</m:t>
                      </m:r>
                      <m:r>
                        <a:rPr lang="en-US" sz="2400" i="1">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8198" name="Object 6">
                <a:extLst>
                  <a:ext uri="{FF2B5EF4-FFF2-40B4-BE49-F238E27FC236}">
                    <a16:creationId xmlns:a16="http://schemas.microsoft.com/office/drawing/2014/main" id="{AD775E2B-20B7-4441-9434-14185F6A7A93}"/>
                  </a:ext>
                </a:extLst>
              </p:cNvPr>
              <p:cNvSpPr txBox="1">
                <a:spLocks noRot="1" noChangeAspect="1" noMove="1" noResize="1" noEditPoints="1" noAdjustHandles="1" noChangeArrowheads="1" noChangeShapeType="1" noTextEdit="1"/>
              </p:cNvSpPr>
              <p:nvPr/>
            </p:nvSpPr>
            <p:spPr bwMode="auto">
              <a:xfrm>
                <a:off x="1115616" y="2507206"/>
                <a:ext cx="7407275" cy="856004"/>
              </a:xfrm>
              <a:prstGeom prst="rect">
                <a:avLst/>
              </a:prstGeom>
              <a:blipFill>
                <a:blip r:embed="rId2"/>
                <a:stretch>
                  <a:fillRect b="-992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03" name="Text Box 11">
                <a:extLst>
                  <a:ext uri="{FF2B5EF4-FFF2-40B4-BE49-F238E27FC236}">
                    <a16:creationId xmlns:a16="http://schemas.microsoft.com/office/drawing/2014/main" id="{16B6CAC0-6C53-4638-88A1-8E8C9DA6904D}"/>
                  </a:ext>
                </a:extLst>
              </p:cNvPr>
              <p:cNvSpPr txBox="1">
                <a:spLocks noChangeArrowheads="1"/>
              </p:cNvSpPr>
              <p:nvPr/>
            </p:nvSpPr>
            <p:spPr bwMode="auto">
              <a:xfrm>
                <a:off x="1115616" y="1888429"/>
                <a:ext cx="6381555" cy="4778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defRPr/>
                </a:pPr>
                <a14:m>
                  <m:oMath xmlns:m="http://schemas.openxmlformats.org/officeDocument/2006/math">
                    <m:r>
                      <a:rPr lang="en-US" sz="2400" i="1" smtClean="0">
                        <a:solidFill>
                          <a:schemeClr val="tx1"/>
                        </a:solidFill>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𝑛</m:t>
                    </m:r>
                    <m:r>
                      <a:rPr lang="en-US" sz="2400" i="1">
                        <a:latin typeface="Cambria Math" panose="02040503050406030204" pitchFamily="18" charset="0"/>
                      </a:rPr>
                      <m:t>]=</m:t>
                    </m:r>
                    <m:r>
                      <a:rPr lang="en-US" sz="2400" i="1" smtClean="0">
                        <a:solidFill>
                          <a:schemeClr val="tx1"/>
                        </a:solidFill>
                        <a:latin typeface="Cambria Math" panose="02040503050406030204" pitchFamily="18" charset="0"/>
                      </a:rPr>
                      <m:t>𝐶</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𝛼</m:t>
                        </m:r>
                      </m:e>
                      <m:sup>
                        <m:r>
                          <a:rPr lang="en-US" sz="2400" i="1">
                            <a:solidFill>
                              <a:schemeClr val="tx1"/>
                            </a:solidFill>
                            <a:latin typeface="Cambria Math" panose="02040503050406030204" pitchFamily="18" charset="0"/>
                          </a:rPr>
                          <m:t>𝑛</m:t>
                        </m:r>
                      </m:sup>
                    </m:sSup>
                  </m:oMath>
                </a14:m>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，令</a:t>
                </a:r>
                <a14:m>
                  <m:oMath xmlns:m="http://schemas.openxmlformats.org/officeDocument/2006/math">
                    <m:r>
                      <a:rPr lang="en-US" sz="2400" i="1">
                        <a:solidFill>
                          <a:schemeClr val="tx1"/>
                        </a:solidFill>
                        <a:latin typeface="Cambria Math" panose="02040503050406030204" pitchFamily="18" charset="0"/>
                      </a:rPr>
                      <m:t>𝐶</m:t>
                    </m:r>
                    <m:r>
                      <a:rPr lang="en-US" sz="2400" i="1">
                        <a:solidFill>
                          <a:schemeClr val="tx1"/>
                        </a:solidFill>
                        <a:latin typeface="Cambria Math" panose="02040503050406030204" pitchFamily="18" charset="0"/>
                      </a:rPr>
                      <m:t>=</m:t>
                    </m:r>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𝐶</m:t>
                        </m:r>
                      </m:e>
                    </m:d>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m:rPr>
                            <m:sty m:val="p"/>
                          </m:rPr>
                          <a:rPr lang="en-US" sz="2400" i="0">
                            <a:solidFill>
                              <a:schemeClr val="tx1"/>
                            </a:solidFill>
                            <a:latin typeface="Cambria Math" panose="02040503050406030204" pitchFamily="18" charset="0"/>
                          </a:rPr>
                          <m:t>j</m:t>
                        </m:r>
                        <m:r>
                          <a:rPr lang="en-US" sz="2400" i="1">
                            <a:solidFill>
                              <a:schemeClr val="tx1"/>
                            </a:solidFill>
                            <a:latin typeface="Cambria Math" panose="02040503050406030204" pitchFamily="18" charset="0"/>
                          </a:rPr>
                          <m:t>𝜃</m:t>
                        </m:r>
                      </m:sup>
                    </m:sSup>
                  </m:oMath>
                </a14:m>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a:t>
                </a:r>
                <a:r>
                  <a:rPr lang="en-US" sz="2400" dirty="0">
                    <a:solidFill>
                      <a:schemeClr val="tx1"/>
                    </a:solidFill>
                  </a:rPr>
                  <a:t> </a:t>
                </a:r>
                <a14:m>
                  <m:oMath xmlns:m="http://schemas.openxmlformats.org/officeDocument/2006/math">
                    <m:r>
                      <a:rPr lang="en-US" sz="2400" i="1">
                        <a:solidFill>
                          <a:schemeClr val="tx1"/>
                        </a:solidFill>
                        <a:latin typeface="Cambria Math" panose="02040503050406030204" pitchFamily="18" charset="0"/>
                      </a:rPr>
                      <m:t>𝛼</m:t>
                    </m:r>
                    <m:r>
                      <a:rPr lang="en-US" sz="2400" i="1">
                        <a:solidFill>
                          <a:schemeClr val="tx1"/>
                        </a:solidFill>
                        <a:latin typeface="Cambria Math" panose="02040503050406030204" pitchFamily="18" charset="0"/>
                      </a:rPr>
                      <m:t>=</m:t>
                    </m:r>
                    <m:d>
                      <m:dPr>
                        <m:begChr m:val="|"/>
                        <m:end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𝛼</m:t>
                        </m:r>
                      </m:e>
                    </m:d>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m:rPr>
                            <m:sty m:val="p"/>
                          </m:rPr>
                          <a:rPr lang="en-US" sz="2400" i="0">
                            <a:solidFill>
                              <a:schemeClr val="tx1"/>
                            </a:solidFill>
                            <a:latin typeface="Cambria Math" panose="02040503050406030204" pitchFamily="18" charset="0"/>
                          </a:rPr>
                          <m:t>j</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𝜔</m:t>
                            </m:r>
                          </m:e>
                          <m:sub>
                            <m:r>
                              <a:rPr lang="en-US" sz="2400" i="1">
                                <a:solidFill>
                                  <a:schemeClr val="tx1"/>
                                </a:solidFill>
                                <a:latin typeface="Cambria Math" panose="02040503050406030204" pitchFamily="18" charset="0"/>
                              </a:rPr>
                              <m:t>0</m:t>
                            </m:r>
                          </m:sub>
                        </m:sSub>
                      </m:sup>
                    </m:sSup>
                  </m:oMath>
                </a14:m>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a:t>
                </a:r>
                <a:r>
                  <a:rPr lang="zh-CN" altLang="en-US" sz="2400" b="1" dirty="0">
                    <a:solidFill>
                      <a:schemeClr val="tx1"/>
                    </a:solidFill>
                    <a:latin typeface="华文楷体" panose="02010600040101010101" pitchFamily="2" charset="-122"/>
                    <a:ea typeface="华文楷体" panose="02010600040101010101" pitchFamily="2" charset="-122"/>
                  </a:rPr>
                  <a:t>则</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endParaRPr>
              </a:p>
            </p:txBody>
          </p:sp>
        </mc:Choice>
        <mc:Fallback xmlns="">
          <p:sp>
            <p:nvSpPr>
              <p:cNvPr id="8203" name="Text Box 11">
                <a:extLst>
                  <a:ext uri="{FF2B5EF4-FFF2-40B4-BE49-F238E27FC236}">
                    <a16:creationId xmlns:a16="http://schemas.microsoft.com/office/drawing/2014/main" id="{16B6CAC0-6C53-4638-88A1-8E8C9DA6904D}"/>
                  </a:ext>
                </a:extLst>
              </p:cNvPr>
              <p:cNvSpPr txBox="1">
                <a:spLocks noRot="1" noChangeAspect="1" noMove="1" noResize="1" noEditPoints="1" noAdjustHandles="1" noChangeArrowheads="1" noChangeShapeType="1" noTextEdit="1"/>
              </p:cNvSpPr>
              <p:nvPr/>
            </p:nvSpPr>
            <p:spPr bwMode="auto">
              <a:xfrm>
                <a:off x="1115616" y="1888429"/>
                <a:ext cx="6381555" cy="477888"/>
              </a:xfrm>
              <a:prstGeom prst="rect">
                <a:avLst/>
              </a:prstGeom>
              <a:blipFill>
                <a:blip r:embed="rId3"/>
                <a:stretch>
                  <a:fillRect t="-6410" b="-2948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8205" name="Rectangle 13">
            <a:extLst>
              <a:ext uri="{FF2B5EF4-FFF2-40B4-BE49-F238E27FC236}">
                <a16:creationId xmlns:a16="http://schemas.microsoft.com/office/drawing/2014/main" id="{23A821FE-AA31-4336-AF33-4AFC731D3738}"/>
              </a:ext>
            </a:extLst>
          </p:cNvPr>
          <p:cNvSpPr>
            <a:spLocks noChangeArrowheads="1"/>
          </p:cNvSpPr>
          <p:nvPr/>
        </p:nvSpPr>
        <p:spPr bwMode="auto">
          <a:xfrm>
            <a:off x="1111314" y="3363210"/>
            <a:ext cx="7575486" cy="538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30000"/>
              </a:lnSpc>
              <a:spcBef>
                <a:spcPct val="5000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mn-cs"/>
              </a:rPr>
              <a:t>其实部与虚部都是</a:t>
            </a:r>
            <a:r>
              <a:rPr kumimoji="0" lang="zh-CN" altLang="en-US" sz="240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幅度按实指数规律变化的正弦序列</a:t>
            </a:r>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mn-cs"/>
              </a:rPr>
              <a:t>。</a:t>
            </a:r>
          </a:p>
        </p:txBody>
      </p:sp>
      <p:pic>
        <p:nvPicPr>
          <p:cNvPr id="14" name="图片 13">
            <a:extLst>
              <a:ext uri="{FF2B5EF4-FFF2-40B4-BE49-F238E27FC236}">
                <a16:creationId xmlns:a16="http://schemas.microsoft.com/office/drawing/2014/main" id="{79DB1795-125C-4F80-B752-576D535B54DA}"/>
              </a:ext>
            </a:extLst>
          </p:cNvPr>
          <p:cNvPicPr>
            <a:picLocks noChangeAspect="1"/>
          </p:cNvPicPr>
          <p:nvPr/>
        </p:nvPicPr>
        <p:blipFill>
          <a:blip r:embed="rId4"/>
          <a:stretch>
            <a:fillRect/>
          </a:stretch>
        </p:blipFill>
        <p:spPr>
          <a:xfrm>
            <a:off x="1111314" y="4400302"/>
            <a:ext cx="3526155" cy="1828800"/>
          </a:xfrm>
          <a:prstGeom prst="rect">
            <a:avLst/>
          </a:prstGeom>
        </p:spPr>
      </p:pic>
      <mc:AlternateContent xmlns:mc="http://schemas.openxmlformats.org/markup-compatibility/2006" xmlns:a14="http://schemas.microsoft.com/office/drawing/2010/main">
        <mc:Choice Requires="a14">
          <p:sp>
            <p:nvSpPr>
              <p:cNvPr id="26" name="Object 4">
                <a:extLst>
                  <a:ext uri="{FF2B5EF4-FFF2-40B4-BE49-F238E27FC236}">
                    <a16:creationId xmlns:a16="http://schemas.microsoft.com/office/drawing/2014/main" id="{E5F1E4FE-ADF1-48C7-9747-7C773EE409F5}"/>
                  </a:ext>
                </a:extLst>
              </p:cNvPr>
              <p:cNvSpPr txBox="1"/>
              <p:nvPr/>
            </p:nvSpPr>
            <p:spPr bwMode="auto">
              <a:xfrm>
                <a:off x="1331640" y="4359327"/>
                <a:ext cx="1152128" cy="46274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𝛼</m:t>
                          </m:r>
                        </m:e>
                      </m:d>
                      <m:r>
                        <a:rPr lang="en-US" sz="2400" i="1">
                          <a:solidFill>
                            <a:srgbClr val="000000"/>
                          </a:solidFill>
                          <a:latin typeface="Cambria Math" panose="02040503050406030204" pitchFamily="18" charset="0"/>
                        </a:rPr>
                        <m:t>&gt;1</m:t>
                      </m:r>
                    </m:oMath>
                  </m:oMathPara>
                </a14:m>
                <a:endParaRPr lang="en-US" sz="2400" dirty="0"/>
              </a:p>
            </p:txBody>
          </p:sp>
        </mc:Choice>
        <mc:Fallback xmlns="">
          <p:sp>
            <p:nvSpPr>
              <p:cNvPr id="26" name="Object 4">
                <a:extLst>
                  <a:ext uri="{FF2B5EF4-FFF2-40B4-BE49-F238E27FC236}">
                    <a16:creationId xmlns:a16="http://schemas.microsoft.com/office/drawing/2014/main" id="{E5F1E4FE-ADF1-48C7-9747-7C773EE409F5}"/>
                  </a:ext>
                </a:extLst>
              </p:cNvPr>
              <p:cNvSpPr txBox="1">
                <a:spLocks noRot="1" noChangeAspect="1" noMove="1" noResize="1" noEditPoints="1" noAdjustHandles="1" noChangeArrowheads="1" noChangeShapeType="1" noTextEdit="1"/>
              </p:cNvSpPr>
              <p:nvPr/>
            </p:nvSpPr>
            <p:spPr bwMode="auto">
              <a:xfrm>
                <a:off x="1331640" y="4359327"/>
                <a:ext cx="1152128" cy="462744"/>
              </a:xfrm>
              <a:prstGeom prst="rect">
                <a:avLst/>
              </a:prstGeom>
              <a:blipFill>
                <a:blip r:embed="rId5"/>
                <a:stretch>
                  <a:fillRect/>
                </a:stretch>
              </a:blipFill>
              <a:ln>
                <a:noFill/>
              </a:ln>
              <a:effectLst/>
            </p:spPr>
            <p:txBody>
              <a:bodyPr/>
              <a:lstStyle/>
              <a:p>
                <a:r>
                  <a:rPr lang="en-US">
                    <a:noFill/>
                  </a:rPr>
                  <a:t> </a:t>
                </a:r>
              </a:p>
            </p:txBody>
          </p:sp>
        </mc:Fallback>
      </mc:AlternateContent>
      <p:pic>
        <p:nvPicPr>
          <p:cNvPr id="16" name="图片 15">
            <a:extLst>
              <a:ext uri="{FF2B5EF4-FFF2-40B4-BE49-F238E27FC236}">
                <a16:creationId xmlns:a16="http://schemas.microsoft.com/office/drawing/2014/main" id="{1AB8AACD-5E84-40E0-9B09-AAAA6A5C514A}"/>
              </a:ext>
            </a:extLst>
          </p:cNvPr>
          <p:cNvPicPr>
            <a:picLocks noChangeAspect="1"/>
          </p:cNvPicPr>
          <p:nvPr/>
        </p:nvPicPr>
        <p:blipFill>
          <a:blip r:embed="rId6"/>
          <a:stretch>
            <a:fillRect/>
          </a:stretch>
        </p:blipFill>
        <p:spPr>
          <a:xfrm>
            <a:off x="4899057" y="4451737"/>
            <a:ext cx="3543300" cy="1725930"/>
          </a:xfrm>
          <a:prstGeom prst="rect">
            <a:avLst/>
          </a:prstGeom>
        </p:spPr>
      </p:pic>
      <mc:AlternateContent xmlns:mc="http://schemas.openxmlformats.org/markup-compatibility/2006" xmlns:a14="http://schemas.microsoft.com/office/drawing/2010/main">
        <mc:Choice Requires="a14">
          <p:sp>
            <p:nvSpPr>
              <p:cNvPr id="31" name="Object 5">
                <a:extLst>
                  <a:ext uri="{FF2B5EF4-FFF2-40B4-BE49-F238E27FC236}">
                    <a16:creationId xmlns:a16="http://schemas.microsoft.com/office/drawing/2014/main" id="{6F6AACAD-9564-4179-8598-4477E79D1A37}"/>
                  </a:ext>
                </a:extLst>
              </p:cNvPr>
              <p:cNvSpPr txBox="1"/>
              <p:nvPr/>
            </p:nvSpPr>
            <p:spPr bwMode="auto">
              <a:xfrm>
                <a:off x="6804248" y="4342767"/>
                <a:ext cx="1170309" cy="49586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𝛼</m:t>
                          </m:r>
                        </m:e>
                      </m:d>
                      <m:r>
                        <a:rPr lang="en-US" sz="2400" i="1">
                          <a:solidFill>
                            <a:srgbClr val="000000"/>
                          </a:solidFill>
                          <a:latin typeface="Cambria Math" panose="02040503050406030204" pitchFamily="18" charset="0"/>
                        </a:rPr>
                        <m:t>&lt;1</m:t>
                      </m:r>
                    </m:oMath>
                  </m:oMathPara>
                </a14:m>
                <a:endParaRPr lang="en-US" sz="2400" dirty="0"/>
              </a:p>
            </p:txBody>
          </p:sp>
        </mc:Choice>
        <mc:Fallback xmlns="">
          <p:sp>
            <p:nvSpPr>
              <p:cNvPr id="31" name="Object 5">
                <a:extLst>
                  <a:ext uri="{FF2B5EF4-FFF2-40B4-BE49-F238E27FC236}">
                    <a16:creationId xmlns:a16="http://schemas.microsoft.com/office/drawing/2014/main" id="{6F6AACAD-9564-4179-8598-4477E79D1A37}"/>
                  </a:ext>
                </a:extLst>
              </p:cNvPr>
              <p:cNvSpPr txBox="1">
                <a:spLocks noRot="1" noChangeAspect="1" noMove="1" noResize="1" noEditPoints="1" noAdjustHandles="1" noChangeArrowheads="1" noChangeShapeType="1" noTextEdit="1"/>
              </p:cNvSpPr>
              <p:nvPr/>
            </p:nvSpPr>
            <p:spPr bwMode="auto">
              <a:xfrm>
                <a:off x="6804248" y="4342767"/>
                <a:ext cx="1170309" cy="495864"/>
              </a:xfrm>
              <a:prstGeom prst="rect">
                <a:avLst/>
              </a:prstGeom>
              <a:blipFill>
                <a:blip r:embed="rId7"/>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1" name="标题 1">
            <a:extLst>
              <a:ext uri="{FF2B5EF4-FFF2-40B4-BE49-F238E27FC236}">
                <a16:creationId xmlns:a16="http://schemas.microsoft.com/office/drawing/2014/main" id="{3ABC40CC-F8D2-4A76-B3F7-B087B2801204}"/>
              </a:ext>
            </a:extLst>
          </p:cNvPr>
          <p:cNvSpPr>
            <a:spLocks noGrp="1"/>
          </p:cNvSpPr>
          <p:nvPr>
            <p:ph type="title"/>
          </p:nvPr>
        </p:nvSpPr>
        <p:spPr/>
        <p:txBody>
          <a:bodyPr/>
          <a:lstStyle/>
          <a:p>
            <a:pPr eaLnBrk="1" hangingPunct="1"/>
            <a:r>
              <a:rPr lang="en-US" altLang="zh-CN"/>
              <a:t>1.3  </a:t>
            </a:r>
            <a:r>
              <a:rPr lang="zh-CN" altLang="en-US"/>
              <a:t>复指数信号与正弦信号</a:t>
            </a:r>
          </a:p>
        </p:txBody>
      </p:sp>
      <mc:AlternateContent xmlns:mc="http://schemas.openxmlformats.org/markup-compatibility/2006" xmlns:a14="http://schemas.microsoft.com/office/drawing/2010/main">
        <mc:Choice Requires="a14">
          <p:sp>
            <p:nvSpPr>
              <p:cNvPr id="10252" name="内容占位符 2">
                <a:extLst>
                  <a:ext uri="{FF2B5EF4-FFF2-40B4-BE49-F238E27FC236}">
                    <a16:creationId xmlns:a16="http://schemas.microsoft.com/office/drawing/2014/main" id="{5DC0CEBA-30FC-47C0-A5B4-FD4E1F777AAD}"/>
                  </a:ext>
                </a:extLst>
              </p:cNvPr>
              <p:cNvSpPr>
                <a:spLocks noGrp="1"/>
              </p:cNvSpPr>
              <p:nvPr>
                <p:ph idx="1"/>
              </p:nvPr>
            </p:nvSpPr>
            <p:spPr>
              <a:xfrm>
                <a:off x="457200" y="1285875"/>
                <a:ext cx="8229600" cy="1350691"/>
              </a:xfrm>
            </p:spPr>
            <p:txBody>
              <a:bodyPr>
                <a:spAutoFit/>
              </a:bodyPr>
              <a:lstStyle/>
              <a:p>
                <a:pPr algn="just" eaLnBrk="1" hangingPunct="1"/>
                <a:r>
                  <a:rPr lang="zh-CN" altLang="en-US" sz="2400" b="0" dirty="0"/>
                  <a:t>三</a:t>
                </a:r>
                <a:r>
                  <a:rPr lang="en-US" altLang="zh-CN" sz="2400" b="0" dirty="0"/>
                  <a:t>. </a:t>
                </a:r>
                <a:r>
                  <a:rPr lang="zh-CN" altLang="en-US" sz="2800" b="0" dirty="0"/>
                  <a:t>离散时间复指数序列的周期性</a:t>
                </a:r>
                <a:endParaRPr lang="en-US" altLang="zh-CN" sz="2400" b="0" dirty="0"/>
              </a:p>
              <a:p>
                <a:pPr lvl="1" algn="just" eaLnBrk="1" hangingPunct="1"/>
                <a:r>
                  <a:rPr lang="zh-CN" altLang="en-US" sz="2400" b="0" dirty="0"/>
                  <a:t>离散时间复指数序列</a:t>
                </a:r>
                <a14:m>
                  <m:oMath xmlns:m="http://schemas.openxmlformats.org/officeDocument/2006/math">
                    <m:r>
                      <a:rPr lang="en-US" sz="2400" i="1" smtClean="0">
                        <a:solidFill>
                          <a:srgbClr val="000000"/>
                        </a:solidFill>
                        <a:latin typeface="Cambria Math" panose="02040503050406030204" pitchFamily="18" charset="0"/>
                      </a:rPr>
                      <m:t>𝑥</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m:t>
                    </m:r>
                    <m:sSup>
                      <m:sSupPr>
                        <m:ctrlPr>
                          <a:rPr lang="en-US" sz="2400" i="1" smtClean="0">
                            <a:solidFill>
                              <a:srgbClr val="FF0000"/>
                            </a:solidFill>
                            <a:latin typeface="Cambria Math" panose="02040503050406030204" pitchFamily="18" charset="0"/>
                          </a:rPr>
                        </m:ctrlPr>
                      </m:sSupPr>
                      <m:e>
                        <m:r>
                          <m:rPr>
                            <m:sty m:val="p"/>
                          </m:rPr>
                          <a:rPr lang="en-US" sz="2400" i="0">
                            <a:solidFill>
                              <a:srgbClr val="FF0000"/>
                            </a:solidFill>
                            <a:latin typeface="Cambria Math" panose="02040503050406030204" pitchFamily="18" charset="0"/>
                          </a:rPr>
                          <m:t>e</m:t>
                        </m:r>
                      </m:e>
                      <m:sup>
                        <m:r>
                          <m:rPr>
                            <m:sty m:val="p"/>
                          </m:rPr>
                          <a:rPr lang="en-US" sz="2400" i="0">
                            <a:solidFill>
                              <a:srgbClr val="FF0000"/>
                            </a:solidFill>
                            <a:latin typeface="Cambria Math" panose="02040503050406030204" pitchFamily="18" charset="0"/>
                          </a:rPr>
                          <m:t>j</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𝜔</m:t>
                            </m:r>
                          </m:e>
                          <m:sub>
                            <m:r>
                              <a:rPr lang="en-US" sz="2400" i="1">
                                <a:solidFill>
                                  <a:srgbClr val="FF0000"/>
                                </a:solidFill>
                                <a:latin typeface="Cambria Math" panose="02040503050406030204" pitchFamily="18" charset="0"/>
                              </a:rPr>
                              <m:t>0</m:t>
                            </m:r>
                          </m:sub>
                        </m:sSub>
                        <m:r>
                          <a:rPr lang="en-US" sz="2400" i="1">
                            <a:solidFill>
                              <a:srgbClr val="FF0000"/>
                            </a:solidFill>
                            <a:latin typeface="Cambria Math" panose="02040503050406030204" pitchFamily="18" charset="0"/>
                          </a:rPr>
                          <m:t>𝑛</m:t>
                        </m:r>
                      </m:sup>
                    </m:sSup>
                  </m:oMath>
                </a14:m>
                <a:r>
                  <a:rPr lang="zh-CN" altLang="en-US" sz="2400" b="0" dirty="0">
                    <a:solidFill>
                      <a:srgbClr val="FF0000"/>
                    </a:solidFill>
                  </a:rPr>
                  <a:t>不一定是周期性</a:t>
                </a:r>
                <a:r>
                  <a:rPr lang="zh-CN" altLang="en-US" sz="2400" b="0" dirty="0"/>
                  <a:t>的，要具有周期性，必须具备一定条件。</a:t>
                </a:r>
              </a:p>
            </p:txBody>
          </p:sp>
        </mc:Choice>
        <mc:Fallback xmlns="">
          <p:sp>
            <p:nvSpPr>
              <p:cNvPr id="10252" name="内容占位符 2">
                <a:extLst>
                  <a:ext uri="{FF2B5EF4-FFF2-40B4-BE49-F238E27FC236}">
                    <a16:creationId xmlns:a16="http://schemas.microsoft.com/office/drawing/2014/main" id="{5DC0CEBA-30FC-47C0-A5B4-FD4E1F777AAD}"/>
                  </a:ext>
                </a:extLst>
              </p:cNvPr>
              <p:cNvSpPr>
                <a:spLocks noGrp="1" noRot="1" noChangeAspect="1" noMove="1" noResize="1" noEditPoints="1" noAdjustHandles="1" noChangeArrowheads="1" noChangeShapeType="1" noTextEdit="1"/>
              </p:cNvSpPr>
              <p:nvPr>
                <p:ph idx="1"/>
              </p:nvPr>
            </p:nvSpPr>
            <p:spPr>
              <a:xfrm>
                <a:off x="457200" y="1285875"/>
                <a:ext cx="8229600" cy="1350691"/>
              </a:xfrm>
              <a:blipFill>
                <a:blip r:embed="rId3"/>
                <a:stretch>
                  <a:fillRect l="-963" t="-4955" r="-1111" b="-9459"/>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F8A650FC-A798-4D2C-A25D-148B72FFF48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353CD04-6B29-4BA7-8C94-5C394F6A7206}"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244" name="Object 4">
                <a:extLst>
                  <a:ext uri="{FF2B5EF4-FFF2-40B4-BE49-F238E27FC236}">
                    <a16:creationId xmlns:a16="http://schemas.microsoft.com/office/drawing/2014/main" id="{59D3685F-DCE8-41F5-8793-699B9666FCDC}"/>
                  </a:ext>
                </a:extLst>
              </p:cNvPr>
              <p:cNvSpPr txBox="1"/>
              <p:nvPr/>
            </p:nvSpPr>
            <p:spPr bwMode="auto">
              <a:xfrm>
                <a:off x="1354424" y="3429000"/>
                <a:ext cx="6783213" cy="596900"/>
              </a:xfrm>
              <a:prstGeom prst="rect">
                <a:avLst/>
              </a:prstGeom>
              <a:noFill/>
              <a:ln>
                <a:noFill/>
              </a:ln>
              <a:effectLst/>
            </p:spPr>
            <p:txBody>
              <a:bodyPr>
                <a:noAutofit/>
              </a:bodyPr>
              <a:lstStyle/>
              <a:p>
                <a:pPr algn="just"/>
                <a14:m>
                  <m:oMath xmlns:m="http://schemas.openxmlformats.org/officeDocument/2006/math">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m:rPr>
                            <m:sty m:val="p"/>
                          </m:rPr>
                          <a:rPr lang="en-US" sz="2400" i="0">
                            <a:solidFill>
                              <a:srgbClr val="000000"/>
                            </a:solidFill>
                            <a:latin typeface="Cambria Math" panose="02040503050406030204" pitchFamily="18" charset="0"/>
                          </a:rPr>
                          <m:t>j</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m:t>
                        </m:r>
                      </m:sup>
                    </m:sSup>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𝑛</m:t>
                        </m:r>
                      </m:sup>
                    </m:sSup>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𝑁</m:t>
                        </m:r>
                      </m:sup>
                    </m:sSup>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𝑛</m:t>
                        </m:r>
                      </m:sup>
                    </m:sSup>
                  </m:oMath>
                </a14:m>
                <a:r>
                  <a:rPr lang="zh-CN" altLang="en-US" sz="2400" dirty="0"/>
                  <a:t>，</a:t>
                </a:r>
                <a:r>
                  <a:rPr lang="en-US" sz="2400" dirty="0">
                    <a:solidFill>
                      <a:srgbClr val="000000"/>
                    </a:solidFill>
                  </a:rPr>
                  <a:t> </a:t>
                </a:r>
                <a14:m>
                  <m:oMath xmlns:m="http://schemas.openxmlformats.org/officeDocument/2006/math">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𝑁</m:t>
                        </m:r>
                      </m:sup>
                    </m:sSup>
                    <m:r>
                      <a:rPr lang="en-US" sz="2400" i="1">
                        <a:solidFill>
                          <a:srgbClr val="000000"/>
                        </a:solidFill>
                        <a:latin typeface="Cambria Math" panose="02040503050406030204" pitchFamily="18" charset="0"/>
                      </a:rPr>
                      <m:t>=1</m:t>
                    </m:r>
                  </m:oMath>
                </a14:m>
                <a:endParaRPr lang="en-US" sz="2400" dirty="0"/>
              </a:p>
            </p:txBody>
          </p:sp>
        </mc:Choice>
        <mc:Fallback xmlns="">
          <p:sp>
            <p:nvSpPr>
              <p:cNvPr id="10244" name="Object 4">
                <a:extLst>
                  <a:ext uri="{FF2B5EF4-FFF2-40B4-BE49-F238E27FC236}">
                    <a16:creationId xmlns:a16="http://schemas.microsoft.com/office/drawing/2014/main" id="{59D3685F-DCE8-41F5-8793-699B9666FCDC}"/>
                  </a:ext>
                </a:extLst>
              </p:cNvPr>
              <p:cNvSpPr txBox="1">
                <a:spLocks noRot="1" noChangeAspect="1" noMove="1" noResize="1" noEditPoints="1" noAdjustHandles="1" noChangeArrowheads="1" noChangeShapeType="1" noTextEdit="1"/>
              </p:cNvSpPr>
              <p:nvPr/>
            </p:nvSpPr>
            <p:spPr bwMode="auto">
              <a:xfrm>
                <a:off x="1354424" y="3429000"/>
                <a:ext cx="6783213" cy="596900"/>
              </a:xfrm>
              <a:prstGeom prst="rect">
                <a:avLst/>
              </a:prstGeom>
              <a:blipFill>
                <a:blip r:embed="rId4"/>
                <a:stretch>
                  <a:fillRect t="-927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4" name="Text Box 7">
                <a:extLst>
                  <a:ext uri="{FF2B5EF4-FFF2-40B4-BE49-F238E27FC236}">
                    <a16:creationId xmlns:a16="http://schemas.microsoft.com/office/drawing/2014/main" id="{27CB85DF-3C0E-42D1-AA20-0656B2C76BD9}"/>
                  </a:ext>
                </a:extLst>
              </p:cNvPr>
              <p:cNvSpPr txBox="1">
                <a:spLocks noChangeArrowheads="1"/>
              </p:cNvSpPr>
              <p:nvPr/>
            </p:nvSpPr>
            <p:spPr bwMode="auto">
              <a:xfrm>
                <a:off x="1195659" y="4069905"/>
                <a:ext cx="6101991" cy="6626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just">
                  <a:defRPr/>
                </a:pPr>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即</a:t>
                </a:r>
                <a14:m>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b="0" i="1">
                            <a:solidFill>
                              <a:schemeClr val="tx1"/>
                            </a:solidFill>
                            <a:latin typeface="Cambria Math" panose="02040503050406030204" pitchFamily="18" charset="0"/>
                          </a:rPr>
                          <m:t>𝜔</m:t>
                        </m:r>
                      </m:e>
                      <m:sub>
                        <m:r>
                          <a:rPr lang="en-US" sz="2400" b="0" i="1">
                            <a:solidFill>
                              <a:schemeClr val="tx1"/>
                            </a:solidFill>
                            <a:latin typeface="Cambria Math" panose="02040503050406030204" pitchFamily="18" charset="0"/>
                          </a:rPr>
                          <m:t>0</m:t>
                        </m:r>
                      </m:sub>
                    </m:sSub>
                    <m:r>
                      <a:rPr lang="en-US" sz="2400" b="0" i="1">
                        <a:solidFill>
                          <a:schemeClr val="tx1"/>
                        </a:solidFill>
                        <a:latin typeface="Cambria Math" panose="02040503050406030204" pitchFamily="18" charset="0"/>
                      </a:rPr>
                      <m:t>𝑁</m:t>
                    </m:r>
                    <m:r>
                      <a:rPr lang="en-US" sz="2400" b="0" i="1">
                        <a:solidFill>
                          <a:schemeClr val="tx1"/>
                        </a:solidFill>
                        <a:latin typeface="Cambria Math" panose="02040503050406030204" pitchFamily="18" charset="0"/>
                      </a:rPr>
                      <m:t>=2</m:t>
                    </m:r>
                    <m:r>
                      <m:rPr>
                        <m:sty m:val="p"/>
                      </m:rPr>
                      <a:rPr lang="en-US" sz="2400" b="0" i="0">
                        <a:solidFill>
                          <a:schemeClr val="tx1"/>
                        </a:solidFill>
                        <a:latin typeface="Cambria Math" panose="02040503050406030204" pitchFamily="18" charset="0"/>
                      </a:rPr>
                      <m:t>π</m:t>
                    </m:r>
                    <m:r>
                      <a:rPr lang="en-US" sz="2400" b="0" i="1">
                        <a:solidFill>
                          <a:schemeClr val="tx1"/>
                        </a:solidFill>
                        <a:latin typeface="Cambria Math" panose="02040503050406030204" pitchFamily="18" charset="0"/>
                      </a:rPr>
                      <m:t>𝑚</m:t>
                    </m:r>
                  </m:oMath>
                </a14:m>
                <a:r>
                  <a:rPr lang="zh-CN" altLang="en-US" sz="2400" dirty="0">
                    <a:solidFill>
                      <a:schemeClr val="tx1"/>
                    </a:solidFill>
                    <a:latin typeface="华文楷体" panose="02010600040101010101" pitchFamily="2" charset="-122"/>
                    <a:ea typeface="华文楷体" panose="02010600040101010101" pitchFamily="2" charset="-122"/>
                  </a:rPr>
                  <a:t>，于是有</a:t>
                </a:r>
                <a14:m>
                  <m:oMath xmlns:m="http://schemas.openxmlformats.org/officeDocument/2006/math">
                    <m:f>
                      <m:fPr>
                        <m:ctrlPr>
                          <a:rPr lang="en-US" sz="2400" i="1" smtClean="0">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2</m:t>
                        </m:r>
                        <m:r>
                          <m:rPr>
                            <m:sty m:val="p"/>
                          </m:rPr>
                          <a:rPr lang="en-US" sz="2400" i="0">
                            <a:solidFill>
                              <a:srgbClr val="FF0000"/>
                            </a:solidFill>
                            <a:latin typeface="Cambria Math" panose="02040503050406030204" pitchFamily="18" charset="0"/>
                          </a:rPr>
                          <m:t>π</m:t>
                        </m:r>
                      </m:num>
                      <m:den>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𝜔</m:t>
                            </m:r>
                          </m:e>
                          <m:sub>
                            <m:r>
                              <a:rPr lang="en-US" sz="2400" i="1">
                                <a:solidFill>
                                  <a:srgbClr val="FF0000"/>
                                </a:solidFill>
                                <a:latin typeface="Cambria Math" panose="02040503050406030204" pitchFamily="18" charset="0"/>
                              </a:rPr>
                              <m:t>0</m:t>
                            </m:r>
                          </m:sub>
                        </m:sSub>
                      </m:den>
                    </m:f>
                    <m:r>
                      <a:rPr lang="en-US" sz="2400" b="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r>
                          <a:rPr lang="en-US" sz="2400" b="0" i="1" smtClean="0">
                            <a:solidFill>
                              <a:srgbClr val="FF0000"/>
                            </a:solidFill>
                            <a:latin typeface="Cambria Math" panose="02040503050406030204" pitchFamily="18" charset="0"/>
                          </a:rPr>
                          <m:t>𝑁</m:t>
                        </m:r>
                      </m:num>
                      <m:den>
                        <m:r>
                          <a:rPr lang="en-US" sz="2400" b="0" i="1" smtClean="0">
                            <a:solidFill>
                              <a:srgbClr val="FF0000"/>
                            </a:solidFill>
                            <a:latin typeface="Cambria Math" panose="02040503050406030204" pitchFamily="18" charset="0"/>
                          </a:rPr>
                          <m:t>𝑚</m:t>
                        </m:r>
                      </m:den>
                    </m:f>
                  </m:oMath>
                </a14:m>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a:t>
                </a:r>
                <a:r>
                  <a:rPr lang="zh-CN" altLang="en-US" sz="2400" dirty="0">
                    <a:solidFill>
                      <a:srgbClr val="FF0000"/>
                    </a:solidFill>
                    <a:latin typeface="Times New Roman" panose="02020603050405020304" pitchFamily="18" charset="0"/>
                    <a:ea typeface="华文楷体" panose="02010600040101010101" pitchFamily="2" charset="-122"/>
                  </a:rPr>
                  <a:t>有理数</a:t>
                </a:r>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a:t>
                </a:r>
              </a:p>
            </p:txBody>
          </p:sp>
        </mc:Choice>
        <mc:Fallback xmlns="">
          <p:sp>
            <p:nvSpPr>
              <p:cNvPr id="10254" name="Text Box 7">
                <a:extLst>
                  <a:ext uri="{FF2B5EF4-FFF2-40B4-BE49-F238E27FC236}">
                    <a16:creationId xmlns:a16="http://schemas.microsoft.com/office/drawing/2014/main" id="{27CB85DF-3C0E-42D1-AA20-0656B2C76BD9}"/>
                  </a:ext>
                </a:extLst>
              </p:cNvPr>
              <p:cNvSpPr txBox="1">
                <a:spLocks noRot="1" noChangeAspect="1" noMove="1" noResize="1" noEditPoints="1" noAdjustHandles="1" noChangeArrowheads="1" noChangeShapeType="1" noTextEdit="1"/>
              </p:cNvSpPr>
              <p:nvPr/>
            </p:nvSpPr>
            <p:spPr bwMode="auto">
              <a:xfrm>
                <a:off x="1195659" y="4069905"/>
                <a:ext cx="6101991" cy="662682"/>
              </a:xfrm>
              <a:prstGeom prst="rect">
                <a:avLst/>
              </a:prstGeom>
              <a:blipFill>
                <a:blip r:embed="rId5"/>
                <a:stretch>
                  <a:fillRect l="-1499" r="-699" b="-37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6" name="Rectangle 12">
                <a:extLst>
                  <a:ext uri="{FF2B5EF4-FFF2-40B4-BE49-F238E27FC236}">
                    <a16:creationId xmlns:a16="http://schemas.microsoft.com/office/drawing/2014/main" id="{E5258705-C05C-45EE-925A-5EC43DC40C97}"/>
                  </a:ext>
                </a:extLst>
              </p:cNvPr>
              <p:cNvSpPr>
                <a:spLocks noChangeArrowheads="1"/>
              </p:cNvSpPr>
              <p:nvPr/>
            </p:nvSpPr>
            <p:spPr bwMode="auto">
              <a:xfrm>
                <a:off x="1192109" y="2764980"/>
                <a:ext cx="3553922"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设</a:t>
                </a:r>
                <a14:m>
                  <m:oMath xmlns:m="http://schemas.openxmlformats.org/officeDocument/2006/math">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𝑁</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a14:m>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则有：</a:t>
                </a:r>
              </a:p>
            </p:txBody>
          </p:sp>
        </mc:Choice>
        <mc:Fallback xmlns="">
          <p:sp>
            <p:nvSpPr>
              <p:cNvPr id="10256" name="Rectangle 12">
                <a:extLst>
                  <a:ext uri="{FF2B5EF4-FFF2-40B4-BE49-F238E27FC236}">
                    <a16:creationId xmlns:a16="http://schemas.microsoft.com/office/drawing/2014/main" id="{E5258705-C05C-45EE-925A-5EC43DC40C97}"/>
                  </a:ext>
                </a:extLst>
              </p:cNvPr>
              <p:cNvSpPr>
                <a:spLocks noRot="1" noChangeAspect="1" noMove="1" noResize="1" noEditPoints="1" noAdjustHandles="1" noChangeArrowheads="1" noChangeShapeType="1" noTextEdit="1"/>
              </p:cNvSpPr>
              <p:nvPr/>
            </p:nvSpPr>
            <p:spPr bwMode="auto">
              <a:xfrm>
                <a:off x="1192109" y="2764980"/>
                <a:ext cx="3553922" cy="461665"/>
              </a:xfrm>
              <a:prstGeom prst="rect">
                <a:avLst/>
              </a:prstGeom>
              <a:blipFill>
                <a:blip r:embed="rId6"/>
                <a:stretch>
                  <a:fillRect l="-2744" t="-10667" r="-1544" b="-30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7" name="Text Box 14">
                <a:extLst>
                  <a:ext uri="{FF2B5EF4-FFF2-40B4-BE49-F238E27FC236}">
                    <a16:creationId xmlns:a16="http://schemas.microsoft.com/office/drawing/2014/main" id="{6142A220-8B0A-4630-AD6A-CF0C92F1131B}"/>
                  </a:ext>
                </a:extLst>
              </p:cNvPr>
              <p:cNvSpPr txBox="1">
                <a:spLocks noChangeArrowheads="1"/>
              </p:cNvSpPr>
              <p:nvPr/>
            </p:nvSpPr>
            <p:spPr bwMode="auto">
              <a:xfrm>
                <a:off x="1192109" y="4869160"/>
                <a:ext cx="7494691" cy="156805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just">
                  <a:defRPr/>
                </a:pPr>
                <a:r>
                  <a:rPr lang="zh-CN" altLang="en-US" sz="2400" dirty="0">
                    <a:latin typeface="Times New Roman" panose="02020603050405020304" pitchFamily="18" charset="0"/>
                    <a:ea typeface="华文楷体" panose="02010600040101010101" pitchFamily="2" charset="-122"/>
                  </a:rPr>
                  <a:t>若存在满足等式的</a:t>
                </a:r>
                <a14:m>
                  <m:oMath xmlns:m="http://schemas.openxmlformats.org/officeDocument/2006/math">
                    <m:r>
                      <a:rPr lang="en-US" sz="2400" i="1">
                        <a:latin typeface="Cambria Math" panose="02040503050406030204" pitchFamily="18" charset="0"/>
                      </a:rPr>
                      <m:t>𝑁</m:t>
                    </m:r>
                  </m:oMath>
                </a14:m>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与</a:t>
                </a:r>
                <a14:m>
                  <m:oMath xmlns:m="http://schemas.openxmlformats.org/officeDocument/2006/math">
                    <m:r>
                      <a:rPr lang="en-US" sz="2400" i="1">
                        <a:latin typeface="Cambria Math" panose="02040503050406030204" pitchFamily="18" charset="0"/>
                      </a:rPr>
                      <m:t>𝑚</m:t>
                    </m:r>
                  </m:oMath>
                </a14:m>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，则表明</a:t>
                </a:r>
                <a14:m>
                  <m:oMath xmlns:m="http://schemas.openxmlformats.org/officeDocument/2006/math">
                    <m:sSup>
                      <m:sSupPr>
                        <m:ctrlPr>
                          <a:rPr lang="en-US" sz="2400" i="1">
                            <a:solidFill>
                              <a:schemeClr val="tx1"/>
                            </a:solidFill>
                            <a:latin typeface="Cambria Math" panose="02040503050406030204" pitchFamily="18" charset="0"/>
                          </a:rPr>
                        </m:ctrlPr>
                      </m:sSupPr>
                      <m:e>
                        <m:r>
                          <m:rPr>
                            <m:sty m:val="p"/>
                          </m:rPr>
                          <a:rPr lang="en-US" sz="2400" b="0" i="0">
                            <a:solidFill>
                              <a:schemeClr val="tx1"/>
                            </a:solidFill>
                            <a:latin typeface="Cambria Math" panose="02040503050406030204" pitchFamily="18" charset="0"/>
                          </a:rPr>
                          <m:t>e</m:t>
                        </m:r>
                      </m:e>
                      <m:sup>
                        <m:r>
                          <m:rPr>
                            <m:sty m:val="p"/>
                          </m:rPr>
                          <a:rPr lang="en-US" sz="2400" b="0" i="0">
                            <a:solidFill>
                              <a:schemeClr val="tx1"/>
                            </a:solidFill>
                            <a:latin typeface="Cambria Math" panose="02040503050406030204" pitchFamily="18" charset="0"/>
                          </a:rPr>
                          <m:t>j</m:t>
                        </m:r>
                        <m:sSub>
                          <m:sSubPr>
                            <m:ctrlPr>
                              <a:rPr lang="en-US" sz="2400" i="1">
                                <a:solidFill>
                                  <a:schemeClr val="tx1"/>
                                </a:solidFill>
                                <a:latin typeface="Cambria Math" panose="02040503050406030204" pitchFamily="18" charset="0"/>
                              </a:rPr>
                            </m:ctrlPr>
                          </m:sSubPr>
                          <m:e>
                            <m:r>
                              <a:rPr lang="en-US" sz="2400" b="0" i="1">
                                <a:solidFill>
                                  <a:schemeClr val="tx1"/>
                                </a:solidFill>
                                <a:latin typeface="Cambria Math" panose="02040503050406030204" pitchFamily="18" charset="0"/>
                              </a:rPr>
                              <m:t>𝜔</m:t>
                            </m:r>
                          </m:e>
                          <m:sub>
                            <m:r>
                              <a:rPr lang="en-US" sz="2400" b="0" i="1">
                                <a:solidFill>
                                  <a:schemeClr val="tx1"/>
                                </a:solidFill>
                                <a:latin typeface="Cambria Math" panose="02040503050406030204" pitchFamily="18" charset="0"/>
                              </a:rPr>
                              <m:t>0</m:t>
                            </m:r>
                          </m:sub>
                        </m:sSub>
                        <m:r>
                          <a:rPr lang="en-US" sz="2400" b="0" i="1">
                            <a:solidFill>
                              <a:schemeClr val="tx1"/>
                            </a:solidFill>
                            <a:latin typeface="Cambria Math" panose="02040503050406030204" pitchFamily="18" charset="0"/>
                          </a:rPr>
                          <m:t>𝑛</m:t>
                        </m:r>
                      </m:sup>
                    </m:sSup>
                  </m:oMath>
                </a14:m>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是周期信</a:t>
                </a:r>
                <a:r>
                  <a:rPr lang="zh-CN" altLang="en-US" sz="2400" dirty="0">
                    <a:latin typeface="Times New Roman" panose="02020603050405020304" pitchFamily="18" charset="0"/>
                    <a:ea typeface="华文楷体" panose="02010600040101010101" pitchFamily="2" charset="-122"/>
                  </a:rPr>
                  <a:t>号</a:t>
                </a:r>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a:t>
                </a:r>
                <a:endParaRPr kumimoji="0" lang="en-US" altLang="zh-CN"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endParaRPr>
              </a:p>
              <a:p>
                <a:pPr lvl="0" algn="just">
                  <a:defRPr/>
                </a:pPr>
                <a:r>
                  <a:rPr lang="zh-CN" altLang="en-US" sz="2400" dirty="0">
                    <a:latin typeface="Times New Roman" panose="02020603050405020304" pitchFamily="18" charset="0"/>
                    <a:ea typeface="华文楷体" panose="02010600040101010101" pitchFamily="2" charset="-122"/>
                  </a:rPr>
                  <a:t>当</a:t>
                </a:r>
                <a14:m>
                  <m:oMath xmlns:m="http://schemas.openxmlformats.org/officeDocument/2006/math">
                    <m:r>
                      <a:rPr lang="en-US" sz="2400" i="1" smtClean="0">
                        <a:solidFill>
                          <a:srgbClr val="FF0000"/>
                        </a:solidFill>
                        <a:latin typeface="Cambria Math" panose="02040503050406030204" pitchFamily="18" charset="0"/>
                      </a:rPr>
                      <m:t>𝑁</m:t>
                    </m:r>
                  </m:oMath>
                </a14:m>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rPr>
                  <a:t>与</a:t>
                </a:r>
                <a14:m>
                  <m:oMath xmlns:m="http://schemas.openxmlformats.org/officeDocument/2006/math">
                    <m:r>
                      <a:rPr lang="en-US" sz="2400" i="1">
                        <a:solidFill>
                          <a:srgbClr val="FF0000"/>
                        </a:solidFill>
                        <a:latin typeface="Cambria Math" panose="02040503050406030204" pitchFamily="18" charset="0"/>
                      </a:rPr>
                      <m:t>𝑚</m:t>
                    </m:r>
                  </m:oMath>
                </a14:m>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rPr>
                  <a:t>互质（无公因子）时</a:t>
                </a:r>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a:t>
                </a:r>
                <a14:m>
                  <m:oMath xmlns:m="http://schemas.openxmlformats.org/officeDocument/2006/math">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r>
                          <m:rPr>
                            <m:sty m:val="p"/>
                          </m:rPr>
                          <a:rPr lang="en-US" sz="2400" i="0">
                            <a:solidFill>
                              <a:srgbClr val="000000"/>
                            </a:solidFill>
                            <a:latin typeface="Cambria Math" panose="02040503050406030204" pitchFamily="18" charset="0"/>
                          </a:rPr>
                          <m:t>π</m:t>
                        </m:r>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den>
                    </m:f>
                    <m:r>
                      <a:rPr lang="en-US" sz="2400" i="1">
                        <a:solidFill>
                          <a:srgbClr val="000000"/>
                        </a:solidFill>
                        <a:latin typeface="Cambria Math" panose="02040503050406030204" pitchFamily="18" charset="0"/>
                      </a:rPr>
                      <m:t>𝑚</m:t>
                    </m:r>
                  </m:oMath>
                </a14:m>
                <a:r>
                  <a:rPr lang="zh-CN" altLang="en-US" sz="2400" dirty="0">
                    <a:latin typeface="Times New Roman" panose="02020603050405020304" pitchFamily="18" charset="0"/>
                    <a:ea typeface="华文楷体" panose="02010600040101010101" pitchFamily="2" charset="-122"/>
                  </a:rPr>
                  <a:t>即为</a:t>
                </a:r>
                <a:r>
                  <a:rPr lang="zh-CN" altLang="en-US" sz="2400" dirty="0">
                    <a:solidFill>
                      <a:srgbClr val="FF0000"/>
                    </a:solidFill>
                    <a:latin typeface="Times New Roman" panose="02020603050405020304" pitchFamily="18" charset="0"/>
                    <a:ea typeface="华文楷体" panose="02010600040101010101" pitchFamily="2" charset="-122"/>
                  </a:rPr>
                  <a:t>基波周期</a:t>
                </a:r>
                <a:r>
                  <a:rPr lang="en-US" altLang="zh-CN" sz="2400" dirty="0">
                    <a:latin typeface="Times New Roman" panose="02020603050405020304" pitchFamily="18" charset="0"/>
                    <a:ea typeface="华文楷体" panose="02010600040101010101" pitchFamily="2" charset="-122"/>
                  </a:rPr>
                  <a:t>, </a:t>
                </a:r>
                <a:r>
                  <a:rPr lang="zh-CN" altLang="en-US" sz="2400" dirty="0">
                    <a:latin typeface="Times New Roman" panose="02020603050405020304" pitchFamily="18" charset="0"/>
                    <a:ea typeface="华文楷体" panose="02010600040101010101" pitchFamily="2" charset="-122"/>
                  </a:rPr>
                  <a:t>此时</a:t>
                </a:r>
                <a:r>
                  <a:rPr lang="zh-CN" altLang="en-US" sz="2400" dirty="0">
                    <a:solidFill>
                      <a:srgbClr val="FF0000"/>
                    </a:solidFill>
                    <a:latin typeface="Times New Roman" panose="02020603050405020304" pitchFamily="18" charset="0"/>
                    <a:ea typeface="华文楷体" panose="02010600040101010101" pitchFamily="2" charset="-122"/>
                  </a:rPr>
                  <a:t>基波频率</a:t>
                </a:r>
                <a:r>
                  <a:rPr lang="zh-CN" altLang="en-US" sz="2400" dirty="0">
                    <a:latin typeface="Times New Roman" panose="02020603050405020304" pitchFamily="18" charset="0"/>
                    <a:ea typeface="华文楷体" panose="02010600040101010101" pitchFamily="2" charset="-122"/>
                  </a:rPr>
                  <a:t>为</a:t>
                </a:r>
                <a14:m>
                  <m:oMath xmlns:m="http://schemas.openxmlformats.org/officeDocument/2006/math">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r>
                          <m:rPr>
                            <m:sty m:val="p"/>
                          </m:rPr>
                          <a:rPr lang="en-US" sz="2400" i="0">
                            <a:solidFill>
                              <a:srgbClr val="000000"/>
                            </a:solidFill>
                            <a:latin typeface="Cambria Math" panose="02040503050406030204" pitchFamily="18" charset="0"/>
                          </a:rPr>
                          <m:t>π</m:t>
                        </m:r>
                      </m:num>
                      <m:den>
                        <m:r>
                          <a:rPr lang="en-US" sz="2400" i="1">
                            <a:solidFill>
                              <a:srgbClr val="000000"/>
                            </a:solidFill>
                            <a:latin typeface="Cambria Math" panose="02040503050406030204" pitchFamily="18" charset="0"/>
                          </a:rPr>
                          <m:t>𝑁</m:t>
                        </m:r>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num>
                      <m:den>
                        <m:r>
                          <a:rPr lang="en-US" sz="2400" i="1">
                            <a:solidFill>
                              <a:srgbClr val="000000"/>
                            </a:solidFill>
                            <a:latin typeface="Cambria Math" panose="02040503050406030204" pitchFamily="18" charset="0"/>
                          </a:rPr>
                          <m:t>𝑚</m:t>
                        </m:r>
                      </m:den>
                    </m:f>
                  </m:oMath>
                </a14:m>
                <a:r>
                  <a:rPr lang="zh-CN" altLang="en-US" sz="2400" dirty="0">
                    <a:latin typeface="Times New Roman" panose="02020603050405020304" pitchFamily="18" charset="0"/>
                    <a:ea typeface="华文楷体" panose="02010600040101010101" pitchFamily="2" charset="-122"/>
                  </a:rPr>
                  <a:t>。</a:t>
                </a:r>
              </a:p>
            </p:txBody>
          </p:sp>
        </mc:Choice>
        <mc:Fallback xmlns="">
          <p:sp>
            <p:nvSpPr>
              <p:cNvPr id="10257" name="Text Box 14">
                <a:extLst>
                  <a:ext uri="{FF2B5EF4-FFF2-40B4-BE49-F238E27FC236}">
                    <a16:creationId xmlns:a16="http://schemas.microsoft.com/office/drawing/2014/main" id="{6142A220-8B0A-4630-AD6A-CF0C92F1131B}"/>
                  </a:ext>
                </a:extLst>
              </p:cNvPr>
              <p:cNvSpPr txBox="1">
                <a:spLocks noRot="1" noChangeAspect="1" noMove="1" noResize="1" noEditPoints="1" noAdjustHandles="1" noChangeArrowheads="1" noChangeShapeType="1" noTextEdit="1"/>
              </p:cNvSpPr>
              <p:nvPr/>
            </p:nvSpPr>
            <p:spPr bwMode="auto">
              <a:xfrm>
                <a:off x="1192109" y="4869160"/>
                <a:ext cx="7494691" cy="1568058"/>
              </a:xfrm>
              <a:prstGeom prst="rect">
                <a:avLst/>
              </a:prstGeom>
              <a:blipFill>
                <a:blip r:embed="rId7"/>
                <a:stretch>
                  <a:fillRect l="-1302" t="-1946" r="-1221" b="-350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4"/>
          <p:cNvSpPr>
            <a:spLocks noGrp="1"/>
          </p:cNvSpPr>
          <p:nvPr>
            <p:ph type="sldNum" sz="quarter" idx="12"/>
          </p:nvPr>
        </p:nvSpPr>
        <p:spPr/>
        <p:txBody>
          <a:bodyPr vert="horz" wrap="square" lIns="91440" tIns="45720" rIns="91440" bIns="45720" numCol="1" anchor="ctr" anchorCtr="0" compatLnSpc="1">
            <a:prstTxWarp prst="textNoShape">
              <a:avLst/>
            </a:prstTxWarp>
          </a:bodyPr>
          <a:lstStyle/>
          <a:p>
            <a:fld id="{772B167C-D4E1-42D1-9521-FBF5E29453CD}" type="slidenum">
              <a:rPr lang="zh-CN" altLang="en-US"/>
              <a:pPr/>
              <a:t>49</a:t>
            </a:fld>
            <a:endParaRPr lang="en-US" altLang="zh-CN"/>
          </a:p>
        </p:txBody>
      </p:sp>
      <p:pic>
        <p:nvPicPr>
          <p:cNvPr id="54275" name="Picture 24" descr="01-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33400"/>
            <a:ext cx="8991600" cy="549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0409044"/>
      </p:ext>
    </p:extLst>
  </p:cSld>
  <p:clrMapOvr>
    <a:masterClrMapping/>
  </p:clrMapOvr>
  <p:transition advClick="0"/>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2" name="标题 1">
            <a:extLst>
              <a:ext uri="{FF2B5EF4-FFF2-40B4-BE49-F238E27FC236}">
                <a16:creationId xmlns:a16="http://schemas.microsoft.com/office/drawing/2014/main" id="{3FE70BFA-7441-49B3-9AA1-01AE4D4BDFB8}"/>
              </a:ext>
            </a:extLst>
          </p:cNvPr>
          <p:cNvSpPr>
            <a:spLocks noGrp="1"/>
          </p:cNvSpPr>
          <p:nvPr>
            <p:ph type="title"/>
          </p:nvPr>
        </p:nvSpPr>
        <p:spPr/>
        <p:txBody>
          <a:bodyPr/>
          <a:lstStyle/>
          <a:p>
            <a:pPr eaLnBrk="1" hangingPunct="1"/>
            <a:r>
              <a:rPr lang="en-US" altLang="zh-CN"/>
              <a:t>1.3  </a:t>
            </a:r>
            <a:r>
              <a:rPr lang="zh-CN" altLang="en-US"/>
              <a:t>复指数信号与正弦信号</a:t>
            </a:r>
          </a:p>
        </p:txBody>
      </p:sp>
      <mc:AlternateContent xmlns:mc="http://schemas.openxmlformats.org/markup-compatibility/2006" xmlns:a14="http://schemas.microsoft.com/office/drawing/2010/main">
        <mc:Choice Requires="a14">
          <p:sp>
            <p:nvSpPr>
              <p:cNvPr id="11283" name="内容占位符 2">
                <a:extLst>
                  <a:ext uri="{FF2B5EF4-FFF2-40B4-BE49-F238E27FC236}">
                    <a16:creationId xmlns:a16="http://schemas.microsoft.com/office/drawing/2014/main" id="{F4EADB86-4B51-484B-A329-E85612155C17}"/>
                  </a:ext>
                </a:extLst>
              </p:cNvPr>
              <p:cNvSpPr>
                <a:spLocks noGrp="1"/>
              </p:cNvSpPr>
              <p:nvPr>
                <p:ph idx="1"/>
              </p:nvPr>
            </p:nvSpPr>
            <p:spPr>
              <a:xfrm>
                <a:off x="457200" y="1397396"/>
                <a:ext cx="8229600" cy="4767908"/>
              </a:xfrm>
            </p:spPr>
            <p:txBody>
              <a:bodyPr>
                <a:spAutoFit/>
              </a:bodyPr>
              <a:lstStyle/>
              <a:p>
                <a:pPr marL="271463" indent="-271463" algn="just" eaLnBrk="1" hangingPunct="1">
                  <a:lnSpc>
                    <a:spcPct val="120000"/>
                  </a:lnSpc>
                  <a:spcBef>
                    <a:spcPts val="0"/>
                  </a:spcBef>
                  <a:spcAft>
                    <a:spcPts val="0"/>
                  </a:spcAft>
                </a:pPr>
                <a:r>
                  <a:rPr lang="zh-CN" altLang="en-US" sz="2800" b="0" dirty="0"/>
                  <a:t>对连续时间信号</a:t>
                </a:r>
                <a14:m>
                  <m:oMath xmlns:m="http://schemas.openxmlformats.org/officeDocument/2006/math">
                    <m:r>
                      <a:rPr lang="en-US" sz="2800" b="0" i="1" smtClean="0">
                        <a:solidFill>
                          <a:srgbClr val="FF0000"/>
                        </a:solidFill>
                        <a:latin typeface="Cambria Math" panose="02040503050406030204" pitchFamily="18" charset="0"/>
                      </a:rPr>
                      <m:t>𝑥</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𝑡</m:t>
                    </m:r>
                    <m:r>
                      <a:rPr lang="en-US" sz="2800" b="0" i="1" smtClean="0">
                        <a:solidFill>
                          <a:srgbClr val="FF0000"/>
                        </a:solidFill>
                        <a:latin typeface="Cambria Math" panose="02040503050406030204" pitchFamily="18" charset="0"/>
                      </a:rPr>
                      <m:t>)=</m:t>
                    </m:r>
                    <m:sSup>
                      <m:sSupPr>
                        <m:ctrlPr>
                          <a:rPr lang="en-US" sz="2800" b="0" i="1" smtClean="0">
                            <a:solidFill>
                              <a:srgbClr val="FF0000"/>
                            </a:solidFill>
                            <a:latin typeface="Cambria Math" panose="02040503050406030204" pitchFamily="18" charset="0"/>
                          </a:rPr>
                        </m:ctrlPr>
                      </m:sSupPr>
                      <m:e>
                        <m:r>
                          <m:rPr>
                            <m:sty m:val="p"/>
                          </m:rPr>
                          <a:rPr lang="en-US" sz="2800" b="0" i="0">
                            <a:solidFill>
                              <a:srgbClr val="FF0000"/>
                            </a:solidFill>
                            <a:latin typeface="Cambria Math" panose="02040503050406030204" pitchFamily="18" charset="0"/>
                          </a:rPr>
                          <m:t>e</m:t>
                        </m:r>
                      </m:e>
                      <m:sup>
                        <m:r>
                          <m:rPr>
                            <m:sty m:val="p"/>
                          </m:rPr>
                          <a:rPr lang="en-US" sz="2800" b="0" i="0">
                            <a:solidFill>
                              <a:srgbClr val="FF0000"/>
                            </a:solidFill>
                            <a:latin typeface="Cambria Math" panose="02040503050406030204" pitchFamily="18" charset="0"/>
                          </a:rPr>
                          <m:t>j</m:t>
                        </m:r>
                        <m:sSub>
                          <m:sSubPr>
                            <m:ctrlPr>
                              <a:rPr lang="en-US" sz="2800" b="0" i="1">
                                <a:solidFill>
                                  <a:srgbClr val="FF0000"/>
                                </a:solidFill>
                                <a:latin typeface="Cambria Math" panose="02040503050406030204" pitchFamily="18" charset="0"/>
                              </a:rPr>
                            </m:ctrlPr>
                          </m:sSubPr>
                          <m:e>
                            <m:r>
                              <a:rPr lang="en-US" sz="2800" b="0" i="1">
                                <a:solidFill>
                                  <a:srgbClr val="FF0000"/>
                                </a:solidFill>
                                <a:latin typeface="Cambria Math" panose="02040503050406030204" pitchFamily="18" charset="0"/>
                              </a:rPr>
                              <m:t>𝜔</m:t>
                            </m:r>
                          </m:e>
                          <m:sub>
                            <m:r>
                              <a:rPr lang="en-US" sz="2800" b="0" i="1">
                                <a:solidFill>
                                  <a:srgbClr val="FF0000"/>
                                </a:solidFill>
                                <a:latin typeface="Cambria Math" panose="02040503050406030204" pitchFamily="18" charset="0"/>
                              </a:rPr>
                              <m:t>0</m:t>
                            </m:r>
                          </m:sub>
                        </m:sSub>
                        <m:r>
                          <a:rPr lang="en-US" sz="2800" b="0" i="1">
                            <a:solidFill>
                              <a:srgbClr val="FF0000"/>
                            </a:solidFill>
                            <a:latin typeface="Cambria Math" panose="02040503050406030204" pitchFamily="18" charset="0"/>
                          </a:rPr>
                          <m:t>𝑡</m:t>
                        </m:r>
                      </m:sup>
                    </m:sSup>
                  </m:oMath>
                </a14:m>
                <a:endParaRPr lang="en-US" altLang="zh-CN" sz="2800" b="0" dirty="0"/>
              </a:p>
              <a:p>
                <a:pPr marL="671513" lvl="1" indent="-271463" algn="just" eaLnBrk="1" hangingPunct="1">
                  <a:lnSpc>
                    <a:spcPct val="120000"/>
                  </a:lnSpc>
                  <a:spcBef>
                    <a:spcPts val="0"/>
                  </a:spcBef>
                  <a:spcAft>
                    <a:spcPts val="0"/>
                  </a:spcAft>
                </a:pPr>
                <a:r>
                  <a:rPr lang="zh-CN" altLang="en-US" b="0" dirty="0"/>
                  <a:t>当</a:t>
                </a:r>
                <a14:m>
                  <m:oMath xmlns:m="http://schemas.openxmlformats.org/officeDocument/2006/math">
                    <m:sSub>
                      <m:sSubPr>
                        <m:ctrlPr>
                          <a:rPr lang="en-US" b="0" i="1">
                            <a:solidFill>
                              <a:srgbClr val="000000"/>
                            </a:solidFill>
                            <a:latin typeface="Cambria Math" panose="02040503050406030204" pitchFamily="18" charset="0"/>
                          </a:rPr>
                        </m:ctrlPr>
                      </m:sSubPr>
                      <m:e>
                        <m:r>
                          <a:rPr lang="en-US" b="0" i="1">
                            <a:solidFill>
                              <a:srgbClr val="000000"/>
                            </a:solidFill>
                            <a:latin typeface="Cambria Math" panose="02040503050406030204" pitchFamily="18" charset="0"/>
                          </a:rPr>
                          <m:t>𝜔</m:t>
                        </m:r>
                      </m:e>
                      <m:sub>
                        <m:r>
                          <a:rPr lang="en-US" b="0" i="1">
                            <a:solidFill>
                              <a:srgbClr val="000000"/>
                            </a:solidFill>
                            <a:latin typeface="Cambria Math" panose="02040503050406030204" pitchFamily="18" charset="0"/>
                          </a:rPr>
                          <m:t>0</m:t>
                        </m:r>
                      </m:sub>
                    </m:sSub>
                    <m:r>
                      <a:rPr lang="en-US" b="0" i="1">
                        <a:solidFill>
                          <a:srgbClr val="000000"/>
                        </a:solidFill>
                        <a:latin typeface="Cambria Math" panose="02040503050406030204" pitchFamily="18" charset="0"/>
                      </a:rPr>
                      <m:t>↑</m:t>
                    </m:r>
                  </m:oMath>
                </a14:m>
                <a:r>
                  <a:rPr lang="zh-CN" altLang="en-US" b="0" dirty="0"/>
                  <a:t>时，对应的信号振荡频率越来越高不会发生逆转。</a:t>
                </a:r>
                <a:endParaRPr lang="en-US" altLang="zh-CN" b="0" dirty="0"/>
              </a:p>
              <a:p>
                <a:pPr marL="271463" indent="-271463" algn="just" eaLnBrk="1" hangingPunct="1">
                  <a:lnSpc>
                    <a:spcPct val="120000"/>
                  </a:lnSpc>
                  <a:spcBef>
                    <a:spcPts val="0"/>
                  </a:spcBef>
                  <a:spcAft>
                    <a:spcPts val="0"/>
                  </a:spcAft>
                </a:pPr>
                <a:r>
                  <a:rPr lang="zh-CN" altLang="en-US" sz="2800" b="0" dirty="0"/>
                  <a:t>而对离散时间信号</a:t>
                </a:r>
                <a14:m>
                  <m:oMath xmlns:m="http://schemas.openxmlformats.org/officeDocument/2006/math">
                    <m:sSup>
                      <m:sSupPr>
                        <m:ctrlPr>
                          <a:rPr lang="en-US" sz="2800" b="0" i="1" smtClean="0">
                            <a:solidFill>
                              <a:srgbClr val="FF0000"/>
                            </a:solidFill>
                            <a:latin typeface="Cambria Math" panose="02040503050406030204" pitchFamily="18" charset="0"/>
                          </a:rPr>
                        </m:ctrlPr>
                      </m:sSupPr>
                      <m:e>
                        <m:r>
                          <a:rPr lang="en-US" sz="2800" b="0" i="1" smtClean="0">
                            <a:solidFill>
                              <a:srgbClr val="FF0000"/>
                            </a:solidFill>
                            <a:latin typeface="Cambria Math" panose="02040503050406030204" pitchFamily="18" charset="0"/>
                          </a:rPr>
                          <m:t>𝑥</m:t>
                        </m:r>
                        <m:d>
                          <m:dPr>
                            <m:begChr m:val="["/>
                            <m:endChr m:val="]"/>
                            <m:ctrlPr>
                              <a:rPr lang="en-US" sz="2800" b="0" i="1">
                                <a:solidFill>
                                  <a:srgbClr val="FF0000"/>
                                </a:solidFill>
                                <a:latin typeface="Cambria Math" panose="02040503050406030204" pitchFamily="18" charset="0"/>
                              </a:rPr>
                            </m:ctrlPr>
                          </m:dPr>
                          <m:e>
                            <m:r>
                              <a:rPr lang="en-US" sz="2800" b="0" i="1">
                                <a:solidFill>
                                  <a:srgbClr val="FF0000"/>
                                </a:solidFill>
                                <a:latin typeface="Cambria Math" panose="02040503050406030204" pitchFamily="18" charset="0"/>
                              </a:rPr>
                              <m:t>𝑛</m:t>
                            </m:r>
                          </m:e>
                        </m:d>
                        <m:r>
                          <a:rPr lang="en-US" sz="2800" b="0" i="1" smtClean="0">
                            <a:solidFill>
                              <a:srgbClr val="FF0000"/>
                            </a:solidFill>
                            <a:latin typeface="Cambria Math" panose="02040503050406030204" pitchFamily="18" charset="0"/>
                          </a:rPr>
                          <m:t>=</m:t>
                        </m:r>
                        <m:r>
                          <m:rPr>
                            <m:sty m:val="p"/>
                          </m:rPr>
                          <a:rPr lang="en-US" sz="2800" b="0" i="0">
                            <a:solidFill>
                              <a:srgbClr val="FF0000"/>
                            </a:solidFill>
                            <a:latin typeface="Cambria Math" panose="02040503050406030204" pitchFamily="18" charset="0"/>
                          </a:rPr>
                          <m:t>e</m:t>
                        </m:r>
                      </m:e>
                      <m:sup>
                        <m:r>
                          <m:rPr>
                            <m:sty m:val="p"/>
                          </m:rPr>
                          <a:rPr lang="en-US" sz="2800" b="0" i="0">
                            <a:solidFill>
                              <a:srgbClr val="FF0000"/>
                            </a:solidFill>
                            <a:latin typeface="Cambria Math" panose="02040503050406030204" pitchFamily="18" charset="0"/>
                          </a:rPr>
                          <m:t>j</m:t>
                        </m:r>
                        <m:sSub>
                          <m:sSubPr>
                            <m:ctrlPr>
                              <a:rPr lang="en-US" sz="2800" b="0" i="1">
                                <a:solidFill>
                                  <a:srgbClr val="FF0000"/>
                                </a:solidFill>
                                <a:latin typeface="Cambria Math" panose="02040503050406030204" pitchFamily="18" charset="0"/>
                              </a:rPr>
                            </m:ctrlPr>
                          </m:sSubPr>
                          <m:e>
                            <m:r>
                              <a:rPr lang="en-US" sz="2800" b="0" i="1">
                                <a:solidFill>
                                  <a:srgbClr val="FF0000"/>
                                </a:solidFill>
                                <a:latin typeface="Cambria Math" panose="02040503050406030204" pitchFamily="18" charset="0"/>
                              </a:rPr>
                              <m:t>𝜔</m:t>
                            </m:r>
                          </m:e>
                          <m:sub>
                            <m:r>
                              <a:rPr lang="en-US" sz="2800" b="0" i="1">
                                <a:solidFill>
                                  <a:srgbClr val="FF0000"/>
                                </a:solidFill>
                                <a:latin typeface="Cambria Math" panose="02040503050406030204" pitchFamily="18" charset="0"/>
                              </a:rPr>
                              <m:t>0</m:t>
                            </m:r>
                          </m:sub>
                        </m:sSub>
                        <m:r>
                          <a:rPr lang="en-US" sz="2800" b="0" i="1">
                            <a:solidFill>
                              <a:srgbClr val="FF0000"/>
                            </a:solidFill>
                            <a:latin typeface="Cambria Math" panose="02040503050406030204" pitchFamily="18" charset="0"/>
                          </a:rPr>
                          <m:t>𝑛</m:t>
                        </m:r>
                      </m:sup>
                    </m:sSup>
                  </m:oMath>
                </a14:m>
                <a:endParaRPr lang="en-US" sz="2800" b="0" dirty="0">
                  <a:solidFill>
                    <a:srgbClr val="FF0000"/>
                  </a:solidFill>
                </a:endParaRPr>
              </a:p>
              <a:p>
                <a:pPr marL="671513" lvl="1" indent="-271463" algn="just" eaLnBrk="1" hangingPunct="1">
                  <a:lnSpc>
                    <a:spcPct val="120000"/>
                  </a:lnSpc>
                  <a:spcBef>
                    <a:spcPts val="0"/>
                  </a:spcBef>
                  <a:spcAft>
                    <a:spcPts val="0"/>
                  </a:spcAft>
                </a:pPr>
                <a:r>
                  <a:rPr lang="zh-CN" altLang="en-US" b="0" dirty="0"/>
                  <a:t>当</a:t>
                </a:r>
                <a14:m>
                  <m:oMath xmlns:m="http://schemas.openxmlformats.org/officeDocument/2006/math">
                    <m:sSub>
                      <m:sSubPr>
                        <m:ctrlPr>
                          <a:rPr lang="en-US" b="0" i="1">
                            <a:solidFill>
                              <a:srgbClr val="000000"/>
                            </a:solidFill>
                            <a:latin typeface="Cambria Math" panose="02040503050406030204" pitchFamily="18" charset="0"/>
                          </a:rPr>
                        </m:ctrlPr>
                      </m:sSubPr>
                      <m:e>
                        <m:r>
                          <a:rPr lang="en-US" b="0" i="1">
                            <a:solidFill>
                              <a:srgbClr val="000000"/>
                            </a:solidFill>
                            <a:latin typeface="Cambria Math" panose="02040503050406030204" pitchFamily="18" charset="0"/>
                          </a:rPr>
                          <m:t>𝜔</m:t>
                        </m:r>
                      </m:e>
                      <m:sub>
                        <m:r>
                          <a:rPr lang="en-US" b="0" i="1">
                            <a:solidFill>
                              <a:srgbClr val="000000"/>
                            </a:solidFill>
                            <a:latin typeface="Cambria Math" panose="02040503050406030204" pitchFamily="18" charset="0"/>
                          </a:rPr>
                          <m:t>0</m:t>
                        </m:r>
                      </m:sub>
                    </m:sSub>
                    <m:r>
                      <a:rPr lang="en-US" b="0" i="1">
                        <a:solidFill>
                          <a:srgbClr val="000000"/>
                        </a:solidFill>
                        <a:latin typeface="Cambria Math" panose="02040503050406030204" pitchFamily="18" charset="0"/>
                      </a:rPr>
                      <m:t>↑</m:t>
                    </m:r>
                  </m:oMath>
                </a14:m>
                <a:r>
                  <a:rPr lang="zh-CN" altLang="en-US" b="0" dirty="0"/>
                  <a:t>时，如果</a:t>
                </a:r>
                <a14:m>
                  <m:oMath xmlns:m="http://schemas.openxmlformats.org/officeDocument/2006/math">
                    <m:sSub>
                      <m:sSubPr>
                        <m:ctrlPr>
                          <a:rPr lang="en-US" b="0" i="1">
                            <a:solidFill>
                              <a:srgbClr val="000000"/>
                            </a:solidFill>
                            <a:latin typeface="Cambria Math" panose="02040503050406030204" pitchFamily="18" charset="0"/>
                          </a:rPr>
                        </m:ctrlPr>
                      </m:sSubPr>
                      <m:e>
                        <m:r>
                          <a:rPr lang="en-US" b="0" i="1">
                            <a:solidFill>
                              <a:srgbClr val="000000"/>
                            </a:solidFill>
                            <a:latin typeface="Cambria Math" panose="02040503050406030204" pitchFamily="18" charset="0"/>
                          </a:rPr>
                          <m:t>𝜔</m:t>
                        </m:r>
                      </m:e>
                      <m:sub>
                        <m:r>
                          <a:rPr lang="en-US" b="0" i="1">
                            <a:solidFill>
                              <a:srgbClr val="000000"/>
                            </a:solidFill>
                            <a:latin typeface="Cambria Math" panose="02040503050406030204" pitchFamily="18" charset="0"/>
                          </a:rPr>
                          <m:t>0</m:t>
                        </m:r>
                      </m:sub>
                    </m:sSub>
                  </m:oMath>
                </a14:m>
                <a:r>
                  <a:rPr lang="zh-CN" altLang="en-US" b="0" dirty="0"/>
                  <a:t>变化</a:t>
                </a:r>
                <a14:m>
                  <m:oMath xmlns:m="http://schemas.openxmlformats.org/officeDocument/2006/math">
                    <m:r>
                      <a:rPr lang="en-US" b="0" i="1">
                        <a:solidFill>
                          <a:srgbClr val="000000"/>
                        </a:solidFill>
                        <a:latin typeface="Cambria Math" panose="02040503050406030204" pitchFamily="18" charset="0"/>
                      </a:rPr>
                      <m:t>2</m:t>
                    </m:r>
                    <m:r>
                      <m:rPr>
                        <m:sty m:val="p"/>
                      </m:rPr>
                      <a:rPr lang="en-US" b="0" i="0">
                        <a:solidFill>
                          <a:srgbClr val="000000"/>
                        </a:solidFill>
                        <a:latin typeface="Cambria Math" panose="02040503050406030204" pitchFamily="18" charset="0"/>
                      </a:rPr>
                      <m:t>π</m:t>
                    </m:r>
                  </m:oMath>
                </a14:m>
                <a:r>
                  <a:rPr lang="zh-CN" altLang="en-US" b="0" dirty="0"/>
                  <a:t>的整数倍，总是会有</a:t>
                </a:r>
                <a14:m>
                  <m:oMath xmlns:m="http://schemas.openxmlformats.org/officeDocument/2006/math">
                    <m:sSup>
                      <m:sSupPr>
                        <m:ctrlPr>
                          <a:rPr lang="en-US" b="0" i="1">
                            <a:solidFill>
                              <a:srgbClr val="000000"/>
                            </a:solidFill>
                            <a:latin typeface="Cambria Math" panose="02040503050406030204" pitchFamily="18" charset="0"/>
                          </a:rPr>
                        </m:ctrlPr>
                      </m:sSupPr>
                      <m:e>
                        <m:r>
                          <m:rPr>
                            <m:sty m:val="p"/>
                          </m:rPr>
                          <a:rPr lang="en-US" b="0" i="0">
                            <a:solidFill>
                              <a:srgbClr val="000000"/>
                            </a:solidFill>
                            <a:latin typeface="Cambria Math" panose="02040503050406030204" pitchFamily="18" charset="0"/>
                          </a:rPr>
                          <m:t>e</m:t>
                        </m:r>
                      </m:e>
                      <m:sup>
                        <m:r>
                          <m:rPr>
                            <m:sty m:val="p"/>
                          </m:rPr>
                          <a:rPr lang="en-US" b="0" i="0">
                            <a:solidFill>
                              <a:srgbClr val="000000"/>
                            </a:solidFill>
                            <a:latin typeface="Cambria Math" panose="02040503050406030204" pitchFamily="18" charset="0"/>
                          </a:rPr>
                          <m:t>j</m:t>
                        </m:r>
                        <m:r>
                          <a:rPr lang="en-US" b="0" i="1" smtClean="0">
                            <a:solidFill>
                              <a:srgbClr val="000000"/>
                            </a:solidFill>
                            <a:latin typeface="Cambria Math" panose="02040503050406030204" pitchFamily="18" charset="0"/>
                          </a:rPr>
                          <m:t>(</m:t>
                        </m:r>
                        <m:sSub>
                          <m:sSubPr>
                            <m:ctrlPr>
                              <a:rPr lang="en-US" b="0" i="1">
                                <a:solidFill>
                                  <a:srgbClr val="000000"/>
                                </a:solidFill>
                                <a:latin typeface="Cambria Math" panose="02040503050406030204" pitchFamily="18" charset="0"/>
                              </a:rPr>
                            </m:ctrlPr>
                          </m:sSubPr>
                          <m:e>
                            <m:r>
                              <a:rPr lang="en-US" b="0" i="1">
                                <a:solidFill>
                                  <a:srgbClr val="000000"/>
                                </a:solidFill>
                                <a:latin typeface="Cambria Math" panose="02040503050406030204" pitchFamily="18" charset="0"/>
                              </a:rPr>
                              <m:t>𝜔</m:t>
                            </m:r>
                          </m:e>
                          <m:sub>
                            <m:r>
                              <a:rPr lang="en-US" b="0" i="1">
                                <a:solidFill>
                                  <a:srgbClr val="000000"/>
                                </a:solidFill>
                                <a:latin typeface="Cambria Math" panose="02040503050406030204" pitchFamily="18" charset="0"/>
                              </a:rPr>
                              <m:t>0</m:t>
                            </m:r>
                          </m:sub>
                        </m:sSub>
                        <m:r>
                          <a:rPr lang="en-US" b="0" i="1">
                            <a:solidFill>
                              <a:srgbClr val="000000"/>
                            </a:solidFill>
                            <a:latin typeface="Cambria Math" panose="02040503050406030204" pitchFamily="18" charset="0"/>
                          </a:rPr>
                          <m:t>+2</m:t>
                        </m:r>
                        <m:r>
                          <m:rPr>
                            <m:sty m:val="p"/>
                          </m:rPr>
                          <a:rPr lang="en-US" b="0" i="0">
                            <a:solidFill>
                              <a:srgbClr val="000000"/>
                            </a:solidFill>
                            <a:latin typeface="Cambria Math" panose="02040503050406030204" pitchFamily="18" charset="0"/>
                          </a:rPr>
                          <m:t>π</m:t>
                        </m:r>
                        <m:r>
                          <a:rPr lang="en-US" b="0" i="1">
                            <a:solidFill>
                              <a:srgbClr val="000000"/>
                            </a:solidFill>
                            <a:latin typeface="Cambria Math" panose="02040503050406030204" pitchFamily="18" charset="0"/>
                          </a:rPr>
                          <m:t>𝑘</m:t>
                        </m:r>
                        <m:r>
                          <a:rPr lang="en-US" b="0" i="1" smtClean="0">
                            <a:solidFill>
                              <a:srgbClr val="000000"/>
                            </a:solidFill>
                            <a:latin typeface="Cambria Math" panose="02040503050406030204" pitchFamily="18" charset="0"/>
                          </a:rPr>
                          <m:t>)</m:t>
                        </m:r>
                        <m:r>
                          <a:rPr lang="en-US" b="0" i="1">
                            <a:solidFill>
                              <a:srgbClr val="000000"/>
                            </a:solidFill>
                            <a:latin typeface="Cambria Math" panose="02040503050406030204" pitchFamily="18" charset="0"/>
                          </a:rPr>
                          <m:t>𝑛</m:t>
                        </m:r>
                      </m:sup>
                    </m:sSup>
                    <m:r>
                      <a:rPr lang="en-US" b="0" i="1">
                        <a:solidFill>
                          <a:srgbClr val="000000"/>
                        </a:solidFill>
                        <a:latin typeface="Cambria Math" panose="02040503050406030204" pitchFamily="18" charset="0"/>
                      </a:rPr>
                      <m:t>=</m:t>
                    </m:r>
                    <m:sSup>
                      <m:sSupPr>
                        <m:ctrlPr>
                          <a:rPr lang="en-US" b="0" i="1">
                            <a:solidFill>
                              <a:srgbClr val="000000"/>
                            </a:solidFill>
                            <a:latin typeface="Cambria Math" panose="02040503050406030204" pitchFamily="18" charset="0"/>
                          </a:rPr>
                        </m:ctrlPr>
                      </m:sSupPr>
                      <m:e>
                        <m:r>
                          <m:rPr>
                            <m:sty m:val="p"/>
                          </m:rPr>
                          <a:rPr lang="en-US" b="0" i="0">
                            <a:solidFill>
                              <a:srgbClr val="000000"/>
                            </a:solidFill>
                            <a:latin typeface="Cambria Math" panose="02040503050406030204" pitchFamily="18" charset="0"/>
                          </a:rPr>
                          <m:t>e</m:t>
                        </m:r>
                      </m:e>
                      <m:sup>
                        <m:r>
                          <m:rPr>
                            <m:sty m:val="p"/>
                          </m:rPr>
                          <a:rPr lang="en-US" b="0" i="0">
                            <a:solidFill>
                              <a:srgbClr val="000000"/>
                            </a:solidFill>
                            <a:latin typeface="Cambria Math" panose="02040503050406030204" pitchFamily="18" charset="0"/>
                          </a:rPr>
                          <m:t>j</m:t>
                        </m:r>
                        <m:sSub>
                          <m:sSubPr>
                            <m:ctrlPr>
                              <a:rPr lang="en-US" b="0" i="1">
                                <a:solidFill>
                                  <a:srgbClr val="000000"/>
                                </a:solidFill>
                                <a:latin typeface="Cambria Math" panose="02040503050406030204" pitchFamily="18" charset="0"/>
                              </a:rPr>
                            </m:ctrlPr>
                          </m:sSubPr>
                          <m:e>
                            <m:r>
                              <a:rPr lang="en-US" b="0" i="1">
                                <a:solidFill>
                                  <a:srgbClr val="000000"/>
                                </a:solidFill>
                                <a:latin typeface="Cambria Math" panose="02040503050406030204" pitchFamily="18" charset="0"/>
                              </a:rPr>
                              <m:t>𝜔</m:t>
                            </m:r>
                          </m:e>
                          <m:sub>
                            <m:r>
                              <a:rPr lang="en-US" b="0" i="1">
                                <a:solidFill>
                                  <a:srgbClr val="000000"/>
                                </a:solidFill>
                                <a:latin typeface="Cambria Math" panose="02040503050406030204" pitchFamily="18" charset="0"/>
                              </a:rPr>
                              <m:t>0</m:t>
                            </m:r>
                          </m:sub>
                        </m:sSub>
                        <m:r>
                          <a:rPr lang="en-US" b="0" i="1">
                            <a:solidFill>
                              <a:srgbClr val="000000"/>
                            </a:solidFill>
                            <a:latin typeface="Cambria Math" panose="02040503050406030204" pitchFamily="18" charset="0"/>
                          </a:rPr>
                          <m:t>𝑛</m:t>
                        </m:r>
                      </m:sup>
                    </m:sSup>
                  </m:oMath>
                </a14:m>
                <a:r>
                  <a:rPr lang="zh-CN" altLang="en-US" b="0" dirty="0"/>
                  <a:t>。</a:t>
                </a:r>
                <a:r>
                  <a:rPr lang="zh-CN" altLang="en-US" b="0" dirty="0">
                    <a:solidFill>
                      <a:srgbClr val="FF0000"/>
                    </a:solidFill>
                  </a:rPr>
                  <a:t>离散时间信号的有效频率范围只有</a:t>
                </a:r>
                <a14:m>
                  <m:oMath xmlns:m="http://schemas.openxmlformats.org/officeDocument/2006/math">
                    <m:r>
                      <a:rPr lang="en-US" b="0" i="1" smtClean="0">
                        <a:solidFill>
                          <a:srgbClr val="FF0000"/>
                        </a:solidFill>
                        <a:latin typeface="Cambria Math" panose="02040503050406030204" pitchFamily="18" charset="0"/>
                      </a:rPr>
                      <m:t>2</m:t>
                    </m:r>
                    <m:r>
                      <m:rPr>
                        <m:sty m:val="p"/>
                      </m:rPr>
                      <a:rPr lang="en-US" b="0" i="0" smtClean="0">
                        <a:solidFill>
                          <a:srgbClr val="FF0000"/>
                        </a:solidFill>
                        <a:latin typeface="Cambria Math" panose="02040503050406030204" pitchFamily="18" charset="0"/>
                      </a:rPr>
                      <m:t>π</m:t>
                    </m:r>
                  </m:oMath>
                </a14:m>
                <a:r>
                  <a:rPr lang="zh-CN" altLang="en-US" b="0" dirty="0">
                    <a:solidFill>
                      <a:srgbClr val="FF0000"/>
                    </a:solidFill>
                  </a:rPr>
                  <a:t>区间</a:t>
                </a:r>
                <a:r>
                  <a:rPr lang="zh-CN" altLang="en-US" b="0" dirty="0"/>
                  <a:t>；</a:t>
                </a:r>
                <a:endParaRPr lang="en-US" altLang="zh-CN" b="0" dirty="0"/>
              </a:p>
              <a:p>
                <a:pPr marL="671513" lvl="1" indent="-271463" algn="just" eaLnBrk="1" hangingPunct="1">
                  <a:lnSpc>
                    <a:spcPct val="120000"/>
                  </a:lnSpc>
                  <a:spcBef>
                    <a:spcPts val="0"/>
                  </a:spcBef>
                  <a:spcAft>
                    <a:spcPts val="0"/>
                  </a:spcAft>
                </a:pPr>
                <a14:m>
                  <m:oMath xmlns:m="http://schemas.openxmlformats.org/officeDocument/2006/math">
                    <m:r>
                      <a:rPr lang="en-US" b="0" i="1" smtClean="0">
                        <a:solidFill>
                          <a:srgbClr val="FF0000"/>
                        </a:solidFill>
                        <a:latin typeface="Cambria Math" panose="02040503050406030204" pitchFamily="18" charset="0"/>
                      </a:rPr>
                      <m:t>𝜔</m:t>
                    </m:r>
                    <m:r>
                      <a:rPr lang="en-US" b="0" i="1" smtClean="0">
                        <a:solidFill>
                          <a:srgbClr val="FF0000"/>
                        </a:solidFill>
                        <a:latin typeface="Cambria Math" panose="02040503050406030204" pitchFamily="18" charset="0"/>
                      </a:rPr>
                      <m:t>=2</m:t>
                    </m:r>
                    <m:r>
                      <m:rPr>
                        <m:sty m:val="p"/>
                      </m:rPr>
                      <a:rPr lang="en-US" b="0" i="0" smtClean="0">
                        <a:solidFill>
                          <a:srgbClr val="FF0000"/>
                        </a:solidFill>
                        <a:latin typeface="Cambria Math" panose="02040503050406030204" pitchFamily="18" charset="0"/>
                      </a:rPr>
                      <m:t>π</m:t>
                    </m:r>
                    <m:r>
                      <a:rPr lang="en-US" b="0" i="1" smtClean="0">
                        <a:solidFill>
                          <a:srgbClr val="FF0000"/>
                        </a:solidFill>
                        <a:latin typeface="Cambria Math" panose="02040503050406030204" pitchFamily="18" charset="0"/>
                      </a:rPr>
                      <m:t>𝑘</m:t>
                    </m:r>
                  </m:oMath>
                </a14:m>
                <a:r>
                  <a:rPr lang="zh-CN" altLang="en-US" b="0" dirty="0">
                    <a:solidFill>
                      <a:srgbClr val="FF0000"/>
                    </a:solidFill>
                  </a:rPr>
                  <a:t>处都对应最低频率，</a:t>
                </a:r>
                <a14:m>
                  <m:oMath xmlns:m="http://schemas.openxmlformats.org/officeDocument/2006/math">
                    <m:r>
                      <a:rPr lang="en-US" b="0" i="1">
                        <a:solidFill>
                          <a:srgbClr val="FF0000"/>
                        </a:solidFill>
                        <a:latin typeface="Cambria Math" panose="02040503050406030204" pitchFamily="18" charset="0"/>
                      </a:rPr>
                      <m:t>𝜔</m:t>
                    </m:r>
                    <m:r>
                      <a:rPr lang="en-US" b="0" i="1">
                        <a:solidFill>
                          <a:srgbClr val="FF0000"/>
                        </a:solidFill>
                        <a:latin typeface="Cambria Math" panose="02040503050406030204" pitchFamily="18" charset="0"/>
                      </a:rPr>
                      <m:t>=2</m:t>
                    </m:r>
                    <m:r>
                      <a:rPr lang="en-US" b="0" i="1" smtClean="0">
                        <a:solidFill>
                          <a:srgbClr val="FF0000"/>
                        </a:solidFill>
                        <a:latin typeface="Cambria Math" panose="02040503050406030204" pitchFamily="18" charset="0"/>
                      </a:rPr>
                      <m:t>𝜋</m:t>
                    </m:r>
                    <m:r>
                      <a:rPr lang="en-US" b="0" i="1" smtClean="0">
                        <a:solidFill>
                          <a:srgbClr val="FF0000"/>
                        </a:solidFill>
                        <a:latin typeface="Cambria Math" panose="02040503050406030204" pitchFamily="18" charset="0"/>
                      </a:rPr>
                      <m:t>𝑘</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𝜋</m:t>
                    </m:r>
                  </m:oMath>
                </a14:m>
                <a:r>
                  <a:rPr lang="zh-CN" altLang="en-US" b="0" dirty="0">
                    <a:solidFill>
                      <a:srgbClr val="FF0000"/>
                    </a:solidFill>
                  </a:rPr>
                  <a:t>处都对应最高频率</a:t>
                </a:r>
                <a:r>
                  <a:rPr lang="zh-CN" altLang="en-US" b="0" dirty="0"/>
                  <a:t>。</a:t>
                </a:r>
              </a:p>
            </p:txBody>
          </p:sp>
        </mc:Choice>
        <mc:Fallback xmlns="">
          <p:sp>
            <p:nvSpPr>
              <p:cNvPr id="11283" name="内容占位符 2">
                <a:extLst>
                  <a:ext uri="{FF2B5EF4-FFF2-40B4-BE49-F238E27FC236}">
                    <a16:creationId xmlns:a16="http://schemas.microsoft.com/office/drawing/2014/main" id="{F4EADB86-4B51-484B-A329-E85612155C17}"/>
                  </a:ext>
                </a:extLst>
              </p:cNvPr>
              <p:cNvSpPr>
                <a:spLocks noGrp="1" noRot="1" noChangeAspect="1" noMove="1" noResize="1" noEditPoints="1" noAdjustHandles="1" noChangeArrowheads="1" noChangeShapeType="1" noTextEdit="1"/>
              </p:cNvSpPr>
              <p:nvPr>
                <p:ph idx="1"/>
              </p:nvPr>
            </p:nvSpPr>
            <p:spPr>
              <a:xfrm>
                <a:off x="457200" y="1397396"/>
                <a:ext cx="8229600" cy="4767908"/>
              </a:xfrm>
              <a:blipFill>
                <a:blip r:embed="rId3"/>
                <a:stretch>
                  <a:fillRect l="-1333" r="-1481" b="-2685"/>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AE9809FA-072D-4342-8314-D37813F676D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7EB748-8CFF-4F05-9C65-BB192E36405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4" name="标题 1">
            <a:extLst>
              <a:ext uri="{FF2B5EF4-FFF2-40B4-BE49-F238E27FC236}">
                <a16:creationId xmlns:a16="http://schemas.microsoft.com/office/drawing/2014/main" id="{9682C0EC-8668-4A03-A800-3D3E9F35C1AB}"/>
              </a:ext>
            </a:extLst>
          </p:cNvPr>
          <p:cNvSpPr>
            <a:spLocks noGrp="1"/>
          </p:cNvSpPr>
          <p:nvPr>
            <p:ph type="title"/>
          </p:nvPr>
        </p:nvSpPr>
        <p:spPr/>
        <p:txBody>
          <a:bodyPr/>
          <a:lstStyle/>
          <a:p>
            <a:pPr eaLnBrk="1" hangingPunct="1"/>
            <a:r>
              <a:rPr lang="en-US" altLang="zh-CN"/>
              <a:t>1.3  </a:t>
            </a:r>
            <a:r>
              <a:rPr lang="zh-CN" altLang="en-US"/>
              <a:t>复指数信号与正弦信号</a:t>
            </a:r>
          </a:p>
        </p:txBody>
      </p:sp>
      <p:sp>
        <p:nvSpPr>
          <p:cNvPr id="5" name="灯片编号占位符 4">
            <a:extLst>
              <a:ext uri="{FF2B5EF4-FFF2-40B4-BE49-F238E27FC236}">
                <a16:creationId xmlns:a16="http://schemas.microsoft.com/office/drawing/2014/main" id="{A16205D0-6B1D-42A6-9622-196136FCABD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51F1CF4-737B-44A5-BF75-39352290494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6" name="Rectangle 2">
                <a:extLst>
                  <a:ext uri="{FF2B5EF4-FFF2-40B4-BE49-F238E27FC236}">
                    <a16:creationId xmlns:a16="http://schemas.microsoft.com/office/drawing/2014/main" id="{19E98A8F-006A-4C04-A67D-2DCBF6001FE9}"/>
                  </a:ext>
                </a:extLst>
              </p:cNvPr>
              <p:cNvSpPr txBox="1">
                <a:spLocks noChangeArrowheads="1"/>
              </p:cNvSpPr>
              <p:nvPr/>
            </p:nvSpPr>
            <p:spPr bwMode="auto">
              <a:xfrm>
                <a:off x="1350963" y="1031875"/>
                <a:ext cx="7007225" cy="752475"/>
              </a:xfrm>
              <a:prstGeom prst="rect">
                <a:avLst/>
              </a:prstGeom>
              <a:noFill/>
              <a:ln w="9525">
                <a:noFill/>
                <a:miter lim="800000"/>
                <a:headEnd/>
                <a:tailEnd/>
              </a:ln>
            </p:spPr>
            <p:txBody>
              <a:bodyPr lIns="92075" tIns="46038" rIns="92075" bIns="46038" anchor="ctr"/>
              <a:lstStyle/>
              <a:p>
                <a:pPr lvl="0" algn="ctr">
                  <a:defRPr/>
                </a:pPr>
                <a:r>
                  <a:rPr kumimoji="0" lang="zh-CN" altLang="en-US" sz="3200" i="0" u="none" strike="noStrike" kern="1200" cap="none" spc="0" normalizeH="0" baseline="0" noProof="0" dirty="0">
                    <a:ln>
                      <a:noFill/>
                    </a:ln>
                    <a:solidFill>
                      <a:prstClr val="black"/>
                    </a:solidFill>
                    <a:effectLst/>
                    <a:uLnTx/>
                    <a:uFillTx/>
                    <a:latin typeface="华文楷体" pitchFamily="2" charset="-122"/>
                    <a:ea typeface="华文楷体" pitchFamily="2" charset="-122"/>
                  </a:rPr>
                  <a:t>信号</a:t>
                </a:r>
                <a14:m>
                  <m:oMath xmlns:m="http://schemas.openxmlformats.org/officeDocument/2006/math">
                    <m:sSup>
                      <m:sSupPr>
                        <m:ctrlPr>
                          <a:rPr lang="en-US" sz="3200" i="1" smtClean="0">
                            <a:solidFill>
                              <a:srgbClr val="FF0000"/>
                            </a:solidFill>
                            <a:latin typeface="Cambria Math" panose="02040503050406030204" pitchFamily="18" charset="0"/>
                          </a:rPr>
                        </m:ctrlPr>
                      </m:sSupPr>
                      <m:e>
                        <m:r>
                          <m:rPr>
                            <m:sty m:val="p"/>
                          </m:rPr>
                          <a:rPr lang="en-US" sz="3200" b="0" i="0">
                            <a:solidFill>
                              <a:srgbClr val="FF0000"/>
                            </a:solidFill>
                            <a:latin typeface="Cambria Math" panose="02040503050406030204" pitchFamily="18" charset="0"/>
                          </a:rPr>
                          <m:t>e</m:t>
                        </m:r>
                      </m:e>
                      <m:sup>
                        <m:r>
                          <m:rPr>
                            <m:sty m:val="p"/>
                          </m:rPr>
                          <a:rPr lang="en-US" sz="3200" b="0" i="0">
                            <a:solidFill>
                              <a:srgbClr val="FF0000"/>
                            </a:solidFill>
                            <a:latin typeface="Cambria Math" panose="02040503050406030204" pitchFamily="18" charset="0"/>
                          </a:rPr>
                          <m:t>j</m:t>
                        </m:r>
                        <m:sSub>
                          <m:sSubPr>
                            <m:ctrlPr>
                              <a:rPr lang="en-US" sz="3200" i="1">
                                <a:solidFill>
                                  <a:srgbClr val="FF0000"/>
                                </a:solidFill>
                                <a:latin typeface="Cambria Math" panose="02040503050406030204" pitchFamily="18" charset="0"/>
                              </a:rPr>
                            </m:ctrlPr>
                          </m:sSubPr>
                          <m:e>
                            <m:r>
                              <a:rPr lang="en-US" sz="3200" b="0" i="1">
                                <a:solidFill>
                                  <a:srgbClr val="FF0000"/>
                                </a:solidFill>
                                <a:latin typeface="Cambria Math" panose="02040503050406030204" pitchFamily="18" charset="0"/>
                              </a:rPr>
                              <m:t>𝜔</m:t>
                            </m:r>
                          </m:e>
                          <m:sub>
                            <m:r>
                              <a:rPr lang="en-US" sz="3200" b="0" i="1">
                                <a:solidFill>
                                  <a:srgbClr val="FF0000"/>
                                </a:solidFill>
                                <a:latin typeface="Cambria Math" panose="02040503050406030204" pitchFamily="18" charset="0"/>
                              </a:rPr>
                              <m:t>0</m:t>
                            </m:r>
                          </m:sub>
                        </m:sSub>
                        <m:r>
                          <a:rPr lang="en-US" sz="3200" b="0" i="1">
                            <a:solidFill>
                              <a:srgbClr val="FF0000"/>
                            </a:solidFill>
                            <a:latin typeface="Cambria Math" panose="02040503050406030204" pitchFamily="18" charset="0"/>
                          </a:rPr>
                          <m:t>𝑡</m:t>
                        </m:r>
                      </m:sup>
                    </m:sSup>
                  </m:oMath>
                </a14:m>
                <a:r>
                  <a:rPr kumimoji="0" lang="zh-CN" altLang="en-US" sz="3200" i="0" u="none" strike="noStrike" kern="1200" cap="none" spc="0" normalizeH="0" baseline="0" noProof="0" dirty="0">
                    <a:ln>
                      <a:noFill/>
                    </a:ln>
                    <a:solidFill>
                      <a:prstClr val="black"/>
                    </a:solidFill>
                    <a:effectLst/>
                    <a:uLnTx/>
                    <a:uFillTx/>
                    <a:latin typeface="华文楷体" pitchFamily="2" charset="-122"/>
                    <a:ea typeface="华文楷体" pitchFamily="2" charset="-122"/>
                  </a:rPr>
                  <a:t>和</a:t>
                </a:r>
                <a14:m>
                  <m:oMath xmlns:m="http://schemas.openxmlformats.org/officeDocument/2006/math">
                    <m:sSup>
                      <m:sSupPr>
                        <m:ctrlPr>
                          <a:rPr lang="en-US" sz="3200" i="1" smtClean="0">
                            <a:solidFill>
                              <a:srgbClr val="FF0000"/>
                            </a:solidFill>
                            <a:latin typeface="Cambria Math" panose="02040503050406030204" pitchFamily="18" charset="0"/>
                          </a:rPr>
                        </m:ctrlPr>
                      </m:sSupPr>
                      <m:e>
                        <m:r>
                          <m:rPr>
                            <m:sty m:val="p"/>
                          </m:rPr>
                          <a:rPr lang="en-US" sz="3200" b="0" i="0">
                            <a:solidFill>
                              <a:srgbClr val="FF0000"/>
                            </a:solidFill>
                            <a:latin typeface="Cambria Math" panose="02040503050406030204" pitchFamily="18" charset="0"/>
                          </a:rPr>
                          <m:t>e</m:t>
                        </m:r>
                      </m:e>
                      <m:sup>
                        <m:r>
                          <m:rPr>
                            <m:sty m:val="p"/>
                          </m:rPr>
                          <a:rPr lang="en-US" sz="3200" b="0" i="0">
                            <a:solidFill>
                              <a:srgbClr val="FF0000"/>
                            </a:solidFill>
                            <a:latin typeface="Cambria Math" panose="02040503050406030204" pitchFamily="18" charset="0"/>
                          </a:rPr>
                          <m:t>j</m:t>
                        </m:r>
                        <m:sSub>
                          <m:sSubPr>
                            <m:ctrlPr>
                              <a:rPr lang="en-US" sz="3200" i="1">
                                <a:solidFill>
                                  <a:srgbClr val="FF0000"/>
                                </a:solidFill>
                                <a:latin typeface="Cambria Math" panose="02040503050406030204" pitchFamily="18" charset="0"/>
                              </a:rPr>
                            </m:ctrlPr>
                          </m:sSubPr>
                          <m:e>
                            <m:r>
                              <a:rPr lang="en-US" sz="3200" b="0" i="1">
                                <a:solidFill>
                                  <a:srgbClr val="FF0000"/>
                                </a:solidFill>
                                <a:latin typeface="Cambria Math" panose="02040503050406030204" pitchFamily="18" charset="0"/>
                              </a:rPr>
                              <m:t>𝜔</m:t>
                            </m:r>
                          </m:e>
                          <m:sub>
                            <m:r>
                              <a:rPr lang="en-US" sz="3200" b="0" i="1">
                                <a:solidFill>
                                  <a:srgbClr val="FF0000"/>
                                </a:solidFill>
                                <a:latin typeface="Cambria Math" panose="02040503050406030204" pitchFamily="18" charset="0"/>
                              </a:rPr>
                              <m:t>0</m:t>
                            </m:r>
                          </m:sub>
                        </m:sSub>
                        <m:r>
                          <a:rPr lang="en-US" sz="3200" b="0" i="1">
                            <a:solidFill>
                              <a:srgbClr val="FF0000"/>
                            </a:solidFill>
                            <a:latin typeface="Cambria Math" panose="02040503050406030204" pitchFamily="18" charset="0"/>
                          </a:rPr>
                          <m:t>𝑛</m:t>
                        </m:r>
                      </m:sup>
                    </m:sSup>
                  </m:oMath>
                </a14:m>
                <a:r>
                  <a:rPr kumimoji="0" lang="zh-CN" altLang="en-US" sz="3200" i="0" u="none" strike="noStrike" kern="1200" cap="none" spc="0" normalizeH="0" baseline="0" noProof="0" dirty="0">
                    <a:ln>
                      <a:noFill/>
                    </a:ln>
                    <a:solidFill>
                      <a:prstClr val="black"/>
                    </a:solidFill>
                    <a:effectLst/>
                    <a:uLnTx/>
                    <a:uFillTx/>
                    <a:latin typeface="华文楷体" pitchFamily="2" charset="-122"/>
                    <a:ea typeface="华文楷体" pitchFamily="2" charset="-122"/>
                  </a:rPr>
                  <a:t>的比较</a:t>
                </a:r>
              </a:p>
            </p:txBody>
          </p:sp>
        </mc:Choice>
        <mc:Fallback xmlns="">
          <p:sp>
            <p:nvSpPr>
              <p:cNvPr id="6" name="Rectangle 2">
                <a:extLst>
                  <a:ext uri="{FF2B5EF4-FFF2-40B4-BE49-F238E27FC236}">
                    <a16:creationId xmlns:a16="http://schemas.microsoft.com/office/drawing/2014/main" id="{19E98A8F-006A-4C04-A67D-2DCBF6001FE9}"/>
                  </a:ext>
                </a:extLst>
              </p:cNvPr>
              <p:cNvSpPr txBox="1">
                <a:spLocks noRot="1" noChangeAspect="1" noMove="1" noResize="1" noEditPoints="1" noAdjustHandles="1" noChangeArrowheads="1" noChangeShapeType="1" noTextEdit="1"/>
              </p:cNvSpPr>
              <p:nvPr/>
            </p:nvSpPr>
            <p:spPr bwMode="auto">
              <a:xfrm>
                <a:off x="1350963" y="1031875"/>
                <a:ext cx="7007225" cy="752475"/>
              </a:xfrm>
              <a:prstGeom prst="rect">
                <a:avLst/>
              </a:prstGeom>
              <a:blipFill>
                <a:blip r:embed="rId2"/>
                <a:stretch>
                  <a:fillRect b="-16129"/>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0" name="表格 20">
                <a:extLst>
                  <a:ext uri="{FF2B5EF4-FFF2-40B4-BE49-F238E27FC236}">
                    <a16:creationId xmlns:a16="http://schemas.microsoft.com/office/drawing/2014/main" id="{F421A8BA-5D32-4A61-BFE4-012A0227D490}"/>
                  </a:ext>
                </a:extLst>
              </p:cNvPr>
              <p:cNvGraphicFramePr>
                <a:graphicFrameLocks noGrp="1"/>
              </p:cNvGraphicFramePr>
              <p:nvPr>
                <p:extLst>
                  <p:ext uri="{D42A27DB-BD31-4B8C-83A1-F6EECF244321}">
                    <p14:modId xmlns:p14="http://schemas.microsoft.com/office/powerpoint/2010/main" val="1740252497"/>
                  </p:ext>
                </p:extLst>
              </p:nvPr>
            </p:nvGraphicFramePr>
            <p:xfrm>
              <a:off x="498376" y="1884410"/>
              <a:ext cx="8147248" cy="4320000"/>
            </p:xfrm>
            <a:graphic>
              <a:graphicData uri="http://schemas.openxmlformats.org/drawingml/2006/table">
                <a:tbl>
                  <a:tblPr firstRow="1" bandRow="1">
                    <a:tableStyleId>{5C22544A-7EE6-4342-B048-85BDC9FD1C3A}</a:tableStyleId>
                  </a:tblPr>
                  <a:tblGrid>
                    <a:gridCol w="3785592">
                      <a:extLst>
                        <a:ext uri="{9D8B030D-6E8A-4147-A177-3AD203B41FA5}">
                          <a16:colId xmlns:a16="http://schemas.microsoft.com/office/drawing/2014/main" val="1906798019"/>
                        </a:ext>
                      </a:extLst>
                    </a:gridCol>
                    <a:gridCol w="4361656">
                      <a:extLst>
                        <a:ext uri="{9D8B030D-6E8A-4147-A177-3AD203B41FA5}">
                          <a16:colId xmlns:a16="http://schemas.microsoft.com/office/drawing/2014/main" val="2493064756"/>
                        </a:ext>
                      </a:extLst>
                    </a:gridCol>
                  </a:tblGrid>
                  <a:tr h="720000">
                    <a:tc>
                      <a:txBody>
                        <a:bodyPr/>
                        <a:lstStyle/>
                        <a:p>
                          <a:pPr algn="ctr"/>
                          <a14:m>
                            <m:oMathPara xmlns:m="http://schemas.openxmlformats.org/officeDocument/2006/math">
                              <m:oMathParaPr>
                                <m:jc m:val="centerGroup"/>
                              </m:oMathParaPr>
                              <m:oMath xmlns:m="http://schemas.openxmlformats.org/officeDocument/2006/math">
                                <m:sSup>
                                  <m:sSupPr>
                                    <m:ctrlPr>
                                      <a:rPr lang="en-US" sz="2400" i="1" smtClean="0">
                                        <a:solidFill>
                                          <a:srgbClr val="FF0000"/>
                                        </a:solidFill>
                                        <a:latin typeface="Cambria Math" panose="02040503050406030204" pitchFamily="18" charset="0"/>
                                      </a:rPr>
                                    </m:ctrlPr>
                                  </m:sSupPr>
                                  <m:e>
                                    <m:r>
                                      <m:rPr>
                                        <m:sty m:val="p"/>
                                      </m:rPr>
                                      <a:rPr lang="en-US" sz="2400" b="0" i="0">
                                        <a:solidFill>
                                          <a:srgbClr val="FF0000"/>
                                        </a:solidFill>
                                        <a:latin typeface="Cambria Math" panose="02040503050406030204" pitchFamily="18" charset="0"/>
                                      </a:rPr>
                                      <m:t>e</m:t>
                                    </m:r>
                                  </m:e>
                                  <m:sup>
                                    <m:r>
                                      <m:rPr>
                                        <m:sty m:val="p"/>
                                      </m:rPr>
                                      <a:rPr lang="en-US" sz="2400" b="0" i="0">
                                        <a:solidFill>
                                          <a:srgbClr val="FF0000"/>
                                        </a:solidFill>
                                        <a:latin typeface="Cambria Math" panose="02040503050406030204" pitchFamily="18" charset="0"/>
                                      </a:rPr>
                                      <m:t>j</m:t>
                                    </m:r>
                                    <m:sSub>
                                      <m:sSubPr>
                                        <m:ctrlPr>
                                          <a:rPr lang="en-US" sz="2400" i="1">
                                            <a:solidFill>
                                              <a:srgbClr val="FF0000"/>
                                            </a:solidFill>
                                            <a:latin typeface="Cambria Math" panose="02040503050406030204" pitchFamily="18" charset="0"/>
                                          </a:rPr>
                                        </m:ctrlPr>
                                      </m:sSubPr>
                                      <m:e>
                                        <m:r>
                                          <a:rPr lang="en-US" sz="2400" b="0" i="1">
                                            <a:solidFill>
                                              <a:srgbClr val="FF0000"/>
                                            </a:solidFill>
                                            <a:latin typeface="Cambria Math" panose="02040503050406030204" pitchFamily="18" charset="0"/>
                                          </a:rPr>
                                          <m:t>𝜔</m:t>
                                        </m:r>
                                      </m:e>
                                      <m:sub>
                                        <m:r>
                                          <a:rPr lang="en-US" sz="2400" b="0" i="1">
                                            <a:solidFill>
                                              <a:srgbClr val="FF0000"/>
                                            </a:solidFill>
                                            <a:latin typeface="Cambria Math" panose="02040503050406030204" pitchFamily="18" charset="0"/>
                                          </a:rPr>
                                          <m:t>0</m:t>
                                        </m:r>
                                      </m:sub>
                                    </m:sSub>
                                    <m:r>
                                      <a:rPr lang="en-US" sz="2400" b="0" i="1">
                                        <a:solidFill>
                                          <a:srgbClr val="FF0000"/>
                                        </a:solidFill>
                                        <a:latin typeface="Cambria Math" panose="02040503050406030204" pitchFamily="18" charset="0"/>
                                      </a:rPr>
                                      <m:t>𝑡</m:t>
                                    </m:r>
                                  </m:sup>
                                </m:sSup>
                              </m:oMath>
                            </m:oMathPara>
                          </a14:m>
                          <a:endParaRPr 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sz="2400" i="1" smtClean="0">
                                        <a:solidFill>
                                          <a:srgbClr val="FF0000"/>
                                        </a:solidFill>
                                        <a:latin typeface="Cambria Math" panose="02040503050406030204" pitchFamily="18" charset="0"/>
                                      </a:rPr>
                                    </m:ctrlPr>
                                  </m:sSupPr>
                                  <m:e>
                                    <m:r>
                                      <m:rPr>
                                        <m:sty m:val="p"/>
                                      </m:rPr>
                                      <a:rPr lang="en-US" sz="2400" b="0" i="0">
                                        <a:solidFill>
                                          <a:srgbClr val="FF0000"/>
                                        </a:solidFill>
                                        <a:latin typeface="Cambria Math" panose="02040503050406030204" pitchFamily="18" charset="0"/>
                                      </a:rPr>
                                      <m:t>e</m:t>
                                    </m:r>
                                  </m:e>
                                  <m:sup>
                                    <m:r>
                                      <m:rPr>
                                        <m:sty m:val="p"/>
                                      </m:rPr>
                                      <a:rPr lang="en-US" sz="2400" b="0" i="0">
                                        <a:solidFill>
                                          <a:srgbClr val="FF0000"/>
                                        </a:solidFill>
                                        <a:latin typeface="Cambria Math" panose="02040503050406030204" pitchFamily="18" charset="0"/>
                                      </a:rPr>
                                      <m:t>j</m:t>
                                    </m:r>
                                    <m:sSub>
                                      <m:sSubPr>
                                        <m:ctrlPr>
                                          <a:rPr lang="en-US" sz="2400" i="1">
                                            <a:solidFill>
                                              <a:srgbClr val="FF0000"/>
                                            </a:solidFill>
                                            <a:latin typeface="Cambria Math" panose="02040503050406030204" pitchFamily="18" charset="0"/>
                                          </a:rPr>
                                        </m:ctrlPr>
                                      </m:sSubPr>
                                      <m:e>
                                        <m:r>
                                          <a:rPr lang="en-US" sz="2400" b="0" i="1">
                                            <a:solidFill>
                                              <a:srgbClr val="FF0000"/>
                                            </a:solidFill>
                                            <a:latin typeface="Cambria Math" panose="02040503050406030204" pitchFamily="18" charset="0"/>
                                          </a:rPr>
                                          <m:t>𝜔</m:t>
                                        </m:r>
                                      </m:e>
                                      <m:sub>
                                        <m:r>
                                          <a:rPr lang="en-US" sz="2400" b="0" i="1">
                                            <a:solidFill>
                                              <a:srgbClr val="FF0000"/>
                                            </a:solidFill>
                                            <a:latin typeface="Cambria Math" panose="02040503050406030204" pitchFamily="18" charset="0"/>
                                          </a:rPr>
                                          <m:t>0</m:t>
                                        </m:r>
                                      </m:sub>
                                    </m:sSub>
                                    <m:r>
                                      <a:rPr lang="en-US" sz="2400" b="0" i="1">
                                        <a:solidFill>
                                          <a:srgbClr val="FF0000"/>
                                        </a:solidFill>
                                        <a:latin typeface="Cambria Math" panose="02040503050406030204" pitchFamily="18" charset="0"/>
                                      </a:rPr>
                                      <m:t>𝑛</m:t>
                                    </m:r>
                                  </m:sup>
                                </m:sSup>
                              </m:oMath>
                            </m:oMathPara>
                          </a14:m>
                          <a:endParaRPr 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9503857"/>
                      </a:ext>
                    </a:extLst>
                  </a:tr>
                  <a:tr h="900000">
                    <a:tc>
                      <a:txBody>
                        <a:bodyPr/>
                        <a:lstStyle/>
                        <a:p>
                          <a:pPr algn="ct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𝜔</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Sub>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不同，信号不同</a:t>
                          </a:r>
                          <a:endParaRPr 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频差</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cs typeface="+mn-cs"/>
                                </a:rPr>
                                <m:t>π</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的整数倍时，信号相同</a:t>
                          </a:r>
                          <a:endParaRPr 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0123334"/>
                      </a:ext>
                    </a:extLst>
                  </a:tr>
                  <a:tr h="900000">
                    <a:tc>
                      <a:txBody>
                        <a:body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对任何</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𝜔</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Sub>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信号都是周期的</a:t>
                          </a:r>
                          <a:endParaRPr 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仅当</a:t>
                          </a:r>
                          <a14:m>
                            <m:oMath xmlns:m="http://schemas.openxmlformats.org/officeDocument/2006/math">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r>
                                    <m:rPr>
                                      <m:sty m:val="p"/>
                                    </m:rPr>
                                    <a:rPr kumimoji="0" lang="en-US" sz="2400" b="0" i="0" u="none" strike="noStrike" kern="1200" cap="none" spc="0" normalizeH="0" baseline="0" noProof="0">
                                      <a:ln>
                                        <a:noFill/>
                                      </a:ln>
                                      <a:solidFill>
                                        <a:prstClr val="black"/>
                                      </a:solidFill>
                                      <a:effectLst/>
                                      <a:uLnTx/>
                                      <a:uFillTx/>
                                      <a:latin typeface="Cambria Math" panose="02040503050406030204" pitchFamily="18" charset="0"/>
                                      <a:cs typeface="+mn-cs"/>
                                    </a:rPr>
                                    <m:t>π</m:t>
                                  </m:r>
                                </m:num>
                                <m:den>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𝜔</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Sub>
                                </m:den>
                              </m:f>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𝑁</m:t>
                                  </m:r>
                                </m:num>
                                <m:den>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𝑚</m:t>
                                  </m:r>
                                </m:den>
                              </m:f>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时，信号是周期的</a:t>
                          </a:r>
                          <a:endParaRPr 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9149371"/>
                      </a:ext>
                    </a:extLst>
                  </a:tr>
                  <a:tr h="900000">
                    <a:tc>
                      <a:txBody>
                        <a:bodyPr/>
                        <a:lstStyle/>
                        <a:p>
                          <a:pPr algn="ct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基波频率</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𝜔</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Sub>
                            </m:oMath>
                          </a14:m>
                          <a:endParaRPr 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基波频率</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𝜔</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𝑚</m:t>
                              </m:r>
                            </m:oMath>
                          </a14:m>
                          <a:endParaRPr 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5504425"/>
                      </a:ext>
                    </a:extLst>
                  </a:tr>
                  <a:tr h="900000">
                    <a:tc>
                      <a:txBody>
                        <a:bodyPr/>
                        <a:lstStyle/>
                        <a:p>
                          <a:pPr algn="ct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基波周期：</a:t>
                          </a:r>
                          <a14:m>
                            <m:oMath xmlns:m="http://schemas.openxmlformats.org/officeDocument/2006/math">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𝑇</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r>
                                    <m:rPr>
                                      <m:sty m:val="p"/>
                                    </m:rPr>
                                    <a:rPr kumimoji="0" lang="en-US" sz="2400" b="0" i="0" u="none" strike="noStrike" kern="1200" cap="none" spc="0" normalizeH="0" baseline="0" noProof="0">
                                      <a:ln>
                                        <a:noFill/>
                                      </a:ln>
                                      <a:solidFill>
                                        <a:prstClr val="black"/>
                                      </a:solidFill>
                                      <a:effectLst/>
                                      <a:uLnTx/>
                                      <a:uFillTx/>
                                      <a:latin typeface="Cambria Math" panose="02040503050406030204" pitchFamily="18" charset="0"/>
                                      <a:cs typeface="+mn-cs"/>
                                    </a:rPr>
                                    <m:t>π</m:t>
                                  </m:r>
                                </m:num>
                                <m:den>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𝜔</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Sub>
                                </m:den>
                              </m:f>
                            </m:oMath>
                          </a14:m>
                          <a:endParaRPr 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基波周期：</a:t>
                          </a:r>
                          <a14:m>
                            <m:oMath xmlns:m="http://schemas.openxmlformats.org/officeDocument/2006/math">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𝑁</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𝑚</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r>
                                    <m:rPr>
                                      <m:sty m:val="p"/>
                                    </m:rPr>
                                    <a:rPr kumimoji="0" lang="en-US" sz="2400" b="0" i="0" u="none" strike="noStrike" kern="1200" cap="none" spc="0" normalizeH="0" baseline="0" noProof="0">
                                      <a:ln>
                                        <a:noFill/>
                                      </a:ln>
                                      <a:solidFill>
                                        <a:prstClr val="black"/>
                                      </a:solidFill>
                                      <a:effectLst/>
                                      <a:uLnTx/>
                                      <a:uFillTx/>
                                      <a:latin typeface="Cambria Math" panose="02040503050406030204" pitchFamily="18" charset="0"/>
                                      <a:cs typeface="+mn-cs"/>
                                    </a:rPr>
                                    <m:t>π</m:t>
                                  </m:r>
                                </m:num>
                                <m:den>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𝜔</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Sub>
                                </m:den>
                              </m:f>
                            </m:oMath>
                          </a14:m>
                          <a:endParaRPr lang="en-US" sz="2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5420865"/>
                      </a:ext>
                    </a:extLst>
                  </a:tr>
                </a:tbl>
              </a:graphicData>
            </a:graphic>
          </p:graphicFrame>
        </mc:Choice>
        <mc:Fallback xmlns="">
          <p:graphicFrame>
            <p:nvGraphicFramePr>
              <p:cNvPr id="20" name="表格 20">
                <a:extLst>
                  <a:ext uri="{FF2B5EF4-FFF2-40B4-BE49-F238E27FC236}">
                    <a16:creationId xmlns:a16="http://schemas.microsoft.com/office/drawing/2014/main" id="{F421A8BA-5D32-4A61-BFE4-012A0227D490}"/>
                  </a:ext>
                </a:extLst>
              </p:cNvPr>
              <p:cNvGraphicFramePr>
                <a:graphicFrameLocks noGrp="1"/>
              </p:cNvGraphicFramePr>
              <p:nvPr>
                <p:extLst>
                  <p:ext uri="{D42A27DB-BD31-4B8C-83A1-F6EECF244321}">
                    <p14:modId xmlns:p14="http://schemas.microsoft.com/office/powerpoint/2010/main" val="1740252497"/>
                  </p:ext>
                </p:extLst>
              </p:nvPr>
            </p:nvGraphicFramePr>
            <p:xfrm>
              <a:off x="498376" y="1884410"/>
              <a:ext cx="8147248" cy="4320000"/>
            </p:xfrm>
            <a:graphic>
              <a:graphicData uri="http://schemas.openxmlformats.org/drawingml/2006/table">
                <a:tbl>
                  <a:tblPr firstRow="1" bandRow="1">
                    <a:tableStyleId>{5C22544A-7EE6-4342-B048-85BDC9FD1C3A}</a:tableStyleId>
                  </a:tblPr>
                  <a:tblGrid>
                    <a:gridCol w="3785592">
                      <a:extLst>
                        <a:ext uri="{9D8B030D-6E8A-4147-A177-3AD203B41FA5}">
                          <a16:colId xmlns:a16="http://schemas.microsoft.com/office/drawing/2014/main" val="1906798019"/>
                        </a:ext>
                      </a:extLst>
                    </a:gridCol>
                    <a:gridCol w="4361656">
                      <a:extLst>
                        <a:ext uri="{9D8B030D-6E8A-4147-A177-3AD203B41FA5}">
                          <a16:colId xmlns:a16="http://schemas.microsoft.com/office/drawing/2014/main" val="2493064756"/>
                        </a:ext>
                      </a:extLst>
                    </a:gridCol>
                  </a:tblGrid>
                  <a:tr h="720000">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1" t="-847" r="-115434" b="-502542"/>
                          </a:stretch>
                        </a:blipFill>
                      </a:tcPr>
                    </a:tc>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11" t="-847" r="-279" b="-502542"/>
                          </a:stretch>
                        </a:blipFill>
                      </a:tcPr>
                    </a:tc>
                    <a:extLst>
                      <a:ext uri="{0D108BD9-81ED-4DB2-BD59-A6C34878D82A}">
                        <a16:rowId xmlns:a16="http://schemas.microsoft.com/office/drawing/2014/main" val="3509503857"/>
                      </a:ext>
                    </a:extLst>
                  </a:tr>
                  <a:tr h="900000">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1" t="-80405" r="-115434" b="-300676"/>
                          </a:stretch>
                        </a:blipFill>
                      </a:tcPr>
                    </a:tc>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11" t="-80405" r="-279" b="-300676"/>
                          </a:stretch>
                        </a:blipFill>
                      </a:tcPr>
                    </a:tc>
                    <a:extLst>
                      <a:ext uri="{0D108BD9-81ED-4DB2-BD59-A6C34878D82A}">
                        <a16:rowId xmlns:a16="http://schemas.microsoft.com/office/drawing/2014/main" val="1900123334"/>
                      </a:ext>
                    </a:extLst>
                  </a:tr>
                  <a:tr h="900000">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1" t="-180405" r="-115434" b="-200676"/>
                          </a:stretch>
                        </a:blipFill>
                      </a:tcPr>
                    </a:tc>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11" t="-180405" r="-279" b="-200676"/>
                          </a:stretch>
                        </a:blipFill>
                      </a:tcPr>
                    </a:tc>
                    <a:extLst>
                      <a:ext uri="{0D108BD9-81ED-4DB2-BD59-A6C34878D82A}">
                        <a16:rowId xmlns:a16="http://schemas.microsoft.com/office/drawing/2014/main" val="3409149371"/>
                      </a:ext>
                    </a:extLst>
                  </a:tr>
                  <a:tr h="900000">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1" t="-282313" r="-115434" b="-102041"/>
                          </a:stretch>
                        </a:blipFill>
                      </a:tcPr>
                    </a:tc>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11" t="-282313" r="-279" b="-102041"/>
                          </a:stretch>
                        </a:blipFill>
                      </a:tcPr>
                    </a:tc>
                    <a:extLst>
                      <a:ext uri="{0D108BD9-81ED-4DB2-BD59-A6C34878D82A}">
                        <a16:rowId xmlns:a16="http://schemas.microsoft.com/office/drawing/2014/main" val="2415504425"/>
                      </a:ext>
                    </a:extLst>
                  </a:tr>
                  <a:tr h="900000">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1" t="-379730" r="-115434" b="-1351"/>
                          </a:stretch>
                        </a:blipFill>
                      </a:tcPr>
                    </a:tc>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11" t="-379730" r="-279" b="-1351"/>
                          </a:stretch>
                        </a:blipFill>
                      </a:tcPr>
                    </a:tc>
                    <a:extLst>
                      <a:ext uri="{0D108BD9-81ED-4DB2-BD59-A6C34878D82A}">
                        <a16:rowId xmlns:a16="http://schemas.microsoft.com/office/drawing/2014/main" val="625420865"/>
                      </a:ext>
                    </a:extLst>
                  </a:tr>
                </a:tbl>
              </a:graphicData>
            </a:graphic>
          </p:graphicFrame>
        </mc:Fallback>
      </mc:AlternateContent>
      <mc:AlternateContent xmlns:mc="http://schemas.openxmlformats.org/markup-compatibility/2006" xmlns:a14="http://schemas.microsoft.com/office/drawing/2010/main">
        <mc:Choice Requires="a14">
          <p:sp>
            <p:nvSpPr>
              <p:cNvPr id="2" name="矩形 1"/>
              <p:cNvSpPr/>
              <p:nvPr/>
            </p:nvSpPr>
            <p:spPr>
              <a:xfrm>
                <a:off x="6300192" y="6204410"/>
                <a:ext cx="1944216" cy="461665"/>
              </a:xfrm>
              <a:prstGeom prst="rect">
                <a:avLst/>
              </a:prstGeom>
            </p:spPr>
            <p:txBody>
              <a:bodyPr wrap="square">
                <a:spAutoFit/>
              </a:bodyPr>
              <a:lstStyle/>
              <a:p>
                <a:r>
                  <a:rPr lang="zh-CN" altLang="en-US" sz="2400" dirty="0">
                    <a:latin typeface="Times New Roman" panose="02020603050405020304" pitchFamily="18" charset="0"/>
                    <a:ea typeface="华文楷体" panose="02010600040101010101" pitchFamily="2" charset="-122"/>
                  </a:rPr>
                  <a:t>当</a:t>
                </a:r>
                <a14:m>
                  <m:oMath xmlns:m="http://schemas.openxmlformats.org/officeDocument/2006/math">
                    <m:r>
                      <a:rPr lang="en-US" altLang="zh-CN" sz="2400" i="1">
                        <a:solidFill>
                          <a:srgbClr val="FF0000"/>
                        </a:solidFill>
                        <a:latin typeface="Cambria Math" panose="02040503050406030204" pitchFamily="18" charset="0"/>
                      </a:rPr>
                      <m:t>𝑁</m:t>
                    </m:r>
                  </m:oMath>
                </a14:m>
                <a:r>
                  <a:rPr lang="zh-CN" altLang="en-US" sz="2400" dirty="0">
                    <a:solidFill>
                      <a:srgbClr val="FF0000"/>
                    </a:solidFill>
                    <a:latin typeface="Times New Roman" panose="02020603050405020304" pitchFamily="18" charset="0"/>
                    <a:ea typeface="华文楷体" panose="02010600040101010101" pitchFamily="2" charset="-122"/>
                  </a:rPr>
                  <a:t>与</a:t>
                </a:r>
                <a14:m>
                  <m:oMath xmlns:m="http://schemas.openxmlformats.org/officeDocument/2006/math">
                    <m:r>
                      <a:rPr lang="en-US" altLang="zh-CN" sz="2400" i="1">
                        <a:solidFill>
                          <a:srgbClr val="FF0000"/>
                        </a:solidFill>
                        <a:latin typeface="Cambria Math" panose="02040503050406030204" pitchFamily="18" charset="0"/>
                      </a:rPr>
                      <m:t>𝑚</m:t>
                    </m:r>
                  </m:oMath>
                </a14:m>
                <a:r>
                  <a:rPr lang="zh-CN" altLang="en-US" sz="2400" dirty="0">
                    <a:solidFill>
                      <a:srgbClr val="FF0000"/>
                    </a:solidFill>
                    <a:latin typeface="Times New Roman" panose="02020603050405020304" pitchFamily="18" charset="0"/>
                    <a:ea typeface="华文楷体" panose="02010600040101010101" pitchFamily="2" charset="-122"/>
                  </a:rPr>
                  <a:t>互质</a:t>
                </a:r>
                <a:endParaRPr lang="zh-CN" alt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6300192" y="6204410"/>
                <a:ext cx="1944216" cy="461665"/>
              </a:xfrm>
              <a:prstGeom prst="rect">
                <a:avLst/>
              </a:prstGeom>
              <a:blipFill>
                <a:blip r:embed="rId4"/>
                <a:stretch>
                  <a:fillRect l="-4702" t="-9211" r="-2508" b="-30263"/>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4" name="标题 1">
            <a:extLst>
              <a:ext uri="{FF2B5EF4-FFF2-40B4-BE49-F238E27FC236}">
                <a16:creationId xmlns:a16="http://schemas.microsoft.com/office/drawing/2014/main" id="{7D657BF2-58BA-4FA4-B22B-4A6770759941}"/>
              </a:ext>
            </a:extLst>
          </p:cNvPr>
          <p:cNvSpPr>
            <a:spLocks noGrp="1"/>
          </p:cNvSpPr>
          <p:nvPr>
            <p:ph type="title"/>
          </p:nvPr>
        </p:nvSpPr>
        <p:spPr/>
        <p:txBody>
          <a:bodyPr/>
          <a:lstStyle/>
          <a:p>
            <a:pPr eaLnBrk="1" hangingPunct="1"/>
            <a:r>
              <a:rPr lang="en-US" altLang="zh-CN"/>
              <a:t>1.3  </a:t>
            </a:r>
            <a:r>
              <a:rPr lang="zh-CN" altLang="en-US"/>
              <a:t>复指数信号与正弦信号</a:t>
            </a:r>
          </a:p>
        </p:txBody>
      </p:sp>
      <mc:AlternateContent xmlns:mc="http://schemas.openxmlformats.org/markup-compatibility/2006" xmlns:a14="http://schemas.microsoft.com/office/drawing/2010/main">
        <mc:Choice Requires="a14">
          <p:sp>
            <p:nvSpPr>
              <p:cNvPr id="14345" name="内容占位符 2">
                <a:extLst>
                  <a:ext uri="{FF2B5EF4-FFF2-40B4-BE49-F238E27FC236}">
                    <a16:creationId xmlns:a16="http://schemas.microsoft.com/office/drawing/2014/main" id="{322F1F3F-A0A2-4750-8885-5B069216BF71}"/>
                  </a:ext>
                </a:extLst>
              </p:cNvPr>
              <p:cNvSpPr>
                <a:spLocks noGrp="1"/>
              </p:cNvSpPr>
              <p:nvPr>
                <p:ph idx="1"/>
              </p:nvPr>
            </p:nvSpPr>
            <p:spPr>
              <a:xfrm>
                <a:off x="457200" y="1268760"/>
                <a:ext cx="8229600" cy="5203989"/>
              </a:xfrm>
            </p:spPr>
            <p:txBody>
              <a:bodyPr>
                <a:spAutoFit/>
              </a:bodyPr>
              <a:lstStyle/>
              <a:p>
                <a:pPr eaLnBrk="1" hangingPunct="1">
                  <a:lnSpc>
                    <a:spcPct val="130000"/>
                  </a:lnSpc>
                  <a:spcBef>
                    <a:spcPts val="0"/>
                  </a:spcBef>
                  <a:spcAft>
                    <a:spcPts val="600"/>
                  </a:spcAft>
                </a:pPr>
                <a:r>
                  <a:rPr lang="zh-CN" altLang="en-US" sz="2400" b="0" dirty="0">
                    <a:solidFill>
                      <a:schemeClr val="tx1"/>
                    </a:solidFill>
                  </a:rPr>
                  <a:t>离散时间周期性复指数信号也可以构成一个成谐波关系的信号集：</a:t>
                </a:r>
                <a:r>
                  <a:rPr lang="en-US" altLang="zh-CN" sz="2400" b="0" dirty="0">
                    <a:solidFill>
                      <a:schemeClr val="tx1"/>
                    </a:solidFill>
                  </a:rPr>
                  <a:t/>
                </a:r>
                <a:br>
                  <a:rPr lang="en-US" altLang="zh-CN" sz="2400" b="0" dirty="0">
                    <a:solidFill>
                      <a:schemeClr val="tx1"/>
                    </a:solidFill>
                  </a:rPr>
                </a:br>
                <a14:m>
                  <m:oMath xmlns:m="http://schemas.openxmlformats.org/officeDocument/2006/math">
                    <m:d>
                      <m:dPr>
                        <m:begChr m:val="{"/>
                        <m:endChr m:val="}"/>
                        <m:ctrlPr>
                          <a:rPr lang="en-US" sz="2400" b="0" i="1">
                            <a:latin typeface="Cambria Math" panose="02040503050406030204" pitchFamily="18" charset="0"/>
                          </a:rPr>
                        </m:ctrlPr>
                      </m:dPr>
                      <m:e>
                        <m:sSub>
                          <m:sSubPr>
                            <m:ctrlPr>
                              <a:rPr lang="en-US" sz="2400" b="0" i="1">
                                <a:latin typeface="Cambria Math" panose="02040503050406030204" pitchFamily="18" charset="0"/>
                              </a:rPr>
                            </m:ctrlPr>
                          </m:sSubPr>
                          <m:e>
                            <m:r>
                              <a:rPr lang="en-US" sz="2400" b="0" i="1">
                                <a:latin typeface="Cambria Math" panose="02040503050406030204" pitchFamily="18" charset="0"/>
                              </a:rPr>
                              <m:t>𝜙</m:t>
                            </m:r>
                          </m:e>
                          <m:sub>
                            <m:r>
                              <a:rPr lang="en-US" sz="2400" b="0" i="1">
                                <a:latin typeface="Cambria Math" panose="02040503050406030204" pitchFamily="18" charset="0"/>
                              </a:rPr>
                              <m:t>𝑘</m:t>
                            </m:r>
                          </m:sub>
                        </m:sSub>
                        <m:r>
                          <a:rPr lang="en-US" sz="2400" b="0" i="1" smtClean="0">
                            <a:latin typeface="Cambria Math" panose="02040503050406030204" pitchFamily="18" charset="0"/>
                          </a:rPr>
                          <m:t>[</m:t>
                        </m:r>
                        <m:r>
                          <a:rPr lang="en-US" sz="2400" b="0" i="1">
                            <a:latin typeface="Cambria Math" panose="02040503050406030204" pitchFamily="18" charset="0"/>
                          </a:rPr>
                          <m:t>𝑛</m:t>
                        </m:r>
                        <m:r>
                          <a:rPr lang="en-US" sz="2400" b="0" i="1" smtClean="0">
                            <a:latin typeface="Cambria Math" panose="02040503050406030204" pitchFamily="18" charset="0"/>
                          </a:rPr>
                          <m:t>]</m:t>
                        </m:r>
                      </m:e>
                    </m:d>
                    <m:r>
                      <a:rPr lang="en-US" sz="2400" b="0" i="1">
                        <a:latin typeface="Cambria Math" panose="02040503050406030204" pitchFamily="18" charset="0"/>
                      </a:rPr>
                      <m:t>=</m:t>
                    </m:r>
                    <m:d>
                      <m:dPr>
                        <m:begChr m:val="{"/>
                        <m:endChr m:val="}"/>
                        <m:ctrlPr>
                          <a:rPr lang="en-US" sz="2400" b="0" i="1" smtClean="0">
                            <a:solidFill>
                              <a:schemeClr val="tx1"/>
                            </a:solidFill>
                            <a:latin typeface="Cambria Math" panose="02040503050406030204" pitchFamily="18" charset="0"/>
                          </a:rPr>
                        </m:ctrlPr>
                      </m:dPr>
                      <m:e>
                        <m:sSup>
                          <m:sSupPr>
                            <m:ctrlPr>
                              <a:rPr lang="en-US" sz="2400" b="0" i="1" smtClean="0">
                                <a:solidFill>
                                  <a:srgbClr val="FF0000"/>
                                </a:solidFill>
                                <a:latin typeface="Cambria Math" panose="02040503050406030204" pitchFamily="18" charset="0"/>
                              </a:rPr>
                            </m:ctrlPr>
                          </m:sSupPr>
                          <m:e>
                            <m:r>
                              <m:rPr>
                                <m:sty m:val="p"/>
                              </m:rPr>
                              <a:rPr lang="en-US" sz="2400" b="0" i="0">
                                <a:solidFill>
                                  <a:srgbClr val="FF0000"/>
                                </a:solidFill>
                                <a:latin typeface="Cambria Math" panose="02040503050406030204" pitchFamily="18" charset="0"/>
                              </a:rPr>
                              <m:t>e</m:t>
                            </m:r>
                          </m:e>
                          <m:sup>
                            <m:r>
                              <m:rPr>
                                <m:sty m:val="p"/>
                              </m:rPr>
                              <a:rPr lang="en-US" sz="2400" b="0" i="0">
                                <a:solidFill>
                                  <a:srgbClr val="FF0000"/>
                                </a:solidFill>
                                <a:latin typeface="Cambria Math" panose="02040503050406030204" pitchFamily="18" charset="0"/>
                              </a:rPr>
                              <m:t>j</m:t>
                            </m:r>
                            <m:f>
                              <m:fPr>
                                <m:ctrlPr>
                                  <a:rPr lang="en-US" sz="2400" b="0" i="1">
                                    <a:solidFill>
                                      <a:srgbClr val="FF0000"/>
                                    </a:solidFill>
                                    <a:latin typeface="Cambria Math" panose="02040503050406030204" pitchFamily="18" charset="0"/>
                                  </a:rPr>
                                </m:ctrlPr>
                              </m:fPr>
                              <m:num>
                                <m:r>
                                  <a:rPr lang="en-US" sz="2400" b="0" i="1">
                                    <a:solidFill>
                                      <a:srgbClr val="FF0000"/>
                                    </a:solidFill>
                                    <a:latin typeface="Cambria Math" panose="02040503050406030204" pitchFamily="18" charset="0"/>
                                  </a:rPr>
                                  <m:t>2</m:t>
                                </m:r>
                                <m:r>
                                  <a:rPr lang="en-US" sz="2400" b="0" i="1">
                                    <a:solidFill>
                                      <a:srgbClr val="FF0000"/>
                                    </a:solidFill>
                                    <a:latin typeface="Cambria Math" panose="02040503050406030204" pitchFamily="18" charset="0"/>
                                  </a:rPr>
                                  <m:t>𝜋</m:t>
                                </m:r>
                              </m:num>
                              <m:den>
                                <m:r>
                                  <a:rPr lang="en-US" sz="2400" b="0" i="1">
                                    <a:solidFill>
                                      <a:srgbClr val="FF0000"/>
                                    </a:solidFill>
                                    <a:latin typeface="Cambria Math" panose="02040503050406030204" pitchFamily="18" charset="0"/>
                                  </a:rPr>
                                  <m:t>𝑁</m:t>
                                </m:r>
                              </m:den>
                            </m:f>
                            <m:r>
                              <a:rPr lang="en-US" sz="2400" b="0" i="1">
                                <a:solidFill>
                                  <a:srgbClr val="FF0000"/>
                                </a:solidFill>
                                <a:latin typeface="Cambria Math" panose="02040503050406030204" pitchFamily="18" charset="0"/>
                              </a:rPr>
                              <m:t>𝑘𝑛</m:t>
                            </m:r>
                          </m:sup>
                        </m:sSup>
                      </m:e>
                    </m:d>
                    <m:r>
                      <a:rPr lang="zh-CN" altLang="en-US" sz="2400" b="0" i="1">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𝑘</m:t>
                    </m:r>
                    <m:r>
                      <a:rPr lang="en-US" sz="2400" b="0" i="1">
                        <a:solidFill>
                          <a:schemeClr val="tx1"/>
                        </a:solidFill>
                        <a:latin typeface="Cambria Math" panose="02040503050406030204" pitchFamily="18" charset="0"/>
                      </a:rPr>
                      <m:t>=0,±1,±2⋅⋅⋅⋅⋅⋅</m:t>
                    </m:r>
                  </m:oMath>
                </a14:m>
                <a:r>
                  <a:rPr lang="en-US" altLang="zh-CN" sz="2400" b="0" dirty="0">
                    <a:solidFill>
                      <a:schemeClr val="tx1"/>
                    </a:solidFill>
                  </a:rPr>
                  <a:t/>
                </a:r>
                <a:br>
                  <a:rPr lang="en-US" altLang="zh-CN" sz="2400" b="0" dirty="0">
                    <a:solidFill>
                      <a:schemeClr val="tx1"/>
                    </a:solidFill>
                  </a:rPr>
                </a:br>
                <a:r>
                  <a:rPr lang="zh-CN" altLang="en-US" sz="2400" b="0" dirty="0">
                    <a:solidFill>
                      <a:schemeClr val="tx1"/>
                    </a:solidFill>
                  </a:rPr>
                  <a:t>该信号集中的每一个信号都是以</a:t>
                </a:r>
                <a14:m>
                  <m:oMath xmlns:m="http://schemas.openxmlformats.org/officeDocument/2006/math">
                    <m:r>
                      <a:rPr lang="en-US" sz="2400" b="0" i="1">
                        <a:solidFill>
                          <a:srgbClr val="FF0000"/>
                        </a:solidFill>
                        <a:latin typeface="Cambria Math" panose="02040503050406030204" pitchFamily="18" charset="0"/>
                      </a:rPr>
                      <m:t>𝑁</m:t>
                    </m:r>
                  </m:oMath>
                </a14:m>
                <a:r>
                  <a:rPr lang="zh-CN" altLang="en-US" sz="2400" b="0" dirty="0">
                    <a:solidFill>
                      <a:schemeClr val="tx1"/>
                    </a:solidFill>
                  </a:rPr>
                  <a:t>为公共周期的</a:t>
                </a:r>
                <a:r>
                  <a:rPr lang="en-US" altLang="zh-CN" sz="2400" b="0" dirty="0">
                    <a:solidFill>
                      <a:schemeClr val="tx1"/>
                    </a:solidFill>
                  </a:rPr>
                  <a:t>, </a:t>
                </a:r>
                <a14:m>
                  <m:oMath xmlns:m="http://schemas.openxmlformats.org/officeDocument/2006/math">
                    <m:r>
                      <a:rPr lang="en-US" sz="2400" b="0" i="1">
                        <a:solidFill>
                          <a:srgbClr val="FF0000"/>
                        </a:solidFill>
                        <a:latin typeface="Cambria Math" panose="02040503050406030204" pitchFamily="18" charset="0"/>
                      </a:rPr>
                      <m:t>𝑁</m:t>
                    </m:r>
                  </m:oMath>
                </a14:m>
                <a:r>
                  <a:rPr lang="zh-CN" altLang="en-US" sz="2400" b="0" dirty="0">
                    <a:solidFill>
                      <a:schemeClr val="tx1"/>
                    </a:solidFill>
                  </a:rPr>
                  <a:t>是它们的基波周期。</a:t>
                </a:r>
                <a:endParaRPr lang="en-US" altLang="zh-CN" sz="2400" b="0" dirty="0">
                  <a:solidFill>
                    <a:schemeClr val="tx1"/>
                  </a:solidFill>
                </a:endParaRPr>
              </a:p>
              <a:p>
                <a:pPr lvl="1" eaLnBrk="1" hangingPunct="1">
                  <a:lnSpc>
                    <a:spcPct val="130000"/>
                  </a:lnSpc>
                  <a:spcBef>
                    <a:spcPts val="0"/>
                  </a:spcBef>
                  <a:spcAft>
                    <a:spcPts val="600"/>
                  </a:spcAft>
                </a:pPr>
                <a14:m>
                  <m:oMath xmlns:m="http://schemas.openxmlformats.org/officeDocument/2006/math">
                    <m:r>
                      <a:rPr lang="en-US" sz="2400" b="0" i="1" smtClean="0">
                        <a:solidFill>
                          <a:srgbClr val="FF0000"/>
                        </a:solidFill>
                        <a:latin typeface="Cambria Math" panose="02040503050406030204" pitchFamily="18" charset="0"/>
                      </a:rPr>
                      <m:t>𝑘</m:t>
                    </m:r>
                    <m:r>
                      <a:rPr lang="en-US" sz="2400" b="0" i="1" smtClean="0">
                        <a:solidFill>
                          <a:srgbClr val="FF0000"/>
                        </a:solidFill>
                        <a:latin typeface="Cambria Math" panose="02040503050406030204" pitchFamily="18" charset="0"/>
                      </a:rPr>
                      <m:t>=0</m:t>
                    </m:r>
                  </m:oMath>
                </a14:m>
                <a:r>
                  <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rPr>
                  <a:t>称为</a:t>
                </a:r>
                <a:r>
                  <a:rPr kumimoji="0" lang="zh-CN" altLang="en-US" sz="2400" b="0" i="0" u="none" strike="noStrike" kern="1200" cap="none" spc="0" normalizeH="0" baseline="0" noProof="0" dirty="0">
                    <a:ln>
                      <a:noFill/>
                    </a:ln>
                    <a:solidFill>
                      <a:srgbClr val="FF0000"/>
                    </a:solidFill>
                    <a:effectLst/>
                    <a:uLnTx/>
                    <a:uFillTx/>
                    <a:latin typeface="华文楷体" panose="02010600040101010101" pitchFamily="2" charset="-122"/>
                  </a:rPr>
                  <a:t>直流分量</a:t>
                </a:r>
                <a:endParaRPr kumimoji="0" lang="en-US" altLang="zh-CN" sz="2400" b="0" i="0" u="none" strike="noStrike" kern="1200" cap="none" spc="0" normalizeH="0" baseline="0" noProof="0" dirty="0">
                  <a:ln>
                    <a:noFill/>
                  </a:ln>
                  <a:solidFill>
                    <a:schemeClr val="tx1"/>
                  </a:solidFill>
                  <a:effectLst/>
                  <a:uLnTx/>
                  <a:uFillTx/>
                  <a:latin typeface="华文楷体" panose="02010600040101010101" pitchFamily="2" charset="-122"/>
                </a:endParaRPr>
              </a:p>
              <a:p>
                <a:pPr lvl="1" eaLnBrk="1" hangingPunct="1">
                  <a:lnSpc>
                    <a:spcPct val="130000"/>
                  </a:lnSpc>
                  <a:spcBef>
                    <a:spcPts val="0"/>
                  </a:spcBef>
                  <a:spcAft>
                    <a:spcPts val="600"/>
                  </a:spcAft>
                </a:pPr>
                <a14:m>
                  <m:oMath xmlns:m="http://schemas.openxmlformats.org/officeDocument/2006/math">
                    <m:r>
                      <a:rPr lang="en-US" sz="2400" b="0" i="1" smtClean="0">
                        <a:solidFill>
                          <a:srgbClr val="FF0000"/>
                        </a:solidFill>
                        <a:latin typeface="Cambria Math" panose="02040503050406030204" pitchFamily="18" charset="0"/>
                      </a:rPr>
                      <m:t>𝑘</m:t>
                    </m:r>
                    <m:r>
                      <a:rPr lang="en-US" sz="2400" b="0" i="1" smtClean="0">
                        <a:solidFill>
                          <a:srgbClr val="FF0000"/>
                        </a:solidFill>
                        <a:latin typeface="Cambria Math" panose="02040503050406030204" pitchFamily="18" charset="0"/>
                      </a:rPr>
                      <m:t>=1</m:t>
                    </m:r>
                  </m:oMath>
                </a14:m>
                <a:r>
                  <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rPr>
                  <a:t>称为</a:t>
                </a:r>
                <a:r>
                  <a:rPr kumimoji="0" lang="zh-CN" altLang="en-US" sz="2400" i="0" u="none" strike="noStrike" kern="1200" cap="none" spc="0" normalizeH="0" baseline="0" noProof="0" dirty="0">
                    <a:ln>
                      <a:noFill/>
                    </a:ln>
                    <a:solidFill>
                      <a:srgbClr val="FF0000"/>
                    </a:solidFill>
                    <a:effectLst/>
                    <a:uLnTx/>
                    <a:uFillTx/>
                    <a:latin typeface="华文楷体" panose="02010600040101010101" pitchFamily="2" charset="-122"/>
                  </a:rPr>
                  <a:t>基波分量</a:t>
                </a:r>
                <a:r>
                  <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rPr>
                  <a:t>。</a:t>
                </a:r>
              </a:p>
              <a:p>
                <a:pPr lvl="1" eaLnBrk="1" hangingPunct="1">
                  <a:lnSpc>
                    <a:spcPct val="130000"/>
                  </a:lnSpc>
                  <a:spcBef>
                    <a:spcPts val="0"/>
                  </a:spcBef>
                  <a:spcAft>
                    <a:spcPts val="600"/>
                  </a:spcAft>
                </a:pPr>
                <a14:m>
                  <m:oMath xmlns:m="http://schemas.openxmlformats.org/officeDocument/2006/math">
                    <m:r>
                      <a:rPr lang="en-US" sz="2400" b="0" i="1" smtClean="0">
                        <a:solidFill>
                          <a:srgbClr val="FF0000"/>
                        </a:solidFill>
                        <a:latin typeface="Cambria Math" panose="02040503050406030204" pitchFamily="18" charset="0"/>
                      </a:rPr>
                      <m:t>𝑘</m:t>
                    </m:r>
                    <m:r>
                      <a:rPr lang="en-US" sz="2400" b="0" i="1" smtClean="0">
                        <a:solidFill>
                          <a:srgbClr val="FF0000"/>
                        </a:solidFill>
                        <a:latin typeface="Cambria Math" panose="02040503050406030204" pitchFamily="18" charset="0"/>
                      </a:rPr>
                      <m:t>=2</m:t>
                    </m:r>
                  </m:oMath>
                </a14:m>
                <a:r>
                  <a:rPr lang="zh-CN" altLang="en-US" sz="2400" b="0" dirty="0">
                    <a:solidFill>
                      <a:schemeClr val="tx1"/>
                    </a:solidFill>
                    <a:latin typeface="华文楷体" panose="02010600040101010101" pitchFamily="2" charset="-122"/>
                  </a:rPr>
                  <a:t>称为</a:t>
                </a:r>
                <a:r>
                  <a:rPr lang="zh-CN" altLang="en-US" sz="2400" dirty="0">
                    <a:solidFill>
                      <a:srgbClr val="FF0000"/>
                    </a:solidFill>
                    <a:latin typeface="华文楷体" panose="02010600040101010101" pitchFamily="2" charset="-122"/>
                  </a:rPr>
                  <a:t>二次谐波分量</a:t>
                </a:r>
                <a:r>
                  <a:rPr lang="zh-CN" altLang="en-US" sz="2400" b="0" dirty="0">
                    <a:solidFill>
                      <a:schemeClr val="tx1"/>
                    </a:solidFill>
                    <a:latin typeface="华文楷体" panose="02010600040101010101" pitchFamily="2" charset="-122"/>
                  </a:rPr>
                  <a:t>等等。</a:t>
                </a:r>
              </a:p>
              <a:p>
                <a:pPr lvl="1" eaLnBrk="1" hangingPunct="1">
                  <a:lnSpc>
                    <a:spcPct val="130000"/>
                  </a:lnSpc>
                  <a:spcBef>
                    <a:spcPts val="0"/>
                  </a:spcBef>
                  <a:spcAft>
                    <a:spcPts val="600"/>
                  </a:spcAft>
                </a:pPr>
                <a:r>
                  <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rPr>
                  <a:t>每个谐波分量的频率都是</a:t>
                </a:r>
                <a14:m>
                  <m:oMath xmlns:m="http://schemas.openxmlformats.org/officeDocument/2006/math">
                    <m:f>
                      <m:fPr>
                        <m:ctrlPr>
                          <a:rPr lang="en-US" sz="2400" b="0" i="1" smtClean="0">
                            <a:solidFill>
                              <a:schemeClr val="tx1"/>
                            </a:solidFill>
                            <a:latin typeface="Cambria Math" panose="02040503050406030204" pitchFamily="18" charset="0"/>
                          </a:rPr>
                        </m:ctrlPr>
                      </m:fPr>
                      <m:num>
                        <m:r>
                          <a:rPr lang="en-US" sz="2400" b="0" i="1">
                            <a:solidFill>
                              <a:schemeClr val="tx1"/>
                            </a:solidFill>
                            <a:latin typeface="Cambria Math" panose="02040503050406030204" pitchFamily="18" charset="0"/>
                          </a:rPr>
                          <m:t>2</m:t>
                        </m:r>
                        <m:r>
                          <m:rPr>
                            <m:sty m:val="p"/>
                          </m:rPr>
                          <a:rPr lang="en-US" sz="2400" b="0" i="0">
                            <a:solidFill>
                              <a:schemeClr val="tx1"/>
                            </a:solidFill>
                            <a:latin typeface="Cambria Math" panose="02040503050406030204" pitchFamily="18" charset="0"/>
                          </a:rPr>
                          <m:t>π</m:t>
                        </m:r>
                      </m:num>
                      <m:den>
                        <m:r>
                          <a:rPr lang="en-US" sz="2400" b="0" i="1">
                            <a:solidFill>
                              <a:schemeClr val="tx1"/>
                            </a:solidFill>
                            <a:latin typeface="Cambria Math" panose="02040503050406030204" pitchFamily="18" charset="0"/>
                          </a:rPr>
                          <m:t>𝑁</m:t>
                        </m:r>
                      </m:den>
                    </m:f>
                  </m:oMath>
                </a14:m>
                <a:r>
                  <a:rPr kumimoji="0" lang="zh-CN" altLang="en-US" sz="2400" b="0" i="0" u="none" strike="noStrike" kern="1200" cap="none" spc="0" normalizeH="0" baseline="0" noProof="0" dirty="0">
                    <a:ln>
                      <a:noFill/>
                    </a:ln>
                    <a:solidFill>
                      <a:schemeClr val="tx1"/>
                    </a:solidFill>
                    <a:effectLst/>
                    <a:uLnTx/>
                    <a:uFillTx/>
                    <a:latin typeface="华文楷体" panose="02010600040101010101" pitchFamily="2" charset="-122"/>
                  </a:rPr>
                  <a:t>的整数倍。</a:t>
                </a:r>
                <a:endParaRPr lang="zh-CN" altLang="en-US" sz="2400" b="0" dirty="0">
                  <a:solidFill>
                    <a:schemeClr val="tx1"/>
                  </a:solidFill>
                </a:endParaRPr>
              </a:p>
            </p:txBody>
          </p:sp>
        </mc:Choice>
        <mc:Fallback xmlns="">
          <p:sp>
            <p:nvSpPr>
              <p:cNvPr id="14345" name="内容占位符 2">
                <a:extLst>
                  <a:ext uri="{FF2B5EF4-FFF2-40B4-BE49-F238E27FC236}">
                    <a16:creationId xmlns:a16="http://schemas.microsoft.com/office/drawing/2014/main" id="{322F1F3F-A0A2-4750-8885-5B069216BF71}"/>
                  </a:ext>
                </a:extLst>
              </p:cNvPr>
              <p:cNvSpPr>
                <a:spLocks noGrp="1" noRot="1" noChangeAspect="1" noMove="1" noResize="1" noEditPoints="1" noAdjustHandles="1" noChangeArrowheads="1" noChangeShapeType="1" noTextEdit="1"/>
              </p:cNvSpPr>
              <p:nvPr>
                <p:ph idx="1"/>
              </p:nvPr>
            </p:nvSpPr>
            <p:spPr>
              <a:xfrm>
                <a:off x="457200" y="1268760"/>
                <a:ext cx="8229600" cy="5203989"/>
              </a:xfrm>
              <a:blipFill>
                <a:blip r:embed="rId2"/>
                <a:stretch>
                  <a:fillRect l="-963" r="-148"/>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189777B9-A140-4C95-8520-8A681094C18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F537EA-A200-4C29-AA91-844AF30BE67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标题 1">
            <a:extLst>
              <a:ext uri="{FF2B5EF4-FFF2-40B4-BE49-F238E27FC236}">
                <a16:creationId xmlns:a16="http://schemas.microsoft.com/office/drawing/2014/main" id="{F95BBBC2-3896-4163-9B2E-3136D50EF26F}"/>
              </a:ext>
            </a:extLst>
          </p:cNvPr>
          <p:cNvSpPr>
            <a:spLocks noGrp="1"/>
          </p:cNvSpPr>
          <p:nvPr>
            <p:ph type="title"/>
          </p:nvPr>
        </p:nvSpPr>
        <p:spPr/>
        <p:txBody>
          <a:bodyPr/>
          <a:lstStyle/>
          <a:p>
            <a:pPr eaLnBrk="1" hangingPunct="1"/>
            <a:r>
              <a:rPr lang="en-US" altLang="zh-CN"/>
              <a:t>1.3  </a:t>
            </a:r>
            <a:r>
              <a:rPr lang="zh-CN" altLang="en-US"/>
              <a:t>复指数信号与正弦信号</a:t>
            </a:r>
          </a:p>
        </p:txBody>
      </p:sp>
      <mc:AlternateContent xmlns:mc="http://schemas.openxmlformats.org/markup-compatibility/2006" xmlns:a14="http://schemas.microsoft.com/office/drawing/2010/main">
        <mc:Choice Requires="a14">
          <p:sp>
            <p:nvSpPr>
              <p:cNvPr id="15364" name="内容占位符 2">
                <a:extLst>
                  <a:ext uri="{FF2B5EF4-FFF2-40B4-BE49-F238E27FC236}">
                    <a16:creationId xmlns:a16="http://schemas.microsoft.com/office/drawing/2014/main" id="{E510A2A6-D62E-4A96-B29F-756ABD191918}"/>
                  </a:ext>
                </a:extLst>
              </p:cNvPr>
              <p:cNvSpPr>
                <a:spLocks noGrp="1"/>
              </p:cNvSpPr>
              <p:nvPr>
                <p:ph idx="1"/>
              </p:nvPr>
            </p:nvSpPr>
            <p:spPr>
              <a:xfrm>
                <a:off x="457200" y="1285875"/>
                <a:ext cx="8229600" cy="4059060"/>
              </a:xfrm>
            </p:spPr>
            <p:txBody>
              <a:bodyPr>
                <a:spAutoFit/>
              </a:bodyPr>
              <a:lstStyle/>
              <a:p>
                <a:pPr algn="just" eaLnBrk="1" hangingPunct="1">
                  <a:lnSpc>
                    <a:spcPct val="150000"/>
                  </a:lnSpc>
                  <a:spcBef>
                    <a:spcPts val="0"/>
                  </a:spcBef>
                  <a:spcAft>
                    <a:spcPts val="600"/>
                  </a:spcAft>
                </a:pPr>
                <a:r>
                  <a:rPr lang="zh-CN" altLang="en-US" sz="2800" b="0" dirty="0"/>
                  <a:t>与连续时间情况不同，</a:t>
                </a:r>
                <a:r>
                  <a:rPr lang="zh-CN" altLang="en-US" sz="2800" b="0" dirty="0">
                    <a:solidFill>
                      <a:srgbClr val="FF0000"/>
                    </a:solidFill>
                  </a:rPr>
                  <a:t>该信号集中的信号并不都是彼此独立的</a:t>
                </a:r>
                <a:r>
                  <a:rPr lang="zh-CN" altLang="en-US" sz="2800" b="0" dirty="0"/>
                  <a:t>。</a:t>
                </a:r>
                <a:r>
                  <a:rPr kumimoji="0" lang="zh-CN" altLang="en-US" sz="2800" b="0" i="0" u="none" strike="noStrike" kern="1200" cap="none" spc="0" normalizeH="0" baseline="0" noProof="0" dirty="0">
                    <a:ln>
                      <a:noFill/>
                    </a:ln>
                    <a:effectLst/>
                    <a:uLnTx/>
                    <a:uFillTx/>
                    <a:latin typeface="华文楷体" panose="02010600040101010101" pitchFamily="2" charset="-122"/>
                  </a:rPr>
                  <a:t>显然有：</a:t>
                </a:r>
                <a:endParaRPr kumimoji="0" lang="en-US" altLang="zh-CN" sz="2800" b="0" i="0" u="none" strike="noStrike" kern="1200" cap="none" spc="0" normalizeH="0" baseline="0" noProof="0" dirty="0">
                  <a:ln>
                    <a:noFill/>
                  </a:ln>
                  <a:effectLst/>
                  <a:uLnTx/>
                  <a:uFillTx/>
                  <a:latin typeface="华文楷体" panose="02010600040101010101" pitchFamily="2" charset="-122"/>
                </a:endParaRPr>
              </a:p>
              <a:p>
                <a:pPr marL="0" indent="0" algn="just" eaLnBrk="1" hangingPunct="1">
                  <a:lnSpc>
                    <a:spcPct val="150000"/>
                  </a:lnSpc>
                  <a:spcBef>
                    <a:spcPts val="0"/>
                  </a:spcBef>
                  <a:spcAft>
                    <a:spcPts val="600"/>
                  </a:spcAft>
                  <a:buNone/>
                </a:pPr>
                <a14:m>
                  <m:oMathPara xmlns:m="http://schemas.openxmlformats.org/officeDocument/2006/math">
                    <m:oMathParaPr>
                      <m:jc m:val="centerGroup"/>
                    </m:oMathParaPr>
                    <m:oMath xmlns:m="http://schemas.openxmlformats.org/officeDocument/2006/math">
                      <m:sSub>
                        <m:sSubPr>
                          <m:ctrlPr>
                            <a:rPr lang="en-US" sz="2800" b="0" i="1" smtClean="0">
                              <a:solidFill>
                                <a:srgbClr val="000000"/>
                              </a:solidFill>
                              <a:latin typeface="Cambria Math" panose="02040503050406030204" pitchFamily="18" charset="0"/>
                            </a:rPr>
                          </m:ctrlPr>
                        </m:sSubPr>
                        <m:e>
                          <m:r>
                            <a:rPr lang="en-US" sz="2800" b="0" i="1">
                              <a:latin typeface="Cambria Math" panose="02040503050406030204" pitchFamily="18" charset="0"/>
                            </a:rPr>
                            <m:t>𝜙</m:t>
                          </m:r>
                        </m:e>
                        <m:sub>
                          <m:r>
                            <a:rPr lang="en-US" sz="2800" b="0" i="1">
                              <a:solidFill>
                                <a:srgbClr val="000000"/>
                              </a:solidFill>
                              <a:latin typeface="Cambria Math" panose="02040503050406030204" pitchFamily="18" charset="0"/>
                            </a:rPr>
                            <m:t>𝑘</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𝑁</m:t>
                          </m:r>
                        </m:sub>
                      </m:sSub>
                      <m:r>
                        <a:rPr lang="en-US" sz="2800" b="0" i="1" smtClean="0">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m:t>
                      </m:r>
                      <m:sSub>
                        <m:sSubPr>
                          <m:ctrlPr>
                            <a:rPr lang="en-US" sz="2800" b="0" i="1">
                              <a:solidFill>
                                <a:srgbClr val="000000"/>
                              </a:solidFill>
                              <a:latin typeface="Cambria Math" panose="02040503050406030204" pitchFamily="18" charset="0"/>
                            </a:rPr>
                          </m:ctrlPr>
                        </m:sSubPr>
                        <m:e>
                          <m:r>
                            <a:rPr lang="en-US" sz="2800" b="0" i="1">
                              <a:latin typeface="Cambria Math" panose="02040503050406030204" pitchFamily="18" charset="0"/>
                            </a:rPr>
                            <m:t>𝜙</m:t>
                          </m:r>
                        </m:e>
                        <m:sub>
                          <m:r>
                            <a:rPr lang="en-US" sz="2800" b="0" i="1">
                              <a:solidFill>
                                <a:srgbClr val="000000"/>
                              </a:solidFill>
                              <a:latin typeface="Cambria Math" panose="02040503050406030204" pitchFamily="18" charset="0"/>
                            </a:rPr>
                            <m:t>𝑘</m:t>
                          </m:r>
                        </m:sub>
                      </m:sSub>
                      <m:r>
                        <a:rPr lang="en-US" sz="2800" b="0" i="1" smtClean="0">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m:oMathPara>
                </a14:m>
                <a:endParaRPr lang="en-US" altLang="zh-CN" sz="2800" b="0" dirty="0"/>
              </a:p>
              <a:p>
                <a:pPr lvl="1" algn="just" eaLnBrk="1" hangingPunct="1">
                  <a:lnSpc>
                    <a:spcPct val="150000"/>
                  </a:lnSpc>
                  <a:spcBef>
                    <a:spcPts val="0"/>
                  </a:spcBef>
                  <a:spcAft>
                    <a:spcPts val="600"/>
                  </a:spcAft>
                </a:pPr>
                <a:r>
                  <a:rPr lang="zh-CN" altLang="en-US" b="0" dirty="0"/>
                  <a:t>即：该信号集中只有</a:t>
                </a:r>
                <a14:m>
                  <m:oMath xmlns:m="http://schemas.openxmlformats.org/officeDocument/2006/math">
                    <m:r>
                      <a:rPr lang="en-US" sz="2800" b="0" i="1" smtClean="0">
                        <a:solidFill>
                          <a:srgbClr val="000000"/>
                        </a:solidFill>
                        <a:latin typeface="Cambria Math" panose="02040503050406030204" pitchFamily="18" charset="0"/>
                      </a:rPr>
                      <m:t>𝑁</m:t>
                    </m:r>
                  </m:oMath>
                </a14:m>
                <a:r>
                  <a:rPr lang="zh-CN" altLang="en-US" b="0" dirty="0"/>
                  <a:t>个信号是独立的。即</a:t>
                </a:r>
                <a:r>
                  <a:rPr lang="zh-CN" altLang="en-US" b="0" dirty="0">
                    <a:solidFill>
                      <a:srgbClr val="FF0000"/>
                    </a:solidFill>
                  </a:rPr>
                  <a:t>当</a:t>
                </a:r>
                <a14:m>
                  <m:oMath xmlns:m="http://schemas.openxmlformats.org/officeDocument/2006/math">
                    <m:r>
                      <a:rPr lang="en-US" b="0" i="1">
                        <a:solidFill>
                          <a:srgbClr val="FF0000"/>
                        </a:solidFill>
                        <a:latin typeface="Cambria Math" panose="02040503050406030204" pitchFamily="18" charset="0"/>
                      </a:rPr>
                      <m:t>𝑘</m:t>
                    </m:r>
                  </m:oMath>
                </a14:m>
                <a:r>
                  <a:rPr lang="en-US" altLang="zh-CN" b="0" dirty="0">
                    <a:solidFill>
                      <a:srgbClr val="FF0000"/>
                    </a:solidFill>
                  </a:rPr>
                  <a:t> </a:t>
                </a:r>
                <a:r>
                  <a:rPr lang="zh-CN" altLang="en-US" b="0" dirty="0">
                    <a:solidFill>
                      <a:srgbClr val="FF0000"/>
                    </a:solidFill>
                  </a:rPr>
                  <a:t>取相连的</a:t>
                </a:r>
                <a14:m>
                  <m:oMath xmlns:m="http://schemas.openxmlformats.org/officeDocument/2006/math">
                    <m:r>
                      <a:rPr lang="en-US" b="0" i="1">
                        <a:solidFill>
                          <a:srgbClr val="FF0000"/>
                        </a:solidFill>
                        <a:latin typeface="Cambria Math" panose="02040503050406030204" pitchFamily="18" charset="0"/>
                      </a:rPr>
                      <m:t>𝑁</m:t>
                    </m:r>
                  </m:oMath>
                </a14:m>
                <a:r>
                  <a:rPr lang="zh-CN" altLang="en-US" b="0" dirty="0">
                    <a:solidFill>
                      <a:srgbClr val="FF0000"/>
                    </a:solidFill>
                  </a:rPr>
                  <a:t>个整数时所对应的各个谐波才是彼此独立的</a:t>
                </a:r>
                <a:r>
                  <a:rPr lang="zh-CN" altLang="en-US" b="0" dirty="0"/>
                  <a:t>。</a:t>
                </a:r>
              </a:p>
            </p:txBody>
          </p:sp>
        </mc:Choice>
        <mc:Fallback xmlns="">
          <p:sp>
            <p:nvSpPr>
              <p:cNvPr id="15364" name="内容占位符 2">
                <a:extLst>
                  <a:ext uri="{FF2B5EF4-FFF2-40B4-BE49-F238E27FC236}">
                    <a16:creationId xmlns:a16="http://schemas.microsoft.com/office/drawing/2014/main" id="{E510A2A6-D62E-4A96-B29F-756ABD191918}"/>
                  </a:ext>
                </a:extLst>
              </p:cNvPr>
              <p:cNvSpPr>
                <a:spLocks noGrp="1" noRot="1" noChangeAspect="1" noMove="1" noResize="1" noEditPoints="1" noAdjustHandles="1" noChangeArrowheads="1" noChangeShapeType="1" noTextEdit="1"/>
              </p:cNvSpPr>
              <p:nvPr>
                <p:ph idx="1"/>
              </p:nvPr>
            </p:nvSpPr>
            <p:spPr>
              <a:xfrm>
                <a:off x="457200" y="1285875"/>
                <a:ext cx="8229600" cy="4059060"/>
              </a:xfrm>
              <a:blipFill>
                <a:blip r:embed="rId2"/>
                <a:stretch>
                  <a:fillRect l="-1333" r="-1481" b="-330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AC316C4F-C7ED-4D70-90C8-7C4B53BD54F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6A4DC45-BE4A-4F0E-A3D3-9C919FB0552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2" name="标题 1">
            <a:extLst>
              <a:ext uri="{FF2B5EF4-FFF2-40B4-BE49-F238E27FC236}">
                <a16:creationId xmlns:a16="http://schemas.microsoft.com/office/drawing/2014/main" id="{3FE70BFA-7441-49B3-9AA1-01AE4D4BDFB8}"/>
              </a:ext>
            </a:extLst>
          </p:cNvPr>
          <p:cNvSpPr>
            <a:spLocks noGrp="1"/>
          </p:cNvSpPr>
          <p:nvPr>
            <p:ph type="title"/>
          </p:nvPr>
        </p:nvSpPr>
        <p:spPr/>
        <p:txBody>
          <a:bodyPr/>
          <a:lstStyle/>
          <a:p>
            <a:pPr eaLnBrk="1" hangingPunct="1"/>
            <a:r>
              <a:rPr lang="en-US" altLang="zh-CN"/>
              <a:t>1.3  </a:t>
            </a:r>
            <a:r>
              <a:rPr lang="zh-CN" altLang="en-US"/>
              <a:t>复指数信号与正弦信号</a:t>
            </a:r>
          </a:p>
        </p:txBody>
      </p:sp>
      <p:sp>
        <p:nvSpPr>
          <p:cNvPr id="11283" name="内容占位符 2">
            <a:extLst>
              <a:ext uri="{FF2B5EF4-FFF2-40B4-BE49-F238E27FC236}">
                <a16:creationId xmlns:a16="http://schemas.microsoft.com/office/drawing/2014/main" id="{F4EADB86-4B51-484B-A329-E85612155C17}"/>
              </a:ext>
            </a:extLst>
          </p:cNvPr>
          <p:cNvSpPr>
            <a:spLocks noGrp="1"/>
          </p:cNvSpPr>
          <p:nvPr>
            <p:ph idx="1"/>
          </p:nvPr>
        </p:nvSpPr>
        <p:spPr>
          <a:xfrm>
            <a:off x="457200" y="1397396"/>
            <a:ext cx="8229600" cy="4589974"/>
          </a:xfrm>
        </p:spPr>
        <p:txBody>
          <a:bodyPr>
            <a:spAutoFit/>
          </a:bodyPr>
          <a:lstStyle/>
          <a:p>
            <a:pPr marL="271463" indent="-271463" algn="just" eaLnBrk="1" hangingPunct="1">
              <a:lnSpc>
                <a:spcPct val="200000"/>
              </a:lnSpc>
              <a:spcBef>
                <a:spcPts val="0"/>
              </a:spcBef>
              <a:spcAft>
                <a:spcPts val="1200"/>
              </a:spcAft>
            </a:pPr>
            <a:r>
              <a:rPr lang="zh-CN" altLang="en-US" sz="2800" b="0" dirty="0"/>
              <a:t>为何复指数信号如此重要？</a:t>
            </a:r>
            <a:endParaRPr lang="en-US" altLang="zh-CN" sz="2800" b="0" dirty="0"/>
          </a:p>
          <a:p>
            <a:pPr marL="671513" lvl="1" indent="-271463" algn="just" eaLnBrk="1" hangingPunct="1">
              <a:lnSpc>
                <a:spcPct val="200000"/>
              </a:lnSpc>
              <a:spcBef>
                <a:spcPts val="0"/>
              </a:spcBef>
              <a:spcAft>
                <a:spcPts val="1200"/>
              </a:spcAft>
            </a:pPr>
            <a:r>
              <a:rPr lang="zh-CN" altLang="en-US" b="0" dirty="0"/>
              <a:t>几乎所有在现实中感兴趣的信号都可以表示为复指数信号的叠加（加权和）。</a:t>
            </a:r>
            <a:endParaRPr lang="en-US" altLang="zh-CN" b="0" dirty="0"/>
          </a:p>
          <a:p>
            <a:pPr marL="671513" lvl="1" indent="-271463" algn="just" eaLnBrk="1" hangingPunct="1">
              <a:lnSpc>
                <a:spcPct val="200000"/>
              </a:lnSpc>
              <a:spcBef>
                <a:spcPts val="0"/>
              </a:spcBef>
              <a:spcAft>
                <a:spcPts val="1200"/>
              </a:spcAft>
            </a:pPr>
            <a:r>
              <a:rPr lang="zh-CN" altLang="en-US" b="0" dirty="0"/>
              <a:t>如果输入信号能表示为复指数信号的叠加，则计算线性时不变系统的输出响应将很便捷。</a:t>
            </a:r>
          </a:p>
        </p:txBody>
      </p:sp>
      <p:sp>
        <p:nvSpPr>
          <p:cNvPr id="4" name="灯片编号占位符 3">
            <a:extLst>
              <a:ext uri="{FF2B5EF4-FFF2-40B4-BE49-F238E27FC236}">
                <a16:creationId xmlns:a16="http://schemas.microsoft.com/office/drawing/2014/main" id="{AE9809FA-072D-4342-8314-D37813F676D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7EB748-8CFF-4F05-9C65-BB192E36405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43882477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30" name="标题 1">
            <a:extLst>
              <a:ext uri="{FF2B5EF4-FFF2-40B4-BE49-F238E27FC236}">
                <a16:creationId xmlns:a16="http://schemas.microsoft.com/office/drawing/2014/main" id="{8219F5F9-99F4-4DAF-9AF3-AB573208E33F}"/>
              </a:ext>
            </a:extLst>
          </p:cNvPr>
          <p:cNvSpPr>
            <a:spLocks noGrp="1"/>
          </p:cNvSpPr>
          <p:nvPr>
            <p:ph type="title"/>
          </p:nvPr>
        </p:nvSpPr>
        <p:spPr/>
        <p:txBody>
          <a:bodyPr/>
          <a:lstStyle/>
          <a:p>
            <a:pPr eaLnBrk="1" hangingPunct="1"/>
            <a:r>
              <a:rPr lang="en-US" altLang="zh-CN" dirty="0"/>
              <a:t>1.4  </a:t>
            </a:r>
            <a:r>
              <a:rPr lang="zh-CN" altLang="en-US" dirty="0"/>
              <a:t>单位冲激与单位阶跃函数</a:t>
            </a:r>
          </a:p>
        </p:txBody>
      </p:sp>
      <mc:AlternateContent xmlns:mc="http://schemas.openxmlformats.org/markup-compatibility/2006" xmlns:a14="http://schemas.microsoft.com/office/drawing/2010/main">
        <mc:Choice Requires="a14">
          <p:sp>
            <p:nvSpPr>
              <p:cNvPr id="17431" name="内容占位符 2">
                <a:extLst>
                  <a:ext uri="{FF2B5EF4-FFF2-40B4-BE49-F238E27FC236}">
                    <a16:creationId xmlns:a16="http://schemas.microsoft.com/office/drawing/2014/main" id="{08B0EA7C-B28B-4C39-BE61-6D4998696254}"/>
                  </a:ext>
                </a:extLst>
              </p:cNvPr>
              <p:cNvSpPr>
                <a:spLocks noGrp="1"/>
              </p:cNvSpPr>
              <p:nvPr>
                <p:ph idx="1"/>
              </p:nvPr>
            </p:nvSpPr>
            <p:spPr>
              <a:xfrm>
                <a:off x="457200" y="1285875"/>
                <a:ext cx="8229600" cy="1058751"/>
              </a:xfrm>
            </p:spPr>
            <p:txBody>
              <a:bodyPr>
                <a:spAutoFit/>
              </a:bodyPr>
              <a:lstStyle/>
              <a:p>
                <a:pPr eaLnBrk="1" hangingPunct="1">
                  <a:spcBef>
                    <a:spcPts val="0"/>
                  </a:spcBef>
                  <a:spcAft>
                    <a:spcPts val="1200"/>
                  </a:spcAft>
                </a:pPr>
                <a:r>
                  <a:rPr lang="zh-CN" altLang="en-US" sz="2400" b="0" dirty="0"/>
                  <a:t>一</a:t>
                </a:r>
                <a:r>
                  <a:rPr lang="en-US" altLang="zh-CN" sz="2400" b="0" dirty="0"/>
                  <a:t>.  </a:t>
                </a:r>
                <a:r>
                  <a:rPr lang="zh-CN" altLang="en-US" sz="2400" b="0" dirty="0"/>
                  <a:t>离散时间单位脉冲与单位阶跃序列</a:t>
                </a:r>
              </a:p>
              <a:p>
                <a:pPr eaLnBrk="1" hangingPunct="1"/>
                <a:r>
                  <a:rPr lang="en-US" altLang="zh-CN" sz="2400" b="0" dirty="0"/>
                  <a:t>1. </a:t>
                </a:r>
                <a:r>
                  <a:rPr lang="zh-CN" altLang="en-US" sz="2400" dirty="0">
                    <a:solidFill>
                      <a:srgbClr val="FF0000"/>
                    </a:solidFill>
                  </a:rPr>
                  <a:t>单位脉冲</a:t>
                </a:r>
                <a14:m>
                  <m:oMath xmlns:m="http://schemas.openxmlformats.org/officeDocument/2006/math">
                    <m:r>
                      <a:rPr lang="en-US" sz="2400" i="1" smtClean="0">
                        <a:solidFill>
                          <a:srgbClr val="FF0000"/>
                        </a:solidFill>
                        <a:latin typeface="Cambria Math" panose="02040503050406030204" pitchFamily="18" charset="0"/>
                      </a:rPr>
                      <m:t>𝛿</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𝑛</m:t>
                    </m:r>
                    <m:r>
                      <a:rPr lang="en-US" sz="2400" i="1" smtClean="0">
                        <a:solidFill>
                          <a:srgbClr val="FF0000"/>
                        </a:solidFill>
                        <a:latin typeface="Cambria Math" panose="02040503050406030204" pitchFamily="18" charset="0"/>
                      </a:rPr>
                      <m:t>]</m:t>
                    </m:r>
                  </m:oMath>
                </a14:m>
                <a:r>
                  <a:rPr lang="en-US" altLang="zh-CN" sz="2400" b="0" dirty="0"/>
                  <a:t>:</a:t>
                </a:r>
                <a:endParaRPr lang="zh-CN" altLang="en-US" sz="2400" b="0" dirty="0"/>
              </a:p>
            </p:txBody>
          </p:sp>
        </mc:Choice>
        <mc:Fallback xmlns="">
          <p:sp>
            <p:nvSpPr>
              <p:cNvPr id="17431" name="内容占位符 2">
                <a:extLst>
                  <a:ext uri="{FF2B5EF4-FFF2-40B4-BE49-F238E27FC236}">
                    <a16:creationId xmlns:a16="http://schemas.microsoft.com/office/drawing/2014/main" id="{08B0EA7C-B28B-4C39-BE61-6D4998696254}"/>
                  </a:ext>
                </a:extLst>
              </p:cNvPr>
              <p:cNvSpPr>
                <a:spLocks noGrp="1" noRot="1" noChangeAspect="1" noMove="1" noResize="1" noEditPoints="1" noAdjustHandles="1" noChangeArrowheads="1" noChangeShapeType="1" noTextEdit="1"/>
              </p:cNvSpPr>
              <p:nvPr>
                <p:ph idx="1"/>
              </p:nvPr>
            </p:nvSpPr>
            <p:spPr>
              <a:xfrm>
                <a:off x="457200" y="1285875"/>
                <a:ext cx="8229600" cy="1058751"/>
              </a:xfrm>
              <a:blipFill>
                <a:blip r:embed="rId2"/>
                <a:stretch>
                  <a:fillRect l="-963" t="-5172" b="-12644"/>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7A99AFA0-0294-4C32-8ED6-94E631E09F4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B93EDD3-5953-481F-B68B-D23AAC58378C}"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3" name="Object 4">
                <a:extLst>
                  <a:ext uri="{FF2B5EF4-FFF2-40B4-BE49-F238E27FC236}">
                    <a16:creationId xmlns:a16="http://schemas.microsoft.com/office/drawing/2014/main" id="{D221A04C-5855-4D29-8072-6831C1D21027}"/>
                  </a:ext>
                </a:extLst>
              </p:cNvPr>
              <p:cNvSpPr txBox="1"/>
              <p:nvPr/>
            </p:nvSpPr>
            <p:spPr bwMode="auto">
              <a:xfrm>
                <a:off x="1166933" y="2642515"/>
                <a:ext cx="2794787" cy="115917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d>
                        <m:dPr>
                          <m:begChr m:val="{"/>
                          <m:endChr m:val=""/>
                          <m:ctrlPr>
                            <a:rPr lang="en-US" sz="2400" i="1">
                              <a:solidFill>
                                <a:srgbClr val="000000"/>
                              </a:solidFill>
                              <a:latin typeface="Cambria Math" panose="02040503050406030204" pitchFamily="18" charset="0"/>
                            </a:rPr>
                          </m:ctrlPr>
                        </m:dPr>
                        <m:e>
                          <m:m>
                            <m:mPr>
                              <m:plcHide m:val="on"/>
                              <m:mcs>
                                <m:mc>
                                  <m:mcPr>
                                    <m:count m:val="1"/>
                                    <m:mcJc m:val="center"/>
                                  </m:mcPr>
                                </m:mc>
                              </m:mcs>
                              <m:ctrlPr>
                                <a:rPr lang="en-US" sz="2400" i="1">
                                  <a:solidFill>
                                    <a:srgbClr val="000000"/>
                                  </a:solidFill>
                                  <a:latin typeface="Cambria Math" panose="02040503050406030204" pitchFamily="18" charset="0"/>
                                </a:rPr>
                              </m:ctrlPr>
                            </m:mPr>
                            <m:mr>
                              <m:e>
                                <m:r>
                                  <a:rPr lang="en-US" sz="2400" i="1">
                                    <a:solidFill>
                                      <a:srgbClr val="000000"/>
                                    </a:solidFill>
                                    <a:latin typeface="Cambria Math" panose="02040503050406030204" pitchFamily="18" charset="0"/>
                                  </a:rPr>
                                  <m:t>1 (</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=0)</m:t>
                                </m:r>
                              </m:e>
                            </m:mr>
                            <m:mr>
                              <m:e>
                                <m:r>
                                  <a:rPr lang="en-US" sz="2400" i="1">
                                    <a:solidFill>
                                      <a:srgbClr val="000000"/>
                                    </a:solidFill>
                                    <a:latin typeface="Cambria Math" panose="02040503050406030204" pitchFamily="18" charset="0"/>
                                  </a:rPr>
                                  <m:t>0 (</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≠0)</m:t>
                                </m:r>
                              </m:e>
                            </m:mr>
                          </m:m>
                        </m:e>
                      </m:d>
                    </m:oMath>
                  </m:oMathPara>
                </a14:m>
                <a:endParaRPr lang="en-US" sz="2400" dirty="0"/>
              </a:p>
            </p:txBody>
          </p:sp>
        </mc:Choice>
        <mc:Fallback xmlns="">
          <p:sp>
            <p:nvSpPr>
              <p:cNvPr id="33" name="Object 4">
                <a:extLst>
                  <a:ext uri="{FF2B5EF4-FFF2-40B4-BE49-F238E27FC236}">
                    <a16:creationId xmlns:a16="http://schemas.microsoft.com/office/drawing/2014/main" id="{D221A04C-5855-4D29-8072-6831C1D21027}"/>
                  </a:ext>
                </a:extLst>
              </p:cNvPr>
              <p:cNvSpPr txBox="1">
                <a:spLocks noRot="1" noChangeAspect="1" noMove="1" noResize="1" noEditPoints="1" noAdjustHandles="1" noChangeArrowheads="1" noChangeShapeType="1" noTextEdit="1"/>
              </p:cNvSpPr>
              <p:nvPr/>
            </p:nvSpPr>
            <p:spPr bwMode="auto">
              <a:xfrm>
                <a:off x="1166933" y="2642515"/>
                <a:ext cx="2794787" cy="1159174"/>
              </a:xfrm>
              <a:prstGeom prst="rect">
                <a:avLst/>
              </a:prstGeom>
              <a:blipFill>
                <a:blip r:embed="rId3"/>
                <a:stretch>
                  <a:fillRect/>
                </a:stretch>
              </a:blipFill>
              <a:ln>
                <a:noFill/>
              </a:ln>
              <a:effectLst/>
            </p:spPr>
            <p:txBody>
              <a:bodyPr/>
              <a:lstStyle/>
              <a:p>
                <a:r>
                  <a:rPr lang="en-US">
                    <a:noFill/>
                  </a:rPr>
                  <a:t> </a:t>
                </a:r>
              </a:p>
            </p:txBody>
          </p:sp>
        </mc:Fallback>
      </mc:AlternateContent>
      <p:grpSp>
        <p:nvGrpSpPr>
          <p:cNvPr id="36" name="组合 48">
            <a:extLst>
              <a:ext uri="{FF2B5EF4-FFF2-40B4-BE49-F238E27FC236}">
                <a16:creationId xmlns:a16="http://schemas.microsoft.com/office/drawing/2014/main" id="{B67975BA-557A-4232-B5E0-3A0384A8F9E9}"/>
              </a:ext>
            </a:extLst>
          </p:cNvPr>
          <p:cNvGrpSpPr>
            <a:grpSpLocks/>
          </p:cNvGrpSpPr>
          <p:nvPr/>
        </p:nvGrpSpPr>
        <p:grpSpPr bwMode="auto">
          <a:xfrm>
            <a:off x="4543123" y="2399156"/>
            <a:ext cx="3024188" cy="1700935"/>
            <a:chOff x="5029200" y="2637845"/>
            <a:chExt cx="3024187" cy="1700935"/>
          </a:xfrm>
        </p:grpSpPr>
        <p:sp>
          <p:nvSpPr>
            <p:cNvPr id="37" name="Line 31">
              <a:extLst>
                <a:ext uri="{FF2B5EF4-FFF2-40B4-BE49-F238E27FC236}">
                  <a16:creationId xmlns:a16="http://schemas.microsoft.com/office/drawing/2014/main" id="{3CA00F88-FAE2-44C1-95B1-EB4A89EDCB2C}"/>
                </a:ext>
              </a:extLst>
            </p:cNvPr>
            <p:cNvSpPr>
              <a:spLocks noChangeShapeType="1"/>
            </p:cNvSpPr>
            <p:nvPr/>
          </p:nvSpPr>
          <p:spPr bwMode="auto">
            <a:xfrm>
              <a:off x="5029200" y="3883508"/>
              <a:ext cx="30241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32">
              <a:extLst>
                <a:ext uri="{FF2B5EF4-FFF2-40B4-BE49-F238E27FC236}">
                  <a16:creationId xmlns:a16="http://schemas.microsoft.com/office/drawing/2014/main" id="{87AE4186-E5CF-4DA0-AB68-EF013C89AA99}"/>
                </a:ext>
              </a:extLst>
            </p:cNvPr>
            <p:cNvSpPr>
              <a:spLocks noChangeShapeType="1"/>
            </p:cNvSpPr>
            <p:nvPr/>
          </p:nvSpPr>
          <p:spPr bwMode="auto">
            <a:xfrm flipV="1">
              <a:off x="5903878" y="3142016"/>
              <a:ext cx="0" cy="741491"/>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Oval 33">
              <a:extLst>
                <a:ext uri="{FF2B5EF4-FFF2-40B4-BE49-F238E27FC236}">
                  <a16:creationId xmlns:a16="http://schemas.microsoft.com/office/drawing/2014/main" id="{834624F6-73E9-4FA7-8B7B-AFB85E731F28}"/>
                </a:ext>
              </a:extLst>
            </p:cNvPr>
            <p:cNvSpPr>
              <a:spLocks noChangeArrowheads="1"/>
            </p:cNvSpPr>
            <p:nvPr/>
          </p:nvSpPr>
          <p:spPr bwMode="auto">
            <a:xfrm>
              <a:off x="5841773" y="3080053"/>
              <a:ext cx="125936" cy="12392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40" name="Object 34">
                  <a:extLst>
                    <a:ext uri="{FF2B5EF4-FFF2-40B4-BE49-F238E27FC236}">
                      <a16:creationId xmlns:a16="http://schemas.microsoft.com/office/drawing/2014/main" id="{E050763A-8971-4A72-A264-1ED971EA6455}"/>
                    </a:ext>
                  </a:extLst>
                </p:cNvPr>
                <p:cNvSpPr txBox="1"/>
                <p:nvPr/>
              </p:nvSpPr>
              <p:spPr bwMode="auto">
                <a:xfrm>
                  <a:off x="5953820" y="2637845"/>
                  <a:ext cx="720712" cy="47995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40" name="Object 34">
                  <a:extLst>
                    <a:ext uri="{FF2B5EF4-FFF2-40B4-BE49-F238E27FC236}">
                      <a16:creationId xmlns:a16="http://schemas.microsoft.com/office/drawing/2014/main" id="{E050763A-8971-4A72-A264-1ED971EA6455}"/>
                    </a:ext>
                  </a:extLst>
                </p:cNvPr>
                <p:cNvSpPr txBox="1">
                  <a:spLocks noRot="1" noChangeAspect="1" noMove="1" noResize="1" noEditPoints="1" noAdjustHandles="1" noChangeArrowheads="1" noChangeShapeType="1" noTextEdit="1"/>
                </p:cNvSpPr>
                <p:nvPr/>
              </p:nvSpPr>
              <p:spPr bwMode="auto">
                <a:xfrm>
                  <a:off x="5953820" y="2637845"/>
                  <a:ext cx="720712" cy="479953"/>
                </a:xfrm>
                <a:prstGeom prst="rect">
                  <a:avLst/>
                </a:prstGeom>
                <a:blipFill>
                  <a:blip r:embed="rId4"/>
                  <a:stretch>
                    <a:fillRect l="-2542" r="-11864" b="-1666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Object 35">
                  <a:extLst>
                    <a:ext uri="{FF2B5EF4-FFF2-40B4-BE49-F238E27FC236}">
                      <a16:creationId xmlns:a16="http://schemas.microsoft.com/office/drawing/2014/main" id="{4D7DCBA7-EB17-427D-9D50-BBDDB9BF100A}"/>
                    </a:ext>
                  </a:extLst>
                </p:cNvPr>
                <p:cNvSpPr txBox="1"/>
                <p:nvPr/>
              </p:nvSpPr>
              <p:spPr bwMode="auto">
                <a:xfrm>
                  <a:off x="5591115" y="3875611"/>
                  <a:ext cx="341839" cy="45474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0</m:t>
                        </m:r>
                      </m:oMath>
                    </m:oMathPara>
                  </a14:m>
                  <a:endParaRPr lang="en-US" sz="2400" dirty="0"/>
                </a:p>
              </p:txBody>
            </p:sp>
          </mc:Choice>
          <mc:Fallback xmlns="">
            <p:sp>
              <p:nvSpPr>
                <p:cNvPr id="41" name="Object 35">
                  <a:extLst>
                    <a:ext uri="{FF2B5EF4-FFF2-40B4-BE49-F238E27FC236}">
                      <a16:creationId xmlns:a16="http://schemas.microsoft.com/office/drawing/2014/main" id="{4D7DCBA7-EB17-427D-9D50-BBDDB9BF100A}"/>
                    </a:ext>
                  </a:extLst>
                </p:cNvPr>
                <p:cNvSpPr txBox="1">
                  <a:spLocks noRot="1" noChangeAspect="1" noMove="1" noResize="1" noEditPoints="1" noAdjustHandles="1" noChangeArrowheads="1" noChangeShapeType="1" noTextEdit="1"/>
                </p:cNvSpPr>
                <p:nvPr/>
              </p:nvSpPr>
              <p:spPr bwMode="auto">
                <a:xfrm>
                  <a:off x="5591115" y="3875611"/>
                  <a:ext cx="341839" cy="454742"/>
                </a:xfrm>
                <a:prstGeom prst="rect">
                  <a:avLst/>
                </a:prstGeom>
                <a:blipFill>
                  <a:blip r:embed="rId5"/>
                  <a:stretch>
                    <a:fillRect l="-3509" r="-701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bject 36">
                  <a:extLst>
                    <a:ext uri="{FF2B5EF4-FFF2-40B4-BE49-F238E27FC236}">
                      <a16:creationId xmlns:a16="http://schemas.microsoft.com/office/drawing/2014/main" id="{EFB76044-B429-4E08-B437-37FD73BDFCB8}"/>
                    </a:ext>
                  </a:extLst>
                </p:cNvPr>
                <p:cNvSpPr txBox="1"/>
                <p:nvPr/>
              </p:nvSpPr>
              <p:spPr bwMode="auto">
                <a:xfrm>
                  <a:off x="7657279" y="3894000"/>
                  <a:ext cx="341839" cy="44478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𝑛</m:t>
                        </m:r>
                      </m:oMath>
                    </m:oMathPara>
                  </a14:m>
                  <a:endParaRPr lang="en-US" sz="2400" dirty="0"/>
                </a:p>
              </p:txBody>
            </p:sp>
          </mc:Choice>
          <mc:Fallback xmlns="">
            <p:sp>
              <p:nvSpPr>
                <p:cNvPr id="42" name="Object 36">
                  <a:extLst>
                    <a:ext uri="{FF2B5EF4-FFF2-40B4-BE49-F238E27FC236}">
                      <a16:creationId xmlns:a16="http://schemas.microsoft.com/office/drawing/2014/main" id="{EFB76044-B429-4E08-B437-37FD73BDFCB8}"/>
                    </a:ext>
                  </a:extLst>
                </p:cNvPr>
                <p:cNvSpPr txBox="1">
                  <a:spLocks noRot="1" noChangeAspect="1" noMove="1" noResize="1" noEditPoints="1" noAdjustHandles="1" noChangeArrowheads="1" noChangeShapeType="1" noTextEdit="1"/>
                </p:cNvSpPr>
                <p:nvPr/>
              </p:nvSpPr>
              <p:spPr bwMode="auto">
                <a:xfrm>
                  <a:off x="7657279" y="3894000"/>
                  <a:ext cx="341839" cy="444780"/>
                </a:xfrm>
                <a:prstGeom prst="rect">
                  <a:avLst/>
                </a:prstGeom>
                <a:blipFill>
                  <a:blip r:embed="rId6"/>
                  <a:stretch>
                    <a:fillRect r="-1786"/>
                  </a:stretch>
                </a:blipFill>
                <a:ln>
                  <a:noFill/>
                </a:ln>
                <a:effectLst/>
              </p:spPr>
              <p:txBody>
                <a:bodyPr/>
                <a:lstStyle/>
                <a:p>
                  <a:r>
                    <a:rPr lang="en-US">
                      <a:noFill/>
                    </a:rPr>
                    <a:t> </a:t>
                  </a:r>
                </a:p>
              </p:txBody>
            </p:sp>
          </mc:Fallback>
        </mc:AlternateContent>
        <p:sp>
          <p:nvSpPr>
            <p:cNvPr id="43" name="Line 37">
              <a:extLst>
                <a:ext uri="{FF2B5EF4-FFF2-40B4-BE49-F238E27FC236}">
                  <a16:creationId xmlns:a16="http://schemas.microsoft.com/office/drawing/2014/main" id="{7BCC3268-D11F-4493-A56F-E01C2FCD781F}"/>
                </a:ext>
              </a:extLst>
            </p:cNvPr>
            <p:cNvSpPr>
              <a:spLocks noChangeShapeType="1"/>
            </p:cNvSpPr>
            <p:nvPr/>
          </p:nvSpPr>
          <p:spPr bwMode="auto">
            <a:xfrm flipV="1">
              <a:off x="5903878" y="2708275"/>
              <a:ext cx="0" cy="1299159"/>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44" name="Object 25">
                  <a:extLst>
                    <a:ext uri="{FF2B5EF4-FFF2-40B4-BE49-F238E27FC236}">
                      <a16:creationId xmlns:a16="http://schemas.microsoft.com/office/drawing/2014/main" id="{A67EAF5A-3CDD-4083-9FC6-4F49D626B2D9}"/>
                    </a:ext>
                  </a:extLst>
                </p:cNvPr>
                <p:cNvSpPr txBox="1"/>
                <p:nvPr/>
              </p:nvSpPr>
              <p:spPr bwMode="auto">
                <a:xfrm>
                  <a:off x="5513982" y="2871778"/>
                  <a:ext cx="312074" cy="4165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1</m:t>
                        </m:r>
                      </m:oMath>
                    </m:oMathPara>
                  </a14:m>
                  <a:endParaRPr lang="en-US" sz="2400" dirty="0"/>
                </a:p>
              </p:txBody>
            </p:sp>
          </mc:Choice>
          <mc:Fallback xmlns="">
            <p:sp>
              <p:nvSpPr>
                <p:cNvPr id="44" name="Object 25">
                  <a:extLst>
                    <a:ext uri="{FF2B5EF4-FFF2-40B4-BE49-F238E27FC236}">
                      <a16:creationId xmlns:a16="http://schemas.microsoft.com/office/drawing/2014/main" id="{A67EAF5A-3CDD-4083-9FC6-4F49D626B2D9}"/>
                    </a:ext>
                  </a:extLst>
                </p:cNvPr>
                <p:cNvSpPr txBox="1">
                  <a:spLocks noRot="1" noChangeAspect="1" noMove="1" noResize="1" noEditPoints="1" noAdjustHandles="1" noChangeArrowheads="1" noChangeShapeType="1" noTextEdit="1"/>
                </p:cNvSpPr>
                <p:nvPr/>
              </p:nvSpPr>
              <p:spPr bwMode="auto">
                <a:xfrm>
                  <a:off x="5513982" y="2871778"/>
                  <a:ext cx="312074" cy="416550"/>
                </a:xfrm>
                <a:prstGeom prst="rect">
                  <a:avLst/>
                </a:prstGeom>
                <a:blipFill>
                  <a:blip r:embed="rId7"/>
                  <a:stretch>
                    <a:fillRect l="-5882" r="-17647" b="-8824"/>
                  </a:stretch>
                </a:blipFill>
                <a:ln>
                  <a:noFill/>
                </a:ln>
                <a:effectLst/>
              </p:spPr>
              <p:txBody>
                <a:bodyPr/>
                <a:lstStyle/>
                <a:p>
                  <a:r>
                    <a:rPr lang="en-US">
                      <a:noFill/>
                    </a:rPr>
                    <a:t> </a:t>
                  </a:r>
                </a:p>
              </p:txBody>
            </p:sp>
          </mc:Fallback>
        </mc:AlternateContent>
        <p:sp>
          <p:nvSpPr>
            <p:cNvPr id="45" name="Oval 33">
              <a:extLst>
                <a:ext uri="{FF2B5EF4-FFF2-40B4-BE49-F238E27FC236}">
                  <a16:creationId xmlns:a16="http://schemas.microsoft.com/office/drawing/2014/main" id="{09427A47-76B9-4B61-B3DF-BB57B4DE1842}"/>
                </a:ext>
              </a:extLst>
            </p:cNvPr>
            <p:cNvSpPr>
              <a:spLocks noChangeArrowheads="1"/>
            </p:cNvSpPr>
            <p:nvPr/>
          </p:nvSpPr>
          <p:spPr bwMode="auto">
            <a:xfrm>
              <a:off x="6102272" y="3804806"/>
              <a:ext cx="125936" cy="12392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46" name="Oval 33">
              <a:extLst>
                <a:ext uri="{FF2B5EF4-FFF2-40B4-BE49-F238E27FC236}">
                  <a16:creationId xmlns:a16="http://schemas.microsoft.com/office/drawing/2014/main" id="{FF682A6C-26C8-494A-B7C0-6CBB45D44F1B}"/>
                </a:ext>
              </a:extLst>
            </p:cNvPr>
            <p:cNvSpPr>
              <a:spLocks noChangeArrowheads="1"/>
            </p:cNvSpPr>
            <p:nvPr/>
          </p:nvSpPr>
          <p:spPr bwMode="auto">
            <a:xfrm>
              <a:off x="6399036" y="3804806"/>
              <a:ext cx="125936" cy="12392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47" name="Oval 33">
              <a:extLst>
                <a:ext uri="{FF2B5EF4-FFF2-40B4-BE49-F238E27FC236}">
                  <a16:creationId xmlns:a16="http://schemas.microsoft.com/office/drawing/2014/main" id="{61F989F5-FA8A-4A22-AE9D-F0FFFAA234D9}"/>
                </a:ext>
              </a:extLst>
            </p:cNvPr>
            <p:cNvSpPr>
              <a:spLocks noChangeArrowheads="1"/>
            </p:cNvSpPr>
            <p:nvPr/>
          </p:nvSpPr>
          <p:spPr bwMode="auto">
            <a:xfrm>
              <a:off x="6695800" y="3804806"/>
              <a:ext cx="125936" cy="12392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48" name="Oval 33">
              <a:extLst>
                <a:ext uri="{FF2B5EF4-FFF2-40B4-BE49-F238E27FC236}">
                  <a16:creationId xmlns:a16="http://schemas.microsoft.com/office/drawing/2014/main" id="{CD424D70-B1F6-44B3-AA5A-E7BEE1A70BFF}"/>
                </a:ext>
              </a:extLst>
            </p:cNvPr>
            <p:cNvSpPr>
              <a:spLocks noChangeArrowheads="1"/>
            </p:cNvSpPr>
            <p:nvPr/>
          </p:nvSpPr>
          <p:spPr bwMode="auto">
            <a:xfrm>
              <a:off x="6992563" y="3804806"/>
              <a:ext cx="125936" cy="12392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49" name="Oval 33">
              <a:extLst>
                <a:ext uri="{FF2B5EF4-FFF2-40B4-BE49-F238E27FC236}">
                  <a16:creationId xmlns:a16="http://schemas.microsoft.com/office/drawing/2014/main" id="{9BC09BA6-8711-4379-A57E-22720969556F}"/>
                </a:ext>
              </a:extLst>
            </p:cNvPr>
            <p:cNvSpPr>
              <a:spLocks noChangeArrowheads="1"/>
            </p:cNvSpPr>
            <p:nvPr/>
          </p:nvSpPr>
          <p:spPr bwMode="auto">
            <a:xfrm>
              <a:off x="5237367" y="3804806"/>
              <a:ext cx="125936" cy="12392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50" name="Oval 33">
              <a:extLst>
                <a:ext uri="{FF2B5EF4-FFF2-40B4-BE49-F238E27FC236}">
                  <a16:creationId xmlns:a16="http://schemas.microsoft.com/office/drawing/2014/main" id="{F4EE18AD-59A3-432E-A073-5B96DA8B3BF9}"/>
                </a:ext>
              </a:extLst>
            </p:cNvPr>
            <p:cNvSpPr>
              <a:spLocks noChangeArrowheads="1"/>
            </p:cNvSpPr>
            <p:nvPr/>
          </p:nvSpPr>
          <p:spPr bwMode="auto">
            <a:xfrm>
              <a:off x="5534130" y="3804806"/>
              <a:ext cx="125936" cy="12392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grpSp>
      <mc:AlternateContent xmlns:mc="http://schemas.openxmlformats.org/markup-compatibility/2006" xmlns:a14="http://schemas.microsoft.com/office/drawing/2010/main">
        <mc:Choice Requires="a14">
          <p:sp>
            <p:nvSpPr>
              <p:cNvPr id="77" name="Object 5">
                <a:extLst>
                  <a:ext uri="{FF2B5EF4-FFF2-40B4-BE49-F238E27FC236}">
                    <a16:creationId xmlns:a16="http://schemas.microsoft.com/office/drawing/2014/main" id="{94A177CD-1137-4ED8-BDA8-6D00F59EC6ED}"/>
                  </a:ext>
                </a:extLst>
              </p:cNvPr>
              <p:cNvSpPr txBox="1"/>
              <p:nvPr/>
            </p:nvSpPr>
            <p:spPr bwMode="auto">
              <a:xfrm>
                <a:off x="1164805" y="4840381"/>
                <a:ext cx="2794787" cy="11591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d>
                        <m:dPr>
                          <m:begChr m:val="{"/>
                          <m:endChr m:val=""/>
                          <m:ctrlPr>
                            <a:rPr lang="en-US" sz="2400" i="1">
                              <a:solidFill>
                                <a:srgbClr val="000000"/>
                              </a:solidFill>
                              <a:latin typeface="Cambria Math" panose="02040503050406030204" pitchFamily="18" charset="0"/>
                            </a:rPr>
                          </m:ctrlPr>
                        </m:dPr>
                        <m:e>
                          <m:m>
                            <m:mPr>
                              <m:plcHide m:val="on"/>
                              <m:mcs>
                                <m:mc>
                                  <m:mcPr>
                                    <m:count m:val="1"/>
                                    <m:mcJc m:val="center"/>
                                  </m:mcPr>
                                </m:mc>
                              </m:mcs>
                              <m:ctrlPr>
                                <a:rPr lang="en-US" sz="2400" i="1">
                                  <a:solidFill>
                                    <a:srgbClr val="000000"/>
                                  </a:solidFill>
                                  <a:latin typeface="Cambria Math" panose="02040503050406030204" pitchFamily="18" charset="0"/>
                                </a:rPr>
                              </m:ctrlPr>
                            </m:mPr>
                            <m:mr>
                              <m:e>
                                <m:r>
                                  <a:rPr lang="en-US" sz="2400" i="1">
                                    <a:solidFill>
                                      <a:srgbClr val="000000"/>
                                    </a:solidFill>
                                    <a:latin typeface="Cambria Math" panose="02040503050406030204" pitchFamily="18" charset="0"/>
                                  </a:rPr>
                                  <m:t>1 (</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≥0)</m:t>
                                </m:r>
                              </m:e>
                            </m:mr>
                            <m:mr>
                              <m:e>
                                <m:r>
                                  <a:rPr lang="en-US" sz="2400" i="1">
                                    <a:solidFill>
                                      <a:srgbClr val="000000"/>
                                    </a:solidFill>
                                    <a:latin typeface="Cambria Math" panose="02040503050406030204" pitchFamily="18" charset="0"/>
                                  </a:rPr>
                                  <m:t>0 (</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&lt;0)</m:t>
                                </m:r>
                              </m:e>
                            </m:mr>
                          </m:m>
                        </m:e>
                      </m:d>
                    </m:oMath>
                  </m:oMathPara>
                </a14:m>
                <a:endParaRPr lang="en-US" sz="2400" dirty="0"/>
              </a:p>
            </p:txBody>
          </p:sp>
        </mc:Choice>
        <mc:Fallback xmlns="">
          <p:sp>
            <p:nvSpPr>
              <p:cNvPr id="77" name="Object 5">
                <a:extLst>
                  <a:ext uri="{FF2B5EF4-FFF2-40B4-BE49-F238E27FC236}">
                    <a16:creationId xmlns:a16="http://schemas.microsoft.com/office/drawing/2014/main" id="{94A177CD-1137-4ED8-BDA8-6D00F59EC6ED}"/>
                  </a:ext>
                </a:extLst>
              </p:cNvPr>
              <p:cNvSpPr txBox="1">
                <a:spLocks noRot="1" noChangeAspect="1" noMove="1" noResize="1" noEditPoints="1" noAdjustHandles="1" noChangeArrowheads="1" noChangeShapeType="1" noTextEdit="1"/>
              </p:cNvSpPr>
              <p:nvPr/>
            </p:nvSpPr>
            <p:spPr bwMode="auto">
              <a:xfrm>
                <a:off x="1164805" y="4840381"/>
                <a:ext cx="2794787" cy="1159175"/>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A28F2A59-20F1-4C45-A89D-E7703145E539}"/>
                  </a:ext>
                </a:extLst>
              </p:cNvPr>
              <p:cNvSpPr txBox="1"/>
              <p:nvPr/>
            </p:nvSpPr>
            <p:spPr>
              <a:xfrm>
                <a:off x="458469" y="4055340"/>
                <a:ext cx="2998320" cy="461665"/>
              </a:xfrm>
              <a:prstGeom prst="rect">
                <a:avLst/>
              </a:prstGeom>
              <a:noFill/>
            </p:spPr>
            <p:txBody>
              <a:bodyPr wrap="square">
                <a:spAutoFit/>
              </a:bodyPr>
              <a:lstStyle/>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2. </a:t>
                </a:r>
                <a:r>
                  <a:rPr kumimoji="0" lang="zh-CN" altLang="en-US" sz="2400" b="1" i="0" u="none" strike="noStrike" kern="1200" cap="none" spc="0" normalizeH="0" baseline="0" noProof="0" dirty="0">
                    <a:ln>
                      <a:noFill/>
                    </a:ln>
                    <a:solidFill>
                      <a:srgbClr val="FF0000"/>
                    </a:solidFill>
                    <a:effectLst/>
                    <a:uLnTx/>
                    <a:uFillTx/>
                    <a:latin typeface="Times New Roman" pitchFamily="18" charset="0"/>
                    <a:ea typeface="华文楷体" pitchFamily="2" charset="-122"/>
                    <a:cs typeface="+mn-cs"/>
                  </a:rPr>
                  <a:t>单位阶跃</a:t>
                </a:r>
                <a14:m>
                  <m:oMath xmlns:m="http://schemas.openxmlformats.org/officeDocument/2006/math">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𝑢</m:t>
                    </m:r>
                    <m:r>
                      <a:rPr kumimoji="0" lang="en-US" sz="2400" b="1"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sz="2400" b="1" i="1" u="none" strike="noStrike" kern="1200" cap="none" spc="0" normalizeH="0" baseline="0" noProof="0" smtClean="0">
                        <a:ln>
                          <a:noFill/>
                        </a:ln>
                        <a:solidFill>
                          <a:srgbClr val="FF0000"/>
                        </a:solidFill>
                        <a:effectLst/>
                        <a:uLnTx/>
                        <a:uFillTx/>
                        <a:latin typeface="Cambria Math" panose="02040503050406030204" pitchFamily="18" charset="0"/>
                        <a:cs typeface="+mn-cs"/>
                      </a:rPr>
                      <m:t>𝑛</m:t>
                    </m:r>
                    <m:r>
                      <a:rPr kumimoji="0" lang="en-US" sz="2400" b="1"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oMath>
                </a14:m>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a:t>
                </a:r>
                <a:endPar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p:txBody>
          </p:sp>
        </mc:Choice>
        <mc:Fallback xmlns="">
          <p:sp>
            <p:nvSpPr>
              <p:cNvPr id="83" name="文本框 82">
                <a:extLst>
                  <a:ext uri="{FF2B5EF4-FFF2-40B4-BE49-F238E27FC236}">
                    <a16:creationId xmlns:a16="http://schemas.microsoft.com/office/drawing/2014/main" id="{A28F2A59-20F1-4C45-A89D-E7703145E539}"/>
                  </a:ext>
                </a:extLst>
              </p:cNvPr>
              <p:cNvSpPr txBox="1">
                <a:spLocks noRot="1" noChangeAspect="1" noMove="1" noResize="1" noEditPoints="1" noAdjustHandles="1" noChangeArrowheads="1" noChangeShapeType="1" noTextEdit="1"/>
              </p:cNvSpPr>
              <p:nvPr/>
            </p:nvSpPr>
            <p:spPr>
              <a:xfrm>
                <a:off x="458469" y="4055340"/>
                <a:ext cx="2998320" cy="461665"/>
              </a:xfrm>
              <a:prstGeom prst="rect">
                <a:avLst/>
              </a:prstGeom>
              <a:blipFill>
                <a:blip r:embed="rId9"/>
                <a:stretch>
                  <a:fillRect l="-2642" t="-11842" b="-30263"/>
                </a:stretch>
              </a:blipFill>
            </p:spPr>
            <p:txBody>
              <a:bodyPr/>
              <a:lstStyle/>
              <a:p>
                <a:r>
                  <a:rPr lang="en-US">
                    <a:noFill/>
                  </a:rPr>
                  <a:t> </a:t>
                </a:r>
              </a:p>
            </p:txBody>
          </p:sp>
        </mc:Fallback>
      </mc:AlternateContent>
      <p:grpSp>
        <p:nvGrpSpPr>
          <p:cNvPr id="26" name="组合 25">
            <a:extLst>
              <a:ext uri="{FF2B5EF4-FFF2-40B4-BE49-F238E27FC236}">
                <a16:creationId xmlns:a16="http://schemas.microsoft.com/office/drawing/2014/main" id="{D30B8B80-2785-413A-80E8-7F9D9BB6B5D2}"/>
              </a:ext>
            </a:extLst>
          </p:cNvPr>
          <p:cNvGrpSpPr/>
          <p:nvPr/>
        </p:nvGrpSpPr>
        <p:grpSpPr>
          <a:xfrm>
            <a:off x="4572000" y="4482657"/>
            <a:ext cx="3600450" cy="1826663"/>
            <a:chOff x="4934632" y="4339727"/>
            <a:chExt cx="3600450" cy="1826663"/>
          </a:xfrm>
        </p:grpSpPr>
        <p:sp>
          <p:nvSpPr>
            <p:cNvPr id="52" name="Line 7">
              <a:extLst>
                <a:ext uri="{FF2B5EF4-FFF2-40B4-BE49-F238E27FC236}">
                  <a16:creationId xmlns:a16="http://schemas.microsoft.com/office/drawing/2014/main" id="{31C99715-BA90-4DE3-84BC-51E2A80B3E8A}"/>
                </a:ext>
              </a:extLst>
            </p:cNvPr>
            <p:cNvSpPr>
              <a:spLocks noChangeShapeType="1"/>
            </p:cNvSpPr>
            <p:nvPr/>
          </p:nvSpPr>
          <p:spPr bwMode="auto">
            <a:xfrm>
              <a:off x="4934632" y="5665987"/>
              <a:ext cx="360045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8">
              <a:extLst>
                <a:ext uri="{FF2B5EF4-FFF2-40B4-BE49-F238E27FC236}">
                  <a16:creationId xmlns:a16="http://schemas.microsoft.com/office/drawing/2014/main" id="{CC4E77F0-43C2-4146-9AC8-83F7FCC9FB14}"/>
                </a:ext>
              </a:extLst>
            </p:cNvPr>
            <p:cNvSpPr>
              <a:spLocks noChangeShapeType="1"/>
            </p:cNvSpPr>
            <p:nvPr/>
          </p:nvSpPr>
          <p:spPr bwMode="auto">
            <a:xfrm flipV="1">
              <a:off x="5787296" y="5004348"/>
              <a:ext cx="0" cy="661639"/>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Oval 9">
              <a:extLst>
                <a:ext uri="{FF2B5EF4-FFF2-40B4-BE49-F238E27FC236}">
                  <a16:creationId xmlns:a16="http://schemas.microsoft.com/office/drawing/2014/main" id="{47DB19DF-696E-4EBF-B340-CD7DF0B5245B}"/>
                </a:ext>
              </a:extLst>
            </p:cNvPr>
            <p:cNvSpPr>
              <a:spLocks noChangeArrowheads="1"/>
            </p:cNvSpPr>
            <p:nvPr/>
          </p:nvSpPr>
          <p:spPr bwMode="auto">
            <a:xfrm>
              <a:off x="5727180" y="4894075"/>
              <a:ext cx="120231" cy="110273"/>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55" name="Line 10">
              <a:extLst>
                <a:ext uri="{FF2B5EF4-FFF2-40B4-BE49-F238E27FC236}">
                  <a16:creationId xmlns:a16="http://schemas.microsoft.com/office/drawing/2014/main" id="{5363F4FD-A428-4F85-80C3-980DAF7700CF}"/>
                </a:ext>
              </a:extLst>
            </p:cNvPr>
            <p:cNvSpPr>
              <a:spLocks noChangeShapeType="1"/>
            </p:cNvSpPr>
            <p:nvPr/>
          </p:nvSpPr>
          <p:spPr bwMode="auto">
            <a:xfrm flipV="1">
              <a:off x="6087873" y="5004348"/>
              <a:ext cx="0" cy="661639"/>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Oval 11">
              <a:extLst>
                <a:ext uri="{FF2B5EF4-FFF2-40B4-BE49-F238E27FC236}">
                  <a16:creationId xmlns:a16="http://schemas.microsoft.com/office/drawing/2014/main" id="{4A3DB0A0-5C86-4B13-AD84-4604047E6C0B}"/>
                </a:ext>
              </a:extLst>
            </p:cNvPr>
            <p:cNvSpPr>
              <a:spLocks noChangeArrowheads="1"/>
            </p:cNvSpPr>
            <p:nvPr/>
          </p:nvSpPr>
          <p:spPr bwMode="auto">
            <a:xfrm>
              <a:off x="6027758" y="4894075"/>
              <a:ext cx="120231" cy="110273"/>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57" name="Line 12">
              <a:extLst>
                <a:ext uri="{FF2B5EF4-FFF2-40B4-BE49-F238E27FC236}">
                  <a16:creationId xmlns:a16="http://schemas.microsoft.com/office/drawing/2014/main" id="{1E9A16D6-311C-4162-B330-6B433E70961D}"/>
                </a:ext>
              </a:extLst>
            </p:cNvPr>
            <p:cNvSpPr>
              <a:spLocks noChangeShapeType="1"/>
            </p:cNvSpPr>
            <p:nvPr/>
          </p:nvSpPr>
          <p:spPr bwMode="auto">
            <a:xfrm flipV="1">
              <a:off x="6388451" y="5004348"/>
              <a:ext cx="0" cy="661639"/>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Oval 13">
              <a:extLst>
                <a:ext uri="{FF2B5EF4-FFF2-40B4-BE49-F238E27FC236}">
                  <a16:creationId xmlns:a16="http://schemas.microsoft.com/office/drawing/2014/main" id="{1E36592D-1C42-4B24-A9A5-D235B1493320}"/>
                </a:ext>
              </a:extLst>
            </p:cNvPr>
            <p:cNvSpPr>
              <a:spLocks noChangeArrowheads="1"/>
            </p:cNvSpPr>
            <p:nvPr/>
          </p:nvSpPr>
          <p:spPr bwMode="auto">
            <a:xfrm>
              <a:off x="6328335" y="4894075"/>
              <a:ext cx="120231" cy="110273"/>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59" name="Line 14">
              <a:extLst>
                <a:ext uri="{FF2B5EF4-FFF2-40B4-BE49-F238E27FC236}">
                  <a16:creationId xmlns:a16="http://schemas.microsoft.com/office/drawing/2014/main" id="{898AD31C-3B47-4309-977C-0EA33655F0A1}"/>
                </a:ext>
              </a:extLst>
            </p:cNvPr>
            <p:cNvSpPr>
              <a:spLocks noChangeShapeType="1"/>
            </p:cNvSpPr>
            <p:nvPr/>
          </p:nvSpPr>
          <p:spPr bwMode="auto">
            <a:xfrm flipV="1">
              <a:off x="6689029" y="5004348"/>
              <a:ext cx="0" cy="661639"/>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Oval 15">
              <a:extLst>
                <a:ext uri="{FF2B5EF4-FFF2-40B4-BE49-F238E27FC236}">
                  <a16:creationId xmlns:a16="http://schemas.microsoft.com/office/drawing/2014/main" id="{118AF558-C3C6-4FFC-9059-07553A434D75}"/>
                </a:ext>
              </a:extLst>
            </p:cNvPr>
            <p:cNvSpPr>
              <a:spLocks noChangeArrowheads="1"/>
            </p:cNvSpPr>
            <p:nvPr/>
          </p:nvSpPr>
          <p:spPr bwMode="auto">
            <a:xfrm>
              <a:off x="6628914" y="4894075"/>
              <a:ext cx="120231" cy="110273"/>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61" name="Line 16">
              <a:extLst>
                <a:ext uri="{FF2B5EF4-FFF2-40B4-BE49-F238E27FC236}">
                  <a16:creationId xmlns:a16="http://schemas.microsoft.com/office/drawing/2014/main" id="{0BCAA6E5-0DCD-4024-9816-83E20B50E9F2}"/>
                </a:ext>
              </a:extLst>
            </p:cNvPr>
            <p:cNvSpPr>
              <a:spLocks noChangeShapeType="1"/>
            </p:cNvSpPr>
            <p:nvPr/>
          </p:nvSpPr>
          <p:spPr bwMode="auto">
            <a:xfrm flipV="1">
              <a:off x="6989607" y="5004348"/>
              <a:ext cx="0" cy="661639"/>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Oval 17">
              <a:extLst>
                <a:ext uri="{FF2B5EF4-FFF2-40B4-BE49-F238E27FC236}">
                  <a16:creationId xmlns:a16="http://schemas.microsoft.com/office/drawing/2014/main" id="{E59CC361-EFE6-4CB6-9FDA-3399CA01DB0E}"/>
                </a:ext>
              </a:extLst>
            </p:cNvPr>
            <p:cNvSpPr>
              <a:spLocks noChangeArrowheads="1"/>
            </p:cNvSpPr>
            <p:nvPr/>
          </p:nvSpPr>
          <p:spPr bwMode="auto">
            <a:xfrm>
              <a:off x="6929491" y="4894075"/>
              <a:ext cx="120231" cy="110273"/>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63" name="Line 18">
              <a:extLst>
                <a:ext uri="{FF2B5EF4-FFF2-40B4-BE49-F238E27FC236}">
                  <a16:creationId xmlns:a16="http://schemas.microsoft.com/office/drawing/2014/main" id="{4925B1C2-56D9-48EF-B85E-0DAD0AADE69B}"/>
                </a:ext>
              </a:extLst>
            </p:cNvPr>
            <p:cNvSpPr>
              <a:spLocks noChangeShapeType="1"/>
            </p:cNvSpPr>
            <p:nvPr/>
          </p:nvSpPr>
          <p:spPr bwMode="auto">
            <a:xfrm flipV="1">
              <a:off x="7290185" y="5004348"/>
              <a:ext cx="0" cy="661639"/>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Oval 19">
              <a:extLst>
                <a:ext uri="{FF2B5EF4-FFF2-40B4-BE49-F238E27FC236}">
                  <a16:creationId xmlns:a16="http://schemas.microsoft.com/office/drawing/2014/main" id="{BA0ECF99-487A-4AE0-950F-0CC175A1BF7D}"/>
                </a:ext>
              </a:extLst>
            </p:cNvPr>
            <p:cNvSpPr>
              <a:spLocks noChangeArrowheads="1"/>
            </p:cNvSpPr>
            <p:nvPr/>
          </p:nvSpPr>
          <p:spPr bwMode="auto">
            <a:xfrm>
              <a:off x="7230070" y="4894075"/>
              <a:ext cx="120231" cy="110273"/>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65" name="Line 20">
              <a:extLst>
                <a:ext uri="{FF2B5EF4-FFF2-40B4-BE49-F238E27FC236}">
                  <a16:creationId xmlns:a16="http://schemas.microsoft.com/office/drawing/2014/main" id="{570BEDF1-287A-4AA7-B703-7DAE367FEEB6}"/>
                </a:ext>
              </a:extLst>
            </p:cNvPr>
            <p:cNvSpPr>
              <a:spLocks noChangeShapeType="1"/>
            </p:cNvSpPr>
            <p:nvPr/>
          </p:nvSpPr>
          <p:spPr bwMode="auto">
            <a:xfrm flipV="1">
              <a:off x="7590763" y="5004348"/>
              <a:ext cx="0" cy="661639"/>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Oval 21">
              <a:extLst>
                <a:ext uri="{FF2B5EF4-FFF2-40B4-BE49-F238E27FC236}">
                  <a16:creationId xmlns:a16="http://schemas.microsoft.com/office/drawing/2014/main" id="{766E1410-09DF-4B2C-B5EB-4A3B62536CB5}"/>
                </a:ext>
              </a:extLst>
            </p:cNvPr>
            <p:cNvSpPr>
              <a:spLocks noChangeArrowheads="1"/>
            </p:cNvSpPr>
            <p:nvPr/>
          </p:nvSpPr>
          <p:spPr bwMode="auto">
            <a:xfrm>
              <a:off x="7530647" y="4894075"/>
              <a:ext cx="120231" cy="110273"/>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67" name="Line 22">
              <a:extLst>
                <a:ext uri="{FF2B5EF4-FFF2-40B4-BE49-F238E27FC236}">
                  <a16:creationId xmlns:a16="http://schemas.microsoft.com/office/drawing/2014/main" id="{F1C6452B-6266-48A0-996E-312B4ECCE9A0}"/>
                </a:ext>
              </a:extLst>
            </p:cNvPr>
            <p:cNvSpPr>
              <a:spLocks noChangeShapeType="1"/>
            </p:cNvSpPr>
            <p:nvPr/>
          </p:nvSpPr>
          <p:spPr bwMode="auto">
            <a:xfrm flipV="1">
              <a:off x="7891342" y="5004348"/>
              <a:ext cx="0" cy="661639"/>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Oval 23">
              <a:extLst>
                <a:ext uri="{FF2B5EF4-FFF2-40B4-BE49-F238E27FC236}">
                  <a16:creationId xmlns:a16="http://schemas.microsoft.com/office/drawing/2014/main" id="{891F2F39-0DD7-4D64-9009-F714BED436F5}"/>
                </a:ext>
              </a:extLst>
            </p:cNvPr>
            <p:cNvSpPr>
              <a:spLocks noChangeArrowheads="1"/>
            </p:cNvSpPr>
            <p:nvPr/>
          </p:nvSpPr>
          <p:spPr bwMode="auto">
            <a:xfrm>
              <a:off x="7831225" y="4894075"/>
              <a:ext cx="120231" cy="110273"/>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69" name="Line 24">
              <a:extLst>
                <a:ext uri="{FF2B5EF4-FFF2-40B4-BE49-F238E27FC236}">
                  <a16:creationId xmlns:a16="http://schemas.microsoft.com/office/drawing/2014/main" id="{31B67081-AA41-4EBC-92FC-C1194663DB79}"/>
                </a:ext>
              </a:extLst>
            </p:cNvPr>
            <p:cNvSpPr>
              <a:spLocks noChangeShapeType="1"/>
            </p:cNvSpPr>
            <p:nvPr/>
          </p:nvSpPr>
          <p:spPr bwMode="auto">
            <a:xfrm flipV="1">
              <a:off x="8011573" y="5335168"/>
              <a:ext cx="360694" cy="0"/>
            </a:xfrm>
            <a:prstGeom prst="line">
              <a:avLst/>
            </a:prstGeom>
            <a:noFill/>
            <a:ln w="38100">
              <a:solidFill>
                <a:srgbClr val="FF3399"/>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70" name="Object 8">
                  <a:extLst>
                    <a:ext uri="{FF2B5EF4-FFF2-40B4-BE49-F238E27FC236}">
                      <a16:creationId xmlns:a16="http://schemas.microsoft.com/office/drawing/2014/main" id="{ACCEF466-1CA9-49C5-B7EE-A39F41AE5E32}"/>
                    </a:ext>
                  </a:extLst>
                </p:cNvPr>
                <p:cNvSpPr txBox="1"/>
                <p:nvPr/>
              </p:nvSpPr>
              <p:spPr bwMode="auto">
                <a:xfrm>
                  <a:off x="5419532" y="4711219"/>
                  <a:ext cx="341838" cy="47440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1</m:t>
                        </m:r>
                      </m:oMath>
                    </m:oMathPara>
                  </a14:m>
                  <a:endParaRPr lang="en-US" sz="2400" dirty="0"/>
                </a:p>
              </p:txBody>
            </p:sp>
          </mc:Choice>
          <mc:Fallback xmlns="">
            <p:sp>
              <p:nvSpPr>
                <p:cNvPr id="70" name="Object 8">
                  <a:extLst>
                    <a:ext uri="{FF2B5EF4-FFF2-40B4-BE49-F238E27FC236}">
                      <a16:creationId xmlns:a16="http://schemas.microsoft.com/office/drawing/2014/main" id="{ACCEF466-1CA9-49C5-B7EE-A39F41AE5E32}"/>
                    </a:ext>
                  </a:extLst>
                </p:cNvPr>
                <p:cNvSpPr txBox="1">
                  <a:spLocks noRot="1" noChangeAspect="1" noMove="1" noResize="1" noEditPoints="1" noAdjustHandles="1" noChangeArrowheads="1" noChangeShapeType="1" noTextEdit="1"/>
                </p:cNvSpPr>
                <p:nvPr/>
              </p:nvSpPr>
              <p:spPr bwMode="auto">
                <a:xfrm>
                  <a:off x="5419532" y="4711219"/>
                  <a:ext cx="341838" cy="474403"/>
                </a:xfrm>
                <a:prstGeom prst="rect">
                  <a:avLst/>
                </a:prstGeom>
                <a:blipFill>
                  <a:blip r:embed="rId10"/>
                  <a:stretch>
                    <a:fillRect l="-5357" r="-714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Object 26">
                  <a:extLst>
                    <a:ext uri="{FF2B5EF4-FFF2-40B4-BE49-F238E27FC236}">
                      <a16:creationId xmlns:a16="http://schemas.microsoft.com/office/drawing/2014/main" id="{20E0B755-2343-4AB2-A8B9-37CA7D30824B}"/>
                    </a:ext>
                  </a:extLst>
                </p:cNvPr>
                <p:cNvSpPr txBox="1"/>
                <p:nvPr/>
              </p:nvSpPr>
              <p:spPr bwMode="auto">
                <a:xfrm>
                  <a:off x="5631872" y="5665352"/>
                  <a:ext cx="362984" cy="48036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0</m:t>
                        </m:r>
                      </m:oMath>
                    </m:oMathPara>
                  </a14:m>
                  <a:endParaRPr lang="en-US" sz="2400" dirty="0"/>
                </a:p>
              </p:txBody>
            </p:sp>
          </mc:Choice>
          <mc:Fallback xmlns="">
            <p:sp>
              <p:nvSpPr>
                <p:cNvPr id="71" name="Object 26">
                  <a:extLst>
                    <a:ext uri="{FF2B5EF4-FFF2-40B4-BE49-F238E27FC236}">
                      <a16:creationId xmlns:a16="http://schemas.microsoft.com/office/drawing/2014/main" id="{20E0B755-2343-4AB2-A8B9-37CA7D30824B}"/>
                    </a:ext>
                  </a:extLst>
                </p:cNvPr>
                <p:cNvSpPr txBox="1">
                  <a:spLocks noRot="1" noChangeAspect="1" noMove="1" noResize="1" noEditPoints="1" noAdjustHandles="1" noChangeArrowheads="1" noChangeShapeType="1" noTextEdit="1"/>
                </p:cNvSpPr>
                <p:nvPr/>
              </p:nvSpPr>
              <p:spPr bwMode="auto">
                <a:xfrm>
                  <a:off x="5631872" y="5665352"/>
                  <a:ext cx="362984" cy="480365"/>
                </a:xfrm>
                <a:prstGeom prst="rect">
                  <a:avLst/>
                </a:prstGeom>
                <a:blipFill>
                  <a:blip r:embed="rId11"/>
                  <a:stretch>
                    <a:fillRect l="-3333" r="-166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Object 27">
                  <a:extLst>
                    <a:ext uri="{FF2B5EF4-FFF2-40B4-BE49-F238E27FC236}">
                      <a16:creationId xmlns:a16="http://schemas.microsoft.com/office/drawing/2014/main" id="{7749D1B2-E649-49C5-9409-937EC14291AD}"/>
                    </a:ext>
                  </a:extLst>
                </p:cNvPr>
                <p:cNvSpPr txBox="1"/>
                <p:nvPr/>
              </p:nvSpPr>
              <p:spPr bwMode="auto">
                <a:xfrm>
                  <a:off x="8037401" y="5627407"/>
                  <a:ext cx="388744" cy="46588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𝑛</m:t>
                        </m:r>
                      </m:oMath>
                    </m:oMathPara>
                  </a14:m>
                  <a:endParaRPr lang="en-US" sz="2400" dirty="0"/>
                </a:p>
              </p:txBody>
            </p:sp>
          </mc:Choice>
          <mc:Fallback xmlns="">
            <p:sp>
              <p:nvSpPr>
                <p:cNvPr id="72" name="Object 27">
                  <a:extLst>
                    <a:ext uri="{FF2B5EF4-FFF2-40B4-BE49-F238E27FC236}">
                      <a16:creationId xmlns:a16="http://schemas.microsoft.com/office/drawing/2014/main" id="{7749D1B2-E649-49C5-9409-937EC14291AD}"/>
                    </a:ext>
                  </a:extLst>
                </p:cNvPr>
                <p:cNvSpPr txBox="1">
                  <a:spLocks noRot="1" noChangeAspect="1" noMove="1" noResize="1" noEditPoints="1" noAdjustHandles="1" noChangeArrowheads="1" noChangeShapeType="1" noTextEdit="1"/>
                </p:cNvSpPr>
                <p:nvPr/>
              </p:nvSpPr>
              <p:spPr bwMode="auto">
                <a:xfrm>
                  <a:off x="8037401" y="5627407"/>
                  <a:ext cx="388744" cy="465889"/>
                </a:xfrm>
                <a:prstGeom prst="rect">
                  <a:avLst/>
                </a:prstGeom>
                <a:blipFill>
                  <a:blip r:embed="rId12"/>
                  <a:stretch>
                    <a:fillRect/>
                  </a:stretch>
                </a:blipFill>
                <a:ln>
                  <a:noFill/>
                </a:ln>
                <a:effectLst/>
              </p:spPr>
              <p:txBody>
                <a:bodyPr/>
                <a:lstStyle/>
                <a:p>
                  <a:r>
                    <a:rPr lang="en-US">
                      <a:noFill/>
                    </a:rPr>
                    <a:t> </a:t>
                  </a:r>
                </a:p>
              </p:txBody>
            </p:sp>
          </mc:Fallback>
        </mc:AlternateContent>
        <p:sp>
          <p:nvSpPr>
            <p:cNvPr id="73" name="Line 28">
              <a:extLst>
                <a:ext uri="{FF2B5EF4-FFF2-40B4-BE49-F238E27FC236}">
                  <a16:creationId xmlns:a16="http://schemas.microsoft.com/office/drawing/2014/main" id="{41AFF0DB-4DEC-4564-9F79-45875D8612C0}"/>
                </a:ext>
              </a:extLst>
            </p:cNvPr>
            <p:cNvSpPr>
              <a:spLocks noChangeShapeType="1"/>
            </p:cNvSpPr>
            <p:nvPr/>
          </p:nvSpPr>
          <p:spPr bwMode="auto">
            <a:xfrm flipV="1">
              <a:off x="5787296" y="4618392"/>
              <a:ext cx="0" cy="110273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74" name="Object 29">
                  <a:extLst>
                    <a:ext uri="{FF2B5EF4-FFF2-40B4-BE49-F238E27FC236}">
                      <a16:creationId xmlns:a16="http://schemas.microsoft.com/office/drawing/2014/main" id="{1BF763A8-FFB5-4192-9194-B44DDA007EC5}"/>
                    </a:ext>
                  </a:extLst>
                </p:cNvPr>
                <p:cNvSpPr txBox="1"/>
                <p:nvPr/>
              </p:nvSpPr>
              <p:spPr bwMode="auto">
                <a:xfrm>
                  <a:off x="5803577" y="4339727"/>
                  <a:ext cx="735164" cy="47440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74" name="Object 29">
                  <a:extLst>
                    <a:ext uri="{FF2B5EF4-FFF2-40B4-BE49-F238E27FC236}">
                      <a16:creationId xmlns:a16="http://schemas.microsoft.com/office/drawing/2014/main" id="{1BF763A8-FFB5-4192-9194-B44DDA007EC5}"/>
                    </a:ext>
                  </a:extLst>
                </p:cNvPr>
                <p:cNvSpPr txBox="1">
                  <a:spLocks noRot="1" noChangeAspect="1" noMove="1" noResize="1" noEditPoints="1" noAdjustHandles="1" noChangeArrowheads="1" noChangeShapeType="1" noTextEdit="1"/>
                </p:cNvSpPr>
                <p:nvPr/>
              </p:nvSpPr>
              <p:spPr bwMode="auto">
                <a:xfrm>
                  <a:off x="5803577" y="4339727"/>
                  <a:ext cx="735164" cy="474404"/>
                </a:xfrm>
                <a:prstGeom prst="rect">
                  <a:avLst/>
                </a:prstGeom>
                <a:blipFill>
                  <a:blip r:embed="rId13"/>
                  <a:stretch>
                    <a:fillRect r="-10833" b="-16667"/>
                  </a:stretch>
                </a:blipFill>
                <a:ln>
                  <a:noFill/>
                </a:ln>
                <a:effectLst/>
              </p:spPr>
              <p:txBody>
                <a:bodyPr/>
                <a:lstStyle/>
                <a:p>
                  <a:r>
                    <a:rPr lang="en-US">
                      <a:noFill/>
                    </a:rPr>
                    <a:t> </a:t>
                  </a:r>
                </a:p>
              </p:txBody>
            </p:sp>
          </mc:Fallback>
        </mc:AlternateContent>
        <p:sp>
          <p:nvSpPr>
            <p:cNvPr id="75" name="Oval 21">
              <a:extLst>
                <a:ext uri="{FF2B5EF4-FFF2-40B4-BE49-F238E27FC236}">
                  <a16:creationId xmlns:a16="http://schemas.microsoft.com/office/drawing/2014/main" id="{9FE38D24-3779-4151-8FB2-6E49CD325FA3}"/>
                </a:ext>
              </a:extLst>
            </p:cNvPr>
            <p:cNvSpPr>
              <a:spLocks noChangeArrowheads="1"/>
            </p:cNvSpPr>
            <p:nvPr/>
          </p:nvSpPr>
          <p:spPr bwMode="auto">
            <a:xfrm>
              <a:off x="5118954" y="5610216"/>
              <a:ext cx="120231" cy="110273"/>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76" name="Oval 23">
              <a:extLst>
                <a:ext uri="{FF2B5EF4-FFF2-40B4-BE49-F238E27FC236}">
                  <a16:creationId xmlns:a16="http://schemas.microsoft.com/office/drawing/2014/main" id="{5A121F5E-874B-467B-80CE-C63086C4439E}"/>
                </a:ext>
              </a:extLst>
            </p:cNvPr>
            <p:cNvSpPr>
              <a:spLocks noChangeArrowheads="1"/>
            </p:cNvSpPr>
            <p:nvPr/>
          </p:nvSpPr>
          <p:spPr bwMode="auto">
            <a:xfrm>
              <a:off x="5419532" y="5610216"/>
              <a:ext cx="120231" cy="110273"/>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102" name="Object 26">
                  <a:extLst>
                    <a:ext uri="{FF2B5EF4-FFF2-40B4-BE49-F238E27FC236}">
                      <a16:creationId xmlns:a16="http://schemas.microsoft.com/office/drawing/2014/main" id="{6A5CA1A3-DA4C-42A3-8AFD-B14C60DE55B3}"/>
                    </a:ext>
                  </a:extLst>
                </p:cNvPr>
                <p:cNvSpPr txBox="1"/>
                <p:nvPr/>
              </p:nvSpPr>
              <p:spPr bwMode="auto">
                <a:xfrm>
                  <a:off x="5931150" y="5665352"/>
                  <a:ext cx="362984" cy="48036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1</m:t>
                        </m:r>
                      </m:oMath>
                    </m:oMathPara>
                  </a14:m>
                  <a:endParaRPr lang="en-US" sz="2400" dirty="0"/>
                </a:p>
              </p:txBody>
            </p:sp>
          </mc:Choice>
          <mc:Fallback xmlns="">
            <p:sp>
              <p:nvSpPr>
                <p:cNvPr id="102" name="Object 26">
                  <a:extLst>
                    <a:ext uri="{FF2B5EF4-FFF2-40B4-BE49-F238E27FC236}">
                      <a16:creationId xmlns:a16="http://schemas.microsoft.com/office/drawing/2014/main" id="{6A5CA1A3-DA4C-42A3-8AFD-B14C60DE55B3}"/>
                    </a:ext>
                  </a:extLst>
                </p:cNvPr>
                <p:cNvSpPr txBox="1">
                  <a:spLocks noRot="1" noChangeAspect="1" noMove="1" noResize="1" noEditPoints="1" noAdjustHandles="1" noChangeArrowheads="1" noChangeShapeType="1" noTextEdit="1"/>
                </p:cNvSpPr>
                <p:nvPr/>
              </p:nvSpPr>
              <p:spPr bwMode="auto">
                <a:xfrm>
                  <a:off x="5931150" y="5665352"/>
                  <a:ext cx="362984" cy="480365"/>
                </a:xfrm>
                <a:prstGeom prst="rect">
                  <a:avLst/>
                </a:prstGeom>
                <a:blipFill>
                  <a:blip r:embed="rId14"/>
                  <a:stretch>
                    <a:fillRect l="-3333" r="-166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Object 26">
                  <a:extLst>
                    <a:ext uri="{FF2B5EF4-FFF2-40B4-BE49-F238E27FC236}">
                      <a16:creationId xmlns:a16="http://schemas.microsoft.com/office/drawing/2014/main" id="{7357AEF1-8A91-4D65-9FB9-73FC6458185F}"/>
                    </a:ext>
                  </a:extLst>
                </p:cNvPr>
                <p:cNvSpPr txBox="1"/>
                <p:nvPr/>
              </p:nvSpPr>
              <p:spPr bwMode="auto">
                <a:xfrm>
                  <a:off x="6230428" y="5665352"/>
                  <a:ext cx="362984" cy="48036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2</m:t>
                        </m:r>
                      </m:oMath>
                    </m:oMathPara>
                  </a14:m>
                  <a:endParaRPr lang="en-US" sz="2400" dirty="0"/>
                </a:p>
              </p:txBody>
            </p:sp>
          </mc:Choice>
          <mc:Fallback xmlns="">
            <p:sp>
              <p:nvSpPr>
                <p:cNvPr id="103" name="Object 26">
                  <a:extLst>
                    <a:ext uri="{FF2B5EF4-FFF2-40B4-BE49-F238E27FC236}">
                      <a16:creationId xmlns:a16="http://schemas.microsoft.com/office/drawing/2014/main" id="{7357AEF1-8A91-4D65-9FB9-73FC6458185F}"/>
                    </a:ext>
                  </a:extLst>
                </p:cNvPr>
                <p:cNvSpPr txBox="1">
                  <a:spLocks noRot="1" noChangeAspect="1" noMove="1" noResize="1" noEditPoints="1" noAdjustHandles="1" noChangeArrowheads="1" noChangeShapeType="1" noTextEdit="1"/>
                </p:cNvSpPr>
                <p:nvPr/>
              </p:nvSpPr>
              <p:spPr bwMode="auto">
                <a:xfrm>
                  <a:off x="6230428" y="5665352"/>
                  <a:ext cx="362984" cy="480365"/>
                </a:xfrm>
                <a:prstGeom prst="rect">
                  <a:avLst/>
                </a:prstGeom>
                <a:blipFill>
                  <a:blip r:embed="rId15"/>
                  <a:stretch>
                    <a:fillRect l="-5085" r="-169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Object 26">
                  <a:extLst>
                    <a:ext uri="{FF2B5EF4-FFF2-40B4-BE49-F238E27FC236}">
                      <a16:creationId xmlns:a16="http://schemas.microsoft.com/office/drawing/2014/main" id="{7E2F5599-65F7-4C28-965D-AC09763FEED3}"/>
                    </a:ext>
                  </a:extLst>
                </p:cNvPr>
                <p:cNvSpPr txBox="1"/>
                <p:nvPr/>
              </p:nvSpPr>
              <p:spPr bwMode="auto">
                <a:xfrm>
                  <a:off x="6529706" y="5665352"/>
                  <a:ext cx="362984" cy="48036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3</m:t>
                        </m:r>
                      </m:oMath>
                    </m:oMathPara>
                  </a14:m>
                  <a:endParaRPr lang="en-US" sz="2400" dirty="0"/>
                </a:p>
              </p:txBody>
            </p:sp>
          </mc:Choice>
          <mc:Fallback xmlns="">
            <p:sp>
              <p:nvSpPr>
                <p:cNvPr id="104" name="Object 26">
                  <a:extLst>
                    <a:ext uri="{FF2B5EF4-FFF2-40B4-BE49-F238E27FC236}">
                      <a16:creationId xmlns:a16="http://schemas.microsoft.com/office/drawing/2014/main" id="{7E2F5599-65F7-4C28-965D-AC09763FEED3}"/>
                    </a:ext>
                  </a:extLst>
                </p:cNvPr>
                <p:cNvSpPr txBox="1">
                  <a:spLocks noRot="1" noChangeAspect="1" noMove="1" noResize="1" noEditPoints="1" noAdjustHandles="1" noChangeArrowheads="1" noChangeShapeType="1" noTextEdit="1"/>
                </p:cNvSpPr>
                <p:nvPr/>
              </p:nvSpPr>
              <p:spPr bwMode="auto">
                <a:xfrm>
                  <a:off x="6529706" y="5665352"/>
                  <a:ext cx="362984" cy="480365"/>
                </a:xfrm>
                <a:prstGeom prst="rect">
                  <a:avLst/>
                </a:prstGeom>
                <a:blipFill>
                  <a:blip r:embed="rId16"/>
                  <a:stretch>
                    <a:fillRect l="-5085" r="-169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Object 26">
                  <a:extLst>
                    <a:ext uri="{FF2B5EF4-FFF2-40B4-BE49-F238E27FC236}">
                      <a16:creationId xmlns:a16="http://schemas.microsoft.com/office/drawing/2014/main" id="{88F4099D-FF47-4FA7-AE86-405B22B5D6AA}"/>
                    </a:ext>
                  </a:extLst>
                </p:cNvPr>
                <p:cNvSpPr txBox="1"/>
                <p:nvPr/>
              </p:nvSpPr>
              <p:spPr bwMode="auto">
                <a:xfrm>
                  <a:off x="6828985" y="5665352"/>
                  <a:ext cx="362984" cy="48036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4</m:t>
                        </m:r>
                      </m:oMath>
                    </m:oMathPara>
                  </a14:m>
                  <a:endParaRPr lang="en-US" sz="2400" dirty="0"/>
                </a:p>
              </p:txBody>
            </p:sp>
          </mc:Choice>
          <mc:Fallback xmlns="">
            <p:sp>
              <p:nvSpPr>
                <p:cNvPr id="105" name="Object 26">
                  <a:extLst>
                    <a:ext uri="{FF2B5EF4-FFF2-40B4-BE49-F238E27FC236}">
                      <a16:creationId xmlns:a16="http://schemas.microsoft.com/office/drawing/2014/main" id="{88F4099D-FF47-4FA7-AE86-405B22B5D6AA}"/>
                    </a:ext>
                  </a:extLst>
                </p:cNvPr>
                <p:cNvSpPr txBox="1">
                  <a:spLocks noRot="1" noChangeAspect="1" noMove="1" noResize="1" noEditPoints="1" noAdjustHandles="1" noChangeArrowheads="1" noChangeShapeType="1" noTextEdit="1"/>
                </p:cNvSpPr>
                <p:nvPr/>
              </p:nvSpPr>
              <p:spPr bwMode="auto">
                <a:xfrm>
                  <a:off x="6828985" y="5665352"/>
                  <a:ext cx="362984" cy="480365"/>
                </a:xfrm>
                <a:prstGeom prst="rect">
                  <a:avLst/>
                </a:prstGeom>
                <a:blipFill>
                  <a:blip r:embed="rId17"/>
                  <a:stretch>
                    <a:fillRect l="-5085" r="-169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Object 26">
                  <a:extLst>
                    <a:ext uri="{FF2B5EF4-FFF2-40B4-BE49-F238E27FC236}">
                      <a16:creationId xmlns:a16="http://schemas.microsoft.com/office/drawing/2014/main" id="{204E1C1A-24E3-43E9-B985-33CD0F98D389}"/>
                    </a:ext>
                  </a:extLst>
                </p:cNvPr>
                <p:cNvSpPr txBox="1"/>
                <p:nvPr/>
              </p:nvSpPr>
              <p:spPr bwMode="auto">
                <a:xfrm>
                  <a:off x="7256208" y="5574667"/>
                  <a:ext cx="789339" cy="59172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06" name="Object 26">
                  <a:extLst>
                    <a:ext uri="{FF2B5EF4-FFF2-40B4-BE49-F238E27FC236}">
                      <a16:creationId xmlns:a16="http://schemas.microsoft.com/office/drawing/2014/main" id="{204E1C1A-24E3-43E9-B985-33CD0F98D389}"/>
                    </a:ext>
                  </a:extLst>
                </p:cNvPr>
                <p:cNvSpPr txBox="1">
                  <a:spLocks noRot="1" noChangeAspect="1" noMove="1" noResize="1" noEditPoints="1" noAdjustHandles="1" noChangeArrowheads="1" noChangeShapeType="1" noTextEdit="1"/>
                </p:cNvSpPr>
                <p:nvPr/>
              </p:nvSpPr>
              <p:spPr bwMode="auto">
                <a:xfrm>
                  <a:off x="7256208" y="5574667"/>
                  <a:ext cx="789339" cy="591723"/>
                </a:xfrm>
                <a:prstGeom prst="rect">
                  <a:avLst/>
                </a:prstGeom>
                <a:blipFill>
                  <a:blip r:embed="rId18"/>
                  <a:stretch>
                    <a:fillRect/>
                  </a:stretch>
                </a:blipFill>
                <a:ln>
                  <a:noFill/>
                </a:ln>
                <a:effectLst/>
              </p:spPr>
              <p:txBody>
                <a:bodyPr/>
                <a:lstStyle/>
                <a:p>
                  <a:r>
                    <a:rPr lang="en-US">
                      <a:noFill/>
                    </a:rPr>
                    <a:t> </a:t>
                  </a:r>
                </a:p>
              </p:txBody>
            </p:sp>
          </mc:Fallback>
        </mc:AlternateContent>
      </p:gr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5" name="标题 1">
            <a:extLst>
              <a:ext uri="{FF2B5EF4-FFF2-40B4-BE49-F238E27FC236}">
                <a16:creationId xmlns:a16="http://schemas.microsoft.com/office/drawing/2014/main" id="{85DB0EF0-E265-410B-90FE-43AB61794387}"/>
              </a:ext>
            </a:extLst>
          </p:cNvPr>
          <p:cNvSpPr>
            <a:spLocks noGrp="1"/>
          </p:cNvSpPr>
          <p:nvPr>
            <p:ph type="title"/>
          </p:nvPr>
        </p:nvSpPr>
        <p:spPr/>
        <p:txBody>
          <a:bodyPr/>
          <a:lstStyle/>
          <a:p>
            <a:pPr eaLnBrk="1" hangingPunct="1"/>
            <a:r>
              <a:rPr lang="en-US" altLang="zh-CN"/>
              <a:t>1.4  </a:t>
            </a:r>
            <a:r>
              <a:rPr lang="zh-CN" altLang="en-US"/>
              <a:t>单位冲激与单位阶跃函数</a:t>
            </a:r>
          </a:p>
        </p:txBody>
      </p:sp>
      <p:sp>
        <p:nvSpPr>
          <p:cNvPr id="4" name="灯片编号占位符 3">
            <a:extLst>
              <a:ext uri="{FF2B5EF4-FFF2-40B4-BE49-F238E27FC236}">
                <a16:creationId xmlns:a16="http://schemas.microsoft.com/office/drawing/2014/main" id="{25596D45-C4D2-4DF5-9E4B-0B5EE2BABFD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5D8C005-C839-4F00-A4EF-2F43ADA1FC9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9477" name="Text Box 15">
                <a:extLst>
                  <a:ext uri="{FF2B5EF4-FFF2-40B4-BE49-F238E27FC236}">
                    <a16:creationId xmlns:a16="http://schemas.microsoft.com/office/drawing/2014/main" id="{312A580A-7990-4E4B-B888-CFB463C7A933}"/>
                  </a:ext>
                </a:extLst>
              </p:cNvPr>
              <p:cNvSpPr txBox="1">
                <a:spLocks noChangeArrowheads="1"/>
              </p:cNvSpPr>
              <p:nvPr/>
            </p:nvSpPr>
            <p:spPr bwMode="auto">
              <a:xfrm>
                <a:off x="323528" y="1355145"/>
                <a:ext cx="3493200"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defRPr/>
                </a:pPr>
                <a14:m>
                  <m:oMath xmlns:m="http://schemas.openxmlformats.org/officeDocument/2006/math">
                    <m:r>
                      <a:rPr lang="en-US" sz="2400" b="0" i="1" smtClean="0">
                        <a:solidFill>
                          <a:schemeClr val="tx1"/>
                        </a:solidFill>
                        <a:latin typeface="Cambria Math" panose="02040503050406030204" pitchFamily="18" charset="0"/>
                      </a:rPr>
                      <m:t>𝛿</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a14:m>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与</a:t>
                </a:r>
                <a14:m>
                  <m:oMath xmlns:m="http://schemas.openxmlformats.org/officeDocument/2006/math">
                    <m:r>
                      <a:rPr lang="en-US" sz="2400" b="0" i="1">
                        <a:solidFill>
                          <a:schemeClr val="tx1"/>
                        </a:solidFill>
                        <a:latin typeface="Cambria Math" panose="02040503050406030204" pitchFamily="18" charset="0"/>
                      </a:rPr>
                      <m:t>𝑢</m:t>
                    </m:r>
                    <m:r>
                      <a:rPr lang="en-US" sz="2400" b="0" i="1" smtClean="0">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a14:m>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之间的关系：</a:t>
                </a:r>
              </a:p>
            </p:txBody>
          </p:sp>
        </mc:Choice>
        <mc:Fallback xmlns="">
          <p:sp>
            <p:nvSpPr>
              <p:cNvPr id="19477" name="Text Box 15">
                <a:extLst>
                  <a:ext uri="{FF2B5EF4-FFF2-40B4-BE49-F238E27FC236}">
                    <a16:creationId xmlns:a16="http://schemas.microsoft.com/office/drawing/2014/main" id="{312A580A-7990-4E4B-B888-CFB463C7A933}"/>
                  </a:ext>
                </a:extLst>
              </p:cNvPr>
              <p:cNvSpPr txBox="1">
                <a:spLocks noRot="1" noChangeAspect="1" noMove="1" noResize="1" noEditPoints="1" noAdjustHandles="1" noChangeArrowheads="1" noChangeShapeType="1" noTextEdit="1"/>
              </p:cNvSpPr>
              <p:nvPr/>
            </p:nvSpPr>
            <p:spPr bwMode="auto">
              <a:xfrm>
                <a:off x="323528" y="1355145"/>
                <a:ext cx="3493200" cy="461665"/>
              </a:xfrm>
              <a:prstGeom prst="rect">
                <a:avLst/>
              </a:prstGeom>
              <a:blipFill>
                <a:blip r:embed="rId2"/>
                <a:stretch>
                  <a:fillRect l="-524" t="-10526" r="-1745" b="-289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461" name="Object 5">
                <a:extLst>
                  <a:ext uri="{FF2B5EF4-FFF2-40B4-BE49-F238E27FC236}">
                    <a16:creationId xmlns:a16="http://schemas.microsoft.com/office/drawing/2014/main" id="{ECA16958-9E1A-4425-9491-D97503131AF0}"/>
                  </a:ext>
                </a:extLst>
              </p:cNvPr>
              <p:cNvSpPr txBox="1"/>
              <p:nvPr/>
            </p:nvSpPr>
            <p:spPr bwMode="auto">
              <a:xfrm>
                <a:off x="827169" y="2904506"/>
                <a:ext cx="2706067" cy="110055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FF0000"/>
                          </a:solidFill>
                          <a:latin typeface="Cambria Math" panose="02040503050406030204" pitchFamily="18" charset="0"/>
                        </a:rPr>
                        <m:t>𝑢</m:t>
                      </m:r>
                      <m:d>
                        <m:dPr>
                          <m:begChr m:val="["/>
                          <m:endChr m:val="]"/>
                          <m:ctrlPr>
                            <a:rPr lang="en-US" sz="2400" b="0" i="1" smtClean="0">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𝑛</m:t>
                          </m:r>
                        </m:e>
                      </m:d>
                      <m:r>
                        <a:rPr lang="en-US" sz="2400" i="1">
                          <a:solidFill>
                            <a:srgbClr val="FF0000"/>
                          </a:solidFill>
                          <a:latin typeface="Cambria Math" panose="02040503050406030204" pitchFamily="18" charset="0"/>
                        </a:rPr>
                        <m:t>=</m:t>
                      </m:r>
                      <m:nary>
                        <m:naryPr>
                          <m:chr m:val="∑"/>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𝑚</m:t>
                          </m:r>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𝑛</m:t>
                          </m:r>
                        </m:sup>
                        <m:e>
                          <m:r>
                            <a:rPr lang="en-US" sz="2400" i="1">
                              <a:solidFill>
                                <a:srgbClr val="FF0000"/>
                              </a:solidFill>
                              <a:latin typeface="Cambria Math" panose="02040503050406030204" pitchFamily="18" charset="0"/>
                            </a:rPr>
                            <m:t>𝛿</m:t>
                          </m:r>
                          <m:d>
                            <m:dPr>
                              <m:begChr m:val="["/>
                              <m:endChr m:val="]"/>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𝑚</m:t>
                              </m:r>
                            </m:e>
                          </m:d>
                        </m:e>
                      </m:nary>
                    </m:oMath>
                  </m:oMathPara>
                </a14:m>
                <a:endParaRPr lang="en-US" sz="2400" dirty="0">
                  <a:solidFill>
                    <a:srgbClr val="FF0000"/>
                  </a:solidFill>
                </a:endParaRPr>
              </a:p>
            </p:txBody>
          </p:sp>
        </mc:Choice>
        <mc:Fallback xmlns="">
          <p:sp>
            <p:nvSpPr>
              <p:cNvPr id="19461" name="Object 5">
                <a:extLst>
                  <a:ext uri="{FF2B5EF4-FFF2-40B4-BE49-F238E27FC236}">
                    <a16:creationId xmlns:a16="http://schemas.microsoft.com/office/drawing/2014/main" id="{ECA16958-9E1A-4425-9491-D97503131AF0}"/>
                  </a:ext>
                </a:extLst>
              </p:cNvPr>
              <p:cNvSpPr txBox="1">
                <a:spLocks noRot="1" noChangeAspect="1" noMove="1" noResize="1" noEditPoints="1" noAdjustHandles="1" noChangeArrowheads="1" noChangeShapeType="1" noTextEdit="1"/>
              </p:cNvSpPr>
              <p:nvPr/>
            </p:nvSpPr>
            <p:spPr bwMode="auto">
              <a:xfrm>
                <a:off x="827169" y="2904506"/>
                <a:ext cx="2706067" cy="1100558"/>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bject 3">
                <a:extLst>
                  <a:ext uri="{FF2B5EF4-FFF2-40B4-BE49-F238E27FC236}">
                    <a16:creationId xmlns:a16="http://schemas.microsoft.com/office/drawing/2014/main" id="{2EEE3D0E-41B2-4231-8BCE-27256FCB9C34}"/>
                  </a:ext>
                </a:extLst>
              </p:cNvPr>
              <p:cNvSpPr txBox="1"/>
              <p:nvPr/>
            </p:nvSpPr>
            <p:spPr bwMode="auto">
              <a:xfrm>
                <a:off x="808813" y="2000627"/>
                <a:ext cx="3199607" cy="48938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FF0000"/>
                          </a:solidFill>
                          <a:latin typeface="Cambria Math" panose="02040503050406030204" pitchFamily="18" charset="0"/>
                        </a:rPr>
                        <m:t>𝛿</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𝑢</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𝑢</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−1]</m:t>
                      </m:r>
                    </m:oMath>
                  </m:oMathPara>
                </a14:m>
                <a:endParaRPr lang="en-US" sz="2400" dirty="0"/>
              </a:p>
            </p:txBody>
          </p:sp>
        </mc:Choice>
        <mc:Fallback xmlns="">
          <p:sp>
            <p:nvSpPr>
              <p:cNvPr id="35" name="Object 3">
                <a:extLst>
                  <a:ext uri="{FF2B5EF4-FFF2-40B4-BE49-F238E27FC236}">
                    <a16:creationId xmlns:a16="http://schemas.microsoft.com/office/drawing/2014/main" id="{2EEE3D0E-41B2-4231-8BCE-27256FCB9C34}"/>
                  </a:ext>
                </a:extLst>
              </p:cNvPr>
              <p:cNvSpPr txBox="1">
                <a:spLocks noRot="1" noChangeAspect="1" noMove="1" noResize="1" noEditPoints="1" noAdjustHandles="1" noChangeArrowheads="1" noChangeShapeType="1" noTextEdit="1"/>
              </p:cNvSpPr>
              <p:nvPr/>
            </p:nvSpPr>
            <p:spPr bwMode="auto">
              <a:xfrm>
                <a:off x="808813" y="2000627"/>
                <a:ext cx="3199607" cy="489382"/>
              </a:xfrm>
              <a:prstGeom prst="rect">
                <a:avLst/>
              </a:prstGeom>
              <a:blipFill>
                <a:blip r:embed="rId4"/>
                <a:stretch>
                  <a:fillRect l="-571" r="-1333" b="-1375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2DD01DC7-8F0E-4DAD-9A3A-21B7F8E12491}"/>
                  </a:ext>
                </a:extLst>
              </p:cNvPr>
              <p:cNvSpPr txBox="1"/>
              <p:nvPr/>
            </p:nvSpPr>
            <p:spPr>
              <a:xfrm>
                <a:off x="1381208" y="4705604"/>
                <a:ext cx="2444750" cy="10996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m:t>
                      </m:r>
                      <m:nary>
                        <m:naryPr>
                          <m:chr m:val="∑"/>
                          <m:ctrlPr>
                            <a:rPr lang="en-US" sz="2400" i="1">
                              <a:solidFill>
                                <a:srgbClr val="FF0000"/>
                              </a:solidFill>
                              <a:latin typeface="Cambria Math" panose="02040503050406030204" pitchFamily="18" charset="0"/>
                            </a:rPr>
                          </m:ctrlPr>
                        </m:naryPr>
                        <m:sub>
                          <m:r>
                            <a:rPr lang="en-US" sz="2400" b="0" i="1" smtClean="0">
                              <a:solidFill>
                                <a:srgbClr val="FF0000"/>
                              </a:solidFill>
                              <a:latin typeface="Cambria Math" panose="02040503050406030204" pitchFamily="18" charset="0"/>
                            </a:rPr>
                            <m:t>𝑚</m:t>
                          </m:r>
                          <m:r>
                            <a:rPr lang="en-US" sz="2400" i="1">
                              <a:solidFill>
                                <a:srgbClr val="FF0000"/>
                              </a:solidFill>
                              <a:latin typeface="Cambria Math" panose="02040503050406030204" pitchFamily="18" charset="0"/>
                            </a:rPr>
                            <m:t>=0</m:t>
                          </m:r>
                        </m:sub>
                        <m:sup>
                          <m:r>
                            <a:rPr lang="en-US" sz="2400" i="1">
                              <a:solidFill>
                                <a:srgbClr val="FF0000"/>
                              </a:solidFill>
                              <a:latin typeface="Cambria Math" panose="02040503050406030204" pitchFamily="18" charset="0"/>
                            </a:rPr>
                            <m:t>∞</m:t>
                          </m:r>
                        </m:sup>
                        <m:e>
                          <m:r>
                            <a:rPr lang="en-US" sz="2400" i="1">
                              <a:solidFill>
                                <a:srgbClr val="FF0000"/>
                              </a:solidFill>
                              <a:latin typeface="Cambria Math" panose="02040503050406030204" pitchFamily="18" charset="0"/>
                            </a:rPr>
                            <m:t>𝛿</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𝑚</m:t>
                          </m:r>
                          <m:r>
                            <a:rPr lang="en-US" sz="2400" b="0" i="1" smtClean="0">
                              <a:solidFill>
                                <a:srgbClr val="FF0000"/>
                              </a:solidFill>
                              <a:latin typeface="Cambria Math" panose="02040503050406030204" pitchFamily="18" charset="0"/>
                            </a:rPr>
                            <m:t>]</m:t>
                          </m:r>
                        </m:e>
                      </m:nary>
                    </m:oMath>
                  </m:oMathPara>
                </a14:m>
                <a:endParaRPr lang="en-US" sz="2400" dirty="0"/>
              </a:p>
            </p:txBody>
          </p:sp>
        </mc:Choice>
        <mc:Fallback xmlns="">
          <p:sp>
            <p:nvSpPr>
              <p:cNvPr id="43" name="文本框 42">
                <a:extLst>
                  <a:ext uri="{FF2B5EF4-FFF2-40B4-BE49-F238E27FC236}">
                    <a16:creationId xmlns:a16="http://schemas.microsoft.com/office/drawing/2014/main" id="{2DD01DC7-8F0E-4DAD-9A3A-21B7F8E12491}"/>
                  </a:ext>
                </a:extLst>
              </p:cNvPr>
              <p:cNvSpPr txBox="1">
                <a:spLocks noRot="1" noChangeAspect="1" noMove="1" noResize="1" noEditPoints="1" noAdjustHandles="1" noChangeArrowheads="1" noChangeShapeType="1" noTextEdit="1"/>
              </p:cNvSpPr>
              <p:nvPr/>
            </p:nvSpPr>
            <p:spPr>
              <a:xfrm>
                <a:off x="1381208" y="4705604"/>
                <a:ext cx="2444750" cy="1099660"/>
              </a:xfrm>
              <a:prstGeom prst="rect">
                <a:avLst/>
              </a:prstGeom>
              <a:blipFill>
                <a:blip r:embed="rId5"/>
                <a:stretch>
                  <a:fillRect/>
                </a:stretch>
              </a:blipFill>
            </p:spPr>
            <p:txBody>
              <a:bodyPr/>
              <a:lstStyle/>
              <a:p>
                <a:r>
                  <a:rPr lang="en-US">
                    <a:noFill/>
                  </a:rPr>
                  <a:t> </a:t>
                </a:r>
              </a:p>
            </p:txBody>
          </p:sp>
        </mc:Fallback>
      </mc:AlternateContent>
      <p:pic>
        <p:nvPicPr>
          <p:cNvPr id="19" name="图片 18">
            <a:extLst>
              <a:ext uri="{FF2B5EF4-FFF2-40B4-BE49-F238E27FC236}">
                <a16:creationId xmlns:a16="http://schemas.microsoft.com/office/drawing/2014/main" id="{51F5AE5C-F002-46A7-B22C-1607AD8B2838}"/>
              </a:ext>
            </a:extLst>
          </p:cNvPr>
          <p:cNvPicPr>
            <a:picLocks noChangeAspect="1"/>
          </p:cNvPicPr>
          <p:nvPr/>
        </p:nvPicPr>
        <p:blipFill>
          <a:blip r:embed="rId6"/>
          <a:stretch>
            <a:fillRect/>
          </a:stretch>
        </p:blipFill>
        <p:spPr>
          <a:xfrm>
            <a:off x="4458900" y="5096604"/>
            <a:ext cx="4030980" cy="708660"/>
          </a:xfrm>
          <a:prstGeom prst="rect">
            <a:avLst/>
          </a:prstGeom>
        </p:spPr>
      </p:pic>
      <p:cxnSp>
        <p:nvCxnSpPr>
          <p:cNvPr id="54" name="直接箭头连接符 53">
            <a:extLst>
              <a:ext uri="{FF2B5EF4-FFF2-40B4-BE49-F238E27FC236}">
                <a16:creationId xmlns:a16="http://schemas.microsoft.com/office/drawing/2014/main" id="{11BF0593-7D65-4873-9A80-11667070B5C6}"/>
              </a:ext>
            </a:extLst>
          </p:cNvPr>
          <p:cNvCxnSpPr/>
          <p:nvPr/>
        </p:nvCxnSpPr>
        <p:spPr>
          <a:xfrm flipV="1">
            <a:off x="6488108" y="4575952"/>
            <a:ext cx="0" cy="11229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244A8A67-CB75-45A8-A059-F27A455CA14C}"/>
                  </a:ext>
                </a:extLst>
              </p:cNvPr>
              <p:cNvSpPr txBox="1"/>
              <p:nvPr/>
            </p:nvSpPr>
            <p:spPr>
              <a:xfrm>
                <a:off x="6387988" y="5693842"/>
                <a:ext cx="205460" cy="276999"/>
              </a:xfrm>
              <a:prstGeom prst="rect">
                <a:avLst/>
              </a:prstGeom>
              <a:solidFill>
                <a:schemeClr val="bg1"/>
              </a:solid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0</m:t>
                      </m:r>
                    </m:oMath>
                  </m:oMathPara>
                </a14:m>
                <a:endParaRPr lang="en-US" dirty="0">
                  <a:solidFill>
                    <a:schemeClr val="tx1"/>
                  </a:solidFill>
                </a:endParaRPr>
              </a:p>
            </p:txBody>
          </p:sp>
        </mc:Choice>
        <mc:Fallback xmlns="">
          <p:sp>
            <p:nvSpPr>
              <p:cNvPr id="58" name="文本框 57">
                <a:extLst>
                  <a:ext uri="{FF2B5EF4-FFF2-40B4-BE49-F238E27FC236}">
                    <a16:creationId xmlns:a16="http://schemas.microsoft.com/office/drawing/2014/main" id="{244A8A67-CB75-45A8-A059-F27A455CA14C}"/>
                  </a:ext>
                </a:extLst>
              </p:cNvPr>
              <p:cNvSpPr txBox="1">
                <a:spLocks noRot="1" noChangeAspect="1" noMove="1" noResize="1" noEditPoints="1" noAdjustHandles="1" noChangeArrowheads="1" noChangeShapeType="1" noTextEdit="1"/>
              </p:cNvSpPr>
              <p:nvPr/>
            </p:nvSpPr>
            <p:spPr>
              <a:xfrm>
                <a:off x="6387988" y="5693842"/>
                <a:ext cx="205460" cy="276999"/>
              </a:xfrm>
              <a:prstGeom prst="rect">
                <a:avLst/>
              </a:prstGeom>
              <a:blipFill>
                <a:blip r:embed="rId7"/>
                <a:stretch>
                  <a:fillRect l="-23529" r="-17647" b="-11111"/>
                </a:stretch>
              </a:blipFill>
            </p:spPr>
            <p:txBody>
              <a:bodyPr/>
              <a:lstStyle/>
              <a:p>
                <a:r>
                  <a:rPr lang="en-US">
                    <a:noFill/>
                  </a:rPr>
                  <a:t> </a:t>
                </a:r>
              </a:p>
            </p:txBody>
          </p:sp>
        </mc:Fallback>
      </mc:AlternateContent>
      <p:grpSp>
        <p:nvGrpSpPr>
          <p:cNvPr id="24" name="组合 23">
            <a:extLst>
              <a:ext uri="{FF2B5EF4-FFF2-40B4-BE49-F238E27FC236}">
                <a16:creationId xmlns:a16="http://schemas.microsoft.com/office/drawing/2014/main" id="{3FC56205-D724-4EFF-94C3-7DB664944E2C}"/>
              </a:ext>
            </a:extLst>
          </p:cNvPr>
          <p:cNvGrpSpPr/>
          <p:nvPr/>
        </p:nvGrpSpPr>
        <p:grpSpPr>
          <a:xfrm>
            <a:off x="4294094" y="2492896"/>
            <a:ext cx="4157627" cy="1758603"/>
            <a:chOff x="4294094" y="2717607"/>
            <a:chExt cx="4157627" cy="1758603"/>
          </a:xfrm>
        </p:grpSpPr>
        <p:pic>
          <p:nvPicPr>
            <p:cNvPr id="17" name="图片 16">
              <a:extLst>
                <a:ext uri="{FF2B5EF4-FFF2-40B4-BE49-F238E27FC236}">
                  <a16:creationId xmlns:a16="http://schemas.microsoft.com/office/drawing/2014/main" id="{C895EFBB-0A49-4247-A3BE-E4CA5990EEE8}"/>
                </a:ext>
              </a:extLst>
            </p:cNvPr>
            <p:cNvPicPr>
              <a:picLocks noChangeAspect="1"/>
            </p:cNvPicPr>
            <p:nvPr/>
          </p:nvPicPr>
          <p:blipFill>
            <a:blip r:embed="rId8"/>
            <a:stretch>
              <a:fillRect/>
            </a:stretch>
          </p:blipFill>
          <p:spPr>
            <a:xfrm>
              <a:off x="4294094" y="3213188"/>
              <a:ext cx="4053794" cy="1134143"/>
            </a:xfrm>
            <a:prstGeom prst="rect">
              <a:avLst/>
            </a:prstGeom>
          </p:spPr>
        </p:pic>
        <p:cxnSp>
          <p:nvCxnSpPr>
            <p:cNvPr id="53" name="直接箭头连接符 52">
              <a:extLst>
                <a:ext uri="{FF2B5EF4-FFF2-40B4-BE49-F238E27FC236}">
                  <a16:creationId xmlns:a16="http://schemas.microsoft.com/office/drawing/2014/main" id="{483BB051-737D-4423-8476-D7C695F72B75}"/>
                </a:ext>
              </a:extLst>
            </p:cNvPr>
            <p:cNvCxnSpPr/>
            <p:nvPr/>
          </p:nvCxnSpPr>
          <p:spPr>
            <a:xfrm flipV="1">
              <a:off x="6479945" y="3053023"/>
              <a:ext cx="0" cy="11229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69198D69-8D22-4FAA-872E-2DD93B14BDD9}"/>
                    </a:ext>
                  </a:extLst>
                </p:cNvPr>
                <p:cNvSpPr txBox="1"/>
                <p:nvPr/>
              </p:nvSpPr>
              <p:spPr>
                <a:xfrm>
                  <a:off x="6387988" y="4195908"/>
                  <a:ext cx="205460" cy="276999"/>
                </a:xfrm>
                <a:prstGeom prst="rect">
                  <a:avLst/>
                </a:prstGeom>
                <a:solidFill>
                  <a:schemeClr val="bg1"/>
                </a:solid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0</m:t>
                        </m:r>
                      </m:oMath>
                    </m:oMathPara>
                  </a14:m>
                  <a:endParaRPr lang="en-US" dirty="0">
                    <a:solidFill>
                      <a:schemeClr val="tx1"/>
                    </a:solidFill>
                  </a:endParaRPr>
                </a:p>
              </p:txBody>
            </p:sp>
          </mc:Choice>
          <mc:Fallback xmlns="">
            <p:sp>
              <p:nvSpPr>
                <p:cNvPr id="57" name="文本框 56">
                  <a:extLst>
                    <a:ext uri="{FF2B5EF4-FFF2-40B4-BE49-F238E27FC236}">
                      <a16:creationId xmlns:a16="http://schemas.microsoft.com/office/drawing/2014/main" id="{69198D69-8D22-4FAA-872E-2DD93B14BDD9}"/>
                    </a:ext>
                  </a:extLst>
                </p:cNvPr>
                <p:cNvSpPr txBox="1">
                  <a:spLocks noRot="1" noChangeAspect="1" noMove="1" noResize="1" noEditPoints="1" noAdjustHandles="1" noChangeArrowheads="1" noChangeShapeType="1" noTextEdit="1"/>
                </p:cNvSpPr>
                <p:nvPr/>
              </p:nvSpPr>
              <p:spPr>
                <a:xfrm>
                  <a:off x="6387988" y="4195908"/>
                  <a:ext cx="205460" cy="276999"/>
                </a:xfrm>
                <a:prstGeom prst="rect">
                  <a:avLst/>
                </a:prstGeom>
                <a:blipFill>
                  <a:blip r:embed="rId9"/>
                  <a:stretch>
                    <a:fillRect l="-23529" r="-17647"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80F7165C-6897-4CAE-8BAB-48BDDC9DE138}"/>
                    </a:ext>
                  </a:extLst>
                </p:cNvPr>
                <p:cNvSpPr txBox="1"/>
                <p:nvPr/>
              </p:nvSpPr>
              <p:spPr>
                <a:xfrm>
                  <a:off x="6128991" y="2717607"/>
                  <a:ext cx="517994" cy="276999"/>
                </a:xfrm>
                <a:prstGeom prst="rect">
                  <a:avLst/>
                </a:prstGeom>
                <a:solidFill>
                  <a:schemeClr val="bg1"/>
                </a:solid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𝛿</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𝑚</m:t>
                        </m:r>
                        <m:r>
                          <a:rPr lang="en-US" b="0" i="1" smtClean="0">
                            <a:solidFill>
                              <a:schemeClr val="tx1"/>
                            </a:solidFill>
                            <a:latin typeface="Cambria Math" panose="02040503050406030204" pitchFamily="18" charset="0"/>
                            <a:ea typeface="Cambria Math" panose="02040503050406030204" pitchFamily="18" charset="0"/>
                          </a:rPr>
                          <m:t>]</m:t>
                        </m:r>
                      </m:oMath>
                    </m:oMathPara>
                  </a14:m>
                  <a:endParaRPr lang="en-US" dirty="0">
                    <a:solidFill>
                      <a:schemeClr val="tx1"/>
                    </a:solidFill>
                  </a:endParaRPr>
                </a:p>
              </p:txBody>
            </p:sp>
          </mc:Choice>
          <mc:Fallback xmlns="">
            <p:sp>
              <p:nvSpPr>
                <p:cNvPr id="59" name="文本框 58">
                  <a:extLst>
                    <a:ext uri="{FF2B5EF4-FFF2-40B4-BE49-F238E27FC236}">
                      <a16:creationId xmlns:a16="http://schemas.microsoft.com/office/drawing/2014/main" id="{80F7165C-6897-4CAE-8BAB-48BDDC9DE138}"/>
                    </a:ext>
                  </a:extLst>
                </p:cNvPr>
                <p:cNvSpPr txBox="1">
                  <a:spLocks noRot="1" noChangeAspect="1" noMove="1" noResize="1" noEditPoints="1" noAdjustHandles="1" noChangeArrowheads="1" noChangeShapeType="1" noTextEdit="1"/>
                </p:cNvSpPr>
                <p:nvPr/>
              </p:nvSpPr>
              <p:spPr>
                <a:xfrm>
                  <a:off x="6128991" y="2717607"/>
                  <a:ext cx="517994" cy="276999"/>
                </a:xfrm>
                <a:prstGeom prst="rect">
                  <a:avLst/>
                </a:prstGeom>
                <a:blipFill>
                  <a:blip r:embed="rId10"/>
                  <a:stretch>
                    <a:fillRect l="-12941" t="-2222" r="-18824" b="-40000"/>
                  </a:stretch>
                </a:blipFill>
              </p:spPr>
              <p:txBody>
                <a:bodyPr/>
                <a:lstStyle/>
                <a:p>
                  <a:r>
                    <a:rPr lang="en-US">
                      <a:noFill/>
                    </a:rPr>
                    <a:t> </a:t>
                  </a:r>
                </a:p>
              </p:txBody>
            </p:sp>
          </mc:Fallback>
        </mc:AlternateContent>
        <p:sp>
          <p:nvSpPr>
            <p:cNvPr id="23" name="文本框 22">
              <a:extLst>
                <a:ext uri="{FF2B5EF4-FFF2-40B4-BE49-F238E27FC236}">
                  <a16:creationId xmlns:a16="http://schemas.microsoft.com/office/drawing/2014/main" id="{00956A72-419A-49B2-9FCD-1D9386E79D70}"/>
                </a:ext>
              </a:extLst>
            </p:cNvPr>
            <p:cNvSpPr txBox="1"/>
            <p:nvPr/>
          </p:nvSpPr>
          <p:spPr>
            <a:xfrm>
              <a:off x="6474390" y="2927447"/>
              <a:ext cx="1107996"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求和范围</a:t>
              </a:r>
              <a:endParaRPr 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5A06830E-226F-4121-9E66-81CF4DE44E49}"/>
                    </a:ext>
                  </a:extLst>
                </p:cNvPr>
                <p:cNvSpPr txBox="1"/>
                <p:nvPr/>
              </p:nvSpPr>
              <p:spPr>
                <a:xfrm>
                  <a:off x="7933727" y="4199211"/>
                  <a:ext cx="517994" cy="276999"/>
                </a:xfrm>
                <a:prstGeom prst="rect">
                  <a:avLst/>
                </a:prstGeom>
                <a:no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𝑚</m:t>
                        </m:r>
                      </m:oMath>
                    </m:oMathPara>
                  </a14:m>
                  <a:endParaRPr lang="en-US" dirty="0">
                    <a:solidFill>
                      <a:schemeClr val="tx1"/>
                    </a:solidFill>
                  </a:endParaRPr>
                </a:p>
              </p:txBody>
            </p:sp>
          </mc:Choice>
          <mc:Fallback xmlns="">
            <p:sp>
              <p:nvSpPr>
                <p:cNvPr id="61" name="文本框 60">
                  <a:extLst>
                    <a:ext uri="{FF2B5EF4-FFF2-40B4-BE49-F238E27FC236}">
                      <a16:creationId xmlns:a16="http://schemas.microsoft.com/office/drawing/2014/main" id="{5A06830E-226F-4121-9E66-81CF4DE44E49}"/>
                    </a:ext>
                  </a:extLst>
                </p:cNvPr>
                <p:cNvSpPr txBox="1">
                  <a:spLocks noRot="1" noChangeAspect="1" noMove="1" noResize="1" noEditPoints="1" noAdjustHandles="1" noChangeArrowheads="1" noChangeShapeType="1" noTextEdit="1"/>
                </p:cNvSpPr>
                <p:nvPr/>
              </p:nvSpPr>
              <p:spPr>
                <a:xfrm>
                  <a:off x="7933727" y="4199211"/>
                  <a:ext cx="517994" cy="276999"/>
                </a:xfrm>
                <a:prstGeom prst="rect">
                  <a:avLst/>
                </a:prstGeom>
                <a:blipFill>
                  <a:blip r:embed="rId11"/>
                  <a:stretch>
                    <a:fillRect b="-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FF83318C-6F5B-4839-827E-691FA0ED3C40}"/>
                    </a:ext>
                  </a:extLst>
                </p:cNvPr>
                <p:cNvSpPr txBox="1"/>
                <p:nvPr/>
              </p:nvSpPr>
              <p:spPr>
                <a:xfrm>
                  <a:off x="7062653" y="4193807"/>
                  <a:ext cx="517994" cy="276999"/>
                </a:xfrm>
                <a:prstGeom prst="rect">
                  <a:avLst/>
                </a:prstGeom>
                <a:no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𝑛</m:t>
                        </m:r>
                      </m:oMath>
                    </m:oMathPara>
                  </a14:m>
                  <a:endParaRPr lang="en-US" dirty="0">
                    <a:solidFill>
                      <a:schemeClr val="tx1"/>
                    </a:solidFill>
                  </a:endParaRPr>
                </a:p>
              </p:txBody>
            </p:sp>
          </mc:Choice>
          <mc:Fallback xmlns="">
            <p:sp>
              <p:nvSpPr>
                <p:cNvPr id="62" name="文本框 61">
                  <a:extLst>
                    <a:ext uri="{FF2B5EF4-FFF2-40B4-BE49-F238E27FC236}">
                      <a16:creationId xmlns:a16="http://schemas.microsoft.com/office/drawing/2014/main" id="{FF83318C-6F5B-4839-827E-691FA0ED3C40}"/>
                    </a:ext>
                  </a:extLst>
                </p:cNvPr>
                <p:cNvSpPr txBox="1">
                  <a:spLocks noRot="1" noChangeAspect="1" noMove="1" noResize="1" noEditPoints="1" noAdjustHandles="1" noChangeArrowheads="1" noChangeShapeType="1" noTextEdit="1"/>
                </p:cNvSpPr>
                <p:nvPr/>
              </p:nvSpPr>
              <p:spPr>
                <a:xfrm>
                  <a:off x="7062653" y="4193807"/>
                  <a:ext cx="517994" cy="276999"/>
                </a:xfrm>
                <a:prstGeom prst="rect">
                  <a:avLst/>
                </a:prstGeom>
                <a:blipFill>
                  <a:blip r:embed="rId12"/>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2BBD016B-B27D-40A0-9A8B-F284CD8B12A5}"/>
                  </a:ext>
                </a:extLst>
              </p:cNvPr>
              <p:cNvSpPr txBox="1"/>
              <p:nvPr/>
            </p:nvSpPr>
            <p:spPr>
              <a:xfrm>
                <a:off x="6817594" y="4774679"/>
                <a:ext cx="1008112" cy="276999"/>
              </a:xfrm>
              <a:prstGeom prst="rect">
                <a:avLst/>
              </a:prstGeom>
              <a:solidFill>
                <a:schemeClr val="bg1"/>
              </a:solid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𝛿</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𝑛</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𝑚</m:t>
                      </m:r>
                      <m:r>
                        <a:rPr lang="en-US" b="0" i="1" smtClean="0">
                          <a:solidFill>
                            <a:schemeClr val="tx1"/>
                          </a:solidFill>
                          <a:latin typeface="Cambria Math" panose="02040503050406030204" pitchFamily="18" charset="0"/>
                          <a:ea typeface="Cambria Math" panose="02040503050406030204" pitchFamily="18" charset="0"/>
                        </a:rPr>
                        <m:t>]</m:t>
                      </m:r>
                    </m:oMath>
                  </m:oMathPara>
                </a14:m>
                <a:endParaRPr lang="en-US" dirty="0">
                  <a:solidFill>
                    <a:schemeClr val="tx1"/>
                  </a:solidFill>
                </a:endParaRPr>
              </a:p>
            </p:txBody>
          </p:sp>
        </mc:Choice>
        <mc:Fallback xmlns="">
          <p:sp>
            <p:nvSpPr>
              <p:cNvPr id="64" name="文本框 63">
                <a:extLst>
                  <a:ext uri="{FF2B5EF4-FFF2-40B4-BE49-F238E27FC236}">
                    <a16:creationId xmlns:a16="http://schemas.microsoft.com/office/drawing/2014/main" id="{2BBD016B-B27D-40A0-9A8B-F284CD8B12A5}"/>
                  </a:ext>
                </a:extLst>
              </p:cNvPr>
              <p:cNvSpPr txBox="1">
                <a:spLocks noRot="1" noChangeAspect="1" noMove="1" noResize="1" noEditPoints="1" noAdjustHandles="1" noChangeArrowheads="1" noChangeShapeType="1" noTextEdit="1"/>
              </p:cNvSpPr>
              <p:nvPr/>
            </p:nvSpPr>
            <p:spPr>
              <a:xfrm>
                <a:off x="6817594" y="4774679"/>
                <a:ext cx="1008112" cy="276999"/>
              </a:xfrm>
              <a:prstGeom prst="rect">
                <a:avLst/>
              </a:prstGeom>
              <a:blipFill>
                <a:blip r:embed="rId13"/>
                <a:stretch>
                  <a:fillRect l="-3012" r="-5422" b="-39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AD25425F-1CD8-4158-972A-7F059447C872}"/>
                  </a:ext>
                </a:extLst>
              </p:cNvPr>
              <p:cNvSpPr txBox="1"/>
              <p:nvPr/>
            </p:nvSpPr>
            <p:spPr>
              <a:xfrm>
                <a:off x="6902875" y="5677513"/>
                <a:ext cx="517994" cy="276999"/>
              </a:xfrm>
              <a:prstGeom prst="rect">
                <a:avLst/>
              </a:prstGeom>
              <a:no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𝑛</m:t>
                      </m:r>
                    </m:oMath>
                  </m:oMathPara>
                </a14:m>
                <a:endParaRPr lang="en-US" dirty="0">
                  <a:solidFill>
                    <a:schemeClr val="tx1"/>
                  </a:solidFill>
                </a:endParaRPr>
              </a:p>
            </p:txBody>
          </p:sp>
        </mc:Choice>
        <mc:Fallback xmlns="">
          <p:sp>
            <p:nvSpPr>
              <p:cNvPr id="65" name="文本框 64">
                <a:extLst>
                  <a:ext uri="{FF2B5EF4-FFF2-40B4-BE49-F238E27FC236}">
                    <a16:creationId xmlns:a16="http://schemas.microsoft.com/office/drawing/2014/main" id="{AD25425F-1CD8-4158-972A-7F059447C872}"/>
                  </a:ext>
                </a:extLst>
              </p:cNvPr>
              <p:cNvSpPr txBox="1">
                <a:spLocks noRot="1" noChangeAspect="1" noMove="1" noResize="1" noEditPoints="1" noAdjustHandles="1" noChangeArrowheads="1" noChangeShapeType="1" noTextEdit="1"/>
              </p:cNvSpPr>
              <p:nvPr/>
            </p:nvSpPr>
            <p:spPr>
              <a:xfrm>
                <a:off x="6902875" y="5677513"/>
                <a:ext cx="517994" cy="276999"/>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C5E4216C-79C0-48A0-B726-5B81C0FB11AC}"/>
                  </a:ext>
                </a:extLst>
              </p:cNvPr>
              <p:cNvSpPr txBox="1"/>
              <p:nvPr/>
            </p:nvSpPr>
            <p:spPr>
              <a:xfrm>
                <a:off x="8100392" y="5683583"/>
                <a:ext cx="517994" cy="276999"/>
              </a:xfrm>
              <a:prstGeom prst="rect">
                <a:avLst/>
              </a:prstGeom>
              <a:no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𝑚</m:t>
                      </m:r>
                    </m:oMath>
                  </m:oMathPara>
                </a14:m>
                <a:endParaRPr lang="en-US" dirty="0">
                  <a:solidFill>
                    <a:schemeClr val="tx1"/>
                  </a:solidFill>
                </a:endParaRPr>
              </a:p>
            </p:txBody>
          </p:sp>
        </mc:Choice>
        <mc:Fallback xmlns="">
          <p:sp>
            <p:nvSpPr>
              <p:cNvPr id="66" name="文本框 65">
                <a:extLst>
                  <a:ext uri="{FF2B5EF4-FFF2-40B4-BE49-F238E27FC236}">
                    <a16:creationId xmlns:a16="http://schemas.microsoft.com/office/drawing/2014/main" id="{C5E4216C-79C0-48A0-B726-5B81C0FB11AC}"/>
                  </a:ext>
                </a:extLst>
              </p:cNvPr>
              <p:cNvSpPr txBox="1">
                <a:spLocks noRot="1" noChangeAspect="1" noMove="1" noResize="1" noEditPoints="1" noAdjustHandles="1" noChangeArrowheads="1" noChangeShapeType="1" noTextEdit="1"/>
              </p:cNvSpPr>
              <p:nvPr/>
            </p:nvSpPr>
            <p:spPr>
              <a:xfrm>
                <a:off x="8100392" y="5683583"/>
                <a:ext cx="517994" cy="276999"/>
              </a:xfrm>
              <a:prstGeom prst="rect">
                <a:avLst/>
              </a:prstGeom>
              <a:blipFill>
                <a:blip r:embed="rId15"/>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 name="标题 1">
            <a:extLst>
              <a:ext uri="{FF2B5EF4-FFF2-40B4-BE49-F238E27FC236}">
                <a16:creationId xmlns:a16="http://schemas.microsoft.com/office/drawing/2014/main" id="{9C05E106-21B6-4AC8-A9C5-905480E47836}"/>
              </a:ext>
            </a:extLst>
          </p:cNvPr>
          <p:cNvSpPr>
            <a:spLocks noGrp="1"/>
          </p:cNvSpPr>
          <p:nvPr>
            <p:ph type="title"/>
          </p:nvPr>
        </p:nvSpPr>
        <p:spPr/>
        <p:txBody>
          <a:bodyPr/>
          <a:lstStyle/>
          <a:p>
            <a:pPr eaLnBrk="1" hangingPunct="1"/>
            <a:r>
              <a:rPr lang="en-US" altLang="zh-CN"/>
              <a:t>1.4  </a:t>
            </a:r>
            <a:r>
              <a:rPr lang="zh-CN" altLang="en-US"/>
              <a:t>单位冲激与单位阶跃函数</a:t>
            </a:r>
          </a:p>
        </p:txBody>
      </p:sp>
      <p:sp>
        <p:nvSpPr>
          <p:cNvPr id="4" name="灯片编号占位符 3">
            <a:extLst>
              <a:ext uri="{FF2B5EF4-FFF2-40B4-BE49-F238E27FC236}">
                <a16:creationId xmlns:a16="http://schemas.microsoft.com/office/drawing/2014/main" id="{9EF996D0-C88E-4123-9ACA-F1C77E482C3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0E6C10B-65DB-41A9-8D51-4ED66A6F018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0488" name="Text Box 4">
                <a:extLst>
                  <a:ext uri="{FF2B5EF4-FFF2-40B4-BE49-F238E27FC236}">
                    <a16:creationId xmlns:a16="http://schemas.microsoft.com/office/drawing/2014/main" id="{D4AE239D-1FBF-45C6-9CA9-C8B948C44D73}"/>
                  </a:ext>
                </a:extLst>
              </p:cNvPr>
              <p:cNvSpPr txBox="1">
                <a:spLocks noChangeArrowheads="1"/>
              </p:cNvSpPr>
              <p:nvPr/>
            </p:nvSpPr>
            <p:spPr bwMode="auto">
              <a:xfrm>
                <a:off x="661923" y="1476008"/>
                <a:ext cx="7622984"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defRPr/>
                </a:pPr>
                <a14:m>
                  <m:oMath xmlns:m="http://schemas.openxmlformats.org/officeDocument/2006/math">
                    <m:r>
                      <a:rPr lang="en-US" sz="2800" b="0" i="1" smtClean="0">
                        <a:solidFill>
                          <a:schemeClr val="tx1"/>
                        </a:solidFill>
                        <a:latin typeface="Cambria Math" panose="02040503050406030204" pitchFamily="18" charset="0"/>
                      </a:rPr>
                      <m:t>𝛿</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oMath>
                </a14:m>
                <a:r>
                  <a:rPr kumimoji="0" lang="zh-CN" altLang="en-US" sz="28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具有提取信号</a:t>
                </a:r>
                <a14:m>
                  <m:oMath xmlns:m="http://schemas.openxmlformats.org/officeDocument/2006/math">
                    <m:r>
                      <a:rPr lang="en-US" sz="2800" b="0" i="1">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oMath>
                </a14:m>
                <a:r>
                  <a:rPr kumimoji="0" lang="zh-CN" altLang="en-US" sz="28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中某一点的样值的作用：</a:t>
                </a:r>
              </a:p>
            </p:txBody>
          </p:sp>
        </mc:Choice>
        <mc:Fallback xmlns="">
          <p:sp>
            <p:nvSpPr>
              <p:cNvPr id="20488" name="Text Box 4">
                <a:extLst>
                  <a:ext uri="{FF2B5EF4-FFF2-40B4-BE49-F238E27FC236}">
                    <a16:creationId xmlns:a16="http://schemas.microsoft.com/office/drawing/2014/main" id="{D4AE239D-1FBF-45C6-9CA9-C8B948C44D73}"/>
                  </a:ext>
                </a:extLst>
              </p:cNvPr>
              <p:cNvSpPr txBox="1">
                <a:spLocks noRot="1" noChangeAspect="1" noMove="1" noResize="1" noEditPoints="1" noAdjustHandles="1" noChangeArrowheads="1" noChangeShapeType="1" noTextEdit="1"/>
              </p:cNvSpPr>
              <p:nvPr/>
            </p:nvSpPr>
            <p:spPr bwMode="auto">
              <a:xfrm>
                <a:off x="661923" y="1476008"/>
                <a:ext cx="7622984" cy="523220"/>
              </a:xfrm>
              <a:prstGeom prst="rect">
                <a:avLst/>
              </a:prstGeom>
              <a:blipFill>
                <a:blip r:embed="rId2"/>
                <a:stretch>
                  <a:fillRect t="-11628" r="-320"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bject 3">
                <a:extLst>
                  <a:ext uri="{FF2B5EF4-FFF2-40B4-BE49-F238E27FC236}">
                    <a16:creationId xmlns:a16="http://schemas.microsoft.com/office/drawing/2014/main" id="{D4A7876C-82E9-4F17-88E1-9EE148698F20}"/>
                  </a:ext>
                </a:extLst>
              </p:cNvPr>
              <p:cNvSpPr txBox="1"/>
              <p:nvPr/>
            </p:nvSpPr>
            <p:spPr bwMode="auto">
              <a:xfrm>
                <a:off x="1745686" y="2708920"/>
                <a:ext cx="5652628" cy="1569660"/>
              </a:xfrm>
              <a:prstGeom prst="rect">
                <a:avLst/>
              </a:prstGeom>
              <a:solidFill>
                <a:srgbClr val="CCFFFF"/>
              </a:solidFill>
              <a:ln>
                <a:noFill/>
              </a:ln>
              <a:effectLst/>
            </p:spPr>
            <p:txBody>
              <a:bodyPr wrap="square">
                <a:spAutoFit/>
              </a:bodyPr>
              <a:lstStyle/>
              <a:p>
                <a:pPr>
                  <a:spcAft>
                    <a:spcPts val="0"/>
                  </a:spcAft>
                </a:pPr>
                <a14:m>
                  <m:oMathPara xmlns:m="http://schemas.openxmlformats.org/officeDocument/2006/math">
                    <m:oMathParaPr>
                      <m:jc m:val="left"/>
                    </m:oMathParaPr>
                    <m:oMath xmlns:m="http://schemas.openxmlformats.org/officeDocument/2006/math">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𝑛</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𝛿</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𝑛</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[0]</m:t>
                      </m:r>
                      <m:r>
                        <a:rPr lang="en-US" sz="3200" i="1">
                          <a:solidFill>
                            <a:srgbClr val="FF0000"/>
                          </a:solidFill>
                          <a:latin typeface="Cambria Math" panose="02040503050406030204" pitchFamily="18" charset="0"/>
                        </a:rPr>
                        <m:t>𝛿</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𝑛</m:t>
                      </m:r>
                      <m:r>
                        <a:rPr lang="en-US" sz="3200" i="1">
                          <a:solidFill>
                            <a:srgbClr val="FF0000"/>
                          </a:solidFill>
                          <a:latin typeface="Cambria Math" panose="02040503050406030204" pitchFamily="18" charset="0"/>
                        </a:rPr>
                        <m:t>]</m:t>
                      </m:r>
                    </m:oMath>
                  </m:oMathPara>
                </a14:m>
                <a:endParaRPr lang="en-US" sz="3200" i="1" dirty="0">
                  <a:solidFill>
                    <a:srgbClr val="FF0000"/>
                  </a:solidFill>
                  <a:latin typeface="Cambria Math" panose="02040503050406030204" pitchFamily="18" charset="0"/>
                </a:endParaRPr>
              </a:p>
              <a:p>
                <a:pPr>
                  <a:spcAft>
                    <a:spcPts val="0"/>
                  </a:spcAft>
                </a:pPr>
                <a:endParaRPr lang="en-US" sz="3200" i="1" dirty="0">
                  <a:solidFill>
                    <a:srgbClr val="FF0000"/>
                  </a:solidFill>
                  <a:latin typeface="Cambria Math" panose="02040503050406030204" pitchFamily="18" charset="0"/>
                </a:endParaRPr>
              </a:p>
              <a:p>
                <a:pPr>
                  <a:spcAft>
                    <a:spcPts val="0"/>
                  </a:spcAft>
                </a:pPr>
                <a14:m>
                  <m:oMathPara xmlns:m="http://schemas.openxmlformats.org/officeDocument/2006/math">
                    <m:oMathParaPr>
                      <m:jc m:val="left"/>
                    </m:oMathParaPr>
                    <m:oMath xmlns:m="http://schemas.openxmlformats.org/officeDocument/2006/math">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𝑛</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𝛿</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𝑛</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𝑚</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𝑥</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𝑚</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𝛿</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𝑛</m:t>
                      </m:r>
                      <m:r>
                        <a:rPr lang="en-US" sz="3200" i="1">
                          <a:solidFill>
                            <a:srgbClr val="FF0000"/>
                          </a:solidFill>
                          <a:latin typeface="Cambria Math" panose="02040503050406030204" pitchFamily="18" charset="0"/>
                        </a:rPr>
                        <m:t>−</m:t>
                      </m:r>
                      <m:r>
                        <a:rPr lang="en-US" sz="3200" i="1">
                          <a:solidFill>
                            <a:srgbClr val="FF0000"/>
                          </a:solidFill>
                          <a:latin typeface="Cambria Math" panose="02040503050406030204" pitchFamily="18" charset="0"/>
                        </a:rPr>
                        <m:t>𝑚</m:t>
                      </m:r>
                      <m:r>
                        <a:rPr lang="en-US" sz="3200" i="1">
                          <a:solidFill>
                            <a:srgbClr val="FF0000"/>
                          </a:solidFill>
                          <a:latin typeface="Cambria Math" panose="02040503050406030204" pitchFamily="18" charset="0"/>
                        </a:rPr>
                        <m:t>]</m:t>
                      </m:r>
                    </m:oMath>
                  </m:oMathPara>
                </a14:m>
                <a:endParaRPr lang="en-US" sz="3200" dirty="0"/>
              </a:p>
            </p:txBody>
          </p:sp>
        </mc:Choice>
        <mc:Fallback xmlns="">
          <p:sp>
            <p:nvSpPr>
              <p:cNvPr id="15" name="Object 3">
                <a:extLst>
                  <a:ext uri="{FF2B5EF4-FFF2-40B4-BE49-F238E27FC236}">
                    <a16:creationId xmlns:a16="http://schemas.microsoft.com/office/drawing/2014/main" id="{D4A7876C-82E9-4F17-88E1-9EE148698F20}"/>
                  </a:ext>
                </a:extLst>
              </p:cNvPr>
              <p:cNvSpPr txBox="1">
                <a:spLocks noRot="1" noChangeAspect="1" noMove="1" noResize="1" noEditPoints="1" noAdjustHandles="1" noChangeArrowheads="1" noChangeShapeType="1" noTextEdit="1"/>
              </p:cNvSpPr>
              <p:nvPr/>
            </p:nvSpPr>
            <p:spPr bwMode="auto">
              <a:xfrm>
                <a:off x="1745686" y="2708920"/>
                <a:ext cx="5652628" cy="1569660"/>
              </a:xfrm>
              <a:prstGeom prst="rect">
                <a:avLst/>
              </a:prstGeom>
              <a:blipFill>
                <a:blip r:embed="rId3"/>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9" name="标题 1">
            <a:extLst>
              <a:ext uri="{FF2B5EF4-FFF2-40B4-BE49-F238E27FC236}">
                <a16:creationId xmlns:a16="http://schemas.microsoft.com/office/drawing/2014/main" id="{0EBB004A-5DB1-43FF-A878-4D0D8BA7C103}"/>
              </a:ext>
            </a:extLst>
          </p:cNvPr>
          <p:cNvSpPr>
            <a:spLocks noGrp="1"/>
          </p:cNvSpPr>
          <p:nvPr>
            <p:ph type="title"/>
          </p:nvPr>
        </p:nvSpPr>
        <p:spPr/>
        <p:txBody>
          <a:bodyPr/>
          <a:lstStyle/>
          <a:p>
            <a:pPr eaLnBrk="1" hangingPunct="1"/>
            <a:r>
              <a:rPr lang="en-US" altLang="zh-CN"/>
              <a:t>1.4  </a:t>
            </a:r>
            <a:r>
              <a:rPr lang="zh-CN" altLang="en-US"/>
              <a:t>单位冲激与单位阶跃函数</a:t>
            </a:r>
          </a:p>
        </p:txBody>
      </p:sp>
      <p:sp>
        <p:nvSpPr>
          <p:cNvPr id="21520" name="内容占位符 2">
            <a:extLst>
              <a:ext uri="{FF2B5EF4-FFF2-40B4-BE49-F238E27FC236}">
                <a16:creationId xmlns:a16="http://schemas.microsoft.com/office/drawing/2014/main" id="{0AB51371-63EA-4C15-B221-F975FEC09D07}"/>
              </a:ext>
            </a:extLst>
          </p:cNvPr>
          <p:cNvSpPr>
            <a:spLocks noGrp="1"/>
          </p:cNvSpPr>
          <p:nvPr>
            <p:ph idx="1"/>
          </p:nvPr>
        </p:nvSpPr>
        <p:spPr>
          <a:xfrm>
            <a:off x="457200" y="1285875"/>
            <a:ext cx="8229600" cy="523220"/>
          </a:xfrm>
        </p:spPr>
        <p:txBody>
          <a:bodyPr>
            <a:spAutoFit/>
          </a:bodyPr>
          <a:lstStyle/>
          <a:p>
            <a:pPr eaLnBrk="1" hangingPunct="1"/>
            <a:r>
              <a:rPr lang="zh-CN" altLang="en-US" sz="2800" b="0" dirty="0"/>
              <a:t>二</a:t>
            </a:r>
            <a:r>
              <a:rPr lang="en-US" altLang="zh-CN" sz="2800" b="0" dirty="0"/>
              <a:t>.  </a:t>
            </a:r>
            <a:r>
              <a:rPr lang="zh-CN" altLang="en-US" sz="2800" b="0" dirty="0"/>
              <a:t>连续时间单位阶跃与单位冲激函数</a:t>
            </a:r>
          </a:p>
        </p:txBody>
      </p:sp>
      <p:sp>
        <p:nvSpPr>
          <p:cNvPr id="4" name="灯片编号占位符 3">
            <a:extLst>
              <a:ext uri="{FF2B5EF4-FFF2-40B4-BE49-F238E27FC236}">
                <a16:creationId xmlns:a16="http://schemas.microsoft.com/office/drawing/2014/main" id="{0D2185BD-56BF-4569-8EBA-D8568CAA282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311DED7-4D43-412A-9DC6-2C3D19256F5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1522" name="Text Box 2">
                <a:extLst>
                  <a:ext uri="{FF2B5EF4-FFF2-40B4-BE49-F238E27FC236}">
                    <a16:creationId xmlns:a16="http://schemas.microsoft.com/office/drawing/2014/main" id="{15137ADB-1787-4C9F-857F-7D75D3F8053D}"/>
                  </a:ext>
                </a:extLst>
              </p:cNvPr>
              <p:cNvSpPr txBox="1">
                <a:spLocks noChangeArrowheads="1"/>
              </p:cNvSpPr>
              <p:nvPr/>
            </p:nvSpPr>
            <p:spPr bwMode="auto">
              <a:xfrm>
                <a:off x="827088" y="1916832"/>
                <a:ext cx="5192960"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tabLst/>
                  <a:defRPr/>
                </a:pP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1. </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mn-cs"/>
                  </a:rPr>
                  <a:t>单位阶跃函数</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mn-cs"/>
                  </a:rPr>
                  <a:t>（</a:t>
                </a:r>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mn-cs"/>
                  </a:rPr>
                  <a:t>在</a:t>
                </a:r>
                <a14:m>
                  <m:oMath xmlns:m="http://schemas.openxmlformats.org/officeDocument/2006/math">
                    <m:r>
                      <a:rPr lang="en-US" sz="2400" b="0" i="1" smtClean="0">
                        <a:solidFill>
                          <a:schemeClr val="tx1"/>
                        </a:solidFill>
                        <a:latin typeface="Cambria Math" panose="02040503050406030204" pitchFamily="18" charset="0"/>
                      </a:rPr>
                      <m:t>𝑡</m:t>
                    </m:r>
                    <m:r>
                      <a:rPr lang="en-US" sz="2400" b="0" i="1" smtClean="0">
                        <a:solidFill>
                          <a:schemeClr val="tx1"/>
                        </a:solidFill>
                        <a:latin typeface="Cambria Math" panose="02040503050406030204" pitchFamily="18" charset="0"/>
                      </a:rPr>
                      <m:t>=0</m:t>
                    </m:r>
                  </m:oMath>
                </a14:m>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mn-cs"/>
                  </a:rPr>
                  <a:t>处不连续</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mn-cs"/>
                  </a:rPr>
                  <a:t>）</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mn-cs"/>
                </a:endParaRPr>
              </a:p>
            </p:txBody>
          </p:sp>
        </mc:Choice>
        <mc:Fallback xmlns="">
          <p:sp>
            <p:nvSpPr>
              <p:cNvPr id="21522" name="Text Box 2">
                <a:extLst>
                  <a:ext uri="{FF2B5EF4-FFF2-40B4-BE49-F238E27FC236}">
                    <a16:creationId xmlns:a16="http://schemas.microsoft.com/office/drawing/2014/main" id="{15137ADB-1787-4C9F-857F-7D75D3F8053D}"/>
                  </a:ext>
                </a:extLst>
              </p:cNvPr>
              <p:cNvSpPr txBox="1">
                <a:spLocks noRot="1" noChangeAspect="1" noMove="1" noResize="1" noEditPoints="1" noAdjustHandles="1" noChangeArrowheads="1" noChangeShapeType="1" noTextEdit="1"/>
              </p:cNvSpPr>
              <p:nvPr/>
            </p:nvSpPr>
            <p:spPr bwMode="auto">
              <a:xfrm>
                <a:off x="827088" y="1916832"/>
                <a:ext cx="5192960" cy="461665"/>
              </a:xfrm>
              <a:prstGeom prst="rect">
                <a:avLst/>
              </a:prstGeom>
              <a:blipFill>
                <a:blip r:embed="rId2"/>
                <a:stretch>
                  <a:fillRect l="-1878" t="-11842" r="-1174"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21525" name="Group 11">
            <a:extLst>
              <a:ext uri="{FF2B5EF4-FFF2-40B4-BE49-F238E27FC236}">
                <a16:creationId xmlns:a16="http://schemas.microsoft.com/office/drawing/2014/main" id="{295B25DB-5DCA-4EC7-B3AD-AA82C5A75324}"/>
              </a:ext>
            </a:extLst>
          </p:cNvPr>
          <p:cNvGrpSpPr>
            <a:grpSpLocks/>
          </p:cNvGrpSpPr>
          <p:nvPr/>
        </p:nvGrpSpPr>
        <p:grpSpPr bwMode="auto">
          <a:xfrm>
            <a:off x="4929188" y="1909763"/>
            <a:ext cx="3424237" cy="1819276"/>
            <a:chOff x="3360" y="903"/>
            <a:chExt cx="2157" cy="1146"/>
          </a:xfrm>
        </p:grpSpPr>
        <p:sp>
          <p:nvSpPr>
            <p:cNvPr id="21529" name="Line 12">
              <a:extLst>
                <a:ext uri="{FF2B5EF4-FFF2-40B4-BE49-F238E27FC236}">
                  <a16:creationId xmlns:a16="http://schemas.microsoft.com/office/drawing/2014/main" id="{F7DA8E3F-3C66-447C-9C08-4A9E5D4FA47B}"/>
                </a:ext>
              </a:extLst>
            </p:cNvPr>
            <p:cNvSpPr>
              <a:spLocks noChangeShapeType="1"/>
            </p:cNvSpPr>
            <p:nvPr/>
          </p:nvSpPr>
          <p:spPr bwMode="auto">
            <a:xfrm>
              <a:off x="3360" y="1787"/>
              <a:ext cx="2009"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1530" name="Line 13">
              <a:extLst>
                <a:ext uri="{FF2B5EF4-FFF2-40B4-BE49-F238E27FC236}">
                  <a16:creationId xmlns:a16="http://schemas.microsoft.com/office/drawing/2014/main" id="{3DAADCE5-545A-42D9-B2EB-076C6D8C1E85}"/>
                </a:ext>
              </a:extLst>
            </p:cNvPr>
            <p:cNvSpPr>
              <a:spLocks noChangeShapeType="1"/>
            </p:cNvSpPr>
            <p:nvPr/>
          </p:nvSpPr>
          <p:spPr bwMode="auto">
            <a:xfrm flipV="1">
              <a:off x="4227" y="1039"/>
              <a:ext cx="0" cy="74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1531" name="Line 14">
              <a:extLst>
                <a:ext uri="{FF2B5EF4-FFF2-40B4-BE49-F238E27FC236}">
                  <a16:creationId xmlns:a16="http://schemas.microsoft.com/office/drawing/2014/main" id="{7637F46F-6F0D-4B83-A5C8-04FF0F2F214E}"/>
                </a:ext>
              </a:extLst>
            </p:cNvPr>
            <p:cNvSpPr>
              <a:spLocks noChangeShapeType="1"/>
            </p:cNvSpPr>
            <p:nvPr/>
          </p:nvSpPr>
          <p:spPr bwMode="auto">
            <a:xfrm>
              <a:off x="4227" y="1511"/>
              <a:ext cx="90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1532" name="Text Box 15">
              <a:extLst>
                <a:ext uri="{FF2B5EF4-FFF2-40B4-BE49-F238E27FC236}">
                  <a16:creationId xmlns:a16="http://schemas.microsoft.com/office/drawing/2014/main" id="{6DC93099-8159-4FEF-B3C3-180A665250F4}"/>
                </a:ext>
              </a:extLst>
            </p:cNvPr>
            <p:cNvSpPr txBox="1">
              <a:spLocks noChangeArrowheads="1"/>
            </p:cNvSpPr>
            <p:nvPr/>
          </p:nvSpPr>
          <p:spPr bwMode="auto">
            <a:xfrm>
              <a:off x="4030" y="1354"/>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effectLst/>
                  <a:uLnTx/>
                  <a:uFillTx/>
                  <a:latin typeface="Times New Roman" panose="02020603050405020304" pitchFamily="18" charset="0"/>
                  <a:ea typeface="楷体" panose="02010609060101010101" pitchFamily="49" charset="-122"/>
                  <a:cs typeface="+mn-cs"/>
                </a:rPr>
                <a:t>1</a:t>
              </a:r>
            </a:p>
          </p:txBody>
        </p:sp>
        <p:sp>
          <p:nvSpPr>
            <p:cNvPr id="21533" name="Text Box 16">
              <a:extLst>
                <a:ext uri="{FF2B5EF4-FFF2-40B4-BE49-F238E27FC236}">
                  <a16:creationId xmlns:a16="http://schemas.microsoft.com/office/drawing/2014/main" id="{F89251B3-6AE0-4432-A058-4BAA68F4CFF5}"/>
                </a:ext>
              </a:extLst>
            </p:cNvPr>
            <p:cNvSpPr txBox="1">
              <a:spLocks noChangeArrowheads="1"/>
            </p:cNvSpPr>
            <p:nvPr/>
          </p:nvSpPr>
          <p:spPr bwMode="auto">
            <a:xfrm>
              <a:off x="4097" y="1758"/>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effectLst/>
                  <a:uLnTx/>
                  <a:uFillTx/>
                  <a:latin typeface="Times New Roman" panose="02020603050405020304" pitchFamily="18" charset="0"/>
                  <a:ea typeface="楷体" panose="02010609060101010101" pitchFamily="49" charset="-122"/>
                  <a:cs typeface="+mn-cs"/>
                </a:rPr>
                <a:t>0</a:t>
              </a:r>
            </a:p>
          </p:txBody>
        </p:sp>
        <mc:AlternateContent xmlns:mc="http://schemas.openxmlformats.org/markup-compatibility/2006" xmlns:a14="http://schemas.microsoft.com/office/drawing/2010/main">
          <mc:Choice Requires="a14">
            <p:sp>
              <p:nvSpPr>
                <p:cNvPr id="21517" name="Object 8">
                  <a:extLst>
                    <a:ext uri="{FF2B5EF4-FFF2-40B4-BE49-F238E27FC236}">
                      <a16:creationId xmlns:a16="http://schemas.microsoft.com/office/drawing/2014/main" id="{FA10EFDB-3E16-406C-A0F7-0F222A4A6EEF}"/>
                    </a:ext>
                  </a:extLst>
                </p:cNvPr>
                <p:cNvSpPr txBox="1"/>
                <p:nvPr/>
              </p:nvSpPr>
              <p:spPr bwMode="auto">
                <a:xfrm>
                  <a:off x="4243" y="903"/>
                  <a:ext cx="457" cy="30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1517" name="Object 8">
                  <a:extLst>
                    <a:ext uri="{FF2B5EF4-FFF2-40B4-BE49-F238E27FC236}">
                      <a16:creationId xmlns:a16="http://schemas.microsoft.com/office/drawing/2014/main" id="{FA10EFDB-3E16-406C-A0F7-0F222A4A6EEF}"/>
                    </a:ext>
                  </a:extLst>
                </p:cNvPr>
                <p:cNvSpPr txBox="1">
                  <a:spLocks noRot="1" noChangeAspect="1" noMove="1" noResize="1" noEditPoints="1" noAdjustHandles="1" noChangeArrowheads="1" noChangeShapeType="1" noTextEdit="1"/>
                </p:cNvSpPr>
                <p:nvPr/>
              </p:nvSpPr>
              <p:spPr bwMode="auto">
                <a:xfrm>
                  <a:off x="4243" y="903"/>
                  <a:ext cx="457" cy="304"/>
                </a:xfrm>
                <a:prstGeom prst="rect">
                  <a:avLst/>
                </a:prstGeom>
                <a:blipFill>
                  <a:blip r:embed="rId3"/>
                  <a:stretch>
                    <a:fillRect r="-10084" b="-1519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18" name="Object 9">
                  <a:extLst>
                    <a:ext uri="{FF2B5EF4-FFF2-40B4-BE49-F238E27FC236}">
                      <a16:creationId xmlns:a16="http://schemas.microsoft.com/office/drawing/2014/main" id="{34DAF8AA-FF05-46BC-83A2-5F15FE1EF7F0}"/>
                    </a:ext>
                  </a:extLst>
                </p:cNvPr>
                <p:cNvSpPr txBox="1"/>
                <p:nvPr/>
              </p:nvSpPr>
              <p:spPr bwMode="auto">
                <a:xfrm>
                  <a:off x="5304" y="1745"/>
                  <a:ext cx="213" cy="29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𝑡</m:t>
                        </m:r>
                      </m:oMath>
                    </m:oMathPara>
                  </a14:m>
                  <a:endParaRPr lang="en-US" sz="2400" dirty="0"/>
                </a:p>
              </p:txBody>
            </p:sp>
          </mc:Choice>
          <mc:Fallback xmlns="">
            <p:sp>
              <p:nvSpPr>
                <p:cNvPr id="21518" name="Object 9">
                  <a:extLst>
                    <a:ext uri="{FF2B5EF4-FFF2-40B4-BE49-F238E27FC236}">
                      <a16:creationId xmlns:a16="http://schemas.microsoft.com/office/drawing/2014/main" id="{34DAF8AA-FF05-46BC-83A2-5F15FE1EF7F0}"/>
                    </a:ext>
                  </a:extLst>
                </p:cNvPr>
                <p:cNvSpPr txBox="1">
                  <a:spLocks noRot="1" noChangeAspect="1" noMove="1" noResize="1" noEditPoints="1" noAdjustHandles="1" noChangeArrowheads="1" noChangeShapeType="1" noTextEdit="1"/>
                </p:cNvSpPr>
                <p:nvPr/>
              </p:nvSpPr>
              <p:spPr bwMode="auto">
                <a:xfrm>
                  <a:off x="5304" y="1745"/>
                  <a:ext cx="213" cy="291"/>
                </a:xfrm>
                <a:prstGeom prst="rect">
                  <a:avLst/>
                </a:prstGeom>
                <a:blipFill>
                  <a:blip r:embed="rId4"/>
                  <a:stretch>
                    <a:fillRect l="-1818"/>
                  </a:stretch>
                </a:blipFill>
                <a:ln>
                  <a:noFill/>
                </a:ln>
                <a:effectLst/>
              </p:spPr>
              <p:txBody>
                <a:bodyPr/>
                <a:lstStyle/>
                <a:p>
                  <a:r>
                    <a:rPr lang="en-US">
                      <a:noFill/>
                    </a:rPr>
                    <a:t> </a:t>
                  </a:r>
                </a:p>
              </p:txBody>
            </p:sp>
          </mc:Fallback>
        </mc:AlternateContent>
      </p:grpSp>
      <p:sp>
        <p:nvSpPr>
          <p:cNvPr id="21526" name="Text Box 19">
            <a:extLst>
              <a:ext uri="{FF2B5EF4-FFF2-40B4-BE49-F238E27FC236}">
                <a16:creationId xmlns:a16="http://schemas.microsoft.com/office/drawing/2014/main" id="{5866ACA4-A4F8-4352-B383-A371BD923198}"/>
              </a:ext>
            </a:extLst>
          </p:cNvPr>
          <p:cNvSpPr txBox="1">
            <a:spLocks noChangeArrowheads="1"/>
          </p:cNvSpPr>
          <p:nvPr/>
        </p:nvSpPr>
        <p:spPr bwMode="auto">
          <a:xfrm>
            <a:off x="827088" y="3721819"/>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2. </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mn-cs"/>
              </a:rPr>
              <a:t>单位冲激函数</a:t>
            </a:r>
          </a:p>
        </p:txBody>
      </p:sp>
      <mc:AlternateContent xmlns:mc="http://schemas.openxmlformats.org/markup-compatibility/2006" xmlns:a14="http://schemas.microsoft.com/office/drawing/2010/main">
        <mc:Choice Requires="a14">
          <p:sp>
            <p:nvSpPr>
              <p:cNvPr id="21527" name="Text Box 21">
                <a:extLst>
                  <a:ext uri="{FF2B5EF4-FFF2-40B4-BE49-F238E27FC236}">
                    <a16:creationId xmlns:a16="http://schemas.microsoft.com/office/drawing/2014/main" id="{A47BE15F-313A-475E-8C4F-198DEA6FFA0B}"/>
                  </a:ext>
                </a:extLst>
              </p:cNvPr>
              <p:cNvSpPr txBox="1">
                <a:spLocks noChangeArrowheads="1"/>
              </p:cNvSpPr>
              <p:nvPr/>
            </p:nvSpPr>
            <p:spPr bwMode="auto">
              <a:xfrm>
                <a:off x="1366576" y="4365104"/>
                <a:ext cx="2029540" cy="7957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just">
                  <a:defRPr/>
                </a:pP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panose="02040503050406030204" pitchFamily="18" charset="0"/>
                        </a:rPr>
                        <m:t>𝛿</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𝑡</m:t>
                      </m:r>
                      <m:r>
                        <a:rPr lang="en-US" sz="2400" i="1" smtClean="0">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r>
                            <m:rPr>
                              <m:sty m:val="p"/>
                            </m:rPr>
                            <a:rPr lang="en-US" sz="2400" i="0">
                              <a:solidFill>
                                <a:srgbClr val="FF0000"/>
                              </a:solidFill>
                              <a:latin typeface="Cambria Math" panose="02040503050406030204" pitchFamily="18" charset="0"/>
                            </a:rPr>
                            <m:t>d</m:t>
                          </m:r>
                          <m:r>
                            <a:rPr lang="en-US" sz="2400" i="1">
                              <a:solidFill>
                                <a:srgbClr val="FF0000"/>
                              </a:solidFill>
                              <a:latin typeface="Cambria Math" panose="02040503050406030204" pitchFamily="18" charset="0"/>
                            </a:rPr>
                            <m:t>𝑢</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num>
                        <m:den>
                          <m:r>
                            <m:rPr>
                              <m:sty m:val="p"/>
                            </m:rPr>
                            <a:rPr lang="en-US" sz="2400" i="0">
                              <a:solidFill>
                                <a:srgbClr val="FF0000"/>
                              </a:solidFill>
                              <a:latin typeface="Cambria Math" panose="02040503050406030204" pitchFamily="18" charset="0"/>
                            </a:rPr>
                            <m:t>d</m:t>
                          </m:r>
                          <m:r>
                            <a:rPr lang="en-US" sz="2400" i="1">
                              <a:solidFill>
                                <a:srgbClr val="FF0000"/>
                              </a:solidFill>
                              <a:latin typeface="Cambria Math" panose="02040503050406030204" pitchFamily="18" charset="0"/>
                            </a:rPr>
                            <m:t>𝑡</m:t>
                          </m:r>
                        </m:den>
                      </m:f>
                    </m:oMath>
                  </m:oMathPara>
                </a14:m>
                <a:endPar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mn-cs"/>
                </a:endParaRPr>
              </a:p>
            </p:txBody>
          </p:sp>
        </mc:Choice>
        <mc:Fallback xmlns="">
          <p:sp>
            <p:nvSpPr>
              <p:cNvPr id="21527" name="Text Box 21">
                <a:extLst>
                  <a:ext uri="{FF2B5EF4-FFF2-40B4-BE49-F238E27FC236}">
                    <a16:creationId xmlns:a16="http://schemas.microsoft.com/office/drawing/2014/main" id="{A47BE15F-313A-475E-8C4F-198DEA6FFA0B}"/>
                  </a:ext>
                </a:extLst>
              </p:cNvPr>
              <p:cNvSpPr txBox="1">
                <a:spLocks noRot="1" noChangeAspect="1" noMove="1" noResize="1" noEditPoints="1" noAdjustHandles="1" noChangeArrowheads="1" noChangeShapeType="1" noTextEdit="1"/>
              </p:cNvSpPr>
              <p:nvPr/>
            </p:nvSpPr>
            <p:spPr bwMode="auto">
              <a:xfrm>
                <a:off x="1366576" y="4365104"/>
                <a:ext cx="2029540" cy="795795"/>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bject 5">
                <a:extLst>
                  <a:ext uri="{FF2B5EF4-FFF2-40B4-BE49-F238E27FC236}">
                    <a16:creationId xmlns:a16="http://schemas.microsoft.com/office/drawing/2014/main" id="{DE49D701-493A-476F-88D8-E6C230646D2E}"/>
                  </a:ext>
                </a:extLst>
              </p:cNvPr>
              <p:cNvSpPr txBox="1"/>
              <p:nvPr/>
            </p:nvSpPr>
            <p:spPr bwMode="auto">
              <a:xfrm>
                <a:off x="1874797" y="2420787"/>
                <a:ext cx="2794787" cy="11591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𝑢</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d>
                        <m:dPr>
                          <m:begChr m:val="{"/>
                          <m:endChr m:val=""/>
                          <m:ctrlPr>
                            <a:rPr lang="en-US" sz="2400" i="1">
                              <a:solidFill>
                                <a:srgbClr val="000000"/>
                              </a:solidFill>
                              <a:latin typeface="Cambria Math" panose="02040503050406030204" pitchFamily="18" charset="0"/>
                            </a:rPr>
                          </m:ctrlPr>
                        </m:dPr>
                        <m:e>
                          <m:m>
                            <m:mPr>
                              <m:plcHide m:val="on"/>
                              <m:mcs>
                                <m:mc>
                                  <m:mcPr>
                                    <m:count m:val="1"/>
                                    <m:mcJc m:val="center"/>
                                  </m:mcPr>
                                </m:mc>
                              </m:mcs>
                              <m:ctrlPr>
                                <a:rPr lang="en-US" sz="2400" i="1">
                                  <a:solidFill>
                                    <a:srgbClr val="000000"/>
                                  </a:solidFill>
                                  <a:latin typeface="Cambria Math" panose="02040503050406030204" pitchFamily="18" charset="0"/>
                                </a:rPr>
                              </m:ctrlPr>
                            </m:mPr>
                            <m:mr>
                              <m:e>
                                <m:r>
                                  <a:rPr lang="en-US" sz="2400" i="1">
                                    <a:solidFill>
                                      <a:srgbClr val="000000"/>
                                    </a:solidFill>
                                    <a:latin typeface="Cambria Math" panose="02040503050406030204" pitchFamily="18" charset="0"/>
                                  </a:rPr>
                                  <m:t>1 (</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&gt;0)</m:t>
                                </m:r>
                              </m:e>
                            </m:mr>
                            <m:mr>
                              <m:e>
                                <m:r>
                                  <a:rPr lang="en-US" sz="2400" i="1">
                                    <a:solidFill>
                                      <a:srgbClr val="000000"/>
                                    </a:solidFill>
                                    <a:latin typeface="Cambria Math" panose="02040503050406030204" pitchFamily="18" charset="0"/>
                                  </a:rPr>
                                  <m:t>0 (</m:t>
                                </m:r>
                                <m:r>
                                  <a:rPr lang="en-US" sz="2400" b="0" i="1" smtClean="0">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&lt;0)</m:t>
                                </m:r>
                              </m:e>
                            </m:mr>
                          </m:m>
                        </m:e>
                      </m:d>
                    </m:oMath>
                  </m:oMathPara>
                </a14:m>
                <a:endParaRPr lang="en-US" sz="2400" dirty="0"/>
              </a:p>
            </p:txBody>
          </p:sp>
        </mc:Choice>
        <mc:Fallback xmlns="">
          <p:sp>
            <p:nvSpPr>
              <p:cNvPr id="30" name="Object 5">
                <a:extLst>
                  <a:ext uri="{FF2B5EF4-FFF2-40B4-BE49-F238E27FC236}">
                    <a16:creationId xmlns:a16="http://schemas.microsoft.com/office/drawing/2014/main" id="{DE49D701-493A-476F-88D8-E6C230646D2E}"/>
                  </a:ext>
                </a:extLst>
              </p:cNvPr>
              <p:cNvSpPr txBox="1">
                <a:spLocks noRot="1" noChangeAspect="1" noMove="1" noResize="1" noEditPoints="1" noAdjustHandles="1" noChangeArrowheads="1" noChangeShapeType="1" noTextEdit="1"/>
              </p:cNvSpPr>
              <p:nvPr/>
            </p:nvSpPr>
            <p:spPr bwMode="auto">
              <a:xfrm>
                <a:off x="1874797" y="2420787"/>
                <a:ext cx="2794787" cy="1159175"/>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49B77062-788F-4838-8A7D-01E72DBF7B43}"/>
                  </a:ext>
                </a:extLst>
              </p:cNvPr>
              <p:cNvSpPr txBox="1"/>
              <p:nvPr/>
            </p:nvSpPr>
            <p:spPr>
              <a:xfrm>
                <a:off x="1369298" y="5373216"/>
                <a:ext cx="2554630" cy="915956"/>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panose="02040503050406030204" pitchFamily="18" charset="0"/>
                        </a:rPr>
                        <m:t>𝑢</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𝑡</m:t>
                      </m:r>
                      <m:r>
                        <a:rPr lang="en-US" sz="2400" i="1" smtClean="0">
                          <a:solidFill>
                            <a:srgbClr val="FF0000"/>
                          </a:solidFill>
                          <a:latin typeface="Cambria Math" panose="02040503050406030204" pitchFamily="18" charset="0"/>
                        </a:rPr>
                        <m:t>)=</m:t>
                      </m:r>
                      <m:nary>
                        <m:naryPr>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𝑡</m:t>
                          </m:r>
                        </m:sup>
                        <m:e>
                          <m:r>
                            <a:rPr lang="en-US" sz="2400" i="1">
                              <a:solidFill>
                                <a:srgbClr val="FF0000"/>
                              </a:solidFill>
                              <a:latin typeface="Cambria Math" panose="02040503050406030204" pitchFamily="18" charset="0"/>
                            </a:rPr>
                            <m:t>𝛿</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𝜏</m:t>
                          </m:r>
                          <m:r>
                            <a:rPr lang="en-US" sz="2400" i="1">
                              <a:solidFill>
                                <a:srgbClr val="FF0000"/>
                              </a:solidFill>
                              <a:latin typeface="Cambria Math" panose="02040503050406030204" pitchFamily="18" charset="0"/>
                            </a:rPr>
                            <m:t>)</m:t>
                          </m:r>
                          <m:r>
                            <m:rPr>
                              <m:sty m:val="p"/>
                            </m:rPr>
                            <a:rPr lang="en-US" sz="2400" i="0">
                              <a:solidFill>
                                <a:srgbClr val="FF0000"/>
                              </a:solidFill>
                              <a:latin typeface="Cambria Math" panose="02040503050406030204" pitchFamily="18" charset="0"/>
                            </a:rPr>
                            <m:t>d</m:t>
                          </m:r>
                          <m:r>
                            <a:rPr lang="en-US" sz="2400" i="1">
                              <a:solidFill>
                                <a:srgbClr val="FF0000"/>
                              </a:solidFill>
                              <a:latin typeface="Cambria Math" panose="02040503050406030204" pitchFamily="18" charset="0"/>
                            </a:rPr>
                            <m:t>𝜏</m:t>
                          </m:r>
                        </m:e>
                      </m:nary>
                    </m:oMath>
                  </m:oMathPara>
                </a14:m>
                <a:endParaRPr lang="en-US" sz="2400" dirty="0">
                  <a:solidFill>
                    <a:srgbClr val="FF0000"/>
                  </a:solidFill>
                </a:endParaRPr>
              </a:p>
            </p:txBody>
          </p:sp>
        </mc:Choice>
        <mc:Fallback xmlns="">
          <p:sp>
            <p:nvSpPr>
              <p:cNvPr id="42" name="文本框 41">
                <a:extLst>
                  <a:ext uri="{FF2B5EF4-FFF2-40B4-BE49-F238E27FC236}">
                    <a16:creationId xmlns:a16="http://schemas.microsoft.com/office/drawing/2014/main" id="{49B77062-788F-4838-8A7D-01E72DBF7B43}"/>
                  </a:ext>
                </a:extLst>
              </p:cNvPr>
              <p:cNvSpPr txBox="1">
                <a:spLocks noRot="1" noChangeAspect="1" noMove="1" noResize="1" noEditPoints="1" noAdjustHandles="1" noChangeArrowheads="1" noChangeShapeType="1" noTextEdit="1"/>
              </p:cNvSpPr>
              <p:nvPr/>
            </p:nvSpPr>
            <p:spPr>
              <a:xfrm>
                <a:off x="1369298" y="5373216"/>
                <a:ext cx="2554630" cy="915956"/>
              </a:xfrm>
              <a:prstGeom prst="rect">
                <a:avLst/>
              </a:prstGeom>
              <a:blipFill>
                <a:blip r:embed="rId7"/>
                <a:stretch>
                  <a:fillRect/>
                </a:stretch>
              </a:blipFill>
            </p:spPr>
            <p:txBody>
              <a:bodyPr/>
              <a:lstStyle/>
              <a:p>
                <a:r>
                  <a:rPr lang="en-US">
                    <a:noFill/>
                  </a:rPr>
                  <a:t> </a:t>
                </a:r>
              </a:p>
            </p:txBody>
          </p:sp>
        </mc:Fallback>
      </mc:AlternateContent>
      <p:grpSp>
        <p:nvGrpSpPr>
          <p:cNvPr id="43" name="Group 5">
            <a:extLst>
              <a:ext uri="{FF2B5EF4-FFF2-40B4-BE49-F238E27FC236}">
                <a16:creationId xmlns:a16="http://schemas.microsoft.com/office/drawing/2014/main" id="{51813FEF-4513-416B-AF93-089833167CCE}"/>
              </a:ext>
            </a:extLst>
          </p:cNvPr>
          <p:cNvGrpSpPr>
            <a:grpSpLocks/>
          </p:cNvGrpSpPr>
          <p:nvPr/>
        </p:nvGrpSpPr>
        <p:grpSpPr bwMode="auto">
          <a:xfrm>
            <a:off x="4147318" y="4481090"/>
            <a:ext cx="4529138" cy="1900238"/>
            <a:chOff x="1066" y="1979"/>
            <a:chExt cx="2853" cy="1197"/>
          </a:xfrm>
        </p:grpSpPr>
        <p:sp>
          <p:nvSpPr>
            <p:cNvPr id="44" name="Line 6">
              <a:extLst>
                <a:ext uri="{FF2B5EF4-FFF2-40B4-BE49-F238E27FC236}">
                  <a16:creationId xmlns:a16="http://schemas.microsoft.com/office/drawing/2014/main" id="{D5106508-0EBF-429A-B64C-DE89EF0B8FF1}"/>
                </a:ext>
              </a:extLst>
            </p:cNvPr>
            <p:cNvSpPr>
              <a:spLocks noChangeShapeType="1"/>
            </p:cNvSpPr>
            <p:nvPr/>
          </p:nvSpPr>
          <p:spPr bwMode="auto">
            <a:xfrm>
              <a:off x="1066" y="2888"/>
              <a:ext cx="1008" cy="0"/>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5" name="Line 7">
              <a:extLst>
                <a:ext uri="{FF2B5EF4-FFF2-40B4-BE49-F238E27FC236}">
                  <a16:creationId xmlns:a16="http://schemas.microsoft.com/office/drawing/2014/main" id="{7B718379-DE18-4523-8D02-A9773789C4E2}"/>
                </a:ext>
              </a:extLst>
            </p:cNvPr>
            <p:cNvSpPr>
              <a:spLocks noChangeShapeType="1"/>
            </p:cNvSpPr>
            <p:nvPr/>
          </p:nvSpPr>
          <p:spPr bwMode="auto">
            <a:xfrm flipV="1">
              <a:off x="1594" y="2024"/>
              <a:ext cx="0" cy="1152"/>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mc:AlternateContent xmlns:mc="http://schemas.openxmlformats.org/markup-compatibility/2006" xmlns:a14="http://schemas.microsoft.com/office/drawing/2010/main">
          <mc:Choice Requires="a14">
            <p:sp>
              <p:nvSpPr>
                <p:cNvPr id="46" name="Object 8">
                  <a:extLst>
                    <a:ext uri="{FF2B5EF4-FFF2-40B4-BE49-F238E27FC236}">
                      <a16:creationId xmlns:a16="http://schemas.microsoft.com/office/drawing/2014/main" id="{8A7496C3-C1F0-42C1-BFEE-07ED8894F3BA}"/>
                    </a:ext>
                  </a:extLst>
                </p:cNvPr>
                <p:cNvSpPr txBox="1"/>
                <p:nvPr/>
              </p:nvSpPr>
              <p:spPr bwMode="auto">
                <a:xfrm>
                  <a:off x="1958" y="2900"/>
                  <a:ext cx="200" cy="269"/>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𝑡</m:t>
                        </m:r>
                      </m:oMath>
                    </m:oMathPara>
                  </a14:m>
                  <a:endParaRPr lang="en-US" sz="2400" dirty="0"/>
                </a:p>
              </p:txBody>
            </p:sp>
          </mc:Choice>
          <mc:Fallback xmlns="">
            <p:sp>
              <p:nvSpPr>
                <p:cNvPr id="46" name="Object 8">
                  <a:extLst>
                    <a:ext uri="{FF2B5EF4-FFF2-40B4-BE49-F238E27FC236}">
                      <a16:creationId xmlns:a16="http://schemas.microsoft.com/office/drawing/2014/main" id="{8A7496C3-C1F0-42C1-BFEE-07ED8894F3BA}"/>
                    </a:ext>
                  </a:extLst>
                </p:cNvPr>
                <p:cNvSpPr txBox="1">
                  <a:spLocks noRot="1" noChangeAspect="1" noMove="1" noResize="1" noEditPoints="1" noAdjustHandles="1" noChangeArrowheads="1" noChangeShapeType="1" noTextEdit="1"/>
                </p:cNvSpPr>
                <p:nvPr/>
              </p:nvSpPr>
              <p:spPr bwMode="auto">
                <a:xfrm>
                  <a:off x="1958" y="2900"/>
                  <a:ext cx="200" cy="269"/>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bject 9">
                  <a:extLst>
                    <a:ext uri="{FF2B5EF4-FFF2-40B4-BE49-F238E27FC236}">
                      <a16:creationId xmlns:a16="http://schemas.microsoft.com/office/drawing/2014/main" id="{582066CC-8320-468D-9BF5-2A3291894CCC}"/>
                    </a:ext>
                  </a:extLst>
                </p:cNvPr>
                <p:cNvSpPr txBox="1"/>
                <p:nvPr/>
              </p:nvSpPr>
              <p:spPr bwMode="auto">
                <a:xfrm>
                  <a:off x="1632" y="2154"/>
                  <a:ext cx="512" cy="29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47" name="Object 9">
                  <a:extLst>
                    <a:ext uri="{FF2B5EF4-FFF2-40B4-BE49-F238E27FC236}">
                      <a16:creationId xmlns:a16="http://schemas.microsoft.com/office/drawing/2014/main" id="{582066CC-8320-468D-9BF5-2A3291894CCC}"/>
                    </a:ext>
                  </a:extLst>
                </p:cNvPr>
                <p:cNvSpPr txBox="1">
                  <a:spLocks noRot="1" noChangeAspect="1" noMove="1" noResize="1" noEditPoints="1" noAdjustHandles="1" noChangeArrowheads="1" noChangeShapeType="1" noTextEdit="1"/>
                </p:cNvSpPr>
                <p:nvPr/>
              </p:nvSpPr>
              <p:spPr bwMode="auto">
                <a:xfrm>
                  <a:off x="1632" y="2154"/>
                  <a:ext cx="512" cy="291"/>
                </a:xfrm>
                <a:prstGeom prst="rect">
                  <a:avLst/>
                </a:prstGeom>
                <a:blipFill>
                  <a:blip r:embed="rId9"/>
                  <a:stretch>
                    <a:fillRect l="-2256" b="-21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Object 10">
                  <a:extLst>
                    <a:ext uri="{FF2B5EF4-FFF2-40B4-BE49-F238E27FC236}">
                      <a16:creationId xmlns:a16="http://schemas.microsoft.com/office/drawing/2014/main" id="{4EB587DC-44CE-426C-BA69-3DE63C146F68}"/>
                    </a:ext>
                  </a:extLst>
                </p:cNvPr>
                <p:cNvSpPr txBox="1"/>
                <p:nvPr/>
              </p:nvSpPr>
              <p:spPr bwMode="auto">
                <a:xfrm>
                  <a:off x="1395" y="2860"/>
                  <a:ext cx="216" cy="28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0</m:t>
                        </m:r>
                      </m:oMath>
                    </m:oMathPara>
                  </a14:m>
                  <a:endParaRPr lang="en-US" sz="2400" dirty="0"/>
                </a:p>
              </p:txBody>
            </p:sp>
          </mc:Choice>
          <mc:Fallback xmlns="">
            <p:sp>
              <p:nvSpPr>
                <p:cNvPr id="48" name="Object 10">
                  <a:extLst>
                    <a:ext uri="{FF2B5EF4-FFF2-40B4-BE49-F238E27FC236}">
                      <a16:creationId xmlns:a16="http://schemas.microsoft.com/office/drawing/2014/main" id="{4EB587DC-44CE-426C-BA69-3DE63C146F68}"/>
                    </a:ext>
                  </a:extLst>
                </p:cNvPr>
                <p:cNvSpPr txBox="1">
                  <a:spLocks noRot="1" noChangeAspect="1" noMove="1" noResize="1" noEditPoints="1" noAdjustHandles="1" noChangeArrowheads="1" noChangeShapeType="1" noTextEdit="1"/>
                </p:cNvSpPr>
                <p:nvPr/>
              </p:nvSpPr>
              <p:spPr bwMode="auto">
                <a:xfrm>
                  <a:off x="1395" y="2860"/>
                  <a:ext cx="216" cy="286"/>
                </a:xfrm>
                <a:prstGeom prst="rect">
                  <a:avLst/>
                </a:prstGeom>
                <a:blipFill>
                  <a:blip r:embed="rId10"/>
                  <a:stretch>
                    <a:fillRect l="-3571" r="-8929"/>
                  </a:stretch>
                </a:blipFill>
                <a:ln>
                  <a:noFill/>
                </a:ln>
                <a:effectLst/>
              </p:spPr>
              <p:txBody>
                <a:bodyPr/>
                <a:lstStyle/>
                <a:p>
                  <a:r>
                    <a:rPr lang="en-US">
                      <a:noFill/>
                    </a:rPr>
                    <a:t> </a:t>
                  </a:r>
                </a:p>
              </p:txBody>
            </p:sp>
          </mc:Fallback>
        </mc:AlternateContent>
        <p:sp>
          <p:nvSpPr>
            <p:cNvPr id="49" name="Line 11">
              <a:extLst>
                <a:ext uri="{FF2B5EF4-FFF2-40B4-BE49-F238E27FC236}">
                  <a16:creationId xmlns:a16="http://schemas.microsoft.com/office/drawing/2014/main" id="{A320C383-A233-4324-AE19-2EFDB29D23E6}"/>
                </a:ext>
              </a:extLst>
            </p:cNvPr>
            <p:cNvSpPr>
              <a:spLocks noChangeShapeType="1"/>
            </p:cNvSpPr>
            <p:nvPr/>
          </p:nvSpPr>
          <p:spPr bwMode="auto">
            <a:xfrm flipV="1">
              <a:off x="1594" y="2408"/>
              <a:ext cx="0" cy="480"/>
            </a:xfrm>
            <a:prstGeom prst="line">
              <a:avLst/>
            </a:prstGeom>
            <a:noFill/>
            <a:ln w="38100" cap="sq">
              <a:solidFill>
                <a:srgbClr val="FF505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0" name="AutoShape 12">
              <a:extLst>
                <a:ext uri="{FF2B5EF4-FFF2-40B4-BE49-F238E27FC236}">
                  <a16:creationId xmlns:a16="http://schemas.microsoft.com/office/drawing/2014/main" id="{CB6C8E98-98EB-4D5E-BAB1-84DC195C1A86}"/>
                </a:ext>
              </a:extLst>
            </p:cNvPr>
            <p:cNvSpPr>
              <a:spLocks noChangeArrowheads="1"/>
            </p:cNvSpPr>
            <p:nvPr/>
          </p:nvSpPr>
          <p:spPr bwMode="auto">
            <a:xfrm>
              <a:off x="2218" y="2648"/>
              <a:ext cx="624" cy="96"/>
            </a:xfrm>
            <a:prstGeom prst="rightArrow">
              <a:avLst>
                <a:gd name="adj1" fmla="val 50000"/>
                <a:gd name="adj2" fmla="val 162500"/>
              </a:avLst>
            </a:prstGeom>
            <a:noFill/>
            <a:ln w="38100" cap="sq">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51" name="Line 13">
              <a:extLst>
                <a:ext uri="{FF2B5EF4-FFF2-40B4-BE49-F238E27FC236}">
                  <a16:creationId xmlns:a16="http://schemas.microsoft.com/office/drawing/2014/main" id="{33FE2A4F-007A-4580-958C-4C66AA099C4D}"/>
                </a:ext>
              </a:extLst>
            </p:cNvPr>
            <p:cNvSpPr>
              <a:spLocks noChangeShapeType="1"/>
            </p:cNvSpPr>
            <p:nvPr/>
          </p:nvSpPr>
          <p:spPr bwMode="auto">
            <a:xfrm flipV="1">
              <a:off x="2698" y="2888"/>
              <a:ext cx="1104" cy="0"/>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2" name="Line 14">
              <a:extLst>
                <a:ext uri="{FF2B5EF4-FFF2-40B4-BE49-F238E27FC236}">
                  <a16:creationId xmlns:a16="http://schemas.microsoft.com/office/drawing/2014/main" id="{B56EB480-D489-4EC3-8B36-73EC5EABD9C3}"/>
                </a:ext>
              </a:extLst>
            </p:cNvPr>
            <p:cNvSpPr>
              <a:spLocks noChangeShapeType="1"/>
            </p:cNvSpPr>
            <p:nvPr/>
          </p:nvSpPr>
          <p:spPr bwMode="auto">
            <a:xfrm flipV="1">
              <a:off x="3226" y="1979"/>
              <a:ext cx="0" cy="1152"/>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mc:AlternateContent xmlns:mc="http://schemas.openxmlformats.org/markup-compatibility/2006" xmlns:a14="http://schemas.microsoft.com/office/drawing/2010/main">
          <mc:Choice Requires="a14">
            <p:sp>
              <p:nvSpPr>
                <p:cNvPr id="53" name="Object 15">
                  <a:extLst>
                    <a:ext uri="{FF2B5EF4-FFF2-40B4-BE49-F238E27FC236}">
                      <a16:creationId xmlns:a16="http://schemas.microsoft.com/office/drawing/2014/main" id="{109D06EB-13E1-4C16-8AEB-3E35B0CA6E29}"/>
                    </a:ext>
                  </a:extLst>
                </p:cNvPr>
                <p:cNvSpPr txBox="1"/>
                <p:nvPr/>
              </p:nvSpPr>
              <p:spPr bwMode="auto">
                <a:xfrm>
                  <a:off x="3222" y="2034"/>
                  <a:ext cx="444" cy="29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53" name="Object 15">
                  <a:extLst>
                    <a:ext uri="{FF2B5EF4-FFF2-40B4-BE49-F238E27FC236}">
                      <a16:creationId xmlns:a16="http://schemas.microsoft.com/office/drawing/2014/main" id="{109D06EB-13E1-4C16-8AEB-3E35B0CA6E29}"/>
                    </a:ext>
                  </a:extLst>
                </p:cNvPr>
                <p:cNvSpPr txBox="1">
                  <a:spLocks noRot="1" noChangeAspect="1" noMove="1" noResize="1" noEditPoints="1" noAdjustHandles="1" noChangeArrowheads="1" noChangeShapeType="1" noTextEdit="1"/>
                </p:cNvSpPr>
                <p:nvPr/>
              </p:nvSpPr>
              <p:spPr bwMode="auto">
                <a:xfrm>
                  <a:off x="3222" y="2034"/>
                  <a:ext cx="444" cy="291"/>
                </a:xfrm>
                <a:prstGeom prst="rect">
                  <a:avLst/>
                </a:prstGeom>
                <a:blipFill>
                  <a:blip r:embed="rId11"/>
                  <a:stretch>
                    <a:fillRect r="-13913"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Object 16">
                  <a:extLst>
                    <a:ext uri="{FF2B5EF4-FFF2-40B4-BE49-F238E27FC236}">
                      <a16:creationId xmlns:a16="http://schemas.microsoft.com/office/drawing/2014/main" id="{FC2FCB67-B1F4-49CD-A426-32606540DE21}"/>
                    </a:ext>
                  </a:extLst>
                </p:cNvPr>
                <p:cNvSpPr txBox="1"/>
                <p:nvPr/>
              </p:nvSpPr>
              <p:spPr bwMode="auto">
                <a:xfrm>
                  <a:off x="3027" y="2859"/>
                  <a:ext cx="223" cy="26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0</m:t>
                        </m:r>
                      </m:oMath>
                    </m:oMathPara>
                  </a14:m>
                  <a:endParaRPr lang="en-US" sz="2400" dirty="0"/>
                </a:p>
              </p:txBody>
            </p:sp>
          </mc:Choice>
          <mc:Fallback xmlns="">
            <p:sp>
              <p:nvSpPr>
                <p:cNvPr id="54" name="Object 16">
                  <a:extLst>
                    <a:ext uri="{FF2B5EF4-FFF2-40B4-BE49-F238E27FC236}">
                      <a16:creationId xmlns:a16="http://schemas.microsoft.com/office/drawing/2014/main" id="{FC2FCB67-B1F4-49CD-A426-32606540DE21}"/>
                    </a:ext>
                  </a:extLst>
                </p:cNvPr>
                <p:cNvSpPr txBox="1">
                  <a:spLocks noRot="1" noChangeAspect="1" noMove="1" noResize="1" noEditPoints="1" noAdjustHandles="1" noChangeArrowheads="1" noChangeShapeType="1" noTextEdit="1"/>
                </p:cNvSpPr>
                <p:nvPr/>
              </p:nvSpPr>
              <p:spPr bwMode="auto">
                <a:xfrm>
                  <a:off x="3027" y="2859"/>
                  <a:ext cx="223" cy="269"/>
                </a:xfrm>
                <a:prstGeom prst="rect">
                  <a:avLst/>
                </a:prstGeom>
                <a:blipFill>
                  <a:blip r:embed="rId12"/>
                  <a:stretch>
                    <a:fillRect l="-3448" r="-5172" b="-5714"/>
                  </a:stretch>
                </a:blipFill>
                <a:ln>
                  <a:noFill/>
                </a:ln>
                <a:effectLst/>
              </p:spPr>
              <p:txBody>
                <a:bodyPr/>
                <a:lstStyle/>
                <a:p>
                  <a:r>
                    <a:rPr lang="en-US">
                      <a:noFill/>
                    </a:rPr>
                    <a:t> </a:t>
                  </a:r>
                </a:p>
              </p:txBody>
            </p:sp>
          </mc:Fallback>
        </mc:AlternateContent>
        <p:sp>
          <p:nvSpPr>
            <p:cNvPr id="55" name="Line 17">
              <a:extLst>
                <a:ext uri="{FF2B5EF4-FFF2-40B4-BE49-F238E27FC236}">
                  <a16:creationId xmlns:a16="http://schemas.microsoft.com/office/drawing/2014/main" id="{88F35415-7B56-40FA-88D5-0D6D4DFC245E}"/>
                </a:ext>
              </a:extLst>
            </p:cNvPr>
            <p:cNvSpPr>
              <a:spLocks noChangeShapeType="1"/>
            </p:cNvSpPr>
            <p:nvPr/>
          </p:nvSpPr>
          <p:spPr bwMode="auto">
            <a:xfrm flipV="1">
              <a:off x="3226" y="2408"/>
              <a:ext cx="0" cy="480"/>
            </a:xfrm>
            <a:prstGeom prst="line">
              <a:avLst/>
            </a:prstGeom>
            <a:noFill/>
            <a:ln w="38100" cap="sq">
              <a:solidFill>
                <a:srgbClr val="FF505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mc:AlternateContent xmlns:mc="http://schemas.openxmlformats.org/markup-compatibility/2006" xmlns:a14="http://schemas.microsoft.com/office/drawing/2010/main">
          <mc:Choice Requires="a14">
            <p:sp>
              <p:nvSpPr>
                <p:cNvPr id="56" name="Object 18">
                  <a:extLst>
                    <a:ext uri="{FF2B5EF4-FFF2-40B4-BE49-F238E27FC236}">
                      <a16:creationId xmlns:a16="http://schemas.microsoft.com/office/drawing/2014/main" id="{885EA49B-9B05-4909-8D00-8D89F65C82A2}"/>
                    </a:ext>
                  </a:extLst>
                </p:cNvPr>
                <p:cNvSpPr txBox="1"/>
                <p:nvPr/>
              </p:nvSpPr>
              <p:spPr bwMode="auto">
                <a:xfrm>
                  <a:off x="3719" y="2862"/>
                  <a:ext cx="200" cy="29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𝑡</m:t>
                        </m:r>
                      </m:oMath>
                    </m:oMathPara>
                  </a14:m>
                  <a:endParaRPr lang="en-US" sz="2400" dirty="0"/>
                </a:p>
              </p:txBody>
            </p:sp>
          </mc:Choice>
          <mc:Fallback xmlns="">
            <p:sp>
              <p:nvSpPr>
                <p:cNvPr id="56" name="Object 18">
                  <a:extLst>
                    <a:ext uri="{FF2B5EF4-FFF2-40B4-BE49-F238E27FC236}">
                      <a16:creationId xmlns:a16="http://schemas.microsoft.com/office/drawing/2014/main" id="{885EA49B-9B05-4909-8D00-8D89F65C82A2}"/>
                    </a:ext>
                  </a:extLst>
                </p:cNvPr>
                <p:cNvSpPr txBox="1">
                  <a:spLocks noRot="1" noChangeAspect="1" noMove="1" noResize="1" noEditPoints="1" noAdjustHandles="1" noChangeArrowheads="1" noChangeShapeType="1" noTextEdit="1"/>
                </p:cNvSpPr>
                <p:nvPr/>
              </p:nvSpPr>
              <p:spPr bwMode="auto">
                <a:xfrm>
                  <a:off x="3719" y="2862"/>
                  <a:ext cx="200" cy="291"/>
                </a:xfrm>
                <a:prstGeom prst="rect">
                  <a:avLst/>
                </a:prstGeom>
                <a:blipFill>
                  <a:blip r:embed="rId13"/>
                  <a:stretch>
                    <a:fillRect/>
                  </a:stretch>
                </a:blipFill>
                <a:ln>
                  <a:noFill/>
                </a:ln>
                <a:effectLst/>
              </p:spPr>
              <p:txBody>
                <a:bodyPr/>
                <a:lstStyle/>
                <a:p>
                  <a:r>
                    <a:rPr lang="en-US">
                      <a:noFill/>
                    </a:rPr>
                    <a:t> </a:t>
                  </a:r>
                </a:p>
              </p:txBody>
            </p:sp>
          </mc:Fallback>
        </mc:AlternateContent>
        <p:sp>
          <p:nvSpPr>
            <p:cNvPr id="57" name="Line 19">
              <a:extLst>
                <a:ext uri="{FF2B5EF4-FFF2-40B4-BE49-F238E27FC236}">
                  <a16:creationId xmlns:a16="http://schemas.microsoft.com/office/drawing/2014/main" id="{A1C443CA-EA80-4C40-87C8-AAFDA1A2F8DF}"/>
                </a:ext>
              </a:extLst>
            </p:cNvPr>
            <p:cNvSpPr>
              <a:spLocks noChangeShapeType="1"/>
            </p:cNvSpPr>
            <p:nvPr/>
          </p:nvSpPr>
          <p:spPr bwMode="auto">
            <a:xfrm>
              <a:off x="3226" y="2408"/>
              <a:ext cx="384" cy="0"/>
            </a:xfrm>
            <a:prstGeom prst="line">
              <a:avLst/>
            </a:prstGeom>
            <a:noFill/>
            <a:ln w="38100" cap="sq">
              <a:solidFill>
                <a:srgbClr val="FF505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8" name="Text Box 20">
              <a:extLst>
                <a:ext uri="{FF2B5EF4-FFF2-40B4-BE49-F238E27FC236}">
                  <a16:creationId xmlns:a16="http://schemas.microsoft.com/office/drawing/2014/main" id="{6D8F758A-591E-47FE-8EAB-B27E6965CF36}"/>
                </a:ext>
              </a:extLst>
            </p:cNvPr>
            <p:cNvSpPr txBox="1">
              <a:spLocks noChangeArrowheads="1"/>
            </p:cNvSpPr>
            <p:nvPr/>
          </p:nvSpPr>
          <p:spPr bwMode="auto">
            <a:xfrm>
              <a:off x="2197" y="2306"/>
              <a:ext cx="54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zh-CN" altLang="en-US" dirty="0">
                  <a:solidFill>
                    <a:srgbClr val="000000"/>
                  </a:solidFill>
                  <a:latin typeface="楷体" panose="02010609060101010101" pitchFamily="49" charset="-122"/>
                  <a:ea typeface="楷体" panose="02010609060101010101" pitchFamily="49" charset="-122"/>
                </a:rPr>
                <a:t>积分</a:t>
              </a:r>
              <a:endParaRPr lang="en-US" altLang="zh-CN" dirty="0">
                <a:solidFill>
                  <a:srgbClr val="000000"/>
                </a:solidFill>
                <a:latin typeface="楷体" panose="02010609060101010101" pitchFamily="49" charset="-122"/>
                <a:ea typeface="楷体" panose="02010609060101010101" pitchFamily="49" charset="-122"/>
              </a:endParaRPr>
            </a:p>
          </p:txBody>
        </p:sp>
      </p:gr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555" name="Text Box 39">
                <a:extLst>
                  <a:ext uri="{FF2B5EF4-FFF2-40B4-BE49-F238E27FC236}">
                    <a16:creationId xmlns:a16="http://schemas.microsoft.com/office/drawing/2014/main" id="{7E374FBD-19C9-441F-9B7B-4F01E912463F}"/>
                  </a:ext>
                </a:extLst>
              </p:cNvPr>
              <p:cNvSpPr txBox="1">
                <a:spLocks noChangeArrowheads="1"/>
              </p:cNvSpPr>
              <p:nvPr/>
            </p:nvSpPr>
            <p:spPr bwMode="auto">
              <a:xfrm>
                <a:off x="646665" y="5389306"/>
                <a:ext cx="8001000" cy="83099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即</a:t>
                </a:r>
                <a14:m>
                  <m:oMath xmlns:m="http://schemas.openxmlformats.org/officeDocument/2006/math">
                    <m:r>
                      <a:rPr lang="en-US" sz="2400" i="1" smtClean="0">
                        <a:solidFill>
                          <a:srgbClr val="000000"/>
                        </a:solidFill>
                        <a:latin typeface="Cambria Math" panose="02040503050406030204" pitchFamily="18" charset="0"/>
                      </a:rPr>
                      <m:t>𝛿</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可视为一个面积始终为</a:t>
                </a: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1</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的矩形，当其</a:t>
                </a:r>
                <a:r>
                  <a:rPr lang="zh-CN" altLang="en-US" sz="2400" dirty="0">
                    <a:latin typeface="Times New Roman" panose="02020603050405020304" pitchFamily="18" charset="0"/>
                    <a:ea typeface="华文楷体" panose="02010600040101010101" pitchFamily="2" charset="-122"/>
                  </a:rPr>
                  <a:t>宽度趋于零时的极限。</a:t>
                </a:r>
                <a:endPar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endParaRPr>
              </a:p>
            </p:txBody>
          </p:sp>
        </mc:Choice>
        <mc:Fallback xmlns="">
          <p:sp>
            <p:nvSpPr>
              <p:cNvPr id="22555" name="Text Box 39">
                <a:extLst>
                  <a:ext uri="{FF2B5EF4-FFF2-40B4-BE49-F238E27FC236}">
                    <a16:creationId xmlns:a16="http://schemas.microsoft.com/office/drawing/2014/main" id="{7E374FBD-19C9-441F-9B7B-4F01E912463F}"/>
                  </a:ext>
                </a:extLst>
              </p:cNvPr>
              <p:cNvSpPr txBox="1">
                <a:spLocks noRot="1" noChangeAspect="1" noMove="1" noResize="1" noEditPoints="1" noAdjustHandles="1" noChangeArrowheads="1" noChangeShapeType="1" noTextEdit="1"/>
              </p:cNvSpPr>
              <p:nvPr/>
            </p:nvSpPr>
            <p:spPr bwMode="auto">
              <a:xfrm>
                <a:off x="646665" y="5389306"/>
                <a:ext cx="8001000" cy="830997"/>
              </a:xfrm>
              <a:prstGeom prst="rect">
                <a:avLst/>
              </a:prstGeom>
              <a:blipFill>
                <a:blip r:embed="rId2"/>
                <a:stretch>
                  <a:fillRect l="-1142" t="-6618" b="-169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57" name="Rectangle 41">
                <a:extLst>
                  <a:ext uri="{FF2B5EF4-FFF2-40B4-BE49-F238E27FC236}">
                    <a16:creationId xmlns:a16="http://schemas.microsoft.com/office/drawing/2014/main" id="{B705A777-48FA-44E0-B317-09C88746CE53}"/>
                  </a:ext>
                </a:extLst>
              </p:cNvPr>
              <p:cNvSpPr>
                <a:spLocks noChangeArrowheads="1"/>
              </p:cNvSpPr>
              <p:nvPr/>
            </p:nvSpPr>
            <p:spPr bwMode="auto">
              <a:xfrm>
                <a:off x="646665" y="1983127"/>
                <a:ext cx="2301656"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rPr>
                  <a:t>显然当</a:t>
                </a:r>
                <a14:m>
                  <m:oMath xmlns:m="http://schemas.openxmlformats.org/officeDocument/2006/math">
                    <m:r>
                      <m:rPr>
                        <m:sty m:val="p"/>
                      </m:rPr>
                      <a:rPr lang="en-US" sz="2400" i="1" smtClean="0">
                        <a:solidFill>
                          <a:srgbClr val="000000"/>
                        </a:solidFill>
                        <a:latin typeface="Cambria Math" panose="02040503050406030204" pitchFamily="18" charset="0"/>
                      </a:rPr>
                      <m:t>Δ</m:t>
                    </m:r>
                    <m:r>
                      <a:rPr lang="en-US" sz="2400" i="1" smtClean="0">
                        <a:solidFill>
                          <a:srgbClr val="000000"/>
                        </a:solidFill>
                        <a:latin typeface="Cambria Math" panose="02040503050406030204" pitchFamily="18" charset="0"/>
                        <a:ea typeface="Cambria Math" panose="02040503050406030204" pitchFamily="18" charset="0"/>
                      </a:rPr>
                      <m:t>⟶</m:t>
                    </m:r>
                    <m:r>
                      <a:rPr lang="en-US" sz="2400" b="0" i="1" smtClean="0">
                        <a:solidFill>
                          <a:srgbClr val="000000"/>
                        </a:solidFill>
                        <a:latin typeface="Cambria Math" panose="02040503050406030204" pitchFamily="18" charset="0"/>
                        <a:ea typeface="Cambria Math" panose="02040503050406030204" pitchFamily="18" charset="0"/>
                      </a:rPr>
                      <m:t>0</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rPr>
                  <a:t>时</a:t>
                </a:r>
              </a:p>
            </p:txBody>
          </p:sp>
        </mc:Choice>
        <mc:Fallback xmlns="">
          <p:sp>
            <p:nvSpPr>
              <p:cNvPr id="22557" name="Rectangle 41">
                <a:extLst>
                  <a:ext uri="{FF2B5EF4-FFF2-40B4-BE49-F238E27FC236}">
                    <a16:creationId xmlns:a16="http://schemas.microsoft.com/office/drawing/2014/main" id="{B705A777-48FA-44E0-B317-09C88746CE53}"/>
                  </a:ext>
                </a:extLst>
              </p:cNvPr>
              <p:cNvSpPr>
                <a:spLocks noRot="1" noChangeAspect="1" noMove="1" noResize="1" noEditPoints="1" noAdjustHandles="1" noChangeArrowheads="1" noChangeShapeType="1" noTextEdit="1"/>
              </p:cNvSpPr>
              <p:nvPr/>
            </p:nvSpPr>
            <p:spPr bwMode="auto">
              <a:xfrm>
                <a:off x="646665" y="1983127"/>
                <a:ext cx="2301656" cy="461665"/>
              </a:xfrm>
              <a:prstGeom prst="rect">
                <a:avLst/>
              </a:prstGeom>
              <a:blipFill>
                <a:blip r:embed="rId3"/>
                <a:stretch>
                  <a:fillRect l="-3968" t="-9211" r="-3175"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2546" name="标题 1">
            <a:extLst>
              <a:ext uri="{FF2B5EF4-FFF2-40B4-BE49-F238E27FC236}">
                <a16:creationId xmlns:a16="http://schemas.microsoft.com/office/drawing/2014/main" id="{0EAD3879-A3E6-48ED-902A-EA16360397D9}"/>
              </a:ext>
            </a:extLst>
          </p:cNvPr>
          <p:cNvSpPr>
            <a:spLocks noGrp="1"/>
          </p:cNvSpPr>
          <p:nvPr>
            <p:ph type="title"/>
          </p:nvPr>
        </p:nvSpPr>
        <p:spPr/>
        <p:txBody>
          <a:bodyPr/>
          <a:lstStyle/>
          <a:p>
            <a:pPr eaLnBrk="1" hangingPunct="1"/>
            <a:r>
              <a:rPr lang="en-US" altLang="zh-CN"/>
              <a:t>1.4  </a:t>
            </a:r>
            <a:r>
              <a:rPr lang="zh-CN" altLang="en-US"/>
              <a:t>单位冲激与单位阶跃函数</a:t>
            </a:r>
          </a:p>
        </p:txBody>
      </p:sp>
      <p:sp>
        <p:nvSpPr>
          <p:cNvPr id="4" name="灯片编号占位符 3">
            <a:extLst>
              <a:ext uri="{FF2B5EF4-FFF2-40B4-BE49-F238E27FC236}">
                <a16:creationId xmlns:a16="http://schemas.microsoft.com/office/drawing/2014/main" id="{B1812176-498E-4BCA-877F-4E1C8614BB0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E1E9ED7-BD6F-422D-9B5A-857451941BE3}"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2548" name="Text Box 2">
                <a:extLst>
                  <a:ext uri="{FF2B5EF4-FFF2-40B4-BE49-F238E27FC236}">
                    <a16:creationId xmlns:a16="http://schemas.microsoft.com/office/drawing/2014/main" id="{26C7C90A-5B39-4B86-B701-922DFD116AAD}"/>
                  </a:ext>
                </a:extLst>
              </p:cNvPr>
              <p:cNvSpPr txBox="1">
                <a:spLocks noChangeArrowheads="1"/>
              </p:cNvSpPr>
              <p:nvPr/>
            </p:nvSpPr>
            <p:spPr bwMode="auto">
              <a:xfrm>
                <a:off x="646665" y="1370823"/>
                <a:ext cx="2841868"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定义</a:t>
                </a:r>
                <a14:m>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b="0" i="1">
                            <a:solidFill>
                              <a:schemeClr val="tx1"/>
                            </a:solidFill>
                            <a:latin typeface="Cambria Math" panose="02040503050406030204" pitchFamily="18" charset="0"/>
                          </a:rPr>
                          <m:t>𝑢</m:t>
                        </m:r>
                      </m:e>
                      <m:sub>
                        <m:r>
                          <m:rPr>
                            <m:sty m:val="p"/>
                          </m:rPr>
                          <a:rPr lang="en-US" sz="2400" b="0" i="0">
                            <a:solidFill>
                              <a:schemeClr val="tx1"/>
                            </a:solidFill>
                            <a:latin typeface="Cambria Math" panose="02040503050406030204" pitchFamily="18" charset="0"/>
                          </a:rPr>
                          <m:t>Δ</m:t>
                        </m:r>
                      </m:sub>
                    </m:sSub>
                    <m:r>
                      <a:rPr lang="en-US" sz="2400" b="0" i="1">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𝑡</m:t>
                    </m:r>
                    <m:r>
                      <a:rPr lang="en-US" sz="2400" b="0" i="1">
                        <a:solidFill>
                          <a:schemeClr val="tx1"/>
                        </a:solidFill>
                        <a:latin typeface="Cambria Math" panose="02040503050406030204" pitchFamily="18" charset="0"/>
                      </a:rPr>
                      <m:t>)</m:t>
                    </m:r>
                  </m:oMath>
                </a14:m>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如图所示</a:t>
                </a:r>
                <a:r>
                  <a:rPr kumimoji="0" lang="en-US" altLang="zh-CN"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a:t>
                </a:r>
              </a:p>
            </p:txBody>
          </p:sp>
        </mc:Choice>
        <mc:Fallback xmlns="">
          <p:sp>
            <p:nvSpPr>
              <p:cNvPr id="22548" name="Text Box 2">
                <a:extLst>
                  <a:ext uri="{FF2B5EF4-FFF2-40B4-BE49-F238E27FC236}">
                    <a16:creationId xmlns:a16="http://schemas.microsoft.com/office/drawing/2014/main" id="{26C7C90A-5B39-4B86-B701-922DFD116AAD}"/>
                  </a:ext>
                </a:extLst>
              </p:cNvPr>
              <p:cNvSpPr txBox="1">
                <a:spLocks noRot="1" noChangeAspect="1" noMove="1" noResize="1" noEditPoints="1" noAdjustHandles="1" noChangeArrowheads="1" noChangeShapeType="1" noTextEdit="1"/>
              </p:cNvSpPr>
              <p:nvPr/>
            </p:nvSpPr>
            <p:spPr bwMode="auto">
              <a:xfrm>
                <a:off x="646665" y="1370823"/>
                <a:ext cx="2841868" cy="461665"/>
              </a:xfrm>
              <a:prstGeom prst="rect">
                <a:avLst/>
              </a:prstGeom>
              <a:blipFill>
                <a:blip r:embed="rId4"/>
                <a:stretch>
                  <a:fillRect l="-3219" t="-11842" r="-2575"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22549" name="Group 4">
            <a:extLst>
              <a:ext uri="{FF2B5EF4-FFF2-40B4-BE49-F238E27FC236}">
                <a16:creationId xmlns:a16="http://schemas.microsoft.com/office/drawing/2014/main" id="{64F5E62E-76A9-45F5-8CD5-C7665B3BB3A5}"/>
              </a:ext>
            </a:extLst>
          </p:cNvPr>
          <p:cNvGrpSpPr>
            <a:grpSpLocks/>
          </p:cNvGrpSpPr>
          <p:nvPr/>
        </p:nvGrpSpPr>
        <p:grpSpPr bwMode="auto">
          <a:xfrm>
            <a:off x="4221835" y="1277132"/>
            <a:ext cx="4272645" cy="1866908"/>
            <a:chOff x="2671" y="357"/>
            <a:chExt cx="2808" cy="1227"/>
          </a:xfrm>
        </p:grpSpPr>
        <p:sp>
          <p:nvSpPr>
            <p:cNvPr id="22563" name="Line 5">
              <a:extLst>
                <a:ext uri="{FF2B5EF4-FFF2-40B4-BE49-F238E27FC236}">
                  <a16:creationId xmlns:a16="http://schemas.microsoft.com/office/drawing/2014/main" id="{AAA747E8-3EC8-4CC2-B72F-601EBB3E8BCA}"/>
                </a:ext>
              </a:extLst>
            </p:cNvPr>
            <p:cNvSpPr>
              <a:spLocks noChangeShapeType="1"/>
            </p:cNvSpPr>
            <p:nvPr/>
          </p:nvSpPr>
          <p:spPr bwMode="auto">
            <a:xfrm>
              <a:off x="2671" y="1266"/>
              <a:ext cx="27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64" name="Line 6">
              <a:extLst>
                <a:ext uri="{FF2B5EF4-FFF2-40B4-BE49-F238E27FC236}">
                  <a16:creationId xmlns:a16="http://schemas.microsoft.com/office/drawing/2014/main" id="{BE4EA073-DE82-4CF9-B2A3-024FC531F1B9}"/>
                </a:ext>
              </a:extLst>
            </p:cNvPr>
            <p:cNvSpPr>
              <a:spLocks noChangeShapeType="1"/>
            </p:cNvSpPr>
            <p:nvPr/>
          </p:nvSpPr>
          <p:spPr bwMode="auto">
            <a:xfrm flipV="1">
              <a:off x="3715" y="450"/>
              <a:ext cx="0" cy="113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65" name="Line 7">
              <a:extLst>
                <a:ext uri="{FF2B5EF4-FFF2-40B4-BE49-F238E27FC236}">
                  <a16:creationId xmlns:a16="http://schemas.microsoft.com/office/drawing/2014/main" id="{BD4D7269-B76D-43EF-B279-B88553C407CB}"/>
                </a:ext>
              </a:extLst>
            </p:cNvPr>
            <p:cNvSpPr>
              <a:spLocks noChangeShapeType="1"/>
            </p:cNvSpPr>
            <p:nvPr/>
          </p:nvSpPr>
          <p:spPr bwMode="auto">
            <a:xfrm flipV="1">
              <a:off x="3715" y="858"/>
              <a:ext cx="317" cy="40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66" name="Line 8">
              <a:extLst>
                <a:ext uri="{FF2B5EF4-FFF2-40B4-BE49-F238E27FC236}">
                  <a16:creationId xmlns:a16="http://schemas.microsoft.com/office/drawing/2014/main" id="{90D0DD68-5B19-411B-8220-070C783F29A4}"/>
                </a:ext>
              </a:extLst>
            </p:cNvPr>
            <p:cNvSpPr>
              <a:spLocks noChangeShapeType="1"/>
            </p:cNvSpPr>
            <p:nvPr/>
          </p:nvSpPr>
          <p:spPr bwMode="auto">
            <a:xfrm>
              <a:off x="4032" y="858"/>
              <a:ext cx="10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67" name="Line 9">
              <a:extLst>
                <a:ext uri="{FF2B5EF4-FFF2-40B4-BE49-F238E27FC236}">
                  <a16:creationId xmlns:a16="http://schemas.microsoft.com/office/drawing/2014/main" id="{C8325268-7C17-43EC-896A-7423FFBDBE6D}"/>
                </a:ext>
              </a:extLst>
            </p:cNvPr>
            <p:cNvSpPr>
              <a:spLocks noChangeShapeType="1"/>
            </p:cNvSpPr>
            <p:nvPr/>
          </p:nvSpPr>
          <p:spPr bwMode="auto">
            <a:xfrm>
              <a:off x="4032" y="858"/>
              <a:ext cx="0" cy="408"/>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68" name="Line 10">
              <a:extLst>
                <a:ext uri="{FF2B5EF4-FFF2-40B4-BE49-F238E27FC236}">
                  <a16:creationId xmlns:a16="http://schemas.microsoft.com/office/drawing/2014/main" id="{E8826B0C-2E1B-4ABB-8A19-1A3958282DE9}"/>
                </a:ext>
              </a:extLst>
            </p:cNvPr>
            <p:cNvSpPr>
              <a:spLocks noChangeShapeType="1"/>
            </p:cNvSpPr>
            <p:nvPr/>
          </p:nvSpPr>
          <p:spPr bwMode="auto">
            <a:xfrm flipH="1">
              <a:off x="3715" y="858"/>
              <a:ext cx="4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69" name="Text Box 11">
              <a:extLst>
                <a:ext uri="{FF2B5EF4-FFF2-40B4-BE49-F238E27FC236}">
                  <a16:creationId xmlns:a16="http://schemas.microsoft.com/office/drawing/2014/main" id="{B338EAF2-8780-4C42-B899-88BA67819556}"/>
                </a:ext>
              </a:extLst>
            </p:cNvPr>
            <p:cNvSpPr txBox="1">
              <a:spLocks noChangeArrowheads="1"/>
            </p:cNvSpPr>
            <p:nvPr/>
          </p:nvSpPr>
          <p:spPr bwMode="auto">
            <a:xfrm>
              <a:off x="3533" y="722"/>
              <a:ext cx="20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effectLst/>
                  <a:uLnTx/>
                  <a:uFillTx/>
                  <a:latin typeface="Times New Roman" panose="02020603050405020304" pitchFamily="18" charset="0"/>
                  <a:ea typeface="楷体" panose="02010609060101010101" pitchFamily="49" charset="-122"/>
                  <a:cs typeface="+mn-cs"/>
                </a:rPr>
                <a:t>1</a:t>
              </a:r>
            </a:p>
          </p:txBody>
        </p:sp>
        <p:sp>
          <p:nvSpPr>
            <p:cNvPr id="22570" name="Text Box 12">
              <a:extLst>
                <a:ext uri="{FF2B5EF4-FFF2-40B4-BE49-F238E27FC236}">
                  <a16:creationId xmlns:a16="http://schemas.microsoft.com/office/drawing/2014/main" id="{BBD60B11-0677-42BD-9DC7-A161AD708971}"/>
                </a:ext>
              </a:extLst>
            </p:cNvPr>
            <p:cNvSpPr txBox="1">
              <a:spLocks noChangeArrowheads="1"/>
            </p:cNvSpPr>
            <p:nvPr/>
          </p:nvSpPr>
          <p:spPr bwMode="auto">
            <a:xfrm>
              <a:off x="3533" y="1221"/>
              <a:ext cx="22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i="0" u="none" strike="noStrike" kern="1200" cap="none" spc="0" normalizeH="0" baseline="0" noProof="0">
                  <a:ln>
                    <a:noFill/>
                  </a:ln>
                  <a:effectLst/>
                  <a:uLnTx/>
                  <a:uFillTx/>
                  <a:latin typeface="Times New Roman" panose="02020603050405020304" pitchFamily="18" charset="0"/>
                  <a:ea typeface="楷体" panose="02010609060101010101" pitchFamily="49" charset="-122"/>
                  <a:cs typeface="+mn-cs"/>
                </a:rPr>
                <a:t>0</a:t>
              </a:r>
            </a:p>
          </p:txBody>
        </p:sp>
        <mc:AlternateContent xmlns:mc="http://schemas.openxmlformats.org/markup-compatibility/2006" xmlns:a14="http://schemas.microsoft.com/office/drawing/2010/main">
          <mc:Choice Requires="a14">
            <p:sp>
              <p:nvSpPr>
                <p:cNvPr id="22543" name="Object 3">
                  <a:extLst>
                    <a:ext uri="{FF2B5EF4-FFF2-40B4-BE49-F238E27FC236}">
                      <a16:creationId xmlns:a16="http://schemas.microsoft.com/office/drawing/2014/main" id="{159AD796-36AA-478B-8B7B-987CDB1CC591}"/>
                    </a:ext>
                  </a:extLst>
                </p:cNvPr>
                <p:cNvSpPr txBox="1"/>
                <p:nvPr/>
              </p:nvSpPr>
              <p:spPr bwMode="auto">
                <a:xfrm>
                  <a:off x="3942" y="1266"/>
                  <a:ext cx="193" cy="21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lang="en-US" sz="2400" i="1">
                            <a:solidFill>
                              <a:srgbClr val="000000"/>
                            </a:solidFill>
                            <a:latin typeface="Cambria Math" panose="02040503050406030204" pitchFamily="18" charset="0"/>
                          </a:rPr>
                          <m:t>Δ</m:t>
                        </m:r>
                      </m:oMath>
                    </m:oMathPara>
                  </a14:m>
                  <a:endParaRPr lang="en-US" sz="2400" dirty="0"/>
                </a:p>
              </p:txBody>
            </p:sp>
          </mc:Choice>
          <mc:Fallback xmlns="">
            <p:sp>
              <p:nvSpPr>
                <p:cNvPr id="22543" name="Object 3">
                  <a:extLst>
                    <a:ext uri="{FF2B5EF4-FFF2-40B4-BE49-F238E27FC236}">
                      <a16:creationId xmlns:a16="http://schemas.microsoft.com/office/drawing/2014/main" id="{159AD796-36AA-478B-8B7B-987CDB1CC591}"/>
                    </a:ext>
                  </a:extLst>
                </p:cNvPr>
                <p:cNvSpPr txBox="1">
                  <a:spLocks noRot="1" noChangeAspect="1" noMove="1" noResize="1" noEditPoints="1" noAdjustHandles="1" noChangeArrowheads="1" noChangeShapeType="1" noTextEdit="1"/>
                </p:cNvSpPr>
                <p:nvPr/>
              </p:nvSpPr>
              <p:spPr bwMode="auto">
                <a:xfrm>
                  <a:off x="3942" y="1266"/>
                  <a:ext cx="193" cy="217"/>
                </a:xfrm>
                <a:prstGeom prst="rect">
                  <a:avLst/>
                </a:prstGeom>
                <a:blipFill>
                  <a:blip r:embed="rId5"/>
                  <a:stretch>
                    <a:fillRect l="-6250" r="-29167" b="-3454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44" name="Object 4">
                  <a:extLst>
                    <a:ext uri="{FF2B5EF4-FFF2-40B4-BE49-F238E27FC236}">
                      <a16:creationId xmlns:a16="http://schemas.microsoft.com/office/drawing/2014/main" id="{F5A19051-57AF-4DC7-B5F5-09BCF684FFED}"/>
                    </a:ext>
                  </a:extLst>
                </p:cNvPr>
                <p:cNvSpPr txBox="1"/>
                <p:nvPr/>
              </p:nvSpPr>
              <p:spPr bwMode="auto">
                <a:xfrm>
                  <a:off x="3760" y="357"/>
                  <a:ext cx="516" cy="3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m:rPr>
                                <m:sty m:val="p"/>
                              </m:rPr>
                              <a:rPr lang="en-US" sz="2400" i="1">
                                <a:solidFill>
                                  <a:srgbClr val="000000"/>
                                </a:solidFill>
                                <a:latin typeface="Cambria Math" panose="02040503050406030204" pitchFamily="18" charset="0"/>
                              </a:rPr>
                              <m:t>Δ</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2544" name="Object 4">
                  <a:extLst>
                    <a:ext uri="{FF2B5EF4-FFF2-40B4-BE49-F238E27FC236}">
                      <a16:creationId xmlns:a16="http://schemas.microsoft.com/office/drawing/2014/main" id="{F5A19051-57AF-4DC7-B5F5-09BCF684FFED}"/>
                    </a:ext>
                  </a:extLst>
                </p:cNvPr>
                <p:cNvSpPr txBox="1">
                  <a:spLocks noRot="1" noChangeAspect="1" noMove="1" noResize="1" noEditPoints="1" noAdjustHandles="1" noChangeArrowheads="1" noChangeShapeType="1" noTextEdit="1"/>
                </p:cNvSpPr>
                <p:nvPr/>
              </p:nvSpPr>
              <p:spPr bwMode="auto">
                <a:xfrm>
                  <a:off x="3760" y="357"/>
                  <a:ext cx="516" cy="325"/>
                </a:xfrm>
                <a:prstGeom prst="rect">
                  <a:avLst/>
                </a:prstGeom>
                <a:blipFill>
                  <a:blip r:embed="rId6"/>
                  <a:stretch>
                    <a:fillRect r="-21705" b="-12346"/>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45" name="Object 5">
                  <a:extLst>
                    <a:ext uri="{FF2B5EF4-FFF2-40B4-BE49-F238E27FC236}">
                      <a16:creationId xmlns:a16="http://schemas.microsoft.com/office/drawing/2014/main" id="{E992EBEF-9074-4C36-AC42-9D6FD1C50428}"/>
                    </a:ext>
                  </a:extLst>
                </p:cNvPr>
                <p:cNvSpPr txBox="1"/>
                <p:nvPr/>
              </p:nvSpPr>
              <p:spPr bwMode="auto">
                <a:xfrm>
                  <a:off x="5298" y="1233"/>
                  <a:ext cx="181" cy="26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𝑡</m:t>
                        </m:r>
                      </m:oMath>
                    </m:oMathPara>
                  </a14:m>
                  <a:endParaRPr lang="en-US" sz="2400" dirty="0"/>
                </a:p>
              </p:txBody>
            </p:sp>
          </mc:Choice>
          <mc:Fallback xmlns="">
            <p:sp>
              <p:nvSpPr>
                <p:cNvPr id="22545" name="Object 5">
                  <a:extLst>
                    <a:ext uri="{FF2B5EF4-FFF2-40B4-BE49-F238E27FC236}">
                      <a16:creationId xmlns:a16="http://schemas.microsoft.com/office/drawing/2014/main" id="{E992EBEF-9074-4C36-AC42-9D6FD1C50428}"/>
                    </a:ext>
                  </a:extLst>
                </p:cNvPr>
                <p:cNvSpPr txBox="1">
                  <a:spLocks noRot="1" noChangeAspect="1" noMove="1" noResize="1" noEditPoints="1" noAdjustHandles="1" noChangeArrowheads="1" noChangeShapeType="1" noTextEdit="1"/>
                </p:cNvSpPr>
                <p:nvPr/>
              </p:nvSpPr>
              <p:spPr bwMode="auto">
                <a:xfrm>
                  <a:off x="5298" y="1233"/>
                  <a:ext cx="181" cy="265"/>
                </a:xfrm>
                <a:prstGeom prst="rect">
                  <a:avLst/>
                </a:prstGeom>
                <a:blipFill>
                  <a:blip r:embed="rId7"/>
                  <a:stretch>
                    <a:fillRect r="-13333" b="-9091"/>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2552" name="Text Box 22">
                <a:extLst>
                  <a:ext uri="{FF2B5EF4-FFF2-40B4-BE49-F238E27FC236}">
                    <a16:creationId xmlns:a16="http://schemas.microsoft.com/office/drawing/2014/main" id="{02E1DCD2-0B02-4D78-85C8-1B72820E57E2}"/>
                  </a:ext>
                </a:extLst>
              </p:cNvPr>
              <p:cNvSpPr txBox="1">
                <a:spLocks noChangeArrowheads="1"/>
              </p:cNvSpPr>
              <p:nvPr/>
            </p:nvSpPr>
            <p:spPr bwMode="auto">
              <a:xfrm>
                <a:off x="646665" y="4439749"/>
                <a:ext cx="3295839" cy="57342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可认为</a:t>
                </a:r>
                <a14:m>
                  <m:oMath xmlns:m="http://schemas.openxmlformats.org/officeDocument/2006/math">
                    <m:func>
                      <m:funcPr>
                        <m:ctrlPr>
                          <a:rPr lang="en-US" sz="2400" i="1" smtClean="0">
                            <a:solidFill>
                              <a:srgbClr val="FF0000"/>
                            </a:solidFill>
                            <a:latin typeface="Cambria Math" panose="02040503050406030204" pitchFamily="18" charset="0"/>
                          </a:rPr>
                        </m:ctrlPr>
                      </m:funcPr>
                      <m:fName>
                        <m:limLow>
                          <m:limLowPr>
                            <m:ctrlPr>
                              <a:rPr lang="en-US" sz="2400" i="1" smtClean="0">
                                <a:solidFill>
                                  <a:srgbClr val="FF0000"/>
                                </a:solidFill>
                                <a:latin typeface="Cambria Math" panose="02040503050406030204" pitchFamily="18" charset="0"/>
                              </a:rPr>
                            </m:ctrlPr>
                          </m:limLowPr>
                          <m:e>
                            <m:r>
                              <m:rPr>
                                <m:sty m:val="p"/>
                              </m:rPr>
                              <a:rPr lang="en-US" sz="2400" i="0" smtClean="0">
                                <a:solidFill>
                                  <a:srgbClr val="FF0000"/>
                                </a:solidFill>
                                <a:latin typeface="Cambria Math" panose="02040503050406030204" pitchFamily="18" charset="0"/>
                              </a:rPr>
                              <m:t>lim</m:t>
                            </m:r>
                          </m:e>
                          <m:lim>
                            <m:r>
                              <m:rPr>
                                <m:sty m:val="p"/>
                              </m:rPr>
                              <a:rPr lang="en-US" sz="2400" i="1">
                                <a:solidFill>
                                  <a:srgbClr val="FF0000"/>
                                </a:solidFill>
                                <a:latin typeface="Cambria Math" panose="02040503050406030204" pitchFamily="18" charset="0"/>
                              </a:rPr>
                              <m:t>Δ</m:t>
                            </m:r>
                            <m:r>
                              <a:rPr lang="en-US" sz="2400" i="1">
                                <a:solidFill>
                                  <a:srgbClr val="FF0000"/>
                                </a:solidFill>
                                <a:latin typeface="Cambria Math" panose="02040503050406030204" pitchFamily="18" charset="0"/>
                              </a:rPr>
                              <m:t>→0</m:t>
                            </m:r>
                          </m:lim>
                        </m:limLow>
                      </m:fName>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𝛿</m:t>
                            </m:r>
                          </m:e>
                          <m:sub>
                            <m:r>
                              <m:rPr>
                                <m:sty m:val="p"/>
                              </m:rPr>
                              <a:rPr lang="en-US" sz="2400" i="1">
                                <a:solidFill>
                                  <a:srgbClr val="FF0000"/>
                                </a:solidFill>
                                <a:latin typeface="Cambria Math" panose="02040503050406030204" pitchFamily="18" charset="0"/>
                              </a:rPr>
                              <m:t>Δ</m:t>
                            </m:r>
                          </m:sub>
                        </m:s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e>
                    </m:func>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𝛿</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oMath>
                </a14:m>
                <a:endPar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endParaRPr>
              </a:p>
            </p:txBody>
          </p:sp>
        </mc:Choice>
        <mc:Fallback xmlns="">
          <p:sp>
            <p:nvSpPr>
              <p:cNvPr id="22552" name="Text Box 22">
                <a:extLst>
                  <a:ext uri="{FF2B5EF4-FFF2-40B4-BE49-F238E27FC236}">
                    <a16:creationId xmlns:a16="http://schemas.microsoft.com/office/drawing/2014/main" id="{02E1DCD2-0B02-4D78-85C8-1B72820E57E2}"/>
                  </a:ext>
                </a:extLst>
              </p:cNvPr>
              <p:cNvSpPr txBox="1">
                <a:spLocks noRot="1" noChangeAspect="1" noMove="1" noResize="1" noEditPoints="1" noAdjustHandles="1" noChangeArrowheads="1" noChangeShapeType="1" noTextEdit="1"/>
              </p:cNvSpPr>
              <p:nvPr/>
            </p:nvSpPr>
            <p:spPr bwMode="auto">
              <a:xfrm>
                <a:off x="646665" y="4439749"/>
                <a:ext cx="3295839" cy="573427"/>
              </a:xfrm>
              <a:prstGeom prst="rect">
                <a:avLst/>
              </a:prstGeom>
              <a:blipFill>
                <a:blip r:embed="rId8"/>
                <a:stretch>
                  <a:fillRect l="-2773" t="-6383" r="-739" b="-638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35" name="Object 10">
                <a:extLst>
                  <a:ext uri="{FF2B5EF4-FFF2-40B4-BE49-F238E27FC236}">
                    <a16:creationId xmlns:a16="http://schemas.microsoft.com/office/drawing/2014/main" id="{D110799B-F8D7-41DE-B531-17AB5EC18CFC}"/>
                  </a:ext>
                </a:extLst>
              </p:cNvPr>
              <p:cNvSpPr txBox="1"/>
              <p:nvPr/>
            </p:nvSpPr>
            <p:spPr bwMode="auto">
              <a:xfrm>
                <a:off x="821535" y="3359320"/>
                <a:ext cx="2241549" cy="9191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𝛿</m:t>
                          </m:r>
                        </m:e>
                        <m:sub>
                          <m:r>
                            <m:rPr>
                              <m:sty m:val="p"/>
                            </m:rPr>
                            <a:rPr lang="en-US" sz="2400" i="1">
                              <a:solidFill>
                                <a:srgbClr val="FF0000"/>
                              </a:solidFill>
                              <a:latin typeface="Cambria Math" panose="02040503050406030204" pitchFamily="18" charset="0"/>
                            </a:rPr>
                            <m:t>Δ</m:t>
                          </m:r>
                        </m:sub>
                      </m:s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r>
                            <m:rPr>
                              <m:sty m:val="p"/>
                            </m:rPr>
                            <a:rPr lang="en-US" sz="2400" i="0">
                              <a:solidFill>
                                <a:srgbClr val="FF0000"/>
                              </a:solidFill>
                              <a:latin typeface="Cambria Math" panose="02040503050406030204" pitchFamily="18" charset="0"/>
                            </a:rPr>
                            <m:t>d</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𝑢</m:t>
                              </m:r>
                            </m:e>
                            <m:sub>
                              <m:r>
                                <m:rPr>
                                  <m:sty m:val="p"/>
                                </m:rPr>
                                <a:rPr lang="en-US" sz="2400" i="1">
                                  <a:solidFill>
                                    <a:srgbClr val="FF0000"/>
                                  </a:solidFill>
                                  <a:latin typeface="Cambria Math" panose="02040503050406030204" pitchFamily="18" charset="0"/>
                                </a:rPr>
                                <m:t>Δ</m:t>
                              </m:r>
                            </m:sub>
                          </m:s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num>
                        <m:den>
                          <m:r>
                            <m:rPr>
                              <m:sty m:val="p"/>
                            </m:rPr>
                            <a:rPr lang="en-US" sz="2400" i="0">
                              <a:solidFill>
                                <a:srgbClr val="FF0000"/>
                              </a:solidFill>
                              <a:latin typeface="Cambria Math" panose="02040503050406030204" pitchFamily="18" charset="0"/>
                            </a:rPr>
                            <m:t>d</m:t>
                          </m:r>
                          <m:r>
                            <a:rPr lang="en-US" sz="2400" i="1">
                              <a:solidFill>
                                <a:srgbClr val="FF0000"/>
                              </a:solidFill>
                              <a:latin typeface="Cambria Math" panose="02040503050406030204" pitchFamily="18" charset="0"/>
                            </a:rPr>
                            <m:t>𝑡</m:t>
                          </m:r>
                        </m:den>
                      </m:f>
                    </m:oMath>
                  </m:oMathPara>
                </a14:m>
                <a:endParaRPr lang="en-US" sz="2400" dirty="0"/>
              </a:p>
            </p:txBody>
          </p:sp>
        </mc:Choice>
        <mc:Fallback xmlns="">
          <p:sp>
            <p:nvSpPr>
              <p:cNvPr id="22535" name="Object 10">
                <a:extLst>
                  <a:ext uri="{FF2B5EF4-FFF2-40B4-BE49-F238E27FC236}">
                    <a16:creationId xmlns:a16="http://schemas.microsoft.com/office/drawing/2014/main" id="{D110799B-F8D7-41DE-B531-17AB5EC18CFC}"/>
                  </a:ext>
                </a:extLst>
              </p:cNvPr>
              <p:cNvSpPr txBox="1">
                <a:spLocks noRot="1" noChangeAspect="1" noMove="1" noResize="1" noEditPoints="1" noAdjustHandles="1" noChangeArrowheads="1" noChangeShapeType="1" noTextEdit="1"/>
              </p:cNvSpPr>
              <p:nvPr/>
            </p:nvSpPr>
            <p:spPr bwMode="auto">
              <a:xfrm>
                <a:off x="821535" y="3359320"/>
                <a:ext cx="2241549" cy="919162"/>
              </a:xfrm>
              <a:prstGeom prst="rect">
                <a:avLst/>
              </a:prstGeom>
              <a:blipFill>
                <a:blip r:embed="rId9"/>
                <a:stretch>
                  <a:fillRect/>
                </a:stretch>
              </a:blipFill>
              <a:ln>
                <a:noFill/>
              </a:ln>
              <a:effectLst/>
            </p:spPr>
            <p:txBody>
              <a:bodyPr/>
              <a:lstStyle/>
              <a:p>
                <a:r>
                  <a:rPr lang="en-US">
                    <a:noFill/>
                  </a:rPr>
                  <a:t> </a:t>
                </a:r>
              </a:p>
            </p:txBody>
          </p:sp>
        </mc:Fallback>
      </mc:AlternateContent>
      <p:grpSp>
        <p:nvGrpSpPr>
          <p:cNvPr id="22553" name="Group 24">
            <a:extLst>
              <a:ext uri="{FF2B5EF4-FFF2-40B4-BE49-F238E27FC236}">
                <a16:creationId xmlns:a16="http://schemas.microsoft.com/office/drawing/2014/main" id="{BE60B1FD-4A06-4805-BF28-EC820381C100}"/>
              </a:ext>
            </a:extLst>
          </p:cNvPr>
          <p:cNvGrpSpPr>
            <a:grpSpLocks/>
          </p:cNvGrpSpPr>
          <p:nvPr/>
        </p:nvGrpSpPr>
        <p:grpSpPr bwMode="auto">
          <a:xfrm>
            <a:off x="4878380" y="3444280"/>
            <a:ext cx="3286516" cy="1712912"/>
            <a:chOff x="2085" y="1970"/>
            <a:chExt cx="1530" cy="1079"/>
          </a:xfrm>
        </p:grpSpPr>
        <mc:AlternateContent xmlns:mc="http://schemas.openxmlformats.org/markup-compatibility/2006" xmlns:a14="http://schemas.microsoft.com/office/drawing/2010/main">
          <mc:Choice Requires="a14">
            <p:sp>
              <p:nvSpPr>
                <p:cNvPr id="22539" name="Object 11">
                  <a:extLst>
                    <a:ext uri="{FF2B5EF4-FFF2-40B4-BE49-F238E27FC236}">
                      <a16:creationId xmlns:a16="http://schemas.microsoft.com/office/drawing/2014/main" id="{3676586F-851E-4E12-975A-51B659F1511A}"/>
                    </a:ext>
                  </a:extLst>
                </p:cNvPr>
                <p:cNvSpPr txBox="1"/>
                <p:nvPr/>
              </p:nvSpPr>
              <p:spPr bwMode="auto">
                <a:xfrm>
                  <a:off x="2536" y="1970"/>
                  <a:ext cx="412" cy="3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𝛿</m:t>
                            </m:r>
                          </m:e>
                          <m:sub>
                            <m:r>
                              <m:rPr>
                                <m:sty m:val="p"/>
                              </m:rPr>
                              <a:rPr lang="en-US" sz="2400" i="1">
                                <a:solidFill>
                                  <a:srgbClr val="000000"/>
                                </a:solidFill>
                                <a:latin typeface="Cambria Math" panose="02040503050406030204" pitchFamily="18" charset="0"/>
                              </a:rPr>
                              <m:t>Δ</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2539" name="Object 11">
                  <a:extLst>
                    <a:ext uri="{FF2B5EF4-FFF2-40B4-BE49-F238E27FC236}">
                      <a16:creationId xmlns:a16="http://schemas.microsoft.com/office/drawing/2014/main" id="{3676586F-851E-4E12-975A-51B659F1511A}"/>
                    </a:ext>
                  </a:extLst>
                </p:cNvPr>
                <p:cNvSpPr txBox="1">
                  <a:spLocks noRot="1" noChangeAspect="1" noMove="1" noResize="1" noEditPoints="1" noAdjustHandles="1" noChangeArrowheads="1" noChangeShapeType="1" noTextEdit="1"/>
                </p:cNvSpPr>
                <p:nvPr/>
              </p:nvSpPr>
              <p:spPr bwMode="auto">
                <a:xfrm>
                  <a:off x="2536" y="1970"/>
                  <a:ext cx="412" cy="312"/>
                </a:xfrm>
                <a:prstGeom prst="rect">
                  <a:avLst/>
                </a:prstGeom>
                <a:blipFill>
                  <a:blip r:embed="rId10"/>
                  <a:stretch>
                    <a:fillRect l="-2069" r="-6207" b="-12346"/>
                  </a:stretch>
                </a:blipFill>
                <a:ln>
                  <a:noFill/>
                </a:ln>
                <a:effectLst/>
              </p:spPr>
              <p:txBody>
                <a:bodyPr/>
                <a:lstStyle/>
                <a:p>
                  <a:r>
                    <a:rPr lang="en-US">
                      <a:noFill/>
                    </a:rPr>
                    <a:t> </a:t>
                  </a:r>
                </a:p>
              </p:txBody>
            </p:sp>
          </mc:Fallback>
        </mc:AlternateContent>
        <p:sp>
          <p:nvSpPr>
            <p:cNvPr id="22558" name="Line 26">
              <a:extLst>
                <a:ext uri="{FF2B5EF4-FFF2-40B4-BE49-F238E27FC236}">
                  <a16:creationId xmlns:a16="http://schemas.microsoft.com/office/drawing/2014/main" id="{98400033-0575-4984-810A-CB6C1A8FC9FC}"/>
                </a:ext>
              </a:extLst>
            </p:cNvPr>
            <p:cNvSpPr>
              <a:spLocks noChangeShapeType="1"/>
            </p:cNvSpPr>
            <p:nvPr/>
          </p:nvSpPr>
          <p:spPr bwMode="auto">
            <a:xfrm>
              <a:off x="2085" y="2758"/>
              <a:ext cx="14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59" name="Line 27">
              <a:extLst>
                <a:ext uri="{FF2B5EF4-FFF2-40B4-BE49-F238E27FC236}">
                  <a16:creationId xmlns:a16="http://schemas.microsoft.com/office/drawing/2014/main" id="{733D63EF-6957-459F-9344-CBB5FAAC8215}"/>
                </a:ext>
              </a:extLst>
            </p:cNvPr>
            <p:cNvSpPr>
              <a:spLocks noChangeShapeType="1"/>
            </p:cNvSpPr>
            <p:nvPr/>
          </p:nvSpPr>
          <p:spPr bwMode="auto">
            <a:xfrm flipV="1">
              <a:off x="2519" y="2107"/>
              <a:ext cx="0" cy="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60" name="Line 28">
              <a:extLst>
                <a:ext uri="{FF2B5EF4-FFF2-40B4-BE49-F238E27FC236}">
                  <a16:creationId xmlns:a16="http://schemas.microsoft.com/office/drawing/2014/main" id="{DEA29F6F-23F4-41C3-89F1-1876E40F0247}"/>
                </a:ext>
              </a:extLst>
            </p:cNvPr>
            <p:cNvSpPr>
              <a:spLocks noChangeShapeType="1"/>
            </p:cNvSpPr>
            <p:nvPr/>
          </p:nvSpPr>
          <p:spPr bwMode="auto">
            <a:xfrm>
              <a:off x="2519" y="2368"/>
              <a:ext cx="2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61" name="Line 29">
              <a:extLst>
                <a:ext uri="{FF2B5EF4-FFF2-40B4-BE49-F238E27FC236}">
                  <a16:creationId xmlns:a16="http://schemas.microsoft.com/office/drawing/2014/main" id="{46723E7D-F2E7-4615-B093-F27CF2B0FD5E}"/>
                </a:ext>
              </a:extLst>
            </p:cNvPr>
            <p:cNvSpPr>
              <a:spLocks noChangeShapeType="1"/>
            </p:cNvSpPr>
            <p:nvPr/>
          </p:nvSpPr>
          <p:spPr bwMode="auto">
            <a:xfrm>
              <a:off x="2736" y="2368"/>
              <a:ext cx="0" cy="39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2562" name="Text Box 30">
              <a:extLst>
                <a:ext uri="{FF2B5EF4-FFF2-40B4-BE49-F238E27FC236}">
                  <a16:creationId xmlns:a16="http://schemas.microsoft.com/office/drawing/2014/main" id="{44B82F31-F7AE-4D33-9A7D-E4CED23888A6}"/>
                </a:ext>
              </a:extLst>
            </p:cNvPr>
            <p:cNvSpPr txBox="1">
              <a:spLocks noChangeArrowheads="1"/>
            </p:cNvSpPr>
            <p:nvPr/>
          </p:nvSpPr>
          <p:spPr bwMode="auto">
            <a:xfrm>
              <a:off x="2350" y="2713"/>
              <a:ext cx="1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effectLst/>
                  <a:uLnTx/>
                  <a:uFillTx/>
                  <a:latin typeface="Times New Roman" panose="02020603050405020304" pitchFamily="18" charset="0"/>
                  <a:ea typeface="楷体" panose="02010609060101010101" pitchFamily="49" charset="-122"/>
                  <a:cs typeface="+mn-cs"/>
                </a:rPr>
                <a:t>0</a:t>
              </a:r>
            </a:p>
          </p:txBody>
        </p:sp>
        <mc:AlternateContent xmlns:mc="http://schemas.openxmlformats.org/markup-compatibility/2006" xmlns:a14="http://schemas.microsoft.com/office/drawing/2010/main">
          <mc:Choice Requires="a14">
            <p:sp>
              <p:nvSpPr>
                <p:cNvPr id="22540" name="Object 12">
                  <a:extLst>
                    <a:ext uri="{FF2B5EF4-FFF2-40B4-BE49-F238E27FC236}">
                      <a16:creationId xmlns:a16="http://schemas.microsoft.com/office/drawing/2014/main" id="{083F9F89-9235-4050-9E31-DBCCE79F1C3E}"/>
                    </a:ext>
                  </a:extLst>
                </p:cNvPr>
                <p:cNvSpPr txBox="1"/>
                <p:nvPr/>
              </p:nvSpPr>
              <p:spPr bwMode="auto">
                <a:xfrm>
                  <a:off x="2355" y="2090"/>
                  <a:ext cx="157" cy="51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m:rPr>
                                <m:sty m:val="p"/>
                              </m:rPr>
                              <a:rPr lang="en-US" sz="2400" i="1">
                                <a:solidFill>
                                  <a:srgbClr val="000000"/>
                                </a:solidFill>
                                <a:latin typeface="Cambria Math" panose="02040503050406030204" pitchFamily="18" charset="0"/>
                              </a:rPr>
                              <m:t>Δ</m:t>
                            </m:r>
                          </m:den>
                        </m:f>
                      </m:oMath>
                    </m:oMathPara>
                  </a14:m>
                  <a:endParaRPr lang="en-US" sz="2400" dirty="0"/>
                </a:p>
              </p:txBody>
            </p:sp>
          </mc:Choice>
          <mc:Fallback xmlns="">
            <p:sp>
              <p:nvSpPr>
                <p:cNvPr id="22540" name="Object 12">
                  <a:extLst>
                    <a:ext uri="{FF2B5EF4-FFF2-40B4-BE49-F238E27FC236}">
                      <a16:creationId xmlns:a16="http://schemas.microsoft.com/office/drawing/2014/main" id="{083F9F89-9235-4050-9E31-DBCCE79F1C3E}"/>
                    </a:ext>
                  </a:extLst>
                </p:cNvPr>
                <p:cNvSpPr txBox="1">
                  <a:spLocks noRot="1" noChangeAspect="1" noMove="1" noResize="1" noEditPoints="1" noAdjustHandles="1" noChangeArrowheads="1" noChangeShapeType="1" noTextEdit="1"/>
                </p:cNvSpPr>
                <p:nvPr/>
              </p:nvSpPr>
              <p:spPr bwMode="auto">
                <a:xfrm>
                  <a:off x="2355" y="2090"/>
                  <a:ext cx="157" cy="517"/>
                </a:xfrm>
                <a:prstGeom prst="rect">
                  <a:avLst/>
                </a:prstGeom>
                <a:blipFill>
                  <a:blip r:embed="rId11"/>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41" name="Object 13">
                  <a:extLst>
                    <a:ext uri="{FF2B5EF4-FFF2-40B4-BE49-F238E27FC236}">
                      <a16:creationId xmlns:a16="http://schemas.microsoft.com/office/drawing/2014/main" id="{B91425F6-0347-4DEB-9C43-ADC7D26DE58A}"/>
                    </a:ext>
                  </a:extLst>
                </p:cNvPr>
                <p:cNvSpPr txBox="1"/>
                <p:nvPr/>
              </p:nvSpPr>
              <p:spPr bwMode="auto">
                <a:xfrm>
                  <a:off x="2649" y="2758"/>
                  <a:ext cx="167" cy="29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lang="en-US" sz="2400" i="1">
                            <a:solidFill>
                              <a:srgbClr val="000000"/>
                            </a:solidFill>
                            <a:latin typeface="Cambria Math" panose="02040503050406030204" pitchFamily="18" charset="0"/>
                          </a:rPr>
                          <m:t>Δ</m:t>
                        </m:r>
                      </m:oMath>
                    </m:oMathPara>
                  </a14:m>
                  <a:endParaRPr lang="en-US" sz="2400" dirty="0"/>
                </a:p>
              </p:txBody>
            </p:sp>
          </mc:Choice>
          <mc:Fallback xmlns="">
            <p:sp>
              <p:nvSpPr>
                <p:cNvPr id="22541" name="Object 13">
                  <a:extLst>
                    <a:ext uri="{FF2B5EF4-FFF2-40B4-BE49-F238E27FC236}">
                      <a16:creationId xmlns:a16="http://schemas.microsoft.com/office/drawing/2014/main" id="{B91425F6-0347-4DEB-9C43-ADC7D26DE58A}"/>
                    </a:ext>
                  </a:extLst>
                </p:cNvPr>
                <p:cNvSpPr txBox="1">
                  <a:spLocks noRot="1" noChangeAspect="1" noMove="1" noResize="1" noEditPoints="1" noAdjustHandles="1" noChangeArrowheads="1" noChangeShapeType="1" noTextEdit="1"/>
                </p:cNvSpPr>
                <p:nvPr/>
              </p:nvSpPr>
              <p:spPr bwMode="auto">
                <a:xfrm>
                  <a:off x="2649" y="2758"/>
                  <a:ext cx="167" cy="291"/>
                </a:xfrm>
                <a:prstGeom prst="rect">
                  <a:avLst/>
                </a:prstGeom>
                <a:blipFill>
                  <a:blip r:embed="rId12"/>
                  <a:stretch>
                    <a:fillRect l="-5085" r="-508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42" name="Object 14">
                  <a:extLst>
                    <a:ext uri="{FF2B5EF4-FFF2-40B4-BE49-F238E27FC236}">
                      <a16:creationId xmlns:a16="http://schemas.microsoft.com/office/drawing/2014/main" id="{20C17B3B-B69A-4F0C-832C-5273CCC52B31}"/>
                    </a:ext>
                  </a:extLst>
                </p:cNvPr>
                <p:cNvSpPr txBox="1"/>
                <p:nvPr/>
              </p:nvSpPr>
              <p:spPr bwMode="auto">
                <a:xfrm>
                  <a:off x="3487" y="2734"/>
                  <a:ext cx="128" cy="29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𝑡</m:t>
                        </m:r>
                      </m:oMath>
                    </m:oMathPara>
                  </a14:m>
                  <a:endParaRPr lang="en-US" sz="2400" dirty="0"/>
                </a:p>
              </p:txBody>
            </p:sp>
          </mc:Choice>
          <mc:Fallback xmlns="">
            <p:sp>
              <p:nvSpPr>
                <p:cNvPr id="22542" name="Object 14">
                  <a:extLst>
                    <a:ext uri="{FF2B5EF4-FFF2-40B4-BE49-F238E27FC236}">
                      <a16:creationId xmlns:a16="http://schemas.microsoft.com/office/drawing/2014/main" id="{20C17B3B-B69A-4F0C-832C-5273CCC52B31}"/>
                    </a:ext>
                  </a:extLst>
                </p:cNvPr>
                <p:cNvSpPr txBox="1">
                  <a:spLocks noRot="1" noChangeAspect="1" noMove="1" noResize="1" noEditPoints="1" noAdjustHandles="1" noChangeArrowheads="1" noChangeShapeType="1" noTextEdit="1"/>
                </p:cNvSpPr>
                <p:nvPr/>
              </p:nvSpPr>
              <p:spPr bwMode="auto">
                <a:xfrm>
                  <a:off x="3487" y="2734"/>
                  <a:ext cx="128" cy="291"/>
                </a:xfrm>
                <a:prstGeom prst="rect">
                  <a:avLst/>
                </a:prstGeom>
                <a:blipFill>
                  <a:blip r:embed="rId13"/>
                  <a:stretch>
                    <a:fillRect r="-13333"/>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C69207B4-2ADC-41A4-B7E6-5E89AF033A40}"/>
                  </a:ext>
                </a:extLst>
              </p:cNvPr>
              <p:cNvSpPr txBox="1"/>
              <p:nvPr/>
            </p:nvSpPr>
            <p:spPr>
              <a:xfrm>
                <a:off x="851076" y="2607966"/>
                <a:ext cx="2007835" cy="461665"/>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b="0" i="1">
                              <a:solidFill>
                                <a:srgbClr val="FF0000"/>
                              </a:solidFill>
                              <a:latin typeface="Cambria Math" panose="02040503050406030204" pitchFamily="18" charset="0"/>
                            </a:rPr>
                            <m:t>𝑢</m:t>
                          </m:r>
                        </m:e>
                        <m:sub>
                          <m:r>
                            <m:rPr>
                              <m:sty m:val="p"/>
                            </m:rPr>
                            <a:rPr lang="en-US" sz="2400" b="0" i="0">
                              <a:solidFill>
                                <a:srgbClr val="FF0000"/>
                              </a:solidFill>
                              <a:latin typeface="Cambria Math" panose="02040503050406030204" pitchFamily="18" charset="0"/>
                            </a:rPr>
                            <m:t>Δ</m:t>
                          </m:r>
                        </m:sub>
                      </m:sSub>
                      <m:r>
                        <a:rPr lang="en-US" sz="2400" b="0" i="1">
                          <a:solidFill>
                            <a:srgbClr val="FF0000"/>
                          </a:solidFill>
                          <a:latin typeface="Cambria Math" panose="02040503050406030204" pitchFamily="18" charset="0"/>
                        </a:rPr>
                        <m:t>(</m:t>
                      </m:r>
                      <m:r>
                        <a:rPr lang="en-US" sz="2400" b="0" i="1">
                          <a:solidFill>
                            <a:srgbClr val="FF0000"/>
                          </a:solidFill>
                          <a:latin typeface="Cambria Math" panose="02040503050406030204" pitchFamily="18" charset="0"/>
                        </a:rPr>
                        <m:t>𝑡</m:t>
                      </m:r>
                      <m:r>
                        <a:rPr lang="en-US" sz="2400" b="0" i="1">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𝑢</m:t>
                      </m:r>
                      <m:r>
                        <a:rPr lang="en-US" sz="2400" b="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𝑡</m:t>
                      </m:r>
                      <m:r>
                        <a:rPr lang="en-US" sz="2400" b="0" i="1" smtClean="0">
                          <a:solidFill>
                            <a:srgbClr val="FF0000"/>
                          </a:solidFill>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4" name="文本框 53">
                <a:extLst>
                  <a:ext uri="{FF2B5EF4-FFF2-40B4-BE49-F238E27FC236}">
                    <a16:creationId xmlns:a16="http://schemas.microsoft.com/office/drawing/2014/main" id="{C69207B4-2ADC-41A4-B7E6-5E89AF033A40}"/>
                  </a:ext>
                </a:extLst>
              </p:cNvPr>
              <p:cNvSpPr txBox="1">
                <a:spLocks noRot="1" noChangeAspect="1" noMove="1" noResize="1" noEditPoints="1" noAdjustHandles="1" noChangeArrowheads="1" noChangeShapeType="1" noTextEdit="1"/>
              </p:cNvSpPr>
              <p:nvPr/>
            </p:nvSpPr>
            <p:spPr>
              <a:xfrm>
                <a:off x="851076" y="2607966"/>
                <a:ext cx="2007835" cy="461665"/>
              </a:xfrm>
              <a:prstGeom prst="rect">
                <a:avLst/>
              </a:prstGeom>
              <a:blipFill>
                <a:blip r:embed="rId14"/>
                <a:stretch>
                  <a:fillRect r="-2128" b="-19737"/>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2" name="标题 1">
            <a:extLst>
              <a:ext uri="{FF2B5EF4-FFF2-40B4-BE49-F238E27FC236}">
                <a16:creationId xmlns:a16="http://schemas.microsoft.com/office/drawing/2014/main" id="{5069929F-A1F2-4B18-BB03-14E73D397D23}"/>
              </a:ext>
            </a:extLst>
          </p:cNvPr>
          <p:cNvSpPr>
            <a:spLocks noGrp="1"/>
          </p:cNvSpPr>
          <p:nvPr>
            <p:ph type="title"/>
          </p:nvPr>
        </p:nvSpPr>
        <p:spPr/>
        <p:txBody>
          <a:bodyPr/>
          <a:lstStyle/>
          <a:p>
            <a:pPr eaLnBrk="1" hangingPunct="1"/>
            <a:r>
              <a:rPr lang="en-US" altLang="zh-CN"/>
              <a:t>1.4  </a:t>
            </a:r>
            <a:r>
              <a:rPr lang="zh-CN" altLang="en-US"/>
              <a:t>单位冲激与单位阶跃函数</a:t>
            </a:r>
          </a:p>
        </p:txBody>
      </p:sp>
      <p:sp>
        <p:nvSpPr>
          <p:cNvPr id="4" name="灯片编号占位符 3">
            <a:extLst>
              <a:ext uri="{FF2B5EF4-FFF2-40B4-BE49-F238E27FC236}">
                <a16:creationId xmlns:a16="http://schemas.microsoft.com/office/drawing/2014/main" id="{6E2F2774-59C4-4BDE-8518-26CDCAB3BD3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F74E7B2-0282-4011-A364-675CFFB04A56}"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3564" name="Text Box 3">
                <a:extLst>
                  <a:ext uri="{FF2B5EF4-FFF2-40B4-BE49-F238E27FC236}">
                    <a16:creationId xmlns:a16="http://schemas.microsoft.com/office/drawing/2014/main" id="{BD944884-0829-4BE0-A0F8-31D7012CA2F9}"/>
                  </a:ext>
                </a:extLst>
              </p:cNvPr>
              <p:cNvSpPr txBox="1">
                <a:spLocks noChangeArrowheads="1"/>
              </p:cNvSpPr>
              <p:nvPr/>
            </p:nvSpPr>
            <p:spPr bwMode="auto">
              <a:xfrm>
                <a:off x="807062" y="1354465"/>
                <a:ext cx="1916294"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14:m>
                  <m:oMath xmlns:m="http://schemas.openxmlformats.org/officeDocument/2006/math">
                    <m:r>
                      <a:rPr lang="en-US" sz="2800" b="0" i="1" smtClean="0">
                        <a:solidFill>
                          <a:schemeClr val="tx1"/>
                        </a:solidFill>
                        <a:latin typeface="Cambria Math" panose="02040503050406030204" pitchFamily="18" charset="0"/>
                      </a:rPr>
                      <m:t>𝛿</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𝑡</m:t>
                    </m:r>
                    <m:r>
                      <a:rPr lang="en-US" sz="2800" b="0" i="1" smtClean="0">
                        <a:solidFill>
                          <a:schemeClr val="tx1"/>
                        </a:solidFill>
                        <a:latin typeface="Cambria Math" panose="02040503050406030204" pitchFamily="18" charset="0"/>
                      </a:rPr>
                      <m:t>)</m:t>
                    </m:r>
                  </m:oMath>
                </a14:m>
                <a:r>
                  <a:rPr kumimoji="0" lang="zh-CN" altLang="en-US"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rPr>
                  <a:t>表示为</a:t>
                </a:r>
              </a:p>
            </p:txBody>
          </p:sp>
        </mc:Choice>
        <mc:Fallback xmlns="">
          <p:sp>
            <p:nvSpPr>
              <p:cNvPr id="23564" name="Text Box 3">
                <a:extLst>
                  <a:ext uri="{FF2B5EF4-FFF2-40B4-BE49-F238E27FC236}">
                    <a16:creationId xmlns:a16="http://schemas.microsoft.com/office/drawing/2014/main" id="{BD944884-0829-4BE0-A0F8-31D7012CA2F9}"/>
                  </a:ext>
                </a:extLst>
              </p:cNvPr>
              <p:cNvSpPr txBox="1">
                <a:spLocks noRot="1" noChangeAspect="1" noMove="1" noResize="1" noEditPoints="1" noAdjustHandles="1" noChangeArrowheads="1" noChangeShapeType="1" noTextEdit="1"/>
              </p:cNvSpPr>
              <p:nvPr/>
            </p:nvSpPr>
            <p:spPr bwMode="auto">
              <a:xfrm>
                <a:off x="807062" y="1354465"/>
                <a:ext cx="1916294" cy="523220"/>
              </a:xfrm>
              <a:prstGeom prst="rect">
                <a:avLst/>
              </a:prstGeom>
              <a:blipFill>
                <a:blip r:embed="rId2"/>
                <a:stretch>
                  <a:fillRect t="-11628" r="-5079"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23565" name="Group 4">
            <a:extLst>
              <a:ext uri="{FF2B5EF4-FFF2-40B4-BE49-F238E27FC236}">
                <a16:creationId xmlns:a16="http://schemas.microsoft.com/office/drawing/2014/main" id="{5C5D655A-AA78-4EEC-9BE3-D049C0090927}"/>
              </a:ext>
            </a:extLst>
          </p:cNvPr>
          <p:cNvGrpSpPr>
            <a:grpSpLocks/>
          </p:cNvGrpSpPr>
          <p:nvPr/>
        </p:nvGrpSpPr>
        <p:grpSpPr bwMode="auto">
          <a:xfrm>
            <a:off x="2824163" y="1468438"/>
            <a:ext cx="2640012" cy="1847852"/>
            <a:chOff x="1944" y="613"/>
            <a:chExt cx="1663" cy="1164"/>
          </a:xfrm>
        </p:grpSpPr>
        <p:sp>
          <p:nvSpPr>
            <p:cNvPr id="23574" name="Line 5">
              <a:extLst>
                <a:ext uri="{FF2B5EF4-FFF2-40B4-BE49-F238E27FC236}">
                  <a16:creationId xmlns:a16="http://schemas.microsoft.com/office/drawing/2014/main" id="{7ADD43C8-8E5C-43D8-BBAE-5338F9BE7C57}"/>
                </a:ext>
              </a:extLst>
            </p:cNvPr>
            <p:cNvSpPr>
              <a:spLocks noChangeShapeType="1"/>
            </p:cNvSpPr>
            <p:nvPr/>
          </p:nvSpPr>
          <p:spPr bwMode="auto">
            <a:xfrm>
              <a:off x="1944" y="1485"/>
              <a:ext cx="149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3575" name="Line 6">
              <a:extLst>
                <a:ext uri="{FF2B5EF4-FFF2-40B4-BE49-F238E27FC236}">
                  <a16:creationId xmlns:a16="http://schemas.microsoft.com/office/drawing/2014/main" id="{0CFB44CF-1370-4F01-A95D-ABB33FF22C6F}"/>
                </a:ext>
              </a:extLst>
            </p:cNvPr>
            <p:cNvSpPr>
              <a:spLocks noChangeShapeType="1"/>
            </p:cNvSpPr>
            <p:nvPr/>
          </p:nvSpPr>
          <p:spPr bwMode="auto">
            <a:xfrm flipV="1">
              <a:off x="2625" y="759"/>
              <a:ext cx="0" cy="95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3576" name="Line 7">
              <a:extLst>
                <a:ext uri="{FF2B5EF4-FFF2-40B4-BE49-F238E27FC236}">
                  <a16:creationId xmlns:a16="http://schemas.microsoft.com/office/drawing/2014/main" id="{29B117D0-8DF0-407D-880E-D1918B2D2F4D}"/>
                </a:ext>
              </a:extLst>
            </p:cNvPr>
            <p:cNvSpPr>
              <a:spLocks noChangeShapeType="1"/>
            </p:cNvSpPr>
            <p:nvPr/>
          </p:nvSpPr>
          <p:spPr bwMode="auto">
            <a:xfrm flipV="1">
              <a:off x="2625" y="1032"/>
              <a:ext cx="0" cy="45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3577" name="Text Box 8">
              <a:extLst>
                <a:ext uri="{FF2B5EF4-FFF2-40B4-BE49-F238E27FC236}">
                  <a16:creationId xmlns:a16="http://schemas.microsoft.com/office/drawing/2014/main" id="{02E7FF57-9D15-4708-BBC7-FCD1744513FD}"/>
                </a:ext>
              </a:extLst>
            </p:cNvPr>
            <p:cNvSpPr txBox="1">
              <a:spLocks noChangeArrowheads="1"/>
            </p:cNvSpPr>
            <p:nvPr/>
          </p:nvSpPr>
          <p:spPr bwMode="auto">
            <a:xfrm>
              <a:off x="2625" y="986"/>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楷体" panose="02010609060101010101" pitchFamily="49" charset="-122"/>
                  <a:cs typeface="+mn-cs"/>
                </a:rPr>
                <a:t>1</a:t>
              </a:r>
            </a:p>
          </p:txBody>
        </p:sp>
        <p:sp>
          <p:nvSpPr>
            <p:cNvPr id="23578" name="Text Box 9">
              <a:extLst>
                <a:ext uri="{FF2B5EF4-FFF2-40B4-BE49-F238E27FC236}">
                  <a16:creationId xmlns:a16="http://schemas.microsoft.com/office/drawing/2014/main" id="{DD2CE5BC-B8C8-4238-8F94-4BACF1842BEE}"/>
                </a:ext>
              </a:extLst>
            </p:cNvPr>
            <p:cNvSpPr txBox="1">
              <a:spLocks noChangeArrowheads="1"/>
            </p:cNvSpPr>
            <p:nvPr/>
          </p:nvSpPr>
          <p:spPr bwMode="auto">
            <a:xfrm>
              <a:off x="2434" y="1440"/>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楷体" panose="02010609060101010101" pitchFamily="49" charset="-122"/>
                  <a:cs typeface="+mn-cs"/>
                </a:rPr>
                <a:t>0</a:t>
              </a:r>
            </a:p>
          </p:txBody>
        </p:sp>
        <mc:AlternateContent xmlns:mc="http://schemas.openxmlformats.org/markup-compatibility/2006" xmlns:a14="http://schemas.microsoft.com/office/drawing/2010/main">
          <mc:Choice Requires="a14">
            <p:sp>
              <p:nvSpPr>
                <p:cNvPr id="23560" name="Object 3">
                  <a:extLst>
                    <a:ext uri="{FF2B5EF4-FFF2-40B4-BE49-F238E27FC236}">
                      <a16:creationId xmlns:a16="http://schemas.microsoft.com/office/drawing/2014/main" id="{4B43A1F1-91B0-484D-865C-24DB7E460CBD}"/>
                    </a:ext>
                  </a:extLst>
                </p:cNvPr>
                <p:cNvSpPr txBox="1"/>
                <p:nvPr/>
              </p:nvSpPr>
              <p:spPr bwMode="auto">
                <a:xfrm>
                  <a:off x="2625" y="613"/>
                  <a:ext cx="569" cy="330"/>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dirty="0"/>
                </a:p>
              </p:txBody>
            </p:sp>
          </mc:Choice>
          <mc:Fallback xmlns="">
            <p:sp>
              <p:nvSpPr>
                <p:cNvPr id="23560" name="Object 3">
                  <a:extLst>
                    <a:ext uri="{FF2B5EF4-FFF2-40B4-BE49-F238E27FC236}">
                      <a16:creationId xmlns:a16="http://schemas.microsoft.com/office/drawing/2014/main" id="{4B43A1F1-91B0-484D-865C-24DB7E460CBD}"/>
                    </a:ext>
                  </a:extLst>
                </p:cNvPr>
                <p:cNvSpPr txBox="1">
                  <a:spLocks noRot="1" noChangeAspect="1" noMove="1" noResize="1" noEditPoints="1" noAdjustHandles="1" noChangeArrowheads="1" noChangeShapeType="1" noTextEdit="1"/>
                </p:cNvSpPr>
                <p:nvPr/>
              </p:nvSpPr>
              <p:spPr bwMode="auto">
                <a:xfrm>
                  <a:off x="2625" y="613"/>
                  <a:ext cx="569" cy="33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61" name="Object 4">
                  <a:extLst>
                    <a:ext uri="{FF2B5EF4-FFF2-40B4-BE49-F238E27FC236}">
                      <a16:creationId xmlns:a16="http://schemas.microsoft.com/office/drawing/2014/main" id="{42ACB2AA-08AD-48AB-9C60-297EA4CA47C5}"/>
                    </a:ext>
                  </a:extLst>
                </p:cNvPr>
                <p:cNvSpPr txBox="1"/>
                <p:nvPr/>
              </p:nvSpPr>
              <p:spPr bwMode="auto">
                <a:xfrm>
                  <a:off x="3405" y="1447"/>
                  <a:ext cx="202" cy="33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𝑡</m:t>
                        </m:r>
                      </m:oMath>
                    </m:oMathPara>
                  </a14:m>
                  <a:endParaRPr lang="en-US" sz="2800" dirty="0"/>
                </a:p>
              </p:txBody>
            </p:sp>
          </mc:Choice>
          <mc:Fallback xmlns="">
            <p:sp>
              <p:nvSpPr>
                <p:cNvPr id="23561" name="Object 4">
                  <a:extLst>
                    <a:ext uri="{FF2B5EF4-FFF2-40B4-BE49-F238E27FC236}">
                      <a16:creationId xmlns:a16="http://schemas.microsoft.com/office/drawing/2014/main" id="{42ACB2AA-08AD-48AB-9C60-297EA4CA47C5}"/>
                    </a:ext>
                  </a:extLst>
                </p:cNvPr>
                <p:cNvSpPr txBox="1">
                  <a:spLocks noRot="1" noChangeAspect="1" noMove="1" noResize="1" noEditPoints="1" noAdjustHandles="1" noChangeArrowheads="1" noChangeShapeType="1" noTextEdit="1"/>
                </p:cNvSpPr>
                <p:nvPr/>
              </p:nvSpPr>
              <p:spPr bwMode="auto">
                <a:xfrm>
                  <a:off x="3405" y="1447"/>
                  <a:ext cx="202" cy="330"/>
                </a:xfrm>
                <a:prstGeom prst="rect">
                  <a:avLst/>
                </a:prstGeom>
                <a:blipFill>
                  <a:blip r:embed="rId4"/>
                  <a:stretch>
                    <a:fillRect/>
                  </a:stretch>
                </a:blipFill>
                <a:ln>
                  <a:noFill/>
                </a:ln>
                <a:effectLst/>
              </p:spPr>
              <p:txBody>
                <a:bodyPr/>
                <a:lstStyle/>
                <a:p>
                  <a:r>
                    <a:rPr lang="en-US">
                      <a:noFill/>
                    </a:rPr>
                    <a:t> </a:t>
                  </a:r>
                </a:p>
              </p:txBody>
            </p:sp>
          </mc:Fallback>
        </mc:AlternateContent>
      </p:grpSp>
      <p:grpSp>
        <p:nvGrpSpPr>
          <p:cNvPr id="23566" name="Group 12">
            <a:extLst>
              <a:ext uri="{FF2B5EF4-FFF2-40B4-BE49-F238E27FC236}">
                <a16:creationId xmlns:a16="http://schemas.microsoft.com/office/drawing/2014/main" id="{589FD039-7E23-48F3-BDF8-3DD063B96CCE}"/>
              </a:ext>
            </a:extLst>
          </p:cNvPr>
          <p:cNvGrpSpPr>
            <a:grpSpLocks/>
          </p:cNvGrpSpPr>
          <p:nvPr/>
        </p:nvGrpSpPr>
        <p:grpSpPr bwMode="auto">
          <a:xfrm>
            <a:off x="5764215" y="1393825"/>
            <a:ext cx="2921001" cy="1976438"/>
            <a:chOff x="3796" y="566"/>
            <a:chExt cx="1840" cy="1245"/>
          </a:xfrm>
        </p:grpSpPr>
        <p:sp>
          <p:nvSpPr>
            <p:cNvPr id="23569" name="Line 13">
              <a:extLst>
                <a:ext uri="{FF2B5EF4-FFF2-40B4-BE49-F238E27FC236}">
                  <a16:creationId xmlns:a16="http://schemas.microsoft.com/office/drawing/2014/main" id="{A853035D-F6F6-4EA1-B08F-270153EC216C}"/>
                </a:ext>
              </a:extLst>
            </p:cNvPr>
            <p:cNvSpPr>
              <a:spLocks noChangeShapeType="1"/>
            </p:cNvSpPr>
            <p:nvPr/>
          </p:nvSpPr>
          <p:spPr bwMode="auto">
            <a:xfrm>
              <a:off x="3796" y="1477"/>
              <a:ext cx="172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3570" name="Line 14">
              <a:extLst>
                <a:ext uri="{FF2B5EF4-FFF2-40B4-BE49-F238E27FC236}">
                  <a16:creationId xmlns:a16="http://schemas.microsoft.com/office/drawing/2014/main" id="{FA3E3F53-A93C-42C1-9F84-08646F9A6632}"/>
                </a:ext>
              </a:extLst>
            </p:cNvPr>
            <p:cNvSpPr>
              <a:spLocks noChangeShapeType="1"/>
            </p:cNvSpPr>
            <p:nvPr/>
          </p:nvSpPr>
          <p:spPr bwMode="auto">
            <a:xfrm flipV="1">
              <a:off x="4567" y="706"/>
              <a:ext cx="0" cy="104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3571" name="Line 15">
              <a:extLst>
                <a:ext uri="{FF2B5EF4-FFF2-40B4-BE49-F238E27FC236}">
                  <a16:creationId xmlns:a16="http://schemas.microsoft.com/office/drawing/2014/main" id="{CF13E3C2-3741-4CAB-90C9-B59884BF6ED1}"/>
                </a:ext>
              </a:extLst>
            </p:cNvPr>
            <p:cNvSpPr>
              <a:spLocks noChangeShapeType="1"/>
            </p:cNvSpPr>
            <p:nvPr/>
          </p:nvSpPr>
          <p:spPr bwMode="auto">
            <a:xfrm flipV="1">
              <a:off x="4930" y="1024"/>
              <a:ext cx="0" cy="45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3572" name="Text Box 16">
              <a:extLst>
                <a:ext uri="{FF2B5EF4-FFF2-40B4-BE49-F238E27FC236}">
                  <a16:creationId xmlns:a16="http://schemas.microsoft.com/office/drawing/2014/main" id="{4E32372E-8D12-4D37-A80E-7FDB116AA600}"/>
                </a:ext>
              </a:extLst>
            </p:cNvPr>
            <p:cNvSpPr txBox="1">
              <a:spLocks noChangeArrowheads="1"/>
            </p:cNvSpPr>
            <p:nvPr/>
          </p:nvSpPr>
          <p:spPr bwMode="auto">
            <a:xfrm>
              <a:off x="4386" y="1432"/>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楷体" panose="02010609060101010101" pitchFamily="49" charset="-122"/>
                  <a:cs typeface="+mn-cs"/>
                </a:rPr>
                <a:t>0</a:t>
              </a:r>
            </a:p>
          </p:txBody>
        </p:sp>
        <mc:AlternateContent xmlns:mc="http://schemas.openxmlformats.org/markup-compatibility/2006" xmlns:a14="http://schemas.microsoft.com/office/drawing/2010/main">
          <mc:Choice Requires="a14">
            <p:sp>
              <p:nvSpPr>
                <p:cNvPr id="23557" name="Object 5">
                  <a:extLst>
                    <a:ext uri="{FF2B5EF4-FFF2-40B4-BE49-F238E27FC236}">
                      <a16:creationId xmlns:a16="http://schemas.microsoft.com/office/drawing/2014/main" id="{8C4C9E1A-65C8-4DCB-8612-28076269F552}"/>
                    </a:ext>
                  </a:extLst>
                </p:cNvPr>
                <p:cNvSpPr txBox="1"/>
                <p:nvPr/>
              </p:nvSpPr>
              <p:spPr bwMode="auto">
                <a:xfrm>
                  <a:off x="4604" y="566"/>
                  <a:ext cx="981" cy="3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ea typeface="Cambria Math" panose="02040503050406030204" pitchFamily="18" charset="0"/>
                          </a:rPr>
                          <m:t>𝜏</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3557" name="Object 5">
                  <a:extLst>
                    <a:ext uri="{FF2B5EF4-FFF2-40B4-BE49-F238E27FC236}">
                      <a16:creationId xmlns:a16="http://schemas.microsoft.com/office/drawing/2014/main" id="{8C4C9E1A-65C8-4DCB-8612-28076269F552}"/>
                    </a:ext>
                  </a:extLst>
                </p:cNvPr>
                <p:cNvSpPr txBox="1">
                  <a:spLocks noRot="1" noChangeAspect="1" noMove="1" noResize="1" noEditPoints="1" noAdjustHandles="1" noChangeArrowheads="1" noChangeShapeType="1" noTextEdit="1"/>
                </p:cNvSpPr>
                <p:nvPr/>
              </p:nvSpPr>
              <p:spPr bwMode="auto">
                <a:xfrm>
                  <a:off x="4604" y="566"/>
                  <a:ext cx="981" cy="363"/>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58" name="Object 6">
                  <a:extLst>
                    <a:ext uri="{FF2B5EF4-FFF2-40B4-BE49-F238E27FC236}">
                      <a16:creationId xmlns:a16="http://schemas.microsoft.com/office/drawing/2014/main" id="{369BD597-4C70-4D22-A40D-DEECE1FCF61A}"/>
                    </a:ext>
                  </a:extLst>
                </p:cNvPr>
                <p:cNvSpPr txBox="1"/>
                <p:nvPr/>
              </p:nvSpPr>
              <p:spPr bwMode="auto">
                <a:xfrm>
                  <a:off x="4821" y="1448"/>
                  <a:ext cx="247" cy="3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ea typeface="Cambria Math" panose="02040503050406030204" pitchFamily="18" charset="0"/>
                          </a:rPr>
                          <m:t>𝜏</m:t>
                        </m:r>
                      </m:oMath>
                    </m:oMathPara>
                  </a14:m>
                  <a:endParaRPr lang="en-US" sz="2800" dirty="0"/>
                </a:p>
              </p:txBody>
            </p:sp>
          </mc:Choice>
          <mc:Fallback xmlns="">
            <p:sp>
              <p:nvSpPr>
                <p:cNvPr id="23558" name="Object 6">
                  <a:extLst>
                    <a:ext uri="{FF2B5EF4-FFF2-40B4-BE49-F238E27FC236}">
                      <a16:creationId xmlns:a16="http://schemas.microsoft.com/office/drawing/2014/main" id="{369BD597-4C70-4D22-A40D-DEECE1FCF61A}"/>
                    </a:ext>
                  </a:extLst>
                </p:cNvPr>
                <p:cNvSpPr txBox="1">
                  <a:spLocks noRot="1" noChangeAspect="1" noMove="1" noResize="1" noEditPoints="1" noAdjustHandles="1" noChangeArrowheads="1" noChangeShapeType="1" noTextEdit="1"/>
                </p:cNvSpPr>
                <p:nvPr/>
              </p:nvSpPr>
              <p:spPr bwMode="auto">
                <a:xfrm>
                  <a:off x="4821" y="1448"/>
                  <a:ext cx="247" cy="363"/>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59" name="Object 7">
                  <a:extLst>
                    <a:ext uri="{FF2B5EF4-FFF2-40B4-BE49-F238E27FC236}">
                      <a16:creationId xmlns:a16="http://schemas.microsoft.com/office/drawing/2014/main" id="{3E6ED947-9031-44DC-BD62-1A9DB032EAEF}"/>
                    </a:ext>
                  </a:extLst>
                </p:cNvPr>
                <p:cNvSpPr txBox="1"/>
                <p:nvPr/>
              </p:nvSpPr>
              <p:spPr bwMode="auto">
                <a:xfrm>
                  <a:off x="5425" y="1466"/>
                  <a:ext cx="211" cy="32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𝑡</m:t>
                        </m:r>
                      </m:oMath>
                    </m:oMathPara>
                  </a14:m>
                  <a:endParaRPr lang="en-US" sz="2800" dirty="0"/>
                </a:p>
              </p:txBody>
            </p:sp>
          </mc:Choice>
          <mc:Fallback xmlns="">
            <p:sp>
              <p:nvSpPr>
                <p:cNvPr id="23559" name="Object 7">
                  <a:extLst>
                    <a:ext uri="{FF2B5EF4-FFF2-40B4-BE49-F238E27FC236}">
                      <a16:creationId xmlns:a16="http://schemas.microsoft.com/office/drawing/2014/main" id="{3E6ED947-9031-44DC-BD62-1A9DB032EAEF}"/>
                    </a:ext>
                  </a:extLst>
                </p:cNvPr>
                <p:cNvSpPr txBox="1">
                  <a:spLocks noRot="1" noChangeAspect="1" noMove="1" noResize="1" noEditPoints="1" noAdjustHandles="1" noChangeArrowheads="1" noChangeShapeType="1" noTextEdit="1"/>
                </p:cNvSpPr>
                <p:nvPr/>
              </p:nvSpPr>
              <p:spPr bwMode="auto">
                <a:xfrm>
                  <a:off x="5425" y="1466"/>
                  <a:ext cx="211" cy="326"/>
                </a:xfrm>
                <a:prstGeom prst="rect">
                  <a:avLst/>
                </a:prstGeom>
                <a:blipFill>
                  <a:blip r:embed="rId7"/>
                  <a:stretch>
                    <a:fillRect/>
                  </a:stretch>
                </a:blipFill>
                <a:ln>
                  <a:noFill/>
                </a:ln>
                <a:effectLst/>
              </p:spPr>
              <p:txBody>
                <a:bodyPr/>
                <a:lstStyle/>
                <a:p>
                  <a:r>
                    <a:rPr lang="en-US">
                      <a:noFill/>
                    </a:rPr>
                    <a:t> </a:t>
                  </a:r>
                </a:p>
              </p:txBody>
            </p:sp>
          </mc:Fallback>
        </mc:AlternateContent>
        <p:sp>
          <p:nvSpPr>
            <p:cNvPr id="23573" name="Text Box 20">
              <a:extLst>
                <a:ext uri="{FF2B5EF4-FFF2-40B4-BE49-F238E27FC236}">
                  <a16:creationId xmlns:a16="http://schemas.microsoft.com/office/drawing/2014/main" id="{BB9890B7-79D2-473A-9343-CD3C1B276E61}"/>
                </a:ext>
              </a:extLst>
            </p:cNvPr>
            <p:cNvSpPr txBox="1">
              <a:spLocks noChangeArrowheads="1"/>
            </p:cNvSpPr>
            <p:nvPr/>
          </p:nvSpPr>
          <p:spPr bwMode="auto">
            <a:xfrm>
              <a:off x="4918" y="899"/>
              <a:ext cx="2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楷体" panose="02010609060101010101" pitchFamily="49" charset="-122"/>
                  <a:cs typeface="+mn-cs"/>
                </a:rPr>
                <a:t>1</a:t>
              </a:r>
            </a:p>
          </p:txBody>
        </p:sp>
      </p:grpSp>
      <p:sp>
        <p:nvSpPr>
          <p:cNvPr id="23567" name="Text Box 21">
            <a:extLst>
              <a:ext uri="{FF2B5EF4-FFF2-40B4-BE49-F238E27FC236}">
                <a16:creationId xmlns:a16="http://schemas.microsoft.com/office/drawing/2014/main" id="{209C4C1B-DE6D-4BF4-9588-250D8CAE3873}"/>
              </a:ext>
            </a:extLst>
          </p:cNvPr>
          <p:cNvSpPr txBox="1">
            <a:spLocks noChangeArrowheads="1"/>
          </p:cNvSpPr>
          <p:nvPr/>
        </p:nvSpPr>
        <p:spPr bwMode="auto">
          <a:xfrm>
            <a:off x="807062" y="3429000"/>
            <a:ext cx="37753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其面积称为</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mn-cs"/>
              </a:rPr>
              <a:t>冲激强度</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a:t>
            </a:r>
          </a:p>
        </p:txBody>
      </p:sp>
      <mc:AlternateContent xmlns:mc="http://schemas.openxmlformats.org/markup-compatibility/2006" xmlns:a14="http://schemas.microsoft.com/office/drawing/2010/main">
        <mc:Choice Requires="a14">
          <p:sp>
            <p:nvSpPr>
              <p:cNvPr id="23556" name="Object 9">
                <a:extLst>
                  <a:ext uri="{FF2B5EF4-FFF2-40B4-BE49-F238E27FC236}">
                    <a16:creationId xmlns:a16="http://schemas.microsoft.com/office/drawing/2014/main" id="{11C018CA-6521-465E-82D5-0E991EE25F86}"/>
                  </a:ext>
                </a:extLst>
              </p:cNvPr>
              <p:cNvSpPr txBox="1"/>
              <p:nvPr/>
            </p:nvSpPr>
            <p:spPr bwMode="auto">
              <a:xfrm>
                <a:off x="4964867" y="5179036"/>
                <a:ext cx="3550146" cy="1028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𝑢</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nary>
                        <m:naryPr>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0</m:t>
                          </m:r>
                        </m:sub>
                        <m:sup>
                          <m:r>
                            <a:rPr lang="en-US" sz="2800" i="1">
                              <a:solidFill>
                                <a:srgbClr val="FF0000"/>
                              </a:solidFill>
                              <a:latin typeface="Cambria Math" panose="02040503050406030204" pitchFamily="18" charset="0"/>
                            </a:rPr>
                            <m:t>∞</m:t>
                          </m:r>
                        </m:sup>
                        <m:e>
                          <m:r>
                            <a:rPr lang="en-US" sz="2800" i="1">
                              <a:solidFill>
                                <a:srgbClr val="FF0000"/>
                              </a:solidFill>
                              <a:latin typeface="Cambria Math" panose="02040503050406030204" pitchFamily="18" charset="0"/>
                            </a:rPr>
                            <m:t>𝛿</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𝜏</m:t>
                          </m:r>
                          <m:r>
                            <a:rPr lang="en-US" sz="2800" i="1">
                              <a:solidFill>
                                <a:srgbClr val="FF0000"/>
                              </a:solidFill>
                              <a:latin typeface="Cambria Math" panose="02040503050406030204" pitchFamily="18" charset="0"/>
                            </a:rPr>
                            <m:t>)</m:t>
                          </m:r>
                          <m:r>
                            <m:rPr>
                              <m:sty m:val="p"/>
                            </m:rPr>
                            <a:rPr lang="en-US" sz="2800" i="0">
                              <a:solidFill>
                                <a:srgbClr val="FF0000"/>
                              </a:solidFill>
                              <a:latin typeface="Cambria Math" panose="02040503050406030204" pitchFamily="18" charset="0"/>
                            </a:rPr>
                            <m:t>d</m:t>
                          </m:r>
                          <m:r>
                            <a:rPr lang="en-US" sz="2800" i="1">
                              <a:solidFill>
                                <a:srgbClr val="FF0000"/>
                              </a:solidFill>
                              <a:latin typeface="Cambria Math" panose="02040503050406030204" pitchFamily="18" charset="0"/>
                            </a:rPr>
                            <m:t>𝜏</m:t>
                          </m:r>
                        </m:e>
                      </m:nary>
                    </m:oMath>
                  </m:oMathPara>
                </a14:m>
                <a:endParaRPr lang="en-US" sz="2800" dirty="0">
                  <a:solidFill>
                    <a:srgbClr val="FF0000"/>
                  </a:solidFill>
                </a:endParaRPr>
              </a:p>
            </p:txBody>
          </p:sp>
        </mc:Choice>
        <mc:Fallback xmlns="">
          <p:sp>
            <p:nvSpPr>
              <p:cNvPr id="23556" name="Object 9">
                <a:extLst>
                  <a:ext uri="{FF2B5EF4-FFF2-40B4-BE49-F238E27FC236}">
                    <a16:creationId xmlns:a16="http://schemas.microsoft.com/office/drawing/2014/main" id="{11C018CA-6521-465E-82D5-0E991EE25F86}"/>
                  </a:ext>
                </a:extLst>
              </p:cNvPr>
              <p:cNvSpPr txBox="1">
                <a:spLocks noRot="1" noChangeAspect="1" noMove="1" noResize="1" noEditPoints="1" noAdjustHandles="1" noChangeArrowheads="1" noChangeShapeType="1" noTextEdit="1"/>
              </p:cNvSpPr>
              <p:nvPr/>
            </p:nvSpPr>
            <p:spPr bwMode="auto">
              <a:xfrm>
                <a:off x="4964867" y="5179036"/>
                <a:ext cx="3550146" cy="1028700"/>
              </a:xfrm>
              <a:prstGeom prst="rect">
                <a:avLst/>
              </a:prstGeom>
              <a:blipFill>
                <a:blip r:embed="rId8"/>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Object 3">
                <a:extLst>
                  <a:ext uri="{FF2B5EF4-FFF2-40B4-BE49-F238E27FC236}">
                    <a16:creationId xmlns:a16="http://schemas.microsoft.com/office/drawing/2014/main" id="{A17DEC74-3200-4556-B850-801C6A83C65A}"/>
                  </a:ext>
                </a:extLst>
              </p:cNvPr>
              <p:cNvSpPr txBox="1"/>
              <p:nvPr/>
            </p:nvSpPr>
            <p:spPr bwMode="auto">
              <a:xfrm>
                <a:off x="1547664" y="4183055"/>
                <a:ext cx="3382964" cy="188372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nary>
                        <m:naryPr>
                          <m:ctrlPr>
                            <a:rPr lang="en-US" sz="2800" i="1" smtClean="0">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m:t>
                          </m:r>
                        </m:sub>
                        <m:sup>
                          <m:r>
                            <a:rPr lang="en-US" sz="2800" i="1">
                              <a:solidFill>
                                <a:srgbClr val="FF0000"/>
                              </a:solidFill>
                              <a:latin typeface="Cambria Math" panose="02040503050406030204" pitchFamily="18" charset="0"/>
                            </a:rPr>
                            <m:t>∞</m:t>
                          </m:r>
                        </m:sup>
                        <m:e>
                          <m:r>
                            <a:rPr lang="en-US" sz="2800" i="1">
                              <a:solidFill>
                                <a:srgbClr val="FF0000"/>
                              </a:solidFill>
                              <a:latin typeface="Cambria Math" panose="02040503050406030204" pitchFamily="18" charset="0"/>
                            </a:rPr>
                            <m:t>𝛿</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e>
                      </m:nary>
                      <m:r>
                        <m:rPr>
                          <m:sty m:val="p"/>
                        </m:rPr>
                        <a:rPr lang="en-US" sz="2800" i="0">
                          <a:solidFill>
                            <a:srgbClr val="FF0000"/>
                          </a:solidFill>
                          <a:latin typeface="Cambria Math" panose="02040503050406030204" pitchFamily="18" charset="0"/>
                        </a:rPr>
                        <m:t>d</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=1</m:t>
                      </m:r>
                    </m:oMath>
                  </m:oMathPara>
                </a14:m>
                <a:endParaRPr lang="en-US" sz="2800" i="1" dirty="0">
                  <a:solidFill>
                    <a:srgbClr val="FF0000"/>
                  </a:solidFill>
                  <a:latin typeface="Cambria Math" panose="02040503050406030204" pitchFamily="18" charset="0"/>
                </a:endParaRPr>
              </a:p>
              <a:p>
                <a:endParaRPr lang="en-US" sz="2800" i="1" dirty="0">
                  <a:solidFill>
                    <a:srgbClr val="FF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m>
                        <m:mPr>
                          <m:plcHide m:val="on"/>
                          <m:mcs>
                            <m:mc>
                              <m:mcPr>
                                <m:count m:val="2"/>
                                <m:mcJc m:val="center"/>
                              </m:mcPr>
                            </m:mc>
                          </m:mcs>
                          <m:ctrlPr>
                            <a:rPr lang="en-US" sz="2800" i="1" smtClean="0">
                              <a:solidFill>
                                <a:srgbClr val="FF0000"/>
                              </a:solidFill>
                              <a:latin typeface="Cambria Math" panose="02040503050406030204" pitchFamily="18" charset="0"/>
                            </a:rPr>
                          </m:ctrlPr>
                        </m:mPr>
                        <m:mr>
                          <m:e>
                            <m:r>
                              <a:rPr lang="en-US" sz="2800" i="1">
                                <a:solidFill>
                                  <a:srgbClr val="FF0000"/>
                                </a:solidFill>
                                <a:latin typeface="Cambria Math" panose="02040503050406030204" pitchFamily="18" charset="0"/>
                              </a:rPr>
                              <m:t>𝛿</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)=0</m:t>
                            </m:r>
                          </m:e>
                          <m:e>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≠0)</m:t>
                            </m:r>
                          </m:e>
                        </m:mr>
                      </m:m>
                    </m:oMath>
                  </m:oMathPara>
                </a14:m>
                <a:endParaRPr lang="en-US" sz="2800" dirty="0">
                  <a:solidFill>
                    <a:srgbClr val="FF0000"/>
                  </a:solidFill>
                </a:endParaRPr>
              </a:p>
            </p:txBody>
          </p:sp>
        </mc:Choice>
        <mc:Fallback xmlns="">
          <p:sp>
            <p:nvSpPr>
              <p:cNvPr id="43" name="Object 3">
                <a:extLst>
                  <a:ext uri="{FF2B5EF4-FFF2-40B4-BE49-F238E27FC236}">
                    <a16:creationId xmlns:a16="http://schemas.microsoft.com/office/drawing/2014/main" id="{A17DEC74-3200-4556-B850-801C6A83C65A}"/>
                  </a:ext>
                </a:extLst>
              </p:cNvPr>
              <p:cNvSpPr txBox="1">
                <a:spLocks noRot="1" noChangeAspect="1" noMove="1" noResize="1" noEditPoints="1" noAdjustHandles="1" noChangeArrowheads="1" noChangeShapeType="1" noTextEdit="1"/>
              </p:cNvSpPr>
              <p:nvPr/>
            </p:nvSpPr>
            <p:spPr bwMode="auto">
              <a:xfrm>
                <a:off x="1547664" y="4183055"/>
                <a:ext cx="3382964" cy="1883721"/>
              </a:xfrm>
              <a:prstGeom prst="rect">
                <a:avLst/>
              </a:prstGeom>
              <a:blipFill>
                <a:blip r:embed="rId9"/>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Object 9">
                <a:extLst>
                  <a:ext uri="{FF2B5EF4-FFF2-40B4-BE49-F238E27FC236}">
                    <a16:creationId xmlns:a16="http://schemas.microsoft.com/office/drawing/2014/main" id="{11C018CA-6521-465E-82D5-0E991EE25F86}"/>
                  </a:ext>
                </a:extLst>
              </p:cNvPr>
              <p:cNvSpPr txBox="1"/>
              <p:nvPr/>
            </p:nvSpPr>
            <p:spPr bwMode="auto">
              <a:xfrm>
                <a:off x="4995561" y="4052047"/>
                <a:ext cx="3550146" cy="1028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𝑢</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nary>
                        <m:naryPr>
                          <m:ctrlPr>
                            <a:rPr lang="en-US" sz="2800" i="1">
                              <a:solidFill>
                                <a:srgbClr val="FF0000"/>
                              </a:solidFill>
                              <a:latin typeface="Cambria Math" panose="02040503050406030204" pitchFamily="18" charset="0"/>
                            </a:rPr>
                          </m:ctrlPr>
                        </m:naryPr>
                        <m:sub>
                          <m:r>
                            <a:rPr lang="en-US" sz="2800" b="0" i="1" smtClean="0">
                              <a:solidFill>
                                <a:srgbClr val="FF0000"/>
                              </a:solidFill>
                              <a:latin typeface="Cambria Math" panose="02040503050406030204" pitchFamily="18" charset="0"/>
                            </a:rPr>
                            <m:t>−</m:t>
                          </m:r>
                          <m:r>
                            <a:rPr lang="en-US" altLang="zh-CN" sz="2800" i="1">
                              <a:solidFill>
                                <a:srgbClr val="FF0000"/>
                              </a:solidFill>
                              <a:latin typeface="Cambria Math" panose="02040503050406030204" pitchFamily="18" charset="0"/>
                            </a:rPr>
                            <m:t>∞</m:t>
                          </m:r>
                        </m:sub>
                        <m:sup>
                          <m:r>
                            <m:rPr>
                              <m:sty m:val="p"/>
                            </m:rPr>
                            <a:rPr lang="en-US" altLang="zh-CN" sz="2800" i="1">
                              <a:solidFill>
                                <a:srgbClr val="FF0000"/>
                              </a:solidFill>
                              <a:latin typeface="Cambria Math" panose="02040503050406030204" pitchFamily="18" charset="0"/>
                            </a:rPr>
                            <m:t>t</m:t>
                          </m:r>
                        </m:sup>
                        <m:e>
                          <m:r>
                            <a:rPr lang="en-US" sz="2800" i="1">
                              <a:solidFill>
                                <a:srgbClr val="FF0000"/>
                              </a:solidFill>
                              <a:latin typeface="Cambria Math" panose="02040503050406030204" pitchFamily="18" charset="0"/>
                            </a:rPr>
                            <m:t>𝛿</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𝜏</m:t>
                          </m:r>
                          <m:r>
                            <a:rPr lang="en-US" sz="2800" i="1">
                              <a:solidFill>
                                <a:srgbClr val="FF0000"/>
                              </a:solidFill>
                              <a:latin typeface="Cambria Math" panose="02040503050406030204" pitchFamily="18" charset="0"/>
                            </a:rPr>
                            <m:t>)</m:t>
                          </m:r>
                          <m:r>
                            <m:rPr>
                              <m:sty m:val="p"/>
                            </m:rPr>
                            <a:rPr lang="en-US" sz="2800" i="0">
                              <a:solidFill>
                                <a:srgbClr val="FF0000"/>
                              </a:solidFill>
                              <a:latin typeface="Cambria Math" panose="02040503050406030204" pitchFamily="18" charset="0"/>
                            </a:rPr>
                            <m:t>d</m:t>
                          </m:r>
                          <m:r>
                            <a:rPr lang="en-US" sz="2800" i="1">
                              <a:solidFill>
                                <a:srgbClr val="FF0000"/>
                              </a:solidFill>
                              <a:latin typeface="Cambria Math" panose="02040503050406030204" pitchFamily="18" charset="0"/>
                            </a:rPr>
                            <m:t>𝜏</m:t>
                          </m:r>
                        </m:e>
                      </m:nary>
                    </m:oMath>
                  </m:oMathPara>
                </a14:m>
                <a:endParaRPr lang="en-US" sz="2800" dirty="0">
                  <a:solidFill>
                    <a:srgbClr val="FF0000"/>
                  </a:solidFill>
                </a:endParaRPr>
              </a:p>
            </p:txBody>
          </p:sp>
        </mc:Choice>
        <mc:Fallback xmlns="">
          <p:sp>
            <p:nvSpPr>
              <p:cNvPr id="26" name="Object 9">
                <a:extLst>
                  <a:ext uri="{FF2B5EF4-FFF2-40B4-BE49-F238E27FC236}">
                    <a16:creationId xmlns:a16="http://schemas.microsoft.com/office/drawing/2014/main" id="{11C018CA-6521-465E-82D5-0E991EE25F86}"/>
                  </a:ext>
                </a:extLst>
              </p:cNvPr>
              <p:cNvSpPr txBox="1">
                <a:spLocks noRot="1" noChangeAspect="1" noMove="1" noResize="1" noEditPoints="1" noAdjustHandles="1" noChangeArrowheads="1" noChangeShapeType="1" noTextEdit="1"/>
              </p:cNvSpPr>
              <p:nvPr/>
            </p:nvSpPr>
            <p:spPr bwMode="auto">
              <a:xfrm>
                <a:off x="4995561" y="4052047"/>
                <a:ext cx="3550146" cy="1028700"/>
              </a:xfrm>
              <a:prstGeom prst="rect">
                <a:avLst/>
              </a:prstGeom>
              <a:blipFill>
                <a:blip r:embed="rId10"/>
                <a:stretch>
                  <a:fillRect/>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7" name="标题 1">
            <a:extLst>
              <a:ext uri="{FF2B5EF4-FFF2-40B4-BE49-F238E27FC236}">
                <a16:creationId xmlns:a16="http://schemas.microsoft.com/office/drawing/2014/main" id="{0876392A-59A5-4BDA-8F68-E3EA06AE531A}"/>
              </a:ext>
            </a:extLst>
          </p:cNvPr>
          <p:cNvSpPr>
            <a:spLocks noGrp="1"/>
          </p:cNvSpPr>
          <p:nvPr>
            <p:ph type="title"/>
          </p:nvPr>
        </p:nvSpPr>
        <p:spPr/>
        <p:txBody>
          <a:bodyPr/>
          <a:lstStyle/>
          <a:p>
            <a:pPr eaLnBrk="1" hangingPunct="1"/>
            <a:r>
              <a:rPr lang="en-US" altLang="zh-CN"/>
              <a:t>1.4  </a:t>
            </a:r>
            <a:r>
              <a:rPr lang="zh-CN" altLang="en-US"/>
              <a:t>单位冲激与单位阶跃函数</a:t>
            </a:r>
          </a:p>
        </p:txBody>
      </p:sp>
      <p:sp>
        <p:nvSpPr>
          <p:cNvPr id="4" name="灯片编号占位符 3">
            <a:extLst>
              <a:ext uri="{FF2B5EF4-FFF2-40B4-BE49-F238E27FC236}">
                <a16:creationId xmlns:a16="http://schemas.microsoft.com/office/drawing/2014/main" id="{C19C5F0B-C350-4BAE-8F3E-7121CB73EE0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E386458-FEFC-4224-8C0A-F19F22454AC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4578" name="Object 2">
                <a:extLst>
                  <a:ext uri="{FF2B5EF4-FFF2-40B4-BE49-F238E27FC236}">
                    <a16:creationId xmlns:a16="http://schemas.microsoft.com/office/drawing/2014/main" id="{D6A7ED6D-CA06-4A52-938F-5C80B80E655B}"/>
                  </a:ext>
                </a:extLst>
              </p:cNvPr>
              <p:cNvSpPr txBox="1"/>
              <p:nvPr/>
            </p:nvSpPr>
            <p:spPr bwMode="auto">
              <a:xfrm>
                <a:off x="971601" y="1894087"/>
                <a:ext cx="2909601" cy="546100"/>
              </a:xfrm>
              <a:prstGeom prst="rect">
                <a:avLst/>
              </a:prstGeom>
              <a:solidFill>
                <a:schemeClr val="accent5">
                  <a:lumMod val="20000"/>
                  <a:lumOff val="80000"/>
                </a:schemeClr>
              </a:solid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(0)</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78" name="Object 2">
                <a:extLst>
                  <a:ext uri="{FF2B5EF4-FFF2-40B4-BE49-F238E27FC236}">
                    <a16:creationId xmlns:a16="http://schemas.microsoft.com/office/drawing/2014/main" id="{D6A7ED6D-CA06-4A52-938F-5C80B80E655B}"/>
                  </a:ext>
                </a:extLst>
              </p:cNvPr>
              <p:cNvSpPr txBox="1">
                <a:spLocks noRot="1" noChangeAspect="1" noMove="1" noResize="1" noEditPoints="1" noAdjustHandles="1" noChangeArrowheads="1" noChangeShapeType="1" noTextEdit="1"/>
              </p:cNvSpPr>
              <p:nvPr/>
            </p:nvSpPr>
            <p:spPr bwMode="auto">
              <a:xfrm>
                <a:off x="971601" y="1894087"/>
                <a:ext cx="2909601" cy="546100"/>
              </a:xfrm>
              <a:prstGeom prst="rect">
                <a:avLst/>
              </a:prstGeom>
              <a:blipFill>
                <a:blip r:embed="rId2"/>
                <a:stretch>
                  <a:fillRect b="-22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79" name="Object 3">
                <a:extLst>
                  <a:ext uri="{FF2B5EF4-FFF2-40B4-BE49-F238E27FC236}">
                    <a16:creationId xmlns:a16="http://schemas.microsoft.com/office/drawing/2014/main" id="{D9FAB66A-3062-4F0E-90A3-11BE0A0CC628}"/>
                  </a:ext>
                </a:extLst>
              </p:cNvPr>
              <p:cNvSpPr txBox="1"/>
              <p:nvPr/>
            </p:nvSpPr>
            <p:spPr bwMode="auto">
              <a:xfrm>
                <a:off x="971600" y="2653110"/>
                <a:ext cx="4205746" cy="546099"/>
              </a:xfrm>
              <a:prstGeom prst="rect">
                <a:avLst/>
              </a:prstGeom>
              <a:solidFill>
                <a:schemeClr val="accent5">
                  <a:lumMod val="20000"/>
                  <a:lumOff val="80000"/>
                </a:schemeClr>
              </a:solid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𝑡</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𝑡</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𝑡</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79" name="Object 3">
                <a:extLst>
                  <a:ext uri="{FF2B5EF4-FFF2-40B4-BE49-F238E27FC236}">
                    <a16:creationId xmlns:a16="http://schemas.microsoft.com/office/drawing/2014/main" id="{D9FAB66A-3062-4F0E-90A3-11BE0A0CC628}"/>
                  </a:ext>
                </a:extLst>
              </p:cNvPr>
              <p:cNvSpPr txBox="1">
                <a:spLocks noRot="1" noChangeAspect="1" noMove="1" noResize="1" noEditPoints="1" noAdjustHandles="1" noChangeArrowheads="1" noChangeShapeType="1" noTextEdit="1"/>
              </p:cNvSpPr>
              <p:nvPr/>
            </p:nvSpPr>
            <p:spPr bwMode="auto">
              <a:xfrm>
                <a:off x="971600" y="2653110"/>
                <a:ext cx="4205746" cy="546099"/>
              </a:xfrm>
              <a:prstGeom prst="rect">
                <a:avLst/>
              </a:prstGeom>
              <a:blipFill>
                <a:blip r:embed="rId3"/>
                <a:stretch>
                  <a:fillRect r="-435" b="-111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90" name="Text Box 23">
                <a:extLst>
                  <a:ext uri="{FF2B5EF4-FFF2-40B4-BE49-F238E27FC236}">
                    <a16:creationId xmlns:a16="http://schemas.microsoft.com/office/drawing/2014/main" id="{C6F1CD42-D816-42D4-8AD8-4DD8B85152CD}"/>
                  </a:ext>
                </a:extLst>
              </p:cNvPr>
              <p:cNvSpPr txBox="1">
                <a:spLocks noChangeArrowheads="1"/>
              </p:cNvSpPr>
              <p:nvPr/>
            </p:nvSpPr>
            <p:spPr bwMode="auto">
              <a:xfrm>
                <a:off x="573358" y="1316114"/>
                <a:ext cx="5979842"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14:m>
                  <m:oMath xmlns:m="http://schemas.openxmlformats.org/officeDocument/2006/math">
                    <m:r>
                      <a:rPr lang="en-US" sz="2400" b="0" i="1" smtClean="0">
                        <a:solidFill>
                          <a:schemeClr val="tx1"/>
                        </a:solidFill>
                        <a:latin typeface="Cambria Math" panose="02040503050406030204" pitchFamily="18" charset="0"/>
                      </a:rPr>
                      <m:t>𝛿</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𝑡</m:t>
                    </m:r>
                    <m:r>
                      <a:rPr lang="en-US" sz="2400" b="0" i="1" smtClean="0">
                        <a:solidFill>
                          <a:schemeClr val="tx1"/>
                        </a:solidFill>
                        <a:latin typeface="Cambria Math" panose="02040503050406030204" pitchFamily="18" charset="0"/>
                      </a:rPr>
                      <m:t>)</m:t>
                    </m:r>
                  </m:oMath>
                </a14:m>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也具有提取连续时间信号样本的作用。</a:t>
                </a:r>
              </a:p>
            </p:txBody>
          </p:sp>
        </mc:Choice>
        <mc:Fallback xmlns="">
          <p:sp>
            <p:nvSpPr>
              <p:cNvPr id="24590" name="Text Box 23">
                <a:extLst>
                  <a:ext uri="{FF2B5EF4-FFF2-40B4-BE49-F238E27FC236}">
                    <a16:creationId xmlns:a16="http://schemas.microsoft.com/office/drawing/2014/main" id="{C6F1CD42-D816-42D4-8AD8-4DD8B85152CD}"/>
                  </a:ext>
                </a:extLst>
              </p:cNvPr>
              <p:cNvSpPr txBox="1">
                <a:spLocks noRot="1" noChangeAspect="1" noMove="1" noResize="1" noEditPoints="1" noAdjustHandles="1" noChangeArrowheads="1" noChangeShapeType="1" noTextEdit="1"/>
              </p:cNvSpPr>
              <p:nvPr/>
            </p:nvSpPr>
            <p:spPr bwMode="auto">
              <a:xfrm>
                <a:off x="573358" y="1316114"/>
                <a:ext cx="5979842" cy="461665"/>
              </a:xfrm>
              <a:prstGeom prst="rect">
                <a:avLst/>
              </a:prstGeom>
              <a:blipFill>
                <a:blip r:embed="rId4"/>
                <a:stretch>
                  <a:fillRect l="-306" t="-10526" r="-612" b="-289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bject 4">
                <a:extLst>
                  <a:ext uri="{FF2B5EF4-FFF2-40B4-BE49-F238E27FC236}">
                    <a16:creationId xmlns:a16="http://schemas.microsoft.com/office/drawing/2014/main" id="{96F4A5A4-67DC-4E5D-A003-32BC154DAF6B}"/>
                  </a:ext>
                </a:extLst>
              </p:cNvPr>
              <p:cNvSpPr txBox="1"/>
              <p:nvPr/>
            </p:nvSpPr>
            <p:spPr bwMode="auto">
              <a:xfrm>
                <a:off x="971600" y="3412132"/>
                <a:ext cx="4509479" cy="1772560"/>
              </a:xfrm>
              <a:prstGeom prst="rect">
                <a:avLst/>
              </a:prstGeom>
              <a:solidFill>
                <a:schemeClr val="accent5">
                  <a:lumMod val="20000"/>
                  <a:lumOff val="80000"/>
                </a:schemeClr>
              </a:solid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trlPr>
                            <a:rPr lang="en-US" sz="2400" i="1" smtClean="0">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r>
                            <a:rPr lang="en-US" sz="2400" i="1">
                              <a:solidFill>
                                <a:srgbClr val="FF0000"/>
                              </a:solidFill>
                              <a:latin typeface="Cambria Math" panose="02040503050406030204" pitchFamily="18" charset="0"/>
                            </a:rPr>
                            <m:t>𝛿</m:t>
                          </m:r>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𝑡</m:t>
                              </m:r>
                            </m:e>
                          </m:d>
                          <m:r>
                            <a:rPr lang="en-US" sz="2400" b="0" i="1" smtClean="0">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r>
                            <m:rPr>
                              <m:sty m:val="p"/>
                            </m:rPr>
                            <a:rPr lang="en-US" sz="2400" i="0">
                              <a:solidFill>
                                <a:srgbClr val="FF0000"/>
                              </a:solidFill>
                              <a:latin typeface="Cambria Math" panose="02040503050406030204" pitchFamily="18" charset="0"/>
                            </a:rPr>
                            <m:t>d</m:t>
                          </m:r>
                          <m:r>
                            <a:rPr lang="en-US" sz="2400" i="1">
                              <a:solidFill>
                                <a:srgbClr val="FF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𝛿</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b="0" i="1" smtClean="0">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(0)</m:t>
                          </m:r>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oMath>
                    <m:oMath xmlns:m="http://schemas.openxmlformats.org/officeDocument/2006/math">
                      <m:r>
                        <a:rPr lang="en-US" sz="2400" i="1">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(0)</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(0)</m:t>
                      </m:r>
                    </m:oMath>
                  </m:oMathPara>
                </a14:m>
                <a:endParaRPr lang="en-US" sz="2400" dirty="0"/>
              </a:p>
            </p:txBody>
          </p:sp>
        </mc:Choice>
        <mc:Fallback xmlns="">
          <p:sp>
            <p:nvSpPr>
              <p:cNvPr id="32" name="Object 4">
                <a:extLst>
                  <a:ext uri="{FF2B5EF4-FFF2-40B4-BE49-F238E27FC236}">
                    <a16:creationId xmlns:a16="http://schemas.microsoft.com/office/drawing/2014/main" id="{96F4A5A4-67DC-4E5D-A003-32BC154DAF6B}"/>
                  </a:ext>
                </a:extLst>
              </p:cNvPr>
              <p:cNvSpPr txBox="1">
                <a:spLocks noRot="1" noChangeAspect="1" noMove="1" noResize="1" noEditPoints="1" noAdjustHandles="1" noChangeArrowheads="1" noChangeShapeType="1" noTextEdit="1"/>
              </p:cNvSpPr>
              <p:nvPr/>
            </p:nvSpPr>
            <p:spPr bwMode="auto">
              <a:xfrm>
                <a:off x="971600" y="3412132"/>
                <a:ext cx="4509479" cy="1772560"/>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bject 15">
                <a:extLst>
                  <a:ext uri="{FF2B5EF4-FFF2-40B4-BE49-F238E27FC236}">
                    <a16:creationId xmlns:a16="http://schemas.microsoft.com/office/drawing/2014/main" id="{EBB86F62-698C-4525-84CD-FF613F2D4C78}"/>
                  </a:ext>
                </a:extLst>
              </p:cNvPr>
              <p:cNvSpPr txBox="1"/>
              <p:nvPr/>
            </p:nvSpPr>
            <p:spPr bwMode="auto">
              <a:xfrm>
                <a:off x="971600" y="5397616"/>
                <a:ext cx="3888432" cy="943446"/>
              </a:xfrm>
              <a:prstGeom prst="rect">
                <a:avLst/>
              </a:prstGeom>
              <a:solidFill>
                <a:schemeClr val="accent5">
                  <a:lumMod val="20000"/>
                  <a:lumOff val="80000"/>
                </a:schemeClr>
              </a:solid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trlPr>
                            <a:rPr lang="en-US" sz="2400" i="1" smtClean="0">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r>
                            <a:rPr lang="en-US" sz="2400" i="1">
                              <a:solidFill>
                                <a:srgbClr val="FF0000"/>
                              </a:solidFill>
                              <a:latin typeface="Cambria Math" panose="02040503050406030204" pitchFamily="18" charset="0"/>
                            </a:rPr>
                            <m:t>𝛿</m:t>
                          </m:r>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𝑡</m:t>
                                  </m:r>
                                </m:e>
                                <m:sub>
                                  <m:r>
                                    <a:rPr lang="en-US" sz="2400" i="1">
                                      <a:solidFill>
                                        <a:srgbClr val="FF0000"/>
                                      </a:solidFill>
                                      <a:latin typeface="Cambria Math" panose="02040503050406030204" pitchFamily="18" charset="0"/>
                                    </a:rPr>
                                    <m:t>0</m:t>
                                  </m:r>
                                </m:sub>
                              </m:sSub>
                            </m:e>
                          </m:d>
                          <m:r>
                            <a:rPr lang="en-US" sz="2400" b="0" i="1" smtClean="0">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r>
                            <m:rPr>
                              <m:sty m:val="p"/>
                            </m:rPr>
                            <a:rPr lang="en-US" sz="2400" i="0">
                              <a:solidFill>
                                <a:srgbClr val="FF0000"/>
                              </a:solidFill>
                              <a:latin typeface="Cambria Math" panose="02040503050406030204" pitchFamily="18" charset="0"/>
                            </a:rPr>
                            <m:t>d</m:t>
                          </m:r>
                          <m:r>
                            <a:rPr lang="en-US" sz="2400" i="1">
                              <a:solidFill>
                                <a:srgbClr val="FF0000"/>
                              </a:solidFill>
                              <a:latin typeface="Cambria Math" panose="02040503050406030204" pitchFamily="18" charset="0"/>
                            </a:rPr>
                            <m:t>𝑡</m:t>
                          </m:r>
                        </m:e>
                      </m:nary>
                      <m:r>
                        <a:rPr lang="en-US" sz="2400" i="1">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𝑡</m:t>
                          </m:r>
                        </m:e>
                        <m:sub>
                          <m:r>
                            <a:rPr lang="en-US" sz="2400" i="1">
                              <a:solidFill>
                                <a:srgbClr val="FF0000"/>
                              </a:solidFill>
                              <a:latin typeface="Cambria Math" panose="02040503050406030204" pitchFamily="18" charset="0"/>
                            </a:rPr>
                            <m:t>0</m:t>
                          </m:r>
                        </m:sub>
                      </m:sSub>
                      <m:r>
                        <a:rPr lang="en-US" sz="2400" i="1">
                          <a:solidFill>
                            <a:srgbClr val="FF0000"/>
                          </a:solidFill>
                          <a:latin typeface="Cambria Math" panose="02040503050406030204" pitchFamily="18" charset="0"/>
                        </a:rPr>
                        <m:t>)</m:t>
                      </m:r>
                    </m:oMath>
                  </m:oMathPara>
                </a14:m>
                <a:endParaRPr lang="en-US" sz="2400" dirty="0"/>
              </a:p>
            </p:txBody>
          </p:sp>
        </mc:Choice>
        <mc:Fallback xmlns="">
          <p:sp>
            <p:nvSpPr>
              <p:cNvPr id="33" name="Object 15">
                <a:extLst>
                  <a:ext uri="{FF2B5EF4-FFF2-40B4-BE49-F238E27FC236}">
                    <a16:creationId xmlns:a16="http://schemas.microsoft.com/office/drawing/2014/main" id="{EBB86F62-698C-4525-84CD-FF613F2D4C78}"/>
                  </a:ext>
                </a:extLst>
              </p:cNvPr>
              <p:cNvSpPr txBox="1">
                <a:spLocks noRot="1" noChangeAspect="1" noMove="1" noResize="1" noEditPoints="1" noAdjustHandles="1" noChangeArrowheads="1" noChangeShapeType="1" noTextEdit="1"/>
              </p:cNvSpPr>
              <p:nvPr/>
            </p:nvSpPr>
            <p:spPr bwMode="auto">
              <a:xfrm>
                <a:off x="971600" y="5397616"/>
                <a:ext cx="3888432" cy="943446"/>
              </a:xfrm>
              <a:prstGeom prst="rect">
                <a:avLst/>
              </a:prstGeom>
              <a:blipFill>
                <a:blip r:embed="rId6"/>
                <a:stretch>
                  <a:fillRect/>
                </a:stretch>
              </a:blipFill>
              <a:ln>
                <a:noFill/>
              </a:ln>
              <a:effectLst/>
            </p:spPr>
            <p:txBody>
              <a:bodyPr/>
              <a:lstStyle/>
              <a:p>
                <a:r>
                  <a:rPr lang="en-US">
                    <a:noFill/>
                  </a:rPr>
                  <a:t> </a:t>
                </a:r>
              </a:p>
            </p:txBody>
          </p:sp>
        </mc:Fallback>
      </mc:AlternateContent>
      <p:grpSp>
        <p:nvGrpSpPr>
          <p:cNvPr id="38" name="Group 5">
            <a:extLst>
              <a:ext uri="{FF2B5EF4-FFF2-40B4-BE49-F238E27FC236}">
                <a16:creationId xmlns:a16="http://schemas.microsoft.com/office/drawing/2014/main" id="{1E3316F3-E2B5-4B4B-BC72-E0EA9869AC25}"/>
              </a:ext>
            </a:extLst>
          </p:cNvPr>
          <p:cNvGrpSpPr>
            <a:grpSpLocks/>
          </p:cNvGrpSpPr>
          <p:nvPr/>
        </p:nvGrpSpPr>
        <p:grpSpPr bwMode="auto">
          <a:xfrm>
            <a:off x="5763777" y="3488940"/>
            <a:ext cx="2812103" cy="2185988"/>
            <a:chOff x="3152" y="1425"/>
            <a:chExt cx="1474" cy="1248"/>
          </a:xfrm>
        </p:grpSpPr>
        <p:sp>
          <p:nvSpPr>
            <p:cNvPr id="39" name="Line 6">
              <a:extLst>
                <a:ext uri="{FF2B5EF4-FFF2-40B4-BE49-F238E27FC236}">
                  <a16:creationId xmlns:a16="http://schemas.microsoft.com/office/drawing/2014/main" id="{DB9E906D-66F7-4B9A-9231-AD678DB46632}"/>
                </a:ext>
              </a:extLst>
            </p:cNvPr>
            <p:cNvSpPr>
              <a:spLocks noChangeShapeType="1"/>
            </p:cNvSpPr>
            <p:nvPr/>
          </p:nvSpPr>
          <p:spPr bwMode="auto">
            <a:xfrm>
              <a:off x="3152" y="2385"/>
              <a:ext cx="1392" cy="0"/>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0" name="Line 7">
              <a:extLst>
                <a:ext uri="{FF2B5EF4-FFF2-40B4-BE49-F238E27FC236}">
                  <a16:creationId xmlns:a16="http://schemas.microsoft.com/office/drawing/2014/main" id="{C25D94A4-DDE4-473B-8A34-E68DEFA7B53F}"/>
                </a:ext>
              </a:extLst>
            </p:cNvPr>
            <p:cNvSpPr>
              <a:spLocks noChangeShapeType="1"/>
            </p:cNvSpPr>
            <p:nvPr/>
          </p:nvSpPr>
          <p:spPr bwMode="auto">
            <a:xfrm flipV="1">
              <a:off x="3680" y="1521"/>
              <a:ext cx="0" cy="1152"/>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mc:AlternateContent xmlns:mc="http://schemas.openxmlformats.org/markup-compatibility/2006" xmlns:a14="http://schemas.microsoft.com/office/drawing/2010/main">
          <mc:Choice Requires="a14">
            <p:sp>
              <p:nvSpPr>
                <p:cNvPr id="41" name="Object 8">
                  <a:extLst>
                    <a:ext uri="{FF2B5EF4-FFF2-40B4-BE49-F238E27FC236}">
                      <a16:creationId xmlns:a16="http://schemas.microsoft.com/office/drawing/2014/main" id="{CE1CA3BF-4C59-40E4-AA46-8D3D3C52AA97}"/>
                    </a:ext>
                  </a:extLst>
                </p:cNvPr>
                <p:cNvSpPr txBox="1"/>
                <p:nvPr/>
              </p:nvSpPr>
              <p:spPr bwMode="auto">
                <a:xfrm>
                  <a:off x="4445" y="2401"/>
                  <a:ext cx="181" cy="27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𝑡</m:t>
                        </m:r>
                      </m:oMath>
                    </m:oMathPara>
                  </a14:m>
                  <a:endParaRPr lang="en-US" sz="2400" dirty="0"/>
                </a:p>
              </p:txBody>
            </p:sp>
          </mc:Choice>
          <mc:Fallback xmlns="">
            <p:sp>
              <p:nvSpPr>
                <p:cNvPr id="41" name="Object 8">
                  <a:extLst>
                    <a:ext uri="{FF2B5EF4-FFF2-40B4-BE49-F238E27FC236}">
                      <a16:creationId xmlns:a16="http://schemas.microsoft.com/office/drawing/2014/main" id="{CE1CA3BF-4C59-40E4-AA46-8D3D3C52AA97}"/>
                    </a:ext>
                  </a:extLst>
                </p:cNvPr>
                <p:cNvSpPr txBox="1">
                  <a:spLocks noRot="1" noChangeAspect="1" noMove="1" noResize="1" noEditPoints="1" noAdjustHandles="1" noChangeArrowheads="1" noChangeShapeType="1" noTextEdit="1"/>
                </p:cNvSpPr>
                <p:nvPr/>
              </p:nvSpPr>
              <p:spPr bwMode="auto">
                <a:xfrm>
                  <a:off x="4445" y="2401"/>
                  <a:ext cx="181" cy="272"/>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bject 9">
                  <a:extLst>
                    <a:ext uri="{FF2B5EF4-FFF2-40B4-BE49-F238E27FC236}">
                      <a16:creationId xmlns:a16="http://schemas.microsoft.com/office/drawing/2014/main" id="{1F032CE5-B4C2-4243-9ACF-7D1B5EAF038B}"/>
                    </a:ext>
                  </a:extLst>
                </p:cNvPr>
                <p:cNvSpPr txBox="1"/>
                <p:nvPr/>
              </p:nvSpPr>
              <p:spPr bwMode="auto">
                <a:xfrm>
                  <a:off x="3728" y="1425"/>
                  <a:ext cx="394" cy="2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42" name="Object 9">
                  <a:extLst>
                    <a:ext uri="{FF2B5EF4-FFF2-40B4-BE49-F238E27FC236}">
                      <a16:creationId xmlns:a16="http://schemas.microsoft.com/office/drawing/2014/main" id="{1F032CE5-B4C2-4243-9ACF-7D1B5EAF038B}"/>
                    </a:ext>
                  </a:extLst>
                </p:cNvPr>
                <p:cNvSpPr txBox="1">
                  <a:spLocks noRot="1" noChangeAspect="1" noMove="1" noResize="1" noEditPoints="1" noAdjustHandles="1" noChangeArrowheads="1" noChangeShapeType="1" noTextEdit="1"/>
                </p:cNvSpPr>
                <p:nvPr/>
              </p:nvSpPr>
              <p:spPr bwMode="auto">
                <a:xfrm>
                  <a:off x="3728" y="1425"/>
                  <a:ext cx="394" cy="288"/>
                </a:xfrm>
                <a:prstGeom prst="rect">
                  <a:avLst/>
                </a:prstGeom>
                <a:blipFill>
                  <a:blip r:embed="rId8"/>
                  <a:stretch>
                    <a:fillRect r="-4878" b="-963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Object 10">
                  <a:extLst>
                    <a:ext uri="{FF2B5EF4-FFF2-40B4-BE49-F238E27FC236}">
                      <a16:creationId xmlns:a16="http://schemas.microsoft.com/office/drawing/2014/main" id="{3BF14B65-7D41-4535-B6E9-3B21CD819513}"/>
                    </a:ext>
                  </a:extLst>
                </p:cNvPr>
                <p:cNvSpPr txBox="1"/>
                <p:nvPr/>
              </p:nvSpPr>
              <p:spPr bwMode="auto">
                <a:xfrm>
                  <a:off x="3516" y="2364"/>
                  <a:ext cx="178" cy="24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0</m:t>
                        </m:r>
                      </m:oMath>
                    </m:oMathPara>
                  </a14:m>
                  <a:endParaRPr lang="en-US" sz="2400" dirty="0"/>
                </a:p>
              </p:txBody>
            </p:sp>
          </mc:Choice>
          <mc:Fallback xmlns="">
            <p:sp>
              <p:nvSpPr>
                <p:cNvPr id="43" name="Object 10">
                  <a:extLst>
                    <a:ext uri="{FF2B5EF4-FFF2-40B4-BE49-F238E27FC236}">
                      <a16:creationId xmlns:a16="http://schemas.microsoft.com/office/drawing/2014/main" id="{3BF14B65-7D41-4535-B6E9-3B21CD819513}"/>
                    </a:ext>
                  </a:extLst>
                </p:cNvPr>
                <p:cNvSpPr txBox="1">
                  <a:spLocks noRot="1" noChangeAspect="1" noMove="1" noResize="1" noEditPoints="1" noAdjustHandles="1" noChangeArrowheads="1" noChangeShapeType="1" noTextEdit="1"/>
                </p:cNvSpPr>
                <p:nvPr/>
              </p:nvSpPr>
              <p:spPr bwMode="auto">
                <a:xfrm>
                  <a:off x="3516" y="2364"/>
                  <a:ext cx="178" cy="240"/>
                </a:xfrm>
                <a:prstGeom prst="rect">
                  <a:avLst/>
                </a:prstGeom>
                <a:blipFill>
                  <a:blip r:embed="rId9"/>
                  <a:stretch>
                    <a:fillRect l="-3571" r="-8929" b="-7246"/>
                  </a:stretch>
                </a:blipFill>
                <a:ln>
                  <a:noFill/>
                </a:ln>
                <a:effectLst/>
              </p:spPr>
              <p:txBody>
                <a:bodyPr/>
                <a:lstStyle/>
                <a:p>
                  <a:r>
                    <a:rPr lang="en-US">
                      <a:noFill/>
                    </a:rPr>
                    <a:t> </a:t>
                  </a:r>
                </a:p>
              </p:txBody>
            </p:sp>
          </mc:Fallback>
        </mc:AlternateContent>
        <p:sp>
          <p:nvSpPr>
            <p:cNvPr id="44" name="Line 11">
              <a:extLst>
                <a:ext uri="{FF2B5EF4-FFF2-40B4-BE49-F238E27FC236}">
                  <a16:creationId xmlns:a16="http://schemas.microsoft.com/office/drawing/2014/main" id="{D98E33F1-5DD0-4057-BAB3-4E305C56C04E}"/>
                </a:ext>
              </a:extLst>
            </p:cNvPr>
            <p:cNvSpPr>
              <a:spLocks noChangeShapeType="1"/>
            </p:cNvSpPr>
            <p:nvPr/>
          </p:nvSpPr>
          <p:spPr bwMode="auto">
            <a:xfrm flipV="1">
              <a:off x="3680" y="1857"/>
              <a:ext cx="0" cy="528"/>
            </a:xfrm>
            <a:prstGeom prst="line">
              <a:avLst/>
            </a:prstGeom>
            <a:noFill/>
            <a:ln w="38100" cap="sq">
              <a:solidFill>
                <a:srgbClr val="FF505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mc:AlternateContent xmlns:mc="http://schemas.openxmlformats.org/markup-compatibility/2006" xmlns:a14="http://schemas.microsoft.com/office/drawing/2010/main">
          <mc:Choice Requires="a14">
            <p:sp>
              <p:nvSpPr>
                <p:cNvPr id="45" name="Object 12">
                  <a:extLst>
                    <a:ext uri="{FF2B5EF4-FFF2-40B4-BE49-F238E27FC236}">
                      <a16:creationId xmlns:a16="http://schemas.microsoft.com/office/drawing/2014/main" id="{60087C8B-7DC3-4FCC-8AF9-07CE8BC75879}"/>
                    </a:ext>
                  </a:extLst>
                </p:cNvPr>
                <p:cNvSpPr txBox="1"/>
                <p:nvPr/>
              </p:nvSpPr>
              <p:spPr bwMode="auto">
                <a:xfrm>
                  <a:off x="3284" y="1599"/>
                  <a:ext cx="376" cy="2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(0)</m:t>
                        </m:r>
                      </m:oMath>
                    </m:oMathPara>
                  </a14:m>
                  <a:endParaRPr lang="en-US" sz="2400" dirty="0"/>
                </a:p>
              </p:txBody>
            </p:sp>
          </mc:Choice>
          <mc:Fallback xmlns="">
            <p:sp>
              <p:nvSpPr>
                <p:cNvPr id="45" name="Object 12">
                  <a:extLst>
                    <a:ext uri="{FF2B5EF4-FFF2-40B4-BE49-F238E27FC236}">
                      <a16:creationId xmlns:a16="http://schemas.microsoft.com/office/drawing/2014/main" id="{60087C8B-7DC3-4FCC-8AF9-07CE8BC75879}"/>
                    </a:ext>
                  </a:extLst>
                </p:cNvPr>
                <p:cNvSpPr txBox="1">
                  <a:spLocks noRot="1" noChangeAspect="1" noMove="1" noResize="1" noEditPoints="1" noAdjustHandles="1" noChangeArrowheads="1" noChangeShapeType="1" noTextEdit="1"/>
                </p:cNvSpPr>
                <p:nvPr/>
              </p:nvSpPr>
              <p:spPr bwMode="auto">
                <a:xfrm>
                  <a:off x="3284" y="1599"/>
                  <a:ext cx="376" cy="288"/>
                </a:xfrm>
                <a:prstGeom prst="rect">
                  <a:avLst/>
                </a:prstGeom>
                <a:blipFill>
                  <a:blip r:embed="rId10"/>
                  <a:stretch>
                    <a:fillRect r="-16239" b="-9639"/>
                  </a:stretch>
                </a:blipFill>
                <a:ln>
                  <a:noFill/>
                </a:ln>
                <a:effectLst/>
              </p:spPr>
              <p:txBody>
                <a:bodyPr/>
                <a:lstStyle/>
                <a:p>
                  <a:r>
                    <a:rPr lang="en-US">
                      <a:noFill/>
                    </a:rPr>
                    <a:t> </a:t>
                  </a:r>
                </a:p>
              </p:txBody>
            </p:sp>
          </mc:Fallback>
        </mc:AlternateContent>
        <p:sp>
          <p:nvSpPr>
            <p:cNvPr id="46" name="Freeform 13">
              <a:extLst>
                <a:ext uri="{FF2B5EF4-FFF2-40B4-BE49-F238E27FC236}">
                  <a16:creationId xmlns:a16="http://schemas.microsoft.com/office/drawing/2014/main" id="{7CC2C4DF-163D-4635-B5C8-E29A5192A9E8}"/>
                </a:ext>
              </a:extLst>
            </p:cNvPr>
            <p:cNvSpPr>
              <a:spLocks/>
            </p:cNvSpPr>
            <p:nvPr/>
          </p:nvSpPr>
          <p:spPr bwMode="auto">
            <a:xfrm>
              <a:off x="3152" y="1833"/>
              <a:ext cx="1200" cy="288"/>
            </a:xfrm>
            <a:custGeom>
              <a:avLst/>
              <a:gdLst>
                <a:gd name="T0" fmla="*/ 0 w 1200"/>
                <a:gd name="T1" fmla="*/ 216 h 288"/>
                <a:gd name="T2" fmla="*/ 336 w 1200"/>
                <a:gd name="T3" fmla="*/ 120 h 288"/>
                <a:gd name="T4" fmla="*/ 624 w 1200"/>
                <a:gd name="T5" fmla="*/ 24 h 288"/>
                <a:gd name="T6" fmla="*/ 1008 w 1200"/>
                <a:gd name="T7" fmla="*/ 264 h 288"/>
                <a:gd name="T8" fmla="*/ 1200 w 1200"/>
                <a:gd name="T9" fmla="*/ 168 h 288"/>
                <a:gd name="T10" fmla="*/ 0 60000 65536"/>
                <a:gd name="T11" fmla="*/ 0 60000 65536"/>
                <a:gd name="T12" fmla="*/ 0 60000 65536"/>
                <a:gd name="T13" fmla="*/ 0 60000 65536"/>
                <a:gd name="T14" fmla="*/ 0 60000 65536"/>
                <a:gd name="T15" fmla="*/ 0 w 1200"/>
                <a:gd name="T16" fmla="*/ 0 h 288"/>
                <a:gd name="T17" fmla="*/ 1200 w 1200"/>
                <a:gd name="T18" fmla="*/ 288 h 288"/>
              </a:gdLst>
              <a:ahLst/>
              <a:cxnLst>
                <a:cxn ang="T10">
                  <a:pos x="T0" y="T1"/>
                </a:cxn>
                <a:cxn ang="T11">
                  <a:pos x="T2" y="T3"/>
                </a:cxn>
                <a:cxn ang="T12">
                  <a:pos x="T4" y="T5"/>
                </a:cxn>
                <a:cxn ang="T13">
                  <a:pos x="T6" y="T7"/>
                </a:cxn>
                <a:cxn ang="T14">
                  <a:pos x="T8" y="T9"/>
                </a:cxn>
              </a:cxnLst>
              <a:rect l="T15" t="T16" r="T17" b="T18"/>
              <a:pathLst>
                <a:path w="1200" h="288">
                  <a:moveTo>
                    <a:pt x="0" y="216"/>
                  </a:moveTo>
                  <a:cubicBezTo>
                    <a:pt x="116" y="184"/>
                    <a:pt x="232" y="152"/>
                    <a:pt x="336" y="120"/>
                  </a:cubicBezTo>
                  <a:cubicBezTo>
                    <a:pt x="440" y="88"/>
                    <a:pt x="512" y="0"/>
                    <a:pt x="624" y="24"/>
                  </a:cubicBezTo>
                  <a:cubicBezTo>
                    <a:pt x="736" y="48"/>
                    <a:pt x="912" y="240"/>
                    <a:pt x="1008" y="264"/>
                  </a:cubicBezTo>
                  <a:cubicBezTo>
                    <a:pt x="1104" y="288"/>
                    <a:pt x="1168" y="184"/>
                    <a:pt x="1200" y="168"/>
                  </a:cubicBezTo>
                </a:path>
              </a:pathLst>
            </a:custGeom>
            <a:noFill/>
            <a:ln w="38100" cap="sq">
              <a:solidFill>
                <a:srgbClr val="04B65D"/>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标题 1">
            <a:extLst>
              <a:ext uri="{FF2B5EF4-FFF2-40B4-BE49-F238E27FC236}">
                <a16:creationId xmlns:a16="http://schemas.microsoft.com/office/drawing/2014/main" id="{B673D1B6-4C6A-4565-AC20-5CDDBA3FF2D5}"/>
              </a:ext>
            </a:extLst>
          </p:cNvPr>
          <p:cNvSpPr>
            <a:spLocks noGrp="1"/>
          </p:cNvSpPr>
          <p:nvPr>
            <p:ph type="title"/>
          </p:nvPr>
        </p:nvSpPr>
        <p:spPr/>
        <p:txBody>
          <a:bodyPr/>
          <a:lstStyle/>
          <a:p>
            <a:pPr eaLnBrk="1" hangingPunct="1"/>
            <a:r>
              <a:rPr lang="en-US" altLang="zh-CN"/>
              <a:t>1.4  </a:t>
            </a:r>
            <a:r>
              <a:rPr lang="zh-CN" altLang="en-US"/>
              <a:t>单位冲激与单位阶跃函数</a:t>
            </a:r>
          </a:p>
        </p:txBody>
      </p:sp>
      <p:sp>
        <p:nvSpPr>
          <p:cNvPr id="4" name="灯片编号占位符 3">
            <a:extLst>
              <a:ext uri="{FF2B5EF4-FFF2-40B4-BE49-F238E27FC236}">
                <a16:creationId xmlns:a16="http://schemas.microsoft.com/office/drawing/2014/main" id="{4CC08D0C-8BA9-48FE-889C-23084ED1EE5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4D9D3F-A080-4A5E-9171-EA5ADCCBBC6C}"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5602" name="Object 2">
                <a:extLst>
                  <a:ext uri="{FF2B5EF4-FFF2-40B4-BE49-F238E27FC236}">
                    <a16:creationId xmlns:a16="http://schemas.microsoft.com/office/drawing/2014/main" id="{79F0D773-4BFB-4B11-927A-582BAA62BA6F}"/>
                  </a:ext>
                </a:extLst>
              </p:cNvPr>
              <p:cNvSpPr txBox="1"/>
              <p:nvPr/>
            </p:nvSpPr>
            <p:spPr bwMode="auto">
              <a:xfrm>
                <a:off x="4346900" y="3008009"/>
                <a:ext cx="3172542" cy="530473"/>
              </a:xfrm>
              <a:prstGeom prst="rect">
                <a:avLst/>
              </a:prstGeom>
              <a:solidFill>
                <a:srgbClr val="81CCFF"/>
              </a:solid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𝐺</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5602" name="Object 2">
                <a:extLst>
                  <a:ext uri="{FF2B5EF4-FFF2-40B4-BE49-F238E27FC236}">
                    <a16:creationId xmlns:a16="http://schemas.microsoft.com/office/drawing/2014/main" id="{79F0D773-4BFB-4B11-927A-582BAA62BA6F}"/>
                  </a:ext>
                </a:extLst>
              </p:cNvPr>
              <p:cNvSpPr txBox="1">
                <a:spLocks noRot="1" noChangeAspect="1" noMove="1" noResize="1" noEditPoints="1" noAdjustHandles="1" noChangeArrowheads="1" noChangeShapeType="1" noTextEdit="1"/>
              </p:cNvSpPr>
              <p:nvPr/>
            </p:nvSpPr>
            <p:spPr bwMode="auto">
              <a:xfrm>
                <a:off x="4346900" y="3008009"/>
                <a:ext cx="3172542" cy="530473"/>
              </a:xfrm>
              <a:prstGeom prst="rect">
                <a:avLst/>
              </a:prstGeom>
              <a:blipFill>
                <a:blip r:embed="rId2"/>
                <a:stretch>
                  <a:fillRect l="-384" r="-1536" b="-459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603" name="Object 3">
                <a:extLst>
                  <a:ext uri="{FF2B5EF4-FFF2-40B4-BE49-F238E27FC236}">
                    <a16:creationId xmlns:a16="http://schemas.microsoft.com/office/drawing/2014/main" id="{7F742876-5EF8-47C6-BF40-FB90404759E2}"/>
                  </a:ext>
                </a:extLst>
              </p:cNvPr>
              <p:cNvSpPr txBox="1"/>
              <p:nvPr/>
            </p:nvSpPr>
            <p:spPr bwMode="auto">
              <a:xfrm>
                <a:off x="4346900" y="5301208"/>
                <a:ext cx="3959867" cy="530474"/>
              </a:xfrm>
              <a:prstGeom prst="rect">
                <a:avLst/>
              </a:prstGeom>
              <a:solidFill>
                <a:srgbClr val="81CCFF"/>
              </a:solid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𝐺</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𝑡</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5603" name="Object 3">
                <a:extLst>
                  <a:ext uri="{FF2B5EF4-FFF2-40B4-BE49-F238E27FC236}">
                    <a16:creationId xmlns:a16="http://schemas.microsoft.com/office/drawing/2014/main" id="{7F742876-5EF8-47C6-BF40-FB90404759E2}"/>
                  </a:ext>
                </a:extLst>
              </p:cNvPr>
              <p:cNvSpPr txBox="1">
                <a:spLocks noRot="1" noChangeAspect="1" noMove="1" noResize="1" noEditPoints="1" noAdjustHandles="1" noChangeArrowheads="1" noChangeShapeType="1" noTextEdit="1"/>
              </p:cNvSpPr>
              <p:nvPr/>
            </p:nvSpPr>
            <p:spPr bwMode="auto">
              <a:xfrm>
                <a:off x="4346900" y="5301208"/>
                <a:ext cx="3959867" cy="530474"/>
              </a:xfrm>
              <a:prstGeom prst="rect">
                <a:avLst/>
              </a:prstGeom>
              <a:blipFill>
                <a:blip r:embed="rId3"/>
                <a:stretch>
                  <a:fillRect l="-308" b="-4598"/>
                </a:stretch>
              </a:blipFill>
              <a:ln>
                <a:noFill/>
              </a:ln>
              <a:effectLst/>
            </p:spPr>
            <p:txBody>
              <a:bodyPr/>
              <a:lstStyle/>
              <a:p>
                <a:r>
                  <a:rPr lang="en-US">
                    <a:noFill/>
                  </a:rPr>
                  <a:t> </a:t>
                </a:r>
              </a:p>
            </p:txBody>
          </p:sp>
        </mc:Fallback>
      </mc:AlternateContent>
      <p:grpSp>
        <p:nvGrpSpPr>
          <p:cNvPr id="25606" name="组合 26">
            <a:extLst>
              <a:ext uri="{FF2B5EF4-FFF2-40B4-BE49-F238E27FC236}">
                <a16:creationId xmlns:a16="http://schemas.microsoft.com/office/drawing/2014/main" id="{5E7A6F6F-BF94-4A03-A1D9-AECE05109DD1}"/>
              </a:ext>
            </a:extLst>
          </p:cNvPr>
          <p:cNvGrpSpPr>
            <a:grpSpLocks/>
          </p:cNvGrpSpPr>
          <p:nvPr/>
        </p:nvGrpSpPr>
        <p:grpSpPr bwMode="auto">
          <a:xfrm>
            <a:off x="971550" y="1847850"/>
            <a:ext cx="2880367" cy="2382838"/>
            <a:chOff x="971550" y="1847871"/>
            <a:chExt cx="2881004" cy="2383092"/>
          </a:xfrm>
        </p:grpSpPr>
        <p:grpSp>
          <p:nvGrpSpPr>
            <p:cNvPr id="25616" name="Group 5">
              <a:extLst>
                <a:ext uri="{FF2B5EF4-FFF2-40B4-BE49-F238E27FC236}">
                  <a16:creationId xmlns:a16="http://schemas.microsoft.com/office/drawing/2014/main" id="{ADAF9C4D-CF3C-46E8-94A7-D1B40A87ED1E}"/>
                </a:ext>
              </a:extLst>
            </p:cNvPr>
            <p:cNvGrpSpPr>
              <a:grpSpLocks/>
            </p:cNvGrpSpPr>
            <p:nvPr/>
          </p:nvGrpSpPr>
          <p:grpSpPr bwMode="auto">
            <a:xfrm>
              <a:off x="971550" y="1847871"/>
              <a:ext cx="2590800" cy="1897063"/>
              <a:chOff x="612" y="890"/>
              <a:chExt cx="1632" cy="1195"/>
            </a:xfrm>
          </p:grpSpPr>
          <p:sp>
            <p:nvSpPr>
              <p:cNvPr id="25618" name="Line 6">
                <a:extLst>
                  <a:ext uri="{FF2B5EF4-FFF2-40B4-BE49-F238E27FC236}">
                    <a16:creationId xmlns:a16="http://schemas.microsoft.com/office/drawing/2014/main" id="{B581EE61-F0FD-4CB4-A1C8-109A2CADA888}"/>
                  </a:ext>
                </a:extLst>
              </p:cNvPr>
              <p:cNvSpPr>
                <a:spLocks noChangeShapeType="1"/>
              </p:cNvSpPr>
              <p:nvPr/>
            </p:nvSpPr>
            <p:spPr bwMode="auto">
              <a:xfrm>
                <a:off x="612" y="2085"/>
                <a:ext cx="16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5619" name="Line 7">
                <a:extLst>
                  <a:ext uri="{FF2B5EF4-FFF2-40B4-BE49-F238E27FC236}">
                    <a16:creationId xmlns:a16="http://schemas.microsoft.com/office/drawing/2014/main" id="{74EA57CC-8BE2-4DD8-864A-90BD32E3950D}"/>
                  </a:ext>
                </a:extLst>
              </p:cNvPr>
              <p:cNvSpPr>
                <a:spLocks noChangeShapeType="1"/>
              </p:cNvSpPr>
              <p:nvPr/>
            </p:nvSpPr>
            <p:spPr bwMode="auto">
              <a:xfrm flipV="1">
                <a:off x="996" y="981"/>
                <a:ext cx="0" cy="1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5620" name="Line 8">
                <a:extLst>
                  <a:ext uri="{FF2B5EF4-FFF2-40B4-BE49-F238E27FC236}">
                    <a16:creationId xmlns:a16="http://schemas.microsoft.com/office/drawing/2014/main" id="{99E020DE-2774-4C29-9AF0-6DEE67C3848F}"/>
                  </a:ext>
                </a:extLst>
              </p:cNvPr>
              <p:cNvSpPr>
                <a:spLocks noChangeShapeType="1"/>
              </p:cNvSpPr>
              <p:nvPr/>
            </p:nvSpPr>
            <p:spPr bwMode="auto">
              <a:xfrm flipV="1">
                <a:off x="996" y="1557"/>
                <a:ext cx="0" cy="528"/>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5621" name="Line 9">
                <a:extLst>
                  <a:ext uri="{FF2B5EF4-FFF2-40B4-BE49-F238E27FC236}">
                    <a16:creationId xmlns:a16="http://schemas.microsoft.com/office/drawing/2014/main" id="{D402768E-400C-4652-B1BC-3B1F7522C56A}"/>
                  </a:ext>
                </a:extLst>
              </p:cNvPr>
              <p:cNvSpPr>
                <a:spLocks noChangeShapeType="1"/>
              </p:cNvSpPr>
              <p:nvPr/>
            </p:nvSpPr>
            <p:spPr bwMode="auto">
              <a:xfrm>
                <a:off x="988" y="1557"/>
                <a:ext cx="480"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5622" name="Line 10">
                <a:extLst>
                  <a:ext uri="{FF2B5EF4-FFF2-40B4-BE49-F238E27FC236}">
                    <a16:creationId xmlns:a16="http://schemas.microsoft.com/office/drawing/2014/main" id="{92DA1A76-830D-41FB-A95E-13625B56992C}"/>
                  </a:ext>
                </a:extLst>
              </p:cNvPr>
              <p:cNvSpPr>
                <a:spLocks noChangeShapeType="1"/>
              </p:cNvSpPr>
              <p:nvPr/>
            </p:nvSpPr>
            <p:spPr bwMode="auto">
              <a:xfrm>
                <a:off x="1460" y="1557"/>
                <a:ext cx="0" cy="528"/>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5623" name="Text Box 11">
                    <a:extLst>
                      <a:ext uri="{FF2B5EF4-FFF2-40B4-BE49-F238E27FC236}">
                        <a16:creationId xmlns:a16="http://schemas.microsoft.com/office/drawing/2014/main" id="{54C7D7A1-08F0-4F1B-A452-B76C921D8C37}"/>
                      </a:ext>
                    </a:extLst>
                  </p:cNvPr>
                  <p:cNvSpPr txBox="1">
                    <a:spLocks noChangeArrowheads="1"/>
                  </p:cNvSpPr>
                  <p:nvPr/>
                </p:nvSpPr>
                <p:spPr bwMode="auto">
                  <a:xfrm>
                    <a:off x="1020" y="890"/>
                    <a:ext cx="624" cy="29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楷体" panose="02010609060101010101" pitchFamily="49" charset="-122"/>
                              <a:cs typeface="+mn-cs"/>
                            </a:rPr>
                            <m:t>𝐺</m:t>
                          </m:r>
                          <m:r>
                            <a:rPr kumimoji="1"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楷体" panose="02010609060101010101" pitchFamily="49" charset="-122"/>
                              <a:cs typeface="+mn-cs"/>
                            </a:rPr>
                            <m:t>(</m:t>
                          </m:r>
                          <m:r>
                            <a:rPr kumimoji="1"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楷体" panose="02010609060101010101" pitchFamily="49" charset="-122"/>
                              <a:cs typeface="+mn-cs"/>
                            </a:rPr>
                            <m:t>𝑡</m:t>
                          </m:r>
                          <m:r>
                            <a:rPr kumimoji="1"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楷体" panose="02010609060101010101" pitchFamily="49" charset="-122"/>
                              <a:cs typeface="+mn-cs"/>
                            </a:rPr>
                            <m:t>)</m:t>
                          </m:r>
                        </m:oMath>
                      </m:oMathPara>
                    </a14:m>
                    <a:endParaRPr kumimoji="1" lang="en-US" altLang="zh-CN" sz="200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endParaRPr>
                  </a:p>
                </p:txBody>
              </p:sp>
            </mc:Choice>
            <mc:Fallback xmlns="">
              <p:sp>
                <p:nvSpPr>
                  <p:cNvPr id="25623" name="Text Box 11">
                    <a:extLst>
                      <a:ext uri="{FF2B5EF4-FFF2-40B4-BE49-F238E27FC236}">
                        <a16:creationId xmlns:a16="http://schemas.microsoft.com/office/drawing/2014/main" id="{54C7D7A1-08F0-4F1B-A452-B76C921D8C37}"/>
                      </a:ext>
                    </a:extLst>
                  </p:cNvPr>
                  <p:cNvSpPr txBox="1">
                    <a:spLocks noRot="1" noChangeAspect="1" noMove="1" noResize="1" noEditPoints="1" noAdjustHandles="1" noChangeArrowheads="1" noChangeShapeType="1" noTextEdit="1"/>
                  </p:cNvSpPr>
                  <p:nvPr/>
                </p:nvSpPr>
                <p:spPr bwMode="auto">
                  <a:xfrm>
                    <a:off x="1020" y="890"/>
                    <a:ext cx="624" cy="291"/>
                  </a:xfrm>
                  <a:prstGeom prst="rect">
                    <a:avLst/>
                  </a:prstGeom>
                  <a:blipFill>
                    <a:blip r:embed="rId4"/>
                    <a:stretch>
                      <a:fillRect b="-1842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5617" name="Text Box 12">
                  <a:extLst>
                    <a:ext uri="{FF2B5EF4-FFF2-40B4-BE49-F238E27FC236}">
                      <a16:creationId xmlns:a16="http://schemas.microsoft.com/office/drawing/2014/main" id="{935D4DCC-97D0-4A55-A913-E2D2A12D773F}"/>
                    </a:ext>
                  </a:extLst>
                </p:cNvPr>
                <p:cNvSpPr txBox="1">
                  <a:spLocks noChangeArrowheads="1"/>
                </p:cNvSpPr>
                <p:nvPr/>
              </p:nvSpPr>
              <p:spPr bwMode="auto">
                <a:xfrm>
                  <a:off x="1300926" y="3651526"/>
                  <a:ext cx="2551628" cy="57943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rPr>
                    <a:t> </a:t>
                  </a:r>
                  <a14:m>
                    <m:oMath xmlns:m="http://schemas.openxmlformats.org/officeDocument/2006/math">
                      <m:r>
                        <a:rPr kumimoji="1"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ea typeface="楷体" panose="02010609060101010101" pitchFamily="49" charset="-122"/>
                          <a:cs typeface="+mn-cs"/>
                        </a:rPr>
                        <m:t>0</m:t>
                      </m:r>
                    </m:oMath>
                  </a14:m>
                  <a:r>
                    <a:rPr kumimoji="1" lang="en-US" altLang="zh-CN" sz="32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rPr>
                    <a:t>      </a:t>
                  </a:r>
                  <a14:m>
                    <m:oMath xmlns:m="http://schemas.openxmlformats.org/officeDocument/2006/math">
                      <m:r>
                        <a:rPr kumimoji="1" lang="zh-CN" altLang="en-US" sz="2400" b="0" i="1" u="none" strike="noStrike" kern="1200" cap="none" spc="0" normalizeH="0" baseline="0" noProof="0" dirty="0" smtClean="0">
                          <a:ln>
                            <a:noFill/>
                          </a:ln>
                          <a:solidFill>
                            <a:prstClr val="black"/>
                          </a:solidFill>
                          <a:effectLst/>
                          <a:uLnTx/>
                          <a:uFillTx/>
                          <a:latin typeface="Cambria Math" panose="02040503050406030204" pitchFamily="18" charset="0"/>
                          <a:ea typeface="楷体" panose="02010609060101010101" pitchFamily="49" charset="-122"/>
                          <a:sym typeface="Symbol" panose="05050102010706020507" pitchFamily="18" charset="2"/>
                        </a:rPr>
                        <m:t>𝜏</m:t>
                      </m:r>
                    </m:oMath>
                  </a14:m>
                  <a:r>
                    <a:rPr kumimoji="1" lang="en-US" altLang="zh-CN" sz="32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sym typeface="Symbol" panose="05050102010706020507" pitchFamily="18" charset="2"/>
                    </a:rPr>
                    <a:t>           </a:t>
                  </a:r>
                  <a14:m>
                    <m:oMath xmlns:m="http://schemas.openxmlformats.org/officeDocument/2006/math">
                      <m:r>
                        <a:rPr kumimoji="1"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ea typeface="楷体" panose="02010609060101010101" pitchFamily="49" charset="-122"/>
                          <a:cs typeface="+mn-cs"/>
                          <a:sym typeface="Symbol" panose="05050102010706020507" pitchFamily="18" charset="2"/>
                        </a:rPr>
                        <m:t>𝑡</m:t>
                      </m:r>
                    </m:oMath>
                  </a14:m>
                  <a:endParaRPr kumimoji="1" lang="en-US" altLang="zh-CN" sz="3200" b="0"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endParaRPr>
                </a:p>
              </p:txBody>
            </p:sp>
          </mc:Choice>
          <mc:Fallback xmlns="">
            <p:sp>
              <p:nvSpPr>
                <p:cNvPr id="25617" name="Text Box 12">
                  <a:extLst>
                    <a:ext uri="{FF2B5EF4-FFF2-40B4-BE49-F238E27FC236}">
                      <a16:creationId xmlns:a16="http://schemas.microsoft.com/office/drawing/2014/main" id="{935D4DCC-97D0-4A55-A913-E2D2A12D773F}"/>
                    </a:ext>
                  </a:extLst>
                </p:cNvPr>
                <p:cNvSpPr txBox="1">
                  <a:spLocks noRot="1" noChangeAspect="1" noMove="1" noResize="1" noEditPoints="1" noAdjustHandles="1" noChangeArrowheads="1" noChangeShapeType="1" noTextEdit="1"/>
                </p:cNvSpPr>
                <p:nvPr/>
              </p:nvSpPr>
              <p:spPr bwMode="auto">
                <a:xfrm>
                  <a:off x="1300926" y="3651526"/>
                  <a:ext cx="2551628" cy="579437"/>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grpSp>
        <p:nvGrpSpPr>
          <p:cNvPr id="25607" name="组合 27">
            <a:extLst>
              <a:ext uri="{FF2B5EF4-FFF2-40B4-BE49-F238E27FC236}">
                <a16:creationId xmlns:a16="http://schemas.microsoft.com/office/drawing/2014/main" id="{5A6DC11D-F673-4639-AEDB-51617E991F26}"/>
              </a:ext>
            </a:extLst>
          </p:cNvPr>
          <p:cNvGrpSpPr>
            <a:grpSpLocks/>
          </p:cNvGrpSpPr>
          <p:nvPr/>
        </p:nvGrpSpPr>
        <p:grpSpPr bwMode="auto">
          <a:xfrm>
            <a:off x="914400" y="4368801"/>
            <a:ext cx="3432498" cy="2044224"/>
            <a:chOff x="914400" y="4368821"/>
            <a:chExt cx="3431813" cy="2043594"/>
          </a:xfrm>
        </p:grpSpPr>
        <p:sp>
          <p:nvSpPr>
            <p:cNvPr id="25609" name="Line 14">
              <a:extLst>
                <a:ext uri="{FF2B5EF4-FFF2-40B4-BE49-F238E27FC236}">
                  <a16:creationId xmlns:a16="http://schemas.microsoft.com/office/drawing/2014/main" id="{B3EDF0DE-54BF-42BA-883A-7F65542D0667}"/>
                </a:ext>
              </a:extLst>
            </p:cNvPr>
            <p:cNvSpPr>
              <a:spLocks noChangeShapeType="1"/>
            </p:cNvSpPr>
            <p:nvPr/>
          </p:nvSpPr>
          <p:spPr bwMode="auto">
            <a:xfrm>
              <a:off x="914400" y="6022996"/>
              <a:ext cx="3235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5610" name="Line 15">
              <a:extLst>
                <a:ext uri="{FF2B5EF4-FFF2-40B4-BE49-F238E27FC236}">
                  <a16:creationId xmlns:a16="http://schemas.microsoft.com/office/drawing/2014/main" id="{EA2A21B0-BF21-41E1-AF36-C828FAB32F03}"/>
                </a:ext>
              </a:extLst>
            </p:cNvPr>
            <p:cNvSpPr>
              <a:spLocks noChangeShapeType="1"/>
            </p:cNvSpPr>
            <p:nvPr/>
          </p:nvSpPr>
          <p:spPr bwMode="auto">
            <a:xfrm flipV="1">
              <a:off x="1589088" y="4466531"/>
              <a:ext cx="0" cy="15509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5611" name="Line 16">
              <a:extLst>
                <a:ext uri="{FF2B5EF4-FFF2-40B4-BE49-F238E27FC236}">
                  <a16:creationId xmlns:a16="http://schemas.microsoft.com/office/drawing/2014/main" id="{FD6A974F-65BB-4BD9-A191-6CD2A033EDD8}"/>
                </a:ext>
              </a:extLst>
            </p:cNvPr>
            <p:cNvSpPr>
              <a:spLocks noChangeShapeType="1"/>
            </p:cNvSpPr>
            <p:nvPr/>
          </p:nvSpPr>
          <p:spPr bwMode="auto">
            <a:xfrm flipV="1">
              <a:off x="2262188" y="5281634"/>
              <a:ext cx="0" cy="741363"/>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5612" name="Line 17">
              <a:extLst>
                <a:ext uri="{FF2B5EF4-FFF2-40B4-BE49-F238E27FC236}">
                  <a16:creationId xmlns:a16="http://schemas.microsoft.com/office/drawing/2014/main" id="{99EBAFCA-FCF5-40EF-B131-070E0082997A}"/>
                </a:ext>
              </a:extLst>
            </p:cNvPr>
            <p:cNvSpPr>
              <a:spLocks noChangeShapeType="1"/>
            </p:cNvSpPr>
            <p:nvPr/>
          </p:nvSpPr>
          <p:spPr bwMode="auto">
            <a:xfrm>
              <a:off x="2250079" y="5281634"/>
              <a:ext cx="741363"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5613" name="Line 18">
              <a:extLst>
                <a:ext uri="{FF2B5EF4-FFF2-40B4-BE49-F238E27FC236}">
                  <a16:creationId xmlns:a16="http://schemas.microsoft.com/office/drawing/2014/main" id="{9AD1FB81-5F2A-44E4-951F-DE083F425911}"/>
                </a:ext>
              </a:extLst>
            </p:cNvPr>
            <p:cNvSpPr>
              <a:spLocks noChangeShapeType="1"/>
            </p:cNvSpPr>
            <p:nvPr/>
          </p:nvSpPr>
          <p:spPr bwMode="auto">
            <a:xfrm>
              <a:off x="2978150" y="5281634"/>
              <a:ext cx="0" cy="741363"/>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5614" name="Text Box 19">
                  <a:extLst>
                    <a:ext uri="{FF2B5EF4-FFF2-40B4-BE49-F238E27FC236}">
                      <a16:creationId xmlns:a16="http://schemas.microsoft.com/office/drawing/2014/main" id="{F15B1613-C177-4E08-9C31-B84E1197BA5E}"/>
                    </a:ext>
                  </a:extLst>
                </p:cNvPr>
                <p:cNvSpPr txBox="1">
                  <a:spLocks noChangeArrowheads="1"/>
                </p:cNvSpPr>
                <p:nvPr/>
              </p:nvSpPr>
              <p:spPr bwMode="auto">
                <a:xfrm>
                  <a:off x="1619250" y="4368821"/>
                  <a:ext cx="1077913" cy="4615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楷体" panose="02010609060101010101" pitchFamily="49" charset="-122"/>
                            <a:cs typeface="+mn-cs"/>
                          </a:rPr>
                          <m:t>𝐺</m:t>
                        </m:r>
                        <m:r>
                          <a:rPr kumimoji="1" lang="en-US" altLang="zh-CN" sz="2400" i="1" u="none" strike="noStrike" kern="1200" cap="none" spc="0" normalizeH="0" baseline="-25000" noProof="0" dirty="0">
                            <a:ln>
                              <a:noFill/>
                            </a:ln>
                            <a:solidFill>
                              <a:prstClr val="black"/>
                            </a:solidFill>
                            <a:effectLst/>
                            <a:uLnTx/>
                            <a:uFillTx/>
                            <a:latin typeface="Cambria Math" panose="02040503050406030204" pitchFamily="18" charset="0"/>
                            <a:ea typeface="楷体" panose="02010609060101010101" pitchFamily="49" charset="-122"/>
                            <a:cs typeface="+mn-cs"/>
                          </a:rPr>
                          <m:t>1</m:t>
                        </m:r>
                        <m:r>
                          <a:rPr kumimoji="1" lang="en-US" altLang="zh-CN" sz="2400" i="1"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mn-cs"/>
                          </a:rPr>
                          <m:t>(</m:t>
                        </m:r>
                        <m:r>
                          <a:rPr kumimoji="1" lang="en-US" altLang="zh-CN" sz="2400" i="1"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mn-cs"/>
                          </a:rPr>
                          <m:t>𝑡</m:t>
                        </m:r>
                        <m:r>
                          <a:rPr kumimoji="1" lang="en-US" altLang="zh-CN" sz="2400" i="1"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mn-cs"/>
                          </a:rPr>
                          <m:t>)</m:t>
                        </m:r>
                      </m:oMath>
                    </m:oMathPara>
                  </a14:m>
                  <a:endParaRPr kumimoji="1" lang="en-US" altLang="zh-CN" sz="200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endParaRPr>
                </a:p>
              </p:txBody>
            </p:sp>
          </mc:Choice>
          <mc:Fallback xmlns="">
            <p:sp>
              <p:nvSpPr>
                <p:cNvPr id="25614" name="Text Box 19">
                  <a:extLst>
                    <a:ext uri="{FF2B5EF4-FFF2-40B4-BE49-F238E27FC236}">
                      <a16:creationId xmlns:a16="http://schemas.microsoft.com/office/drawing/2014/main" id="{F15B1613-C177-4E08-9C31-B84E1197BA5E}"/>
                    </a:ext>
                  </a:extLst>
                </p:cNvPr>
                <p:cNvSpPr txBox="1">
                  <a:spLocks noRot="1" noChangeAspect="1" noMove="1" noResize="1" noEditPoints="1" noAdjustHandles="1" noChangeArrowheads="1" noChangeShapeType="1" noTextEdit="1"/>
                </p:cNvSpPr>
                <p:nvPr/>
              </p:nvSpPr>
              <p:spPr bwMode="auto">
                <a:xfrm>
                  <a:off x="1619250" y="4368821"/>
                  <a:ext cx="1077913" cy="461523"/>
                </a:xfrm>
                <a:prstGeom prst="rect">
                  <a:avLst/>
                </a:prstGeom>
                <a:blipFill>
                  <a:blip r:embed="rId6"/>
                  <a:stretch>
                    <a:fillRect b="-2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615" name="Text Box 20">
                  <a:extLst>
                    <a:ext uri="{FF2B5EF4-FFF2-40B4-BE49-F238E27FC236}">
                      <a16:creationId xmlns:a16="http://schemas.microsoft.com/office/drawing/2014/main" id="{FEF54FE9-F28F-4DF7-91C1-B5F78B8792D5}"/>
                    </a:ext>
                  </a:extLst>
                </p:cNvPr>
                <p:cNvSpPr txBox="1">
                  <a:spLocks noChangeArrowheads="1"/>
                </p:cNvSpPr>
                <p:nvPr/>
              </p:nvSpPr>
              <p:spPr bwMode="auto">
                <a:xfrm>
                  <a:off x="1403551" y="5950892"/>
                  <a:ext cx="2942662" cy="4615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14:m>
                    <m:oMath xmlns:m="http://schemas.openxmlformats.org/officeDocument/2006/math">
                      <m:r>
                        <a:rPr kumimoji="1"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ea typeface="楷体" panose="02010609060101010101" pitchFamily="49" charset="-122"/>
                          <a:cs typeface="+mn-cs"/>
                        </a:rPr>
                        <m:t>0</m:t>
                      </m:r>
                    </m:oMath>
                  </a14:m>
                  <a:r>
                    <a:rPr kumimoji="1"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rPr>
                    <a:t>       </a:t>
                  </a:r>
                  <a14:m>
                    <m:oMath xmlns:m="http://schemas.openxmlformats.org/officeDocument/2006/math">
                      <m:r>
                        <a:rPr kumimoji="1"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ea typeface="楷体" panose="02010609060101010101" pitchFamily="49" charset="-122"/>
                          <a:cs typeface="+mn-cs"/>
                        </a:rPr>
                        <m:t>𝑡</m:t>
                      </m:r>
                      <m:r>
                        <a:rPr kumimoji="1" lang="en-US" altLang="zh-CN" sz="2400" b="0" i="1" u="none" strike="noStrike" kern="1200" cap="none" spc="0" normalizeH="0" baseline="-25000" noProof="0" dirty="0">
                          <a:ln>
                            <a:noFill/>
                          </a:ln>
                          <a:solidFill>
                            <a:prstClr val="black"/>
                          </a:solidFill>
                          <a:effectLst/>
                          <a:uLnTx/>
                          <a:uFillTx/>
                          <a:latin typeface="Cambria Math" panose="02040503050406030204" pitchFamily="18" charset="0"/>
                          <a:ea typeface="楷体" panose="02010609060101010101" pitchFamily="49" charset="-122"/>
                          <a:cs typeface="+mn-cs"/>
                        </a:rPr>
                        <m:t>0</m:t>
                      </m:r>
                    </m:oMath>
                  </a14:m>
                  <a:r>
                    <a:rPr kumimoji="1" lang="en-US" altLang="zh-CN" sz="2400" b="0" i="0" u="none" strike="noStrike" kern="1200" cap="none" spc="0" normalizeH="0" baseline="-25000" noProof="0" dirty="0">
                      <a:ln>
                        <a:noFill/>
                      </a:ln>
                      <a:solidFill>
                        <a:prstClr val="black"/>
                      </a:solidFill>
                      <a:effectLst/>
                      <a:uLnTx/>
                      <a:uFillTx/>
                      <a:latin typeface="Times New Roman" panose="02020603050405020304" pitchFamily="18" charset="0"/>
                      <a:ea typeface="楷体" panose="02010609060101010101" pitchFamily="49" charset="-122"/>
                      <a:cs typeface="+mn-cs"/>
                    </a:rPr>
                    <a:t>          </a:t>
                  </a:r>
                  <a14:m>
                    <m:oMath xmlns:m="http://schemas.openxmlformats.org/officeDocument/2006/math">
                      <m:r>
                        <a:rPr kumimoji="1" lang="zh-CN" altLang="en-US" sz="2400" b="0" i="1" u="none" strike="noStrike" kern="1200" cap="none" spc="0" normalizeH="0" baseline="0" noProof="0" dirty="0" smtClean="0">
                          <a:ln>
                            <a:noFill/>
                          </a:ln>
                          <a:solidFill>
                            <a:prstClr val="black"/>
                          </a:solidFill>
                          <a:effectLst/>
                          <a:uLnTx/>
                          <a:uFillTx/>
                          <a:latin typeface="Cambria Math" panose="02040503050406030204" pitchFamily="18" charset="0"/>
                          <a:ea typeface="楷体" panose="02010609060101010101" pitchFamily="49" charset="-122"/>
                          <a:sym typeface="Symbol" panose="05050102010706020507" pitchFamily="18" charset="2"/>
                        </a:rPr>
                        <m:t>𝜏</m:t>
                      </m:r>
                    </m:oMath>
                  </a14:m>
                  <a:r>
                    <a:rPr kumimoji="1"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sym typeface="Symbol" panose="05050102010706020507" pitchFamily="18" charset="2"/>
                    </a:rPr>
                    <a:t>             </a:t>
                  </a:r>
                  <a14:m>
                    <m:oMath xmlns:m="http://schemas.openxmlformats.org/officeDocument/2006/math">
                      <m:r>
                        <a:rPr kumimoji="1" lang="en-US" altLang="zh-CN" sz="2400" b="0" i="1" u="none" strike="noStrike" kern="1200" cap="none" spc="0" normalizeH="0" baseline="0" noProof="0" dirty="0" smtClean="0">
                          <a:ln>
                            <a:noFill/>
                          </a:ln>
                          <a:solidFill>
                            <a:prstClr val="black"/>
                          </a:solidFill>
                          <a:effectLst/>
                          <a:uLnTx/>
                          <a:uFillTx/>
                          <a:latin typeface="Cambria Math" panose="02040503050406030204" pitchFamily="18" charset="0"/>
                          <a:ea typeface="楷体" panose="02010609060101010101" pitchFamily="49" charset="-122"/>
                          <a:cs typeface="+mn-cs"/>
                          <a:sym typeface="Symbol" panose="05050102010706020507" pitchFamily="18" charset="2"/>
                        </a:rPr>
                        <m:t>𝑡</m:t>
                      </m:r>
                    </m:oMath>
                  </a14:m>
                  <a:endParaRPr kumimoji="1" lang="en-US" altLang="zh-CN" sz="2400" b="0"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mn-cs"/>
                  </a:endParaRPr>
                </a:p>
              </p:txBody>
            </p:sp>
          </mc:Choice>
          <mc:Fallback xmlns="">
            <p:sp>
              <p:nvSpPr>
                <p:cNvPr id="25615" name="Text Box 20">
                  <a:extLst>
                    <a:ext uri="{FF2B5EF4-FFF2-40B4-BE49-F238E27FC236}">
                      <a16:creationId xmlns:a16="http://schemas.microsoft.com/office/drawing/2014/main" id="{FEF54FE9-F28F-4DF7-91C1-B5F78B8792D5}"/>
                    </a:ext>
                  </a:extLst>
                </p:cNvPr>
                <p:cNvSpPr txBox="1">
                  <a:spLocks noRot="1" noChangeAspect="1" noMove="1" noResize="1" noEditPoints="1" noAdjustHandles="1" noChangeArrowheads="1" noChangeShapeType="1" noTextEdit="1"/>
                </p:cNvSpPr>
                <p:nvPr/>
              </p:nvSpPr>
              <p:spPr bwMode="auto">
                <a:xfrm>
                  <a:off x="1403551" y="5950892"/>
                  <a:ext cx="2942662" cy="461523"/>
                </a:xfrm>
                <a:prstGeom prst="rect">
                  <a:avLst/>
                </a:prstGeom>
                <a:blipFill>
                  <a:blip r:embed="rId7"/>
                  <a:stretch>
                    <a:fillRect l="-414" b="-39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sp>
        <p:nvSpPr>
          <p:cNvPr id="25608" name="矩形 22">
            <a:extLst>
              <a:ext uri="{FF2B5EF4-FFF2-40B4-BE49-F238E27FC236}">
                <a16:creationId xmlns:a16="http://schemas.microsoft.com/office/drawing/2014/main" id="{224C530F-1E95-4C59-8DB6-4C59FC64FC63}"/>
              </a:ext>
            </a:extLst>
          </p:cNvPr>
          <p:cNvSpPr>
            <a:spLocks noChangeArrowheads="1"/>
          </p:cNvSpPr>
          <p:nvPr/>
        </p:nvSpPr>
        <p:spPr bwMode="auto">
          <a:xfrm>
            <a:off x="718007" y="1272370"/>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用阶跃表示矩形脉冲</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标题 1">
            <a:extLst>
              <a:ext uri="{FF2B5EF4-FFF2-40B4-BE49-F238E27FC236}">
                <a16:creationId xmlns:a16="http://schemas.microsoft.com/office/drawing/2014/main" id="{B673D1B6-4C6A-4565-AC20-5CDDBA3FF2D5}"/>
              </a:ext>
            </a:extLst>
          </p:cNvPr>
          <p:cNvSpPr>
            <a:spLocks noGrp="1"/>
          </p:cNvSpPr>
          <p:nvPr>
            <p:ph type="title"/>
          </p:nvPr>
        </p:nvSpPr>
        <p:spPr/>
        <p:txBody>
          <a:bodyPr/>
          <a:lstStyle/>
          <a:p>
            <a:pPr eaLnBrk="1" hangingPunct="1"/>
            <a:r>
              <a:rPr lang="en-US" altLang="zh-CN"/>
              <a:t>1.4  </a:t>
            </a:r>
            <a:r>
              <a:rPr lang="zh-CN" altLang="en-US"/>
              <a:t>单位冲激与单位阶跃函数</a:t>
            </a:r>
          </a:p>
        </p:txBody>
      </p:sp>
      <p:sp>
        <p:nvSpPr>
          <p:cNvPr id="4" name="灯片编号占位符 3">
            <a:extLst>
              <a:ext uri="{FF2B5EF4-FFF2-40B4-BE49-F238E27FC236}">
                <a16:creationId xmlns:a16="http://schemas.microsoft.com/office/drawing/2014/main" id="{4CC08D0C-8BA9-48FE-889C-23084ED1EE5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4D9D3F-A080-4A5E-9171-EA5ADCCBBC6C}"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5608" name="矩形 22">
            <a:extLst>
              <a:ext uri="{FF2B5EF4-FFF2-40B4-BE49-F238E27FC236}">
                <a16:creationId xmlns:a16="http://schemas.microsoft.com/office/drawing/2014/main" id="{224C530F-1E95-4C59-8DB6-4C59FC64FC63}"/>
              </a:ext>
            </a:extLst>
          </p:cNvPr>
          <p:cNvSpPr>
            <a:spLocks noChangeArrowheads="1"/>
          </p:cNvSpPr>
          <p:nvPr/>
        </p:nvSpPr>
        <p:spPr bwMode="auto">
          <a:xfrm>
            <a:off x="718007" y="1272370"/>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与冲激函数有关的信号</a:t>
            </a:r>
          </a:p>
        </p:txBody>
      </p:sp>
      <mc:AlternateContent xmlns:mc="http://schemas.openxmlformats.org/markup-compatibility/2006" xmlns:a14="http://schemas.microsoft.com/office/drawing/2010/main">
        <mc:Choice Requires="a14">
          <p:sp>
            <p:nvSpPr>
              <p:cNvPr id="24" name="Object 3">
                <a:extLst>
                  <a:ext uri="{FF2B5EF4-FFF2-40B4-BE49-F238E27FC236}">
                    <a16:creationId xmlns:a16="http://schemas.microsoft.com/office/drawing/2014/main" id="{D320CD1D-9D14-448D-B295-9178D8D87F17}"/>
                  </a:ext>
                </a:extLst>
              </p:cNvPr>
              <p:cNvSpPr txBox="1"/>
              <p:nvPr/>
            </p:nvSpPr>
            <p:spPr bwMode="auto">
              <a:xfrm>
                <a:off x="860718" y="1816787"/>
                <a:ext cx="1191002" cy="461665"/>
              </a:xfrm>
              <a:prstGeom prst="rect">
                <a:avLst/>
              </a:prstGeom>
              <a:noFill/>
              <a:ln>
                <a:noFill/>
              </a:ln>
            </p:spPr>
            <p:txBody>
              <a:bodyPr>
                <a:noAutofit/>
              </a:bodyPr>
              <a:lstStyle/>
              <a:p>
                <a14:m>
                  <m:oMath xmlns:m="http://schemas.openxmlformats.org/officeDocument/2006/math">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en-US" sz="2400" dirty="0">
                    <a:solidFill>
                      <a:srgbClr val="000000"/>
                    </a:solidFill>
                  </a:rPr>
                  <a:t> </a:t>
                </a:r>
                <a14:m>
                  <m:oMath xmlns:m="http://schemas.openxmlformats.org/officeDocument/2006/math">
                    <m:r>
                      <a:rPr lang="en-US" sz="2400" i="1">
                        <a:solidFill>
                          <a:srgbClr val="000000"/>
                        </a:solidFill>
                        <a:latin typeface="Cambria Math" panose="02040503050406030204" pitchFamily="18" charset="0"/>
                      </a:rPr>
                      <m:t>=</m:t>
                    </m:r>
                  </m:oMath>
                </a14:m>
                <a:endParaRPr lang="en-US" sz="2400" dirty="0"/>
              </a:p>
            </p:txBody>
          </p:sp>
        </mc:Choice>
        <mc:Fallback xmlns="">
          <p:sp>
            <p:nvSpPr>
              <p:cNvPr id="24" name="Object 3">
                <a:extLst>
                  <a:ext uri="{FF2B5EF4-FFF2-40B4-BE49-F238E27FC236}">
                    <a16:creationId xmlns:a16="http://schemas.microsoft.com/office/drawing/2014/main" id="{D320CD1D-9D14-448D-B295-9178D8D87F17}"/>
                  </a:ext>
                </a:extLst>
              </p:cNvPr>
              <p:cNvSpPr txBox="1">
                <a:spLocks noRot="1" noChangeAspect="1" noMove="1" noResize="1" noEditPoints="1" noAdjustHandles="1" noChangeArrowheads="1" noChangeShapeType="1" noTextEdit="1"/>
              </p:cNvSpPr>
              <p:nvPr/>
            </p:nvSpPr>
            <p:spPr bwMode="auto">
              <a:xfrm>
                <a:off x="860718" y="1816787"/>
                <a:ext cx="1191002" cy="461665"/>
              </a:xfrm>
              <a:prstGeom prst="rect">
                <a:avLst/>
              </a:prstGeom>
              <a:blipFill>
                <a:blip r:embed="rId2"/>
                <a:stretch>
                  <a:fillRect l="-1531" b="-1973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Object 4">
                <a:extLst>
                  <a:ext uri="{FF2B5EF4-FFF2-40B4-BE49-F238E27FC236}">
                    <a16:creationId xmlns:a16="http://schemas.microsoft.com/office/drawing/2014/main" id="{2119EE37-C8E8-4724-B51B-91AA27A675BE}"/>
                  </a:ext>
                </a:extLst>
              </p:cNvPr>
              <p:cNvSpPr txBox="1"/>
              <p:nvPr/>
            </p:nvSpPr>
            <p:spPr bwMode="auto">
              <a:xfrm>
                <a:off x="4654013" y="1822428"/>
                <a:ext cx="1646180" cy="46166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𝑎𝑡</m:t>
                          </m:r>
                        </m:sup>
                      </m:sSup>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5" name="Object 4">
                <a:extLst>
                  <a:ext uri="{FF2B5EF4-FFF2-40B4-BE49-F238E27FC236}">
                    <a16:creationId xmlns:a16="http://schemas.microsoft.com/office/drawing/2014/main" id="{2119EE37-C8E8-4724-B51B-91AA27A675BE}"/>
                  </a:ext>
                </a:extLst>
              </p:cNvPr>
              <p:cNvSpPr txBox="1">
                <a:spLocks noRot="1" noChangeAspect="1" noMove="1" noResize="1" noEditPoints="1" noAdjustHandles="1" noChangeArrowheads="1" noChangeShapeType="1" noTextEdit="1"/>
              </p:cNvSpPr>
              <p:nvPr/>
            </p:nvSpPr>
            <p:spPr bwMode="auto">
              <a:xfrm>
                <a:off x="4654013" y="1822428"/>
                <a:ext cx="1646180" cy="461665"/>
              </a:xfrm>
              <a:prstGeom prst="rect">
                <a:avLst/>
              </a:prstGeom>
              <a:blipFill>
                <a:blip r:embed="rId3"/>
                <a:stretch>
                  <a:fillRect b="-1973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5">
                <a:extLst>
                  <a:ext uri="{FF2B5EF4-FFF2-40B4-BE49-F238E27FC236}">
                    <a16:creationId xmlns:a16="http://schemas.microsoft.com/office/drawing/2014/main" id="{DE720FF6-CC50-4B4C-86FC-2F6A2509B532}"/>
                  </a:ext>
                </a:extLst>
              </p:cNvPr>
              <p:cNvSpPr txBox="1"/>
              <p:nvPr/>
            </p:nvSpPr>
            <p:spPr bwMode="auto">
              <a:xfrm>
                <a:off x="860718" y="2492896"/>
                <a:ext cx="2775178" cy="90748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−1</m:t>
                              </m:r>
                            </m:sup>
                          </m:sSup>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6" name="Object 5">
                <a:extLst>
                  <a:ext uri="{FF2B5EF4-FFF2-40B4-BE49-F238E27FC236}">
                    <a16:creationId xmlns:a16="http://schemas.microsoft.com/office/drawing/2014/main" id="{DE720FF6-CC50-4B4C-86FC-2F6A2509B532}"/>
                  </a:ext>
                </a:extLst>
              </p:cNvPr>
              <p:cNvSpPr txBox="1">
                <a:spLocks noRot="1" noChangeAspect="1" noMove="1" noResize="1" noEditPoints="1" noAdjustHandles="1" noChangeArrowheads="1" noChangeShapeType="1" noTextEdit="1"/>
              </p:cNvSpPr>
              <p:nvPr/>
            </p:nvSpPr>
            <p:spPr bwMode="auto">
              <a:xfrm>
                <a:off x="860718" y="2492896"/>
                <a:ext cx="2775178" cy="907480"/>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对象 26">
                <a:extLst>
                  <a:ext uri="{FF2B5EF4-FFF2-40B4-BE49-F238E27FC236}">
                    <a16:creationId xmlns:a16="http://schemas.microsoft.com/office/drawing/2014/main" id="{AAE1D907-0BCD-47D7-A4A0-2056EB8EFD95}"/>
                  </a:ext>
                </a:extLst>
              </p:cNvPr>
              <p:cNvSpPr txBox="1"/>
              <p:nvPr/>
            </p:nvSpPr>
            <p:spPr bwMode="auto">
              <a:xfrm>
                <a:off x="860718" y="3517989"/>
                <a:ext cx="3119722" cy="7667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𝑡</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7" name="对象 26">
                <a:extLst>
                  <a:ext uri="{FF2B5EF4-FFF2-40B4-BE49-F238E27FC236}">
                    <a16:creationId xmlns:a16="http://schemas.microsoft.com/office/drawing/2014/main" id="{AAE1D907-0BCD-47D7-A4A0-2056EB8EFD95}"/>
                  </a:ext>
                </a:extLst>
              </p:cNvPr>
              <p:cNvSpPr txBox="1">
                <a:spLocks noRot="1" noChangeAspect="1" noMove="1" noResize="1" noEditPoints="1" noAdjustHandles="1" noChangeArrowheads="1" noChangeShapeType="1" noTextEdit="1"/>
              </p:cNvSpPr>
              <p:nvPr/>
            </p:nvSpPr>
            <p:spPr bwMode="auto">
              <a:xfrm>
                <a:off x="860718" y="3517989"/>
                <a:ext cx="3119722" cy="766763"/>
              </a:xfrm>
              <a:prstGeom prst="rect">
                <a:avLst/>
              </a:prstGeom>
              <a:blipFill>
                <a:blip r:embed="rId5"/>
                <a:stretch>
                  <a:fillRect b="-634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BA3F1B6F-473B-4364-967A-C6C486A0A77B}"/>
                  </a:ext>
                </a:extLst>
              </p:cNvPr>
              <p:cNvSpPr txBox="1"/>
              <p:nvPr/>
            </p:nvSpPr>
            <p:spPr>
              <a:xfrm>
                <a:off x="860717" y="4523012"/>
                <a:ext cx="4359356" cy="8891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limLoc m:val="subSup"/>
                          <m:grow m:val="on"/>
                          <m:ctrlPr>
                            <a:rPr lang="en-US" sz="2400" i="1" smtClean="0">
                              <a:latin typeface="Cambria Math" panose="02040503050406030204" pitchFamily="18" charset="0"/>
                            </a:rPr>
                          </m:ctrlPr>
                        </m:naryPr>
                        <m:sub>
                          <m:r>
                            <a:rPr lang="en-US" sz="2400" i="0">
                              <a:latin typeface="Cambria Math" panose="02040503050406030204" pitchFamily="18" charset="0"/>
                            </a:rPr>
                            <m:t>−∞</m:t>
                          </m:r>
                        </m:sub>
                        <m:sup>
                          <m:r>
                            <a:rPr lang="en-US" sz="2400" i="0">
                              <a:latin typeface="Cambria Math" panose="02040503050406030204" pitchFamily="18" charset="0"/>
                            </a:rPr>
                            <m:t>∞</m:t>
                          </m:r>
                        </m:sup>
                        <m:e>
                          <m:sSup>
                            <m:sSupPr>
                              <m:ctrlPr>
                                <a:rPr lang="en-US" sz="2400" i="1">
                                  <a:solidFill>
                                    <a:srgbClr val="836967"/>
                                  </a:solidFill>
                                  <a:latin typeface="Cambria Math" panose="02040503050406030204" pitchFamily="18" charset="0"/>
                                </a:rPr>
                              </m:ctrlPr>
                            </m:sSupPr>
                            <m:e>
                              <m:r>
                                <m:rPr>
                                  <m:sty m:val="p"/>
                                </m:rPr>
                                <a:rPr lang="en-US" sz="2400" i="0">
                                  <a:latin typeface="Cambria Math" panose="02040503050406030204" pitchFamily="18" charset="0"/>
                                </a:rPr>
                                <m:t>e</m:t>
                              </m:r>
                            </m:e>
                            <m:sup>
                              <m:r>
                                <a:rPr lang="en-US" sz="2400" i="0">
                                  <a:latin typeface="Cambria Math" panose="02040503050406030204" pitchFamily="18" charset="0"/>
                                </a:rPr>
                                <m:t>−</m:t>
                              </m:r>
                              <m:r>
                                <m:rPr>
                                  <m:sty m:val="p"/>
                                </m:rPr>
                                <a:rPr lang="en-US" sz="2400" i="0">
                                  <a:latin typeface="Cambria Math" panose="02040503050406030204" pitchFamily="18" charset="0"/>
                                </a:rPr>
                                <m:t>j</m:t>
                              </m:r>
                              <m:r>
                                <a:rPr lang="en-US" sz="2400" i="1">
                                  <a:latin typeface="Cambria Math" panose="02040503050406030204" pitchFamily="18" charset="0"/>
                                </a:rPr>
                                <m:t>𝜔</m:t>
                              </m:r>
                              <m:r>
                                <a:rPr lang="en-US" sz="2400" i="1">
                                  <a:latin typeface="Cambria Math" panose="02040503050406030204" pitchFamily="18" charset="0"/>
                                </a:rPr>
                                <m:t>𝑡</m:t>
                              </m:r>
                            </m:sup>
                          </m:sSup>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𝛿</m:t>
                              </m:r>
                              <m:d>
                                <m:dPr>
                                  <m:ctrlPr>
                                    <a:rPr lang="en-US" sz="2400" i="1">
                                      <a:latin typeface="Cambria Math" panose="02040503050406030204" pitchFamily="18" charset="0"/>
                                    </a:rPr>
                                  </m:ctrlPr>
                                </m:dPr>
                                <m:e>
                                  <m:r>
                                    <a:rPr lang="en-US" sz="2400" i="1">
                                      <a:latin typeface="Cambria Math" panose="02040503050406030204" pitchFamily="18" charset="0"/>
                                    </a:rPr>
                                    <m:t>𝑡</m:t>
                                  </m:r>
                                </m:e>
                              </m:d>
                              <m:r>
                                <a:rPr lang="en-US" sz="2400" i="0">
                                  <a:latin typeface="Cambria Math" panose="02040503050406030204" pitchFamily="18" charset="0"/>
                                </a:rPr>
                                <m:t>−</m:t>
                              </m:r>
                              <m:r>
                                <a:rPr lang="en-US" sz="2400" i="1">
                                  <a:latin typeface="Cambria Math" panose="02040503050406030204" pitchFamily="18" charset="0"/>
                                </a:rPr>
                                <m:t>𝛿</m:t>
                              </m:r>
                              <m:d>
                                <m:dPr>
                                  <m:ctrlPr>
                                    <a:rPr lang="en-US" sz="2400" i="1">
                                      <a:latin typeface="Cambria Math" panose="02040503050406030204" pitchFamily="18" charset="0"/>
                                    </a:rPr>
                                  </m:ctrlPr>
                                </m:dPr>
                                <m:e>
                                  <m:r>
                                    <a:rPr lang="en-US" sz="2400" i="1">
                                      <a:latin typeface="Cambria Math" panose="02040503050406030204" pitchFamily="18" charset="0"/>
                                    </a:rPr>
                                    <m:t>𝑡</m:t>
                                  </m:r>
                                  <m:r>
                                    <a:rPr lang="en-US" sz="2400" i="0">
                                      <a:latin typeface="Cambria Math" panose="02040503050406030204" pitchFamily="18" charset="0"/>
                                    </a:rPr>
                                    <m:t>−</m:t>
                                  </m:r>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𝑡</m:t>
                                      </m:r>
                                    </m:e>
                                    <m:sub>
                                      <m:r>
                                        <a:rPr lang="en-US" sz="2400" i="0">
                                          <a:latin typeface="Cambria Math" panose="02040503050406030204" pitchFamily="18" charset="0"/>
                                        </a:rPr>
                                        <m:t>0</m:t>
                                      </m:r>
                                    </m:sub>
                                  </m:sSub>
                                </m:e>
                              </m:d>
                            </m:e>
                          </m:d>
                          <m:r>
                            <m:rPr>
                              <m:sty m:val="p"/>
                            </m:rPr>
                            <a:rPr lang="en-US" sz="2400" i="0">
                              <a:latin typeface="Cambria Math" panose="02040503050406030204" pitchFamily="18" charset="0"/>
                            </a:rPr>
                            <m:t>d</m:t>
                          </m:r>
                          <m:r>
                            <a:rPr lang="en-US" sz="2400" i="1">
                              <a:latin typeface="Cambria Math" panose="02040503050406030204" pitchFamily="18" charset="0"/>
                            </a:rPr>
                            <m:t>𝑡</m:t>
                          </m:r>
                        </m:e>
                      </m:nary>
                      <m:r>
                        <a:rPr lang="en-US" sz="2400">
                          <a:latin typeface="Cambria Math" panose="02040503050406030204" pitchFamily="18" charset="0"/>
                        </a:rPr>
                        <m:t>=</m:t>
                      </m:r>
                    </m:oMath>
                  </m:oMathPara>
                </a14:m>
                <a:endParaRPr lang="en-US" sz="2400" dirty="0"/>
              </a:p>
            </p:txBody>
          </p:sp>
        </mc:Choice>
        <mc:Fallback xmlns="">
          <p:sp>
            <p:nvSpPr>
              <p:cNvPr id="42" name="文本框 41">
                <a:extLst>
                  <a:ext uri="{FF2B5EF4-FFF2-40B4-BE49-F238E27FC236}">
                    <a16:creationId xmlns:a16="http://schemas.microsoft.com/office/drawing/2014/main" id="{BA3F1B6F-473B-4364-967A-C6C486A0A77B}"/>
                  </a:ext>
                </a:extLst>
              </p:cNvPr>
              <p:cNvSpPr txBox="1">
                <a:spLocks noRot="1" noChangeAspect="1" noMove="1" noResize="1" noEditPoints="1" noAdjustHandles="1" noChangeArrowheads="1" noChangeShapeType="1" noTextEdit="1"/>
              </p:cNvSpPr>
              <p:nvPr/>
            </p:nvSpPr>
            <p:spPr>
              <a:xfrm>
                <a:off x="860717" y="4523012"/>
                <a:ext cx="4359356" cy="88915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F32F87CF-FE58-4EE8-8EC3-151EFC3BFF15}"/>
                  </a:ext>
                </a:extLst>
              </p:cNvPr>
              <p:cNvSpPr txBox="1"/>
              <p:nvPr/>
            </p:nvSpPr>
            <p:spPr>
              <a:xfrm>
                <a:off x="832696" y="5541926"/>
                <a:ext cx="7238369" cy="9873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400" i="1" smtClean="0">
                              <a:solidFill>
                                <a:srgbClr val="836967"/>
                              </a:solidFill>
                              <a:latin typeface="Cambria Math" panose="02040503050406030204" pitchFamily="18" charset="0"/>
                            </a:rPr>
                          </m:ctrlPr>
                        </m:mPr>
                        <m:mr>
                          <m:e/>
                        </m:mr>
                        <m:mr>
                          <m:e>
                            <m:nary>
                              <m:naryPr>
                                <m:limLoc m:val="subSup"/>
                                <m:grow m:val="on"/>
                                <m:ctrlPr>
                                  <a:rPr lang="en-US" sz="2400" i="1">
                                    <a:latin typeface="Cambria Math" panose="02040503050406030204" pitchFamily="18" charset="0"/>
                                  </a:rPr>
                                </m:ctrlPr>
                              </m:naryPr>
                              <m:sub>
                                <m:r>
                                  <a:rPr lang="en-US" sz="2400">
                                    <a:latin typeface="Cambria Math" panose="02040503050406030204" pitchFamily="18" charset="0"/>
                                  </a:rPr>
                                  <m:t>−∞</m:t>
                                </m:r>
                              </m:sub>
                              <m:sup>
                                <m:r>
                                  <a:rPr lang="en-US" sz="2400">
                                    <a:latin typeface="Cambria Math" panose="02040503050406030204" pitchFamily="18" charset="0"/>
                                  </a:rPr>
                                  <m:t>∞</m:t>
                                </m:r>
                              </m:sup>
                              <m:e>
                                <m:sSup>
                                  <m:sSupPr>
                                    <m:ctrlPr>
                                      <a:rPr lang="en-US" sz="2400" i="1">
                                        <a:solidFill>
                                          <a:srgbClr val="836967"/>
                                        </a:solidFill>
                                        <a:latin typeface="Cambria Math" panose="02040503050406030204" pitchFamily="18" charset="0"/>
                                      </a:rPr>
                                    </m:ctrlPr>
                                  </m:sSupPr>
                                  <m:e>
                                    <m:r>
                                      <m:rPr>
                                        <m:sty m:val="p"/>
                                      </m:rPr>
                                      <a:rPr lang="en-US" sz="2400" i="0">
                                        <a:latin typeface="Cambria Math" panose="02040503050406030204" pitchFamily="18" charset="0"/>
                                      </a:rPr>
                                      <m:t>e</m:t>
                                    </m:r>
                                  </m:e>
                                  <m:sup>
                                    <m:r>
                                      <a:rPr lang="en-US" sz="2400">
                                        <a:latin typeface="Cambria Math" panose="02040503050406030204" pitchFamily="18" charset="0"/>
                                      </a:rPr>
                                      <m:t>−</m:t>
                                    </m:r>
                                    <m:r>
                                      <m:rPr>
                                        <m:sty m:val="p"/>
                                      </m:rPr>
                                      <a:rPr lang="en-US" sz="2400" i="0">
                                        <a:latin typeface="Cambria Math" panose="02040503050406030204" pitchFamily="18" charset="0"/>
                                      </a:rPr>
                                      <m:t>j</m:t>
                                    </m:r>
                                    <m:r>
                                      <a:rPr lang="en-US" sz="2400" i="1">
                                        <a:latin typeface="Cambria Math" panose="02040503050406030204" pitchFamily="18" charset="0"/>
                                      </a:rPr>
                                      <m:t>𝜔</m:t>
                                    </m:r>
                                    <m:r>
                                      <a:rPr lang="en-US" sz="2400" i="1">
                                        <a:latin typeface="Cambria Math" panose="02040503050406030204" pitchFamily="18" charset="0"/>
                                      </a:rPr>
                                      <m:t>𝑡</m:t>
                                    </m:r>
                                  </m:sup>
                                </m:sSup>
                                <m:r>
                                  <a:rPr lang="en-US" sz="2400" i="1">
                                    <a:latin typeface="Cambria Math" panose="02040503050406030204" pitchFamily="18" charset="0"/>
                                  </a:rPr>
                                  <m:t>𝛿</m:t>
                                </m:r>
                                <m:d>
                                  <m:dPr>
                                    <m:ctrlPr>
                                      <a:rPr lang="en-US" sz="2400" i="1">
                                        <a:latin typeface="Cambria Math" panose="02040503050406030204" pitchFamily="18" charset="0"/>
                                      </a:rPr>
                                    </m:ctrlPr>
                                  </m:dPr>
                                  <m:e>
                                    <m:r>
                                      <a:rPr lang="en-US" sz="2400" i="1">
                                        <a:latin typeface="Cambria Math" panose="02040503050406030204" pitchFamily="18" charset="0"/>
                                      </a:rPr>
                                      <m:t>𝑡</m:t>
                                    </m:r>
                                  </m:e>
                                </m:d>
                                <m:r>
                                  <m:rPr>
                                    <m:sty m:val="p"/>
                                  </m:rPr>
                                  <a:rPr lang="en-US" sz="2400" i="0">
                                    <a:latin typeface="Cambria Math" panose="02040503050406030204" pitchFamily="18" charset="0"/>
                                  </a:rPr>
                                  <m:t>d</m:t>
                                </m:r>
                                <m:r>
                                  <a:rPr lang="en-US" sz="2400" i="1">
                                    <a:latin typeface="Cambria Math" panose="02040503050406030204" pitchFamily="18" charset="0"/>
                                  </a:rPr>
                                  <m:t>𝑡</m:t>
                                </m:r>
                              </m:e>
                            </m:nary>
                            <m:r>
                              <a:rPr lang="en-US" sz="2400">
                                <a:latin typeface="Cambria Math" panose="02040503050406030204" pitchFamily="18" charset="0"/>
                              </a:rPr>
                              <m:t>−</m:t>
                            </m:r>
                            <m:nary>
                              <m:naryPr>
                                <m:limLoc m:val="subSup"/>
                                <m:grow m:val="on"/>
                                <m:ctrlPr>
                                  <a:rPr lang="en-US" sz="2400" i="1">
                                    <a:latin typeface="Cambria Math" panose="02040503050406030204" pitchFamily="18" charset="0"/>
                                  </a:rPr>
                                </m:ctrlPr>
                              </m:naryPr>
                              <m:sub>
                                <m:r>
                                  <a:rPr lang="en-US" sz="2400">
                                    <a:latin typeface="Cambria Math" panose="02040503050406030204" pitchFamily="18" charset="0"/>
                                  </a:rPr>
                                  <m:t>−∞</m:t>
                                </m:r>
                              </m:sub>
                              <m:sup>
                                <m:r>
                                  <a:rPr lang="en-US" sz="2400">
                                    <a:latin typeface="Cambria Math" panose="02040503050406030204" pitchFamily="18" charset="0"/>
                                  </a:rPr>
                                  <m:t>∞</m:t>
                                </m:r>
                              </m:sup>
                              <m:e>
                                <m:sSup>
                                  <m:sSupPr>
                                    <m:ctrlPr>
                                      <a:rPr lang="en-US" sz="2400" i="1">
                                        <a:solidFill>
                                          <a:srgbClr val="836967"/>
                                        </a:solidFill>
                                        <a:latin typeface="Cambria Math" panose="02040503050406030204" pitchFamily="18" charset="0"/>
                                      </a:rPr>
                                    </m:ctrlPr>
                                  </m:sSupPr>
                                  <m:e>
                                    <m:r>
                                      <m:rPr>
                                        <m:sty m:val="p"/>
                                      </m:rPr>
                                      <a:rPr lang="en-US" sz="2400" i="0">
                                        <a:latin typeface="Cambria Math" panose="02040503050406030204" pitchFamily="18" charset="0"/>
                                      </a:rPr>
                                      <m:t>e</m:t>
                                    </m:r>
                                  </m:e>
                                  <m:sup>
                                    <m:r>
                                      <a:rPr lang="en-US" sz="2400">
                                        <a:latin typeface="Cambria Math" panose="02040503050406030204" pitchFamily="18" charset="0"/>
                                      </a:rPr>
                                      <m:t>−</m:t>
                                    </m:r>
                                    <m:r>
                                      <m:rPr>
                                        <m:sty m:val="p"/>
                                      </m:rPr>
                                      <a:rPr lang="en-US" sz="2400" i="0">
                                        <a:latin typeface="Cambria Math" panose="02040503050406030204" pitchFamily="18" charset="0"/>
                                      </a:rPr>
                                      <m:t>j</m:t>
                                    </m:r>
                                    <m:r>
                                      <a:rPr lang="en-US" sz="2400" i="1">
                                        <a:latin typeface="Cambria Math" panose="02040503050406030204" pitchFamily="18" charset="0"/>
                                      </a:rPr>
                                      <m:t>𝜔</m:t>
                                    </m:r>
                                    <m:r>
                                      <a:rPr lang="en-US" sz="2400" i="1">
                                        <a:latin typeface="Cambria Math" panose="02040503050406030204" pitchFamily="18" charset="0"/>
                                      </a:rPr>
                                      <m:t>𝑡</m:t>
                                    </m:r>
                                  </m:sup>
                                </m:sSup>
                                <m:r>
                                  <a:rPr lang="en-US" sz="2400" i="1">
                                    <a:latin typeface="Cambria Math" panose="02040503050406030204" pitchFamily="18" charset="0"/>
                                  </a:rPr>
                                  <m:t>𝛿</m:t>
                                </m:r>
                                <m:d>
                                  <m:dPr>
                                    <m:ctrlPr>
                                      <a:rPr lang="en-US" sz="2400" i="1">
                                        <a:latin typeface="Cambria Math" panose="02040503050406030204" pitchFamily="18" charset="0"/>
                                      </a:rPr>
                                    </m:ctrlPr>
                                  </m:dPr>
                                  <m:e>
                                    <m:r>
                                      <a:rPr lang="en-US" sz="2400" i="1">
                                        <a:latin typeface="Cambria Math" panose="02040503050406030204" pitchFamily="18" charset="0"/>
                                      </a:rPr>
                                      <m:t>𝑡</m:t>
                                    </m:r>
                                    <m:r>
                                      <a:rPr lang="en-US" sz="2400">
                                        <a:latin typeface="Cambria Math" panose="02040503050406030204" pitchFamily="18" charset="0"/>
                                      </a:rPr>
                                      <m:t>−</m:t>
                                    </m:r>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𝑡</m:t>
                                        </m:r>
                                      </m:e>
                                      <m:sub>
                                        <m:r>
                                          <a:rPr lang="en-US" sz="2400">
                                            <a:latin typeface="Cambria Math" panose="02040503050406030204" pitchFamily="18" charset="0"/>
                                          </a:rPr>
                                          <m:t>0</m:t>
                                        </m:r>
                                      </m:sub>
                                    </m:sSub>
                                  </m:e>
                                </m:d>
                                <m:r>
                                  <m:rPr>
                                    <m:sty m:val="p"/>
                                  </m:rPr>
                                  <a:rPr lang="en-US" sz="2400" i="0">
                                    <a:latin typeface="Cambria Math" panose="02040503050406030204" pitchFamily="18" charset="0"/>
                                  </a:rPr>
                                  <m:t>d</m:t>
                                </m:r>
                                <m:r>
                                  <a:rPr lang="en-US" sz="2400" i="1">
                                    <a:latin typeface="Cambria Math" panose="02040503050406030204" pitchFamily="18" charset="0"/>
                                  </a:rPr>
                                  <m:t>𝑡</m:t>
                                </m:r>
                              </m:e>
                            </m:nary>
                            <m:r>
                              <a:rPr lang="en-US" sz="2400" i="0">
                                <a:latin typeface="Cambria Math" panose="02040503050406030204" pitchFamily="18" charset="0"/>
                              </a:rPr>
                              <m:t>=1−</m:t>
                            </m:r>
                            <m:sSup>
                              <m:sSupPr>
                                <m:ctrlPr>
                                  <a:rPr lang="en-US" sz="2400" i="1">
                                    <a:solidFill>
                                      <a:srgbClr val="836967"/>
                                    </a:solidFill>
                                    <a:latin typeface="Cambria Math" panose="02040503050406030204" pitchFamily="18" charset="0"/>
                                  </a:rPr>
                                </m:ctrlPr>
                              </m:sSupPr>
                              <m:e>
                                <m:r>
                                  <m:rPr>
                                    <m:sty m:val="p"/>
                                  </m:rPr>
                                  <a:rPr lang="en-US" sz="2400" i="0">
                                    <a:latin typeface="Cambria Math" panose="02040503050406030204" pitchFamily="18" charset="0"/>
                                  </a:rPr>
                                  <m:t>e</m:t>
                                </m:r>
                              </m:e>
                              <m:sup>
                                <m:r>
                                  <a:rPr lang="en-US" sz="2400" i="0">
                                    <a:latin typeface="Cambria Math" panose="02040503050406030204" pitchFamily="18" charset="0"/>
                                  </a:rPr>
                                  <m:t>−</m:t>
                                </m:r>
                                <m:r>
                                  <m:rPr>
                                    <m:sty m:val="p"/>
                                  </m:rPr>
                                  <a:rPr lang="en-US" sz="2400" i="0">
                                    <a:latin typeface="Cambria Math" panose="02040503050406030204" pitchFamily="18" charset="0"/>
                                  </a:rPr>
                                  <m:t>j</m:t>
                                </m:r>
                                <m:r>
                                  <a:rPr lang="en-US" sz="2400" i="1">
                                    <a:latin typeface="Cambria Math" panose="02040503050406030204" pitchFamily="18" charset="0"/>
                                  </a:rPr>
                                  <m:t>𝜔</m:t>
                                </m:r>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𝑡</m:t>
                                    </m:r>
                                  </m:e>
                                  <m:sub>
                                    <m:r>
                                      <a:rPr lang="en-US" sz="2400" i="0">
                                        <a:latin typeface="Cambria Math" panose="02040503050406030204" pitchFamily="18" charset="0"/>
                                      </a:rPr>
                                      <m:t>0</m:t>
                                    </m:r>
                                  </m:sub>
                                </m:sSub>
                              </m:sup>
                            </m:sSup>
                          </m:e>
                        </m:mr>
                      </m:m>
                    </m:oMath>
                  </m:oMathPara>
                </a14:m>
                <a:endParaRPr lang="en-US" sz="2400" dirty="0"/>
              </a:p>
            </p:txBody>
          </p:sp>
        </mc:Choice>
        <mc:Fallback xmlns="">
          <p:sp>
            <p:nvSpPr>
              <p:cNvPr id="44" name="文本框 43">
                <a:extLst>
                  <a:ext uri="{FF2B5EF4-FFF2-40B4-BE49-F238E27FC236}">
                    <a16:creationId xmlns:a16="http://schemas.microsoft.com/office/drawing/2014/main" id="{F32F87CF-FE58-4EE8-8EC3-151EFC3BFF15}"/>
                  </a:ext>
                </a:extLst>
              </p:cNvPr>
              <p:cNvSpPr txBox="1">
                <a:spLocks noRot="1" noChangeAspect="1" noMove="1" noResize="1" noEditPoints="1" noAdjustHandles="1" noChangeArrowheads="1" noChangeShapeType="1" noTextEdit="1"/>
              </p:cNvSpPr>
              <p:nvPr/>
            </p:nvSpPr>
            <p:spPr>
              <a:xfrm>
                <a:off x="832696" y="5541926"/>
                <a:ext cx="7238369" cy="98738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D2E9F2F-CD87-4159-9E81-63E053D0B8AA}"/>
                  </a:ext>
                </a:extLst>
              </p:cNvPr>
              <p:cNvSpPr txBox="1"/>
              <p:nvPr/>
            </p:nvSpPr>
            <p:spPr>
              <a:xfrm>
                <a:off x="1979712" y="1816787"/>
                <a:ext cx="1872208" cy="46166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0×</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𝛿</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)=0</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5" name="文本框 14">
                <a:extLst>
                  <a:ext uri="{FF2B5EF4-FFF2-40B4-BE49-F238E27FC236}">
                    <a16:creationId xmlns:a16="http://schemas.microsoft.com/office/drawing/2014/main" id="{ED2E9F2F-CD87-4159-9E81-63E053D0B8AA}"/>
                  </a:ext>
                </a:extLst>
              </p:cNvPr>
              <p:cNvSpPr txBox="1">
                <a:spLocks noRot="1" noChangeAspect="1" noMove="1" noResize="1" noEditPoints="1" noAdjustHandles="1" noChangeArrowheads="1" noChangeShapeType="1" noTextEdit="1"/>
              </p:cNvSpPr>
              <p:nvPr/>
            </p:nvSpPr>
            <p:spPr>
              <a:xfrm>
                <a:off x="1979712" y="1816787"/>
                <a:ext cx="1872208" cy="461665"/>
              </a:xfrm>
              <a:prstGeom prst="rect">
                <a:avLst/>
              </a:prstGeom>
              <a:blipFill>
                <a:blip r:embed="rId8"/>
                <a:stretch>
                  <a:fillRect l="-977" b="-197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4748A377-4CC2-44A5-AEBF-F94B86F18C9E}"/>
                  </a:ext>
                </a:extLst>
              </p:cNvPr>
              <p:cNvSpPr txBox="1"/>
              <p:nvPr/>
            </p:nvSpPr>
            <p:spPr>
              <a:xfrm>
                <a:off x="6184776" y="1816787"/>
                <a:ext cx="250202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𝛿</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𝛿</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lang="en-US" dirty="0"/>
              </a:p>
            </p:txBody>
          </p:sp>
        </mc:Choice>
        <mc:Fallback xmlns="">
          <p:sp>
            <p:nvSpPr>
              <p:cNvPr id="19" name="文本框 18">
                <a:extLst>
                  <a:ext uri="{FF2B5EF4-FFF2-40B4-BE49-F238E27FC236}">
                    <a16:creationId xmlns:a16="http://schemas.microsoft.com/office/drawing/2014/main" id="{4748A377-4CC2-44A5-AEBF-F94B86F18C9E}"/>
                  </a:ext>
                </a:extLst>
              </p:cNvPr>
              <p:cNvSpPr txBox="1">
                <a:spLocks noRot="1" noChangeAspect="1" noMove="1" noResize="1" noEditPoints="1" noAdjustHandles="1" noChangeArrowheads="1" noChangeShapeType="1" noTextEdit="1"/>
              </p:cNvSpPr>
              <p:nvPr/>
            </p:nvSpPr>
            <p:spPr>
              <a:xfrm>
                <a:off x="6184776" y="1816787"/>
                <a:ext cx="2502024" cy="461665"/>
              </a:xfrm>
              <a:prstGeom prst="rect">
                <a:avLst/>
              </a:prstGeom>
              <a:blipFill>
                <a:blip r:embed="rId9"/>
                <a:stretch>
                  <a:fillRect r="-976" b="-197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6ACFEB54-E899-4334-BF94-D77485A45F4F}"/>
                  </a:ext>
                </a:extLst>
              </p:cNvPr>
              <p:cNvSpPr txBox="1"/>
              <p:nvPr/>
            </p:nvSpPr>
            <p:spPr>
              <a:xfrm>
                <a:off x="3549694" y="2502059"/>
                <a:ext cx="3582144" cy="8891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400" i="1" smtClean="0">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−3×0−1</m:t>
                          </m:r>
                        </m:sup>
                      </m:sSup>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−1</m:t>
                          </m:r>
                        </m:sup>
                      </m:sSup>
                    </m:oMath>
                  </m:oMathPara>
                </a14:m>
                <a:endParaRPr lang="en-US" sz="2400" dirty="0"/>
              </a:p>
            </p:txBody>
          </p:sp>
        </mc:Choice>
        <mc:Fallback xmlns="">
          <p:sp>
            <p:nvSpPr>
              <p:cNvPr id="21" name="文本框 20">
                <a:extLst>
                  <a:ext uri="{FF2B5EF4-FFF2-40B4-BE49-F238E27FC236}">
                    <a16:creationId xmlns:a16="http://schemas.microsoft.com/office/drawing/2014/main" id="{6ACFEB54-E899-4334-BF94-D77485A45F4F}"/>
                  </a:ext>
                </a:extLst>
              </p:cNvPr>
              <p:cNvSpPr txBox="1">
                <a:spLocks noRot="1" noChangeAspect="1" noMove="1" noResize="1" noEditPoints="1" noAdjustHandles="1" noChangeArrowheads="1" noChangeShapeType="1" noTextEdit="1"/>
              </p:cNvSpPr>
              <p:nvPr/>
            </p:nvSpPr>
            <p:spPr>
              <a:xfrm>
                <a:off x="3549694" y="2502059"/>
                <a:ext cx="3582144" cy="88915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651CEAED-1B5E-4F67-BAA8-62FFC25814CA}"/>
                  </a:ext>
                </a:extLst>
              </p:cNvPr>
              <p:cNvSpPr txBox="1"/>
              <p:nvPr/>
            </p:nvSpPr>
            <p:spPr>
              <a:xfrm>
                <a:off x="3798168" y="3709760"/>
                <a:ext cx="91784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𝑥</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lang="en-US" dirty="0"/>
              </a:p>
            </p:txBody>
          </p:sp>
        </mc:Choice>
        <mc:Fallback xmlns="">
          <p:sp>
            <p:nvSpPr>
              <p:cNvPr id="29" name="文本框 28">
                <a:extLst>
                  <a:ext uri="{FF2B5EF4-FFF2-40B4-BE49-F238E27FC236}">
                    <a16:creationId xmlns:a16="http://schemas.microsoft.com/office/drawing/2014/main" id="{651CEAED-1B5E-4F67-BAA8-62FFC25814CA}"/>
                  </a:ext>
                </a:extLst>
              </p:cNvPr>
              <p:cNvSpPr txBox="1">
                <a:spLocks noRot="1" noChangeAspect="1" noMove="1" noResize="1" noEditPoints="1" noAdjustHandles="1" noChangeArrowheads="1" noChangeShapeType="1" noTextEdit="1"/>
              </p:cNvSpPr>
              <p:nvPr/>
            </p:nvSpPr>
            <p:spPr>
              <a:xfrm>
                <a:off x="3798168" y="3709760"/>
                <a:ext cx="917848" cy="461665"/>
              </a:xfrm>
              <a:prstGeom prst="rect">
                <a:avLst/>
              </a:prstGeom>
              <a:blipFill>
                <a:blip r:embed="rId11"/>
                <a:stretch>
                  <a:fillRect r="-2649" b="-21333"/>
                </a:stretch>
              </a:blipFill>
            </p:spPr>
            <p:txBody>
              <a:bodyPr/>
              <a:lstStyle/>
              <a:p>
                <a:r>
                  <a:rPr lang="en-US">
                    <a:noFill/>
                  </a:rPr>
                  <a:t> </a:t>
                </a:r>
              </a:p>
            </p:txBody>
          </p:sp>
        </mc:Fallback>
      </mc:AlternateContent>
    </p:spTree>
    <p:extLst>
      <p:ext uri="{BB962C8B-B14F-4D97-AF65-F5344CB8AC3E}">
        <p14:creationId xmlns:p14="http://schemas.microsoft.com/office/powerpoint/2010/main" val="65114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1+#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1+#ppt_w/2"/>
                                          </p:val>
                                        </p:tav>
                                        <p:tav tm="100000">
                                          <p:val>
                                            <p:strVal val="#ppt_x"/>
                                          </p:val>
                                        </p:tav>
                                      </p:tavLst>
                                    </p:anim>
                                    <p:anim calcmode="lin" valueType="num">
                                      <p:cBhvr additive="base">
                                        <p:cTn id="14"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1+#ppt_w/2"/>
                                          </p:val>
                                        </p:tav>
                                        <p:tav tm="100000">
                                          <p:val>
                                            <p:strVal val="#ppt_x"/>
                                          </p:val>
                                        </p:tav>
                                      </p:tavLst>
                                    </p:anim>
                                    <p:anim calcmode="lin" valueType="num">
                                      <p:cBhvr additive="base">
                                        <p:cTn id="20"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1+#ppt_w/2"/>
                                          </p:val>
                                        </p:tav>
                                        <p:tav tm="100000">
                                          <p:val>
                                            <p:strVal val="#ppt_x"/>
                                          </p:val>
                                        </p:tav>
                                      </p:tavLst>
                                    </p:anim>
                                    <p:anim calcmode="lin" valueType="num">
                                      <p:cBhvr additive="base">
                                        <p:cTn id="26"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1+#ppt_w/2"/>
                                          </p:val>
                                        </p:tav>
                                        <p:tav tm="100000">
                                          <p:val>
                                            <p:strVal val="#ppt_x"/>
                                          </p:val>
                                        </p:tav>
                                      </p:tavLst>
                                    </p:anim>
                                    <p:anim calcmode="lin" valueType="num">
                                      <p:cBhvr additive="base">
                                        <p:cTn id="32"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additive="base">
                                        <p:cTn id="37" dur="500" fill="hold"/>
                                        <p:tgtEl>
                                          <p:spTgt spid="27"/>
                                        </p:tgtEl>
                                        <p:attrNameLst>
                                          <p:attrName>ppt_x</p:attrName>
                                        </p:attrNameLst>
                                      </p:cBhvr>
                                      <p:tavLst>
                                        <p:tav tm="0">
                                          <p:val>
                                            <p:strVal val="#ppt_x"/>
                                          </p:val>
                                        </p:tav>
                                        <p:tav tm="100000">
                                          <p:val>
                                            <p:strVal val="#ppt_x"/>
                                          </p:val>
                                        </p:tav>
                                      </p:tavLst>
                                    </p:anim>
                                    <p:anim calcmode="lin" valueType="num">
                                      <p:cBhvr additive="base">
                                        <p:cTn id="3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anim calcmode="lin" valueType="num">
                                      <p:cBhvr additive="base">
                                        <p:cTn id="43" dur="500" fill="hold"/>
                                        <p:tgtEl>
                                          <p:spTgt spid="29"/>
                                        </p:tgtEl>
                                        <p:attrNameLst>
                                          <p:attrName>ppt_x</p:attrName>
                                        </p:attrNameLst>
                                      </p:cBhvr>
                                      <p:tavLst>
                                        <p:tav tm="0">
                                          <p:val>
                                            <p:strVal val="#ppt_x"/>
                                          </p:val>
                                        </p:tav>
                                        <p:tav tm="100000">
                                          <p:val>
                                            <p:strVal val="#ppt_x"/>
                                          </p:val>
                                        </p:tav>
                                      </p:tavLst>
                                    </p:anim>
                                    <p:anim calcmode="lin" valueType="num">
                                      <p:cBhvr additive="base">
                                        <p:cTn id="4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2"/>
                                        </p:tgtEl>
                                        <p:attrNameLst>
                                          <p:attrName>style.visibility</p:attrName>
                                        </p:attrNameLst>
                                      </p:cBhvr>
                                      <p:to>
                                        <p:strVal val="visible"/>
                                      </p:to>
                                    </p:set>
                                    <p:anim calcmode="lin" valueType="num">
                                      <p:cBhvr additive="base">
                                        <p:cTn id="49" dur="500" fill="hold"/>
                                        <p:tgtEl>
                                          <p:spTgt spid="42"/>
                                        </p:tgtEl>
                                        <p:attrNameLst>
                                          <p:attrName>ppt_x</p:attrName>
                                        </p:attrNameLst>
                                      </p:cBhvr>
                                      <p:tavLst>
                                        <p:tav tm="0">
                                          <p:val>
                                            <p:strVal val="#ppt_x"/>
                                          </p:val>
                                        </p:tav>
                                        <p:tav tm="100000">
                                          <p:val>
                                            <p:strVal val="#ppt_x"/>
                                          </p:val>
                                        </p:tav>
                                      </p:tavLst>
                                    </p:anim>
                                    <p:anim calcmode="lin" valueType="num">
                                      <p:cBhvr additive="base">
                                        <p:cTn id="5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anim calcmode="lin" valueType="num">
                                      <p:cBhvr additive="base">
                                        <p:cTn id="55" dur="500" fill="hold"/>
                                        <p:tgtEl>
                                          <p:spTgt spid="44"/>
                                        </p:tgtEl>
                                        <p:attrNameLst>
                                          <p:attrName>ppt_x</p:attrName>
                                        </p:attrNameLst>
                                      </p:cBhvr>
                                      <p:tavLst>
                                        <p:tav tm="0">
                                          <p:val>
                                            <p:strVal val="#ppt_x"/>
                                          </p:val>
                                        </p:tav>
                                        <p:tav tm="100000">
                                          <p:val>
                                            <p:strVal val="#ppt_x"/>
                                          </p:val>
                                        </p:tav>
                                      </p:tavLst>
                                    </p:anim>
                                    <p:anim calcmode="lin" valueType="num">
                                      <p:cBhvr additive="base">
                                        <p:cTn id="56"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42" grpId="0"/>
      <p:bldP spid="44" grpId="0"/>
      <p:bldP spid="15" grpId="0"/>
      <p:bldP spid="19" grpId="0"/>
      <p:bldP spid="21" grpId="0"/>
      <p:bldP spid="29"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标题 1">
            <a:extLst>
              <a:ext uri="{FF2B5EF4-FFF2-40B4-BE49-F238E27FC236}">
                <a16:creationId xmlns:a16="http://schemas.microsoft.com/office/drawing/2014/main" id="{B673D1B6-4C6A-4565-AC20-5CDDBA3FF2D5}"/>
              </a:ext>
            </a:extLst>
          </p:cNvPr>
          <p:cNvSpPr>
            <a:spLocks noGrp="1"/>
          </p:cNvSpPr>
          <p:nvPr>
            <p:ph type="title"/>
          </p:nvPr>
        </p:nvSpPr>
        <p:spPr/>
        <p:txBody>
          <a:bodyPr/>
          <a:lstStyle/>
          <a:p>
            <a:pPr eaLnBrk="1" hangingPunct="1"/>
            <a:r>
              <a:rPr lang="en-US" altLang="zh-CN"/>
              <a:t>1.4  </a:t>
            </a:r>
            <a:r>
              <a:rPr lang="zh-CN" altLang="en-US"/>
              <a:t>单位冲激与单位阶跃函数</a:t>
            </a:r>
          </a:p>
        </p:txBody>
      </p:sp>
      <p:sp>
        <p:nvSpPr>
          <p:cNvPr id="4" name="灯片编号占位符 3">
            <a:extLst>
              <a:ext uri="{FF2B5EF4-FFF2-40B4-BE49-F238E27FC236}">
                <a16:creationId xmlns:a16="http://schemas.microsoft.com/office/drawing/2014/main" id="{4CC08D0C-8BA9-48FE-889C-23084ED1EE5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4D9D3F-A080-4A5E-9171-EA5ADCCBBC6C}"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2" name="Text Box 2">
                <a:extLst>
                  <a:ext uri="{FF2B5EF4-FFF2-40B4-BE49-F238E27FC236}">
                    <a16:creationId xmlns:a16="http://schemas.microsoft.com/office/drawing/2014/main" id="{BF825C92-19BA-44FA-BBF6-F4D36C297374}"/>
                  </a:ext>
                </a:extLst>
              </p:cNvPr>
              <p:cNvSpPr txBox="1">
                <a:spLocks noChangeArrowheads="1"/>
              </p:cNvSpPr>
              <p:nvPr/>
            </p:nvSpPr>
            <p:spPr bwMode="auto">
              <a:xfrm>
                <a:off x="496812" y="1235819"/>
                <a:ext cx="8229593"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zh-CN" altLang="en-US" dirty="0">
                    <a:solidFill>
                      <a:srgbClr val="000000"/>
                    </a:solidFill>
                    <a:ea typeface="楷体" panose="02010609060101010101" pitchFamily="49" charset="-122"/>
                  </a:rPr>
                  <a:t>例</a:t>
                </a:r>
                <a:r>
                  <a:rPr lang="en-US" altLang="zh-CN" dirty="0">
                    <a:solidFill>
                      <a:srgbClr val="000000"/>
                    </a:solidFill>
                    <a:ea typeface="楷体" panose="02010609060101010101" pitchFamily="49" charset="-122"/>
                  </a:rPr>
                  <a:t>. </a:t>
                </a:r>
                <a:r>
                  <a:rPr lang="zh-CN" altLang="en-US" dirty="0">
                    <a:solidFill>
                      <a:srgbClr val="000000"/>
                    </a:solidFill>
                    <a:ea typeface="楷体" panose="02010609060101010101" pitchFamily="49" charset="-122"/>
                  </a:rPr>
                  <a:t>连续时间信号</a:t>
                </a:r>
                <a14:m>
                  <m:oMath xmlns:m="http://schemas.openxmlformats.org/officeDocument/2006/math">
                    <m:r>
                      <a:rPr lang="en-US" altLang="zh-CN" i="1" dirty="0" smtClean="0">
                        <a:solidFill>
                          <a:srgbClr val="000000"/>
                        </a:solidFill>
                        <a:latin typeface="Cambria Math" panose="02040503050406030204" pitchFamily="18" charset="0"/>
                        <a:ea typeface="楷体" panose="02010609060101010101" pitchFamily="49" charset="-122"/>
                      </a:rPr>
                      <m:t>𝑥</m:t>
                    </m:r>
                    <m:r>
                      <a:rPr lang="en-US" altLang="zh-CN" i="1" dirty="0" smtClean="0">
                        <a:solidFill>
                          <a:srgbClr val="000000"/>
                        </a:solidFill>
                        <a:latin typeface="Cambria Math" panose="02040503050406030204" pitchFamily="18" charset="0"/>
                        <a:ea typeface="楷体" panose="02010609060101010101" pitchFamily="49" charset="-122"/>
                      </a:rPr>
                      <m:t>(</m:t>
                    </m:r>
                    <m:r>
                      <a:rPr lang="en-US" altLang="zh-CN" i="1" dirty="0" smtClean="0">
                        <a:solidFill>
                          <a:srgbClr val="000000"/>
                        </a:solidFill>
                        <a:latin typeface="Cambria Math" panose="02040503050406030204" pitchFamily="18" charset="0"/>
                        <a:ea typeface="楷体" panose="02010609060101010101" pitchFamily="49" charset="-122"/>
                      </a:rPr>
                      <m:t>𝑡</m:t>
                    </m:r>
                    <m:r>
                      <a:rPr lang="en-US" altLang="zh-CN" i="1" dirty="0" smtClean="0">
                        <a:solidFill>
                          <a:srgbClr val="000000"/>
                        </a:solidFill>
                        <a:latin typeface="Cambria Math" panose="02040503050406030204" pitchFamily="18" charset="0"/>
                        <a:ea typeface="楷体" panose="02010609060101010101" pitchFamily="49" charset="-122"/>
                      </a:rPr>
                      <m:t>)</m:t>
                    </m:r>
                  </m:oMath>
                </a14:m>
                <a:r>
                  <a:rPr lang="zh-CN" altLang="en-US" dirty="0">
                    <a:solidFill>
                      <a:srgbClr val="000000"/>
                    </a:solidFill>
                    <a:ea typeface="楷体" panose="02010609060101010101" pitchFamily="49" charset="-122"/>
                  </a:rPr>
                  <a:t>如下面左图所示，请画出其一阶导数。</a:t>
                </a:r>
                <a:endParaRPr lang="en-US" altLang="zh-CN" dirty="0">
                  <a:solidFill>
                    <a:srgbClr val="000000"/>
                  </a:solidFill>
                  <a:ea typeface="楷体" panose="02010609060101010101" pitchFamily="49" charset="-122"/>
                </a:endParaRPr>
              </a:p>
            </p:txBody>
          </p:sp>
        </mc:Choice>
        <mc:Fallback xmlns="">
          <p:sp>
            <p:nvSpPr>
              <p:cNvPr id="12" name="Text Box 2">
                <a:extLst>
                  <a:ext uri="{FF2B5EF4-FFF2-40B4-BE49-F238E27FC236}">
                    <a16:creationId xmlns:a16="http://schemas.microsoft.com/office/drawing/2014/main" id="{BF825C92-19BA-44FA-BBF6-F4D36C297374}"/>
                  </a:ext>
                </a:extLst>
              </p:cNvPr>
              <p:cNvSpPr txBox="1">
                <a:spLocks noRot="1" noChangeAspect="1" noMove="1" noResize="1" noEditPoints="1" noAdjustHandles="1" noChangeArrowheads="1" noChangeShapeType="1" noTextEdit="1"/>
              </p:cNvSpPr>
              <p:nvPr/>
            </p:nvSpPr>
            <p:spPr bwMode="auto">
              <a:xfrm>
                <a:off x="496812" y="1235819"/>
                <a:ext cx="8229593" cy="461665"/>
              </a:xfrm>
              <a:prstGeom prst="rect">
                <a:avLst/>
              </a:prstGeom>
              <a:blipFill>
                <a:blip r:embed="rId3"/>
                <a:stretch>
                  <a:fillRect l="-1111" t="-14667" r="-889"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13" name="Object 3">
            <a:extLst>
              <a:ext uri="{FF2B5EF4-FFF2-40B4-BE49-F238E27FC236}">
                <a16:creationId xmlns:a16="http://schemas.microsoft.com/office/drawing/2014/main" id="{0BEBC589-7AC9-4B70-9E28-AE689D8692CD}"/>
              </a:ext>
            </a:extLst>
          </p:cNvPr>
          <p:cNvGraphicFramePr>
            <a:graphicFrameLocks noChangeAspect="1"/>
          </p:cNvGraphicFramePr>
          <p:nvPr>
            <p:extLst>
              <p:ext uri="{D42A27DB-BD31-4B8C-83A1-F6EECF244321}">
                <p14:modId xmlns:p14="http://schemas.microsoft.com/office/powerpoint/2010/main" val="2688455228"/>
              </p:ext>
            </p:extLst>
          </p:nvPr>
        </p:nvGraphicFramePr>
        <p:xfrm>
          <a:off x="935038" y="1773238"/>
          <a:ext cx="2667000" cy="1927225"/>
        </p:xfrm>
        <a:graphic>
          <a:graphicData uri="http://schemas.openxmlformats.org/presentationml/2006/ole">
            <mc:AlternateContent xmlns:mc="http://schemas.openxmlformats.org/markup-compatibility/2006">
              <mc:Choice xmlns:v="urn:schemas-microsoft-com:vml" Requires="v">
                <p:oleObj spid="_x0000_s8311" name="Microsoft Draw 绘图" r:id="rId4" imgW="3810000" imgH="2752725" progId="MSDraw.Drawing.8.2">
                  <p:embed/>
                </p:oleObj>
              </mc:Choice>
              <mc:Fallback>
                <p:oleObj name="Microsoft Draw 绘图" r:id="rId4" imgW="3810000" imgH="2752725" progId="MSDraw.Drawing.8.2">
                  <p:embed/>
                  <p:pic>
                    <p:nvPicPr>
                      <p:cNvPr id="16388" name="Object 3">
                        <a:extLst>
                          <a:ext uri="{FF2B5EF4-FFF2-40B4-BE49-F238E27FC236}">
                            <a16:creationId xmlns:a16="http://schemas.microsoft.com/office/drawing/2014/main" id="{3B1BDFE1-3EA1-41A0-ABD5-EAECB21F62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5038" y="1773238"/>
                        <a:ext cx="2667000" cy="1927225"/>
                      </a:xfrm>
                      <a:prstGeom prst="rect">
                        <a:avLst/>
                      </a:prstGeom>
                      <a:noFill/>
                      <a:ln>
                        <a:noFill/>
                      </a:ln>
                      <a:extLst>
                        <a:ext uri="{909E8E84-426E-40DD-AFC4-6F175D3DCCD1}">
                          <a14:hiddenFill xmlns:a14="http://schemas.microsoft.com/office/drawing/2010/main">
                            <a:solidFill>
                              <a:srgbClr val="FFCC99">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4" name="Group 26">
            <a:extLst>
              <a:ext uri="{FF2B5EF4-FFF2-40B4-BE49-F238E27FC236}">
                <a16:creationId xmlns:a16="http://schemas.microsoft.com/office/drawing/2014/main" id="{5CC11372-90F9-4C04-B645-9A1B9AE19446}"/>
              </a:ext>
            </a:extLst>
          </p:cNvPr>
          <p:cNvGrpSpPr>
            <a:grpSpLocks/>
          </p:cNvGrpSpPr>
          <p:nvPr/>
        </p:nvGrpSpPr>
        <p:grpSpPr bwMode="auto">
          <a:xfrm>
            <a:off x="3227313" y="1964904"/>
            <a:ext cx="1689100" cy="790575"/>
            <a:chOff x="1960" y="1422"/>
            <a:chExt cx="1064" cy="498"/>
          </a:xfrm>
        </p:grpSpPr>
        <p:sp>
          <p:nvSpPr>
            <p:cNvPr id="15" name="AutoShape 27">
              <a:extLst>
                <a:ext uri="{FF2B5EF4-FFF2-40B4-BE49-F238E27FC236}">
                  <a16:creationId xmlns:a16="http://schemas.microsoft.com/office/drawing/2014/main" id="{E8D4572B-0061-4890-AA82-DBD29551B566}"/>
                </a:ext>
              </a:extLst>
            </p:cNvPr>
            <p:cNvSpPr>
              <a:spLocks noChangeArrowheads="1"/>
            </p:cNvSpPr>
            <p:nvPr/>
          </p:nvSpPr>
          <p:spPr bwMode="auto">
            <a:xfrm>
              <a:off x="1968" y="1728"/>
              <a:ext cx="1056" cy="192"/>
            </a:xfrm>
            <a:prstGeom prst="rightArrow">
              <a:avLst>
                <a:gd name="adj1" fmla="val 50000"/>
                <a:gd name="adj2" fmla="val 137500"/>
              </a:avLst>
            </a:prstGeom>
            <a:noFill/>
            <a:ln w="38100" cap="sq">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16" name="Text Box 28">
              <a:extLst>
                <a:ext uri="{FF2B5EF4-FFF2-40B4-BE49-F238E27FC236}">
                  <a16:creationId xmlns:a16="http://schemas.microsoft.com/office/drawing/2014/main" id="{3B8CEC49-3EE9-41AB-AA75-E1F3ADA8DDBC}"/>
                </a:ext>
              </a:extLst>
            </p:cNvPr>
            <p:cNvSpPr txBox="1">
              <a:spLocks noChangeArrowheads="1"/>
            </p:cNvSpPr>
            <p:nvPr/>
          </p:nvSpPr>
          <p:spPr bwMode="auto">
            <a:xfrm>
              <a:off x="1960" y="1422"/>
              <a:ext cx="91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zh-CN" altLang="en-US" sz="2300" dirty="0">
                  <a:solidFill>
                    <a:srgbClr val="000000"/>
                  </a:solidFill>
                  <a:latin typeface="楷体" panose="02010609060101010101" pitchFamily="49" charset="-122"/>
                  <a:ea typeface="楷体" panose="02010609060101010101" pitchFamily="49" charset="-122"/>
                </a:rPr>
                <a:t>求导</a:t>
              </a:r>
              <a:endParaRPr lang="en-US" altLang="zh-CN" sz="2300" dirty="0">
                <a:solidFill>
                  <a:srgbClr val="000000"/>
                </a:solidFill>
                <a:latin typeface="楷体" panose="02010609060101010101" pitchFamily="49" charset="-122"/>
                <a:ea typeface="楷体" panose="02010609060101010101" pitchFamily="49" charset="-122"/>
              </a:endParaRPr>
            </a:p>
          </p:txBody>
        </p:sp>
      </p:grpSp>
      <mc:AlternateContent xmlns:mc="http://schemas.openxmlformats.org/markup-compatibility/2006" xmlns:a14="http://schemas.microsoft.com/office/drawing/2010/main">
        <mc:Choice Requires="a14">
          <p:sp>
            <p:nvSpPr>
              <p:cNvPr id="17" name="Object 29">
                <a:extLst>
                  <a:ext uri="{FF2B5EF4-FFF2-40B4-BE49-F238E27FC236}">
                    <a16:creationId xmlns:a16="http://schemas.microsoft.com/office/drawing/2014/main" id="{123A12B2-D009-4F8C-A706-7FDFCF3849D8}"/>
                  </a:ext>
                </a:extLst>
              </p:cNvPr>
              <p:cNvSpPr txBox="1"/>
              <p:nvPr/>
            </p:nvSpPr>
            <p:spPr bwMode="auto">
              <a:xfrm>
                <a:off x="1038709" y="4005064"/>
                <a:ext cx="7272808" cy="8604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−3)]</m:t>
                      </m:r>
                    </m:oMath>
                    <m:oMath xmlns:m="http://schemas.openxmlformats.org/officeDocument/2006/math">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−3)</m:t>
                      </m:r>
                    </m:oMath>
                  </m:oMathPara>
                </a14:m>
                <a:endParaRPr lang="en-US" sz="2400" dirty="0"/>
              </a:p>
            </p:txBody>
          </p:sp>
        </mc:Choice>
        <mc:Fallback xmlns="">
          <p:sp>
            <p:nvSpPr>
              <p:cNvPr id="17" name="Object 29">
                <a:extLst>
                  <a:ext uri="{FF2B5EF4-FFF2-40B4-BE49-F238E27FC236}">
                    <a16:creationId xmlns:a16="http://schemas.microsoft.com/office/drawing/2014/main" id="{123A12B2-D009-4F8C-A706-7FDFCF3849D8}"/>
                  </a:ext>
                </a:extLst>
              </p:cNvPr>
              <p:cNvSpPr txBox="1">
                <a:spLocks noRot="1" noChangeAspect="1" noMove="1" noResize="1" noEditPoints="1" noAdjustHandles="1" noChangeArrowheads="1" noChangeShapeType="1" noTextEdit="1"/>
              </p:cNvSpPr>
              <p:nvPr/>
            </p:nvSpPr>
            <p:spPr bwMode="auto">
              <a:xfrm>
                <a:off x="1038709" y="4005064"/>
                <a:ext cx="7272808" cy="860425"/>
              </a:xfrm>
              <a:prstGeom prst="rect">
                <a:avLst/>
              </a:prstGeom>
              <a:blipFill>
                <a:blip r:embed="rId6"/>
                <a:stretch>
                  <a:fillRect b="-709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bject 30">
                <a:extLst>
                  <a:ext uri="{FF2B5EF4-FFF2-40B4-BE49-F238E27FC236}">
                    <a16:creationId xmlns:a16="http://schemas.microsoft.com/office/drawing/2014/main" id="{97E6CCCA-0E39-419D-B7EB-CCB160C095D6}"/>
                  </a:ext>
                </a:extLst>
              </p:cNvPr>
              <p:cNvSpPr txBox="1"/>
              <p:nvPr/>
            </p:nvSpPr>
            <p:spPr bwMode="auto">
              <a:xfrm>
                <a:off x="1038709" y="5031061"/>
                <a:ext cx="7128792" cy="85957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um>
                        <m:den>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den>
                      </m:f>
                      <m:r>
                        <a:rPr lang="en-US" sz="2400" i="1">
                          <a:solidFill>
                            <a:srgbClr val="000000"/>
                          </a:solidFill>
                          <a:latin typeface="Cambria Math" panose="02040503050406030204" pitchFamily="18" charset="0"/>
                        </a:rPr>
                        <m:t>=2</m:t>
                      </m:r>
                      <m:f>
                        <m:fPr>
                          <m:ctrlPr>
                            <a:rPr lang="en-US" sz="2400" i="1">
                              <a:solidFill>
                                <a:srgbClr val="000000"/>
                              </a:solidFill>
                              <a:latin typeface="Cambria Math" panose="02040503050406030204" pitchFamily="18" charset="0"/>
                            </a:rPr>
                          </m:ctrlPr>
                        </m:fPr>
                        <m:num>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−1)</m:t>
                          </m:r>
                        </m:num>
                        <m:den>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−2)</m:t>
                          </m:r>
                        </m:num>
                        <m:den>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−3)</m:t>
                          </m:r>
                        </m:num>
                        <m:den>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den>
                      </m:f>
                    </m:oMath>
                  </m:oMathPara>
                </a14:m>
                <a:endParaRPr lang="en-US" sz="2400" dirty="0"/>
              </a:p>
            </p:txBody>
          </p:sp>
        </mc:Choice>
        <mc:Fallback xmlns="">
          <p:sp>
            <p:nvSpPr>
              <p:cNvPr id="18" name="Object 30">
                <a:extLst>
                  <a:ext uri="{FF2B5EF4-FFF2-40B4-BE49-F238E27FC236}">
                    <a16:creationId xmlns:a16="http://schemas.microsoft.com/office/drawing/2014/main" id="{97E6CCCA-0E39-419D-B7EB-CCB160C095D6}"/>
                  </a:ext>
                </a:extLst>
              </p:cNvPr>
              <p:cNvSpPr txBox="1">
                <a:spLocks noRot="1" noChangeAspect="1" noMove="1" noResize="1" noEditPoints="1" noAdjustHandles="1" noChangeArrowheads="1" noChangeShapeType="1" noTextEdit="1"/>
              </p:cNvSpPr>
              <p:nvPr/>
            </p:nvSpPr>
            <p:spPr bwMode="auto">
              <a:xfrm>
                <a:off x="1038709" y="5031061"/>
                <a:ext cx="7128792" cy="859579"/>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Object 32">
                <a:extLst>
                  <a:ext uri="{FF2B5EF4-FFF2-40B4-BE49-F238E27FC236}">
                    <a16:creationId xmlns:a16="http://schemas.microsoft.com/office/drawing/2014/main" id="{60610C8D-1213-4347-BD3C-BD06B75D46D9}"/>
                  </a:ext>
                </a:extLst>
              </p:cNvPr>
              <p:cNvSpPr txBox="1"/>
              <p:nvPr/>
            </p:nvSpPr>
            <p:spPr bwMode="auto">
              <a:xfrm>
                <a:off x="1443569" y="1669888"/>
                <a:ext cx="858838" cy="442913"/>
              </a:xfrm>
              <a:prstGeom prst="rect">
                <a:avLst/>
              </a:prstGeom>
              <a:solidFill>
                <a:schemeClr val="bg1"/>
              </a:solid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0">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0">
                          <a:solidFill>
                            <a:srgbClr val="000000"/>
                          </a:solidFill>
                          <a:latin typeface="Cambria Math" panose="02040503050406030204" pitchFamily="18" charset="0"/>
                        </a:rPr>
                        <m:t> </m:t>
                      </m:r>
                    </m:oMath>
                  </m:oMathPara>
                </a14:m>
                <a:endParaRPr lang="en-US" sz="2400" dirty="0"/>
              </a:p>
            </p:txBody>
          </p:sp>
        </mc:Choice>
        <mc:Fallback xmlns="">
          <p:sp>
            <p:nvSpPr>
              <p:cNvPr id="19" name="Object 32">
                <a:extLst>
                  <a:ext uri="{FF2B5EF4-FFF2-40B4-BE49-F238E27FC236}">
                    <a16:creationId xmlns:a16="http://schemas.microsoft.com/office/drawing/2014/main" id="{60610C8D-1213-4347-BD3C-BD06B75D46D9}"/>
                  </a:ext>
                </a:extLst>
              </p:cNvPr>
              <p:cNvSpPr txBox="1">
                <a:spLocks noRot="1" noChangeAspect="1" noMove="1" noResize="1" noEditPoints="1" noAdjustHandles="1" noChangeArrowheads="1" noChangeShapeType="1" noTextEdit="1"/>
              </p:cNvSpPr>
              <p:nvPr/>
            </p:nvSpPr>
            <p:spPr bwMode="auto">
              <a:xfrm>
                <a:off x="1443569" y="1669888"/>
                <a:ext cx="858838" cy="442913"/>
              </a:xfrm>
              <a:prstGeom prst="rect">
                <a:avLst/>
              </a:prstGeom>
              <a:blipFill>
                <a:blip r:embed="rId8"/>
                <a:stretch>
                  <a:fillRect b="-24658"/>
                </a:stretch>
              </a:blipFill>
              <a:ln>
                <a:noFill/>
              </a:ln>
              <a:effectLst/>
            </p:spPr>
            <p:txBody>
              <a:bodyPr/>
              <a:lstStyle/>
              <a:p>
                <a:r>
                  <a:rPr lang="en-US">
                    <a:noFill/>
                  </a:rPr>
                  <a:t> </a:t>
                </a:r>
              </a:p>
            </p:txBody>
          </p:sp>
        </mc:Fallback>
      </mc:AlternateContent>
      <p:grpSp>
        <p:nvGrpSpPr>
          <p:cNvPr id="20" name="组合 35">
            <a:extLst>
              <a:ext uri="{FF2B5EF4-FFF2-40B4-BE49-F238E27FC236}">
                <a16:creationId xmlns:a16="http://schemas.microsoft.com/office/drawing/2014/main" id="{8B90234A-06B9-4F65-997C-4D86AB0D0368}"/>
              </a:ext>
            </a:extLst>
          </p:cNvPr>
          <p:cNvGrpSpPr>
            <a:grpSpLocks/>
          </p:cNvGrpSpPr>
          <p:nvPr/>
        </p:nvGrpSpPr>
        <p:grpSpPr bwMode="auto">
          <a:xfrm>
            <a:off x="4756076" y="1650078"/>
            <a:ext cx="3463374" cy="2256338"/>
            <a:chOff x="4500563" y="1506037"/>
            <a:chExt cx="3463374" cy="2256338"/>
          </a:xfrm>
        </p:grpSpPr>
        <p:sp>
          <p:nvSpPr>
            <p:cNvPr id="21" name="Line 5">
              <a:extLst>
                <a:ext uri="{FF2B5EF4-FFF2-40B4-BE49-F238E27FC236}">
                  <a16:creationId xmlns:a16="http://schemas.microsoft.com/office/drawing/2014/main" id="{73130E1E-2D91-4208-BD13-47DA0D2AF00C}"/>
                </a:ext>
              </a:extLst>
            </p:cNvPr>
            <p:cNvSpPr>
              <a:spLocks noChangeShapeType="1"/>
            </p:cNvSpPr>
            <p:nvPr/>
          </p:nvSpPr>
          <p:spPr bwMode="auto">
            <a:xfrm>
              <a:off x="4500563" y="3076575"/>
              <a:ext cx="3352800" cy="0"/>
            </a:xfrm>
            <a:prstGeom prst="line">
              <a:avLst/>
            </a:prstGeom>
            <a:noFill/>
            <a:ln w="25400" cap="sq">
              <a:solidFill>
                <a:schemeClr val="tx2"/>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2" name="Line 6">
              <a:extLst>
                <a:ext uri="{FF2B5EF4-FFF2-40B4-BE49-F238E27FC236}">
                  <a16:creationId xmlns:a16="http://schemas.microsoft.com/office/drawing/2014/main" id="{49B8CB29-3FBD-4A4D-B2D4-CA6FAEC1DB55}"/>
                </a:ext>
              </a:extLst>
            </p:cNvPr>
            <p:cNvSpPr>
              <a:spLocks noChangeShapeType="1"/>
            </p:cNvSpPr>
            <p:nvPr/>
          </p:nvSpPr>
          <p:spPr bwMode="auto">
            <a:xfrm flipV="1">
              <a:off x="5719763" y="1704975"/>
              <a:ext cx="0" cy="2057400"/>
            </a:xfrm>
            <a:prstGeom prst="line">
              <a:avLst/>
            </a:prstGeom>
            <a:noFill/>
            <a:ln w="25400" cap="sq">
              <a:solidFill>
                <a:schemeClr val="tx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mc:AlternateContent xmlns:mc="http://schemas.openxmlformats.org/markup-compatibility/2006" xmlns:a14="http://schemas.microsoft.com/office/drawing/2010/main">
          <mc:Choice Requires="a14">
            <p:sp>
              <p:nvSpPr>
                <p:cNvPr id="23" name="Object 10">
                  <a:extLst>
                    <a:ext uri="{FF2B5EF4-FFF2-40B4-BE49-F238E27FC236}">
                      <a16:creationId xmlns:a16="http://schemas.microsoft.com/office/drawing/2014/main" id="{3135CC9E-77CE-43F2-8E44-1FA3A83D6316}"/>
                    </a:ext>
                  </a:extLst>
                </p:cNvPr>
                <p:cNvSpPr txBox="1"/>
                <p:nvPr/>
              </p:nvSpPr>
              <p:spPr bwMode="auto">
                <a:xfrm>
                  <a:off x="5813576" y="1506037"/>
                  <a:ext cx="713918" cy="47235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 name="Object 10">
                  <a:extLst>
                    <a:ext uri="{FF2B5EF4-FFF2-40B4-BE49-F238E27FC236}">
                      <a16:creationId xmlns:a16="http://schemas.microsoft.com/office/drawing/2014/main" id="{3135CC9E-77CE-43F2-8E44-1FA3A83D6316}"/>
                    </a:ext>
                  </a:extLst>
                </p:cNvPr>
                <p:cNvSpPr txBox="1">
                  <a:spLocks noRot="1" noChangeAspect="1" noMove="1" noResize="1" noEditPoints="1" noAdjustHandles="1" noChangeArrowheads="1" noChangeShapeType="1" noTextEdit="1"/>
                </p:cNvSpPr>
                <p:nvPr/>
              </p:nvSpPr>
              <p:spPr bwMode="auto">
                <a:xfrm>
                  <a:off x="5813576" y="1506037"/>
                  <a:ext cx="713918" cy="472351"/>
                </a:xfrm>
                <a:prstGeom prst="rect">
                  <a:avLst/>
                </a:prstGeom>
                <a:blipFill>
                  <a:blip r:embed="rId9"/>
                  <a:stretch>
                    <a:fillRect l="-2564" r="-11111" b="-18182"/>
                  </a:stretch>
                </a:blipFill>
                <a:ln>
                  <a:noFill/>
                </a:ln>
                <a:effectLst/>
              </p:spPr>
              <p:txBody>
                <a:bodyPr/>
                <a:lstStyle/>
                <a:p>
                  <a:r>
                    <a:rPr lang="en-US">
                      <a:noFill/>
                    </a:rPr>
                    <a:t> </a:t>
                  </a:r>
                </a:p>
              </p:txBody>
            </p:sp>
          </mc:Fallback>
        </mc:AlternateContent>
        <p:sp>
          <p:nvSpPr>
            <p:cNvPr id="29" name="Line 11">
              <a:extLst>
                <a:ext uri="{FF2B5EF4-FFF2-40B4-BE49-F238E27FC236}">
                  <a16:creationId xmlns:a16="http://schemas.microsoft.com/office/drawing/2014/main" id="{86C87EED-237B-4882-8EEA-30DE7DB21598}"/>
                </a:ext>
              </a:extLst>
            </p:cNvPr>
            <p:cNvSpPr>
              <a:spLocks noChangeShapeType="1"/>
            </p:cNvSpPr>
            <p:nvPr/>
          </p:nvSpPr>
          <p:spPr bwMode="auto">
            <a:xfrm>
              <a:off x="5643563" y="2619375"/>
              <a:ext cx="76200" cy="0"/>
            </a:xfrm>
            <a:prstGeom prst="line">
              <a:avLst/>
            </a:prstGeom>
            <a:noFill/>
            <a:ln w="38100" cap="sq">
              <a:solidFill>
                <a:srgbClr val="FF99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0" name="Line 12">
              <a:extLst>
                <a:ext uri="{FF2B5EF4-FFF2-40B4-BE49-F238E27FC236}">
                  <a16:creationId xmlns:a16="http://schemas.microsoft.com/office/drawing/2014/main" id="{EC0CAE74-DE5A-4AAA-9F8A-07A0B1903BC7}"/>
                </a:ext>
              </a:extLst>
            </p:cNvPr>
            <p:cNvSpPr>
              <a:spLocks noChangeShapeType="1"/>
            </p:cNvSpPr>
            <p:nvPr/>
          </p:nvSpPr>
          <p:spPr bwMode="auto">
            <a:xfrm>
              <a:off x="5643563" y="2238375"/>
              <a:ext cx="76200" cy="0"/>
            </a:xfrm>
            <a:prstGeom prst="line">
              <a:avLst/>
            </a:prstGeom>
            <a:noFill/>
            <a:ln w="38100" cap="sq">
              <a:solidFill>
                <a:srgbClr val="FF99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mc:AlternateContent xmlns:mc="http://schemas.openxmlformats.org/markup-compatibility/2006" xmlns:a14="http://schemas.microsoft.com/office/drawing/2010/main">
          <mc:Choice Requires="a14">
            <p:sp>
              <p:nvSpPr>
                <p:cNvPr id="31" name="Object 13">
                  <a:extLst>
                    <a:ext uri="{FF2B5EF4-FFF2-40B4-BE49-F238E27FC236}">
                      <a16:creationId xmlns:a16="http://schemas.microsoft.com/office/drawing/2014/main" id="{49F0BF79-D4F9-4E30-A404-D8A16735AD40}"/>
                    </a:ext>
                  </a:extLst>
                </p:cNvPr>
                <p:cNvSpPr txBox="1"/>
                <p:nvPr/>
              </p:nvSpPr>
              <p:spPr bwMode="auto">
                <a:xfrm>
                  <a:off x="5355090" y="2020661"/>
                  <a:ext cx="312725" cy="38099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2</m:t>
                        </m:r>
                      </m:oMath>
                    </m:oMathPara>
                  </a14:m>
                  <a:endParaRPr lang="en-US" dirty="0"/>
                </a:p>
              </p:txBody>
            </p:sp>
          </mc:Choice>
          <mc:Fallback xmlns="">
            <p:sp>
              <p:nvSpPr>
                <p:cNvPr id="31" name="Object 13">
                  <a:extLst>
                    <a:ext uri="{FF2B5EF4-FFF2-40B4-BE49-F238E27FC236}">
                      <a16:creationId xmlns:a16="http://schemas.microsoft.com/office/drawing/2014/main" id="{49F0BF79-D4F9-4E30-A404-D8A16735AD40}"/>
                    </a:ext>
                  </a:extLst>
                </p:cNvPr>
                <p:cNvSpPr txBox="1">
                  <a:spLocks noRot="1" noChangeAspect="1" noMove="1" noResize="1" noEditPoints="1" noAdjustHandles="1" noChangeArrowheads="1" noChangeShapeType="1" noTextEdit="1"/>
                </p:cNvSpPr>
                <p:nvPr/>
              </p:nvSpPr>
              <p:spPr bwMode="auto">
                <a:xfrm>
                  <a:off x="5355090" y="2020661"/>
                  <a:ext cx="312725" cy="380999"/>
                </a:xfrm>
                <a:prstGeom prst="rect">
                  <a:avLst/>
                </a:prstGeom>
                <a:blipFill>
                  <a:blip r:embed="rId10"/>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bject 15">
                  <a:extLst>
                    <a:ext uri="{FF2B5EF4-FFF2-40B4-BE49-F238E27FC236}">
                      <a16:creationId xmlns:a16="http://schemas.microsoft.com/office/drawing/2014/main" id="{940B1873-FDFB-4665-AC1D-6EA1B954CAA2}"/>
                    </a:ext>
                  </a:extLst>
                </p:cNvPr>
                <p:cNvSpPr txBox="1"/>
                <p:nvPr/>
              </p:nvSpPr>
              <p:spPr bwMode="auto">
                <a:xfrm>
                  <a:off x="5458051" y="3054076"/>
                  <a:ext cx="260349" cy="36965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0</m:t>
                        </m:r>
                      </m:oMath>
                    </m:oMathPara>
                  </a14:m>
                  <a:endParaRPr lang="en-US" dirty="0"/>
                </a:p>
              </p:txBody>
            </p:sp>
          </mc:Choice>
          <mc:Fallback xmlns="">
            <p:sp>
              <p:nvSpPr>
                <p:cNvPr id="32" name="Object 15">
                  <a:extLst>
                    <a:ext uri="{FF2B5EF4-FFF2-40B4-BE49-F238E27FC236}">
                      <a16:creationId xmlns:a16="http://schemas.microsoft.com/office/drawing/2014/main" id="{940B1873-FDFB-4665-AC1D-6EA1B954CAA2}"/>
                    </a:ext>
                  </a:extLst>
                </p:cNvPr>
                <p:cNvSpPr txBox="1">
                  <a:spLocks noRot="1" noChangeAspect="1" noMove="1" noResize="1" noEditPoints="1" noAdjustHandles="1" noChangeArrowheads="1" noChangeShapeType="1" noTextEdit="1"/>
                </p:cNvSpPr>
                <p:nvPr/>
              </p:nvSpPr>
              <p:spPr bwMode="auto">
                <a:xfrm>
                  <a:off x="5458051" y="3054076"/>
                  <a:ext cx="260349" cy="369651"/>
                </a:xfrm>
                <a:prstGeom prst="rect">
                  <a:avLst/>
                </a:prstGeom>
                <a:blipFill>
                  <a:blip r:embed="rId11"/>
                  <a:stretch>
                    <a:fillRect r="-1627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bject 16">
                  <a:extLst>
                    <a:ext uri="{FF2B5EF4-FFF2-40B4-BE49-F238E27FC236}">
                      <a16:creationId xmlns:a16="http://schemas.microsoft.com/office/drawing/2014/main" id="{4C075AE8-5250-44FA-9CFD-85BA3122ABED}"/>
                    </a:ext>
                  </a:extLst>
                </p:cNvPr>
                <p:cNvSpPr txBox="1"/>
                <p:nvPr/>
              </p:nvSpPr>
              <p:spPr bwMode="auto">
                <a:xfrm>
                  <a:off x="7069119" y="3021419"/>
                  <a:ext cx="293134" cy="36512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3</m:t>
                        </m:r>
                      </m:oMath>
                    </m:oMathPara>
                  </a14:m>
                  <a:endParaRPr lang="en-US" dirty="0"/>
                </a:p>
              </p:txBody>
            </p:sp>
          </mc:Choice>
          <mc:Fallback xmlns="">
            <p:sp>
              <p:nvSpPr>
                <p:cNvPr id="33" name="Object 16">
                  <a:extLst>
                    <a:ext uri="{FF2B5EF4-FFF2-40B4-BE49-F238E27FC236}">
                      <a16:creationId xmlns:a16="http://schemas.microsoft.com/office/drawing/2014/main" id="{4C075AE8-5250-44FA-9CFD-85BA3122ABED}"/>
                    </a:ext>
                  </a:extLst>
                </p:cNvPr>
                <p:cNvSpPr txBox="1">
                  <a:spLocks noRot="1" noChangeAspect="1" noMove="1" noResize="1" noEditPoints="1" noAdjustHandles="1" noChangeArrowheads="1" noChangeShapeType="1" noTextEdit="1"/>
                </p:cNvSpPr>
                <p:nvPr/>
              </p:nvSpPr>
              <p:spPr bwMode="auto">
                <a:xfrm>
                  <a:off x="7069119" y="3021419"/>
                  <a:ext cx="293134" cy="365124"/>
                </a:xfrm>
                <a:prstGeom prst="rect">
                  <a:avLst/>
                </a:prstGeom>
                <a:blipFill>
                  <a:blip r:embed="rId12"/>
                  <a:stretch>
                    <a:fillRect r="-208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bject 18">
                  <a:extLst>
                    <a:ext uri="{FF2B5EF4-FFF2-40B4-BE49-F238E27FC236}">
                      <a16:creationId xmlns:a16="http://schemas.microsoft.com/office/drawing/2014/main" id="{593BA64C-FA31-4491-85BF-3B581EBDD405}"/>
                    </a:ext>
                  </a:extLst>
                </p:cNvPr>
                <p:cNvSpPr txBox="1"/>
                <p:nvPr/>
              </p:nvSpPr>
              <p:spPr bwMode="auto">
                <a:xfrm>
                  <a:off x="6620743" y="3029583"/>
                  <a:ext cx="293135" cy="34714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2</m:t>
                        </m:r>
                      </m:oMath>
                    </m:oMathPara>
                  </a14:m>
                  <a:endParaRPr lang="en-US" dirty="0"/>
                </a:p>
              </p:txBody>
            </p:sp>
          </mc:Choice>
          <mc:Fallback xmlns="">
            <p:sp>
              <p:nvSpPr>
                <p:cNvPr id="34" name="Object 18">
                  <a:extLst>
                    <a:ext uri="{FF2B5EF4-FFF2-40B4-BE49-F238E27FC236}">
                      <a16:creationId xmlns:a16="http://schemas.microsoft.com/office/drawing/2014/main" id="{593BA64C-FA31-4491-85BF-3B581EBDD405}"/>
                    </a:ext>
                  </a:extLst>
                </p:cNvPr>
                <p:cNvSpPr txBox="1">
                  <a:spLocks noRot="1" noChangeAspect="1" noMove="1" noResize="1" noEditPoints="1" noAdjustHandles="1" noChangeArrowheads="1" noChangeShapeType="1" noTextEdit="1"/>
                </p:cNvSpPr>
                <p:nvPr/>
              </p:nvSpPr>
              <p:spPr bwMode="auto">
                <a:xfrm>
                  <a:off x="6620743" y="3029583"/>
                  <a:ext cx="293135" cy="347147"/>
                </a:xfrm>
                <a:prstGeom prst="rect">
                  <a:avLst/>
                </a:prstGeom>
                <a:blipFill>
                  <a:blip r:embed="rId13"/>
                  <a:stretch>
                    <a:fillRect r="-2083"/>
                  </a:stretch>
                </a:blipFill>
                <a:ln>
                  <a:noFill/>
                </a:ln>
                <a:effectLst/>
              </p:spPr>
              <p:txBody>
                <a:bodyPr/>
                <a:lstStyle/>
                <a:p>
                  <a:r>
                    <a:rPr lang="en-US">
                      <a:noFill/>
                    </a:rPr>
                    <a:t> </a:t>
                  </a:r>
                </a:p>
              </p:txBody>
            </p:sp>
          </mc:Fallback>
        </mc:AlternateContent>
        <p:sp>
          <p:nvSpPr>
            <p:cNvPr id="35" name="Line 19">
              <a:extLst>
                <a:ext uri="{FF2B5EF4-FFF2-40B4-BE49-F238E27FC236}">
                  <a16:creationId xmlns:a16="http://schemas.microsoft.com/office/drawing/2014/main" id="{2F1301BD-A9E0-4BCB-86C1-211DCF6C2CC3}"/>
                </a:ext>
              </a:extLst>
            </p:cNvPr>
            <p:cNvSpPr>
              <a:spLocks noChangeShapeType="1"/>
            </p:cNvSpPr>
            <p:nvPr/>
          </p:nvSpPr>
          <p:spPr bwMode="auto">
            <a:xfrm flipV="1">
              <a:off x="6176963" y="2238375"/>
              <a:ext cx="0" cy="838200"/>
            </a:xfrm>
            <a:prstGeom prst="line">
              <a:avLst/>
            </a:prstGeom>
            <a:noFill/>
            <a:ln w="38100" cap="sq">
              <a:solidFill>
                <a:srgbClr val="FF0000"/>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36" name="Line 20">
              <a:extLst>
                <a:ext uri="{FF2B5EF4-FFF2-40B4-BE49-F238E27FC236}">
                  <a16:creationId xmlns:a16="http://schemas.microsoft.com/office/drawing/2014/main" id="{E37C3D32-BB36-4F68-B97C-43085F616737}"/>
                </a:ext>
              </a:extLst>
            </p:cNvPr>
            <p:cNvSpPr>
              <a:spLocks noChangeShapeType="1"/>
            </p:cNvSpPr>
            <p:nvPr/>
          </p:nvSpPr>
          <p:spPr bwMode="auto">
            <a:xfrm>
              <a:off x="7091363" y="3092301"/>
              <a:ext cx="0" cy="396000"/>
            </a:xfrm>
            <a:prstGeom prst="line">
              <a:avLst/>
            </a:prstGeom>
            <a:noFill/>
            <a:ln w="38100" cap="sq">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 name="Line 21">
              <a:extLst>
                <a:ext uri="{FF2B5EF4-FFF2-40B4-BE49-F238E27FC236}">
                  <a16:creationId xmlns:a16="http://schemas.microsoft.com/office/drawing/2014/main" id="{DAE2463A-0296-4985-AC1A-CEE54EB7F916}"/>
                </a:ext>
              </a:extLst>
            </p:cNvPr>
            <p:cNvSpPr>
              <a:spLocks noChangeShapeType="1"/>
            </p:cNvSpPr>
            <p:nvPr/>
          </p:nvSpPr>
          <p:spPr bwMode="auto">
            <a:xfrm>
              <a:off x="6634163" y="3092301"/>
              <a:ext cx="0" cy="396000"/>
            </a:xfrm>
            <a:prstGeom prst="line">
              <a:avLst/>
            </a:prstGeom>
            <a:noFill/>
            <a:ln w="38100" cap="sq">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8" name="Line 24">
              <a:extLst>
                <a:ext uri="{FF2B5EF4-FFF2-40B4-BE49-F238E27FC236}">
                  <a16:creationId xmlns:a16="http://schemas.microsoft.com/office/drawing/2014/main" id="{AC87B15E-B4D0-4AC5-B95A-C37CA66D30AF}"/>
                </a:ext>
              </a:extLst>
            </p:cNvPr>
            <p:cNvSpPr>
              <a:spLocks noChangeShapeType="1"/>
            </p:cNvSpPr>
            <p:nvPr/>
          </p:nvSpPr>
          <p:spPr bwMode="auto">
            <a:xfrm>
              <a:off x="5643563" y="3490913"/>
              <a:ext cx="1524000" cy="0"/>
            </a:xfrm>
            <a:prstGeom prst="line">
              <a:avLst/>
            </a:prstGeom>
            <a:noFill/>
            <a:ln w="38100" cap="rnd">
              <a:solidFill>
                <a:srgbClr val="FF9900"/>
              </a:solidFill>
              <a:prstDash val="sys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mc:AlternateContent xmlns:mc="http://schemas.openxmlformats.org/markup-compatibility/2006" xmlns:a14="http://schemas.microsoft.com/office/drawing/2010/main">
          <mc:Choice Requires="a14">
            <p:sp>
              <p:nvSpPr>
                <p:cNvPr id="39" name="Object 25">
                  <a:extLst>
                    <a:ext uri="{FF2B5EF4-FFF2-40B4-BE49-F238E27FC236}">
                      <a16:creationId xmlns:a16="http://schemas.microsoft.com/office/drawing/2014/main" id="{42134F48-3AFA-4144-9F1C-C13B05C294BE}"/>
                    </a:ext>
                  </a:extLst>
                </p:cNvPr>
                <p:cNvSpPr txBox="1"/>
                <p:nvPr/>
              </p:nvSpPr>
              <p:spPr bwMode="auto">
                <a:xfrm>
                  <a:off x="7684535" y="3061154"/>
                  <a:ext cx="279402" cy="38632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lang="en-US" sz="2000" i="0">
                            <a:solidFill>
                              <a:srgbClr val="000000"/>
                            </a:solidFill>
                            <a:latin typeface="Cambria Math" panose="02040503050406030204" pitchFamily="18" charset="0"/>
                          </a:rPr>
                          <m:t>t</m:t>
                        </m:r>
                      </m:oMath>
                    </m:oMathPara>
                  </a14:m>
                  <a:endParaRPr lang="en-US" sz="2000" dirty="0"/>
                </a:p>
              </p:txBody>
            </p:sp>
          </mc:Choice>
          <mc:Fallback xmlns="">
            <p:sp>
              <p:nvSpPr>
                <p:cNvPr id="39" name="Object 25">
                  <a:extLst>
                    <a:ext uri="{FF2B5EF4-FFF2-40B4-BE49-F238E27FC236}">
                      <a16:creationId xmlns:a16="http://schemas.microsoft.com/office/drawing/2014/main" id="{42134F48-3AFA-4144-9F1C-C13B05C294BE}"/>
                    </a:ext>
                  </a:extLst>
                </p:cNvPr>
                <p:cNvSpPr txBox="1">
                  <a:spLocks noRot="1" noChangeAspect="1" noMove="1" noResize="1" noEditPoints="1" noAdjustHandles="1" noChangeArrowheads="1" noChangeShapeType="1" noTextEdit="1"/>
                </p:cNvSpPr>
                <p:nvPr/>
              </p:nvSpPr>
              <p:spPr bwMode="auto">
                <a:xfrm>
                  <a:off x="7684535" y="3061154"/>
                  <a:ext cx="279402" cy="386327"/>
                </a:xfrm>
                <a:prstGeom prst="rect">
                  <a:avLst/>
                </a:prstGeom>
                <a:blipFill>
                  <a:blip r:embed="rId1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Object 33">
                  <a:extLst>
                    <a:ext uri="{FF2B5EF4-FFF2-40B4-BE49-F238E27FC236}">
                      <a16:creationId xmlns:a16="http://schemas.microsoft.com/office/drawing/2014/main" id="{F5BAD0C9-39E6-494F-8FAF-22FBA3D50C39}"/>
                    </a:ext>
                  </a:extLst>
                </p:cNvPr>
                <p:cNvSpPr txBox="1"/>
                <p:nvPr/>
              </p:nvSpPr>
              <p:spPr bwMode="auto">
                <a:xfrm>
                  <a:off x="5358946" y="2420863"/>
                  <a:ext cx="312721" cy="36965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1</m:t>
                        </m:r>
                      </m:oMath>
                    </m:oMathPara>
                  </a14:m>
                  <a:endParaRPr lang="en-US" dirty="0"/>
                </a:p>
              </p:txBody>
            </p:sp>
          </mc:Choice>
          <mc:Fallback xmlns="">
            <p:sp>
              <p:nvSpPr>
                <p:cNvPr id="40" name="Object 33">
                  <a:extLst>
                    <a:ext uri="{FF2B5EF4-FFF2-40B4-BE49-F238E27FC236}">
                      <a16:creationId xmlns:a16="http://schemas.microsoft.com/office/drawing/2014/main" id="{F5BAD0C9-39E6-494F-8FAF-22FBA3D50C39}"/>
                    </a:ext>
                  </a:extLst>
                </p:cNvPr>
                <p:cNvSpPr txBox="1">
                  <a:spLocks noRot="1" noChangeAspect="1" noMove="1" noResize="1" noEditPoints="1" noAdjustHandles="1" noChangeArrowheads="1" noChangeShapeType="1" noTextEdit="1"/>
                </p:cNvSpPr>
                <p:nvPr/>
              </p:nvSpPr>
              <p:spPr bwMode="auto">
                <a:xfrm>
                  <a:off x="5358946" y="2420863"/>
                  <a:ext cx="312721" cy="369653"/>
                </a:xfrm>
                <a:prstGeom prst="rect">
                  <a:avLst/>
                </a:prstGeom>
                <a:blipFill>
                  <a:blip r:embed="rId1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Object 34">
                  <a:extLst>
                    <a:ext uri="{FF2B5EF4-FFF2-40B4-BE49-F238E27FC236}">
                      <a16:creationId xmlns:a16="http://schemas.microsoft.com/office/drawing/2014/main" id="{9658D70A-F131-403A-9ED2-5752A228B783}"/>
                    </a:ext>
                  </a:extLst>
                </p:cNvPr>
                <p:cNvSpPr txBox="1"/>
                <p:nvPr/>
              </p:nvSpPr>
              <p:spPr bwMode="auto">
                <a:xfrm>
                  <a:off x="5298849" y="3320143"/>
                  <a:ext cx="411387" cy="398691"/>
                </a:xfrm>
                <a:prstGeom prst="rect">
                  <a:avLst/>
                </a:prstGeom>
                <a:solidFill>
                  <a:schemeClr val="bg1"/>
                </a:solid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−1</m:t>
                        </m:r>
                      </m:oMath>
                    </m:oMathPara>
                  </a14:m>
                  <a:endParaRPr lang="en-US" dirty="0"/>
                </a:p>
              </p:txBody>
            </p:sp>
          </mc:Choice>
          <mc:Fallback xmlns="">
            <p:sp>
              <p:nvSpPr>
                <p:cNvPr id="41" name="Object 34">
                  <a:extLst>
                    <a:ext uri="{FF2B5EF4-FFF2-40B4-BE49-F238E27FC236}">
                      <a16:creationId xmlns:a16="http://schemas.microsoft.com/office/drawing/2014/main" id="{9658D70A-F131-403A-9ED2-5752A228B783}"/>
                    </a:ext>
                  </a:extLst>
                </p:cNvPr>
                <p:cNvSpPr txBox="1">
                  <a:spLocks noRot="1" noChangeAspect="1" noMove="1" noResize="1" noEditPoints="1" noAdjustHandles="1" noChangeArrowheads="1" noChangeShapeType="1" noTextEdit="1"/>
                </p:cNvSpPr>
                <p:nvPr/>
              </p:nvSpPr>
              <p:spPr bwMode="auto">
                <a:xfrm>
                  <a:off x="5298849" y="3320143"/>
                  <a:ext cx="411387" cy="398691"/>
                </a:xfrm>
                <a:prstGeom prst="rect">
                  <a:avLst/>
                </a:prstGeom>
                <a:blipFill>
                  <a:blip r:embed="rId16"/>
                  <a:stretch>
                    <a:fillRect r="-14706"/>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Object 35">
                  <a:extLst>
                    <a:ext uri="{FF2B5EF4-FFF2-40B4-BE49-F238E27FC236}">
                      <a16:creationId xmlns:a16="http://schemas.microsoft.com/office/drawing/2014/main" id="{C229A66A-B415-4475-936D-0900A7A24347}"/>
                    </a:ext>
                  </a:extLst>
                </p:cNvPr>
                <p:cNvSpPr txBox="1"/>
                <p:nvPr/>
              </p:nvSpPr>
              <p:spPr bwMode="auto">
                <a:xfrm>
                  <a:off x="6037977" y="3091996"/>
                  <a:ext cx="296860" cy="36410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1</m:t>
                        </m:r>
                      </m:oMath>
                    </m:oMathPara>
                  </a14:m>
                  <a:endParaRPr lang="en-US" dirty="0"/>
                </a:p>
              </p:txBody>
            </p:sp>
          </mc:Choice>
          <mc:Fallback xmlns="">
            <p:sp>
              <p:nvSpPr>
                <p:cNvPr id="43" name="Object 35">
                  <a:extLst>
                    <a:ext uri="{FF2B5EF4-FFF2-40B4-BE49-F238E27FC236}">
                      <a16:creationId xmlns:a16="http://schemas.microsoft.com/office/drawing/2014/main" id="{C229A66A-B415-4475-936D-0900A7A24347}"/>
                    </a:ext>
                  </a:extLst>
                </p:cNvPr>
                <p:cNvSpPr txBox="1">
                  <a:spLocks noRot="1" noChangeAspect="1" noMove="1" noResize="1" noEditPoints="1" noAdjustHandles="1" noChangeArrowheads="1" noChangeShapeType="1" noTextEdit="1"/>
                </p:cNvSpPr>
                <p:nvPr/>
              </p:nvSpPr>
              <p:spPr bwMode="auto">
                <a:xfrm>
                  <a:off x="6037977" y="3091996"/>
                  <a:ext cx="296860" cy="364102"/>
                </a:xfrm>
                <a:prstGeom prst="rect">
                  <a:avLst/>
                </a:prstGeom>
                <a:blipFill>
                  <a:blip r:embed="rId17"/>
                  <a:stretch>
                    <a:fillRect r="-2041"/>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5" name="对象 44">
                <a:extLst>
                  <a:ext uri="{FF2B5EF4-FFF2-40B4-BE49-F238E27FC236}">
                    <a16:creationId xmlns:a16="http://schemas.microsoft.com/office/drawing/2014/main" id="{440B49A3-E955-461E-9192-B8254B7DC738}"/>
                  </a:ext>
                </a:extLst>
              </p:cNvPr>
              <p:cNvSpPr txBox="1"/>
              <p:nvPr/>
            </p:nvSpPr>
            <p:spPr bwMode="auto">
              <a:xfrm>
                <a:off x="1654928" y="5949280"/>
                <a:ext cx="4734076" cy="46519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−3)</m:t>
                      </m:r>
                    </m:oMath>
                  </m:oMathPara>
                </a14:m>
                <a:endParaRPr lang="en-US" sz="2400" dirty="0"/>
              </a:p>
            </p:txBody>
          </p:sp>
        </mc:Choice>
        <mc:Fallback xmlns="">
          <p:sp>
            <p:nvSpPr>
              <p:cNvPr id="45" name="对象 44">
                <a:extLst>
                  <a:ext uri="{FF2B5EF4-FFF2-40B4-BE49-F238E27FC236}">
                    <a16:creationId xmlns:a16="http://schemas.microsoft.com/office/drawing/2014/main" id="{440B49A3-E955-461E-9192-B8254B7DC738}"/>
                  </a:ext>
                </a:extLst>
              </p:cNvPr>
              <p:cNvSpPr txBox="1">
                <a:spLocks noRot="1" noChangeAspect="1" noMove="1" noResize="1" noEditPoints="1" noAdjustHandles="1" noChangeArrowheads="1" noChangeShapeType="1" noTextEdit="1"/>
              </p:cNvSpPr>
              <p:nvPr/>
            </p:nvSpPr>
            <p:spPr bwMode="auto">
              <a:xfrm>
                <a:off x="1654928" y="5949280"/>
                <a:ext cx="4734076" cy="465192"/>
              </a:xfrm>
              <a:prstGeom prst="rect">
                <a:avLst/>
              </a:prstGeom>
              <a:blipFill>
                <a:blip r:embed="rId18"/>
                <a:stretch>
                  <a:fillRect b="-19737"/>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170216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additive="base">
                                        <p:cTn id="19" dur="500" fill="hold"/>
                                        <p:tgtEl>
                                          <p:spTgt spid="45"/>
                                        </p:tgtEl>
                                        <p:attrNameLst>
                                          <p:attrName>ppt_x</p:attrName>
                                        </p:attrNameLst>
                                      </p:cBhvr>
                                      <p:tavLst>
                                        <p:tav tm="0">
                                          <p:val>
                                            <p:strVal val="#ppt_x"/>
                                          </p:val>
                                        </p:tav>
                                        <p:tav tm="100000">
                                          <p:val>
                                            <p:strVal val="#ppt_x"/>
                                          </p:val>
                                        </p:tav>
                                      </p:tavLst>
                                    </p:anim>
                                    <p:anim calcmode="lin" valueType="num">
                                      <p:cBhvr additive="base">
                                        <p:cTn id="20"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500"/>
                                        <p:tgtEl>
                                          <p:spTgt spid="14"/>
                                        </p:tgtEl>
                                      </p:cBhvr>
                                    </p:animEffect>
                                  </p:childTnLst>
                                </p:cTn>
                              </p:par>
                            </p:childTnLst>
                          </p:cTn>
                        </p:par>
                        <p:par>
                          <p:cTn id="26" fill="hold">
                            <p:stCondLst>
                              <p:cond delay="500"/>
                            </p:stCondLst>
                            <p:childTnLst>
                              <p:par>
                                <p:cTn id="27" presetID="3" presetClass="entr" presetSubtype="10" fill="hold"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blinds(horizontal)">
                                      <p:cBhvr>
                                        <p:cTn id="2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4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标题 1">
            <a:extLst>
              <a:ext uri="{FF2B5EF4-FFF2-40B4-BE49-F238E27FC236}">
                <a16:creationId xmlns:a16="http://schemas.microsoft.com/office/drawing/2014/main" id="{B673D1B6-4C6A-4565-AC20-5CDDBA3FF2D5}"/>
              </a:ext>
            </a:extLst>
          </p:cNvPr>
          <p:cNvSpPr>
            <a:spLocks noGrp="1"/>
          </p:cNvSpPr>
          <p:nvPr>
            <p:ph type="title"/>
          </p:nvPr>
        </p:nvSpPr>
        <p:spPr/>
        <p:txBody>
          <a:bodyPr/>
          <a:lstStyle/>
          <a:p>
            <a:pPr eaLnBrk="1" hangingPunct="1"/>
            <a:r>
              <a:rPr lang="en-US" altLang="zh-CN"/>
              <a:t>1.4  </a:t>
            </a:r>
            <a:r>
              <a:rPr lang="zh-CN" altLang="en-US"/>
              <a:t>单位冲激与单位阶跃函数</a:t>
            </a:r>
          </a:p>
        </p:txBody>
      </p:sp>
      <p:sp>
        <p:nvSpPr>
          <p:cNvPr id="4" name="灯片编号占位符 3">
            <a:extLst>
              <a:ext uri="{FF2B5EF4-FFF2-40B4-BE49-F238E27FC236}">
                <a16:creationId xmlns:a16="http://schemas.microsoft.com/office/drawing/2014/main" id="{4CC08D0C-8BA9-48FE-889C-23084ED1EE5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4D9D3F-A080-4A5E-9171-EA5ADCCBBC6C}"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4" name="内容占位符 2">
            <a:extLst>
              <a:ext uri="{FF2B5EF4-FFF2-40B4-BE49-F238E27FC236}">
                <a16:creationId xmlns:a16="http://schemas.microsoft.com/office/drawing/2014/main" id="{762476A3-D79F-471A-BC3C-446C859FDC89}"/>
              </a:ext>
            </a:extLst>
          </p:cNvPr>
          <p:cNvSpPr>
            <a:spLocks noGrp="1"/>
          </p:cNvSpPr>
          <p:nvPr>
            <p:ph idx="1"/>
          </p:nvPr>
        </p:nvSpPr>
        <p:spPr>
          <a:xfrm>
            <a:off x="457200" y="1397396"/>
            <a:ext cx="8229600" cy="3420424"/>
          </a:xfrm>
        </p:spPr>
        <p:txBody>
          <a:bodyPr>
            <a:spAutoFit/>
          </a:bodyPr>
          <a:lstStyle/>
          <a:p>
            <a:pPr marL="271463" indent="-271463" algn="just" eaLnBrk="1" hangingPunct="1">
              <a:lnSpc>
                <a:spcPct val="200000"/>
              </a:lnSpc>
              <a:spcBef>
                <a:spcPts val="0"/>
              </a:spcBef>
              <a:spcAft>
                <a:spcPts val="1200"/>
              </a:spcAft>
            </a:pPr>
            <a:r>
              <a:rPr lang="zh-CN" altLang="en-US" sz="2800" b="0" dirty="0"/>
              <a:t>与复指数信号相似，单位冲激与单位阶跃函数可用于构成几乎任何在现实中感兴趣的信号。在后续章节中我们将学习并体会到其在信号表示与系统分析中的重要价值。</a:t>
            </a:r>
            <a:endParaRPr lang="en-US" altLang="zh-CN" sz="2800" b="0" dirty="0"/>
          </a:p>
        </p:txBody>
      </p:sp>
    </p:spTree>
    <p:extLst>
      <p:ext uri="{BB962C8B-B14F-4D97-AF65-F5344CB8AC3E}">
        <p14:creationId xmlns:p14="http://schemas.microsoft.com/office/powerpoint/2010/main" val="152337474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p:txBody>
          <a:bodyPr/>
          <a:lstStyle/>
          <a:p>
            <a:r>
              <a:rPr lang="en-US" altLang="zh-CN" sz="2800" b="0" dirty="0"/>
              <a:t>1.21(f)</a:t>
            </a:r>
            <a:r>
              <a:rPr lang="zh-CN" altLang="en-US" sz="2800" b="0" dirty="0"/>
              <a:t>、</a:t>
            </a:r>
            <a:r>
              <a:rPr lang="en-US" altLang="zh-CN" sz="2800" b="0" dirty="0"/>
              <a:t>1.22(e)</a:t>
            </a:r>
            <a:r>
              <a:rPr lang="zh-CN" altLang="en-US" sz="2800" b="0" dirty="0"/>
              <a:t> 、</a:t>
            </a:r>
            <a:r>
              <a:rPr lang="en-US" altLang="zh-CN" sz="2800" b="0" dirty="0"/>
              <a:t>1.25(b)</a:t>
            </a:r>
            <a:r>
              <a:rPr lang="zh-CN" altLang="en-US" sz="2800" b="0" dirty="0"/>
              <a:t>、</a:t>
            </a:r>
            <a:r>
              <a:rPr lang="en-US" altLang="zh-CN" sz="2800" b="0" dirty="0"/>
              <a:t>1.26(e)</a:t>
            </a:r>
            <a:endParaRPr lang="en-US" sz="2800" b="0" dirty="0"/>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fld id="{D6CC5206-228A-4188-B6B3-2BFCD2AC1E6E}" type="slidenum">
              <a:rPr lang="zh-CN" altLang="en-US" smtClean="0"/>
              <a:pPr/>
              <a:t>66</a:t>
            </a:fld>
            <a:endParaRPr lang="zh-CN" altLang="en-US"/>
          </a:p>
        </p:txBody>
      </p:sp>
    </p:spTree>
    <p:extLst>
      <p:ext uri="{BB962C8B-B14F-4D97-AF65-F5344CB8AC3E}">
        <p14:creationId xmlns:p14="http://schemas.microsoft.com/office/powerpoint/2010/main" val="101634718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标题 1">
            <a:extLst>
              <a:ext uri="{FF2B5EF4-FFF2-40B4-BE49-F238E27FC236}">
                <a16:creationId xmlns:a16="http://schemas.microsoft.com/office/drawing/2014/main" id="{D002418F-F746-4DCA-AB67-105C6AE956D2}"/>
              </a:ext>
            </a:extLst>
          </p:cNvPr>
          <p:cNvSpPr>
            <a:spLocks noGrp="1"/>
          </p:cNvSpPr>
          <p:nvPr>
            <p:ph type="title"/>
          </p:nvPr>
        </p:nvSpPr>
        <p:spPr/>
        <p:txBody>
          <a:bodyPr/>
          <a:lstStyle/>
          <a:p>
            <a:r>
              <a:rPr lang="en-US" altLang="zh-CN" dirty="0"/>
              <a:t>1.5  </a:t>
            </a:r>
            <a:r>
              <a:rPr lang="zh-CN" altLang="en-US" dirty="0"/>
              <a:t>连续时间与离散时间系统</a:t>
            </a:r>
          </a:p>
        </p:txBody>
      </p:sp>
      <p:sp>
        <p:nvSpPr>
          <p:cNvPr id="26631" name="内容占位符 2">
            <a:extLst>
              <a:ext uri="{FF2B5EF4-FFF2-40B4-BE49-F238E27FC236}">
                <a16:creationId xmlns:a16="http://schemas.microsoft.com/office/drawing/2014/main" id="{5BFA6134-C3CF-47D4-8B5F-7D1E2752367D}"/>
              </a:ext>
            </a:extLst>
          </p:cNvPr>
          <p:cNvSpPr>
            <a:spLocks noGrp="1"/>
          </p:cNvSpPr>
          <p:nvPr>
            <p:ph idx="1"/>
          </p:nvPr>
        </p:nvSpPr>
        <p:spPr/>
        <p:txBody>
          <a:bodyPr/>
          <a:lstStyle/>
          <a:p>
            <a:r>
              <a:rPr lang="zh-CN" altLang="en-US" b="0" dirty="0"/>
              <a:t>一</a:t>
            </a:r>
            <a:r>
              <a:rPr lang="en-US" altLang="zh-CN" b="0" dirty="0"/>
              <a:t>. </a:t>
            </a:r>
            <a:r>
              <a:rPr lang="zh-CN" altLang="en-US" b="0" dirty="0"/>
              <a:t>系统</a:t>
            </a:r>
            <a:endParaRPr lang="en-US" altLang="zh-CN" b="0" dirty="0"/>
          </a:p>
          <a:p>
            <a:endParaRPr lang="zh-CN" altLang="en-US" b="0" dirty="0"/>
          </a:p>
        </p:txBody>
      </p:sp>
      <p:sp>
        <p:nvSpPr>
          <p:cNvPr id="4" name="灯片编号占位符 3">
            <a:extLst>
              <a:ext uri="{FF2B5EF4-FFF2-40B4-BE49-F238E27FC236}">
                <a16:creationId xmlns:a16="http://schemas.microsoft.com/office/drawing/2014/main" id="{5E3732C6-2333-4D16-A255-E816F8F1016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046714A-260E-484E-8D9D-7D88D55A046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6633" name="Text Box 2">
            <a:extLst>
              <a:ext uri="{FF2B5EF4-FFF2-40B4-BE49-F238E27FC236}">
                <a16:creationId xmlns:a16="http://schemas.microsoft.com/office/drawing/2014/main" id="{B04D723C-1899-4C0F-A8AD-1CB134BB8957}"/>
              </a:ext>
            </a:extLst>
          </p:cNvPr>
          <p:cNvSpPr txBox="1">
            <a:spLocks noChangeArrowheads="1"/>
          </p:cNvSpPr>
          <p:nvPr/>
        </p:nvSpPr>
        <p:spPr bwMode="auto">
          <a:xfrm>
            <a:off x="912813" y="2457450"/>
            <a:ext cx="7773987"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914400" rtl="0" eaLnBrk="0" fontAlgn="base" latinLnBrk="0" hangingPunct="0">
              <a:lnSpc>
                <a:spcPct val="12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输入信号与输出响应都是连续时间信号的系统。</a:t>
            </a:r>
          </a:p>
        </p:txBody>
      </p:sp>
      <p:sp>
        <p:nvSpPr>
          <p:cNvPr id="26634" name="Line 3">
            <a:extLst>
              <a:ext uri="{FF2B5EF4-FFF2-40B4-BE49-F238E27FC236}">
                <a16:creationId xmlns:a16="http://schemas.microsoft.com/office/drawing/2014/main" id="{61F54140-C764-411B-B027-E977F2BA852E}"/>
              </a:ext>
            </a:extLst>
          </p:cNvPr>
          <p:cNvSpPr>
            <a:spLocks noChangeShapeType="1"/>
          </p:cNvSpPr>
          <p:nvPr/>
        </p:nvSpPr>
        <p:spPr bwMode="auto">
          <a:xfrm>
            <a:off x="1865313" y="3706813"/>
            <a:ext cx="151288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6635" name="Rectangle 4">
            <a:extLst>
              <a:ext uri="{FF2B5EF4-FFF2-40B4-BE49-F238E27FC236}">
                <a16:creationId xmlns:a16="http://schemas.microsoft.com/office/drawing/2014/main" id="{C43234F8-6D2A-43A2-80DB-AE8AC1AC1EC3}"/>
              </a:ext>
            </a:extLst>
          </p:cNvPr>
          <p:cNvSpPr>
            <a:spLocks noChangeArrowheads="1"/>
          </p:cNvSpPr>
          <p:nvPr/>
        </p:nvSpPr>
        <p:spPr bwMode="auto">
          <a:xfrm>
            <a:off x="3378200" y="3224213"/>
            <a:ext cx="2447925" cy="890587"/>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连续时间系统</a:t>
            </a:r>
          </a:p>
        </p:txBody>
      </p:sp>
      <p:sp>
        <p:nvSpPr>
          <p:cNvPr id="26636" name="Line 5">
            <a:extLst>
              <a:ext uri="{FF2B5EF4-FFF2-40B4-BE49-F238E27FC236}">
                <a16:creationId xmlns:a16="http://schemas.microsoft.com/office/drawing/2014/main" id="{6370B9AC-CC1D-4BFC-954D-1DF35DB11F09}"/>
              </a:ext>
            </a:extLst>
          </p:cNvPr>
          <p:cNvSpPr>
            <a:spLocks noChangeShapeType="1"/>
          </p:cNvSpPr>
          <p:nvPr/>
        </p:nvSpPr>
        <p:spPr bwMode="auto">
          <a:xfrm>
            <a:off x="5826125" y="3706813"/>
            <a:ext cx="15113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6626" name="Object 2">
                <a:extLst>
                  <a:ext uri="{FF2B5EF4-FFF2-40B4-BE49-F238E27FC236}">
                    <a16:creationId xmlns:a16="http://schemas.microsoft.com/office/drawing/2014/main" id="{C4AD2527-EFA1-4AD5-8776-4266F4B30F7F}"/>
                  </a:ext>
                </a:extLst>
              </p:cNvPr>
              <p:cNvSpPr txBox="1"/>
              <p:nvPr/>
            </p:nvSpPr>
            <p:spPr bwMode="auto">
              <a:xfrm>
                <a:off x="1792288" y="3194050"/>
                <a:ext cx="866774" cy="57625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6626" name="Object 2">
                <a:extLst>
                  <a:ext uri="{FF2B5EF4-FFF2-40B4-BE49-F238E27FC236}">
                    <a16:creationId xmlns:a16="http://schemas.microsoft.com/office/drawing/2014/main" id="{C4AD2527-EFA1-4AD5-8776-4266F4B30F7F}"/>
                  </a:ext>
                </a:extLst>
              </p:cNvPr>
              <p:cNvSpPr txBox="1">
                <a:spLocks noRot="1" noChangeAspect="1" noMove="1" noResize="1" noEditPoints="1" noAdjustHandles="1" noChangeArrowheads="1" noChangeShapeType="1" noTextEdit="1"/>
              </p:cNvSpPr>
              <p:nvPr/>
            </p:nvSpPr>
            <p:spPr bwMode="auto">
              <a:xfrm>
                <a:off x="1792288" y="3194050"/>
                <a:ext cx="866774" cy="576258"/>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627" name="Object 3">
                <a:extLst>
                  <a:ext uri="{FF2B5EF4-FFF2-40B4-BE49-F238E27FC236}">
                    <a16:creationId xmlns:a16="http://schemas.microsoft.com/office/drawing/2014/main" id="{EAAAA103-36FD-4B2F-AADE-851C83B68B02}"/>
                  </a:ext>
                </a:extLst>
              </p:cNvPr>
              <p:cNvSpPr txBox="1"/>
              <p:nvPr/>
            </p:nvSpPr>
            <p:spPr bwMode="auto">
              <a:xfrm>
                <a:off x="6545262" y="3201988"/>
                <a:ext cx="806449" cy="57625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𝑦</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6627" name="Object 3">
                <a:extLst>
                  <a:ext uri="{FF2B5EF4-FFF2-40B4-BE49-F238E27FC236}">
                    <a16:creationId xmlns:a16="http://schemas.microsoft.com/office/drawing/2014/main" id="{EAAAA103-36FD-4B2F-AADE-851C83B68B02}"/>
                  </a:ext>
                </a:extLst>
              </p:cNvPr>
              <p:cNvSpPr txBox="1">
                <a:spLocks noRot="1" noChangeAspect="1" noMove="1" noResize="1" noEditPoints="1" noAdjustHandles="1" noChangeArrowheads="1" noChangeShapeType="1" noTextEdit="1"/>
              </p:cNvSpPr>
              <p:nvPr/>
            </p:nvSpPr>
            <p:spPr bwMode="auto">
              <a:xfrm>
                <a:off x="6545262" y="3201988"/>
                <a:ext cx="806449" cy="576257"/>
              </a:xfrm>
              <a:prstGeom prst="rect">
                <a:avLst/>
              </a:prstGeom>
              <a:blipFill>
                <a:blip r:embed="rId3"/>
                <a:stretch>
                  <a:fillRect/>
                </a:stretch>
              </a:blipFill>
              <a:ln>
                <a:noFill/>
              </a:ln>
              <a:effectLst/>
            </p:spPr>
            <p:txBody>
              <a:bodyPr/>
              <a:lstStyle/>
              <a:p>
                <a:r>
                  <a:rPr lang="en-US">
                    <a:noFill/>
                  </a:rPr>
                  <a:t> </a:t>
                </a:r>
              </a:p>
            </p:txBody>
          </p:sp>
        </mc:Fallback>
      </mc:AlternateContent>
      <p:sp>
        <p:nvSpPr>
          <p:cNvPr id="26637" name="Rectangle 12">
            <a:extLst>
              <a:ext uri="{FF2B5EF4-FFF2-40B4-BE49-F238E27FC236}">
                <a16:creationId xmlns:a16="http://schemas.microsoft.com/office/drawing/2014/main" id="{AF48AB33-DC26-4356-B85B-7179640C4AB4}"/>
              </a:ext>
            </a:extLst>
          </p:cNvPr>
          <p:cNvSpPr>
            <a:spLocks noChangeArrowheads="1"/>
          </p:cNvSpPr>
          <p:nvPr/>
        </p:nvSpPr>
        <p:spPr bwMode="auto">
          <a:xfrm>
            <a:off x="785813" y="1928813"/>
            <a:ext cx="2673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连续时间系统</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sp>
        <p:nvSpPr>
          <p:cNvPr id="26638" name="Line 3">
            <a:extLst>
              <a:ext uri="{FF2B5EF4-FFF2-40B4-BE49-F238E27FC236}">
                <a16:creationId xmlns:a16="http://schemas.microsoft.com/office/drawing/2014/main" id="{FD551D9D-EC3B-454E-97F2-FD4145AB6C3C}"/>
              </a:ext>
            </a:extLst>
          </p:cNvPr>
          <p:cNvSpPr>
            <a:spLocks noChangeShapeType="1"/>
          </p:cNvSpPr>
          <p:nvPr/>
        </p:nvSpPr>
        <p:spPr bwMode="auto">
          <a:xfrm>
            <a:off x="1776413" y="6067425"/>
            <a:ext cx="151288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26639" name="Rectangle 4">
            <a:extLst>
              <a:ext uri="{FF2B5EF4-FFF2-40B4-BE49-F238E27FC236}">
                <a16:creationId xmlns:a16="http://schemas.microsoft.com/office/drawing/2014/main" id="{F79A2465-7BE6-443E-89F4-ACE575DDA2D1}"/>
              </a:ext>
            </a:extLst>
          </p:cNvPr>
          <p:cNvSpPr>
            <a:spLocks noChangeArrowheads="1"/>
          </p:cNvSpPr>
          <p:nvPr/>
        </p:nvSpPr>
        <p:spPr bwMode="auto">
          <a:xfrm>
            <a:off x="3289300" y="5553075"/>
            <a:ext cx="2447925" cy="947738"/>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离散时间系统</a:t>
            </a:r>
          </a:p>
        </p:txBody>
      </p:sp>
      <p:sp>
        <p:nvSpPr>
          <p:cNvPr id="26640" name="Line 5">
            <a:extLst>
              <a:ext uri="{FF2B5EF4-FFF2-40B4-BE49-F238E27FC236}">
                <a16:creationId xmlns:a16="http://schemas.microsoft.com/office/drawing/2014/main" id="{4786B22C-0358-4857-892C-571BE55214B0}"/>
              </a:ext>
            </a:extLst>
          </p:cNvPr>
          <p:cNvSpPr>
            <a:spLocks noChangeShapeType="1"/>
          </p:cNvSpPr>
          <p:nvPr/>
        </p:nvSpPr>
        <p:spPr bwMode="auto">
          <a:xfrm>
            <a:off x="5737225" y="6067425"/>
            <a:ext cx="15113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6628" name="Object 4">
                <a:extLst>
                  <a:ext uri="{FF2B5EF4-FFF2-40B4-BE49-F238E27FC236}">
                    <a16:creationId xmlns:a16="http://schemas.microsoft.com/office/drawing/2014/main" id="{51A176CD-9D62-498E-A35F-E2F0D6E03CF6}"/>
                  </a:ext>
                </a:extLst>
              </p:cNvPr>
              <p:cNvSpPr txBox="1"/>
              <p:nvPr/>
            </p:nvSpPr>
            <p:spPr bwMode="auto">
              <a:xfrm>
                <a:off x="1633538" y="5517232"/>
                <a:ext cx="862012" cy="576262"/>
              </a:xfrm>
              <a:prstGeom prst="rect">
                <a:avLst/>
              </a:prstGeom>
              <a:noFill/>
              <a:ln>
                <a:noFill/>
              </a:ln>
              <a:effectLst/>
            </p:spPr>
            <p:txBody>
              <a:bodyPr>
                <a:noAutofit/>
              </a:bodyPr>
              <a:lstStyle/>
              <a:p>
                <a14:m>
                  <m:oMath xmlns:m="http://schemas.openxmlformats.org/officeDocument/2006/math">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oMath>
                </a14:m>
                <a:r>
                  <a:rPr lang="en-US" sz="2800" dirty="0"/>
                  <a:t>]</a:t>
                </a:r>
              </a:p>
            </p:txBody>
          </p:sp>
        </mc:Choice>
        <mc:Fallback xmlns="">
          <p:sp>
            <p:nvSpPr>
              <p:cNvPr id="26628" name="Object 4">
                <a:extLst>
                  <a:ext uri="{FF2B5EF4-FFF2-40B4-BE49-F238E27FC236}">
                    <a16:creationId xmlns:a16="http://schemas.microsoft.com/office/drawing/2014/main" id="{51A176CD-9D62-498E-A35F-E2F0D6E03CF6}"/>
                  </a:ext>
                </a:extLst>
              </p:cNvPr>
              <p:cNvSpPr txBox="1">
                <a:spLocks noRot="1" noChangeAspect="1" noMove="1" noResize="1" noEditPoints="1" noAdjustHandles="1" noChangeArrowheads="1" noChangeShapeType="1" noTextEdit="1"/>
              </p:cNvSpPr>
              <p:nvPr/>
            </p:nvSpPr>
            <p:spPr bwMode="auto">
              <a:xfrm>
                <a:off x="1633538" y="5517232"/>
                <a:ext cx="862012" cy="576262"/>
              </a:xfrm>
              <a:prstGeom prst="rect">
                <a:avLst/>
              </a:prstGeom>
              <a:blipFill>
                <a:blip r:embed="rId4"/>
                <a:stretch>
                  <a:fillRect t="-10526" r="-9220" b="-18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629" name="Object 5">
                <a:extLst>
                  <a:ext uri="{FF2B5EF4-FFF2-40B4-BE49-F238E27FC236}">
                    <a16:creationId xmlns:a16="http://schemas.microsoft.com/office/drawing/2014/main" id="{9B6FB16A-DEEF-4484-BBF6-5C703A41B6FF}"/>
                  </a:ext>
                </a:extLst>
              </p:cNvPr>
              <p:cNvSpPr txBox="1"/>
              <p:nvPr/>
            </p:nvSpPr>
            <p:spPr bwMode="auto">
              <a:xfrm>
                <a:off x="6530975" y="5521995"/>
                <a:ext cx="836612" cy="527046"/>
              </a:xfrm>
              <a:prstGeom prst="rect">
                <a:avLst/>
              </a:prstGeom>
              <a:noFill/>
              <a:ln>
                <a:noFill/>
              </a:ln>
              <a:effectLst/>
            </p:spPr>
            <p:txBody>
              <a:bodyPr>
                <a:noAutofit/>
              </a:bodyPr>
              <a:lstStyle/>
              <a:p>
                <a14:m>
                  <m:oMath xmlns:m="http://schemas.openxmlformats.org/officeDocument/2006/math">
                    <m:r>
                      <a:rPr lang="en-US" sz="280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oMath>
                </a14:m>
                <a:r>
                  <a:rPr lang="en-US" sz="2800" dirty="0"/>
                  <a:t>]</a:t>
                </a:r>
              </a:p>
            </p:txBody>
          </p:sp>
        </mc:Choice>
        <mc:Fallback xmlns="">
          <p:sp>
            <p:nvSpPr>
              <p:cNvPr id="26629" name="Object 5">
                <a:extLst>
                  <a:ext uri="{FF2B5EF4-FFF2-40B4-BE49-F238E27FC236}">
                    <a16:creationId xmlns:a16="http://schemas.microsoft.com/office/drawing/2014/main" id="{9B6FB16A-DEEF-4484-BBF6-5C703A41B6FF}"/>
                  </a:ext>
                </a:extLst>
              </p:cNvPr>
              <p:cNvSpPr txBox="1">
                <a:spLocks noRot="1" noChangeAspect="1" noMove="1" noResize="1" noEditPoints="1" noAdjustHandles="1" noChangeArrowheads="1" noChangeShapeType="1" noTextEdit="1"/>
              </p:cNvSpPr>
              <p:nvPr/>
            </p:nvSpPr>
            <p:spPr bwMode="auto">
              <a:xfrm>
                <a:off x="6530975" y="5521995"/>
                <a:ext cx="836612" cy="527046"/>
              </a:xfrm>
              <a:prstGeom prst="rect">
                <a:avLst/>
              </a:prstGeom>
              <a:blipFill>
                <a:blip r:embed="rId5"/>
                <a:stretch>
                  <a:fillRect t="-12791" r="-12319" b="-31395"/>
                </a:stretch>
              </a:blipFill>
              <a:ln>
                <a:noFill/>
              </a:ln>
              <a:effectLst/>
            </p:spPr>
            <p:txBody>
              <a:bodyPr/>
              <a:lstStyle/>
              <a:p>
                <a:r>
                  <a:rPr lang="en-US">
                    <a:noFill/>
                  </a:rPr>
                  <a:t> </a:t>
                </a:r>
              </a:p>
            </p:txBody>
          </p:sp>
        </mc:Fallback>
      </mc:AlternateContent>
      <p:sp>
        <p:nvSpPr>
          <p:cNvPr id="26641" name="Rectangle 8">
            <a:extLst>
              <a:ext uri="{FF2B5EF4-FFF2-40B4-BE49-F238E27FC236}">
                <a16:creationId xmlns:a16="http://schemas.microsoft.com/office/drawing/2014/main" id="{FA54F18E-115F-491F-9701-64E54D93699C}"/>
              </a:ext>
            </a:extLst>
          </p:cNvPr>
          <p:cNvSpPr>
            <a:spLocks noChangeArrowheads="1"/>
          </p:cNvSpPr>
          <p:nvPr/>
        </p:nvSpPr>
        <p:spPr bwMode="auto">
          <a:xfrm>
            <a:off x="839788" y="4195763"/>
            <a:ext cx="2673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离散时间系统</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sp>
        <p:nvSpPr>
          <p:cNvPr id="26642" name="Text Box 9">
            <a:extLst>
              <a:ext uri="{FF2B5EF4-FFF2-40B4-BE49-F238E27FC236}">
                <a16:creationId xmlns:a16="http://schemas.microsoft.com/office/drawing/2014/main" id="{6249CEE3-EB85-428D-828A-64D10C491575}"/>
              </a:ext>
            </a:extLst>
          </p:cNvPr>
          <p:cNvSpPr txBox="1">
            <a:spLocks noChangeArrowheads="1"/>
          </p:cNvSpPr>
          <p:nvPr/>
        </p:nvSpPr>
        <p:spPr bwMode="auto">
          <a:xfrm>
            <a:off x="912813" y="4772025"/>
            <a:ext cx="7773987"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914400" rtl="0" eaLnBrk="0" fontAlgn="base" latinLnBrk="0" hangingPunct="0">
              <a:lnSpc>
                <a:spcPct val="12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输入信号与输出响应都是离散时间信号的系统。</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标题 1">
            <a:extLst>
              <a:ext uri="{FF2B5EF4-FFF2-40B4-BE49-F238E27FC236}">
                <a16:creationId xmlns:a16="http://schemas.microsoft.com/office/drawing/2014/main" id="{71EEE9BE-E475-4F45-99EE-1A1EA279796B}"/>
              </a:ext>
            </a:extLst>
          </p:cNvPr>
          <p:cNvSpPr>
            <a:spLocks noGrp="1"/>
          </p:cNvSpPr>
          <p:nvPr>
            <p:ph type="title"/>
          </p:nvPr>
        </p:nvSpPr>
        <p:spPr/>
        <p:txBody>
          <a:bodyPr/>
          <a:lstStyle/>
          <a:p>
            <a:r>
              <a:rPr lang="en-US" altLang="zh-CN"/>
              <a:t>1.5  </a:t>
            </a:r>
            <a:r>
              <a:rPr lang="zh-CN" altLang="en-US"/>
              <a:t>连续时间与离散时间系统</a:t>
            </a:r>
          </a:p>
        </p:txBody>
      </p:sp>
      <mc:AlternateContent xmlns:mc="http://schemas.openxmlformats.org/markup-compatibility/2006" xmlns:a14="http://schemas.microsoft.com/office/drawing/2010/main">
        <mc:Choice Requires="a14">
          <p:sp>
            <p:nvSpPr>
              <p:cNvPr id="27652" name="内容占位符 2">
                <a:extLst>
                  <a:ext uri="{FF2B5EF4-FFF2-40B4-BE49-F238E27FC236}">
                    <a16:creationId xmlns:a16="http://schemas.microsoft.com/office/drawing/2014/main" id="{BBA10FB3-0013-4D58-AB0A-A91B88ABFB74}"/>
                  </a:ext>
                </a:extLst>
              </p:cNvPr>
              <p:cNvSpPr>
                <a:spLocks noGrp="1"/>
              </p:cNvSpPr>
              <p:nvPr>
                <p:ph idx="1"/>
              </p:nvPr>
            </p:nvSpPr>
            <p:spPr>
              <a:xfrm>
                <a:off x="457200" y="1285875"/>
                <a:ext cx="8229600" cy="1274195"/>
              </a:xfrm>
            </p:spPr>
            <p:txBody>
              <a:bodyPr>
                <a:spAutoFit/>
              </a:bodyPr>
              <a:lstStyle/>
              <a:p>
                <a:r>
                  <a:rPr lang="zh-CN" altLang="en-US" sz="2400" b="0" dirty="0"/>
                  <a:t>系统分析的基本思想：</a:t>
                </a:r>
                <a:r>
                  <a:rPr lang="en-US" altLang="zh-CN" sz="2400" b="0" dirty="0"/>
                  <a:t/>
                </a:r>
                <a:br>
                  <a:rPr lang="en-US" altLang="zh-CN" sz="2400" b="0" dirty="0"/>
                </a:br>
                <a:r>
                  <a:rPr lang="zh-CN" altLang="en-US" sz="2400" b="0" dirty="0">
                    <a:solidFill>
                      <a:srgbClr val="000000"/>
                    </a:solidFill>
                    <a:ea typeface="楷体_GB2312" pitchFamily="49" charset="-122"/>
                  </a:rPr>
                  <a:t>物理问题→数学模型→求解→对解赋以物理意义</a:t>
                </a:r>
                <a:endParaRPr lang="en-US" altLang="zh-CN" sz="2400" b="0" dirty="0"/>
              </a:p>
              <a:p>
                <a:r>
                  <a:rPr lang="en-US" altLang="zh-CN" sz="2400" b="0" dirty="0"/>
                  <a:t>1. </a:t>
                </a:r>
                <a:r>
                  <a:rPr lang="zh-CN" altLang="en-US" sz="2400" b="0" dirty="0">
                    <a:solidFill>
                      <a:srgbClr val="FF0000"/>
                    </a:solidFill>
                  </a:rPr>
                  <a:t>连续时间系统</a:t>
                </a:r>
                <a:r>
                  <a:rPr lang="zh-CN" altLang="en-US" sz="2400" b="0" dirty="0"/>
                  <a:t>：机械系统</a:t>
                </a:r>
                <a:r>
                  <a:rPr lang="en-US" altLang="zh-CN" sz="2400" b="0" dirty="0"/>
                  <a:t>——</a:t>
                </a:r>
                <a:r>
                  <a:rPr lang="zh-CN" altLang="en-US" sz="2400" b="0" dirty="0"/>
                  <a:t>求</a:t>
                </a:r>
                <a14:m>
                  <m:oMath xmlns:m="http://schemas.openxmlformats.org/officeDocument/2006/math">
                    <m:r>
                      <a:rPr lang="en-US" altLang="zh-CN" sz="2400" b="0" i="1" dirty="0" smtClean="0">
                        <a:latin typeface="Cambria Math" panose="02040503050406030204" pitchFamily="18" charset="0"/>
                      </a:rPr>
                      <m:t>𝑓</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𝑡</m:t>
                    </m:r>
                    <m:r>
                      <a:rPr lang="en-US" altLang="zh-CN" sz="2400" b="0" i="1" dirty="0" smtClean="0">
                        <a:latin typeface="Cambria Math" panose="02040503050406030204" pitchFamily="18" charset="0"/>
                      </a:rPr>
                      <m:t>)</m:t>
                    </m:r>
                  </m:oMath>
                </a14:m>
                <a:r>
                  <a:rPr lang="zh-CN" altLang="en-US" sz="2400" b="0" dirty="0"/>
                  <a:t>作用下的速度</a:t>
                </a:r>
                <a14:m>
                  <m:oMath xmlns:m="http://schemas.openxmlformats.org/officeDocument/2006/math">
                    <m:r>
                      <a:rPr lang="en-US" altLang="zh-CN" sz="2400" b="0" i="1" dirty="0" smtClean="0">
                        <a:latin typeface="Cambria Math" panose="02040503050406030204" pitchFamily="18" charset="0"/>
                      </a:rPr>
                      <m:t>𝑣</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𝑡</m:t>
                    </m:r>
                    <m:r>
                      <a:rPr lang="en-US" altLang="zh-CN" sz="2400" b="0" i="1" dirty="0" smtClean="0">
                        <a:latin typeface="Cambria Math" panose="02040503050406030204" pitchFamily="18" charset="0"/>
                      </a:rPr>
                      <m:t>)</m:t>
                    </m:r>
                  </m:oMath>
                </a14:m>
                <a:endParaRPr lang="zh-CN" altLang="en-US" sz="2400" b="0" dirty="0"/>
              </a:p>
            </p:txBody>
          </p:sp>
        </mc:Choice>
        <mc:Fallback xmlns="">
          <p:sp>
            <p:nvSpPr>
              <p:cNvPr id="27652" name="内容占位符 2">
                <a:extLst>
                  <a:ext uri="{FF2B5EF4-FFF2-40B4-BE49-F238E27FC236}">
                    <a16:creationId xmlns:a16="http://schemas.microsoft.com/office/drawing/2014/main" id="{BBA10FB3-0013-4D58-AB0A-A91B88ABFB74}"/>
                  </a:ext>
                </a:extLst>
              </p:cNvPr>
              <p:cNvSpPr>
                <a:spLocks noGrp="1" noRot="1" noChangeAspect="1" noMove="1" noResize="1" noEditPoints="1" noAdjustHandles="1" noChangeArrowheads="1" noChangeShapeType="1" noTextEdit="1"/>
              </p:cNvSpPr>
              <p:nvPr>
                <p:ph idx="1"/>
              </p:nvPr>
            </p:nvSpPr>
            <p:spPr>
              <a:xfrm>
                <a:off x="457200" y="1285875"/>
                <a:ext cx="8229600" cy="1274195"/>
              </a:xfrm>
              <a:blipFill>
                <a:blip r:embed="rId2"/>
                <a:stretch>
                  <a:fillRect l="-963" t="-3349" b="-10526"/>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50487318-F6FD-4D3C-BCF7-43E7FDB9659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6B3924-D23E-428B-A561-3857B16237DC}"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27654" name="Picture 5">
            <a:extLst>
              <a:ext uri="{FF2B5EF4-FFF2-40B4-BE49-F238E27FC236}">
                <a16:creationId xmlns:a16="http://schemas.microsoft.com/office/drawing/2014/main" id="{A1360841-7625-4A7D-946C-B88789F16D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0" y="2708920"/>
            <a:ext cx="3362325"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7655" name="TextBox 5">
                <a:extLst>
                  <a:ext uri="{FF2B5EF4-FFF2-40B4-BE49-F238E27FC236}">
                    <a16:creationId xmlns:a16="http://schemas.microsoft.com/office/drawing/2014/main" id="{61AB3983-D298-4BEF-9573-1FCF4F713A23}"/>
                  </a:ext>
                </a:extLst>
              </p:cNvPr>
              <p:cNvSpPr txBox="1">
                <a:spLocks noChangeArrowheads="1"/>
              </p:cNvSpPr>
              <p:nvPr/>
            </p:nvSpPr>
            <p:spPr bwMode="auto">
              <a:xfrm>
                <a:off x="4429696" y="3088787"/>
                <a:ext cx="3857054" cy="156966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defRPr/>
                </a:pPr>
                <a14:m>
                  <m:oMath xmlns:m="http://schemas.openxmlformats.org/officeDocument/2006/math">
                    <m:r>
                      <a:rPr lang="en-US" altLang="zh-CN" sz="2400" i="1" dirty="0" smtClean="0">
                        <a:solidFill>
                          <a:prstClr val="black"/>
                        </a:solidFill>
                        <a:latin typeface="Cambria Math" panose="02040503050406030204" pitchFamily="18" charset="0"/>
                        <a:ea typeface="华文楷体" panose="02010600040101010101" pitchFamily="2" charset="-122"/>
                      </a:rPr>
                      <m:t>𝑓</m:t>
                    </m:r>
                    <m:r>
                      <a:rPr lang="en-US" altLang="zh-CN" sz="2400" i="1" dirty="0" smtClean="0">
                        <a:solidFill>
                          <a:prstClr val="black"/>
                        </a:solidFill>
                        <a:latin typeface="Cambria Math" panose="02040503050406030204" pitchFamily="18" charset="0"/>
                        <a:ea typeface="华文楷体" panose="02010600040101010101" pitchFamily="2" charset="-122"/>
                      </a:rPr>
                      <m:t>(</m:t>
                    </m:r>
                    <m:r>
                      <a:rPr lang="en-US" altLang="zh-CN" sz="2400" i="1" dirty="0" smtClean="0">
                        <a:solidFill>
                          <a:prstClr val="black"/>
                        </a:solidFill>
                        <a:latin typeface="Cambria Math" panose="02040503050406030204" pitchFamily="18" charset="0"/>
                        <a:ea typeface="华文楷体" panose="02010600040101010101" pitchFamily="2" charset="-122"/>
                      </a:rPr>
                      <m:t>𝑡</m:t>
                    </m:r>
                    <m:r>
                      <a:rPr lang="en-US" altLang="zh-CN" sz="2400" i="1" dirty="0" smtClean="0">
                        <a:solidFill>
                          <a:prstClr val="black"/>
                        </a:solidFill>
                        <a:latin typeface="Cambria Math" panose="02040503050406030204" pitchFamily="18" charset="0"/>
                        <a:ea typeface="华文楷体" panose="02010600040101010101" pitchFamily="2" charset="-122"/>
                      </a:rPr>
                      <m:t>)</m:t>
                    </m:r>
                  </m:oMath>
                </a14:m>
                <a:r>
                  <a:rPr lang="zh-CN" altLang="en-US" sz="2400" dirty="0">
                    <a:solidFill>
                      <a:prstClr val="black"/>
                    </a:solidFill>
                    <a:latin typeface="Times New Roman" panose="02020603050405020304" pitchFamily="18" charset="0"/>
                    <a:ea typeface="华文楷体" panose="02010600040101010101" pitchFamily="2" charset="-122"/>
                  </a:rPr>
                  <a:t>：外力</a:t>
                </a:r>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a:t>
                </a:r>
                <a14:m>
                  <m:oMath xmlns:m="http://schemas.openxmlformats.org/officeDocument/2006/math">
                    <m:r>
                      <a:rPr kumimoji="0"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华文楷体" panose="02010600040101010101" pitchFamily="2" charset="-122"/>
                        <a:cs typeface="+mn-cs"/>
                      </a:rPr>
                      <m:t>𝑣</m:t>
                    </m:r>
                    <m:r>
                      <a:rPr kumimoji="0"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华文楷体" panose="02010600040101010101" pitchFamily="2" charset="-122"/>
                        <a:cs typeface="+mn-cs"/>
                      </a:rPr>
                      <m:t>(</m:t>
                    </m:r>
                    <m:r>
                      <a:rPr kumimoji="0"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华文楷体" panose="02010600040101010101" pitchFamily="2" charset="-122"/>
                        <a:cs typeface="+mn-cs"/>
                      </a:rPr>
                      <m:t>𝑡</m:t>
                    </m:r>
                    <m:r>
                      <a:rPr kumimoji="0"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华文楷体" panose="02010600040101010101" pitchFamily="2" charset="-122"/>
                        <a:cs typeface="+mn-cs"/>
                      </a:rPr>
                      <m:t>)</m:t>
                    </m:r>
                  </m:oMath>
                </a14:m>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：速度</a:t>
                </a:r>
                <a:endParaRPr kumimoji="0" lang="en-US" altLang="zh-CN"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endParaRPr>
              </a:p>
              <a:p>
                <a:pPr lvl="0" eaLnBrk="1" hangingPunct="1">
                  <a:defRPr/>
                </a:pPr>
                <a14:m>
                  <m:oMath xmlns:m="http://schemas.openxmlformats.org/officeDocument/2006/math">
                    <m:r>
                      <a:rPr lang="en-US" altLang="zh-CN" sz="2400" i="1" dirty="0" smtClean="0">
                        <a:solidFill>
                          <a:prstClr val="black"/>
                        </a:solidFill>
                        <a:latin typeface="Cambria Math" panose="02040503050406030204" pitchFamily="18" charset="0"/>
                        <a:ea typeface="华文楷体" panose="02010600040101010101" pitchFamily="2" charset="-122"/>
                      </a:rPr>
                      <m:t>𝑀</m:t>
                    </m:r>
                  </m:oMath>
                </a14:m>
                <a:r>
                  <a:rPr lang="zh-CN" altLang="en-US" sz="2400" dirty="0">
                    <a:solidFill>
                      <a:prstClr val="black"/>
                    </a:solidFill>
                    <a:latin typeface="Times New Roman" panose="02020603050405020304" pitchFamily="18" charset="0"/>
                    <a:ea typeface="华文楷体" panose="02010600040101010101" pitchFamily="2" charset="-122"/>
                  </a:rPr>
                  <a:t>：质量</a:t>
                </a:r>
                <a:endParaRPr lang="en-US" altLang="zh-CN" sz="2400" dirty="0">
                  <a:solidFill>
                    <a:prstClr val="black"/>
                  </a:solidFill>
                  <a:latin typeface="Times New Roman" panose="02020603050405020304" pitchFamily="18" charset="0"/>
                  <a:ea typeface="华文楷体" panose="02010600040101010101" pitchFamily="2" charset="-122"/>
                </a:endParaRPr>
              </a:p>
              <a:p>
                <a:pPr lvl="0" eaLnBrk="1" hangingPunct="1">
                  <a:defRPr/>
                </a:pPr>
                <a14:m>
                  <m:oMath xmlns:m="http://schemas.openxmlformats.org/officeDocument/2006/math">
                    <m:r>
                      <a:rPr kumimoji="0"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华文楷体" panose="02010600040101010101" pitchFamily="2" charset="-122"/>
                        <a:cs typeface="+mn-cs"/>
                      </a:rPr>
                      <m:t>𝐵</m:t>
                    </m:r>
                  </m:oMath>
                </a14:m>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：阻力系数</a:t>
                </a:r>
                <a:endParaRPr kumimoji="0" lang="en-US" altLang="zh-CN"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a:rPr kumimoji="0"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华文楷体" panose="02010600040101010101" pitchFamily="2" charset="-122"/>
                        <a:cs typeface="+mn-cs"/>
                      </a:rPr>
                      <m:t>𝐾</m:t>
                    </m:r>
                  </m:oMath>
                </a14:m>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：弹性系数</a:t>
                </a:r>
                <a:endParaRPr kumimoji="0" lang="en-US" altLang="zh-CN"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endParaRPr>
              </a:p>
            </p:txBody>
          </p:sp>
        </mc:Choice>
        <mc:Fallback xmlns="">
          <p:sp>
            <p:nvSpPr>
              <p:cNvPr id="27655" name="TextBox 5">
                <a:extLst>
                  <a:ext uri="{FF2B5EF4-FFF2-40B4-BE49-F238E27FC236}">
                    <a16:creationId xmlns:a16="http://schemas.microsoft.com/office/drawing/2014/main" id="{61AB3983-D298-4BEF-9573-1FCF4F713A23}"/>
                  </a:ext>
                </a:extLst>
              </p:cNvPr>
              <p:cNvSpPr txBox="1">
                <a:spLocks noRot="1" noChangeAspect="1" noMove="1" noResize="1" noEditPoints="1" noAdjustHandles="1" noChangeArrowheads="1" noChangeShapeType="1" noTextEdit="1"/>
              </p:cNvSpPr>
              <p:nvPr/>
            </p:nvSpPr>
            <p:spPr bwMode="auto">
              <a:xfrm>
                <a:off x="4429696" y="3088787"/>
                <a:ext cx="3857054" cy="1569660"/>
              </a:xfrm>
              <a:prstGeom prst="rect">
                <a:avLst/>
              </a:prstGeom>
              <a:blipFill>
                <a:blip r:embed="rId4"/>
                <a:stretch>
                  <a:fillRect l="-1424" t="-2724" b="-856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650" name="Object 6">
                <a:extLst>
                  <a:ext uri="{FF2B5EF4-FFF2-40B4-BE49-F238E27FC236}">
                    <a16:creationId xmlns:a16="http://schemas.microsoft.com/office/drawing/2014/main" id="{F232ECE2-8BC1-49F2-A8B2-F2B2CC810FB5}"/>
                  </a:ext>
                </a:extLst>
              </p:cNvPr>
              <p:cNvSpPr txBox="1"/>
              <p:nvPr/>
            </p:nvSpPr>
            <p:spPr bwMode="auto">
              <a:xfrm>
                <a:off x="1900969" y="5448126"/>
                <a:ext cx="5342061" cy="8985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𝑓</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𝑀</m:t>
                      </m:r>
                      <m:f>
                        <m:fPr>
                          <m:ctrlPr>
                            <a:rPr lang="en-US" sz="2400" i="1">
                              <a:solidFill>
                                <a:srgbClr val="000000"/>
                              </a:solidFill>
                              <a:latin typeface="Cambria Math" panose="02040503050406030204" pitchFamily="18" charset="0"/>
                            </a:rPr>
                          </m:ctrlPr>
                        </m:fPr>
                        <m:num>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𝑣</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um>
                        <m:den>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den>
                      </m:f>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𝐵𝑣</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𝐾</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𝑡</m:t>
                          </m:r>
                        </m:sup>
                        <m:e>
                          <m:r>
                            <a:rPr lang="en-US" sz="2400" i="1">
                              <a:solidFill>
                                <a:srgbClr val="000000"/>
                              </a:solidFill>
                              <a:latin typeface="Cambria Math" panose="02040503050406030204" pitchFamily="18" charset="0"/>
                            </a:rPr>
                            <m:t>𝑣</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𝜏</m:t>
                          </m:r>
                        </m:e>
                      </m:nary>
                    </m:oMath>
                  </m:oMathPara>
                </a14:m>
                <a:endParaRPr lang="en-US" sz="2400" dirty="0"/>
              </a:p>
            </p:txBody>
          </p:sp>
        </mc:Choice>
        <mc:Fallback xmlns="">
          <p:sp>
            <p:nvSpPr>
              <p:cNvPr id="27650" name="Object 6">
                <a:extLst>
                  <a:ext uri="{FF2B5EF4-FFF2-40B4-BE49-F238E27FC236}">
                    <a16:creationId xmlns:a16="http://schemas.microsoft.com/office/drawing/2014/main" id="{F232ECE2-8BC1-49F2-A8B2-F2B2CC810FB5}"/>
                  </a:ext>
                </a:extLst>
              </p:cNvPr>
              <p:cNvSpPr txBox="1">
                <a:spLocks noRot="1" noChangeAspect="1" noMove="1" noResize="1" noEditPoints="1" noAdjustHandles="1" noChangeArrowheads="1" noChangeShapeType="1" noTextEdit="1"/>
              </p:cNvSpPr>
              <p:nvPr/>
            </p:nvSpPr>
            <p:spPr bwMode="auto">
              <a:xfrm>
                <a:off x="1900969" y="5448126"/>
                <a:ext cx="5342061" cy="898525"/>
              </a:xfrm>
              <a:prstGeom prst="rect">
                <a:avLst/>
              </a:prstGeom>
              <a:blipFill>
                <a:blip r:embed="rId5"/>
                <a:stretch>
                  <a:fillRect/>
                </a:stretch>
              </a:blipFill>
              <a:ln>
                <a:noFill/>
              </a:ln>
              <a:effectLst/>
            </p:spPr>
            <p:txBody>
              <a:bodyPr/>
              <a:lstStyle/>
              <a:p>
                <a:r>
                  <a:rPr lang="en-US">
                    <a:noFill/>
                  </a:rPr>
                  <a:t> </a:t>
                </a:r>
              </a:p>
            </p:txBody>
          </p:sp>
        </mc:Fallback>
      </mc:AlternateContent>
      <p:sp>
        <p:nvSpPr>
          <p:cNvPr id="11" name="文本框 10">
            <a:extLst>
              <a:ext uri="{FF2B5EF4-FFF2-40B4-BE49-F238E27FC236}">
                <a16:creationId xmlns:a16="http://schemas.microsoft.com/office/drawing/2014/main" id="{4B2CB562-D7A3-40A3-837E-9776F7026606}"/>
              </a:ext>
            </a:extLst>
          </p:cNvPr>
          <p:cNvSpPr txBox="1"/>
          <p:nvPr/>
        </p:nvSpPr>
        <p:spPr>
          <a:xfrm>
            <a:off x="755576" y="4907151"/>
            <a:ext cx="7344816" cy="46166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则描述系统的方程为一</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mn-cs"/>
              </a:rPr>
              <a:t>线性常系数微分方程</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标题 1">
            <a:extLst>
              <a:ext uri="{FF2B5EF4-FFF2-40B4-BE49-F238E27FC236}">
                <a16:creationId xmlns:a16="http://schemas.microsoft.com/office/drawing/2014/main" id="{08F79B1A-20C7-4596-A573-2BB2FFD59B59}"/>
              </a:ext>
            </a:extLst>
          </p:cNvPr>
          <p:cNvSpPr>
            <a:spLocks noGrp="1"/>
          </p:cNvSpPr>
          <p:nvPr>
            <p:ph type="title"/>
          </p:nvPr>
        </p:nvSpPr>
        <p:spPr/>
        <p:txBody>
          <a:bodyPr/>
          <a:lstStyle/>
          <a:p>
            <a:r>
              <a:rPr lang="en-US" altLang="zh-CN"/>
              <a:t>1.5  </a:t>
            </a:r>
            <a:r>
              <a:rPr lang="zh-CN" altLang="en-US"/>
              <a:t>连续时间与离散时间系统</a:t>
            </a:r>
          </a:p>
        </p:txBody>
      </p:sp>
      <mc:AlternateContent xmlns:mc="http://schemas.openxmlformats.org/markup-compatibility/2006" xmlns:a14="http://schemas.microsoft.com/office/drawing/2010/main">
        <mc:Choice Requires="a14">
          <p:sp>
            <p:nvSpPr>
              <p:cNvPr id="28676" name="内容占位符 2">
                <a:extLst>
                  <a:ext uri="{FF2B5EF4-FFF2-40B4-BE49-F238E27FC236}">
                    <a16:creationId xmlns:a16="http://schemas.microsoft.com/office/drawing/2014/main" id="{0D2548C8-4D00-4E49-99A8-65CCE372B148}"/>
                  </a:ext>
                </a:extLst>
              </p:cNvPr>
              <p:cNvSpPr>
                <a:spLocks noGrp="1"/>
              </p:cNvSpPr>
              <p:nvPr>
                <p:ph idx="1"/>
              </p:nvPr>
            </p:nvSpPr>
            <p:spPr>
              <a:xfrm>
                <a:off x="457200" y="1285875"/>
                <a:ext cx="8229600" cy="461665"/>
              </a:xfrm>
            </p:spPr>
            <p:txBody>
              <a:bodyPr>
                <a:spAutoFit/>
              </a:bodyPr>
              <a:lstStyle/>
              <a:p>
                <a:r>
                  <a:rPr lang="zh-CN" altLang="en-US" sz="2400" b="0" dirty="0"/>
                  <a:t>电路系统例子：电流源</a:t>
                </a:r>
                <a14:m>
                  <m:oMath xmlns:m="http://schemas.openxmlformats.org/officeDocument/2006/math">
                    <m:r>
                      <a:rPr lang="en-US" altLang="zh-CN" sz="2400" b="0" i="1" dirty="0" smtClean="0">
                        <a:latin typeface="Cambria Math" panose="02040503050406030204" pitchFamily="18" charset="0"/>
                      </a:rPr>
                      <m:t>𝑖</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𝑡</m:t>
                    </m:r>
                    <m:r>
                      <a:rPr lang="en-US" altLang="zh-CN" sz="2400" b="0" i="1" dirty="0">
                        <a:latin typeface="Cambria Math" panose="02040503050406030204" pitchFamily="18" charset="0"/>
                      </a:rPr>
                      <m:t>)</m:t>
                    </m:r>
                  </m:oMath>
                </a14:m>
                <a:r>
                  <a:rPr lang="zh-CN" altLang="en-US" sz="2400" b="0" dirty="0"/>
                  <a:t>作用下的电压</a:t>
                </a:r>
                <a14:m>
                  <m:oMath xmlns:m="http://schemas.openxmlformats.org/officeDocument/2006/math">
                    <m:r>
                      <a:rPr lang="en-US" altLang="zh-CN" sz="2400" b="0" i="1" dirty="0" smtClean="0">
                        <a:latin typeface="Cambria Math" panose="02040503050406030204" pitchFamily="18" charset="0"/>
                      </a:rPr>
                      <m:t>𝑣</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𝑡</m:t>
                    </m:r>
                    <m:r>
                      <a:rPr lang="en-US" altLang="zh-CN" sz="2400" b="0" i="1" dirty="0" smtClean="0">
                        <a:latin typeface="Cambria Math" panose="02040503050406030204" pitchFamily="18" charset="0"/>
                      </a:rPr>
                      <m:t>)</m:t>
                    </m:r>
                  </m:oMath>
                </a14:m>
                <a:endParaRPr lang="zh-CN" altLang="en-US" sz="2400" b="0" dirty="0"/>
              </a:p>
            </p:txBody>
          </p:sp>
        </mc:Choice>
        <mc:Fallback xmlns="">
          <p:sp>
            <p:nvSpPr>
              <p:cNvPr id="28676" name="内容占位符 2">
                <a:extLst>
                  <a:ext uri="{FF2B5EF4-FFF2-40B4-BE49-F238E27FC236}">
                    <a16:creationId xmlns:a16="http://schemas.microsoft.com/office/drawing/2014/main" id="{0D2548C8-4D00-4E49-99A8-65CCE372B148}"/>
                  </a:ext>
                </a:extLst>
              </p:cNvPr>
              <p:cNvSpPr>
                <a:spLocks noGrp="1" noRot="1" noChangeAspect="1" noMove="1" noResize="1" noEditPoints="1" noAdjustHandles="1" noChangeArrowheads="1" noChangeShapeType="1" noTextEdit="1"/>
              </p:cNvSpPr>
              <p:nvPr>
                <p:ph idx="1"/>
              </p:nvPr>
            </p:nvSpPr>
            <p:spPr>
              <a:xfrm>
                <a:off x="457200" y="1285875"/>
                <a:ext cx="8229600" cy="461665"/>
              </a:xfrm>
              <a:blipFill>
                <a:blip r:embed="rId3"/>
                <a:stretch>
                  <a:fillRect l="-963" t="-9211" b="-3026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9E8B667E-4DC0-44A0-A14B-5086C9DE76A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E075EC1-72F4-4334-90BA-9C3A8234D15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28678" name="Picture 2">
            <a:extLst>
              <a:ext uri="{FF2B5EF4-FFF2-40B4-BE49-F238E27FC236}">
                <a16:creationId xmlns:a16="http://schemas.microsoft.com/office/drawing/2014/main" id="{B4E3BE64-9033-4A26-8105-219C4794BA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8325" y="1827798"/>
            <a:ext cx="5467350"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TextBox 5">
            <a:extLst>
              <a:ext uri="{FF2B5EF4-FFF2-40B4-BE49-F238E27FC236}">
                <a16:creationId xmlns:a16="http://schemas.microsoft.com/office/drawing/2014/main" id="{623B5B24-A036-444C-B054-54651C15A89E}"/>
              </a:ext>
            </a:extLst>
          </p:cNvPr>
          <p:cNvSpPr txBox="1">
            <a:spLocks noChangeArrowheads="1"/>
          </p:cNvSpPr>
          <p:nvPr/>
        </p:nvSpPr>
        <p:spPr bwMode="auto">
          <a:xfrm>
            <a:off x="827584" y="4277898"/>
            <a:ext cx="78592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由基尔霍夫电流定律得到描述系统的</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mn-cs"/>
              </a:rPr>
              <a:t>线性常系数微分方程</a:t>
            </a:r>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a:t>
            </a:r>
          </a:p>
        </p:txBody>
      </p:sp>
      <mc:AlternateContent xmlns:mc="http://schemas.openxmlformats.org/markup-compatibility/2006" xmlns:a14="http://schemas.microsoft.com/office/drawing/2010/main">
        <mc:Choice Requires="a14">
          <p:sp>
            <p:nvSpPr>
              <p:cNvPr id="28674" name="Object 3">
                <a:extLst>
                  <a:ext uri="{FF2B5EF4-FFF2-40B4-BE49-F238E27FC236}">
                    <a16:creationId xmlns:a16="http://schemas.microsoft.com/office/drawing/2014/main" id="{76262236-5C7B-45D7-8C05-655BC1CFAFC1}"/>
                  </a:ext>
                </a:extLst>
              </p:cNvPr>
              <p:cNvSpPr txBox="1"/>
              <p:nvPr/>
            </p:nvSpPr>
            <p:spPr bwMode="auto">
              <a:xfrm>
                <a:off x="2097881" y="5005097"/>
                <a:ext cx="4948237" cy="8985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𝑖</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𝐶</m:t>
                      </m:r>
                      <m:f>
                        <m:fPr>
                          <m:ctrlPr>
                            <a:rPr lang="en-US" sz="2400" i="1">
                              <a:solidFill>
                                <a:srgbClr val="000000"/>
                              </a:solidFill>
                              <a:latin typeface="Cambria Math" panose="02040503050406030204" pitchFamily="18" charset="0"/>
                            </a:rPr>
                          </m:ctrlPr>
                        </m:fPr>
                        <m:num>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𝑣</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um>
                        <m:den>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𝑣</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um>
                        <m:den>
                          <m:r>
                            <a:rPr lang="en-US" sz="2400" i="1">
                              <a:solidFill>
                                <a:srgbClr val="000000"/>
                              </a:solidFill>
                              <a:latin typeface="Cambria Math" panose="02040503050406030204" pitchFamily="18" charset="0"/>
                            </a:rPr>
                            <m:t>𝑅</m:t>
                          </m:r>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𝐿</m:t>
                          </m:r>
                        </m:den>
                      </m:f>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𝑡</m:t>
                          </m:r>
                        </m:sup>
                        <m:e>
                          <m:r>
                            <a:rPr lang="en-US" sz="2400" i="1">
                              <a:solidFill>
                                <a:srgbClr val="000000"/>
                              </a:solidFill>
                              <a:latin typeface="Cambria Math" panose="02040503050406030204" pitchFamily="18" charset="0"/>
                            </a:rPr>
                            <m:t>𝑣</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𝜏</m:t>
                          </m:r>
                        </m:e>
                      </m:nary>
                    </m:oMath>
                  </m:oMathPara>
                </a14:m>
                <a:endParaRPr lang="en-US" sz="2400" dirty="0"/>
              </a:p>
            </p:txBody>
          </p:sp>
        </mc:Choice>
        <mc:Fallback xmlns="">
          <p:sp>
            <p:nvSpPr>
              <p:cNvPr id="28674" name="Object 3">
                <a:extLst>
                  <a:ext uri="{FF2B5EF4-FFF2-40B4-BE49-F238E27FC236}">
                    <a16:creationId xmlns:a16="http://schemas.microsoft.com/office/drawing/2014/main" id="{76262236-5C7B-45D7-8C05-655BC1CFAFC1}"/>
                  </a:ext>
                </a:extLst>
              </p:cNvPr>
              <p:cNvSpPr txBox="1">
                <a:spLocks noRot="1" noChangeAspect="1" noMove="1" noResize="1" noEditPoints="1" noAdjustHandles="1" noChangeArrowheads="1" noChangeShapeType="1" noTextEdit="1"/>
              </p:cNvSpPr>
              <p:nvPr/>
            </p:nvSpPr>
            <p:spPr bwMode="auto">
              <a:xfrm>
                <a:off x="2097881" y="5005097"/>
                <a:ext cx="4948237" cy="898525"/>
              </a:xfrm>
              <a:prstGeom prst="rect">
                <a:avLst/>
              </a:prstGeom>
              <a:blipFill>
                <a:blip r:embed="rId5"/>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596B4360-5A3B-400B-8A83-F0CFA65E6FCD}"/>
              </a:ext>
            </a:extLst>
          </p:cNvPr>
          <p:cNvSpPr>
            <a:spLocks noGrp="1"/>
          </p:cNvSpPr>
          <p:nvPr>
            <p:ph type="title"/>
          </p:nvPr>
        </p:nvSpPr>
        <p:spPr/>
        <p:txBody>
          <a:bodyPr/>
          <a:lstStyle/>
          <a:p>
            <a:r>
              <a:rPr lang="en-US" altLang="zh-CN"/>
              <a:t>1.5  </a:t>
            </a:r>
            <a:r>
              <a:rPr lang="zh-CN" altLang="en-US"/>
              <a:t>连续时间与离散时间系统</a:t>
            </a:r>
          </a:p>
        </p:txBody>
      </p:sp>
      <p:sp>
        <p:nvSpPr>
          <p:cNvPr id="47107" name="内容占位符 2">
            <a:extLst>
              <a:ext uri="{FF2B5EF4-FFF2-40B4-BE49-F238E27FC236}">
                <a16:creationId xmlns:a16="http://schemas.microsoft.com/office/drawing/2014/main" id="{6B7D8627-8AF5-4B3B-9FCD-3D533232CEB2}"/>
              </a:ext>
            </a:extLst>
          </p:cNvPr>
          <p:cNvSpPr>
            <a:spLocks noGrp="1"/>
          </p:cNvSpPr>
          <p:nvPr>
            <p:ph idx="1"/>
          </p:nvPr>
        </p:nvSpPr>
        <p:spPr>
          <a:xfrm>
            <a:off x="457200" y="1285875"/>
            <a:ext cx="8229600" cy="4837863"/>
          </a:xfrm>
        </p:spPr>
        <p:txBody>
          <a:bodyPr>
            <a:spAutoFit/>
          </a:bodyPr>
          <a:lstStyle/>
          <a:p>
            <a:pPr>
              <a:lnSpc>
                <a:spcPct val="130000"/>
              </a:lnSpc>
              <a:spcBef>
                <a:spcPts val="0"/>
              </a:spcBef>
              <a:spcAft>
                <a:spcPts val="600"/>
              </a:spcAft>
            </a:pPr>
            <a:r>
              <a:rPr lang="zh-CN" altLang="en-US" sz="2400" b="0" dirty="0"/>
              <a:t>机械系统与电路系统具有相似的动态特性：</a:t>
            </a:r>
            <a:endParaRPr lang="en-US" altLang="zh-CN" sz="2400" b="0" dirty="0"/>
          </a:p>
          <a:p>
            <a:pPr>
              <a:lnSpc>
                <a:spcPct val="130000"/>
              </a:lnSpc>
              <a:spcBef>
                <a:spcPts val="0"/>
              </a:spcBef>
              <a:spcAft>
                <a:spcPts val="600"/>
              </a:spcAft>
            </a:pPr>
            <a:endParaRPr lang="en-US" altLang="zh-CN" sz="2400" b="0" dirty="0"/>
          </a:p>
          <a:p>
            <a:pPr>
              <a:lnSpc>
                <a:spcPct val="130000"/>
              </a:lnSpc>
              <a:spcBef>
                <a:spcPts val="0"/>
              </a:spcBef>
              <a:spcAft>
                <a:spcPts val="600"/>
              </a:spcAft>
            </a:pPr>
            <a:endParaRPr lang="en-US" altLang="zh-CN" sz="2400" b="0" dirty="0"/>
          </a:p>
          <a:p>
            <a:pPr>
              <a:lnSpc>
                <a:spcPct val="130000"/>
              </a:lnSpc>
              <a:spcBef>
                <a:spcPts val="0"/>
              </a:spcBef>
              <a:spcAft>
                <a:spcPts val="600"/>
              </a:spcAft>
            </a:pPr>
            <a:endParaRPr lang="en-US" altLang="zh-CN" sz="2400" b="0" dirty="0"/>
          </a:p>
          <a:p>
            <a:pPr>
              <a:lnSpc>
                <a:spcPct val="130000"/>
              </a:lnSpc>
              <a:spcBef>
                <a:spcPts val="0"/>
              </a:spcBef>
              <a:spcAft>
                <a:spcPts val="600"/>
              </a:spcAft>
            </a:pPr>
            <a:r>
              <a:rPr lang="zh-CN" altLang="en-US" sz="2400" b="0" dirty="0"/>
              <a:t>结论：</a:t>
            </a:r>
            <a:endParaRPr lang="en-US" altLang="zh-CN" sz="2400" b="0" dirty="0"/>
          </a:p>
          <a:p>
            <a:pPr>
              <a:lnSpc>
                <a:spcPct val="130000"/>
              </a:lnSpc>
              <a:spcBef>
                <a:spcPts val="0"/>
              </a:spcBef>
              <a:spcAft>
                <a:spcPts val="600"/>
              </a:spcAft>
            </a:pPr>
            <a:r>
              <a:rPr lang="zh-CN" altLang="en-US" sz="2400" b="0" dirty="0"/>
              <a:t>虽然连续系统的具体形式各不相同，但描述各系统的数学模型本质相同，此处均为</a:t>
            </a:r>
            <a:r>
              <a:rPr lang="zh-CN" altLang="en-US" sz="2400" b="0" dirty="0">
                <a:solidFill>
                  <a:srgbClr val="FF0000"/>
                </a:solidFill>
              </a:rPr>
              <a:t>微分方程</a:t>
            </a:r>
            <a:r>
              <a:rPr lang="zh-CN" altLang="en-US" sz="2400" b="0" dirty="0"/>
              <a:t>；</a:t>
            </a:r>
            <a:endParaRPr lang="en-US" altLang="zh-CN" sz="2400" b="0" dirty="0"/>
          </a:p>
          <a:p>
            <a:pPr>
              <a:lnSpc>
                <a:spcPct val="130000"/>
              </a:lnSpc>
              <a:spcBef>
                <a:spcPts val="0"/>
              </a:spcBef>
              <a:spcAft>
                <a:spcPts val="600"/>
              </a:spcAft>
            </a:pPr>
            <a:r>
              <a:rPr lang="zh-CN" altLang="en-US" sz="2400" b="0" dirty="0"/>
              <a:t>在系统分析中，常抽去系统的物理含义，而作为一般意义下的系统来研究，以便于研究和揭示系统的一般规律。</a:t>
            </a:r>
          </a:p>
        </p:txBody>
      </p:sp>
      <p:sp>
        <p:nvSpPr>
          <p:cNvPr id="4" name="灯片编号占位符 3">
            <a:extLst>
              <a:ext uri="{FF2B5EF4-FFF2-40B4-BE49-F238E27FC236}">
                <a16:creationId xmlns:a16="http://schemas.microsoft.com/office/drawing/2014/main" id="{1BC54462-1498-4830-ABA2-F2E91E76734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807C6A1-D5B4-46D5-8F73-1A9985AF2A58}"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47109" name="Picture 2" descr="slide014">
            <a:extLst>
              <a:ext uri="{FF2B5EF4-FFF2-40B4-BE49-F238E27FC236}">
                <a16:creationId xmlns:a16="http://schemas.microsoft.com/office/drawing/2014/main" id="{40A8AA88-F5CF-40E3-BCC7-A9A206F8A4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833" t="42892" r="27499" b="38889"/>
          <a:stretch>
            <a:fillRect/>
          </a:stretch>
        </p:blipFill>
        <p:spPr bwMode="auto">
          <a:xfrm>
            <a:off x="1464888" y="1988840"/>
            <a:ext cx="6214223" cy="1549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标题 1">
            <a:extLst>
              <a:ext uri="{FF2B5EF4-FFF2-40B4-BE49-F238E27FC236}">
                <a16:creationId xmlns:a16="http://schemas.microsoft.com/office/drawing/2014/main" id="{71EEE9BE-E475-4F45-99EE-1A1EA279796B}"/>
              </a:ext>
            </a:extLst>
          </p:cNvPr>
          <p:cNvSpPr>
            <a:spLocks noGrp="1"/>
          </p:cNvSpPr>
          <p:nvPr>
            <p:ph type="title"/>
          </p:nvPr>
        </p:nvSpPr>
        <p:spPr/>
        <p:txBody>
          <a:bodyPr/>
          <a:lstStyle/>
          <a:p>
            <a:r>
              <a:rPr lang="en-US" altLang="zh-CN"/>
              <a:t>1.5  </a:t>
            </a:r>
            <a:r>
              <a:rPr lang="zh-CN" altLang="en-US"/>
              <a:t>连续时间与离散时间系统</a:t>
            </a:r>
          </a:p>
        </p:txBody>
      </p:sp>
      <p:sp>
        <p:nvSpPr>
          <p:cNvPr id="27652" name="内容占位符 2">
            <a:extLst>
              <a:ext uri="{FF2B5EF4-FFF2-40B4-BE49-F238E27FC236}">
                <a16:creationId xmlns:a16="http://schemas.microsoft.com/office/drawing/2014/main" id="{BBA10FB3-0013-4D58-AB0A-A91B88ABFB74}"/>
              </a:ext>
            </a:extLst>
          </p:cNvPr>
          <p:cNvSpPr>
            <a:spLocks noGrp="1"/>
          </p:cNvSpPr>
          <p:nvPr>
            <p:ph idx="1"/>
          </p:nvPr>
        </p:nvSpPr>
        <p:spPr>
          <a:xfrm>
            <a:off x="457200" y="1285875"/>
            <a:ext cx="8229600" cy="461665"/>
          </a:xfrm>
        </p:spPr>
        <p:txBody>
          <a:bodyPr>
            <a:spAutoFit/>
          </a:bodyPr>
          <a:lstStyle/>
          <a:p>
            <a:r>
              <a:rPr lang="en-US" altLang="zh-CN" sz="2400" b="0" dirty="0"/>
              <a:t>2. </a:t>
            </a:r>
            <a:r>
              <a:rPr lang="zh-CN" altLang="en-US" sz="2400" b="0" dirty="0">
                <a:solidFill>
                  <a:srgbClr val="FF0000"/>
                </a:solidFill>
              </a:rPr>
              <a:t>离散时间系统</a:t>
            </a:r>
            <a:r>
              <a:rPr lang="zh-CN" altLang="en-US" sz="2400" b="0" dirty="0"/>
              <a:t>：人口问题</a:t>
            </a:r>
          </a:p>
        </p:txBody>
      </p:sp>
      <p:sp>
        <p:nvSpPr>
          <p:cNvPr id="4" name="灯片编号占位符 3">
            <a:extLst>
              <a:ext uri="{FF2B5EF4-FFF2-40B4-BE49-F238E27FC236}">
                <a16:creationId xmlns:a16="http://schemas.microsoft.com/office/drawing/2014/main" id="{50487318-F6FD-4D3C-BCF7-43E7FDB9659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6B3924-D23E-428B-A561-3857B16237DC}"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 name="Rectangle 4">
                <a:extLst>
                  <a:ext uri="{FF2B5EF4-FFF2-40B4-BE49-F238E27FC236}">
                    <a16:creationId xmlns:a16="http://schemas.microsoft.com/office/drawing/2014/main" id="{DDA833C3-90F9-45F4-A109-FCAF655CC90B}"/>
                  </a:ext>
                </a:extLst>
              </p:cNvPr>
              <p:cNvSpPr>
                <a:spLocks noChangeArrowheads="1"/>
              </p:cNvSpPr>
              <p:nvPr/>
            </p:nvSpPr>
            <p:spPr bwMode="auto">
              <a:xfrm>
                <a:off x="827584" y="1903207"/>
                <a:ext cx="7859216" cy="4478121"/>
              </a:xfrm>
              <a:prstGeom prst="rect">
                <a:avLst/>
              </a:prstGeom>
              <a:noFill/>
              <a:ln w="9525" algn="ctr">
                <a:noFill/>
                <a:miter lim="800000"/>
                <a:headEnd/>
                <a:tailEnd/>
              </a:ln>
              <a:effectLst/>
            </p:spPr>
            <p:txBody>
              <a:bodyPr wrap="square" lIns="91415" tIns="45706" rIns="91415" bIns="45706" anchor="ctr">
                <a:spAutoFit/>
              </a:bodyPr>
              <a:lstStyle/>
              <a:p>
                <a:pPr>
                  <a:spcAft>
                    <a:spcPts val="600"/>
                  </a:spcAft>
                  <a:defRPr/>
                </a:pPr>
                <a14:m>
                  <m:oMathPara xmlns:m="http://schemas.openxmlformats.org/officeDocument/2006/math">
                    <m:oMathParaPr>
                      <m:jc m:val="centerGroup"/>
                    </m:oMathParaPr>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𝑦</m:t>
                      </m:r>
                      <m:r>
                        <a:rPr lang="en-US" altLang="zh-CN" sz="2400" i="1" dirty="0" smtClean="0">
                          <a:solidFill>
                            <a:srgbClr val="000000"/>
                          </a:solidFill>
                          <a:latin typeface="Cambria Math" panose="02040503050406030204" pitchFamily="18" charset="0"/>
                          <a:ea typeface="楷体" panose="02010609060101010101" pitchFamily="49" charset="-122"/>
                        </a:rPr>
                        <m:t>[</m:t>
                      </m:r>
                      <m:r>
                        <a:rPr lang="en-US" altLang="zh-CN" sz="2400" i="1" dirty="0" smtClean="0">
                          <a:solidFill>
                            <a:srgbClr val="000000"/>
                          </a:solidFill>
                          <a:latin typeface="Cambria Math" panose="02040503050406030204" pitchFamily="18" charset="0"/>
                          <a:ea typeface="楷体" panose="02010609060101010101" pitchFamily="49" charset="-122"/>
                        </a:rPr>
                        <m:t>𝑛</m:t>
                      </m:r>
                      <m:r>
                        <a:rPr lang="en-US" altLang="zh-CN" sz="2400" i="1" dirty="0" smtClean="0">
                          <a:solidFill>
                            <a:srgbClr val="000000"/>
                          </a:solidFill>
                          <a:latin typeface="Cambria Math" panose="02040503050406030204" pitchFamily="18" charset="0"/>
                          <a:ea typeface="楷体" panose="02010609060101010101" pitchFamily="49" charset="-122"/>
                        </a:rPr>
                        <m:t>] = </m:t>
                      </m:r>
                      <m:r>
                        <a:rPr lang="en-US" altLang="zh-CN" sz="2400" i="1" dirty="0" smtClean="0">
                          <a:solidFill>
                            <a:srgbClr val="000000"/>
                          </a:solidFill>
                          <a:latin typeface="Cambria Math" panose="02040503050406030204" pitchFamily="18" charset="0"/>
                          <a:ea typeface="楷体" panose="02010609060101010101" pitchFamily="49" charset="-122"/>
                        </a:rPr>
                        <m:t>𝑦</m:t>
                      </m:r>
                      <m:r>
                        <a:rPr lang="en-US" altLang="zh-CN" sz="2400" i="1" dirty="0" smtClean="0">
                          <a:solidFill>
                            <a:srgbClr val="000000"/>
                          </a:solidFill>
                          <a:latin typeface="Cambria Math" panose="02040503050406030204" pitchFamily="18" charset="0"/>
                          <a:ea typeface="楷体" panose="02010609060101010101" pitchFamily="49" charset="-122"/>
                        </a:rPr>
                        <m:t>[</m:t>
                      </m:r>
                      <m:r>
                        <a:rPr lang="en-US" altLang="zh-CN" sz="2400" i="1" dirty="0" smtClean="0">
                          <a:solidFill>
                            <a:srgbClr val="000000"/>
                          </a:solidFill>
                          <a:latin typeface="Cambria Math" panose="02040503050406030204" pitchFamily="18" charset="0"/>
                          <a:ea typeface="楷体" panose="02010609060101010101" pitchFamily="49" charset="-122"/>
                        </a:rPr>
                        <m:t>𝑛</m:t>
                      </m:r>
                      <m:r>
                        <a:rPr lang="en-US" altLang="zh-CN" sz="2400" i="1" dirty="0" smtClean="0">
                          <a:solidFill>
                            <a:srgbClr val="000000"/>
                          </a:solidFill>
                          <a:latin typeface="Cambria Math" panose="02040503050406030204" pitchFamily="18" charset="0"/>
                          <a:ea typeface="楷体" panose="02010609060101010101" pitchFamily="49" charset="-122"/>
                        </a:rPr>
                        <m:t>−1] + </m:t>
                      </m:r>
                      <m:r>
                        <a:rPr lang="en-US" altLang="zh-CN" sz="2400" i="1" dirty="0" smtClean="0">
                          <a:solidFill>
                            <a:srgbClr val="000000"/>
                          </a:solidFill>
                          <a:latin typeface="Cambria Math" panose="02040503050406030204" pitchFamily="18" charset="0"/>
                          <a:ea typeface="楷体" panose="02010609060101010101" pitchFamily="49" charset="-122"/>
                        </a:rPr>
                        <m:t>𝑎𝑦</m:t>
                      </m:r>
                      <m:r>
                        <a:rPr lang="en-US" altLang="zh-CN" sz="2400" i="1" dirty="0" smtClean="0">
                          <a:solidFill>
                            <a:srgbClr val="000000"/>
                          </a:solidFill>
                          <a:latin typeface="Cambria Math" panose="02040503050406030204" pitchFamily="18" charset="0"/>
                          <a:ea typeface="楷体" panose="02010609060101010101" pitchFamily="49" charset="-122"/>
                        </a:rPr>
                        <m:t>[</m:t>
                      </m:r>
                      <m:r>
                        <a:rPr lang="en-US" altLang="zh-CN" sz="2400" i="1" dirty="0" smtClean="0">
                          <a:solidFill>
                            <a:srgbClr val="000000"/>
                          </a:solidFill>
                          <a:latin typeface="Cambria Math" panose="02040503050406030204" pitchFamily="18" charset="0"/>
                          <a:ea typeface="楷体" panose="02010609060101010101" pitchFamily="49" charset="-122"/>
                        </a:rPr>
                        <m:t>𝑛</m:t>
                      </m:r>
                      <m:r>
                        <a:rPr lang="en-US" altLang="zh-CN" sz="2400" i="1" dirty="0" smtClean="0">
                          <a:solidFill>
                            <a:srgbClr val="000000"/>
                          </a:solidFill>
                          <a:latin typeface="Cambria Math" panose="02040503050406030204" pitchFamily="18" charset="0"/>
                          <a:ea typeface="楷体" panose="02010609060101010101" pitchFamily="49" charset="-122"/>
                        </a:rPr>
                        <m:t>−1] – </m:t>
                      </m:r>
                      <m:r>
                        <a:rPr lang="en-US" altLang="zh-CN" sz="2400" i="1" dirty="0" smtClean="0">
                          <a:solidFill>
                            <a:srgbClr val="000000"/>
                          </a:solidFill>
                          <a:latin typeface="Cambria Math" panose="02040503050406030204" pitchFamily="18" charset="0"/>
                          <a:ea typeface="楷体" panose="02010609060101010101" pitchFamily="49" charset="-122"/>
                        </a:rPr>
                        <m:t>𝑏𝑦</m:t>
                      </m:r>
                      <m:r>
                        <a:rPr lang="en-US" altLang="zh-CN" sz="2400" i="1" dirty="0" smtClean="0">
                          <a:solidFill>
                            <a:srgbClr val="000000"/>
                          </a:solidFill>
                          <a:latin typeface="Cambria Math" panose="02040503050406030204" pitchFamily="18" charset="0"/>
                          <a:ea typeface="楷体" panose="02010609060101010101" pitchFamily="49" charset="-122"/>
                        </a:rPr>
                        <m:t>[</m:t>
                      </m:r>
                      <m:r>
                        <a:rPr lang="en-US" altLang="zh-CN" sz="2400" i="1" dirty="0" smtClean="0">
                          <a:solidFill>
                            <a:srgbClr val="000000"/>
                          </a:solidFill>
                          <a:latin typeface="Cambria Math" panose="02040503050406030204" pitchFamily="18" charset="0"/>
                          <a:ea typeface="楷体" panose="02010609060101010101" pitchFamily="49" charset="-122"/>
                        </a:rPr>
                        <m:t>𝑛</m:t>
                      </m:r>
                      <m:r>
                        <a:rPr lang="en-US" altLang="zh-CN" sz="2400" i="1" dirty="0" smtClean="0">
                          <a:solidFill>
                            <a:srgbClr val="000000"/>
                          </a:solidFill>
                          <a:latin typeface="Cambria Math" panose="02040503050406030204" pitchFamily="18" charset="0"/>
                          <a:ea typeface="楷体" panose="02010609060101010101" pitchFamily="49" charset="-122"/>
                        </a:rPr>
                        <m:t>−1] + </m:t>
                      </m:r>
                      <m:r>
                        <a:rPr lang="en-US" altLang="zh-CN" sz="2400" i="1" dirty="0" smtClean="0">
                          <a:solidFill>
                            <a:srgbClr val="000000"/>
                          </a:solidFill>
                          <a:latin typeface="Cambria Math" panose="02040503050406030204" pitchFamily="18" charset="0"/>
                          <a:ea typeface="楷体" panose="02010609060101010101" pitchFamily="49" charset="-122"/>
                        </a:rPr>
                        <m:t>𝑥</m:t>
                      </m:r>
                      <m:r>
                        <a:rPr lang="en-US" altLang="zh-CN" sz="2400" i="1" dirty="0" smtClean="0">
                          <a:solidFill>
                            <a:srgbClr val="000000"/>
                          </a:solidFill>
                          <a:latin typeface="Cambria Math" panose="02040503050406030204" pitchFamily="18" charset="0"/>
                          <a:ea typeface="楷体" panose="02010609060101010101" pitchFamily="49" charset="-122"/>
                        </a:rPr>
                        <m:t>[</m:t>
                      </m:r>
                      <m:r>
                        <a:rPr lang="en-US" altLang="zh-CN" sz="2400" i="1" dirty="0" smtClean="0">
                          <a:solidFill>
                            <a:srgbClr val="000000"/>
                          </a:solidFill>
                          <a:latin typeface="Cambria Math" panose="02040503050406030204" pitchFamily="18" charset="0"/>
                          <a:ea typeface="楷体" panose="02010609060101010101" pitchFamily="49" charset="-122"/>
                        </a:rPr>
                        <m:t>𝑛</m:t>
                      </m:r>
                      <m:r>
                        <a:rPr lang="en-US" altLang="zh-CN" sz="2400" i="1" dirty="0" smtClean="0">
                          <a:solidFill>
                            <a:srgbClr val="000000"/>
                          </a:solidFill>
                          <a:latin typeface="Cambria Math" panose="02040503050406030204" pitchFamily="18" charset="0"/>
                          <a:ea typeface="楷体" panose="02010609060101010101" pitchFamily="49" charset="-122"/>
                        </a:rPr>
                        <m:t>]</m:t>
                      </m:r>
                    </m:oMath>
                  </m:oMathPara>
                </a14:m>
                <a:endParaRPr lang="en-US" altLang="zh-CN" sz="2000" dirty="0">
                  <a:solidFill>
                    <a:srgbClr val="000000"/>
                  </a:solidFill>
                  <a:latin typeface="Times New Roman"/>
                  <a:ea typeface="楷体" panose="02010609060101010101" pitchFamily="49" charset="-122"/>
                </a:endParaRPr>
              </a:p>
              <a:p>
                <a:pPr marL="715963" algn="just">
                  <a:spcAft>
                    <a:spcPts val="600"/>
                  </a:spcAft>
                  <a:defRPr/>
                </a:pPr>
                <a14:m>
                  <m:oMath xmlns:m="http://schemas.openxmlformats.org/officeDocument/2006/math">
                    <m:r>
                      <a:rPr lang="en-US" altLang="zh-CN" sz="2400" i="1" dirty="0">
                        <a:solidFill>
                          <a:srgbClr val="000000"/>
                        </a:solidFill>
                        <a:latin typeface="Cambria Math" panose="02040503050406030204" pitchFamily="18" charset="0"/>
                        <a:ea typeface="楷体" panose="02010609060101010101" pitchFamily="49" charset="-122"/>
                      </a:rPr>
                      <m:t>𝑛</m:t>
                    </m:r>
                  </m:oMath>
                </a14:m>
                <a:r>
                  <a:rPr lang="en-US" altLang="zh-CN" sz="2400" dirty="0">
                    <a:solidFill>
                      <a:srgbClr val="000000"/>
                    </a:solidFill>
                    <a:latin typeface="Times New Roman"/>
                    <a:ea typeface="楷体" panose="02010609060101010101" pitchFamily="49" charset="-122"/>
                  </a:rPr>
                  <a:t>: </a:t>
                </a:r>
                <a:r>
                  <a:rPr lang="zh-CN" altLang="en-US" sz="2400" dirty="0">
                    <a:solidFill>
                      <a:srgbClr val="000000"/>
                    </a:solidFill>
                    <a:latin typeface="Times New Roman"/>
                    <a:ea typeface="楷体" panose="02010609060101010101" pitchFamily="49" charset="-122"/>
                  </a:rPr>
                  <a:t>年份</a:t>
                </a:r>
                <a:endParaRPr lang="en-US" altLang="zh-CN" sz="2400" dirty="0">
                  <a:solidFill>
                    <a:srgbClr val="000000"/>
                  </a:solidFill>
                  <a:latin typeface="Times New Roman"/>
                  <a:ea typeface="楷体" panose="02010609060101010101" pitchFamily="49" charset="-122"/>
                </a:endParaRPr>
              </a:p>
              <a:p>
                <a:pPr marL="715963">
                  <a:spcAft>
                    <a:spcPts val="600"/>
                  </a:spcAft>
                  <a:defRPr/>
                </a:pP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𝑥</m:t>
                    </m:r>
                    <m:r>
                      <a:rPr lang="en-US" altLang="zh-CN" sz="2400" i="1" dirty="0" smtClean="0">
                        <a:solidFill>
                          <a:srgbClr val="000000"/>
                        </a:solidFill>
                        <a:latin typeface="Cambria Math" panose="02040503050406030204" pitchFamily="18" charset="0"/>
                        <a:ea typeface="楷体" panose="02010609060101010101" pitchFamily="49" charset="-122"/>
                      </a:rPr>
                      <m:t>[</m:t>
                    </m:r>
                    <m:r>
                      <a:rPr lang="en-US" altLang="zh-CN" sz="2400" i="1" dirty="0" smtClean="0">
                        <a:solidFill>
                          <a:srgbClr val="000000"/>
                        </a:solidFill>
                        <a:latin typeface="Cambria Math" panose="02040503050406030204" pitchFamily="18" charset="0"/>
                        <a:ea typeface="楷体" panose="02010609060101010101" pitchFamily="49" charset="-122"/>
                      </a:rPr>
                      <m:t>𝑛</m:t>
                    </m:r>
                    <m:r>
                      <a:rPr lang="en-US" altLang="zh-CN" sz="2400" i="1" dirty="0" smtClean="0">
                        <a:solidFill>
                          <a:srgbClr val="000000"/>
                        </a:solidFill>
                        <a:latin typeface="Cambria Math" panose="02040503050406030204" pitchFamily="18" charset="0"/>
                        <a:ea typeface="楷体" panose="02010609060101010101" pitchFamily="49" charset="-122"/>
                      </a:rPr>
                      <m:t>]</m:t>
                    </m:r>
                  </m:oMath>
                </a14:m>
                <a:r>
                  <a:rPr lang="en-US" altLang="zh-CN" sz="2400" dirty="0">
                    <a:solidFill>
                      <a:srgbClr val="000000"/>
                    </a:solidFill>
                    <a:latin typeface="Times New Roman"/>
                    <a:ea typeface="楷体" panose="02010609060101010101" pitchFamily="49" charset="-122"/>
                  </a:rPr>
                  <a:t>:</a:t>
                </a:r>
                <a:r>
                  <a:rPr lang="zh-CN" altLang="en-US" sz="2400" dirty="0">
                    <a:solidFill>
                      <a:srgbClr val="000000"/>
                    </a:solidFill>
                    <a:latin typeface="Times New Roman"/>
                    <a:ea typeface="楷体" panose="02010609060101010101" pitchFamily="49" charset="-122"/>
                  </a:rPr>
                  <a:t>第</a:t>
                </a:r>
                <a14:m>
                  <m:oMath xmlns:m="http://schemas.openxmlformats.org/officeDocument/2006/math">
                    <m:r>
                      <a:rPr lang="en-US" altLang="zh-CN" sz="2400" i="1" dirty="0">
                        <a:solidFill>
                          <a:srgbClr val="000000"/>
                        </a:solidFill>
                        <a:latin typeface="Cambria Math" panose="02040503050406030204" pitchFamily="18" charset="0"/>
                        <a:ea typeface="楷体" panose="02010609060101010101" pitchFamily="49" charset="-122"/>
                      </a:rPr>
                      <m:t>𝑛</m:t>
                    </m:r>
                  </m:oMath>
                </a14:m>
                <a:r>
                  <a:rPr lang="zh-CN" altLang="en-US" sz="2400" dirty="0">
                    <a:solidFill>
                      <a:srgbClr val="000000"/>
                    </a:solidFill>
                    <a:latin typeface="Times New Roman"/>
                    <a:ea typeface="楷体" panose="02010609060101010101" pitchFamily="49" charset="-122"/>
                  </a:rPr>
                  <a:t>年迁入人口</a:t>
                </a:r>
                <a:r>
                  <a:rPr lang="en-US" altLang="zh-CN" sz="2400" dirty="0">
                    <a:solidFill>
                      <a:srgbClr val="000000"/>
                    </a:solidFill>
                    <a:latin typeface="Times New Roman"/>
                    <a:ea typeface="楷体" panose="02010609060101010101" pitchFamily="49" charset="-122"/>
                  </a:rPr>
                  <a:t>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𝑦</m:t>
                    </m:r>
                    <m:r>
                      <a:rPr lang="en-US" altLang="zh-CN" sz="2400" i="1" dirty="0" smtClean="0">
                        <a:solidFill>
                          <a:srgbClr val="000000"/>
                        </a:solidFill>
                        <a:latin typeface="Cambria Math" panose="02040503050406030204" pitchFamily="18" charset="0"/>
                        <a:ea typeface="楷体" panose="02010609060101010101" pitchFamily="49" charset="-122"/>
                      </a:rPr>
                      <m:t>[</m:t>
                    </m:r>
                    <m:r>
                      <a:rPr lang="en-US" altLang="zh-CN" sz="2400" i="1" dirty="0" smtClean="0">
                        <a:solidFill>
                          <a:srgbClr val="000000"/>
                        </a:solidFill>
                        <a:latin typeface="Cambria Math" panose="02040503050406030204" pitchFamily="18" charset="0"/>
                        <a:ea typeface="楷体" panose="02010609060101010101" pitchFamily="49" charset="-122"/>
                      </a:rPr>
                      <m:t>𝑛</m:t>
                    </m:r>
                    <m:r>
                      <a:rPr lang="en-US" altLang="zh-CN" sz="2400" i="1" dirty="0" smtClean="0">
                        <a:solidFill>
                          <a:srgbClr val="000000"/>
                        </a:solidFill>
                        <a:latin typeface="Cambria Math" panose="02040503050406030204" pitchFamily="18" charset="0"/>
                        <a:ea typeface="楷体" panose="02010609060101010101" pitchFamily="49" charset="-122"/>
                      </a:rPr>
                      <m:t>]</m:t>
                    </m:r>
                  </m:oMath>
                </a14:m>
                <a:r>
                  <a:rPr lang="en-US" altLang="zh-CN" sz="2400" dirty="0">
                    <a:solidFill>
                      <a:srgbClr val="000000"/>
                    </a:solidFill>
                    <a:latin typeface="Times New Roman"/>
                    <a:ea typeface="楷体" panose="02010609060101010101" pitchFamily="49" charset="-122"/>
                  </a:rPr>
                  <a:t>: </a:t>
                </a:r>
                <a:r>
                  <a:rPr lang="zh-CN" altLang="en-US" sz="2400" dirty="0">
                    <a:solidFill>
                      <a:srgbClr val="000000"/>
                    </a:solidFill>
                    <a:latin typeface="Times New Roman"/>
                    <a:ea typeface="楷体" panose="02010609060101010101" pitchFamily="49" charset="-122"/>
                  </a:rPr>
                  <a:t>第</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𝑛</m:t>
                    </m:r>
                  </m:oMath>
                </a14:m>
                <a:r>
                  <a:rPr lang="zh-CN" altLang="en-US" sz="2400" dirty="0">
                    <a:solidFill>
                      <a:srgbClr val="000000"/>
                    </a:solidFill>
                    <a:latin typeface="Times New Roman"/>
                    <a:ea typeface="楷体" panose="02010609060101010101" pitchFamily="49" charset="-122"/>
                  </a:rPr>
                  <a:t>年总人口</a:t>
                </a:r>
                <a:endParaRPr lang="en-US" altLang="zh-CN" sz="2400" dirty="0">
                  <a:solidFill>
                    <a:srgbClr val="000000"/>
                  </a:solidFill>
                  <a:latin typeface="Times New Roman"/>
                  <a:ea typeface="楷体" panose="02010609060101010101" pitchFamily="49" charset="-122"/>
                </a:endParaRPr>
              </a:p>
              <a:p>
                <a:pPr marL="715963">
                  <a:spcAft>
                    <a:spcPts val="600"/>
                  </a:spcAft>
                  <a:defRPr/>
                </a:pP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𝑎</m:t>
                    </m:r>
                  </m:oMath>
                </a14:m>
                <a:r>
                  <a:rPr lang="en-US" altLang="zh-CN" sz="2400" dirty="0">
                    <a:solidFill>
                      <a:srgbClr val="000000"/>
                    </a:solidFill>
                    <a:latin typeface="Times New Roman"/>
                    <a:ea typeface="楷体" panose="02010609060101010101" pitchFamily="49" charset="-122"/>
                  </a:rPr>
                  <a:t>: </a:t>
                </a:r>
                <a:r>
                  <a:rPr lang="zh-CN" altLang="en-US" sz="2400" dirty="0">
                    <a:solidFill>
                      <a:srgbClr val="000000"/>
                    </a:solidFill>
                    <a:latin typeface="Times New Roman"/>
                    <a:ea typeface="楷体" panose="02010609060101010101" pitchFamily="49" charset="-122"/>
                  </a:rPr>
                  <a:t>出生率</a:t>
                </a:r>
                <a:endParaRPr lang="en-US" altLang="zh-CN" sz="2400" dirty="0">
                  <a:solidFill>
                    <a:srgbClr val="000000"/>
                  </a:solidFill>
                  <a:latin typeface="Times New Roman"/>
                  <a:ea typeface="楷体" panose="02010609060101010101" pitchFamily="49" charset="-122"/>
                </a:endParaRPr>
              </a:p>
              <a:p>
                <a:pPr marL="715963">
                  <a:spcAft>
                    <a:spcPts val="600"/>
                  </a:spcAft>
                  <a:defRPr/>
                </a:pP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𝑏</m:t>
                    </m:r>
                  </m:oMath>
                </a14:m>
                <a:r>
                  <a:rPr lang="en-US" altLang="zh-CN" sz="2400" dirty="0">
                    <a:solidFill>
                      <a:srgbClr val="000000"/>
                    </a:solidFill>
                    <a:latin typeface="Times New Roman"/>
                    <a:ea typeface="楷体" panose="02010609060101010101" pitchFamily="49" charset="-122"/>
                  </a:rPr>
                  <a:t>: </a:t>
                </a:r>
                <a:r>
                  <a:rPr lang="zh-CN" altLang="en-US" sz="2400" dirty="0">
                    <a:solidFill>
                      <a:srgbClr val="000000"/>
                    </a:solidFill>
                    <a:latin typeface="Times New Roman"/>
                    <a:ea typeface="楷体" panose="02010609060101010101" pitchFamily="49" charset="-122"/>
                  </a:rPr>
                  <a:t>死亡率</a:t>
                </a:r>
                <a:endParaRPr lang="en-US" altLang="zh-CN" sz="2400" dirty="0">
                  <a:solidFill>
                    <a:srgbClr val="000000"/>
                  </a:solidFill>
                  <a:latin typeface="Times New Roman"/>
                  <a:ea typeface="楷体" panose="02010609060101010101" pitchFamily="49" charset="-122"/>
                </a:endParaRPr>
              </a:p>
              <a:p>
                <a:pPr>
                  <a:spcAft>
                    <a:spcPts val="600"/>
                  </a:spcAft>
                  <a:defRPr/>
                </a:pPr>
                <a:endParaRPr lang="en-US" altLang="zh-CN" sz="2400" dirty="0">
                  <a:solidFill>
                    <a:srgbClr val="000000"/>
                  </a:solidFill>
                  <a:latin typeface="Times New Roman"/>
                  <a:ea typeface="楷体" panose="02010609060101010101" pitchFamily="49" charset="-122"/>
                </a:endParaRPr>
              </a:p>
              <a:p>
                <a:pPr>
                  <a:spcAft>
                    <a:spcPts val="600"/>
                  </a:spcAft>
                  <a:defRPr/>
                </a:pPr>
                <a:r>
                  <a:rPr lang="zh-CN" altLang="en-US" sz="2400" dirty="0">
                    <a:solidFill>
                      <a:srgbClr val="000000"/>
                    </a:solidFill>
                    <a:latin typeface="Times New Roman"/>
                    <a:ea typeface="楷体" panose="02010609060101010101" pitchFamily="49" charset="-122"/>
                  </a:rPr>
                  <a:t>这是一阶差分方程</a:t>
                </a:r>
                <a:r>
                  <a:rPr lang="en-US" altLang="zh-CN" sz="2400" dirty="0">
                    <a:solidFill>
                      <a:srgbClr val="000000"/>
                    </a:solidFill>
                    <a:latin typeface="Times New Roman"/>
                    <a:ea typeface="楷体" panose="02010609060101010101" pitchFamily="49" charset="-122"/>
                  </a:rPr>
                  <a:t>:</a:t>
                </a:r>
                <a:endParaRPr lang="zh-CN" altLang="en-US" sz="2400" dirty="0">
                  <a:solidFill>
                    <a:srgbClr val="000000"/>
                  </a:solidFill>
                  <a:latin typeface="Times New Roman"/>
                  <a:ea typeface="楷体" panose="02010609060101010101" pitchFamily="49" charset="-122"/>
                </a:endParaRPr>
              </a:p>
              <a:p>
                <a:pPr algn="ctr">
                  <a:spcAft>
                    <a:spcPts val="600"/>
                  </a:spcAft>
                  <a:defRPr/>
                </a:pPr>
                <a14:m>
                  <m:oMathPara xmlns:m="http://schemas.openxmlformats.org/officeDocument/2006/math">
                    <m:oMathParaPr>
                      <m:jc m:val="centerGroup"/>
                    </m:oMathParaPr>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𝑦</m:t>
                      </m:r>
                      <m:r>
                        <a:rPr lang="en-US" altLang="zh-CN" sz="2400" i="1" dirty="0" smtClean="0">
                          <a:solidFill>
                            <a:srgbClr val="000000"/>
                          </a:solidFill>
                          <a:latin typeface="Cambria Math" panose="02040503050406030204" pitchFamily="18" charset="0"/>
                          <a:ea typeface="楷体" panose="02010609060101010101" pitchFamily="49" charset="-122"/>
                        </a:rPr>
                        <m:t>[</m:t>
                      </m:r>
                      <m:r>
                        <a:rPr lang="en-US" altLang="zh-CN" sz="2400" i="1" dirty="0" smtClean="0">
                          <a:solidFill>
                            <a:srgbClr val="000000"/>
                          </a:solidFill>
                          <a:latin typeface="Cambria Math" panose="02040503050406030204" pitchFamily="18" charset="0"/>
                          <a:ea typeface="楷体" panose="02010609060101010101" pitchFamily="49" charset="-122"/>
                        </a:rPr>
                        <m:t>𝑛</m:t>
                      </m:r>
                      <m:r>
                        <a:rPr lang="en-US" altLang="zh-CN" sz="2400" i="1" dirty="0" smtClean="0">
                          <a:solidFill>
                            <a:srgbClr val="000000"/>
                          </a:solidFill>
                          <a:latin typeface="Cambria Math" panose="02040503050406030204" pitchFamily="18" charset="0"/>
                          <a:ea typeface="楷体" panose="02010609060101010101" pitchFamily="49" charset="-122"/>
                        </a:rPr>
                        <m:t>] – (1 + </m:t>
                      </m:r>
                      <m:r>
                        <a:rPr lang="en-US" altLang="zh-CN" sz="2400" i="1" dirty="0" smtClean="0">
                          <a:solidFill>
                            <a:srgbClr val="000000"/>
                          </a:solidFill>
                          <a:latin typeface="Cambria Math" panose="02040503050406030204" pitchFamily="18" charset="0"/>
                          <a:ea typeface="楷体" panose="02010609060101010101" pitchFamily="49" charset="-122"/>
                        </a:rPr>
                        <m:t>𝑎</m:t>
                      </m:r>
                      <m:r>
                        <a:rPr lang="en-US" altLang="zh-CN" sz="2400" i="1" dirty="0" smtClean="0">
                          <a:solidFill>
                            <a:srgbClr val="000000"/>
                          </a:solidFill>
                          <a:latin typeface="Cambria Math" panose="02040503050406030204" pitchFamily="18" charset="0"/>
                          <a:ea typeface="楷体" panose="02010609060101010101" pitchFamily="49" charset="-122"/>
                        </a:rPr>
                        <m:t> – </m:t>
                      </m:r>
                      <m:r>
                        <a:rPr lang="en-US" altLang="zh-CN" sz="2400" i="1" dirty="0" smtClean="0">
                          <a:solidFill>
                            <a:srgbClr val="000000"/>
                          </a:solidFill>
                          <a:latin typeface="Cambria Math" panose="02040503050406030204" pitchFamily="18" charset="0"/>
                          <a:ea typeface="楷体" panose="02010609060101010101" pitchFamily="49" charset="-122"/>
                        </a:rPr>
                        <m:t>𝑏</m:t>
                      </m:r>
                      <m:r>
                        <a:rPr lang="en-US" altLang="zh-CN" sz="2400" i="1" dirty="0" smtClean="0">
                          <a:solidFill>
                            <a:srgbClr val="000000"/>
                          </a:solidFill>
                          <a:latin typeface="Cambria Math" panose="02040503050406030204" pitchFamily="18" charset="0"/>
                          <a:ea typeface="楷体" panose="02010609060101010101" pitchFamily="49" charset="-122"/>
                        </a:rPr>
                        <m:t>)</m:t>
                      </m:r>
                      <m:r>
                        <a:rPr lang="en-US" altLang="zh-CN" sz="2400" i="1" dirty="0" smtClean="0">
                          <a:solidFill>
                            <a:srgbClr val="000000"/>
                          </a:solidFill>
                          <a:latin typeface="Cambria Math" panose="02040503050406030204" pitchFamily="18" charset="0"/>
                          <a:ea typeface="楷体" panose="02010609060101010101" pitchFamily="49" charset="-122"/>
                        </a:rPr>
                        <m:t>𝑦</m:t>
                      </m:r>
                      <m:r>
                        <a:rPr lang="en-US" altLang="zh-CN" sz="2400" i="1" dirty="0" smtClean="0">
                          <a:solidFill>
                            <a:srgbClr val="000000"/>
                          </a:solidFill>
                          <a:latin typeface="Cambria Math" panose="02040503050406030204" pitchFamily="18" charset="0"/>
                          <a:ea typeface="楷体" panose="02010609060101010101" pitchFamily="49" charset="-122"/>
                        </a:rPr>
                        <m:t>[</m:t>
                      </m:r>
                      <m:r>
                        <a:rPr lang="en-US" altLang="zh-CN" sz="2400" i="1" dirty="0" smtClean="0">
                          <a:solidFill>
                            <a:srgbClr val="000000"/>
                          </a:solidFill>
                          <a:latin typeface="Cambria Math" panose="02040503050406030204" pitchFamily="18" charset="0"/>
                          <a:ea typeface="楷体" panose="02010609060101010101" pitchFamily="49" charset="-122"/>
                        </a:rPr>
                        <m:t>𝑛</m:t>
                      </m:r>
                      <m:r>
                        <a:rPr lang="en-US" altLang="zh-CN" sz="2400" i="1" dirty="0" smtClean="0">
                          <a:solidFill>
                            <a:srgbClr val="000000"/>
                          </a:solidFill>
                          <a:latin typeface="Cambria Math" panose="02040503050406030204" pitchFamily="18" charset="0"/>
                          <a:ea typeface="楷体" panose="02010609060101010101" pitchFamily="49" charset="-122"/>
                        </a:rPr>
                        <m:t> – 1] = </m:t>
                      </m:r>
                      <m:r>
                        <a:rPr lang="en-US" altLang="zh-CN" sz="2400" i="1" dirty="0" smtClean="0">
                          <a:solidFill>
                            <a:srgbClr val="000000"/>
                          </a:solidFill>
                          <a:latin typeface="Cambria Math" panose="02040503050406030204" pitchFamily="18" charset="0"/>
                          <a:ea typeface="楷体" panose="02010609060101010101" pitchFamily="49" charset="-122"/>
                        </a:rPr>
                        <m:t>𝑥</m:t>
                      </m:r>
                      <m:r>
                        <a:rPr lang="en-US" altLang="zh-CN" sz="2400" i="1" dirty="0" smtClean="0">
                          <a:solidFill>
                            <a:srgbClr val="000000"/>
                          </a:solidFill>
                          <a:latin typeface="Cambria Math" panose="02040503050406030204" pitchFamily="18" charset="0"/>
                          <a:ea typeface="楷体" panose="02010609060101010101" pitchFamily="49" charset="-122"/>
                        </a:rPr>
                        <m:t>[</m:t>
                      </m:r>
                      <m:r>
                        <a:rPr lang="en-US" altLang="zh-CN" sz="2400" i="1" dirty="0" smtClean="0">
                          <a:solidFill>
                            <a:srgbClr val="000000"/>
                          </a:solidFill>
                          <a:latin typeface="Cambria Math" panose="02040503050406030204" pitchFamily="18" charset="0"/>
                          <a:ea typeface="楷体" panose="02010609060101010101" pitchFamily="49" charset="-122"/>
                        </a:rPr>
                        <m:t>𝑛</m:t>
                      </m:r>
                      <m:r>
                        <a:rPr lang="en-US" altLang="zh-CN" sz="2400" i="1" dirty="0" smtClean="0">
                          <a:solidFill>
                            <a:srgbClr val="000000"/>
                          </a:solidFill>
                          <a:latin typeface="Cambria Math" panose="02040503050406030204" pitchFamily="18" charset="0"/>
                          <a:ea typeface="楷体" panose="02010609060101010101" pitchFamily="49" charset="-122"/>
                        </a:rPr>
                        <m:t>]</m:t>
                      </m:r>
                    </m:oMath>
                  </m:oMathPara>
                </a14:m>
                <a:endParaRPr lang="en-US" altLang="zh-CN" sz="2400" dirty="0">
                  <a:solidFill>
                    <a:srgbClr val="000000"/>
                  </a:solidFill>
                  <a:latin typeface="Times New Roman"/>
                  <a:ea typeface="楷体" panose="02010609060101010101" pitchFamily="49" charset="-122"/>
                </a:endParaRPr>
              </a:p>
              <a:p>
                <a:pPr algn="ctr">
                  <a:spcAft>
                    <a:spcPts val="600"/>
                  </a:spcAft>
                  <a:defRPr/>
                </a:pPr>
                <a:endParaRPr lang="zh-CN" altLang="en-US" sz="2400" dirty="0">
                  <a:solidFill>
                    <a:srgbClr val="000000"/>
                  </a:solidFill>
                  <a:latin typeface="Times New Roman"/>
                  <a:ea typeface="楷体" panose="02010609060101010101" pitchFamily="49" charset="-122"/>
                </a:endParaRPr>
              </a:p>
              <a:p>
                <a:pPr>
                  <a:spcAft>
                    <a:spcPts val="600"/>
                  </a:spcAft>
                  <a:defRPr/>
                </a:pPr>
                <a:r>
                  <a:rPr lang="zh-CN" altLang="en-US" sz="2400" dirty="0">
                    <a:solidFill>
                      <a:srgbClr val="000000"/>
                    </a:solidFill>
                    <a:latin typeface="Times New Roman"/>
                    <a:ea typeface="楷体" panose="02010609060101010101" pitchFamily="49" charset="-122"/>
                  </a:rPr>
                  <a:t>可见：</a:t>
                </a:r>
                <a:r>
                  <a:rPr lang="zh-CN" altLang="en-US" sz="2400" dirty="0">
                    <a:solidFill>
                      <a:srgbClr val="FF0000"/>
                    </a:solidFill>
                    <a:latin typeface="Times New Roman"/>
                    <a:ea typeface="楷体" panose="02010609060101010101" pitchFamily="49" charset="-122"/>
                  </a:rPr>
                  <a:t>差分方程可作为离散时间系统的数学模型</a:t>
                </a:r>
                <a:r>
                  <a:rPr lang="zh-CN" altLang="en-US" sz="2400" dirty="0">
                    <a:solidFill>
                      <a:srgbClr val="000000"/>
                    </a:solidFill>
                    <a:latin typeface="Times New Roman"/>
                    <a:ea typeface="楷体" panose="02010609060101010101" pitchFamily="49" charset="-122"/>
                  </a:rPr>
                  <a:t>。</a:t>
                </a:r>
              </a:p>
            </p:txBody>
          </p:sp>
        </mc:Choice>
        <mc:Fallback xmlns="">
          <p:sp>
            <p:nvSpPr>
              <p:cNvPr id="10" name="Rectangle 4">
                <a:extLst>
                  <a:ext uri="{FF2B5EF4-FFF2-40B4-BE49-F238E27FC236}">
                    <a16:creationId xmlns:a16="http://schemas.microsoft.com/office/drawing/2014/main" id="{DDA833C3-90F9-45F4-A109-FCAF655CC90B}"/>
                  </a:ext>
                </a:extLst>
              </p:cNvPr>
              <p:cNvSpPr>
                <a:spLocks noRot="1" noChangeAspect="1" noMove="1" noResize="1" noEditPoints="1" noAdjustHandles="1" noChangeArrowheads="1" noChangeShapeType="1" noTextEdit="1"/>
              </p:cNvSpPr>
              <p:nvPr/>
            </p:nvSpPr>
            <p:spPr bwMode="auto">
              <a:xfrm>
                <a:off x="827584" y="1903207"/>
                <a:ext cx="7859216" cy="4478121"/>
              </a:xfrm>
              <a:prstGeom prst="rect">
                <a:avLst/>
              </a:prstGeom>
              <a:blipFill>
                <a:blip r:embed="rId2"/>
                <a:stretch>
                  <a:fillRect l="-1241" b="-2177"/>
                </a:stretch>
              </a:blipFill>
              <a:ln w="9525" algn="ctr">
                <a:noFill/>
                <a:miter lim="800000"/>
                <a:headEnd/>
                <a:tailEnd/>
              </a:ln>
              <a:effectLst/>
            </p:spPr>
            <p:txBody>
              <a:bodyPr/>
              <a:lstStyle/>
              <a:p>
                <a:r>
                  <a:rPr lang="en-US">
                    <a:noFill/>
                  </a:rPr>
                  <a:t> </a:t>
                </a:r>
              </a:p>
            </p:txBody>
          </p:sp>
        </mc:Fallback>
      </mc:AlternateContent>
    </p:spTree>
    <p:extLst>
      <p:ext uri="{BB962C8B-B14F-4D97-AF65-F5344CB8AC3E}">
        <p14:creationId xmlns:p14="http://schemas.microsoft.com/office/powerpoint/2010/main" val="2750967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6" end="6"/>
                                            </p:txEl>
                                          </p:spTgt>
                                        </p:tgtEl>
                                        <p:attrNameLst>
                                          <p:attrName>style.visibility</p:attrName>
                                        </p:attrNameLst>
                                      </p:cBhvr>
                                      <p:to>
                                        <p:strVal val="visible"/>
                                      </p:to>
                                    </p:set>
                                    <p:anim calcmode="lin" valueType="num">
                                      <p:cBhvr additive="base">
                                        <p:cTn id="7"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0">
                                            <p:txEl>
                                              <p:pRg st="7" end="7"/>
                                            </p:txEl>
                                          </p:spTgt>
                                        </p:tgtEl>
                                        <p:attrNameLst>
                                          <p:attrName>style.visibility</p:attrName>
                                        </p:attrNameLst>
                                      </p:cBhvr>
                                      <p:to>
                                        <p:strVal val="visible"/>
                                      </p:to>
                                    </p:set>
                                    <p:anim calcmode="lin" valueType="num">
                                      <p:cBhvr additive="base">
                                        <p:cTn id="12"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0">
                                            <p:txEl>
                                              <p:pRg st="9" end="9"/>
                                            </p:txEl>
                                          </p:spTgt>
                                        </p:tgtEl>
                                        <p:attrNameLst>
                                          <p:attrName>style.visibility</p:attrName>
                                        </p:attrNameLst>
                                      </p:cBhvr>
                                      <p:to>
                                        <p:strVal val="visible"/>
                                      </p:to>
                                    </p:set>
                                    <p:anim calcmode="lin" valueType="num">
                                      <p:cBhvr additive="base">
                                        <p:cTn id="18"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09CA3A21-DD8B-47F1-B1E9-C4CF4BD0135D}"/>
              </a:ext>
            </a:extLst>
          </p:cNvPr>
          <p:cNvSpPr>
            <a:spLocks noGrp="1"/>
          </p:cNvSpPr>
          <p:nvPr>
            <p:ph type="title"/>
          </p:nvPr>
        </p:nvSpPr>
        <p:spPr/>
        <p:txBody>
          <a:bodyPr/>
          <a:lstStyle/>
          <a:p>
            <a:r>
              <a:rPr lang="en-US" altLang="zh-CN"/>
              <a:t>1.5  </a:t>
            </a:r>
            <a:r>
              <a:rPr lang="zh-CN" altLang="en-US"/>
              <a:t>连续时间与离散时间系统</a:t>
            </a:r>
          </a:p>
        </p:txBody>
      </p:sp>
      <p:sp>
        <p:nvSpPr>
          <p:cNvPr id="49155" name="内容占位符 2">
            <a:extLst>
              <a:ext uri="{FF2B5EF4-FFF2-40B4-BE49-F238E27FC236}">
                <a16:creationId xmlns:a16="http://schemas.microsoft.com/office/drawing/2014/main" id="{ED69E707-A8BE-46BC-9101-A38D37604F84}"/>
              </a:ext>
            </a:extLst>
          </p:cNvPr>
          <p:cNvSpPr>
            <a:spLocks noGrp="1"/>
          </p:cNvSpPr>
          <p:nvPr>
            <p:ph idx="1"/>
          </p:nvPr>
        </p:nvSpPr>
        <p:spPr>
          <a:xfrm>
            <a:off x="457200" y="1285875"/>
            <a:ext cx="8229600" cy="5020862"/>
          </a:xfrm>
        </p:spPr>
        <p:txBody>
          <a:bodyPr>
            <a:spAutoFit/>
          </a:bodyPr>
          <a:lstStyle/>
          <a:p>
            <a:pPr>
              <a:lnSpc>
                <a:spcPct val="120000"/>
              </a:lnSpc>
              <a:spcBef>
                <a:spcPts val="0"/>
              </a:spcBef>
              <a:spcAft>
                <a:spcPts val="600"/>
              </a:spcAft>
            </a:pPr>
            <a:r>
              <a:rPr lang="zh-CN" altLang="en-US" sz="2800" b="0" dirty="0"/>
              <a:t>二</a:t>
            </a:r>
            <a:r>
              <a:rPr lang="en-US" altLang="zh-CN" sz="2800" b="0" dirty="0"/>
              <a:t>. </a:t>
            </a:r>
            <a:r>
              <a:rPr lang="zh-CN" altLang="en-US" sz="2800" b="0" dirty="0"/>
              <a:t>系统的互联</a:t>
            </a:r>
            <a:endParaRPr lang="en-US" altLang="zh-CN" sz="2800" b="0" dirty="0"/>
          </a:p>
          <a:p>
            <a:pPr lvl="1">
              <a:lnSpc>
                <a:spcPct val="120000"/>
              </a:lnSpc>
              <a:spcBef>
                <a:spcPts val="0"/>
              </a:spcBef>
              <a:spcAft>
                <a:spcPts val="600"/>
              </a:spcAft>
            </a:pPr>
            <a:r>
              <a:rPr lang="zh-CN" altLang="en-US" b="0" dirty="0"/>
              <a:t>现实中的系统是各式各样的，其复杂程度也大相径庭。但许多系统都可以分解为若干个简单系统的组合。</a:t>
            </a:r>
            <a:endParaRPr lang="en-US" altLang="zh-CN" b="0" dirty="0"/>
          </a:p>
          <a:p>
            <a:pPr lvl="1">
              <a:lnSpc>
                <a:spcPct val="120000"/>
              </a:lnSpc>
              <a:spcBef>
                <a:spcPts val="0"/>
              </a:spcBef>
              <a:spcAft>
                <a:spcPts val="600"/>
              </a:spcAft>
            </a:pPr>
            <a:r>
              <a:rPr lang="zh-CN" altLang="en-US" b="0" dirty="0"/>
              <a:t>这一思想对</a:t>
            </a:r>
            <a:r>
              <a:rPr lang="zh-CN" altLang="en-US" b="0" dirty="0">
                <a:solidFill>
                  <a:srgbClr val="FF0000"/>
                </a:solidFill>
              </a:rPr>
              <a:t>系统分析</a:t>
            </a:r>
            <a:r>
              <a:rPr lang="zh-CN" altLang="en-US" b="0" dirty="0"/>
              <a:t>和</a:t>
            </a:r>
            <a:r>
              <a:rPr lang="zh-CN" altLang="en-US" b="0" dirty="0">
                <a:solidFill>
                  <a:srgbClr val="FF0000"/>
                </a:solidFill>
              </a:rPr>
              <a:t>系统综合</a:t>
            </a:r>
            <a:r>
              <a:rPr lang="zh-CN" altLang="en-US" b="0" dirty="0"/>
              <a:t>十分重要。</a:t>
            </a:r>
            <a:endParaRPr lang="en-US" altLang="zh-CN" b="0" dirty="0"/>
          </a:p>
          <a:p>
            <a:pPr lvl="2">
              <a:lnSpc>
                <a:spcPct val="120000"/>
              </a:lnSpc>
              <a:spcBef>
                <a:spcPts val="0"/>
              </a:spcBef>
              <a:spcAft>
                <a:spcPts val="600"/>
              </a:spcAft>
            </a:pPr>
            <a:r>
              <a:rPr lang="zh-CN" altLang="en-US" sz="2800" b="0" dirty="0"/>
              <a:t>可以通过对简单系统（子系统）的分析并通过子系统互联而达到分析复杂系统的目的。</a:t>
            </a:r>
          </a:p>
          <a:p>
            <a:pPr lvl="2">
              <a:lnSpc>
                <a:spcPct val="120000"/>
              </a:lnSpc>
              <a:spcBef>
                <a:spcPts val="0"/>
              </a:spcBef>
              <a:spcAft>
                <a:spcPts val="600"/>
              </a:spcAft>
            </a:pPr>
            <a:r>
              <a:rPr lang="zh-CN" altLang="en-US" sz="2800" b="0" dirty="0"/>
              <a:t>也可以通过将若干个简单子系统互联起来而实现一个相对复杂的系统。</a:t>
            </a:r>
          </a:p>
        </p:txBody>
      </p:sp>
      <p:sp>
        <p:nvSpPr>
          <p:cNvPr id="4" name="灯片编号占位符 3">
            <a:extLst>
              <a:ext uri="{FF2B5EF4-FFF2-40B4-BE49-F238E27FC236}">
                <a16:creationId xmlns:a16="http://schemas.microsoft.com/office/drawing/2014/main" id="{9824F8AA-A7A6-4446-986F-52A956062AA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E3AA032-39BB-40A5-936E-9E9F5B98A21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7" name="标题 1">
            <a:extLst>
              <a:ext uri="{FF2B5EF4-FFF2-40B4-BE49-F238E27FC236}">
                <a16:creationId xmlns:a16="http://schemas.microsoft.com/office/drawing/2014/main" id="{9BC385B6-F39C-4990-8EF9-DC818718A692}"/>
              </a:ext>
            </a:extLst>
          </p:cNvPr>
          <p:cNvSpPr>
            <a:spLocks noGrp="1"/>
          </p:cNvSpPr>
          <p:nvPr>
            <p:ph type="title"/>
          </p:nvPr>
        </p:nvSpPr>
        <p:spPr/>
        <p:txBody>
          <a:bodyPr/>
          <a:lstStyle/>
          <a:p>
            <a:r>
              <a:rPr lang="en-US" altLang="zh-CN"/>
              <a:t>1.5  </a:t>
            </a:r>
            <a:r>
              <a:rPr lang="zh-CN" altLang="en-US"/>
              <a:t>连续时间与离散时间系统</a:t>
            </a:r>
          </a:p>
        </p:txBody>
      </p:sp>
      <p:sp>
        <p:nvSpPr>
          <p:cNvPr id="4" name="灯片编号占位符 3">
            <a:extLst>
              <a:ext uri="{FF2B5EF4-FFF2-40B4-BE49-F238E27FC236}">
                <a16:creationId xmlns:a16="http://schemas.microsoft.com/office/drawing/2014/main" id="{BBABAD7E-B3D1-4A3E-9AA8-B4AE4B4CD50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C25CBA8-95BB-41E5-BFE7-1DBD54E9E54B}" type="slidenum">
              <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9709" name="Text Box 2">
            <a:extLst>
              <a:ext uri="{FF2B5EF4-FFF2-40B4-BE49-F238E27FC236}">
                <a16:creationId xmlns:a16="http://schemas.microsoft.com/office/drawing/2014/main" id="{52C27E62-D41E-4380-BDB7-672B4598163F}"/>
              </a:ext>
            </a:extLst>
          </p:cNvPr>
          <p:cNvSpPr txBox="1">
            <a:spLocks noChangeArrowheads="1"/>
          </p:cNvSpPr>
          <p:nvPr/>
        </p:nvSpPr>
        <p:spPr bwMode="auto">
          <a:xfrm>
            <a:off x="827088" y="3717032"/>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2. </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并联</a:t>
            </a:r>
            <a:endPar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grpSp>
        <p:nvGrpSpPr>
          <p:cNvPr id="29710" name="Group 3">
            <a:extLst>
              <a:ext uri="{FF2B5EF4-FFF2-40B4-BE49-F238E27FC236}">
                <a16:creationId xmlns:a16="http://schemas.microsoft.com/office/drawing/2014/main" id="{278D93AC-99FE-4268-A94E-35302CAAE1CF}"/>
              </a:ext>
            </a:extLst>
          </p:cNvPr>
          <p:cNvGrpSpPr>
            <a:grpSpLocks/>
          </p:cNvGrpSpPr>
          <p:nvPr/>
        </p:nvGrpSpPr>
        <p:grpSpPr bwMode="auto">
          <a:xfrm>
            <a:off x="2251075" y="4509120"/>
            <a:ext cx="4549775" cy="1657350"/>
            <a:chOff x="1020" y="2933"/>
            <a:chExt cx="2866" cy="1044"/>
          </a:xfrm>
        </p:grpSpPr>
        <p:sp>
          <p:nvSpPr>
            <p:cNvPr id="29719" name="Rectangle 4">
              <a:extLst>
                <a:ext uri="{FF2B5EF4-FFF2-40B4-BE49-F238E27FC236}">
                  <a16:creationId xmlns:a16="http://schemas.microsoft.com/office/drawing/2014/main" id="{2B218225-1694-41FB-8E55-93BDDD483C5E}"/>
                </a:ext>
              </a:extLst>
            </p:cNvPr>
            <p:cNvSpPr>
              <a:spLocks noChangeArrowheads="1"/>
            </p:cNvSpPr>
            <p:nvPr/>
          </p:nvSpPr>
          <p:spPr bwMode="auto">
            <a:xfrm>
              <a:off x="2109" y="2933"/>
              <a:ext cx="636" cy="409"/>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r>
                <a:rPr kumimoji="0" lang="en-US" altLang="zh-CN"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1</a:t>
              </a:r>
            </a:p>
          </p:txBody>
        </p:sp>
        <p:sp>
          <p:nvSpPr>
            <p:cNvPr id="29720" name="Rectangle 5">
              <a:extLst>
                <a:ext uri="{FF2B5EF4-FFF2-40B4-BE49-F238E27FC236}">
                  <a16:creationId xmlns:a16="http://schemas.microsoft.com/office/drawing/2014/main" id="{D6BEE3C5-6476-4699-A215-E36BF484C35B}"/>
                </a:ext>
              </a:extLst>
            </p:cNvPr>
            <p:cNvSpPr>
              <a:spLocks noChangeArrowheads="1"/>
            </p:cNvSpPr>
            <p:nvPr/>
          </p:nvSpPr>
          <p:spPr bwMode="auto">
            <a:xfrm>
              <a:off x="2109" y="3568"/>
              <a:ext cx="636" cy="409"/>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r>
                <a:rPr kumimoji="0" lang="en-US" altLang="zh-CN"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2</a:t>
              </a:r>
            </a:p>
          </p:txBody>
        </p:sp>
        <p:sp>
          <p:nvSpPr>
            <p:cNvPr id="29721" name="Line 6">
              <a:extLst>
                <a:ext uri="{FF2B5EF4-FFF2-40B4-BE49-F238E27FC236}">
                  <a16:creationId xmlns:a16="http://schemas.microsoft.com/office/drawing/2014/main" id="{B7D06DCD-D4D0-45A0-9F65-03F4A40371F8}"/>
                </a:ext>
              </a:extLst>
            </p:cNvPr>
            <p:cNvSpPr>
              <a:spLocks noChangeShapeType="1"/>
            </p:cNvSpPr>
            <p:nvPr/>
          </p:nvSpPr>
          <p:spPr bwMode="auto">
            <a:xfrm>
              <a:off x="1655" y="3160"/>
              <a:ext cx="45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9722" name="Line 7">
              <a:extLst>
                <a:ext uri="{FF2B5EF4-FFF2-40B4-BE49-F238E27FC236}">
                  <a16:creationId xmlns:a16="http://schemas.microsoft.com/office/drawing/2014/main" id="{D0230F01-BD8B-442B-BB6E-2EDD43CA0F60}"/>
                </a:ext>
              </a:extLst>
            </p:cNvPr>
            <p:cNvSpPr>
              <a:spLocks noChangeShapeType="1"/>
            </p:cNvSpPr>
            <p:nvPr/>
          </p:nvSpPr>
          <p:spPr bwMode="auto">
            <a:xfrm>
              <a:off x="1655" y="3795"/>
              <a:ext cx="45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9723" name="Line 8">
              <a:extLst>
                <a:ext uri="{FF2B5EF4-FFF2-40B4-BE49-F238E27FC236}">
                  <a16:creationId xmlns:a16="http://schemas.microsoft.com/office/drawing/2014/main" id="{00EC3D2D-7A63-4BFE-B174-7AE85992FBE0}"/>
                </a:ext>
              </a:extLst>
            </p:cNvPr>
            <p:cNvSpPr>
              <a:spLocks noChangeShapeType="1"/>
            </p:cNvSpPr>
            <p:nvPr/>
          </p:nvSpPr>
          <p:spPr bwMode="auto">
            <a:xfrm>
              <a:off x="1655" y="3160"/>
              <a:ext cx="0" cy="63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9724" name="Line 9">
              <a:extLst>
                <a:ext uri="{FF2B5EF4-FFF2-40B4-BE49-F238E27FC236}">
                  <a16:creationId xmlns:a16="http://schemas.microsoft.com/office/drawing/2014/main" id="{003067C2-A7F4-49C4-AF8C-DE0B49E6D950}"/>
                </a:ext>
              </a:extLst>
            </p:cNvPr>
            <p:cNvSpPr>
              <a:spLocks noChangeShapeType="1"/>
            </p:cNvSpPr>
            <p:nvPr/>
          </p:nvSpPr>
          <p:spPr bwMode="auto">
            <a:xfrm flipH="1">
              <a:off x="1202" y="3477"/>
              <a:ext cx="45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9725" name="Line 10">
              <a:extLst>
                <a:ext uri="{FF2B5EF4-FFF2-40B4-BE49-F238E27FC236}">
                  <a16:creationId xmlns:a16="http://schemas.microsoft.com/office/drawing/2014/main" id="{5DFEA5DE-83A1-4831-BA0D-831A24849372}"/>
                </a:ext>
              </a:extLst>
            </p:cNvPr>
            <p:cNvSpPr>
              <a:spLocks noChangeShapeType="1"/>
            </p:cNvSpPr>
            <p:nvPr/>
          </p:nvSpPr>
          <p:spPr bwMode="auto">
            <a:xfrm>
              <a:off x="2744" y="3160"/>
              <a:ext cx="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9726" name="Line 11">
              <a:extLst>
                <a:ext uri="{FF2B5EF4-FFF2-40B4-BE49-F238E27FC236}">
                  <a16:creationId xmlns:a16="http://schemas.microsoft.com/office/drawing/2014/main" id="{D0DF37D4-4899-41EA-BE02-9634F0F32CC7}"/>
                </a:ext>
              </a:extLst>
            </p:cNvPr>
            <p:cNvSpPr>
              <a:spLocks noChangeShapeType="1"/>
            </p:cNvSpPr>
            <p:nvPr/>
          </p:nvSpPr>
          <p:spPr bwMode="auto">
            <a:xfrm>
              <a:off x="2744" y="3795"/>
              <a:ext cx="3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9727" name="Line 12">
              <a:extLst>
                <a:ext uri="{FF2B5EF4-FFF2-40B4-BE49-F238E27FC236}">
                  <a16:creationId xmlns:a16="http://schemas.microsoft.com/office/drawing/2014/main" id="{77EC99D5-8AF2-489E-AD23-357C336C3259}"/>
                </a:ext>
              </a:extLst>
            </p:cNvPr>
            <p:cNvSpPr>
              <a:spLocks noChangeShapeType="1"/>
            </p:cNvSpPr>
            <p:nvPr/>
          </p:nvSpPr>
          <p:spPr bwMode="auto">
            <a:xfrm>
              <a:off x="3107" y="3160"/>
              <a:ext cx="0" cy="22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9728" name="Line 13">
              <a:extLst>
                <a:ext uri="{FF2B5EF4-FFF2-40B4-BE49-F238E27FC236}">
                  <a16:creationId xmlns:a16="http://schemas.microsoft.com/office/drawing/2014/main" id="{E28A7D9B-7C0F-42B2-8DDC-65031370A4D6}"/>
                </a:ext>
              </a:extLst>
            </p:cNvPr>
            <p:cNvSpPr>
              <a:spLocks noChangeShapeType="1"/>
            </p:cNvSpPr>
            <p:nvPr/>
          </p:nvSpPr>
          <p:spPr bwMode="auto">
            <a:xfrm flipV="1">
              <a:off x="3099" y="3530"/>
              <a:ext cx="0" cy="27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graphicFrame>
              <p:nvGraphicFramePr>
                <p:cNvPr id="29702" name="Object 2">
                  <a:extLst>
                    <a:ext uri="{FF2B5EF4-FFF2-40B4-BE49-F238E27FC236}">
                      <a16:creationId xmlns:a16="http://schemas.microsoft.com/office/drawing/2014/main" id="{E5E28651-13BF-4991-BAAD-8DEE85BB9F3C}"/>
                    </a:ext>
                  </a:extLst>
                </p:cNvPr>
                <p:cNvGraphicFramePr>
                  <a:graphicFrameLocks noChangeAspect="1"/>
                </p:cNvGraphicFramePr>
                <p:nvPr/>
              </p:nvGraphicFramePr>
              <p:xfrm>
                <a:off x="2990" y="3325"/>
                <a:ext cx="252" cy="272"/>
              </p:xfrm>
              <a:graphic>
                <a:graphicData uri="http://schemas.openxmlformats.org/presentationml/2006/ole">
                  <mc:AlternateContent>
                    <mc:Choice xmlns:v="urn:schemas-microsoft-com:vml" Requires="v">
                      <p:oleObj spid="_x0000_s9335" name="Equation" r:id="rId3" imgW="164880" imgH="177480" progId="Equation.DSMT4">
                        <p:embed/>
                      </p:oleObj>
                    </mc:Choice>
                    <mc:Fallback>
                      <p:oleObj name="Equation" r:id="rId3" imgW="164880" imgH="177480" progId="Equation.DSMT4">
                        <p:embed/>
                        <p:pic>
                          <p:nvPicPr>
                            <p:cNvPr id="29702" name="Object 2">
                              <a:extLst>
                                <a:ext uri="{FF2B5EF4-FFF2-40B4-BE49-F238E27FC236}">
                                  <a16:creationId xmlns:a16="http://schemas.microsoft.com/office/drawing/2014/main" id="{E5E28651-13BF-4991-BAAD-8DEE85BB9F3C}"/>
                                </a:ext>
                              </a:extLst>
                            </p:cNvPr>
                            <p:cNvPicPr>
                              <a:picLocks noChangeAspect="1" noChangeArrowheads="1"/>
                            </p:cNvPicPr>
                            <p:nvPr/>
                          </p:nvPicPr>
                          <p:blipFill>
                            <a:blip r:embed="rId4">
                              <a:extLst>
                                <a:ext uri="{28A0092B-C50C-407E-A947-70E740481C1C}">
                                  <a14:useLocalDpi val="0"/>
                                </a:ext>
                              </a:extLst>
                            </a:blip>
                            <a:srcRect/>
                            <a:stretch>
                              <a:fillRect/>
                            </a:stretch>
                          </p:blipFill>
                          <p:spPr bwMode="auto">
                            <a:xfrm>
                              <a:off x="2990" y="3325"/>
                              <a:ext cx="252" cy="272"/>
                            </a:xfrm>
                            <a:prstGeom prst="rect">
                              <a:avLst/>
                            </a:prstGeom>
                            <a:noFill/>
                            <a:ln>
                              <a:noFill/>
                            </a:ln>
                            <a:effectLst/>
                            <a:extLst>
                              <a:ext uri="{909E8E84-426E-40DD-AFC4-6F175D3DCCD1}">
                                <a14:hiddenFill>
                                  <a:solidFill>
                                    <a:schemeClr val="accent1"/>
                                  </a:solidFill>
                                </a14:hiddenFill>
                              </a:ext>
                              <a:ext uri="{91240B29-F687-4F45-9708-019B960494DF}">
                                <a14:hiddenLine w="2857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29702" name="Object 2">
                  <a:extLst>
                    <a:ext uri="{FF2B5EF4-FFF2-40B4-BE49-F238E27FC236}">
                      <a16:creationId xmlns:a16="http://schemas.microsoft.com/office/drawing/2014/main" id="{E5E28651-13BF-4991-BAAD-8DEE85BB9F3C}"/>
                    </a:ext>
                  </a:extLst>
                </p:cNvPr>
                <p:cNvGraphicFramePr>
                  <a:graphicFrameLocks noChangeAspect="1"/>
                </p:cNvGraphicFramePr>
                <p:nvPr/>
              </p:nvGraphicFramePr>
              <p:xfrm>
                <a:off x="2990" y="3325"/>
                <a:ext cx="252" cy="272"/>
              </p:xfrm>
              <a:graphic>
                <a:graphicData uri="http://schemas.openxmlformats.org/presentationml/2006/ole">
                  <mc:AlternateContent>
                    <mc:Choice xmlns:v="urn:schemas-microsoft-com:vml" Requires="v">
                      <p:oleObj name="Equation" r:id="rId5" imgW="164880" imgH="177480" progId="Equation.DSMT4">
                        <p:embed/>
                      </p:oleObj>
                    </mc:Choice>
                    <mc:Fallback>
                      <p:oleObj name="Equation" r:id="rId5" imgW="164880" imgH="177480" progId="Equation.DSMT4">
                        <p:embed/>
                        <p:pic>
                          <p:nvPicPr>
                            <p:cNvPr id="29702" name="Object 2">
                              <a:extLst>
                                <a:ext uri="{FF2B5EF4-FFF2-40B4-BE49-F238E27FC236}">
                                  <a16:creationId xmlns:a16="http://schemas.microsoft.com/office/drawing/2014/main" id="{E5E28651-13BF-4991-BAAD-8DEE85BB9F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0" y="3325"/>
                              <a:ext cx="252"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p:sp>
          <p:nvSpPr>
            <p:cNvPr id="29729" name="Line 15">
              <a:extLst>
                <a:ext uri="{FF2B5EF4-FFF2-40B4-BE49-F238E27FC236}">
                  <a16:creationId xmlns:a16="http://schemas.microsoft.com/office/drawing/2014/main" id="{9C56442D-2877-49AC-BD66-26E98D1159A2}"/>
                </a:ext>
              </a:extLst>
            </p:cNvPr>
            <p:cNvSpPr>
              <a:spLocks noChangeShapeType="1"/>
            </p:cNvSpPr>
            <p:nvPr/>
          </p:nvSpPr>
          <p:spPr bwMode="auto">
            <a:xfrm>
              <a:off x="3176" y="3477"/>
              <a:ext cx="36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9703" name="Object 3">
                  <a:extLst>
                    <a:ext uri="{FF2B5EF4-FFF2-40B4-BE49-F238E27FC236}">
                      <a16:creationId xmlns:a16="http://schemas.microsoft.com/office/drawing/2014/main" id="{9A0ADF1F-5438-4B08-A3A3-22BF62FAA537}"/>
                    </a:ext>
                  </a:extLst>
                </p:cNvPr>
                <p:cNvSpPr txBox="1"/>
                <p:nvPr/>
              </p:nvSpPr>
              <p:spPr bwMode="auto">
                <a:xfrm>
                  <a:off x="1020" y="3114"/>
                  <a:ext cx="500" cy="29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9703" name="Object 3">
                  <a:extLst>
                    <a:ext uri="{FF2B5EF4-FFF2-40B4-BE49-F238E27FC236}">
                      <a16:creationId xmlns:a16="http://schemas.microsoft.com/office/drawing/2014/main" id="{9A0ADF1F-5438-4B08-A3A3-22BF62FAA537}"/>
                    </a:ext>
                  </a:extLst>
                </p:cNvPr>
                <p:cNvSpPr txBox="1">
                  <a:spLocks noRot="1" noChangeAspect="1" noMove="1" noResize="1" noEditPoints="1" noAdjustHandles="1" noChangeArrowheads="1" noChangeShapeType="1" noTextEdit="1"/>
                </p:cNvSpPr>
                <p:nvPr/>
              </p:nvSpPr>
              <p:spPr bwMode="auto">
                <a:xfrm>
                  <a:off x="1020" y="3114"/>
                  <a:ext cx="500" cy="297"/>
                </a:xfrm>
                <a:prstGeom prst="rect">
                  <a:avLst/>
                </a:prstGeom>
                <a:blipFill>
                  <a:blip r:embed="rId7"/>
                  <a:stretch>
                    <a:fillRect b="-129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04" name="Object 4">
                  <a:extLst>
                    <a:ext uri="{FF2B5EF4-FFF2-40B4-BE49-F238E27FC236}">
                      <a16:creationId xmlns:a16="http://schemas.microsoft.com/office/drawing/2014/main" id="{9D6ABF6A-EEFA-4A32-A71B-B3E80D164B0C}"/>
                    </a:ext>
                  </a:extLst>
                </p:cNvPr>
                <p:cNvSpPr txBox="1"/>
                <p:nvPr/>
              </p:nvSpPr>
              <p:spPr bwMode="auto">
                <a:xfrm>
                  <a:off x="1020" y="3477"/>
                  <a:ext cx="543" cy="32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29704" name="Object 4">
                  <a:extLst>
                    <a:ext uri="{FF2B5EF4-FFF2-40B4-BE49-F238E27FC236}">
                      <a16:creationId xmlns:a16="http://schemas.microsoft.com/office/drawing/2014/main" id="{9D6ABF6A-EEFA-4A32-A71B-B3E80D164B0C}"/>
                    </a:ext>
                  </a:extLst>
                </p:cNvPr>
                <p:cNvSpPr txBox="1">
                  <a:spLocks noRot="1" noChangeAspect="1" noMove="1" noResize="1" noEditPoints="1" noAdjustHandles="1" noChangeArrowheads="1" noChangeShapeType="1" noTextEdit="1"/>
                </p:cNvSpPr>
                <p:nvPr/>
              </p:nvSpPr>
              <p:spPr bwMode="auto">
                <a:xfrm>
                  <a:off x="1020" y="3477"/>
                  <a:ext cx="543" cy="326"/>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05" name="Object 5">
                  <a:extLst>
                    <a:ext uri="{FF2B5EF4-FFF2-40B4-BE49-F238E27FC236}">
                      <a16:creationId xmlns:a16="http://schemas.microsoft.com/office/drawing/2014/main" id="{8EC2EA7C-9498-4BFE-89F3-EEA8193F5FDD}"/>
                    </a:ext>
                  </a:extLst>
                </p:cNvPr>
                <p:cNvSpPr txBox="1"/>
                <p:nvPr/>
              </p:nvSpPr>
              <p:spPr bwMode="auto">
                <a:xfrm>
                  <a:off x="3334" y="3114"/>
                  <a:ext cx="506" cy="33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𝑦</m:t>
                        </m:r>
                        <m:r>
                          <a:rPr lang="en-US" sz="280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9705" name="Object 5">
                  <a:extLst>
                    <a:ext uri="{FF2B5EF4-FFF2-40B4-BE49-F238E27FC236}">
                      <a16:creationId xmlns:a16="http://schemas.microsoft.com/office/drawing/2014/main" id="{8EC2EA7C-9498-4BFE-89F3-EEA8193F5FDD}"/>
                    </a:ext>
                  </a:extLst>
                </p:cNvPr>
                <p:cNvSpPr txBox="1">
                  <a:spLocks noRot="1" noChangeAspect="1" noMove="1" noResize="1" noEditPoints="1" noAdjustHandles="1" noChangeArrowheads="1" noChangeShapeType="1" noTextEdit="1"/>
                </p:cNvSpPr>
                <p:nvPr/>
              </p:nvSpPr>
              <p:spPr bwMode="auto">
                <a:xfrm>
                  <a:off x="3334" y="3114"/>
                  <a:ext cx="506" cy="330"/>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06" name="Object 6">
                  <a:extLst>
                    <a:ext uri="{FF2B5EF4-FFF2-40B4-BE49-F238E27FC236}">
                      <a16:creationId xmlns:a16="http://schemas.microsoft.com/office/drawing/2014/main" id="{3AEE0784-7A57-4062-82A8-F3DC61329E9E}"/>
                    </a:ext>
                  </a:extLst>
                </p:cNvPr>
                <p:cNvSpPr txBox="1"/>
                <p:nvPr/>
              </p:nvSpPr>
              <p:spPr bwMode="auto">
                <a:xfrm>
                  <a:off x="3334" y="3477"/>
                  <a:ext cx="552" cy="32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29706" name="Object 6">
                  <a:extLst>
                    <a:ext uri="{FF2B5EF4-FFF2-40B4-BE49-F238E27FC236}">
                      <a16:creationId xmlns:a16="http://schemas.microsoft.com/office/drawing/2014/main" id="{3AEE0784-7A57-4062-82A8-F3DC61329E9E}"/>
                    </a:ext>
                  </a:extLst>
                </p:cNvPr>
                <p:cNvSpPr txBox="1">
                  <a:spLocks noRot="1" noChangeAspect="1" noMove="1" noResize="1" noEditPoints="1" noAdjustHandles="1" noChangeArrowheads="1" noChangeShapeType="1" noTextEdit="1"/>
                </p:cNvSpPr>
                <p:nvPr/>
              </p:nvSpPr>
              <p:spPr bwMode="auto">
                <a:xfrm>
                  <a:off x="3334" y="3477"/>
                  <a:ext cx="552" cy="326"/>
                </a:xfrm>
                <a:prstGeom prst="rect">
                  <a:avLst/>
                </a:prstGeom>
                <a:blipFill>
                  <a:blip r:embed="rId10"/>
                  <a:stretch>
                    <a:fillRect/>
                  </a:stretch>
                </a:blipFill>
                <a:ln>
                  <a:noFill/>
                </a:ln>
                <a:effectLst/>
              </p:spPr>
              <p:txBody>
                <a:bodyPr/>
                <a:lstStyle/>
                <a:p>
                  <a:r>
                    <a:rPr lang="en-US">
                      <a:noFill/>
                    </a:rPr>
                    <a:t> </a:t>
                  </a:r>
                </a:p>
              </p:txBody>
            </p:sp>
          </mc:Fallback>
        </mc:AlternateContent>
      </p:grpSp>
      <p:sp>
        <p:nvSpPr>
          <p:cNvPr id="29711" name="Text Box 20">
            <a:extLst>
              <a:ext uri="{FF2B5EF4-FFF2-40B4-BE49-F238E27FC236}">
                <a16:creationId xmlns:a16="http://schemas.microsoft.com/office/drawing/2014/main" id="{FBC26C77-777F-4AE2-9EAB-9F1131F128DA}"/>
              </a:ext>
            </a:extLst>
          </p:cNvPr>
          <p:cNvSpPr txBox="1">
            <a:spLocks noChangeArrowheads="1"/>
          </p:cNvSpPr>
          <p:nvPr/>
        </p:nvSpPr>
        <p:spPr bwMode="auto">
          <a:xfrm>
            <a:off x="827088" y="1350963"/>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1. </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级联</a:t>
            </a:r>
            <a:endPar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grpSp>
        <p:nvGrpSpPr>
          <p:cNvPr id="29712" name="Group 21">
            <a:extLst>
              <a:ext uri="{FF2B5EF4-FFF2-40B4-BE49-F238E27FC236}">
                <a16:creationId xmlns:a16="http://schemas.microsoft.com/office/drawing/2014/main" id="{02D787A9-D0A5-42AF-9F49-2293BC3D02B9}"/>
              </a:ext>
            </a:extLst>
          </p:cNvPr>
          <p:cNvGrpSpPr>
            <a:grpSpLocks/>
          </p:cNvGrpSpPr>
          <p:nvPr/>
        </p:nvGrpSpPr>
        <p:grpSpPr bwMode="auto">
          <a:xfrm>
            <a:off x="1906588" y="2132854"/>
            <a:ext cx="5189582" cy="1137492"/>
            <a:chOff x="1201" y="1397"/>
            <a:chExt cx="3221" cy="625"/>
          </a:xfrm>
        </p:grpSpPr>
        <p:sp>
          <p:nvSpPr>
            <p:cNvPr id="29714" name="Rectangle 22">
              <a:extLst>
                <a:ext uri="{FF2B5EF4-FFF2-40B4-BE49-F238E27FC236}">
                  <a16:creationId xmlns:a16="http://schemas.microsoft.com/office/drawing/2014/main" id="{7954E1EC-6019-4383-A5EE-FC538F9D630D}"/>
                </a:ext>
              </a:extLst>
            </p:cNvPr>
            <p:cNvSpPr>
              <a:spLocks noChangeArrowheads="1"/>
            </p:cNvSpPr>
            <p:nvPr/>
          </p:nvSpPr>
          <p:spPr bwMode="auto">
            <a:xfrm>
              <a:off x="1836" y="1487"/>
              <a:ext cx="636" cy="409"/>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r>
                <a:rPr kumimoji="0" lang="en-US" altLang="zh-CN"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1</a:t>
              </a:r>
            </a:p>
          </p:txBody>
        </p:sp>
        <p:sp>
          <p:nvSpPr>
            <p:cNvPr id="29715" name="Rectangle 23">
              <a:extLst>
                <a:ext uri="{FF2B5EF4-FFF2-40B4-BE49-F238E27FC236}">
                  <a16:creationId xmlns:a16="http://schemas.microsoft.com/office/drawing/2014/main" id="{34275506-1259-447F-836A-261E19F64BBC}"/>
                </a:ext>
              </a:extLst>
            </p:cNvPr>
            <p:cNvSpPr>
              <a:spLocks noChangeArrowheads="1"/>
            </p:cNvSpPr>
            <p:nvPr/>
          </p:nvSpPr>
          <p:spPr bwMode="auto">
            <a:xfrm>
              <a:off x="3061" y="1487"/>
              <a:ext cx="636" cy="409"/>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r>
                <a:rPr kumimoji="0" lang="en-US" altLang="zh-CN"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2</a:t>
              </a:r>
            </a:p>
          </p:txBody>
        </p:sp>
        <p:sp>
          <p:nvSpPr>
            <p:cNvPr id="29716" name="Line 24">
              <a:extLst>
                <a:ext uri="{FF2B5EF4-FFF2-40B4-BE49-F238E27FC236}">
                  <a16:creationId xmlns:a16="http://schemas.microsoft.com/office/drawing/2014/main" id="{BAE612B8-DD13-4120-812B-CE42288B5FBD}"/>
                </a:ext>
              </a:extLst>
            </p:cNvPr>
            <p:cNvSpPr>
              <a:spLocks noChangeShapeType="1"/>
            </p:cNvSpPr>
            <p:nvPr/>
          </p:nvSpPr>
          <p:spPr bwMode="auto">
            <a:xfrm>
              <a:off x="1292" y="1714"/>
              <a:ext cx="54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9717" name="Line 25">
              <a:extLst>
                <a:ext uri="{FF2B5EF4-FFF2-40B4-BE49-F238E27FC236}">
                  <a16:creationId xmlns:a16="http://schemas.microsoft.com/office/drawing/2014/main" id="{E8C4335B-3A0A-49BF-8BCE-68537426CCBD}"/>
                </a:ext>
              </a:extLst>
            </p:cNvPr>
            <p:cNvSpPr>
              <a:spLocks noChangeShapeType="1"/>
            </p:cNvSpPr>
            <p:nvPr/>
          </p:nvSpPr>
          <p:spPr bwMode="auto">
            <a:xfrm>
              <a:off x="2472" y="1714"/>
              <a:ext cx="58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9718" name="Line 26">
              <a:extLst>
                <a:ext uri="{FF2B5EF4-FFF2-40B4-BE49-F238E27FC236}">
                  <a16:creationId xmlns:a16="http://schemas.microsoft.com/office/drawing/2014/main" id="{8FEFF842-9BE0-4A4A-9C29-A1FD603B20F5}"/>
                </a:ext>
              </a:extLst>
            </p:cNvPr>
            <p:cNvSpPr>
              <a:spLocks noChangeShapeType="1"/>
            </p:cNvSpPr>
            <p:nvPr/>
          </p:nvSpPr>
          <p:spPr bwMode="auto">
            <a:xfrm>
              <a:off x="3696" y="1714"/>
              <a:ext cx="49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9698" name="Object 7">
                  <a:extLst>
                    <a:ext uri="{FF2B5EF4-FFF2-40B4-BE49-F238E27FC236}">
                      <a16:creationId xmlns:a16="http://schemas.microsoft.com/office/drawing/2014/main" id="{330FD592-54F7-4277-97BF-2A4AD79CBCDF}"/>
                    </a:ext>
                  </a:extLst>
                </p:cNvPr>
                <p:cNvSpPr txBox="1"/>
                <p:nvPr/>
              </p:nvSpPr>
              <p:spPr bwMode="auto">
                <a:xfrm>
                  <a:off x="1201" y="1397"/>
                  <a:ext cx="499" cy="30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b="0" i="1">
                            <a:solidFill>
                              <a:srgbClr val="000000"/>
                            </a:solidFill>
                            <a:latin typeface="Cambria Math" panose="02040503050406030204" pitchFamily="18" charset="0"/>
                          </a:rPr>
                          <m:t>𝑥</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𝑡</m:t>
                        </m:r>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29698" name="Object 7">
                  <a:extLst>
                    <a:ext uri="{FF2B5EF4-FFF2-40B4-BE49-F238E27FC236}">
                      <a16:creationId xmlns:a16="http://schemas.microsoft.com/office/drawing/2014/main" id="{330FD592-54F7-4277-97BF-2A4AD79CBCDF}"/>
                    </a:ext>
                  </a:extLst>
                </p:cNvPr>
                <p:cNvSpPr txBox="1">
                  <a:spLocks noRot="1" noChangeAspect="1" noMove="1" noResize="1" noEditPoints="1" noAdjustHandles="1" noChangeArrowheads="1" noChangeShapeType="1" noTextEdit="1"/>
                </p:cNvSpPr>
                <p:nvPr/>
              </p:nvSpPr>
              <p:spPr bwMode="auto">
                <a:xfrm>
                  <a:off x="1201" y="1397"/>
                  <a:ext cx="499" cy="308"/>
                </a:xfrm>
                <a:prstGeom prst="rect">
                  <a:avLst/>
                </a:prstGeom>
                <a:blipFill>
                  <a:blip r:embed="rId11"/>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99" name="Object 8">
                  <a:extLst>
                    <a:ext uri="{FF2B5EF4-FFF2-40B4-BE49-F238E27FC236}">
                      <a16:creationId xmlns:a16="http://schemas.microsoft.com/office/drawing/2014/main" id="{00571F1B-9752-46AA-B301-6240E04208EB}"/>
                    </a:ext>
                  </a:extLst>
                </p:cNvPr>
                <p:cNvSpPr txBox="1"/>
                <p:nvPr/>
              </p:nvSpPr>
              <p:spPr bwMode="auto">
                <a:xfrm>
                  <a:off x="1201" y="1714"/>
                  <a:ext cx="544" cy="30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29699" name="Object 8">
                  <a:extLst>
                    <a:ext uri="{FF2B5EF4-FFF2-40B4-BE49-F238E27FC236}">
                      <a16:creationId xmlns:a16="http://schemas.microsoft.com/office/drawing/2014/main" id="{00571F1B-9752-46AA-B301-6240E04208EB}"/>
                    </a:ext>
                  </a:extLst>
                </p:cNvPr>
                <p:cNvSpPr txBox="1">
                  <a:spLocks noRot="1" noChangeAspect="1" noMove="1" noResize="1" noEditPoints="1" noAdjustHandles="1" noChangeArrowheads="1" noChangeShapeType="1" noTextEdit="1"/>
                </p:cNvSpPr>
                <p:nvPr/>
              </p:nvSpPr>
              <p:spPr bwMode="auto">
                <a:xfrm>
                  <a:off x="1201" y="1714"/>
                  <a:ext cx="544" cy="308"/>
                </a:xfrm>
                <a:prstGeom prst="rect">
                  <a:avLst/>
                </a:prstGeom>
                <a:blipFill>
                  <a:blip r:embed="rId1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00" name="Object 9">
                  <a:extLst>
                    <a:ext uri="{FF2B5EF4-FFF2-40B4-BE49-F238E27FC236}">
                      <a16:creationId xmlns:a16="http://schemas.microsoft.com/office/drawing/2014/main" id="{FC687795-6BF0-4B71-AC0F-D677797975A9}"/>
                    </a:ext>
                  </a:extLst>
                </p:cNvPr>
                <p:cNvSpPr txBox="1"/>
                <p:nvPr/>
              </p:nvSpPr>
              <p:spPr bwMode="auto">
                <a:xfrm>
                  <a:off x="3878" y="1397"/>
                  <a:ext cx="499" cy="30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𝑦</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9700" name="Object 9">
                  <a:extLst>
                    <a:ext uri="{FF2B5EF4-FFF2-40B4-BE49-F238E27FC236}">
                      <a16:creationId xmlns:a16="http://schemas.microsoft.com/office/drawing/2014/main" id="{FC687795-6BF0-4B71-AC0F-D677797975A9}"/>
                    </a:ext>
                  </a:extLst>
                </p:cNvPr>
                <p:cNvSpPr txBox="1">
                  <a:spLocks noRot="1" noChangeAspect="1" noMove="1" noResize="1" noEditPoints="1" noAdjustHandles="1" noChangeArrowheads="1" noChangeShapeType="1" noTextEdit="1"/>
                </p:cNvSpPr>
                <p:nvPr/>
              </p:nvSpPr>
              <p:spPr bwMode="auto">
                <a:xfrm>
                  <a:off x="3878" y="1397"/>
                  <a:ext cx="499" cy="308"/>
                </a:xfrm>
                <a:prstGeom prst="rect">
                  <a:avLst/>
                </a:prstGeom>
                <a:blipFill>
                  <a:blip r:embed="rId1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01" name="Object 10">
                  <a:extLst>
                    <a:ext uri="{FF2B5EF4-FFF2-40B4-BE49-F238E27FC236}">
                      <a16:creationId xmlns:a16="http://schemas.microsoft.com/office/drawing/2014/main" id="{3CE207C5-4CBB-4185-99F0-1F031883045F}"/>
                    </a:ext>
                  </a:extLst>
                </p:cNvPr>
                <p:cNvSpPr txBox="1"/>
                <p:nvPr/>
              </p:nvSpPr>
              <p:spPr bwMode="auto">
                <a:xfrm>
                  <a:off x="3878" y="1714"/>
                  <a:ext cx="544" cy="30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29701" name="Object 10">
                  <a:extLst>
                    <a:ext uri="{FF2B5EF4-FFF2-40B4-BE49-F238E27FC236}">
                      <a16:creationId xmlns:a16="http://schemas.microsoft.com/office/drawing/2014/main" id="{3CE207C5-4CBB-4185-99F0-1F031883045F}"/>
                    </a:ext>
                  </a:extLst>
                </p:cNvPr>
                <p:cNvSpPr txBox="1">
                  <a:spLocks noRot="1" noChangeAspect="1" noMove="1" noResize="1" noEditPoints="1" noAdjustHandles="1" noChangeArrowheads="1" noChangeShapeType="1" noTextEdit="1"/>
                </p:cNvSpPr>
                <p:nvPr/>
              </p:nvSpPr>
              <p:spPr bwMode="auto">
                <a:xfrm>
                  <a:off x="3878" y="1714"/>
                  <a:ext cx="544" cy="308"/>
                </a:xfrm>
                <a:prstGeom prst="rect">
                  <a:avLst/>
                </a:prstGeom>
                <a:blipFill>
                  <a:blip r:embed="rId14"/>
                  <a:stretch>
                    <a:fillRect/>
                  </a:stretch>
                </a:blipFill>
                <a:ln>
                  <a:noFill/>
                </a:ln>
                <a:effectLst/>
              </p:spPr>
              <p:txBody>
                <a:bodyPr/>
                <a:lstStyle/>
                <a:p>
                  <a:r>
                    <a:rPr lang="en-US">
                      <a:noFill/>
                    </a:rPr>
                    <a:t> </a:t>
                  </a:r>
                </a:p>
              </p:txBody>
            </p:sp>
          </mc:Fallback>
        </mc:AlternateContent>
      </p:grpSp>
      <p:sp>
        <p:nvSpPr>
          <p:cNvPr id="29713" name="TextBox 32">
            <a:extLst>
              <a:ext uri="{FF2B5EF4-FFF2-40B4-BE49-F238E27FC236}">
                <a16:creationId xmlns:a16="http://schemas.microsoft.com/office/drawing/2014/main" id="{1F445B8C-C626-4801-83BD-D217BF79AF2C}"/>
              </a:ext>
            </a:extLst>
          </p:cNvPr>
          <p:cNvSpPr txBox="1">
            <a:spLocks noChangeArrowheads="1"/>
          </p:cNvSpPr>
          <p:nvPr/>
        </p:nvSpPr>
        <p:spPr bwMode="auto">
          <a:xfrm>
            <a:off x="7000875" y="2918667"/>
            <a:ext cx="1714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mn-cs"/>
              </a:rPr>
              <a:t>方框图</a:t>
            </a:r>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8" name="标题 1">
            <a:extLst>
              <a:ext uri="{FF2B5EF4-FFF2-40B4-BE49-F238E27FC236}">
                <a16:creationId xmlns:a16="http://schemas.microsoft.com/office/drawing/2014/main" id="{8811221B-7A8E-4E44-8C0C-25394B4095C9}"/>
              </a:ext>
            </a:extLst>
          </p:cNvPr>
          <p:cNvSpPr>
            <a:spLocks noGrp="1"/>
          </p:cNvSpPr>
          <p:nvPr>
            <p:ph type="title"/>
          </p:nvPr>
        </p:nvSpPr>
        <p:spPr/>
        <p:txBody>
          <a:bodyPr/>
          <a:lstStyle/>
          <a:p>
            <a:r>
              <a:rPr lang="en-US" altLang="zh-CN"/>
              <a:t>1.5  </a:t>
            </a:r>
            <a:r>
              <a:rPr lang="zh-CN" altLang="en-US"/>
              <a:t>连续时间与离散时间系统</a:t>
            </a:r>
          </a:p>
        </p:txBody>
      </p:sp>
      <p:sp>
        <p:nvSpPr>
          <p:cNvPr id="4" name="灯片编号占位符 3">
            <a:extLst>
              <a:ext uri="{FF2B5EF4-FFF2-40B4-BE49-F238E27FC236}">
                <a16:creationId xmlns:a16="http://schemas.microsoft.com/office/drawing/2014/main" id="{ED5CC87D-F4A9-4275-BE8D-4BEF2926E1C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3D0F25A-F3BE-4E34-9F10-DF0872CE8F5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730" name="Text Box 2">
            <a:extLst>
              <a:ext uri="{FF2B5EF4-FFF2-40B4-BE49-F238E27FC236}">
                <a16:creationId xmlns:a16="http://schemas.microsoft.com/office/drawing/2014/main" id="{E164BD37-A4F7-47A0-8765-2C201AADF2C1}"/>
              </a:ext>
            </a:extLst>
          </p:cNvPr>
          <p:cNvSpPr txBox="1">
            <a:spLocks noChangeArrowheads="1"/>
          </p:cNvSpPr>
          <p:nvPr/>
        </p:nvSpPr>
        <p:spPr bwMode="auto">
          <a:xfrm>
            <a:off x="684213" y="3857625"/>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3. </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反馈联结</a:t>
            </a:r>
            <a:endPar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sp>
        <p:nvSpPr>
          <p:cNvPr id="30731" name="Line 3">
            <a:extLst>
              <a:ext uri="{FF2B5EF4-FFF2-40B4-BE49-F238E27FC236}">
                <a16:creationId xmlns:a16="http://schemas.microsoft.com/office/drawing/2014/main" id="{6FDA8081-AF3B-4670-8F31-F284B7F61989}"/>
              </a:ext>
            </a:extLst>
          </p:cNvPr>
          <p:cNvSpPr>
            <a:spLocks noChangeShapeType="1"/>
          </p:cNvSpPr>
          <p:nvPr/>
        </p:nvSpPr>
        <p:spPr bwMode="auto">
          <a:xfrm>
            <a:off x="1997075" y="5037138"/>
            <a:ext cx="1163638" cy="1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30722" name="Object 2">
            <a:extLst>
              <a:ext uri="{FF2B5EF4-FFF2-40B4-BE49-F238E27FC236}">
                <a16:creationId xmlns:a16="http://schemas.microsoft.com/office/drawing/2014/main" id="{D4E50723-A617-41F8-A014-C537E8BE684D}"/>
              </a:ext>
            </a:extLst>
          </p:cNvPr>
          <p:cNvGraphicFramePr>
            <a:graphicFrameLocks noChangeAspect="1"/>
          </p:cNvGraphicFramePr>
          <p:nvPr>
            <p:extLst>
              <p:ext uri="{D42A27DB-BD31-4B8C-83A1-F6EECF244321}">
                <p14:modId xmlns:p14="http://schemas.microsoft.com/office/powerpoint/2010/main" val="622624059"/>
              </p:ext>
            </p:extLst>
          </p:nvPr>
        </p:nvGraphicFramePr>
        <p:xfrm>
          <a:off x="3081338" y="4773613"/>
          <a:ext cx="454025" cy="574675"/>
        </p:xfrm>
        <a:graphic>
          <a:graphicData uri="http://schemas.openxmlformats.org/presentationml/2006/ole">
            <mc:AlternateContent xmlns:mc="http://schemas.openxmlformats.org/markup-compatibility/2006">
              <mc:Choice xmlns:v="urn:schemas-microsoft-com:vml" Requires="v">
                <p:oleObj spid="_x0000_s10476" name="Equation" r:id="rId3" imgW="164880" imgH="177480" progId="Equation.DSMT4">
                  <p:embed/>
                </p:oleObj>
              </mc:Choice>
              <mc:Fallback>
                <p:oleObj name="Equation" r:id="rId3" imgW="164880" imgH="177480" progId="Equation.DSMT4">
                  <p:embed/>
                  <p:pic>
                    <p:nvPicPr>
                      <p:cNvPr id="30722" name="Object 2">
                        <a:extLst>
                          <a:ext uri="{FF2B5EF4-FFF2-40B4-BE49-F238E27FC236}">
                            <a16:creationId xmlns:a16="http://schemas.microsoft.com/office/drawing/2014/main" id="{D4E50723-A617-41F8-A014-C537E8BE68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1338" y="4773613"/>
                        <a:ext cx="454025" cy="574675"/>
                      </a:xfrm>
                      <a:prstGeom prst="rect">
                        <a:avLst/>
                      </a:prstGeom>
                      <a:noFill/>
                      <a:ln>
                        <a:noFill/>
                      </a:ln>
                      <a:effectLst/>
                      <a:extLst>
                        <a:ext uri="{909E8E84-426E-40DD-AFC4-6F175D3DCCD1}">
                          <a14:hiddenFill xmlns:a14="http://schemas.microsoft.com/office/drawing/2010/main">
                            <a:solidFill>
                              <a:srgbClr val="81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33" name="Rectangle 6">
            <a:extLst>
              <a:ext uri="{FF2B5EF4-FFF2-40B4-BE49-F238E27FC236}">
                <a16:creationId xmlns:a16="http://schemas.microsoft.com/office/drawing/2014/main" id="{6F56BE91-7D2A-4A86-9EB1-2C9FD46B04FC}"/>
              </a:ext>
            </a:extLst>
          </p:cNvPr>
          <p:cNvSpPr>
            <a:spLocks noChangeArrowheads="1"/>
          </p:cNvSpPr>
          <p:nvPr/>
        </p:nvSpPr>
        <p:spPr bwMode="auto">
          <a:xfrm>
            <a:off x="4099850" y="4718050"/>
            <a:ext cx="1073150" cy="649287"/>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kumimoji="0" lang="zh-CN" altLang="en-US"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r>
              <a:rPr kumimoji="0" lang="en-US" altLang="zh-CN"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1</a:t>
            </a:r>
          </a:p>
        </p:txBody>
      </p:sp>
      <p:sp>
        <p:nvSpPr>
          <p:cNvPr id="30734" name="Line 7">
            <a:extLst>
              <a:ext uri="{FF2B5EF4-FFF2-40B4-BE49-F238E27FC236}">
                <a16:creationId xmlns:a16="http://schemas.microsoft.com/office/drawing/2014/main" id="{F71AFDC6-8C4F-42BC-AEEA-367994070900}"/>
              </a:ext>
            </a:extLst>
          </p:cNvPr>
          <p:cNvSpPr>
            <a:spLocks noChangeShapeType="1"/>
          </p:cNvSpPr>
          <p:nvPr/>
        </p:nvSpPr>
        <p:spPr bwMode="auto">
          <a:xfrm flipV="1">
            <a:off x="3489325" y="5029200"/>
            <a:ext cx="606425" cy="1111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35" name="Line 8">
            <a:extLst>
              <a:ext uri="{FF2B5EF4-FFF2-40B4-BE49-F238E27FC236}">
                <a16:creationId xmlns:a16="http://schemas.microsoft.com/office/drawing/2014/main" id="{5B2714F7-D4C0-4D67-A645-04A662A98948}"/>
              </a:ext>
            </a:extLst>
          </p:cNvPr>
          <p:cNvSpPr>
            <a:spLocks noChangeShapeType="1"/>
          </p:cNvSpPr>
          <p:nvPr/>
        </p:nvSpPr>
        <p:spPr bwMode="auto">
          <a:xfrm flipH="1" flipV="1">
            <a:off x="3327399" y="6156324"/>
            <a:ext cx="763587" cy="11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36" name="Line 9">
            <a:extLst>
              <a:ext uri="{FF2B5EF4-FFF2-40B4-BE49-F238E27FC236}">
                <a16:creationId xmlns:a16="http://schemas.microsoft.com/office/drawing/2014/main" id="{A47DCD01-49AB-4FC6-8133-BF5DF6D2BF15}"/>
              </a:ext>
            </a:extLst>
          </p:cNvPr>
          <p:cNvSpPr>
            <a:spLocks noChangeShapeType="1"/>
          </p:cNvSpPr>
          <p:nvPr/>
        </p:nvSpPr>
        <p:spPr bwMode="auto">
          <a:xfrm flipV="1">
            <a:off x="3327400" y="5219700"/>
            <a:ext cx="1588" cy="9350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37" name="Line 10">
            <a:extLst>
              <a:ext uri="{FF2B5EF4-FFF2-40B4-BE49-F238E27FC236}">
                <a16:creationId xmlns:a16="http://schemas.microsoft.com/office/drawing/2014/main" id="{84A058CC-B843-4E4F-8577-6AAFE5D3BE51}"/>
              </a:ext>
            </a:extLst>
          </p:cNvPr>
          <p:cNvSpPr>
            <a:spLocks noChangeShapeType="1"/>
          </p:cNvSpPr>
          <p:nvPr/>
        </p:nvSpPr>
        <p:spPr bwMode="auto">
          <a:xfrm>
            <a:off x="5172999" y="5014913"/>
            <a:ext cx="8515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38" name="Line 11">
            <a:extLst>
              <a:ext uri="{FF2B5EF4-FFF2-40B4-BE49-F238E27FC236}">
                <a16:creationId xmlns:a16="http://schemas.microsoft.com/office/drawing/2014/main" id="{C8EA0DF5-B0DD-4124-BACF-6330BCF6E323}"/>
              </a:ext>
            </a:extLst>
          </p:cNvPr>
          <p:cNvSpPr>
            <a:spLocks noChangeShapeType="1"/>
          </p:cNvSpPr>
          <p:nvPr/>
        </p:nvSpPr>
        <p:spPr bwMode="auto">
          <a:xfrm>
            <a:off x="5991225" y="5016500"/>
            <a:ext cx="1588" cy="11509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39" name="Line 12">
            <a:extLst>
              <a:ext uri="{FF2B5EF4-FFF2-40B4-BE49-F238E27FC236}">
                <a16:creationId xmlns:a16="http://schemas.microsoft.com/office/drawing/2014/main" id="{E9C2349D-6242-4CFB-B1B0-8E6B120837D1}"/>
              </a:ext>
            </a:extLst>
          </p:cNvPr>
          <p:cNvSpPr>
            <a:spLocks noChangeShapeType="1"/>
          </p:cNvSpPr>
          <p:nvPr/>
        </p:nvSpPr>
        <p:spPr bwMode="auto">
          <a:xfrm flipH="1" flipV="1">
            <a:off x="5168899" y="6154738"/>
            <a:ext cx="817563" cy="31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40" name="Line 13">
            <a:extLst>
              <a:ext uri="{FF2B5EF4-FFF2-40B4-BE49-F238E27FC236}">
                <a16:creationId xmlns:a16="http://schemas.microsoft.com/office/drawing/2014/main" id="{A93B7734-A005-492E-9640-2E184D9685DF}"/>
              </a:ext>
            </a:extLst>
          </p:cNvPr>
          <p:cNvSpPr>
            <a:spLocks noChangeShapeType="1"/>
          </p:cNvSpPr>
          <p:nvPr/>
        </p:nvSpPr>
        <p:spPr bwMode="auto">
          <a:xfrm>
            <a:off x="5986463" y="5014913"/>
            <a:ext cx="1101725" cy="1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0723" name="Object 3">
                <a:extLst>
                  <a:ext uri="{FF2B5EF4-FFF2-40B4-BE49-F238E27FC236}">
                    <a16:creationId xmlns:a16="http://schemas.microsoft.com/office/drawing/2014/main" id="{118C76E2-C5BD-4614-8B4A-8698592E43A2}"/>
                  </a:ext>
                </a:extLst>
              </p:cNvPr>
              <p:cNvSpPr txBox="1"/>
              <p:nvPr/>
            </p:nvSpPr>
            <p:spPr bwMode="auto">
              <a:xfrm>
                <a:off x="1816099" y="5034161"/>
                <a:ext cx="870989" cy="566738"/>
              </a:xfrm>
              <a:prstGeom prst="rect">
                <a:avLst/>
              </a:prstGeom>
              <a:noFill/>
              <a:ln>
                <a:noFill/>
              </a:ln>
              <a:effectLst/>
            </p:spPr>
            <p:txBody>
              <a:bodyPr>
                <a:noAutofit/>
              </a:bodyPr>
              <a:lstStyle/>
              <a:p>
                <a14:m>
                  <m:oMath xmlns:m="http://schemas.openxmlformats.org/officeDocument/2006/math">
                    <m:r>
                      <a:rPr lang="en-US" sz="2800" i="1" smtClean="0">
                        <a:solidFill>
                          <a:srgbClr val="000000"/>
                        </a:solidFill>
                        <a:latin typeface="Cambria Math" panose="02040503050406030204" pitchFamily="18" charset="0"/>
                        <a:ea typeface="Cambria Math" panose="02040503050406030204" pitchFamily="18" charset="0"/>
                      </a:rPr>
                      <m:t>𝑥</m:t>
                    </m:r>
                    <m:r>
                      <a:rPr lang="en-US" sz="2800" b="0" i="1" smtClean="0">
                        <a:solidFill>
                          <a:srgbClr val="000000"/>
                        </a:solidFill>
                        <a:latin typeface="Cambria Math" panose="02040503050406030204" pitchFamily="18" charset="0"/>
                        <a:ea typeface="Cambria Math" panose="02040503050406030204" pitchFamily="18" charset="0"/>
                      </a:rPr>
                      <m:t>[</m:t>
                    </m:r>
                    <m:r>
                      <a:rPr lang="en-US" sz="2800" i="1">
                        <a:solidFill>
                          <a:srgbClr val="000000"/>
                        </a:solidFill>
                        <a:latin typeface="Cambria Math" panose="02040503050406030204" pitchFamily="18" charset="0"/>
                        <a:ea typeface="Cambria Math" panose="02040503050406030204" pitchFamily="18" charset="0"/>
                      </a:rPr>
                      <m:t>𝑛</m:t>
                    </m:r>
                  </m:oMath>
                </a14:m>
                <a:r>
                  <a:rPr lang="en-US" sz="2800" dirty="0">
                    <a:latin typeface="Cambria Math" panose="02040503050406030204" pitchFamily="18" charset="0"/>
                    <a:ea typeface="Cambria Math" panose="02040503050406030204" pitchFamily="18" charset="0"/>
                  </a:rPr>
                  <a:t>]</a:t>
                </a:r>
              </a:p>
            </p:txBody>
          </p:sp>
        </mc:Choice>
        <mc:Fallback xmlns="">
          <p:sp>
            <p:nvSpPr>
              <p:cNvPr id="30723" name="Object 3">
                <a:extLst>
                  <a:ext uri="{FF2B5EF4-FFF2-40B4-BE49-F238E27FC236}">
                    <a16:creationId xmlns:a16="http://schemas.microsoft.com/office/drawing/2014/main" id="{118C76E2-C5BD-4614-8B4A-8698592E43A2}"/>
                  </a:ext>
                </a:extLst>
              </p:cNvPr>
              <p:cNvSpPr txBox="1">
                <a:spLocks noRot="1" noChangeAspect="1" noMove="1" noResize="1" noEditPoints="1" noAdjustHandles="1" noChangeArrowheads="1" noChangeShapeType="1" noTextEdit="1"/>
              </p:cNvSpPr>
              <p:nvPr/>
            </p:nvSpPr>
            <p:spPr bwMode="auto">
              <a:xfrm>
                <a:off x="1816099" y="5034161"/>
                <a:ext cx="870989" cy="566738"/>
              </a:xfrm>
              <a:prstGeom prst="rect">
                <a:avLst/>
              </a:prstGeom>
              <a:blipFill>
                <a:blip r:embed="rId5"/>
                <a:stretch>
                  <a:fillRect t="-11828" r="-10490" b="-2150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724" name="Object 4">
                <a:extLst>
                  <a:ext uri="{FF2B5EF4-FFF2-40B4-BE49-F238E27FC236}">
                    <a16:creationId xmlns:a16="http://schemas.microsoft.com/office/drawing/2014/main" id="{A8C2FDCB-361D-4C72-833F-53EEE48BCCA6}"/>
                  </a:ext>
                </a:extLst>
              </p:cNvPr>
              <p:cNvSpPr txBox="1"/>
              <p:nvPr/>
            </p:nvSpPr>
            <p:spPr bwMode="auto">
              <a:xfrm>
                <a:off x="1816099" y="4437112"/>
                <a:ext cx="762001" cy="5191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30724" name="Object 4">
                <a:extLst>
                  <a:ext uri="{FF2B5EF4-FFF2-40B4-BE49-F238E27FC236}">
                    <a16:creationId xmlns:a16="http://schemas.microsoft.com/office/drawing/2014/main" id="{A8C2FDCB-361D-4C72-833F-53EEE48BCCA6}"/>
                  </a:ext>
                </a:extLst>
              </p:cNvPr>
              <p:cNvSpPr txBox="1">
                <a:spLocks noRot="1" noChangeAspect="1" noMove="1" noResize="1" noEditPoints="1" noAdjustHandles="1" noChangeArrowheads="1" noChangeShapeType="1" noTextEdit="1"/>
              </p:cNvSpPr>
              <p:nvPr/>
            </p:nvSpPr>
            <p:spPr bwMode="auto">
              <a:xfrm>
                <a:off x="1816099" y="4437112"/>
                <a:ext cx="762001" cy="519113"/>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725" name="Object 5">
                <a:extLst>
                  <a:ext uri="{FF2B5EF4-FFF2-40B4-BE49-F238E27FC236}">
                    <a16:creationId xmlns:a16="http://schemas.microsoft.com/office/drawing/2014/main" id="{D886C4A7-D511-4495-9A43-D2625BECE909}"/>
                  </a:ext>
                </a:extLst>
              </p:cNvPr>
              <p:cNvSpPr txBox="1"/>
              <p:nvPr/>
            </p:nvSpPr>
            <p:spPr bwMode="auto">
              <a:xfrm>
                <a:off x="6496050" y="4429161"/>
                <a:ext cx="760413" cy="5032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𝑦</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30725" name="Object 5">
                <a:extLst>
                  <a:ext uri="{FF2B5EF4-FFF2-40B4-BE49-F238E27FC236}">
                    <a16:creationId xmlns:a16="http://schemas.microsoft.com/office/drawing/2014/main" id="{D886C4A7-D511-4495-9A43-D2625BECE909}"/>
                  </a:ext>
                </a:extLst>
              </p:cNvPr>
              <p:cNvSpPr txBox="1">
                <a:spLocks noRot="1" noChangeAspect="1" noMove="1" noResize="1" noEditPoints="1" noAdjustHandles="1" noChangeArrowheads="1" noChangeShapeType="1" noTextEdit="1"/>
              </p:cNvSpPr>
              <p:nvPr/>
            </p:nvSpPr>
            <p:spPr bwMode="auto">
              <a:xfrm>
                <a:off x="6496050" y="4429161"/>
                <a:ext cx="760413" cy="503238"/>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726" name="Object 6">
                <a:extLst>
                  <a:ext uri="{FF2B5EF4-FFF2-40B4-BE49-F238E27FC236}">
                    <a16:creationId xmlns:a16="http://schemas.microsoft.com/office/drawing/2014/main" id="{B5E70BE2-817D-457B-AB41-E2017F754941}"/>
                  </a:ext>
                </a:extLst>
              </p:cNvPr>
              <p:cNvSpPr txBox="1"/>
              <p:nvPr/>
            </p:nvSpPr>
            <p:spPr bwMode="auto">
              <a:xfrm>
                <a:off x="6496050" y="5018313"/>
                <a:ext cx="822325" cy="5370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m:oMathPara>
                </a14:m>
                <a:endParaRPr lang="en-US" sz="2800" dirty="0"/>
              </a:p>
            </p:txBody>
          </p:sp>
        </mc:Choice>
        <mc:Fallback xmlns="">
          <p:sp>
            <p:nvSpPr>
              <p:cNvPr id="30726" name="Object 6">
                <a:extLst>
                  <a:ext uri="{FF2B5EF4-FFF2-40B4-BE49-F238E27FC236}">
                    <a16:creationId xmlns:a16="http://schemas.microsoft.com/office/drawing/2014/main" id="{B5E70BE2-817D-457B-AB41-E2017F754941}"/>
                  </a:ext>
                </a:extLst>
              </p:cNvPr>
              <p:cNvSpPr txBox="1">
                <a:spLocks noRot="1" noChangeAspect="1" noMove="1" noResize="1" noEditPoints="1" noAdjustHandles="1" noChangeArrowheads="1" noChangeShapeType="1" noTextEdit="1"/>
              </p:cNvSpPr>
              <p:nvPr/>
            </p:nvSpPr>
            <p:spPr bwMode="auto">
              <a:xfrm>
                <a:off x="6496050" y="5018313"/>
                <a:ext cx="822325" cy="537037"/>
              </a:xfrm>
              <a:prstGeom prst="rect">
                <a:avLst/>
              </a:prstGeom>
              <a:blipFill>
                <a:blip r:embed="rId8"/>
                <a:stretch>
                  <a:fillRect/>
                </a:stretch>
              </a:blipFill>
              <a:ln>
                <a:noFill/>
              </a:ln>
              <a:effectLst/>
            </p:spPr>
            <p:txBody>
              <a:bodyPr/>
              <a:lstStyle/>
              <a:p>
                <a:r>
                  <a:rPr lang="en-US">
                    <a:noFill/>
                  </a:rPr>
                  <a:t> </a:t>
                </a:r>
              </a:p>
            </p:txBody>
          </p:sp>
        </mc:Fallback>
      </mc:AlternateContent>
      <p:sp>
        <p:nvSpPr>
          <p:cNvPr id="30742" name="Line 19">
            <a:extLst>
              <a:ext uri="{FF2B5EF4-FFF2-40B4-BE49-F238E27FC236}">
                <a16:creationId xmlns:a16="http://schemas.microsoft.com/office/drawing/2014/main" id="{5E0B4F43-3B72-454C-9B33-3158C5A00E19}"/>
              </a:ext>
            </a:extLst>
          </p:cNvPr>
          <p:cNvSpPr>
            <a:spLocks noChangeShapeType="1"/>
          </p:cNvSpPr>
          <p:nvPr/>
        </p:nvSpPr>
        <p:spPr bwMode="auto">
          <a:xfrm>
            <a:off x="3398838" y="5362575"/>
            <a:ext cx="217487" cy="0"/>
          </a:xfrm>
          <a:prstGeom prst="line">
            <a:avLst/>
          </a:prstGeom>
          <a:noFill/>
          <a:ln w="28575">
            <a:solidFill>
              <a:srgbClr val="000808"/>
            </a:solidFill>
            <a:round/>
            <a:headEnd/>
            <a:tailEnd/>
          </a:ln>
          <a:extLst>
            <a:ext uri="{909E8E84-426E-40DD-AFC4-6F175D3DCCD1}">
              <a14:hiddenFill xmlns:a14="http://schemas.microsoft.com/office/drawing/2010/main">
                <a:noFill/>
              </a14:hiddenFill>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43" name="Text Box 20">
            <a:extLst>
              <a:ext uri="{FF2B5EF4-FFF2-40B4-BE49-F238E27FC236}">
                <a16:creationId xmlns:a16="http://schemas.microsoft.com/office/drawing/2014/main" id="{5B3045C1-2AC6-41E8-BDE6-7495728B469C}"/>
              </a:ext>
            </a:extLst>
          </p:cNvPr>
          <p:cNvSpPr txBox="1">
            <a:spLocks noChangeArrowheads="1"/>
          </p:cNvSpPr>
          <p:nvPr/>
        </p:nvSpPr>
        <p:spPr bwMode="auto">
          <a:xfrm>
            <a:off x="755650" y="1198563"/>
            <a:ext cx="7651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工程实际中也经常将级联、并联混合使用，如：</a:t>
            </a:r>
          </a:p>
        </p:txBody>
      </p:sp>
      <p:sp>
        <p:nvSpPr>
          <p:cNvPr id="30744" name="Rectangle 21">
            <a:extLst>
              <a:ext uri="{FF2B5EF4-FFF2-40B4-BE49-F238E27FC236}">
                <a16:creationId xmlns:a16="http://schemas.microsoft.com/office/drawing/2014/main" id="{5947106D-5449-46F9-BE70-962BF5882BB7}"/>
              </a:ext>
            </a:extLst>
          </p:cNvPr>
          <p:cNvSpPr>
            <a:spLocks noChangeArrowheads="1"/>
          </p:cNvSpPr>
          <p:nvPr/>
        </p:nvSpPr>
        <p:spPr bwMode="auto">
          <a:xfrm>
            <a:off x="2552943" y="1928813"/>
            <a:ext cx="1009650" cy="649287"/>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r>
              <a:rPr kumimoji="0" lang="en-US" altLang="zh-CN"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1</a:t>
            </a:r>
          </a:p>
        </p:txBody>
      </p:sp>
      <p:sp>
        <p:nvSpPr>
          <p:cNvPr id="30745" name="Rectangle 22">
            <a:extLst>
              <a:ext uri="{FF2B5EF4-FFF2-40B4-BE49-F238E27FC236}">
                <a16:creationId xmlns:a16="http://schemas.microsoft.com/office/drawing/2014/main" id="{BB95BE14-23FB-49CF-B792-0415C662BDA5}"/>
              </a:ext>
            </a:extLst>
          </p:cNvPr>
          <p:cNvSpPr>
            <a:spLocks noChangeArrowheads="1"/>
          </p:cNvSpPr>
          <p:nvPr/>
        </p:nvSpPr>
        <p:spPr bwMode="auto">
          <a:xfrm>
            <a:off x="4354755" y="1928813"/>
            <a:ext cx="1009650" cy="649287"/>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r>
              <a:rPr kumimoji="0" lang="en-US" altLang="zh-CN"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2</a:t>
            </a:r>
          </a:p>
        </p:txBody>
      </p:sp>
      <p:sp>
        <p:nvSpPr>
          <p:cNvPr id="30746" name="Line 23">
            <a:extLst>
              <a:ext uri="{FF2B5EF4-FFF2-40B4-BE49-F238E27FC236}">
                <a16:creationId xmlns:a16="http://schemas.microsoft.com/office/drawing/2014/main" id="{1500C664-8D86-4D18-B98D-50E3AB638D75}"/>
              </a:ext>
            </a:extLst>
          </p:cNvPr>
          <p:cNvSpPr>
            <a:spLocks noChangeShapeType="1"/>
          </p:cNvSpPr>
          <p:nvPr/>
        </p:nvSpPr>
        <p:spPr bwMode="auto">
          <a:xfrm>
            <a:off x="971600" y="2870200"/>
            <a:ext cx="720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47" name="Line 24">
            <a:extLst>
              <a:ext uri="{FF2B5EF4-FFF2-40B4-BE49-F238E27FC236}">
                <a16:creationId xmlns:a16="http://schemas.microsoft.com/office/drawing/2014/main" id="{5642A105-FF4F-4FB2-AA79-D3E276D91221}"/>
              </a:ext>
            </a:extLst>
          </p:cNvPr>
          <p:cNvSpPr>
            <a:spLocks noChangeShapeType="1"/>
          </p:cNvSpPr>
          <p:nvPr/>
        </p:nvSpPr>
        <p:spPr bwMode="auto">
          <a:xfrm flipV="1">
            <a:off x="1690930" y="2289175"/>
            <a:ext cx="0" cy="10810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48" name="Line 25">
            <a:extLst>
              <a:ext uri="{FF2B5EF4-FFF2-40B4-BE49-F238E27FC236}">
                <a16:creationId xmlns:a16="http://schemas.microsoft.com/office/drawing/2014/main" id="{2452A318-9039-40A5-9ADB-DBEFE54A678E}"/>
              </a:ext>
            </a:extLst>
          </p:cNvPr>
          <p:cNvSpPr>
            <a:spLocks noChangeShapeType="1"/>
          </p:cNvSpPr>
          <p:nvPr/>
        </p:nvSpPr>
        <p:spPr bwMode="auto">
          <a:xfrm>
            <a:off x="1690930" y="2289175"/>
            <a:ext cx="863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49" name="Line 26">
            <a:extLst>
              <a:ext uri="{FF2B5EF4-FFF2-40B4-BE49-F238E27FC236}">
                <a16:creationId xmlns:a16="http://schemas.microsoft.com/office/drawing/2014/main" id="{CC876D05-6988-4A5F-9AF5-3B82BA40353D}"/>
              </a:ext>
            </a:extLst>
          </p:cNvPr>
          <p:cNvSpPr>
            <a:spLocks noChangeShapeType="1"/>
          </p:cNvSpPr>
          <p:nvPr/>
        </p:nvSpPr>
        <p:spPr bwMode="auto">
          <a:xfrm>
            <a:off x="3562593" y="2289175"/>
            <a:ext cx="79216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50" name="Rectangle 27">
            <a:extLst>
              <a:ext uri="{FF2B5EF4-FFF2-40B4-BE49-F238E27FC236}">
                <a16:creationId xmlns:a16="http://schemas.microsoft.com/office/drawing/2014/main" id="{861BC6CF-B073-46B6-A597-715BB3937B22}"/>
              </a:ext>
            </a:extLst>
          </p:cNvPr>
          <p:cNvSpPr>
            <a:spLocks noChangeArrowheads="1"/>
          </p:cNvSpPr>
          <p:nvPr/>
        </p:nvSpPr>
        <p:spPr bwMode="auto">
          <a:xfrm>
            <a:off x="2554530" y="3009900"/>
            <a:ext cx="1009650" cy="649288"/>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r>
              <a:rPr kumimoji="0" lang="en-US" altLang="zh-CN"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3</a:t>
            </a:r>
          </a:p>
        </p:txBody>
      </p:sp>
      <p:sp>
        <p:nvSpPr>
          <p:cNvPr id="30751" name="Line 28">
            <a:extLst>
              <a:ext uri="{FF2B5EF4-FFF2-40B4-BE49-F238E27FC236}">
                <a16:creationId xmlns:a16="http://schemas.microsoft.com/office/drawing/2014/main" id="{C27DBF2E-F75E-4B5C-B762-E9383DC84430}"/>
              </a:ext>
            </a:extLst>
          </p:cNvPr>
          <p:cNvSpPr>
            <a:spLocks noChangeShapeType="1"/>
          </p:cNvSpPr>
          <p:nvPr/>
        </p:nvSpPr>
        <p:spPr bwMode="auto">
          <a:xfrm>
            <a:off x="1690930" y="3370263"/>
            <a:ext cx="863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52" name="Line 29">
            <a:extLst>
              <a:ext uri="{FF2B5EF4-FFF2-40B4-BE49-F238E27FC236}">
                <a16:creationId xmlns:a16="http://schemas.microsoft.com/office/drawing/2014/main" id="{4ADAEBCD-1D11-4EFC-BEA3-3036F17CF30E}"/>
              </a:ext>
            </a:extLst>
          </p:cNvPr>
          <p:cNvSpPr>
            <a:spLocks noChangeShapeType="1"/>
          </p:cNvSpPr>
          <p:nvPr/>
        </p:nvSpPr>
        <p:spPr bwMode="auto">
          <a:xfrm>
            <a:off x="3562593" y="3370263"/>
            <a:ext cx="23764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53" name="Line 30">
            <a:extLst>
              <a:ext uri="{FF2B5EF4-FFF2-40B4-BE49-F238E27FC236}">
                <a16:creationId xmlns:a16="http://schemas.microsoft.com/office/drawing/2014/main" id="{55EE6A72-9149-4D21-8D2B-0CD22AFD3B09}"/>
              </a:ext>
            </a:extLst>
          </p:cNvPr>
          <p:cNvSpPr>
            <a:spLocks noChangeShapeType="1"/>
          </p:cNvSpPr>
          <p:nvPr/>
        </p:nvSpPr>
        <p:spPr bwMode="auto">
          <a:xfrm>
            <a:off x="5362818" y="2289175"/>
            <a:ext cx="5762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54" name="Line 31">
            <a:extLst>
              <a:ext uri="{FF2B5EF4-FFF2-40B4-BE49-F238E27FC236}">
                <a16:creationId xmlns:a16="http://schemas.microsoft.com/office/drawing/2014/main" id="{12245457-2C50-48DF-8A51-B223F6E424DB}"/>
              </a:ext>
            </a:extLst>
          </p:cNvPr>
          <p:cNvSpPr>
            <a:spLocks noChangeShapeType="1"/>
          </p:cNvSpPr>
          <p:nvPr/>
        </p:nvSpPr>
        <p:spPr bwMode="auto">
          <a:xfrm>
            <a:off x="5939080" y="2289175"/>
            <a:ext cx="0" cy="4318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55" name="Line 32">
            <a:extLst>
              <a:ext uri="{FF2B5EF4-FFF2-40B4-BE49-F238E27FC236}">
                <a16:creationId xmlns:a16="http://schemas.microsoft.com/office/drawing/2014/main" id="{7CAF0B79-99D0-4B39-A9FD-0F20BBA49B13}"/>
              </a:ext>
            </a:extLst>
          </p:cNvPr>
          <p:cNvSpPr>
            <a:spLocks noChangeShapeType="1"/>
          </p:cNvSpPr>
          <p:nvPr/>
        </p:nvSpPr>
        <p:spPr bwMode="auto">
          <a:xfrm flipV="1">
            <a:off x="5939080" y="3009900"/>
            <a:ext cx="0" cy="3603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30727" name="Object 7">
            <a:extLst>
              <a:ext uri="{FF2B5EF4-FFF2-40B4-BE49-F238E27FC236}">
                <a16:creationId xmlns:a16="http://schemas.microsoft.com/office/drawing/2014/main" id="{5A7C1AAD-D9C1-454D-B4E6-9E5B66DDBFA9}"/>
              </a:ext>
            </a:extLst>
          </p:cNvPr>
          <p:cNvGraphicFramePr>
            <a:graphicFrameLocks noChangeAspect="1"/>
          </p:cNvGraphicFramePr>
          <p:nvPr>
            <p:extLst>
              <p:ext uri="{D42A27DB-BD31-4B8C-83A1-F6EECF244321}">
                <p14:modId xmlns:p14="http://schemas.microsoft.com/office/powerpoint/2010/main" val="3474413406"/>
              </p:ext>
            </p:extLst>
          </p:nvPr>
        </p:nvGraphicFramePr>
        <p:xfrm>
          <a:off x="5723180" y="2616200"/>
          <a:ext cx="466725" cy="503238"/>
        </p:xfrm>
        <a:graphic>
          <a:graphicData uri="http://schemas.openxmlformats.org/presentationml/2006/ole">
            <mc:AlternateContent xmlns:mc="http://schemas.openxmlformats.org/markup-compatibility/2006">
              <mc:Choice xmlns:v="urn:schemas-microsoft-com:vml" Requires="v">
                <p:oleObj spid="_x0000_s10477" name="Equation" r:id="rId9" imgW="164880" imgH="177480" progId="Equation.DSMT4">
                  <p:embed/>
                </p:oleObj>
              </mc:Choice>
              <mc:Fallback>
                <p:oleObj name="Equation" r:id="rId9" imgW="164880" imgH="177480" progId="Equation.DSMT4">
                  <p:embed/>
                  <p:pic>
                    <p:nvPicPr>
                      <p:cNvPr id="30727" name="Object 7">
                        <a:extLst>
                          <a:ext uri="{FF2B5EF4-FFF2-40B4-BE49-F238E27FC236}">
                            <a16:creationId xmlns:a16="http://schemas.microsoft.com/office/drawing/2014/main" id="{5A7C1AAD-D9C1-454D-B4E6-9E5B66DDBF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3180" y="2616200"/>
                        <a:ext cx="466725" cy="503238"/>
                      </a:xfrm>
                      <a:prstGeom prst="rect">
                        <a:avLst/>
                      </a:prstGeom>
                      <a:noFill/>
                      <a:ln>
                        <a:noFill/>
                      </a:ln>
                      <a:effectLst/>
                      <a:extLst>
                        <a:ext uri="{909E8E84-426E-40DD-AFC4-6F175D3DCCD1}">
                          <a14:hiddenFill xmlns:a14="http://schemas.microsoft.com/office/drawing/2010/main">
                            <a:solidFill>
                              <a:srgbClr val="81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56" name="Line 34">
            <a:extLst>
              <a:ext uri="{FF2B5EF4-FFF2-40B4-BE49-F238E27FC236}">
                <a16:creationId xmlns:a16="http://schemas.microsoft.com/office/drawing/2014/main" id="{1F0DE9A0-C267-4A87-9B9D-4518ACE48AE2}"/>
              </a:ext>
            </a:extLst>
          </p:cNvPr>
          <p:cNvSpPr>
            <a:spLocks noChangeShapeType="1"/>
          </p:cNvSpPr>
          <p:nvPr/>
        </p:nvSpPr>
        <p:spPr bwMode="auto">
          <a:xfrm>
            <a:off x="6083543" y="2865438"/>
            <a:ext cx="431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0757" name="Rectangle 35">
            <a:extLst>
              <a:ext uri="{FF2B5EF4-FFF2-40B4-BE49-F238E27FC236}">
                <a16:creationId xmlns:a16="http://schemas.microsoft.com/office/drawing/2014/main" id="{BF2AB109-C436-4BA6-89B7-D9D687675692}"/>
              </a:ext>
            </a:extLst>
          </p:cNvPr>
          <p:cNvSpPr>
            <a:spLocks noChangeArrowheads="1"/>
          </p:cNvSpPr>
          <p:nvPr/>
        </p:nvSpPr>
        <p:spPr bwMode="auto">
          <a:xfrm>
            <a:off x="6515343" y="2505075"/>
            <a:ext cx="1009650" cy="649288"/>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r>
              <a:rPr kumimoji="0" lang="en-US" altLang="zh-CN"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4</a:t>
            </a:r>
          </a:p>
        </p:txBody>
      </p:sp>
      <p:sp>
        <p:nvSpPr>
          <p:cNvPr id="30758" name="Line 36">
            <a:extLst>
              <a:ext uri="{FF2B5EF4-FFF2-40B4-BE49-F238E27FC236}">
                <a16:creationId xmlns:a16="http://schemas.microsoft.com/office/drawing/2014/main" id="{CFA602F1-787A-4815-87C5-14D9617CB518}"/>
              </a:ext>
            </a:extLst>
          </p:cNvPr>
          <p:cNvSpPr>
            <a:spLocks noChangeShapeType="1"/>
          </p:cNvSpPr>
          <p:nvPr/>
        </p:nvSpPr>
        <p:spPr bwMode="auto">
          <a:xfrm>
            <a:off x="7523405" y="2865438"/>
            <a:ext cx="7207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 name="Rectangle 6">
            <a:extLst>
              <a:ext uri="{FF2B5EF4-FFF2-40B4-BE49-F238E27FC236}">
                <a16:creationId xmlns:a16="http://schemas.microsoft.com/office/drawing/2014/main" id="{3340AC90-1DA8-465F-98CE-C791D2E7D7C9}"/>
              </a:ext>
            </a:extLst>
          </p:cNvPr>
          <p:cNvSpPr>
            <a:spLocks noChangeArrowheads="1"/>
          </p:cNvSpPr>
          <p:nvPr/>
        </p:nvSpPr>
        <p:spPr bwMode="auto">
          <a:xfrm>
            <a:off x="4095750" y="5830094"/>
            <a:ext cx="1073150" cy="649287"/>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kumimoji="0" lang="zh-CN" altLang="en-US"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r>
              <a:rPr kumimoji="0" lang="en-US" altLang="zh-CN" sz="28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2</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8" name="标题 1">
            <a:extLst>
              <a:ext uri="{FF2B5EF4-FFF2-40B4-BE49-F238E27FC236}">
                <a16:creationId xmlns:a16="http://schemas.microsoft.com/office/drawing/2014/main" id="{8811221B-7A8E-4E44-8C0C-25394B4095C9}"/>
              </a:ext>
            </a:extLst>
          </p:cNvPr>
          <p:cNvSpPr>
            <a:spLocks noGrp="1"/>
          </p:cNvSpPr>
          <p:nvPr>
            <p:ph type="title"/>
          </p:nvPr>
        </p:nvSpPr>
        <p:spPr/>
        <p:txBody>
          <a:bodyPr/>
          <a:lstStyle/>
          <a:p>
            <a:r>
              <a:rPr lang="en-US" altLang="zh-CN"/>
              <a:t>1.5  </a:t>
            </a:r>
            <a:r>
              <a:rPr lang="zh-CN" altLang="en-US"/>
              <a:t>连续时间与离散时间系统</a:t>
            </a:r>
          </a:p>
        </p:txBody>
      </p:sp>
      <p:sp>
        <p:nvSpPr>
          <p:cNvPr id="4" name="灯片编号占位符 3">
            <a:extLst>
              <a:ext uri="{FF2B5EF4-FFF2-40B4-BE49-F238E27FC236}">
                <a16:creationId xmlns:a16="http://schemas.microsoft.com/office/drawing/2014/main" id="{ED5CC87D-F4A9-4275-BE8D-4BEF2926E1C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3D0F25A-F3BE-4E34-9F10-DF0872CE8F5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3" name="图片 2">
            <a:extLst>
              <a:ext uri="{FF2B5EF4-FFF2-40B4-BE49-F238E27FC236}">
                <a16:creationId xmlns:a16="http://schemas.microsoft.com/office/drawing/2014/main" id="{D919A66E-AA3B-4AC2-B73E-4AD90FCC97FC}"/>
              </a:ext>
            </a:extLst>
          </p:cNvPr>
          <p:cNvPicPr>
            <a:picLocks noChangeAspect="1"/>
          </p:cNvPicPr>
          <p:nvPr/>
        </p:nvPicPr>
        <p:blipFill>
          <a:blip r:embed="rId2"/>
          <a:stretch>
            <a:fillRect/>
          </a:stretch>
        </p:blipFill>
        <p:spPr>
          <a:xfrm>
            <a:off x="1967070" y="1916112"/>
            <a:ext cx="5781675" cy="3524250"/>
          </a:xfrm>
          <a:prstGeom prst="rect">
            <a:avLst/>
          </a:prstGeom>
        </p:spPr>
      </p:pic>
      <p:sp>
        <p:nvSpPr>
          <p:cNvPr id="43" name="文本框 42">
            <a:extLst>
              <a:ext uri="{FF2B5EF4-FFF2-40B4-BE49-F238E27FC236}">
                <a16:creationId xmlns:a16="http://schemas.microsoft.com/office/drawing/2014/main" id="{E05CE484-3ADF-4381-A03A-ABEBAE07E762}"/>
              </a:ext>
            </a:extLst>
          </p:cNvPr>
          <p:cNvSpPr txBox="1"/>
          <p:nvPr/>
        </p:nvSpPr>
        <p:spPr>
          <a:xfrm>
            <a:off x="2321748" y="5923337"/>
            <a:ext cx="4500502" cy="523220"/>
          </a:xfrm>
          <a:prstGeom prst="rect">
            <a:avLst/>
          </a:prstGeom>
          <a:noFill/>
        </p:spPr>
        <p:txBody>
          <a:bodyPr wrap="square">
            <a:spAutoFit/>
          </a:bodyPr>
          <a:lstStyle/>
          <a:p>
            <a:pPr algn="ctr"/>
            <a:r>
              <a:rPr lang="zh-CN" altLang="en-US" sz="2800" dirty="0">
                <a:latin typeface="楷体" panose="02010609060101010101" pitchFamily="49" charset="-122"/>
                <a:ea typeface="楷体" panose="02010609060101010101" pitchFamily="49" charset="-122"/>
              </a:rPr>
              <a:t>反馈系统实例</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智能小车</a:t>
            </a:r>
            <a:endParaRPr lang="en-US" sz="2800" dirty="0">
              <a:latin typeface="楷体" panose="02010609060101010101" pitchFamily="49" charset="-122"/>
              <a:ea typeface="楷体" panose="02010609060101010101" pitchFamily="49" charset="-122"/>
            </a:endParaRPr>
          </a:p>
        </p:txBody>
      </p:sp>
      <p:sp>
        <p:nvSpPr>
          <p:cNvPr id="44" name="文本框 43">
            <a:extLst>
              <a:ext uri="{FF2B5EF4-FFF2-40B4-BE49-F238E27FC236}">
                <a16:creationId xmlns:a16="http://schemas.microsoft.com/office/drawing/2014/main" id="{AB9028FE-696E-4058-AF21-888FAC6EEC5E}"/>
              </a:ext>
            </a:extLst>
          </p:cNvPr>
          <p:cNvSpPr txBox="1"/>
          <p:nvPr/>
        </p:nvSpPr>
        <p:spPr>
          <a:xfrm>
            <a:off x="2529717" y="1454447"/>
            <a:ext cx="1476163" cy="461665"/>
          </a:xfrm>
          <a:prstGeom prst="rect">
            <a:avLst/>
          </a:prstGeom>
          <a:noFill/>
        </p:spPr>
        <p:txBody>
          <a:bodyPr wrap="square">
            <a:spAutoFit/>
          </a:bodyPr>
          <a:lstStyle/>
          <a:p>
            <a:pPr algn="ctr"/>
            <a:r>
              <a:rPr lang="zh-CN" altLang="en-US" sz="2400" dirty="0">
                <a:latin typeface="楷体" panose="02010609060101010101" pitchFamily="49" charset="-122"/>
                <a:ea typeface="楷体" panose="02010609060101010101" pitchFamily="49" charset="-122"/>
              </a:rPr>
              <a:t>智能小车</a:t>
            </a:r>
            <a:endParaRPr lang="en-US" sz="2400" dirty="0">
              <a:latin typeface="楷体" panose="02010609060101010101" pitchFamily="49" charset="-122"/>
              <a:ea typeface="楷体" panose="02010609060101010101" pitchFamily="49" charset="-122"/>
            </a:endParaRPr>
          </a:p>
        </p:txBody>
      </p:sp>
      <p:sp>
        <p:nvSpPr>
          <p:cNvPr id="45" name="文本框 44">
            <a:extLst>
              <a:ext uri="{FF2B5EF4-FFF2-40B4-BE49-F238E27FC236}">
                <a16:creationId xmlns:a16="http://schemas.microsoft.com/office/drawing/2014/main" id="{2245D4DA-3C1F-4516-8F47-607DFDC756AF}"/>
              </a:ext>
            </a:extLst>
          </p:cNvPr>
          <p:cNvSpPr txBox="1"/>
          <p:nvPr/>
        </p:nvSpPr>
        <p:spPr>
          <a:xfrm>
            <a:off x="897468" y="2276872"/>
            <a:ext cx="864096" cy="461665"/>
          </a:xfrm>
          <a:prstGeom prst="rect">
            <a:avLst/>
          </a:prstGeom>
          <a:noFill/>
        </p:spPr>
        <p:txBody>
          <a:bodyPr wrap="square">
            <a:spAutoFit/>
          </a:bodyPr>
          <a:lstStyle/>
          <a:p>
            <a:pPr algn="ctr"/>
            <a:r>
              <a:rPr lang="zh-CN" altLang="en-US" sz="2400" dirty="0">
                <a:latin typeface="楷体" panose="02010609060101010101" pitchFamily="49" charset="-122"/>
                <a:ea typeface="楷体" panose="02010609060101010101" pitchFamily="49" charset="-122"/>
              </a:rPr>
              <a:t>侧视</a:t>
            </a:r>
            <a:endParaRPr lang="en-US" sz="2400" dirty="0">
              <a:latin typeface="楷体" panose="02010609060101010101" pitchFamily="49" charset="-122"/>
              <a:ea typeface="楷体" panose="02010609060101010101" pitchFamily="49" charset="-122"/>
            </a:endParaRPr>
          </a:p>
        </p:txBody>
      </p:sp>
      <p:sp>
        <p:nvSpPr>
          <p:cNvPr id="46" name="文本框 45">
            <a:extLst>
              <a:ext uri="{FF2B5EF4-FFF2-40B4-BE49-F238E27FC236}">
                <a16:creationId xmlns:a16="http://schemas.microsoft.com/office/drawing/2014/main" id="{ACCA02F8-C62B-4FE5-A753-78DE93111157}"/>
              </a:ext>
            </a:extLst>
          </p:cNvPr>
          <p:cNvSpPr txBox="1"/>
          <p:nvPr/>
        </p:nvSpPr>
        <p:spPr>
          <a:xfrm>
            <a:off x="897468" y="4221088"/>
            <a:ext cx="864096" cy="461665"/>
          </a:xfrm>
          <a:prstGeom prst="rect">
            <a:avLst/>
          </a:prstGeom>
          <a:noFill/>
        </p:spPr>
        <p:txBody>
          <a:bodyPr wrap="square">
            <a:spAutoFit/>
          </a:bodyPr>
          <a:lstStyle/>
          <a:p>
            <a:pPr algn="ctr"/>
            <a:r>
              <a:rPr lang="zh-CN" altLang="en-US" sz="2400" dirty="0">
                <a:latin typeface="楷体" panose="02010609060101010101" pitchFamily="49" charset="-122"/>
                <a:ea typeface="楷体" panose="02010609060101010101" pitchFamily="49" charset="-122"/>
              </a:rPr>
              <a:t>顶视</a:t>
            </a:r>
            <a:endParaRPr lang="en-US" sz="2400" dirty="0">
              <a:latin typeface="楷体" panose="02010609060101010101" pitchFamily="49" charset="-122"/>
              <a:ea typeface="楷体" panose="02010609060101010101" pitchFamily="49" charset="-122"/>
            </a:endParaRPr>
          </a:p>
        </p:txBody>
      </p:sp>
      <p:sp>
        <p:nvSpPr>
          <p:cNvPr id="48" name="文本框 47">
            <a:extLst>
              <a:ext uri="{FF2B5EF4-FFF2-40B4-BE49-F238E27FC236}">
                <a16:creationId xmlns:a16="http://schemas.microsoft.com/office/drawing/2014/main" id="{CAA6C65F-9717-4590-9D6B-69B7290041F0}"/>
              </a:ext>
            </a:extLst>
          </p:cNvPr>
          <p:cNvSpPr txBox="1"/>
          <p:nvPr/>
        </p:nvSpPr>
        <p:spPr>
          <a:xfrm>
            <a:off x="4204773" y="1429343"/>
            <a:ext cx="1098123" cy="830997"/>
          </a:xfrm>
          <a:prstGeom prst="rect">
            <a:avLst/>
          </a:prstGeom>
          <a:noFill/>
        </p:spPr>
        <p:txBody>
          <a:bodyPr wrap="square">
            <a:spAutoFit/>
          </a:bodyPr>
          <a:lstStyle/>
          <a:p>
            <a:pPr algn="ctr"/>
            <a:r>
              <a:rPr lang="zh-CN" altLang="en-US" sz="2400" dirty="0">
                <a:latin typeface="楷体" panose="02010609060101010101" pitchFamily="49" charset="-122"/>
                <a:ea typeface="楷体" panose="02010609060101010101" pitchFamily="49" charset="-122"/>
              </a:rPr>
              <a:t>数字</a:t>
            </a:r>
            <a:endParaRPr lang="en-US" altLang="zh-CN" sz="2400" dirty="0">
              <a:latin typeface="楷体" panose="02010609060101010101" pitchFamily="49" charset="-122"/>
              <a:ea typeface="楷体" panose="02010609060101010101" pitchFamily="49" charset="-122"/>
            </a:endParaRPr>
          </a:p>
          <a:p>
            <a:pPr algn="ctr"/>
            <a:r>
              <a:rPr lang="zh-CN" altLang="en-US" sz="2400" dirty="0">
                <a:latin typeface="楷体" panose="02010609060101010101" pitchFamily="49" charset="-122"/>
                <a:ea typeface="楷体" panose="02010609060101010101" pitchFamily="49" charset="-122"/>
              </a:rPr>
              <a:t>摄像机</a:t>
            </a:r>
            <a:endParaRPr lang="en-US" sz="2400" dirty="0">
              <a:latin typeface="楷体" panose="02010609060101010101" pitchFamily="49" charset="-122"/>
              <a:ea typeface="楷体" panose="02010609060101010101" pitchFamily="49" charset="-122"/>
            </a:endParaRPr>
          </a:p>
        </p:txBody>
      </p:sp>
      <p:sp>
        <p:nvSpPr>
          <p:cNvPr id="49" name="文本框 48">
            <a:extLst>
              <a:ext uri="{FF2B5EF4-FFF2-40B4-BE49-F238E27FC236}">
                <a16:creationId xmlns:a16="http://schemas.microsoft.com/office/drawing/2014/main" id="{4EEB84F2-983A-4085-BB71-590D6AA420C6}"/>
              </a:ext>
            </a:extLst>
          </p:cNvPr>
          <p:cNvSpPr txBox="1"/>
          <p:nvPr/>
        </p:nvSpPr>
        <p:spPr>
          <a:xfrm>
            <a:off x="6322003" y="1429343"/>
            <a:ext cx="864096" cy="461665"/>
          </a:xfrm>
          <a:prstGeom prst="rect">
            <a:avLst/>
          </a:prstGeom>
          <a:noFill/>
        </p:spPr>
        <p:txBody>
          <a:bodyPr wrap="square">
            <a:spAutoFit/>
          </a:bodyPr>
          <a:lstStyle/>
          <a:p>
            <a:pPr algn="ctr"/>
            <a:r>
              <a:rPr lang="zh-CN" altLang="en-US" sz="2400" dirty="0">
                <a:latin typeface="楷体" panose="02010609060101010101" pitchFamily="49" charset="-122"/>
                <a:ea typeface="楷体" panose="02010609060101010101" pitchFamily="49" charset="-122"/>
              </a:rPr>
              <a:t>目标</a:t>
            </a:r>
            <a:endParaRPr lang="en-US" sz="2400" dirty="0">
              <a:latin typeface="楷体" panose="02010609060101010101" pitchFamily="49" charset="-122"/>
              <a:ea typeface="楷体" panose="02010609060101010101" pitchFamily="49" charset="-122"/>
            </a:endParaRPr>
          </a:p>
        </p:txBody>
      </p:sp>
      <p:sp>
        <p:nvSpPr>
          <p:cNvPr id="50" name="文本框 49">
            <a:extLst>
              <a:ext uri="{FF2B5EF4-FFF2-40B4-BE49-F238E27FC236}">
                <a16:creationId xmlns:a16="http://schemas.microsoft.com/office/drawing/2014/main" id="{F5A67508-B8E6-4692-8041-A3692A1319A8}"/>
              </a:ext>
            </a:extLst>
          </p:cNvPr>
          <p:cNvSpPr txBox="1"/>
          <p:nvPr/>
        </p:nvSpPr>
        <p:spPr>
          <a:xfrm>
            <a:off x="5713625" y="2605107"/>
            <a:ext cx="864096" cy="461665"/>
          </a:xfrm>
          <a:prstGeom prst="rect">
            <a:avLst/>
          </a:prstGeom>
          <a:noFill/>
        </p:spPr>
        <p:txBody>
          <a:bodyPr wrap="square">
            <a:spAutoFit/>
          </a:bodyPr>
          <a:lstStyle/>
          <a:p>
            <a:pPr algn="ctr"/>
            <a:r>
              <a:rPr lang="zh-CN" altLang="en-US" sz="2400" dirty="0">
                <a:latin typeface="楷体" panose="02010609060101010101" pitchFamily="49" charset="-122"/>
                <a:ea typeface="楷体" panose="02010609060101010101" pitchFamily="49" charset="-122"/>
              </a:rPr>
              <a:t>侧面</a:t>
            </a:r>
            <a:endParaRPr lang="en-US" sz="2400" dirty="0">
              <a:latin typeface="楷体" panose="02010609060101010101" pitchFamily="49" charset="-122"/>
              <a:ea typeface="楷体" panose="02010609060101010101" pitchFamily="49" charset="-122"/>
            </a:endParaRPr>
          </a:p>
        </p:txBody>
      </p:sp>
      <p:sp>
        <p:nvSpPr>
          <p:cNvPr id="51" name="文本框 50">
            <a:extLst>
              <a:ext uri="{FF2B5EF4-FFF2-40B4-BE49-F238E27FC236}">
                <a16:creationId xmlns:a16="http://schemas.microsoft.com/office/drawing/2014/main" id="{0C3EF0F0-C83C-43D7-BAE9-758B4A073D53}"/>
              </a:ext>
            </a:extLst>
          </p:cNvPr>
          <p:cNvSpPr txBox="1"/>
          <p:nvPr/>
        </p:nvSpPr>
        <p:spPr>
          <a:xfrm>
            <a:off x="6926737" y="2605107"/>
            <a:ext cx="864096" cy="461665"/>
          </a:xfrm>
          <a:prstGeom prst="rect">
            <a:avLst/>
          </a:prstGeom>
          <a:noFill/>
        </p:spPr>
        <p:txBody>
          <a:bodyPr wrap="square">
            <a:spAutoFit/>
          </a:bodyPr>
          <a:lstStyle/>
          <a:p>
            <a:pPr algn="ctr"/>
            <a:r>
              <a:rPr lang="zh-CN" altLang="en-US" sz="2400" dirty="0">
                <a:latin typeface="楷体" panose="02010609060101010101" pitchFamily="49" charset="-122"/>
                <a:ea typeface="楷体" panose="02010609060101010101" pitchFamily="49" charset="-122"/>
              </a:rPr>
              <a:t>正面</a:t>
            </a:r>
            <a:endParaRPr lang="en-US" sz="2400"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ECCA49AA-39D7-4B71-B5AB-06F7E76AF0E3}"/>
                  </a:ext>
                </a:extLst>
              </p:cNvPr>
              <p:cNvSpPr txBox="1"/>
              <p:nvPr/>
            </p:nvSpPr>
            <p:spPr>
              <a:xfrm>
                <a:off x="5527783" y="3775325"/>
                <a:ext cx="364138"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𝜃</m:t>
                      </m:r>
                    </m:oMath>
                  </m:oMathPara>
                </a14:m>
                <a:endParaRPr lang="en-US" sz="2400" dirty="0">
                  <a:latin typeface="楷体" panose="02010609060101010101" pitchFamily="49" charset="-122"/>
                  <a:ea typeface="楷体" panose="02010609060101010101" pitchFamily="49" charset="-122"/>
                </a:endParaRPr>
              </a:p>
            </p:txBody>
          </p:sp>
        </mc:Choice>
        <mc:Fallback xmlns="">
          <p:sp>
            <p:nvSpPr>
              <p:cNvPr id="53" name="文本框 52">
                <a:extLst>
                  <a:ext uri="{FF2B5EF4-FFF2-40B4-BE49-F238E27FC236}">
                    <a16:creationId xmlns:a16="http://schemas.microsoft.com/office/drawing/2014/main" id="{ECCA49AA-39D7-4B71-B5AB-06F7E76AF0E3}"/>
                  </a:ext>
                </a:extLst>
              </p:cNvPr>
              <p:cNvSpPr txBox="1">
                <a:spLocks noRot="1" noChangeAspect="1" noMove="1" noResize="1" noEditPoints="1" noAdjustHandles="1" noChangeArrowheads="1" noChangeShapeType="1" noTextEdit="1"/>
              </p:cNvSpPr>
              <p:nvPr/>
            </p:nvSpPr>
            <p:spPr>
              <a:xfrm>
                <a:off x="5527783" y="3775325"/>
                <a:ext cx="364138" cy="461665"/>
              </a:xfrm>
              <a:prstGeom prst="rect">
                <a:avLst/>
              </a:prstGeom>
              <a:blipFill>
                <a:blip r:embed="rId3"/>
                <a:stretch>
                  <a:fillRect l="-25000"/>
                </a:stretch>
              </a:blipFill>
            </p:spPr>
            <p:txBody>
              <a:bodyPr/>
              <a:lstStyle/>
              <a:p>
                <a:r>
                  <a:rPr lang="en-US">
                    <a:noFill/>
                  </a:rPr>
                  <a:t> </a:t>
                </a:r>
              </a:p>
            </p:txBody>
          </p:sp>
        </mc:Fallback>
      </mc:AlternateContent>
      <p:sp>
        <p:nvSpPr>
          <p:cNvPr id="54" name="文本框 53">
            <a:extLst>
              <a:ext uri="{FF2B5EF4-FFF2-40B4-BE49-F238E27FC236}">
                <a16:creationId xmlns:a16="http://schemas.microsoft.com/office/drawing/2014/main" id="{968DA9E9-8459-4B05-9F15-F1E339584C24}"/>
              </a:ext>
            </a:extLst>
          </p:cNvPr>
          <p:cNvSpPr txBox="1"/>
          <p:nvPr/>
        </p:nvSpPr>
        <p:spPr>
          <a:xfrm>
            <a:off x="6145673" y="3311473"/>
            <a:ext cx="864096" cy="461665"/>
          </a:xfrm>
          <a:prstGeom prst="rect">
            <a:avLst/>
          </a:prstGeom>
          <a:noFill/>
        </p:spPr>
        <p:txBody>
          <a:bodyPr wrap="square">
            <a:spAutoFit/>
          </a:bodyPr>
          <a:lstStyle/>
          <a:p>
            <a:pPr algn="ctr"/>
            <a:r>
              <a:rPr lang="zh-CN" altLang="en-US" sz="2400" dirty="0">
                <a:latin typeface="楷体" panose="02010609060101010101" pitchFamily="49" charset="-122"/>
                <a:ea typeface="楷体" panose="02010609060101010101" pitchFamily="49" charset="-122"/>
              </a:rPr>
              <a:t>实际</a:t>
            </a:r>
            <a:endParaRPr lang="en-US" sz="2400" dirty="0">
              <a:latin typeface="楷体" panose="02010609060101010101" pitchFamily="49" charset="-122"/>
              <a:ea typeface="楷体" panose="02010609060101010101" pitchFamily="49" charset="-122"/>
            </a:endParaRPr>
          </a:p>
        </p:txBody>
      </p:sp>
      <p:sp>
        <p:nvSpPr>
          <p:cNvPr id="55" name="文本框 54">
            <a:extLst>
              <a:ext uri="{FF2B5EF4-FFF2-40B4-BE49-F238E27FC236}">
                <a16:creationId xmlns:a16="http://schemas.microsoft.com/office/drawing/2014/main" id="{C28CE3AF-0746-41B6-A2A3-1B05FA5954A7}"/>
              </a:ext>
            </a:extLst>
          </p:cNvPr>
          <p:cNvSpPr txBox="1"/>
          <p:nvPr/>
        </p:nvSpPr>
        <p:spPr>
          <a:xfrm>
            <a:off x="6948264" y="3311472"/>
            <a:ext cx="864096" cy="461665"/>
          </a:xfrm>
          <a:prstGeom prst="rect">
            <a:avLst/>
          </a:prstGeom>
          <a:noFill/>
        </p:spPr>
        <p:txBody>
          <a:bodyPr wrap="square">
            <a:spAutoFit/>
          </a:bodyPr>
          <a:lstStyle/>
          <a:p>
            <a:pPr algn="ctr"/>
            <a:r>
              <a:rPr lang="zh-CN" altLang="en-US" sz="2400" dirty="0">
                <a:latin typeface="楷体" panose="02010609060101010101" pitchFamily="49" charset="-122"/>
                <a:ea typeface="楷体" panose="02010609060101010101" pitchFamily="49" charset="-122"/>
              </a:rPr>
              <a:t>理想</a:t>
            </a:r>
            <a:endParaRPr lang="en-US" sz="2400" dirty="0">
              <a:latin typeface="楷体" panose="02010609060101010101" pitchFamily="49" charset="-122"/>
              <a:ea typeface="楷体" panose="02010609060101010101" pitchFamily="49" charset="-122"/>
            </a:endParaRPr>
          </a:p>
        </p:txBody>
      </p:sp>
      <p:sp>
        <p:nvSpPr>
          <p:cNvPr id="56" name="文本框 55">
            <a:extLst>
              <a:ext uri="{FF2B5EF4-FFF2-40B4-BE49-F238E27FC236}">
                <a16:creationId xmlns:a16="http://schemas.microsoft.com/office/drawing/2014/main" id="{75A6E051-6171-4389-A923-800DAB88A8BD}"/>
              </a:ext>
            </a:extLst>
          </p:cNvPr>
          <p:cNvSpPr txBox="1"/>
          <p:nvPr/>
        </p:nvSpPr>
        <p:spPr>
          <a:xfrm>
            <a:off x="6322003" y="5262309"/>
            <a:ext cx="864096" cy="461665"/>
          </a:xfrm>
          <a:prstGeom prst="rect">
            <a:avLst/>
          </a:prstGeom>
          <a:noFill/>
        </p:spPr>
        <p:txBody>
          <a:bodyPr wrap="square">
            <a:spAutoFit/>
          </a:bodyPr>
          <a:lstStyle/>
          <a:p>
            <a:pPr algn="ctr"/>
            <a:r>
              <a:rPr lang="zh-CN" altLang="en-US" sz="2400" dirty="0">
                <a:latin typeface="楷体" panose="02010609060101010101" pitchFamily="49" charset="-122"/>
                <a:ea typeface="楷体" panose="02010609060101010101" pitchFamily="49" charset="-122"/>
              </a:rPr>
              <a:t>误差</a:t>
            </a:r>
            <a:endParaRPr 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65661356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8" name="标题 1">
            <a:extLst>
              <a:ext uri="{FF2B5EF4-FFF2-40B4-BE49-F238E27FC236}">
                <a16:creationId xmlns:a16="http://schemas.microsoft.com/office/drawing/2014/main" id="{8811221B-7A8E-4E44-8C0C-25394B4095C9}"/>
              </a:ext>
            </a:extLst>
          </p:cNvPr>
          <p:cNvSpPr>
            <a:spLocks noGrp="1"/>
          </p:cNvSpPr>
          <p:nvPr>
            <p:ph type="title"/>
          </p:nvPr>
        </p:nvSpPr>
        <p:spPr/>
        <p:txBody>
          <a:bodyPr/>
          <a:lstStyle/>
          <a:p>
            <a:r>
              <a:rPr lang="en-US" altLang="zh-CN"/>
              <a:t>1.5  </a:t>
            </a:r>
            <a:r>
              <a:rPr lang="zh-CN" altLang="en-US"/>
              <a:t>连续时间与离散时间系统</a:t>
            </a:r>
          </a:p>
        </p:txBody>
      </p:sp>
      <p:sp>
        <p:nvSpPr>
          <p:cNvPr id="4" name="灯片编号占位符 3">
            <a:extLst>
              <a:ext uri="{FF2B5EF4-FFF2-40B4-BE49-F238E27FC236}">
                <a16:creationId xmlns:a16="http://schemas.microsoft.com/office/drawing/2014/main" id="{ED5CC87D-F4A9-4275-BE8D-4BEF2926E1C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3D0F25A-F3BE-4E34-9F10-DF0872CE8F5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3" name="图片 2">
            <a:extLst>
              <a:ext uri="{FF2B5EF4-FFF2-40B4-BE49-F238E27FC236}">
                <a16:creationId xmlns:a16="http://schemas.microsoft.com/office/drawing/2014/main" id="{3A162A0E-D1D8-498C-9F2B-EB1EBF66F4EC}"/>
              </a:ext>
            </a:extLst>
          </p:cNvPr>
          <p:cNvPicPr>
            <a:picLocks noChangeAspect="1"/>
          </p:cNvPicPr>
          <p:nvPr/>
        </p:nvPicPr>
        <p:blipFill>
          <a:blip r:embed="rId2"/>
          <a:stretch>
            <a:fillRect/>
          </a:stretch>
        </p:blipFill>
        <p:spPr>
          <a:xfrm>
            <a:off x="828675" y="2199109"/>
            <a:ext cx="7486650" cy="2886075"/>
          </a:xfrm>
          <a:prstGeom prst="rect">
            <a:avLst/>
          </a:prstGeom>
        </p:spPr>
      </p:pic>
      <p:sp>
        <p:nvSpPr>
          <p:cNvPr id="5" name="文本框 4">
            <a:extLst>
              <a:ext uri="{FF2B5EF4-FFF2-40B4-BE49-F238E27FC236}">
                <a16:creationId xmlns:a16="http://schemas.microsoft.com/office/drawing/2014/main" id="{78CFDB65-730A-4642-8D9E-18EEF5F3F64E}"/>
              </a:ext>
            </a:extLst>
          </p:cNvPr>
          <p:cNvSpPr txBox="1"/>
          <p:nvPr/>
        </p:nvSpPr>
        <p:spPr>
          <a:xfrm>
            <a:off x="899592" y="2018414"/>
            <a:ext cx="814550" cy="830997"/>
          </a:xfrm>
          <a:prstGeom prst="rect">
            <a:avLst/>
          </a:prstGeom>
          <a:noFill/>
        </p:spPr>
        <p:txBody>
          <a:bodyPr wrap="square" rtlCol="0">
            <a:spAutoFit/>
          </a:bodyPr>
          <a:lstStyle/>
          <a:p>
            <a:pPr algn="ctr"/>
            <a:r>
              <a:rPr lang="zh-CN" altLang="en-US" sz="2400" dirty="0">
                <a:latin typeface="楷体" panose="02010609060101010101" pitchFamily="49" charset="-122"/>
                <a:ea typeface="楷体" panose="02010609060101010101" pitchFamily="49" charset="-122"/>
              </a:rPr>
              <a:t>理想图像</a:t>
            </a:r>
            <a:endParaRPr lang="en-US" sz="2400" dirty="0">
              <a:latin typeface="楷体" panose="02010609060101010101" pitchFamily="49" charset="-122"/>
              <a:ea typeface="楷体" panose="02010609060101010101" pitchFamily="49" charset="-122"/>
            </a:endParaRPr>
          </a:p>
        </p:txBody>
      </p:sp>
      <p:sp>
        <p:nvSpPr>
          <p:cNvPr id="7" name="文本框 6">
            <a:extLst>
              <a:ext uri="{FF2B5EF4-FFF2-40B4-BE49-F238E27FC236}">
                <a16:creationId xmlns:a16="http://schemas.microsoft.com/office/drawing/2014/main" id="{E233DEF0-9602-4A61-8786-55B749821CC2}"/>
              </a:ext>
            </a:extLst>
          </p:cNvPr>
          <p:cNvSpPr txBox="1"/>
          <p:nvPr/>
        </p:nvSpPr>
        <p:spPr>
          <a:xfrm>
            <a:off x="2307501" y="2433913"/>
            <a:ext cx="1479359" cy="830997"/>
          </a:xfrm>
          <a:prstGeom prst="rect">
            <a:avLst/>
          </a:prstGeom>
          <a:noFill/>
        </p:spPr>
        <p:txBody>
          <a:bodyPr wrap="square" rtlCol="0">
            <a:spAutoFit/>
          </a:bodyPr>
          <a:lstStyle/>
          <a:p>
            <a:r>
              <a:rPr lang="zh-CN" altLang="en-US" sz="2400" dirty="0">
                <a:solidFill>
                  <a:srgbClr val="FF0000"/>
                </a:solidFill>
                <a:latin typeface="楷体" panose="02010609060101010101" pitchFamily="49" charset="-122"/>
                <a:ea typeface="楷体" panose="02010609060101010101" pitchFamily="49" charset="-122"/>
              </a:rPr>
              <a:t>计算车轮转向角度</a:t>
            </a:r>
            <a:endParaRPr lang="en-US" sz="2400" dirty="0">
              <a:solidFill>
                <a:srgbClr val="FF0000"/>
              </a:solidFill>
              <a:latin typeface="楷体" panose="02010609060101010101" pitchFamily="49" charset="-122"/>
              <a:ea typeface="楷体" panose="02010609060101010101" pitchFamily="49" charset="-122"/>
            </a:endParaRPr>
          </a:p>
        </p:txBody>
      </p:sp>
      <p:sp>
        <p:nvSpPr>
          <p:cNvPr id="9" name="文本框 8">
            <a:extLst>
              <a:ext uri="{FF2B5EF4-FFF2-40B4-BE49-F238E27FC236}">
                <a16:creationId xmlns:a16="http://schemas.microsoft.com/office/drawing/2014/main" id="{EDC64DA9-62AD-4613-A3B4-2DF9C328EFA4}"/>
              </a:ext>
            </a:extLst>
          </p:cNvPr>
          <p:cNvSpPr txBox="1"/>
          <p:nvPr/>
        </p:nvSpPr>
        <p:spPr>
          <a:xfrm>
            <a:off x="2232629" y="3591568"/>
            <a:ext cx="814551" cy="830997"/>
          </a:xfrm>
          <a:prstGeom prst="rect">
            <a:avLst/>
          </a:prstGeom>
          <a:noFill/>
        </p:spPr>
        <p:txBody>
          <a:bodyPr wrap="square" rtlCol="0">
            <a:spAutoFit/>
          </a:bodyPr>
          <a:lstStyle/>
          <a:p>
            <a:pPr algn="ctr"/>
            <a:r>
              <a:rPr lang="zh-CN" altLang="en-US" sz="2400" dirty="0">
                <a:latin typeface="楷体" panose="02010609060101010101" pitchFamily="49" charset="-122"/>
                <a:ea typeface="楷体" panose="02010609060101010101" pitchFamily="49" charset="-122"/>
              </a:rPr>
              <a:t>实际图像</a:t>
            </a:r>
            <a:endParaRPr lang="en-US" sz="2400" dirty="0">
              <a:latin typeface="楷体" panose="02010609060101010101" pitchFamily="49" charset="-122"/>
              <a:ea typeface="楷体" panose="02010609060101010101" pitchFamily="49" charset="-122"/>
            </a:endParaRPr>
          </a:p>
        </p:txBody>
      </p:sp>
      <p:sp>
        <p:nvSpPr>
          <p:cNvPr id="10" name="文本框 9">
            <a:extLst>
              <a:ext uri="{FF2B5EF4-FFF2-40B4-BE49-F238E27FC236}">
                <a16:creationId xmlns:a16="http://schemas.microsoft.com/office/drawing/2014/main" id="{6694E803-CA1A-4029-8927-77AA205C5D5C}"/>
              </a:ext>
            </a:extLst>
          </p:cNvPr>
          <p:cNvSpPr txBox="1"/>
          <p:nvPr/>
        </p:nvSpPr>
        <p:spPr>
          <a:xfrm>
            <a:off x="5566929" y="2451110"/>
            <a:ext cx="1098123" cy="830997"/>
          </a:xfrm>
          <a:prstGeom prst="rect">
            <a:avLst/>
          </a:prstGeom>
          <a:noFill/>
        </p:spPr>
        <p:txBody>
          <a:bodyPr wrap="square">
            <a:spAutoFit/>
          </a:bodyPr>
          <a:lstStyle/>
          <a:p>
            <a:pPr algn="ctr"/>
            <a:r>
              <a:rPr lang="zh-CN" altLang="en-US" sz="2400" dirty="0">
                <a:solidFill>
                  <a:srgbClr val="0000FF"/>
                </a:solidFill>
                <a:latin typeface="楷体" panose="02010609060101010101" pitchFamily="49" charset="-122"/>
                <a:ea typeface="楷体" panose="02010609060101010101" pitchFamily="49" charset="-122"/>
              </a:rPr>
              <a:t>车轮</a:t>
            </a:r>
            <a:endParaRPr lang="en-US" altLang="zh-CN" sz="2400" dirty="0">
              <a:solidFill>
                <a:srgbClr val="0000FF"/>
              </a:solidFill>
              <a:latin typeface="楷体" panose="02010609060101010101" pitchFamily="49" charset="-122"/>
              <a:ea typeface="楷体" panose="02010609060101010101" pitchFamily="49" charset="-122"/>
            </a:endParaRPr>
          </a:p>
          <a:p>
            <a:pPr algn="ctr"/>
            <a:r>
              <a:rPr lang="zh-CN" altLang="en-US" sz="2400" dirty="0">
                <a:solidFill>
                  <a:srgbClr val="0000FF"/>
                </a:solidFill>
                <a:latin typeface="楷体" panose="02010609060101010101" pitchFamily="49" charset="-122"/>
                <a:ea typeface="楷体" panose="02010609060101010101" pitchFamily="49" charset="-122"/>
              </a:rPr>
              <a:t>控制器</a:t>
            </a:r>
            <a:endParaRPr lang="en-US" sz="2400" dirty="0">
              <a:solidFill>
                <a:srgbClr val="0000FF"/>
              </a:solidFill>
              <a:latin typeface="楷体" panose="02010609060101010101" pitchFamily="49" charset="-122"/>
              <a:ea typeface="楷体" panose="02010609060101010101" pitchFamily="49" charset="-122"/>
            </a:endParaRPr>
          </a:p>
        </p:txBody>
      </p:sp>
      <p:sp>
        <p:nvSpPr>
          <p:cNvPr id="11" name="文本框 10">
            <a:extLst>
              <a:ext uri="{FF2B5EF4-FFF2-40B4-BE49-F238E27FC236}">
                <a16:creationId xmlns:a16="http://schemas.microsoft.com/office/drawing/2014/main" id="{D0638F63-5522-4A17-942C-DBB42226FD95}"/>
              </a:ext>
            </a:extLst>
          </p:cNvPr>
          <p:cNvSpPr txBox="1"/>
          <p:nvPr/>
        </p:nvSpPr>
        <p:spPr>
          <a:xfrm>
            <a:off x="4595853" y="4073380"/>
            <a:ext cx="1098123" cy="830997"/>
          </a:xfrm>
          <a:prstGeom prst="rect">
            <a:avLst/>
          </a:prstGeom>
          <a:noFill/>
        </p:spPr>
        <p:txBody>
          <a:bodyPr wrap="square">
            <a:spAutoFit/>
          </a:bodyPr>
          <a:lstStyle/>
          <a:p>
            <a:pPr algn="ctr"/>
            <a:r>
              <a:rPr lang="zh-CN" altLang="en-US" sz="2400" dirty="0">
                <a:solidFill>
                  <a:srgbClr val="FF0000"/>
                </a:solidFill>
                <a:latin typeface="楷体" panose="02010609060101010101" pitchFamily="49" charset="-122"/>
                <a:ea typeface="楷体" panose="02010609060101010101" pitchFamily="49" charset="-122"/>
              </a:rPr>
              <a:t>数字</a:t>
            </a:r>
            <a:endParaRPr lang="en-US" altLang="zh-CN" sz="2400" dirty="0">
              <a:solidFill>
                <a:srgbClr val="FF0000"/>
              </a:solidFill>
              <a:latin typeface="楷体" panose="02010609060101010101" pitchFamily="49" charset="-122"/>
              <a:ea typeface="楷体" panose="02010609060101010101" pitchFamily="49" charset="-122"/>
            </a:endParaRPr>
          </a:p>
          <a:p>
            <a:pPr algn="ctr"/>
            <a:r>
              <a:rPr lang="zh-CN" altLang="en-US" sz="2400" dirty="0">
                <a:solidFill>
                  <a:srgbClr val="FF0000"/>
                </a:solidFill>
                <a:latin typeface="楷体" panose="02010609060101010101" pitchFamily="49" charset="-122"/>
                <a:ea typeface="楷体" panose="02010609060101010101" pitchFamily="49" charset="-122"/>
              </a:rPr>
              <a:t>摄像机</a:t>
            </a:r>
            <a:endParaRPr lang="en-US" sz="2400" dirty="0">
              <a:solidFill>
                <a:srgbClr val="FF000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22161518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2A2A6B99-A4B2-4B80-BC27-5BB1DF629EF2}"/>
              </a:ext>
            </a:extLst>
          </p:cNvPr>
          <p:cNvSpPr>
            <a:spLocks noGrp="1"/>
          </p:cNvSpPr>
          <p:nvPr>
            <p:ph type="title"/>
          </p:nvPr>
        </p:nvSpPr>
        <p:spPr/>
        <p:txBody>
          <a:bodyPr/>
          <a:lstStyle/>
          <a:p>
            <a:r>
              <a:rPr lang="en-US" altLang="zh-CN" dirty="0"/>
              <a:t>1.6 </a:t>
            </a:r>
            <a:r>
              <a:rPr lang="zh-CN" altLang="en-US" dirty="0"/>
              <a:t>系统的基本性质</a:t>
            </a:r>
          </a:p>
        </p:txBody>
      </p:sp>
      <p:sp>
        <p:nvSpPr>
          <p:cNvPr id="50179" name="内容占位符 2">
            <a:extLst>
              <a:ext uri="{FF2B5EF4-FFF2-40B4-BE49-F238E27FC236}">
                <a16:creationId xmlns:a16="http://schemas.microsoft.com/office/drawing/2014/main" id="{04F7A090-AE3E-4130-93C0-BA14EDC3B629}"/>
              </a:ext>
            </a:extLst>
          </p:cNvPr>
          <p:cNvSpPr>
            <a:spLocks noGrp="1"/>
          </p:cNvSpPr>
          <p:nvPr>
            <p:ph idx="1"/>
          </p:nvPr>
        </p:nvSpPr>
        <p:spPr>
          <a:xfrm>
            <a:off x="457200" y="1196752"/>
            <a:ext cx="8229600" cy="1646605"/>
          </a:xfrm>
        </p:spPr>
        <p:txBody>
          <a:bodyPr>
            <a:spAutoFit/>
          </a:bodyPr>
          <a:lstStyle/>
          <a:p>
            <a:pPr algn="just">
              <a:spcBef>
                <a:spcPts val="0"/>
              </a:spcBef>
              <a:spcAft>
                <a:spcPts val="600"/>
              </a:spcAft>
            </a:pPr>
            <a:r>
              <a:rPr lang="zh-CN" altLang="en-US" sz="2400" b="0" dirty="0"/>
              <a:t>一</a:t>
            </a:r>
            <a:r>
              <a:rPr lang="en-US" altLang="zh-CN" sz="2400" b="0" dirty="0"/>
              <a:t>. </a:t>
            </a:r>
            <a:r>
              <a:rPr lang="zh-CN" altLang="en-US" sz="2400" b="0" dirty="0"/>
              <a:t>记忆系统与无记忆系统</a:t>
            </a:r>
            <a:endParaRPr lang="en-US" altLang="zh-CN" sz="2400" b="0" dirty="0"/>
          </a:p>
          <a:p>
            <a:pPr lvl="1" algn="just">
              <a:spcBef>
                <a:spcPts val="0"/>
              </a:spcBef>
              <a:spcAft>
                <a:spcPts val="600"/>
              </a:spcAft>
            </a:pPr>
            <a:r>
              <a:rPr lang="zh-CN" altLang="en-US" sz="2400" b="0" dirty="0"/>
              <a:t>在任何时刻，系统的输出都只与当前时刻的输入有关，而与该时刻以外的输入无关，则称该系统是</a:t>
            </a:r>
            <a:r>
              <a:rPr lang="zh-CN" altLang="en-US" sz="2400" dirty="0">
                <a:solidFill>
                  <a:srgbClr val="FF0000"/>
                </a:solidFill>
              </a:rPr>
              <a:t>无记忆系统</a:t>
            </a:r>
            <a:r>
              <a:rPr lang="zh-CN" altLang="en-US" sz="2400" b="0" dirty="0"/>
              <a:t>。否则就是</a:t>
            </a:r>
            <a:r>
              <a:rPr lang="zh-CN" altLang="en-US" sz="2400" dirty="0">
                <a:solidFill>
                  <a:srgbClr val="FF0000"/>
                </a:solidFill>
              </a:rPr>
              <a:t>记忆系统</a:t>
            </a:r>
            <a:r>
              <a:rPr lang="zh-CN" altLang="en-US" sz="2400" b="0" dirty="0"/>
              <a:t>。</a:t>
            </a:r>
          </a:p>
        </p:txBody>
      </p:sp>
      <p:sp>
        <p:nvSpPr>
          <p:cNvPr id="4" name="灯片编号占位符 3">
            <a:extLst>
              <a:ext uri="{FF2B5EF4-FFF2-40B4-BE49-F238E27FC236}">
                <a16:creationId xmlns:a16="http://schemas.microsoft.com/office/drawing/2014/main" id="{2FABB736-30CF-419C-9AE8-48A38A89782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F06777-9A9B-4729-A353-832BF15F7A5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3" name="图片 2">
            <a:extLst>
              <a:ext uri="{FF2B5EF4-FFF2-40B4-BE49-F238E27FC236}">
                <a16:creationId xmlns:a16="http://schemas.microsoft.com/office/drawing/2014/main" id="{8532418B-CD2F-4FD1-B4F4-23DAFDC8AA4B}"/>
              </a:ext>
            </a:extLst>
          </p:cNvPr>
          <p:cNvPicPr>
            <a:picLocks noChangeAspect="1"/>
          </p:cNvPicPr>
          <p:nvPr/>
        </p:nvPicPr>
        <p:blipFill>
          <a:blip r:embed="rId3"/>
          <a:stretch>
            <a:fillRect/>
          </a:stretch>
        </p:blipFill>
        <p:spPr>
          <a:xfrm>
            <a:off x="1800650" y="4124107"/>
            <a:ext cx="2905125" cy="1657350"/>
          </a:xfrm>
          <a:prstGeom prst="rect">
            <a:avLst/>
          </a:prstGeom>
        </p:spPr>
      </p:pic>
      <p:pic>
        <p:nvPicPr>
          <p:cNvPr id="6" name="图片 5">
            <a:extLst>
              <a:ext uri="{FF2B5EF4-FFF2-40B4-BE49-F238E27FC236}">
                <a16:creationId xmlns:a16="http://schemas.microsoft.com/office/drawing/2014/main" id="{FEB393EB-F7E2-4643-82A3-2D53896193A6}"/>
              </a:ext>
            </a:extLst>
          </p:cNvPr>
          <p:cNvPicPr>
            <a:picLocks noChangeAspect="1"/>
          </p:cNvPicPr>
          <p:nvPr/>
        </p:nvPicPr>
        <p:blipFill>
          <a:blip r:embed="rId4"/>
          <a:stretch>
            <a:fillRect/>
          </a:stretch>
        </p:blipFill>
        <p:spPr>
          <a:xfrm>
            <a:off x="5253186" y="4653136"/>
            <a:ext cx="2343150" cy="628650"/>
          </a:xfrm>
          <a:prstGeom prst="rect">
            <a:avLst/>
          </a:prstGeom>
        </p:spPr>
      </p:pic>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E0AED75-E4AA-42BE-98AE-547E5E0CDEA1}"/>
                  </a:ext>
                </a:extLst>
              </p:cNvPr>
              <p:cNvSpPr txBox="1"/>
              <p:nvPr/>
            </p:nvSpPr>
            <p:spPr>
              <a:xfrm>
                <a:off x="1187624" y="2852936"/>
                <a:ext cx="7499176" cy="1200329"/>
              </a:xfrm>
              <a:prstGeom prst="rect">
                <a:avLst/>
              </a:prstGeom>
              <a:noFill/>
            </p:spPr>
            <p:txBody>
              <a:bodyPr wrap="square">
                <a:spAutoFit/>
              </a:bodyPr>
              <a:lstStyle/>
              <a:p>
                <a:pPr algn="just"/>
                <a:r>
                  <a:rPr lang="zh-CN" altLang="en-US" sz="2400" dirty="0">
                    <a:solidFill>
                      <a:srgbClr val="FF0000"/>
                    </a:solidFill>
                    <a:latin typeface="Times New Roman" pitchFamily="18" charset="0"/>
                    <a:ea typeface="华文楷体" pitchFamily="2" charset="-122"/>
                  </a:rPr>
                  <a:t>无记忆系统实例</a:t>
                </a:r>
                <a:r>
                  <a:rPr lang="zh-CN" altLang="en-US" sz="2400" dirty="0">
                    <a:solidFill>
                      <a:prstClr val="black"/>
                    </a:solidFill>
                    <a:latin typeface="Times New Roman" pitchFamily="18" charset="0"/>
                    <a:ea typeface="华文楷体" pitchFamily="2" charset="-122"/>
                  </a:rPr>
                  <a:t>：在下面的电阻分压网络中，输出电压</a:t>
                </a:r>
                <a14:m>
                  <m:oMath xmlns:m="http://schemas.openxmlformats.org/officeDocument/2006/math">
                    <m:sSub>
                      <m:sSubPr>
                        <m:ctrlPr>
                          <a:rPr lang="en-US" altLang="zh-CN" sz="2400" i="1">
                            <a:solidFill>
                              <a:prstClr val="black"/>
                            </a:solidFill>
                            <a:latin typeface="Cambria Math" panose="02040503050406030204" pitchFamily="18" charset="0"/>
                            <a:ea typeface="华文楷体" pitchFamily="2" charset="-122"/>
                          </a:rPr>
                        </m:ctrlPr>
                      </m:sSubPr>
                      <m:e>
                        <m:r>
                          <a:rPr lang="en-US" altLang="zh-CN" sz="2400" i="1">
                            <a:solidFill>
                              <a:prstClr val="black"/>
                            </a:solidFill>
                            <a:latin typeface="Cambria Math" panose="02040503050406030204" pitchFamily="18" charset="0"/>
                            <a:ea typeface="华文楷体" pitchFamily="2" charset="-122"/>
                          </a:rPr>
                          <m:t>𝑣</m:t>
                        </m:r>
                      </m:e>
                      <m:sub>
                        <m:r>
                          <a:rPr lang="en-US" altLang="zh-CN" sz="2400" i="1">
                            <a:solidFill>
                              <a:prstClr val="black"/>
                            </a:solidFill>
                            <a:latin typeface="Cambria Math" panose="02040503050406030204" pitchFamily="18" charset="0"/>
                            <a:ea typeface="华文楷体" pitchFamily="2" charset="-122"/>
                          </a:rPr>
                          <m:t>𝑜</m:t>
                        </m:r>
                      </m:sub>
                    </m:sSub>
                    <m:r>
                      <a:rPr lang="en-US" altLang="zh-CN" sz="2400" i="1">
                        <a:solidFill>
                          <a:prstClr val="black"/>
                        </a:solidFill>
                        <a:latin typeface="Cambria Math" panose="02040503050406030204" pitchFamily="18" charset="0"/>
                        <a:ea typeface="华文楷体" pitchFamily="2" charset="-122"/>
                      </a:rPr>
                      <m:t>(</m:t>
                    </m:r>
                    <m:sSub>
                      <m:sSubPr>
                        <m:ctrlPr>
                          <a:rPr lang="en-US" altLang="zh-CN" sz="2400" i="1" smtClean="0">
                            <a:solidFill>
                              <a:prstClr val="black"/>
                            </a:solidFill>
                            <a:latin typeface="Cambria Math" panose="02040503050406030204" pitchFamily="18" charset="0"/>
                            <a:ea typeface="华文楷体" pitchFamily="2" charset="-122"/>
                          </a:rPr>
                        </m:ctrlPr>
                      </m:sSubPr>
                      <m:e>
                        <m:r>
                          <a:rPr lang="en-US" altLang="zh-CN" sz="2400" b="0" i="1" smtClean="0">
                            <a:solidFill>
                              <a:prstClr val="black"/>
                            </a:solidFill>
                            <a:latin typeface="Cambria Math" panose="02040503050406030204" pitchFamily="18" charset="0"/>
                            <a:ea typeface="华文楷体" pitchFamily="2" charset="-122"/>
                          </a:rPr>
                          <m:t>𝑡</m:t>
                        </m:r>
                      </m:e>
                      <m:sub>
                        <m:r>
                          <a:rPr lang="en-US" altLang="zh-CN" sz="2400" b="0" i="1" smtClean="0">
                            <a:solidFill>
                              <a:prstClr val="black"/>
                            </a:solidFill>
                            <a:latin typeface="Cambria Math" panose="02040503050406030204" pitchFamily="18" charset="0"/>
                            <a:ea typeface="华文楷体" pitchFamily="2" charset="-122"/>
                          </a:rPr>
                          <m:t>0</m:t>
                        </m:r>
                      </m:sub>
                    </m:sSub>
                    <m:r>
                      <a:rPr lang="en-US" altLang="zh-CN" sz="2400" i="1">
                        <a:solidFill>
                          <a:prstClr val="black"/>
                        </a:solidFill>
                        <a:latin typeface="Cambria Math" panose="02040503050406030204" pitchFamily="18" charset="0"/>
                        <a:ea typeface="华文楷体" pitchFamily="2" charset="-122"/>
                      </a:rPr>
                      <m:t>)</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只决定于</a:t>
                </a:r>
                <a14:m>
                  <m:oMath xmlns:m="http://schemas.openxmlformats.org/officeDocument/2006/math">
                    <m:sSub>
                      <m:sSubPr>
                        <m:ctrlPr>
                          <a:rPr lang="en-US" altLang="zh-CN" sz="2400" i="1">
                            <a:solidFill>
                              <a:prstClr val="black"/>
                            </a:solidFill>
                            <a:latin typeface="Cambria Math" panose="02040503050406030204" pitchFamily="18" charset="0"/>
                            <a:ea typeface="华文楷体" pitchFamily="2" charset="-122"/>
                          </a:rPr>
                        </m:ctrlPr>
                      </m:sSubPr>
                      <m:e>
                        <m:r>
                          <a:rPr lang="en-US" altLang="zh-CN" sz="2400" i="1">
                            <a:solidFill>
                              <a:prstClr val="black"/>
                            </a:solidFill>
                            <a:latin typeface="Cambria Math" panose="02040503050406030204" pitchFamily="18" charset="0"/>
                            <a:ea typeface="华文楷体" pitchFamily="2" charset="-122"/>
                          </a:rPr>
                          <m:t>𝑡</m:t>
                        </m:r>
                      </m:e>
                      <m:sub>
                        <m:r>
                          <a:rPr lang="en-US" altLang="zh-CN" sz="2400" i="1">
                            <a:solidFill>
                              <a:prstClr val="black"/>
                            </a:solidFill>
                            <a:latin typeface="Cambria Math" panose="02040503050406030204" pitchFamily="18" charset="0"/>
                            <a:ea typeface="华文楷体" pitchFamily="2" charset="-122"/>
                          </a:rPr>
                          <m:t>0</m:t>
                        </m:r>
                      </m:sub>
                    </m:sSub>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时刻的输入电压</a:t>
                </a:r>
                <a14:m>
                  <m:oMath xmlns:m="http://schemas.openxmlformats.org/officeDocument/2006/math">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t>𝑣</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t>𝑖</m:t>
                        </m:r>
                      </m:sub>
                    </m:s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t>(</m:t>
                    </m:r>
                    <m:sSub>
                      <m:sSubPr>
                        <m:ctrlPr>
                          <a:rPr lang="en-US" altLang="zh-CN" sz="2400" i="1">
                            <a:solidFill>
                              <a:prstClr val="black"/>
                            </a:solidFill>
                            <a:latin typeface="Cambria Math" panose="02040503050406030204" pitchFamily="18" charset="0"/>
                            <a:ea typeface="华文楷体" pitchFamily="2" charset="-122"/>
                          </a:rPr>
                        </m:ctrlPr>
                      </m:sSubPr>
                      <m:e>
                        <m:r>
                          <a:rPr lang="en-US" altLang="zh-CN" sz="2400" i="1">
                            <a:solidFill>
                              <a:prstClr val="black"/>
                            </a:solidFill>
                            <a:latin typeface="Cambria Math" panose="02040503050406030204" pitchFamily="18" charset="0"/>
                            <a:ea typeface="华文楷体" pitchFamily="2" charset="-122"/>
                          </a:rPr>
                          <m:t>𝑡</m:t>
                        </m:r>
                      </m:e>
                      <m:sub>
                        <m:r>
                          <a:rPr lang="en-US" altLang="zh-CN" sz="2400" i="1">
                            <a:solidFill>
                              <a:prstClr val="black"/>
                            </a:solidFill>
                            <a:latin typeface="Cambria Math" panose="02040503050406030204" pitchFamily="18" charset="0"/>
                            <a:ea typeface="华文楷体" pitchFamily="2" charset="-122"/>
                          </a:rPr>
                          <m:t>0</m:t>
                        </m:r>
                      </m:sub>
                    </m:s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t>)</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，与其它</a:t>
                </a:r>
                <a14:m>
                  <m:oMath xmlns:m="http://schemas.openxmlformats.org/officeDocument/2006/math">
                    <m:sSub>
                      <m:sSubPr>
                        <m:ctrlPr>
                          <a:rPr lang="en-US" altLang="zh-CN" sz="2400" i="1">
                            <a:solidFill>
                              <a:prstClr val="black"/>
                            </a:solidFill>
                            <a:latin typeface="Cambria Math" panose="02040503050406030204" pitchFamily="18" charset="0"/>
                            <a:ea typeface="华文楷体" pitchFamily="2" charset="-122"/>
                          </a:rPr>
                        </m:ctrlPr>
                      </m:sSubPr>
                      <m:e>
                        <m:r>
                          <a:rPr lang="en-US" altLang="zh-CN" sz="2400" i="1">
                            <a:solidFill>
                              <a:prstClr val="black"/>
                            </a:solidFill>
                            <a:latin typeface="Cambria Math" panose="02040503050406030204" pitchFamily="18" charset="0"/>
                            <a:ea typeface="华文楷体" pitchFamily="2" charset="-122"/>
                          </a:rPr>
                          <m:t>𝑣</m:t>
                        </m:r>
                      </m:e>
                      <m:sub>
                        <m:r>
                          <a:rPr lang="en-US" altLang="zh-CN" sz="2400" i="1">
                            <a:solidFill>
                              <a:prstClr val="black"/>
                            </a:solidFill>
                            <a:latin typeface="Cambria Math" panose="02040503050406030204" pitchFamily="18" charset="0"/>
                            <a:ea typeface="华文楷体" pitchFamily="2" charset="-122"/>
                          </a:rPr>
                          <m:t>𝑖</m:t>
                        </m:r>
                      </m:sub>
                    </m:sSub>
                    <m:d>
                      <m:dPr>
                        <m:ctrlPr>
                          <a:rPr lang="en-US" altLang="zh-CN" sz="2400" i="1">
                            <a:solidFill>
                              <a:prstClr val="black"/>
                            </a:solidFill>
                            <a:latin typeface="Cambria Math" panose="02040503050406030204" pitchFamily="18" charset="0"/>
                            <a:ea typeface="华文楷体" pitchFamily="2" charset="-122"/>
                          </a:rPr>
                        </m:ctrlPr>
                      </m:dPr>
                      <m:e>
                        <m:r>
                          <a:rPr lang="en-US" altLang="zh-CN" sz="2400" b="0" i="1" smtClean="0">
                            <a:solidFill>
                              <a:prstClr val="black"/>
                            </a:solidFill>
                            <a:latin typeface="Cambria Math" panose="02040503050406030204" pitchFamily="18" charset="0"/>
                            <a:ea typeface="华文楷体" pitchFamily="2" charset="-122"/>
                          </a:rPr>
                          <m:t>𝑡</m:t>
                        </m:r>
                      </m:e>
                    </m:d>
                    <m:r>
                      <a:rPr lang="en-US" altLang="zh-CN" sz="2400" b="0" i="1" smtClean="0">
                        <a:solidFill>
                          <a:prstClr val="black"/>
                        </a:solidFill>
                        <a:latin typeface="Cambria Math" panose="02040503050406030204" pitchFamily="18" charset="0"/>
                        <a:ea typeface="华文楷体" pitchFamily="2" charset="-122"/>
                      </a:rPr>
                      <m:t>, </m:t>
                    </m:r>
                    <m:r>
                      <a:rPr lang="en-US" altLang="zh-CN" sz="2400" b="0" i="1" smtClean="0">
                        <a:solidFill>
                          <a:prstClr val="black"/>
                        </a:solidFill>
                        <a:latin typeface="Cambria Math" panose="02040503050406030204" pitchFamily="18" charset="0"/>
                        <a:ea typeface="华文楷体" pitchFamily="2" charset="-122"/>
                      </a:rPr>
                      <m:t>𝑡</m:t>
                    </m:r>
                    <m:r>
                      <a:rPr lang="en-US" altLang="zh-CN" sz="2400" b="0" i="1" smtClean="0">
                        <a:solidFill>
                          <a:prstClr val="black"/>
                        </a:solidFill>
                        <a:latin typeface="Cambria Math" panose="02040503050406030204" pitchFamily="18" charset="0"/>
                        <a:ea typeface="Cambria Math" panose="02040503050406030204" pitchFamily="18" charset="0"/>
                      </a:rPr>
                      <m:t>≠</m:t>
                    </m:r>
                    <m:sSub>
                      <m:sSubPr>
                        <m:ctrlPr>
                          <a:rPr lang="en-US" altLang="zh-CN" sz="2400" i="1">
                            <a:solidFill>
                              <a:prstClr val="black"/>
                            </a:solidFill>
                            <a:latin typeface="Cambria Math" panose="02040503050406030204" pitchFamily="18" charset="0"/>
                            <a:ea typeface="华文楷体" pitchFamily="2" charset="-122"/>
                          </a:rPr>
                        </m:ctrlPr>
                      </m:sSubPr>
                      <m:e>
                        <m:r>
                          <a:rPr lang="en-US" altLang="zh-CN" sz="2400" i="1">
                            <a:solidFill>
                              <a:prstClr val="black"/>
                            </a:solidFill>
                            <a:latin typeface="Cambria Math" panose="02040503050406030204" pitchFamily="18" charset="0"/>
                            <a:ea typeface="华文楷体" pitchFamily="2" charset="-122"/>
                          </a:rPr>
                          <m:t>𝑡</m:t>
                        </m:r>
                      </m:e>
                      <m:sub>
                        <m:r>
                          <a:rPr lang="en-US" altLang="zh-CN" sz="2400" i="1">
                            <a:solidFill>
                              <a:prstClr val="black"/>
                            </a:solidFill>
                            <a:latin typeface="Cambria Math" panose="02040503050406030204" pitchFamily="18" charset="0"/>
                            <a:ea typeface="华文楷体" pitchFamily="2" charset="-122"/>
                          </a:rPr>
                          <m:t>0</m:t>
                        </m:r>
                      </m:sub>
                    </m:sSub>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无关：</a:t>
                </a:r>
                <a:endParaRPr lang="en-US" dirty="0"/>
              </a:p>
            </p:txBody>
          </p:sp>
        </mc:Choice>
        <mc:Fallback xmlns="">
          <p:sp>
            <p:nvSpPr>
              <p:cNvPr id="12" name="文本框 11">
                <a:extLst>
                  <a:ext uri="{FF2B5EF4-FFF2-40B4-BE49-F238E27FC236}">
                    <a16:creationId xmlns:a16="http://schemas.microsoft.com/office/drawing/2014/main" id="{2E0AED75-E4AA-42BE-98AE-547E5E0CDEA1}"/>
                  </a:ext>
                </a:extLst>
              </p:cNvPr>
              <p:cNvSpPr txBox="1">
                <a:spLocks noRot="1" noChangeAspect="1" noMove="1" noResize="1" noEditPoints="1" noAdjustHandles="1" noChangeArrowheads="1" noChangeShapeType="1" noTextEdit="1"/>
              </p:cNvSpPr>
              <p:nvPr/>
            </p:nvSpPr>
            <p:spPr>
              <a:xfrm>
                <a:off x="1187624" y="2852936"/>
                <a:ext cx="7499176" cy="1200329"/>
              </a:xfrm>
              <a:prstGeom prst="rect">
                <a:avLst/>
              </a:prstGeom>
              <a:blipFill>
                <a:blip r:embed="rId5"/>
                <a:stretch>
                  <a:fillRect l="-1301" t="-4061" r="-1220" b="-111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11">
                <a:extLst>
                  <a:ext uri="{FF2B5EF4-FFF2-40B4-BE49-F238E27FC236}">
                    <a16:creationId xmlns:a16="http://schemas.microsoft.com/office/drawing/2014/main" id="{BA8B7CA8-DA1F-44A0-B4A1-0A49DFAC2E66}"/>
                  </a:ext>
                </a:extLst>
              </p:cNvPr>
              <p:cNvSpPr txBox="1">
                <a:spLocks noChangeArrowheads="1"/>
              </p:cNvSpPr>
              <p:nvPr/>
            </p:nvSpPr>
            <p:spPr bwMode="auto">
              <a:xfrm>
                <a:off x="1187624" y="5733256"/>
                <a:ext cx="7499176" cy="83099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just">
                  <a:defRPr/>
                </a:pPr>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特例</a:t>
                </a:r>
                <a:r>
                  <a:rPr kumimoji="0" lang="en-US" altLang="zh-CN"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恒等系统</a:t>
                </a:r>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：任何时刻系统的输出响应与输入信号都相同，即有</a:t>
                </a:r>
                <a14:m>
                  <m:oMath xmlns:m="http://schemas.openxmlformats.org/officeDocument/2006/math">
                    <m:r>
                      <a:rPr lang="en-US" sz="2400" b="0" i="1" smtClean="0">
                        <a:solidFill>
                          <a:schemeClr val="tx1"/>
                        </a:solidFill>
                        <a:latin typeface="Cambria Math" panose="02040503050406030204" pitchFamily="18" charset="0"/>
                      </a:rPr>
                      <m:t>𝑦</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𝑡</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𝑡</m:t>
                    </m:r>
                    <m:r>
                      <a:rPr lang="en-US" sz="2400" b="0" i="1" smtClean="0">
                        <a:solidFill>
                          <a:schemeClr val="tx1"/>
                        </a:solidFill>
                        <a:latin typeface="Cambria Math" panose="02040503050406030204" pitchFamily="18" charset="0"/>
                      </a:rPr>
                      <m:t>)</m:t>
                    </m:r>
                  </m:oMath>
                </a14:m>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或</a:t>
                </a:r>
                <a14:m>
                  <m:oMath xmlns:m="http://schemas.openxmlformats.org/officeDocument/2006/math">
                    <m:r>
                      <a:rPr lang="en-US" sz="2400" b="0" i="1">
                        <a:solidFill>
                          <a:schemeClr val="tx1"/>
                        </a:solidFill>
                        <a:latin typeface="Cambria Math" panose="02040503050406030204" pitchFamily="18" charset="0"/>
                      </a:rPr>
                      <m:t>𝑦</m:t>
                    </m:r>
                    <m:r>
                      <a:rPr lang="en-US" sz="2400" b="0" i="1" smtClean="0">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a14:m>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mc:Choice>
        <mc:Fallback xmlns="">
          <p:sp>
            <p:nvSpPr>
              <p:cNvPr id="8" name="Text Box 11">
                <a:extLst>
                  <a:ext uri="{FF2B5EF4-FFF2-40B4-BE49-F238E27FC236}">
                    <a16:creationId xmlns:a16="http://schemas.microsoft.com/office/drawing/2014/main" id="{BA8B7CA8-DA1F-44A0-B4A1-0A49DFAC2E66}"/>
                  </a:ext>
                </a:extLst>
              </p:cNvPr>
              <p:cNvSpPr txBox="1">
                <a:spLocks noRot="1" noChangeAspect="1" noMove="1" noResize="1" noEditPoints="1" noAdjustHandles="1" noChangeArrowheads="1" noChangeShapeType="1" noTextEdit="1"/>
              </p:cNvSpPr>
              <p:nvPr/>
            </p:nvSpPr>
            <p:spPr bwMode="auto">
              <a:xfrm>
                <a:off x="1187624" y="5733256"/>
                <a:ext cx="7499176" cy="830997"/>
              </a:xfrm>
              <a:prstGeom prst="rect">
                <a:avLst/>
              </a:prstGeom>
              <a:blipFill>
                <a:blip r:embed="rId6"/>
                <a:stretch>
                  <a:fillRect l="-1301" t="-6569" r="-1220" b="-160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2" name="标题 1">
            <a:extLst>
              <a:ext uri="{FF2B5EF4-FFF2-40B4-BE49-F238E27FC236}">
                <a16:creationId xmlns:a16="http://schemas.microsoft.com/office/drawing/2014/main" id="{0DFC2B97-4C8E-47E7-B7A1-4959C69355B2}"/>
              </a:ext>
            </a:extLst>
          </p:cNvPr>
          <p:cNvSpPr>
            <a:spLocks noGrp="1"/>
          </p:cNvSpPr>
          <p:nvPr>
            <p:ph type="title"/>
          </p:nvPr>
        </p:nvSpPr>
        <p:spPr/>
        <p:txBody>
          <a:bodyPr/>
          <a:lstStyle/>
          <a:p>
            <a:r>
              <a:rPr lang="en-US" altLang="zh-CN" dirty="0"/>
              <a:t>1.6 </a:t>
            </a:r>
            <a:r>
              <a:rPr lang="zh-CN" altLang="en-US" dirty="0"/>
              <a:t>系统的基本性质</a:t>
            </a:r>
          </a:p>
        </p:txBody>
      </p:sp>
      <p:sp>
        <p:nvSpPr>
          <p:cNvPr id="4" name="灯片编号占位符 3">
            <a:extLst>
              <a:ext uri="{FF2B5EF4-FFF2-40B4-BE49-F238E27FC236}">
                <a16:creationId xmlns:a16="http://schemas.microsoft.com/office/drawing/2014/main" id="{3189DBFF-A1AB-4161-8012-774F6418C9B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C4EF26-1875-4924-95C3-62124F10188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1754" name="Text Box 2">
            <a:extLst>
              <a:ext uri="{FF2B5EF4-FFF2-40B4-BE49-F238E27FC236}">
                <a16:creationId xmlns:a16="http://schemas.microsoft.com/office/drawing/2014/main" id="{B0887374-8CA1-4A9D-8AA0-DAA3F8B7EE07}"/>
              </a:ext>
            </a:extLst>
          </p:cNvPr>
          <p:cNvSpPr txBox="1">
            <a:spLocks noChangeArrowheads="1"/>
          </p:cNvSpPr>
          <p:nvPr/>
        </p:nvSpPr>
        <p:spPr bwMode="auto">
          <a:xfrm>
            <a:off x="600074" y="4221088"/>
            <a:ext cx="35398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更多</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记忆系统的例子</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31747" name="Object 3">
                <a:extLst>
                  <a:ext uri="{FF2B5EF4-FFF2-40B4-BE49-F238E27FC236}">
                    <a16:creationId xmlns:a16="http://schemas.microsoft.com/office/drawing/2014/main" id="{CC9F2829-A338-4D2C-AA80-FBAEE92E74E3}"/>
                  </a:ext>
                </a:extLst>
              </p:cNvPr>
              <p:cNvSpPr txBox="1"/>
              <p:nvPr/>
            </p:nvSpPr>
            <p:spPr bwMode="auto">
              <a:xfrm>
                <a:off x="1114425" y="4754761"/>
                <a:ext cx="2232025" cy="47783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b="0" i="1" smtClean="0">
                          <a:solidFill>
                            <a:schemeClr val="tx1"/>
                          </a:solidFill>
                          <a:latin typeface="Cambria Math" panose="02040503050406030204" pitchFamily="18" charset="0"/>
                        </a:rPr>
                        <m:t>𝑦</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𝑡</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𝑡</m:t>
                      </m:r>
                      <m:r>
                        <a:rPr lang="en-US" sz="2400" b="0" i="1" smtClean="0">
                          <a:solidFill>
                            <a:schemeClr val="tx1"/>
                          </a:solidFill>
                          <a:latin typeface="Cambria Math" panose="02040503050406030204" pitchFamily="18" charset="0"/>
                        </a:rPr>
                        <m:t>−1)</m:t>
                      </m:r>
                    </m:oMath>
                  </m:oMathPara>
                </a14:m>
                <a:endParaRPr lang="en-US" sz="2400" dirty="0">
                  <a:solidFill>
                    <a:schemeClr val="tx1"/>
                  </a:solidFill>
                </a:endParaRPr>
              </a:p>
            </p:txBody>
          </p:sp>
        </mc:Choice>
        <mc:Fallback xmlns="">
          <p:sp>
            <p:nvSpPr>
              <p:cNvPr id="31747" name="Object 3">
                <a:extLst>
                  <a:ext uri="{FF2B5EF4-FFF2-40B4-BE49-F238E27FC236}">
                    <a16:creationId xmlns:a16="http://schemas.microsoft.com/office/drawing/2014/main" id="{CC9F2829-A338-4D2C-AA80-FBAEE92E74E3}"/>
                  </a:ext>
                </a:extLst>
              </p:cNvPr>
              <p:cNvSpPr txBox="1">
                <a:spLocks noRot="1" noChangeAspect="1" noMove="1" noResize="1" noEditPoints="1" noAdjustHandles="1" noChangeArrowheads="1" noChangeShapeType="1" noTextEdit="1"/>
              </p:cNvSpPr>
              <p:nvPr/>
            </p:nvSpPr>
            <p:spPr bwMode="auto">
              <a:xfrm>
                <a:off x="1114425" y="4754761"/>
                <a:ext cx="2232025" cy="477838"/>
              </a:xfrm>
              <a:prstGeom prst="rect">
                <a:avLst/>
              </a:prstGeom>
              <a:blipFill>
                <a:blip r:embed="rId2"/>
                <a:stretch>
                  <a:fillRect l="-820" r="-1913" b="-1666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748" name="Object 4">
                <a:extLst>
                  <a:ext uri="{FF2B5EF4-FFF2-40B4-BE49-F238E27FC236}">
                    <a16:creationId xmlns:a16="http://schemas.microsoft.com/office/drawing/2014/main" id="{5419437C-818D-42A3-901D-A441C206AF3B}"/>
                  </a:ext>
                </a:extLst>
              </p:cNvPr>
              <p:cNvSpPr txBox="1"/>
              <p:nvPr/>
            </p:nvSpPr>
            <p:spPr bwMode="auto">
              <a:xfrm>
                <a:off x="1085751" y="5349080"/>
                <a:ext cx="4350568" cy="461666"/>
              </a:xfrm>
              <a:prstGeom prst="rect">
                <a:avLst/>
              </a:prstGeom>
              <a:noFill/>
              <a:ln>
                <a:noFill/>
              </a:ln>
              <a:effectLst/>
            </p:spPr>
            <p:txBody>
              <a:bodyPr>
                <a:noAutofit/>
              </a:bodyPr>
              <a:lstStyle/>
              <a:p>
                <a14:m>
                  <m:oMath xmlns:m="http://schemas.openxmlformats.org/officeDocument/2006/math">
                    <m:r>
                      <a:rPr lang="en-US" sz="2400" b="0" i="1" smtClean="0">
                        <a:solidFill>
                          <a:schemeClr val="tx1"/>
                        </a:solidFill>
                        <a:latin typeface="Cambria Math" panose="02040503050406030204" pitchFamily="18" charset="0"/>
                      </a:rPr>
                      <m:t>𝑦</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nary>
                      <m:naryPr>
                        <m:chr m:val="∑"/>
                        <m:ctrlPr>
                          <a:rPr lang="en-US" sz="2400" i="1">
                            <a:solidFill>
                              <a:schemeClr val="tx1"/>
                            </a:solidFill>
                            <a:latin typeface="Cambria Math" panose="02040503050406030204" pitchFamily="18" charset="0"/>
                          </a:rPr>
                        </m:ctrlPr>
                      </m:naryPr>
                      <m:sub>
                        <m:r>
                          <a:rPr lang="en-US" sz="2400" b="0" i="1">
                            <a:solidFill>
                              <a:schemeClr val="tx1"/>
                            </a:solidFill>
                            <a:latin typeface="Cambria Math" panose="02040503050406030204" pitchFamily="18" charset="0"/>
                          </a:rPr>
                          <m:t>𝑘</m:t>
                        </m:r>
                        <m:r>
                          <a:rPr lang="en-US" sz="2400" b="0" i="1">
                            <a:solidFill>
                              <a:schemeClr val="tx1"/>
                            </a:solidFill>
                            <a:latin typeface="Cambria Math" panose="02040503050406030204" pitchFamily="18" charset="0"/>
                          </a:rPr>
                          <m:t>=−∞</m:t>
                        </m:r>
                      </m:sub>
                      <m:sup>
                        <m:r>
                          <a:rPr lang="en-US" sz="2400" b="0" i="1">
                            <a:solidFill>
                              <a:schemeClr val="tx1"/>
                            </a:solidFill>
                            <a:latin typeface="Cambria Math" panose="02040503050406030204" pitchFamily="18" charset="0"/>
                          </a:rPr>
                          <m:t>𝑛</m:t>
                        </m:r>
                      </m:sup>
                      <m:e>
                        <m:r>
                          <a:rPr lang="en-US" sz="2400" b="0" i="1">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𝑘</m:t>
                        </m:r>
                        <m:r>
                          <a:rPr lang="en-US" sz="2400" b="0" i="1" smtClean="0">
                            <a:solidFill>
                              <a:schemeClr val="tx1"/>
                            </a:solidFill>
                            <a:latin typeface="Cambria Math" panose="02040503050406030204" pitchFamily="18" charset="0"/>
                          </a:rPr>
                          <m:t>]</m:t>
                        </m:r>
                      </m:e>
                    </m:nary>
                  </m:oMath>
                </a14:m>
                <a:r>
                  <a:rPr lang="en-US" sz="2400" dirty="0">
                    <a:solidFill>
                      <a:schemeClr val="tx1"/>
                    </a:solidFill>
                  </a:rPr>
                  <a:t> </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（累加器）</a:t>
                </a:r>
                <a:endParaRPr lang="en-US" sz="2400" dirty="0">
                  <a:solidFill>
                    <a:schemeClr val="tx1"/>
                  </a:solidFill>
                </a:endParaRPr>
              </a:p>
            </p:txBody>
          </p:sp>
        </mc:Choice>
        <mc:Fallback xmlns="">
          <p:sp>
            <p:nvSpPr>
              <p:cNvPr id="31748" name="Object 4">
                <a:extLst>
                  <a:ext uri="{FF2B5EF4-FFF2-40B4-BE49-F238E27FC236}">
                    <a16:creationId xmlns:a16="http://schemas.microsoft.com/office/drawing/2014/main" id="{5419437C-818D-42A3-901D-A441C206AF3B}"/>
                  </a:ext>
                </a:extLst>
              </p:cNvPr>
              <p:cNvSpPr txBox="1">
                <a:spLocks noRot="1" noChangeAspect="1" noMove="1" noResize="1" noEditPoints="1" noAdjustHandles="1" noChangeArrowheads="1" noChangeShapeType="1" noTextEdit="1"/>
              </p:cNvSpPr>
              <p:nvPr/>
            </p:nvSpPr>
            <p:spPr bwMode="auto">
              <a:xfrm>
                <a:off x="1085751" y="5349080"/>
                <a:ext cx="4350568" cy="461666"/>
              </a:xfrm>
              <a:prstGeom prst="rect">
                <a:avLst/>
              </a:prstGeom>
              <a:blipFill>
                <a:blip r:embed="rId3"/>
                <a:stretch>
                  <a:fillRect l="-420" t="-130263" b="-194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749" name="Object 5">
                <a:extLst>
                  <a:ext uri="{FF2B5EF4-FFF2-40B4-BE49-F238E27FC236}">
                    <a16:creationId xmlns:a16="http://schemas.microsoft.com/office/drawing/2014/main" id="{4D47CE69-1801-4CEB-9DEE-EDCC36EEAF49}"/>
                  </a:ext>
                </a:extLst>
              </p:cNvPr>
              <p:cNvSpPr txBox="1"/>
              <p:nvPr/>
            </p:nvSpPr>
            <p:spPr bwMode="auto">
              <a:xfrm>
                <a:off x="1117501" y="5927227"/>
                <a:ext cx="4952031" cy="519112"/>
              </a:xfrm>
              <a:prstGeom prst="rect">
                <a:avLst/>
              </a:prstGeom>
              <a:noFill/>
              <a:ln>
                <a:noFill/>
              </a:ln>
              <a:effectLst/>
            </p:spPr>
            <p:txBody>
              <a:bodyPr>
                <a:noAutofit/>
              </a:bodyPr>
              <a:lstStyle/>
              <a:p>
                <a14:m>
                  <m:oMath xmlns:m="http://schemas.openxmlformats.org/officeDocument/2006/math">
                    <m:r>
                      <a:rPr lang="en-US" sz="2400" b="0" i="1" smtClean="0">
                        <a:solidFill>
                          <a:schemeClr val="tx1"/>
                        </a:solidFill>
                        <a:latin typeface="Cambria Math" panose="02040503050406030204" pitchFamily="18" charset="0"/>
                      </a:rPr>
                      <m:t>𝑦</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−1</m:t>
                    </m:r>
                  </m:oMath>
                </a14:m>
                <a:r>
                  <a:rPr lang="en-US" sz="2400" dirty="0">
                    <a:solidFill>
                      <a:schemeClr val="tx1"/>
                    </a:solidFill>
                  </a:rPr>
                  <a:t>] </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（差分器）</a:t>
                </a:r>
                <a:endParaRPr lang="en-US" sz="2400" dirty="0">
                  <a:solidFill>
                    <a:schemeClr val="tx1"/>
                  </a:solidFill>
                </a:endParaRPr>
              </a:p>
            </p:txBody>
          </p:sp>
        </mc:Choice>
        <mc:Fallback xmlns="">
          <p:sp>
            <p:nvSpPr>
              <p:cNvPr id="31749" name="Object 5">
                <a:extLst>
                  <a:ext uri="{FF2B5EF4-FFF2-40B4-BE49-F238E27FC236}">
                    <a16:creationId xmlns:a16="http://schemas.microsoft.com/office/drawing/2014/main" id="{4D47CE69-1801-4CEB-9DEE-EDCC36EEAF49}"/>
                  </a:ext>
                </a:extLst>
              </p:cNvPr>
              <p:cNvSpPr txBox="1">
                <a:spLocks noRot="1" noChangeAspect="1" noMove="1" noResize="1" noEditPoints="1" noAdjustHandles="1" noChangeArrowheads="1" noChangeShapeType="1" noTextEdit="1"/>
              </p:cNvSpPr>
              <p:nvPr/>
            </p:nvSpPr>
            <p:spPr bwMode="auto">
              <a:xfrm>
                <a:off x="1117501" y="5927227"/>
                <a:ext cx="4952031" cy="519112"/>
              </a:xfrm>
              <a:prstGeom prst="rect">
                <a:avLst/>
              </a:prstGeom>
              <a:blipFill>
                <a:blip r:embed="rId4"/>
                <a:stretch>
                  <a:fillRect l="-369" t="-10588" b="-1647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61C9A26-8CD2-433E-ACBE-FFE1EE100D14}"/>
                  </a:ext>
                </a:extLst>
              </p:cNvPr>
              <p:cNvSpPr txBox="1"/>
              <p:nvPr/>
            </p:nvSpPr>
            <p:spPr>
              <a:xfrm>
                <a:off x="600074" y="1345313"/>
                <a:ext cx="8086725" cy="830997"/>
              </a:xfrm>
              <a:prstGeom prst="rect">
                <a:avLst/>
              </a:prstGeom>
              <a:noFill/>
            </p:spPr>
            <p:txBody>
              <a:bodyPr wrap="square">
                <a:spAutoFit/>
              </a:bodyPr>
              <a:lstStyle/>
              <a:p>
                <a:pPr algn="just"/>
                <a:r>
                  <a:rPr lang="zh-CN" altLang="en-US" sz="2400" dirty="0">
                    <a:solidFill>
                      <a:srgbClr val="FF0000"/>
                    </a:solidFill>
                    <a:latin typeface="Times New Roman" pitchFamily="18" charset="0"/>
                    <a:ea typeface="华文楷体" pitchFamily="2" charset="-122"/>
                  </a:rPr>
                  <a:t>记忆系统实例</a:t>
                </a:r>
                <a:r>
                  <a:rPr lang="zh-CN" altLang="en-US" sz="2400" dirty="0">
                    <a:solidFill>
                      <a:prstClr val="black"/>
                    </a:solidFill>
                    <a:latin typeface="Times New Roman" pitchFamily="18" charset="0"/>
                    <a:ea typeface="华文楷体" pitchFamily="2" charset="-122"/>
                  </a:rPr>
                  <a:t>：在下面的包含电容器的网络中，输出电压</a:t>
                </a:r>
                <a14:m>
                  <m:oMath xmlns:m="http://schemas.openxmlformats.org/officeDocument/2006/math">
                    <m:r>
                      <a:rPr lang="en-US" altLang="zh-CN" sz="2400" i="1">
                        <a:solidFill>
                          <a:prstClr val="black"/>
                        </a:solidFill>
                        <a:latin typeface="Cambria Math" panose="02040503050406030204" pitchFamily="18" charset="0"/>
                        <a:ea typeface="华文楷体" pitchFamily="2" charset="-122"/>
                      </a:rPr>
                      <m:t>𝑣</m:t>
                    </m:r>
                    <m:r>
                      <a:rPr lang="en-US" altLang="zh-CN" sz="2400" i="1">
                        <a:solidFill>
                          <a:prstClr val="black"/>
                        </a:solidFill>
                        <a:latin typeface="Cambria Math" panose="02040503050406030204" pitchFamily="18" charset="0"/>
                        <a:ea typeface="华文楷体" pitchFamily="2" charset="-122"/>
                      </a:rPr>
                      <m:t>(</m:t>
                    </m:r>
                    <m:sSub>
                      <m:sSubPr>
                        <m:ctrlPr>
                          <a:rPr lang="en-US" altLang="zh-CN" sz="2400" i="1" smtClean="0">
                            <a:solidFill>
                              <a:prstClr val="black"/>
                            </a:solidFill>
                            <a:latin typeface="Cambria Math" panose="02040503050406030204" pitchFamily="18" charset="0"/>
                            <a:ea typeface="华文楷体" pitchFamily="2" charset="-122"/>
                          </a:rPr>
                        </m:ctrlPr>
                      </m:sSubPr>
                      <m:e>
                        <m:r>
                          <a:rPr lang="en-US" altLang="zh-CN" sz="2400" b="0" i="1" smtClean="0">
                            <a:solidFill>
                              <a:prstClr val="black"/>
                            </a:solidFill>
                            <a:latin typeface="Cambria Math" panose="02040503050406030204" pitchFamily="18" charset="0"/>
                            <a:ea typeface="华文楷体" pitchFamily="2" charset="-122"/>
                          </a:rPr>
                          <m:t>𝑡</m:t>
                        </m:r>
                      </m:e>
                      <m:sub>
                        <m:r>
                          <a:rPr lang="en-US" altLang="zh-CN" sz="2400" b="0" i="1" smtClean="0">
                            <a:solidFill>
                              <a:prstClr val="black"/>
                            </a:solidFill>
                            <a:latin typeface="Cambria Math" panose="02040503050406030204" pitchFamily="18" charset="0"/>
                            <a:ea typeface="华文楷体" pitchFamily="2" charset="-122"/>
                          </a:rPr>
                          <m:t>0</m:t>
                        </m:r>
                      </m:sub>
                    </m:sSub>
                    <m:r>
                      <a:rPr lang="en-US" altLang="zh-CN" sz="2400" i="1">
                        <a:solidFill>
                          <a:prstClr val="black"/>
                        </a:solidFill>
                        <a:latin typeface="Cambria Math" panose="02040503050406030204" pitchFamily="18" charset="0"/>
                        <a:ea typeface="华文楷体" pitchFamily="2" charset="-122"/>
                      </a:rPr>
                      <m:t>)</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决定于</a:t>
                </a:r>
                <a14:m>
                  <m:oMath xmlns:m="http://schemas.openxmlformats.org/officeDocument/2006/math">
                    <m:sSub>
                      <m:sSubPr>
                        <m:ctrlPr>
                          <a:rPr lang="en-US" altLang="zh-CN" sz="2400" i="1">
                            <a:solidFill>
                              <a:prstClr val="black"/>
                            </a:solidFill>
                            <a:latin typeface="Cambria Math" panose="02040503050406030204" pitchFamily="18" charset="0"/>
                            <a:ea typeface="华文楷体" pitchFamily="2" charset="-122"/>
                          </a:rPr>
                        </m:ctrlPr>
                      </m:sSubPr>
                      <m:e>
                        <m:r>
                          <a:rPr lang="en-US" altLang="zh-CN" sz="2400" i="1">
                            <a:solidFill>
                              <a:prstClr val="black"/>
                            </a:solidFill>
                            <a:latin typeface="Cambria Math" panose="02040503050406030204" pitchFamily="18" charset="0"/>
                            <a:ea typeface="华文楷体" pitchFamily="2" charset="-122"/>
                          </a:rPr>
                          <m:t>𝑡</m:t>
                        </m:r>
                      </m:e>
                      <m:sub>
                        <m:r>
                          <a:rPr lang="en-US" altLang="zh-CN" sz="2400" i="1">
                            <a:solidFill>
                              <a:prstClr val="black"/>
                            </a:solidFill>
                            <a:latin typeface="Cambria Math" panose="02040503050406030204" pitchFamily="18" charset="0"/>
                            <a:ea typeface="华文楷体" pitchFamily="2" charset="-122"/>
                          </a:rPr>
                          <m:t>0</m:t>
                        </m:r>
                      </m:sub>
                    </m:sSub>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时刻及之前的输入电流</a:t>
                </a:r>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t>𝑖</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t>(</m:t>
                    </m:r>
                    <m:sSub>
                      <m:sSubPr>
                        <m:ctrlPr>
                          <a:rPr lang="en-US" altLang="zh-CN" sz="2400" i="1">
                            <a:solidFill>
                              <a:prstClr val="black"/>
                            </a:solidFill>
                            <a:latin typeface="Cambria Math" panose="02040503050406030204" pitchFamily="18" charset="0"/>
                            <a:ea typeface="华文楷体" pitchFamily="2" charset="-122"/>
                          </a:rPr>
                        </m:ctrlPr>
                      </m:sSubPr>
                      <m:e>
                        <m:r>
                          <a:rPr lang="en-US" altLang="zh-CN" sz="2400" i="1">
                            <a:solidFill>
                              <a:prstClr val="black"/>
                            </a:solidFill>
                            <a:latin typeface="Cambria Math" panose="02040503050406030204" pitchFamily="18" charset="0"/>
                            <a:ea typeface="华文楷体" pitchFamily="2" charset="-122"/>
                          </a:rPr>
                          <m:t>𝑡</m:t>
                        </m:r>
                      </m:e>
                      <m:sub>
                        <m:r>
                          <a:rPr lang="en-US" altLang="zh-CN" sz="2400" i="1">
                            <a:solidFill>
                              <a:prstClr val="black"/>
                            </a:solidFill>
                            <a:latin typeface="Cambria Math" panose="02040503050406030204" pitchFamily="18" charset="0"/>
                            <a:ea typeface="华文楷体" pitchFamily="2" charset="-122"/>
                          </a:rPr>
                          <m:t>0</m:t>
                        </m:r>
                      </m:sub>
                    </m:s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t>)</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 ：</a:t>
                </a:r>
                <a:endParaRPr lang="en-US" dirty="0"/>
              </a:p>
            </p:txBody>
          </p:sp>
        </mc:Choice>
        <mc:Fallback xmlns="">
          <p:sp>
            <p:nvSpPr>
              <p:cNvPr id="11" name="文本框 10">
                <a:extLst>
                  <a:ext uri="{FF2B5EF4-FFF2-40B4-BE49-F238E27FC236}">
                    <a16:creationId xmlns:a16="http://schemas.microsoft.com/office/drawing/2014/main" id="{961C9A26-8CD2-433E-ACBE-FFE1EE100D14}"/>
                  </a:ext>
                </a:extLst>
              </p:cNvPr>
              <p:cNvSpPr txBox="1">
                <a:spLocks noRot="1" noChangeAspect="1" noMove="1" noResize="1" noEditPoints="1" noAdjustHandles="1" noChangeArrowheads="1" noChangeShapeType="1" noTextEdit="1"/>
              </p:cNvSpPr>
              <p:nvPr/>
            </p:nvSpPr>
            <p:spPr>
              <a:xfrm>
                <a:off x="600074" y="1345313"/>
                <a:ext cx="8086725" cy="830997"/>
              </a:xfrm>
              <a:prstGeom prst="rect">
                <a:avLst/>
              </a:prstGeom>
              <a:blipFill>
                <a:blip r:embed="rId5"/>
                <a:stretch>
                  <a:fillRect l="-1130" t="-5882" r="-1130" b="-16912"/>
                </a:stretch>
              </a:blipFill>
            </p:spPr>
            <p:txBody>
              <a:bodyPr/>
              <a:lstStyle/>
              <a:p>
                <a:r>
                  <a:rPr lang="en-US">
                    <a:noFill/>
                  </a:rPr>
                  <a:t> </a:t>
                </a:r>
              </a:p>
            </p:txBody>
          </p:sp>
        </mc:Fallback>
      </mc:AlternateContent>
      <p:pic>
        <p:nvPicPr>
          <p:cNvPr id="3" name="图片 2">
            <a:extLst>
              <a:ext uri="{FF2B5EF4-FFF2-40B4-BE49-F238E27FC236}">
                <a16:creationId xmlns:a16="http://schemas.microsoft.com/office/drawing/2014/main" id="{260494AD-D8A9-4609-BD4C-DF44929C4566}"/>
              </a:ext>
            </a:extLst>
          </p:cNvPr>
          <p:cNvPicPr>
            <a:picLocks noChangeAspect="1"/>
          </p:cNvPicPr>
          <p:nvPr/>
        </p:nvPicPr>
        <p:blipFill>
          <a:blip r:embed="rId6"/>
          <a:stretch>
            <a:fillRect/>
          </a:stretch>
        </p:blipFill>
        <p:spPr>
          <a:xfrm>
            <a:off x="1114425" y="2204864"/>
            <a:ext cx="6915150" cy="19145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54"/>
                                        </p:tgtEl>
                                        <p:attrNameLst>
                                          <p:attrName>style.visibility</p:attrName>
                                        </p:attrNameLst>
                                      </p:cBhvr>
                                      <p:to>
                                        <p:strVal val="visible"/>
                                      </p:to>
                                    </p:set>
                                    <p:anim calcmode="lin" valueType="num">
                                      <p:cBhvr additive="base">
                                        <p:cTn id="7" dur="500" fill="hold"/>
                                        <p:tgtEl>
                                          <p:spTgt spid="31754"/>
                                        </p:tgtEl>
                                        <p:attrNameLst>
                                          <p:attrName>ppt_x</p:attrName>
                                        </p:attrNameLst>
                                      </p:cBhvr>
                                      <p:tavLst>
                                        <p:tav tm="0">
                                          <p:val>
                                            <p:strVal val="#ppt_x"/>
                                          </p:val>
                                        </p:tav>
                                        <p:tav tm="100000">
                                          <p:val>
                                            <p:strVal val="#ppt_x"/>
                                          </p:val>
                                        </p:tav>
                                      </p:tavLst>
                                    </p:anim>
                                    <p:anim calcmode="lin" valueType="num">
                                      <p:cBhvr additive="base">
                                        <p:cTn id="8" dur="500" fill="hold"/>
                                        <p:tgtEl>
                                          <p:spTgt spid="3175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747"/>
                                        </p:tgtEl>
                                        <p:attrNameLst>
                                          <p:attrName>style.visibility</p:attrName>
                                        </p:attrNameLst>
                                      </p:cBhvr>
                                      <p:to>
                                        <p:strVal val="visible"/>
                                      </p:to>
                                    </p:set>
                                    <p:anim calcmode="lin" valueType="num">
                                      <p:cBhvr additive="base">
                                        <p:cTn id="11" dur="500" fill="hold"/>
                                        <p:tgtEl>
                                          <p:spTgt spid="31747"/>
                                        </p:tgtEl>
                                        <p:attrNameLst>
                                          <p:attrName>ppt_x</p:attrName>
                                        </p:attrNameLst>
                                      </p:cBhvr>
                                      <p:tavLst>
                                        <p:tav tm="0">
                                          <p:val>
                                            <p:strVal val="#ppt_x"/>
                                          </p:val>
                                        </p:tav>
                                        <p:tav tm="100000">
                                          <p:val>
                                            <p:strVal val="#ppt_x"/>
                                          </p:val>
                                        </p:tav>
                                      </p:tavLst>
                                    </p:anim>
                                    <p:anim calcmode="lin" valueType="num">
                                      <p:cBhvr additive="base">
                                        <p:cTn id="12" dur="500" fill="hold"/>
                                        <p:tgtEl>
                                          <p:spTgt spid="3174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1748"/>
                                        </p:tgtEl>
                                        <p:attrNameLst>
                                          <p:attrName>style.visibility</p:attrName>
                                        </p:attrNameLst>
                                      </p:cBhvr>
                                      <p:to>
                                        <p:strVal val="visible"/>
                                      </p:to>
                                    </p:set>
                                    <p:anim calcmode="lin" valueType="num">
                                      <p:cBhvr additive="base">
                                        <p:cTn id="15" dur="500" fill="hold"/>
                                        <p:tgtEl>
                                          <p:spTgt spid="31748"/>
                                        </p:tgtEl>
                                        <p:attrNameLst>
                                          <p:attrName>ppt_x</p:attrName>
                                        </p:attrNameLst>
                                      </p:cBhvr>
                                      <p:tavLst>
                                        <p:tav tm="0">
                                          <p:val>
                                            <p:strVal val="#ppt_x"/>
                                          </p:val>
                                        </p:tav>
                                        <p:tav tm="100000">
                                          <p:val>
                                            <p:strVal val="#ppt_x"/>
                                          </p:val>
                                        </p:tav>
                                      </p:tavLst>
                                    </p:anim>
                                    <p:anim calcmode="lin" valueType="num">
                                      <p:cBhvr additive="base">
                                        <p:cTn id="16" dur="500" fill="hold"/>
                                        <p:tgtEl>
                                          <p:spTgt spid="3174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1749"/>
                                        </p:tgtEl>
                                        <p:attrNameLst>
                                          <p:attrName>style.visibility</p:attrName>
                                        </p:attrNameLst>
                                      </p:cBhvr>
                                      <p:to>
                                        <p:strVal val="visible"/>
                                      </p:to>
                                    </p:set>
                                    <p:anim calcmode="lin" valueType="num">
                                      <p:cBhvr additive="base">
                                        <p:cTn id="19" dur="500" fill="hold"/>
                                        <p:tgtEl>
                                          <p:spTgt spid="31749"/>
                                        </p:tgtEl>
                                        <p:attrNameLst>
                                          <p:attrName>ppt_x</p:attrName>
                                        </p:attrNameLst>
                                      </p:cBhvr>
                                      <p:tavLst>
                                        <p:tav tm="0">
                                          <p:val>
                                            <p:strVal val="#ppt_x"/>
                                          </p:val>
                                        </p:tav>
                                        <p:tav tm="100000">
                                          <p:val>
                                            <p:strVal val="#ppt_x"/>
                                          </p:val>
                                        </p:tav>
                                      </p:tavLst>
                                    </p:anim>
                                    <p:anim calcmode="lin" valueType="num">
                                      <p:cBhvr additive="base">
                                        <p:cTn id="20" dur="500" fill="hold"/>
                                        <p:tgtEl>
                                          <p:spTgt spid="317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4" grpId="0"/>
      <p:bldP spid="31747" grpId="0"/>
      <p:bldP spid="31748" grpId="0"/>
      <p:bldP spid="31749"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6" name="标题 1">
            <a:extLst>
              <a:ext uri="{FF2B5EF4-FFF2-40B4-BE49-F238E27FC236}">
                <a16:creationId xmlns:a16="http://schemas.microsoft.com/office/drawing/2014/main" id="{9BFA58EA-8B4B-4782-B4A8-5653F16C7A63}"/>
              </a:ext>
            </a:extLst>
          </p:cNvPr>
          <p:cNvSpPr>
            <a:spLocks noGrp="1"/>
          </p:cNvSpPr>
          <p:nvPr>
            <p:ph type="title"/>
          </p:nvPr>
        </p:nvSpPr>
        <p:spPr/>
        <p:txBody>
          <a:bodyPr/>
          <a:lstStyle/>
          <a:p>
            <a:r>
              <a:rPr lang="en-US" altLang="zh-CN"/>
              <a:t>1.6 </a:t>
            </a:r>
            <a:r>
              <a:rPr lang="zh-CN" altLang="en-US"/>
              <a:t>系统的基本性质</a:t>
            </a:r>
          </a:p>
        </p:txBody>
      </p:sp>
      <p:sp>
        <p:nvSpPr>
          <p:cNvPr id="32777" name="内容占位符 2">
            <a:extLst>
              <a:ext uri="{FF2B5EF4-FFF2-40B4-BE49-F238E27FC236}">
                <a16:creationId xmlns:a16="http://schemas.microsoft.com/office/drawing/2014/main" id="{B0668A41-D77E-4C59-A508-357AA7C9DCFF}"/>
              </a:ext>
            </a:extLst>
          </p:cNvPr>
          <p:cNvSpPr>
            <a:spLocks noGrp="1"/>
          </p:cNvSpPr>
          <p:nvPr>
            <p:ph idx="1"/>
          </p:nvPr>
        </p:nvSpPr>
        <p:spPr>
          <a:xfrm>
            <a:off x="457200" y="1285875"/>
            <a:ext cx="8229600" cy="3089692"/>
          </a:xfrm>
        </p:spPr>
        <p:txBody>
          <a:bodyPr>
            <a:spAutoFit/>
          </a:bodyPr>
          <a:lstStyle/>
          <a:p>
            <a:pPr algn="just">
              <a:lnSpc>
                <a:spcPct val="130000"/>
              </a:lnSpc>
              <a:spcBef>
                <a:spcPts val="0"/>
              </a:spcBef>
              <a:spcAft>
                <a:spcPts val="600"/>
              </a:spcAft>
            </a:pPr>
            <a:r>
              <a:rPr lang="zh-CN" altLang="en-US" sz="2400" b="0" dirty="0"/>
              <a:t>二</a:t>
            </a:r>
            <a:r>
              <a:rPr lang="en-US" altLang="zh-CN" sz="2400" b="0" dirty="0"/>
              <a:t>. </a:t>
            </a:r>
            <a:r>
              <a:rPr lang="zh-CN" altLang="en-US" sz="2400" b="0" dirty="0"/>
              <a:t>可逆性与逆系统</a:t>
            </a:r>
            <a:endParaRPr lang="en-US" altLang="zh-CN" sz="2400" b="0" dirty="0"/>
          </a:p>
          <a:p>
            <a:pPr lvl="1" algn="just">
              <a:lnSpc>
                <a:spcPct val="130000"/>
              </a:lnSpc>
              <a:spcBef>
                <a:spcPts val="0"/>
              </a:spcBef>
              <a:spcAft>
                <a:spcPts val="600"/>
              </a:spcAft>
            </a:pPr>
            <a:r>
              <a:rPr lang="zh-CN" altLang="en-US" sz="2400" b="0" dirty="0"/>
              <a:t>如果一个系统对任何不同的输入都能产生不同的输出，即输入与输出是一一对应的，则称该系统是</a:t>
            </a:r>
            <a:r>
              <a:rPr lang="zh-CN" altLang="en-US" sz="2400" dirty="0">
                <a:solidFill>
                  <a:srgbClr val="FF0000"/>
                </a:solidFill>
              </a:rPr>
              <a:t>可逆系统</a:t>
            </a:r>
            <a:r>
              <a:rPr lang="zh-CN" altLang="en-US" sz="2400" b="0" dirty="0"/>
              <a:t>。反之，称为</a:t>
            </a:r>
            <a:r>
              <a:rPr lang="zh-CN" altLang="en-US" sz="2400" dirty="0">
                <a:solidFill>
                  <a:srgbClr val="FF0000"/>
                </a:solidFill>
              </a:rPr>
              <a:t>不可逆系统</a:t>
            </a:r>
            <a:r>
              <a:rPr lang="zh-CN" altLang="en-US" sz="2400" b="0" dirty="0"/>
              <a:t>。</a:t>
            </a:r>
            <a:endParaRPr lang="en-US" altLang="zh-CN" sz="2400" b="0" dirty="0"/>
          </a:p>
          <a:p>
            <a:pPr lvl="1" algn="just">
              <a:lnSpc>
                <a:spcPct val="130000"/>
              </a:lnSpc>
              <a:spcBef>
                <a:spcPts val="0"/>
              </a:spcBef>
              <a:spcAft>
                <a:spcPts val="600"/>
              </a:spcAft>
            </a:pPr>
            <a:r>
              <a:rPr lang="zh-CN" altLang="en-US" sz="2400" b="0" dirty="0"/>
              <a:t>一个可逆系统与另一个系统级联后构成一个恒等系统，则称后者是前者的</a:t>
            </a:r>
            <a:r>
              <a:rPr lang="zh-CN" altLang="en-US" sz="2400" dirty="0">
                <a:solidFill>
                  <a:srgbClr val="FF0000"/>
                </a:solidFill>
              </a:rPr>
              <a:t>逆系统</a:t>
            </a:r>
            <a:r>
              <a:rPr lang="zh-CN" altLang="en-US" sz="2400" b="0" dirty="0"/>
              <a:t> 。</a:t>
            </a:r>
          </a:p>
        </p:txBody>
      </p:sp>
      <p:sp>
        <p:nvSpPr>
          <p:cNvPr id="4" name="灯片编号占位符 3">
            <a:extLst>
              <a:ext uri="{FF2B5EF4-FFF2-40B4-BE49-F238E27FC236}">
                <a16:creationId xmlns:a16="http://schemas.microsoft.com/office/drawing/2014/main" id="{CA243D16-1C67-412A-89B2-EA7E1C3ECC0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80C07AD-DCD2-4A12-9D3B-78B8B5A0A37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32779" name="Group 3">
            <a:extLst>
              <a:ext uri="{FF2B5EF4-FFF2-40B4-BE49-F238E27FC236}">
                <a16:creationId xmlns:a16="http://schemas.microsoft.com/office/drawing/2014/main" id="{6FC069C6-C97C-4072-8EED-D0907BE1AE13}"/>
              </a:ext>
            </a:extLst>
          </p:cNvPr>
          <p:cNvGrpSpPr>
            <a:grpSpLocks/>
          </p:cNvGrpSpPr>
          <p:nvPr/>
        </p:nvGrpSpPr>
        <p:grpSpPr bwMode="auto">
          <a:xfrm>
            <a:off x="2165350" y="4618260"/>
            <a:ext cx="4813300" cy="1042988"/>
            <a:chOff x="1478" y="1499"/>
            <a:chExt cx="3032" cy="657"/>
          </a:xfrm>
        </p:grpSpPr>
        <p:sp>
          <p:nvSpPr>
            <p:cNvPr id="32780" name="Rectangle 4">
              <a:extLst>
                <a:ext uri="{FF2B5EF4-FFF2-40B4-BE49-F238E27FC236}">
                  <a16:creationId xmlns:a16="http://schemas.microsoft.com/office/drawing/2014/main" id="{8EA6CB3E-ACBA-45E7-ADD5-757F74B2DA4F}"/>
                </a:ext>
              </a:extLst>
            </p:cNvPr>
            <p:cNvSpPr>
              <a:spLocks noChangeArrowheads="1"/>
            </p:cNvSpPr>
            <p:nvPr/>
          </p:nvSpPr>
          <p:spPr bwMode="auto">
            <a:xfrm>
              <a:off x="2060" y="1600"/>
              <a:ext cx="636" cy="409"/>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endParaRPr kumimoji="0" lang="en-US" altLang="zh-CN" sz="24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sp>
          <p:nvSpPr>
            <p:cNvPr id="32781" name="Rectangle 5">
              <a:extLst>
                <a:ext uri="{FF2B5EF4-FFF2-40B4-BE49-F238E27FC236}">
                  <a16:creationId xmlns:a16="http://schemas.microsoft.com/office/drawing/2014/main" id="{C104743A-2AA7-40C3-A95D-1B30243D4260}"/>
                </a:ext>
              </a:extLst>
            </p:cNvPr>
            <p:cNvSpPr>
              <a:spLocks noChangeArrowheads="1"/>
            </p:cNvSpPr>
            <p:nvPr/>
          </p:nvSpPr>
          <p:spPr bwMode="auto">
            <a:xfrm>
              <a:off x="3285" y="1600"/>
              <a:ext cx="636" cy="409"/>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逆系统</a:t>
              </a:r>
              <a:endParaRPr kumimoji="0" lang="en-US" altLang="zh-CN" sz="2400" i="0" u="none" strike="noStrike" kern="1200" cap="none" spc="0" normalizeH="0" baseline="0" noProof="0" dirty="0">
                <a:ln>
                  <a:noFill/>
                </a:ln>
                <a:solidFill>
                  <a:srgbClr val="000099"/>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sp>
          <p:nvSpPr>
            <p:cNvPr id="32782" name="Line 6">
              <a:extLst>
                <a:ext uri="{FF2B5EF4-FFF2-40B4-BE49-F238E27FC236}">
                  <a16:creationId xmlns:a16="http://schemas.microsoft.com/office/drawing/2014/main" id="{0B1B44ED-EEBF-4B5B-85F7-9448F09717BF}"/>
                </a:ext>
              </a:extLst>
            </p:cNvPr>
            <p:cNvSpPr>
              <a:spLocks noChangeShapeType="1"/>
            </p:cNvSpPr>
            <p:nvPr/>
          </p:nvSpPr>
          <p:spPr bwMode="auto">
            <a:xfrm>
              <a:off x="1516" y="1827"/>
              <a:ext cx="54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2783" name="Line 7">
              <a:extLst>
                <a:ext uri="{FF2B5EF4-FFF2-40B4-BE49-F238E27FC236}">
                  <a16:creationId xmlns:a16="http://schemas.microsoft.com/office/drawing/2014/main" id="{77AA9C88-E4E9-4E8E-9B1A-D305C2E306D3}"/>
                </a:ext>
              </a:extLst>
            </p:cNvPr>
            <p:cNvSpPr>
              <a:spLocks noChangeShapeType="1"/>
            </p:cNvSpPr>
            <p:nvPr/>
          </p:nvSpPr>
          <p:spPr bwMode="auto">
            <a:xfrm>
              <a:off x="2696" y="1827"/>
              <a:ext cx="58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2784" name="Line 8">
              <a:extLst>
                <a:ext uri="{FF2B5EF4-FFF2-40B4-BE49-F238E27FC236}">
                  <a16:creationId xmlns:a16="http://schemas.microsoft.com/office/drawing/2014/main" id="{ECFB2532-B821-4C9D-983B-E4A2FF4F37A0}"/>
                </a:ext>
              </a:extLst>
            </p:cNvPr>
            <p:cNvSpPr>
              <a:spLocks noChangeShapeType="1"/>
            </p:cNvSpPr>
            <p:nvPr/>
          </p:nvSpPr>
          <p:spPr bwMode="auto">
            <a:xfrm>
              <a:off x="3920" y="1827"/>
              <a:ext cx="49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2770" name="Object 2">
                  <a:extLst>
                    <a:ext uri="{FF2B5EF4-FFF2-40B4-BE49-F238E27FC236}">
                      <a16:creationId xmlns:a16="http://schemas.microsoft.com/office/drawing/2014/main" id="{CDC20B65-C271-4E9E-A097-1E0E880333D2}"/>
                    </a:ext>
                  </a:extLst>
                </p:cNvPr>
                <p:cNvSpPr txBox="1"/>
                <p:nvPr/>
              </p:nvSpPr>
              <p:spPr bwMode="auto">
                <a:xfrm>
                  <a:off x="1478" y="1499"/>
                  <a:ext cx="448" cy="31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32770" name="Object 2">
                  <a:extLst>
                    <a:ext uri="{FF2B5EF4-FFF2-40B4-BE49-F238E27FC236}">
                      <a16:creationId xmlns:a16="http://schemas.microsoft.com/office/drawing/2014/main" id="{CDC20B65-C271-4E9E-A097-1E0E880333D2}"/>
                    </a:ext>
                  </a:extLst>
                </p:cNvPr>
                <p:cNvSpPr txBox="1">
                  <a:spLocks noRot="1" noChangeAspect="1" noMove="1" noResize="1" noEditPoints="1" noAdjustHandles="1" noChangeArrowheads="1" noChangeShapeType="1" noTextEdit="1"/>
                </p:cNvSpPr>
                <p:nvPr/>
              </p:nvSpPr>
              <p:spPr bwMode="auto">
                <a:xfrm>
                  <a:off x="1478" y="1499"/>
                  <a:ext cx="448" cy="317"/>
                </a:xfrm>
                <a:prstGeom prst="rect">
                  <a:avLst/>
                </a:prstGeom>
                <a:blipFill>
                  <a:blip r:embed="rId2"/>
                  <a:stretch>
                    <a:fillRect r="-11111" b="-10976"/>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771" name="Object 3">
                  <a:extLst>
                    <a:ext uri="{FF2B5EF4-FFF2-40B4-BE49-F238E27FC236}">
                      <a16:creationId xmlns:a16="http://schemas.microsoft.com/office/drawing/2014/main" id="{C02D127D-DB6A-438E-9DF1-1182FCFDF1BE}"/>
                    </a:ext>
                  </a:extLst>
                </p:cNvPr>
                <p:cNvSpPr txBox="1"/>
                <p:nvPr/>
              </p:nvSpPr>
              <p:spPr bwMode="auto">
                <a:xfrm>
                  <a:off x="1478" y="1839"/>
                  <a:ext cx="467" cy="31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32771" name="Object 3">
                  <a:extLst>
                    <a:ext uri="{FF2B5EF4-FFF2-40B4-BE49-F238E27FC236}">
                      <a16:creationId xmlns:a16="http://schemas.microsoft.com/office/drawing/2014/main" id="{C02D127D-DB6A-438E-9DF1-1182FCFDF1BE}"/>
                    </a:ext>
                  </a:extLst>
                </p:cNvPr>
                <p:cNvSpPr txBox="1">
                  <a:spLocks noRot="1" noChangeAspect="1" noMove="1" noResize="1" noEditPoints="1" noAdjustHandles="1" noChangeArrowheads="1" noChangeShapeType="1" noTextEdit="1"/>
                </p:cNvSpPr>
                <p:nvPr/>
              </p:nvSpPr>
              <p:spPr bwMode="auto">
                <a:xfrm>
                  <a:off x="1478" y="1839"/>
                  <a:ext cx="467" cy="317"/>
                </a:xfrm>
                <a:prstGeom prst="rect">
                  <a:avLst/>
                </a:prstGeom>
                <a:blipFill>
                  <a:blip r:embed="rId3"/>
                  <a:stretch>
                    <a:fillRect r="-8197" b="-963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772" name="Object 4">
                  <a:extLst>
                    <a:ext uri="{FF2B5EF4-FFF2-40B4-BE49-F238E27FC236}">
                      <a16:creationId xmlns:a16="http://schemas.microsoft.com/office/drawing/2014/main" id="{D70AF852-D246-4695-BB1A-37CFD0FDC8C7}"/>
                    </a:ext>
                  </a:extLst>
                </p:cNvPr>
                <p:cNvSpPr txBox="1"/>
                <p:nvPr/>
              </p:nvSpPr>
              <p:spPr bwMode="auto">
                <a:xfrm>
                  <a:off x="2784" y="1499"/>
                  <a:ext cx="448" cy="284"/>
                </a:xfrm>
                <a:prstGeom prst="rect">
                  <a:avLst/>
                </a:prstGeom>
                <a:noFill/>
                <a:ln>
                  <a:noFill/>
                </a:ln>
                <a:effectLst/>
              </p:spPr>
              <p:txBody>
                <a:bodyPr>
                  <a:noAutofit/>
                </a:bodyPr>
                <a:lstStyle/>
                <a:p>
                  <a:pPr/>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32772" name="Object 4">
                  <a:extLst>
                    <a:ext uri="{FF2B5EF4-FFF2-40B4-BE49-F238E27FC236}">
                      <a16:creationId xmlns:a16="http://schemas.microsoft.com/office/drawing/2014/main" id="{D70AF852-D246-4695-BB1A-37CFD0FDC8C7}"/>
                    </a:ext>
                  </a:extLst>
                </p:cNvPr>
                <p:cNvSpPr txBox="1">
                  <a:spLocks noRot="1" noChangeAspect="1" noMove="1" noResize="1" noEditPoints="1" noAdjustHandles="1" noChangeArrowheads="1" noChangeShapeType="1" noTextEdit="1"/>
                </p:cNvSpPr>
                <p:nvPr/>
              </p:nvSpPr>
              <p:spPr bwMode="auto">
                <a:xfrm>
                  <a:off x="2784" y="1499"/>
                  <a:ext cx="448" cy="284"/>
                </a:xfrm>
                <a:prstGeom prst="rect">
                  <a:avLst/>
                </a:prstGeom>
                <a:blipFill>
                  <a:blip r:embed="rId4"/>
                  <a:stretch>
                    <a:fillRect l="-2564" r="-11966" b="-2465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773" name="Object 5">
                  <a:extLst>
                    <a:ext uri="{FF2B5EF4-FFF2-40B4-BE49-F238E27FC236}">
                      <a16:creationId xmlns:a16="http://schemas.microsoft.com/office/drawing/2014/main" id="{2645E2DA-0BAC-4EC6-8762-070C0E3D6B7B}"/>
                    </a:ext>
                  </a:extLst>
                </p:cNvPr>
                <p:cNvSpPr txBox="1"/>
                <p:nvPr/>
              </p:nvSpPr>
              <p:spPr bwMode="auto">
                <a:xfrm>
                  <a:off x="2779" y="1827"/>
                  <a:ext cx="418" cy="317"/>
                </a:xfrm>
                <a:prstGeom prst="rect">
                  <a:avLst/>
                </a:prstGeom>
                <a:noFill/>
                <a:ln>
                  <a:noFill/>
                </a:ln>
                <a:effectLst/>
              </p:spPr>
              <p:txBody>
                <a:bodyPr>
                  <a:noAutofit/>
                </a:bodyPr>
                <a:lstStyle/>
                <a:p>
                  <a:pPr/>
                  <a14:m>
                    <m:oMathPara xmlns:m="http://schemas.openxmlformats.org/officeDocument/2006/math">
                      <m:oMathParaPr>
                        <m:jc m:val="center"/>
                      </m:oMathParaPr>
                      <m:oMath xmlns:m="http://schemas.openxmlformats.org/officeDocument/2006/math">
                        <m:r>
                          <a:rPr lang="en-US" sz="2400" i="1" smtClean="0">
                            <a:solidFill>
                              <a:srgbClr val="000000"/>
                            </a:solidFill>
                            <a:latin typeface="Cambria Math" panose="02040503050406030204" pitchFamily="18" charset="0"/>
                          </a:rPr>
                          <m:t>𝑦</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32773" name="Object 5">
                  <a:extLst>
                    <a:ext uri="{FF2B5EF4-FFF2-40B4-BE49-F238E27FC236}">
                      <a16:creationId xmlns:a16="http://schemas.microsoft.com/office/drawing/2014/main" id="{2645E2DA-0BAC-4EC6-8762-070C0E3D6B7B}"/>
                    </a:ext>
                  </a:extLst>
                </p:cNvPr>
                <p:cNvSpPr txBox="1">
                  <a:spLocks noRot="1" noChangeAspect="1" noMove="1" noResize="1" noEditPoints="1" noAdjustHandles="1" noChangeArrowheads="1" noChangeShapeType="1" noTextEdit="1"/>
                </p:cNvSpPr>
                <p:nvPr/>
              </p:nvSpPr>
              <p:spPr bwMode="auto">
                <a:xfrm>
                  <a:off x="2779" y="1827"/>
                  <a:ext cx="418" cy="317"/>
                </a:xfrm>
                <a:prstGeom prst="rect">
                  <a:avLst/>
                </a:prstGeom>
                <a:blipFill>
                  <a:blip r:embed="rId5"/>
                  <a:stretch>
                    <a:fillRect l="-2752" r="-22018" b="-10976"/>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774" name="Object 6">
                  <a:extLst>
                    <a:ext uri="{FF2B5EF4-FFF2-40B4-BE49-F238E27FC236}">
                      <a16:creationId xmlns:a16="http://schemas.microsoft.com/office/drawing/2014/main" id="{F293CE0C-97F2-44EE-99A4-704897047148}"/>
                    </a:ext>
                  </a:extLst>
                </p:cNvPr>
                <p:cNvSpPr txBox="1"/>
                <p:nvPr/>
              </p:nvSpPr>
              <p:spPr bwMode="auto">
                <a:xfrm>
                  <a:off x="4062" y="1499"/>
                  <a:ext cx="448" cy="29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32774" name="Object 6">
                  <a:extLst>
                    <a:ext uri="{FF2B5EF4-FFF2-40B4-BE49-F238E27FC236}">
                      <a16:creationId xmlns:a16="http://schemas.microsoft.com/office/drawing/2014/main" id="{F293CE0C-97F2-44EE-99A4-704897047148}"/>
                    </a:ext>
                  </a:extLst>
                </p:cNvPr>
                <p:cNvSpPr txBox="1">
                  <a:spLocks noRot="1" noChangeAspect="1" noMove="1" noResize="1" noEditPoints="1" noAdjustHandles="1" noChangeArrowheads="1" noChangeShapeType="1" noTextEdit="1"/>
                </p:cNvSpPr>
                <p:nvPr/>
              </p:nvSpPr>
              <p:spPr bwMode="auto">
                <a:xfrm>
                  <a:off x="4062" y="1499"/>
                  <a:ext cx="448" cy="295"/>
                </a:xfrm>
                <a:prstGeom prst="rect">
                  <a:avLst/>
                </a:prstGeom>
                <a:blipFill>
                  <a:blip r:embed="rId6"/>
                  <a:stretch>
                    <a:fillRect r="-11111"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775" name="Object 7">
                  <a:extLst>
                    <a:ext uri="{FF2B5EF4-FFF2-40B4-BE49-F238E27FC236}">
                      <a16:creationId xmlns:a16="http://schemas.microsoft.com/office/drawing/2014/main" id="{F28CB033-BDDB-450B-8B64-1A54DDF4EBC5}"/>
                    </a:ext>
                  </a:extLst>
                </p:cNvPr>
                <p:cNvSpPr txBox="1"/>
                <p:nvPr/>
              </p:nvSpPr>
              <p:spPr bwMode="auto">
                <a:xfrm>
                  <a:off x="4056" y="1839"/>
                  <a:ext cx="448" cy="29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32775" name="Object 7">
                  <a:extLst>
                    <a:ext uri="{FF2B5EF4-FFF2-40B4-BE49-F238E27FC236}">
                      <a16:creationId xmlns:a16="http://schemas.microsoft.com/office/drawing/2014/main" id="{F28CB033-BDDB-450B-8B64-1A54DDF4EBC5}"/>
                    </a:ext>
                  </a:extLst>
                </p:cNvPr>
                <p:cNvSpPr txBox="1">
                  <a:spLocks noRot="1" noChangeAspect="1" noMove="1" noResize="1" noEditPoints="1" noAdjustHandles="1" noChangeArrowheads="1" noChangeShapeType="1" noTextEdit="1"/>
                </p:cNvSpPr>
                <p:nvPr/>
              </p:nvSpPr>
              <p:spPr bwMode="auto">
                <a:xfrm>
                  <a:off x="4056" y="1839"/>
                  <a:ext cx="448" cy="295"/>
                </a:xfrm>
                <a:prstGeom prst="rect">
                  <a:avLst/>
                </a:prstGeom>
                <a:blipFill>
                  <a:blip r:embed="rId7"/>
                  <a:stretch>
                    <a:fillRect r="-12931" b="-18182"/>
                  </a:stretch>
                </a:blipFill>
                <a:ln>
                  <a:noFill/>
                </a:ln>
                <a:effectLst/>
              </p:spPr>
              <p:txBody>
                <a:bodyPr/>
                <a:lstStyle/>
                <a:p>
                  <a:r>
                    <a:rPr lang="en-US">
                      <a:noFill/>
                    </a:rPr>
                    <a:t> </a:t>
                  </a:r>
                </a:p>
              </p:txBody>
            </p:sp>
          </mc:Fallback>
        </mc:AlternateContent>
      </p:gr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1" name="标题 1">
            <a:extLst>
              <a:ext uri="{FF2B5EF4-FFF2-40B4-BE49-F238E27FC236}">
                <a16:creationId xmlns:a16="http://schemas.microsoft.com/office/drawing/2014/main" id="{CE4FBA37-B8BB-4AAD-BB12-6251711EB63F}"/>
              </a:ext>
            </a:extLst>
          </p:cNvPr>
          <p:cNvSpPr>
            <a:spLocks noGrp="1"/>
          </p:cNvSpPr>
          <p:nvPr>
            <p:ph type="title"/>
          </p:nvPr>
        </p:nvSpPr>
        <p:spPr/>
        <p:txBody>
          <a:bodyPr/>
          <a:lstStyle/>
          <a:p>
            <a:r>
              <a:rPr lang="en-US" altLang="zh-CN"/>
              <a:t>1.6 </a:t>
            </a:r>
            <a:r>
              <a:rPr lang="zh-CN" altLang="en-US"/>
              <a:t>系统的基本性质</a:t>
            </a:r>
          </a:p>
        </p:txBody>
      </p:sp>
      <p:sp>
        <p:nvSpPr>
          <p:cNvPr id="4" name="灯片编号占位符 3">
            <a:extLst>
              <a:ext uri="{FF2B5EF4-FFF2-40B4-BE49-F238E27FC236}">
                <a16:creationId xmlns:a16="http://schemas.microsoft.com/office/drawing/2014/main" id="{43B6E772-5CE9-48BD-8C3E-6461B6B4129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F4B1AA0-A030-4EC7-8AB3-5545513E974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3803" name="Text Box 15">
            <a:extLst>
              <a:ext uri="{FF2B5EF4-FFF2-40B4-BE49-F238E27FC236}">
                <a16:creationId xmlns:a16="http://schemas.microsoft.com/office/drawing/2014/main" id="{76610267-70EE-428A-9039-3C899BAF31CE}"/>
              </a:ext>
            </a:extLst>
          </p:cNvPr>
          <p:cNvSpPr txBox="1">
            <a:spLocks noChangeArrowheads="1"/>
          </p:cNvSpPr>
          <p:nvPr/>
        </p:nvSpPr>
        <p:spPr bwMode="auto">
          <a:xfrm>
            <a:off x="457200" y="1360531"/>
            <a:ext cx="82296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kumimoji="0" lang="zh-CN" altLang="en-US" sz="22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以下系统是否可逆？</a:t>
            </a:r>
            <a:r>
              <a:rPr lang="zh-CN" altLang="en-US" sz="2200" dirty="0">
                <a:latin typeface="Times New Roman" panose="02020603050405020304" pitchFamily="18" charset="0"/>
                <a:ea typeface="华文楷体" panose="02010600040101010101" pitchFamily="2" charset="-122"/>
                <a:cs typeface="楷体_GB2312" panose="02010609030101010101" pitchFamily="49" charset="-122"/>
              </a:rPr>
              <a:t>如果是，请确定其逆系统。</a:t>
            </a:r>
            <a:endParaRPr kumimoji="0" lang="en-US" altLang="zh-CN" sz="22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AlternateContent xmlns:mc="http://schemas.openxmlformats.org/markup-compatibility/2006" xmlns:a14="http://schemas.microsoft.com/office/drawing/2010/main">
        <mc:Choice Requires="a14">
          <p:sp>
            <p:nvSpPr>
              <p:cNvPr id="33808" name="Text Box 8">
                <a:extLst>
                  <a:ext uri="{FF2B5EF4-FFF2-40B4-BE49-F238E27FC236}">
                    <a16:creationId xmlns:a16="http://schemas.microsoft.com/office/drawing/2014/main" id="{B148F88B-470F-4E04-8EDD-DD9297391E12}"/>
                  </a:ext>
                </a:extLst>
              </p:cNvPr>
              <p:cNvSpPr txBox="1">
                <a:spLocks noChangeArrowheads="1"/>
              </p:cNvSpPr>
              <p:nvPr/>
            </p:nvSpPr>
            <p:spPr bwMode="auto">
              <a:xfrm>
                <a:off x="659002" y="3070121"/>
                <a:ext cx="2530624" cy="4308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sz="2200" b="0" dirty="0">
                    <a:solidFill>
                      <a:schemeClr val="tx1"/>
                    </a:solidFill>
                    <a:latin typeface="Cambria Math" panose="02040503050406030204" pitchFamily="18" charset="0"/>
                    <a:ea typeface="楷体" panose="02010609060101010101" pitchFamily="49" charset="-122"/>
                  </a:rPr>
                  <a:t>2. </a:t>
                </a:r>
                <a14:m>
                  <m:oMath xmlns:m="http://schemas.openxmlformats.org/officeDocument/2006/math">
                    <m:r>
                      <a:rPr lang="en-US" sz="2200" b="0" i="1" smtClean="0">
                        <a:solidFill>
                          <a:srgbClr val="0000FF"/>
                        </a:solidFill>
                        <a:latin typeface="Cambria Math" panose="02040503050406030204" pitchFamily="18" charset="0"/>
                      </a:rPr>
                      <m:t>𝑦</m:t>
                    </m:r>
                    <m:r>
                      <a:rPr lang="en-US" sz="2200" b="0" i="1" smtClean="0">
                        <a:solidFill>
                          <a:srgbClr val="0000FF"/>
                        </a:solidFill>
                        <a:latin typeface="Cambria Math" panose="02040503050406030204" pitchFamily="18" charset="0"/>
                      </a:rPr>
                      <m:t>(</m:t>
                    </m:r>
                    <m:r>
                      <a:rPr lang="en-US" sz="2200" b="0" i="1" smtClean="0">
                        <a:solidFill>
                          <a:srgbClr val="0000FF"/>
                        </a:solidFill>
                        <a:latin typeface="Cambria Math" panose="02040503050406030204" pitchFamily="18" charset="0"/>
                      </a:rPr>
                      <m:t>𝑡</m:t>
                    </m:r>
                    <m:r>
                      <a:rPr lang="en-US" sz="2200" b="0" i="1" smtClean="0">
                        <a:solidFill>
                          <a:srgbClr val="0000FF"/>
                        </a:solidFill>
                        <a:latin typeface="Cambria Math" panose="02040503050406030204" pitchFamily="18" charset="0"/>
                      </a:rPr>
                      <m:t>)=</m:t>
                    </m:r>
                    <m:sSup>
                      <m:sSupPr>
                        <m:ctrlPr>
                          <a:rPr lang="en-US" sz="2200" i="1">
                            <a:solidFill>
                              <a:srgbClr val="0000FF"/>
                            </a:solidFill>
                            <a:latin typeface="Cambria Math" panose="02040503050406030204" pitchFamily="18" charset="0"/>
                          </a:rPr>
                        </m:ctrlPr>
                      </m:sSupPr>
                      <m:e>
                        <m:r>
                          <a:rPr lang="en-US" sz="2200" b="0" i="1">
                            <a:solidFill>
                              <a:srgbClr val="0000FF"/>
                            </a:solidFill>
                            <a:latin typeface="Cambria Math" panose="02040503050406030204" pitchFamily="18" charset="0"/>
                          </a:rPr>
                          <m:t>𝑥</m:t>
                        </m:r>
                      </m:e>
                      <m:sup>
                        <m:r>
                          <a:rPr lang="en-US" sz="2200" b="0" i="1">
                            <a:solidFill>
                              <a:srgbClr val="0000FF"/>
                            </a:solidFill>
                            <a:latin typeface="Cambria Math" panose="02040503050406030204" pitchFamily="18" charset="0"/>
                          </a:rPr>
                          <m:t>2</m:t>
                        </m:r>
                      </m:sup>
                    </m:sSup>
                    <m:r>
                      <a:rPr lang="en-US" sz="2200" b="0" i="1">
                        <a:solidFill>
                          <a:srgbClr val="0000FF"/>
                        </a:solidFill>
                        <a:latin typeface="Cambria Math" panose="02040503050406030204" pitchFamily="18" charset="0"/>
                      </a:rPr>
                      <m:t>(</m:t>
                    </m:r>
                    <m:r>
                      <a:rPr lang="en-US" sz="2200" b="0" i="1">
                        <a:solidFill>
                          <a:srgbClr val="0000FF"/>
                        </a:solidFill>
                        <a:latin typeface="Cambria Math" panose="02040503050406030204" pitchFamily="18" charset="0"/>
                      </a:rPr>
                      <m:t>𝑡</m:t>
                    </m:r>
                    <m:r>
                      <a:rPr lang="en-US" sz="2200" b="0" i="1">
                        <a:solidFill>
                          <a:srgbClr val="0000FF"/>
                        </a:solidFill>
                        <a:latin typeface="Cambria Math" panose="02040503050406030204" pitchFamily="18" charset="0"/>
                      </a:rPr>
                      <m:t>)</m:t>
                    </m:r>
                  </m:oMath>
                </a14:m>
                <a:endParaRPr kumimoji="0" lang="zh-CN" altLang="en-US" sz="2200" i="0" u="none" strike="noStrike" kern="1200" cap="none" spc="0" normalizeH="0" baseline="0" noProof="0" dirty="0">
                  <a:ln>
                    <a:noFill/>
                  </a:ln>
                  <a:solidFill>
                    <a:schemeClr val="tx1"/>
                  </a:solidFill>
                  <a:effectLst/>
                  <a:uLnTx/>
                  <a:uFillTx/>
                  <a:latin typeface="Cambria Math" panose="02040503050406030204" pitchFamily="18" charset="0"/>
                  <a:ea typeface="楷体" panose="02010609060101010101" pitchFamily="49" charset="-122"/>
                  <a:cs typeface="楷体_GB2312" panose="02010609030101010101" pitchFamily="49" charset="-122"/>
                </a:endParaRPr>
              </a:p>
            </p:txBody>
          </p:sp>
        </mc:Choice>
        <mc:Fallback xmlns="">
          <p:sp>
            <p:nvSpPr>
              <p:cNvPr id="33808" name="Text Box 8">
                <a:extLst>
                  <a:ext uri="{FF2B5EF4-FFF2-40B4-BE49-F238E27FC236}">
                    <a16:creationId xmlns:a16="http://schemas.microsoft.com/office/drawing/2014/main" id="{B148F88B-470F-4E04-8EDD-DD9297391E12}"/>
                  </a:ext>
                </a:extLst>
              </p:cNvPr>
              <p:cNvSpPr txBox="1">
                <a:spLocks noRot="1" noChangeAspect="1" noMove="1" noResize="1" noEditPoints="1" noAdjustHandles="1" noChangeArrowheads="1" noChangeShapeType="1" noTextEdit="1"/>
              </p:cNvSpPr>
              <p:nvPr/>
            </p:nvSpPr>
            <p:spPr bwMode="auto">
              <a:xfrm>
                <a:off x="659002" y="3070121"/>
                <a:ext cx="2530624" cy="430887"/>
              </a:xfrm>
              <a:prstGeom prst="rect">
                <a:avLst/>
              </a:prstGeom>
              <a:blipFill>
                <a:blip r:embed="rId2"/>
                <a:stretch>
                  <a:fillRect l="-3133" t="-10000" b="-2857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BFFE03E-85AE-4C5A-8DA1-A4362F75D040}"/>
                  </a:ext>
                </a:extLst>
              </p:cNvPr>
              <p:cNvSpPr txBox="1"/>
              <p:nvPr/>
            </p:nvSpPr>
            <p:spPr>
              <a:xfrm>
                <a:off x="659002" y="2151217"/>
                <a:ext cx="2674640" cy="570413"/>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mbria Math" panose="02040503050406030204" pitchFamily="18" charset="0"/>
                    <a:ea typeface="华文楷体" panose="02010600040101010101" pitchFamily="2" charset="-122"/>
                  </a:rPr>
                  <a:t>1. </a:t>
                </a:r>
                <a14:m>
                  <m:oMath xmlns:m="http://schemas.openxmlformats.org/officeDocument/2006/math">
                    <m:r>
                      <a:rPr kumimoji="0" lang="en-US" sz="2200" b="0" i="1" u="none" strike="noStrike" kern="1200" cap="none" spc="0" normalizeH="0" baseline="0" noProof="0" smtClean="0">
                        <a:ln>
                          <a:noFill/>
                        </a:ln>
                        <a:solidFill>
                          <a:srgbClr val="0000FF"/>
                        </a:solidFill>
                        <a:effectLst/>
                        <a:uLnTx/>
                        <a:uFillTx/>
                        <a:latin typeface="Cambria Math" panose="02040503050406030204" pitchFamily="18" charset="0"/>
                      </a:rPr>
                      <m:t>𝑦</m:t>
                    </m:r>
                    <m:r>
                      <a:rPr kumimoji="0" lang="en-US" sz="2200" b="0" i="1" u="none" strike="noStrike" kern="1200" cap="none" spc="0" normalizeH="0" baseline="0" noProof="0" smtClean="0">
                        <a:ln>
                          <a:noFill/>
                        </a:ln>
                        <a:solidFill>
                          <a:srgbClr val="0000FF"/>
                        </a:solidFill>
                        <a:effectLst/>
                        <a:uLnTx/>
                        <a:uFillTx/>
                        <a:latin typeface="Cambria Math" panose="02040503050406030204" pitchFamily="18" charset="0"/>
                      </a:rPr>
                      <m:t>(</m:t>
                    </m:r>
                    <m:r>
                      <a:rPr kumimoji="0" lang="en-US" sz="2200" b="0" i="1" u="none" strike="noStrike" kern="1200" cap="none" spc="0" normalizeH="0" baseline="0" noProof="0" smtClean="0">
                        <a:ln>
                          <a:noFill/>
                        </a:ln>
                        <a:solidFill>
                          <a:srgbClr val="0000FF"/>
                        </a:solidFill>
                        <a:effectLst/>
                        <a:uLnTx/>
                        <a:uFillTx/>
                        <a:latin typeface="Cambria Math" panose="02040503050406030204" pitchFamily="18" charset="0"/>
                      </a:rPr>
                      <m:t>𝑡</m:t>
                    </m:r>
                    <m:r>
                      <a:rPr kumimoji="0" lang="en-US" sz="2200" b="0" i="1" u="none" strike="noStrike" kern="1200" cap="none" spc="0" normalizeH="0" baseline="0" noProof="0" smtClean="0">
                        <a:ln>
                          <a:noFill/>
                        </a:ln>
                        <a:solidFill>
                          <a:srgbClr val="0000FF"/>
                        </a:solidFill>
                        <a:effectLst/>
                        <a:uLnTx/>
                        <a:uFillTx/>
                        <a:latin typeface="Cambria Math" panose="02040503050406030204" pitchFamily="18" charset="0"/>
                      </a:rPr>
                      <m:t>)=</m:t>
                    </m:r>
                    <m:f>
                      <m:fPr>
                        <m:ctrlPr>
                          <a:rPr kumimoji="0" lang="en-US" sz="2200" b="0" i="1" u="none" strike="noStrike" kern="1200" cap="none" spc="0" normalizeH="0" baseline="0" noProof="0">
                            <a:ln>
                              <a:noFill/>
                            </a:ln>
                            <a:solidFill>
                              <a:srgbClr val="0000FF"/>
                            </a:solidFill>
                            <a:effectLst/>
                            <a:uLnTx/>
                            <a:uFillTx/>
                            <a:latin typeface="Cambria Math" panose="02040503050406030204" pitchFamily="18" charset="0"/>
                          </a:rPr>
                        </m:ctrlPr>
                      </m:fPr>
                      <m:num>
                        <m:r>
                          <a:rPr kumimoji="0" lang="en-US" sz="2200" b="0" i="1" u="none" strike="noStrike" kern="1200" cap="none" spc="0" normalizeH="0" baseline="0" noProof="0">
                            <a:ln>
                              <a:noFill/>
                            </a:ln>
                            <a:solidFill>
                              <a:srgbClr val="0000FF"/>
                            </a:solidFill>
                            <a:effectLst/>
                            <a:uLnTx/>
                            <a:uFillTx/>
                            <a:latin typeface="Cambria Math" panose="02040503050406030204" pitchFamily="18" charset="0"/>
                          </a:rPr>
                          <m:t>1</m:t>
                        </m:r>
                      </m:num>
                      <m:den>
                        <m:r>
                          <a:rPr kumimoji="0" lang="en-US" sz="2200" b="0" i="1" u="none" strike="noStrike" kern="1200" cap="none" spc="0" normalizeH="0" baseline="0" noProof="0">
                            <a:ln>
                              <a:noFill/>
                            </a:ln>
                            <a:solidFill>
                              <a:srgbClr val="0000FF"/>
                            </a:solidFill>
                            <a:effectLst/>
                            <a:uLnTx/>
                            <a:uFillTx/>
                            <a:latin typeface="Cambria Math" panose="02040503050406030204" pitchFamily="18" charset="0"/>
                          </a:rPr>
                          <m:t>2</m:t>
                        </m:r>
                      </m:den>
                    </m:f>
                    <m:r>
                      <a:rPr kumimoji="0" lang="en-US" sz="2200" b="0" i="1" u="none" strike="noStrike" kern="1200" cap="none" spc="0" normalizeH="0" baseline="0" noProof="0">
                        <a:ln>
                          <a:noFill/>
                        </a:ln>
                        <a:solidFill>
                          <a:srgbClr val="0000FF"/>
                        </a:solidFill>
                        <a:effectLst/>
                        <a:uLnTx/>
                        <a:uFillTx/>
                        <a:latin typeface="Cambria Math" panose="02040503050406030204" pitchFamily="18" charset="0"/>
                      </a:rPr>
                      <m:t>𝑥</m:t>
                    </m:r>
                    <m:r>
                      <a:rPr kumimoji="0" lang="en-US" sz="2200" b="0" i="1" u="none" strike="noStrike" kern="1200" cap="none" spc="0" normalizeH="0" baseline="0" noProof="0">
                        <a:ln>
                          <a:noFill/>
                        </a:ln>
                        <a:solidFill>
                          <a:srgbClr val="0000FF"/>
                        </a:solidFill>
                        <a:effectLst/>
                        <a:uLnTx/>
                        <a:uFillTx/>
                        <a:latin typeface="Cambria Math" panose="02040503050406030204" pitchFamily="18" charset="0"/>
                      </a:rPr>
                      <m:t>(</m:t>
                    </m:r>
                    <m:r>
                      <a:rPr kumimoji="0" lang="en-US" sz="2200" b="0" i="1" u="none" strike="noStrike" kern="1200" cap="none" spc="0" normalizeH="0" baseline="0" noProof="0">
                        <a:ln>
                          <a:noFill/>
                        </a:ln>
                        <a:solidFill>
                          <a:srgbClr val="0000FF"/>
                        </a:solidFill>
                        <a:effectLst/>
                        <a:uLnTx/>
                        <a:uFillTx/>
                        <a:latin typeface="Cambria Math" panose="02040503050406030204" pitchFamily="18" charset="0"/>
                      </a:rPr>
                      <m:t>𝑡</m:t>
                    </m:r>
                    <m:r>
                      <a:rPr kumimoji="0" lang="en-US" sz="2200" b="0" i="1" u="none" strike="noStrike" kern="1200" cap="none" spc="0" normalizeH="0" baseline="0" noProof="0">
                        <a:ln>
                          <a:noFill/>
                        </a:ln>
                        <a:solidFill>
                          <a:srgbClr val="0000FF"/>
                        </a:solidFill>
                        <a:effectLst/>
                        <a:uLnTx/>
                        <a:uFillTx/>
                        <a:latin typeface="Cambria Math" panose="02040503050406030204" pitchFamily="18" charset="0"/>
                      </a:rPr>
                      <m:t>)</m:t>
                    </m:r>
                  </m:oMath>
                </a14:m>
                <a:endParaRPr kumimoji="0" lang="en-US" altLang="zh-CN" sz="2200" b="0" i="0" u="none" strike="noStrike" kern="1200" cap="none" spc="0" normalizeH="0" baseline="0" noProof="0" dirty="0">
                  <a:ln>
                    <a:noFill/>
                  </a:ln>
                  <a:solidFill>
                    <a:prstClr val="black"/>
                  </a:solidFill>
                  <a:effectLst/>
                  <a:uLnTx/>
                  <a:uFillTx/>
                  <a:latin typeface="Cambria Math" panose="02040503050406030204" pitchFamily="18" charset="0"/>
                  <a:ea typeface="华文楷体" panose="02010600040101010101" pitchFamily="2" charset="-122"/>
                  <a:cs typeface="楷体_GB2312" panose="02010609030101010101" pitchFamily="49" charset="-122"/>
                </a:endParaRPr>
              </a:p>
            </p:txBody>
          </p:sp>
        </mc:Choice>
        <mc:Fallback xmlns="">
          <p:sp>
            <p:nvSpPr>
              <p:cNvPr id="12" name="文本框 11">
                <a:extLst>
                  <a:ext uri="{FF2B5EF4-FFF2-40B4-BE49-F238E27FC236}">
                    <a16:creationId xmlns:a16="http://schemas.microsoft.com/office/drawing/2014/main" id="{FBFFE03E-85AE-4C5A-8DA1-A4362F75D040}"/>
                  </a:ext>
                </a:extLst>
              </p:cNvPr>
              <p:cNvSpPr txBox="1">
                <a:spLocks noRot="1" noChangeAspect="1" noMove="1" noResize="1" noEditPoints="1" noAdjustHandles="1" noChangeArrowheads="1" noChangeShapeType="1" noTextEdit="1"/>
              </p:cNvSpPr>
              <p:nvPr/>
            </p:nvSpPr>
            <p:spPr>
              <a:xfrm>
                <a:off x="659002" y="2151217"/>
                <a:ext cx="2674640" cy="570413"/>
              </a:xfrm>
              <a:prstGeom prst="rect">
                <a:avLst/>
              </a:prstGeom>
              <a:blipFill>
                <a:blip r:embed="rId3"/>
                <a:stretch>
                  <a:fillRect l="-2961" b="-75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A3AC5DE-FA09-476B-81B1-93A992F54E98}"/>
                  </a:ext>
                </a:extLst>
              </p:cNvPr>
              <p:cNvSpPr txBox="1"/>
              <p:nvPr/>
            </p:nvSpPr>
            <p:spPr>
              <a:xfrm>
                <a:off x="3839637" y="2193860"/>
                <a:ext cx="4420327" cy="430887"/>
              </a:xfrm>
              <a:prstGeom prst="rect">
                <a:avLst/>
              </a:prstGeom>
              <a:noFill/>
            </p:spPr>
            <p:txBody>
              <a:bodyPr wrap="square">
                <a:spAutoFit/>
              </a:bodyPr>
              <a:lstStyle/>
              <a:p>
                <a:r>
                  <a:rPr kumimoji="0"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是。逆系统：</a:t>
                </a:r>
                <a14:m>
                  <m:oMath xmlns:m="http://schemas.openxmlformats.org/officeDocument/2006/math">
                    <m:r>
                      <a:rPr lang="en-US" sz="2200" i="1">
                        <a:latin typeface="Cambria Math" panose="02040503050406030204" pitchFamily="18" charset="0"/>
                      </a:rPr>
                      <m:t>𝑦</m:t>
                    </m:r>
                    <m:r>
                      <a:rPr lang="en-US" sz="2200" i="1">
                        <a:latin typeface="Cambria Math" panose="02040503050406030204" pitchFamily="18" charset="0"/>
                      </a:rPr>
                      <m:t>(</m:t>
                    </m:r>
                    <m:r>
                      <a:rPr lang="en-US" sz="2200" i="1">
                        <a:latin typeface="Cambria Math" panose="02040503050406030204" pitchFamily="18" charset="0"/>
                      </a:rPr>
                      <m:t>𝑡</m:t>
                    </m:r>
                    <m:r>
                      <a:rPr lang="en-US" sz="2200" i="1">
                        <a:latin typeface="Cambria Math" panose="02040503050406030204" pitchFamily="18" charset="0"/>
                      </a:rPr>
                      <m:t>)=2</m:t>
                    </m:r>
                    <m:r>
                      <a:rPr lang="en-US" sz="2200" i="1">
                        <a:latin typeface="Cambria Math" panose="02040503050406030204" pitchFamily="18" charset="0"/>
                      </a:rPr>
                      <m:t>𝑥</m:t>
                    </m:r>
                    <m:r>
                      <a:rPr lang="en-US" sz="2200" i="1">
                        <a:latin typeface="Cambria Math" panose="02040503050406030204" pitchFamily="18" charset="0"/>
                      </a:rPr>
                      <m:t>(</m:t>
                    </m:r>
                    <m:r>
                      <a:rPr lang="en-US" sz="2200" i="1">
                        <a:latin typeface="Cambria Math" panose="02040503050406030204" pitchFamily="18" charset="0"/>
                      </a:rPr>
                      <m:t>𝑡</m:t>
                    </m:r>
                    <m:r>
                      <a:rPr lang="en-US" sz="2200" i="1">
                        <a:latin typeface="Cambria Math" panose="02040503050406030204" pitchFamily="18" charset="0"/>
                      </a:rPr>
                      <m:t>)</m:t>
                    </m:r>
                  </m:oMath>
                </a14:m>
                <a:endParaRPr lang="en-US" sz="2200" dirty="0"/>
              </a:p>
            </p:txBody>
          </p:sp>
        </mc:Choice>
        <mc:Fallback xmlns="">
          <p:sp>
            <p:nvSpPr>
              <p:cNvPr id="16" name="文本框 15">
                <a:extLst>
                  <a:ext uri="{FF2B5EF4-FFF2-40B4-BE49-F238E27FC236}">
                    <a16:creationId xmlns:a16="http://schemas.microsoft.com/office/drawing/2014/main" id="{DA3AC5DE-FA09-476B-81B1-93A992F54E98}"/>
                  </a:ext>
                </a:extLst>
              </p:cNvPr>
              <p:cNvSpPr txBox="1">
                <a:spLocks noRot="1" noChangeAspect="1" noMove="1" noResize="1" noEditPoints="1" noAdjustHandles="1" noChangeArrowheads="1" noChangeShapeType="1" noTextEdit="1"/>
              </p:cNvSpPr>
              <p:nvPr/>
            </p:nvSpPr>
            <p:spPr>
              <a:xfrm>
                <a:off x="3839637" y="2193860"/>
                <a:ext cx="4420327" cy="430887"/>
              </a:xfrm>
              <a:prstGeom prst="rect">
                <a:avLst/>
              </a:prstGeom>
              <a:blipFill>
                <a:blip r:embed="rId4"/>
                <a:stretch>
                  <a:fillRect l="-1793" t="-8451" b="-281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54D6206C-2F6F-47FD-A449-F469AD323408}"/>
                  </a:ext>
                </a:extLst>
              </p:cNvPr>
              <p:cNvSpPr txBox="1"/>
              <p:nvPr/>
            </p:nvSpPr>
            <p:spPr>
              <a:xfrm>
                <a:off x="3839637" y="3019599"/>
                <a:ext cx="4345694" cy="769441"/>
              </a:xfrm>
              <a:prstGeom prst="rect">
                <a:avLst/>
              </a:prstGeom>
              <a:noFill/>
            </p:spPr>
            <p:txBody>
              <a:bodyPr wrap="square">
                <a:spAutoFit/>
              </a:bodyPr>
              <a:lstStyle/>
              <a:p>
                <a:pPr algn="just"/>
                <a:r>
                  <a:rPr lang="zh-CN" altLang="en-US" sz="2200" dirty="0">
                    <a:solidFill>
                      <a:prstClr val="black"/>
                    </a:solidFill>
                    <a:latin typeface="Cambria Math" panose="02040503050406030204" pitchFamily="18" charset="0"/>
                    <a:ea typeface="楷体" panose="02010609060101010101" pitchFamily="49" charset="-122"/>
                    <a:cs typeface="楷体_GB2312" panose="02010609030101010101" pitchFamily="49" charset="-122"/>
                  </a:rPr>
                  <a:t>否</a:t>
                </a:r>
                <a:r>
                  <a:rPr kumimoji="0" lang="zh-CN" altLang="en-US" sz="2200" b="0" i="0"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楷体_GB2312" panose="02010609030101010101" pitchFamily="49" charset="-122"/>
                  </a:rPr>
                  <a:t>。因为有两个不同的输入</a:t>
                </a:r>
                <a14:m>
                  <m:oMath xmlns:m="http://schemas.openxmlformats.org/officeDocument/2006/math">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𝑥</m:t>
                    </m:r>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𝑡</m:t>
                    </m:r>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m:t>
                    </m:r>
                  </m:oMath>
                </a14:m>
                <a:r>
                  <a:rPr kumimoji="0" lang="zh-CN" altLang="en-US" sz="2200" b="0" i="0"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楷体_GB2312" panose="02010609030101010101" pitchFamily="49" charset="-122"/>
                  </a:rPr>
                  <a:t>和</a:t>
                </a:r>
                <a14:m>
                  <m:oMath xmlns:m="http://schemas.openxmlformats.org/officeDocument/2006/math">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𝑥</m:t>
                    </m:r>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𝑡</m:t>
                    </m:r>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m:t>
                    </m:r>
                  </m:oMath>
                </a14:m>
                <a:r>
                  <a:rPr kumimoji="0" lang="zh-CN" altLang="en-US" sz="2200" b="0" i="0"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楷体_GB2312" panose="02010609030101010101" pitchFamily="49" charset="-122"/>
                  </a:rPr>
                  <a:t>能产生相同的输出。</a:t>
                </a:r>
                <a:endParaRPr lang="en-US" sz="2200" dirty="0"/>
              </a:p>
            </p:txBody>
          </p:sp>
        </mc:Choice>
        <mc:Fallback xmlns="">
          <p:sp>
            <p:nvSpPr>
              <p:cNvPr id="24" name="文本框 23">
                <a:extLst>
                  <a:ext uri="{FF2B5EF4-FFF2-40B4-BE49-F238E27FC236}">
                    <a16:creationId xmlns:a16="http://schemas.microsoft.com/office/drawing/2014/main" id="{54D6206C-2F6F-47FD-A449-F469AD323408}"/>
                  </a:ext>
                </a:extLst>
              </p:cNvPr>
              <p:cNvSpPr txBox="1">
                <a:spLocks noRot="1" noChangeAspect="1" noMove="1" noResize="1" noEditPoints="1" noAdjustHandles="1" noChangeArrowheads="1" noChangeShapeType="1" noTextEdit="1"/>
              </p:cNvSpPr>
              <p:nvPr/>
            </p:nvSpPr>
            <p:spPr>
              <a:xfrm>
                <a:off x="3839637" y="3019599"/>
                <a:ext cx="4345694" cy="769441"/>
              </a:xfrm>
              <a:prstGeom prst="rect">
                <a:avLst/>
              </a:prstGeom>
              <a:blipFill>
                <a:blip r:embed="rId5"/>
                <a:stretch>
                  <a:fillRect l="-1823" t="-7087" r="-1823" b="-125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 Box 18">
                <a:extLst>
                  <a:ext uri="{FF2B5EF4-FFF2-40B4-BE49-F238E27FC236}">
                    <a16:creationId xmlns:a16="http://schemas.microsoft.com/office/drawing/2014/main" id="{B839DB62-1027-496F-9BA8-B93E5DA00FA5}"/>
                  </a:ext>
                </a:extLst>
              </p:cNvPr>
              <p:cNvSpPr txBox="1">
                <a:spLocks noChangeArrowheads="1"/>
              </p:cNvSpPr>
              <p:nvPr/>
            </p:nvSpPr>
            <p:spPr bwMode="auto">
              <a:xfrm>
                <a:off x="659002" y="5013176"/>
                <a:ext cx="2552831" cy="48660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30000"/>
                  </a:lnSpc>
                  <a:spcBef>
                    <a:spcPts val="0"/>
                  </a:spcBef>
                  <a:defRPr/>
                </a:pPr>
                <a:r>
                  <a:rPr lang="en-US" sz="2200" dirty="0">
                    <a:solidFill>
                      <a:schemeClr val="tx1"/>
                    </a:solidFill>
                    <a:latin typeface="Cambria Math" panose="02040503050406030204" pitchFamily="18" charset="0"/>
                    <a:ea typeface="楷体" panose="02010609060101010101" pitchFamily="49" charset="-122"/>
                  </a:rPr>
                  <a:t>4. </a:t>
                </a:r>
                <a14:m>
                  <m:oMath xmlns:m="http://schemas.openxmlformats.org/officeDocument/2006/math">
                    <m:r>
                      <a:rPr lang="en-US" sz="2200" i="1" smtClean="0">
                        <a:solidFill>
                          <a:srgbClr val="0000FF"/>
                        </a:solidFill>
                        <a:latin typeface="Cambria Math" panose="02040503050406030204" pitchFamily="18" charset="0"/>
                      </a:rPr>
                      <m:t>𝑦</m:t>
                    </m:r>
                    <m:r>
                      <a:rPr lang="en-US" sz="2200" b="0" i="1" smtClean="0">
                        <a:solidFill>
                          <a:srgbClr val="0000FF"/>
                        </a:solidFill>
                        <a:latin typeface="Cambria Math" panose="02040503050406030204" pitchFamily="18" charset="0"/>
                      </a:rPr>
                      <m:t>[</m:t>
                    </m:r>
                    <m:r>
                      <a:rPr lang="en-US" sz="2200" i="1">
                        <a:solidFill>
                          <a:srgbClr val="0000FF"/>
                        </a:solidFill>
                        <a:latin typeface="Cambria Math" panose="02040503050406030204" pitchFamily="18" charset="0"/>
                      </a:rPr>
                      <m:t>𝑛</m:t>
                    </m:r>
                    <m:r>
                      <a:rPr lang="en-US" sz="2200" b="0" i="1" smtClean="0">
                        <a:solidFill>
                          <a:srgbClr val="0000FF"/>
                        </a:solidFill>
                        <a:latin typeface="Cambria Math" panose="02040503050406030204" pitchFamily="18" charset="0"/>
                      </a:rPr>
                      <m:t>]</m:t>
                    </m:r>
                    <m:r>
                      <a:rPr lang="en-US" sz="2200" i="1">
                        <a:solidFill>
                          <a:srgbClr val="0000FF"/>
                        </a:solidFill>
                        <a:latin typeface="Cambria Math" panose="02040503050406030204" pitchFamily="18" charset="0"/>
                      </a:rPr>
                      <m:t>=</m:t>
                    </m:r>
                    <m:r>
                      <a:rPr lang="en-US" sz="2200" i="1">
                        <a:solidFill>
                          <a:srgbClr val="0000FF"/>
                        </a:solidFill>
                        <a:latin typeface="Cambria Math" panose="02040503050406030204" pitchFamily="18" charset="0"/>
                      </a:rPr>
                      <m:t>𝑥</m:t>
                    </m:r>
                    <m:r>
                      <a:rPr lang="en-US" sz="2200" b="0" i="1" smtClean="0">
                        <a:solidFill>
                          <a:srgbClr val="0000FF"/>
                        </a:solidFill>
                        <a:latin typeface="Cambria Math" panose="02040503050406030204" pitchFamily="18" charset="0"/>
                      </a:rPr>
                      <m:t>[</m:t>
                    </m:r>
                    <m:r>
                      <a:rPr lang="en-US" sz="2200" i="1">
                        <a:solidFill>
                          <a:srgbClr val="0000FF"/>
                        </a:solidFill>
                        <a:latin typeface="Cambria Math" panose="02040503050406030204" pitchFamily="18" charset="0"/>
                      </a:rPr>
                      <m:t>2</m:t>
                    </m:r>
                    <m:r>
                      <a:rPr lang="en-US" sz="2200" i="1">
                        <a:solidFill>
                          <a:srgbClr val="0000FF"/>
                        </a:solidFill>
                        <a:latin typeface="Cambria Math" panose="02040503050406030204" pitchFamily="18" charset="0"/>
                      </a:rPr>
                      <m:t>𝑛</m:t>
                    </m:r>
                    <m:r>
                      <a:rPr lang="en-US" sz="2200" b="0" i="1" smtClean="0">
                        <a:solidFill>
                          <a:srgbClr val="0000FF"/>
                        </a:solidFill>
                        <a:latin typeface="Cambria Math" panose="02040503050406030204" pitchFamily="18" charset="0"/>
                      </a:rPr>
                      <m:t>]</m:t>
                    </m:r>
                  </m:oMath>
                </a14:m>
                <a:endParaRPr kumimoji="0" lang="zh-CN" altLang="en-US" sz="2200" i="0" u="none" strike="noStrike" kern="1200" cap="none" spc="0" normalizeH="0" baseline="0" noProof="0" dirty="0">
                  <a:ln>
                    <a:noFill/>
                  </a:ln>
                  <a:solidFill>
                    <a:schemeClr val="tx1"/>
                  </a:solidFill>
                  <a:effectLst/>
                  <a:uLnTx/>
                  <a:uFillTx/>
                  <a:latin typeface="Cambria Math" panose="02040503050406030204" pitchFamily="18" charset="0"/>
                  <a:ea typeface="楷体" panose="02010609060101010101" pitchFamily="49" charset="-122"/>
                  <a:cs typeface="楷体_GB2312" panose="02010609030101010101" pitchFamily="49" charset="-122"/>
                </a:endParaRPr>
              </a:p>
            </p:txBody>
          </p:sp>
        </mc:Choice>
        <mc:Fallback xmlns="">
          <p:sp>
            <p:nvSpPr>
              <p:cNvPr id="30" name="Text Box 18">
                <a:extLst>
                  <a:ext uri="{FF2B5EF4-FFF2-40B4-BE49-F238E27FC236}">
                    <a16:creationId xmlns:a16="http://schemas.microsoft.com/office/drawing/2014/main" id="{B839DB62-1027-496F-9BA8-B93E5DA00FA5}"/>
                  </a:ext>
                </a:extLst>
              </p:cNvPr>
              <p:cNvSpPr txBox="1">
                <a:spLocks noRot="1" noChangeAspect="1" noMove="1" noResize="1" noEditPoints="1" noAdjustHandles="1" noChangeArrowheads="1" noChangeShapeType="1" noTextEdit="1"/>
              </p:cNvSpPr>
              <p:nvPr/>
            </p:nvSpPr>
            <p:spPr bwMode="auto">
              <a:xfrm>
                <a:off x="659002" y="5013176"/>
                <a:ext cx="2552831" cy="486608"/>
              </a:xfrm>
              <a:prstGeom prst="rect">
                <a:avLst/>
              </a:prstGeom>
              <a:blipFill>
                <a:blip r:embed="rId6"/>
                <a:stretch>
                  <a:fillRect l="-3103" b="-2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76AF90C0-0A83-47E9-BF0A-53947D6C2F1B}"/>
                  </a:ext>
                </a:extLst>
              </p:cNvPr>
              <p:cNvSpPr txBox="1"/>
              <p:nvPr/>
            </p:nvSpPr>
            <p:spPr>
              <a:xfrm>
                <a:off x="3839637" y="5085184"/>
                <a:ext cx="4374692" cy="769441"/>
              </a:xfrm>
              <a:prstGeom prst="rect">
                <a:avLst/>
              </a:prstGeom>
              <a:noFill/>
            </p:spPr>
            <p:txBody>
              <a:bodyPr wrap="square">
                <a:spAutoFit/>
              </a:bodyPr>
              <a:lstStyle/>
              <a:p>
                <a:pPr algn="just"/>
                <a:r>
                  <a:rPr kumimoji="0" lang="zh-CN" altLang="en-US" sz="2200" b="0" i="0"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楷体_GB2312" panose="02010609030101010101" pitchFamily="49" charset="-122"/>
                  </a:rPr>
                  <a:t>否。因为</a:t>
                </a:r>
                <a14:m>
                  <m:oMath xmlns:m="http://schemas.openxmlformats.org/officeDocument/2006/math">
                    <m:r>
                      <a:rPr lang="en-US" sz="2200" i="1">
                        <a:solidFill>
                          <a:prstClr val="black"/>
                        </a:solidFill>
                        <a:latin typeface="Cambria Math" panose="02040503050406030204" pitchFamily="18" charset="0"/>
                      </a:rPr>
                      <m:t>𝑥</m:t>
                    </m:r>
                    <m:r>
                      <a:rPr lang="en-US" sz="2200" i="1">
                        <a:solidFill>
                          <a:prstClr val="black"/>
                        </a:solidFill>
                        <a:latin typeface="Cambria Math" panose="02040503050406030204" pitchFamily="18" charset="0"/>
                      </a:rPr>
                      <m:t>[</m:t>
                    </m:r>
                    <m:r>
                      <a:rPr lang="en-US" sz="2200" i="1">
                        <a:solidFill>
                          <a:prstClr val="black"/>
                        </a:solidFill>
                        <a:latin typeface="Cambria Math" panose="02040503050406030204" pitchFamily="18" charset="0"/>
                      </a:rPr>
                      <m:t>𝑛</m:t>
                    </m:r>
                    <m:r>
                      <a:rPr lang="en-US" sz="2200" i="1">
                        <a:solidFill>
                          <a:prstClr val="black"/>
                        </a:solidFill>
                        <a:latin typeface="Cambria Math" panose="02040503050406030204" pitchFamily="18" charset="0"/>
                      </a:rPr>
                      <m:t>]</m:t>
                    </m:r>
                  </m:oMath>
                </a14:m>
                <a:r>
                  <a:rPr kumimoji="0" lang="zh-CN" altLang="en-US" sz="2200" b="0" i="0"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楷体_GB2312" panose="02010609030101010101" pitchFamily="49" charset="-122"/>
                  </a:rPr>
                  <a:t>在</a:t>
                </a:r>
                <a:r>
                  <a:rPr lang="zh-CN" altLang="en-US" sz="2200" dirty="0">
                    <a:solidFill>
                      <a:prstClr val="black"/>
                    </a:solidFill>
                    <a:latin typeface="Cambria Math" panose="02040503050406030204" pitchFamily="18" charset="0"/>
                    <a:ea typeface="楷体" panose="02010609060101010101" pitchFamily="49" charset="-122"/>
                    <a:cs typeface="楷体_GB2312" panose="02010609030101010101" pitchFamily="49" charset="-122"/>
                  </a:rPr>
                  <a:t>奇数</a:t>
                </a:r>
                <a14:m>
                  <m:oMath xmlns:m="http://schemas.openxmlformats.org/officeDocument/2006/math">
                    <m:r>
                      <a:rPr lang="en-US" sz="2200" i="1">
                        <a:solidFill>
                          <a:prstClr val="black"/>
                        </a:solidFill>
                        <a:latin typeface="Cambria Math" panose="02040503050406030204" pitchFamily="18" charset="0"/>
                      </a:rPr>
                      <m:t>𝑛</m:t>
                    </m:r>
                  </m:oMath>
                </a14:m>
                <a:r>
                  <a:rPr lang="zh-CN" altLang="en-US" sz="2200" dirty="0">
                    <a:solidFill>
                      <a:prstClr val="black"/>
                    </a:solidFill>
                    <a:latin typeface="Cambria Math" panose="02040503050406030204" pitchFamily="18" charset="0"/>
                    <a:ea typeface="楷体" panose="02010609060101010101" pitchFamily="49" charset="-122"/>
                    <a:cs typeface="楷体_GB2312" panose="02010609030101010101" pitchFamily="49" charset="-122"/>
                  </a:rPr>
                  <a:t>上的取值</a:t>
                </a:r>
                <a:r>
                  <a:rPr kumimoji="0" lang="zh-CN" altLang="en-US" sz="2200" b="0" i="0"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楷体_GB2312" panose="02010609030101010101" pitchFamily="49" charset="-122"/>
                  </a:rPr>
                  <a:t>不影响输出，无法从</a:t>
                </a:r>
                <a14:m>
                  <m:oMath xmlns:m="http://schemas.openxmlformats.org/officeDocument/2006/math">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𝑥</m:t>
                    </m:r>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2</m:t>
                    </m:r>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𝑛</m:t>
                    </m:r>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rPr>
                      <m:t>]</m:t>
                    </m:r>
                  </m:oMath>
                </a14:m>
                <a:r>
                  <a:rPr kumimoji="0" lang="zh-CN" altLang="en-US" sz="2200" b="0" i="0"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楷体_GB2312" panose="02010609030101010101" pitchFamily="49" charset="-122"/>
                  </a:rPr>
                  <a:t>还原</a:t>
                </a:r>
                <a14:m>
                  <m:oMath xmlns:m="http://schemas.openxmlformats.org/officeDocument/2006/math">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𝑥</m:t>
                    </m:r>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1200" cap="none" spc="0" normalizeH="0" baseline="0" noProof="0">
                        <a:ln>
                          <a:noFill/>
                        </a:ln>
                        <a:solidFill>
                          <a:prstClr val="black"/>
                        </a:solidFill>
                        <a:effectLst/>
                        <a:uLnTx/>
                        <a:uFillTx/>
                        <a:latin typeface="Cambria Math" panose="02040503050406030204" pitchFamily="18" charset="0"/>
                      </a:rPr>
                      <m:t>𝑛</m:t>
                    </m:r>
                    <m:r>
                      <a:rPr kumimoji="0" lang="en-US" sz="2200" b="0" i="1" u="none" strike="noStrike" kern="1200" cap="none" spc="0" normalizeH="0" baseline="0" noProof="0" smtClean="0">
                        <a:ln>
                          <a:noFill/>
                        </a:ln>
                        <a:solidFill>
                          <a:prstClr val="black"/>
                        </a:solidFill>
                        <a:effectLst/>
                        <a:uLnTx/>
                        <a:uFillTx/>
                        <a:latin typeface="Cambria Math" panose="02040503050406030204" pitchFamily="18" charset="0"/>
                      </a:rPr>
                      <m:t>]</m:t>
                    </m:r>
                  </m:oMath>
                </a14:m>
                <a:r>
                  <a:rPr kumimoji="0" lang="zh-CN" altLang="en-US" sz="2200" b="0" i="0"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楷体_GB2312" panose="02010609030101010101" pitchFamily="49" charset="-122"/>
                  </a:rPr>
                  <a:t>。</a:t>
                </a:r>
                <a:endParaRPr lang="en-US" sz="2200" dirty="0"/>
              </a:p>
            </p:txBody>
          </p:sp>
        </mc:Choice>
        <mc:Fallback xmlns="">
          <p:sp>
            <p:nvSpPr>
              <p:cNvPr id="32" name="文本框 31">
                <a:extLst>
                  <a:ext uri="{FF2B5EF4-FFF2-40B4-BE49-F238E27FC236}">
                    <a16:creationId xmlns:a16="http://schemas.microsoft.com/office/drawing/2014/main" id="{76AF90C0-0A83-47E9-BF0A-53947D6C2F1B}"/>
                  </a:ext>
                </a:extLst>
              </p:cNvPr>
              <p:cNvSpPr txBox="1">
                <a:spLocks noRot="1" noChangeAspect="1" noMove="1" noResize="1" noEditPoints="1" noAdjustHandles="1" noChangeArrowheads="1" noChangeShapeType="1" noTextEdit="1"/>
              </p:cNvSpPr>
              <p:nvPr/>
            </p:nvSpPr>
            <p:spPr>
              <a:xfrm>
                <a:off x="3839637" y="5085184"/>
                <a:ext cx="4374692" cy="769441"/>
              </a:xfrm>
              <a:prstGeom prst="rect">
                <a:avLst/>
              </a:prstGeom>
              <a:blipFill>
                <a:blip r:embed="rId7"/>
                <a:stretch>
                  <a:fillRect l="-1813" t="-7937" r="-8368" b="-134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20">
                <a:extLst>
                  <a:ext uri="{FF2B5EF4-FFF2-40B4-BE49-F238E27FC236}">
                    <a16:creationId xmlns:a16="http://schemas.microsoft.com/office/drawing/2014/main" id="{EE97349A-1E6B-4F88-AF0E-D03FC87699FC}"/>
                  </a:ext>
                </a:extLst>
              </p:cNvPr>
              <p:cNvSpPr>
                <a:spLocks noChangeArrowheads="1"/>
              </p:cNvSpPr>
              <p:nvPr/>
            </p:nvSpPr>
            <p:spPr bwMode="auto">
              <a:xfrm>
                <a:off x="659002" y="4149080"/>
                <a:ext cx="2892603" cy="4308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zh-CN" sz="2200" i="0" u="none" strike="noStrike" kern="1200" cap="none" spc="0" normalizeH="0" baseline="0" noProof="0" dirty="0">
                    <a:ln>
                      <a:noFill/>
                    </a:ln>
                    <a:solidFill>
                      <a:schemeClr val="tx1"/>
                    </a:solidFill>
                    <a:effectLst/>
                    <a:uLnTx/>
                    <a:uFillTx/>
                    <a:latin typeface="Cambria Math" panose="02040503050406030204" pitchFamily="18" charset="0"/>
                    <a:ea typeface="华文楷体" panose="02010600040101010101" pitchFamily="2" charset="-122"/>
                    <a:cs typeface="楷体_GB2312" panose="02010609030101010101" pitchFamily="49" charset="-122"/>
                  </a:rPr>
                  <a:t>3. </a:t>
                </a:r>
                <a14:m>
                  <m:oMath xmlns:m="http://schemas.openxmlformats.org/officeDocument/2006/math">
                    <m:r>
                      <a:rPr lang="en-US" sz="2200" b="0" i="1" smtClean="0">
                        <a:solidFill>
                          <a:srgbClr val="0000FF"/>
                        </a:solidFill>
                        <a:latin typeface="Cambria Math" panose="02040503050406030204" pitchFamily="18" charset="0"/>
                      </a:rPr>
                      <m:t>𝑦</m:t>
                    </m:r>
                    <m:r>
                      <a:rPr lang="en-US" sz="2200" b="0" i="1" smtClean="0">
                        <a:solidFill>
                          <a:srgbClr val="0000FF"/>
                        </a:solidFill>
                        <a:latin typeface="Cambria Math" panose="02040503050406030204" pitchFamily="18" charset="0"/>
                      </a:rPr>
                      <m:t>[</m:t>
                    </m:r>
                    <m:r>
                      <a:rPr lang="en-US" sz="2200" b="0" i="1" smtClean="0">
                        <a:solidFill>
                          <a:srgbClr val="0000FF"/>
                        </a:solidFill>
                        <a:latin typeface="Cambria Math" panose="02040503050406030204" pitchFamily="18" charset="0"/>
                      </a:rPr>
                      <m:t>𝑛</m:t>
                    </m:r>
                    <m:r>
                      <a:rPr lang="en-US" sz="2200" b="0" i="1" smtClean="0">
                        <a:solidFill>
                          <a:srgbClr val="0000FF"/>
                        </a:solidFill>
                        <a:latin typeface="Cambria Math" panose="02040503050406030204" pitchFamily="18" charset="0"/>
                      </a:rPr>
                      <m:t>]=</m:t>
                    </m:r>
                    <m:nary>
                      <m:naryPr>
                        <m:chr m:val="∑"/>
                        <m:ctrlPr>
                          <a:rPr lang="en-US" sz="2200" i="1">
                            <a:solidFill>
                              <a:srgbClr val="0000FF"/>
                            </a:solidFill>
                            <a:latin typeface="Cambria Math" panose="02040503050406030204" pitchFamily="18" charset="0"/>
                          </a:rPr>
                        </m:ctrlPr>
                      </m:naryPr>
                      <m:sub>
                        <m:r>
                          <a:rPr lang="en-US" sz="2200" b="0" i="1">
                            <a:solidFill>
                              <a:srgbClr val="0000FF"/>
                            </a:solidFill>
                            <a:latin typeface="Cambria Math" panose="02040503050406030204" pitchFamily="18" charset="0"/>
                          </a:rPr>
                          <m:t>𝑘</m:t>
                        </m:r>
                        <m:r>
                          <a:rPr lang="en-US" sz="2200" b="0" i="1">
                            <a:solidFill>
                              <a:srgbClr val="0000FF"/>
                            </a:solidFill>
                            <a:latin typeface="Cambria Math" panose="02040503050406030204" pitchFamily="18" charset="0"/>
                          </a:rPr>
                          <m:t>=−∞</m:t>
                        </m:r>
                      </m:sub>
                      <m:sup>
                        <m:r>
                          <a:rPr lang="en-US" sz="2200" b="0" i="1">
                            <a:solidFill>
                              <a:srgbClr val="0000FF"/>
                            </a:solidFill>
                            <a:latin typeface="Cambria Math" panose="02040503050406030204" pitchFamily="18" charset="0"/>
                          </a:rPr>
                          <m:t>𝑛</m:t>
                        </m:r>
                      </m:sup>
                      <m:e>
                        <m:r>
                          <a:rPr lang="en-US" sz="2200" b="0" i="1">
                            <a:solidFill>
                              <a:srgbClr val="0000FF"/>
                            </a:solidFill>
                            <a:latin typeface="Cambria Math" panose="02040503050406030204" pitchFamily="18" charset="0"/>
                          </a:rPr>
                          <m:t>𝑥</m:t>
                        </m:r>
                        <m:r>
                          <a:rPr lang="en-US" sz="2200" b="0" i="1" smtClean="0">
                            <a:solidFill>
                              <a:srgbClr val="0000FF"/>
                            </a:solidFill>
                            <a:latin typeface="Cambria Math" panose="02040503050406030204" pitchFamily="18" charset="0"/>
                          </a:rPr>
                          <m:t>[</m:t>
                        </m:r>
                        <m:r>
                          <a:rPr lang="en-US" sz="2200" b="0" i="1">
                            <a:solidFill>
                              <a:srgbClr val="0000FF"/>
                            </a:solidFill>
                            <a:latin typeface="Cambria Math" panose="02040503050406030204" pitchFamily="18" charset="0"/>
                          </a:rPr>
                          <m:t>𝑘</m:t>
                        </m:r>
                        <m:r>
                          <a:rPr lang="en-US" sz="2200" b="0" i="1" smtClean="0">
                            <a:solidFill>
                              <a:srgbClr val="0000FF"/>
                            </a:solidFill>
                            <a:latin typeface="Cambria Math" panose="02040503050406030204" pitchFamily="18" charset="0"/>
                          </a:rPr>
                          <m:t>]</m:t>
                        </m:r>
                      </m:e>
                    </m:nary>
                  </m:oMath>
                </a14:m>
                <a:endParaRPr kumimoji="0" lang="en-US" altLang="zh-CN" sz="2200" i="0" u="none" strike="noStrike" kern="1200" cap="none" spc="0" normalizeH="0" baseline="0" noProof="0" dirty="0">
                  <a:ln>
                    <a:noFill/>
                  </a:ln>
                  <a:solidFill>
                    <a:schemeClr val="tx1"/>
                  </a:solidFill>
                  <a:effectLst/>
                  <a:uLnTx/>
                  <a:uFillTx/>
                  <a:latin typeface="Cambria Math" panose="02040503050406030204" pitchFamily="18" charset="0"/>
                  <a:ea typeface="华文楷体" panose="02010600040101010101" pitchFamily="2" charset="-122"/>
                  <a:cs typeface="楷体_GB2312" panose="02010609030101010101" pitchFamily="49" charset="-122"/>
                </a:endParaRPr>
              </a:p>
            </p:txBody>
          </p:sp>
        </mc:Choice>
        <mc:Fallback xmlns="">
          <p:sp>
            <p:nvSpPr>
              <p:cNvPr id="33" name="Rectangle 20">
                <a:extLst>
                  <a:ext uri="{FF2B5EF4-FFF2-40B4-BE49-F238E27FC236}">
                    <a16:creationId xmlns:a16="http://schemas.microsoft.com/office/drawing/2014/main" id="{EE97349A-1E6B-4F88-AF0E-D03FC87699FC}"/>
                  </a:ext>
                </a:extLst>
              </p:cNvPr>
              <p:cNvSpPr>
                <a:spLocks noRot="1" noChangeAspect="1" noMove="1" noResize="1" noEditPoints="1" noAdjustHandles="1" noChangeArrowheads="1" noChangeShapeType="1" noTextEdit="1"/>
              </p:cNvSpPr>
              <p:nvPr/>
            </p:nvSpPr>
            <p:spPr bwMode="auto">
              <a:xfrm>
                <a:off x="659002" y="4149080"/>
                <a:ext cx="2892603" cy="430887"/>
              </a:xfrm>
              <a:prstGeom prst="rect">
                <a:avLst/>
              </a:prstGeom>
              <a:blipFill>
                <a:blip r:embed="rId8"/>
                <a:stretch>
                  <a:fillRect l="-2737" t="-127143" b="-19428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CFF2AF6A-27A1-4624-9C2A-E0E3AE3C9BCD}"/>
                  </a:ext>
                </a:extLst>
              </p:cNvPr>
              <p:cNvSpPr txBox="1"/>
              <p:nvPr/>
            </p:nvSpPr>
            <p:spPr>
              <a:xfrm>
                <a:off x="3839637" y="4187819"/>
                <a:ext cx="4620795" cy="430887"/>
              </a:xfrm>
              <a:prstGeom prst="rect">
                <a:avLst/>
              </a:prstGeom>
              <a:noFill/>
            </p:spPr>
            <p:txBody>
              <a:bodyPr wrap="square">
                <a:spAutoFit/>
              </a:bodyPr>
              <a:lstStyle/>
              <a:p>
                <a:pPr algn="just"/>
                <a:r>
                  <a:rPr kumimoji="0"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是。逆系统：</a:t>
                </a:r>
                <a14:m>
                  <m:oMath xmlns:m="http://schemas.openxmlformats.org/officeDocument/2006/math">
                    <m:r>
                      <a:rPr lang="en-US" sz="2200" i="1">
                        <a:latin typeface="Cambria Math" panose="02040503050406030204" pitchFamily="18" charset="0"/>
                        <a:ea typeface="Cambria Math" panose="02040503050406030204" pitchFamily="18" charset="0"/>
                      </a:rPr>
                      <m:t>𝑦</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𝑛</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𝑥</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𝑛</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𝑥</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𝑛</m:t>
                    </m:r>
                    <m:r>
                      <a:rPr lang="en-US" sz="2200" i="1">
                        <a:latin typeface="Cambria Math" panose="02040503050406030204" pitchFamily="18" charset="0"/>
                        <a:ea typeface="Cambria Math" panose="02040503050406030204" pitchFamily="18" charset="0"/>
                      </a:rPr>
                      <m:t>−1</m:t>
                    </m:r>
                  </m:oMath>
                </a14:m>
                <a:r>
                  <a:rPr lang="en-US" sz="2200" dirty="0">
                    <a:latin typeface="Cambria Math" panose="02040503050406030204" pitchFamily="18" charset="0"/>
                    <a:ea typeface="Cambria Math" panose="02040503050406030204" pitchFamily="18" charset="0"/>
                  </a:rPr>
                  <a:t>]</a:t>
                </a:r>
                <a:endParaRPr lang="en-US" sz="2200" dirty="0"/>
              </a:p>
            </p:txBody>
          </p:sp>
        </mc:Choice>
        <mc:Fallback xmlns="">
          <p:sp>
            <p:nvSpPr>
              <p:cNvPr id="35" name="文本框 34">
                <a:extLst>
                  <a:ext uri="{FF2B5EF4-FFF2-40B4-BE49-F238E27FC236}">
                    <a16:creationId xmlns:a16="http://schemas.microsoft.com/office/drawing/2014/main" id="{CFF2AF6A-27A1-4624-9C2A-E0E3AE3C9BCD}"/>
                  </a:ext>
                </a:extLst>
              </p:cNvPr>
              <p:cNvSpPr txBox="1">
                <a:spLocks noRot="1" noChangeAspect="1" noMove="1" noResize="1" noEditPoints="1" noAdjustHandles="1" noChangeArrowheads="1" noChangeShapeType="1" noTextEdit="1"/>
              </p:cNvSpPr>
              <p:nvPr/>
            </p:nvSpPr>
            <p:spPr>
              <a:xfrm>
                <a:off x="3839637" y="4187819"/>
                <a:ext cx="4620795" cy="430887"/>
              </a:xfrm>
              <a:prstGeom prst="rect">
                <a:avLst/>
              </a:prstGeom>
              <a:blipFill>
                <a:blip r:embed="rId9"/>
                <a:stretch>
                  <a:fillRect l="-1715" t="-12676" r="-1451" b="-28169"/>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1+#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1+#ppt_w/2"/>
                                          </p:val>
                                        </p:tav>
                                        <p:tav tm="100000">
                                          <p:val>
                                            <p:strVal val="#ppt_x"/>
                                          </p:val>
                                        </p:tav>
                                      </p:tavLst>
                                    </p:anim>
                                    <p:anim calcmode="lin" valueType="num">
                                      <p:cBhvr additive="base">
                                        <p:cTn id="14"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cBhvr additive="base">
                                        <p:cTn id="19" dur="500" fill="hold"/>
                                        <p:tgtEl>
                                          <p:spTgt spid="35"/>
                                        </p:tgtEl>
                                        <p:attrNameLst>
                                          <p:attrName>ppt_x</p:attrName>
                                        </p:attrNameLst>
                                      </p:cBhvr>
                                      <p:tavLst>
                                        <p:tav tm="0">
                                          <p:val>
                                            <p:strVal val="1+#ppt_w/2"/>
                                          </p:val>
                                        </p:tav>
                                        <p:tav tm="100000">
                                          <p:val>
                                            <p:strVal val="#ppt_x"/>
                                          </p:val>
                                        </p:tav>
                                      </p:tavLst>
                                    </p:anim>
                                    <p:anim calcmode="lin" valueType="num">
                                      <p:cBhvr additive="base">
                                        <p:cTn id="20"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1+#ppt_w/2"/>
                                          </p:val>
                                        </p:tav>
                                        <p:tav tm="100000">
                                          <p:val>
                                            <p:strVal val="#ppt_x"/>
                                          </p:val>
                                        </p:tav>
                                      </p:tavLst>
                                    </p:anim>
                                    <p:anim calcmode="lin" valueType="num">
                                      <p:cBhvr additive="base">
                                        <p:cTn id="26"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4" grpId="0"/>
      <p:bldP spid="32" grpId="0"/>
      <p:bldP spid="3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862CCFE0-837F-4F24-B8C7-A11C666627C5}"/>
              </a:ext>
            </a:extLst>
          </p:cNvPr>
          <p:cNvPicPr>
            <a:picLocks noChangeAspect="1"/>
          </p:cNvPicPr>
          <p:nvPr/>
        </p:nvPicPr>
        <p:blipFill>
          <a:blip r:embed="rId2"/>
          <a:stretch>
            <a:fillRect/>
          </a:stretch>
        </p:blipFill>
        <p:spPr>
          <a:xfrm>
            <a:off x="4139952" y="3108068"/>
            <a:ext cx="4123373" cy="1808798"/>
          </a:xfrm>
          <a:prstGeom prst="rect">
            <a:avLst/>
          </a:prstGeom>
        </p:spPr>
      </p:pic>
      <p:sp>
        <p:nvSpPr>
          <p:cNvPr id="51202" name="标题 1">
            <a:extLst>
              <a:ext uri="{FF2B5EF4-FFF2-40B4-BE49-F238E27FC236}">
                <a16:creationId xmlns:a16="http://schemas.microsoft.com/office/drawing/2014/main" id="{97AE9CD9-D368-4BCF-B38D-C260FBBF1812}"/>
              </a:ext>
            </a:extLst>
          </p:cNvPr>
          <p:cNvSpPr>
            <a:spLocks noGrp="1"/>
          </p:cNvSpPr>
          <p:nvPr>
            <p:ph type="title"/>
          </p:nvPr>
        </p:nvSpPr>
        <p:spPr/>
        <p:txBody>
          <a:bodyPr/>
          <a:lstStyle/>
          <a:p>
            <a:r>
              <a:rPr lang="en-US" altLang="zh-CN"/>
              <a:t>1.6 </a:t>
            </a:r>
            <a:r>
              <a:rPr lang="zh-CN" altLang="en-US"/>
              <a:t>系统的基本性质</a:t>
            </a:r>
          </a:p>
        </p:txBody>
      </p:sp>
      <p:sp>
        <p:nvSpPr>
          <p:cNvPr id="51203" name="内容占位符 2">
            <a:extLst>
              <a:ext uri="{FF2B5EF4-FFF2-40B4-BE49-F238E27FC236}">
                <a16:creationId xmlns:a16="http://schemas.microsoft.com/office/drawing/2014/main" id="{C99743DD-85A8-4185-AD89-0125845768EE}"/>
              </a:ext>
            </a:extLst>
          </p:cNvPr>
          <p:cNvSpPr>
            <a:spLocks noGrp="1"/>
          </p:cNvSpPr>
          <p:nvPr>
            <p:ph idx="1"/>
          </p:nvPr>
        </p:nvSpPr>
        <p:spPr>
          <a:xfrm>
            <a:off x="457200" y="1285875"/>
            <a:ext cx="8229600" cy="1523494"/>
          </a:xfrm>
        </p:spPr>
        <p:txBody>
          <a:bodyPr>
            <a:spAutoFit/>
          </a:bodyPr>
          <a:lstStyle/>
          <a:p>
            <a:pPr algn="just">
              <a:spcBef>
                <a:spcPts val="0"/>
              </a:spcBef>
              <a:spcAft>
                <a:spcPts val="600"/>
              </a:spcAft>
            </a:pPr>
            <a:r>
              <a:rPr lang="zh-CN" altLang="en-US" sz="2200" b="0" dirty="0"/>
              <a:t>三</a:t>
            </a:r>
            <a:r>
              <a:rPr lang="en-US" altLang="zh-CN" sz="2200" b="0" dirty="0"/>
              <a:t>. </a:t>
            </a:r>
            <a:r>
              <a:rPr lang="zh-CN" altLang="en-US" sz="2200" b="0" dirty="0"/>
              <a:t>因果性</a:t>
            </a:r>
            <a:endParaRPr lang="en-US" altLang="zh-CN" sz="2200" b="0" dirty="0"/>
          </a:p>
          <a:p>
            <a:pPr lvl="1" algn="just">
              <a:spcBef>
                <a:spcPts val="0"/>
              </a:spcBef>
              <a:spcAft>
                <a:spcPts val="600"/>
              </a:spcAft>
            </a:pPr>
            <a:r>
              <a:rPr lang="zh-CN" altLang="en-US" sz="2200" b="0" dirty="0"/>
              <a:t>如果系统在任何时刻的输出只与当前时刻及此前的输入有关，而和此后的输入无关，就称该系统是</a:t>
            </a:r>
            <a:r>
              <a:rPr lang="zh-CN" altLang="en-US" sz="2200" b="0" dirty="0">
                <a:solidFill>
                  <a:srgbClr val="FF0000"/>
                </a:solidFill>
              </a:rPr>
              <a:t>因果的</a:t>
            </a:r>
            <a:r>
              <a:rPr lang="zh-CN" altLang="en-US" sz="2200" b="0" dirty="0"/>
              <a:t>。否则就是</a:t>
            </a:r>
            <a:r>
              <a:rPr lang="zh-CN" altLang="en-US" sz="2200" b="0" dirty="0">
                <a:solidFill>
                  <a:srgbClr val="FF0000"/>
                </a:solidFill>
              </a:rPr>
              <a:t>非因果的</a:t>
            </a:r>
            <a:r>
              <a:rPr lang="zh-CN" altLang="en-US" sz="2200" b="0" dirty="0"/>
              <a:t>。</a:t>
            </a:r>
            <a:endParaRPr lang="en-US" altLang="zh-CN" sz="2200" b="0" dirty="0"/>
          </a:p>
        </p:txBody>
      </p:sp>
      <p:sp>
        <p:nvSpPr>
          <p:cNvPr id="4" name="灯片编号占位符 3">
            <a:extLst>
              <a:ext uri="{FF2B5EF4-FFF2-40B4-BE49-F238E27FC236}">
                <a16:creationId xmlns:a16="http://schemas.microsoft.com/office/drawing/2014/main" id="{F50E3A9C-1E70-46B2-9F5A-EE5F6027047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2EA0E27-8540-4870-9A61-99214A7A2E73}"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 name="文本框 7">
            <a:extLst>
              <a:ext uri="{FF2B5EF4-FFF2-40B4-BE49-F238E27FC236}">
                <a16:creationId xmlns:a16="http://schemas.microsoft.com/office/drawing/2014/main" id="{2FC0BA69-C114-4C6F-85B7-224D83FF270D}"/>
              </a:ext>
            </a:extLst>
          </p:cNvPr>
          <p:cNvSpPr txBox="1"/>
          <p:nvPr/>
        </p:nvSpPr>
        <p:spPr>
          <a:xfrm>
            <a:off x="457200" y="4797152"/>
            <a:ext cx="8229600" cy="1862048"/>
          </a:xfrm>
          <a:prstGeom prst="rect">
            <a:avLst/>
          </a:prstGeom>
          <a:noFill/>
        </p:spPr>
        <p:txBody>
          <a:bodyPr wrap="square">
            <a:spAutoFit/>
          </a:bodyPr>
          <a:lstStyle/>
          <a:p>
            <a:pPr marL="742950" lvl="1" indent="-285750" algn="just" eaLnBrk="0" hangingPunct="0">
              <a:spcBef>
                <a:spcPts val="0"/>
              </a:spcBef>
              <a:spcAft>
                <a:spcPts val="600"/>
              </a:spcAft>
              <a:buFont typeface="Arial" panose="020B0604020202020204" pitchFamily="34" charset="0"/>
              <a:buChar char="–"/>
              <a:defRPr/>
            </a:pPr>
            <a:r>
              <a:rPr kumimoji="0" lang="zh-CN" altLang="en-US" sz="2200" b="0" i="0" u="none" strike="noStrike" kern="1200" cap="none" spc="0" normalizeH="0" baseline="0" noProof="0" dirty="0">
                <a:ln>
                  <a:noFill/>
                </a:ln>
                <a:effectLst/>
                <a:uLnTx/>
                <a:uFillTx/>
                <a:latin typeface="Times New Roman" pitchFamily="18" charset="0"/>
                <a:ea typeface="华文楷体" pitchFamily="2" charset="-122"/>
                <a:cs typeface="+mn-cs"/>
              </a:rPr>
              <a:t>一般说来，实时的物理系统都是因果的，因为时间是单向变化的，结果发生于原因之后。</a:t>
            </a:r>
            <a:endParaRPr kumimoji="0" lang="en-US" altLang="zh-CN" sz="2200" b="0" i="0" u="none" strike="noStrike" kern="1200" cap="none" spc="0" normalizeH="0" baseline="0" noProof="0" dirty="0">
              <a:ln>
                <a:noFill/>
              </a:ln>
              <a:effectLst/>
              <a:uLnTx/>
              <a:uFillTx/>
              <a:latin typeface="Times New Roman" pitchFamily="18" charset="0"/>
              <a:ea typeface="华文楷体" pitchFamily="2" charset="-122"/>
              <a:cs typeface="+mn-cs"/>
            </a:endParaRPr>
          </a:p>
          <a:p>
            <a:pPr marL="742950" marR="0" lvl="1" indent="-285750" algn="just" defTabSz="914400" rtl="0" eaLnBrk="0" fontAlgn="base" latinLnBrk="0" hangingPunct="0">
              <a:lnSpc>
                <a:spcPct val="100000"/>
              </a:lnSpc>
              <a:spcBef>
                <a:spcPts val="0"/>
              </a:spcBef>
              <a:spcAft>
                <a:spcPts val="600"/>
              </a:spcAft>
              <a:buClrTx/>
              <a:buSzTx/>
              <a:buFont typeface="Arial" panose="020B0604020202020204" pitchFamily="34" charset="0"/>
              <a:buChar char="–"/>
              <a:tabLst/>
              <a:defRPr/>
            </a:pPr>
            <a:r>
              <a:rPr kumimoji="0" lang="zh-CN" altLang="en-US" sz="2200" b="0" i="0" u="none" strike="noStrike" kern="1200" cap="none" spc="0" normalizeH="0" baseline="0" noProof="0" dirty="0">
                <a:ln>
                  <a:noFill/>
                </a:ln>
                <a:effectLst/>
                <a:uLnTx/>
                <a:uFillTx/>
                <a:latin typeface="Times New Roman" pitchFamily="18" charset="0"/>
                <a:ea typeface="华文楷体" pitchFamily="2" charset="-122"/>
                <a:cs typeface="+mn-cs"/>
              </a:rPr>
              <a:t>但对非实时处理信号的离散时间系统，或信号的自变量并不具有时间概念的情况，因果性并不一定成为系统能否物理实现的先决条件。</a:t>
            </a:r>
          </a:p>
        </p:txBody>
      </p:sp>
      <p:pic>
        <p:nvPicPr>
          <p:cNvPr id="7" name="图片 6">
            <a:extLst>
              <a:ext uri="{FF2B5EF4-FFF2-40B4-BE49-F238E27FC236}">
                <a16:creationId xmlns:a16="http://schemas.microsoft.com/office/drawing/2014/main" id="{3F3A8C52-F529-4977-B104-F62A09AEEAB5}"/>
              </a:ext>
            </a:extLst>
          </p:cNvPr>
          <p:cNvPicPr>
            <a:picLocks noChangeAspect="1"/>
          </p:cNvPicPr>
          <p:nvPr/>
        </p:nvPicPr>
        <p:blipFill>
          <a:blip r:embed="rId3"/>
          <a:stretch>
            <a:fillRect/>
          </a:stretch>
        </p:blipFill>
        <p:spPr>
          <a:xfrm>
            <a:off x="880675" y="3338807"/>
            <a:ext cx="3060383" cy="917258"/>
          </a:xfrm>
          <a:prstGeom prst="rect">
            <a:avLst/>
          </a:prstGeom>
        </p:spPr>
      </p:pic>
      <p:sp>
        <p:nvSpPr>
          <p:cNvPr id="16" name="文本框 15">
            <a:extLst>
              <a:ext uri="{FF2B5EF4-FFF2-40B4-BE49-F238E27FC236}">
                <a16:creationId xmlns:a16="http://schemas.microsoft.com/office/drawing/2014/main" id="{73CCAA43-8188-4FBC-830C-97B02CC56E14}"/>
              </a:ext>
            </a:extLst>
          </p:cNvPr>
          <p:cNvSpPr txBox="1"/>
          <p:nvPr/>
        </p:nvSpPr>
        <p:spPr>
          <a:xfrm>
            <a:off x="6964166" y="2752919"/>
            <a:ext cx="845840" cy="430887"/>
          </a:xfrm>
          <a:prstGeom prst="rect">
            <a:avLst/>
          </a:prstGeom>
          <a:noFill/>
        </p:spPr>
        <p:txBody>
          <a:bodyPr wrap="square">
            <a:spAutoFit/>
          </a:bodyPr>
          <a:lstStyle/>
          <a:p>
            <a:pPr algn="ctr"/>
            <a:r>
              <a:rPr kumimoji="0" lang="zh-CN" altLang="en-US" sz="2200" b="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因果</a:t>
            </a:r>
            <a:endParaRPr lang="en-US" dirty="0">
              <a:solidFill>
                <a:srgbClr val="0000FF"/>
              </a:solidFill>
            </a:endParaRPr>
          </a:p>
        </p:txBody>
      </p:sp>
      <p:sp>
        <p:nvSpPr>
          <p:cNvPr id="17" name="文本框 16">
            <a:extLst>
              <a:ext uri="{FF2B5EF4-FFF2-40B4-BE49-F238E27FC236}">
                <a16:creationId xmlns:a16="http://schemas.microsoft.com/office/drawing/2014/main" id="{8D8CB344-DE39-4557-9F29-19F56D5CA956}"/>
              </a:ext>
            </a:extLst>
          </p:cNvPr>
          <p:cNvSpPr txBox="1"/>
          <p:nvPr/>
        </p:nvSpPr>
        <p:spPr>
          <a:xfrm>
            <a:off x="4500438" y="2752919"/>
            <a:ext cx="1080120" cy="430887"/>
          </a:xfrm>
          <a:prstGeom prst="rect">
            <a:avLst/>
          </a:prstGeom>
          <a:noFill/>
        </p:spPr>
        <p:txBody>
          <a:bodyPr wrap="square">
            <a:spAutoFit/>
          </a:bodyPr>
          <a:lstStyle/>
          <a:p>
            <a:pPr algn="ctr"/>
            <a:r>
              <a:rPr kumimoji="0" lang="zh-CN" altLang="en-US" sz="2200" b="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非因果</a:t>
            </a:r>
            <a:endParaRPr lang="en-US" dirty="0">
              <a:solidFill>
                <a:srgbClr val="0000FF"/>
              </a:solidFill>
            </a:endParaRPr>
          </a:p>
        </p:txBody>
      </p:sp>
      <p:sp>
        <p:nvSpPr>
          <p:cNvPr id="18" name="文本框 17">
            <a:extLst>
              <a:ext uri="{FF2B5EF4-FFF2-40B4-BE49-F238E27FC236}">
                <a16:creationId xmlns:a16="http://schemas.microsoft.com/office/drawing/2014/main" id="{FF128D33-A68D-4267-B191-CE49825E69A8}"/>
              </a:ext>
            </a:extLst>
          </p:cNvPr>
          <p:cNvSpPr txBox="1"/>
          <p:nvPr/>
        </p:nvSpPr>
        <p:spPr>
          <a:xfrm>
            <a:off x="1987946" y="3566603"/>
            <a:ext cx="845840" cy="461665"/>
          </a:xfrm>
          <a:prstGeom prst="rect">
            <a:avLst/>
          </a:prstGeom>
          <a:noFill/>
        </p:spPr>
        <p:txBody>
          <a:bodyPr wrap="square">
            <a:spAutoFit/>
          </a:bodyPr>
          <a:lstStyle/>
          <a:p>
            <a:pPr algn="ctr"/>
            <a:r>
              <a:rPr kumimoji="0" lang="zh-CN" altLang="en-US" sz="2400" b="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系统</a:t>
            </a:r>
            <a:endParaRPr lang="en-US" sz="2000" dirty="0">
              <a:solidFill>
                <a:srgbClr val="0000FF"/>
              </a:solidFill>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9" name="标题 1">
            <a:extLst>
              <a:ext uri="{FF2B5EF4-FFF2-40B4-BE49-F238E27FC236}">
                <a16:creationId xmlns:a16="http://schemas.microsoft.com/office/drawing/2014/main" id="{969DCB5A-2990-4EA0-991A-0E14E192799A}"/>
              </a:ext>
            </a:extLst>
          </p:cNvPr>
          <p:cNvSpPr>
            <a:spLocks noGrp="1"/>
          </p:cNvSpPr>
          <p:nvPr>
            <p:ph type="title"/>
          </p:nvPr>
        </p:nvSpPr>
        <p:spPr/>
        <p:txBody>
          <a:bodyPr/>
          <a:lstStyle/>
          <a:p>
            <a:r>
              <a:rPr lang="en-US" altLang="zh-CN"/>
              <a:t>1.6 </a:t>
            </a:r>
            <a:r>
              <a:rPr lang="zh-CN" altLang="en-US"/>
              <a:t>系统的基本性质</a:t>
            </a:r>
          </a:p>
        </p:txBody>
      </p:sp>
      <p:sp>
        <p:nvSpPr>
          <p:cNvPr id="35850" name="内容占位符 2">
            <a:extLst>
              <a:ext uri="{FF2B5EF4-FFF2-40B4-BE49-F238E27FC236}">
                <a16:creationId xmlns:a16="http://schemas.microsoft.com/office/drawing/2014/main" id="{94185AFE-609E-4EEA-891A-851037ECC4BF}"/>
              </a:ext>
            </a:extLst>
          </p:cNvPr>
          <p:cNvSpPr>
            <a:spLocks noGrp="1"/>
          </p:cNvSpPr>
          <p:nvPr>
            <p:ph idx="1"/>
          </p:nvPr>
        </p:nvSpPr>
        <p:spPr>
          <a:xfrm>
            <a:off x="457200" y="1285875"/>
            <a:ext cx="8229600" cy="1200329"/>
          </a:xfrm>
        </p:spPr>
        <p:txBody>
          <a:bodyPr>
            <a:spAutoFit/>
          </a:bodyPr>
          <a:lstStyle/>
          <a:p>
            <a:pPr algn="just"/>
            <a:r>
              <a:rPr lang="zh-CN" altLang="en-US" sz="2400" b="0" dirty="0"/>
              <a:t>例如在图像处理中</a:t>
            </a:r>
            <a:r>
              <a:rPr lang="en-US" altLang="zh-CN" sz="2400" b="0" dirty="0"/>
              <a:t>, </a:t>
            </a:r>
            <a:r>
              <a:rPr lang="zh-CN" altLang="en-US" sz="2400" b="0" dirty="0"/>
              <a:t>自变量是图像中各点的坐标位置，而不代表时间。对某些数据处理系统，如股市分析、经济预测等，实际上是以足够的延时来换取非因果性的实现。</a:t>
            </a:r>
          </a:p>
        </p:txBody>
      </p:sp>
      <p:sp>
        <p:nvSpPr>
          <p:cNvPr id="4" name="灯片编号占位符 3">
            <a:extLst>
              <a:ext uri="{FF2B5EF4-FFF2-40B4-BE49-F238E27FC236}">
                <a16:creationId xmlns:a16="http://schemas.microsoft.com/office/drawing/2014/main" id="{CF60958B-C713-4CC8-9D67-34886FC66E9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A020F0A-E1CF-48BD-AA48-91AF17E614D3}"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1" name="Object 2">
                <a:extLst>
                  <a:ext uri="{FF2B5EF4-FFF2-40B4-BE49-F238E27FC236}">
                    <a16:creationId xmlns:a16="http://schemas.microsoft.com/office/drawing/2014/main" id="{CB286FF1-811D-4FD3-A447-EB1F89915381}"/>
                  </a:ext>
                </a:extLst>
              </p:cNvPr>
              <p:cNvSpPr txBox="1"/>
              <p:nvPr/>
            </p:nvSpPr>
            <p:spPr bwMode="auto">
              <a:xfrm>
                <a:off x="796700" y="3598068"/>
                <a:ext cx="1943100" cy="4841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1" name="Object 2">
                <a:extLst>
                  <a:ext uri="{FF2B5EF4-FFF2-40B4-BE49-F238E27FC236}">
                    <a16:creationId xmlns:a16="http://schemas.microsoft.com/office/drawing/2014/main" id="{CB286FF1-811D-4FD3-A447-EB1F89915381}"/>
                  </a:ext>
                </a:extLst>
              </p:cNvPr>
              <p:cNvSpPr txBox="1">
                <a:spLocks noRot="1" noChangeAspect="1" noMove="1" noResize="1" noEditPoints="1" noAdjustHandles="1" noChangeArrowheads="1" noChangeShapeType="1" noTextEdit="1"/>
              </p:cNvSpPr>
              <p:nvPr/>
            </p:nvSpPr>
            <p:spPr bwMode="auto">
              <a:xfrm>
                <a:off x="796700" y="3598068"/>
                <a:ext cx="1943100" cy="484188"/>
              </a:xfrm>
              <a:prstGeom prst="rect">
                <a:avLst/>
              </a:prstGeom>
              <a:blipFill>
                <a:blip r:embed="rId2"/>
                <a:stretch>
                  <a:fillRect l="-943" r="-2516" b="-1375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5">
                <a:extLst>
                  <a:ext uri="{FF2B5EF4-FFF2-40B4-BE49-F238E27FC236}">
                    <a16:creationId xmlns:a16="http://schemas.microsoft.com/office/drawing/2014/main" id="{004AB132-B740-4431-AB32-ECA8D0B2A3B0}"/>
                  </a:ext>
                </a:extLst>
              </p:cNvPr>
              <p:cNvSpPr txBox="1"/>
              <p:nvPr/>
            </p:nvSpPr>
            <p:spPr bwMode="auto">
              <a:xfrm>
                <a:off x="4932040" y="4607545"/>
                <a:ext cx="3203575" cy="5111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+1]</m:t>
                      </m:r>
                    </m:oMath>
                  </m:oMathPara>
                </a14:m>
                <a:endParaRPr lang="en-US" sz="2400" dirty="0"/>
              </a:p>
            </p:txBody>
          </p:sp>
        </mc:Choice>
        <mc:Fallback xmlns="">
          <p:sp>
            <p:nvSpPr>
              <p:cNvPr id="12" name="Object 5">
                <a:extLst>
                  <a:ext uri="{FF2B5EF4-FFF2-40B4-BE49-F238E27FC236}">
                    <a16:creationId xmlns:a16="http://schemas.microsoft.com/office/drawing/2014/main" id="{004AB132-B740-4431-AB32-ECA8D0B2A3B0}"/>
                  </a:ext>
                </a:extLst>
              </p:cNvPr>
              <p:cNvSpPr txBox="1">
                <a:spLocks noRot="1" noChangeAspect="1" noMove="1" noResize="1" noEditPoints="1" noAdjustHandles="1" noChangeArrowheads="1" noChangeShapeType="1" noTextEdit="1"/>
              </p:cNvSpPr>
              <p:nvPr/>
            </p:nvSpPr>
            <p:spPr bwMode="auto">
              <a:xfrm>
                <a:off x="4932040" y="4607545"/>
                <a:ext cx="3203575" cy="511175"/>
              </a:xfrm>
              <a:prstGeom prst="rect">
                <a:avLst/>
              </a:prstGeom>
              <a:blipFill>
                <a:blip r:embed="rId3"/>
                <a:stretch>
                  <a:fillRect l="-570" r="-760" b="-8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6">
                <a:extLst>
                  <a:ext uri="{FF2B5EF4-FFF2-40B4-BE49-F238E27FC236}">
                    <a16:creationId xmlns:a16="http://schemas.microsoft.com/office/drawing/2014/main" id="{5D232C9E-9808-4A36-9051-FC710D337FB0}"/>
                  </a:ext>
                </a:extLst>
              </p:cNvPr>
              <p:cNvSpPr txBox="1"/>
              <p:nvPr/>
            </p:nvSpPr>
            <p:spPr bwMode="auto">
              <a:xfrm>
                <a:off x="4932040" y="3573119"/>
                <a:ext cx="1943100" cy="5270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3" name="Object 6">
                <a:extLst>
                  <a:ext uri="{FF2B5EF4-FFF2-40B4-BE49-F238E27FC236}">
                    <a16:creationId xmlns:a16="http://schemas.microsoft.com/office/drawing/2014/main" id="{5D232C9E-9808-4A36-9051-FC710D337FB0}"/>
                  </a:ext>
                </a:extLst>
              </p:cNvPr>
              <p:cNvSpPr txBox="1">
                <a:spLocks noRot="1" noChangeAspect="1" noMove="1" noResize="1" noEditPoints="1" noAdjustHandles="1" noChangeArrowheads="1" noChangeShapeType="1" noTextEdit="1"/>
              </p:cNvSpPr>
              <p:nvPr/>
            </p:nvSpPr>
            <p:spPr bwMode="auto">
              <a:xfrm>
                <a:off x="4932040" y="3573119"/>
                <a:ext cx="1943100" cy="527050"/>
              </a:xfrm>
              <a:prstGeom prst="rect">
                <a:avLst/>
              </a:prstGeom>
              <a:blipFill>
                <a:blip r:embed="rId4"/>
                <a:stretch>
                  <a:fillRect l="-940" b="-4598"/>
                </a:stretch>
              </a:blipFill>
              <a:ln>
                <a:noFill/>
              </a:ln>
              <a:effectLst/>
            </p:spPr>
            <p:txBody>
              <a:bodyPr/>
              <a:lstStyle/>
              <a:p>
                <a:r>
                  <a:rPr lang="en-US">
                    <a:noFill/>
                  </a:rPr>
                  <a:t> </a:t>
                </a:r>
              </a:p>
            </p:txBody>
          </p:sp>
        </mc:Fallback>
      </mc:AlternateContent>
      <p:sp>
        <p:nvSpPr>
          <p:cNvPr id="14" name="Text Box 10">
            <a:extLst>
              <a:ext uri="{FF2B5EF4-FFF2-40B4-BE49-F238E27FC236}">
                <a16:creationId xmlns:a16="http://schemas.microsoft.com/office/drawing/2014/main" id="{819FAADD-7B00-476E-A9AD-84967A9C21E1}"/>
              </a:ext>
            </a:extLst>
          </p:cNvPr>
          <p:cNvSpPr txBox="1">
            <a:spLocks noChangeArrowheads="1"/>
          </p:cNvSpPr>
          <p:nvPr/>
        </p:nvSpPr>
        <p:spPr bwMode="auto">
          <a:xfrm>
            <a:off x="796700" y="5532159"/>
            <a:ext cx="1398140" cy="590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lnSpc>
                <a:spcPct val="150000"/>
              </a:lnSpc>
              <a:spcBef>
                <a:spcPct val="0"/>
              </a:spcBef>
              <a:spcAft>
                <a:spcPct val="0"/>
              </a:spcAft>
            </a:pPr>
            <a:r>
              <a:rPr lang="en-US" altLang="zh-CN" dirty="0">
                <a:ea typeface="华文楷体" pitchFamily="2" charset="-122"/>
              </a:rPr>
              <a:t>RLC</a:t>
            </a:r>
            <a:r>
              <a:rPr lang="zh-CN" altLang="en-US" dirty="0">
                <a:ea typeface="华文楷体" pitchFamily="2" charset="-122"/>
              </a:rPr>
              <a:t>电路</a:t>
            </a:r>
            <a:endParaRPr lang="en-US" altLang="zh-CN" dirty="0">
              <a:ea typeface="华文楷体" pitchFamily="2" charset="-122"/>
            </a:endParaRPr>
          </a:p>
        </p:txBody>
      </p:sp>
      <p:sp>
        <p:nvSpPr>
          <p:cNvPr id="16" name="Text Box 15">
            <a:extLst>
              <a:ext uri="{FF2B5EF4-FFF2-40B4-BE49-F238E27FC236}">
                <a16:creationId xmlns:a16="http://schemas.microsoft.com/office/drawing/2014/main" id="{86E10A23-9F40-4020-AB16-E6FE9D5DC5D7}"/>
              </a:ext>
            </a:extLst>
          </p:cNvPr>
          <p:cNvSpPr txBox="1">
            <a:spLocks noChangeArrowheads="1"/>
          </p:cNvSpPr>
          <p:nvPr/>
        </p:nvSpPr>
        <p:spPr bwMode="auto">
          <a:xfrm>
            <a:off x="796700" y="2806818"/>
            <a:ext cx="33353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r>
              <a:rPr lang="zh-CN" altLang="en-US" dirty="0">
                <a:solidFill>
                  <a:srgbClr val="000099"/>
                </a:solidFill>
                <a:ea typeface="华文楷体" pitchFamily="2" charset="-122"/>
              </a:rPr>
              <a:t>以下系统是否因果的？</a:t>
            </a:r>
            <a:endParaRPr lang="en-US" altLang="zh-CN" dirty="0">
              <a:solidFill>
                <a:srgbClr val="000099"/>
              </a:solidFill>
              <a:ea typeface="华文楷体" pitchFamily="2" charset="-122"/>
            </a:endParaRPr>
          </a:p>
        </p:txBody>
      </p:sp>
      <mc:AlternateContent xmlns:mc="http://schemas.openxmlformats.org/markup-compatibility/2006" xmlns:a14="http://schemas.microsoft.com/office/drawing/2010/main">
        <mc:Choice Requires="a14">
          <p:sp>
            <p:nvSpPr>
              <p:cNvPr id="17" name="Object 7">
                <a:extLst>
                  <a:ext uri="{FF2B5EF4-FFF2-40B4-BE49-F238E27FC236}">
                    <a16:creationId xmlns:a16="http://schemas.microsoft.com/office/drawing/2014/main" id="{51BAB9A3-24A9-482A-97B0-6278EA482913}"/>
                  </a:ext>
                </a:extLst>
              </p:cNvPr>
              <p:cNvSpPr txBox="1"/>
              <p:nvPr/>
            </p:nvSpPr>
            <p:spPr bwMode="auto">
              <a:xfrm>
                <a:off x="796700" y="4596432"/>
                <a:ext cx="3335337" cy="5334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−1]</m:t>
                      </m:r>
                    </m:oMath>
                  </m:oMathPara>
                </a14:m>
                <a:endParaRPr lang="en-US" sz="2400" dirty="0"/>
              </a:p>
            </p:txBody>
          </p:sp>
        </mc:Choice>
        <mc:Fallback xmlns="">
          <p:sp>
            <p:nvSpPr>
              <p:cNvPr id="17" name="Object 7">
                <a:extLst>
                  <a:ext uri="{FF2B5EF4-FFF2-40B4-BE49-F238E27FC236}">
                    <a16:creationId xmlns:a16="http://schemas.microsoft.com/office/drawing/2014/main" id="{51BAB9A3-24A9-482A-97B0-6278EA482913}"/>
                  </a:ext>
                </a:extLst>
              </p:cNvPr>
              <p:cNvSpPr txBox="1">
                <a:spLocks noRot="1" noChangeAspect="1" noMove="1" noResize="1" noEditPoints="1" noAdjustHandles="1" noChangeArrowheads="1" noChangeShapeType="1" noTextEdit="1"/>
              </p:cNvSpPr>
              <p:nvPr/>
            </p:nvSpPr>
            <p:spPr bwMode="auto">
              <a:xfrm>
                <a:off x="796700" y="4596432"/>
                <a:ext cx="3335337" cy="533400"/>
              </a:xfrm>
              <a:prstGeom prst="rect">
                <a:avLst/>
              </a:prstGeom>
              <a:blipFill>
                <a:blip r:embed="rId6"/>
                <a:stretch>
                  <a:fillRect l="-548" b="-3409"/>
                </a:stretch>
              </a:blipFill>
              <a:ln>
                <a:noFill/>
              </a:ln>
              <a:effectLst/>
            </p:spPr>
            <p:txBody>
              <a:bodyPr/>
              <a:lstStyle/>
              <a:p>
                <a:r>
                  <a:rPr lang="en-US">
                    <a:noFill/>
                  </a:rPr>
                  <a:t> </a:t>
                </a:r>
              </a:p>
            </p:txBody>
          </p:sp>
        </mc:Fallback>
      </mc:AlternateContent>
      <p:sp>
        <p:nvSpPr>
          <p:cNvPr id="18" name="矩形 17">
            <a:extLst>
              <a:ext uri="{FF2B5EF4-FFF2-40B4-BE49-F238E27FC236}">
                <a16:creationId xmlns:a16="http://schemas.microsoft.com/office/drawing/2014/main" id="{1E0B711B-2298-4218-B18D-622F29147085}"/>
              </a:ext>
            </a:extLst>
          </p:cNvPr>
          <p:cNvSpPr>
            <a:spLocks noChangeArrowheads="1"/>
          </p:cNvSpPr>
          <p:nvPr/>
        </p:nvSpPr>
        <p:spPr bwMode="auto">
          <a:xfrm>
            <a:off x="2910706" y="3486219"/>
            <a:ext cx="69923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en-US" altLang="zh-CN" sz="4000" b="1" dirty="0">
                <a:solidFill>
                  <a:srgbClr val="FF0000"/>
                </a:solidFill>
                <a:ea typeface="宋体" pitchFamily="2" charset="-122"/>
              </a:rPr>
              <a:t>×</a:t>
            </a:r>
            <a:endParaRPr lang="zh-CN" altLang="en-US" sz="4000" b="1" dirty="0">
              <a:solidFill>
                <a:srgbClr val="FF0000"/>
              </a:solidFill>
              <a:ea typeface="宋体" pitchFamily="2" charset="-122"/>
            </a:endParaRPr>
          </a:p>
        </p:txBody>
      </p:sp>
      <p:sp>
        <p:nvSpPr>
          <p:cNvPr id="19" name="矩形 18">
            <a:extLst>
              <a:ext uri="{FF2B5EF4-FFF2-40B4-BE49-F238E27FC236}">
                <a16:creationId xmlns:a16="http://schemas.microsoft.com/office/drawing/2014/main" id="{BC074887-8483-4213-823D-BBBF719C43F6}"/>
              </a:ext>
            </a:extLst>
          </p:cNvPr>
          <p:cNvSpPr>
            <a:spLocks noChangeArrowheads="1"/>
          </p:cNvSpPr>
          <p:nvPr/>
        </p:nvSpPr>
        <p:spPr bwMode="auto">
          <a:xfrm>
            <a:off x="8028384" y="4509189"/>
            <a:ext cx="69923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en-US" altLang="zh-CN" sz="4000" b="1">
                <a:solidFill>
                  <a:srgbClr val="FF0000"/>
                </a:solidFill>
                <a:ea typeface="宋体" pitchFamily="2" charset="-122"/>
              </a:rPr>
              <a:t>×</a:t>
            </a:r>
            <a:endParaRPr lang="zh-CN" altLang="en-US" sz="4000" b="1">
              <a:solidFill>
                <a:srgbClr val="FF0000"/>
              </a:solidFill>
              <a:ea typeface="宋体" pitchFamily="2" charset="-122"/>
            </a:endParaRPr>
          </a:p>
        </p:txBody>
      </p:sp>
      <p:sp>
        <p:nvSpPr>
          <p:cNvPr id="20" name="矩形 19">
            <a:extLst>
              <a:ext uri="{FF2B5EF4-FFF2-40B4-BE49-F238E27FC236}">
                <a16:creationId xmlns:a16="http://schemas.microsoft.com/office/drawing/2014/main" id="{56A6C6CF-F48D-4F5F-9770-88ADC80717A5}"/>
              </a:ext>
            </a:extLst>
          </p:cNvPr>
          <p:cNvSpPr>
            <a:spLocks noChangeArrowheads="1"/>
          </p:cNvSpPr>
          <p:nvPr/>
        </p:nvSpPr>
        <p:spPr bwMode="auto">
          <a:xfrm>
            <a:off x="6969846" y="3482701"/>
            <a:ext cx="69923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en-US" altLang="zh-CN" sz="4000" b="1">
                <a:solidFill>
                  <a:srgbClr val="FF0000"/>
                </a:solidFill>
                <a:ea typeface="宋体" pitchFamily="2" charset="-122"/>
              </a:rPr>
              <a:t>×</a:t>
            </a:r>
            <a:endParaRPr lang="zh-CN" altLang="en-US" sz="4000" b="1">
              <a:solidFill>
                <a:srgbClr val="FF0000"/>
              </a:solidFill>
              <a:ea typeface="宋体" pitchFamily="2" charset="-122"/>
            </a:endParaRPr>
          </a:p>
        </p:txBody>
      </p:sp>
      <p:sp>
        <p:nvSpPr>
          <p:cNvPr id="21" name="矩形 20">
            <a:extLst>
              <a:ext uri="{FF2B5EF4-FFF2-40B4-BE49-F238E27FC236}">
                <a16:creationId xmlns:a16="http://schemas.microsoft.com/office/drawing/2014/main" id="{1D4509E9-AAE8-43E9-9634-F1F04E0E26C7}"/>
              </a:ext>
            </a:extLst>
          </p:cNvPr>
          <p:cNvSpPr>
            <a:spLocks noChangeArrowheads="1"/>
          </p:cNvSpPr>
          <p:nvPr/>
        </p:nvSpPr>
        <p:spPr bwMode="auto">
          <a:xfrm>
            <a:off x="2380876" y="5473420"/>
            <a:ext cx="4730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en-US" altLang="zh-CN" sz="4000" b="1">
                <a:solidFill>
                  <a:srgbClr val="00B050"/>
                </a:solidFill>
                <a:ea typeface="宋体" pitchFamily="2" charset="-122"/>
              </a:rPr>
              <a:t>√</a:t>
            </a:r>
            <a:endParaRPr lang="zh-CN" altLang="en-US" sz="4000" b="1">
              <a:solidFill>
                <a:srgbClr val="00B050"/>
              </a:solidFill>
              <a:ea typeface="宋体" pitchFamily="2" charset="-122"/>
            </a:endParaRPr>
          </a:p>
        </p:txBody>
      </p:sp>
      <p:sp>
        <p:nvSpPr>
          <p:cNvPr id="22" name="矩形 21">
            <a:extLst>
              <a:ext uri="{FF2B5EF4-FFF2-40B4-BE49-F238E27FC236}">
                <a16:creationId xmlns:a16="http://schemas.microsoft.com/office/drawing/2014/main" id="{B5CC9E51-8B8B-4AB5-9110-438C282EAB5F}"/>
              </a:ext>
            </a:extLst>
          </p:cNvPr>
          <p:cNvSpPr>
            <a:spLocks noChangeArrowheads="1"/>
          </p:cNvSpPr>
          <p:nvPr/>
        </p:nvSpPr>
        <p:spPr bwMode="auto">
          <a:xfrm>
            <a:off x="4067944" y="4509120"/>
            <a:ext cx="4730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en-US" altLang="zh-CN" sz="4000" b="1" dirty="0">
                <a:solidFill>
                  <a:srgbClr val="00B050"/>
                </a:solidFill>
                <a:ea typeface="宋体" pitchFamily="2" charset="-122"/>
              </a:rPr>
              <a:t>√</a:t>
            </a:r>
            <a:endParaRPr lang="zh-CN" altLang="en-US" sz="4000" b="1" dirty="0">
              <a:solidFill>
                <a:srgbClr val="00B050"/>
              </a:solidFill>
              <a:ea typeface="宋体" pitchFamily="2" charset="-122"/>
            </a:endParaRPr>
          </a:p>
        </p:txBody>
      </p:sp>
      <mc:AlternateContent xmlns:mc="http://schemas.openxmlformats.org/markup-compatibility/2006">
        <mc:Choice xmlns:a14="http://schemas.microsoft.com/office/drawing/2010/main" Requires="a14">
          <p:sp>
            <p:nvSpPr>
              <p:cNvPr id="2" name="矩形 1"/>
              <p:cNvSpPr/>
              <p:nvPr/>
            </p:nvSpPr>
            <p:spPr>
              <a:xfrm>
                <a:off x="3260321" y="5619472"/>
                <a:ext cx="4249204" cy="778739"/>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000" i="1">
                          <a:solidFill>
                            <a:srgbClr val="000000"/>
                          </a:solidFill>
                          <a:latin typeface="Cambria Math" panose="02040503050406030204" pitchFamily="18" charset="0"/>
                        </a:rPr>
                        <m:t>𝑖</m:t>
                      </m:r>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𝑡</m:t>
                      </m:r>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𝐶</m:t>
                      </m:r>
                      <m:f>
                        <m:fPr>
                          <m:ctrlPr>
                            <a:rPr lang="en-US" altLang="zh-CN" sz="2000" i="1">
                              <a:solidFill>
                                <a:srgbClr val="000000"/>
                              </a:solidFill>
                              <a:latin typeface="Cambria Math" panose="02040503050406030204" pitchFamily="18" charset="0"/>
                            </a:rPr>
                          </m:ctrlPr>
                        </m:fPr>
                        <m:num>
                          <m:r>
                            <m:rPr>
                              <m:sty m:val="p"/>
                            </m:rPr>
                            <a:rPr lang="en-US" altLang="zh-CN" sz="2000">
                              <a:solidFill>
                                <a:srgbClr val="000000"/>
                              </a:solidFill>
                              <a:latin typeface="Cambria Math" panose="02040503050406030204" pitchFamily="18" charset="0"/>
                            </a:rPr>
                            <m:t>d</m:t>
                          </m:r>
                          <m:r>
                            <a:rPr lang="en-US" altLang="zh-CN" sz="2000" i="1">
                              <a:solidFill>
                                <a:srgbClr val="000000"/>
                              </a:solidFill>
                              <a:latin typeface="Cambria Math" panose="02040503050406030204" pitchFamily="18" charset="0"/>
                            </a:rPr>
                            <m:t>𝑣</m:t>
                          </m:r>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𝑡</m:t>
                          </m:r>
                          <m:r>
                            <a:rPr lang="en-US" altLang="zh-CN" sz="2000" i="1">
                              <a:solidFill>
                                <a:srgbClr val="000000"/>
                              </a:solidFill>
                              <a:latin typeface="Cambria Math" panose="02040503050406030204" pitchFamily="18" charset="0"/>
                            </a:rPr>
                            <m:t>)</m:t>
                          </m:r>
                        </m:num>
                        <m:den>
                          <m:r>
                            <m:rPr>
                              <m:sty m:val="p"/>
                            </m:rPr>
                            <a:rPr lang="en-US" altLang="zh-CN" sz="2000">
                              <a:solidFill>
                                <a:srgbClr val="000000"/>
                              </a:solidFill>
                              <a:latin typeface="Cambria Math" panose="02040503050406030204" pitchFamily="18" charset="0"/>
                            </a:rPr>
                            <m:t>d</m:t>
                          </m:r>
                          <m:r>
                            <a:rPr lang="en-US" altLang="zh-CN" sz="2000" i="1">
                              <a:solidFill>
                                <a:srgbClr val="000000"/>
                              </a:solidFill>
                              <a:latin typeface="Cambria Math" panose="02040503050406030204" pitchFamily="18" charset="0"/>
                            </a:rPr>
                            <m:t>𝑡</m:t>
                          </m:r>
                        </m:den>
                      </m:f>
                      <m:r>
                        <a:rPr lang="en-US" altLang="zh-CN" sz="2000" i="1">
                          <a:solidFill>
                            <a:srgbClr val="000000"/>
                          </a:solidFill>
                          <a:latin typeface="Cambria Math" panose="02040503050406030204" pitchFamily="18" charset="0"/>
                        </a:rPr>
                        <m:t>+</m:t>
                      </m:r>
                      <m:f>
                        <m:fPr>
                          <m:ctrlPr>
                            <a:rPr lang="en-US" altLang="zh-CN" sz="2000" i="1">
                              <a:solidFill>
                                <a:srgbClr val="000000"/>
                              </a:solidFill>
                              <a:latin typeface="Cambria Math" panose="02040503050406030204" pitchFamily="18" charset="0"/>
                            </a:rPr>
                          </m:ctrlPr>
                        </m:fPr>
                        <m:num>
                          <m:r>
                            <a:rPr lang="en-US" altLang="zh-CN" sz="2000" i="1">
                              <a:solidFill>
                                <a:srgbClr val="000000"/>
                              </a:solidFill>
                              <a:latin typeface="Cambria Math" panose="02040503050406030204" pitchFamily="18" charset="0"/>
                            </a:rPr>
                            <m:t>𝑣</m:t>
                          </m:r>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𝑡</m:t>
                          </m:r>
                          <m:r>
                            <a:rPr lang="en-US" altLang="zh-CN" sz="2000" i="1">
                              <a:solidFill>
                                <a:srgbClr val="000000"/>
                              </a:solidFill>
                              <a:latin typeface="Cambria Math" panose="02040503050406030204" pitchFamily="18" charset="0"/>
                            </a:rPr>
                            <m:t>)</m:t>
                          </m:r>
                        </m:num>
                        <m:den>
                          <m:r>
                            <a:rPr lang="en-US" altLang="zh-CN" sz="2000" i="1">
                              <a:solidFill>
                                <a:srgbClr val="000000"/>
                              </a:solidFill>
                              <a:latin typeface="Cambria Math" panose="02040503050406030204" pitchFamily="18" charset="0"/>
                            </a:rPr>
                            <m:t>𝑅</m:t>
                          </m:r>
                        </m:den>
                      </m:f>
                      <m:r>
                        <a:rPr lang="en-US" altLang="zh-CN" sz="2000" i="1">
                          <a:solidFill>
                            <a:srgbClr val="000000"/>
                          </a:solidFill>
                          <a:latin typeface="Cambria Math" panose="02040503050406030204" pitchFamily="18" charset="0"/>
                        </a:rPr>
                        <m:t>+</m:t>
                      </m:r>
                      <m:f>
                        <m:fPr>
                          <m:ctrlPr>
                            <a:rPr lang="en-US" altLang="zh-CN" sz="2000" i="1">
                              <a:solidFill>
                                <a:srgbClr val="000000"/>
                              </a:solidFill>
                              <a:latin typeface="Cambria Math" panose="02040503050406030204" pitchFamily="18" charset="0"/>
                            </a:rPr>
                          </m:ctrlPr>
                        </m:fPr>
                        <m:num>
                          <m:r>
                            <a:rPr lang="en-US" altLang="zh-CN" sz="2000" i="1">
                              <a:solidFill>
                                <a:srgbClr val="000000"/>
                              </a:solidFill>
                              <a:latin typeface="Cambria Math" panose="02040503050406030204" pitchFamily="18" charset="0"/>
                            </a:rPr>
                            <m:t>1</m:t>
                          </m:r>
                        </m:num>
                        <m:den>
                          <m:r>
                            <a:rPr lang="en-US" altLang="zh-CN" sz="2000" i="1">
                              <a:solidFill>
                                <a:srgbClr val="000000"/>
                              </a:solidFill>
                              <a:latin typeface="Cambria Math" panose="02040503050406030204" pitchFamily="18" charset="0"/>
                            </a:rPr>
                            <m:t>𝐿</m:t>
                          </m:r>
                        </m:den>
                      </m:f>
                      <m:nary>
                        <m:naryPr>
                          <m:ctrlPr>
                            <a:rPr lang="en-US" altLang="zh-CN" sz="2000" i="1">
                              <a:solidFill>
                                <a:srgbClr val="000000"/>
                              </a:solidFill>
                              <a:latin typeface="Cambria Math" panose="02040503050406030204" pitchFamily="18" charset="0"/>
                            </a:rPr>
                          </m:ctrlPr>
                        </m:naryPr>
                        <m:sub>
                          <m:r>
                            <a:rPr lang="en-US" altLang="zh-CN" sz="2000" i="1">
                              <a:solidFill>
                                <a:srgbClr val="000000"/>
                              </a:solidFill>
                              <a:latin typeface="Cambria Math" panose="02040503050406030204" pitchFamily="18" charset="0"/>
                            </a:rPr>
                            <m:t>−∞</m:t>
                          </m:r>
                        </m:sub>
                        <m:sup>
                          <m:r>
                            <a:rPr lang="en-US" altLang="zh-CN" sz="2000" i="1">
                              <a:solidFill>
                                <a:srgbClr val="000000"/>
                              </a:solidFill>
                              <a:latin typeface="Cambria Math" panose="02040503050406030204" pitchFamily="18" charset="0"/>
                            </a:rPr>
                            <m:t>𝑡</m:t>
                          </m:r>
                        </m:sup>
                        <m:e>
                          <m:r>
                            <a:rPr lang="en-US" altLang="zh-CN" sz="2000" i="1">
                              <a:solidFill>
                                <a:srgbClr val="000000"/>
                              </a:solidFill>
                              <a:latin typeface="Cambria Math" panose="02040503050406030204" pitchFamily="18" charset="0"/>
                            </a:rPr>
                            <m:t>𝑣</m:t>
                          </m:r>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𝜏</m:t>
                          </m:r>
                          <m:r>
                            <a:rPr lang="en-US" altLang="zh-CN" sz="2000" i="1">
                              <a:solidFill>
                                <a:srgbClr val="000000"/>
                              </a:solidFill>
                              <a:latin typeface="Cambria Math" panose="02040503050406030204" pitchFamily="18" charset="0"/>
                            </a:rPr>
                            <m:t>)</m:t>
                          </m:r>
                          <m:r>
                            <m:rPr>
                              <m:sty m:val="p"/>
                            </m:rPr>
                            <a:rPr lang="en-US" altLang="zh-CN" sz="2000">
                              <a:solidFill>
                                <a:srgbClr val="000000"/>
                              </a:solidFill>
                              <a:latin typeface="Cambria Math" panose="02040503050406030204" pitchFamily="18" charset="0"/>
                            </a:rPr>
                            <m:t>d</m:t>
                          </m:r>
                          <m:r>
                            <a:rPr lang="en-US" altLang="zh-CN" sz="2000" i="1">
                              <a:solidFill>
                                <a:srgbClr val="000000"/>
                              </a:solidFill>
                              <a:latin typeface="Cambria Math" panose="02040503050406030204" pitchFamily="18" charset="0"/>
                            </a:rPr>
                            <m:t>𝜏</m:t>
                          </m:r>
                        </m:e>
                      </m:nary>
                    </m:oMath>
                  </m:oMathPara>
                </a14:m>
                <a:endParaRPr lang="zh-CN" altLang="en-US" sz="2000" dirty="0"/>
              </a:p>
            </p:txBody>
          </p:sp>
        </mc:Choice>
        <mc:Fallback>
          <p:sp>
            <p:nvSpPr>
              <p:cNvPr id="2" name="矩形 1"/>
              <p:cNvSpPr>
                <a:spLocks noRot="1" noChangeAspect="1" noMove="1" noResize="1" noEditPoints="1" noAdjustHandles="1" noChangeArrowheads="1" noChangeShapeType="1" noTextEdit="1"/>
              </p:cNvSpPr>
              <p:nvPr/>
            </p:nvSpPr>
            <p:spPr>
              <a:xfrm>
                <a:off x="3260321" y="5619472"/>
                <a:ext cx="4249204" cy="778739"/>
              </a:xfrm>
              <a:prstGeom prst="rect">
                <a:avLst/>
              </a:prstGeom>
              <a:blipFill>
                <a:blip r:embed="rId7"/>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3" presetClass="entr" presetSubtype="32"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p:cTn id="21" dur="500" fill="hold"/>
                                        <p:tgtEl>
                                          <p:spTgt spid="18"/>
                                        </p:tgtEl>
                                        <p:attrNameLst>
                                          <p:attrName>ppt_w</p:attrName>
                                        </p:attrNameLst>
                                      </p:cBhvr>
                                      <p:tavLst>
                                        <p:tav tm="0">
                                          <p:val>
                                            <p:strVal val="4*#ppt_w"/>
                                          </p:val>
                                        </p:tav>
                                        <p:tav tm="100000">
                                          <p:val>
                                            <p:strVal val="#ppt_w"/>
                                          </p:val>
                                        </p:tav>
                                      </p:tavLst>
                                    </p:anim>
                                    <p:anim calcmode="lin" valueType="num">
                                      <p:cBhvr>
                                        <p:cTn id="22" dur="500" fill="hold"/>
                                        <p:tgtEl>
                                          <p:spTgt spid="18"/>
                                        </p:tgtEl>
                                        <p:attrNameLst>
                                          <p:attrName>ppt_h</p:attrName>
                                        </p:attrNameLst>
                                      </p:cBhvr>
                                      <p:tavLst>
                                        <p:tav tm="0">
                                          <p:val>
                                            <p:strVal val="4*#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3" presetClass="entr" presetSubtype="32"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p:cTn id="27" dur="500" fill="hold"/>
                                        <p:tgtEl>
                                          <p:spTgt spid="20"/>
                                        </p:tgtEl>
                                        <p:attrNameLst>
                                          <p:attrName>ppt_w</p:attrName>
                                        </p:attrNameLst>
                                      </p:cBhvr>
                                      <p:tavLst>
                                        <p:tav tm="0">
                                          <p:val>
                                            <p:strVal val="4*#ppt_w"/>
                                          </p:val>
                                        </p:tav>
                                        <p:tav tm="100000">
                                          <p:val>
                                            <p:strVal val="#ppt_w"/>
                                          </p:val>
                                        </p:tav>
                                      </p:tavLst>
                                    </p:anim>
                                    <p:anim calcmode="lin" valueType="num">
                                      <p:cBhvr>
                                        <p:cTn id="28" dur="500" fill="hold"/>
                                        <p:tgtEl>
                                          <p:spTgt spid="20"/>
                                        </p:tgtEl>
                                        <p:attrNameLst>
                                          <p:attrName>ppt_h</p:attrName>
                                        </p:attrNameLst>
                                      </p:cBhvr>
                                      <p:tavLst>
                                        <p:tav tm="0">
                                          <p:val>
                                            <p:strVal val="4*#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32"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 calcmode="lin" valueType="num">
                                      <p:cBhvr>
                                        <p:cTn id="33" dur="500" fill="hold"/>
                                        <p:tgtEl>
                                          <p:spTgt spid="22"/>
                                        </p:tgtEl>
                                        <p:attrNameLst>
                                          <p:attrName>ppt_w</p:attrName>
                                        </p:attrNameLst>
                                      </p:cBhvr>
                                      <p:tavLst>
                                        <p:tav tm="0">
                                          <p:val>
                                            <p:strVal val="4*#ppt_w"/>
                                          </p:val>
                                        </p:tav>
                                        <p:tav tm="100000">
                                          <p:val>
                                            <p:strVal val="#ppt_w"/>
                                          </p:val>
                                        </p:tav>
                                      </p:tavLst>
                                    </p:anim>
                                    <p:anim calcmode="lin" valueType="num">
                                      <p:cBhvr>
                                        <p:cTn id="34" dur="500" fill="hold"/>
                                        <p:tgtEl>
                                          <p:spTgt spid="22"/>
                                        </p:tgtEl>
                                        <p:attrNameLst>
                                          <p:attrName>ppt_h</p:attrName>
                                        </p:attrNameLst>
                                      </p:cBhvr>
                                      <p:tavLst>
                                        <p:tav tm="0">
                                          <p:val>
                                            <p:strVal val="4*#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ntr" presetSubtype="32"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p:cTn id="39" dur="500" fill="hold"/>
                                        <p:tgtEl>
                                          <p:spTgt spid="19"/>
                                        </p:tgtEl>
                                        <p:attrNameLst>
                                          <p:attrName>ppt_w</p:attrName>
                                        </p:attrNameLst>
                                      </p:cBhvr>
                                      <p:tavLst>
                                        <p:tav tm="0">
                                          <p:val>
                                            <p:strVal val="4*#ppt_w"/>
                                          </p:val>
                                        </p:tav>
                                        <p:tav tm="100000">
                                          <p:val>
                                            <p:strVal val="#ppt_w"/>
                                          </p:val>
                                        </p:tav>
                                      </p:tavLst>
                                    </p:anim>
                                    <p:anim calcmode="lin" valueType="num">
                                      <p:cBhvr>
                                        <p:cTn id="40" dur="500" fill="hold"/>
                                        <p:tgtEl>
                                          <p:spTgt spid="19"/>
                                        </p:tgtEl>
                                        <p:attrNameLst>
                                          <p:attrName>ppt_h</p:attrName>
                                        </p:attrNameLst>
                                      </p:cBhvr>
                                      <p:tavLst>
                                        <p:tav tm="0">
                                          <p:val>
                                            <p:strVal val="4*#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3" presetClass="entr" presetSubtype="32"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p:cTn id="49" dur="500" fill="hold"/>
                                        <p:tgtEl>
                                          <p:spTgt spid="21"/>
                                        </p:tgtEl>
                                        <p:attrNameLst>
                                          <p:attrName>ppt_w</p:attrName>
                                        </p:attrNameLst>
                                      </p:cBhvr>
                                      <p:tavLst>
                                        <p:tav tm="0">
                                          <p:val>
                                            <p:strVal val="4*#ppt_w"/>
                                          </p:val>
                                        </p:tav>
                                        <p:tav tm="100000">
                                          <p:val>
                                            <p:strVal val="#ppt_w"/>
                                          </p:val>
                                        </p:tav>
                                      </p:tavLst>
                                    </p:anim>
                                    <p:anim calcmode="lin" valueType="num">
                                      <p:cBhvr>
                                        <p:cTn id="50" dur="500" fill="hold"/>
                                        <p:tgtEl>
                                          <p:spTgt spid="21"/>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6" grpId="0"/>
      <p:bldP spid="17" grpId="0"/>
      <p:bldP spid="18" grpId="0"/>
      <p:bldP spid="19" grpId="0"/>
      <p:bldP spid="20" grpId="0"/>
      <p:bldP spid="21" grpId="0"/>
      <p:bldP spid="22" grpId="0"/>
      <p:bldP spid="2"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标题 1">
            <a:extLst>
              <a:ext uri="{FF2B5EF4-FFF2-40B4-BE49-F238E27FC236}">
                <a16:creationId xmlns:a16="http://schemas.microsoft.com/office/drawing/2014/main" id="{1FB82005-390A-4B93-AC85-FB1CDA326622}"/>
              </a:ext>
            </a:extLst>
          </p:cNvPr>
          <p:cNvSpPr>
            <a:spLocks noGrp="1"/>
          </p:cNvSpPr>
          <p:nvPr>
            <p:ph type="title"/>
          </p:nvPr>
        </p:nvSpPr>
        <p:spPr/>
        <p:txBody>
          <a:bodyPr/>
          <a:lstStyle/>
          <a:p>
            <a:r>
              <a:rPr lang="en-US" altLang="zh-CN"/>
              <a:t>1.6 </a:t>
            </a:r>
            <a:r>
              <a:rPr lang="zh-CN" altLang="en-US"/>
              <a:t>系统的基本性质</a:t>
            </a:r>
          </a:p>
        </p:txBody>
      </p:sp>
      <p:sp>
        <p:nvSpPr>
          <p:cNvPr id="36870" name="内容占位符 2">
            <a:extLst>
              <a:ext uri="{FF2B5EF4-FFF2-40B4-BE49-F238E27FC236}">
                <a16:creationId xmlns:a16="http://schemas.microsoft.com/office/drawing/2014/main" id="{E70A42EF-05F8-424E-8A87-BE6E5A79AC0D}"/>
              </a:ext>
            </a:extLst>
          </p:cNvPr>
          <p:cNvSpPr>
            <a:spLocks noGrp="1"/>
          </p:cNvSpPr>
          <p:nvPr>
            <p:ph idx="1"/>
          </p:nvPr>
        </p:nvSpPr>
        <p:spPr>
          <a:xfrm>
            <a:off x="457200" y="1285875"/>
            <a:ext cx="8229600" cy="1274195"/>
          </a:xfrm>
        </p:spPr>
        <p:txBody>
          <a:bodyPr wrap="square">
            <a:spAutoFit/>
          </a:bodyPr>
          <a:lstStyle/>
          <a:p>
            <a:pPr algn="just"/>
            <a:r>
              <a:rPr lang="zh-CN" altLang="en-US" sz="2400" b="0" dirty="0"/>
              <a:t>四</a:t>
            </a:r>
            <a:r>
              <a:rPr lang="en-US" altLang="zh-CN" sz="2400" b="0" dirty="0"/>
              <a:t>. </a:t>
            </a:r>
            <a:r>
              <a:rPr lang="zh-CN" altLang="en-US" sz="2400" b="0" dirty="0"/>
              <a:t>稳定性</a:t>
            </a:r>
            <a:endParaRPr lang="en-US" altLang="zh-CN" sz="2400" b="0" dirty="0"/>
          </a:p>
          <a:p>
            <a:pPr lvl="1" algn="just"/>
            <a:r>
              <a:rPr lang="zh-CN" altLang="en-US" sz="2400" b="0" dirty="0"/>
              <a:t>如果一个系统对任意有界输入都产生有界输出，则该系统是</a:t>
            </a:r>
            <a:r>
              <a:rPr lang="zh-CN" altLang="en-US" sz="2400" dirty="0">
                <a:solidFill>
                  <a:srgbClr val="FF0000"/>
                </a:solidFill>
              </a:rPr>
              <a:t>稳定系统</a:t>
            </a:r>
            <a:r>
              <a:rPr lang="zh-CN" altLang="en-US" sz="2400" b="0" dirty="0"/>
              <a:t>。否则，就是</a:t>
            </a:r>
            <a:r>
              <a:rPr lang="zh-CN" altLang="en-US" sz="2400" dirty="0">
                <a:solidFill>
                  <a:srgbClr val="FF0000"/>
                </a:solidFill>
              </a:rPr>
              <a:t>不稳定系统</a:t>
            </a:r>
            <a:r>
              <a:rPr lang="zh-CN" altLang="en-US" sz="2400" b="0" dirty="0"/>
              <a:t>。</a:t>
            </a:r>
          </a:p>
        </p:txBody>
      </p:sp>
      <p:sp>
        <p:nvSpPr>
          <p:cNvPr id="4" name="灯片编号占位符 3">
            <a:extLst>
              <a:ext uri="{FF2B5EF4-FFF2-40B4-BE49-F238E27FC236}">
                <a16:creationId xmlns:a16="http://schemas.microsoft.com/office/drawing/2014/main" id="{87F72456-5D85-4734-9029-EB6B458E00E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8672366-9DDA-49C5-A4B4-B2B8A0F9BF6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6874" name="Rectangle 3">
            <a:extLst>
              <a:ext uri="{FF2B5EF4-FFF2-40B4-BE49-F238E27FC236}">
                <a16:creationId xmlns:a16="http://schemas.microsoft.com/office/drawing/2014/main" id="{FC1A5BE1-B577-4DCE-AC45-23BB08B294A5}"/>
              </a:ext>
            </a:extLst>
          </p:cNvPr>
          <p:cNvSpPr>
            <a:spLocks noChangeArrowheads="1"/>
          </p:cNvSpPr>
          <p:nvPr/>
        </p:nvSpPr>
        <p:spPr bwMode="auto">
          <a:xfrm>
            <a:off x="827584" y="4893981"/>
            <a:ext cx="7859216"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747713"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indent="0" algn="just">
              <a:lnSpc>
                <a:spcPts val="3300"/>
              </a:lnSpc>
              <a:defRPr/>
            </a:pPr>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工程实际中通常希望所设计的系统是稳定的。因此稳定性对</a:t>
            </a:r>
            <a:r>
              <a:rPr lang="zh-CN" altLang="en-US" sz="2400" dirty="0">
                <a:latin typeface="华文楷体" panose="02010600040101010101" pitchFamily="2" charset="-122"/>
                <a:ea typeface="华文楷体" panose="02010600040101010101" pitchFamily="2" charset="-122"/>
                <a:cs typeface="楷体_GB2312" panose="02010609030101010101" pitchFamily="49" charset="-122"/>
              </a:rPr>
              <a:t>系统设计来</a:t>
            </a:r>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说是一个重要的考虑因素。</a:t>
            </a:r>
          </a:p>
        </p:txBody>
      </p:sp>
      <p:pic>
        <p:nvPicPr>
          <p:cNvPr id="10" name="图片 9">
            <a:extLst>
              <a:ext uri="{FF2B5EF4-FFF2-40B4-BE49-F238E27FC236}">
                <a16:creationId xmlns:a16="http://schemas.microsoft.com/office/drawing/2014/main" id="{D2AE8878-81BB-4D0C-96A8-FAF9AF1E4DD1}"/>
              </a:ext>
            </a:extLst>
          </p:cNvPr>
          <p:cNvPicPr>
            <a:picLocks noChangeAspect="1"/>
          </p:cNvPicPr>
          <p:nvPr/>
        </p:nvPicPr>
        <p:blipFill>
          <a:blip r:embed="rId3"/>
          <a:stretch>
            <a:fillRect/>
          </a:stretch>
        </p:blipFill>
        <p:spPr>
          <a:xfrm>
            <a:off x="1804987" y="2780928"/>
            <a:ext cx="5534025" cy="1619250"/>
          </a:xfrm>
          <a:prstGeom prst="rect">
            <a:avLst/>
          </a:prstGeom>
        </p:spPr>
      </p:pic>
      <p:sp>
        <p:nvSpPr>
          <p:cNvPr id="22" name="文本框 21">
            <a:extLst>
              <a:ext uri="{FF2B5EF4-FFF2-40B4-BE49-F238E27FC236}">
                <a16:creationId xmlns:a16="http://schemas.microsoft.com/office/drawing/2014/main" id="{E90FFCBE-DF41-4C01-90B0-C5D6F2F7A23B}"/>
              </a:ext>
            </a:extLst>
          </p:cNvPr>
          <p:cNvSpPr txBox="1"/>
          <p:nvPr/>
        </p:nvSpPr>
        <p:spPr>
          <a:xfrm>
            <a:off x="5580112" y="4400178"/>
            <a:ext cx="845840" cy="461665"/>
          </a:xfrm>
          <a:prstGeom prst="rect">
            <a:avLst/>
          </a:prstGeom>
          <a:noFill/>
        </p:spPr>
        <p:txBody>
          <a:bodyPr wrap="square">
            <a:spAutoFit/>
          </a:bodyPr>
          <a:lstStyle/>
          <a:p>
            <a:pPr algn="ctr"/>
            <a:r>
              <a:rPr kumimoji="0" lang="zh-CN" altLang="en-US" sz="240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稳定</a:t>
            </a:r>
            <a:endParaRPr lang="en-US" dirty="0">
              <a:solidFill>
                <a:srgbClr val="0000FF"/>
              </a:solidFill>
            </a:endParaRPr>
          </a:p>
        </p:txBody>
      </p:sp>
      <p:sp>
        <p:nvSpPr>
          <p:cNvPr id="23" name="文本框 22">
            <a:extLst>
              <a:ext uri="{FF2B5EF4-FFF2-40B4-BE49-F238E27FC236}">
                <a16:creationId xmlns:a16="http://schemas.microsoft.com/office/drawing/2014/main" id="{6BDFBE69-FA6E-40C8-A692-4DB06121C743}"/>
              </a:ext>
            </a:extLst>
          </p:cNvPr>
          <p:cNvSpPr txBox="1"/>
          <p:nvPr/>
        </p:nvSpPr>
        <p:spPr>
          <a:xfrm>
            <a:off x="2627784" y="4400178"/>
            <a:ext cx="1224136" cy="461665"/>
          </a:xfrm>
          <a:prstGeom prst="rect">
            <a:avLst/>
          </a:prstGeom>
          <a:noFill/>
        </p:spPr>
        <p:txBody>
          <a:bodyPr wrap="square">
            <a:spAutoFit/>
          </a:bodyPr>
          <a:lstStyle/>
          <a:p>
            <a:pPr algn="ctr"/>
            <a:r>
              <a:rPr kumimoji="0" lang="zh-CN" altLang="en-US" sz="240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不稳定</a:t>
            </a:r>
            <a:endParaRPr lang="en-US" dirty="0">
              <a:solidFill>
                <a:srgbClr val="0000FF"/>
              </a:solidFill>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标题 1">
            <a:extLst>
              <a:ext uri="{FF2B5EF4-FFF2-40B4-BE49-F238E27FC236}">
                <a16:creationId xmlns:a16="http://schemas.microsoft.com/office/drawing/2014/main" id="{1FB82005-390A-4B93-AC85-FB1CDA326622}"/>
              </a:ext>
            </a:extLst>
          </p:cNvPr>
          <p:cNvSpPr>
            <a:spLocks noGrp="1"/>
          </p:cNvSpPr>
          <p:nvPr>
            <p:ph type="title"/>
          </p:nvPr>
        </p:nvSpPr>
        <p:spPr/>
        <p:txBody>
          <a:bodyPr/>
          <a:lstStyle/>
          <a:p>
            <a:r>
              <a:rPr lang="en-US" altLang="zh-CN"/>
              <a:t>1.6 </a:t>
            </a:r>
            <a:r>
              <a:rPr lang="zh-CN" altLang="en-US"/>
              <a:t>系统的基本性质</a:t>
            </a:r>
          </a:p>
        </p:txBody>
      </p:sp>
      <p:sp>
        <p:nvSpPr>
          <p:cNvPr id="4" name="灯片编号占位符 3">
            <a:extLst>
              <a:ext uri="{FF2B5EF4-FFF2-40B4-BE49-F238E27FC236}">
                <a16:creationId xmlns:a16="http://schemas.microsoft.com/office/drawing/2014/main" id="{87F72456-5D85-4734-9029-EB6B458E00E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8672366-9DDA-49C5-A4B4-B2B8A0F9BF6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2" name="Object 2">
                <a:extLst>
                  <a:ext uri="{FF2B5EF4-FFF2-40B4-BE49-F238E27FC236}">
                    <a16:creationId xmlns:a16="http://schemas.microsoft.com/office/drawing/2014/main" id="{A9690236-713A-4849-89CB-385BC049D73C}"/>
                  </a:ext>
                </a:extLst>
              </p:cNvPr>
              <p:cNvSpPr txBox="1"/>
              <p:nvPr/>
            </p:nvSpPr>
            <p:spPr bwMode="auto">
              <a:xfrm>
                <a:off x="1086867" y="4818489"/>
                <a:ext cx="2632720" cy="52322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𝑦</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−1]</m:t>
                      </m:r>
                    </m:oMath>
                  </m:oMathPara>
                </a14:m>
                <a:endParaRPr lang="en-US" sz="2800" dirty="0"/>
              </a:p>
            </p:txBody>
          </p:sp>
        </mc:Choice>
        <mc:Fallback xmlns="">
          <p:sp>
            <p:nvSpPr>
              <p:cNvPr id="12" name="Object 2">
                <a:extLst>
                  <a:ext uri="{FF2B5EF4-FFF2-40B4-BE49-F238E27FC236}">
                    <a16:creationId xmlns:a16="http://schemas.microsoft.com/office/drawing/2014/main" id="{A9690236-713A-4849-89CB-385BC049D73C}"/>
                  </a:ext>
                </a:extLst>
              </p:cNvPr>
              <p:cNvSpPr txBox="1">
                <a:spLocks noRot="1" noChangeAspect="1" noMove="1" noResize="1" noEditPoints="1" noAdjustHandles="1" noChangeArrowheads="1" noChangeShapeType="1" noTextEdit="1"/>
              </p:cNvSpPr>
              <p:nvPr/>
            </p:nvSpPr>
            <p:spPr bwMode="auto">
              <a:xfrm>
                <a:off x="1086867" y="4818489"/>
                <a:ext cx="2632720" cy="52322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3">
                <a:extLst>
                  <a:ext uri="{FF2B5EF4-FFF2-40B4-BE49-F238E27FC236}">
                    <a16:creationId xmlns:a16="http://schemas.microsoft.com/office/drawing/2014/main" id="{1AC53F6D-E266-4E0A-B391-592FD169F273}"/>
                  </a:ext>
                </a:extLst>
              </p:cNvPr>
              <p:cNvSpPr txBox="1"/>
              <p:nvPr/>
            </p:nvSpPr>
            <p:spPr bwMode="auto">
              <a:xfrm>
                <a:off x="1086867" y="2897545"/>
                <a:ext cx="2808288" cy="1268552"/>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𝑦</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nary>
                        <m:naryPr>
                          <m:chr m:val="∑"/>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m:t>
                          </m:r>
                        </m:sub>
                        <m:sup>
                          <m:r>
                            <a:rPr lang="en-US" sz="2800" i="1">
                              <a:solidFill>
                                <a:srgbClr val="000000"/>
                              </a:solidFill>
                              <a:latin typeface="Cambria Math" panose="02040503050406030204" pitchFamily="18" charset="0"/>
                            </a:rPr>
                            <m:t>𝑛</m:t>
                          </m:r>
                        </m:sup>
                        <m:e>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m:t>
                          </m:r>
                        </m:e>
                      </m:nary>
                    </m:oMath>
                  </m:oMathPara>
                </a14:m>
                <a:endParaRPr lang="en-US" sz="2800" dirty="0"/>
              </a:p>
            </p:txBody>
          </p:sp>
        </mc:Choice>
        <mc:Fallback xmlns="">
          <p:sp>
            <p:nvSpPr>
              <p:cNvPr id="13" name="Object 3">
                <a:extLst>
                  <a:ext uri="{FF2B5EF4-FFF2-40B4-BE49-F238E27FC236}">
                    <a16:creationId xmlns:a16="http://schemas.microsoft.com/office/drawing/2014/main" id="{1AC53F6D-E266-4E0A-B391-592FD169F273}"/>
                  </a:ext>
                </a:extLst>
              </p:cNvPr>
              <p:cNvSpPr txBox="1">
                <a:spLocks noRot="1" noChangeAspect="1" noMove="1" noResize="1" noEditPoints="1" noAdjustHandles="1" noChangeArrowheads="1" noChangeShapeType="1" noTextEdit="1"/>
              </p:cNvSpPr>
              <p:nvPr/>
            </p:nvSpPr>
            <p:spPr bwMode="auto">
              <a:xfrm>
                <a:off x="1086867" y="2897545"/>
                <a:ext cx="2808288" cy="1268552"/>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4">
                <a:extLst>
                  <a:ext uri="{FF2B5EF4-FFF2-40B4-BE49-F238E27FC236}">
                    <a16:creationId xmlns:a16="http://schemas.microsoft.com/office/drawing/2014/main" id="{87EE4D64-65D6-47C0-BC7C-51FA9CF22CA8}"/>
                  </a:ext>
                </a:extLst>
              </p:cNvPr>
              <p:cNvSpPr txBox="1"/>
              <p:nvPr/>
            </p:nvSpPr>
            <p:spPr bwMode="auto">
              <a:xfrm>
                <a:off x="4959423" y="3005235"/>
                <a:ext cx="2981077" cy="10531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𝑦</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m:t>
                          </m:r>
                        </m:sub>
                        <m:sup>
                          <m:r>
                            <a:rPr lang="en-US" sz="2800" i="1">
                              <a:solidFill>
                                <a:srgbClr val="000000"/>
                              </a:solidFill>
                              <a:latin typeface="Cambria Math" panose="02040503050406030204" pitchFamily="18" charset="0"/>
                            </a:rPr>
                            <m:t>𝑡</m:t>
                          </m:r>
                        </m:sup>
                        <m:e>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𝑑</m:t>
                          </m:r>
                          <m:r>
                            <a:rPr lang="en-US" sz="2800" i="1">
                              <a:solidFill>
                                <a:srgbClr val="000000"/>
                              </a:solidFill>
                              <a:latin typeface="Cambria Math" panose="02040503050406030204" pitchFamily="18" charset="0"/>
                            </a:rPr>
                            <m:t>𝜏</m:t>
                          </m:r>
                        </m:e>
                      </m:nary>
                    </m:oMath>
                  </m:oMathPara>
                </a14:m>
                <a:endParaRPr lang="en-US" sz="2800" dirty="0"/>
              </a:p>
            </p:txBody>
          </p:sp>
        </mc:Choice>
        <mc:Fallback xmlns="">
          <p:sp>
            <p:nvSpPr>
              <p:cNvPr id="14" name="Object 4">
                <a:extLst>
                  <a:ext uri="{FF2B5EF4-FFF2-40B4-BE49-F238E27FC236}">
                    <a16:creationId xmlns:a16="http://schemas.microsoft.com/office/drawing/2014/main" id="{87EE4D64-65D6-47C0-BC7C-51FA9CF22CA8}"/>
                  </a:ext>
                </a:extLst>
              </p:cNvPr>
              <p:cNvSpPr txBox="1">
                <a:spLocks noRot="1" noChangeAspect="1" noMove="1" noResize="1" noEditPoints="1" noAdjustHandles="1" noChangeArrowheads="1" noChangeShapeType="1" noTextEdit="1"/>
              </p:cNvSpPr>
              <p:nvPr/>
            </p:nvSpPr>
            <p:spPr bwMode="auto">
              <a:xfrm>
                <a:off x="4959423" y="3005235"/>
                <a:ext cx="2981077" cy="1053173"/>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bject 5">
                <a:extLst>
                  <a:ext uri="{FF2B5EF4-FFF2-40B4-BE49-F238E27FC236}">
                    <a16:creationId xmlns:a16="http://schemas.microsoft.com/office/drawing/2014/main" id="{30265C81-144C-40FB-A7CD-07694CAACC82}"/>
                  </a:ext>
                </a:extLst>
              </p:cNvPr>
              <p:cNvSpPr txBox="1"/>
              <p:nvPr/>
            </p:nvSpPr>
            <p:spPr bwMode="auto">
              <a:xfrm>
                <a:off x="4959423" y="4818489"/>
                <a:ext cx="2133600" cy="52322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𝑦</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5" name="Object 5">
                <a:extLst>
                  <a:ext uri="{FF2B5EF4-FFF2-40B4-BE49-F238E27FC236}">
                    <a16:creationId xmlns:a16="http://schemas.microsoft.com/office/drawing/2014/main" id="{30265C81-144C-40FB-A7CD-07694CAACC82}"/>
                  </a:ext>
                </a:extLst>
              </p:cNvPr>
              <p:cNvSpPr txBox="1">
                <a:spLocks noRot="1" noChangeAspect="1" noMove="1" noResize="1" noEditPoints="1" noAdjustHandles="1" noChangeArrowheads="1" noChangeShapeType="1" noTextEdit="1"/>
              </p:cNvSpPr>
              <p:nvPr/>
            </p:nvSpPr>
            <p:spPr bwMode="auto">
              <a:xfrm>
                <a:off x="4959423" y="4818489"/>
                <a:ext cx="2133600" cy="523220"/>
              </a:xfrm>
              <a:prstGeom prst="rect">
                <a:avLst/>
              </a:prstGeom>
              <a:blipFill>
                <a:blip r:embed="rId6"/>
                <a:stretch>
                  <a:fillRect/>
                </a:stretch>
              </a:blipFill>
              <a:ln>
                <a:noFill/>
              </a:ln>
              <a:effectLst/>
            </p:spPr>
            <p:txBody>
              <a:bodyPr/>
              <a:lstStyle/>
              <a:p>
                <a:r>
                  <a:rPr lang="en-US">
                    <a:noFill/>
                  </a:rPr>
                  <a:t> </a:t>
                </a:r>
              </a:p>
            </p:txBody>
          </p:sp>
        </mc:Fallback>
      </mc:AlternateContent>
      <p:sp>
        <p:nvSpPr>
          <p:cNvPr id="16" name="矩形 15">
            <a:extLst>
              <a:ext uri="{FF2B5EF4-FFF2-40B4-BE49-F238E27FC236}">
                <a16:creationId xmlns:a16="http://schemas.microsoft.com/office/drawing/2014/main" id="{F715E0D7-BD1A-4B25-9526-B58026C18C6B}"/>
              </a:ext>
            </a:extLst>
          </p:cNvPr>
          <p:cNvSpPr>
            <a:spLocks noChangeArrowheads="1"/>
          </p:cNvSpPr>
          <p:nvPr/>
        </p:nvSpPr>
        <p:spPr bwMode="auto">
          <a:xfrm>
            <a:off x="6924824" y="4737199"/>
            <a:ext cx="6715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en-US" altLang="zh-CN" sz="4000" b="1">
                <a:solidFill>
                  <a:srgbClr val="FF0000"/>
                </a:solidFill>
                <a:ea typeface="宋体" pitchFamily="2" charset="-122"/>
              </a:rPr>
              <a:t>×</a:t>
            </a:r>
            <a:endParaRPr lang="zh-CN" altLang="en-US" sz="4000" b="1">
              <a:solidFill>
                <a:srgbClr val="FF0000"/>
              </a:solidFill>
              <a:ea typeface="宋体" pitchFamily="2" charset="-122"/>
            </a:endParaRPr>
          </a:p>
        </p:txBody>
      </p:sp>
      <p:sp>
        <p:nvSpPr>
          <p:cNvPr id="17" name="矩形 16">
            <a:extLst>
              <a:ext uri="{FF2B5EF4-FFF2-40B4-BE49-F238E27FC236}">
                <a16:creationId xmlns:a16="http://schemas.microsoft.com/office/drawing/2014/main" id="{E9DFE1E1-58A4-4565-80DC-FCFE45B7A087}"/>
              </a:ext>
            </a:extLst>
          </p:cNvPr>
          <p:cNvSpPr>
            <a:spLocks noChangeArrowheads="1"/>
          </p:cNvSpPr>
          <p:nvPr/>
        </p:nvSpPr>
        <p:spPr bwMode="auto">
          <a:xfrm>
            <a:off x="7820670" y="3177809"/>
            <a:ext cx="6397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en-US" altLang="zh-CN" sz="4000" b="1">
                <a:solidFill>
                  <a:srgbClr val="FF0000"/>
                </a:solidFill>
                <a:ea typeface="宋体" pitchFamily="2" charset="-122"/>
              </a:rPr>
              <a:t>×</a:t>
            </a:r>
            <a:endParaRPr lang="zh-CN" altLang="en-US" sz="4000" b="1">
              <a:solidFill>
                <a:srgbClr val="FF0000"/>
              </a:solidFill>
              <a:ea typeface="宋体" pitchFamily="2" charset="-122"/>
            </a:endParaRPr>
          </a:p>
        </p:txBody>
      </p:sp>
      <p:sp>
        <p:nvSpPr>
          <p:cNvPr id="18" name="矩形 17">
            <a:extLst>
              <a:ext uri="{FF2B5EF4-FFF2-40B4-BE49-F238E27FC236}">
                <a16:creationId xmlns:a16="http://schemas.microsoft.com/office/drawing/2014/main" id="{A5AC170A-7A0A-4AC9-9154-6D5EC0BDCC3A}"/>
              </a:ext>
            </a:extLst>
          </p:cNvPr>
          <p:cNvSpPr>
            <a:spLocks noChangeArrowheads="1"/>
          </p:cNvSpPr>
          <p:nvPr/>
        </p:nvSpPr>
        <p:spPr bwMode="auto">
          <a:xfrm>
            <a:off x="3779912" y="3177809"/>
            <a:ext cx="7016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en-US" altLang="zh-CN" sz="4000" b="1">
                <a:solidFill>
                  <a:srgbClr val="FF0000"/>
                </a:solidFill>
                <a:ea typeface="宋体" pitchFamily="2" charset="-122"/>
              </a:rPr>
              <a:t>×</a:t>
            </a:r>
            <a:endParaRPr lang="zh-CN" altLang="en-US" sz="4000" b="1">
              <a:solidFill>
                <a:srgbClr val="FF0000"/>
              </a:solidFill>
              <a:ea typeface="宋体" pitchFamily="2" charset="-122"/>
            </a:endParaRPr>
          </a:p>
        </p:txBody>
      </p:sp>
      <p:sp>
        <p:nvSpPr>
          <p:cNvPr id="19" name="矩形 18">
            <a:extLst>
              <a:ext uri="{FF2B5EF4-FFF2-40B4-BE49-F238E27FC236}">
                <a16:creationId xmlns:a16="http://schemas.microsoft.com/office/drawing/2014/main" id="{86AE139A-243C-49CC-A895-DF087E690635}"/>
              </a:ext>
            </a:extLst>
          </p:cNvPr>
          <p:cNvSpPr>
            <a:spLocks noChangeArrowheads="1"/>
          </p:cNvSpPr>
          <p:nvPr/>
        </p:nvSpPr>
        <p:spPr bwMode="auto">
          <a:xfrm>
            <a:off x="3635896" y="4726087"/>
            <a:ext cx="533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en-US" altLang="zh-CN" sz="4000" b="1">
                <a:solidFill>
                  <a:srgbClr val="00B050"/>
                </a:solidFill>
                <a:ea typeface="宋体" pitchFamily="2" charset="-122"/>
              </a:rPr>
              <a:t>√</a:t>
            </a:r>
            <a:endParaRPr lang="zh-CN" altLang="en-US" sz="4000" b="1">
              <a:solidFill>
                <a:srgbClr val="00B050"/>
              </a:solidFill>
              <a:ea typeface="宋体" pitchFamily="2" charset="-122"/>
            </a:endParaRPr>
          </a:p>
        </p:txBody>
      </p:sp>
      <p:sp>
        <p:nvSpPr>
          <p:cNvPr id="20" name="Text Box 15">
            <a:extLst>
              <a:ext uri="{FF2B5EF4-FFF2-40B4-BE49-F238E27FC236}">
                <a16:creationId xmlns:a16="http://schemas.microsoft.com/office/drawing/2014/main" id="{AC4819E8-4F48-4E43-B065-CCB1DB0E3FE7}"/>
              </a:ext>
            </a:extLst>
          </p:cNvPr>
          <p:cNvSpPr txBox="1">
            <a:spLocks noChangeArrowheads="1"/>
          </p:cNvSpPr>
          <p:nvPr/>
        </p:nvSpPr>
        <p:spPr bwMode="auto">
          <a:xfrm>
            <a:off x="594790" y="1969676"/>
            <a:ext cx="41212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r>
              <a:rPr lang="zh-CN" altLang="en-US" sz="2800" dirty="0">
                <a:solidFill>
                  <a:srgbClr val="000099"/>
                </a:solidFill>
                <a:ea typeface="华文楷体" pitchFamily="2" charset="-122"/>
              </a:rPr>
              <a:t>以下系统是否稳定？</a:t>
            </a:r>
            <a:endParaRPr lang="en-US" altLang="zh-CN" sz="2800" dirty="0">
              <a:solidFill>
                <a:srgbClr val="000099"/>
              </a:solidFill>
              <a:ea typeface="华文楷体" pitchFamily="2" charset="-122"/>
            </a:endParaRPr>
          </a:p>
        </p:txBody>
      </p:sp>
    </p:spTree>
    <p:extLst>
      <p:ext uri="{BB962C8B-B14F-4D97-AF65-F5344CB8AC3E}">
        <p14:creationId xmlns:p14="http://schemas.microsoft.com/office/powerpoint/2010/main" val="573588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strVal val="4*#ppt_w"/>
                                          </p:val>
                                        </p:tav>
                                        <p:tav tm="100000">
                                          <p:val>
                                            <p:strVal val="#ppt_w"/>
                                          </p:val>
                                        </p:tav>
                                      </p:tavLst>
                                    </p:anim>
                                    <p:anim calcmode="lin" valueType="num">
                                      <p:cBhvr>
                                        <p:cTn id="8" dur="500" fill="hold"/>
                                        <p:tgtEl>
                                          <p:spTgt spid="18"/>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32"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p:cTn id="13" dur="500" fill="hold"/>
                                        <p:tgtEl>
                                          <p:spTgt spid="19"/>
                                        </p:tgtEl>
                                        <p:attrNameLst>
                                          <p:attrName>ppt_w</p:attrName>
                                        </p:attrNameLst>
                                      </p:cBhvr>
                                      <p:tavLst>
                                        <p:tav tm="0">
                                          <p:val>
                                            <p:strVal val="4*#ppt_w"/>
                                          </p:val>
                                        </p:tav>
                                        <p:tav tm="100000">
                                          <p:val>
                                            <p:strVal val="#ppt_w"/>
                                          </p:val>
                                        </p:tav>
                                      </p:tavLst>
                                    </p:anim>
                                    <p:anim calcmode="lin" valueType="num">
                                      <p:cBhvr>
                                        <p:cTn id="14" dur="500" fill="hold"/>
                                        <p:tgtEl>
                                          <p:spTgt spid="19"/>
                                        </p:tgtEl>
                                        <p:attrNameLst>
                                          <p:attrName>ppt_h</p:attrName>
                                        </p:attrNameLst>
                                      </p:cBhvr>
                                      <p:tavLst>
                                        <p:tav tm="0">
                                          <p:val>
                                            <p:strVal val="4*#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32"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p:cTn id="19" dur="500" fill="hold"/>
                                        <p:tgtEl>
                                          <p:spTgt spid="17"/>
                                        </p:tgtEl>
                                        <p:attrNameLst>
                                          <p:attrName>ppt_w</p:attrName>
                                        </p:attrNameLst>
                                      </p:cBhvr>
                                      <p:tavLst>
                                        <p:tav tm="0">
                                          <p:val>
                                            <p:strVal val="4*#ppt_w"/>
                                          </p:val>
                                        </p:tav>
                                        <p:tav tm="100000">
                                          <p:val>
                                            <p:strVal val="#ppt_w"/>
                                          </p:val>
                                        </p:tav>
                                      </p:tavLst>
                                    </p:anim>
                                    <p:anim calcmode="lin" valueType="num">
                                      <p:cBhvr>
                                        <p:cTn id="20" dur="500" fill="hold"/>
                                        <p:tgtEl>
                                          <p:spTgt spid="17"/>
                                        </p:tgtEl>
                                        <p:attrNameLst>
                                          <p:attrName>ppt_h</p:attrName>
                                        </p:attrNameLst>
                                      </p:cBhvr>
                                      <p:tavLst>
                                        <p:tav tm="0">
                                          <p:val>
                                            <p:strVal val="4*#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32"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500" fill="hold"/>
                                        <p:tgtEl>
                                          <p:spTgt spid="16"/>
                                        </p:tgtEl>
                                        <p:attrNameLst>
                                          <p:attrName>ppt_w</p:attrName>
                                        </p:attrNameLst>
                                      </p:cBhvr>
                                      <p:tavLst>
                                        <p:tav tm="0">
                                          <p:val>
                                            <p:strVal val="4*#ppt_w"/>
                                          </p:val>
                                        </p:tav>
                                        <p:tav tm="100000">
                                          <p:val>
                                            <p:strVal val="#ppt_w"/>
                                          </p:val>
                                        </p:tav>
                                      </p:tavLst>
                                    </p:anim>
                                    <p:anim calcmode="lin" valueType="num">
                                      <p:cBhvr>
                                        <p:cTn id="26" dur="500" fill="hold"/>
                                        <p:tgtEl>
                                          <p:spTgt spid="16"/>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a:extLst>
              <a:ext uri="{FF2B5EF4-FFF2-40B4-BE49-F238E27FC236}">
                <a16:creationId xmlns:a16="http://schemas.microsoft.com/office/drawing/2014/main" id="{12547916-5701-4DD5-B716-D635EF39A1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3656731"/>
            <a:ext cx="4876800" cy="286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标题 1">
            <a:extLst>
              <a:ext uri="{FF2B5EF4-FFF2-40B4-BE49-F238E27FC236}">
                <a16:creationId xmlns:a16="http://schemas.microsoft.com/office/drawing/2014/main" id="{2F5E1444-C629-4CD6-ACF9-D9895D1F02F4}"/>
              </a:ext>
            </a:extLst>
          </p:cNvPr>
          <p:cNvSpPr>
            <a:spLocks noGrp="1"/>
          </p:cNvSpPr>
          <p:nvPr>
            <p:ph type="title"/>
          </p:nvPr>
        </p:nvSpPr>
        <p:spPr/>
        <p:txBody>
          <a:bodyPr/>
          <a:lstStyle/>
          <a:p>
            <a:r>
              <a:rPr lang="en-US" altLang="zh-CN"/>
              <a:t>1.6 </a:t>
            </a:r>
            <a:r>
              <a:rPr lang="zh-CN" altLang="en-US"/>
              <a:t>系统的基本性质</a:t>
            </a:r>
          </a:p>
        </p:txBody>
      </p:sp>
      <p:sp>
        <p:nvSpPr>
          <p:cNvPr id="3077" name="内容占位符 2">
            <a:extLst>
              <a:ext uri="{FF2B5EF4-FFF2-40B4-BE49-F238E27FC236}">
                <a16:creationId xmlns:a16="http://schemas.microsoft.com/office/drawing/2014/main" id="{971E9887-B43B-488B-84B2-325527E9B180}"/>
              </a:ext>
            </a:extLst>
          </p:cNvPr>
          <p:cNvSpPr>
            <a:spLocks noGrp="1"/>
          </p:cNvSpPr>
          <p:nvPr>
            <p:ph idx="1"/>
          </p:nvPr>
        </p:nvSpPr>
        <p:spPr>
          <a:xfrm>
            <a:off x="457200" y="1285875"/>
            <a:ext cx="8229600" cy="1643527"/>
          </a:xfrm>
        </p:spPr>
        <p:txBody>
          <a:bodyPr wrap="square">
            <a:spAutoFit/>
          </a:bodyPr>
          <a:lstStyle/>
          <a:p>
            <a:pPr algn="just"/>
            <a:r>
              <a:rPr lang="zh-CN" altLang="en-US" sz="2400" b="0" dirty="0"/>
              <a:t>五</a:t>
            </a:r>
            <a:r>
              <a:rPr lang="en-US" altLang="zh-CN" sz="2400" b="0" dirty="0"/>
              <a:t>. </a:t>
            </a:r>
            <a:r>
              <a:rPr lang="zh-CN" altLang="en-US" sz="2400" b="0" dirty="0"/>
              <a:t>时不变性</a:t>
            </a:r>
            <a:endParaRPr lang="en-US" altLang="zh-CN" sz="2400" b="0" dirty="0"/>
          </a:p>
          <a:p>
            <a:pPr lvl="1" algn="just"/>
            <a:r>
              <a:rPr lang="zh-CN" altLang="en-US" sz="2400" b="0" dirty="0"/>
              <a:t>当输入信号有一个时移时，系统的输出响应也产生相同时移，此外无其它变化，则称该系统是</a:t>
            </a:r>
            <a:r>
              <a:rPr lang="zh-CN" altLang="en-US" sz="2400" dirty="0">
                <a:solidFill>
                  <a:srgbClr val="FF0000"/>
                </a:solidFill>
              </a:rPr>
              <a:t>时不变的</a:t>
            </a:r>
            <a:r>
              <a:rPr lang="zh-CN" altLang="en-US" sz="2400" b="0" dirty="0"/>
              <a:t>。否则就是</a:t>
            </a:r>
            <a:r>
              <a:rPr lang="zh-CN" altLang="en-US" sz="2400" dirty="0">
                <a:solidFill>
                  <a:srgbClr val="FF0000"/>
                </a:solidFill>
              </a:rPr>
              <a:t>时变的</a:t>
            </a:r>
            <a:r>
              <a:rPr lang="zh-CN" altLang="en-US" sz="2400" b="0" dirty="0"/>
              <a:t>。</a:t>
            </a:r>
          </a:p>
        </p:txBody>
      </p:sp>
      <p:sp>
        <p:nvSpPr>
          <p:cNvPr id="4" name="灯片编号占位符 3">
            <a:extLst>
              <a:ext uri="{FF2B5EF4-FFF2-40B4-BE49-F238E27FC236}">
                <a16:creationId xmlns:a16="http://schemas.microsoft.com/office/drawing/2014/main" id="{9CF4A6A3-22D9-4F0D-82E7-25A8801791F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A2C0BE5-9571-4805-BBA4-B60B7A75122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3" name="Rectangle 2">
                <a:extLst>
                  <a:ext uri="{FF2B5EF4-FFF2-40B4-BE49-F238E27FC236}">
                    <a16:creationId xmlns:a16="http://schemas.microsoft.com/office/drawing/2014/main" id="{3DA76B85-CDC0-4365-A5AA-7D3D6959E765}"/>
                  </a:ext>
                </a:extLst>
              </p:cNvPr>
              <p:cNvSpPr>
                <a:spLocks noChangeArrowheads="1"/>
              </p:cNvSpPr>
              <p:nvPr/>
            </p:nvSpPr>
            <p:spPr bwMode="auto">
              <a:xfrm>
                <a:off x="1187624" y="2978418"/>
                <a:ext cx="7499176" cy="83099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ts val="0"/>
                  </a:spcBef>
                  <a:spcAft>
                    <a:spcPts val="600"/>
                  </a:spcAft>
                  <a:defRPr/>
                </a:pPr>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即：若</a:t>
                </a:r>
                <a:r>
                  <a:rPr lang="zh-CN" altLang="en-US" sz="2400" dirty="0">
                    <a:latin typeface="华文楷体" panose="02010600040101010101" pitchFamily="2" charset="-122"/>
                    <a:ea typeface="华文楷体" panose="02010600040101010101" pitchFamily="2" charset="-122"/>
                    <a:cs typeface="楷体_GB2312" panose="02010609030101010101" pitchFamily="49" charset="-122"/>
                  </a:rPr>
                  <a:t>对任意</a:t>
                </a:r>
                <a14:m>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𝑦</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有</a:t>
                </a:r>
                <a14:m>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𝑡</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𝑡</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oMath>
                </a14:m>
                <a:r>
                  <a:rPr lang="zh-CN" altLang="en-US" sz="2400" dirty="0">
                    <a:latin typeface="华文楷体" panose="02010600040101010101" pitchFamily="2" charset="-122"/>
                    <a:ea typeface="华文楷体" panose="02010600040101010101" pitchFamily="2" charset="-122"/>
                    <a:cs typeface="楷体_GB2312" panose="02010609030101010101" pitchFamily="49" charset="-122"/>
                  </a:rPr>
                  <a:t>，则系统是时不变的。</a:t>
                </a:r>
                <a:endPar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xmlns="">
          <p:sp>
            <p:nvSpPr>
              <p:cNvPr id="13" name="Rectangle 2">
                <a:extLst>
                  <a:ext uri="{FF2B5EF4-FFF2-40B4-BE49-F238E27FC236}">
                    <a16:creationId xmlns:a16="http://schemas.microsoft.com/office/drawing/2014/main" id="{3DA76B85-CDC0-4365-A5AA-7D3D6959E765}"/>
                  </a:ext>
                </a:extLst>
              </p:cNvPr>
              <p:cNvSpPr>
                <a:spLocks noRot="1" noChangeAspect="1" noMove="1" noResize="1" noEditPoints="1" noAdjustHandles="1" noChangeArrowheads="1" noChangeShapeType="1" noTextEdit="1"/>
              </p:cNvSpPr>
              <p:nvPr/>
            </p:nvSpPr>
            <p:spPr bwMode="auto">
              <a:xfrm>
                <a:off x="1187624" y="2978418"/>
                <a:ext cx="7499176" cy="830997"/>
              </a:xfrm>
              <a:prstGeom prst="rect">
                <a:avLst/>
              </a:prstGeom>
              <a:blipFill>
                <a:blip r:embed="rId3"/>
                <a:stretch>
                  <a:fillRect l="-1301" t="-5882" r="-1220" b="-1617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标题 1">
            <a:extLst>
              <a:ext uri="{FF2B5EF4-FFF2-40B4-BE49-F238E27FC236}">
                <a16:creationId xmlns:a16="http://schemas.microsoft.com/office/drawing/2014/main" id="{2F5E1444-C629-4CD6-ACF9-D9895D1F02F4}"/>
              </a:ext>
            </a:extLst>
          </p:cNvPr>
          <p:cNvSpPr>
            <a:spLocks noGrp="1"/>
          </p:cNvSpPr>
          <p:nvPr>
            <p:ph type="title"/>
          </p:nvPr>
        </p:nvSpPr>
        <p:spPr/>
        <p:txBody>
          <a:bodyPr/>
          <a:lstStyle/>
          <a:p>
            <a:r>
              <a:rPr lang="en-US" altLang="zh-CN"/>
              <a:t>1.6 </a:t>
            </a:r>
            <a:r>
              <a:rPr lang="zh-CN" altLang="en-US"/>
              <a:t>系统的基本性质</a:t>
            </a:r>
          </a:p>
        </p:txBody>
      </p:sp>
      <p:sp>
        <p:nvSpPr>
          <p:cNvPr id="4" name="灯片编号占位符 3">
            <a:extLst>
              <a:ext uri="{FF2B5EF4-FFF2-40B4-BE49-F238E27FC236}">
                <a16:creationId xmlns:a16="http://schemas.microsoft.com/office/drawing/2014/main" id="{9CF4A6A3-22D9-4F0D-82E7-25A8801791F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A2C0BE5-9571-4805-BBA4-B60B7A75122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3" name="Rectangle 2">
                <a:extLst>
                  <a:ext uri="{FF2B5EF4-FFF2-40B4-BE49-F238E27FC236}">
                    <a16:creationId xmlns:a16="http://schemas.microsoft.com/office/drawing/2014/main" id="{3DA76B85-CDC0-4365-A5AA-7D3D6959E765}"/>
                  </a:ext>
                </a:extLst>
              </p:cNvPr>
              <p:cNvSpPr>
                <a:spLocks noChangeArrowheads="1"/>
              </p:cNvSpPr>
              <p:nvPr/>
            </p:nvSpPr>
            <p:spPr bwMode="auto">
              <a:xfrm>
                <a:off x="633846" y="1556792"/>
                <a:ext cx="7876308" cy="442685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20000"/>
                  </a:lnSpc>
                  <a:spcBef>
                    <a:spcPts val="0"/>
                  </a:spcBef>
                  <a:spcAft>
                    <a:spcPts val="60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检验一个系统时不变性的步骤（以连续时间为例，离散时间可类推）</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a:p>
                <a:pPr lvl="0" algn="just">
                  <a:lnSpc>
                    <a:spcPct val="120000"/>
                  </a:lnSpc>
                  <a:spcBef>
                    <a:spcPts val="0"/>
                  </a:spcBef>
                  <a:spcAft>
                    <a:spcPts val="600"/>
                  </a:spcAft>
                  <a:buFontTx/>
                  <a:buAutoNum type="arabicPeriod"/>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 令输入为</a:t>
                </a: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 </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，根据系统描述确定对应输出</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𝑦</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a:p>
                <a:pPr lvl="0" algn="just">
                  <a:lnSpc>
                    <a:spcPct val="120000"/>
                  </a:lnSpc>
                  <a:spcBef>
                    <a:spcPts val="0"/>
                  </a:spcBef>
                  <a:spcAft>
                    <a:spcPts val="600"/>
                  </a:spcAft>
                  <a:buFontTx/>
                  <a:buAutoNum type="arabicPeriod"/>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 将输入变为</a:t>
                </a: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，再根据系统描述确定输出</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𝑦</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a:p>
                <a:pPr lvl="0" algn="just">
                  <a:lnSpc>
                    <a:spcPct val="120000"/>
                  </a:lnSpc>
                  <a:spcBef>
                    <a:spcPts val="0"/>
                  </a:spcBef>
                  <a:spcAft>
                    <a:spcPts val="600"/>
                  </a:spcAft>
                  <a:buFontTx/>
                  <a:buAutoNum type="arabicPeriod"/>
                  <a:defRPr/>
                </a:pP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 令</a:t>
                </a:r>
                <a14:m>
                  <m:oMath xmlns:m="http://schemas.openxmlformats.org/officeDocument/2006/math">
                    <m:sSub>
                      <m:sSubPr>
                        <m:ctrlPr>
                          <a:rPr lang="en-US" sz="2800" i="1" smtClean="0">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𝑥</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𝑥</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0</m:t>
                        </m:r>
                      </m:sub>
                    </m:sSub>
                    <m:r>
                      <a:rPr lang="en-US" sz="2800" i="1">
                        <a:solidFill>
                          <a:srgbClr val="FF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，根据自变量变换，</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检验</a:t>
                </a:r>
                <a14:m>
                  <m:oMath xmlns:m="http://schemas.openxmlformats.org/officeDocument/2006/math">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𝑦</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oMath>
                </a14:m>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是否等于</a:t>
                </a:r>
                <a14:m>
                  <m:oMath xmlns:m="http://schemas.openxmlformats.org/officeDocument/2006/math">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𝑦</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0</m:t>
                        </m:r>
                      </m:sub>
                    </m:sSub>
                    <m:r>
                      <a:rPr lang="en-US" sz="2800" i="1">
                        <a:solidFill>
                          <a:srgbClr val="FF0000"/>
                        </a:solidFill>
                        <a:latin typeface="Cambria Math" panose="02040503050406030204" pitchFamily="18" charset="0"/>
                      </a:rPr>
                      <m:t>) </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3" name="Rectangle 2">
                <a:extLst>
                  <a:ext uri="{FF2B5EF4-FFF2-40B4-BE49-F238E27FC236}">
                    <a16:creationId xmlns:a16="http://schemas.microsoft.com/office/drawing/2014/main" id="{3DA76B85-CDC0-4365-A5AA-7D3D6959E765}"/>
                  </a:ext>
                </a:extLst>
              </p:cNvPr>
              <p:cNvSpPr>
                <a:spLocks noRot="1" noChangeAspect="1" noMove="1" noResize="1" noEditPoints="1" noAdjustHandles="1" noChangeArrowheads="1" noChangeShapeType="1" noTextEdit="1"/>
              </p:cNvSpPr>
              <p:nvPr/>
            </p:nvSpPr>
            <p:spPr bwMode="auto">
              <a:xfrm>
                <a:off x="633846" y="1556792"/>
                <a:ext cx="7876308" cy="4426853"/>
              </a:xfrm>
              <a:prstGeom prst="rect">
                <a:avLst/>
              </a:prstGeom>
              <a:blipFill>
                <a:blip r:embed="rId2"/>
                <a:stretch>
                  <a:fillRect l="-1625" t="-138" r="-1548" b="-288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83033320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155" name="Rectangle 12">
                <a:extLst>
                  <a:ext uri="{FF2B5EF4-FFF2-40B4-BE49-F238E27FC236}">
                    <a16:creationId xmlns:a16="http://schemas.microsoft.com/office/drawing/2014/main" id="{75280164-973A-426D-AB6E-988F8634B01D}"/>
                  </a:ext>
                </a:extLst>
              </p:cNvPr>
              <p:cNvSpPr>
                <a:spLocks noChangeArrowheads="1"/>
              </p:cNvSpPr>
              <p:nvPr/>
            </p:nvSpPr>
            <p:spPr bwMode="auto">
              <a:xfrm>
                <a:off x="683568" y="3229878"/>
                <a:ext cx="5622565"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defRPr/>
                </a:pPr>
                <a:r>
                  <a:rPr kumimoji="0" lang="zh-CN" altLang="en-US" sz="280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当</a:t>
                </a:r>
                <a14:m>
                  <m:oMath xmlns:m="http://schemas.openxmlformats.org/officeDocument/2006/math">
                    <m:r>
                      <a:rPr lang="en-US" sz="2800" i="1" smtClean="0">
                        <a:solidFill>
                          <a:srgbClr val="000000"/>
                        </a:solidFill>
                        <a:latin typeface="Cambria Math" panose="02040503050406030204" pitchFamily="18" charset="0"/>
                      </a:rPr>
                      <m:t>𝑥</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kumimoji="0" lang="zh-CN" altLang="en-US" sz="280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时，</a:t>
                </a:r>
                <a:r>
                  <a:rPr lang="en-US" sz="2800" dirty="0">
                    <a:solidFill>
                      <a:srgbClr val="000000"/>
                    </a:solidFill>
                  </a:rPr>
                  <a:t> </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𝑦</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endParaRPr kumimoji="0" lang="zh-CN" altLang="en-US" sz="280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xmlns="">
          <p:sp>
            <p:nvSpPr>
              <p:cNvPr id="6155" name="Rectangle 12">
                <a:extLst>
                  <a:ext uri="{FF2B5EF4-FFF2-40B4-BE49-F238E27FC236}">
                    <a16:creationId xmlns:a16="http://schemas.microsoft.com/office/drawing/2014/main" id="{75280164-973A-426D-AB6E-988F8634B01D}"/>
                  </a:ext>
                </a:extLst>
              </p:cNvPr>
              <p:cNvSpPr>
                <a:spLocks noRot="1" noChangeAspect="1" noMove="1" noResize="1" noEditPoints="1" noAdjustHandles="1" noChangeArrowheads="1" noChangeShapeType="1" noTextEdit="1"/>
              </p:cNvSpPr>
              <p:nvPr/>
            </p:nvSpPr>
            <p:spPr bwMode="auto">
              <a:xfrm>
                <a:off x="683568" y="3229878"/>
                <a:ext cx="5622565" cy="523220"/>
              </a:xfrm>
              <a:prstGeom prst="rect">
                <a:avLst/>
              </a:prstGeom>
              <a:blipFill>
                <a:blip r:embed="rId2"/>
                <a:stretch>
                  <a:fillRect l="-2169" t="-12791"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56" name="Rectangle 11">
                <a:extLst>
                  <a:ext uri="{FF2B5EF4-FFF2-40B4-BE49-F238E27FC236}">
                    <a16:creationId xmlns:a16="http://schemas.microsoft.com/office/drawing/2014/main" id="{511F1D8D-B455-4280-8F12-F83CD46F28C1}"/>
                  </a:ext>
                </a:extLst>
              </p:cNvPr>
              <p:cNvSpPr>
                <a:spLocks noChangeArrowheads="1"/>
              </p:cNvSpPr>
              <p:nvPr/>
            </p:nvSpPr>
            <p:spPr bwMode="auto">
              <a:xfrm>
                <a:off x="683568" y="2420888"/>
                <a:ext cx="5597751"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defRPr/>
                </a:pPr>
                <a:r>
                  <a:rPr kumimoji="0" lang="zh-CN" altLang="en-US" sz="280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当</a:t>
                </a:r>
                <a14:m>
                  <m:oMath xmlns:m="http://schemas.openxmlformats.org/officeDocument/2006/math">
                    <m:r>
                      <a:rPr lang="en-US" sz="2800" i="1" smtClean="0">
                        <a:solidFill>
                          <a:srgbClr val="000000"/>
                        </a:solidFill>
                        <a:latin typeface="Cambria Math" panose="02040503050406030204" pitchFamily="18" charset="0"/>
                      </a:rPr>
                      <m:t>𝑥</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kumimoji="0" lang="zh-CN" altLang="en-US" sz="280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时，</a:t>
                </a:r>
                <a:r>
                  <a:rPr lang="en-US" sz="2800" dirty="0">
                    <a:solidFill>
                      <a:srgbClr val="000000"/>
                    </a:solidFill>
                  </a:rPr>
                  <a:t> </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𝑦</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endParaRPr kumimoji="0" lang="zh-CN" altLang="en-US" sz="280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xmlns="">
          <p:sp>
            <p:nvSpPr>
              <p:cNvPr id="6156" name="Rectangle 11">
                <a:extLst>
                  <a:ext uri="{FF2B5EF4-FFF2-40B4-BE49-F238E27FC236}">
                    <a16:creationId xmlns:a16="http://schemas.microsoft.com/office/drawing/2014/main" id="{511F1D8D-B455-4280-8F12-F83CD46F28C1}"/>
                  </a:ext>
                </a:extLst>
              </p:cNvPr>
              <p:cNvSpPr>
                <a:spLocks noRot="1" noChangeAspect="1" noMove="1" noResize="1" noEditPoints="1" noAdjustHandles="1" noChangeArrowheads="1" noChangeShapeType="1" noTextEdit="1"/>
              </p:cNvSpPr>
              <p:nvPr/>
            </p:nvSpPr>
            <p:spPr bwMode="auto">
              <a:xfrm>
                <a:off x="683568" y="2420888"/>
                <a:ext cx="5597751" cy="523220"/>
              </a:xfrm>
              <a:prstGeom prst="rect">
                <a:avLst/>
              </a:prstGeom>
              <a:blipFill>
                <a:blip r:embed="rId3"/>
                <a:stretch>
                  <a:fillRect l="-2179" t="-11628"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157" name="标题 1">
            <a:extLst>
              <a:ext uri="{FF2B5EF4-FFF2-40B4-BE49-F238E27FC236}">
                <a16:creationId xmlns:a16="http://schemas.microsoft.com/office/drawing/2014/main" id="{BECBFF5D-1D03-4929-86DD-FE0596E2CA1C}"/>
              </a:ext>
            </a:extLst>
          </p:cNvPr>
          <p:cNvSpPr>
            <a:spLocks noGrp="1"/>
          </p:cNvSpPr>
          <p:nvPr>
            <p:ph type="title"/>
          </p:nvPr>
        </p:nvSpPr>
        <p:spPr/>
        <p:txBody>
          <a:bodyPr/>
          <a:lstStyle/>
          <a:p>
            <a:r>
              <a:rPr lang="en-US" altLang="zh-CN"/>
              <a:t>1.6 </a:t>
            </a:r>
            <a:r>
              <a:rPr lang="zh-CN" altLang="en-US"/>
              <a:t>系统的基本性质</a:t>
            </a:r>
          </a:p>
        </p:txBody>
      </p:sp>
      <p:sp>
        <p:nvSpPr>
          <p:cNvPr id="4" name="灯片编号占位符 3">
            <a:extLst>
              <a:ext uri="{FF2B5EF4-FFF2-40B4-BE49-F238E27FC236}">
                <a16:creationId xmlns:a16="http://schemas.microsoft.com/office/drawing/2014/main" id="{982590C2-306C-4165-B267-51E0CD90915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639CBF3-A792-47A8-9F8C-CB08F099286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6159" name="Text Box 2">
                <a:extLst>
                  <a:ext uri="{FF2B5EF4-FFF2-40B4-BE49-F238E27FC236}">
                    <a16:creationId xmlns:a16="http://schemas.microsoft.com/office/drawing/2014/main" id="{299A0FA9-6D88-47D9-BEE5-6A5FD547FCBA}"/>
                  </a:ext>
                </a:extLst>
              </p:cNvPr>
              <p:cNvSpPr txBox="1">
                <a:spLocks noChangeArrowheads="1"/>
              </p:cNvSpPr>
              <p:nvPr/>
            </p:nvSpPr>
            <p:spPr bwMode="auto">
              <a:xfrm>
                <a:off x="683568" y="1611898"/>
                <a:ext cx="3041345"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如：</a:t>
                </a:r>
                <a:r>
                  <a:rPr lang="en-US" sz="2800" dirty="0">
                    <a:solidFill>
                      <a:srgbClr val="000000"/>
                    </a:solidFill>
                  </a:rPr>
                  <a:t> </a:t>
                </a:r>
                <a14:m>
                  <m:oMath xmlns:m="http://schemas.openxmlformats.org/officeDocument/2006/math">
                    <m:r>
                      <a:rPr lang="en-US" sz="2800" i="1">
                        <a:solidFill>
                          <a:srgbClr val="000000"/>
                        </a:solidFill>
                        <a:latin typeface="Cambria Math" panose="02040503050406030204" pitchFamily="18" charset="0"/>
                      </a:rPr>
                      <m:t>𝑦</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endParaRPr kumimoji="0" lang="zh-CN" altLang="en-US" sz="280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xmlns="">
          <p:sp>
            <p:nvSpPr>
              <p:cNvPr id="6159" name="Text Box 2">
                <a:extLst>
                  <a:ext uri="{FF2B5EF4-FFF2-40B4-BE49-F238E27FC236}">
                    <a16:creationId xmlns:a16="http://schemas.microsoft.com/office/drawing/2014/main" id="{299A0FA9-6D88-47D9-BEE5-6A5FD547FCBA}"/>
                  </a:ext>
                </a:extLst>
              </p:cNvPr>
              <p:cNvSpPr txBox="1">
                <a:spLocks noRot="1" noChangeAspect="1" noMove="1" noResize="1" noEditPoints="1" noAdjustHandles="1" noChangeArrowheads="1" noChangeShapeType="1" noTextEdit="1"/>
              </p:cNvSpPr>
              <p:nvPr/>
            </p:nvSpPr>
            <p:spPr bwMode="auto">
              <a:xfrm>
                <a:off x="683568" y="1611898"/>
                <a:ext cx="3041345" cy="523220"/>
              </a:xfrm>
              <a:prstGeom prst="rect">
                <a:avLst/>
              </a:prstGeom>
              <a:blipFill>
                <a:blip r:embed="rId4"/>
                <a:stretch>
                  <a:fillRect l="-4008" t="-11628"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60" name="Text Box 8">
                <a:extLst>
                  <a:ext uri="{FF2B5EF4-FFF2-40B4-BE49-F238E27FC236}">
                    <a16:creationId xmlns:a16="http://schemas.microsoft.com/office/drawing/2014/main" id="{0CFC3546-53C7-4186-ACF3-9F6DB4E192A1}"/>
                  </a:ext>
                </a:extLst>
              </p:cNvPr>
              <p:cNvSpPr txBox="1">
                <a:spLocks noChangeArrowheads="1"/>
              </p:cNvSpPr>
              <p:nvPr/>
            </p:nvSpPr>
            <p:spPr bwMode="auto">
              <a:xfrm>
                <a:off x="683568" y="5656848"/>
                <a:ext cx="3262432"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14:m>
                  <m:oMath xmlns:m="http://schemas.openxmlformats.org/officeDocument/2006/math">
                    <m:r>
                      <a:rPr lang="en-US" sz="2800" i="1" smtClean="0">
                        <a:solidFill>
                          <a:srgbClr val="000000"/>
                        </a:solidFill>
                        <a:latin typeface="Cambria Math" panose="02040503050406030204" pitchFamily="18" charset="0"/>
                      </a:rPr>
                      <m:t>∴</m:t>
                    </m:r>
                  </m:oMath>
                </a14:m>
                <a:r>
                  <a:rPr kumimoji="0" lang="zh-CN" altLang="en-US" sz="280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该系统是时变的。</a:t>
                </a:r>
              </a:p>
            </p:txBody>
          </p:sp>
        </mc:Choice>
        <mc:Fallback xmlns="">
          <p:sp>
            <p:nvSpPr>
              <p:cNvPr id="6160" name="Text Box 8">
                <a:extLst>
                  <a:ext uri="{FF2B5EF4-FFF2-40B4-BE49-F238E27FC236}">
                    <a16:creationId xmlns:a16="http://schemas.microsoft.com/office/drawing/2014/main" id="{0CFC3546-53C7-4186-ACF3-9F6DB4E192A1}"/>
                  </a:ext>
                </a:extLst>
              </p:cNvPr>
              <p:cNvSpPr txBox="1">
                <a:spLocks noRot="1" noChangeAspect="1" noMove="1" noResize="1" noEditPoints="1" noAdjustHandles="1" noChangeArrowheads="1" noChangeShapeType="1" noTextEdit="1"/>
              </p:cNvSpPr>
              <p:nvPr/>
            </p:nvSpPr>
            <p:spPr bwMode="auto">
              <a:xfrm>
                <a:off x="683568" y="5656848"/>
                <a:ext cx="3262432" cy="523220"/>
              </a:xfrm>
              <a:prstGeom prst="rect">
                <a:avLst/>
              </a:prstGeom>
              <a:blipFill>
                <a:blip r:embed="rId5"/>
                <a:stretch>
                  <a:fillRect t="-12791" r="-2430"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61" name="Text Box 14">
                <a:extLst>
                  <a:ext uri="{FF2B5EF4-FFF2-40B4-BE49-F238E27FC236}">
                    <a16:creationId xmlns:a16="http://schemas.microsoft.com/office/drawing/2014/main" id="{A41E2682-D6FD-4A61-B93F-BF435304D069}"/>
                  </a:ext>
                </a:extLst>
              </p:cNvPr>
              <p:cNvSpPr txBox="1">
                <a:spLocks noChangeArrowheads="1"/>
              </p:cNvSpPr>
              <p:nvPr/>
            </p:nvSpPr>
            <p:spPr bwMode="auto">
              <a:xfrm>
                <a:off x="683568" y="4038868"/>
                <a:ext cx="7937301"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defRPr/>
                </a:pPr>
                <a:r>
                  <a:rPr kumimoji="0" lang="zh-CN" altLang="en-US" sz="280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令</a:t>
                </a: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𝑡</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oMath>
                </a14:m>
                <a:r>
                  <a:rPr lang="zh-CN" altLang="en-US" sz="2800" dirty="0">
                    <a:latin typeface="华文楷体" panose="02010600040101010101" pitchFamily="2" charset="-122"/>
                    <a:ea typeface="华文楷体" panose="02010600040101010101" pitchFamily="2" charset="-122"/>
                    <a:cs typeface="楷体_GB2312" panose="02010609030101010101" pitchFamily="49" charset="-122"/>
                  </a:rPr>
                  <a:t>，则有：</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𝑦</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𝑡</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oMath>
                </a14:m>
                <a:endParaRPr kumimoji="0" lang="zh-CN" altLang="en-US" sz="280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xmlns="">
          <p:sp>
            <p:nvSpPr>
              <p:cNvPr id="6161" name="Text Box 14">
                <a:extLst>
                  <a:ext uri="{FF2B5EF4-FFF2-40B4-BE49-F238E27FC236}">
                    <a16:creationId xmlns:a16="http://schemas.microsoft.com/office/drawing/2014/main" id="{A41E2682-D6FD-4A61-B93F-BF435304D069}"/>
                  </a:ext>
                </a:extLst>
              </p:cNvPr>
              <p:cNvSpPr txBox="1">
                <a:spLocks noRot="1" noChangeAspect="1" noMove="1" noResize="1" noEditPoints="1" noAdjustHandles="1" noChangeArrowheads="1" noChangeShapeType="1" noTextEdit="1"/>
              </p:cNvSpPr>
              <p:nvPr/>
            </p:nvSpPr>
            <p:spPr bwMode="auto">
              <a:xfrm>
                <a:off x="683568" y="4038868"/>
                <a:ext cx="7937301" cy="523220"/>
              </a:xfrm>
              <a:prstGeom prst="rect">
                <a:avLst/>
              </a:prstGeom>
              <a:blipFill>
                <a:blip r:embed="rId6"/>
                <a:stretch>
                  <a:fillRect l="-1536" t="-12941" b="-3294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63" name="Rectangle 17">
                <a:extLst>
                  <a:ext uri="{FF2B5EF4-FFF2-40B4-BE49-F238E27FC236}">
                    <a16:creationId xmlns:a16="http://schemas.microsoft.com/office/drawing/2014/main" id="{EDCA5DED-FA5A-4A1F-ABBD-1C0741AD9485}"/>
                  </a:ext>
                </a:extLst>
              </p:cNvPr>
              <p:cNvSpPr>
                <a:spLocks noChangeArrowheads="1"/>
              </p:cNvSpPr>
              <p:nvPr/>
            </p:nvSpPr>
            <p:spPr bwMode="auto">
              <a:xfrm>
                <a:off x="683568" y="4847858"/>
                <a:ext cx="7843109"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而</a:t>
                </a: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𝑦</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𝑡</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𝑡</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𝑡</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𝑦</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endParaRPr kumimoji="0" lang="zh-CN" altLang="en-US" sz="280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xmlns="">
          <p:sp>
            <p:nvSpPr>
              <p:cNvPr id="6163" name="Rectangle 17">
                <a:extLst>
                  <a:ext uri="{FF2B5EF4-FFF2-40B4-BE49-F238E27FC236}">
                    <a16:creationId xmlns:a16="http://schemas.microsoft.com/office/drawing/2014/main" id="{EDCA5DED-FA5A-4A1F-ABBD-1C0741AD9485}"/>
                  </a:ext>
                </a:extLst>
              </p:cNvPr>
              <p:cNvSpPr>
                <a:spLocks noRot="1" noChangeAspect="1" noMove="1" noResize="1" noEditPoints="1" noAdjustHandles="1" noChangeArrowheads="1" noChangeShapeType="1" noTextEdit="1"/>
              </p:cNvSpPr>
              <p:nvPr/>
            </p:nvSpPr>
            <p:spPr bwMode="auto">
              <a:xfrm>
                <a:off x="683568" y="4847858"/>
                <a:ext cx="7843109" cy="523220"/>
              </a:xfrm>
              <a:prstGeom prst="rect">
                <a:avLst/>
              </a:prstGeom>
              <a:blipFill>
                <a:blip r:embed="rId7"/>
                <a:stretch>
                  <a:fillRect l="-1554" t="-11628"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155"/>
                                        </p:tgtEl>
                                        <p:attrNameLst>
                                          <p:attrName>style.visibility</p:attrName>
                                        </p:attrNameLst>
                                      </p:cBhvr>
                                      <p:to>
                                        <p:strVal val="visible"/>
                                      </p:to>
                                    </p:set>
                                    <p:animEffect transition="in" filter="barn(inVertical)">
                                      <p:cBhvr>
                                        <p:cTn id="7" dur="500"/>
                                        <p:tgtEl>
                                          <p:spTgt spid="615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156"/>
                                        </p:tgtEl>
                                        <p:attrNameLst>
                                          <p:attrName>style.visibility</p:attrName>
                                        </p:attrNameLst>
                                      </p:cBhvr>
                                      <p:to>
                                        <p:strVal val="visible"/>
                                      </p:to>
                                    </p:set>
                                    <p:animEffect transition="in" filter="barn(inVertical)">
                                      <p:cBhvr>
                                        <p:cTn id="10" dur="500"/>
                                        <p:tgtEl>
                                          <p:spTgt spid="615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160"/>
                                        </p:tgtEl>
                                        <p:attrNameLst>
                                          <p:attrName>style.visibility</p:attrName>
                                        </p:attrNameLst>
                                      </p:cBhvr>
                                      <p:to>
                                        <p:strVal val="visible"/>
                                      </p:to>
                                    </p:set>
                                    <p:animEffect transition="in" filter="barn(inVertical)">
                                      <p:cBhvr>
                                        <p:cTn id="13" dur="500"/>
                                        <p:tgtEl>
                                          <p:spTgt spid="616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6161"/>
                                        </p:tgtEl>
                                        <p:attrNameLst>
                                          <p:attrName>style.visibility</p:attrName>
                                        </p:attrNameLst>
                                      </p:cBhvr>
                                      <p:to>
                                        <p:strVal val="visible"/>
                                      </p:to>
                                    </p:set>
                                    <p:animEffect transition="in" filter="barn(inVertical)">
                                      <p:cBhvr>
                                        <p:cTn id="16" dur="500"/>
                                        <p:tgtEl>
                                          <p:spTgt spid="6161"/>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6163"/>
                                        </p:tgtEl>
                                        <p:attrNameLst>
                                          <p:attrName>style.visibility</p:attrName>
                                        </p:attrNameLst>
                                      </p:cBhvr>
                                      <p:to>
                                        <p:strVal val="visible"/>
                                      </p:to>
                                    </p:set>
                                    <p:animEffect transition="in" filter="barn(inVertical)">
                                      <p:cBhvr>
                                        <p:cTn id="19" dur="500"/>
                                        <p:tgtEl>
                                          <p:spTgt spid="6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5" grpId="0"/>
      <p:bldP spid="6156" grpId="0"/>
      <p:bldP spid="6160" grpId="0"/>
      <p:bldP spid="6161" grpId="0"/>
      <p:bldP spid="616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5" name="标题 1">
            <a:extLst>
              <a:ext uri="{FF2B5EF4-FFF2-40B4-BE49-F238E27FC236}">
                <a16:creationId xmlns:a16="http://schemas.microsoft.com/office/drawing/2014/main" id="{A9B061D2-2088-4265-A678-35833658DCEF}"/>
              </a:ext>
            </a:extLst>
          </p:cNvPr>
          <p:cNvSpPr>
            <a:spLocks noGrp="1"/>
          </p:cNvSpPr>
          <p:nvPr>
            <p:ph type="title"/>
          </p:nvPr>
        </p:nvSpPr>
        <p:spPr/>
        <p:txBody>
          <a:bodyPr/>
          <a:lstStyle/>
          <a:p>
            <a:r>
              <a:rPr lang="en-US" altLang="zh-CN"/>
              <a:t>1.6 </a:t>
            </a:r>
            <a:r>
              <a:rPr lang="zh-CN" altLang="en-US"/>
              <a:t>系统的基本性质</a:t>
            </a:r>
          </a:p>
        </p:txBody>
      </p:sp>
      <p:sp>
        <p:nvSpPr>
          <p:cNvPr id="7176" name="内容占位符 2">
            <a:extLst>
              <a:ext uri="{FF2B5EF4-FFF2-40B4-BE49-F238E27FC236}">
                <a16:creationId xmlns:a16="http://schemas.microsoft.com/office/drawing/2014/main" id="{3A15A5BF-3637-411B-B10C-86A9A6F7E739}"/>
              </a:ext>
            </a:extLst>
          </p:cNvPr>
          <p:cNvSpPr>
            <a:spLocks noGrp="1"/>
          </p:cNvSpPr>
          <p:nvPr>
            <p:ph idx="1"/>
          </p:nvPr>
        </p:nvSpPr>
        <p:spPr>
          <a:xfrm>
            <a:off x="457200" y="1285875"/>
            <a:ext cx="8229600" cy="461665"/>
          </a:xfrm>
        </p:spPr>
        <p:txBody>
          <a:bodyPr>
            <a:spAutoFit/>
          </a:bodyPr>
          <a:lstStyle/>
          <a:p>
            <a:r>
              <a:rPr lang="zh-CN" altLang="en-US" sz="2400" b="0" dirty="0"/>
              <a:t>六</a:t>
            </a:r>
            <a:r>
              <a:rPr lang="en-US" altLang="zh-CN" sz="2400" b="0" dirty="0"/>
              <a:t>. </a:t>
            </a:r>
            <a:r>
              <a:rPr lang="zh-CN" altLang="en-US" sz="2400" b="0" dirty="0"/>
              <a:t>线性</a:t>
            </a:r>
          </a:p>
        </p:txBody>
      </p:sp>
      <p:sp>
        <p:nvSpPr>
          <p:cNvPr id="4" name="灯片编号占位符 3">
            <a:extLst>
              <a:ext uri="{FF2B5EF4-FFF2-40B4-BE49-F238E27FC236}">
                <a16:creationId xmlns:a16="http://schemas.microsoft.com/office/drawing/2014/main" id="{DE3A48CE-47CA-46DA-ACF7-480053E97B8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BB0A3A4-4206-4A77-AB08-F5AED88B293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7180" name="Text Box 9">
                <a:extLst>
                  <a:ext uri="{FF2B5EF4-FFF2-40B4-BE49-F238E27FC236}">
                    <a16:creationId xmlns:a16="http://schemas.microsoft.com/office/drawing/2014/main" id="{8A02125A-AC49-41F3-B660-6DE26902DFFE}"/>
                  </a:ext>
                </a:extLst>
              </p:cNvPr>
              <p:cNvSpPr txBox="1">
                <a:spLocks noChangeArrowheads="1"/>
              </p:cNvSpPr>
              <p:nvPr/>
            </p:nvSpPr>
            <p:spPr bwMode="auto">
              <a:xfrm>
                <a:off x="827585" y="1754744"/>
                <a:ext cx="7859216" cy="12003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just">
                  <a:defRPr/>
                </a:pPr>
                <a:r>
                  <a:rPr lang="zh-CN" altLang="en-US" sz="2400" noProof="0" dirty="0">
                    <a:latin typeface="Times New Roman" panose="02020603050405020304" pitchFamily="18" charset="0"/>
                    <a:ea typeface="华文楷体" panose="02010600040101010101" pitchFamily="2" charset="-122"/>
                    <a:cs typeface="楷体_GB2312" panose="02010609030101010101" pitchFamily="49" charset="-122"/>
                  </a:rPr>
                  <a:t>连续时间</a:t>
                </a:r>
                <a:r>
                  <a:rPr lang="zh-CN" altLang="en-US" sz="2400" b="1"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线性系统</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对任意</a:t>
                </a:r>
                <a14:m>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，总有</a:t>
                </a:r>
                <a14:m>
                  <m:oMath xmlns:m="http://schemas.openxmlformats.org/officeDocument/2006/math">
                    <m:r>
                      <a:rPr lang="en-US" sz="2400" i="1">
                        <a:solidFill>
                          <a:srgbClr val="000000"/>
                        </a:solidFill>
                        <a:latin typeface="Cambria Math" panose="02040503050406030204" pitchFamily="18" charset="0"/>
                      </a:rPr>
                      <m:t>𝑎</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𝑏</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𝑏</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其中</a:t>
                </a:r>
                <a14:m>
                  <m:oMath xmlns:m="http://schemas.openxmlformats.org/officeDocument/2006/math">
                    <m:r>
                      <a:rPr lang="en-US" sz="2400" i="1">
                        <a:solidFill>
                          <a:srgbClr val="000000"/>
                        </a:solidFill>
                        <a:latin typeface="Cambria Math" panose="02040503050406030204" pitchFamily="18" charset="0"/>
                      </a:rPr>
                      <m:t>𝑎</m:t>
                    </m:r>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与</a:t>
                </a:r>
                <a14:m>
                  <m:oMath xmlns:m="http://schemas.openxmlformats.org/officeDocument/2006/math">
                    <m:r>
                      <a:rPr lang="en-US" sz="2400" i="1">
                        <a:solidFill>
                          <a:srgbClr val="000000"/>
                        </a:solidFill>
                        <a:latin typeface="Cambria Math" panose="02040503050406030204" pitchFamily="18" charset="0"/>
                      </a:rPr>
                      <m:t>𝑏</m:t>
                    </m:r>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是任意常数。离散时间线性系统可类似定义。</a:t>
                </a:r>
                <a:endPar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7180" name="Text Box 9">
                <a:extLst>
                  <a:ext uri="{FF2B5EF4-FFF2-40B4-BE49-F238E27FC236}">
                    <a16:creationId xmlns:a16="http://schemas.microsoft.com/office/drawing/2014/main" id="{8A02125A-AC49-41F3-B660-6DE26902DFFE}"/>
                  </a:ext>
                </a:extLst>
              </p:cNvPr>
              <p:cNvSpPr txBox="1">
                <a:spLocks noRot="1" noChangeAspect="1" noMove="1" noResize="1" noEditPoints="1" noAdjustHandles="1" noChangeArrowheads="1" noChangeShapeType="1" noTextEdit="1"/>
              </p:cNvSpPr>
              <p:nvPr/>
            </p:nvSpPr>
            <p:spPr bwMode="auto">
              <a:xfrm>
                <a:off x="827585" y="1754744"/>
                <a:ext cx="7859216" cy="1200329"/>
              </a:xfrm>
              <a:prstGeom prst="rect">
                <a:avLst/>
              </a:prstGeom>
              <a:blipFill>
                <a:blip r:embed="rId2"/>
                <a:stretch>
                  <a:fillRect l="-1241" t="-4061" r="-1164" b="-111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图片 2">
            <a:extLst>
              <a:ext uri="{FF2B5EF4-FFF2-40B4-BE49-F238E27FC236}">
                <a16:creationId xmlns:a16="http://schemas.microsoft.com/office/drawing/2014/main" id="{6E47DDA1-F9FD-4778-AAA5-8B4E83BBCE94}"/>
              </a:ext>
            </a:extLst>
          </p:cNvPr>
          <p:cNvPicPr>
            <a:picLocks noChangeAspect="1"/>
          </p:cNvPicPr>
          <p:nvPr/>
        </p:nvPicPr>
        <p:blipFill>
          <a:blip r:embed="rId3"/>
          <a:stretch>
            <a:fillRect/>
          </a:stretch>
        </p:blipFill>
        <p:spPr>
          <a:xfrm>
            <a:off x="2077373" y="3068960"/>
            <a:ext cx="4989253" cy="3384376"/>
          </a:xfrm>
          <a:prstGeom prst="rect">
            <a:avLst/>
          </a:prstGeom>
        </p:spPr>
      </p:pic>
      <p:sp>
        <p:nvSpPr>
          <p:cNvPr id="17" name="文本框 16">
            <a:extLst>
              <a:ext uri="{FF2B5EF4-FFF2-40B4-BE49-F238E27FC236}">
                <a16:creationId xmlns:a16="http://schemas.microsoft.com/office/drawing/2014/main" id="{FB0CE766-AB4D-41A7-8D2A-BC5BDD72A2E8}"/>
              </a:ext>
            </a:extLst>
          </p:cNvPr>
          <p:cNvSpPr txBox="1"/>
          <p:nvPr/>
        </p:nvSpPr>
        <p:spPr>
          <a:xfrm>
            <a:off x="3875482" y="3253618"/>
            <a:ext cx="1421904" cy="461665"/>
          </a:xfrm>
          <a:prstGeom prst="rect">
            <a:avLst/>
          </a:prstGeom>
          <a:noFill/>
        </p:spPr>
        <p:txBody>
          <a:bodyPr wrap="square">
            <a:spAutoFit/>
          </a:bodyPr>
          <a:lstStyle/>
          <a:p>
            <a:pPr algn="ctr"/>
            <a:r>
              <a:rPr kumimoji="0" lang="zh-CN" altLang="en-US"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线性系统</a:t>
            </a:r>
            <a:endParaRPr lang="en-US" dirty="0">
              <a:solidFill>
                <a:srgbClr val="0000FF"/>
              </a:solidFill>
            </a:endParaRPr>
          </a:p>
        </p:txBody>
      </p:sp>
      <p:sp>
        <p:nvSpPr>
          <p:cNvPr id="18" name="文本框 17">
            <a:extLst>
              <a:ext uri="{FF2B5EF4-FFF2-40B4-BE49-F238E27FC236}">
                <a16:creationId xmlns:a16="http://schemas.microsoft.com/office/drawing/2014/main" id="{BD505760-0CDB-4635-9B94-56D68728BABC}"/>
              </a:ext>
            </a:extLst>
          </p:cNvPr>
          <p:cNvSpPr txBox="1"/>
          <p:nvPr/>
        </p:nvSpPr>
        <p:spPr>
          <a:xfrm>
            <a:off x="3875482" y="4509120"/>
            <a:ext cx="1421904" cy="461665"/>
          </a:xfrm>
          <a:prstGeom prst="rect">
            <a:avLst/>
          </a:prstGeom>
          <a:noFill/>
        </p:spPr>
        <p:txBody>
          <a:bodyPr wrap="square">
            <a:spAutoFit/>
          </a:bodyPr>
          <a:lstStyle/>
          <a:p>
            <a:pPr algn="ctr"/>
            <a:r>
              <a:rPr kumimoji="0" lang="zh-CN" altLang="en-US"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线性系统</a:t>
            </a:r>
            <a:endParaRPr lang="en-US" dirty="0">
              <a:solidFill>
                <a:srgbClr val="0000FF"/>
              </a:solidFill>
            </a:endParaRPr>
          </a:p>
        </p:txBody>
      </p:sp>
      <p:sp>
        <p:nvSpPr>
          <p:cNvPr id="19" name="文本框 18">
            <a:extLst>
              <a:ext uri="{FF2B5EF4-FFF2-40B4-BE49-F238E27FC236}">
                <a16:creationId xmlns:a16="http://schemas.microsoft.com/office/drawing/2014/main" id="{3D8CBB15-60A9-471C-9569-A5CDE42926C8}"/>
              </a:ext>
            </a:extLst>
          </p:cNvPr>
          <p:cNvSpPr txBox="1"/>
          <p:nvPr/>
        </p:nvSpPr>
        <p:spPr>
          <a:xfrm>
            <a:off x="3861047" y="5733256"/>
            <a:ext cx="1421904" cy="461665"/>
          </a:xfrm>
          <a:prstGeom prst="rect">
            <a:avLst/>
          </a:prstGeom>
          <a:noFill/>
        </p:spPr>
        <p:txBody>
          <a:bodyPr wrap="square">
            <a:spAutoFit/>
          </a:bodyPr>
          <a:lstStyle/>
          <a:p>
            <a:pPr algn="ctr"/>
            <a:r>
              <a:rPr kumimoji="0" lang="zh-CN" altLang="en-US"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线性系统</a:t>
            </a:r>
            <a:endParaRPr lang="en-US" dirty="0">
              <a:solidFill>
                <a:srgbClr val="0000FF"/>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5" name="标题 1">
            <a:extLst>
              <a:ext uri="{FF2B5EF4-FFF2-40B4-BE49-F238E27FC236}">
                <a16:creationId xmlns:a16="http://schemas.microsoft.com/office/drawing/2014/main" id="{A9B061D2-2088-4265-A678-35833658DCEF}"/>
              </a:ext>
            </a:extLst>
          </p:cNvPr>
          <p:cNvSpPr>
            <a:spLocks noGrp="1"/>
          </p:cNvSpPr>
          <p:nvPr>
            <p:ph type="title"/>
          </p:nvPr>
        </p:nvSpPr>
        <p:spPr/>
        <p:txBody>
          <a:bodyPr/>
          <a:lstStyle/>
          <a:p>
            <a:r>
              <a:rPr lang="en-US" altLang="zh-CN"/>
              <a:t>1.6 </a:t>
            </a:r>
            <a:r>
              <a:rPr lang="zh-CN" altLang="en-US"/>
              <a:t>系统的基本性质</a:t>
            </a:r>
          </a:p>
        </p:txBody>
      </p:sp>
      <p:sp>
        <p:nvSpPr>
          <p:cNvPr id="4" name="灯片编号占位符 3">
            <a:extLst>
              <a:ext uri="{FF2B5EF4-FFF2-40B4-BE49-F238E27FC236}">
                <a16:creationId xmlns:a16="http://schemas.microsoft.com/office/drawing/2014/main" id="{DE3A48CE-47CA-46DA-ACF7-480053E97B8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BB0A3A4-4206-4A77-AB08-F5AED88B293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81" name="Text Box 8">
            <a:extLst>
              <a:ext uri="{FF2B5EF4-FFF2-40B4-BE49-F238E27FC236}">
                <a16:creationId xmlns:a16="http://schemas.microsoft.com/office/drawing/2014/main" id="{7D1F5868-00E6-4382-A74D-5DDC46EC0D96}"/>
              </a:ext>
            </a:extLst>
          </p:cNvPr>
          <p:cNvSpPr txBox="1">
            <a:spLocks noChangeArrowheads="1"/>
          </p:cNvSpPr>
          <p:nvPr/>
        </p:nvSpPr>
        <p:spPr bwMode="auto">
          <a:xfrm>
            <a:off x="457201" y="1196752"/>
            <a:ext cx="44935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线性</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等价于以下两个性质之和</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7173" name="Object 8">
                <a:extLst>
                  <a:ext uri="{FF2B5EF4-FFF2-40B4-BE49-F238E27FC236}">
                    <a16:creationId xmlns:a16="http://schemas.microsoft.com/office/drawing/2014/main" id="{559A023C-49EF-4D63-AEDA-45B6DAA44523}"/>
                  </a:ext>
                </a:extLst>
              </p:cNvPr>
              <p:cNvSpPr txBox="1"/>
              <p:nvPr/>
            </p:nvSpPr>
            <p:spPr bwMode="auto">
              <a:xfrm>
                <a:off x="1403647" y="1628800"/>
                <a:ext cx="4189412" cy="48247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7173" name="Object 8">
                <a:extLst>
                  <a:ext uri="{FF2B5EF4-FFF2-40B4-BE49-F238E27FC236}">
                    <a16:creationId xmlns:a16="http://schemas.microsoft.com/office/drawing/2014/main" id="{559A023C-49EF-4D63-AEDA-45B6DAA44523}"/>
                  </a:ext>
                </a:extLst>
              </p:cNvPr>
              <p:cNvSpPr txBox="1">
                <a:spLocks noRot="1" noChangeAspect="1" noMove="1" noResize="1" noEditPoints="1" noAdjustHandles="1" noChangeArrowheads="1" noChangeShapeType="1" noTextEdit="1"/>
              </p:cNvSpPr>
              <p:nvPr/>
            </p:nvSpPr>
            <p:spPr bwMode="auto">
              <a:xfrm>
                <a:off x="1403647" y="1628800"/>
                <a:ext cx="4189412" cy="482476"/>
              </a:xfrm>
              <a:prstGeom prst="rect">
                <a:avLst/>
              </a:prstGeom>
              <a:blipFill>
                <a:blip r:embed="rId3"/>
                <a:stretch>
                  <a:fillRect b="-15190"/>
                </a:stretch>
              </a:blipFill>
              <a:ln>
                <a:noFill/>
              </a:ln>
              <a:effectLst/>
            </p:spPr>
            <p:txBody>
              <a:bodyPr/>
              <a:lstStyle/>
              <a:p>
                <a:r>
                  <a:rPr lang="en-US">
                    <a:noFill/>
                  </a:rPr>
                  <a:t> </a:t>
                </a:r>
              </a:p>
            </p:txBody>
          </p:sp>
        </mc:Fallback>
      </mc:AlternateContent>
      <p:sp>
        <p:nvSpPr>
          <p:cNvPr id="7182" name="Text Box 8">
            <a:extLst>
              <a:ext uri="{FF2B5EF4-FFF2-40B4-BE49-F238E27FC236}">
                <a16:creationId xmlns:a16="http://schemas.microsoft.com/office/drawing/2014/main" id="{D047AD32-D2D1-4B11-A3AE-B513A23260B0}"/>
              </a:ext>
            </a:extLst>
          </p:cNvPr>
          <p:cNvSpPr txBox="1">
            <a:spLocks noChangeArrowheads="1"/>
          </p:cNvSpPr>
          <p:nvPr/>
        </p:nvSpPr>
        <p:spPr bwMode="auto">
          <a:xfrm>
            <a:off x="5504656" y="1661963"/>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可加性</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7174" name="Object 9">
                <a:extLst>
                  <a:ext uri="{FF2B5EF4-FFF2-40B4-BE49-F238E27FC236}">
                    <a16:creationId xmlns:a16="http://schemas.microsoft.com/office/drawing/2014/main" id="{F15823F8-6908-4788-B892-4EE9C5BB0180}"/>
                  </a:ext>
                </a:extLst>
              </p:cNvPr>
              <p:cNvSpPr txBox="1"/>
              <p:nvPr/>
            </p:nvSpPr>
            <p:spPr bwMode="auto">
              <a:xfrm>
                <a:off x="2267743" y="2132856"/>
                <a:ext cx="2379663" cy="50405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𝑎</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7174" name="Object 9">
                <a:extLst>
                  <a:ext uri="{FF2B5EF4-FFF2-40B4-BE49-F238E27FC236}">
                    <a16:creationId xmlns:a16="http://schemas.microsoft.com/office/drawing/2014/main" id="{F15823F8-6908-4788-B892-4EE9C5BB0180}"/>
                  </a:ext>
                </a:extLst>
              </p:cNvPr>
              <p:cNvSpPr txBox="1">
                <a:spLocks noRot="1" noChangeAspect="1" noMove="1" noResize="1" noEditPoints="1" noAdjustHandles="1" noChangeArrowheads="1" noChangeShapeType="1" noTextEdit="1"/>
              </p:cNvSpPr>
              <p:nvPr/>
            </p:nvSpPr>
            <p:spPr bwMode="auto">
              <a:xfrm>
                <a:off x="2267743" y="2132856"/>
                <a:ext cx="2379663" cy="504056"/>
              </a:xfrm>
              <a:prstGeom prst="rect">
                <a:avLst/>
              </a:prstGeom>
              <a:blipFill>
                <a:blip r:embed="rId4"/>
                <a:stretch>
                  <a:fillRect b="-9639"/>
                </a:stretch>
              </a:blipFill>
              <a:ln>
                <a:noFill/>
              </a:ln>
              <a:effectLst/>
            </p:spPr>
            <p:txBody>
              <a:bodyPr/>
              <a:lstStyle/>
              <a:p>
                <a:r>
                  <a:rPr lang="en-US">
                    <a:noFill/>
                  </a:rPr>
                  <a:t> </a:t>
                </a:r>
              </a:p>
            </p:txBody>
          </p:sp>
        </mc:Fallback>
      </mc:AlternateContent>
      <p:sp>
        <p:nvSpPr>
          <p:cNvPr id="7183" name="Text Box 8">
            <a:extLst>
              <a:ext uri="{FF2B5EF4-FFF2-40B4-BE49-F238E27FC236}">
                <a16:creationId xmlns:a16="http://schemas.microsoft.com/office/drawing/2014/main" id="{460A78D3-CDC3-4ED6-82B5-980D5056CE24}"/>
              </a:ext>
            </a:extLst>
          </p:cNvPr>
          <p:cNvSpPr txBox="1">
            <a:spLocks noChangeArrowheads="1"/>
          </p:cNvSpPr>
          <p:nvPr/>
        </p:nvSpPr>
        <p:spPr bwMode="auto">
          <a:xfrm>
            <a:off x="5504656" y="2154051"/>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齐次性</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26" name="Text Box 8">
                <a:extLst>
                  <a:ext uri="{FF2B5EF4-FFF2-40B4-BE49-F238E27FC236}">
                    <a16:creationId xmlns:a16="http://schemas.microsoft.com/office/drawing/2014/main" id="{7C3967F1-8C21-4D75-A002-2CB542D93226}"/>
                  </a:ext>
                </a:extLst>
              </p:cNvPr>
              <p:cNvSpPr txBox="1">
                <a:spLocks noChangeArrowheads="1"/>
              </p:cNvSpPr>
              <p:nvPr/>
            </p:nvSpPr>
            <p:spPr bwMode="auto">
              <a:xfrm>
                <a:off x="457201" y="2636912"/>
                <a:ext cx="7136505"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其中</a:t>
                </a:r>
                <a14:m>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lang="en-US" sz="2400" dirty="0">
                    <a:solidFill>
                      <a:srgbClr val="000000"/>
                    </a:solidFill>
                  </a:rPr>
                  <a:t>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为任意输入信号，</a:t>
                </a:r>
                <a:r>
                  <a:rPr lang="en-US" sz="2400" dirty="0">
                    <a:solidFill>
                      <a:srgbClr val="000000"/>
                    </a:solidFill>
                  </a:rPr>
                  <a:t> </a:t>
                </a:r>
                <a14:m>
                  <m:oMath xmlns:m="http://schemas.openxmlformats.org/officeDocument/2006/math">
                    <m:r>
                      <a:rPr lang="en-US" sz="2400" i="1">
                        <a:solidFill>
                          <a:srgbClr val="000000"/>
                        </a:solidFill>
                        <a:latin typeface="Cambria Math" panose="02040503050406030204" pitchFamily="18" charset="0"/>
                      </a:rPr>
                      <m:t>𝑎</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为任意常数。</a:t>
                </a:r>
              </a:p>
            </p:txBody>
          </p:sp>
        </mc:Choice>
        <mc:Fallback xmlns="">
          <p:sp>
            <p:nvSpPr>
              <p:cNvPr id="26" name="Text Box 8">
                <a:extLst>
                  <a:ext uri="{FF2B5EF4-FFF2-40B4-BE49-F238E27FC236}">
                    <a16:creationId xmlns:a16="http://schemas.microsoft.com/office/drawing/2014/main" id="{7C3967F1-8C21-4D75-A002-2CB542D93226}"/>
                  </a:ext>
                </a:extLst>
              </p:cNvPr>
              <p:cNvSpPr txBox="1">
                <a:spLocks noRot="1" noChangeAspect="1" noMove="1" noResize="1" noEditPoints="1" noAdjustHandles="1" noChangeArrowheads="1" noChangeShapeType="1" noTextEdit="1"/>
              </p:cNvSpPr>
              <p:nvPr/>
            </p:nvSpPr>
            <p:spPr bwMode="auto">
              <a:xfrm>
                <a:off x="457201" y="2636912"/>
                <a:ext cx="7136505" cy="461665"/>
              </a:xfrm>
              <a:prstGeom prst="rect">
                <a:avLst/>
              </a:prstGeom>
              <a:blipFill>
                <a:blip r:embed="rId5"/>
                <a:stretch>
                  <a:fillRect l="-1281" t="-9333" r="-342"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3" name="Text Box 10">
            <a:extLst>
              <a:ext uri="{FF2B5EF4-FFF2-40B4-BE49-F238E27FC236}">
                <a16:creationId xmlns:a16="http://schemas.microsoft.com/office/drawing/2014/main" id="{6D4BBBB6-1BF1-43E7-B5F6-6D549CFE1633}"/>
              </a:ext>
            </a:extLst>
          </p:cNvPr>
          <p:cNvSpPr txBox="1">
            <a:spLocks noChangeArrowheads="1"/>
          </p:cNvSpPr>
          <p:nvPr/>
        </p:nvSpPr>
        <p:spPr bwMode="auto">
          <a:xfrm>
            <a:off x="457201" y="3356992"/>
            <a:ext cx="41902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例如，以下系统是否线性的？</a:t>
            </a:r>
            <a:endPar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AlternateContent xmlns:mc="http://schemas.openxmlformats.org/markup-compatibility/2006" xmlns:a14="http://schemas.microsoft.com/office/drawing/2010/main">
        <mc:Choice Requires="a14">
          <p:sp>
            <p:nvSpPr>
              <p:cNvPr id="14" name="Text Box 13">
                <a:extLst>
                  <a:ext uri="{FF2B5EF4-FFF2-40B4-BE49-F238E27FC236}">
                    <a16:creationId xmlns:a16="http://schemas.microsoft.com/office/drawing/2014/main" id="{C1A1E252-4A0C-453F-84AD-02F1A782C922}"/>
                  </a:ext>
                </a:extLst>
              </p:cNvPr>
              <p:cNvSpPr txBox="1">
                <a:spLocks noChangeArrowheads="1"/>
              </p:cNvSpPr>
              <p:nvPr/>
            </p:nvSpPr>
            <p:spPr bwMode="auto">
              <a:xfrm>
                <a:off x="899592" y="4584857"/>
                <a:ext cx="3017429"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defRPr/>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𝑦</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 [</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𝑥</m:t>
                          </m:r>
                        </m:e>
                        <m:sup>
                          <m:r>
                            <a:rPr lang="en-US" sz="2400" i="1">
                              <a:solidFill>
                                <a:srgbClr val="000000"/>
                              </a:solidFill>
                              <a:latin typeface="Cambria Math" panose="02040503050406030204" pitchFamily="18" charset="0"/>
                            </a:rPr>
                            <m:t>′</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2</m:t>
                          </m:r>
                        </m:sup>
                      </m:sSup>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4" name="Text Box 13">
                <a:extLst>
                  <a:ext uri="{FF2B5EF4-FFF2-40B4-BE49-F238E27FC236}">
                    <a16:creationId xmlns:a16="http://schemas.microsoft.com/office/drawing/2014/main" id="{C1A1E252-4A0C-453F-84AD-02F1A782C922}"/>
                  </a:ext>
                </a:extLst>
              </p:cNvPr>
              <p:cNvSpPr txBox="1">
                <a:spLocks noRot="1" noChangeAspect="1" noMove="1" noResize="1" noEditPoints="1" noAdjustHandles="1" noChangeArrowheads="1" noChangeShapeType="1" noTextEdit="1"/>
              </p:cNvSpPr>
              <p:nvPr/>
            </p:nvSpPr>
            <p:spPr bwMode="auto">
              <a:xfrm>
                <a:off x="899592" y="4584857"/>
                <a:ext cx="3017429" cy="461665"/>
              </a:xfrm>
              <a:prstGeom prst="rect">
                <a:avLst/>
              </a:prstGeom>
              <a:blipFill>
                <a:blip r:embed="rId6"/>
                <a:stretch>
                  <a:fillRect b="-1842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bject 6">
                <a:extLst>
                  <a:ext uri="{FF2B5EF4-FFF2-40B4-BE49-F238E27FC236}">
                    <a16:creationId xmlns:a16="http://schemas.microsoft.com/office/drawing/2014/main" id="{C29046AF-7971-4548-A398-9D4482F97335}"/>
                  </a:ext>
                </a:extLst>
              </p:cNvPr>
              <p:cNvSpPr txBox="1"/>
              <p:nvPr/>
            </p:nvSpPr>
            <p:spPr bwMode="auto">
              <a:xfrm>
                <a:off x="2998886" y="5164335"/>
                <a:ext cx="5687913" cy="856953"/>
              </a:xfrm>
              <a:prstGeom prst="rect">
                <a:avLst/>
              </a:prstGeom>
              <a:noFill/>
              <a:ln>
                <a:noFill/>
              </a:ln>
              <a:effectLst/>
            </p:spPr>
            <p:txBody>
              <a:bodyPr>
                <a:noAutofit/>
              </a:bodyPr>
              <a:lstStyle/>
              <a:p>
                <a:pPr/>
                <a14:m>
                  <m:oMathPara xmlns:m="http://schemas.openxmlformats.org/officeDocument/2006/math">
                    <m:oMathParaPr>
                      <m:jc m:val="center"/>
                    </m:oMathParaPr>
                    <m:oMath xmlns:m="http://schemas.openxmlformats.org/officeDocument/2006/math">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m:t>
                              </m:r>
                            </m:sup>
                          </m:sSup>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2</m:t>
                              </m:r>
                            </m:sup>
                          </m:sSup>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1</m:t>
                                  </m:r>
                                </m:sub>
                              </m:sSub>
                            </m:e>
                            <m:sup>
                              <m:r>
                                <a:rPr lang="en-US" sz="2400" i="1">
                                  <a:solidFill>
                                    <a:srgbClr val="000000"/>
                                  </a:solidFill>
                                  <a:latin typeface="Cambria Math" panose="02040503050406030204" pitchFamily="18" charset="0"/>
                                </a:rPr>
                                <m:t>′</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2</m:t>
                              </m:r>
                            </m:sup>
                          </m:sSup>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2</m:t>
                                  </m:r>
                                </m:sub>
                              </m:sSub>
                            </m:e>
                            <m:sup>
                              <m:r>
                                <a:rPr lang="en-US" sz="2400" i="1">
                                  <a:solidFill>
                                    <a:srgbClr val="000000"/>
                                  </a:solidFill>
                                  <a:latin typeface="Cambria Math" panose="02040503050406030204" pitchFamily="18" charset="0"/>
                                </a:rPr>
                                <m:t>′</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2</m:t>
                              </m:r>
                            </m:sup>
                          </m:sSup>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den>
                      </m:f>
                    </m:oMath>
                  </m:oMathPara>
                </a14:m>
                <a:endParaRPr lang="en-US" sz="2400" dirty="0"/>
              </a:p>
            </p:txBody>
          </p:sp>
        </mc:Choice>
        <mc:Fallback xmlns="">
          <p:sp>
            <p:nvSpPr>
              <p:cNvPr id="16" name="Object 6">
                <a:extLst>
                  <a:ext uri="{FF2B5EF4-FFF2-40B4-BE49-F238E27FC236}">
                    <a16:creationId xmlns:a16="http://schemas.microsoft.com/office/drawing/2014/main" id="{C29046AF-7971-4548-A398-9D4482F97335}"/>
                  </a:ext>
                </a:extLst>
              </p:cNvPr>
              <p:cNvSpPr txBox="1">
                <a:spLocks noRot="1" noChangeAspect="1" noMove="1" noResize="1" noEditPoints="1" noAdjustHandles="1" noChangeArrowheads="1" noChangeShapeType="1" noTextEdit="1"/>
              </p:cNvSpPr>
              <p:nvPr/>
            </p:nvSpPr>
            <p:spPr bwMode="auto">
              <a:xfrm>
                <a:off x="2998886" y="5164335"/>
                <a:ext cx="5687913" cy="856953"/>
              </a:xfrm>
              <a:prstGeom prst="rect">
                <a:avLst/>
              </a:prstGeom>
              <a:blipFill>
                <a:blip r:embed="rId7"/>
                <a:stretch>
                  <a:fillRect/>
                </a:stretch>
              </a:blipFill>
              <a:ln>
                <a:noFill/>
              </a:ln>
              <a:effectLst/>
            </p:spPr>
            <p:txBody>
              <a:bodyPr/>
              <a:lstStyle/>
              <a:p>
                <a:r>
                  <a:rPr lang="en-US">
                    <a:noFill/>
                  </a:rPr>
                  <a:t> </a:t>
                </a:r>
              </a:p>
            </p:txBody>
          </p:sp>
        </mc:Fallback>
      </mc:AlternateContent>
      <p:sp>
        <p:nvSpPr>
          <p:cNvPr id="18" name="文本框 17">
            <a:extLst>
              <a:ext uri="{FF2B5EF4-FFF2-40B4-BE49-F238E27FC236}">
                <a16:creationId xmlns:a16="http://schemas.microsoft.com/office/drawing/2014/main" id="{7BB5EDCA-551A-4253-AABC-720055AC6A24}"/>
              </a:ext>
            </a:extLst>
          </p:cNvPr>
          <p:cNvSpPr txBox="1"/>
          <p:nvPr/>
        </p:nvSpPr>
        <p:spPr>
          <a:xfrm>
            <a:off x="3923928" y="3861048"/>
            <a:ext cx="4762871" cy="461665"/>
          </a:xfrm>
          <a:prstGeom prst="rect">
            <a:avLst/>
          </a:prstGeom>
          <a:noFill/>
        </p:spPr>
        <p:txBody>
          <a:bodyPr wrap="square">
            <a:spAutoFit/>
          </a:bodyPr>
          <a:lstStyle/>
          <a:p>
            <a:pPr algn="just"/>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满足可加性，但不满足齐次性。</a:t>
            </a:r>
            <a:endParaRPr lang="en-US" dirty="0"/>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8D6B8A54-4ADF-4EB7-AB19-59FF7B814852}"/>
                  </a:ext>
                </a:extLst>
              </p:cNvPr>
              <p:cNvSpPr txBox="1"/>
              <p:nvPr/>
            </p:nvSpPr>
            <p:spPr>
              <a:xfrm>
                <a:off x="899592" y="3866527"/>
                <a:ext cx="233113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func>
                        <m:func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uncPr>
                        <m:fNa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Re</m:t>
                          </m:r>
                        </m:fName>
                        <m:e>
                          <m:d>
                            <m:dPr>
                              <m:begChr m:val="{"/>
                              <m:end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e>
                          </m:d>
                        </m:e>
                      </m:func>
                    </m:oMath>
                  </m:oMathPara>
                </a14:m>
                <a:endParaRPr lang="en-US" dirty="0"/>
              </a:p>
            </p:txBody>
          </p:sp>
        </mc:Choice>
        <mc:Fallback xmlns="">
          <p:sp>
            <p:nvSpPr>
              <p:cNvPr id="19" name="文本框 18">
                <a:extLst>
                  <a:ext uri="{FF2B5EF4-FFF2-40B4-BE49-F238E27FC236}">
                    <a16:creationId xmlns:a16="http://schemas.microsoft.com/office/drawing/2014/main" id="{8D6B8A54-4ADF-4EB7-AB19-59FF7B814852}"/>
                  </a:ext>
                </a:extLst>
              </p:cNvPr>
              <p:cNvSpPr txBox="1">
                <a:spLocks noRot="1" noChangeAspect="1" noMove="1" noResize="1" noEditPoints="1" noAdjustHandles="1" noChangeArrowheads="1" noChangeShapeType="1" noTextEdit="1"/>
              </p:cNvSpPr>
              <p:nvPr/>
            </p:nvSpPr>
            <p:spPr>
              <a:xfrm>
                <a:off x="899592" y="3866527"/>
                <a:ext cx="2331136" cy="461665"/>
              </a:xfrm>
              <a:prstGeom prst="rect">
                <a:avLst/>
              </a:prstGeom>
              <a:blipFill>
                <a:blip r:embed="rId8"/>
                <a:stretch>
                  <a:fillRect b="-19737"/>
                </a:stretch>
              </a:blipFill>
            </p:spPr>
            <p:txBody>
              <a:bodyPr/>
              <a:lstStyle/>
              <a:p>
                <a:r>
                  <a:rPr lang="en-US">
                    <a:noFill/>
                  </a:rPr>
                  <a:t> </a:t>
                </a:r>
              </a:p>
            </p:txBody>
          </p:sp>
        </mc:Fallback>
      </mc:AlternateContent>
      <p:sp>
        <p:nvSpPr>
          <p:cNvPr id="20" name="文本框 19">
            <a:extLst>
              <a:ext uri="{FF2B5EF4-FFF2-40B4-BE49-F238E27FC236}">
                <a16:creationId xmlns:a16="http://schemas.microsoft.com/office/drawing/2014/main" id="{A88DB32A-BFCC-48A3-BF2B-93F99A6632DC}"/>
              </a:ext>
            </a:extLst>
          </p:cNvPr>
          <p:cNvSpPr txBox="1"/>
          <p:nvPr/>
        </p:nvSpPr>
        <p:spPr>
          <a:xfrm>
            <a:off x="3923928" y="4581128"/>
            <a:ext cx="4176464" cy="461665"/>
          </a:xfrm>
          <a:prstGeom prst="rect">
            <a:avLst/>
          </a:prstGeom>
          <a:noFill/>
        </p:spPr>
        <p:txBody>
          <a:bodyPr wrap="square">
            <a:spAutoFit/>
          </a:bodyPr>
          <a:lstStyle/>
          <a:p>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满足齐次性但不满足可加性。</a:t>
            </a:r>
            <a:endParaRPr lang="en-US" dirty="0"/>
          </a:p>
        </p:txBody>
      </p:sp>
    </p:spTree>
    <p:extLst>
      <p:ext uri="{BB962C8B-B14F-4D97-AF65-F5344CB8AC3E}">
        <p14:creationId xmlns:p14="http://schemas.microsoft.com/office/powerpoint/2010/main" val="105379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ppt_x"/>
                                          </p:val>
                                        </p:tav>
                                        <p:tav tm="100000">
                                          <p:val>
                                            <p:strVal val="#ppt_x"/>
                                          </p:val>
                                        </p:tav>
                                      </p:tavLst>
                                    </p:anim>
                                    <p:anim calcmode="lin" valueType="num">
                                      <p:cBhvr additive="base">
                                        <p:cTn id="3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8" grpId="0"/>
      <p:bldP spid="19" grpId="0"/>
      <p:bldP spid="20"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标题 1">
            <a:extLst>
              <a:ext uri="{FF2B5EF4-FFF2-40B4-BE49-F238E27FC236}">
                <a16:creationId xmlns:a16="http://schemas.microsoft.com/office/drawing/2014/main" id="{56DD0B9E-0169-44AE-B57B-1AE7F0992773}"/>
              </a:ext>
            </a:extLst>
          </p:cNvPr>
          <p:cNvSpPr>
            <a:spLocks noGrp="1"/>
          </p:cNvSpPr>
          <p:nvPr>
            <p:ph type="title"/>
          </p:nvPr>
        </p:nvSpPr>
        <p:spPr/>
        <p:txBody>
          <a:bodyPr/>
          <a:lstStyle/>
          <a:p>
            <a:r>
              <a:rPr lang="en-US" altLang="zh-CN"/>
              <a:t>1.6 </a:t>
            </a:r>
            <a:r>
              <a:rPr lang="zh-CN" altLang="en-US"/>
              <a:t>系统的基本性质</a:t>
            </a:r>
          </a:p>
        </p:txBody>
      </p:sp>
      <p:sp>
        <p:nvSpPr>
          <p:cNvPr id="9222" name="内容占位符 2">
            <a:extLst>
              <a:ext uri="{FF2B5EF4-FFF2-40B4-BE49-F238E27FC236}">
                <a16:creationId xmlns:a16="http://schemas.microsoft.com/office/drawing/2014/main" id="{ACE9054A-0DBB-4D2E-B392-5CA4AC073A71}"/>
              </a:ext>
            </a:extLst>
          </p:cNvPr>
          <p:cNvSpPr>
            <a:spLocks noGrp="1"/>
          </p:cNvSpPr>
          <p:nvPr>
            <p:ph idx="1"/>
          </p:nvPr>
        </p:nvSpPr>
        <p:spPr>
          <a:xfrm>
            <a:off x="457200" y="1285875"/>
            <a:ext cx="8229600" cy="2246769"/>
          </a:xfrm>
        </p:spPr>
        <p:txBody>
          <a:bodyPr wrap="square">
            <a:spAutoFit/>
          </a:bodyPr>
          <a:lstStyle/>
          <a:p>
            <a:pPr algn="just"/>
            <a:r>
              <a:rPr lang="zh-CN" altLang="en-US" sz="2800" b="0" dirty="0"/>
              <a:t> 如果一个系统是线性的，则只要我们能够</a:t>
            </a:r>
            <a:r>
              <a:rPr lang="zh-CN" altLang="en-US" sz="2800" b="0" dirty="0">
                <a:solidFill>
                  <a:srgbClr val="FF0000"/>
                </a:solidFill>
              </a:rPr>
              <a:t>把输入信号分解成若干个简单信号的线性组合</a:t>
            </a:r>
            <a:r>
              <a:rPr lang="zh-CN" altLang="en-US" sz="2800" b="0" dirty="0"/>
              <a:t>，且知道该系统对每一个简单信号的响应，就可以很方便地通过线性组合而得到系统对原输入信号的响应。即</a:t>
            </a:r>
            <a:r>
              <a:rPr lang="en-US" altLang="zh-CN" sz="2800" b="0" dirty="0"/>
              <a:t>:</a:t>
            </a:r>
            <a:endParaRPr lang="zh-CN" altLang="en-US" sz="2800" b="0" dirty="0"/>
          </a:p>
        </p:txBody>
      </p:sp>
      <p:sp>
        <p:nvSpPr>
          <p:cNvPr id="4" name="灯片编号占位符 3">
            <a:extLst>
              <a:ext uri="{FF2B5EF4-FFF2-40B4-BE49-F238E27FC236}">
                <a16:creationId xmlns:a16="http://schemas.microsoft.com/office/drawing/2014/main" id="{FF9843BA-95DE-4FF1-B577-0A25C9D69AC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FB71D31-11A4-4505-A336-87D860B952F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9224" name="Text Box 2">
                <a:extLst>
                  <a:ext uri="{FF2B5EF4-FFF2-40B4-BE49-F238E27FC236}">
                    <a16:creationId xmlns:a16="http://schemas.microsoft.com/office/drawing/2014/main" id="{AC1C68B1-0122-48CE-87DB-169DA5666C32}"/>
                  </a:ext>
                </a:extLst>
              </p:cNvPr>
              <p:cNvSpPr txBox="1">
                <a:spLocks noChangeArrowheads="1"/>
              </p:cNvSpPr>
              <p:nvPr/>
            </p:nvSpPr>
            <p:spPr bwMode="auto">
              <a:xfrm>
                <a:off x="1547664" y="3690664"/>
                <a:ext cx="6193747" cy="57656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nSpc>
                    <a:spcPct val="120000"/>
                  </a:lnSpc>
                  <a:defRPr/>
                </a:pP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若</a:t>
                </a:r>
                <a14:m>
                  <m:oMath xmlns:m="http://schemas.openxmlformats.org/officeDocument/2006/math">
                    <m:r>
                      <a:rPr lang="en-US" sz="2800" i="1" smtClean="0">
                        <a:solidFill>
                          <a:srgbClr val="FF0000"/>
                        </a:solidFill>
                        <a:latin typeface="Cambria Math" panose="02040503050406030204" pitchFamily="18" charset="0"/>
                      </a:rPr>
                      <m:t>𝑥</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nary>
                      <m:naryPr>
                        <m:chr m:val="∑"/>
                        <m:supHide m:val="on"/>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𝑘</m:t>
                        </m:r>
                      </m:sub>
                      <m:sup/>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𝑎</m:t>
                            </m:r>
                          </m:e>
                          <m:sub>
                            <m:r>
                              <a:rPr lang="en-US" sz="2800" i="1">
                                <a:solidFill>
                                  <a:srgbClr val="FF0000"/>
                                </a:solidFill>
                                <a:latin typeface="Cambria Math" panose="02040503050406030204" pitchFamily="18" charset="0"/>
                              </a:rPr>
                              <m:t>𝑘</m:t>
                            </m:r>
                          </m:sub>
                        </m:sSub>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𝑥</m:t>
                            </m:r>
                          </m:e>
                          <m:sub>
                            <m:r>
                              <a:rPr lang="en-US" sz="2800" i="1">
                                <a:solidFill>
                                  <a:srgbClr val="FF0000"/>
                                </a:solidFill>
                                <a:latin typeface="Cambria Math" panose="02040503050406030204" pitchFamily="18" charset="0"/>
                              </a:rPr>
                              <m:t>𝑘</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e>
                    </m:nary>
                  </m:oMath>
                </a14:m>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，且</a:t>
                </a:r>
                <a14:m>
                  <m:oMath xmlns:m="http://schemas.openxmlformats.org/officeDocument/2006/math">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𝑥</m:t>
                        </m:r>
                      </m:e>
                      <m:sub>
                        <m:r>
                          <a:rPr lang="en-US" sz="2800" i="1">
                            <a:solidFill>
                              <a:srgbClr val="FF0000"/>
                            </a:solidFill>
                            <a:latin typeface="Cambria Math" panose="02040503050406030204" pitchFamily="18" charset="0"/>
                          </a:rPr>
                          <m:t>𝑘</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𝑦</m:t>
                        </m:r>
                      </m:e>
                      <m:sub>
                        <m:r>
                          <a:rPr lang="en-US" sz="2800" i="1">
                            <a:solidFill>
                              <a:srgbClr val="FF0000"/>
                            </a:solidFill>
                            <a:latin typeface="Cambria Math" panose="02040503050406030204" pitchFamily="18" charset="0"/>
                          </a:rPr>
                          <m:t>𝑘</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oMath>
                </a14:m>
                <a:endPar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9224" name="Text Box 2">
                <a:extLst>
                  <a:ext uri="{FF2B5EF4-FFF2-40B4-BE49-F238E27FC236}">
                    <a16:creationId xmlns:a16="http://schemas.microsoft.com/office/drawing/2014/main" id="{AC1C68B1-0122-48CE-87DB-169DA5666C32}"/>
                  </a:ext>
                </a:extLst>
              </p:cNvPr>
              <p:cNvSpPr txBox="1">
                <a:spLocks noRot="1" noChangeAspect="1" noMove="1" noResize="1" noEditPoints="1" noAdjustHandles="1" noChangeArrowheads="1" noChangeShapeType="1" noTextEdit="1"/>
              </p:cNvSpPr>
              <p:nvPr/>
            </p:nvSpPr>
            <p:spPr bwMode="auto">
              <a:xfrm>
                <a:off x="1547664" y="3690664"/>
                <a:ext cx="6193747" cy="576568"/>
              </a:xfrm>
              <a:prstGeom prst="rect">
                <a:avLst/>
              </a:prstGeom>
              <a:blipFill>
                <a:blip r:embed="rId2"/>
                <a:stretch>
                  <a:fillRect l="-2067" t="-1053" b="-2842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25" name="Text Box 5">
                <a:extLst>
                  <a:ext uri="{FF2B5EF4-FFF2-40B4-BE49-F238E27FC236}">
                    <a16:creationId xmlns:a16="http://schemas.microsoft.com/office/drawing/2014/main" id="{41C2E4B6-05DC-47DB-97EE-A1C2516904BE}"/>
                  </a:ext>
                </a:extLst>
              </p:cNvPr>
              <p:cNvSpPr txBox="1">
                <a:spLocks noChangeArrowheads="1"/>
              </p:cNvSpPr>
              <p:nvPr/>
            </p:nvSpPr>
            <p:spPr bwMode="auto">
              <a:xfrm>
                <a:off x="1547664" y="4797152"/>
                <a:ext cx="3346557"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14:m>
                  <m:oMath xmlns:m="http://schemas.openxmlformats.org/officeDocument/2006/math">
                    <m:r>
                      <a:rPr lang="en-US" sz="2800" i="1" smtClean="0">
                        <a:solidFill>
                          <a:srgbClr val="FF0000"/>
                        </a:solidFill>
                        <a:latin typeface="Cambria Math" panose="02040503050406030204" pitchFamily="18" charset="0"/>
                      </a:rPr>
                      <m:t>𝑦</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nary>
                      <m:naryPr>
                        <m:chr m:val="∑"/>
                        <m:supHide m:val="on"/>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𝑘</m:t>
                        </m:r>
                      </m:sub>
                      <m:sup/>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𝑎</m:t>
                            </m:r>
                          </m:e>
                          <m:sub>
                            <m:r>
                              <a:rPr lang="en-US" sz="2800" i="1">
                                <a:solidFill>
                                  <a:srgbClr val="FF0000"/>
                                </a:solidFill>
                                <a:latin typeface="Cambria Math" panose="02040503050406030204" pitchFamily="18" charset="0"/>
                              </a:rPr>
                              <m:t>𝑘</m:t>
                            </m:r>
                          </m:sub>
                        </m:sSub>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𝑦</m:t>
                            </m:r>
                          </m:e>
                          <m:sub>
                            <m:r>
                              <a:rPr lang="en-US" sz="2800" i="1">
                                <a:solidFill>
                                  <a:srgbClr val="FF0000"/>
                                </a:solidFill>
                                <a:latin typeface="Cambria Math" panose="02040503050406030204" pitchFamily="18" charset="0"/>
                              </a:rPr>
                              <m:t>𝑘</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e>
                    </m:nary>
                  </m:oMath>
                </a14:m>
                <a:endPar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9225" name="Text Box 5">
                <a:extLst>
                  <a:ext uri="{FF2B5EF4-FFF2-40B4-BE49-F238E27FC236}">
                    <a16:creationId xmlns:a16="http://schemas.microsoft.com/office/drawing/2014/main" id="{41C2E4B6-05DC-47DB-97EE-A1C2516904BE}"/>
                  </a:ext>
                </a:extLst>
              </p:cNvPr>
              <p:cNvSpPr txBox="1">
                <a:spLocks noRot="1" noChangeAspect="1" noMove="1" noResize="1" noEditPoints="1" noAdjustHandles="1" noChangeArrowheads="1" noChangeShapeType="1" noTextEdit="1"/>
              </p:cNvSpPr>
              <p:nvPr/>
            </p:nvSpPr>
            <p:spPr bwMode="auto">
              <a:xfrm>
                <a:off x="1547664" y="4797152"/>
                <a:ext cx="3346557" cy="523220"/>
              </a:xfrm>
              <a:prstGeom prst="rect">
                <a:avLst/>
              </a:prstGeom>
              <a:blipFill>
                <a:blip r:embed="rId3"/>
                <a:stretch>
                  <a:fillRect l="-3825" t="-12791"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9226" name="Line 7">
            <a:extLst>
              <a:ext uri="{FF2B5EF4-FFF2-40B4-BE49-F238E27FC236}">
                <a16:creationId xmlns:a16="http://schemas.microsoft.com/office/drawing/2014/main" id="{A20A254F-8B3B-4867-936A-FFA237B2973D}"/>
              </a:ext>
            </a:extLst>
          </p:cNvPr>
          <p:cNvSpPr>
            <a:spLocks noChangeShapeType="1"/>
          </p:cNvSpPr>
          <p:nvPr/>
        </p:nvSpPr>
        <p:spPr bwMode="auto">
          <a:xfrm>
            <a:off x="3924424" y="4341018"/>
            <a:ext cx="0" cy="5762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9227" name="Rectangle 8">
            <a:extLst>
              <a:ext uri="{FF2B5EF4-FFF2-40B4-BE49-F238E27FC236}">
                <a16:creationId xmlns:a16="http://schemas.microsoft.com/office/drawing/2014/main" id="{19E49E86-31A8-4021-BDFF-7F9A2329DC05}"/>
              </a:ext>
            </a:extLst>
          </p:cNvPr>
          <p:cNvSpPr>
            <a:spLocks noChangeArrowheads="1"/>
          </p:cNvSpPr>
          <p:nvPr/>
        </p:nvSpPr>
        <p:spPr bwMode="auto">
          <a:xfrm>
            <a:off x="457201" y="5661248"/>
            <a:ext cx="8229600"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这一思想是信号与系统分析理论和方法的基础。</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4B44B106-3DD2-4B3B-9FA5-16FA1566172C}"/>
              </a:ext>
            </a:extLst>
          </p:cNvPr>
          <p:cNvSpPr>
            <a:spLocks noGrp="1"/>
          </p:cNvSpPr>
          <p:nvPr>
            <p:ph type="title"/>
          </p:nvPr>
        </p:nvSpPr>
        <p:spPr/>
        <p:txBody>
          <a:bodyPr/>
          <a:lstStyle/>
          <a:p>
            <a:r>
              <a:rPr lang="en-US" altLang="zh-CN"/>
              <a:t>1.6 </a:t>
            </a:r>
            <a:r>
              <a:rPr lang="zh-CN" altLang="en-US"/>
              <a:t>系统的基本性质</a:t>
            </a:r>
          </a:p>
        </p:txBody>
      </p:sp>
      <p:sp>
        <p:nvSpPr>
          <p:cNvPr id="45059" name="内容占位符 2">
            <a:extLst>
              <a:ext uri="{FF2B5EF4-FFF2-40B4-BE49-F238E27FC236}">
                <a16:creationId xmlns:a16="http://schemas.microsoft.com/office/drawing/2014/main" id="{087EF905-0B17-4F1D-BC74-AC4027FD13D9}"/>
              </a:ext>
            </a:extLst>
          </p:cNvPr>
          <p:cNvSpPr>
            <a:spLocks noGrp="1"/>
          </p:cNvSpPr>
          <p:nvPr>
            <p:ph idx="1"/>
          </p:nvPr>
        </p:nvSpPr>
        <p:spPr>
          <a:xfrm>
            <a:off x="457200" y="1285875"/>
            <a:ext cx="8229600" cy="5351721"/>
          </a:xfrm>
        </p:spPr>
        <p:txBody>
          <a:bodyPr>
            <a:spAutoFit/>
          </a:bodyPr>
          <a:lstStyle/>
          <a:p>
            <a:pPr algn="just">
              <a:lnSpc>
                <a:spcPct val="150000"/>
              </a:lnSpc>
              <a:spcBef>
                <a:spcPts val="0"/>
              </a:spcBef>
              <a:spcAft>
                <a:spcPts val="600"/>
              </a:spcAft>
            </a:pPr>
            <a:r>
              <a:rPr lang="zh-CN" altLang="en-US" sz="2800" b="0" dirty="0"/>
              <a:t>根据线性系统的齐次性，可得出：线性系统当输入为零（即没有输入）时，系统的输出响应也必然为零（即没有输出响应）。这就是所谓线性系统的</a:t>
            </a:r>
            <a:r>
              <a:rPr lang="zh-CN" altLang="en-US" sz="2800" dirty="0">
                <a:solidFill>
                  <a:srgbClr val="FF0000"/>
                </a:solidFill>
              </a:rPr>
              <a:t>零输入</a:t>
            </a:r>
            <a:r>
              <a:rPr lang="en-US" altLang="zh-CN" sz="2800" dirty="0">
                <a:solidFill>
                  <a:srgbClr val="FF0000"/>
                </a:solidFill>
              </a:rPr>
              <a:t>—</a:t>
            </a:r>
            <a:r>
              <a:rPr lang="zh-CN" altLang="en-US" sz="2800" dirty="0">
                <a:solidFill>
                  <a:srgbClr val="FF0000"/>
                </a:solidFill>
              </a:rPr>
              <a:t>零输出</a:t>
            </a:r>
            <a:r>
              <a:rPr lang="zh-CN" altLang="en-US" sz="2800" b="0" dirty="0"/>
              <a:t>特性。</a:t>
            </a:r>
            <a:endParaRPr lang="en-US" altLang="zh-CN" sz="2800" b="0" dirty="0"/>
          </a:p>
          <a:p>
            <a:pPr algn="just">
              <a:lnSpc>
                <a:spcPct val="150000"/>
              </a:lnSpc>
              <a:spcBef>
                <a:spcPts val="0"/>
              </a:spcBef>
              <a:spcAft>
                <a:spcPts val="600"/>
              </a:spcAft>
            </a:pPr>
            <a:r>
              <a:rPr lang="zh-CN" altLang="en-US" sz="2800" b="0" dirty="0"/>
              <a:t>在工程实际中，有一类系统并不满足线性系统的要求。但是这类系统的输出响应的增量与输入信号的增量之间满足线性特性。这类系统称为</a:t>
            </a:r>
            <a:r>
              <a:rPr lang="zh-CN" altLang="en-US" sz="2800" dirty="0">
                <a:solidFill>
                  <a:srgbClr val="FF0000"/>
                </a:solidFill>
              </a:rPr>
              <a:t>增量线性系统</a:t>
            </a:r>
            <a:r>
              <a:rPr lang="zh-CN" altLang="en-US" sz="2800" b="0" dirty="0"/>
              <a:t>。</a:t>
            </a:r>
          </a:p>
        </p:txBody>
      </p:sp>
      <p:sp>
        <p:nvSpPr>
          <p:cNvPr id="4" name="灯片编号占位符 3">
            <a:extLst>
              <a:ext uri="{FF2B5EF4-FFF2-40B4-BE49-F238E27FC236}">
                <a16:creationId xmlns:a16="http://schemas.microsoft.com/office/drawing/2014/main" id="{BFF2E4B1-FE01-4973-88E7-4408A17590A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1C7ADC-4FB9-4B32-BD54-9931B131978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标题 1">
            <a:extLst>
              <a:ext uri="{FF2B5EF4-FFF2-40B4-BE49-F238E27FC236}">
                <a16:creationId xmlns:a16="http://schemas.microsoft.com/office/drawing/2014/main" id="{4BA14738-EC5D-4EC9-91F1-B36D4B7B4C84}"/>
              </a:ext>
            </a:extLst>
          </p:cNvPr>
          <p:cNvSpPr>
            <a:spLocks noGrp="1"/>
          </p:cNvSpPr>
          <p:nvPr>
            <p:ph type="title"/>
          </p:nvPr>
        </p:nvSpPr>
        <p:spPr/>
        <p:txBody>
          <a:bodyPr/>
          <a:lstStyle/>
          <a:p>
            <a:r>
              <a:rPr lang="en-US" altLang="zh-CN"/>
              <a:t>1.6 </a:t>
            </a:r>
            <a:r>
              <a:rPr lang="zh-CN" altLang="en-US"/>
              <a:t>系统的基本性质</a:t>
            </a:r>
          </a:p>
        </p:txBody>
      </p:sp>
      <p:sp>
        <p:nvSpPr>
          <p:cNvPr id="4" name="灯片编号占位符 3">
            <a:extLst>
              <a:ext uri="{FF2B5EF4-FFF2-40B4-BE49-F238E27FC236}">
                <a16:creationId xmlns:a16="http://schemas.microsoft.com/office/drawing/2014/main" id="{83D8ECF1-A795-400F-96DC-595653C2E5E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AB90FA3-AA9A-48C0-8CB0-367573F81928}"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243" name="Object 3">
                <a:extLst>
                  <a:ext uri="{FF2B5EF4-FFF2-40B4-BE49-F238E27FC236}">
                    <a16:creationId xmlns:a16="http://schemas.microsoft.com/office/drawing/2014/main" id="{3B68B311-A3E8-46FE-80A7-75063D671D06}"/>
                  </a:ext>
                </a:extLst>
              </p:cNvPr>
              <p:cNvSpPr txBox="1"/>
              <p:nvPr/>
            </p:nvSpPr>
            <p:spPr bwMode="auto">
              <a:xfrm>
                <a:off x="2108200" y="2030413"/>
                <a:ext cx="3615928" cy="520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)+2</m:t>
                      </m:r>
                    </m:oMath>
                  </m:oMathPara>
                </a14:m>
                <a:endParaRPr lang="en-US" sz="2400" dirty="0"/>
              </a:p>
            </p:txBody>
          </p:sp>
        </mc:Choice>
        <mc:Fallback xmlns="">
          <p:sp>
            <p:nvSpPr>
              <p:cNvPr id="10243" name="Object 3">
                <a:extLst>
                  <a:ext uri="{FF2B5EF4-FFF2-40B4-BE49-F238E27FC236}">
                    <a16:creationId xmlns:a16="http://schemas.microsoft.com/office/drawing/2014/main" id="{3B68B311-A3E8-46FE-80A7-75063D671D06}"/>
                  </a:ext>
                </a:extLst>
              </p:cNvPr>
              <p:cNvSpPr txBox="1">
                <a:spLocks noRot="1" noChangeAspect="1" noMove="1" noResize="1" noEditPoints="1" noAdjustHandles="1" noChangeArrowheads="1" noChangeShapeType="1" noTextEdit="1"/>
              </p:cNvSpPr>
              <p:nvPr/>
            </p:nvSpPr>
            <p:spPr bwMode="auto">
              <a:xfrm>
                <a:off x="2108200" y="2030413"/>
                <a:ext cx="3615928" cy="520700"/>
              </a:xfrm>
              <a:prstGeom prst="rect">
                <a:avLst/>
              </a:prstGeom>
              <a:blipFill>
                <a:blip r:embed="rId2"/>
                <a:stretch>
                  <a:fillRect b="-705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44" name="Object 4">
                <a:extLst>
                  <a:ext uri="{FF2B5EF4-FFF2-40B4-BE49-F238E27FC236}">
                    <a16:creationId xmlns:a16="http://schemas.microsoft.com/office/drawing/2014/main" id="{8362B8CB-7D9C-4F07-AEEC-A0C4F92412BF}"/>
                  </a:ext>
                </a:extLst>
              </p:cNvPr>
              <p:cNvSpPr txBox="1"/>
              <p:nvPr/>
            </p:nvSpPr>
            <p:spPr bwMode="auto">
              <a:xfrm>
                <a:off x="2108200" y="2646065"/>
                <a:ext cx="3615928" cy="5492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)+2</m:t>
                      </m:r>
                    </m:oMath>
                  </m:oMathPara>
                </a14:m>
                <a:endParaRPr lang="en-US" sz="2400" dirty="0"/>
              </a:p>
            </p:txBody>
          </p:sp>
        </mc:Choice>
        <mc:Fallback xmlns="">
          <p:sp>
            <p:nvSpPr>
              <p:cNvPr id="10244" name="Object 4">
                <a:extLst>
                  <a:ext uri="{FF2B5EF4-FFF2-40B4-BE49-F238E27FC236}">
                    <a16:creationId xmlns:a16="http://schemas.microsoft.com/office/drawing/2014/main" id="{8362B8CB-7D9C-4F07-AEEC-A0C4F92412BF}"/>
                  </a:ext>
                </a:extLst>
              </p:cNvPr>
              <p:cNvSpPr txBox="1">
                <a:spLocks noRot="1" noChangeAspect="1" noMove="1" noResize="1" noEditPoints="1" noAdjustHandles="1" noChangeArrowheads="1" noChangeShapeType="1" noTextEdit="1"/>
              </p:cNvSpPr>
              <p:nvPr/>
            </p:nvSpPr>
            <p:spPr bwMode="auto">
              <a:xfrm>
                <a:off x="2108200" y="2646065"/>
                <a:ext cx="3615928" cy="549275"/>
              </a:xfrm>
              <a:prstGeom prst="rect">
                <a:avLst/>
              </a:prstGeom>
              <a:blipFill>
                <a:blip r:embed="rId3"/>
                <a:stretch>
                  <a:fillRect b="-111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48" name="Rectangle 6">
                <a:extLst>
                  <a:ext uri="{FF2B5EF4-FFF2-40B4-BE49-F238E27FC236}">
                    <a16:creationId xmlns:a16="http://schemas.microsoft.com/office/drawing/2014/main" id="{E23C4838-3951-4273-848D-DB7214B1DF47}"/>
                  </a:ext>
                </a:extLst>
              </p:cNvPr>
              <p:cNvSpPr>
                <a:spLocks noChangeArrowheads="1"/>
              </p:cNvSpPr>
              <p:nvPr/>
            </p:nvSpPr>
            <p:spPr bwMode="auto">
              <a:xfrm>
                <a:off x="723900" y="1428750"/>
                <a:ext cx="4481420"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例如：考虑系统</a:t>
                </a:r>
                <a14:m>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)+2</m:t>
                    </m:r>
                  </m:oMath>
                </a14:m>
                <a:endPar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xmlns="">
          <p:sp>
            <p:nvSpPr>
              <p:cNvPr id="10248" name="Rectangle 6">
                <a:extLst>
                  <a:ext uri="{FF2B5EF4-FFF2-40B4-BE49-F238E27FC236}">
                    <a16:creationId xmlns:a16="http://schemas.microsoft.com/office/drawing/2014/main" id="{E23C4838-3951-4273-848D-DB7214B1DF47}"/>
                  </a:ext>
                </a:extLst>
              </p:cNvPr>
              <p:cNvSpPr>
                <a:spLocks noRot="1" noChangeAspect="1" noMove="1" noResize="1" noEditPoints="1" noAdjustHandles="1" noChangeArrowheads="1" noChangeShapeType="1" noTextEdit="1"/>
              </p:cNvSpPr>
              <p:nvPr/>
            </p:nvSpPr>
            <p:spPr bwMode="auto">
              <a:xfrm>
                <a:off x="723900" y="1428750"/>
                <a:ext cx="4481420" cy="461665"/>
              </a:xfrm>
              <a:prstGeom prst="rect">
                <a:avLst/>
              </a:prstGeom>
              <a:blipFill>
                <a:blip r:embed="rId4"/>
                <a:stretch>
                  <a:fillRect l="-2177" t="-10526" b="-289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249" name="Text Box 9">
            <a:extLst>
              <a:ext uri="{FF2B5EF4-FFF2-40B4-BE49-F238E27FC236}">
                <a16:creationId xmlns:a16="http://schemas.microsoft.com/office/drawing/2014/main" id="{C419D3D0-3AAE-43E4-9CF9-78154BB4D0F1}"/>
              </a:ext>
            </a:extLst>
          </p:cNvPr>
          <p:cNvSpPr txBox="1">
            <a:spLocks noChangeArrowheads="1"/>
          </p:cNvSpPr>
          <p:nvPr/>
        </p:nvSpPr>
        <p:spPr bwMode="auto">
          <a:xfrm>
            <a:off x="723900" y="2030413"/>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1200" cap="none" spc="0" normalizeH="0" baseline="0" noProof="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显然有</a:t>
            </a:r>
          </a:p>
        </p:txBody>
      </p:sp>
      <p:sp>
        <p:nvSpPr>
          <p:cNvPr id="10250" name="Text Box 2">
            <a:extLst>
              <a:ext uri="{FF2B5EF4-FFF2-40B4-BE49-F238E27FC236}">
                <a16:creationId xmlns:a16="http://schemas.microsoft.com/office/drawing/2014/main" id="{C560E19E-BAE0-46DD-BB7F-B94FEB561544}"/>
              </a:ext>
            </a:extLst>
          </p:cNvPr>
          <p:cNvSpPr txBox="1">
            <a:spLocks noChangeArrowheads="1"/>
          </p:cNvSpPr>
          <p:nvPr/>
        </p:nvSpPr>
        <p:spPr bwMode="auto">
          <a:xfrm>
            <a:off x="723901" y="3154363"/>
            <a:ext cx="7962900" cy="1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4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该系统既不满足齐次性，也不满足可加性，但当考查输入的增量与输出的增量之间的关系时，有</a:t>
            </a:r>
          </a:p>
        </p:txBody>
      </p:sp>
      <mc:AlternateContent xmlns:mc="http://schemas.openxmlformats.org/markup-compatibility/2006" xmlns:a14="http://schemas.microsoft.com/office/drawing/2010/main">
        <mc:Choice Requires="a14">
          <p:sp>
            <p:nvSpPr>
              <p:cNvPr id="10245" name="Object 5">
                <a:extLst>
                  <a:ext uri="{FF2B5EF4-FFF2-40B4-BE49-F238E27FC236}">
                    <a16:creationId xmlns:a16="http://schemas.microsoft.com/office/drawing/2014/main" id="{A232B05A-6A9E-4887-9A02-CB4F30B58220}"/>
                  </a:ext>
                </a:extLst>
              </p:cNvPr>
              <p:cNvSpPr txBox="1"/>
              <p:nvPr/>
            </p:nvSpPr>
            <p:spPr bwMode="auto">
              <a:xfrm>
                <a:off x="1322388" y="4459288"/>
                <a:ext cx="6578600" cy="5905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en-US" sz="2400" i="1">
                          <a:solidFill>
                            <a:srgbClr val="000000"/>
                          </a:solidFill>
                          <a:latin typeface="Cambria Math" panose="02040503050406030204" pitchFamily="18" charset="0"/>
                        </a:rPr>
                        <m:t>Δ</m:t>
                      </m:r>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m:rPr>
                          <m:sty m:val="p"/>
                        </m:rPr>
                        <a:rPr lang="en-US" sz="2400" i="1">
                          <a:solidFill>
                            <a:srgbClr val="000000"/>
                          </a:solidFill>
                          <a:latin typeface="Cambria Math" panose="02040503050406030204" pitchFamily="18" charset="0"/>
                        </a:rPr>
                        <m:t>Δ</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0245" name="Object 5">
                <a:extLst>
                  <a:ext uri="{FF2B5EF4-FFF2-40B4-BE49-F238E27FC236}">
                    <a16:creationId xmlns:a16="http://schemas.microsoft.com/office/drawing/2014/main" id="{A232B05A-6A9E-4887-9A02-CB4F30B58220}"/>
                  </a:ext>
                </a:extLst>
              </p:cNvPr>
              <p:cNvSpPr txBox="1">
                <a:spLocks noRot="1" noChangeAspect="1" noMove="1" noResize="1" noEditPoints="1" noAdjustHandles="1" noChangeArrowheads="1" noChangeShapeType="1" noTextEdit="1"/>
              </p:cNvSpPr>
              <p:nvPr/>
            </p:nvSpPr>
            <p:spPr bwMode="auto">
              <a:xfrm>
                <a:off x="1322388" y="4459288"/>
                <a:ext cx="6578600" cy="590550"/>
              </a:xfrm>
              <a:prstGeom prst="rect">
                <a:avLst/>
              </a:prstGeom>
              <a:blipFill>
                <a:blip r:embed="rId5"/>
                <a:stretch>
                  <a:fillRect l="-741"/>
                </a:stretch>
              </a:blipFill>
              <a:ln>
                <a:noFill/>
              </a:ln>
              <a:effectLst/>
            </p:spPr>
            <p:txBody>
              <a:bodyPr/>
              <a:lstStyle/>
              <a:p>
                <a:r>
                  <a:rPr lang="en-US">
                    <a:noFill/>
                  </a:rPr>
                  <a:t> </a:t>
                </a:r>
              </a:p>
            </p:txBody>
          </p:sp>
        </mc:Fallback>
      </mc:AlternateContent>
      <p:sp>
        <p:nvSpPr>
          <p:cNvPr id="10251" name="Rectangle 8">
            <a:extLst>
              <a:ext uri="{FF2B5EF4-FFF2-40B4-BE49-F238E27FC236}">
                <a16:creationId xmlns:a16="http://schemas.microsoft.com/office/drawing/2014/main" id="{CE0B4471-2C47-4828-8A78-51EF0E71BE51}"/>
              </a:ext>
            </a:extLst>
          </p:cNvPr>
          <p:cNvSpPr>
            <a:spLocks noChangeArrowheads="1"/>
          </p:cNvSpPr>
          <p:nvPr/>
        </p:nvSpPr>
        <p:spPr bwMode="auto">
          <a:xfrm>
            <a:off x="723900" y="5030788"/>
            <a:ext cx="7962900" cy="1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4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可见输入的增量与输出的增量之间是满足线性关系的，它是一个</a:t>
            </a:r>
            <a:r>
              <a:rPr kumimoji="0" lang="zh-CN" altLang="en-US" sz="240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楷体_GB2312" panose="02010609030101010101" pitchFamily="49" charset="-122"/>
              </a:rPr>
              <a:t>增量线性系统</a:t>
            </a:r>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1" name="标题 1">
            <a:extLst>
              <a:ext uri="{FF2B5EF4-FFF2-40B4-BE49-F238E27FC236}">
                <a16:creationId xmlns:a16="http://schemas.microsoft.com/office/drawing/2014/main" id="{5916AC25-64C7-4E1E-AB25-30EA119A3258}"/>
              </a:ext>
            </a:extLst>
          </p:cNvPr>
          <p:cNvSpPr>
            <a:spLocks noGrp="1"/>
          </p:cNvSpPr>
          <p:nvPr>
            <p:ph type="title"/>
          </p:nvPr>
        </p:nvSpPr>
        <p:spPr/>
        <p:txBody>
          <a:bodyPr/>
          <a:lstStyle/>
          <a:p>
            <a:r>
              <a:rPr lang="en-US" altLang="zh-CN"/>
              <a:t>1.6 </a:t>
            </a:r>
            <a:r>
              <a:rPr lang="zh-CN" altLang="en-US"/>
              <a:t>系统的基本性质</a:t>
            </a:r>
          </a:p>
        </p:txBody>
      </p:sp>
      <p:sp>
        <p:nvSpPr>
          <p:cNvPr id="4" name="灯片编号占位符 3">
            <a:extLst>
              <a:ext uri="{FF2B5EF4-FFF2-40B4-BE49-F238E27FC236}">
                <a16:creationId xmlns:a16="http://schemas.microsoft.com/office/drawing/2014/main" id="{6DC29DEF-FE6F-4B2A-BD68-E1B2A8ED81A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B7F4655-529B-4902-B976-8EC349DF478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273" name="Text Box 2">
            <a:extLst>
              <a:ext uri="{FF2B5EF4-FFF2-40B4-BE49-F238E27FC236}">
                <a16:creationId xmlns:a16="http://schemas.microsoft.com/office/drawing/2014/main" id="{79199DE6-02D4-4E9F-9006-FCED54BB6E9E}"/>
              </a:ext>
            </a:extLst>
          </p:cNvPr>
          <p:cNvSpPr txBox="1">
            <a:spLocks noChangeArrowheads="1"/>
          </p:cNvSpPr>
          <p:nvPr/>
        </p:nvSpPr>
        <p:spPr bwMode="auto">
          <a:xfrm>
            <a:off x="755650" y="1275854"/>
            <a:ext cx="7777163"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0" fontAlgn="base" latinLnBrk="0" hangingPunct="0">
              <a:lnSpc>
                <a:spcPct val="14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增量线性系统可以等效为一个线性系统再加上一部分与输入无关的响应。</a:t>
            </a:r>
          </a:p>
        </p:txBody>
      </p:sp>
      <p:grpSp>
        <p:nvGrpSpPr>
          <p:cNvPr id="11274" name="Group 3">
            <a:extLst>
              <a:ext uri="{FF2B5EF4-FFF2-40B4-BE49-F238E27FC236}">
                <a16:creationId xmlns:a16="http://schemas.microsoft.com/office/drawing/2014/main" id="{BBF3E997-805C-4061-B9BD-F781F3930F29}"/>
              </a:ext>
            </a:extLst>
          </p:cNvPr>
          <p:cNvGrpSpPr>
            <a:grpSpLocks/>
          </p:cNvGrpSpPr>
          <p:nvPr/>
        </p:nvGrpSpPr>
        <p:grpSpPr bwMode="auto">
          <a:xfrm>
            <a:off x="1452563" y="3212976"/>
            <a:ext cx="6257925" cy="1854200"/>
            <a:chOff x="749" y="1629"/>
            <a:chExt cx="3942" cy="1168"/>
          </a:xfrm>
        </p:grpSpPr>
        <p:sp>
          <p:nvSpPr>
            <p:cNvPr id="11281" name="Rectangle 10">
              <a:extLst>
                <a:ext uri="{FF2B5EF4-FFF2-40B4-BE49-F238E27FC236}">
                  <a16:creationId xmlns:a16="http://schemas.microsoft.com/office/drawing/2014/main" id="{CAA21E3D-3353-482B-848B-881D55A9B3E9}"/>
                </a:ext>
              </a:extLst>
            </p:cNvPr>
            <p:cNvSpPr>
              <a:spLocks noChangeArrowheads="1"/>
            </p:cNvSpPr>
            <p:nvPr/>
          </p:nvSpPr>
          <p:spPr bwMode="auto">
            <a:xfrm>
              <a:off x="1303" y="1629"/>
              <a:ext cx="2762" cy="1166"/>
            </a:xfrm>
            <a:prstGeom prst="rect">
              <a:avLst/>
            </a:prstGeom>
            <a:solidFill>
              <a:srgbClr val="81CCFF">
                <a:alpha val="0"/>
              </a:srgbClr>
            </a:solidFill>
            <a:ln w="28575">
              <a:solidFill>
                <a:schemeClr val="tx2"/>
              </a:solidFill>
              <a:prstDash val="dash"/>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zh-CN"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sp>
          <p:nvSpPr>
            <p:cNvPr id="11276" name="Rectangle 4">
              <a:extLst>
                <a:ext uri="{FF2B5EF4-FFF2-40B4-BE49-F238E27FC236}">
                  <a16:creationId xmlns:a16="http://schemas.microsoft.com/office/drawing/2014/main" id="{710928D4-2C4E-4DF7-95B6-FA9869E85ECC}"/>
                </a:ext>
              </a:extLst>
            </p:cNvPr>
            <p:cNvSpPr>
              <a:spLocks noChangeArrowheads="1"/>
            </p:cNvSpPr>
            <p:nvPr/>
          </p:nvSpPr>
          <p:spPr bwMode="auto">
            <a:xfrm>
              <a:off x="1541" y="1967"/>
              <a:ext cx="1295" cy="380"/>
            </a:xfrm>
            <a:prstGeom prst="rect">
              <a:avLst/>
            </a:prstGeom>
            <a:solidFill>
              <a:srgbClr val="81CC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mn-cs"/>
              </a:endParaRPr>
            </a:p>
          </p:txBody>
        </p:sp>
        <p:sp>
          <p:nvSpPr>
            <p:cNvPr id="11277" name="Line 5">
              <a:extLst>
                <a:ext uri="{FF2B5EF4-FFF2-40B4-BE49-F238E27FC236}">
                  <a16:creationId xmlns:a16="http://schemas.microsoft.com/office/drawing/2014/main" id="{CB0942A2-9FA7-42D2-8237-8AA0DD572728}"/>
                </a:ext>
              </a:extLst>
            </p:cNvPr>
            <p:cNvSpPr>
              <a:spLocks noChangeShapeType="1"/>
            </p:cNvSpPr>
            <p:nvPr/>
          </p:nvSpPr>
          <p:spPr bwMode="auto">
            <a:xfrm>
              <a:off x="764" y="2178"/>
              <a:ext cx="77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11278" name="Line 6">
              <a:extLst>
                <a:ext uri="{FF2B5EF4-FFF2-40B4-BE49-F238E27FC236}">
                  <a16:creationId xmlns:a16="http://schemas.microsoft.com/office/drawing/2014/main" id="{31AE5951-9870-4233-BAB4-E15D390B5997}"/>
                </a:ext>
              </a:extLst>
            </p:cNvPr>
            <p:cNvSpPr>
              <a:spLocks noChangeShapeType="1"/>
            </p:cNvSpPr>
            <p:nvPr/>
          </p:nvSpPr>
          <p:spPr bwMode="auto">
            <a:xfrm>
              <a:off x="2836" y="2178"/>
              <a:ext cx="90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graphicFrame>
              <p:nvGraphicFramePr>
                <p:cNvPr id="11266" name="Object 2">
                  <a:extLst>
                    <a:ext uri="{FF2B5EF4-FFF2-40B4-BE49-F238E27FC236}">
                      <a16:creationId xmlns:a16="http://schemas.microsoft.com/office/drawing/2014/main" id="{49A09EA8-C44F-4229-930F-1C51F72931FA}"/>
                    </a:ext>
                  </a:extLst>
                </p:cNvPr>
                <p:cNvGraphicFramePr>
                  <a:graphicFrameLocks noChangeAspect="1"/>
                </p:cNvGraphicFramePr>
                <p:nvPr/>
              </p:nvGraphicFramePr>
              <p:xfrm>
                <a:off x="3691" y="2024"/>
                <a:ext cx="289" cy="304"/>
              </p:xfrm>
              <a:graphic>
                <a:graphicData uri="http://schemas.openxmlformats.org/presentationml/2006/ole">
                  <mc:AlternateContent>
                    <mc:Choice xmlns:v="urn:schemas-microsoft-com:vml" Requires="v">
                      <p:oleObj spid="_x0000_s11383" name="Equation" r:id="rId3" imgW="164880" imgH="177480" progId="Equation.DSMT4">
                        <p:embed/>
                      </p:oleObj>
                    </mc:Choice>
                    <mc:Fallback>
                      <p:oleObj name="Equation" r:id="rId3" imgW="164880" imgH="177480" progId="Equation.DSMT4">
                        <p:embed/>
                        <p:pic>
                          <p:nvPicPr>
                            <p:cNvPr id="11266" name="Object 2">
                              <a:extLst>
                                <a:ext uri="{FF2B5EF4-FFF2-40B4-BE49-F238E27FC236}">
                                  <a16:creationId xmlns:a16="http://schemas.microsoft.com/office/drawing/2014/main" id="{49A09EA8-C44F-4229-930F-1C51F72931FA}"/>
                                </a:ext>
                              </a:extLst>
                            </p:cNvPr>
                            <p:cNvPicPr>
                              <a:picLocks noChangeAspect="1" noChangeArrowheads="1"/>
                            </p:cNvPicPr>
                            <p:nvPr/>
                          </p:nvPicPr>
                          <p:blipFill>
                            <a:blip r:embed="rId4">
                              <a:extLst>
                                <a:ext uri="{28A0092B-C50C-407E-A947-70E740481C1C}">
                                  <a14:useLocalDpi val="0"/>
                                </a:ext>
                              </a:extLst>
                            </a:blip>
                            <a:srcRect/>
                            <a:stretch>
                              <a:fillRect/>
                            </a:stretch>
                          </p:blipFill>
                          <p:spPr bwMode="auto">
                            <a:xfrm>
                              <a:off x="3691" y="2024"/>
                              <a:ext cx="289" cy="30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11266" name="Object 2">
                  <a:extLst>
                    <a:ext uri="{FF2B5EF4-FFF2-40B4-BE49-F238E27FC236}">
                      <a16:creationId xmlns:a16="http://schemas.microsoft.com/office/drawing/2014/main" id="{49A09EA8-C44F-4229-930F-1C51F72931FA}"/>
                    </a:ext>
                  </a:extLst>
                </p:cNvPr>
                <p:cNvGraphicFramePr>
                  <a:graphicFrameLocks noChangeAspect="1"/>
                </p:cNvGraphicFramePr>
                <p:nvPr/>
              </p:nvGraphicFramePr>
              <p:xfrm>
                <a:off x="3691" y="2024"/>
                <a:ext cx="289" cy="304"/>
              </p:xfrm>
              <a:graphic>
                <a:graphicData uri="http://schemas.openxmlformats.org/presentationml/2006/ole">
                  <mc:AlternateContent>
                    <mc:Choice xmlns:v="urn:schemas-microsoft-com:vml" Requires="v">
                      <p:oleObj name="Equation" r:id="rId5" imgW="164880" imgH="177480" progId="Equation.DSMT4">
                        <p:embed/>
                      </p:oleObj>
                    </mc:Choice>
                    <mc:Fallback>
                      <p:oleObj name="Equation" r:id="rId5" imgW="164880" imgH="177480" progId="Equation.DSMT4">
                        <p:embed/>
                        <p:pic>
                          <p:nvPicPr>
                            <p:cNvPr id="11266" name="Object 2">
                              <a:extLst>
                                <a:ext uri="{FF2B5EF4-FFF2-40B4-BE49-F238E27FC236}">
                                  <a16:creationId xmlns:a16="http://schemas.microsoft.com/office/drawing/2014/main" id="{49A09EA8-C44F-4229-930F-1C51F72931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1" y="2024"/>
                              <a:ext cx="289"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p:sp>
          <p:nvSpPr>
            <p:cNvPr id="11279" name="Line 8">
              <a:extLst>
                <a:ext uri="{FF2B5EF4-FFF2-40B4-BE49-F238E27FC236}">
                  <a16:creationId xmlns:a16="http://schemas.microsoft.com/office/drawing/2014/main" id="{7139976F-7809-4E52-B185-B715EC381DCB}"/>
                </a:ext>
              </a:extLst>
            </p:cNvPr>
            <p:cNvSpPr>
              <a:spLocks noChangeShapeType="1"/>
            </p:cNvSpPr>
            <p:nvPr/>
          </p:nvSpPr>
          <p:spPr bwMode="auto">
            <a:xfrm>
              <a:off x="3914" y="2178"/>
              <a:ext cx="69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11280" name="Line 9">
              <a:extLst>
                <a:ext uri="{FF2B5EF4-FFF2-40B4-BE49-F238E27FC236}">
                  <a16:creationId xmlns:a16="http://schemas.microsoft.com/office/drawing/2014/main" id="{2DF9821E-D81C-45DE-BAD7-413085DACA51}"/>
                </a:ext>
              </a:extLst>
            </p:cNvPr>
            <p:cNvSpPr>
              <a:spLocks noChangeShapeType="1"/>
            </p:cNvSpPr>
            <p:nvPr/>
          </p:nvSpPr>
          <p:spPr bwMode="auto">
            <a:xfrm flipH="1">
              <a:off x="3823" y="1696"/>
              <a:ext cx="0" cy="40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11282" name="Text Box 11">
              <a:extLst>
                <a:ext uri="{FF2B5EF4-FFF2-40B4-BE49-F238E27FC236}">
                  <a16:creationId xmlns:a16="http://schemas.microsoft.com/office/drawing/2014/main" id="{FCD76269-3765-4F32-A074-C32F3DF1567F}"/>
                </a:ext>
              </a:extLst>
            </p:cNvPr>
            <p:cNvSpPr txBox="1">
              <a:spLocks noChangeArrowheads="1"/>
            </p:cNvSpPr>
            <p:nvPr/>
          </p:nvSpPr>
          <p:spPr bwMode="auto">
            <a:xfrm>
              <a:off x="1550" y="1989"/>
              <a:ext cx="124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 </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线性系统</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a:t>
              </a:r>
              <a:endPar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AlternateContent xmlns:mc="http://schemas.openxmlformats.org/markup-compatibility/2006" xmlns:a14="http://schemas.microsoft.com/office/drawing/2010/main">
          <mc:Choice Requires="a14">
            <p:sp>
              <p:nvSpPr>
                <p:cNvPr id="11267" name="Object 3">
                  <a:extLst>
                    <a:ext uri="{FF2B5EF4-FFF2-40B4-BE49-F238E27FC236}">
                      <a16:creationId xmlns:a16="http://schemas.microsoft.com/office/drawing/2014/main" id="{46C5C0E3-29E2-4FA3-B3C6-150D145E71AF}"/>
                    </a:ext>
                  </a:extLst>
                </p:cNvPr>
                <p:cNvSpPr txBox="1"/>
                <p:nvPr/>
              </p:nvSpPr>
              <p:spPr bwMode="auto">
                <a:xfrm>
                  <a:off x="749" y="2134"/>
                  <a:ext cx="501" cy="32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1267" name="Object 3">
                  <a:extLst>
                    <a:ext uri="{FF2B5EF4-FFF2-40B4-BE49-F238E27FC236}">
                      <a16:creationId xmlns:a16="http://schemas.microsoft.com/office/drawing/2014/main" id="{46C5C0E3-29E2-4FA3-B3C6-150D145E71AF}"/>
                    </a:ext>
                  </a:extLst>
                </p:cNvPr>
                <p:cNvSpPr txBox="1">
                  <a:spLocks noRot="1" noChangeAspect="1" noMove="1" noResize="1" noEditPoints="1" noAdjustHandles="1" noChangeArrowheads="1" noChangeShapeType="1" noTextEdit="1"/>
                </p:cNvSpPr>
                <p:nvPr/>
              </p:nvSpPr>
              <p:spPr bwMode="auto">
                <a:xfrm>
                  <a:off x="749" y="2134"/>
                  <a:ext cx="501" cy="326"/>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68" name="Object 4">
                  <a:extLst>
                    <a:ext uri="{FF2B5EF4-FFF2-40B4-BE49-F238E27FC236}">
                      <a16:creationId xmlns:a16="http://schemas.microsoft.com/office/drawing/2014/main" id="{8DB59252-A9DF-4DBE-81CD-F122163E1A73}"/>
                    </a:ext>
                  </a:extLst>
                </p:cNvPr>
                <p:cNvSpPr txBox="1"/>
                <p:nvPr/>
              </p:nvSpPr>
              <p:spPr bwMode="auto">
                <a:xfrm>
                  <a:off x="2918" y="2130"/>
                  <a:ext cx="578" cy="3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𝑦</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1268" name="Object 4">
                  <a:extLst>
                    <a:ext uri="{FF2B5EF4-FFF2-40B4-BE49-F238E27FC236}">
                      <a16:creationId xmlns:a16="http://schemas.microsoft.com/office/drawing/2014/main" id="{8DB59252-A9DF-4DBE-81CD-F122163E1A73}"/>
                    </a:ext>
                  </a:extLst>
                </p:cNvPr>
                <p:cNvSpPr txBox="1">
                  <a:spLocks noRot="1" noChangeAspect="1" noMove="1" noResize="1" noEditPoints="1" noAdjustHandles="1" noChangeArrowheads="1" noChangeShapeType="1" noTextEdit="1"/>
                </p:cNvSpPr>
                <p:nvPr/>
              </p:nvSpPr>
              <p:spPr bwMode="auto">
                <a:xfrm>
                  <a:off x="2918" y="2130"/>
                  <a:ext cx="578" cy="362"/>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69" name="Object 5">
                  <a:extLst>
                    <a:ext uri="{FF2B5EF4-FFF2-40B4-BE49-F238E27FC236}">
                      <a16:creationId xmlns:a16="http://schemas.microsoft.com/office/drawing/2014/main" id="{3783C281-F166-46FB-AE7F-099AB3AA0953}"/>
                    </a:ext>
                  </a:extLst>
                </p:cNvPr>
                <p:cNvSpPr txBox="1"/>
                <p:nvPr/>
              </p:nvSpPr>
              <p:spPr bwMode="auto">
                <a:xfrm>
                  <a:off x="4175" y="2130"/>
                  <a:ext cx="516" cy="3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𝑦</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1269" name="Object 5">
                  <a:extLst>
                    <a:ext uri="{FF2B5EF4-FFF2-40B4-BE49-F238E27FC236}">
                      <a16:creationId xmlns:a16="http://schemas.microsoft.com/office/drawing/2014/main" id="{3783C281-F166-46FB-AE7F-099AB3AA0953}"/>
                    </a:ext>
                  </a:extLst>
                </p:cNvPr>
                <p:cNvSpPr txBox="1">
                  <a:spLocks noRot="1" noChangeAspect="1" noMove="1" noResize="1" noEditPoints="1" noAdjustHandles="1" noChangeArrowheads="1" noChangeShapeType="1" noTextEdit="1"/>
                </p:cNvSpPr>
                <p:nvPr/>
              </p:nvSpPr>
              <p:spPr bwMode="auto">
                <a:xfrm>
                  <a:off x="4175" y="2130"/>
                  <a:ext cx="516" cy="337"/>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0" name="Object 6">
                  <a:extLst>
                    <a:ext uri="{FF2B5EF4-FFF2-40B4-BE49-F238E27FC236}">
                      <a16:creationId xmlns:a16="http://schemas.microsoft.com/office/drawing/2014/main" id="{5F2CC439-436B-416D-8E7E-D979EB31B8A8}"/>
                    </a:ext>
                  </a:extLst>
                </p:cNvPr>
                <p:cNvSpPr txBox="1"/>
                <p:nvPr/>
              </p:nvSpPr>
              <p:spPr bwMode="auto">
                <a:xfrm>
                  <a:off x="3240" y="1639"/>
                  <a:ext cx="578" cy="36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𝑦</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1270" name="Object 6">
                  <a:extLst>
                    <a:ext uri="{FF2B5EF4-FFF2-40B4-BE49-F238E27FC236}">
                      <a16:creationId xmlns:a16="http://schemas.microsoft.com/office/drawing/2014/main" id="{5F2CC439-436B-416D-8E7E-D979EB31B8A8}"/>
                    </a:ext>
                  </a:extLst>
                </p:cNvPr>
                <p:cNvSpPr txBox="1">
                  <a:spLocks noRot="1" noChangeAspect="1" noMove="1" noResize="1" noEditPoints="1" noAdjustHandles="1" noChangeArrowheads="1" noChangeShapeType="1" noTextEdit="1"/>
                </p:cNvSpPr>
                <p:nvPr/>
              </p:nvSpPr>
              <p:spPr bwMode="auto">
                <a:xfrm>
                  <a:off x="3240" y="1639"/>
                  <a:ext cx="578" cy="365"/>
                </a:xfrm>
                <a:prstGeom prst="rect">
                  <a:avLst/>
                </a:prstGeom>
                <a:blipFill>
                  <a:blip r:embed="rId10"/>
                  <a:stretch>
                    <a:fillRect/>
                  </a:stretch>
                </a:blipFill>
                <a:ln>
                  <a:noFill/>
                </a:ln>
                <a:effectLst/>
              </p:spPr>
              <p:txBody>
                <a:bodyPr/>
                <a:lstStyle/>
                <a:p>
                  <a:r>
                    <a:rPr lang="en-US">
                      <a:noFill/>
                    </a:rPr>
                    <a:t> </a:t>
                  </a:r>
                </a:p>
              </p:txBody>
            </p:sp>
          </mc:Fallback>
        </mc:AlternateContent>
        <p:sp>
          <p:nvSpPr>
            <p:cNvPr id="11283" name="Rectangle 16">
              <a:extLst>
                <a:ext uri="{FF2B5EF4-FFF2-40B4-BE49-F238E27FC236}">
                  <a16:creationId xmlns:a16="http://schemas.microsoft.com/office/drawing/2014/main" id="{463EDC48-774A-4884-848C-D0374D235569}"/>
                </a:ext>
              </a:extLst>
            </p:cNvPr>
            <p:cNvSpPr>
              <a:spLocks noChangeArrowheads="1"/>
            </p:cNvSpPr>
            <p:nvPr/>
          </p:nvSpPr>
          <p:spPr bwMode="auto">
            <a:xfrm>
              <a:off x="1979" y="2467"/>
              <a:ext cx="162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增量线性系统</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B</a:t>
              </a:r>
              <a:endPar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grpSp>
      <mc:AlternateContent xmlns:mc="http://schemas.openxmlformats.org/markup-compatibility/2006" xmlns:a14="http://schemas.microsoft.com/office/drawing/2010/main">
        <mc:Choice Requires="a14">
          <p:sp>
            <p:nvSpPr>
              <p:cNvPr id="11275" name="Text Box 2">
                <a:extLst>
                  <a:ext uri="{FF2B5EF4-FFF2-40B4-BE49-F238E27FC236}">
                    <a16:creationId xmlns:a16="http://schemas.microsoft.com/office/drawing/2014/main" id="{22EA32E0-0770-45A7-A257-1E547429EE73}"/>
                  </a:ext>
                </a:extLst>
              </p:cNvPr>
              <p:cNvSpPr txBox="1">
                <a:spLocks noChangeArrowheads="1"/>
              </p:cNvSpPr>
              <p:nvPr/>
            </p:nvSpPr>
            <p:spPr bwMode="auto">
              <a:xfrm>
                <a:off x="755650" y="5500688"/>
                <a:ext cx="7931150" cy="64120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nSpc>
                    <a:spcPct val="140000"/>
                  </a:lnSpc>
                  <a:defRPr/>
                </a:pP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𝑦</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对应于施加</a:t>
                </a:r>
                <a14:m>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之前系统的初始状态。</a:t>
                </a:r>
              </a:p>
            </p:txBody>
          </p:sp>
        </mc:Choice>
        <mc:Fallback xmlns="">
          <p:sp>
            <p:nvSpPr>
              <p:cNvPr id="11275" name="Text Box 2">
                <a:extLst>
                  <a:ext uri="{FF2B5EF4-FFF2-40B4-BE49-F238E27FC236}">
                    <a16:creationId xmlns:a16="http://schemas.microsoft.com/office/drawing/2014/main" id="{22EA32E0-0770-45A7-A257-1E547429EE73}"/>
                  </a:ext>
                </a:extLst>
              </p:cNvPr>
              <p:cNvSpPr txBox="1">
                <a:spLocks noRot="1" noChangeAspect="1" noMove="1" noResize="1" noEditPoints="1" noAdjustHandles="1" noChangeArrowheads="1" noChangeShapeType="1" noTextEdit="1"/>
              </p:cNvSpPr>
              <p:nvPr/>
            </p:nvSpPr>
            <p:spPr bwMode="auto">
              <a:xfrm>
                <a:off x="755650" y="5500688"/>
                <a:ext cx="7931150" cy="641201"/>
              </a:xfrm>
              <a:prstGeom prst="rect">
                <a:avLst/>
              </a:prstGeom>
              <a:blipFill>
                <a:blip r:embed="rId11"/>
                <a:stretch>
                  <a:fillRect b="-2547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99" name="内容占位符 2">
                <a:extLst>
                  <a:ext uri="{FF2B5EF4-FFF2-40B4-BE49-F238E27FC236}">
                    <a16:creationId xmlns:a16="http://schemas.microsoft.com/office/drawing/2014/main" id="{0ED0329D-7695-4821-9D60-1EA80B126517}"/>
                  </a:ext>
                </a:extLst>
              </p:cNvPr>
              <p:cNvSpPr>
                <a:spLocks noGrp="1"/>
              </p:cNvSpPr>
              <p:nvPr>
                <p:ph idx="1"/>
              </p:nvPr>
            </p:nvSpPr>
            <p:spPr>
              <a:xfrm>
                <a:off x="457200" y="1285875"/>
                <a:ext cx="8229600" cy="2609561"/>
              </a:xfrm>
            </p:spPr>
            <p:txBody>
              <a:bodyPr>
                <a:spAutoFit/>
              </a:bodyPr>
              <a:lstStyle/>
              <a:p>
                <a:pPr algn="just">
                  <a:lnSpc>
                    <a:spcPct val="130000"/>
                  </a:lnSpc>
                  <a:spcBef>
                    <a:spcPts val="0"/>
                  </a:spcBef>
                  <a:spcAft>
                    <a:spcPts val="600"/>
                  </a:spcAft>
                </a:pPr>
                <a:r>
                  <a:rPr lang="zh-CN" altLang="en-US" sz="2400" b="0" dirty="0"/>
                  <a:t>增量线性系统的响应包括</a:t>
                </a:r>
                <a:r>
                  <a:rPr lang="zh-CN" altLang="en-US" sz="2400" b="0" dirty="0">
                    <a:solidFill>
                      <a:srgbClr val="FF0000"/>
                    </a:solidFill>
                  </a:rPr>
                  <a:t>零输入响应</a:t>
                </a:r>
                <a:r>
                  <a:rPr lang="zh-CN" altLang="en-US" sz="2400" b="0" dirty="0"/>
                  <a:t>和</a:t>
                </a:r>
                <a:r>
                  <a:rPr lang="zh-CN" altLang="en-US" sz="2400" b="0" dirty="0">
                    <a:solidFill>
                      <a:srgbClr val="FF0000"/>
                    </a:solidFill>
                  </a:rPr>
                  <a:t>零状态响应</a:t>
                </a:r>
                <a:r>
                  <a:rPr lang="zh-CN" altLang="en-US" sz="2400" b="0" dirty="0"/>
                  <a:t>。</a:t>
                </a:r>
              </a:p>
              <a:p>
                <a:pPr lvl="1" algn="just">
                  <a:lnSpc>
                    <a:spcPct val="130000"/>
                  </a:lnSpc>
                  <a:spcBef>
                    <a:spcPts val="0"/>
                  </a:spcBef>
                  <a:spcAft>
                    <a:spcPts val="600"/>
                  </a:spcAft>
                </a:pPr>
                <a:r>
                  <a:rPr lang="zh-CN" altLang="en-US" sz="2400" b="0" dirty="0"/>
                  <a:t>当</a:t>
                </a:r>
                <a14:m>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)=0</m:t>
                    </m:r>
                  </m:oMath>
                </a14:m>
                <a:r>
                  <a:rPr lang="zh-CN" altLang="en-US" sz="2400" b="0" dirty="0"/>
                  <a:t>时，</a:t>
                </a:r>
                <a14:m>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。此时系统处于零初始状态，故将</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称为系统的</a:t>
                </a:r>
                <a:r>
                  <a:rPr lang="zh-CN" altLang="en-US" sz="2400" dirty="0">
                    <a:solidFill>
                      <a:srgbClr val="FF0000"/>
                    </a:solidFill>
                  </a:rPr>
                  <a:t>零状态响应</a:t>
                </a:r>
                <a:r>
                  <a:rPr lang="zh-CN" altLang="en-US" sz="2400" b="0" dirty="0"/>
                  <a:t>。</a:t>
                </a:r>
                <a:endParaRPr lang="en-US" altLang="zh-CN" sz="2400" b="0" dirty="0"/>
              </a:p>
              <a:p>
                <a:pPr lvl="1" algn="just">
                  <a:lnSpc>
                    <a:spcPct val="130000"/>
                  </a:lnSpc>
                  <a:spcBef>
                    <a:spcPts val="0"/>
                  </a:spcBef>
                  <a:spcAft>
                    <a:spcPts val="600"/>
                  </a:spcAft>
                </a:pPr>
                <a:r>
                  <a:rPr lang="zh-CN" altLang="en-US" sz="2400" b="0" dirty="0"/>
                  <a:t>当</a:t>
                </a:r>
                <a14:m>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)=0</m:t>
                    </m:r>
                  </m:oMath>
                </a14:m>
                <a:r>
                  <a:rPr lang="zh-CN" altLang="en-US" sz="2400" b="0" dirty="0"/>
                  <a:t>时，有</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)=0</m:t>
                    </m:r>
                  </m:oMath>
                </a14:m>
                <a:r>
                  <a:rPr lang="zh-CN" altLang="en-US" sz="2400" b="0" dirty="0"/>
                  <a:t>，</a:t>
                </a:r>
                <a14:m>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，因此将</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称为系统的</a:t>
                </a:r>
                <a:r>
                  <a:rPr lang="zh-CN" altLang="en-US" sz="2400" dirty="0">
                    <a:solidFill>
                      <a:srgbClr val="FF0000"/>
                    </a:solidFill>
                  </a:rPr>
                  <a:t>零输入响应</a:t>
                </a:r>
                <a:r>
                  <a:rPr lang="zh-CN" altLang="en-US" sz="2400" b="0" dirty="0"/>
                  <a:t>。</a:t>
                </a:r>
                <a:endParaRPr lang="en-US" altLang="zh-CN" sz="2400" b="0" dirty="0"/>
              </a:p>
            </p:txBody>
          </p:sp>
        </mc:Choice>
        <mc:Fallback xmlns="">
          <p:sp>
            <p:nvSpPr>
              <p:cNvPr id="12299" name="内容占位符 2">
                <a:extLst>
                  <a:ext uri="{FF2B5EF4-FFF2-40B4-BE49-F238E27FC236}">
                    <a16:creationId xmlns:a16="http://schemas.microsoft.com/office/drawing/2014/main" id="{0ED0329D-7695-4821-9D60-1EA80B126517}"/>
                  </a:ext>
                </a:extLst>
              </p:cNvPr>
              <p:cNvSpPr>
                <a:spLocks noGrp="1" noRot="1" noChangeAspect="1" noMove="1" noResize="1" noEditPoints="1" noAdjustHandles="1" noChangeArrowheads="1" noChangeShapeType="1" noTextEdit="1"/>
              </p:cNvSpPr>
              <p:nvPr>
                <p:ph idx="1"/>
              </p:nvPr>
            </p:nvSpPr>
            <p:spPr>
              <a:xfrm>
                <a:off x="457200" y="1285875"/>
                <a:ext cx="8229600" cy="2609561"/>
              </a:xfrm>
              <a:blipFill>
                <a:blip r:embed="rId2"/>
                <a:stretch>
                  <a:fillRect l="-963" r="-1111" b="-4673"/>
                </a:stretch>
              </a:blipFill>
            </p:spPr>
            <p:txBody>
              <a:bodyPr/>
              <a:lstStyle/>
              <a:p>
                <a:r>
                  <a:rPr lang="en-US">
                    <a:noFill/>
                  </a:rPr>
                  <a:t> </a:t>
                </a:r>
              </a:p>
            </p:txBody>
          </p:sp>
        </mc:Fallback>
      </mc:AlternateContent>
      <p:sp>
        <p:nvSpPr>
          <p:cNvPr id="12298" name="标题 1">
            <a:extLst>
              <a:ext uri="{FF2B5EF4-FFF2-40B4-BE49-F238E27FC236}">
                <a16:creationId xmlns:a16="http://schemas.microsoft.com/office/drawing/2014/main" id="{EC0C2BB1-71F2-4478-99A3-C2BAE3678532}"/>
              </a:ext>
            </a:extLst>
          </p:cNvPr>
          <p:cNvSpPr>
            <a:spLocks noGrp="1"/>
          </p:cNvSpPr>
          <p:nvPr>
            <p:ph type="title"/>
          </p:nvPr>
        </p:nvSpPr>
        <p:spPr/>
        <p:txBody>
          <a:bodyPr/>
          <a:lstStyle/>
          <a:p>
            <a:r>
              <a:rPr lang="en-US" altLang="zh-CN"/>
              <a:t>1.6 </a:t>
            </a:r>
            <a:r>
              <a:rPr lang="zh-CN" altLang="en-US"/>
              <a:t>系统的基本性质</a:t>
            </a:r>
          </a:p>
        </p:txBody>
      </p:sp>
      <p:sp>
        <p:nvSpPr>
          <p:cNvPr id="4" name="灯片编号占位符 3">
            <a:extLst>
              <a:ext uri="{FF2B5EF4-FFF2-40B4-BE49-F238E27FC236}">
                <a16:creationId xmlns:a16="http://schemas.microsoft.com/office/drawing/2014/main" id="{2FE22F9E-43EB-41F1-AC1D-9792912957C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7F2FFF9-DA22-4A3D-987E-DCFDE9F5BB37}"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5" name="图片 4">
            <a:extLst>
              <a:ext uri="{FF2B5EF4-FFF2-40B4-BE49-F238E27FC236}">
                <a16:creationId xmlns:a16="http://schemas.microsoft.com/office/drawing/2014/main" id="{E788B92D-95C7-4984-A4EF-F71DF5D90F77}"/>
              </a:ext>
            </a:extLst>
          </p:cNvPr>
          <p:cNvPicPr>
            <a:picLocks noChangeAspect="1"/>
          </p:cNvPicPr>
          <p:nvPr/>
        </p:nvPicPr>
        <p:blipFill>
          <a:blip r:embed="rId3"/>
          <a:stretch>
            <a:fillRect/>
          </a:stretch>
        </p:blipFill>
        <p:spPr>
          <a:xfrm>
            <a:off x="1871700" y="4221088"/>
            <a:ext cx="5400600" cy="175112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9" name="内容占位符 2">
            <a:extLst>
              <a:ext uri="{FF2B5EF4-FFF2-40B4-BE49-F238E27FC236}">
                <a16:creationId xmlns:a16="http://schemas.microsoft.com/office/drawing/2014/main" id="{0ED0329D-7695-4821-9D60-1EA80B126517}"/>
              </a:ext>
            </a:extLst>
          </p:cNvPr>
          <p:cNvSpPr>
            <a:spLocks noGrp="1"/>
          </p:cNvSpPr>
          <p:nvPr>
            <p:ph idx="1"/>
          </p:nvPr>
        </p:nvSpPr>
        <p:spPr>
          <a:xfrm>
            <a:off x="457200" y="1285875"/>
            <a:ext cx="8229600" cy="4366836"/>
          </a:xfrm>
        </p:spPr>
        <p:txBody>
          <a:bodyPr>
            <a:spAutoFit/>
          </a:bodyPr>
          <a:lstStyle/>
          <a:p>
            <a:pPr algn="just">
              <a:lnSpc>
                <a:spcPct val="150000"/>
              </a:lnSpc>
              <a:spcBef>
                <a:spcPts val="0"/>
              </a:spcBef>
              <a:spcAft>
                <a:spcPts val="1200"/>
              </a:spcAft>
            </a:pPr>
            <a:r>
              <a:rPr lang="zh-CN" altLang="en-US" sz="2800" dirty="0">
                <a:solidFill>
                  <a:srgbClr val="FF0000"/>
                </a:solidFill>
              </a:rPr>
              <a:t>线性时不变（</a:t>
            </a:r>
            <a:r>
              <a:rPr lang="en-US" altLang="zh-CN" sz="2800" dirty="0">
                <a:solidFill>
                  <a:srgbClr val="FF0000"/>
                </a:solidFill>
              </a:rPr>
              <a:t>LTI</a:t>
            </a:r>
            <a:r>
              <a:rPr lang="zh-CN" altLang="en-US" sz="2800" dirty="0">
                <a:solidFill>
                  <a:srgbClr val="FF0000"/>
                </a:solidFill>
              </a:rPr>
              <a:t>）系统</a:t>
            </a:r>
            <a:r>
              <a:rPr lang="zh-CN" altLang="en-US" sz="2800" b="0" dirty="0"/>
              <a:t>是本课程主要关注的系统</a:t>
            </a:r>
            <a:endParaRPr lang="en-US" altLang="zh-CN" sz="2800" b="0" dirty="0"/>
          </a:p>
          <a:p>
            <a:pPr lvl="1" algn="just">
              <a:lnSpc>
                <a:spcPct val="150000"/>
              </a:lnSpc>
              <a:spcBef>
                <a:spcPts val="0"/>
              </a:spcBef>
              <a:spcAft>
                <a:spcPts val="1200"/>
              </a:spcAft>
            </a:pPr>
            <a:r>
              <a:rPr lang="zh-CN" altLang="en-US" b="0" dirty="0"/>
              <a:t>在实际中具有重要意义</a:t>
            </a:r>
            <a:endParaRPr lang="en-US" altLang="zh-CN" b="0" dirty="0"/>
          </a:p>
          <a:p>
            <a:pPr lvl="1" algn="just">
              <a:lnSpc>
                <a:spcPct val="150000"/>
              </a:lnSpc>
              <a:spcBef>
                <a:spcPts val="0"/>
              </a:spcBef>
              <a:spcAft>
                <a:spcPts val="1200"/>
              </a:spcAft>
            </a:pPr>
            <a:r>
              <a:rPr lang="zh-CN" altLang="en-US" b="0" dirty="0"/>
              <a:t>有较为完善的理论与分析工具</a:t>
            </a:r>
            <a:endParaRPr lang="en-US" altLang="zh-CN" b="0" dirty="0"/>
          </a:p>
          <a:p>
            <a:pPr algn="just">
              <a:lnSpc>
                <a:spcPct val="150000"/>
              </a:lnSpc>
              <a:spcBef>
                <a:spcPts val="0"/>
              </a:spcBef>
              <a:spcAft>
                <a:spcPts val="1200"/>
              </a:spcAft>
            </a:pPr>
            <a:r>
              <a:rPr lang="zh-CN" altLang="en-US" sz="2800" b="0" dirty="0"/>
              <a:t>基本事实：如果知道线性时不变系统对某些输入信号的响应，则可以知道该系统对许多其它输入信号的响应。</a:t>
            </a:r>
          </a:p>
        </p:txBody>
      </p:sp>
      <p:sp>
        <p:nvSpPr>
          <p:cNvPr id="12298" name="标题 1">
            <a:extLst>
              <a:ext uri="{FF2B5EF4-FFF2-40B4-BE49-F238E27FC236}">
                <a16:creationId xmlns:a16="http://schemas.microsoft.com/office/drawing/2014/main" id="{EC0C2BB1-71F2-4478-99A3-C2BAE3678532}"/>
              </a:ext>
            </a:extLst>
          </p:cNvPr>
          <p:cNvSpPr>
            <a:spLocks noGrp="1"/>
          </p:cNvSpPr>
          <p:nvPr>
            <p:ph type="title"/>
          </p:nvPr>
        </p:nvSpPr>
        <p:spPr/>
        <p:txBody>
          <a:bodyPr/>
          <a:lstStyle/>
          <a:p>
            <a:r>
              <a:rPr lang="zh-CN" altLang="en-US" dirty="0"/>
              <a:t>线性时不变系统</a:t>
            </a:r>
          </a:p>
        </p:txBody>
      </p:sp>
      <p:sp>
        <p:nvSpPr>
          <p:cNvPr id="4" name="灯片编号占位符 3">
            <a:extLst>
              <a:ext uri="{FF2B5EF4-FFF2-40B4-BE49-F238E27FC236}">
                <a16:creationId xmlns:a16="http://schemas.microsoft.com/office/drawing/2014/main" id="{2FE22F9E-43EB-41F1-AC1D-9792912957C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7F2FFF9-DA22-4A3D-987E-DCFDE9F5BB37}"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9795247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9" name="内容占位符 2">
            <a:extLst>
              <a:ext uri="{FF2B5EF4-FFF2-40B4-BE49-F238E27FC236}">
                <a16:creationId xmlns:a16="http://schemas.microsoft.com/office/drawing/2014/main" id="{0ED0329D-7695-4821-9D60-1EA80B126517}"/>
              </a:ext>
            </a:extLst>
          </p:cNvPr>
          <p:cNvSpPr>
            <a:spLocks noGrp="1"/>
          </p:cNvSpPr>
          <p:nvPr>
            <p:ph idx="1"/>
          </p:nvPr>
        </p:nvSpPr>
        <p:spPr>
          <a:xfrm>
            <a:off x="457200" y="1285875"/>
            <a:ext cx="8229600" cy="523220"/>
          </a:xfrm>
        </p:spPr>
        <p:txBody>
          <a:bodyPr>
            <a:spAutoFit/>
          </a:bodyPr>
          <a:lstStyle/>
          <a:p>
            <a:pPr algn="just">
              <a:spcBef>
                <a:spcPts val="0"/>
              </a:spcBef>
              <a:spcAft>
                <a:spcPts val="0"/>
              </a:spcAft>
            </a:pPr>
            <a:r>
              <a:rPr lang="zh-CN" altLang="en-US" sz="2800" b="0" dirty="0"/>
              <a:t>实例：离散时间线性时不变系统</a:t>
            </a:r>
          </a:p>
        </p:txBody>
      </p:sp>
      <p:sp>
        <p:nvSpPr>
          <p:cNvPr id="12298" name="标题 1">
            <a:extLst>
              <a:ext uri="{FF2B5EF4-FFF2-40B4-BE49-F238E27FC236}">
                <a16:creationId xmlns:a16="http://schemas.microsoft.com/office/drawing/2014/main" id="{EC0C2BB1-71F2-4478-99A3-C2BAE3678532}"/>
              </a:ext>
            </a:extLst>
          </p:cNvPr>
          <p:cNvSpPr>
            <a:spLocks noGrp="1"/>
          </p:cNvSpPr>
          <p:nvPr>
            <p:ph type="title"/>
          </p:nvPr>
        </p:nvSpPr>
        <p:spPr/>
        <p:txBody>
          <a:bodyPr/>
          <a:lstStyle/>
          <a:p>
            <a:r>
              <a:rPr lang="zh-CN" altLang="en-US" dirty="0"/>
              <a:t>线性时不变系统</a:t>
            </a:r>
          </a:p>
        </p:txBody>
      </p:sp>
      <p:sp>
        <p:nvSpPr>
          <p:cNvPr id="4" name="灯片编号占位符 3">
            <a:extLst>
              <a:ext uri="{FF2B5EF4-FFF2-40B4-BE49-F238E27FC236}">
                <a16:creationId xmlns:a16="http://schemas.microsoft.com/office/drawing/2014/main" id="{2FE22F9E-43EB-41F1-AC1D-9792912957C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7F2FFF9-DA22-4A3D-987E-DCFDE9F5BB37}"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5" name="Picture 2">
            <a:extLst>
              <a:ext uri="{FF2B5EF4-FFF2-40B4-BE49-F238E27FC236}">
                <a16:creationId xmlns:a16="http://schemas.microsoft.com/office/drawing/2014/main" id="{BECF914B-BBC9-4525-B39F-37D03C1DD5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796752"/>
            <a:ext cx="747712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924317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285875"/>
            <a:ext cx="8229600" cy="608885"/>
          </a:xfrm>
        </p:spPr>
        <p:txBody>
          <a:bodyPr>
            <a:spAutoFit/>
          </a:bodyPr>
          <a:lstStyle/>
          <a:p>
            <a:pPr>
              <a:lnSpc>
                <a:spcPct val="130000"/>
              </a:lnSpc>
              <a:spcBef>
                <a:spcPts val="0"/>
              </a:spcBef>
              <a:spcAft>
                <a:spcPts val="600"/>
              </a:spcAft>
            </a:pPr>
            <a:r>
              <a:rPr lang="en-US" altLang="zh-CN" sz="2800" b="0" dirty="0"/>
              <a:t>1.27(b)</a:t>
            </a:r>
            <a:r>
              <a:rPr lang="zh-CN" altLang="en-US" sz="2800" b="0" dirty="0"/>
              <a:t>、</a:t>
            </a:r>
            <a:r>
              <a:rPr lang="en-US" altLang="zh-CN" sz="2800" b="0" dirty="0"/>
              <a:t>1.28(b)</a:t>
            </a:r>
            <a:r>
              <a:rPr lang="zh-CN" altLang="en-US" sz="2800" b="0" dirty="0"/>
              <a:t>、</a:t>
            </a:r>
            <a:r>
              <a:rPr lang="en-US" altLang="zh-CN" sz="2800" b="0" dirty="0"/>
              <a:t>1.46</a:t>
            </a:r>
            <a:endParaRPr lang="en-US" sz="2800" b="0" dirty="0"/>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fld id="{D6CC5206-228A-4188-B6B3-2BFCD2AC1E6E}" type="slidenum">
              <a:rPr lang="zh-CN" altLang="en-US" smtClean="0"/>
              <a:pPr/>
              <a:t>97</a:t>
            </a:fld>
            <a:endParaRPr lang="zh-CN" altLang="en-US"/>
          </a:p>
        </p:txBody>
      </p:sp>
    </p:spTree>
    <p:extLst>
      <p:ext uri="{BB962C8B-B14F-4D97-AF65-F5344CB8AC3E}">
        <p14:creationId xmlns:p14="http://schemas.microsoft.com/office/powerpoint/2010/main" val="396924417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D7901F91-8297-4B17-8973-0968574F80EF}"/>
              </a:ext>
            </a:extLst>
          </p:cNvPr>
          <p:cNvSpPr>
            <a:spLocks noGrp="1"/>
          </p:cNvSpPr>
          <p:nvPr>
            <p:ph type="title"/>
          </p:nvPr>
        </p:nvSpPr>
        <p:spPr/>
        <p:txBody>
          <a:bodyPr/>
          <a:lstStyle/>
          <a:p>
            <a:r>
              <a:rPr lang="zh-CN" altLang="en-US"/>
              <a:t>本章小结</a:t>
            </a:r>
          </a:p>
        </p:txBody>
      </p:sp>
      <p:sp>
        <p:nvSpPr>
          <p:cNvPr id="46083" name="内容占位符 2">
            <a:extLst>
              <a:ext uri="{FF2B5EF4-FFF2-40B4-BE49-F238E27FC236}">
                <a16:creationId xmlns:a16="http://schemas.microsoft.com/office/drawing/2014/main" id="{46180C8E-90D7-4605-AA1B-F219C3E64FD7}"/>
              </a:ext>
            </a:extLst>
          </p:cNvPr>
          <p:cNvSpPr>
            <a:spLocks noGrp="1"/>
          </p:cNvSpPr>
          <p:nvPr>
            <p:ph idx="1"/>
          </p:nvPr>
        </p:nvSpPr>
        <p:spPr>
          <a:xfrm>
            <a:off x="457200" y="1525244"/>
            <a:ext cx="8229600" cy="4782335"/>
          </a:xfrm>
        </p:spPr>
        <p:txBody>
          <a:bodyPr>
            <a:spAutoFit/>
          </a:bodyPr>
          <a:lstStyle/>
          <a:p>
            <a:pPr algn="just">
              <a:lnSpc>
                <a:spcPct val="150000"/>
              </a:lnSpc>
              <a:spcBef>
                <a:spcPts val="0"/>
              </a:spcBef>
              <a:spcAft>
                <a:spcPts val="600"/>
              </a:spcAft>
            </a:pPr>
            <a:r>
              <a:rPr lang="zh-CN" altLang="en-US" sz="2800" b="0" dirty="0"/>
              <a:t>建立了信号与系统的基本概念及数学描述。</a:t>
            </a:r>
          </a:p>
          <a:p>
            <a:pPr algn="just">
              <a:lnSpc>
                <a:spcPct val="150000"/>
              </a:lnSpc>
              <a:spcBef>
                <a:spcPts val="0"/>
              </a:spcBef>
              <a:spcAft>
                <a:spcPts val="600"/>
              </a:spcAft>
            </a:pPr>
            <a:r>
              <a:rPr lang="zh-CN" altLang="en-US" sz="2800" b="0" dirty="0"/>
              <a:t>介绍了作为信号分析基础的基本信号：复指数与正弦信号、单位冲激与单位阶跃信号。</a:t>
            </a:r>
          </a:p>
          <a:p>
            <a:pPr algn="just">
              <a:lnSpc>
                <a:spcPct val="150000"/>
              </a:lnSpc>
              <a:spcBef>
                <a:spcPts val="0"/>
              </a:spcBef>
              <a:spcAft>
                <a:spcPts val="600"/>
              </a:spcAft>
            </a:pPr>
            <a:r>
              <a:rPr lang="zh-CN" altLang="en-US" sz="2800" b="0" dirty="0"/>
              <a:t>定义并讨论了系统的互连及系统的六大基本特性，讨论了增量线性系统及其等效方法。</a:t>
            </a:r>
            <a:endParaRPr lang="en-US" altLang="zh-CN" sz="2800" b="0" dirty="0"/>
          </a:p>
          <a:p>
            <a:pPr algn="just">
              <a:lnSpc>
                <a:spcPct val="150000"/>
              </a:lnSpc>
              <a:spcBef>
                <a:spcPts val="0"/>
              </a:spcBef>
              <a:spcAft>
                <a:spcPts val="600"/>
              </a:spcAft>
            </a:pPr>
            <a:r>
              <a:rPr lang="zh-CN" altLang="en-US" sz="2800" b="0" dirty="0"/>
              <a:t>线性时不变（</a:t>
            </a:r>
            <a:r>
              <a:rPr lang="en-US" altLang="zh-CN" sz="2800" b="0" dirty="0"/>
              <a:t>LTI</a:t>
            </a:r>
            <a:r>
              <a:rPr lang="zh-CN" altLang="en-US" sz="2800" b="0" dirty="0"/>
              <a:t>）系统将成为本课程所研究的对象。</a:t>
            </a:r>
          </a:p>
        </p:txBody>
      </p:sp>
      <p:sp>
        <p:nvSpPr>
          <p:cNvPr id="4" name="灯片编号占位符 3">
            <a:extLst>
              <a:ext uri="{FF2B5EF4-FFF2-40B4-BE49-F238E27FC236}">
                <a16:creationId xmlns:a16="http://schemas.microsoft.com/office/drawing/2014/main" id="{D3C95F17-BFF4-41AA-B7E7-12E2636264D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1548EA4-9423-48AF-9877-30E046254C1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8229</TotalTime>
  <Words>4927</Words>
  <Application>Microsoft Office PowerPoint</Application>
  <PresentationFormat>全屏显示(4:3)</PresentationFormat>
  <Paragraphs>915</Paragraphs>
  <Slides>98</Slides>
  <Notes>19</Notes>
  <HiddenSlides>0</HiddenSlides>
  <MMClips>0</MMClips>
  <ScaleCrop>false</ScaleCrop>
  <HeadingPairs>
    <vt:vector size="8" baseType="variant">
      <vt:variant>
        <vt:lpstr>已用的字体</vt:lpstr>
      </vt:variant>
      <vt:variant>
        <vt:i4>14</vt:i4>
      </vt:variant>
      <vt:variant>
        <vt:lpstr>主题</vt:lpstr>
      </vt:variant>
      <vt:variant>
        <vt:i4>3</vt:i4>
      </vt:variant>
      <vt:variant>
        <vt:lpstr>嵌入 OLE 服务器</vt:lpstr>
      </vt:variant>
      <vt:variant>
        <vt:i4>5</vt:i4>
      </vt:variant>
      <vt:variant>
        <vt:lpstr>幻灯片标题</vt:lpstr>
      </vt:variant>
      <vt:variant>
        <vt:i4>98</vt:i4>
      </vt:variant>
    </vt:vector>
  </HeadingPairs>
  <TitlesOfParts>
    <vt:vector size="120" baseType="lpstr">
      <vt:lpstr>黑体</vt:lpstr>
      <vt:lpstr>华文楷体</vt:lpstr>
      <vt:lpstr>华文行楷</vt:lpstr>
      <vt:lpstr>楷体</vt:lpstr>
      <vt:lpstr>楷体_GB2312</vt:lpstr>
      <vt:lpstr>宋体</vt:lpstr>
      <vt:lpstr>Arial</vt:lpstr>
      <vt:lpstr>Arial Black</vt:lpstr>
      <vt:lpstr>Calibri</vt:lpstr>
      <vt:lpstr>Cambria Math</vt:lpstr>
      <vt:lpstr>Georgia</vt:lpstr>
      <vt:lpstr>Symbol</vt:lpstr>
      <vt:lpstr>Times New Roman</vt:lpstr>
      <vt:lpstr>Wingdings</vt:lpstr>
      <vt:lpstr>Office 主题</vt:lpstr>
      <vt:lpstr>1_Office 主题</vt:lpstr>
      <vt:lpstr>2_Office 主题</vt:lpstr>
      <vt:lpstr>位图图像</vt:lpstr>
      <vt:lpstr>Equation</vt:lpstr>
      <vt:lpstr>Bitmap Image</vt:lpstr>
      <vt:lpstr>公式</vt:lpstr>
      <vt:lpstr>Microsoft Draw 绘图</vt:lpstr>
      <vt:lpstr>信号与系统 Signals and Systems</vt:lpstr>
      <vt:lpstr>课程总览</vt:lpstr>
      <vt:lpstr>什么是信号？</vt:lpstr>
      <vt:lpstr>什么是信号？</vt:lpstr>
      <vt:lpstr>什么是系统？</vt:lpstr>
      <vt:lpstr>为什么要学习《信号与系统》？</vt:lpstr>
      <vt:lpstr>PowerPoint 演示文稿</vt:lpstr>
      <vt:lpstr>PowerPoint 演示文稿</vt:lpstr>
      <vt:lpstr>PowerPoint 演示文稿</vt:lpstr>
      <vt:lpstr>PowerPoint 演示文稿</vt:lpstr>
      <vt:lpstr>本课程的研究内容</vt:lpstr>
      <vt:lpstr>第一章 信号与系统</vt:lpstr>
      <vt:lpstr>PowerPoint 演示文稿</vt:lpstr>
      <vt:lpstr>1.1  连续时间与离散时间信号</vt:lpstr>
      <vt:lpstr>1.1  连续时间与离散时间信号</vt:lpstr>
      <vt:lpstr>1.1  连续时间与离散时间信号</vt:lpstr>
      <vt:lpstr>1.1  连续时间与离散时间信号</vt:lpstr>
      <vt:lpstr>1.1  连续时间与离散时间信号</vt:lpstr>
      <vt:lpstr>1.1  连续时间与离散时间信号</vt:lpstr>
      <vt:lpstr>1.1  连续时间与离散时间信号</vt:lpstr>
      <vt:lpstr>1.1  连续时间与离散时间信号</vt:lpstr>
      <vt:lpstr>1.1  连续时间与离散时间信号</vt:lpstr>
      <vt:lpstr>1.1  连续时间与离散时间信号</vt:lpstr>
      <vt:lpstr>1.1  连续时间与离散时间信号</vt:lpstr>
      <vt:lpstr>1.2  自变量变换</vt:lpstr>
      <vt:lpstr>1.2  自变量变换</vt:lpstr>
      <vt:lpstr>1.2  自变量变换</vt:lpstr>
      <vt:lpstr>1.2  自变量变换</vt:lpstr>
      <vt:lpstr>1.2  自变量变换</vt:lpstr>
      <vt:lpstr>1.2  自变量变换</vt:lpstr>
      <vt:lpstr>1.2  自变量变换</vt:lpstr>
      <vt:lpstr>1.2  自变量变换</vt:lpstr>
      <vt:lpstr>1.2  自变量变换</vt:lpstr>
      <vt:lpstr>1.2  自变量变换</vt:lpstr>
      <vt:lpstr>课后作业</vt:lpstr>
      <vt:lpstr>1.3  复指数信号与正弦信号</vt:lpstr>
      <vt:lpstr>复数概念</vt:lpstr>
      <vt:lpstr>1.3  复指数信号与正弦信号</vt:lpstr>
      <vt:lpstr>复数概念</vt:lpstr>
      <vt:lpstr>1.3  复指数信号与正弦信号</vt:lpstr>
      <vt:lpstr>1.3  复指数信号与正弦信号</vt:lpstr>
      <vt:lpstr>1.3  复指数信号与正弦信号</vt:lpstr>
      <vt:lpstr>1.3  复指数信号与正弦信号</vt:lpstr>
      <vt:lpstr>1.3  复指数信号与正弦信号</vt:lpstr>
      <vt:lpstr>1.3  复指数信号与正弦信号</vt:lpstr>
      <vt:lpstr>1.3  复指数信号与正弦信号</vt:lpstr>
      <vt:lpstr>1.3  复指数信号与正弦信号</vt:lpstr>
      <vt:lpstr>1.3  复指数信号与正弦信号</vt:lpstr>
      <vt:lpstr>PowerPoint 演示文稿</vt:lpstr>
      <vt:lpstr>1.3  复指数信号与正弦信号</vt:lpstr>
      <vt:lpstr>1.3  复指数信号与正弦信号</vt:lpstr>
      <vt:lpstr>1.3  复指数信号与正弦信号</vt:lpstr>
      <vt:lpstr>1.3  复指数信号与正弦信号</vt:lpstr>
      <vt:lpstr>1.3  复指数信号与正弦信号</vt:lpstr>
      <vt:lpstr>1.4  单位冲激与单位阶跃函数</vt:lpstr>
      <vt:lpstr>1.4  单位冲激与单位阶跃函数</vt:lpstr>
      <vt:lpstr>1.4  单位冲激与单位阶跃函数</vt:lpstr>
      <vt:lpstr>1.4  单位冲激与单位阶跃函数</vt:lpstr>
      <vt:lpstr>1.4  单位冲激与单位阶跃函数</vt:lpstr>
      <vt:lpstr>1.4  单位冲激与单位阶跃函数</vt:lpstr>
      <vt:lpstr>1.4  单位冲激与单位阶跃函数</vt:lpstr>
      <vt:lpstr>1.4  单位冲激与单位阶跃函数</vt:lpstr>
      <vt:lpstr>1.4  单位冲激与单位阶跃函数</vt:lpstr>
      <vt:lpstr>1.4  单位冲激与单位阶跃函数</vt:lpstr>
      <vt:lpstr>1.4  单位冲激与单位阶跃函数</vt:lpstr>
      <vt:lpstr>课后作业</vt:lpstr>
      <vt:lpstr>1.5  连续时间与离散时间系统</vt:lpstr>
      <vt:lpstr>1.5  连续时间与离散时间系统</vt:lpstr>
      <vt:lpstr>1.5  连续时间与离散时间系统</vt:lpstr>
      <vt:lpstr>1.5  连续时间与离散时间系统</vt:lpstr>
      <vt:lpstr>1.5  连续时间与离散时间系统</vt:lpstr>
      <vt:lpstr>1.5  连续时间与离散时间系统</vt:lpstr>
      <vt:lpstr>1.5  连续时间与离散时间系统</vt:lpstr>
      <vt:lpstr>1.5  连续时间与离散时间系统</vt:lpstr>
      <vt:lpstr>1.5  连续时间与离散时间系统</vt:lpstr>
      <vt:lpstr>1.5  连续时间与离散时间系统</vt:lpstr>
      <vt:lpstr>1.6 系统的基本性质</vt:lpstr>
      <vt:lpstr>1.6 系统的基本性质</vt:lpstr>
      <vt:lpstr>1.6 系统的基本性质</vt:lpstr>
      <vt:lpstr>1.6 系统的基本性质</vt:lpstr>
      <vt:lpstr>1.6 系统的基本性质</vt:lpstr>
      <vt:lpstr>1.6 系统的基本性质</vt:lpstr>
      <vt:lpstr>1.6 系统的基本性质</vt:lpstr>
      <vt:lpstr>1.6 系统的基本性质</vt:lpstr>
      <vt:lpstr>1.6 系统的基本性质</vt:lpstr>
      <vt:lpstr>1.6 系统的基本性质</vt:lpstr>
      <vt:lpstr>1.6 系统的基本性质</vt:lpstr>
      <vt:lpstr>1.6 系统的基本性质</vt:lpstr>
      <vt:lpstr>1.6 系统的基本性质</vt:lpstr>
      <vt:lpstr>1.6 系统的基本性质</vt:lpstr>
      <vt:lpstr>1.6 系统的基本性质</vt:lpstr>
      <vt:lpstr>1.6 系统的基本性质</vt:lpstr>
      <vt:lpstr>1.6 系统的基本性质</vt:lpstr>
      <vt:lpstr>1.6 系统的基本性质</vt:lpstr>
      <vt:lpstr>线性时不变系统</vt:lpstr>
      <vt:lpstr>线性时不变系统</vt:lpstr>
      <vt:lpstr>课后作业</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Dell</cp:lastModifiedBy>
  <cp:revision>452</cp:revision>
  <dcterms:created xsi:type="dcterms:W3CDTF">2009-02-26T06:47:18Z</dcterms:created>
  <dcterms:modified xsi:type="dcterms:W3CDTF">2023-03-07T12:37:42Z</dcterms:modified>
</cp:coreProperties>
</file>