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085" r:id="rId2"/>
  </p:sldMasterIdLst>
  <p:notesMasterIdLst>
    <p:notesMasterId r:id="rId76"/>
  </p:notesMasterIdLst>
  <p:handoutMasterIdLst>
    <p:handoutMasterId r:id="rId77"/>
  </p:handoutMasterIdLst>
  <p:sldIdLst>
    <p:sldId id="467" r:id="rId3"/>
    <p:sldId id="468" r:id="rId4"/>
    <p:sldId id="645" r:id="rId5"/>
    <p:sldId id="646" r:id="rId6"/>
    <p:sldId id="647" r:id="rId7"/>
    <p:sldId id="469" r:id="rId8"/>
    <p:sldId id="470" r:id="rId9"/>
    <p:sldId id="471" r:id="rId10"/>
    <p:sldId id="540" r:id="rId11"/>
    <p:sldId id="541" r:id="rId12"/>
    <p:sldId id="547" r:id="rId13"/>
    <p:sldId id="548" r:id="rId14"/>
    <p:sldId id="473" r:id="rId15"/>
    <p:sldId id="543" r:id="rId16"/>
    <p:sldId id="474" r:id="rId17"/>
    <p:sldId id="475" r:id="rId18"/>
    <p:sldId id="544" r:id="rId19"/>
    <p:sldId id="542" r:id="rId20"/>
    <p:sldId id="545" r:id="rId21"/>
    <p:sldId id="479" r:id="rId22"/>
    <p:sldId id="480" r:id="rId23"/>
    <p:sldId id="481" r:id="rId24"/>
    <p:sldId id="482" r:id="rId25"/>
    <p:sldId id="483" r:id="rId26"/>
    <p:sldId id="484" r:id="rId27"/>
    <p:sldId id="639" r:id="rId28"/>
    <p:sldId id="485" r:id="rId29"/>
    <p:sldId id="486" r:id="rId30"/>
    <p:sldId id="487" r:id="rId31"/>
    <p:sldId id="488" r:id="rId32"/>
    <p:sldId id="489" r:id="rId33"/>
    <p:sldId id="490" r:id="rId34"/>
    <p:sldId id="491" r:id="rId35"/>
    <p:sldId id="492" r:id="rId36"/>
    <p:sldId id="493" r:id="rId37"/>
    <p:sldId id="494" r:id="rId38"/>
    <p:sldId id="495" r:id="rId39"/>
    <p:sldId id="546" r:id="rId40"/>
    <p:sldId id="496" r:id="rId41"/>
    <p:sldId id="497" r:id="rId42"/>
    <p:sldId id="498" r:id="rId43"/>
    <p:sldId id="499" r:id="rId44"/>
    <p:sldId id="500" r:id="rId45"/>
    <p:sldId id="501" r:id="rId46"/>
    <p:sldId id="510" r:id="rId47"/>
    <p:sldId id="511" r:id="rId48"/>
    <p:sldId id="512" r:id="rId49"/>
    <p:sldId id="513" r:id="rId50"/>
    <p:sldId id="514" r:id="rId51"/>
    <p:sldId id="640" r:id="rId52"/>
    <p:sldId id="516" r:id="rId53"/>
    <p:sldId id="518" r:id="rId54"/>
    <p:sldId id="517" r:id="rId55"/>
    <p:sldId id="519" r:id="rId56"/>
    <p:sldId id="520" r:id="rId57"/>
    <p:sldId id="521" r:id="rId58"/>
    <p:sldId id="525" r:id="rId59"/>
    <p:sldId id="526" r:id="rId60"/>
    <p:sldId id="522" r:id="rId61"/>
    <p:sldId id="523" r:id="rId62"/>
    <p:sldId id="524" r:id="rId63"/>
    <p:sldId id="527" r:id="rId64"/>
    <p:sldId id="531" r:id="rId65"/>
    <p:sldId id="532" r:id="rId66"/>
    <p:sldId id="533" r:id="rId67"/>
    <p:sldId id="534" r:id="rId68"/>
    <p:sldId id="535" r:id="rId69"/>
    <p:sldId id="536" r:id="rId70"/>
    <p:sldId id="537" r:id="rId71"/>
    <p:sldId id="538" r:id="rId72"/>
    <p:sldId id="539" r:id="rId73"/>
    <p:sldId id="644" r:id="rId74"/>
    <p:sldId id="515" r:id="rId75"/>
  </p:sldIdLst>
  <p:sldSz cx="9144000" cy="6858000" type="screen4x3"/>
  <p:notesSz cx="7099300" cy="102346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42" autoAdjust="0"/>
    <p:restoredTop sz="73360" autoAdjust="0"/>
  </p:normalViewPr>
  <p:slideViewPr>
    <p:cSldViewPr>
      <p:cViewPr varScale="1">
        <p:scale>
          <a:sx n="50" d="100"/>
          <a:sy n="50" d="100"/>
        </p:scale>
        <p:origin x="1736" y="4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9.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1.wmf"/><Relationship Id="rId1" Type="http://schemas.openxmlformats.org/officeDocument/2006/relationships/image" Target="../media/image90.wmf"/><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3.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5.wmf"/><Relationship Id="rId1" Type="http://schemas.openxmlformats.org/officeDocument/2006/relationships/image" Target="../media/image12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 Id="rId6" Type="http://schemas.openxmlformats.org/officeDocument/2006/relationships/image" Target="../media/image146.wmf"/><Relationship Id="rId5" Type="http://schemas.openxmlformats.org/officeDocument/2006/relationships/image" Target="../media/image145.wmf"/><Relationship Id="rId4" Type="http://schemas.openxmlformats.org/officeDocument/2006/relationships/image" Target="../media/image14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48.wmf"/><Relationship Id="rId1" Type="http://schemas.openxmlformats.org/officeDocument/2006/relationships/image" Target="../media/image147.wmf"/><Relationship Id="rId4" Type="http://schemas.openxmlformats.org/officeDocument/2006/relationships/image" Target="../media/image14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54.wmf"/><Relationship Id="rId7" Type="http://schemas.openxmlformats.org/officeDocument/2006/relationships/image" Target="../media/image158.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 Id="rId4" Type="http://schemas.openxmlformats.org/officeDocument/2006/relationships/image" Target="../media/image163.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71.wmf"/><Relationship Id="rId3" Type="http://schemas.openxmlformats.org/officeDocument/2006/relationships/image" Target="../media/image166.wmf"/><Relationship Id="rId7" Type="http://schemas.openxmlformats.org/officeDocument/2006/relationships/image" Target="../media/image170.wmf"/><Relationship Id="rId2" Type="http://schemas.openxmlformats.org/officeDocument/2006/relationships/image" Target="../media/image165.wmf"/><Relationship Id="rId1" Type="http://schemas.openxmlformats.org/officeDocument/2006/relationships/image" Target="../media/image164.wmf"/><Relationship Id="rId6" Type="http://schemas.openxmlformats.org/officeDocument/2006/relationships/image" Target="../media/image169.wmf"/><Relationship Id="rId5" Type="http://schemas.openxmlformats.org/officeDocument/2006/relationships/image" Target="../media/image168.wmf"/><Relationship Id="rId10" Type="http://schemas.openxmlformats.org/officeDocument/2006/relationships/image" Target="../media/image172.wmf"/><Relationship Id="rId4" Type="http://schemas.openxmlformats.org/officeDocument/2006/relationships/image" Target="../media/image167.wmf"/><Relationship Id="rId9" Type="http://schemas.openxmlformats.org/officeDocument/2006/relationships/image" Target="../media/image16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75.wmf"/><Relationship Id="rId2" Type="http://schemas.openxmlformats.org/officeDocument/2006/relationships/image" Target="../media/image174.wmf"/><Relationship Id="rId1" Type="http://schemas.openxmlformats.org/officeDocument/2006/relationships/image" Target="../media/image173.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86.wmf"/><Relationship Id="rId3" Type="http://schemas.openxmlformats.org/officeDocument/2006/relationships/image" Target="../media/image181.wmf"/><Relationship Id="rId7" Type="http://schemas.openxmlformats.org/officeDocument/2006/relationships/image" Target="../media/image185.wmf"/><Relationship Id="rId2" Type="http://schemas.openxmlformats.org/officeDocument/2006/relationships/image" Target="../media/image180.wmf"/><Relationship Id="rId1" Type="http://schemas.openxmlformats.org/officeDocument/2006/relationships/image" Target="../media/image179.wmf"/><Relationship Id="rId6" Type="http://schemas.openxmlformats.org/officeDocument/2006/relationships/image" Target="../media/image184.wmf"/><Relationship Id="rId5" Type="http://schemas.openxmlformats.org/officeDocument/2006/relationships/image" Target="../media/image183.wmf"/><Relationship Id="rId4" Type="http://schemas.openxmlformats.org/officeDocument/2006/relationships/image" Target="../media/image182.wmf"/><Relationship Id="rId9" Type="http://schemas.openxmlformats.org/officeDocument/2006/relationships/image" Target="../media/image187.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90.wmf"/><Relationship Id="rId2" Type="http://schemas.openxmlformats.org/officeDocument/2006/relationships/image" Target="../media/image189.wmf"/><Relationship Id="rId1" Type="http://schemas.openxmlformats.org/officeDocument/2006/relationships/image" Target="../media/image188.wmf"/><Relationship Id="rId4" Type="http://schemas.openxmlformats.org/officeDocument/2006/relationships/image" Target="../media/image191.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95.wmf"/><Relationship Id="rId7" Type="http://schemas.openxmlformats.org/officeDocument/2006/relationships/image" Target="../media/image199.wmf"/><Relationship Id="rId2" Type="http://schemas.openxmlformats.org/officeDocument/2006/relationships/image" Target="../media/image194.wmf"/><Relationship Id="rId1" Type="http://schemas.openxmlformats.org/officeDocument/2006/relationships/image" Target="../media/image193.wmf"/><Relationship Id="rId6" Type="http://schemas.openxmlformats.org/officeDocument/2006/relationships/image" Target="../media/image198.wmf"/><Relationship Id="rId5" Type="http://schemas.openxmlformats.org/officeDocument/2006/relationships/image" Target="../media/image197.wmf"/><Relationship Id="rId4" Type="http://schemas.openxmlformats.org/officeDocument/2006/relationships/image" Target="../media/image19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221.wmf"/><Relationship Id="rId2" Type="http://schemas.openxmlformats.org/officeDocument/2006/relationships/image" Target="../media/image220.wmf"/><Relationship Id="rId1" Type="http://schemas.openxmlformats.org/officeDocument/2006/relationships/image" Target="../media/image219.wmf"/><Relationship Id="rId5" Type="http://schemas.openxmlformats.org/officeDocument/2006/relationships/image" Target="../media/image223.wmf"/><Relationship Id="rId4" Type="http://schemas.openxmlformats.org/officeDocument/2006/relationships/image" Target="../media/image222.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226.wmf"/><Relationship Id="rId1" Type="http://schemas.openxmlformats.org/officeDocument/2006/relationships/image" Target="../media/image225.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230.wmf"/><Relationship Id="rId2" Type="http://schemas.openxmlformats.org/officeDocument/2006/relationships/image" Target="../media/image220.wmf"/><Relationship Id="rId1" Type="http://schemas.openxmlformats.org/officeDocument/2006/relationships/image" Target="../media/image229.wmf"/><Relationship Id="rId4" Type="http://schemas.openxmlformats.org/officeDocument/2006/relationships/image" Target="../media/image231.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33.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238.wmf"/><Relationship Id="rId2" Type="http://schemas.openxmlformats.org/officeDocument/2006/relationships/image" Target="../media/image237.wmf"/><Relationship Id="rId1" Type="http://schemas.openxmlformats.org/officeDocument/2006/relationships/image" Target="../media/image236.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43.wmf"/><Relationship Id="rId2" Type="http://schemas.openxmlformats.org/officeDocument/2006/relationships/image" Target="../media/image242.wmf"/><Relationship Id="rId1" Type="http://schemas.openxmlformats.org/officeDocument/2006/relationships/image" Target="../media/image241.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247.wmf"/><Relationship Id="rId2" Type="http://schemas.openxmlformats.org/officeDocument/2006/relationships/image" Target="../media/image246.wmf"/><Relationship Id="rId1" Type="http://schemas.openxmlformats.org/officeDocument/2006/relationships/image" Target="../media/image245.wmf"/><Relationship Id="rId6" Type="http://schemas.openxmlformats.org/officeDocument/2006/relationships/image" Target="../media/image250.wmf"/><Relationship Id="rId5" Type="http://schemas.openxmlformats.org/officeDocument/2006/relationships/image" Target="../media/image249.wmf"/><Relationship Id="rId4" Type="http://schemas.openxmlformats.org/officeDocument/2006/relationships/image" Target="../media/image248.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54.wmf"/><Relationship Id="rId2" Type="http://schemas.openxmlformats.org/officeDocument/2006/relationships/image" Target="../media/image253.wmf"/><Relationship Id="rId1" Type="http://schemas.openxmlformats.org/officeDocument/2006/relationships/image" Target="../media/image252.wmf"/><Relationship Id="rId6" Type="http://schemas.openxmlformats.org/officeDocument/2006/relationships/image" Target="../media/image257.wmf"/><Relationship Id="rId5" Type="http://schemas.openxmlformats.org/officeDocument/2006/relationships/image" Target="../media/image256.wmf"/><Relationship Id="rId4" Type="http://schemas.openxmlformats.org/officeDocument/2006/relationships/image" Target="../media/image25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ED4C210-1D39-4DE3-BAAF-BF61BB414223}"/>
              </a:ext>
            </a:extLst>
          </p:cNvPr>
          <p:cNvSpPr>
            <a:spLocks noGrp="1"/>
          </p:cNvSpPr>
          <p:nvPr>
            <p:ph type="hdr" sz="quarter"/>
          </p:nvPr>
        </p:nvSpPr>
        <p:spPr>
          <a:xfrm>
            <a:off x="0" y="0"/>
            <a:ext cx="3076575" cy="512763"/>
          </a:xfrm>
          <a:prstGeom prst="rect">
            <a:avLst/>
          </a:prstGeom>
        </p:spPr>
        <p:txBody>
          <a:bodyPr vert="horz" lIns="95445" tIns="47723" rIns="95445" bIns="47723" rtlCol="0"/>
          <a:lstStyle>
            <a:lvl1pPr algn="l">
              <a:defRPr sz="13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E04EDE8A-1EE2-4C7A-9A90-65E0B85F9E01}"/>
              </a:ext>
            </a:extLst>
          </p:cNvPr>
          <p:cNvSpPr>
            <a:spLocks noGrp="1"/>
          </p:cNvSpPr>
          <p:nvPr>
            <p:ph type="dt" sz="quarter" idx="1"/>
          </p:nvPr>
        </p:nvSpPr>
        <p:spPr>
          <a:xfrm>
            <a:off x="4021138" y="0"/>
            <a:ext cx="3076575" cy="512763"/>
          </a:xfrm>
          <a:prstGeom prst="rect">
            <a:avLst/>
          </a:prstGeom>
        </p:spPr>
        <p:txBody>
          <a:bodyPr vert="horz" lIns="95445" tIns="47723" rIns="95445" bIns="47723" rtlCol="0"/>
          <a:lstStyle>
            <a:lvl1pPr algn="r">
              <a:defRPr sz="1300">
                <a:latin typeface="Arial" charset="0"/>
                <a:ea typeface="宋体" charset="-122"/>
              </a:defRPr>
            </a:lvl1pPr>
          </a:lstStyle>
          <a:p>
            <a:pPr>
              <a:defRPr/>
            </a:pPr>
            <a:fld id="{8F2D32F4-2C49-4AA0-B670-C91E0F43F7A6}" type="datetimeFigureOut">
              <a:rPr lang="zh-CN" altLang="en-US"/>
              <a:pPr>
                <a:defRPr/>
              </a:pPr>
              <a:t>2025/03/15</a:t>
            </a:fld>
            <a:endParaRPr lang="zh-CN" altLang="en-US"/>
          </a:p>
        </p:txBody>
      </p:sp>
      <p:sp>
        <p:nvSpPr>
          <p:cNvPr id="4" name="页脚占位符 3">
            <a:extLst>
              <a:ext uri="{FF2B5EF4-FFF2-40B4-BE49-F238E27FC236}">
                <a16:creationId xmlns:a16="http://schemas.microsoft.com/office/drawing/2014/main" id="{C3929EA1-CC41-41F6-852F-BD7C6F7589F8}"/>
              </a:ext>
            </a:extLst>
          </p:cNvPr>
          <p:cNvSpPr>
            <a:spLocks noGrp="1"/>
          </p:cNvSpPr>
          <p:nvPr>
            <p:ph type="ftr" sz="quarter" idx="2"/>
          </p:nvPr>
        </p:nvSpPr>
        <p:spPr>
          <a:xfrm>
            <a:off x="0" y="9720263"/>
            <a:ext cx="3076575" cy="512762"/>
          </a:xfrm>
          <a:prstGeom prst="rect">
            <a:avLst/>
          </a:prstGeom>
        </p:spPr>
        <p:txBody>
          <a:bodyPr vert="horz" lIns="95445" tIns="47723" rIns="95445" bIns="47723" rtlCol="0" anchor="b"/>
          <a:lstStyle>
            <a:lvl1pPr algn="l">
              <a:defRPr sz="1300">
                <a:latin typeface="Arial" charset="0"/>
                <a:ea typeface="宋体" charset="-122"/>
              </a:defRPr>
            </a:lvl1pPr>
          </a:lstStyle>
          <a:p>
            <a:pPr>
              <a:defRPr/>
            </a:pPr>
            <a:endParaRPr lang="zh-CN" altLang="en-US"/>
          </a:p>
        </p:txBody>
      </p:sp>
      <p:sp>
        <p:nvSpPr>
          <p:cNvPr id="5" name="灯片编号占位符 4">
            <a:extLst>
              <a:ext uri="{FF2B5EF4-FFF2-40B4-BE49-F238E27FC236}">
                <a16:creationId xmlns:a16="http://schemas.microsoft.com/office/drawing/2014/main" id="{E5EF4BA4-6B60-44B3-A052-24DEF192A6F6}"/>
              </a:ext>
            </a:extLst>
          </p:cNvPr>
          <p:cNvSpPr>
            <a:spLocks noGrp="1"/>
          </p:cNvSpPr>
          <p:nvPr>
            <p:ph type="sldNum" sz="quarter" idx="3"/>
          </p:nvPr>
        </p:nvSpPr>
        <p:spPr>
          <a:xfrm>
            <a:off x="4021138" y="9720263"/>
            <a:ext cx="3076575" cy="512762"/>
          </a:xfrm>
          <a:prstGeom prst="rect">
            <a:avLst/>
          </a:prstGeom>
        </p:spPr>
        <p:txBody>
          <a:bodyPr vert="horz" wrap="square" lIns="95445" tIns="47723" rIns="95445" bIns="47723" numCol="1" anchor="b" anchorCtr="0" compatLnSpc="1">
            <a:prstTxWarp prst="textNoShape">
              <a:avLst/>
            </a:prstTxWarp>
          </a:bodyPr>
          <a:lstStyle>
            <a:lvl1pPr algn="r">
              <a:defRPr sz="1300"/>
            </a:lvl1pPr>
          </a:lstStyle>
          <a:p>
            <a:fld id="{E2843D98-2879-47F4-95B6-96021D8DA92E}" type="slidenum">
              <a:rPr lang="zh-CN" altLang="en-US"/>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E71C350-FEC5-4414-A1DB-3290F5B5FC98}"/>
              </a:ext>
            </a:extLst>
          </p:cNvPr>
          <p:cNvSpPr>
            <a:spLocks noGrp="1"/>
          </p:cNvSpPr>
          <p:nvPr>
            <p:ph type="hdr" sz="quarter"/>
          </p:nvPr>
        </p:nvSpPr>
        <p:spPr>
          <a:xfrm>
            <a:off x="0" y="0"/>
            <a:ext cx="3076575" cy="511175"/>
          </a:xfrm>
          <a:prstGeom prst="rect">
            <a:avLst/>
          </a:prstGeom>
        </p:spPr>
        <p:txBody>
          <a:bodyPr vert="horz" lIns="95445" tIns="47723" rIns="95445" bIns="47723" rtlCol="0"/>
          <a:lstStyle>
            <a:lvl1pPr algn="l" fontAlgn="auto">
              <a:spcBef>
                <a:spcPts val="0"/>
              </a:spcBef>
              <a:spcAft>
                <a:spcPts val="0"/>
              </a:spcAft>
              <a:defRPr sz="13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C5DDFEAD-3192-40DC-97BF-F80D630FE0E7}"/>
              </a:ext>
            </a:extLst>
          </p:cNvPr>
          <p:cNvSpPr>
            <a:spLocks noGrp="1"/>
          </p:cNvSpPr>
          <p:nvPr>
            <p:ph type="dt" idx="1"/>
          </p:nvPr>
        </p:nvSpPr>
        <p:spPr>
          <a:xfrm>
            <a:off x="4021138" y="0"/>
            <a:ext cx="3076575" cy="511175"/>
          </a:xfrm>
          <a:prstGeom prst="rect">
            <a:avLst/>
          </a:prstGeom>
        </p:spPr>
        <p:txBody>
          <a:bodyPr vert="horz" lIns="95445" tIns="47723" rIns="95445" bIns="47723" rtlCol="0"/>
          <a:lstStyle>
            <a:lvl1pPr algn="r" fontAlgn="auto">
              <a:spcBef>
                <a:spcPts val="0"/>
              </a:spcBef>
              <a:spcAft>
                <a:spcPts val="0"/>
              </a:spcAft>
              <a:defRPr sz="1300">
                <a:latin typeface="+mn-lt"/>
                <a:ea typeface="+mn-ea"/>
              </a:defRPr>
            </a:lvl1pPr>
          </a:lstStyle>
          <a:p>
            <a:pPr>
              <a:defRPr/>
            </a:pPr>
            <a:fld id="{356491A3-D635-4B97-B842-649A71A1916F}" type="datetimeFigureOut">
              <a:rPr lang="zh-CN" altLang="en-US"/>
              <a:pPr>
                <a:defRPr/>
              </a:pPr>
              <a:t>2025/03/15</a:t>
            </a:fld>
            <a:endParaRPr lang="zh-CN" altLang="en-US"/>
          </a:p>
        </p:txBody>
      </p:sp>
      <p:sp>
        <p:nvSpPr>
          <p:cNvPr id="4" name="幻灯片图像占位符 3">
            <a:extLst>
              <a:ext uri="{FF2B5EF4-FFF2-40B4-BE49-F238E27FC236}">
                <a16:creationId xmlns:a16="http://schemas.microsoft.com/office/drawing/2014/main" id="{62820B1F-DA60-4E59-AB9C-3291A5AD740C}"/>
              </a:ext>
            </a:extLst>
          </p:cNvPr>
          <p:cNvSpPr>
            <a:spLocks noGrp="1" noRot="1" noChangeAspect="1"/>
          </p:cNvSpPr>
          <p:nvPr>
            <p:ph type="sldImg" idx="2"/>
          </p:nvPr>
        </p:nvSpPr>
        <p:spPr>
          <a:xfrm>
            <a:off x="989013" y="766763"/>
            <a:ext cx="5121275" cy="3840162"/>
          </a:xfrm>
          <a:prstGeom prst="rect">
            <a:avLst/>
          </a:prstGeom>
          <a:noFill/>
          <a:ln w="12700">
            <a:solidFill>
              <a:prstClr val="black"/>
            </a:solidFill>
          </a:ln>
        </p:spPr>
        <p:txBody>
          <a:bodyPr vert="horz" lIns="95445" tIns="47723" rIns="95445" bIns="47723" rtlCol="0" anchor="ctr"/>
          <a:lstStyle/>
          <a:p>
            <a:pPr lvl="0"/>
            <a:endParaRPr lang="zh-CN" altLang="en-US" noProof="0"/>
          </a:p>
        </p:txBody>
      </p:sp>
      <p:sp>
        <p:nvSpPr>
          <p:cNvPr id="5" name="备注占位符 4">
            <a:extLst>
              <a:ext uri="{FF2B5EF4-FFF2-40B4-BE49-F238E27FC236}">
                <a16:creationId xmlns:a16="http://schemas.microsoft.com/office/drawing/2014/main" id="{052041C6-39FC-4BF0-B092-5034F10D1D9F}"/>
              </a:ext>
            </a:extLst>
          </p:cNvPr>
          <p:cNvSpPr>
            <a:spLocks noGrp="1"/>
          </p:cNvSpPr>
          <p:nvPr>
            <p:ph type="body" sz="quarter" idx="3"/>
          </p:nvPr>
        </p:nvSpPr>
        <p:spPr>
          <a:xfrm>
            <a:off x="709613" y="4860925"/>
            <a:ext cx="5680075" cy="4605338"/>
          </a:xfrm>
          <a:prstGeom prst="rect">
            <a:avLst/>
          </a:prstGeom>
        </p:spPr>
        <p:txBody>
          <a:bodyPr vert="horz" lIns="95445" tIns="47723" rIns="95445" bIns="47723"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5D70E8FB-F65F-40D3-8FA6-6AD02C8C8909}"/>
              </a:ext>
            </a:extLst>
          </p:cNvPr>
          <p:cNvSpPr>
            <a:spLocks noGrp="1"/>
          </p:cNvSpPr>
          <p:nvPr>
            <p:ph type="ftr" sz="quarter" idx="4"/>
          </p:nvPr>
        </p:nvSpPr>
        <p:spPr>
          <a:xfrm>
            <a:off x="0" y="9721850"/>
            <a:ext cx="3076575" cy="511175"/>
          </a:xfrm>
          <a:prstGeom prst="rect">
            <a:avLst/>
          </a:prstGeom>
        </p:spPr>
        <p:txBody>
          <a:bodyPr vert="horz" lIns="95445" tIns="47723" rIns="95445" bIns="47723" rtlCol="0" anchor="b"/>
          <a:lstStyle>
            <a:lvl1pPr algn="l" fontAlgn="auto">
              <a:spcBef>
                <a:spcPts val="0"/>
              </a:spcBef>
              <a:spcAft>
                <a:spcPts val="0"/>
              </a:spcAft>
              <a:defRPr sz="13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79B9DD9B-0B6F-44BE-A07E-51D061FD8888}"/>
              </a:ext>
            </a:extLst>
          </p:cNvPr>
          <p:cNvSpPr>
            <a:spLocks noGrp="1"/>
          </p:cNvSpPr>
          <p:nvPr>
            <p:ph type="sldNum" sz="quarter" idx="5"/>
          </p:nvPr>
        </p:nvSpPr>
        <p:spPr>
          <a:xfrm>
            <a:off x="4021138" y="9721850"/>
            <a:ext cx="3076575" cy="511175"/>
          </a:xfrm>
          <a:prstGeom prst="rect">
            <a:avLst/>
          </a:prstGeom>
        </p:spPr>
        <p:txBody>
          <a:bodyPr vert="horz" wrap="square" lIns="95445" tIns="47723" rIns="95445" bIns="47723" numCol="1" anchor="b" anchorCtr="0" compatLnSpc="1">
            <a:prstTxWarp prst="textNoShape">
              <a:avLst/>
            </a:prstTxWarp>
          </a:bodyPr>
          <a:lstStyle>
            <a:lvl1pPr algn="r">
              <a:defRPr sz="1300">
                <a:latin typeface="Calibri" panose="020F0502020204030204" pitchFamily="34" charset="0"/>
              </a:defRPr>
            </a:lvl1pPr>
          </a:lstStyle>
          <a:p>
            <a:fld id="{A4A6E3D0-EC40-4C46-B75A-399F45E4458E}"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P120</a:t>
            </a:r>
            <a:r>
              <a:rPr lang="zh-CN" altLang="en-US" dirty="0"/>
              <a:t>，例</a:t>
            </a:r>
            <a:r>
              <a:rPr lang="en-US" altLang="zh-CN" dirty="0"/>
              <a:t>3.4</a:t>
            </a:r>
            <a:endParaRPr lang="zh-CN" altLang="en-US" dirty="0"/>
          </a:p>
        </p:txBody>
      </p:sp>
      <p:sp>
        <p:nvSpPr>
          <p:cNvPr id="4" name="灯片编号占位符 3"/>
          <p:cNvSpPr>
            <a:spLocks noGrp="1"/>
          </p:cNvSpPr>
          <p:nvPr>
            <p:ph type="sldNum" sz="quarter" idx="5"/>
          </p:nvPr>
        </p:nvSpPr>
        <p:spPr/>
        <p:txBody>
          <a:bodyPr/>
          <a:lstStyle/>
          <a:p>
            <a:fld id="{A4A6E3D0-EC40-4C46-B75A-399F45E4458E}" type="slidenum">
              <a:rPr lang="zh-CN" altLang="en-US" smtClean="0"/>
              <a:pPr/>
              <a:t>17</a:t>
            </a:fld>
            <a:endParaRPr lang="zh-CN" altLang="en-US"/>
          </a:p>
        </p:txBody>
      </p:sp>
    </p:spTree>
    <p:extLst>
      <p:ext uri="{BB962C8B-B14F-4D97-AF65-F5344CB8AC3E}">
        <p14:creationId xmlns:p14="http://schemas.microsoft.com/office/powerpoint/2010/main" val="1829538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t>
            </a:r>
            <a:r>
              <a:rPr lang="en-US" altLang="zh-CN" dirty="0" err="1" smtClean="0"/>
              <a:t>sinx</a:t>
            </a:r>
            <a:r>
              <a:rPr lang="en-US" altLang="zh-CN" dirty="0" smtClean="0"/>
              <a:t> dx = -</a:t>
            </a:r>
            <a:r>
              <a:rPr lang="en-US" altLang="zh-CN" dirty="0" err="1" smtClean="0"/>
              <a:t>cosx</a:t>
            </a:r>
            <a:r>
              <a:rPr lang="en-US" altLang="zh-CN" dirty="0" smtClean="0"/>
              <a:t> </a:t>
            </a:r>
            <a:r>
              <a:rPr lang="en-US" altLang="zh-CN" smtClean="0"/>
              <a:t>+ C</a:t>
            </a:r>
          </a:p>
          <a:p>
            <a:r>
              <a:rPr lang="en-US" altLang="zh-CN" smtClean="0"/>
              <a:t>∫</a:t>
            </a:r>
            <a:r>
              <a:rPr lang="en-US" altLang="zh-CN" dirty="0" err="1" smtClean="0"/>
              <a:t>cosx</a:t>
            </a:r>
            <a:r>
              <a:rPr lang="en-US" altLang="zh-CN" dirty="0" smtClean="0"/>
              <a:t> dx = </a:t>
            </a:r>
            <a:r>
              <a:rPr lang="en-US" altLang="zh-CN" dirty="0" err="1" smtClean="0"/>
              <a:t>sinx</a:t>
            </a:r>
            <a:r>
              <a:rPr lang="en-US" altLang="zh-CN" dirty="0" smtClean="0"/>
              <a:t> + C</a:t>
            </a:r>
            <a:endParaRPr lang="zh-CN" altLang="en-US" dirty="0"/>
          </a:p>
        </p:txBody>
      </p:sp>
      <p:sp>
        <p:nvSpPr>
          <p:cNvPr id="4" name="灯片编号占位符 3"/>
          <p:cNvSpPr>
            <a:spLocks noGrp="1"/>
          </p:cNvSpPr>
          <p:nvPr>
            <p:ph type="sldNum" sz="quarter" idx="10"/>
          </p:nvPr>
        </p:nvSpPr>
        <p:spPr/>
        <p:txBody>
          <a:bodyPr/>
          <a:lstStyle/>
          <a:p>
            <a:fld id="{A4A6E3D0-EC40-4C46-B75A-399F45E4458E}" type="slidenum">
              <a:rPr lang="zh-CN" altLang="en-US" smtClean="0"/>
              <a:pPr/>
              <a:t>21</a:t>
            </a:fld>
            <a:endParaRPr lang="zh-CN" altLang="en-US"/>
          </a:p>
        </p:txBody>
      </p:sp>
    </p:spTree>
    <p:extLst>
      <p:ext uri="{BB962C8B-B14F-4D97-AF65-F5344CB8AC3E}">
        <p14:creationId xmlns:p14="http://schemas.microsoft.com/office/powerpoint/2010/main" val="3034742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a:extLst>
              <a:ext uri="{FF2B5EF4-FFF2-40B4-BE49-F238E27FC236}">
                <a16:creationId xmlns:a16="http://schemas.microsoft.com/office/drawing/2014/main" id="{6CE27F5E-A496-499E-AE4D-DA3C57BDFE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备注占位符 2">
            <a:extLst>
              <a:ext uri="{FF2B5EF4-FFF2-40B4-BE49-F238E27FC236}">
                <a16:creationId xmlns:a16="http://schemas.microsoft.com/office/drawing/2014/main" id="{318D13FD-5EAB-4B3A-B555-74500A9C43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 name="灯片编号占位符 3">
            <a:extLst>
              <a:ext uri="{FF2B5EF4-FFF2-40B4-BE49-F238E27FC236}">
                <a16:creationId xmlns:a16="http://schemas.microsoft.com/office/drawing/2014/main" id="{69981F28-CBE3-4720-A21B-E1AAE353F30D}"/>
              </a:ext>
            </a:extLst>
          </p:cNvPr>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B53188F-2A95-4A66-BD72-EAAC41173506}" type="slidenum">
              <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zh-CN" altLang="en-US" sz="13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推导用到公式</a:t>
            </a:r>
            <a:r>
              <a:rPr lang="zh-CN" altLang="en-US" dirty="0"/>
              <a:t>（ </a:t>
            </a:r>
            <a:r>
              <a:rPr lang="en-US" altLang="zh-CN" dirty="0"/>
              <a:t>2.149</a:t>
            </a:r>
            <a:r>
              <a:rPr lang="zh-CN" altLang="en-US" dirty="0"/>
              <a:t>）</a:t>
            </a:r>
          </a:p>
        </p:txBody>
      </p:sp>
      <p:sp>
        <p:nvSpPr>
          <p:cNvPr id="4" name="灯片编号占位符 3"/>
          <p:cNvSpPr>
            <a:spLocks noGrp="1"/>
          </p:cNvSpPr>
          <p:nvPr>
            <p:ph type="sldNum" sz="quarter" idx="5"/>
          </p:nvPr>
        </p:nvSpPr>
        <p:spPr/>
        <p:txBody>
          <a:bodyPr/>
          <a:lstStyle/>
          <a:p>
            <a:fld id="{A4A6E3D0-EC40-4C46-B75A-399F45E4458E}" type="slidenum">
              <a:rPr lang="zh-CN" altLang="en-US" smtClean="0"/>
              <a:pPr/>
              <a:t>52</a:t>
            </a:fld>
            <a:endParaRPr lang="zh-CN" altLang="en-US"/>
          </a:p>
        </p:txBody>
      </p:sp>
    </p:spTree>
    <p:extLst>
      <p:ext uri="{BB962C8B-B14F-4D97-AF65-F5344CB8AC3E}">
        <p14:creationId xmlns:p14="http://schemas.microsoft.com/office/powerpoint/2010/main" val="261994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利用基尔霍夫电压定律建立了微分方程</a:t>
            </a:r>
            <a:endParaRPr lang="en-US" altLang="zh-CN"/>
          </a:p>
          <a:p>
            <a:endParaRPr lang="zh-CN" altLang="en-US" dirty="0"/>
          </a:p>
        </p:txBody>
      </p:sp>
      <p:sp>
        <p:nvSpPr>
          <p:cNvPr id="4" name="灯片编号占位符 3"/>
          <p:cNvSpPr>
            <a:spLocks noGrp="1"/>
          </p:cNvSpPr>
          <p:nvPr>
            <p:ph type="sldNum" sz="quarter" idx="10"/>
          </p:nvPr>
        </p:nvSpPr>
        <p:spPr/>
        <p:txBody>
          <a:bodyPr/>
          <a:lstStyle/>
          <a:p>
            <a:fld id="{A4A6E3D0-EC40-4C46-B75A-399F45E4458E}" type="slidenum">
              <a:rPr lang="zh-CN" altLang="en-US" smtClean="0"/>
              <a:pPr/>
              <a:t>62</a:t>
            </a:fld>
            <a:endParaRPr lang="zh-CN" altLang="en-US"/>
          </a:p>
        </p:txBody>
      </p:sp>
    </p:spTree>
    <p:extLst>
      <p:ext uri="{BB962C8B-B14F-4D97-AF65-F5344CB8AC3E}">
        <p14:creationId xmlns:p14="http://schemas.microsoft.com/office/powerpoint/2010/main" val="1722597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先有</a:t>
            </a:r>
            <a:r>
              <a:rPr lang="en-US" altLang="zh-CN" dirty="0" err="1" smtClean="0"/>
              <a:t>vr</a:t>
            </a:r>
            <a:r>
              <a:rPr lang="en-US" altLang="zh-CN" dirty="0" smtClean="0"/>
              <a:t>(t) + ∫</a:t>
            </a:r>
            <a:r>
              <a:rPr lang="en-US" altLang="zh-CN" dirty="0" err="1" smtClean="0"/>
              <a:t>vr</a:t>
            </a:r>
            <a:r>
              <a:rPr lang="en-US" altLang="zh-CN" dirty="0" smtClean="0"/>
              <a:t>(t)/R </a:t>
            </a:r>
            <a:r>
              <a:rPr lang="en-US" altLang="zh-CN" dirty="0" err="1" smtClean="0"/>
              <a:t>dt</a:t>
            </a:r>
            <a:r>
              <a:rPr lang="en-US" altLang="zh-CN" dirty="0" smtClean="0"/>
              <a:t> /C = vs(t)</a:t>
            </a:r>
            <a:r>
              <a:rPr lang="zh-CN" altLang="en-US" dirty="0" smtClean="0"/>
              <a:t>，即电阻电压</a:t>
            </a:r>
            <a:r>
              <a:rPr lang="en-US" altLang="zh-CN" dirty="0" smtClean="0"/>
              <a:t>+</a:t>
            </a:r>
            <a:r>
              <a:rPr lang="zh-CN" altLang="en-US" dirty="0" smtClean="0"/>
              <a:t>电容电压</a:t>
            </a:r>
            <a:r>
              <a:rPr lang="en-US" altLang="zh-CN" dirty="0" smtClean="0"/>
              <a:t>=</a:t>
            </a:r>
            <a:r>
              <a:rPr lang="zh-CN" altLang="en-US" dirty="0" smtClean="0"/>
              <a:t>电压源电压，然后两边求导后除以</a:t>
            </a:r>
            <a:r>
              <a:rPr lang="en-US" altLang="zh-CN" dirty="0" smtClean="0"/>
              <a:t>RC</a:t>
            </a:r>
          </a:p>
          <a:p>
            <a:r>
              <a:rPr lang="zh-CN" altLang="en-US" dirty="0" smtClean="0"/>
              <a:t>这里</a:t>
            </a:r>
            <a:r>
              <a:rPr lang="en-US" altLang="zh-CN" dirty="0" err="1" smtClean="0"/>
              <a:t>vr</a:t>
            </a:r>
            <a:r>
              <a:rPr lang="en-US" altLang="zh-CN" dirty="0" smtClean="0"/>
              <a:t>(t)/R</a:t>
            </a:r>
            <a:r>
              <a:rPr lang="zh-CN" altLang="en-US" dirty="0" smtClean="0"/>
              <a:t>是电阻电流，等于电容电流，∫</a:t>
            </a:r>
            <a:r>
              <a:rPr lang="en-US" altLang="zh-CN" dirty="0" err="1" smtClean="0"/>
              <a:t>vr</a:t>
            </a:r>
            <a:r>
              <a:rPr lang="en-US" altLang="zh-CN" dirty="0" smtClean="0"/>
              <a:t>(t)/R </a:t>
            </a:r>
            <a:r>
              <a:rPr lang="en-US" altLang="zh-CN" dirty="0" err="1" smtClean="0"/>
              <a:t>dt</a:t>
            </a:r>
            <a:r>
              <a:rPr lang="zh-CN" altLang="en-US" dirty="0" smtClean="0"/>
              <a:t>则是电容电量</a:t>
            </a:r>
            <a:endParaRPr lang="en-US" altLang="zh-CN" dirty="0" smtClean="0"/>
          </a:p>
          <a:p>
            <a:r>
              <a:rPr lang="en-US" altLang="zh-CN" dirty="0" smtClean="0"/>
              <a:t>∫</a:t>
            </a:r>
            <a:r>
              <a:rPr lang="en-US" altLang="zh-CN" dirty="0" err="1" smtClean="0"/>
              <a:t>vr</a:t>
            </a:r>
            <a:r>
              <a:rPr lang="en-US" altLang="zh-CN" dirty="0" smtClean="0"/>
              <a:t>(t)/R </a:t>
            </a:r>
            <a:r>
              <a:rPr lang="en-US" altLang="zh-CN" dirty="0" err="1" smtClean="0"/>
              <a:t>dt</a:t>
            </a:r>
            <a:r>
              <a:rPr lang="en-US" altLang="zh-CN" dirty="0" smtClean="0"/>
              <a:t> /C</a:t>
            </a:r>
            <a:r>
              <a:rPr lang="zh-CN" altLang="en-US" smtClean="0"/>
              <a:t>就得到电容电压了</a:t>
            </a:r>
            <a:endParaRPr lang="en-US" altLang="zh-CN" smtClean="0"/>
          </a:p>
          <a:p>
            <a:endParaRPr lang="zh-CN" altLang="en-US" dirty="0"/>
          </a:p>
        </p:txBody>
      </p:sp>
      <p:sp>
        <p:nvSpPr>
          <p:cNvPr id="4" name="灯片编号占位符 3"/>
          <p:cNvSpPr>
            <a:spLocks noGrp="1"/>
          </p:cNvSpPr>
          <p:nvPr>
            <p:ph type="sldNum" sz="quarter" idx="10"/>
          </p:nvPr>
        </p:nvSpPr>
        <p:spPr/>
        <p:txBody>
          <a:bodyPr/>
          <a:lstStyle/>
          <a:p>
            <a:fld id="{A4A6E3D0-EC40-4C46-B75A-399F45E4458E}" type="slidenum">
              <a:rPr lang="zh-CN" altLang="en-US" smtClean="0"/>
              <a:pPr/>
              <a:t>64</a:t>
            </a:fld>
            <a:endParaRPr lang="zh-CN" altLang="en-US"/>
          </a:p>
        </p:txBody>
      </p:sp>
    </p:spTree>
    <p:extLst>
      <p:ext uri="{BB962C8B-B14F-4D97-AF65-F5344CB8AC3E}">
        <p14:creationId xmlns:p14="http://schemas.microsoft.com/office/powerpoint/2010/main" val="36346466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2CB8707F-66DC-4850-8C51-871B31F6894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C037832D-2BA3-48A2-A810-EAB4AE54947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95A02DBD-5649-4DFE-B2CF-75D3938950A9}"/>
              </a:ext>
            </a:extLst>
          </p:cNvPr>
          <p:cNvSpPr>
            <a:spLocks noGrp="1"/>
          </p:cNvSpPr>
          <p:nvPr>
            <p:ph type="dt" sz="half" idx="10"/>
          </p:nvPr>
        </p:nvSpPr>
        <p:spPr/>
        <p:txBody>
          <a:bodyPr/>
          <a:lstStyle>
            <a:lvl1pPr>
              <a:defRPr/>
            </a:lvl1pPr>
          </a:lstStyle>
          <a:p>
            <a:pPr>
              <a:defRPr/>
            </a:pPr>
            <a:fld id="{659A8C79-02EB-4A50-8257-FBAB74634B83}" type="datetime1">
              <a:rPr lang="zh-CN" altLang="en-US"/>
              <a:pPr>
                <a:defRPr/>
              </a:pPr>
              <a:t>2025/03/15</a:t>
            </a:fld>
            <a:endParaRPr lang="zh-CN" altLang="en-US"/>
          </a:p>
        </p:txBody>
      </p:sp>
      <p:sp>
        <p:nvSpPr>
          <p:cNvPr id="7" name="页脚占位符 4">
            <a:extLst>
              <a:ext uri="{FF2B5EF4-FFF2-40B4-BE49-F238E27FC236}">
                <a16:creationId xmlns:a16="http://schemas.microsoft.com/office/drawing/2014/main" id="{352FE3B5-D75A-41A2-8E91-3C3311FC2709}"/>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E8F32C06-F39C-4D9F-B1FC-4F014B44D932}"/>
              </a:ext>
            </a:extLst>
          </p:cNvPr>
          <p:cNvSpPr>
            <a:spLocks noGrp="1"/>
          </p:cNvSpPr>
          <p:nvPr>
            <p:ph type="sldNum" sz="quarter" idx="12"/>
          </p:nvPr>
        </p:nvSpPr>
        <p:spPr/>
        <p:txBody>
          <a:bodyPr/>
          <a:lstStyle>
            <a:lvl1pPr>
              <a:defRPr/>
            </a:lvl1pPr>
          </a:lstStyle>
          <a:p>
            <a:fld id="{F62146ED-01F5-44AA-AA17-91AD15A13069}" type="slidenum">
              <a:rPr lang="zh-CN" altLang="en-US"/>
              <a:pPr/>
              <a:t>‹#›</a:t>
            </a:fld>
            <a:endParaRPr lang="zh-CN" altLang="en-US"/>
          </a:p>
        </p:txBody>
      </p:sp>
    </p:spTree>
    <p:extLst>
      <p:ext uri="{BB962C8B-B14F-4D97-AF65-F5344CB8AC3E}">
        <p14:creationId xmlns:p14="http://schemas.microsoft.com/office/powerpoint/2010/main" val="615548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12CB3BF4-1EB8-4C57-A6E6-CCDA367193FE}"/>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05507A8F-C5EE-4886-BF3F-07DA36AF985E}"/>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D3649025-C8CA-40A5-B27C-A85685C87733}"/>
              </a:ext>
            </a:extLst>
          </p:cNvPr>
          <p:cNvSpPr>
            <a:spLocks noGrp="1"/>
          </p:cNvSpPr>
          <p:nvPr>
            <p:ph type="dt" sz="half" idx="10"/>
          </p:nvPr>
        </p:nvSpPr>
        <p:spPr/>
        <p:txBody>
          <a:bodyPr/>
          <a:lstStyle>
            <a:lvl1pPr>
              <a:defRPr/>
            </a:lvl1pPr>
          </a:lstStyle>
          <a:p>
            <a:pPr>
              <a:defRPr/>
            </a:pPr>
            <a:fld id="{428DF66C-3A4C-4DFC-BE52-675B2D5B015D}" type="datetime1">
              <a:rPr lang="zh-CN" altLang="en-US"/>
              <a:pPr>
                <a:defRPr/>
              </a:pPr>
              <a:t>2025/03/15</a:t>
            </a:fld>
            <a:endParaRPr lang="zh-CN" altLang="en-US"/>
          </a:p>
        </p:txBody>
      </p:sp>
      <p:sp>
        <p:nvSpPr>
          <p:cNvPr id="7" name="页脚占位符 4">
            <a:extLst>
              <a:ext uri="{FF2B5EF4-FFF2-40B4-BE49-F238E27FC236}">
                <a16:creationId xmlns:a16="http://schemas.microsoft.com/office/drawing/2014/main" id="{3B615AD3-B034-42DA-9FE9-7555468B351A}"/>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7D44D67F-5692-40CF-9720-633834236907}"/>
              </a:ext>
            </a:extLst>
          </p:cNvPr>
          <p:cNvSpPr>
            <a:spLocks noGrp="1"/>
          </p:cNvSpPr>
          <p:nvPr>
            <p:ph type="sldNum" sz="quarter" idx="12"/>
          </p:nvPr>
        </p:nvSpPr>
        <p:spPr/>
        <p:txBody>
          <a:bodyPr/>
          <a:lstStyle>
            <a:lvl1pPr>
              <a:defRPr/>
            </a:lvl1pPr>
          </a:lstStyle>
          <a:p>
            <a:fld id="{0EF26CF9-7ED7-45FC-8A2B-49D50059D23B}" type="slidenum">
              <a:rPr lang="zh-CN" altLang="en-US"/>
              <a:pPr/>
              <a:t>‹#›</a:t>
            </a:fld>
            <a:endParaRPr lang="zh-CN" altLang="en-US"/>
          </a:p>
        </p:txBody>
      </p:sp>
    </p:spTree>
    <p:extLst>
      <p:ext uri="{BB962C8B-B14F-4D97-AF65-F5344CB8AC3E}">
        <p14:creationId xmlns:p14="http://schemas.microsoft.com/office/powerpoint/2010/main" val="4008452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3EE0829-3550-4207-A602-C9D51F6005AD}"/>
              </a:ext>
            </a:extLst>
          </p:cNvPr>
          <p:cNvSpPr>
            <a:spLocks noGrp="1"/>
          </p:cNvSpPr>
          <p:nvPr>
            <p:ph type="dt" sz="half" idx="10"/>
          </p:nvPr>
        </p:nvSpPr>
        <p:spPr/>
        <p:txBody>
          <a:bodyPr/>
          <a:lstStyle>
            <a:lvl1pPr>
              <a:defRPr/>
            </a:lvl1pPr>
          </a:lstStyle>
          <a:p>
            <a:pPr>
              <a:defRPr/>
            </a:pPr>
            <a:fld id="{6A64FB0D-ED59-4BFC-83F2-654EA03EF5A8}" type="datetime1">
              <a:rPr lang="zh-CN" altLang="en-US"/>
              <a:pPr>
                <a:defRPr/>
              </a:pPr>
              <a:t>2025/03/15</a:t>
            </a:fld>
            <a:endParaRPr lang="zh-CN" altLang="en-US" dirty="0"/>
          </a:p>
        </p:txBody>
      </p:sp>
      <p:sp>
        <p:nvSpPr>
          <p:cNvPr id="5" name="页脚占位符 4">
            <a:extLst>
              <a:ext uri="{FF2B5EF4-FFF2-40B4-BE49-F238E27FC236}">
                <a16:creationId xmlns:a16="http://schemas.microsoft.com/office/drawing/2014/main" id="{981315E6-F670-4002-B789-8CC9C7E8E98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88ACD85-DD1C-4306-AB65-846FE1F017BC}"/>
              </a:ext>
            </a:extLst>
          </p:cNvPr>
          <p:cNvSpPr>
            <a:spLocks noGrp="1"/>
          </p:cNvSpPr>
          <p:nvPr>
            <p:ph type="sldNum" sz="quarter" idx="12"/>
          </p:nvPr>
        </p:nvSpPr>
        <p:spPr/>
        <p:txBody>
          <a:bodyPr/>
          <a:lstStyle>
            <a:lvl1pPr>
              <a:defRPr/>
            </a:lvl1pPr>
          </a:lstStyle>
          <a:p>
            <a:fld id="{15C00959-FE26-4094-BA8B-5571CB4C4595}" type="slidenum">
              <a:rPr lang="zh-CN" altLang="en-US"/>
              <a:pPr/>
              <a:t>‹#›</a:t>
            </a:fld>
            <a:endParaRPr lang="zh-CN" altLang="en-US"/>
          </a:p>
        </p:txBody>
      </p:sp>
    </p:spTree>
    <p:extLst>
      <p:ext uri="{BB962C8B-B14F-4D97-AF65-F5344CB8AC3E}">
        <p14:creationId xmlns:p14="http://schemas.microsoft.com/office/powerpoint/2010/main" val="443716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9A85CC7F-F396-4AF4-9943-333E2AB5493C}"/>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D4745DDD-BCC9-40D5-8671-96AF63615DF3}"/>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E9BB114A-34FA-4E21-92BB-DFEDE63D4D7E}"/>
              </a:ext>
            </a:extLst>
          </p:cNvPr>
          <p:cNvSpPr>
            <a:spLocks noGrp="1"/>
          </p:cNvSpPr>
          <p:nvPr>
            <p:ph type="dt" sz="half" idx="10"/>
          </p:nvPr>
        </p:nvSpPr>
        <p:spPr/>
        <p:txBody>
          <a:bodyPr/>
          <a:lstStyle>
            <a:lvl1pPr>
              <a:defRPr/>
            </a:lvl1pPr>
          </a:lstStyle>
          <a:p>
            <a:pPr>
              <a:defRPr/>
            </a:pPr>
            <a:fld id="{AB46E9DC-51B6-4CFF-8551-75FBB492AAE8}" type="datetime1">
              <a:rPr lang="zh-CN" altLang="en-US"/>
              <a:pPr>
                <a:defRPr/>
              </a:pPr>
              <a:t>2025/03/15</a:t>
            </a:fld>
            <a:endParaRPr lang="zh-CN" altLang="en-US"/>
          </a:p>
        </p:txBody>
      </p:sp>
      <p:sp>
        <p:nvSpPr>
          <p:cNvPr id="8" name="页脚占位符 5">
            <a:extLst>
              <a:ext uri="{FF2B5EF4-FFF2-40B4-BE49-F238E27FC236}">
                <a16:creationId xmlns:a16="http://schemas.microsoft.com/office/drawing/2014/main" id="{E915C8AB-11A3-42E3-98D5-86B839FCF10C}"/>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D9FDF1D7-6448-4E47-BA3A-ADB10090A6BC}"/>
              </a:ext>
            </a:extLst>
          </p:cNvPr>
          <p:cNvSpPr>
            <a:spLocks noGrp="1"/>
          </p:cNvSpPr>
          <p:nvPr>
            <p:ph type="sldNum" sz="quarter" idx="12"/>
          </p:nvPr>
        </p:nvSpPr>
        <p:spPr/>
        <p:txBody>
          <a:bodyPr/>
          <a:lstStyle>
            <a:lvl1pPr>
              <a:defRPr/>
            </a:lvl1pPr>
          </a:lstStyle>
          <a:p>
            <a:fld id="{F5E38C24-B15C-40D8-87C4-95137C1E5918}" type="slidenum">
              <a:rPr lang="zh-CN" altLang="en-US"/>
              <a:pPr/>
              <a:t>‹#›</a:t>
            </a:fld>
            <a:endParaRPr lang="zh-CN" altLang="en-US"/>
          </a:p>
        </p:txBody>
      </p:sp>
    </p:spTree>
    <p:extLst>
      <p:ext uri="{BB962C8B-B14F-4D97-AF65-F5344CB8AC3E}">
        <p14:creationId xmlns:p14="http://schemas.microsoft.com/office/powerpoint/2010/main" val="214608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BBB3BC6C-C319-4028-863A-F98E06045941}"/>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7538E941-2DB3-49B9-89B7-762F6A1FF1DD}"/>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D29533E9-307A-4DD1-B9CC-96C579194B07}"/>
              </a:ext>
            </a:extLst>
          </p:cNvPr>
          <p:cNvSpPr>
            <a:spLocks noGrp="1"/>
          </p:cNvSpPr>
          <p:nvPr>
            <p:ph type="dt" sz="half" idx="10"/>
          </p:nvPr>
        </p:nvSpPr>
        <p:spPr/>
        <p:txBody>
          <a:bodyPr/>
          <a:lstStyle>
            <a:lvl1pPr>
              <a:defRPr/>
            </a:lvl1pPr>
          </a:lstStyle>
          <a:p>
            <a:pPr>
              <a:defRPr/>
            </a:pPr>
            <a:fld id="{DC35A862-6C84-4BB0-82C6-4AE1D1E85477}" type="datetime1">
              <a:rPr lang="zh-CN" altLang="en-US"/>
              <a:pPr>
                <a:defRPr/>
              </a:pPr>
              <a:t>2025/03/15</a:t>
            </a:fld>
            <a:endParaRPr lang="zh-CN" altLang="en-US"/>
          </a:p>
        </p:txBody>
      </p:sp>
      <p:sp>
        <p:nvSpPr>
          <p:cNvPr id="10" name="页脚占位符 7">
            <a:extLst>
              <a:ext uri="{FF2B5EF4-FFF2-40B4-BE49-F238E27FC236}">
                <a16:creationId xmlns:a16="http://schemas.microsoft.com/office/drawing/2014/main" id="{8303F341-837E-40C2-BE40-3DB01C91DD91}"/>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A2D15100-C3D6-448E-8D56-C50740B9229E}"/>
              </a:ext>
            </a:extLst>
          </p:cNvPr>
          <p:cNvSpPr>
            <a:spLocks noGrp="1"/>
          </p:cNvSpPr>
          <p:nvPr>
            <p:ph type="sldNum" sz="quarter" idx="12"/>
          </p:nvPr>
        </p:nvSpPr>
        <p:spPr/>
        <p:txBody>
          <a:bodyPr/>
          <a:lstStyle>
            <a:lvl1pPr>
              <a:defRPr/>
            </a:lvl1pPr>
          </a:lstStyle>
          <a:p>
            <a:fld id="{B69D3E3F-C37F-4274-AACE-6B56F4433BFC}" type="slidenum">
              <a:rPr lang="zh-CN" altLang="en-US"/>
              <a:pPr/>
              <a:t>‹#›</a:t>
            </a:fld>
            <a:endParaRPr lang="zh-CN" altLang="en-US"/>
          </a:p>
        </p:txBody>
      </p:sp>
    </p:spTree>
    <p:extLst>
      <p:ext uri="{BB962C8B-B14F-4D97-AF65-F5344CB8AC3E}">
        <p14:creationId xmlns:p14="http://schemas.microsoft.com/office/powerpoint/2010/main" val="3718180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1A406C9E-700F-417A-B862-51526E199DE9}"/>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3ABEC44D-1DE1-447C-B291-FB0DE6C9D6C2}"/>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77CBF5F5-9104-4D56-8A93-8FDD3644FD82}"/>
              </a:ext>
            </a:extLst>
          </p:cNvPr>
          <p:cNvSpPr>
            <a:spLocks noGrp="1"/>
          </p:cNvSpPr>
          <p:nvPr>
            <p:ph type="dt" sz="half" idx="10"/>
          </p:nvPr>
        </p:nvSpPr>
        <p:spPr/>
        <p:txBody>
          <a:bodyPr/>
          <a:lstStyle>
            <a:lvl1pPr>
              <a:defRPr/>
            </a:lvl1pPr>
          </a:lstStyle>
          <a:p>
            <a:pPr>
              <a:defRPr/>
            </a:pPr>
            <a:fld id="{5EE4800F-FAC8-4C81-8F27-771D55B91C58}" type="datetime1">
              <a:rPr lang="zh-CN" altLang="en-US"/>
              <a:pPr>
                <a:defRPr/>
              </a:pPr>
              <a:t>2025/03/15</a:t>
            </a:fld>
            <a:endParaRPr lang="zh-CN" altLang="en-US"/>
          </a:p>
        </p:txBody>
      </p:sp>
      <p:sp>
        <p:nvSpPr>
          <p:cNvPr id="6" name="页脚占位符 3">
            <a:extLst>
              <a:ext uri="{FF2B5EF4-FFF2-40B4-BE49-F238E27FC236}">
                <a16:creationId xmlns:a16="http://schemas.microsoft.com/office/drawing/2014/main" id="{5B62AFB5-578C-489A-96D3-02AA1B880690}"/>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42C160FA-BD8D-4D3B-A07F-6A056DAF9DEB}"/>
              </a:ext>
            </a:extLst>
          </p:cNvPr>
          <p:cNvSpPr>
            <a:spLocks noGrp="1"/>
          </p:cNvSpPr>
          <p:nvPr>
            <p:ph type="sldNum" sz="quarter" idx="12"/>
          </p:nvPr>
        </p:nvSpPr>
        <p:spPr/>
        <p:txBody>
          <a:bodyPr/>
          <a:lstStyle>
            <a:lvl1pPr>
              <a:defRPr/>
            </a:lvl1pPr>
          </a:lstStyle>
          <a:p>
            <a:fld id="{2C9697EA-8765-4937-BF8E-48FFD57F5A49}" type="slidenum">
              <a:rPr lang="zh-CN" altLang="en-US"/>
              <a:pPr/>
              <a:t>‹#›</a:t>
            </a:fld>
            <a:endParaRPr lang="zh-CN" altLang="en-US"/>
          </a:p>
        </p:txBody>
      </p:sp>
    </p:spTree>
    <p:extLst>
      <p:ext uri="{BB962C8B-B14F-4D97-AF65-F5344CB8AC3E}">
        <p14:creationId xmlns:p14="http://schemas.microsoft.com/office/powerpoint/2010/main" val="4263448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94FEA92F-523E-4CBF-BCC9-3DD8D42E6CE4}"/>
              </a:ext>
            </a:extLst>
          </p:cNvPr>
          <p:cNvSpPr>
            <a:spLocks noGrp="1"/>
          </p:cNvSpPr>
          <p:nvPr>
            <p:ph type="dt" sz="half" idx="10"/>
          </p:nvPr>
        </p:nvSpPr>
        <p:spPr/>
        <p:txBody>
          <a:bodyPr/>
          <a:lstStyle>
            <a:lvl1pPr>
              <a:defRPr/>
            </a:lvl1pPr>
          </a:lstStyle>
          <a:p>
            <a:pPr>
              <a:defRPr/>
            </a:pPr>
            <a:fld id="{5434019B-572D-4C01-9DBA-B4F3B3B803D3}" type="datetime1">
              <a:rPr lang="zh-CN" altLang="en-US"/>
              <a:pPr>
                <a:defRPr/>
              </a:pPr>
              <a:t>2025/03/15</a:t>
            </a:fld>
            <a:endParaRPr lang="zh-CN" altLang="en-US" dirty="0"/>
          </a:p>
        </p:txBody>
      </p:sp>
      <p:sp>
        <p:nvSpPr>
          <p:cNvPr id="3" name="页脚占位符 4">
            <a:extLst>
              <a:ext uri="{FF2B5EF4-FFF2-40B4-BE49-F238E27FC236}">
                <a16:creationId xmlns:a16="http://schemas.microsoft.com/office/drawing/2014/main" id="{7A6158E8-6672-4A43-B43F-036EBF9BA89B}"/>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86322C9D-F8BF-4DD6-9C27-C989EBFB8301}"/>
              </a:ext>
            </a:extLst>
          </p:cNvPr>
          <p:cNvSpPr>
            <a:spLocks noGrp="1"/>
          </p:cNvSpPr>
          <p:nvPr>
            <p:ph type="sldNum" sz="quarter" idx="12"/>
          </p:nvPr>
        </p:nvSpPr>
        <p:spPr/>
        <p:txBody>
          <a:bodyPr/>
          <a:lstStyle>
            <a:lvl1pPr>
              <a:defRPr/>
            </a:lvl1pPr>
          </a:lstStyle>
          <a:p>
            <a:fld id="{4B616A71-2CBB-40D8-90C9-BD028311B1B3}" type="slidenum">
              <a:rPr lang="zh-CN" altLang="en-US"/>
              <a:pPr/>
              <a:t>‹#›</a:t>
            </a:fld>
            <a:endParaRPr lang="zh-CN" altLang="en-US"/>
          </a:p>
        </p:txBody>
      </p:sp>
    </p:spTree>
    <p:extLst>
      <p:ext uri="{BB962C8B-B14F-4D97-AF65-F5344CB8AC3E}">
        <p14:creationId xmlns:p14="http://schemas.microsoft.com/office/powerpoint/2010/main" val="1879266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FF77DBA6-48FD-41EF-AE3E-FFB225A7F1D5}"/>
              </a:ext>
            </a:extLst>
          </p:cNvPr>
          <p:cNvSpPr>
            <a:spLocks noGrp="1"/>
          </p:cNvSpPr>
          <p:nvPr>
            <p:ph type="dt" sz="half" idx="10"/>
          </p:nvPr>
        </p:nvSpPr>
        <p:spPr/>
        <p:txBody>
          <a:bodyPr/>
          <a:lstStyle>
            <a:lvl1pPr>
              <a:defRPr/>
            </a:lvl1pPr>
          </a:lstStyle>
          <a:p>
            <a:pPr>
              <a:defRPr/>
            </a:pPr>
            <a:fld id="{5BE3AC3F-3278-485F-8A66-C6843D48E4BB}" type="datetime1">
              <a:rPr lang="zh-CN" altLang="en-US"/>
              <a:pPr>
                <a:defRPr/>
              </a:pPr>
              <a:t>2025/03/15</a:t>
            </a:fld>
            <a:endParaRPr lang="zh-CN" altLang="en-US" dirty="0"/>
          </a:p>
        </p:txBody>
      </p:sp>
      <p:sp>
        <p:nvSpPr>
          <p:cNvPr id="6" name="页脚占位符 4">
            <a:extLst>
              <a:ext uri="{FF2B5EF4-FFF2-40B4-BE49-F238E27FC236}">
                <a16:creationId xmlns:a16="http://schemas.microsoft.com/office/drawing/2014/main" id="{1E7D0E09-6B95-4433-B238-D681DE201B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B90E9B6-3008-46CF-930E-CC9507DB2C4B}"/>
              </a:ext>
            </a:extLst>
          </p:cNvPr>
          <p:cNvSpPr>
            <a:spLocks noGrp="1"/>
          </p:cNvSpPr>
          <p:nvPr>
            <p:ph type="sldNum" sz="quarter" idx="12"/>
          </p:nvPr>
        </p:nvSpPr>
        <p:spPr/>
        <p:txBody>
          <a:bodyPr/>
          <a:lstStyle>
            <a:lvl1pPr>
              <a:defRPr/>
            </a:lvl1pPr>
          </a:lstStyle>
          <a:p>
            <a:fld id="{F40C033D-3435-496D-B665-C428A8D6EF98}" type="slidenum">
              <a:rPr lang="zh-CN" altLang="en-US"/>
              <a:pPr/>
              <a:t>‹#›</a:t>
            </a:fld>
            <a:endParaRPr lang="zh-CN" altLang="en-US"/>
          </a:p>
        </p:txBody>
      </p:sp>
    </p:spTree>
    <p:extLst>
      <p:ext uri="{BB962C8B-B14F-4D97-AF65-F5344CB8AC3E}">
        <p14:creationId xmlns:p14="http://schemas.microsoft.com/office/powerpoint/2010/main" val="867193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7B2309B8-B948-4F2C-8455-5F7E9854829F}"/>
              </a:ext>
            </a:extLst>
          </p:cNvPr>
          <p:cNvSpPr>
            <a:spLocks noGrp="1"/>
          </p:cNvSpPr>
          <p:nvPr>
            <p:ph type="dt" sz="half" idx="10"/>
          </p:nvPr>
        </p:nvSpPr>
        <p:spPr/>
        <p:txBody>
          <a:bodyPr/>
          <a:lstStyle>
            <a:lvl1pPr>
              <a:defRPr/>
            </a:lvl1pPr>
          </a:lstStyle>
          <a:p>
            <a:pPr>
              <a:defRPr/>
            </a:pPr>
            <a:fld id="{DCD9BB17-F6EC-4059-986B-6A9BED9885AF}" type="datetime1">
              <a:rPr lang="zh-CN" altLang="en-US"/>
              <a:pPr>
                <a:defRPr/>
              </a:pPr>
              <a:t>2025/03/15</a:t>
            </a:fld>
            <a:endParaRPr lang="zh-CN" altLang="en-US" dirty="0"/>
          </a:p>
        </p:txBody>
      </p:sp>
      <p:sp>
        <p:nvSpPr>
          <p:cNvPr id="6" name="页脚占位符 4">
            <a:extLst>
              <a:ext uri="{FF2B5EF4-FFF2-40B4-BE49-F238E27FC236}">
                <a16:creationId xmlns:a16="http://schemas.microsoft.com/office/drawing/2014/main" id="{C564521F-5747-4EC4-96A7-43A4FFA9239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ED68A878-FC97-4B11-9647-F0AFB302C2C6}"/>
              </a:ext>
            </a:extLst>
          </p:cNvPr>
          <p:cNvSpPr>
            <a:spLocks noGrp="1"/>
          </p:cNvSpPr>
          <p:nvPr>
            <p:ph type="sldNum" sz="quarter" idx="12"/>
          </p:nvPr>
        </p:nvSpPr>
        <p:spPr/>
        <p:txBody>
          <a:bodyPr/>
          <a:lstStyle>
            <a:lvl1pPr>
              <a:defRPr/>
            </a:lvl1pPr>
          </a:lstStyle>
          <a:p>
            <a:fld id="{F90DB877-39CB-48BD-A247-A1B54AD1B0C4}" type="slidenum">
              <a:rPr lang="zh-CN" altLang="en-US"/>
              <a:pPr/>
              <a:t>‹#›</a:t>
            </a:fld>
            <a:endParaRPr lang="zh-CN" altLang="en-US"/>
          </a:p>
        </p:txBody>
      </p:sp>
    </p:spTree>
    <p:extLst>
      <p:ext uri="{BB962C8B-B14F-4D97-AF65-F5344CB8AC3E}">
        <p14:creationId xmlns:p14="http://schemas.microsoft.com/office/powerpoint/2010/main" val="3385293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0E14721B-0028-4106-93F3-CA4F058813BD}"/>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23C7704B-3531-4596-8C75-CBD90AE4DFED}"/>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E1D0FD30-1B7F-433F-A1B3-0CBF6775FF27}"/>
              </a:ext>
            </a:extLst>
          </p:cNvPr>
          <p:cNvSpPr>
            <a:spLocks noGrp="1"/>
          </p:cNvSpPr>
          <p:nvPr>
            <p:ph type="dt" sz="half" idx="10"/>
          </p:nvPr>
        </p:nvSpPr>
        <p:spPr/>
        <p:txBody>
          <a:bodyPr/>
          <a:lstStyle>
            <a:lvl1pPr>
              <a:defRPr/>
            </a:lvl1pPr>
          </a:lstStyle>
          <a:p>
            <a:pPr>
              <a:defRPr/>
            </a:pPr>
            <a:fld id="{D68F40AE-FB92-4223-B957-2DF676E4A7D3}" type="datetime1">
              <a:rPr lang="zh-CN" altLang="en-US"/>
              <a:pPr>
                <a:defRPr/>
              </a:pPr>
              <a:t>2025/03/15</a:t>
            </a:fld>
            <a:endParaRPr lang="zh-CN" altLang="en-US"/>
          </a:p>
        </p:txBody>
      </p:sp>
      <p:sp>
        <p:nvSpPr>
          <p:cNvPr id="7" name="页脚占位符 4">
            <a:extLst>
              <a:ext uri="{FF2B5EF4-FFF2-40B4-BE49-F238E27FC236}">
                <a16:creationId xmlns:a16="http://schemas.microsoft.com/office/drawing/2014/main" id="{B5F30D9C-B276-4264-A383-9351A5274016}"/>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5483E329-CAC9-4C51-944D-A533FBA4D55F}"/>
              </a:ext>
            </a:extLst>
          </p:cNvPr>
          <p:cNvSpPr>
            <a:spLocks noGrp="1"/>
          </p:cNvSpPr>
          <p:nvPr>
            <p:ph type="sldNum" sz="quarter" idx="12"/>
          </p:nvPr>
        </p:nvSpPr>
        <p:spPr/>
        <p:txBody>
          <a:bodyPr/>
          <a:lstStyle>
            <a:lvl1pPr>
              <a:defRPr/>
            </a:lvl1pPr>
          </a:lstStyle>
          <a:p>
            <a:fld id="{6E48081D-7822-4E7D-81CF-81D5A31731CC}" type="slidenum">
              <a:rPr lang="zh-CN" altLang="en-US"/>
              <a:pPr/>
              <a:t>‹#›</a:t>
            </a:fld>
            <a:endParaRPr lang="zh-CN" altLang="en-US"/>
          </a:p>
        </p:txBody>
      </p:sp>
    </p:spTree>
    <p:extLst>
      <p:ext uri="{BB962C8B-B14F-4D97-AF65-F5344CB8AC3E}">
        <p14:creationId xmlns:p14="http://schemas.microsoft.com/office/powerpoint/2010/main" val="2113968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1352781-49C3-4FA6-A0DD-28885F9FE668}"/>
              </a:ext>
            </a:extLst>
          </p:cNvPr>
          <p:cNvSpPr>
            <a:spLocks noGrp="1"/>
          </p:cNvSpPr>
          <p:nvPr>
            <p:ph type="dt" sz="half" idx="10"/>
          </p:nvPr>
        </p:nvSpPr>
        <p:spPr/>
        <p:txBody>
          <a:bodyPr/>
          <a:lstStyle>
            <a:lvl1pPr>
              <a:defRPr/>
            </a:lvl1pPr>
          </a:lstStyle>
          <a:p>
            <a:pPr>
              <a:defRPr/>
            </a:pPr>
            <a:fld id="{F6D215A1-D61A-4012-BEF1-9C9056D99445}" type="datetime1">
              <a:rPr lang="zh-CN" altLang="en-US"/>
              <a:pPr>
                <a:defRPr/>
              </a:pPr>
              <a:t>2025/03/15</a:t>
            </a:fld>
            <a:endParaRPr lang="zh-CN" altLang="en-US" dirty="0"/>
          </a:p>
        </p:txBody>
      </p:sp>
      <p:sp>
        <p:nvSpPr>
          <p:cNvPr id="5" name="页脚占位符 4">
            <a:extLst>
              <a:ext uri="{FF2B5EF4-FFF2-40B4-BE49-F238E27FC236}">
                <a16:creationId xmlns:a16="http://schemas.microsoft.com/office/drawing/2014/main" id="{931C1270-8FC8-422F-A2D9-3768AE1165F5}"/>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4DC9A3B-4887-45E9-9886-F12FAA0BA8CD}"/>
              </a:ext>
            </a:extLst>
          </p:cNvPr>
          <p:cNvSpPr>
            <a:spLocks noGrp="1"/>
          </p:cNvSpPr>
          <p:nvPr>
            <p:ph type="sldNum" sz="quarter" idx="12"/>
          </p:nvPr>
        </p:nvSpPr>
        <p:spPr/>
        <p:txBody>
          <a:bodyPr/>
          <a:lstStyle>
            <a:lvl1pPr>
              <a:defRPr/>
            </a:lvl1pPr>
          </a:lstStyle>
          <a:p>
            <a:fld id="{E4B70F55-4585-488D-A8FD-04122E605B1F}" type="slidenum">
              <a:rPr lang="zh-CN" altLang="en-US"/>
              <a:pPr/>
              <a:t>‹#›</a:t>
            </a:fld>
            <a:endParaRPr lang="zh-CN" altLang="en-US"/>
          </a:p>
        </p:txBody>
      </p:sp>
    </p:spTree>
    <p:extLst>
      <p:ext uri="{BB962C8B-B14F-4D97-AF65-F5344CB8AC3E}">
        <p14:creationId xmlns:p14="http://schemas.microsoft.com/office/powerpoint/2010/main" val="3345524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a:extLst>
              <a:ext uri="{FF2B5EF4-FFF2-40B4-BE49-F238E27FC236}">
                <a16:creationId xmlns:a16="http://schemas.microsoft.com/office/drawing/2014/main" id="{3858BD98-A648-4004-8BB1-209B7588AF1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19939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a:extLst>
              <a:ext uri="{FF2B5EF4-FFF2-40B4-BE49-F238E27FC236}">
                <a16:creationId xmlns:a16="http://schemas.microsoft.com/office/drawing/2014/main" id="{B2FDCCD5-199E-4625-9730-FF45F129EE8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92150" y="3429000"/>
            <a:ext cx="77866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lvl1pPr>
              <a:defRPr b="1" i="0" baseline="0">
                <a:latin typeface="Arial Black" pitchFamily="34" charset="0"/>
                <a:ea typeface="黑体" pitchFamily="49"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latin typeface="Arial" pitchFamily="34" charset="0"/>
                <a:ea typeface="黑体"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6" name="日期占位符 3">
            <a:extLst>
              <a:ext uri="{FF2B5EF4-FFF2-40B4-BE49-F238E27FC236}">
                <a16:creationId xmlns:a16="http://schemas.microsoft.com/office/drawing/2014/main" id="{DEFDE280-0D6C-497A-9557-F3478B633C78}"/>
              </a:ext>
            </a:extLst>
          </p:cNvPr>
          <p:cNvSpPr>
            <a:spLocks noGrp="1"/>
          </p:cNvSpPr>
          <p:nvPr>
            <p:ph type="dt" sz="half" idx="10"/>
          </p:nvPr>
        </p:nvSpPr>
        <p:spPr/>
        <p:txBody>
          <a:bodyPr/>
          <a:lstStyle>
            <a:lvl1pPr>
              <a:defRPr/>
            </a:lvl1pPr>
          </a:lstStyle>
          <a:p>
            <a:pPr>
              <a:defRPr/>
            </a:pPr>
            <a:fld id="{5BD0ED96-64D3-4B9C-9E98-AE071293E1D5}" type="datetime1">
              <a:rPr lang="zh-CN" altLang="en-US"/>
              <a:pPr>
                <a:defRPr/>
              </a:pPr>
              <a:t>2025/03/15</a:t>
            </a:fld>
            <a:endParaRPr lang="zh-CN" altLang="en-US"/>
          </a:p>
        </p:txBody>
      </p:sp>
      <p:sp>
        <p:nvSpPr>
          <p:cNvPr id="7" name="页脚占位符 4">
            <a:extLst>
              <a:ext uri="{FF2B5EF4-FFF2-40B4-BE49-F238E27FC236}">
                <a16:creationId xmlns:a16="http://schemas.microsoft.com/office/drawing/2014/main" id="{7EC18D7B-3A7F-4190-9AA2-CA0E57C6FEDA}"/>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117689B6-7503-4227-8197-D65CA50B63BF}"/>
              </a:ext>
            </a:extLst>
          </p:cNvPr>
          <p:cNvSpPr>
            <a:spLocks noGrp="1"/>
          </p:cNvSpPr>
          <p:nvPr>
            <p:ph type="sldNum" sz="quarter" idx="12"/>
          </p:nvPr>
        </p:nvSpPr>
        <p:spPr/>
        <p:txBody>
          <a:bodyPr/>
          <a:lstStyle>
            <a:lvl1pPr>
              <a:defRPr/>
            </a:lvl1pPr>
          </a:lstStyle>
          <a:p>
            <a:fld id="{3FE1C898-DFCB-4B4F-B78C-8E2DCCBDBF9A}" type="slidenum">
              <a:rPr lang="zh-CN" altLang="en-US"/>
              <a:pPr/>
              <a:t>‹#›</a:t>
            </a:fld>
            <a:endParaRPr lang="zh-CN" altLang="en-US"/>
          </a:p>
        </p:txBody>
      </p:sp>
    </p:spTree>
    <p:extLst>
      <p:ext uri="{BB962C8B-B14F-4D97-AF65-F5344CB8AC3E}">
        <p14:creationId xmlns:p14="http://schemas.microsoft.com/office/powerpoint/2010/main" val="2169047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DC81ED90-DA91-407C-B40B-DE5DB41C790A}"/>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C71D35AF-CA52-4055-9A87-C9A48D863E00}"/>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1" i="0" baseline="0">
                <a:latin typeface="Times New Roman" pitchFamily="18" charset="0"/>
                <a:ea typeface="华文楷体" pitchFamily="2" charset="-122"/>
              </a:defRPr>
            </a:lvl1pPr>
            <a:lvl2pPr>
              <a:defRPr b="1" i="0" baseline="0">
                <a:latin typeface="Times New Roman" pitchFamily="18" charset="0"/>
                <a:ea typeface="华文楷体" pitchFamily="2" charset="-122"/>
              </a:defRPr>
            </a:lvl2pPr>
            <a:lvl3pPr>
              <a:defRPr b="1" i="0" baseline="0">
                <a:latin typeface="Times New Roman" pitchFamily="18" charset="0"/>
                <a:ea typeface="华文楷体" pitchFamily="2" charset="-122"/>
              </a:defRPr>
            </a:lvl3pPr>
            <a:lvl4pPr>
              <a:defRPr b="1" i="0" baseline="0">
                <a:latin typeface="Times New Roman" pitchFamily="18" charset="0"/>
                <a:ea typeface="华文楷体" pitchFamily="2" charset="-122"/>
              </a:defRPr>
            </a:lvl4pPr>
            <a:lvl5pPr>
              <a:defRPr b="1" i="0" baseline="0">
                <a:latin typeface="Times New Roman" pitchFamily="18" charset="0"/>
                <a:ea typeface="华文楷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日期占位符 3">
            <a:extLst>
              <a:ext uri="{FF2B5EF4-FFF2-40B4-BE49-F238E27FC236}">
                <a16:creationId xmlns:a16="http://schemas.microsoft.com/office/drawing/2014/main" id="{B703B75C-DE18-464F-A3B6-C6BC45855938}"/>
              </a:ext>
            </a:extLst>
          </p:cNvPr>
          <p:cNvSpPr>
            <a:spLocks noGrp="1"/>
          </p:cNvSpPr>
          <p:nvPr>
            <p:ph type="dt" sz="half" idx="10"/>
          </p:nvPr>
        </p:nvSpPr>
        <p:spPr/>
        <p:txBody>
          <a:bodyPr/>
          <a:lstStyle>
            <a:lvl1pPr>
              <a:defRPr/>
            </a:lvl1pPr>
          </a:lstStyle>
          <a:p>
            <a:pPr>
              <a:defRPr/>
            </a:pPr>
            <a:fld id="{65887B03-0FB8-49D3-A247-6EABE0147B99}" type="datetime1">
              <a:rPr lang="zh-CN" altLang="en-US"/>
              <a:pPr>
                <a:defRPr/>
              </a:pPr>
              <a:t>2025/03/15</a:t>
            </a:fld>
            <a:endParaRPr lang="zh-CN" altLang="en-US"/>
          </a:p>
        </p:txBody>
      </p:sp>
      <p:sp>
        <p:nvSpPr>
          <p:cNvPr id="7" name="页脚占位符 4">
            <a:extLst>
              <a:ext uri="{FF2B5EF4-FFF2-40B4-BE49-F238E27FC236}">
                <a16:creationId xmlns:a16="http://schemas.microsoft.com/office/drawing/2014/main" id="{F72848BA-1DFB-4AE5-A0C6-E0909667D695}"/>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F8DE19DE-80C5-40C5-AE8C-533EF674F351}"/>
              </a:ext>
            </a:extLst>
          </p:cNvPr>
          <p:cNvSpPr>
            <a:spLocks noGrp="1"/>
          </p:cNvSpPr>
          <p:nvPr>
            <p:ph type="sldNum" sz="quarter" idx="12"/>
          </p:nvPr>
        </p:nvSpPr>
        <p:spPr/>
        <p:txBody>
          <a:bodyPr/>
          <a:lstStyle>
            <a:lvl1pPr>
              <a:defRPr/>
            </a:lvl1pPr>
          </a:lstStyle>
          <a:p>
            <a:fld id="{7A64529A-4B6B-4B04-9ECB-286DE15FA582}" type="slidenum">
              <a:rPr lang="zh-CN" altLang="en-US"/>
              <a:pPr/>
              <a:t>‹#›</a:t>
            </a:fld>
            <a:endParaRPr lang="zh-CN" altLang="en-US"/>
          </a:p>
        </p:txBody>
      </p:sp>
    </p:spTree>
    <p:extLst>
      <p:ext uri="{BB962C8B-B14F-4D97-AF65-F5344CB8AC3E}">
        <p14:creationId xmlns:p14="http://schemas.microsoft.com/office/powerpoint/2010/main" val="3697660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AC74016-7D84-453F-A9FC-742D16C1FBB9}"/>
              </a:ext>
            </a:extLst>
          </p:cNvPr>
          <p:cNvSpPr>
            <a:spLocks noGrp="1"/>
          </p:cNvSpPr>
          <p:nvPr>
            <p:ph type="dt" sz="half" idx="10"/>
          </p:nvPr>
        </p:nvSpPr>
        <p:spPr/>
        <p:txBody>
          <a:bodyPr/>
          <a:lstStyle>
            <a:lvl1pPr>
              <a:defRPr/>
            </a:lvl1pPr>
          </a:lstStyle>
          <a:p>
            <a:pPr>
              <a:defRPr/>
            </a:pPr>
            <a:fld id="{C92C5B3E-B07E-4EF1-956F-726D2F28529E}" type="datetime1">
              <a:rPr lang="zh-CN" altLang="en-US"/>
              <a:pPr>
                <a:defRPr/>
              </a:pPr>
              <a:t>2025/03/15</a:t>
            </a:fld>
            <a:endParaRPr lang="zh-CN" altLang="en-US" dirty="0"/>
          </a:p>
        </p:txBody>
      </p:sp>
      <p:sp>
        <p:nvSpPr>
          <p:cNvPr id="5" name="页脚占位符 4">
            <a:extLst>
              <a:ext uri="{FF2B5EF4-FFF2-40B4-BE49-F238E27FC236}">
                <a16:creationId xmlns:a16="http://schemas.microsoft.com/office/drawing/2014/main" id="{835F9375-27BB-4630-A152-4C9990267F3A}"/>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DA111F19-B99C-43EB-806A-CADB0A464B89}"/>
              </a:ext>
            </a:extLst>
          </p:cNvPr>
          <p:cNvSpPr>
            <a:spLocks noGrp="1"/>
          </p:cNvSpPr>
          <p:nvPr>
            <p:ph type="sldNum" sz="quarter" idx="12"/>
          </p:nvPr>
        </p:nvSpPr>
        <p:spPr/>
        <p:txBody>
          <a:bodyPr/>
          <a:lstStyle>
            <a:lvl1pPr>
              <a:defRPr/>
            </a:lvl1pPr>
          </a:lstStyle>
          <a:p>
            <a:fld id="{085F23CA-AAEA-41D4-9550-1D10ACFA7430}" type="slidenum">
              <a:rPr lang="zh-CN" altLang="en-US"/>
              <a:pPr/>
              <a:t>‹#›</a:t>
            </a:fld>
            <a:endParaRPr lang="zh-CN" altLang="en-US"/>
          </a:p>
        </p:txBody>
      </p:sp>
    </p:spTree>
    <p:extLst>
      <p:ext uri="{BB962C8B-B14F-4D97-AF65-F5344CB8AC3E}">
        <p14:creationId xmlns:p14="http://schemas.microsoft.com/office/powerpoint/2010/main" val="15039046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a:extLst>
              <a:ext uri="{FF2B5EF4-FFF2-40B4-BE49-F238E27FC236}">
                <a16:creationId xmlns:a16="http://schemas.microsoft.com/office/drawing/2014/main" id="{70E404AD-9A4A-46A0-97C7-AA8E6243DAE8}"/>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23938"/>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a:extLst>
              <a:ext uri="{FF2B5EF4-FFF2-40B4-BE49-F238E27FC236}">
                <a16:creationId xmlns:a16="http://schemas.microsoft.com/office/drawing/2014/main" id="{E9804F19-DAE3-49F4-82F1-A2DA94A66A00}"/>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itchFamily="18" charset="0"/>
                <a:ea typeface="华文行楷"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142984"/>
            <a:ext cx="4038600" cy="4983179"/>
          </a:xfrm>
        </p:spPr>
        <p:txBody>
          <a:bodyPr/>
          <a:lstStyle>
            <a:lvl1pPr>
              <a:defRPr sz="2800" b="1" i="0" baseline="0">
                <a:latin typeface="Times New Roman" pitchFamily="18" charset="0"/>
                <a:ea typeface="华文楷体" pitchFamily="2" charset="-122"/>
              </a:defRPr>
            </a:lvl1pPr>
            <a:lvl2pPr>
              <a:defRPr sz="2400" b="1" i="0" baseline="0">
                <a:latin typeface="Times New Roman" pitchFamily="18" charset="0"/>
                <a:ea typeface="华文楷体" pitchFamily="2" charset="-122"/>
              </a:defRPr>
            </a:lvl2pPr>
            <a:lvl3pPr>
              <a:defRPr sz="2000" b="1" i="0" baseline="0">
                <a:latin typeface="Times New Roman" pitchFamily="18" charset="0"/>
                <a:ea typeface="华文楷体" pitchFamily="2" charset="-122"/>
              </a:defRPr>
            </a:lvl3pPr>
            <a:lvl4pPr>
              <a:defRPr sz="1800" b="1" i="0" baseline="0">
                <a:latin typeface="Times New Roman" pitchFamily="18" charset="0"/>
                <a:ea typeface="华文楷体" pitchFamily="2" charset="-122"/>
              </a:defRPr>
            </a:lvl4pPr>
            <a:lvl5pPr>
              <a:defRPr sz="1800" b="1" i="0" baseline="0">
                <a:latin typeface="Times New Roman" pitchFamily="18" charset="0"/>
                <a:ea typeface="华文楷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4">
            <a:extLst>
              <a:ext uri="{FF2B5EF4-FFF2-40B4-BE49-F238E27FC236}">
                <a16:creationId xmlns:a16="http://schemas.microsoft.com/office/drawing/2014/main" id="{FF4ED3C8-0D35-4D7D-B834-62DB4D1CC5CF}"/>
              </a:ext>
            </a:extLst>
          </p:cNvPr>
          <p:cNvSpPr>
            <a:spLocks noGrp="1"/>
          </p:cNvSpPr>
          <p:nvPr>
            <p:ph type="dt" sz="half" idx="10"/>
          </p:nvPr>
        </p:nvSpPr>
        <p:spPr/>
        <p:txBody>
          <a:bodyPr/>
          <a:lstStyle>
            <a:lvl1pPr>
              <a:defRPr/>
            </a:lvl1pPr>
          </a:lstStyle>
          <a:p>
            <a:pPr>
              <a:defRPr/>
            </a:pPr>
            <a:fld id="{6763C193-A507-473B-815F-ECA48F9EA9D8}" type="datetime1">
              <a:rPr lang="zh-CN" altLang="en-US"/>
              <a:pPr>
                <a:defRPr/>
              </a:pPr>
              <a:t>2025/03/15</a:t>
            </a:fld>
            <a:endParaRPr lang="zh-CN" altLang="en-US"/>
          </a:p>
        </p:txBody>
      </p:sp>
      <p:sp>
        <p:nvSpPr>
          <p:cNvPr id="8" name="页脚占位符 5">
            <a:extLst>
              <a:ext uri="{FF2B5EF4-FFF2-40B4-BE49-F238E27FC236}">
                <a16:creationId xmlns:a16="http://schemas.microsoft.com/office/drawing/2014/main" id="{DEA33DD3-55C8-44A6-8F08-884D2F794A25}"/>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0986D2A8-CBDE-4354-9BC8-CD2AD7E0DD8B}"/>
              </a:ext>
            </a:extLst>
          </p:cNvPr>
          <p:cNvSpPr>
            <a:spLocks noGrp="1"/>
          </p:cNvSpPr>
          <p:nvPr>
            <p:ph type="sldNum" sz="quarter" idx="12"/>
          </p:nvPr>
        </p:nvSpPr>
        <p:spPr/>
        <p:txBody>
          <a:bodyPr/>
          <a:lstStyle>
            <a:lvl1pPr>
              <a:defRPr/>
            </a:lvl1pPr>
          </a:lstStyle>
          <a:p>
            <a:fld id="{A5EB964F-92D3-4248-839F-B2AA5C815DB0}" type="slidenum">
              <a:rPr lang="zh-CN" altLang="en-US"/>
              <a:pPr/>
              <a:t>‹#›</a:t>
            </a:fld>
            <a:endParaRPr lang="zh-CN" altLang="en-US"/>
          </a:p>
        </p:txBody>
      </p:sp>
    </p:spTree>
    <p:extLst>
      <p:ext uri="{BB962C8B-B14F-4D97-AF65-F5344CB8AC3E}">
        <p14:creationId xmlns:p14="http://schemas.microsoft.com/office/powerpoint/2010/main" val="2395939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a:extLst>
              <a:ext uri="{FF2B5EF4-FFF2-40B4-BE49-F238E27FC236}">
                <a16:creationId xmlns:a16="http://schemas.microsoft.com/office/drawing/2014/main" id="{1E5CF974-0F8D-49AC-BA6B-B18CE17448EA}"/>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a:extLst>
              <a:ext uri="{FF2B5EF4-FFF2-40B4-BE49-F238E27FC236}">
                <a16:creationId xmlns:a16="http://schemas.microsoft.com/office/drawing/2014/main" id="{3CE2AD5E-651F-4435-AB17-BF21F0F62B22}"/>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4298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1785926"/>
            <a:ext cx="4040188"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14298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1785926"/>
            <a:ext cx="4041775"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6">
            <a:extLst>
              <a:ext uri="{FF2B5EF4-FFF2-40B4-BE49-F238E27FC236}">
                <a16:creationId xmlns:a16="http://schemas.microsoft.com/office/drawing/2014/main" id="{0698D8D6-780A-47C2-A42E-D0A2E418813F}"/>
              </a:ext>
            </a:extLst>
          </p:cNvPr>
          <p:cNvSpPr>
            <a:spLocks noGrp="1"/>
          </p:cNvSpPr>
          <p:nvPr>
            <p:ph type="dt" sz="half" idx="10"/>
          </p:nvPr>
        </p:nvSpPr>
        <p:spPr/>
        <p:txBody>
          <a:bodyPr/>
          <a:lstStyle>
            <a:lvl1pPr>
              <a:defRPr/>
            </a:lvl1pPr>
          </a:lstStyle>
          <a:p>
            <a:pPr>
              <a:defRPr/>
            </a:pPr>
            <a:fld id="{F7942222-0DF7-44C2-A858-02638178F1DA}" type="datetime1">
              <a:rPr lang="zh-CN" altLang="en-US"/>
              <a:pPr>
                <a:defRPr/>
              </a:pPr>
              <a:t>2025/03/15</a:t>
            </a:fld>
            <a:endParaRPr lang="zh-CN" altLang="en-US"/>
          </a:p>
        </p:txBody>
      </p:sp>
      <p:sp>
        <p:nvSpPr>
          <p:cNvPr id="10" name="页脚占位符 7">
            <a:extLst>
              <a:ext uri="{FF2B5EF4-FFF2-40B4-BE49-F238E27FC236}">
                <a16:creationId xmlns:a16="http://schemas.microsoft.com/office/drawing/2014/main" id="{16899329-06AB-40E6-AD60-5BF67A5CB644}"/>
              </a:ext>
            </a:extLst>
          </p:cNvPr>
          <p:cNvSpPr>
            <a:spLocks noGrp="1"/>
          </p:cNvSpPr>
          <p:nvPr>
            <p:ph type="ftr" sz="quarter" idx="11"/>
          </p:nvPr>
        </p:nvSpPr>
        <p:spPr/>
        <p:txBody>
          <a:bodyPr/>
          <a:lstStyle>
            <a:lvl1pPr>
              <a:defRPr/>
            </a:lvl1pPr>
          </a:lstStyle>
          <a:p>
            <a:pPr>
              <a:defRPr/>
            </a:pPr>
            <a:endParaRPr lang="zh-CN" altLang="en-US"/>
          </a:p>
        </p:txBody>
      </p:sp>
      <p:sp>
        <p:nvSpPr>
          <p:cNvPr id="11" name="灯片编号占位符 8">
            <a:extLst>
              <a:ext uri="{FF2B5EF4-FFF2-40B4-BE49-F238E27FC236}">
                <a16:creationId xmlns:a16="http://schemas.microsoft.com/office/drawing/2014/main" id="{3E080FDD-7CEC-44FD-B79D-B0C715CDCD93}"/>
              </a:ext>
            </a:extLst>
          </p:cNvPr>
          <p:cNvSpPr>
            <a:spLocks noGrp="1"/>
          </p:cNvSpPr>
          <p:nvPr>
            <p:ph type="sldNum" sz="quarter" idx="12"/>
          </p:nvPr>
        </p:nvSpPr>
        <p:spPr/>
        <p:txBody>
          <a:bodyPr/>
          <a:lstStyle>
            <a:lvl1pPr>
              <a:defRPr/>
            </a:lvl1pPr>
          </a:lstStyle>
          <a:p>
            <a:fld id="{17CB828D-8D79-4C32-8865-112F4A8A68FD}" type="slidenum">
              <a:rPr lang="zh-CN" altLang="en-US"/>
              <a:pPr/>
              <a:t>‹#›</a:t>
            </a:fld>
            <a:endParaRPr lang="zh-CN" altLang="en-US"/>
          </a:p>
        </p:txBody>
      </p:sp>
    </p:spTree>
    <p:extLst>
      <p:ext uri="{BB962C8B-B14F-4D97-AF65-F5344CB8AC3E}">
        <p14:creationId xmlns:p14="http://schemas.microsoft.com/office/powerpoint/2010/main" val="30219374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a:extLst>
              <a:ext uri="{FF2B5EF4-FFF2-40B4-BE49-F238E27FC236}">
                <a16:creationId xmlns:a16="http://schemas.microsoft.com/office/drawing/2014/main" id="{29593364-AD0C-445B-98DC-45A2C716580E}"/>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a:extLst>
              <a:ext uri="{FF2B5EF4-FFF2-40B4-BE49-F238E27FC236}">
                <a16:creationId xmlns:a16="http://schemas.microsoft.com/office/drawing/2014/main" id="{9EBB6042-A31B-4921-A987-B84D2EA95C4A}"/>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5" name="日期占位符 2">
            <a:extLst>
              <a:ext uri="{FF2B5EF4-FFF2-40B4-BE49-F238E27FC236}">
                <a16:creationId xmlns:a16="http://schemas.microsoft.com/office/drawing/2014/main" id="{39EB087D-4CDA-49C6-8254-C6D85AC4FC48}"/>
              </a:ext>
            </a:extLst>
          </p:cNvPr>
          <p:cNvSpPr>
            <a:spLocks noGrp="1"/>
          </p:cNvSpPr>
          <p:nvPr>
            <p:ph type="dt" sz="half" idx="10"/>
          </p:nvPr>
        </p:nvSpPr>
        <p:spPr/>
        <p:txBody>
          <a:bodyPr/>
          <a:lstStyle>
            <a:lvl1pPr>
              <a:defRPr/>
            </a:lvl1pPr>
          </a:lstStyle>
          <a:p>
            <a:pPr>
              <a:defRPr/>
            </a:pPr>
            <a:fld id="{6EA63EEA-E053-4FDA-9A6E-ADDB5E6566F7}" type="datetime1">
              <a:rPr lang="zh-CN" altLang="en-US"/>
              <a:pPr>
                <a:defRPr/>
              </a:pPr>
              <a:t>2025/03/15</a:t>
            </a:fld>
            <a:endParaRPr lang="zh-CN" altLang="en-US"/>
          </a:p>
        </p:txBody>
      </p:sp>
      <p:sp>
        <p:nvSpPr>
          <p:cNvPr id="6" name="页脚占位符 3">
            <a:extLst>
              <a:ext uri="{FF2B5EF4-FFF2-40B4-BE49-F238E27FC236}">
                <a16:creationId xmlns:a16="http://schemas.microsoft.com/office/drawing/2014/main" id="{A5A1431F-4445-45F8-B26B-D8672C5AA0D7}"/>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3BACB010-7932-4ED0-8848-3D7C289B58BC}"/>
              </a:ext>
            </a:extLst>
          </p:cNvPr>
          <p:cNvSpPr>
            <a:spLocks noGrp="1"/>
          </p:cNvSpPr>
          <p:nvPr>
            <p:ph type="sldNum" sz="quarter" idx="12"/>
          </p:nvPr>
        </p:nvSpPr>
        <p:spPr/>
        <p:txBody>
          <a:bodyPr/>
          <a:lstStyle>
            <a:lvl1pPr>
              <a:defRPr/>
            </a:lvl1pPr>
          </a:lstStyle>
          <a:p>
            <a:fld id="{8D47C3F6-4BA1-45D2-8B42-C901C778838C}" type="slidenum">
              <a:rPr lang="zh-CN" altLang="en-US"/>
              <a:pPr/>
              <a:t>‹#›</a:t>
            </a:fld>
            <a:endParaRPr lang="zh-CN" altLang="en-US"/>
          </a:p>
        </p:txBody>
      </p:sp>
    </p:spTree>
    <p:extLst>
      <p:ext uri="{BB962C8B-B14F-4D97-AF65-F5344CB8AC3E}">
        <p14:creationId xmlns:p14="http://schemas.microsoft.com/office/powerpoint/2010/main" val="2633752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5939335-DDD8-4292-BA53-B863E16A7CE8}"/>
              </a:ext>
            </a:extLst>
          </p:cNvPr>
          <p:cNvSpPr>
            <a:spLocks noGrp="1"/>
          </p:cNvSpPr>
          <p:nvPr>
            <p:ph type="dt" sz="half" idx="10"/>
          </p:nvPr>
        </p:nvSpPr>
        <p:spPr/>
        <p:txBody>
          <a:bodyPr/>
          <a:lstStyle>
            <a:lvl1pPr>
              <a:defRPr/>
            </a:lvl1pPr>
          </a:lstStyle>
          <a:p>
            <a:pPr>
              <a:defRPr/>
            </a:pPr>
            <a:fld id="{82913C5E-644B-4309-9D79-8AC8D3333C42}" type="datetime1">
              <a:rPr lang="zh-CN" altLang="en-US"/>
              <a:pPr>
                <a:defRPr/>
              </a:pPr>
              <a:t>2025/03/15</a:t>
            </a:fld>
            <a:endParaRPr lang="zh-CN" altLang="en-US" dirty="0"/>
          </a:p>
        </p:txBody>
      </p:sp>
      <p:sp>
        <p:nvSpPr>
          <p:cNvPr id="3" name="页脚占位符 4">
            <a:extLst>
              <a:ext uri="{FF2B5EF4-FFF2-40B4-BE49-F238E27FC236}">
                <a16:creationId xmlns:a16="http://schemas.microsoft.com/office/drawing/2014/main" id="{55BDDB0B-7F22-43B9-8AE3-6FC6506C0CFA}"/>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C75A027B-DD22-4F16-81DA-257A370A1B1A}"/>
              </a:ext>
            </a:extLst>
          </p:cNvPr>
          <p:cNvSpPr>
            <a:spLocks noGrp="1"/>
          </p:cNvSpPr>
          <p:nvPr>
            <p:ph type="sldNum" sz="quarter" idx="12"/>
          </p:nvPr>
        </p:nvSpPr>
        <p:spPr/>
        <p:txBody>
          <a:bodyPr/>
          <a:lstStyle>
            <a:lvl1pPr>
              <a:defRPr/>
            </a:lvl1pPr>
          </a:lstStyle>
          <a:p>
            <a:fld id="{CAB837E0-6C06-4F32-9540-E7C61B5AC669}" type="slidenum">
              <a:rPr lang="zh-CN" altLang="en-US"/>
              <a:pPr/>
              <a:t>‹#›</a:t>
            </a:fld>
            <a:endParaRPr lang="zh-CN" altLang="en-US"/>
          </a:p>
        </p:txBody>
      </p:sp>
    </p:spTree>
    <p:extLst>
      <p:ext uri="{BB962C8B-B14F-4D97-AF65-F5344CB8AC3E}">
        <p14:creationId xmlns:p14="http://schemas.microsoft.com/office/powerpoint/2010/main" val="29741602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2EFC8D6-45C5-4A89-AF73-8CDA95A1F572}"/>
              </a:ext>
            </a:extLst>
          </p:cNvPr>
          <p:cNvSpPr>
            <a:spLocks noGrp="1"/>
          </p:cNvSpPr>
          <p:nvPr>
            <p:ph type="dt" sz="half" idx="10"/>
          </p:nvPr>
        </p:nvSpPr>
        <p:spPr/>
        <p:txBody>
          <a:bodyPr/>
          <a:lstStyle>
            <a:lvl1pPr>
              <a:defRPr/>
            </a:lvl1pPr>
          </a:lstStyle>
          <a:p>
            <a:pPr>
              <a:defRPr/>
            </a:pPr>
            <a:fld id="{02ACF936-A0F4-4346-B5EC-3D7AE945F7DC}" type="datetime1">
              <a:rPr lang="zh-CN" altLang="en-US"/>
              <a:pPr>
                <a:defRPr/>
              </a:pPr>
              <a:t>2025/03/15</a:t>
            </a:fld>
            <a:endParaRPr lang="zh-CN" altLang="en-US" dirty="0"/>
          </a:p>
        </p:txBody>
      </p:sp>
      <p:sp>
        <p:nvSpPr>
          <p:cNvPr id="6" name="页脚占位符 4">
            <a:extLst>
              <a:ext uri="{FF2B5EF4-FFF2-40B4-BE49-F238E27FC236}">
                <a16:creationId xmlns:a16="http://schemas.microsoft.com/office/drawing/2014/main" id="{2EC25A45-A989-4B44-885B-0B37B106383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E3B8DA44-2FE0-4CD6-9782-579346242C29}"/>
              </a:ext>
            </a:extLst>
          </p:cNvPr>
          <p:cNvSpPr>
            <a:spLocks noGrp="1"/>
          </p:cNvSpPr>
          <p:nvPr>
            <p:ph type="sldNum" sz="quarter" idx="12"/>
          </p:nvPr>
        </p:nvSpPr>
        <p:spPr/>
        <p:txBody>
          <a:bodyPr/>
          <a:lstStyle>
            <a:lvl1pPr>
              <a:defRPr/>
            </a:lvl1pPr>
          </a:lstStyle>
          <a:p>
            <a:fld id="{B22BFBF2-6CAE-4BB1-8839-996EE646F1B0}" type="slidenum">
              <a:rPr lang="zh-CN" altLang="en-US"/>
              <a:pPr/>
              <a:t>‹#›</a:t>
            </a:fld>
            <a:endParaRPr lang="zh-CN" altLang="en-US"/>
          </a:p>
        </p:txBody>
      </p:sp>
    </p:spTree>
    <p:extLst>
      <p:ext uri="{BB962C8B-B14F-4D97-AF65-F5344CB8AC3E}">
        <p14:creationId xmlns:p14="http://schemas.microsoft.com/office/powerpoint/2010/main" val="1553649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FB4E39F2-893A-49F3-85CC-D896E8E7C184}"/>
              </a:ext>
            </a:extLst>
          </p:cNvPr>
          <p:cNvSpPr>
            <a:spLocks noGrp="1"/>
          </p:cNvSpPr>
          <p:nvPr>
            <p:ph type="dt" sz="half" idx="10"/>
          </p:nvPr>
        </p:nvSpPr>
        <p:spPr/>
        <p:txBody>
          <a:bodyPr/>
          <a:lstStyle>
            <a:lvl1pPr>
              <a:defRPr/>
            </a:lvl1pPr>
          </a:lstStyle>
          <a:p>
            <a:pPr>
              <a:defRPr/>
            </a:pPr>
            <a:fld id="{7950891B-3A21-4628-9660-18AD024C4709}" type="datetime1">
              <a:rPr lang="zh-CN" altLang="en-US"/>
              <a:pPr>
                <a:defRPr/>
              </a:pPr>
              <a:t>2025/03/15</a:t>
            </a:fld>
            <a:endParaRPr lang="zh-CN" altLang="en-US" dirty="0"/>
          </a:p>
        </p:txBody>
      </p:sp>
      <p:sp>
        <p:nvSpPr>
          <p:cNvPr id="6" name="页脚占位符 4">
            <a:extLst>
              <a:ext uri="{FF2B5EF4-FFF2-40B4-BE49-F238E27FC236}">
                <a16:creationId xmlns:a16="http://schemas.microsoft.com/office/drawing/2014/main" id="{7AE7A582-90BE-4C24-9FD6-E776D525CFB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730762F-AF10-46B5-83F2-4357C2797E05}"/>
              </a:ext>
            </a:extLst>
          </p:cNvPr>
          <p:cNvSpPr>
            <a:spLocks noGrp="1"/>
          </p:cNvSpPr>
          <p:nvPr>
            <p:ph type="sldNum" sz="quarter" idx="12"/>
          </p:nvPr>
        </p:nvSpPr>
        <p:spPr/>
        <p:txBody>
          <a:bodyPr/>
          <a:lstStyle>
            <a:lvl1pPr>
              <a:defRPr/>
            </a:lvl1pPr>
          </a:lstStyle>
          <a:p>
            <a:fld id="{7EFA61D8-4825-47F1-AFB9-3FA5333462AA}" type="slidenum">
              <a:rPr lang="zh-CN" altLang="en-US"/>
              <a:pPr/>
              <a:t>‹#›</a:t>
            </a:fld>
            <a:endParaRPr lang="zh-CN" altLang="en-US"/>
          </a:p>
        </p:txBody>
      </p:sp>
    </p:spTree>
    <p:extLst>
      <p:ext uri="{BB962C8B-B14F-4D97-AF65-F5344CB8AC3E}">
        <p14:creationId xmlns:p14="http://schemas.microsoft.com/office/powerpoint/2010/main" val="34904984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a:extLst>
              <a:ext uri="{FF2B5EF4-FFF2-40B4-BE49-F238E27FC236}">
                <a16:creationId xmlns:a16="http://schemas.microsoft.com/office/drawing/2014/main" id="{6F2A6C22-0FFE-4765-8082-D03F8E8688BA}"/>
              </a:ext>
            </a:extLst>
          </p:cNvPr>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42875" y="1071563"/>
            <a:ext cx="85725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a:extLst>
              <a:ext uri="{FF2B5EF4-FFF2-40B4-BE49-F238E27FC236}">
                <a16:creationId xmlns:a16="http://schemas.microsoft.com/office/drawing/2014/main" id="{71DDE89D-CC6E-4A1D-ACE9-7EE7C1FD439D}"/>
              </a:ext>
            </a:extLst>
          </p:cNvPr>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317500"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14422"/>
            <a:ext cx="8229600" cy="491174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a:extLst>
              <a:ext uri="{FF2B5EF4-FFF2-40B4-BE49-F238E27FC236}">
                <a16:creationId xmlns:a16="http://schemas.microsoft.com/office/drawing/2014/main" id="{4695E8B9-635C-4124-89E6-F19A3B442EF0}"/>
              </a:ext>
            </a:extLst>
          </p:cNvPr>
          <p:cNvSpPr>
            <a:spLocks noGrp="1"/>
          </p:cNvSpPr>
          <p:nvPr>
            <p:ph type="dt" sz="half" idx="10"/>
          </p:nvPr>
        </p:nvSpPr>
        <p:spPr/>
        <p:txBody>
          <a:bodyPr/>
          <a:lstStyle>
            <a:lvl1pPr>
              <a:defRPr/>
            </a:lvl1pPr>
          </a:lstStyle>
          <a:p>
            <a:pPr>
              <a:defRPr/>
            </a:pPr>
            <a:fld id="{B9B6C42B-77D7-45B5-8994-ABE9A594B25D}" type="datetime1">
              <a:rPr lang="zh-CN" altLang="en-US"/>
              <a:pPr>
                <a:defRPr/>
              </a:pPr>
              <a:t>2025/03/15</a:t>
            </a:fld>
            <a:endParaRPr lang="zh-CN" altLang="en-US"/>
          </a:p>
        </p:txBody>
      </p:sp>
      <p:sp>
        <p:nvSpPr>
          <p:cNvPr id="7" name="页脚占位符 4">
            <a:extLst>
              <a:ext uri="{FF2B5EF4-FFF2-40B4-BE49-F238E27FC236}">
                <a16:creationId xmlns:a16="http://schemas.microsoft.com/office/drawing/2014/main" id="{9FD5CD3A-67F8-4D2A-BA6E-08B1FAF495E7}"/>
              </a:ext>
            </a:extLst>
          </p:cNvPr>
          <p:cNvSpPr>
            <a:spLocks noGrp="1"/>
          </p:cNvSpPr>
          <p:nvPr>
            <p:ph type="ftr" sz="quarter" idx="11"/>
          </p:nvPr>
        </p:nvSpPr>
        <p:spPr/>
        <p:txBody>
          <a:bodyPr/>
          <a:lstStyle>
            <a:lvl1pPr>
              <a:defRPr/>
            </a:lvl1pPr>
          </a:lstStyle>
          <a:p>
            <a:pPr>
              <a:defRPr/>
            </a:pPr>
            <a:endParaRPr lang="zh-CN" altLang="en-US"/>
          </a:p>
        </p:txBody>
      </p:sp>
      <p:sp>
        <p:nvSpPr>
          <p:cNvPr id="8" name="灯片编号占位符 5">
            <a:extLst>
              <a:ext uri="{FF2B5EF4-FFF2-40B4-BE49-F238E27FC236}">
                <a16:creationId xmlns:a16="http://schemas.microsoft.com/office/drawing/2014/main" id="{E073C506-03F8-4C1D-A877-D2C31B196B43}"/>
              </a:ext>
            </a:extLst>
          </p:cNvPr>
          <p:cNvSpPr>
            <a:spLocks noGrp="1"/>
          </p:cNvSpPr>
          <p:nvPr>
            <p:ph type="sldNum" sz="quarter" idx="12"/>
          </p:nvPr>
        </p:nvSpPr>
        <p:spPr/>
        <p:txBody>
          <a:bodyPr/>
          <a:lstStyle>
            <a:lvl1pPr>
              <a:defRPr/>
            </a:lvl1pPr>
          </a:lstStyle>
          <a:p>
            <a:fld id="{1A6B434D-C075-47DE-91C4-BFB316565A47}" type="slidenum">
              <a:rPr lang="zh-CN" altLang="en-US"/>
              <a:pPr/>
              <a:t>‹#›</a:t>
            </a:fld>
            <a:endParaRPr lang="zh-CN" altLang="en-US"/>
          </a:p>
        </p:txBody>
      </p:sp>
    </p:spTree>
    <p:extLst>
      <p:ext uri="{BB962C8B-B14F-4D97-AF65-F5344CB8AC3E}">
        <p14:creationId xmlns:p14="http://schemas.microsoft.com/office/powerpoint/2010/main" val="1952018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AF5F278-D223-4913-A790-B0C546B54F34}"/>
              </a:ext>
            </a:extLst>
          </p:cNvPr>
          <p:cNvSpPr>
            <a:spLocks noGrp="1"/>
          </p:cNvSpPr>
          <p:nvPr>
            <p:ph type="dt" sz="half" idx="10"/>
          </p:nvPr>
        </p:nvSpPr>
        <p:spPr/>
        <p:txBody>
          <a:bodyPr/>
          <a:lstStyle>
            <a:lvl1pPr>
              <a:defRPr/>
            </a:lvl1pPr>
          </a:lstStyle>
          <a:p>
            <a:pPr>
              <a:defRPr/>
            </a:pPr>
            <a:fld id="{2C405024-0CA0-473B-9A93-48E0AC63926B}" type="datetime1">
              <a:rPr lang="zh-CN" altLang="en-US"/>
              <a:pPr>
                <a:defRPr/>
              </a:pPr>
              <a:t>2025/03/15</a:t>
            </a:fld>
            <a:endParaRPr lang="zh-CN" altLang="en-US" dirty="0"/>
          </a:p>
        </p:txBody>
      </p:sp>
      <p:sp>
        <p:nvSpPr>
          <p:cNvPr id="5" name="页脚占位符 4">
            <a:extLst>
              <a:ext uri="{FF2B5EF4-FFF2-40B4-BE49-F238E27FC236}">
                <a16:creationId xmlns:a16="http://schemas.microsoft.com/office/drawing/2014/main" id="{3629AD5E-84C4-48B3-9F40-B58F6155878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E10906D-0D19-4FF8-8B49-E1DE7E0240FD}"/>
              </a:ext>
            </a:extLst>
          </p:cNvPr>
          <p:cNvSpPr>
            <a:spLocks noGrp="1"/>
          </p:cNvSpPr>
          <p:nvPr>
            <p:ph type="sldNum" sz="quarter" idx="12"/>
          </p:nvPr>
        </p:nvSpPr>
        <p:spPr/>
        <p:txBody>
          <a:bodyPr/>
          <a:lstStyle>
            <a:lvl1pPr>
              <a:defRPr/>
            </a:lvl1pPr>
          </a:lstStyle>
          <a:p>
            <a:fld id="{D5643F9E-1217-4ACC-B156-AB1C3A5DF116}" type="slidenum">
              <a:rPr lang="zh-CN" altLang="en-US"/>
              <a:pPr/>
              <a:t>‹#›</a:t>
            </a:fld>
            <a:endParaRPr lang="zh-CN" altLang="en-US"/>
          </a:p>
        </p:txBody>
      </p:sp>
    </p:spTree>
    <p:extLst>
      <p:ext uri="{BB962C8B-B14F-4D97-AF65-F5344CB8AC3E}">
        <p14:creationId xmlns:p14="http://schemas.microsoft.com/office/powerpoint/2010/main" val="147114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标题占位符 1">
            <a:extLst>
              <a:ext uri="{FF2B5EF4-FFF2-40B4-BE49-F238E27FC236}">
                <a16:creationId xmlns:a16="http://schemas.microsoft.com/office/drawing/2014/main" id="{3581DA0F-0F6A-4257-9D7A-AF1ABF49E724}"/>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0419" name="文本占位符 2">
            <a:extLst>
              <a:ext uri="{FF2B5EF4-FFF2-40B4-BE49-F238E27FC236}">
                <a16:creationId xmlns:a16="http://schemas.microsoft.com/office/drawing/2014/main" id="{740B0BB4-EB4B-475B-90A8-EEEA530C7FC4}"/>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2E4335-3DBA-42FA-98F7-83F680F5304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DD104EFE-AA8B-4B77-B1E0-368753DDAD43}" type="datetime1">
              <a:rPr lang="zh-CN" altLang="en-US"/>
              <a:pPr>
                <a:defRPr/>
              </a:pPr>
              <a:t>2025/03/15</a:t>
            </a:fld>
            <a:endParaRPr lang="zh-CN" altLang="en-US" dirty="0"/>
          </a:p>
        </p:txBody>
      </p:sp>
      <p:sp>
        <p:nvSpPr>
          <p:cNvPr id="5" name="页脚占位符 4">
            <a:extLst>
              <a:ext uri="{FF2B5EF4-FFF2-40B4-BE49-F238E27FC236}">
                <a16:creationId xmlns:a16="http://schemas.microsoft.com/office/drawing/2014/main" id="{7024FB43-3F5D-430A-A8AF-4FBE09F9EEB5}"/>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81603105-F244-4B42-8EBD-CC095A08789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9A8374BA-2DD4-4D22-AE1E-028B9CD96B16}"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079" r:id="rId1"/>
    <p:sldLayoutId id="2147484080" r:id="rId2"/>
    <p:sldLayoutId id="2147484074" r:id="rId3"/>
    <p:sldLayoutId id="2147484081" r:id="rId4"/>
    <p:sldLayoutId id="2147484082" r:id="rId5"/>
    <p:sldLayoutId id="2147484083" r:id="rId6"/>
    <p:sldLayoutId id="2147484075" r:id="rId7"/>
    <p:sldLayoutId id="2147484076" r:id="rId8"/>
    <p:sldLayoutId id="2147484077" r:id="rId9"/>
    <p:sldLayoutId id="2147484084" r:id="rId10"/>
    <p:sldLayoutId id="214748407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标题占位符 1">
            <a:extLst>
              <a:ext uri="{FF2B5EF4-FFF2-40B4-BE49-F238E27FC236}">
                <a16:creationId xmlns:a16="http://schemas.microsoft.com/office/drawing/2014/main" id="{2136976A-314A-4C26-8FF3-B63A03C15DD4}"/>
              </a:ext>
            </a:extLst>
          </p:cNvPr>
          <p:cNvSpPr>
            <a:spLocks noGrp="1"/>
          </p:cNvSpPr>
          <p:nvPr>
            <p:ph type="title"/>
          </p:nvPr>
        </p:nvSpPr>
        <p:spPr bwMode="auto">
          <a:xfrm>
            <a:off x="457200" y="274638"/>
            <a:ext cx="82296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7651" name="文本占位符 2">
            <a:extLst>
              <a:ext uri="{FF2B5EF4-FFF2-40B4-BE49-F238E27FC236}">
                <a16:creationId xmlns:a16="http://schemas.microsoft.com/office/drawing/2014/main" id="{0AF24F09-08F2-4FCE-A0C0-B43AC14FF799}"/>
              </a:ext>
            </a:extLst>
          </p:cNvPr>
          <p:cNvSpPr>
            <a:spLocks noGrp="1"/>
          </p:cNvSpPr>
          <p:nvPr>
            <p:ph type="body" idx="1"/>
          </p:nvPr>
        </p:nvSpPr>
        <p:spPr bwMode="auto">
          <a:xfrm>
            <a:off x="457200" y="1285875"/>
            <a:ext cx="82296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D7CB65C-5695-4422-856A-7600F111BE2C}"/>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FC388119-51B9-4DD1-98B2-9915EE2732B0}" type="datetime1">
              <a:rPr lang="zh-CN" altLang="en-US"/>
              <a:pPr>
                <a:defRPr/>
              </a:pPr>
              <a:t>2025/03/15</a:t>
            </a:fld>
            <a:endParaRPr lang="zh-CN" altLang="en-US" dirty="0"/>
          </a:p>
        </p:txBody>
      </p:sp>
      <p:sp>
        <p:nvSpPr>
          <p:cNvPr id="5" name="页脚占位符 4">
            <a:extLst>
              <a:ext uri="{FF2B5EF4-FFF2-40B4-BE49-F238E27FC236}">
                <a16:creationId xmlns:a16="http://schemas.microsoft.com/office/drawing/2014/main" id="{346F9036-4F22-4E91-A0C1-4005E75705B6}"/>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F6CFEDED-3DED-4776-8A28-D39FC6AB2E0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01DEB00D-7DC7-4DCC-A136-4A569C198D46}" type="slidenum">
              <a:rPr lang="zh-CN" altLang="en-US"/>
              <a:pPr/>
              <a:t>‹#›</a:t>
            </a:fld>
            <a:endParaRPr lang="zh-CN" altLang="en-US"/>
          </a:p>
        </p:txBody>
      </p:sp>
    </p:spTree>
    <p:extLst>
      <p:ext uri="{BB962C8B-B14F-4D97-AF65-F5344CB8AC3E}">
        <p14:creationId xmlns:p14="http://schemas.microsoft.com/office/powerpoint/2010/main" val="2204171327"/>
      </p:ext>
    </p:extLst>
  </p:cSld>
  <p:clrMap bg1="lt1" tx1="dk1" bg2="lt2" tx2="dk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10.png"/><Relationship Id="rId7" Type="http://schemas.openxmlformats.org/officeDocument/2006/relationships/image" Target="../media/image9.png"/><Relationship Id="rId2" Type="http://schemas.openxmlformats.org/officeDocument/2006/relationships/image" Target="../media/image4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10.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0.png"/><Relationship Id="rId7"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3.png"/><Relationship Id="rId11" Type="http://schemas.openxmlformats.org/officeDocument/2006/relationships/image" Target="../media/image30.wmf"/><Relationship Id="rId5" Type="http://schemas.openxmlformats.org/officeDocument/2006/relationships/image" Target="../media/image32.png"/><Relationship Id="rId10" Type="http://schemas.openxmlformats.org/officeDocument/2006/relationships/oleObject" Target="../embeddings/oleObject3.bin"/><Relationship Id="rId4" Type="http://schemas.openxmlformats.org/officeDocument/2006/relationships/image" Target="../media/image31.png"/><Relationship Id="rId9"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6.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540.png"/><Relationship Id="rId12" Type="http://schemas.openxmlformats.org/officeDocument/2006/relationships/image" Target="../media/image59.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5" Type="http://schemas.openxmlformats.org/officeDocument/2006/relationships/image" Target="../media/image6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18.xml.rels><?xml version="1.0" encoding="UTF-8" standalone="yes"?>
<Relationships xmlns="http://schemas.openxmlformats.org/package/2006/relationships"><Relationship Id="rId3" Type="http://schemas.openxmlformats.org/officeDocument/2006/relationships/image" Target="../media/image630.png"/><Relationship Id="rId7" Type="http://schemas.openxmlformats.org/officeDocument/2006/relationships/image" Target="../media/image70.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8.png"/><Relationship Id="rId4" Type="http://schemas.openxmlformats.org/officeDocument/2006/relationships/image" Target="../media/image67.png"/></Relationships>
</file>

<file path=ppt/slides/_rels/slide19.xml.rels><?xml version="1.0" encoding="UTF-8" standalone="yes"?>
<Relationships xmlns="http://schemas.openxmlformats.org/package/2006/relationships"><Relationship Id="rId8" Type="http://schemas.openxmlformats.org/officeDocument/2006/relationships/tags" Target="../tags/tag7.xml"/><Relationship Id="rId13" Type="http://schemas.openxmlformats.org/officeDocument/2006/relationships/image" Target="../media/image69.png"/><Relationship Id="rId18" Type="http://schemas.openxmlformats.org/officeDocument/2006/relationships/image" Target="../media/image75.png"/><Relationship Id="rId3" Type="http://schemas.openxmlformats.org/officeDocument/2006/relationships/tags" Target="../tags/tag2.xml"/><Relationship Id="rId21" Type="http://schemas.openxmlformats.org/officeDocument/2006/relationships/image" Target="../media/image78.png"/><Relationship Id="rId7" Type="http://schemas.openxmlformats.org/officeDocument/2006/relationships/tags" Target="../tags/tag6.xml"/><Relationship Id="rId12" Type="http://schemas.openxmlformats.org/officeDocument/2006/relationships/slideLayout" Target="../slideLayouts/slideLayout2.xml"/><Relationship Id="rId17" Type="http://schemas.openxmlformats.org/officeDocument/2006/relationships/image" Target="../media/image74.png"/><Relationship Id="rId2" Type="http://schemas.openxmlformats.org/officeDocument/2006/relationships/tags" Target="../tags/tag1.xml"/><Relationship Id="rId16" Type="http://schemas.openxmlformats.org/officeDocument/2006/relationships/image" Target="../media/image73.png"/><Relationship Id="rId20" Type="http://schemas.openxmlformats.org/officeDocument/2006/relationships/image" Target="../media/image77.png"/><Relationship Id="rId1" Type="http://schemas.openxmlformats.org/officeDocument/2006/relationships/vmlDrawing" Target="../drawings/vmlDrawing3.vml"/><Relationship Id="rId6" Type="http://schemas.openxmlformats.org/officeDocument/2006/relationships/tags" Target="../tags/tag5.xml"/><Relationship Id="rId11" Type="http://schemas.openxmlformats.org/officeDocument/2006/relationships/tags" Target="../tags/tag10.xml"/><Relationship Id="rId5" Type="http://schemas.openxmlformats.org/officeDocument/2006/relationships/tags" Target="../tags/tag4.xml"/><Relationship Id="rId15" Type="http://schemas.openxmlformats.org/officeDocument/2006/relationships/image" Target="../media/image72.png"/><Relationship Id="rId23" Type="http://schemas.openxmlformats.org/officeDocument/2006/relationships/image" Target="../media/image33.wmf"/><Relationship Id="rId10" Type="http://schemas.openxmlformats.org/officeDocument/2006/relationships/tags" Target="../tags/tag9.xml"/><Relationship Id="rId19" Type="http://schemas.openxmlformats.org/officeDocument/2006/relationships/image" Target="../media/image76.png"/><Relationship Id="rId4" Type="http://schemas.openxmlformats.org/officeDocument/2006/relationships/tags" Target="../tags/tag3.xml"/><Relationship Id="rId9" Type="http://schemas.openxmlformats.org/officeDocument/2006/relationships/tags" Target="../tags/tag8.xml"/><Relationship Id="rId14" Type="http://schemas.openxmlformats.org/officeDocument/2006/relationships/image" Target="../media/image71.png"/><Relationship Id="rId22"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80.png"/><Relationship Id="rId7" Type="http://schemas.openxmlformats.org/officeDocument/2006/relationships/image" Target="../media/image8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6.png"/></Relationships>
</file>

<file path=ppt/slides/_rels/slide2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18" Type="http://schemas.openxmlformats.org/officeDocument/2006/relationships/image" Target="../media/image101.png"/><Relationship Id="rId3" Type="http://schemas.openxmlformats.org/officeDocument/2006/relationships/oleObject" Target="../embeddings/oleObject5.bin"/><Relationship Id="rId7" Type="http://schemas.openxmlformats.org/officeDocument/2006/relationships/image" Target="../media/image92.png"/><Relationship Id="rId12" Type="http://schemas.openxmlformats.org/officeDocument/2006/relationships/image" Target="../media/image97.png"/><Relationship Id="rId17" Type="http://schemas.openxmlformats.org/officeDocument/2006/relationships/image" Target="../media/image102.png"/><Relationship Id="rId2" Type="http://schemas.openxmlformats.org/officeDocument/2006/relationships/slideLayout" Target="../slideLayouts/slideLayout2.xml"/><Relationship Id="rId16" Type="http://schemas.openxmlformats.org/officeDocument/2006/relationships/image" Target="../media/image890.png"/><Relationship Id="rId1" Type="http://schemas.openxmlformats.org/officeDocument/2006/relationships/vmlDrawing" Target="../drawings/vmlDrawing4.vml"/><Relationship Id="rId6" Type="http://schemas.openxmlformats.org/officeDocument/2006/relationships/image" Target="../media/image89.png"/><Relationship Id="rId11" Type="http://schemas.openxmlformats.org/officeDocument/2006/relationships/image" Target="../media/image96.png"/><Relationship Id="rId5" Type="http://schemas.openxmlformats.org/officeDocument/2006/relationships/oleObject" Target="../embeddings/oleObject5.bin"/><Relationship Id="rId15" Type="http://schemas.openxmlformats.org/officeDocument/2006/relationships/image" Target="../media/image10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 Id="rId14" Type="http://schemas.openxmlformats.org/officeDocument/2006/relationships/image" Target="../media/image90.png"/></Relationships>
</file>

<file path=ppt/slides/_rels/slide24.xml.rels><?xml version="1.0" encoding="UTF-8" standalone="yes"?>
<Relationships xmlns="http://schemas.openxmlformats.org/package/2006/relationships"><Relationship Id="rId13" Type="http://schemas.openxmlformats.org/officeDocument/2006/relationships/oleObject" Target="../embeddings/oleObject8.bin"/><Relationship Id="rId18" Type="http://schemas.openxmlformats.org/officeDocument/2006/relationships/image" Target="../media/image99.png"/><Relationship Id="rId26" Type="http://schemas.openxmlformats.org/officeDocument/2006/relationships/image" Target="../media/image100.wmf"/><Relationship Id="rId39" Type="http://schemas.openxmlformats.org/officeDocument/2006/relationships/image" Target="../media/image115.png"/><Relationship Id="rId21" Type="http://schemas.openxmlformats.org/officeDocument/2006/relationships/image" Target="../media/image110.png"/><Relationship Id="rId34" Type="http://schemas.openxmlformats.org/officeDocument/2006/relationships/image" Target="../media/image102.wmf"/><Relationship Id="rId42" Type="http://schemas.openxmlformats.org/officeDocument/2006/relationships/image" Target="../media/image118.png"/><Relationship Id="rId7" Type="http://schemas.openxmlformats.org/officeDocument/2006/relationships/oleObject" Target="../embeddings/oleObject7.bin"/><Relationship Id="rId17" Type="http://schemas.openxmlformats.org/officeDocument/2006/relationships/oleObject" Target="../embeddings/oleObject9.bin"/><Relationship Id="rId25" Type="http://schemas.openxmlformats.org/officeDocument/2006/relationships/oleObject" Target="../embeddings/oleObject11.bin"/><Relationship Id="rId33" Type="http://schemas.openxmlformats.org/officeDocument/2006/relationships/oleObject" Target="../embeddings/oleObject13.bin"/><Relationship Id="rId38" Type="http://schemas.openxmlformats.org/officeDocument/2006/relationships/oleObject" Target="../embeddings/oleObject14.bin"/><Relationship Id="rId2" Type="http://schemas.openxmlformats.org/officeDocument/2006/relationships/slideLayout" Target="../slideLayouts/slideLayout2.xml"/><Relationship Id="rId16" Type="http://schemas.openxmlformats.org/officeDocument/2006/relationships/image" Target="../media/image99.png"/><Relationship Id="rId20" Type="http://schemas.openxmlformats.org/officeDocument/2006/relationships/image" Target="../media/image109.png"/><Relationship Id="rId29" Type="http://schemas.openxmlformats.org/officeDocument/2006/relationships/oleObject" Target="../embeddings/oleObject12.bin"/><Relationship Id="rId41" Type="http://schemas.openxmlformats.org/officeDocument/2006/relationships/image" Target="../media/image117.png"/><Relationship Id="rId1" Type="http://schemas.openxmlformats.org/officeDocument/2006/relationships/vmlDrawing" Target="../drawings/vmlDrawing5.vml"/><Relationship Id="rId6" Type="http://schemas.openxmlformats.org/officeDocument/2006/relationships/image" Target="../media/image90.wmf"/><Relationship Id="rId11" Type="http://schemas.openxmlformats.org/officeDocument/2006/relationships/oleObject" Target="../embeddings/oleObject8.bin"/><Relationship Id="rId24" Type="http://schemas.openxmlformats.org/officeDocument/2006/relationships/oleObject" Target="../embeddings/oleObject10.bin"/><Relationship Id="rId32" Type="http://schemas.openxmlformats.org/officeDocument/2006/relationships/image" Target="../media/image101.wmf"/><Relationship Id="rId37" Type="http://schemas.openxmlformats.org/officeDocument/2006/relationships/oleObject" Target="../embeddings/oleObject14.bin"/><Relationship Id="rId40" Type="http://schemas.openxmlformats.org/officeDocument/2006/relationships/image" Target="../media/image116.png"/><Relationship Id="rId5" Type="http://schemas.openxmlformats.org/officeDocument/2006/relationships/oleObject" Target="../embeddings/oleObject6.bin"/><Relationship Id="rId15" Type="http://schemas.openxmlformats.org/officeDocument/2006/relationships/oleObject" Target="../embeddings/oleObject9.bin"/><Relationship Id="rId23" Type="http://schemas.openxmlformats.org/officeDocument/2006/relationships/oleObject" Target="../embeddings/oleObject10.bin"/><Relationship Id="rId28" Type="http://schemas.openxmlformats.org/officeDocument/2006/relationships/image" Target="../media/image100.wmf"/><Relationship Id="rId36" Type="http://schemas.openxmlformats.org/officeDocument/2006/relationships/image" Target="../media/image102.wmf"/><Relationship Id="rId10" Type="http://schemas.openxmlformats.org/officeDocument/2006/relationships/image" Target="../media/image91.wmf"/><Relationship Id="rId19" Type="http://schemas.openxmlformats.org/officeDocument/2006/relationships/image" Target="../media/image108.png"/><Relationship Id="rId31" Type="http://schemas.openxmlformats.org/officeDocument/2006/relationships/oleObject" Target="../embeddings/oleObject12.bin"/><Relationship Id="rId4" Type="http://schemas.openxmlformats.org/officeDocument/2006/relationships/image" Target="../media/image90.wmf"/><Relationship Id="rId9" Type="http://schemas.openxmlformats.org/officeDocument/2006/relationships/oleObject" Target="../embeddings/oleObject7.bin"/><Relationship Id="rId14" Type="http://schemas.openxmlformats.org/officeDocument/2006/relationships/image" Target="../media/image92.wmf"/><Relationship Id="rId22" Type="http://schemas.openxmlformats.org/officeDocument/2006/relationships/image" Target="../media/image111.png"/><Relationship Id="rId27" Type="http://schemas.openxmlformats.org/officeDocument/2006/relationships/oleObject" Target="../embeddings/oleObject11.bin"/><Relationship Id="rId30" Type="http://schemas.openxmlformats.org/officeDocument/2006/relationships/image" Target="../media/image101.wmf"/><Relationship Id="rId35" Type="http://schemas.openxmlformats.org/officeDocument/2006/relationships/oleObject" Target="../embeddings/oleObject13.bin"/><Relationship Id="rId3"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oleObject" Target="../embeddings/oleObject15.bin"/><Relationship Id="rId7" Type="http://schemas.openxmlformats.org/officeDocument/2006/relationships/image" Target="../media/image119.pn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0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4.png"/><Relationship Id="rId4" Type="http://schemas.openxmlformats.org/officeDocument/2006/relationships/image" Target="../media/image121.png"/></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128.png"/><Relationship Id="rId7" Type="http://schemas.openxmlformats.org/officeDocument/2006/relationships/image" Target="../media/image127.png"/><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24.wmf"/><Relationship Id="rId5" Type="http://schemas.openxmlformats.org/officeDocument/2006/relationships/oleObject" Target="../embeddings/oleObject16.bin"/><Relationship Id="rId4" Type="http://schemas.openxmlformats.org/officeDocument/2006/relationships/image" Target="../media/image126.png"/><Relationship Id="rId9" Type="http://schemas.openxmlformats.org/officeDocument/2006/relationships/image" Target="../media/image125.wmf"/></Relationships>
</file>

<file path=ppt/slides/_rels/slide34.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image" Target="../media/image131.png"/><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32.png"/><Relationship Id="rId11" Type="http://schemas.openxmlformats.org/officeDocument/2006/relationships/image" Target="../media/image130.wmf"/><Relationship Id="rId5" Type="http://schemas.openxmlformats.org/officeDocument/2006/relationships/image" Target="../media/image128.wmf"/><Relationship Id="rId10" Type="http://schemas.openxmlformats.org/officeDocument/2006/relationships/oleObject" Target="../embeddings/oleObject20.bin"/><Relationship Id="rId4" Type="http://schemas.openxmlformats.org/officeDocument/2006/relationships/oleObject" Target="../embeddings/oleObject18.bin"/><Relationship Id="rId9" Type="http://schemas.openxmlformats.org/officeDocument/2006/relationships/image" Target="../media/image1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8" Type="http://schemas.openxmlformats.org/officeDocument/2006/relationships/image" Target="../media/image137.wmf"/><Relationship Id="rId13"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139.wmf"/><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image" Target="../media/image136.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138.wmf"/><Relationship Id="rId4" Type="http://schemas.openxmlformats.org/officeDocument/2006/relationships/image" Target="../media/image135.wmf"/><Relationship Id="rId9" Type="http://schemas.openxmlformats.org/officeDocument/2006/relationships/oleObject" Target="../embeddings/oleObject24.bin"/><Relationship Id="rId14" Type="http://schemas.openxmlformats.org/officeDocument/2006/relationships/image" Target="../media/image140.wmf"/></Relationships>
</file>

<file path=ppt/slides/_rels/slide39.xml.rels><?xml version="1.0" encoding="UTF-8" standalone="yes"?>
<Relationships xmlns="http://schemas.openxmlformats.org/package/2006/relationships"><Relationship Id="rId8" Type="http://schemas.openxmlformats.org/officeDocument/2006/relationships/image" Target="../media/image143.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145.wmf"/><Relationship Id="rId2" Type="http://schemas.openxmlformats.org/officeDocument/2006/relationships/slideLayout" Target="../slideLayouts/slideLayout13.xml"/><Relationship Id="rId1" Type="http://schemas.openxmlformats.org/officeDocument/2006/relationships/vmlDrawing" Target="../drawings/vmlDrawing10.vml"/><Relationship Id="rId6" Type="http://schemas.openxmlformats.org/officeDocument/2006/relationships/image" Target="../media/image142.wmf"/><Relationship Id="rId11" Type="http://schemas.openxmlformats.org/officeDocument/2006/relationships/oleObject" Target="../embeddings/oleObject31.bin"/><Relationship Id="rId5" Type="http://schemas.openxmlformats.org/officeDocument/2006/relationships/oleObject" Target="../embeddings/oleObject28.bin"/><Relationship Id="rId15" Type="http://schemas.openxmlformats.org/officeDocument/2006/relationships/image" Target="../media/image150.png"/><Relationship Id="rId10" Type="http://schemas.openxmlformats.org/officeDocument/2006/relationships/image" Target="../media/image144.wmf"/><Relationship Id="rId4" Type="http://schemas.openxmlformats.org/officeDocument/2006/relationships/image" Target="../media/image141.wmf"/><Relationship Id="rId9" Type="http://schemas.openxmlformats.org/officeDocument/2006/relationships/oleObject" Target="../embeddings/oleObject30.bin"/><Relationship Id="rId14" Type="http://schemas.openxmlformats.org/officeDocument/2006/relationships/image" Target="../media/image146.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149.wmf"/><Relationship Id="rId2" Type="http://schemas.openxmlformats.org/officeDocument/2006/relationships/slideLayout" Target="../slideLayouts/slideLayout13.xml"/><Relationship Id="rId1" Type="http://schemas.openxmlformats.org/officeDocument/2006/relationships/vmlDrawing" Target="../drawings/vmlDrawing11.vml"/><Relationship Id="rId6" Type="http://schemas.openxmlformats.org/officeDocument/2006/relationships/image" Target="../media/image148.wmf"/><Relationship Id="rId11" Type="http://schemas.openxmlformats.org/officeDocument/2006/relationships/oleObject" Target="../embeddings/oleObject38.bin"/><Relationship Id="rId5" Type="http://schemas.openxmlformats.org/officeDocument/2006/relationships/oleObject" Target="../embeddings/oleObject34.bin"/><Relationship Id="rId10" Type="http://schemas.openxmlformats.org/officeDocument/2006/relationships/oleObject" Target="../embeddings/oleObject37.bin"/><Relationship Id="rId4" Type="http://schemas.openxmlformats.org/officeDocument/2006/relationships/image" Target="../media/image147.wmf"/><Relationship Id="rId9" Type="http://schemas.openxmlformats.org/officeDocument/2006/relationships/image" Target="../media/image139.wmf"/></Relationships>
</file>

<file path=ppt/slides/_rels/slide41.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slideLayout" Target="../slideLayouts/slideLayout13.xml"/><Relationship Id="rId1" Type="http://schemas.openxmlformats.org/officeDocument/2006/relationships/vmlDrawing" Target="../drawings/vmlDrawing12.vml"/><Relationship Id="rId5" Type="http://schemas.openxmlformats.org/officeDocument/2006/relationships/image" Target="../media/image150.wmf"/><Relationship Id="rId4" Type="http://schemas.openxmlformats.org/officeDocument/2006/relationships/oleObject" Target="../embeddings/oleObject39.bin"/></Relationships>
</file>

<file path=ppt/slides/_rels/slide42.xml.rels><?xml version="1.0" encoding="UTF-8" standalone="yes"?>
<Relationships xmlns="http://schemas.openxmlformats.org/package/2006/relationships"><Relationship Id="rId8" Type="http://schemas.openxmlformats.org/officeDocument/2006/relationships/image" Target="../media/image154.wmf"/><Relationship Id="rId13" Type="http://schemas.openxmlformats.org/officeDocument/2006/relationships/oleObject" Target="../embeddings/oleObject45.bin"/><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156.wmf"/><Relationship Id="rId2" Type="http://schemas.openxmlformats.org/officeDocument/2006/relationships/slideLayout" Target="../slideLayouts/slideLayout13.xml"/><Relationship Id="rId16" Type="http://schemas.openxmlformats.org/officeDocument/2006/relationships/image" Target="../media/image158.wmf"/><Relationship Id="rId1" Type="http://schemas.openxmlformats.org/officeDocument/2006/relationships/vmlDrawing" Target="../drawings/vmlDrawing13.vml"/><Relationship Id="rId6" Type="http://schemas.openxmlformats.org/officeDocument/2006/relationships/image" Target="../media/image153.wmf"/><Relationship Id="rId11" Type="http://schemas.openxmlformats.org/officeDocument/2006/relationships/oleObject" Target="../embeddings/oleObject44.bin"/><Relationship Id="rId5" Type="http://schemas.openxmlformats.org/officeDocument/2006/relationships/oleObject" Target="../embeddings/oleObject41.bin"/><Relationship Id="rId15" Type="http://schemas.openxmlformats.org/officeDocument/2006/relationships/oleObject" Target="../embeddings/oleObject46.bin"/><Relationship Id="rId10" Type="http://schemas.openxmlformats.org/officeDocument/2006/relationships/image" Target="../media/image155.wmf"/><Relationship Id="rId4" Type="http://schemas.openxmlformats.org/officeDocument/2006/relationships/image" Target="../media/image152.wmf"/><Relationship Id="rId9" Type="http://schemas.openxmlformats.org/officeDocument/2006/relationships/oleObject" Target="../embeddings/oleObject43.bin"/><Relationship Id="rId14" Type="http://schemas.openxmlformats.org/officeDocument/2006/relationships/image" Target="../media/image157.wmf"/></Relationships>
</file>

<file path=ppt/slides/_rels/slide43.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8" Type="http://schemas.openxmlformats.org/officeDocument/2006/relationships/image" Target="../media/image162.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13.xml"/><Relationship Id="rId1" Type="http://schemas.openxmlformats.org/officeDocument/2006/relationships/vmlDrawing" Target="../drawings/vmlDrawing14.vml"/><Relationship Id="rId6" Type="http://schemas.openxmlformats.org/officeDocument/2006/relationships/image" Target="../media/image161.wmf"/><Relationship Id="rId5" Type="http://schemas.openxmlformats.org/officeDocument/2006/relationships/oleObject" Target="../embeddings/oleObject48.bin"/><Relationship Id="rId10" Type="http://schemas.openxmlformats.org/officeDocument/2006/relationships/image" Target="../media/image163.wmf"/><Relationship Id="rId4" Type="http://schemas.openxmlformats.org/officeDocument/2006/relationships/image" Target="../media/image160.wmf"/><Relationship Id="rId9" Type="http://schemas.openxmlformats.org/officeDocument/2006/relationships/oleObject" Target="../embeddings/oleObject50.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168.wmf"/><Relationship Id="rId18" Type="http://schemas.openxmlformats.org/officeDocument/2006/relationships/image" Target="../media/image170.wmf"/><Relationship Id="rId3" Type="http://schemas.openxmlformats.org/officeDocument/2006/relationships/notesSlide" Target="../notesSlides/notesSlide3.xml"/><Relationship Id="rId21" Type="http://schemas.openxmlformats.org/officeDocument/2006/relationships/oleObject" Target="../embeddings/oleObject60.bin"/><Relationship Id="rId7" Type="http://schemas.openxmlformats.org/officeDocument/2006/relationships/image" Target="../media/image165.wmf"/><Relationship Id="rId12" Type="http://schemas.openxmlformats.org/officeDocument/2006/relationships/oleObject" Target="../embeddings/oleObject55.bin"/><Relationship Id="rId17" Type="http://schemas.openxmlformats.org/officeDocument/2006/relationships/oleObject" Target="../embeddings/oleObject58.bin"/><Relationship Id="rId2" Type="http://schemas.openxmlformats.org/officeDocument/2006/relationships/slideLayout" Target="../slideLayouts/slideLayout13.xml"/><Relationship Id="rId16" Type="http://schemas.openxmlformats.org/officeDocument/2006/relationships/oleObject" Target="../embeddings/oleObject57.bin"/><Relationship Id="rId20" Type="http://schemas.openxmlformats.org/officeDocument/2006/relationships/image" Target="../media/image171.wmf"/><Relationship Id="rId1" Type="http://schemas.openxmlformats.org/officeDocument/2006/relationships/vmlDrawing" Target="../drawings/vmlDrawing15.vml"/><Relationship Id="rId6" Type="http://schemas.openxmlformats.org/officeDocument/2006/relationships/oleObject" Target="../embeddings/oleObject52.bin"/><Relationship Id="rId11" Type="http://schemas.openxmlformats.org/officeDocument/2006/relationships/image" Target="../media/image167.wmf"/><Relationship Id="rId24" Type="http://schemas.openxmlformats.org/officeDocument/2006/relationships/image" Target="../media/image172.wmf"/><Relationship Id="rId5" Type="http://schemas.openxmlformats.org/officeDocument/2006/relationships/image" Target="../media/image164.wmf"/><Relationship Id="rId15" Type="http://schemas.openxmlformats.org/officeDocument/2006/relationships/image" Target="../media/image169.wmf"/><Relationship Id="rId23" Type="http://schemas.openxmlformats.org/officeDocument/2006/relationships/oleObject" Target="../embeddings/oleObject61.bin"/><Relationship Id="rId10" Type="http://schemas.openxmlformats.org/officeDocument/2006/relationships/oleObject" Target="../embeddings/oleObject54.bin"/><Relationship Id="rId19" Type="http://schemas.openxmlformats.org/officeDocument/2006/relationships/oleObject" Target="../embeddings/oleObject59.bin"/><Relationship Id="rId4" Type="http://schemas.openxmlformats.org/officeDocument/2006/relationships/oleObject" Target="../embeddings/oleObject51.bin"/><Relationship Id="rId9" Type="http://schemas.openxmlformats.org/officeDocument/2006/relationships/image" Target="../media/image166.wmf"/><Relationship Id="rId14" Type="http://schemas.openxmlformats.org/officeDocument/2006/relationships/oleObject" Target="../embeddings/oleObject56.bin"/><Relationship Id="rId22" Type="http://schemas.openxmlformats.org/officeDocument/2006/relationships/image" Target="../media/image160.wmf"/></Relationships>
</file>

<file path=ppt/slides/_rels/slide47.xml.rels><?xml version="1.0" encoding="UTF-8" standalone="yes"?>
<Relationships xmlns="http://schemas.openxmlformats.org/package/2006/relationships"><Relationship Id="rId8" Type="http://schemas.openxmlformats.org/officeDocument/2006/relationships/image" Target="../media/image175.wmf"/><Relationship Id="rId13" Type="http://schemas.openxmlformats.org/officeDocument/2006/relationships/oleObject" Target="../embeddings/oleObject67.bin"/><Relationship Id="rId3" Type="http://schemas.openxmlformats.org/officeDocument/2006/relationships/oleObject" Target="../embeddings/oleObject62.bin"/><Relationship Id="rId7" Type="http://schemas.openxmlformats.org/officeDocument/2006/relationships/oleObject" Target="../embeddings/oleObject64.bin"/><Relationship Id="rId12" Type="http://schemas.openxmlformats.org/officeDocument/2006/relationships/image" Target="../media/image177.wmf"/><Relationship Id="rId2" Type="http://schemas.openxmlformats.org/officeDocument/2006/relationships/slideLayout" Target="../slideLayouts/slideLayout13.xml"/><Relationship Id="rId1" Type="http://schemas.openxmlformats.org/officeDocument/2006/relationships/vmlDrawing" Target="../drawings/vmlDrawing16.vml"/><Relationship Id="rId6" Type="http://schemas.openxmlformats.org/officeDocument/2006/relationships/image" Target="../media/image174.wmf"/><Relationship Id="rId11" Type="http://schemas.openxmlformats.org/officeDocument/2006/relationships/oleObject" Target="../embeddings/oleObject66.bin"/><Relationship Id="rId5" Type="http://schemas.openxmlformats.org/officeDocument/2006/relationships/oleObject" Target="../embeddings/oleObject63.bin"/><Relationship Id="rId10" Type="http://schemas.openxmlformats.org/officeDocument/2006/relationships/image" Target="../media/image176.wmf"/><Relationship Id="rId4" Type="http://schemas.openxmlformats.org/officeDocument/2006/relationships/image" Target="../media/image173.wmf"/><Relationship Id="rId9" Type="http://schemas.openxmlformats.org/officeDocument/2006/relationships/oleObject" Target="../embeddings/oleObject65.bin"/><Relationship Id="rId14" Type="http://schemas.openxmlformats.org/officeDocument/2006/relationships/image" Target="../media/image178.wmf"/></Relationships>
</file>

<file path=ppt/slides/_rels/slide48.xml.rels><?xml version="1.0" encoding="UTF-8" standalone="yes"?>
<Relationships xmlns="http://schemas.openxmlformats.org/package/2006/relationships"><Relationship Id="rId8" Type="http://schemas.openxmlformats.org/officeDocument/2006/relationships/image" Target="../media/image181.wmf"/><Relationship Id="rId13" Type="http://schemas.openxmlformats.org/officeDocument/2006/relationships/oleObject" Target="../embeddings/oleObject73.bin"/><Relationship Id="rId18" Type="http://schemas.openxmlformats.org/officeDocument/2006/relationships/image" Target="../media/image186.wmf"/><Relationship Id="rId3" Type="http://schemas.openxmlformats.org/officeDocument/2006/relationships/oleObject" Target="../embeddings/oleObject68.bin"/><Relationship Id="rId7" Type="http://schemas.openxmlformats.org/officeDocument/2006/relationships/oleObject" Target="../embeddings/oleObject70.bin"/><Relationship Id="rId12" Type="http://schemas.openxmlformats.org/officeDocument/2006/relationships/image" Target="../media/image183.wmf"/><Relationship Id="rId17" Type="http://schemas.openxmlformats.org/officeDocument/2006/relationships/oleObject" Target="../embeddings/oleObject75.bin"/><Relationship Id="rId2" Type="http://schemas.openxmlformats.org/officeDocument/2006/relationships/slideLayout" Target="../slideLayouts/slideLayout13.xml"/><Relationship Id="rId16" Type="http://schemas.openxmlformats.org/officeDocument/2006/relationships/image" Target="../media/image185.wmf"/><Relationship Id="rId20" Type="http://schemas.openxmlformats.org/officeDocument/2006/relationships/image" Target="../media/image187.emf"/><Relationship Id="rId1" Type="http://schemas.openxmlformats.org/officeDocument/2006/relationships/vmlDrawing" Target="../drawings/vmlDrawing17.vml"/><Relationship Id="rId6" Type="http://schemas.openxmlformats.org/officeDocument/2006/relationships/image" Target="../media/image180.wmf"/><Relationship Id="rId11" Type="http://schemas.openxmlformats.org/officeDocument/2006/relationships/oleObject" Target="../embeddings/oleObject72.bin"/><Relationship Id="rId5" Type="http://schemas.openxmlformats.org/officeDocument/2006/relationships/oleObject" Target="../embeddings/oleObject69.bin"/><Relationship Id="rId15" Type="http://schemas.openxmlformats.org/officeDocument/2006/relationships/oleObject" Target="../embeddings/oleObject74.bin"/><Relationship Id="rId10" Type="http://schemas.openxmlformats.org/officeDocument/2006/relationships/image" Target="../media/image182.wmf"/><Relationship Id="rId19" Type="http://schemas.openxmlformats.org/officeDocument/2006/relationships/oleObject" Target="../embeddings/oleObject76.bin"/><Relationship Id="rId4" Type="http://schemas.openxmlformats.org/officeDocument/2006/relationships/image" Target="../media/image179.wmf"/><Relationship Id="rId9" Type="http://schemas.openxmlformats.org/officeDocument/2006/relationships/oleObject" Target="../embeddings/oleObject71.bin"/><Relationship Id="rId14" Type="http://schemas.openxmlformats.org/officeDocument/2006/relationships/image" Target="../media/image184.wmf"/></Relationships>
</file>

<file path=ppt/slides/_rels/slide49.xml.rels><?xml version="1.0" encoding="UTF-8" standalone="yes"?>
<Relationships xmlns="http://schemas.openxmlformats.org/package/2006/relationships"><Relationship Id="rId8" Type="http://schemas.openxmlformats.org/officeDocument/2006/relationships/image" Target="../media/image190.w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slideLayout" Target="../slideLayouts/slideLayout13.xml"/><Relationship Id="rId1" Type="http://schemas.openxmlformats.org/officeDocument/2006/relationships/vmlDrawing" Target="../drawings/vmlDrawing18.vml"/><Relationship Id="rId6" Type="http://schemas.openxmlformats.org/officeDocument/2006/relationships/image" Target="../media/image189.wmf"/><Relationship Id="rId5" Type="http://schemas.openxmlformats.org/officeDocument/2006/relationships/oleObject" Target="../embeddings/oleObject78.bin"/><Relationship Id="rId10" Type="http://schemas.openxmlformats.org/officeDocument/2006/relationships/image" Target="../media/image191.wmf"/><Relationship Id="rId4" Type="http://schemas.openxmlformats.org/officeDocument/2006/relationships/image" Target="../media/image188.wmf"/><Relationship Id="rId9" Type="http://schemas.openxmlformats.org/officeDocument/2006/relationships/oleObject" Target="../embeddings/oleObject80.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197.wmf"/><Relationship Id="rId3" Type="http://schemas.openxmlformats.org/officeDocument/2006/relationships/notesSlide" Target="../notesSlides/notesSlide4.xml"/><Relationship Id="rId7" Type="http://schemas.openxmlformats.org/officeDocument/2006/relationships/image" Target="../media/image194.wmf"/><Relationship Id="rId12" Type="http://schemas.openxmlformats.org/officeDocument/2006/relationships/oleObject" Target="../embeddings/oleObject85.bin"/><Relationship Id="rId17" Type="http://schemas.openxmlformats.org/officeDocument/2006/relationships/image" Target="../media/image199.wmf"/><Relationship Id="rId2" Type="http://schemas.openxmlformats.org/officeDocument/2006/relationships/slideLayout" Target="../slideLayouts/slideLayout13.xml"/><Relationship Id="rId16" Type="http://schemas.openxmlformats.org/officeDocument/2006/relationships/oleObject" Target="../embeddings/oleObject87.bin"/><Relationship Id="rId1" Type="http://schemas.openxmlformats.org/officeDocument/2006/relationships/vmlDrawing" Target="../drawings/vmlDrawing19.vml"/><Relationship Id="rId6" Type="http://schemas.openxmlformats.org/officeDocument/2006/relationships/oleObject" Target="../embeddings/oleObject82.bin"/><Relationship Id="rId11" Type="http://schemas.openxmlformats.org/officeDocument/2006/relationships/image" Target="../media/image196.wmf"/><Relationship Id="rId5" Type="http://schemas.openxmlformats.org/officeDocument/2006/relationships/image" Target="../media/image193.wmf"/><Relationship Id="rId15" Type="http://schemas.openxmlformats.org/officeDocument/2006/relationships/image" Target="../media/image198.wmf"/><Relationship Id="rId10" Type="http://schemas.openxmlformats.org/officeDocument/2006/relationships/oleObject" Target="../embeddings/oleObject84.bin"/><Relationship Id="rId4" Type="http://schemas.openxmlformats.org/officeDocument/2006/relationships/oleObject" Target="../embeddings/oleObject81.bin"/><Relationship Id="rId9" Type="http://schemas.openxmlformats.org/officeDocument/2006/relationships/image" Target="../media/image195.wmf"/><Relationship Id="rId14" Type="http://schemas.openxmlformats.org/officeDocument/2006/relationships/oleObject" Target="../embeddings/oleObject86.bin"/></Relationships>
</file>

<file path=ppt/slides/_rels/slide53.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200.png"/><Relationship Id="rId1" Type="http://schemas.openxmlformats.org/officeDocument/2006/relationships/slideLayout" Target="../slideLayouts/slideLayout13.xml"/><Relationship Id="rId5" Type="http://schemas.openxmlformats.org/officeDocument/2006/relationships/image" Target="../media/image203.png"/><Relationship Id="rId4" Type="http://schemas.openxmlformats.org/officeDocument/2006/relationships/image" Target="../media/image202.png"/></Relationships>
</file>

<file path=ppt/slides/_rels/slide54.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206.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slideLayout" Target="../slideLayouts/slideLayout13.xml"/><Relationship Id="rId1" Type="http://schemas.openxmlformats.org/officeDocument/2006/relationships/tags" Target="../tags/tag11.xml"/><Relationship Id="rId5" Type="http://schemas.openxmlformats.org/officeDocument/2006/relationships/image" Target="../media/image210.png"/><Relationship Id="rId4" Type="http://schemas.openxmlformats.org/officeDocument/2006/relationships/image" Target="../media/image209.png"/></Relationships>
</file>

<file path=ppt/slides/_rels/slide57.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3.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15.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image" Target="../media/image217.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8" Type="http://schemas.openxmlformats.org/officeDocument/2006/relationships/image" Target="../media/image220.wmf"/><Relationship Id="rId13" Type="http://schemas.openxmlformats.org/officeDocument/2006/relationships/oleObject" Target="../embeddings/oleObject92.bin"/><Relationship Id="rId3" Type="http://schemas.openxmlformats.org/officeDocument/2006/relationships/notesSlide" Target="../notesSlides/notesSlide5.xml"/><Relationship Id="rId7" Type="http://schemas.openxmlformats.org/officeDocument/2006/relationships/oleObject" Target="../embeddings/oleObject89.bin"/><Relationship Id="rId12" Type="http://schemas.openxmlformats.org/officeDocument/2006/relationships/image" Target="../media/image222.wmf"/><Relationship Id="rId2" Type="http://schemas.openxmlformats.org/officeDocument/2006/relationships/slideLayout" Target="../slideLayouts/slideLayout13.xml"/><Relationship Id="rId1" Type="http://schemas.openxmlformats.org/officeDocument/2006/relationships/vmlDrawing" Target="../drawings/vmlDrawing20.vml"/><Relationship Id="rId6" Type="http://schemas.openxmlformats.org/officeDocument/2006/relationships/image" Target="../media/image219.wmf"/><Relationship Id="rId11" Type="http://schemas.openxmlformats.org/officeDocument/2006/relationships/oleObject" Target="../embeddings/oleObject91.bin"/><Relationship Id="rId5" Type="http://schemas.openxmlformats.org/officeDocument/2006/relationships/oleObject" Target="../embeddings/oleObject88.bin"/><Relationship Id="rId10" Type="http://schemas.openxmlformats.org/officeDocument/2006/relationships/image" Target="../media/image221.wmf"/><Relationship Id="rId4" Type="http://schemas.openxmlformats.org/officeDocument/2006/relationships/image" Target="../media/image224.png"/><Relationship Id="rId9" Type="http://schemas.openxmlformats.org/officeDocument/2006/relationships/oleObject" Target="../embeddings/oleObject90.bin"/><Relationship Id="rId14" Type="http://schemas.openxmlformats.org/officeDocument/2006/relationships/image" Target="../media/image223.wmf"/></Relationships>
</file>

<file path=ppt/slides/_rels/slide63.xml.rels><?xml version="1.0" encoding="UTF-8" standalone="yes"?>
<Relationships xmlns="http://schemas.openxmlformats.org/package/2006/relationships"><Relationship Id="rId8" Type="http://schemas.openxmlformats.org/officeDocument/2006/relationships/image" Target="../media/image228.emf"/><Relationship Id="rId3" Type="http://schemas.openxmlformats.org/officeDocument/2006/relationships/oleObject" Target="../embeddings/oleObject93.bin"/><Relationship Id="rId7" Type="http://schemas.openxmlformats.org/officeDocument/2006/relationships/image" Target="../media/image227.emf"/><Relationship Id="rId2" Type="http://schemas.openxmlformats.org/officeDocument/2006/relationships/slideLayout" Target="../slideLayouts/slideLayout13.xml"/><Relationship Id="rId1" Type="http://schemas.openxmlformats.org/officeDocument/2006/relationships/vmlDrawing" Target="../drawings/vmlDrawing21.vml"/><Relationship Id="rId6" Type="http://schemas.openxmlformats.org/officeDocument/2006/relationships/image" Target="../media/image226.wmf"/><Relationship Id="rId5" Type="http://schemas.openxmlformats.org/officeDocument/2006/relationships/oleObject" Target="../embeddings/oleObject94.bin"/><Relationship Id="rId4" Type="http://schemas.openxmlformats.org/officeDocument/2006/relationships/image" Target="../media/image225.wmf"/></Relationships>
</file>

<file path=ppt/slides/_rels/slide64.xml.rels><?xml version="1.0" encoding="UTF-8" standalone="yes"?>
<Relationships xmlns="http://schemas.openxmlformats.org/package/2006/relationships"><Relationship Id="rId8" Type="http://schemas.openxmlformats.org/officeDocument/2006/relationships/image" Target="../media/image220.wmf"/><Relationship Id="rId3" Type="http://schemas.openxmlformats.org/officeDocument/2006/relationships/notesSlide" Target="../notesSlides/notesSlide6.xml"/><Relationship Id="rId7" Type="http://schemas.openxmlformats.org/officeDocument/2006/relationships/oleObject" Target="../embeddings/oleObject96.bin"/><Relationship Id="rId12" Type="http://schemas.openxmlformats.org/officeDocument/2006/relationships/image" Target="../media/image231.wmf"/><Relationship Id="rId2" Type="http://schemas.openxmlformats.org/officeDocument/2006/relationships/slideLayout" Target="../slideLayouts/slideLayout13.xml"/><Relationship Id="rId1" Type="http://schemas.openxmlformats.org/officeDocument/2006/relationships/vmlDrawing" Target="../drawings/vmlDrawing22.vml"/><Relationship Id="rId6" Type="http://schemas.openxmlformats.org/officeDocument/2006/relationships/image" Target="../media/image229.wmf"/><Relationship Id="rId11" Type="http://schemas.openxmlformats.org/officeDocument/2006/relationships/oleObject" Target="../embeddings/oleObject98.bin"/><Relationship Id="rId5" Type="http://schemas.openxmlformats.org/officeDocument/2006/relationships/oleObject" Target="../embeddings/oleObject95.bin"/><Relationship Id="rId10" Type="http://schemas.openxmlformats.org/officeDocument/2006/relationships/image" Target="../media/image230.wmf"/><Relationship Id="rId4" Type="http://schemas.openxmlformats.org/officeDocument/2006/relationships/image" Target="../media/image232.png"/><Relationship Id="rId9" Type="http://schemas.openxmlformats.org/officeDocument/2006/relationships/oleObject" Target="../embeddings/oleObject97.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13.xml"/><Relationship Id="rId1" Type="http://schemas.openxmlformats.org/officeDocument/2006/relationships/vmlDrawing" Target="../drawings/vmlDrawing23.vml"/><Relationship Id="rId6" Type="http://schemas.openxmlformats.org/officeDocument/2006/relationships/image" Target="../media/image235.emf"/><Relationship Id="rId5" Type="http://schemas.openxmlformats.org/officeDocument/2006/relationships/image" Target="../media/image234.emf"/><Relationship Id="rId4" Type="http://schemas.openxmlformats.org/officeDocument/2006/relationships/image" Target="../media/image233.wmf"/></Relationships>
</file>

<file path=ppt/slides/_rels/slide66.xml.rels><?xml version="1.0" encoding="UTF-8" standalone="yes"?>
<Relationships xmlns="http://schemas.openxmlformats.org/package/2006/relationships"><Relationship Id="rId8" Type="http://schemas.openxmlformats.org/officeDocument/2006/relationships/image" Target="../media/image238.wmf"/><Relationship Id="rId3" Type="http://schemas.openxmlformats.org/officeDocument/2006/relationships/oleObject" Target="../embeddings/oleObject100.bin"/><Relationship Id="rId7" Type="http://schemas.openxmlformats.org/officeDocument/2006/relationships/oleObject" Target="../embeddings/oleObject102.bin"/><Relationship Id="rId2" Type="http://schemas.openxmlformats.org/officeDocument/2006/relationships/slideLayout" Target="../slideLayouts/slideLayout13.xml"/><Relationship Id="rId1" Type="http://schemas.openxmlformats.org/officeDocument/2006/relationships/vmlDrawing" Target="../drawings/vmlDrawing24.vml"/><Relationship Id="rId6" Type="http://schemas.openxmlformats.org/officeDocument/2006/relationships/image" Target="../media/image237.wmf"/><Relationship Id="rId5" Type="http://schemas.openxmlformats.org/officeDocument/2006/relationships/oleObject" Target="../embeddings/oleObject101.bin"/><Relationship Id="rId4" Type="http://schemas.openxmlformats.org/officeDocument/2006/relationships/image" Target="../media/image236.wmf"/></Relationships>
</file>

<file path=ppt/slides/_rels/slide67.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9.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8" Type="http://schemas.openxmlformats.org/officeDocument/2006/relationships/image" Target="../media/image243.wmf"/><Relationship Id="rId3" Type="http://schemas.openxmlformats.org/officeDocument/2006/relationships/oleObject" Target="../embeddings/oleObject103.bin"/><Relationship Id="rId7" Type="http://schemas.openxmlformats.org/officeDocument/2006/relationships/oleObject" Target="../embeddings/oleObject105.bin"/><Relationship Id="rId2" Type="http://schemas.openxmlformats.org/officeDocument/2006/relationships/slideLayout" Target="../slideLayouts/slideLayout13.xml"/><Relationship Id="rId1" Type="http://schemas.openxmlformats.org/officeDocument/2006/relationships/vmlDrawing" Target="../drawings/vmlDrawing25.vml"/><Relationship Id="rId6" Type="http://schemas.openxmlformats.org/officeDocument/2006/relationships/image" Target="../media/image242.wmf"/><Relationship Id="rId5" Type="http://schemas.openxmlformats.org/officeDocument/2006/relationships/oleObject" Target="../embeddings/oleObject104.bin"/><Relationship Id="rId4" Type="http://schemas.openxmlformats.org/officeDocument/2006/relationships/image" Target="../media/image241.wmf"/><Relationship Id="rId9" Type="http://schemas.openxmlformats.org/officeDocument/2006/relationships/image" Target="../media/image244.png"/></Relationships>
</file>

<file path=ppt/slides/_rels/slide69.xml.rels><?xml version="1.0" encoding="UTF-8" standalone="yes"?>
<Relationships xmlns="http://schemas.openxmlformats.org/package/2006/relationships"><Relationship Id="rId8" Type="http://schemas.openxmlformats.org/officeDocument/2006/relationships/image" Target="../media/image247.wmf"/><Relationship Id="rId13" Type="http://schemas.openxmlformats.org/officeDocument/2006/relationships/oleObject" Target="../embeddings/oleObject111.bin"/><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249.wmf"/><Relationship Id="rId2" Type="http://schemas.openxmlformats.org/officeDocument/2006/relationships/slideLayout" Target="../slideLayouts/slideLayout13.xml"/><Relationship Id="rId1" Type="http://schemas.openxmlformats.org/officeDocument/2006/relationships/vmlDrawing" Target="../drawings/vmlDrawing26.vml"/><Relationship Id="rId6" Type="http://schemas.openxmlformats.org/officeDocument/2006/relationships/image" Target="../media/image246.wmf"/><Relationship Id="rId11" Type="http://schemas.openxmlformats.org/officeDocument/2006/relationships/oleObject" Target="../embeddings/oleObject110.bin"/><Relationship Id="rId5" Type="http://schemas.openxmlformats.org/officeDocument/2006/relationships/oleObject" Target="../embeddings/oleObject107.bin"/><Relationship Id="rId10" Type="http://schemas.openxmlformats.org/officeDocument/2006/relationships/image" Target="../media/image248.wmf"/><Relationship Id="rId4" Type="http://schemas.openxmlformats.org/officeDocument/2006/relationships/image" Target="../media/image245.wmf"/><Relationship Id="rId9" Type="http://schemas.openxmlformats.org/officeDocument/2006/relationships/oleObject" Target="../embeddings/oleObject109.bin"/><Relationship Id="rId14" Type="http://schemas.openxmlformats.org/officeDocument/2006/relationships/image" Target="../media/image250.wmf"/></Relationships>
</file>

<file path=ppt/slides/_rels/slide70.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114.bin"/><Relationship Id="rId13" Type="http://schemas.openxmlformats.org/officeDocument/2006/relationships/oleObject" Target="../embeddings/oleObject116.bin"/><Relationship Id="rId3" Type="http://schemas.openxmlformats.org/officeDocument/2006/relationships/oleObject" Target="../embeddings/oleObject112.bin"/><Relationship Id="rId7" Type="http://schemas.openxmlformats.org/officeDocument/2006/relationships/image" Target="../media/image258.png"/><Relationship Id="rId12" Type="http://schemas.openxmlformats.org/officeDocument/2006/relationships/image" Target="../media/image255.wmf"/><Relationship Id="rId2" Type="http://schemas.openxmlformats.org/officeDocument/2006/relationships/slideLayout" Target="../slideLayouts/slideLayout13.xml"/><Relationship Id="rId16" Type="http://schemas.openxmlformats.org/officeDocument/2006/relationships/image" Target="../media/image257.wmf"/><Relationship Id="rId1" Type="http://schemas.openxmlformats.org/officeDocument/2006/relationships/vmlDrawing" Target="../drawings/vmlDrawing27.vml"/><Relationship Id="rId6" Type="http://schemas.openxmlformats.org/officeDocument/2006/relationships/image" Target="../media/image253.wmf"/><Relationship Id="rId11" Type="http://schemas.openxmlformats.org/officeDocument/2006/relationships/oleObject" Target="../embeddings/oleObject115.bin"/><Relationship Id="rId5" Type="http://schemas.openxmlformats.org/officeDocument/2006/relationships/oleObject" Target="../embeddings/oleObject113.bin"/><Relationship Id="rId15" Type="http://schemas.openxmlformats.org/officeDocument/2006/relationships/oleObject" Target="../embeddings/oleObject117.bin"/><Relationship Id="rId10" Type="http://schemas.openxmlformats.org/officeDocument/2006/relationships/image" Target="../media/image259.png"/><Relationship Id="rId4" Type="http://schemas.openxmlformats.org/officeDocument/2006/relationships/image" Target="../media/image252.wmf"/><Relationship Id="rId9" Type="http://schemas.openxmlformats.org/officeDocument/2006/relationships/image" Target="../media/image254.wmf"/><Relationship Id="rId14" Type="http://schemas.openxmlformats.org/officeDocument/2006/relationships/image" Target="../media/image256.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265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C24E724B-E833-40C9-BC09-6E3704EF9BF8}"/>
              </a:ext>
            </a:extLst>
          </p:cNvPr>
          <p:cNvSpPr>
            <a:spLocks noGrp="1"/>
          </p:cNvSpPr>
          <p:nvPr>
            <p:ph type="ctrTitle"/>
          </p:nvPr>
        </p:nvSpPr>
        <p:spPr/>
        <p:txBody>
          <a:bodyPr/>
          <a:lstStyle/>
          <a:p>
            <a:r>
              <a:rPr lang="zh-CN" altLang="en-US" sz="3800" dirty="0"/>
              <a:t>第三章 周期信号的傅里叶级数表示</a:t>
            </a:r>
          </a:p>
        </p:txBody>
      </p:sp>
      <p:sp>
        <p:nvSpPr>
          <p:cNvPr id="3" name="副标题 2">
            <a:extLst>
              <a:ext uri="{FF2B5EF4-FFF2-40B4-BE49-F238E27FC236}">
                <a16:creationId xmlns:a16="http://schemas.microsoft.com/office/drawing/2014/main" id="{BF5A34D4-FFCF-4B2E-B5DC-5D5F4D85D4A3}"/>
              </a:ext>
            </a:extLst>
          </p:cNvPr>
          <p:cNvSpPr>
            <a:spLocks noGrp="1"/>
          </p:cNvSpPr>
          <p:nvPr>
            <p:ph type="subTitle" idx="1"/>
          </p:nvPr>
        </p:nvSpPr>
        <p:spPr/>
        <p:txBody>
          <a:bodyPr/>
          <a:lstStyle/>
          <a:p>
            <a:pPr>
              <a:defRPr/>
            </a:pPr>
            <a:endParaRPr lang="zh-CN" altLang="en-US" dirty="0"/>
          </a:p>
        </p:txBody>
      </p:sp>
      <p:sp>
        <p:nvSpPr>
          <p:cNvPr id="4" name="灯片编号占位符 3">
            <a:extLst>
              <a:ext uri="{FF2B5EF4-FFF2-40B4-BE49-F238E27FC236}">
                <a16:creationId xmlns:a16="http://schemas.microsoft.com/office/drawing/2014/main" id="{D241AE7F-9057-41E6-BD00-50A6F315421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20A0172-1A60-4115-BAC1-FB028B5C41A2}" type="slidenum">
              <a:rPr lang="zh-CN" altLang="en-US">
                <a:solidFill>
                  <a:srgbClr val="898989"/>
                </a:solidFill>
                <a:latin typeface="Calibri" panose="020F0502020204030204" pitchFamily="34" charset="0"/>
              </a:rPr>
              <a:pPr eaLnBrk="1" hangingPunct="1"/>
              <a:t>1</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0128BDCC-4B3D-41CE-82E9-68AC0D0EF8D1}"/>
              </a:ext>
            </a:extLst>
          </p:cNvPr>
          <p:cNvSpPr>
            <a:spLocks noGrp="1"/>
          </p:cNvSpPr>
          <p:nvPr>
            <p:ph type="title"/>
          </p:nvPr>
        </p:nvSpPr>
        <p:spPr/>
        <p:txBody>
          <a:bodyPr/>
          <a:lstStyle/>
          <a:p>
            <a:r>
              <a:rPr lang="en-US" altLang="zh-CN" dirty="0"/>
              <a:t>3.1 </a:t>
            </a:r>
            <a:r>
              <a:rPr lang="zh-CN" altLang="en-US" dirty="0"/>
              <a:t>引言</a:t>
            </a:r>
          </a:p>
        </p:txBody>
      </p:sp>
      <p:sp>
        <p:nvSpPr>
          <p:cNvPr id="74755" name="内容占位符 2">
            <a:extLst>
              <a:ext uri="{FF2B5EF4-FFF2-40B4-BE49-F238E27FC236}">
                <a16:creationId xmlns:a16="http://schemas.microsoft.com/office/drawing/2014/main" id="{66DB012B-BEB8-40FD-8E9B-21CA2A0AD14D}"/>
              </a:ext>
            </a:extLst>
          </p:cNvPr>
          <p:cNvSpPr>
            <a:spLocks noGrp="1"/>
          </p:cNvSpPr>
          <p:nvPr>
            <p:ph idx="1"/>
          </p:nvPr>
        </p:nvSpPr>
        <p:spPr>
          <a:xfrm>
            <a:off x="457200" y="1285875"/>
            <a:ext cx="8229600" cy="4797724"/>
          </a:xfrm>
        </p:spPr>
        <p:txBody>
          <a:bodyPr>
            <a:spAutoFit/>
          </a:bodyPr>
          <a:lstStyle/>
          <a:p>
            <a:pPr>
              <a:lnSpc>
                <a:spcPct val="110000"/>
              </a:lnSpc>
              <a:spcBef>
                <a:spcPts val="0"/>
              </a:spcBef>
              <a:spcAft>
                <a:spcPts val="600"/>
              </a:spcAft>
            </a:pPr>
            <a:r>
              <a:rPr lang="zh-CN" altLang="en-US" sz="2800" b="0" dirty="0"/>
              <a:t>从信号分解的角度出发，基本信号应满足两个要求：</a:t>
            </a:r>
            <a:endParaRPr lang="en-US" altLang="zh-CN" sz="2800" b="0" dirty="0"/>
          </a:p>
          <a:p>
            <a:pPr lvl="1">
              <a:lnSpc>
                <a:spcPct val="110000"/>
              </a:lnSpc>
              <a:spcBef>
                <a:spcPts val="0"/>
              </a:spcBef>
              <a:spcAft>
                <a:spcPts val="600"/>
              </a:spcAft>
            </a:pPr>
            <a:r>
              <a:rPr lang="zh-CN" altLang="en-US" b="0" dirty="0"/>
              <a:t>本身简单，且</a:t>
            </a:r>
            <a:r>
              <a:rPr lang="en-US" altLang="zh-CN" b="0" dirty="0"/>
              <a:t>LTI</a:t>
            </a:r>
            <a:r>
              <a:rPr lang="zh-CN" altLang="en-US" b="0" dirty="0"/>
              <a:t>系统对它的响应能简便得到；</a:t>
            </a:r>
            <a:endParaRPr lang="en-US" altLang="zh-CN" b="0" dirty="0"/>
          </a:p>
          <a:p>
            <a:pPr lvl="1">
              <a:lnSpc>
                <a:spcPct val="110000"/>
              </a:lnSpc>
              <a:spcBef>
                <a:spcPts val="0"/>
              </a:spcBef>
              <a:spcAft>
                <a:spcPts val="600"/>
              </a:spcAft>
            </a:pPr>
            <a:r>
              <a:rPr lang="zh-CN" altLang="en-US" b="0" dirty="0"/>
              <a:t>具有普遍性，能够用以构成相当广泛的信号。</a:t>
            </a:r>
            <a:endParaRPr lang="en-US" altLang="zh-CN" b="0" dirty="0"/>
          </a:p>
          <a:p>
            <a:pPr>
              <a:lnSpc>
                <a:spcPct val="110000"/>
              </a:lnSpc>
              <a:spcBef>
                <a:spcPts val="0"/>
              </a:spcBef>
              <a:spcAft>
                <a:spcPts val="600"/>
              </a:spcAft>
            </a:pPr>
            <a:endParaRPr lang="en-US" altLang="zh-CN" sz="2800" b="0" dirty="0"/>
          </a:p>
          <a:p>
            <a:pPr>
              <a:lnSpc>
                <a:spcPct val="110000"/>
              </a:lnSpc>
              <a:spcBef>
                <a:spcPts val="0"/>
              </a:spcBef>
              <a:spcAft>
                <a:spcPts val="600"/>
              </a:spcAft>
            </a:pPr>
            <a:r>
              <a:rPr lang="zh-CN" altLang="en-US" sz="2800" b="0" dirty="0"/>
              <a:t>信号与</a:t>
            </a:r>
            <a:r>
              <a:rPr lang="en-US" altLang="zh-CN" sz="2800" b="0" dirty="0"/>
              <a:t>LTI</a:t>
            </a:r>
            <a:r>
              <a:rPr lang="zh-CN" altLang="en-US" sz="2800" b="0" dirty="0"/>
              <a:t>系统的傅里叶级数分析方法基础：</a:t>
            </a:r>
            <a:endParaRPr lang="en-US" altLang="zh-CN" sz="2800" b="0" dirty="0"/>
          </a:p>
          <a:p>
            <a:pPr lvl="1">
              <a:lnSpc>
                <a:spcPct val="110000"/>
              </a:lnSpc>
              <a:spcBef>
                <a:spcPts val="0"/>
              </a:spcBef>
              <a:spcAft>
                <a:spcPts val="600"/>
              </a:spcAft>
            </a:pPr>
            <a:r>
              <a:rPr lang="zh-CN" altLang="en-US" b="0" dirty="0"/>
              <a:t>周期信号可以分解为复指数信号的线性组合；</a:t>
            </a:r>
            <a:endParaRPr lang="en-US" altLang="zh-CN" b="0" dirty="0"/>
          </a:p>
          <a:p>
            <a:pPr lvl="1">
              <a:lnSpc>
                <a:spcPct val="110000"/>
              </a:lnSpc>
              <a:spcBef>
                <a:spcPts val="0"/>
              </a:spcBef>
              <a:spcAft>
                <a:spcPts val="600"/>
              </a:spcAft>
            </a:pPr>
            <a:r>
              <a:rPr lang="en-US" altLang="zh-CN" b="0" dirty="0"/>
              <a:t>LTI</a:t>
            </a:r>
            <a:r>
              <a:rPr lang="zh-CN" altLang="en-US" b="0" dirty="0"/>
              <a:t>系统对复指数信号的响应具有特殊的简单形式。</a:t>
            </a:r>
          </a:p>
        </p:txBody>
      </p:sp>
      <p:sp>
        <p:nvSpPr>
          <p:cNvPr id="4" name="灯片编号占位符 3">
            <a:extLst>
              <a:ext uri="{FF2B5EF4-FFF2-40B4-BE49-F238E27FC236}">
                <a16:creationId xmlns:a16="http://schemas.microsoft.com/office/drawing/2014/main" id="{7FDA2B04-3C32-4956-BC99-BBEB732C64C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D9FAEF-DDA6-42A2-961C-F28F63EFF930}" type="slidenum">
              <a:rPr lang="zh-CN" altLang="en-US">
                <a:solidFill>
                  <a:srgbClr val="898989"/>
                </a:solidFill>
                <a:latin typeface="Calibri" panose="020F0502020204030204" pitchFamily="34" charset="0"/>
              </a:rPr>
              <a:pPr eaLnBrk="1" hangingPunct="1"/>
              <a:t>2</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标题 1">
            <a:extLst>
              <a:ext uri="{FF2B5EF4-FFF2-40B4-BE49-F238E27FC236}">
                <a16:creationId xmlns:a16="http://schemas.microsoft.com/office/drawing/2014/main" id="{3A537EE3-0AAD-4879-B116-50DA81FE0CC3}"/>
              </a:ext>
            </a:extLst>
          </p:cNvPr>
          <p:cNvSpPr>
            <a:spLocks noGrp="1"/>
          </p:cNvSpPr>
          <p:nvPr>
            <p:ph type="title"/>
          </p:nvPr>
        </p:nvSpPr>
        <p:spPr/>
        <p:txBody>
          <a:bodyPr/>
          <a:lstStyle/>
          <a:p>
            <a:r>
              <a:rPr lang="zh-CN" altLang="en-US"/>
              <a:t>引言</a:t>
            </a:r>
          </a:p>
        </p:txBody>
      </p:sp>
      <p:sp>
        <p:nvSpPr>
          <p:cNvPr id="14343" name="内容占位符 2">
            <a:extLst>
              <a:ext uri="{FF2B5EF4-FFF2-40B4-BE49-F238E27FC236}">
                <a16:creationId xmlns:a16="http://schemas.microsoft.com/office/drawing/2014/main" id="{557AE56A-C169-4828-A2EB-7B72A04C895A}"/>
              </a:ext>
            </a:extLst>
          </p:cNvPr>
          <p:cNvSpPr>
            <a:spLocks noGrp="1"/>
          </p:cNvSpPr>
          <p:nvPr>
            <p:ph idx="1"/>
          </p:nvPr>
        </p:nvSpPr>
        <p:spPr>
          <a:xfrm>
            <a:off x="457200" y="1285875"/>
            <a:ext cx="8229600" cy="1384995"/>
          </a:xfrm>
        </p:spPr>
        <p:txBody>
          <a:bodyPr>
            <a:spAutoFit/>
          </a:bodyPr>
          <a:lstStyle/>
          <a:p>
            <a:pPr algn="just"/>
            <a:r>
              <a:rPr lang="zh-CN" altLang="en-US" sz="2800" b="0" dirty="0"/>
              <a:t>基本思想：对于</a:t>
            </a:r>
            <a:r>
              <a:rPr lang="en-US" altLang="zh-CN" sz="2800" b="0" dirty="0"/>
              <a:t>LTI</a:t>
            </a:r>
            <a:r>
              <a:rPr lang="zh-CN" altLang="en-US" sz="2800" b="0" dirty="0"/>
              <a:t>系统，如果能把任意输入信号分解成</a:t>
            </a:r>
            <a:r>
              <a:rPr lang="zh-CN" altLang="en-US" sz="2800" b="0" dirty="0">
                <a:solidFill>
                  <a:srgbClr val="FF0000"/>
                </a:solidFill>
              </a:rPr>
              <a:t>基本信号的线性组合</a:t>
            </a:r>
            <a:r>
              <a:rPr lang="zh-CN" altLang="en-US" sz="2800" b="0" dirty="0"/>
              <a:t>，那么该系统的响应就是基本信号所对应响应的线性组合。</a:t>
            </a:r>
          </a:p>
        </p:txBody>
      </p:sp>
      <p:sp>
        <p:nvSpPr>
          <p:cNvPr id="4" name="灯片编号占位符 3">
            <a:extLst>
              <a:ext uri="{FF2B5EF4-FFF2-40B4-BE49-F238E27FC236}">
                <a16:creationId xmlns:a16="http://schemas.microsoft.com/office/drawing/2014/main" id="{4966BD3A-2983-4B7D-B226-078121166C6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B06BEF0-9C6B-4E9E-8FF6-F998556AD6E1}" type="slidenum">
              <a:rPr lang="zh-CN" altLang="en-US">
                <a:solidFill>
                  <a:srgbClr val="898989"/>
                </a:solidFill>
                <a:latin typeface="Calibri" panose="020F0502020204030204" pitchFamily="34" charset="0"/>
              </a:rPr>
              <a:pPr eaLnBrk="1" hangingPunct="1"/>
              <a:t>3</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4338" name="Object 2">
                <a:extLst>
                  <a:ext uri="{FF2B5EF4-FFF2-40B4-BE49-F238E27FC236}">
                    <a16:creationId xmlns:a16="http://schemas.microsoft.com/office/drawing/2014/main" id="{597AFB2F-79D7-4123-AF68-19EDA4853B22}"/>
                  </a:ext>
                </a:extLst>
              </p:cNvPr>
              <p:cNvSpPr txBox="1"/>
              <p:nvPr/>
            </p:nvSpPr>
            <p:spPr bwMode="auto">
              <a:xfrm>
                <a:off x="3347864" y="2858014"/>
                <a:ext cx="2892003" cy="1137876"/>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nary>
                        <m:naryPr>
                          <m:chr m:val="∑"/>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𝑖</m:t>
                          </m:r>
                        </m:sub>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𝑖</m:t>
                              </m:r>
                            </m:sub>
                          </m:sSub>
                          <m:sSub>
                            <m:sSubPr>
                              <m:ctrlPr>
                                <a:rPr lang="en-US" sz="2800" i="1" smtClean="0">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𝑥</m:t>
                              </m:r>
                            </m:e>
                            <m:sub>
                              <m:r>
                                <a:rPr lang="en-US" sz="2800" i="1">
                                  <a:solidFill>
                                    <a:srgbClr val="0000FF"/>
                                  </a:solidFill>
                                  <a:latin typeface="Cambria Math" panose="02040503050406030204" pitchFamily="18" charset="0"/>
                                </a:rPr>
                                <m:t>𝑖</m:t>
                              </m:r>
                            </m:sub>
                          </m:sSub>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𝑡</m:t>
                          </m:r>
                          <m:r>
                            <a:rPr lang="en-US" sz="2800" i="1">
                              <a:solidFill>
                                <a:srgbClr val="0000FF"/>
                              </a:solidFill>
                              <a:latin typeface="Cambria Math" panose="02040503050406030204" pitchFamily="18" charset="0"/>
                            </a:rPr>
                            <m:t>)</m:t>
                          </m:r>
                        </m:e>
                      </m:nary>
                    </m:oMath>
                  </m:oMathPara>
                </a14:m>
                <a:endParaRPr lang="en-US" sz="2800" dirty="0"/>
              </a:p>
            </p:txBody>
          </p:sp>
        </mc:Choice>
        <mc:Fallback xmlns="">
          <p:sp>
            <p:nvSpPr>
              <p:cNvPr id="14338" name="Object 2">
                <a:extLst>
                  <a:ext uri="{FF2B5EF4-FFF2-40B4-BE49-F238E27FC236}">
                    <a16:creationId xmlns:a16="http://schemas.microsoft.com/office/drawing/2014/main" id="{597AFB2F-79D7-4123-AF68-19EDA4853B22}"/>
                  </a:ext>
                </a:extLst>
              </p:cNvPr>
              <p:cNvSpPr txBox="1">
                <a:spLocks noRot="1" noChangeAspect="1" noMove="1" noResize="1" noEditPoints="1" noAdjustHandles="1" noChangeArrowheads="1" noChangeShapeType="1" noTextEdit="1"/>
              </p:cNvSpPr>
              <p:nvPr/>
            </p:nvSpPr>
            <p:spPr bwMode="auto">
              <a:xfrm>
                <a:off x="3347864" y="2858014"/>
                <a:ext cx="2892003" cy="1137876"/>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39" name="Object 4">
                <a:extLst>
                  <a:ext uri="{FF2B5EF4-FFF2-40B4-BE49-F238E27FC236}">
                    <a16:creationId xmlns:a16="http://schemas.microsoft.com/office/drawing/2014/main" id="{6AF28C71-194F-49F2-B393-EE07A19BF1FE}"/>
                  </a:ext>
                </a:extLst>
              </p:cNvPr>
              <p:cNvSpPr txBox="1"/>
              <p:nvPr/>
            </p:nvSpPr>
            <p:spPr bwMode="auto">
              <a:xfrm>
                <a:off x="3347864" y="4581128"/>
                <a:ext cx="2892003" cy="1137876"/>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800" i="1">
                          <a:solidFill>
                            <a:srgbClr val="000000"/>
                          </a:solidFill>
                          <a:latin typeface="Cambria Math" panose="02040503050406030204" pitchFamily="18" charset="0"/>
                        </a:rPr>
                        <m:t>𝑦</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nary>
                        <m:naryPr>
                          <m:chr m:val="∑"/>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𝑖</m:t>
                          </m:r>
                        </m:sub>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𝑖</m:t>
                              </m:r>
                            </m:sub>
                          </m:sSub>
                          <m:sSub>
                            <m:sSubPr>
                              <m:ctrlPr>
                                <a:rPr lang="en-US" sz="2800" i="1" smtClean="0">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𝑦</m:t>
                              </m:r>
                            </m:e>
                            <m:sub>
                              <m:r>
                                <a:rPr lang="en-US" sz="2800" i="1">
                                  <a:solidFill>
                                    <a:srgbClr val="0000FF"/>
                                  </a:solidFill>
                                  <a:latin typeface="Cambria Math" panose="02040503050406030204" pitchFamily="18" charset="0"/>
                                </a:rPr>
                                <m:t>𝑖</m:t>
                              </m:r>
                            </m:sub>
                          </m:sSub>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𝑡</m:t>
                          </m:r>
                          <m:r>
                            <a:rPr lang="en-US" sz="2800" i="1">
                              <a:solidFill>
                                <a:srgbClr val="0000FF"/>
                              </a:solidFill>
                              <a:latin typeface="Cambria Math" panose="02040503050406030204" pitchFamily="18" charset="0"/>
                            </a:rPr>
                            <m:t>)</m:t>
                          </m:r>
                        </m:e>
                      </m:nary>
                    </m:oMath>
                  </m:oMathPara>
                </a14:m>
                <a:endParaRPr lang="en-US" sz="2800" dirty="0"/>
              </a:p>
            </p:txBody>
          </p:sp>
        </mc:Choice>
        <mc:Fallback xmlns="">
          <p:sp>
            <p:nvSpPr>
              <p:cNvPr id="14339" name="Object 4">
                <a:extLst>
                  <a:ext uri="{FF2B5EF4-FFF2-40B4-BE49-F238E27FC236}">
                    <a16:creationId xmlns:a16="http://schemas.microsoft.com/office/drawing/2014/main" id="{6AF28C71-194F-49F2-B393-EE07A19BF1FE}"/>
                  </a:ext>
                </a:extLst>
              </p:cNvPr>
              <p:cNvSpPr txBox="1">
                <a:spLocks noRot="1" noChangeAspect="1" noMove="1" noResize="1" noEditPoints="1" noAdjustHandles="1" noChangeArrowheads="1" noChangeShapeType="1" noTextEdit="1"/>
              </p:cNvSpPr>
              <p:nvPr/>
            </p:nvSpPr>
            <p:spPr bwMode="auto">
              <a:xfrm>
                <a:off x="3347864" y="4581128"/>
                <a:ext cx="2892003" cy="1137876"/>
              </a:xfrm>
              <a:prstGeom prst="rect">
                <a:avLst/>
              </a:prstGeom>
              <a:blipFill>
                <a:blip r:embed="rId4"/>
                <a:stretch>
                  <a:fillRect/>
                </a:stretch>
              </a:blipFill>
              <a:ln>
                <a:noFill/>
              </a:ln>
              <a:effectLst/>
            </p:spPr>
            <p:txBody>
              <a:bodyPr/>
              <a:lstStyle/>
              <a:p>
                <a:r>
                  <a:rPr lang="en-US">
                    <a:noFill/>
                  </a:rPr>
                  <a:t> </a:t>
                </a:r>
              </a:p>
            </p:txBody>
          </p:sp>
        </mc:Fallback>
      </mc:AlternateContent>
      <p:graphicFrame>
        <p:nvGraphicFramePr>
          <p:cNvPr id="14340" name="Object 5">
            <a:extLst>
              <a:ext uri="{FF2B5EF4-FFF2-40B4-BE49-F238E27FC236}">
                <a16:creationId xmlns:a16="http://schemas.microsoft.com/office/drawing/2014/main" id="{27EFD740-D089-404A-97E6-2FB5B2D2A4B2}"/>
              </a:ext>
            </a:extLst>
          </p:cNvPr>
          <p:cNvGraphicFramePr>
            <a:graphicFrameLocks noChangeAspect="1"/>
          </p:cNvGraphicFramePr>
          <p:nvPr/>
        </p:nvGraphicFramePr>
        <p:xfrm>
          <a:off x="3503440" y="4018576"/>
          <a:ext cx="366713" cy="647700"/>
        </p:xfrm>
        <a:graphic>
          <a:graphicData uri="http://schemas.openxmlformats.org/presentationml/2006/ole">
            <mc:AlternateContent xmlns:mc="http://schemas.openxmlformats.org/markup-compatibility/2006">
              <mc:Choice xmlns:v="urn:schemas-microsoft-com:vml" Requires="v">
                <p:oleObj spid="_x0000_s29746" name="Equation" r:id="rId5" imgW="139680" imgH="203040" progId="Equation.DSMT4">
                  <p:embed/>
                </p:oleObj>
              </mc:Choice>
              <mc:Fallback>
                <p:oleObj name="Equation" r:id="rId5" imgW="139680" imgH="203040" progId="Equation.DSMT4">
                  <p:embed/>
                  <p:pic>
                    <p:nvPicPr>
                      <p:cNvPr id="14340" name="Object 5">
                        <a:extLst>
                          <a:ext uri="{FF2B5EF4-FFF2-40B4-BE49-F238E27FC236}">
                            <a16:creationId xmlns:a16="http://schemas.microsoft.com/office/drawing/2014/main" id="{27EFD740-D089-404A-97E6-2FB5B2D2A4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3440" y="4018576"/>
                        <a:ext cx="3667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6">
            <a:extLst>
              <a:ext uri="{FF2B5EF4-FFF2-40B4-BE49-F238E27FC236}">
                <a16:creationId xmlns:a16="http://schemas.microsoft.com/office/drawing/2014/main" id="{67E19A71-2F7F-46BB-AD24-6EC78CAFEDE2}"/>
              </a:ext>
            </a:extLst>
          </p:cNvPr>
          <p:cNvGraphicFramePr>
            <a:graphicFrameLocks noChangeAspect="1"/>
          </p:cNvGraphicFramePr>
          <p:nvPr/>
        </p:nvGraphicFramePr>
        <p:xfrm>
          <a:off x="5513115" y="4018576"/>
          <a:ext cx="366713" cy="647700"/>
        </p:xfrm>
        <a:graphic>
          <a:graphicData uri="http://schemas.openxmlformats.org/presentationml/2006/ole">
            <mc:AlternateContent xmlns:mc="http://schemas.openxmlformats.org/markup-compatibility/2006">
              <mc:Choice xmlns:v="urn:schemas-microsoft-com:vml" Requires="v">
                <p:oleObj spid="_x0000_s29747" name="Equation" r:id="rId7" imgW="139680" imgH="203040" progId="Equation.DSMT4">
                  <p:embed/>
                </p:oleObj>
              </mc:Choice>
              <mc:Fallback>
                <p:oleObj name="Equation" r:id="rId7" imgW="139680" imgH="203040" progId="Equation.DSMT4">
                  <p:embed/>
                  <p:pic>
                    <p:nvPicPr>
                      <p:cNvPr id="14341" name="Object 6">
                        <a:extLst>
                          <a:ext uri="{FF2B5EF4-FFF2-40B4-BE49-F238E27FC236}">
                            <a16:creationId xmlns:a16="http://schemas.microsoft.com/office/drawing/2014/main" id="{67E19A71-2F7F-46BB-AD24-6EC78CAFED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3115" y="4018576"/>
                        <a:ext cx="3667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28900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18B02FCA-E154-4146-94FC-BA5794D92230}"/>
              </a:ext>
            </a:extLst>
          </p:cNvPr>
          <p:cNvSpPr>
            <a:spLocks noGrp="1"/>
          </p:cNvSpPr>
          <p:nvPr>
            <p:ph type="title"/>
          </p:nvPr>
        </p:nvSpPr>
        <p:spPr/>
        <p:txBody>
          <a:bodyPr/>
          <a:lstStyle/>
          <a:p>
            <a:r>
              <a:rPr lang="zh-CN" altLang="en-US" dirty="0"/>
              <a:t>引言</a:t>
            </a:r>
          </a:p>
        </p:txBody>
      </p:sp>
      <p:sp>
        <p:nvSpPr>
          <p:cNvPr id="3" name="内容占位符 2">
            <a:extLst>
              <a:ext uri="{FF2B5EF4-FFF2-40B4-BE49-F238E27FC236}">
                <a16:creationId xmlns:a16="http://schemas.microsoft.com/office/drawing/2014/main" id="{D06E656C-BCC9-4782-BDFF-98A526CA22D0}"/>
              </a:ext>
            </a:extLst>
          </p:cNvPr>
          <p:cNvSpPr>
            <a:spLocks noGrp="1"/>
          </p:cNvSpPr>
          <p:nvPr>
            <p:ph idx="1"/>
          </p:nvPr>
        </p:nvSpPr>
        <p:spPr>
          <a:xfrm>
            <a:off x="457200" y="1285875"/>
            <a:ext cx="8435280" cy="5765681"/>
          </a:xfrm>
        </p:spPr>
        <p:txBody>
          <a:bodyPr wrap="square">
            <a:spAutoFit/>
          </a:bodyPr>
          <a:lstStyle/>
          <a:p>
            <a:pPr marL="571500" indent="-514350" algn="just">
              <a:spcBef>
                <a:spcPts val="0"/>
              </a:spcBef>
              <a:spcAft>
                <a:spcPts val="600"/>
              </a:spcAft>
              <a:defRPr/>
            </a:pPr>
            <a:r>
              <a:rPr lang="zh-CN" altLang="en-US" sz="2800" b="0" dirty="0">
                <a:solidFill>
                  <a:srgbClr val="FF0000"/>
                </a:solidFill>
              </a:rPr>
              <a:t>基本信号应具有以下特点</a:t>
            </a:r>
            <a:r>
              <a:rPr lang="zh-CN" altLang="en-US" sz="2800" b="0" dirty="0"/>
              <a:t>：</a:t>
            </a:r>
            <a:endParaRPr lang="en-US" altLang="zh-CN" sz="2800" b="0" dirty="0"/>
          </a:p>
          <a:p>
            <a:pPr marL="971550" lvl="1" indent="-514350" algn="just">
              <a:spcBef>
                <a:spcPts val="0"/>
              </a:spcBef>
              <a:spcAft>
                <a:spcPts val="600"/>
              </a:spcAft>
              <a:buFont typeface="+mj-lt"/>
              <a:buAutoNum type="arabicPeriod"/>
              <a:defRPr/>
            </a:pPr>
            <a:r>
              <a:rPr lang="zh-CN" altLang="en-US" b="0" dirty="0"/>
              <a:t>本身尽可能简单，并且用它们的线性组合能够表示尽可能广泛的信号；</a:t>
            </a:r>
          </a:p>
          <a:p>
            <a:pPr marL="971550" lvl="1" indent="-514350" algn="just">
              <a:spcBef>
                <a:spcPts val="0"/>
              </a:spcBef>
              <a:spcAft>
                <a:spcPts val="600"/>
              </a:spcAft>
              <a:buFont typeface="+mj-lt"/>
              <a:buAutoNum type="arabicPeriod"/>
              <a:defRPr/>
            </a:pPr>
            <a:r>
              <a:rPr lang="en-US" altLang="zh-CN" b="0" dirty="0"/>
              <a:t>LTI</a:t>
            </a:r>
            <a:r>
              <a:rPr lang="zh-CN" altLang="en-US" b="0" dirty="0"/>
              <a:t>系统对这种信号的响应易于计算且有利于对系统的深入理解。</a:t>
            </a:r>
            <a:endParaRPr lang="en-US" altLang="zh-CN" b="0" dirty="0"/>
          </a:p>
          <a:p>
            <a:pPr marL="571500" indent="-514350" algn="just">
              <a:spcBef>
                <a:spcPts val="0"/>
              </a:spcBef>
              <a:spcAft>
                <a:spcPts val="600"/>
              </a:spcAft>
              <a:defRPr/>
            </a:pPr>
            <a:r>
              <a:rPr lang="zh-CN" altLang="en-US" sz="2800" b="0" dirty="0"/>
              <a:t>两类有用的基本信号：复指数信号与单位冲激信号；</a:t>
            </a:r>
            <a:endParaRPr lang="en-US" altLang="zh-CN" sz="2800" b="0" dirty="0"/>
          </a:p>
          <a:p>
            <a:pPr marL="571500" indent="-514350" algn="just">
              <a:spcBef>
                <a:spcPts val="0"/>
              </a:spcBef>
              <a:spcAft>
                <a:spcPts val="600"/>
              </a:spcAft>
              <a:defRPr/>
            </a:pPr>
            <a:r>
              <a:rPr lang="zh-CN" altLang="en-US" sz="2800" b="0" dirty="0"/>
              <a:t>上章主要考虑以</a:t>
            </a:r>
            <a:r>
              <a:rPr lang="zh-CN" altLang="en-US" sz="2800" b="0" dirty="0">
                <a:solidFill>
                  <a:srgbClr val="FF0000"/>
                </a:solidFill>
              </a:rPr>
              <a:t>单位冲激信号</a:t>
            </a:r>
            <a:r>
              <a:rPr lang="zh-CN" altLang="en-US" sz="2800" b="0" dirty="0"/>
              <a:t>为基本信号进行信号与系统分析。</a:t>
            </a:r>
            <a:endParaRPr lang="en-US" altLang="zh-CN" sz="2800" b="0" dirty="0"/>
          </a:p>
          <a:p>
            <a:pPr marL="571500" indent="-514350" algn="just">
              <a:spcBef>
                <a:spcPts val="0"/>
              </a:spcBef>
              <a:spcAft>
                <a:spcPts val="600"/>
              </a:spcAft>
              <a:defRPr/>
            </a:pPr>
            <a:r>
              <a:rPr lang="zh-CN" altLang="en-US" sz="2800" b="0" dirty="0"/>
              <a:t>本章主要考虑以</a:t>
            </a:r>
            <a:r>
              <a:rPr lang="zh-CN" altLang="en-US" sz="2800" b="0" dirty="0">
                <a:solidFill>
                  <a:srgbClr val="FF0000"/>
                </a:solidFill>
              </a:rPr>
              <a:t>复指数信号</a:t>
            </a:r>
            <a:r>
              <a:rPr lang="zh-CN" altLang="en-US" sz="2800" b="0" dirty="0"/>
              <a:t>为基本信号进行信号与系统分析。</a:t>
            </a:r>
          </a:p>
          <a:p>
            <a:pPr marL="571500" indent="-514350" algn="just">
              <a:lnSpc>
                <a:spcPct val="120000"/>
              </a:lnSpc>
              <a:spcBef>
                <a:spcPts val="0"/>
              </a:spcBef>
              <a:spcAft>
                <a:spcPts val="600"/>
              </a:spcAft>
              <a:defRPr/>
            </a:pPr>
            <a:endParaRPr lang="zh-CN" altLang="en-US" sz="2800" b="0" dirty="0"/>
          </a:p>
        </p:txBody>
      </p:sp>
      <p:sp>
        <p:nvSpPr>
          <p:cNvPr id="4" name="灯片编号占位符 3">
            <a:extLst>
              <a:ext uri="{FF2B5EF4-FFF2-40B4-BE49-F238E27FC236}">
                <a16:creationId xmlns:a16="http://schemas.microsoft.com/office/drawing/2014/main" id="{45A9B086-16FB-4220-8E33-C2DCC57E213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8F3C7EF-E4A1-421D-8556-92C37FB6CE53}" type="slidenum">
              <a:rPr lang="zh-CN" altLang="en-US">
                <a:solidFill>
                  <a:srgbClr val="898989"/>
                </a:solidFill>
                <a:latin typeface="Calibri" panose="020F0502020204030204" pitchFamily="34" charset="0"/>
              </a:rPr>
              <a:pPr eaLnBrk="1" hangingPunct="1"/>
              <a:t>4</a:t>
            </a:fld>
            <a:endParaRPr lang="zh-CN" altLang="en-US">
              <a:solidFill>
                <a:srgbClr val="898989"/>
              </a:solidFill>
              <a:latin typeface="Calibri" panose="020F0502020204030204" pitchFamily="34" charset="0"/>
            </a:endParaRPr>
          </a:p>
        </p:txBody>
      </p:sp>
    </p:spTree>
    <p:extLst>
      <p:ext uri="{BB962C8B-B14F-4D97-AF65-F5344CB8AC3E}">
        <p14:creationId xmlns:p14="http://schemas.microsoft.com/office/powerpoint/2010/main" val="33391051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标题 1">
            <a:extLst>
              <a:ext uri="{FF2B5EF4-FFF2-40B4-BE49-F238E27FC236}">
                <a16:creationId xmlns:a16="http://schemas.microsoft.com/office/drawing/2014/main" id="{F75D41E0-D060-4B2F-B61E-AAE752210619}"/>
              </a:ext>
            </a:extLst>
          </p:cNvPr>
          <p:cNvSpPr>
            <a:spLocks noGrp="1"/>
          </p:cNvSpPr>
          <p:nvPr>
            <p:ph type="title"/>
          </p:nvPr>
        </p:nvSpPr>
        <p:spPr/>
        <p:txBody>
          <a:bodyPr/>
          <a:lstStyle/>
          <a:p>
            <a:r>
              <a:rPr lang="zh-CN" altLang="en-US" dirty="0"/>
              <a:t>引言</a:t>
            </a:r>
          </a:p>
        </p:txBody>
      </p:sp>
      <mc:AlternateContent xmlns:mc="http://schemas.openxmlformats.org/markup-compatibility/2006" xmlns:a14="http://schemas.microsoft.com/office/drawing/2010/main">
        <mc:Choice Requires="a14">
          <p:sp>
            <p:nvSpPr>
              <p:cNvPr id="7174" name="内容占位符 2">
                <a:extLst>
                  <a:ext uri="{FF2B5EF4-FFF2-40B4-BE49-F238E27FC236}">
                    <a16:creationId xmlns:a16="http://schemas.microsoft.com/office/drawing/2014/main" id="{2C045CEB-E46C-4CBF-904D-F6AF81FADB94}"/>
                  </a:ext>
                </a:extLst>
              </p:cNvPr>
              <p:cNvSpPr>
                <a:spLocks noGrp="1"/>
              </p:cNvSpPr>
              <p:nvPr>
                <p:ph idx="1"/>
              </p:nvPr>
            </p:nvSpPr>
            <p:spPr>
              <a:xfrm>
                <a:off x="457200" y="1285875"/>
                <a:ext cx="8229600" cy="5115759"/>
              </a:xfrm>
            </p:spPr>
            <p:txBody>
              <a:bodyPr>
                <a:spAutoFit/>
              </a:bodyPr>
              <a:lstStyle/>
              <a:p>
                <a:pPr>
                  <a:spcBef>
                    <a:spcPts val="0"/>
                  </a:spcBef>
                  <a:spcAft>
                    <a:spcPts val="600"/>
                  </a:spcAft>
                </a:pPr>
                <a:r>
                  <a:rPr lang="zh-CN" altLang="en-US" sz="2400" b="0" dirty="0"/>
                  <a:t>信号在时域可分解为单位脉冲</a:t>
                </a:r>
                <a:r>
                  <a:rPr lang="en-US" altLang="zh-CN" sz="2400" b="0" dirty="0"/>
                  <a:t>/</a:t>
                </a:r>
                <a:r>
                  <a:rPr lang="zh-CN" altLang="en-US" sz="2400" b="0" dirty="0"/>
                  <a:t>冲激信号的叠加</a:t>
                </a:r>
                <a:r>
                  <a:rPr lang="en-US" altLang="zh-CN" sz="2400" b="0" dirty="0"/>
                  <a:t>:</a:t>
                </a:r>
              </a:p>
              <a:p>
                <a:pPr marL="0" indent="0">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𝑥</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𝑘</m:t>
                              </m:r>
                            </m:e>
                          </m:d>
                          <m:r>
                            <a:rPr lang="en-US" sz="2400" i="1">
                              <a:solidFill>
                                <a:srgbClr val="000000"/>
                              </a:solidFill>
                              <a:latin typeface="Cambria Math" panose="02040503050406030204" pitchFamily="18" charset="0"/>
                            </a:rPr>
                            <m:t>𝛿</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1" i="1" smtClean="0">
                              <a:solidFill>
                                <a:srgbClr val="000000"/>
                              </a:solidFill>
                              <a:latin typeface="Cambria Math" panose="02040503050406030204" pitchFamily="18" charset="0"/>
                            </a:rPr>
                            <m:t>]</m:t>
                          </m:r>
                        </m:e>
                      </m:nary>
                    </m:oMath>
                    <m:oMath xmlns:m="http://schemas.openxmlformats.org/officeDocument/2006/math">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𝛿</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e>
                      </m:nary>
                      <m:r>
                        <a:rPr lang="en-US" sz="2400" i="1">
                          <a:solidFill>
                            <a:srgbClr val="000000"/>
                          </a:solidFill>
                          <a:latin typeface="Cambria Math" panose="02040503050406030204" pitchFamily="18" charset="0"/>
                        </a:rPr>
                        <m:t>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oMath>
                  </m:oMathPara>
                </a14:m>
                <a:endParaRPr lang="en-US" altLang="zh-CN" sz="2400" b="0" dirty="0"/>
              </a:p>
              <a:p>
                <a:pPr>
                  <a:spcBef>
                    <a:spcPts val="0"/>
                  </a:spcBef>
                  <a:spcAft>
                    <a:spcPts val="600"/>
                  </a:spcAft>
                </a:pPr>
                <a:r>
                  <a:rPr lang="en-US" altLang="zh-CN" sz="2400" b="0" dirty="0"/>
                  <a:t>LTI</a:t>
                </a:r>
                <a:r>
                  <a:rPr lang="zh-CN" altLang="en-US" sz="2400" b="0" dirty="0"/>
                  <a:t>系统的时域分析</a:t>
                </a:r>
                <a:r>
                  <a:rPr lang="en-US" altLang="zh-CN" sz="2400" b="0" dirty="0"/>
                  <a:t>——</a:t>
                </a:r>
                <a:r>
                  <a:rPr lang="zh-CN" altLang="en-US" sz="2400" b="0" dirty="0"/>
                  <a:t>输出可表示为输入信号与单位脉冲</a:t>
                </a:r>
                <a:r>
                  <a:rPr lang="en-US" altLang="zh-CN" sz="2400" b="0" dirty="0"/>
                  <a:t>/</a:t>
                </a:r>
                <a:r>
                  <a:rPr lang="zh-CN" altLang="en-US" sz="2400" b="0" dirty="0"/>
                  <a:t>冲激响应的卷积</a:t>
                </a:r>
                <a:endParaRPr lang="en-US" altLang="zh-CN" sz="2400" b="0" dirty="0"/>
              </a:p>
              <a:p>
                <a:pPr marL="0" indent="0">
                  <a:spcBef>
                    <a:spcPts val="0"/>
                  </a:spcBef>
                  <a:spcAft>
                    <a:spcPts val="600"/>
                  </a:spcAft>
                  <a:buNone/>
                </a:pPr>
                <a14:m>
                  <m:oMathPara xmlns:m="http://schemas.openxmlformats.org/officeDocument/2006/math">
                    <m:oMathParaPr>
                      <m:jc m:val="centerGroup"/>
                    </m:oMathParaPr>
                    <m:oMath xmlns:m="http://schemas.openxmlformats.org/officeDocument/2006/math">
                      <m:r>
                        <a:rPr lang="en-US" sz="2400" b="1" i="1" smtClean="0">
                          <a:solidFill>
                            <a:srgbClr val="000000"/>
                          </a:solidFill>
                          <a:latin typeface="Cambria Math" panose="02040503050406030204" pitchFamily="18" charset="0"/>
                        </a:rPr>
                        <m:t>𝒚</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𝑛</m:t>
                          </m:r>
                        </m:e>
                      </m:d>
                      <m:r>
                        <a:rPr lang="en-US" sz="2400" b="1"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h</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r>
                        <a:rPr lang="en-US" sz="2400" b="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d>
                            <m:dPr>
                              <m:begChr m:val="["/>
                              <m:endChr m:val="]"/>
                              <m:ctrlPr>
                                <a:rPr lang="en-US" sz="2400" i="1" smtClean="0">
                                  <a:solidFill>
                                    <a:srgbClr val="000000"/>
                                  </a:solidFill>
                                  <a:latin typeface="Cambria Math" panose="02040503050406030204" pitchFamily="18" charset="0"/>
                                </a:rPr>
                              </m:ctrlPr>
                            </m:dPr>
                            <m:e>
                              <m:r>
                                <a:rPr lang="en-US" sz="2400" i="1" smtClean="0">
                                  <a:solidFill>
                                    <a:srgbClr val="000000"/>
                                  </a:solidFill>
                                  <a:latin typeface="Cambria Math" panose="02040503050406030204" pitchFamily="18" charset="0"/>
                                </a:rPr>
                                <m:t>𝑘</m:t>
                              </m:r>
                            </m:e>
                          </m:d>
                          <m:r>
                            <a:rPr lang="en-US" sz="2400" b="0" i="1" smtClean="0">
                              <a:solidFill>
                                <a:srgbClr val="000000"/>
                              </a:solidFill>
                              <a:latin typeface="Cambria Math" panose="02040503050406030204" pitchFamily="18" charset="0"/>
                            </a:rPr>
                            <m:t>h</m:t>
                          </m:r>
                          <m:r>
                            <a:rPr lang="en-US" sz="2400" b="1"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𝑛</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𝑘</m:t>
                          </m:r>
                          <m:r>
                            <a:rPr lang="en-US" sz="2400" b="1" i="1" smtClean="0">
                              <a:solidFill>
                                <a:srgbClr val="000000"/>
                              </a:solidFill>
                              <a:latin typeface="Cambria Math" panose="02040503050406030204" pitchFamily="18" charset="0"/>
                            </a:rPr>
                            <m:t>]</m:t>
                          </m:r>
                        </m:e>
                      </m:nary>
                    </m:oMath>
                    <m:oMath xmlns:m="http://schemas.openxmlformats.org/officeDocument/2006/math">
                      <m:r>
                        <a:rPr lang="en-US" sz="2400" b="1" i="1" smtClean="0">
                          <a:solidFill>
                            <a:srgbClr val="000000"/>
                          </a:solidFill>
                          <a:latin typeface="Cambria Math" panose="02040503050406030204" pitchFamily="18" charset="0"/>
                        </a:rPr>
                        <m:t>𝒚</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d>
                        <m:dPr>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𝑡</m:t>
                          </m:r>
                        </m:e>
                      </m:d>
                      <m:r>
                        <a:rPr lang="en-US" sz="2400" i="1">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h</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e>
                      </m:nary>
                      <m:r>
                        <a:rPr lang="en-US" sz="2400" b="0" i="1" smtClean="0">
                          <a:solidFill>
                            <a:srgbClr val="000000"/>
                          </a:solidFill>
                          <a:latin typeface="Cambria Math" panose="02040503050406030204" pitchFamily="18" charset="0"/>
                        </a:rPr>
                        <m:t>h</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𝜏</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m:t>
                      </m:r>
                      <m:r>
                        <a:rPr lang="en-US" sz="2400" i="1">
                          <a:solidFill>
                            <a:srgbClr val="000000"/>
                          </a:solidFill>
                          <a:latin typeface="Cambria Math" panose="02040503050406030204" pitchFamily="18" charset="0"/>
                        </a:rPr>
                        <m:t>𝜏</m:t>
                      </m:r>
                    </m:oMath>
                  </m:oMathPara>
                </a14:m>
                <a:endParaRPr lang="en-US" altLang="zh-CN" sz="2400" b="0" dirty="0"/>
              </a:p>
            </p:txBody>
          </p:sp>
        </mc:Choice>
        <mc:Fallback xmlns="">
          <p:sp>
            <p:nvSpPr>
              <p:cNvPr id="7174" name="内容占位符 2">
                <a:extLst>
                  <a:ext uri="{FF2B5EF4-FFF2-40B4-BE49-F238E27FC236}">
                    <a16:creationId xmlns:a16="http://schemas.microsoft.com/office/drawing/2014/main" id="{2C045CEB-E46C-4CBF-904D-F6AF81FADB94}"/>
                  </a:ext>
                </a:extLst>
              </p:cNvPr>
              <p:cNvSpPr>
                <a:spLocks noGrp="1" noRot="1" noChangeAspect="1" noMove="1" noResize="1" noEditPoints="1" noAdjustHandles="1" noChangeArrowheads="1" noChangeShapeType="1" noTextEdit="1"/>
              </p:cNvSpPr>
              <p:nvPr>
                <p:ph idx="1"/>
              </p:nvPr>
            </p:nvSpPr>
            <p:spPr>
              <a:xfrm>
                <a:off x="457200" y="1285875"/>
                <a:ext cx="8229600" cy="5115759"/>
              </a:xfrm>
              <a:blipFill>
                <a:blip r:embed="rId2"/>
                <a:stretch>
                  <a:fillRect l="-963" t="-1073"/>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1C377C83-7523-42B3-BF50-ABE95042231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70CB96D-575D-4EE3-8AA6-6C9E1E24B39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229254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6" name="标题 1">
            <a:extLst>
              <a:ext uri="{FF2B5EF4-FFF2-40B4-BE49-F238E27FC236}">
                <a16:creationId xmlns:a16="http://schemas.microsoft.com/office/drawing/2014/main" id="{D267280C-9213-461B-949C-BD179CE4C5D6}"/>
              </a:ext>
            </a:extLst>
          </p:cNvPr>
          <p:cNvSpPr>
            <a:spLocks noGrp="1"/>
          </p:cNvSpPr>
          <p:nvPr>
            <p:ph type="title"/>
          </p:nvPr>
        </p:nvSpPr>
        <p:spPr/>
        <p:txBody>
          <a:bodyPr/>
          <a:lstStyle/>
          <a:p>
            <a:r>
              <a:rPr lang="en-US" altLang="zh-CN" sz="4000" dirty="0"/>
              <a:t>3.2 LTI</a:t>
            </a:r>
            <a:r>
              <a:rPr lang="zh-CN" altLang="en-US" sz="4000" dirty="0"/>
              <a:t>系统对复指数信号的响应</a:t>
            </a:r>
          </a:p>
        </p:txBody>
      </p:sp>
      <p:sp>
        <p:nvSpPr>
          <p:cNvPr id="4" name="灯片编号占位符 3">
            <a:extLst>
              <a:ext uri="{FF2B5EF4-FFF2-40B4-BE49-F238E27FC236}">
                <a16:creationId xmlns:a16="http://schemas.microsoft.com/office/drawing/2014/main" id="{14F6D6ED-A61C-416A-B260-35590DA33BD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DD3129E-C18B-4A8E-8A6F-DE38072C8A72}" type="slidenum">
              <a:rPr lang="zh-CN" altLang="en-US">
                <a:solidFill>
                  <a:srgbClr val="898989"/>
                </a:solidFill>
                <a:latin typeface="Calibri" panose="020F0502020204030204" pitchFamily="34" charset="0"/>
              </a:rPr>
              <a:pPr eaLnBrk="1" hangingPunct="1"/>
              <a:t>6</a:t>
            </a:fld>
            <a:endParaRPr lang="zh-CN" altLang="en-US">
              <a:solidFill>
                <a:srgbClr val="898989"/>
              </a:solidFill>
              <a:latin typeface="Calibri" panose="020F0502020204030204" pitchFamily="34" charset="0"/>
            </a:endParaRPr>
          </a:p>
        </p:txBody>
      </p:sp>
      <p:grpSp>
        <p:nvGrpSpPr>
          <p:cNvPr id="36878" name="组合 21">
            <a:extLst>
              <a:ext uri="{FF2B5EF4-FFF2-40B4-BE49-F238E27FC236}">
                <a16:creationId xmlns:a16="http://schemas.microsoft.com/office/drawing/2014/main" id="{FC0E37BA-AC96-4529-89C6-B289FDBFB105}"/>
              </a:ext>
            </a:extLst>
          </p:cNvPr>
          <p:cNvGrpSpPr>
            <a:grpSpLocks/>
          </p:cNvGrpSpPr>
          <p:nvPr/>
        </p:nvGrpSpPr>
        <p:grpSpPr bwMode="auto">
          <a:xfrm>
            <a:off x="2854722" y="2120901"/>
            <a:ext cx="3434556" cy="647700"/>
            <a:chOff x="2894796" y="2297105"/>
            <a:chExt cx="3434556" cy="647700"/>
          </a:xfrm>
        </p:grpSpPr>
        <p:sp>
          <p:nvSpPr>
            <p:cNvPr id="11" name="Rectangle 34">
              <a:extLst>
                <a:ext uri="{FF2B5EF4-FFF2-40B4-BE49-F238E27FC236}">
                  <a16:creationId xmlns:a16="http://schemas.microsoft.com/office/drawing/2014/main" id="{A7CE108A-C161-4388-8F12-2EC5BF84C613}"/>
                </a:ext>
              </a:extLst>
            </p:cNvPr>
            <p:cNvSpPr>
              <a:spLocks noChangeArrowheads="1"/>
            </p:cNvSpPr>
            <p:nvPr/>
          </p:nvSpPr>
          <p:spPr bwMode="auto">
            <a:xfrm>
              <a:off x="4132252" y="2297105"/>
              <a:ext cx="865187" cy="647700"/>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defRPr/>
              </a:pPr>
              <a:endParaRPr lang="zh-CN" altLang="en-US" sz="2400">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36873" name="Object 5">
                  <a:extLst>
                    <a:ext uri="{FF2B5EF4-FFF2-40B4-BE49-F238E27FC236}">
                      <a16:creationId xmlns:a16="http://schemas.microsoft.com/office/drawing/2014/main" id="{A17CD519-3E98-4C74-B6D3-A003B9855484}"/>
                    </a:ext>
                  </a:extLst>
                </p:cNvPr>
                <p:cNvSpPr txBox="1"/>
                <p:nvPr/>
              </p:nvSpPr>
              <p:spPr bwMode="auto">
                <a:xfrm>
                  <a:off x="4198925" y="2367748"/>
                  <a:ext cx="731839" cy="47466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𝑡</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36873" name="Object 5">
                  <a:extLst>
                    <a:ext uri="{FF2B5EF4-FFF2-40B4-BE49-F238E27FC236}">
                      <a16:creationId xmlns:a16="http://schemas.microsoft.com/office/drawing/2014/main" id="{A17CD519-3E98-4C74-B6D3-A003B9855484}"/>
                    </a:ext>
                  </a:extLst>
                </p:cNvPr>
                <p:cNvSpPr txBox="1">
                  <a:spLocks noRot="1" noChangeAspect="1" noMove="1" noResize="1" noEditPoints="1" noAdjustHandles="1" noChangeArrowheads="1" noChangeShapeType="1" noTextEdit="1"/>
                </p:cNvSpPr>
                <p:nvPr/>
              </p:nvSpPr>
              <p:spPr bwMode="auto">
                <a:xfrm>
                  <a:off x="4198925" y="2367748"/>
                  <a:ext cx="731839" cy="474663"/>
                </a:xfrm>
                <a:prstGeom prst="rect">
                  <a:avLst/>
                </a:prstGeom>
                <a:blipFill>
                  <a:blip r:embed="rId2"/>
                  <a:stretch>
                    <a:fillRect l="-2500" r="-9167" b="-1818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874" name="Object 6">
                  <a:extLst>
                    <a:ext uri="{FF2B5EF4-FFF2-40B4-BE49-F238E27FC236}">
                      <a16:creationId xmlns:a16="http://schemas.microsoft.com/office/drawing/2014/main" id="{B373488A-C636-41C6-BBD5-4A62D1B8F453}"/>
                    </a:ext>
                  </a:extLst>
                </p:cNvPr>
                <p:cNvSpPr txBox="1"/>
                <p:nvPr/>
              </p:nvSpPr>
              <p:spPr bwMode="auto">
                <a:xfrm>
                  <a:off x="2894796" y="2324092"/>
                  <a:ext cx="609600" cy="5905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p>
                          <m:sSupPr>
                            <m:ctrlPr>
                              <a:rPr lang="en-US" sz="2400" i="1" smtClean="0">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𝑠𝑡</m:t>
                            </m:r>
                          </m:sup>
                        </m:sSup>
                      </m:oMath>
                    </m:oMathPara>
                  </a14:m>
                  <a:endParaRPr lang="en-US" sz="2400" dirty="0">
                    <a:solidFill>
                      <a:schemeClr val="tx1"/>
                    </a:solidFill>
                  </a:endParaRPr>
                </a:p>
              </p:txBody>
            </p:sp>
          </mc:Choice>
          <mc:Fallback xmlns="">
            <p:sp>
              <p:nvSpPr>
                <p:cNvPr id="36874" name="Object 6">
                  <a:extLst>
                    <a:ext uri="{FF2B5EF4-FFF2-40B4-BE49-F238E27FC236}">
                      <a16:creationId xmlns:a16="http://schemas.microsoft.com/office/drawing/2014/main" id="{B373488A-C636-41C6-BBD5-4A62D1B8F453}"/>
                    </a:ext>
                  </a:extLst>
                </p:cNvPr>
                <p:cNvSpPr txBox="1">
                  <a:spLocks noRot="1" noChangeAspect="1" noMove="1" noResize="1" noEditPoints="1" noAdjustHandles="1" noChangeArrowheads="1" noChangeShapeType="1" noTextEdit="1"/>
                </p:cNvSpPr>
                <p:nvPr/>
              </p:nvSpPr>
              <p:spPr bwMode="auto">
                <a:xfrm>
                  <a:off x="2894796" y="2324092"/>
                  <a:ext cx="609600" cy="590550"/>
                </a:xfrm>
                <a:prstGeom prst="rect">
                  <a:avLst/>
                </a:prstGeom>
                <a:blipFill>
                  <a:blip r:embed="rId3"/>
                  <a:stretch>
                    <a:fillRect/>
                  </a:stretch>
                </a:blipFill>
                <a:ln>
                  <a:noFill/>
                </a:ln>
                <a:effectLst/>
              </p:spPr>
              <p:txBody>
                <a:bodyPr/>
                <a:lstStyle/>
                <a:p>
                  <a:r>
                    <a:rPr lang="en-US">
                      <a:noFill/>
                    </a:rPr>
                    <a:t> </a:t>
                  </a:r>
                </a:p>
              </p:txBody>
            </p:sp>
          </mc:Fallback>
        </mc:AlternateContent>
        <p:sp>
          <p:nvSpPr>
            <p:cNvPr id="36885" name="Line 38">
              <a:extLst>
                <a:ext uri="{FF2B5EF4-FFF2-40B4-BE49-F238E27FC236}">
                  <a16:creationId xmlns:a16="http://schemas.microsoft.com/office/drawing/2014/main" id="{4EAA355F-BD07-4DFB-AE5F-B498AE56D07B}"/>
                </a:ext>
              </a:extLst>
            </p:cNvPr>
            <p:cNvSpPr>
              <a:spLocks noChangeShapeType="1"/>
            </p:cNvSpPr>
            <p:nvPr/>
          </p:nvSpPr>
          <p:spPr bwMode="auto">
            <a:xfrm>
              <a:off x="3433752" y="2666992"/>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p:sp>
          <p:nvSpPr>
            <p:cNvPr id="36886" name="Line 39">
              <a:extLst>
                <a:ext uri="{FF2B5EF4-FFF2-40B4-BE49-F238E27FC236}">
                  <a16:creationId xmlns:a16="http://schemas.microsoft.com/office/drawing/2014/main" id="{E232D897-E84B-4450-AED0-9BAAA856027B}"/>
                </a:ext>
              </a:extLst>
            </p:cNvPr>
            <p:cNvSpPr>
              <a:spLocks noChangeShapeType="1"/>
            </p:cNvSpPr>
            <p:nvPr/>
          </p:nvSpPr>
          <p:spPr bwMode="auto">
            <a:xfrm>
              <a:off x="5005377" y="2666992"/>
              <a:ext cx="609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mc:AlternateContent xmlns:mc="http://schemas.openxmlformats.org/markup-compatibility/2006" xmlns:a14="http://schemas.microsoft.com/office/drawing/2010/main">
          <mc:Choice Requires="a14">
            <p:sp>
              <p:nvSpPr>
                <p:cNvPr id="36875" name="Object 7">
                  <a:extLst>
                    <a:ext uri="{FF2B5EF4-FFF2-40B4-BE49-F238E27FC236}">
                      <a16:creationId xmlns:a16="http://schemas.microsoft.com/office/drawing/2014/main" id="{493C5E57-3D4B-4CB8-87F0-63EB6DEB513C}"/>
                    </a:ext>
                  </a:extLst>
                </p:cNvPr>
                <p:cNvSpPr txBox="1"/>
                <p:nvPr/>
              </p:nvSpPr>
              <p:spPr bwMode="auto">
                <a:xfrm>
                  <a:off x="5643552" y="2381242"/>
                  <a:ext cx="685800" cy="47625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𝑡</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36875" name="Object 7">
                  <a:extLst>
                    <a:ext uri="{FF2B5EF4-FFF2-40B4-BE49-F238E27FC236}">
                      <a16:creationId xmlns:a16="http://schemas.microsoft.com/office/drawing/2014/main" id="{493C5E57-3D4B-4CB8-87F0-63EB6DEB513C}"/>
                    </a:ext>
                  </a:extLst>
                </p:cNvPr>
                <p:cNvSpPr txBox="1">
                  <a:spLocks noRot="1" noChangeAspect="1" noMove="1" noResize="1" noEditPoints="1" noAdjustHandles="1" noChangeArrowheads="1" noChangeShapeType="1" noTextEdit="1"/>
                </p:cNvSpPr>
                <p:nvPr/>
              </p:nvSpPr>
              <p:spPr bwMode="auto">
                <a:xfrm>
                  <a:off x="5643552" y="2381242"/>
                  <a:ext cx="685800" cy="476250"/>
                </a:xfrm>
                <a:prstGeom prst="rect">
                  <a:avLst/>
                </a:prstGeom>
                <a:blipFill>
                  <a:blip r:embed="rId4"/>
                  <a:stretch>
                    <a:fillRect l="-2655" r="-15929" b="-16667"/>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879" name="Rectangle 45">
                <a:extLst>
                  <a:ext uri="{FF2B5EF4-FFF2-40B4-BE49-F238E27FC236}">
                    <a16:creationId xmlns:a16="http://schemas.microsoft.com/office/drawing/2014/main" id="{E05E3E97-D4CB-427A-8A76-35C5C7FF9BCD}"/>
                  </a:ext>
                </a:extLst>
              </p:cNvPr>
              <p:cNvSpPr>
                <a:spLocks noChangeArrowheads="1"/>
              </p:cNvSpPr>
              <p:nvPr/>
            </p:nvSpPr>
            <p:spPr bwMode="auto">
              <a:xfrm>
                <a:off x="733426" y="1356152"/>
                <a:ext cx="6086474"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57188" indent="-357188" eaLnBrk="1" hangingPunct="1">
                  <a:spcBef>
                    <a:spcPct val="20000"/>
                  </a:spcBef>
                  <a:buClr>
                    <a:schemeClr val="hlink"/>
                  </a:buClr>
                  <a:buSzPct val="75000"/>
                  <a:buFont typeface="Arial" panose="020B0604020202020204" pitchFamily="34" charset="0"/>
                  <a:buChar char="•"/>
                </a:pPr>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考查</a:t>
                </a:r>
                <a:r>
                  <a:rPr lang="en-US" altLang="zh-CN"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LTI</a:t>
                </a:r>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系统对复指数信号</a:t>
                </a:r>
                <a14:m>
                  <m:oMath xmlns:m="http://schemas.openxmlformats.org/officeDocument/2006/math">
                    <m:sSup>
                      <m:sSupPr>
                        <m:ctrlPr>
                          <a:rPr lang="en-US" sz="2400" i="1">
                            <a:solidFill>
                              <a:schemeClr val="tx1"/>
                            </a:solidFill>
                            <a:latin typeface="Cambria Math" panose="02040503050406030204" pitchFamily="18" charset="0"/>
                          </a:rPr>
                        </m:ctrlPr>
                      </m:sSupPr>
                      <m:e>
                        <m:r>
                          <m:rPr>
                            <m:sty m:val="p"/>
                          </m:rPr>
                          <a:rPr lang="en-US" sz="2400" b="0" i="0">
                            <a:solidFill>
                              <a:schemeClr val="tx1"/>
                            </a:solidFill>
                            <a:latin typeface="Cambria Math" panose="02040503050406030204" pitchFamily="18" charset="0"/>
                          </a:rPr>
                          <m:t>e</m:t>
                        </m:r>
                      </m:e>
                      <m:sup>
                        <m:r>
                          <a:rPr lang="en-US" sz="2400" b="0" i="1">
                            <a:solidFill>
                              <a:schemeClr val="tx1"/>
                            </a:solidFill>
                            <a:latin typeface="Cambria Math" panose="02040503050406030204" pitchFamily="18" charset="0"/>
                          </a:rPr>
                          <m:t>𝑠𝑡</m:t>
                        </m:r>
                      </m:sup>
                    </m:sSup>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和</a:t>
                </a:r>
                <a14:m>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a:solidFill>
                              <a:schemeClr val="tx1"/>
                            </a:solidFill>
                            <a:latin typeface="Cambria Math" panose="02040503050406030204" pitchFamily="18" charset="0"/>
                          </a:rPr>
                          <m:t>𝑧</m:t>
                        </m:r>
                      </m:e>
                      <m:sup>
                        <m:r>
                          <a:rPr lang="en-US" sz="2400" b="0" i="1">
                            <a:solidFill>
                              <a:schemeClr val="tx1"/>
                            </a:solidFill>
                            <a:latin typeface="Cambria Math" panose="02040503050406030204" pitchFamily="18" charset="0"/>
                          </a:rPr>
                          <m:t>𝑛</m:t>
                        </m:r>
                      </m:sup>
                    </m:sSup>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的响应</a:t>
                </a:r>
              </a:p>
            </p:txBody>
          </p:sp>
        </mc:Choice>
        <mc:Fallback xmlns="">
          <p:sp>
            <p:nvSpPr>
              <p:cNvPr id="36879" name="Rectangle 45">
                <a:extLst>
                  <a:ext uri="{FF2B5EF4-FFF2-40B4-BE49-F238E27FC236}">
                    <a16:creationId xmlns:a16="http://schemas.microsoft.com/office/drawing/2014/main" id="{E05E3E97-D4CB-427A-8A76-35C5C7FF9BCD}"/>
                  </a:ext>
                </a:extLst>
              </p:cNvPr>
              <p:cNvSpPr>
                <a:spLocks noRot="1" noChangeAspect="1" noMove="1" noResize="1" noEditPoints="1" noAdjustHandles="1" noChangeArrowheads="1" noChangeShapeType="1" noTextEdit="1"/>
              </p:cNvSpPr>
              <p:nvPr/>
            </p:nvSpPr>
            <p:spPr bwMode="auto">
              <a:xfrm>
                <a:off x="733426" y="1356152"/>
                <a:ext cx="6086474" cy="461665"/>
              </a:xfrm>
              <a:prstGeom prst="rect">
                <a:avLst/>
              </a:prstGeom>
              <a:blipFill>
                <a:blip r:embed="rId5"/>
                <a:stretch>
                  <a:fillRect l="-601" t="-11842"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bject 10">
                <a:extLst>
                  <a:ext uri="{FF2B5EF4-FFF2-40B4-BE49-F238E27FC236}">
                    <a16:creationId xmlns:a16="http://schemas.microsoft.com/office/drawing/2014/main" id="{44B31D5E-3171-4E63-BE43-8925A7A6A874}"/>
                  </a:ext>
                </a:extLst>
              </p:cNvPr>
              <p:cNvSpPr txBox="1"/>
              <p:nvPr/>
            </p:nvSpPr>
            <p:spPr bwMode="auto">
              <a:xfrm>
                <a:off x="914440" y="3166203"/>
                <a:ext cx="7749480" cy="88915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𝑡</m:t>
                      </m:r>
                      <m:r>
                        <a:rPr lang="en-US" sz="2400" i="1" smtClean="0">
                          <a:solidFill>
                            <a:schemeClr val="tx1"/>
                          </a:solidFill>
                          <a:latin typeface="Cambria Math" panose="02040503050406030204" pitchFamily="18" charset="0"/>
                        </a:rPr>
                        <m:t>)=</m:t>
                      </m:r>
                      <m:nary>
                        <m:naryPr>
                          <m:ctrlPr>
                            <a:rPr lang="en-US" sz="2400" i="1">
                              <a:solidFill>
                                <a:schemeClr val="tx1"/>
                              </a:solidFill>
                              <a:latin typeface="Cambria Math" panose="02040503050406030204" pitchFamily="18" charset="0"/>
                            </a:rPr>
                          </m:ctrlPr>
                        </m:naryPr>
                        <m:sub>
                          <m:r>
                            <a:rPr lang="en-US" sz="2400" i="1">
                              <a:solidFill>
                                <a:schemeClr val="tx1"/>
                              </a:solidFill>
                              <a:latin typeface="Cambria Math" panose="02040503050406030204" pitchFamily="18" charset="0"/>
                            </a:rPr>
                            <m:t>−∞</m:t>
                          </m:r>
                        </m:sub>
                        <m:sup>
                          <m:r>
                            <a:rPr lang="en-US" sz="2400" i="1">
                              <a:solidFill>
                                <a:schemeClr val="tx1"/>
                              </a:solidFill>
                              <a:latin typeface="Cambria Math" panose="02040503050406030204" pitchFamily="18" charset="0"/>
                            </a:rPr>
                            <m:t>∞</m:t>
                          </m:r>
                        </m:sup>
                        <m:e>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𝑠</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𝜏</m:t>
                              </m:r>
                              <m:r>
                                <a:rPr lang="en-US" sz="2400" i="1">
                                  <a:solidFill>
                                    <a:schemeClr val="tx1"/>
                                  </a:solidFill>
                                  <a:latin typeface="Cambria Math" panose="02040503050406030204" pitchFamily="18" charset="0"/>
                                </a:rPr>
                                <m:t>)</m:t>
                              </m:r>
                            </m:sup>
                          </m:sSup>
                        </m:e>
                      </m:nary>
                      <m:r>
                        <a:rPr lang="en-US" sz="2400" i="1">
                          <a:solidFill>
                            <a:schemeClr val="tx1"/>
                          </a:solidFill>
                          <a:latin typeface="Cambria Math" panose="02040503050406030204" pitchFamily="18" charset="0"/>
                        </a:rPr>
                        <m:t>h</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𝜏</m:t>
                      </m:r>
                      <m:r>
                        <a:rPr lang="en-US" sz="2400" i="1">
                          <a:solidFill>
                            <a:schemeClr val="tx1"/>
                          </a:solidFill>
                          <a:latin typeface="Cambria Math" panose="02040503050406030204" pitchFamily="18" charset="0"/>
                        </a:rPr>
                        <m:t>)</m:t>
                      </m:r>
                      <m:r>
                        <m:rPr>
                          <m:sty m:val="p"/>
                        </m:rPr>
                        <a:rPr lang="en-US" sz="2400" i="0">
                          <a:solidFill>
                            <a:schemeClr val="tx1"/>
                          </a:solidFill>
                          <a:latin typeface="Cambria Math" panose="02040503050406030204" pitchFamily="18" charset="0"/>
                        </a:rPr>
                        <m:t>d</m:t>
                      </m:r>
                      <m:r>
                        <a:rPr lang="en-US" sz="2400" i="1">
                          <a:solidFill>
                            <a:schemeClr val="tx1"/>
                          </a:solidFill>
                          <a:latin typeface="Cambria Math" panose="02040503050406030204" pitchFamily="18" charset="0"/>
                        </a:rPr>
                        <m:t>𝜏</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𝑠𝑡</m:t>
                          </m:r>
                        </m:sup>
                      </m:sSup>
                      <m:nary>
                        <m:naryPr>
                          <m:ctrlPr>
                            <a:rPr lang="en-US" sz="2400" i="1" smtClean="0">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𝜏</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𝑠</m:t>
                              </m:r>
                              <m:r>
                                <a:rPr lang="en-US" sz="2400" i="1">
                                  <a:solidFill>
                                    <a:srgbClr val="FF0000"/>
                                  </a:solidFill>
                                  <a:latin typeface="Cambria Math" panose="02040503050406030204" pitchFamily="18" charset="0"/>
                                </a:rPr>
                                <m:t>𝜏</m:t>
                              </m:r>
                            </m:sup>
                          </m:sSup>
                        </m:e>
                      </m:nary>
                      <m:r>
                        <m:rPr>
                          <m:sty m:val="p"/>
                        </m:rPr>
                        <a:rPr lang="en-US" sz="2400" i="0" smtClean="0">
                          <a:solidFill>
                            <a:srgbClr val="FF0000"/>
                          </a:solidFill>
                          <a:latin typeface="Cambria Math" panose="02040503050406030204" pitchFamily="18" charset="0"/>
                        </a:rPr>
                        <m:t>d</m:t>
                      </m:r>
                      <m:r>
                        <a:rPr lang="en-US" sz="2400" i="1" smtClean="0">
                          <a:solidFill>
                            <a:srgbClr val="FF0000"/>
                          </a:solidFill>
                          <a:latin typeface="Cambria Math" panose="02040503050406030204" pitchFamily="18" charset="0"/>
                        </a:rPr>
                        <m:t>𝜏</m:t>
                      </m:r>
                      <m:r>
                        <a:rPr lang="en-US" sz="2400" i="1">
                          <a:solidFill>
                            <a:schemeClr val="tx1"/>
                          </a:solidFill>
                          <a:latin typeface="Cambria Math" panose="02040503050406030204" pitchFamily="18" charset="0"/>
                        </a:rPr>
                        <m:t>=</m:t>
                      </m:r>
                      <m:r>
                        <a:rPr lang="en-US" sz="2400" i="1" smtClean="0">
                          <a:solidFill>
                            <a:srgbClr val="FF0000"/>
                          </a:solidFill>
                          <a:latin typeface="Cambria Math" panose="02040503050406030204" pitchFamily="18" charset="0"/>
                        </a:rPr>
                        <m:t>𝐻</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𝑠</m:t>
                      </m:r>
                      <m:r>
                        <a:rPr lang="en-US" sz="2400" i="1" smtClean="0">
                          <a:solidFill>
                            <a:srgbClr val="FF0000"/>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i="0">
                              <a:solidFill>
                                <a:schemeClr val="tx1"/>
                              </a:solidFill>
                              <a:latin typeface="Cambria Math" panose="02040503050406030204" pitchFamily="18" charset="0"/>
                            </a:rPr>
                            <m:t>e</m:t>
                          </m:r>
                        </m:e>
                        <m:sup>
                          <m:r>
                            <a:rPr lang="en-US" sz="2400" i="1">
                              <a:solidFill>
                                <a:schemeClr val="tx1"/>
                              </a:solidFill>
                              <a:latin typeface="Cambria Math" panose="02040503050406030204" pitchFamily="18" charset="0"/>
                            </a:rPr>
                            <m:t>𝑠𝑡</m:t>
                          </m:r>
                        </m:sup>
                      </m:sSup>
                    </m:oMath>
                  </m:oMathPara>
                </a14:m>
                <a:endParaRPr lang="en-US" sz="2400" dirty="0">
                  <a:solidFill>
                    <a:schemeClr val="tx1"/>
                  </a:solidFill>
                </a:endParaRPr>
              </a:p>
            </p:txBody>
          </p:sp>
        </mc:Choice>
        <mc:Fallback xmlns="">
          <p:sp>
            <p:nvSpPr>
              <p:cNvPr id="25" name="Object 10">
                <a:extLst>
                  <a:ext uri="{FF2B5EF4-FFF2-40B4-BE49-F238E27FC236}">
                    <a16:creationId xmlns:a16="http://schemas.microsoft.com/office/drawing/2014/main" id="{44B31D5E-3171-4E63-BE43-8925A7A6A874}"/>
                  </a:ext>
                </a:extLst>
              </p:cNvPr>
              <p:cNvSpPr txBox="1">
                <a:spLocks noRot="1" noChangeAspect="1" noMove="1" noResize="1" noEditPoints="1" noAdjustHandles="1" noChangeArrowheads="1" noChangeShapeType="1" noTextEdit="1"/>
              </p:cNvSpPr>
              <p:nvPr/>
            </p:nvSpPr>
            <p:spPr bwMode="auto">
              <a:xfrm>
                <a:off x="914440" y="3166203"/>
                <a:ext cx="7749480" cy="889154"/>
              </a:xfrm>
              <a:prstGeom prst="rect">
                <a:avLst/>
              </a:prstGeom>
              <a:blipFill>
                <a:blip r:embed="rId6"/>
                <a:stretch>
                  <a:fillRect/>
                </a:stretch>
              </a:blipFill>
              <a:ln>
                <a:noFill/>
              </a:ln>
              <a:effectLst/>
            </p:spPr>
            <p:txBody>
              <a:bodyPr/>
              <a:lstStyle/>
              <a:p>
                <a:r>
                  <a:rPr lang="en-US">
                    <a:noFill/>
                  </a:rPr>
                  <a:t> </a:t>
                </a:r>
              </a:p>
            </p:txBody>
          </p:sp>
        </mc:Fallback>
      </mc:AlternateContent>
      <p:grpSp>
        <p:nvGrpSpPr>
          <p:cNvPr id="36880" name="组合 33">
            <a:extLst>
              <a:ext uri="{FF2B5EF4-FFF2-40B4-BE49-F238E27FC236}">
                <a16:creationId xmlns:a16="http://schemas.microsoft.com/office/drawing/2014/main" id="{206D79B5-18F0-4BE1-8F4B-078306630D20}"/>
              </a:ext>
            </a:extLst>
          </p:cNvPr>
          <p:cNvGrpSpPr>
            <a:grpSpLocks/>
          </p:cNvGrpSpPr>
          <p:nvPr/>
        </p:nvGrpSpPr>
        <p:grpSpPr bwMode="auto">
          <a:xfrm>
            <a:off x="2991656" y="4257534"/>
            <a:ext cx="3300387" cy="647700"/>
            <a:chOff x="3071810" y="4191006"/>
            <a:chExt cx="3300388" cy="647700"/>
          </a:xfrm>
        </p:grpSpPr>
        <p:sp>
          <p:nvSpPr>
            <p:cNvPr id="28" name="Rectangle 33">
              <a:extLst>
                <a:ext uri="{FF2B5EF4-FFF2-40B4-BE49-F238E27FC236}">
                  <a16:creationId xmlns:a16="http://schemas.microsoft.com/office/drawing/2014/main" id="{AC0A0913-1409-4B4B-A66A-8AB2B7579EDE}"/>
                </a:ext>
              </a:extLst>
            </p:cNvPr>
            <p:cNvSpPr>
              <a:spLocks noChangeArrowheads="1"/>
            </p:cNvSpPr>
            <p:nvPr/>
          </p:nvSpPr>
          <p:spPr bwMode="auto">
            <a:xfrm>
              <a:off x="4167185" y="4191006"/>
              <a:ext cx="909637" cy="647700"/>
            </a:xfrm>
            <a:prstGeom prst="rect">
              <a:avLst/>
            </a:prstGeom>
            <a:solidFill>
              <a:schemeClr val="accent3">
                <a:lumMod val="40000"/>
                <a:lumOff val="60000"/>
              </a:schemeClr>
            </a:solidFill>
            <a:ln w="9525">
              <a:solidFill>
                <a:schemeClr val="tx1"/>
              </a:solidFill>
              <a:miter lim="800000"/>
              <a:headEnd/>
              <a:tailEnd/>
            </a:ln>
            <a:effectLst/>
          </p:spPr>
          <p:txBody>
            <a:bodyPr wrap="none" anchor="ctr"/>
            <a:lstStyle/>
            <a:p>
              <a:pPr>
                <a:defRPr/>
              </a:pPr>
              <a:endParaRPr lang="zh-CN" altLang="en-US" sz="2400">
                <a:latin typeface="Times New Roman" pitchFamily="18" charset="0"/>
                <a:ea typeface="华文楷体" pitchFamily="2" charset="-122"/>
              </a:endParaRPr>
            </a:p>
          </p:txBody>
        </p:sp>
        <mc:AlternateContent xmlns:mc="http://schemas.openxmlformats.org/markup-compatibility/2006" xmlns:a14="http://schemas.microsoft.com/office/drawing/2010/main">
          <mc:Choice Requires="a14">
            <p:sp>
              <p:nvSpPr>
                <p:cNvPr id="36870" name="Object 13">
                  <a:extLst>
                    <a:ext uri="{FF2B5EF4-FFF2-40B4-BE49-F238E27FC236}">
                      <a16:creationId xmlns:a16="http://schemas.microsoft.com/office/drawing/2014/main" id="{96F99566-9C44-4850-8DA5-7A55F6B8A26F}"/>
                    </a:ext>
                  </a:extLst>
                </p:cNvPr>
                <p:cNvSpPr txBox="1"/>
                <p:nvPr/>
              </p:nvSpPr>
              <p:spPr bwMode="auto">
                <a:xfrm>
                  <a:off x="4246559" y="4276866"/>
                  <a:ext cx="750888" cy="4810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h</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36870" name="Object 13">
                  <a:extLst>
                    <a:ext uri="{FF2B5EF4-FFF2-40B4-BE49-F238E27FC236}">
                      <a16:creationId xmlns:a16="http://schemas.microsoft.com/office/drawing/2014/main" id="{96F99566-9C44-4850-8DA5-7A55F6B8A26F}"/>
                    </a:ext>
                  </a:extLst>
                </p:cNvPr>
                <p:cNvSpPr txBox="1">
                  <a:spLocks noRot="1" noChangeAspect="1" noMove="1" noResize="1" noEditPoints="1" noAdjustHandles="1" noChangeArrowheads="1" noChangeShapeType="1" noTextEdit="1"/>
                </p:cNvSpPr>
                <p:nvPr/>
              </p:nvSpPr>
              <p:spPr bwMode="auto">
                <a:xfrm>
                  <a:off x="4246559" y="4276866"/>
                  <a:ext cx="750888" cy="481013"/>
                </a:xfrm>
                <a:prstGeom prst="rect">
                  <a:avLst/>
                </a:prstGeom>
                <a:blipFill>
                  <a:blip r:embed="rId7"/>
                  <a:stretch>
                    <a:fillRect l="-2419" r="-7258" b="-1519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871" name="Object 14">
                  <a:extLst>
                    <a:ext uri="{FF2B5EF4-FFF2-40B4-BE49-F238E27FC236}">
                      <a16:creationId xmlns:a16="http://schemas.microsoft.com/office/drawing/2014/main" id="{4F0C12CC-2E0C-42AB-884A-9AAA3E8265F9}"/>
                    </a:ext>
                  </a:extLst>
                </p:cNvPr>
                <p:cNvSpPr txBox="1"/>
                <p:nvPr/>
              </p:nvSpPr>
              <p:spPr bwMode="auto">
                <a:xfrm>
                  <a:off x="3071810" y="4234004"/>
                  <a:ext cx="533400" cy="52387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𝑧</m:t>
                            </m:r>
                          </m:e>
                          <m:sup>
                            <m:r>
                              <a:rPr lang="en-US" sz="2400" i="1">
                                <a:solidFill>
                                  <a:schemeClr val="tx1"/>
                                </a:solidFill>
                                <a:latin typeface="Cambria Math" panose="02040503050406030204" pitchFamily="18" charset="0"/>
                              </a:rPr>
                              <m:t>𝑛</m:t>
                            </m:r>
                          </m:sup>
                        </m:sSup>
                      </m:oMath>
                    </m:oMathPara>
                  </a14:m>
                  <a:endParaRPr lang="en-US" sz="2400" dirty="0">
                    <a:solidFill>
                      <a:schemeClr val="tx1"/>
                    </a:solidFill>
                  </a:endParaRPr>
                </a:p>
              </p:txBody>
            </p:sp>
          </mc:Choice>
          <mc:Fallback xmlns="">
            <p:sp>
              <p:nvSpPr>
                <p:cNvPr id="36871" name="Object 14">
                  <a:extLst>
                    <a:ext uri="{FF2B5EF4-FFF2-40B4-BE49-F238E27FC236}">
                      <a16:creationId xmlns:a16="http://schemas.microsoft.com/office/drawing/2014/main" id="{4F0C12CC-2E0C-42AB-884A-9AAA3E8265F9}"/>
                    </a:ext>
                  </a:extLst>
                </p:cNvPr>
                <p:cNvSpPr txBox="1">
                  <a:spLocks noRot="1" noChangeAspect="1" noMove="1" noResize="1" noEditPoints="1" noAdjustHandles="1" noChangeArrowheads="1" noChangeShapeType="1" noTextEdit="1"/>
                </p:cNvSpPr>
                <p:nvPr/>
              </p:nvSpPr>
              <p:spPr bwMode="auto">
                <a:xfrm>
                  <a:off x="3071810" y="4234004"/>
                  <a:ext cx="533400" cy="523875"/>
                </a:xfrm>
                <a:prstGeom prst="rect">
                  <a:avLst/>
                </a:prstGeom>
                <a:blipFill>
                  <a:blip r:embed="rId8"/>
                  <a:stretch>
                    <a:fillRect/>
                  </a:stretch>
                </a:blipFill>
                <a:ln>
                  <a:noFill/>
                </a:ln>
                <a:effectLst/>
              </p:spPr>
              <p:txBody>
                <a:bodyPr/>
                <a:lstStyle/>
                <a:p>
                  <a:r>
                    <a:rPr lang="en-US">
                      <a:noFill/>
                    </a:rPr>
                    <a:t> </a:t>
                  </a:r>
                </a:p>
              </p:txBody>
            </p:sp>
          </mc:Fallback>
        </mc:AlternateContent>
        <p:sp>
          <p:nvSpPr>
            <p:cNvPr id="36882" name="Line 42">
              <a:extLst>
                <a:ext uri="{FF2B5EF4-FFF2-40B4-BE49-F238E27FC236}">
                  <a16:creationId xmlns:a16="http://schemas.microsoft.com/office/drawing/2014/main" id="{9B9B487C-BBB9-4857-B877-A0FF21C372CE}"/>
                </a:ext>
              </a:extLst>
            </p:cNvPr>
            <p:cNvSpPr>
              <a:spLocks noChangeShapeType="1"/>
            </p:cNvSpPr>
            <p:nvPr/>
          </p:nvSpPr>
          <p:spPr bwMode="auto">
            <a:xfrm>
              <a:off x="3495632" y="4548194"/>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p:sp>
          <p:nvSpPr>
            <p:cNvPr id="36883" name="Line 43">
              <a:extLst>
                <a:ext uri="{FF2B5EF4-FFF2-40B4-BE49-F238E27FC236}">
                  <a16:creationId xmlns:a16="http://schemas.microsoft.com/office/drawing/2014/main" id="{552B83E9-C3DF-44FD-BB15-636DB1D8D21E}"/>
                </a:ext>
              </a:extLst>
            </p:cNvPr>
            <p:cNvSpPr>
              <a:spLocks noChangeShapeType="1"/>
            </p:cNvSpPr>
            <p:nvPr/>
          </p:nvSpPr>
          <p:spPr bwMode="auto">
            <a:xfrm>
              <a:off x="5082920" y="4529144"/>
              <a:ext cx="609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mc:AlternateContent xmlns:mc="http://schemas.openxmlformats.org/markup-compatibility/2006" xmlns:a14="http://schemas.microsoft.com/office/drawing/2010/main">
          <mc:Choice Requires="a14">
            <p:sp>
              <p:nvSpPr>
                <p:cNvPr id="36872" name="Object 15">
                  <a:extLst>
                    <a:ext uri="{FF2B5EF4-FFF2-40B4-BE49-F238E27FC236}">
                      <a16:creationId xmlns:a16="http://schemas.microsoft.com/office/drawing/2014/main" id="{3B2DB4C8-F8C9-4709-BADF-1F5FBAF1121D}"/>
                    </a:ext>
                  </a:extLst>
                </p:cNvPr>
                <p:cNvSpPr txBox="1"/>
                <p:nvPr/>
              </p:nvSpPr>
              <p:spPr bwMode="auto">
                <a:xfrm>
                  <a:off x="5667373" y="4253410"/>
                  <a:ext cx="704825"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36872" name="Object 15">
                  <a:extLst>
                    <a:ext uri="{FF2B5EF4-FFF2-40B4-BE49-F238E27FC236}">
                      <a16:creationId xmlns:a16="http://schemas.microsoft.com/office/drawing/2014/main" id="{3B2DB4C8-F8C9-4709-BADF-1F5FBAF1121D}"/>
                    </a:ext>
                  </a:extLst>
                </p:cNvPr>
                <p:cNvSpPr txBox="1">
                  <a:spLocks noRot="1" noChangeAspect="1" noMove="1" noResize="1" noEditPoints="1" noAdjustHandles="1" noChangeArrowheads="1" noChangeShapeType="1" noTextEdit="1"/>
                </p:cNvSpPr>
                <p:nvPr/>
              </p:nvSpPr>
              <p:spPr bwMode="auto">
                <a:xfrm>
                  <a:off x="5667373" y="4253410"/>
                  <a:ext cx="704825" cy="461665"/>
                </a:xfrm>
                <a:prstGeom prst="rect">
                  <a:avLst/>
                </a:prstGeom>
                <a:blipFill>
                  <a:blip r:embed="rId9"/>
                  <a:stretch>
                    <a:fillRect l="-2609" r="-14783" b="-21333"/>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2480" name="Object 16">
                <a:extLst>
                  <a:ext uri="{FF2B5EF4-FFF2-40B4-BE49-F238E27FC236}">
                    <a16:creationId xmlns:a16="http://schemas.microsoft.com/office/drawing/2014/main" id="{0529329A-217C-4B31-AD3F-CE14685FCAF3}"/>
                  </a:ext>
                </a:extLst>
              </p:cNvPr>
              <p:cNvSpPr txBox="1"/>
              <p:nvPr/>
            </p:nvSpPr>
            <p:spPr bwMode="auto">
              <a:xfrm>
                <a:off x="941921" y="5242670"/>
                <a:ext cx="7260158" cy="109934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smtClean="0">
                          <a:solidFill>
                            <a:schemeClr val="tx1"/>
                          </a:solidFill>
                          <a:latin typeface="Cambria Math" panose="02040503050406030204" pitchFamily="18" charset="0"/>
                        </a:rPr>
                        <m:t>𝑦</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𝑛</m:t>
                      </m:r>
                      <m:r>
                        <a:rPr lang="en-US" sz="2400" i="1" smtClean="0">
                          <a:solidFill>
                            <a:schemeClr val="tx1"/>
                          </a:solidFill>
                          <a:latin typeface="Cambria Math" panose="02040503050406030204" pitchFamily="18" charset="0"/>
                        </a:rPr>
                        <m:t>]=</m:t>
                      </m:r>
                      <m:nary>
                        <m:naryPr>
                          <m:chr m:val="∑"/>
                          <m:ctrlPr>
                            <a:rPr lang="en-US" sz="2400" i="1">
                              <a:solidFill>
                                <a:schemeClr val="tx1"/>
                              </a:solidFill>
                              <a:latin typeface="Cambria Math" panose="02040503050406030204" pitchFamily="18" charset="0"/>
                            </a:rPr>
                          </m:ctrlPr>
                        </m:naryPr>
                        <m:sub>
                          <m:r>
                            <a:rPr lang="en-US" sz="2400" i="1">
                              <a:solidFill>
                                <a:schemeClr val="tx1"/>
                              </a:solidFill>
                              <a:latin typeface="Cambria Math" panose="02040503050406030204" pitchFamily="18" charset="0"/>
                            </a:rPr>
                            <m:t>𝑘</m:t>
                          </m:r>
                          <m:r>
                            <a:rPr lang="en-US" sz="2400" i="1">
                              <a:solidFill>
                                <a:schemeClr val="tx1"/>
                              </a:solidFill>
                              <a:latin typeface="Cambria Math" panose="02040503050406030204" pitchFamily="18" charset="0"/>
                            </a:rPr>
                            <m:t>=−∞</m:t>
                          </m:r>
                        </m:sub>
                        <m:sup>
                          <m:r>
                            <a:rPr lang="en-US" sz="2400" i="1">
                              <a:solidFill>
                                <a:schemeClr val="tx1"/>
                              </a:solidFill>
                              <a:latin typeface="Cambria Math" panose="02040503050406030204" pitchFamily="18" charset="0"/>
                            </a:rPr>
                            <m:t>∞</m:t>
                          </m:r>
                        </m:sup>
                        <m:e>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𝑧</m:t>
                              </m:r>
                            </m:e>
                            <m:sup>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𝑛</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𝑘</m:t>
                                  </m:r>
                                </m:e>
                              </m:d>
                            </m:sup>
                          </m:sSup>
                        </m:e>
                      </m:nary>
                      <m:r>
                        <a:rPr lang="en-US" sz="2400" i="1">
                          <a:solidFill>
                            <a:schemeClr val="tx1"/>
                          </a:solidFill>
                          <a:latin typeface="Cambria Math" panose="02040503050406030204" pitchFamily="18" charset="0"/>
                        </a:rPr>
                        <m:t>h</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𝑘</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𝑧</m:t>
                          </m:r>
                        </m:e>
                        <m:sup>
                          <m:r>
                            <a:rPr lang="en-US" sz="2400" i="1">
                              <a:solidFill>
                                <a:schemeClr val="tx1"/>
                              </a:solidFill>
                              <a:latin typeface="Cambria Math" panose="02040503050406030204" pitchFamily="18" charset="0"/>
                            </a:rPr>
                            <m:t>𝑛</m:t>
                          </m:r>
                        </m:sup>
                      </m:sSup>
                      <m:nary>
                        <m:naryPr>
                          <m:chr m:val="∑"/>
                          <m:ctrlPr>
                            <a:rPr lang="en-US" sz="2400" i="1" smtClean="0">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𝑘</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h</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𝑧</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𝑘</m:t>
                              </m:r>
                            </m:sup>
                          </m:sSup>
                        </m:e>
                      </m:nary>
                      <m:r>
                        <a:rPr lang="en-US" sz="2400" i="1">
                          <a:solidFill>
                            <a:schemeClr val="tx1"/>
                          </a:solidFill>
                          <a:latin typeface="Cambria Math" panose="02040503050406030204" pitchFamily="18" charset="0"/>
                        </a:rPr>
                        <m:t>=</m:t>
                      </m:r>
                      <m:r>
                        <a:rPr lang="en-US" sz="2400" i="1" smtClean="0">
                          <a:solidFill>
                            <a:srgbClr val="FF0000"/>
                          </a:solidFill>
                          <a:latin typeface="Cambria Math" panose="02040503050406030204" pitchFamily="18" charset="0"/>
                        </a:rPr>
                        <m:t>𝐻</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𝑧</m:t>
                      </m:r>
                      <m:r>
                        <a:rPr lang="en-US" sz="2400" i="1" smtClean="0">
                          <a:solidFill>
                            <a:srgbClr val="FF0000"/>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𝑧</m:t>
                          </m:r>
                        </m:e>
                        <m:sup>
                          <m:r>
                            <a:rPr lang="en-US" sz="2400" i="1">
                              <a:solidFill>
                                <a:schemeClr val="tx1"/>
                              </a:solidFill>
                              <a:latin typeface="Cambria Math" panose="02040503050406030204" pitchFamily="18" charset="0"/>
                            </a:rPr>
                            <m:t>𝑛</m:t>
                          </m:r>
                        </m:sup>
                      </m:sSup>
                    </m:oMath>
                  </m:oMathPara>
                </a14:m>
                <a:endParaRPr lang="en-US" sz="2400" dirty="0">
                  <a:solidFill>
                    <a:schemeClr val="tx1"/>
                  </a:solidFill>
                </a:endParaRPr>
              </a:p>
            </p:txBody>
          </p:sp>
        </mc:Choice>
        <mc:Fallback xmlns="">
          <p:sp>
            <p:nvSpPr>
              <p:cNvPr id="62480" name="Object 16">
                <a:extLst>
                  <a:ext uri="{FF2B5EF4-FFF2-40B4-BE49-F238E27FC236}">
                    <a16:creationId xmlns:a16="http://schemas.microsoft.com/office/drawing/2014/main" id="{0529329A-217C-4B31-AD3F-CE14685FCAF3}"/>
                  </a:ext>
                </a:extLst>
              </p:cNvPr>
              <p:cNvSpPr txBox="1">
                <a:spLocks noRot="1" noChangeAspect="1" noMove="1" noResize="1" noEditPoints="1" noAdjustHandles="1" noChangeArrowheads="1" noChangeShapeType="1" noTextEdit="1"/>
              </p:cNvSpPr>
              <p:nvPr/>
            </p:nvSpPr>
            <p:spPr bwMode="auto">
              <a:xfrm>
                <a:off x="941921" y="5242670"/>
                <a:ext cx="7260158" cy="1099340"/>
              </a:xfrm>
              <a:prstGeom prst="rect">
                <a:avLst/>
              </a:prstGeom>
              <a:blipFill>
                <a:blip r:embed="rId10"/>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6" name="标题 1">
            <a:extLst>
              <a:ext uri="{FF2B5EF4-FFF2-40B4-BE49-F238E27FC236}">
                <a16:creationId xmlns:a16="http://schemas.microsoft.com/office/drawing/2014/main" id="{AD2A8BA2-E2E1-4AFC-8F72-282FACD84C04}"/>
              </a:ext>
            </a:extLst>
          </p:cNvPr>
          <p:cNvSpPr>
            <a:spLocks noGrp="1"/>
          </p:cNvSpPr>
          <p:nvPr>
            <p:ph type="title"/>
          </p:nvPr>
        </p:nvSpPr>
        <p:spPr/>
        <p:txBody>
          <a:bodyPr/>
          <a:lstStyle/>
          <a:p>
            <a:r>
              <a:rPr lang="en-US" altLang="zh-CN" sz="4000" dirty="0"/>
              <a:t>3.2 LTI</a:t>
            </a:r>
            <a:r>
              <a:rPr lang="zh-CN" altLang="en-US" sz="4000" dirty="0"/>
              <a:t>系统对复指数信号的响应</a:t>
            </a:r>
          </a:p>
        </p:txBody>
      </p:sp>
      <mc:AlternateContent xmlns:mc="http://schemas.openxmlformats.org/markup-compatibility/2006" xmlns:a14="http://schemas.microsoft.com/office/drawing/2010/main">
        <mc:Choice Requires="a14">
          <p:sp>
            <p:nvSpPr>
              <p:cNvPr id="37897" name="内容占位符 2">
                <a:extLst>
                  <a:ext uri="{FF2B5EF4-FFF2-40B4-BE49-F238E27FC236}">
                    <a16:creationId xmlns:a16="http://schemas.microsoft.com/office/drawing/2014/main" id="{587ADA56-C760-4B05-99B4-E6F8AB35418B}"/>
                  </a:ext>
                </a:extLst>
              </p:cNvPr>
              <p:cNvSpPr>
                <a:spLocks noGrp="1"/>
              </p:cNvSpPr>
              <p:nvPr>
                <p:ph idx="1"/>
              </p:nvPr>
            </p:nvSpPr>
            <p:spPr>
              <a:xfrm>
                <a:off x="457200" y="1285875"/>
                <a:ext cx="8229600" cy="2883482"/>
              </a:xfrm>
            </p:spPr>
            <p:txBody>
              <a:bodyPr>
                <a:spAutoFit/>
              </a:bodyPr>
              <a:lstStyle/>
              <a:p>
                <a:pPr>
                  <a:lnSpc>
                    <a:spcPct val="150000"/>
                  </a:lnSpc>
                  <a:spcBef>
                    <a:spcPts val="0"/>
                  </a:spcBef>
                  <a:spcAft>
                    <a:spcPts val="600"/>
                  </a:spcAft>
                </a:pPr>
                <a:r>
                  <a:rPr lang="zh-CN" altLang="en-US" sz="2400" b="0" dirty="0">
                    <a:solidFill>
                      <a:srgbClr val="FF0000"/>
                    </a:solidFill>
                  </a:rPr>
                  <a:t>特征函数</a:t>
                </a:r>
                <a:r>
                  <a:rPr lang="en-US" altLang="zh-CN" sz="2400" b="0" dirty="0"/>
                  <a:t>——</a:t>
                </a:r>
                <a:r>
                  <a:rPr lang="zh-CN" altLang="en-US" sz="2400" b="0" dirty="0"/>
                  <a:t>如果系统对某一信号的响应是该信号乘以一个常数，则称该信号是这个系统的特征函数，称该常数为系统与特征函数相对应的</a:t>
                </a:r>
                <a:r>
                  <a:rPr lang="zh-CN" altLang="en-US" sz="2400" b="0" dirty="0">
                    <a:solidFill>
                      <a:srgbClr val="FF0000"/>
                    </a:solidFill>
                  </a:rPr>
                  <a:t>特征值</a:t>
                </a:r>
                <a:r>
                  <a:rPr lang="zh-CN" altLang="en-US" sz="2400" b="0" dirty="0"/>
                  <a:t>。</a:t>
                </a:r>
                <a:endParaRPr lang="en-US" altLang="zh-CN" sz="2400" b="0" dirty="0"/>
              </a:p>
              <a:p>
                <a:pPr lvl="1">
                  <a:lnSpc>
                    <a:spcPct val="150000"/>
                  </a:lnSpc>
                  <a:spcBef>
                    <a:spcPts val="0"/>
                  </a:spcBef>
                  <a:spcAft>
                    <a:spcPts val="600"/>
                  </a:spcAft>
                </a:pPr>
                <a:r>
                  <a:rPr lang="zh-CN" altLang="en-US" sz="2400" b="0" dirty="0"/>
                  <a:t>复指数函数</a:t>
                </a:r>
                <a14:m>
                  <m:oMath xmlns:m="http://schemas.openxmlformats.org/officeDocument/2006/math">
                    <m:sSup>
                      <m:sSupPr>
                        <m:ctrlPr>
                          <a:rPr lang="en-US" sz="2400" b="0" i="1" smtClean="0">
                            <a:solidFill>
                              <a:srgbClr val="000000"/>
                            </a:solidFill>
                            <a:latin typeface="Cambria Math" panose="02040503050406030204" pitchFamily="18" charset="0"/>
                          </a:rPr>
                        </m:ctrlPr>
                      </m:sSupPr>
                      <m:e>
                        <m:r>
                          <m:rPr>
                            <m:sty m:val="p"/>
                          </m:rPr>
                          <a:rPr lang="en-US" sz="2400" b="0" i="0" smtClean="0">
                            <a:solidFill>
                              <a:srgbClr val="000000"/>
                            </a:solidFill>
                            <a:latin typeface="Cambria Math" panose="02040503050406030204" pitchFamily="18" charset="0"/>
                          </a:rPr>
                          <m:t>e</m:t>
                        </m:r>
                      </m:e>
                      <m:sup>
                        <m:r>
                          <a:rPr lang="en-US" sz="2400" b="0" i="1" smtClean="0">
                            <a:solidFill>
                              <a:srgbClr val="000000"/>
                            </a:solidFill>
                            <a:latin typeface="Cambria Math" panose="02040503050406030204" pitchFamily="18" charset="0"/>
                          </a:rPr>
                          <m:t>𝑠𝑡</m:t>
                        </m:r>
                      </m:sup>
                    </m:sSup>
                  </m:oMath>
                </a14:m>
                <a:r>
                  <a:rPr lang="zh-CN" altLang="en-US" sz="2400" b="0" dirty="0"/>
                  <a:t>、</a:t>
                </a:r>
                <a14:m>
                  <m:oMath xmlns:m="http://schemas.openxmlformats.org/officeDocument/2006/math">
                    <m:sSup>
                      <m:sSupPr>
                        <m:ctrlPr>
                          <a:rPr lang="en-US" sz="2400" b="0" i="1">
                            <a:solidFill>
                              <a:srgbClr val="000000"/>
                            </a:solidFill>
                            <a:latin typeface="Cambria Math" panose="02040503050406030204" pitchFamily="18" charset="0"/>
                          </a:rPr>
                        </m:ctrlPr>
                      </m:sSupPr>
                      <m:e>
                        <m:r>
                          <a:rPr lang="en-US" sz="2400" b="0" i="1" smtClean="0">
                            <a:solidFill>
                              <a:srgbClr val="000000"/>
                            </a:solidFill>
                            <a:latin typeface="Cambria Math" panose="02040503050406030204" pitchFamily="18" charset="0"/>
                          </a:rPr>
                          <m:t>𝑧</m:t>
                        </m:r>
                      </m:e>
                      <m:sup>
                        <m:r>
                          <a:rPr lang="en-US" sz="2400" b="0" i="1" smtClean="0">
                            <a:solidFill>
                              <a:srgbClr val="000000"/>
                            </a:solidFill>
                            <a:latin typeface="Cambria Math" panose="02040503050406030204" pitchFamily="18" charset="0"/>
                          </a:rPr>
                          <m:t>𝑛</m:t>
                        </m:r>
                      </m:sup>
                    </m:sSup>
                  </m:oMath>
                </a14:m>
                <a:r>
                  <a:rPr lang="zh-CN" altLang="en-US" sz="2400" b="0" dirty="0"/>
                  <a:t>是一切</a:t>
                </a:r>
                <a:r>
                  <a:rPr lang="en-US" altLang="zh-CN" sz="2400" b="0" dirty="0"/>
                  <a:t>LTI</a:t>
                </a:r>
                <a:r>
                  <a:rPr lang="zh-CN" altLang="en-US" sz="2400" b="0" dirty="0"/>
                  <a:t>系统的特征函数，</a:t>
                </a:r>
                <a14:m>
                  <m:oMath xmlns:m="http://schemas.openxmlformats.org/officeDocument/2006/math">
                    <m:r>
                      <a:rPr lang="en-US" sz="2400" b="0" i="1" smtClean="0">
                        <a:solidFill>
                          <a:srgbClr val="000000"/>
                        </a:solidFill>
                        <a:latin typeface="Cambria Math" panose="02040503050406030204" pitchFamily="18" charset="0"/>
                      </a:rPr>
                      <m:t>𝐻</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𝑠</m:t>
                    </m:r>
                    <m:r>
                      <a:rPr lang="en-US" sz="2400" b="0" i="1" smtClean="0">
                        <a:solidFill>
                          <a:srgbClr val="000000"/>
                        </a:solidFill>
                        <a:latin typeface="Cambria Math" panose="02040503050406030204" pitchFamily="18" charset="0"/>
                      </a:rPr>
                      <m:t>)</m:t>
                    </m:r>
                  </m:oMath>
                </a14:m>
                <a:r>
                  <a:rPr lang="zh-CN" altLang="en-US" sz="2400" b="0" dirty="0"/>
                  <a:t>、</a:t>
                </a:r>
                <a14:m>
                  <m:oMath xmlns:m="http://schemas.openxmlformats.org/officeDocument/2006/math">
                    <m:r>
                      <a:rPr lang="en-US" sz="2400" b="0" i="1" smtClean="0">
                        <a:solidFill>
                          <a:srgbClr val="000000"/>
                        </a:solidFill>
                        <a:latin typeface="Cambria Math" panose="02040503050406030204" pitchFamily="18" charset="0"/>
                      </a:rPr>
                      <m:t>𝐻</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𝑧</m:t>
                    </m:r>
                    <m:r>
                      <a:rPr lang="en-US" sz="2400" b="0" i="1" smtClean="0">
                        <a:solidFill>
                          <a:srgbClr val="000000"/>
                        </a:solidFill>
                        <a:latin typeface="Cambria Math" panose="02040503050406030204" pitchFamily="18" charset="0"/>
                      </a:rPr>
                      <m:t>)</m:t>
                    </m:r>
                  </m:oMath>
                </a14:m>
                <a:r>
                  <a:rPr lang="zh-CN" altLang="en-US" sz="2400" b="0" dirty="0"/>
                  <a:t>分别是</a:t>
                </a:r>
                <a:r>
                  <a:rPr lang="en-US" altLang="zh-CN" sz="2400" b="0" dirty="0"/>
                  <a:t>LTI</a:t>
                </a:r>
                <a:r>
                  <a:rPr lang="zh-CN" altLang="en-US" sz="2400" b="0" dirty="0"/>
                  <a:t>系统与复指数信号相对应的特征值。</a:t>
                </a:r>
              </a:p>
            </p:txBody>
          </p:sp>
        </mc:Choice>
        <mc:Fallback xmlns="">
          <p:sp>
            <p:nvSpPr>
              <p:cNvPr id="37897" name="内容占位符 2">
                <a:extLst>
                  <a:ext uri="{FF2B5EF4-FFF2-40B4-BE49-F238E27FC236}">
                    <a16:creationId xmlns:a16="http://schemas.microsoft.com/office/drawing/2014/main" id="{587ADA56-C760-4B05-99B4-E6F8AB35418B}"/>
                  </a:ext>
                </a:extLst>
              </p:cNvPr>
              <p:cNvSpPr>
                <a:spLocks noGrp="1" noRot="1" noChangeAspect="1" noMove="1" noResize="1" noEditPoints="1" noAdjustHandles="1" noChangeArrowheads="1" noChangeShapeType="1" noTextEdit="1"/>
              </p:cNvSpPr>
              <p:nvPr>
                <p:ph idx="1"/>
              </p:nvPr>
            </p:nvSpPr>
            <p:spPr>
              <a:xfrm>
                <a:off x="457200" y="1285875"/>
                <a:ext cx="8229600" cy="2883482"/>
              </a:xfrm>
              <a:blipFill>
                <a:blip r:embed="rId2"/>
                <a:stretch>
                  <a:fillRect l="-963" r="-741" b="-4017"/>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CC7E0F04-71E4-4C4B-9A5C-37CD9F59C0C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B7F9D1B-1560-4FFA-A015-5E5C41953222}" type="slidenum">
              <a:rPr lang="zh-CN" altLang="en-US">
                <a:solidFill>
                  <a:srgbClr val="898989"/>
                </a:solidFill>
                <a:latin typeface="Calibri" panose="020F0502020204030204" pitchFamily="34" charset="0"/>
              </a:rPr>
              <a:pPr eaLnBrk="1" hangingPunct="1"/>
              <a:t>7</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37894" name="Object 11">
                <a:extLst>
                  <a:ext uri="{FF2B5EF4-FFF2-40B4-BE49-F238E27FC236}">
                    <a16:creationId xmlns:a16="http://schemas.microsoft.com/office/drawing/2014/main" id="{168E82CD-3020-4954-BF7A-AF2D625E086A}"/>
                  </a:ext>
                </a:extLst>
              </p:cNvPr>
              <p:cNvSpPr txBox="1"/>
              <p:nvPr/>
            </p:nvSpPr>
            <p:spPr bwMode="auto">
              <a:xfrm>
                <a:off x="2958094" y="4290705"/>
                <a:ext cx="3227809" cy="889154"/>
              </a:xfrm>
              <a:prstGeom prst="rect">
                <a:avLst/>
              </a:prstGeom>
              <a:solidFill>
                <a:srgbClr val="CCFFFF"/>
              </a:solid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400" i="1" smtClean="0">
                          <a:solidFill>
                            <a:srgbClr val="FF0000"/>
                          </a:solidFill>
                          <a:latin typeface="Cambria Math" panose="02040503050406030204" pitchFamily="18" charset="0"/>
                        </a:rPr>
                        <m:t>𝐻</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𝑠</m:t>
                      </m:r>
                      <m:r>
                        <a:rPr lang="en-US" sz="2400" i="1" smtClean="0">
                          <a:solidFill>
                            <a:srgbClr val="FF0000"/>
                          </a:solidFill>
                          <a:latin typeface="Cambria Math" panose="02040503050406030204" pitchFamily="18" charset="0"/>
                        </a:rPr>
                        <m:t>)=</m:t>
                      </m:r>
                      <m:nary>
                        <m:naryPr>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m:rPr>
                                  <m:sty m:val="p"/>
                                </m:rPr>
                                <a:rPr lang="en-US" sz="2400" i="0">
                                  <a:solidFill>
                                    <a:srgbClr val="FF0000"/>
                                  </a:solidFill>
                                  <a:latin typeface="Cambria Math" panose="02040503050406030204" pitchFamily="18" charset="0"/>
                                </a:rPr>
                                <m:t>e</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𝑠𝑡</m:t>
                              </m:r>
                            </m:sup>
                          </m:sSup>
                        </m:e>
                      </m:nary>
                      <m:r>
                        <m:rPr>
                          <m:sty m:val="p"/>
                        </m:rPr>
                        <a:rPr lang="en-US" sz="2400" i="0">
                          <a:solidFill>
                            <a:srgbClr val="FF0000"/>
                          </a:solidFill>
                          <a:latin typeface="Cambria Math" panose="02040503050406030204" pitchFamily="18" charset="0"/>
                        </a:rPr>
                        <m:t>d</m:t>
                      </m:r>
                      <m:r>
                        <a:rPr lang="en-US" sz="2400" i="1">
                          <a:solidFill>
                            <a:srgbClr val="FF0000"/>
                          </a:solidFill>
                          <a:latin typeface="Cambria Math" panose="02040503050406030204" pitchFamily="18" charset="0"/>
                        </a:rPr>
                        <m:t>𝑡</m:t>
                      </m:r>
                    </m:oMath>
                  </m:oMathPara>
                </a14:m>
                <a:endParaRPr lang="en-US" sz="2400" dirty="0">
                  <a:solidFill>
                    <a:srgbClr val="FF0000"/>
                  </a:solidFill>
                </a:endParaRPr>
              </a:p>
            </p:txBody>
          </p:sp>
        </mc:Choice>
        <mc:Fallback xmlns="">
          <p:sp>
            <p:nvSpPr>
              <p:cNvPr id="37894" name="Object 11">
                <a:extLst>
                  <a:ext uri="{FF2B5EF4-FFF2-40B4-BE49-F238E27FC236}">
                    <a16:creationId xmlns:a16="http://schemas.microsoft.com/office/drawing/2014/main" id="{168E82CD-3020-4954-BF7A-AF2D625E086A}"/>
                  </a:ext>
                </a:extLst>
              </p:cNvPr>
              <p:cNvSpPr txBox="1">
                <a:spLocks noRot="1" noChangeAspect="1" noMove="1" noResize="1" noEditPoints="1" noAdjustHandles="1" noChangeArrowheads="1" noChangeShapeType="1" noTextEdit="1"/>
              </p:cNvSpPr>
              <p:nvPr/>
            </p:nvSpPr>
            <p:spPr bwMode="auto">
              <a:xfrm>
                <a:off x="2958094" y="4290705"/>
                <a:ext cx="3227809" cy="889154"/>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895" name="Object 12">
                <a:extLst>
                  <a:ext uri="{FF2B5EF4-FFF2-40B4-BE49-F238E27FC236}">
                    <a16:creationId xmlns:a16="http://schemas.microsoft.com/office/drawing/2014/main" id="{B1BB65C1-CC43-4C2E-878A-088586040485}"/>
                  </a:ext>
                </a:extLst>
              </p:cNvPr>
              <p:cNvSpPr txBox="1"/>
              <p:nvPr/>
            </p:nvSpPr>
            <p:spPr bwMode="auto">
              <a:xfrm>
                <a:off x="3023181" y="5301207"/>
                <a:ext cx="3097633" cy="1099340"/>
              </a:xfrm>
              <a:prstGeom prst="rect">
                <a:avLst/>
              </a:prstGeom>
              <a:solidFill>
                <a:srgbClr val="CCFFFF"/>
              </a:solid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400" i="1" smtClean="0">
                          <a:solidFill>
                            <a:srgbClr val="FF0000"/>
                          </a:solidFill>
                          <a:latin typeface="Cambria Math" panose="02040503050406030204" pitchFamily="18" charset="0"/>
                        </a:rPr>
                        <m:t>𝐻</m:t>
                      </m:r>
                      <m:r>
                        <a:rPr lang="en-US" sz="2400" i="1" smtClean="0">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𝑧</m:t>
                      </m:r>
                      <m:r>
                        <a:rPr lang="en-US" sz="2400" i="1" smtClean="0">
                          <a:solidFill>
                            <a:srgbClr val="FF0000"/>
                          </a:solidFill>
                          <a:latin typeface="Cambria Math" panose="02040503050406030204" pitchFamily="18" charset="0"/>
                        </a:rPr>
                        <m:t>)=</m:t>
                      </m:r>
                      <m:nary>
                        <m:naryPr>
                          <m:chr m:val="∑"/>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sub>
                        <m:sup>
                          <m:r>
                            <a:rPr lang="en-US" sz="2400" i="1">
                              <a:solidFill>
                                <a:srgbClr val="FF0000"/>
                              </a:solidFill>
                              <a:latin typeface="Cambria Math" panose="02040503050406030204" pitchFamily="18" charset="0"/>
                            </a:rPr>
                            <m:t>∞</m:t>
                          </m:r>
                        </m:sup>
                        <m:e>
                          <m:r>
                            <a:rPr lang="en-US" sz="2400" i="1">
                              <a:solidFill>
                                <a:srgbClr val="FF0000"/>
                              </a:solidFill>
                              <a:latin typeface="Cambria Math" panose="02040503050406030204" pitchFamily="18" charset="0"/>
                            </a:rPr>
                            <m:t>h</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b="0" i="1" smtClean="0">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𝑧</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sup>
                          </m:sSup>
                        </m:e>
                      </m:nary>
                    </m:oMath>
                  </m:oMathPara>
                </a14:m>
                <a:endParaRPr lang="en-US" sz="2400" dirty="0"/>
              </a:p>
            </p:txBody>
          </p:sp>
        </mc:Choice>
        <mc:Fallback xmlns="">
          <p:sp>
            <p:nvSpPr>
              <p:cNvPr id="37895" name="Object 12">
                <a:extLst>
                  <a:ext uri="{FF2B5EF4-FFF2-40B4-BE49-F238E27FC236}">
                    <a16:creationId xmlns:a16="http://schemas.microsoft.com/office/drawing/2014/main" id="{B1BB65C1-CC43-4C2E-878A-088586040485}"/>
                  </a:ext>
                </a:extLst>
              </p:cNvPr>
              <p:cNvSpPr txBox="1">
                <a:spLocks noRot="1" noChangeAspect="1" noMove="1" noResize="1" noEditPoints="1" noAdjustHandles="1" noChangeArrowheads="1" noChangeShapeType="1" noTextEdit="1"/>
              </p:cNvSpPr>
              <p:nvPr/>
            </p:nvSpPr>
            <p:spPr bwMode="auto">
              <a:xfrm>
                <a:off x="3023181" y="5301207"/>
                <a:ext cx="3097633" cy="1099340"/>
              </a:xfrm>
              <a:prstGeom prst="rect">
                <a:avLst/>
              </a:prstGeom>
              <a:blipFill>
                <a:blip r:embed="rId4"/>
                <a:stretch>
                  <a:fillRect/>
                </a:stretch>
              </a:blipFill>
              <a:ln>
                <a:noFill/>
              </a:ln>
              <a:effec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4" name="标题 1">
            <a:extLst>
              <a:ext uri="{FF2B5EF4-FFF2-40B4-BE49-F238E27FC236}">
                <a16:creationId xmlns:a16="http://schemas.microsoft.com/office/drawing/2014/main" id="{5B89881C-CDD9-48A9-9442-8D573D7BB998}"/>
              </a:ext>
            </a:extLst>
          </p:cNvPr>
          <p:cNvSpPr>
            <a:spLocks noGrp="1"/>
          </p:cNvSpPr>
          <p:nvPr>
            <p:ph type="title"/>
          </p:nvPr>
        </p:nvSpPr>
        <p:spPr/>
        <p:txBody>
          <a:bodyPr/>
          <a:lstStyle/>
          <a:p>
            <a:r>
              <a:rPr lang="en-US" altLang="zh-CN" sz="4000"/>
              <a:t>3.2 LTI</a:t>
            </a:r>
            <a:r>
              <a:rPr lang="zh-CN" altLang="en-US" sz="4000"/>
              <a:t>系统对复指数信号的响应</a:t>
            </a:r>
          </a:p>
        </p:txBody>
      </p:sp>
      <mc:AlternateContent xmlns:mc="http://schemas.openxmlformats.org/markup-compatibility/2006" xmlns:a14="http://schemas.microsoft.com/office/drawing/2010/main">
        <mc:Choice Requires="a14">
          <p:sp>
            <p:nvSpPr>
              <p:cNvPr id="38925" name="内容占位符 2">
                <a:extLst>
                  <a:ext uri="{FF2B5EF4-FFF2-40B4-BE49-F238E27FC236}">
                    <a16:creationId xmlns:a16="http://schemas.microsoft.com/office/drawing/2014/main" id="{62CBF156-393C-4FD0-938F-6AB5ED44E626}"/>
                  </a:ext>
                </a:extLst>
              </p:cNvPr>
              <p:cNvSpPr>
                <a:spLocks noGrp="1"/>
              </p:cNvSpPr>
              <p:nvPr>
                <p:ph idx="1"/>
              </p:nvPr>
            </p:nvSpPr>
            <p:spPr>
              <a:xfrm>
                <a:off x="457200" y="1285875"/>
                <a:ext cx="8229600" cy="830997"/>
              </a:xfrm>
            </p:spPr>
            <p:txBody>
              <a:bodyPr>
                <a:spAutoFit/>
              </a:bodyPr>
              <a:lstStyle/>
              <a:p>
                <a:r>
                  <a:rPr lang="zh-CN" altLang="en-US" sz="2400" b="0" dirty="0"/>
                  <a:t>对时域的任何一个信号</a:t>
                </a:r>
                <a14:m>
                  <m:oMath xmlns:m="http://schemas.openxmlformats.org/officeDocument/2006/math">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𝑡</m:t>
                    </m:r>
                    <m:r>
                      <a:rPr lang="en-US" sz="2400" b="0" i="1" smtClean="0">
                        <a:solidFill>
                          <a:srgbClr val="000000"/>
                        </a:solidFill>
                        <a:latin typeface="Cambria Math" panose="02040503050406030204" pitchFamily="18" charset="0"/>
                      </a:rPr>
                      <m:t>)</m:t>
                    </m:r>
                  </m:oMath>
                </a14:m>
                <a:r>
                  <a:rPr lang="zh-CN" altLang="en-US" sz="2400" b="0" dirty="0"/>
                  <a:t>或者</a:t>
                </a:r>
                <a14:m>
                  <m:oMath xmlns:m="http://schemas.openxmlformats.org/officeDocument/2006/math">
                    <m:r>
                      <a:rPr lang="en-US" sz="2400" b="0" i="1">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𝑛</m:t>
                    </m:r>
                    <m:r>
                      <a:rPr lang="en-US" sz="2400" b="0" i="1" smtClean="0">
                        <a:solidFill>
                          <a:srgbClr val="000000"/>
                        </a:solidFill>
                        <a:latin typeface="Cambria Math" panose="02040503050406030204" pitchFamily="18" charset="0"/>
                      </a:rPr>
                      <m:t>]</m:t>
                    </m:r>
                  </m:oMath>
                </a14:m>
                <a:r>
                  <a:rPr lang="zh-CN" altLang="en-US" sz="2400" b="0" dirty="0"/>
                  <a:t>，若能将其表示为下列形式：</a:t>
                </a:r>
              </a:p>
            </p:txBody>
          </p:sp>
        </mc:Choice>
        <mc:Fallback xmlns="">
          <p:sp>
            <p:nvSpPr>
              <p:cNvPr id="38925" name="内容占位符 2">
                <a:extLst>
                  <a:ext uri="{FF2B5EF4-FFF2-40B4-BE49-F238E27FC236}">
                    <a16:creationId xmlns:a16="http://schemas.microsoft.com/office/drawing/2014/main" id="{62CBF156-393C-4FD0-938F-6AB5ED44E626}"/>
                  </a:ext>
                </a:extLst>
              </p:cNvPr>
              <p:cNvSpPr>
                <a:spLocks noGrp="1" noRot="1" noChangeAspect="1" noMove="1" noResize="1" noEditPoints="1" noAdjustHandles="1" noChangeArrowheads="1" noChangeShapeType="1" noTextEdit="1"/>
              </p:cNvSpPr>
              <p:nvPr>
                <p:ph idx="1"/>
              </p:nvPr>
            </p:nvSpPr>
            <p:spPr>
              <a:xfrm>
                <a:off x="457200" y="1285875"/>
                <a:ext cx="8229600" cy="830997"/>
              </a:xfrm>
              <a:blipFill>
                <a:blip r:embed="rId2"/>
                <a:stretch>
                  <a:fillRect l="-963" t="-5882" b="-16912"/>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373164A5-7181-4AFA-9FDB-DE5821BD4AA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07A8F7B-3D5D-416F-BE2D-15BF016C2337}" type="slidenum">
              <a:rPr lang="zh-CN" altLang="en-US">
                <a:solidFill>
                  <a:srgbClr val="898989"/>
                </a:solidFill>
                <a:latin typeface="Calibri" panose="020F0502020204030204" pitchFamily="34" charset="0"/>
              </a:rPr>
              <a:pPr eaLnBrk="1" hangingPunct="1"/>
              <a:t>8</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38916" name="Object 4">
                <a:extLst>
                  <a:ext uri="{FF2B5EF4-FFF2-40B4-BE49-F238E27FC236}">
                    <a16:creationId xmlns:a16="http://schemas.microsoft.com/office/drawing/2014/main" id="{F7F5E08B-E8E6-48BE-ACB3-A41E36861428}"/>
                  </a:ext>
                </a:extLst>
              </p:cNvPr>
              <p:cNvSpPr txBox="1"/>
              <p:nvPr/>
            </p:nvSpPr>
            <p:spPr bwMode="auto">
              <a:xfrm>
                <a:off x="1928812" y="1923704"/>
                <a:ext cx="2571179" cy="9885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m>
                        <m:mPr>
                          <m:plcHide m:val="on"/>
                          <m:mcs>
                            <m:mc>
                              <m:mcPr>
                                <m:count m:val="1"/>
                                <m:mcJc m:val="center"/>
                              </m:mcPr>
                            </m:mc>
                          </m:mcs>
                          <m:ctrlPr>
                            <a:rPr lang="en-US" sz="2400" i="1">
                              <a:solidFill>
                                <a:srgbClr val="000000"/>
                              </a:solidFill>
                              <a:latin typeface="Cambria Math" panose="02040503050406030204" pitchFamily="18" charset="0"/>
                            </a:rPr>
                          </m:ctrlPr>
                        </m:mPr>
                        <m:mr>
                          <m:e/>
                        </m:mr>
                      </m:m>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e>
                      </m:nary>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𝑠</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𝑡</m:t>
                          </m:r>
                        </m:sup>
                      </m:sSup>
                    </m:oMath>
                  </m:oMathPara>
                </a14:m>
                <a:endParaRPr lang="en-US" sz="2400" dirty="0"/>
              </a:p>
            </p:txBody>
          </p:sp>
        </mc:Choice>
        <mc:Fallback xmlns="">
          <p:sp>
            <p:nvSpPr>
              <p:cNvPr id="38916" name="Object 4">
                <a:extLst>
                  <a:ext uri="{FF2B5EF4-FFF2-40B4-BE49-F238E27FC236}">
                    <a16:creationId xmlns:a16="http://schemas.microsoft.com/office/drawing/2014/main" id="{F7F5E08B-E8E6-48BE-ACB3-A41E36861428}"/>
                  </a:ext>
                </a:extLst>
              </p:cNvPr>
              <p:cNvSpPr txBox="1">
                <a:spLocks noRot="1" noChangeAspect="1" noMove="1" noResize="1" noEditPoints="1" noAdjustHandles="1" noChangeArrowheads="1" noChangeShapeType="1" noTextEdit="1"/>
              </p:cNvSpPr>
              <p:nvPr/>
            </p:nvSpPr>
            <p:spPr bwMode="auto">
              <a:xfrm>
                <a:off x="1928812" y="1923704"/>
                <a:ext cx="2571179" cy="988540"/>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17" name="Object 5">
                <a:extLst>
                  <a:ext uri="{FF2B5EF4-FFF2-40B4-BE49-F238E27FC236}">
                    <a16:creationId xmlns:a16="http://schemas.microsoft.com/office/drawing/2014/main" id="{FAC6473A-4381-40E0-B354-2FBF1CCEF85C}"/>
                  </a:ext>
                </a:extLst>
              </p:cNvPr>
              <p:cNvSpPr txBox="1"/>
              <p:nvPr/>
            </p:nvSpPr>
            <p:spPr bwMode="auto">
              <a:xfrm>
                <a:off x="5183188" y="1936404"/>
                <a:ext cx="2341140" cy="9885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e>
                      </m:nary>
                      <m:sSubSup>
                        <m:sSubSupPr>
                          <m:ctrlPr>
                            <a:rPr lang="en-US" sz="2400" i="1">
                              <a:solidFill>
                                <a:srgbClr val="000000"/>
                              </a:solidFill>
                              <a:latin typeface="Cambria Math" panose="02040503050406030204" pitchFamily="18" charset="0"/>
                            </a:rPr>
                          </m:ctrlPr>
                        </m:sSubSupPr>
                        <m:e>
                          <m:r>
                            <a:rPr lang="en-US" sz="2400" i="1">
                              <a:solidFill>
                                <a:srgbClr val="000000"/>
                              </a:solidFill>
                              <a:latin typeface="Cambria Math" panose="02040503050406030204" pitchFamily="18" charset="0"/>
                            </a:rPr>
                            <m:t>𝑧</m:t>
                          </m:r>
                        </m:e>
                        <m:sub>
                          <m:r>
                            <a:rPr lang="en-US" sz="2400" i="1">
                              <a:solidFill>
                                <a:srgbClr val="000000"/>
                              </a:solidFill>
                              <a:latin typeface="Cambria Math" panose="02040503050406030204" pitchFamily="18" charset="0"/>
                            </a:rPr>
                            <m:t>𝑘</m:t>
                          </m:r>
                        </m:sub>
                        <m:sup>
                          <m:r>
                            <a:rPr lang="en-US" sz="2400" i="1">
                              <a:solidFill>
                                <a:srgbClr val="000000"/>
                              </a:solidFill>
                              <a:latin typeface="Cambria Math" panose="02040503050406030204" pitchFamily="18" charset="0"/>
                            </a:rPr>
                            <m:t>𝑛</m:t>
                          </m:r>
                        </m:sup>
                      </m:sSubSup>
                    </m:oMath>
                  </m:oMathPara>
                </a14:m>
                <a:endParaRPr lang="en-US" sz="2400" dirty="0"/>
              </a:p>
            </p:txBody>
          </p:sp>
        </mc:Choice>
        <mc:Fallback xmlns="">
          <p:sp>
            <p:nvSpPr>
              <p:cNvPr id="38917" name="Object 5">
                <a:extLst>
                  <a:ext uri="{FF2B5EF4-FFF2-40B4-BE49-F238E27FC236}">
                    <a16:creationId xmlns:a16="http://schemas.microsoft.com/office/drawing/2014/main" id="{FAC6473A-4381-40E0-B354-2FBF1CCEF85C}"/>
                  </a:ext>
                </a:extLst>
              </p:cNvPr>
              <p:cNvSpPr txBox="1">
                <a:spLocks noRot="1" noChangeAspect="1" noMove="1" noResize="1" noEditPoints="1" noAdjustHandles="1" noChangeArrowheads="1" noChangeShapeType="1" noTextEdit="1"/>
              </p:cNvSpPr>
              <p:nvPr/>
            </p:nvSpPr>
            <p:spPr bwMode="auto">
              <a:xfrm>
                <a:off x="5183188" y="1936404"/>
                <a:ext cx="2341140" cy="988540"/>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18" name="Object 6">
                <a:extLst>
                  <a:ext uri="{FF2B5EF4-FFF2-40B4-BE49-F238E27FC236}">
                    <a16:creationId xmlns:a16="http://schemas.microsoft.com/office/drawing/2014/main" id="{3E7FFA5E-29EE-4070-878D-D44AA153DB6F}"/>
                  </a:ext>
                </a:extLst>
              </p:cNvPr>
              <p:cNvSpPr txBox="1"/>
              <p:nvPr/>
            </p:nvSpPr>
            <p:spPr bwMode="auto">
              <a:xfrm>
                <a:off x="2166938" y="3500438"/>
                <a:ext cx="2500313"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𝑠</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𝑡</m:t>
                          </m:r>
                        </m:sup>
                      </m:s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𝑠</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𝑠</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𝑡</m:t>
                          </m:r>
                        </m:sup>
                      </m:sSup>
                    </m:oMath>
                  </m:oMathPara>
                </a14:m>
                <a:endParaRPr lang="en-US" sz="2400" dirty="0"/>
              </a:p>
            </p:txBody>
          </p:sp>
        </mc:Choice>
        <mc:Fallback xmlns="">
          <p:sp>
            <p:nvSpPr>
              <p:cNvPr id="38918" name="Object 6">
                <a:extLst>
                  <a:ext uri="{FF2B5EF4-FFF2-40B4-BE49-F238E27FC236}">
                    <a16:creationId xmlns:a16="http://schemas.microsoft.com/office/drawing/2014/main" id="{3E7FFA5E-29EE-4070-878D-D44AA153DB6F}"/>
                  </a:ext>
                </a:extLst>
              </p:cNvPr>
              <p:cNvSpPr txBox="1">
                <a:spLocks noRot="1" noChangeAspect="1" noMove="1" noResize="1" noEditPoints="1" noAdjustHandles="1" noChangeArrowheads="1" noChangeShapeType="1" noTextEdit="1"/>
              </p:cNvSpPr>
              <p:nvPr/>
            </p:nvSpPr>
            <p:spPr bwMode="auto">
              <a:xfrm>
                <a:off x="2166938" y="3500438"/>
                <a:ext cx="2500313" cy="461665"/>
              </a:xfrm>
              <a:prstGeom prst="rect">
                <a:avLst/>
              </a:prstGeom>
              <a:blipFill>
                <a:blip r:embed="rId5"/>
                <a:stretch>
                  <a:fillRect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19" name="Object 7">
                <a:extLst>
                  <a:ext uri="{FF2B5EF4-FFF2-40B4-BE49-F238E27FC236}">
                    <a16:creationId xmlns:a16="http://schemas.microsoft.com/office/drawing/2014/main" id="{377D81B4-7B65-476F-AB97-67FC045D7C46}"/>
                  </a:ext>
                </a:extLst>
              </p:cNvPr>
              <p:cNvSpPr txBox="1"/>
              <p:nvPr/>
            </p:nvSpPr>
            <p:spPr bwMode="auto">
              <a:xfrm>
                <a:off x="5272088" y="3500438"/>
                <a:ext cx="2036216"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sz="2400" i="1">
                              <a:solidFill>
                                <a:srgbClr val="000000"/>
                              </a:solidFill>
                              <a:latin typeface="Cambria Math" panose="02040503050406030204" pitchFamily="18" charset="0"/>
                            </a:rPr>
                          </m:ctrlPr>
                        </m:sSubSupPr>
                        <m:e>
                          <m:r>
                            <a:rPr lang="en-US" sz="2400" i="1">
                              <a:solidFill>
                                <a:srgbClr val="000000"/>
                              </a:solidFill>
                              <a:latin typeface="Cambria Math" panose="02040503050406030204" pitchFamily="18" charset="0"/>
                            </a:rPr>
                            <m:t>𝑧</m:t>
                          </m:r>
                        </m:e>
                        <m:sub>
                          <m:r>
                            <a:rPr lang="en-US" sz="2400" i="1">
                              <a:solidFill>
                                <a:srgbClr val="000000"/>
                              </a:solidFill>
                              <a:latin typeface="Cambria Math" panose="02040503050406030204" pitchFamily="18" charset="0"/>
                            </a:rPr>
                            <m:t>𝑘</m:t>
                          </m:r>
                        </m:sub>
                        <m:sup>
                          <m:r>
                            <a:rPr lang="en-US" sz="2400" i="1">
                              <a:solidFill>
                                <a:srgbClr val="000000"/>
                              </a:solidFill>
                              <a:latin typeface="Cambria Math" panose="02040503050406030204" pitchFamily="18" charset="0"/>
                            </a:rPr>
                            <m:t>𝑛</m:t>
                          </m:r>
                        </m:sup>
                      </m:sSubSup>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𝑧</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sSubSup>
                        <m:sSubSupPr>
                          <m:ctrlPr>
                            <a:rPr lang="en-US" sz="2400" i="1">
                              <a:solidFill>
                                <a:srgbClr val="000000"/>
                              </a:solidFill>
                              <a:latin typeface="Cambria Math" panose="02040503050406030204" pitchFamily="18" charset="0"/>
                            </a:rPr>
                          </m:ctrlPr>
                        </m:sSubSupPr>
                        <m:e>
                          <m:r>
                            <a:rPr lang="en-US" sz="2400" i="1">
                              <a:solidFill>
                                <a:srgbClr val="000000"/>
                              </a:solidFill>
                              <a:latin typeface="Cambria Math" panose="02040503050406030204" pitchFamily="18" charset="0"/>
                            </a:rPr>
                            <m:t>𝑧</m:t>
                          </m:r>
                        </m:e>
                        <m:sub>
                          <m:r>
                            <a:rPr lang="en-US" sz="2400" i="1">
                              <a:solidFill>
                                <a:srgbClr val="000000"/>
                              </a:solidFill>
                              <a:latin typeface="Cambria Math" panose="02040503050406030204" pitchFamily="18" charset="0"/>
                            </a:rPr>
                            <m:t>𝑘</m:t>
                          </m:r>
                        </m:sub>
                        <m:sup>
                          <m:r>
                            <a:rPr lang="en-US" sz="2400" i="1">
                              <a:solidFill>
                                <a:srgbClr val="000000"/>
                              </a:solidFill>
                              <a:latin typeface="Cambria Math" panose="02040503050406030204" pitchFamily="18" charset="0"/>
                            </a:rPr>
                            <m:t>𝑛</m:t>
                          </m:r>
                        </m:sup>
                      </m:sSubSup>
                    </m:oMath>
                  </m:oMathPara>
                </a14:m>
                <a:endParaRPr lang="en-US" sz="2400" dirty="0"/>
              </a:p>
            </p:txBody>
          </p:sp>
        </mc:Choice>
        <mc:Fallback xmlns="">
          <p:sp>
            <p:nvSpPr>
              <p:cNvPr id="38919" name="Object 7">
                <a:extLst>
                  <a:ext uri="{FF2B5EF4-FFF2-40B4-BE49-F238E27FC236}">
                    <a16:creationId xmlns:a16="http://schemas.microsoft.com/office/drawing/2014/main" id="{377D81B4-7B65-476F-AB97-67FC045D7C46}"/>
                  </a:ext>
                </a:extLst>
              </p:cNvPr>
              <p:cNvSpPr txBox="1">
                <a:spLocks noRot="1" noChangeAspect="1" noMove="1" noResize="1" noEditPoints="1" noAdjustHandles="1" noChangeArrowheads="1" noChangeShapeType="1" noTextEdit="1"/>
              </p:cNvSpPr>
              <p:nvPr/>
            </p:nvSpPr>
            <p:spPr bwMode="auto">
              <a:xfrm>
                <a:off x="5272088" y="3500438"/>
                <a:ext cx="2036216" cy="461665"/>
              </a:xfrm>
              <a:prstGeom prst="rect">
                <a:avLst/>
              </a:prstGeom>
              <a:blipFill>
                <a:blip r:embed="rId6"/>
                <a:stretch>
                  <a:fillRect b="-18421"/>
                </a:stretch>
              </a:blipFill>
              <a:ln>
                <a:noFill/>
              </a:ln>
              <a:effectLst/>
            </p:spPr>
            <p:txBody>
              <a:bodyPr/>
              <a:lstStyle/>
              <a:p>
                <a:r>
                  <a:rPr lang="en-US">
                    <a:noFill/>
                  </a:rPr>
                  <a:t> </a:t>
                </a:r>
              </a:p>
            </p:txBody>
          </p:sp>
        </mc:Fallback>
      </mc:AlternateContent>
      <p:grpSp>
        <p:nvGrpSpPr>
          <p:cNvPr id="2" name="组合 20">
            <a:extLst>
              <a:ext uri="{FF2B5EF4-FFF2-40B4-BE49-F238E27FC236}">
                <a16:creationId xmlns:a16="http://schemas.microsoft.com/office/drawing/2014/main" id="{69681871-D674-4715-8FE8-C06FDFB5266E}"/>
              </a:ext>
            </a:extLst>
          </p:cNvPr>
          <p:cNvGrpSpPr>
            <a:grpSpLocks/>
          </p:cNvGrpSpPr>
          <p:nvPr/>
        </p:nvGrpSpPr>
        <p:grpSpPr bwMode="auto">
          <a:xfrm>
            <a:off x="1393089" y="4016702"/>
            <a:ext cx="7007547" cy="993790"/>
            <a:chOff x="1569697" y="4390424"/>
            <a:chExt cx="7007547" cy="993790"/>
          </a:xfrm>
        </p:grpSpPr>
        <mc:AlternateContent xmlns:mc="http://schemas.openxmlformats.org/markup-compatibility/2006" xmlns:a14="http://schemas.microsoft.com/office/drawing/2010/main">
          <mc:Choice Requires="a14">
            <p:sp>
              <p:nvSpPr>
                <p:cNvPr id="38922" name="Object 8">
                  <a:extLst>
                    <a:ext uri="{FF2B5EF4-FFF2-40B4-BE49-F238E27FC236}">
                      <a16:creationId xmlns:a16="http://schemas.microsoft.com/office/drawing/2014/main" id="{47193FDA-27EA-4450-99A8-C36B73A486A9}"/>
                    </a:ext>
                  </a:extLst>
                </p:cNvPr>
                <p:cNvSpPr txBox="1"/>
                <p:nvPr/>
              </p:nvSpPr>
              <p:spPr bwMode="auto">
                <a:xfrm>
                  <a:off x="5205394" y="4390424"/>
                  <a:ext cx="3371850" cy="9885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m>
                          <m:mPr>
                            <m:plcHide m:val="on"/>
                            <m:mcs>
                              <m:mc>
                                <m:mcPr>
                                  <m:count m:val="1"/>
                                  <m:mcJc m:val="center"/>
                                </m:mcPr>
                              </m:mc>
                            </m:mcs>
                            <m:ctrlPr>
                              <a:rPr lang="en-US" sz="2400" i="1">
                                <a:solidFill>
                                  <a:srgbClr val="000000"/>
                                </a:solidFill>
                                <a:latin typeface="Cambria Math" panose="02040503050406030204" pitchFamily="18" charset="0"/>
                              </a:rPr>
                            </m:ctrlPr>
                          </m:mPr>
                          <m:mr>
                            <m:e/>
                          </m:mr>
                        </m:m>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𝑠</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e>
                        </m:nary>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𝑠</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𝑡</m:t>
                            </m:r>
                          </m:sup>
                        </m:sSup>
                      </m:oMath>
                    </m:oMathPara>
                  </a14:m>
                  <a:endParaRPr lang="en-US" sz="2400" dirty="0"/>
                </a:p>
              </p:txBody>
            </p:sp>
          </mc:Choice>
          <mc:Fallback xmlns="">
            <p:sp>
              <p:nvSpPr>
                <p:cNvPr id="38922" name="Object 8">
                  <a:extLst>
                    <a:ext uri="{FF2B5EF4-FFF2-40B4-BE49-F238E27FC236}">
                      <a16:creationId xmlns:a16="http://schemas.microsoft.com/office/drawing/2014/main" id="{47193FDA-27EA-4450-99A8-C36B73A486A9}"/>
                    </a:ext>
                  </a:extLst>
                </p:cNvPr>
                <p:cNvSpPr txBox="1">
                  <a:spLocks noRot="1" noChangeAspect="1" noMove="1" noResize="1" noEditPoints="1" noAdjustHandles="1" noChangeArrowheads="1" noChangeShapeType="1" noTextEdit="1"/>
                </p:cNvSpPr>
                <p:nvPr/>
              </p:nvSpPr>
              <p:spPr bwMode="auto">
                <a:xfrm>
                  <a:off x="5205394" y="4390424"/>
                  <a:ext cx="3371850" cy="988540"/>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23" name="Object 9">
                  <a:extLst>
                    <a:ext uri="{FF2B5EF4-FFF2-40B4-BE49-F238E27FC236}">
                      <a16:creationId xmlns:a16="http://schemas.microsoft.com/office/drawing/2014/main" id="{C3959651-8D22-4510-B8B2-4652670E6B59}"/>
                    </a:ext>
                  </a:extLst>
                </p:cNvPr>
                <p:cNvSpPr txBox="1"/>
                <p:nvPr/>
              </p:nvSpPr>
              <p:spPr bwMode="auto">
                <a:xfrm>
                  <a:off x="1569697" y="4395674"/>
                  <a:ext cx="2568897" cy="9885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m>
                          <m:mPr>
                            <m:plcHide m:val="on"/>
                            <m:mcs>
                              <m:mc>
                                <m:mcPr>
                                  <m:count m:val="1"/>
                                  <m:mcJc m:val="center"/>
                                </m:mcPr>
                              </m:mc>
                            </m:mcs>
                            <m:ctrlPr>
                              <a:rPr lang="en-US" sz="2400" i="1">
                                <a:solidFill>
                                  <a:srgbClr val="000000"/>
                                </a:solidFill>
                                <a:latin typeface="Cambria Math" panose="02040503050406030204" pitchFamily="18" charset="0"/>
                              </a:rPr>
                            </m:ctrlPr>
                          </m:mPr>
                          <m:mr>
                            <m:e/>
                          </m:mr>
                        </m:m>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e>
                        </m:nary>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𝑠</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𝑡</m:t>
                            </m:r>
                          </m:sup>
                        </m:sSup>
                      </m:oMath>
                    </m:oMathPara>
                  </a14:m>
                  <a:endParaRPr lang="en-US" sz="2400" dirty="0"/>
                </a:p>
              </p:txBody>
            </p:sp>
          </mc:Choice>
          <mc:Fallback xmlns="">
            <p:sp>
              <p:nvSpPr>
                <p:cNvPr id="38923" name="Object 9">
                  <a:extLst>
                    <a:ext uri="{FF2B5EF4-FFF2-40B4-BE49-F238E27FC236}">
                      <a16:creationId xmlns:a16="http://schemas.microsoft.com/office/drawing/2014/main" id="{C3959651-8D22-4510-B8B2-4652670E6B59}"/>
                    </a:ext>
                  </a:extLst>
                </p:cNvPr>
                <p:cNvSpPr txBox="1">
                  <a:spLocks noRot="1" noChangeAspect="1" noMove="1" noResize="1" noEditPoints="1" noAdjustHandles="1" noChangeArrowheads="1" noChangeShapeType="1" noTextEdit="1"/>
                </p:cNvSpPr>
                <p:nvPr/>
              </p:nvSpPr>
              <p:spPr bwMode="auto">
                <a:xfrm>
                  <a:off x="1569697" y="4395674"/>
                  <a:ext cx="2568897" cy="988540"/>
                </a:xfrm>
                <a:prstGeom prst="rect">
                  <a:avLst/>
                </a:prstGeom>
                <a:blipFill>
                  <a:blip r:embed="rId8"/>
                  <a:stretch>
                    <a:fillRect/>
                  </a:stretch>
                </a:blipFill>
                <a:ln>
                  <a:noFill/>
                </a:ln>
                <a:effectLst/>
              </p:spPr>
              <p:txBody>
                <a:bodyPr/>
                <a:lstStyle/>
                <a:p>
                  <a:r>
                    <a:rPr lang="en-US">
                      <a:noFill/>
                    </a:rPr>
                    <a:t> </a:t>
                  </a:r>
                </a:p>
              </p:txBody>
            </p:sp>
          </mc:Fallback>
        </mc:AlternateContent>
        <p:sp>
          <p:nvSpPr>
            <p:cNvPr id="38931" name="Line 13">
              <a:extLst>
                <a:ext uri="{FF2B5EF4-FFF2-40B4-BE49-F238E27FC236}">
                  <a16:creationId xmlns:a16="http://schemas.microsoft.com/office/drawing/2014/main" id="{E2558CB0-5007-4019-A2AB-DA248549AAAF}"/>
                </a:ext>
              </a:extLst>
            </p:cNvPr>
            <p:cNvSpPr>
              <a:spLocks noChangeShapeType="1"/>
            </p:cNvSpPr>
            <p:nvPr/>
          </p:nvSpPr>
          <p:spPr bwMode="auto">
            <a:xfrm>
              <a:off x="4138594" y="4819658"/>
              <a:ext cx="10440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sz="2400"/>
            </a:p>
          </p:txBody>
        </p:sp>
      </p:grpSp>
      <p:grpSp>
        <p:nvGrpSpPr>
          <p:cNvPr id="3" name="组合 21">
            <a:extLst>
              <a:ext uri="{FF2B5EF4-FFF2-40B4-BE49-F238E27FC236}">
                <a16:creationId xmlns:a16="http://schemas.microsoft.com/office/drawing/2014/main" id="{51D20F90-4AD7-4919-81D2-8B79E4FE1544}"/>
              </a:ext>
            </a:extLst>
          </p:cNvPr>
          <p:cNvGrpSpPr>
            <a:grpSpLocks/>
          </p:cNvGrpSpPr>
          <p:nvPr/>
        </p:nvGrpSpPr>
        <p:grpSpPr bwMode="auto">
          <a:xfrm>
            <a:off x="1588522" y="5032748"/>
            <a:ext cx="6695148" cy="988540"/>
            <a:chOff x="1771945" y="5323708"/>
            <a:chExt cx="6695127" cy="988515"/>
          </a:xfrm>
        </p:grpSpPr>
        <mc:AlternateContent xmlns:mc="http://schemas.openxmlformats.org/markup-compatibility/2006" xmlns:a14="http://schemas.microsoft.com/office/drawing/2010/main">
          <mc:Choice Requires="a14">
            <p:sp>
              <p:nvSpPr>
                <p:cNvPr id="38920" name="Object 10">
                  <a:extLst>
                    <a:ext uri="{FF2B5EF4-FFF2-40B4-BE49-F238E27FC236}">
                      <a16:creationId xmlns:a16="http://schemas.microsoft.com/office/drawing/2014/main" id="{4A2011E5-537E-4C50-8DEA-B8850621BBB9}"/>
                    </a:ext>
                  </a:extLst>
                </p:cNvPr>
                <p:cNvSpPr txBox="1"/>
                <p:nvPr/>
              </p:nvSpPr>
              <p:spPr bwMode="auto">
                <a:xfrm>
                  <a:off x="1771945" y="5323708"/>
                  <a:ext cx="2303465" cy="98851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e>
                        </m:nary>
                        <m:sSubSup>
                          <m:sSubSupPr>
                            <m:ctrlPr>
                              <a:rPr lang="en-US" sz="2400" i="1">
                                <a:solidFill>
                                  <a:srgbClr val="000000"/>
                                </a:solidFill>
                                <a:latin typeface="Cambria Math" panose="02040503050406030204" pitchFamily="18" charset="0"/>
                              </a:rPr>
                            </m:ctrlPr>
                          </m:sSubSupPr>
                          <m:e>
                            <m:r>
                              <a:rPr lang="en-US" sz="2400" i="1">
                                <a:solidFill>
                                  <a:srgbClr val="000000"/>
                                </a:solidFill>
                                <a:latin typeface="Cambria Math" panose="02040503050406030204" pitchFamily="18" charset="0"/>
                              </a:rPr>
                              <m:t>𝑧</m:t>
                            </m:r>
                          </m:e>
                          <m:sub>
                            <m:r>
                              <a:rPr lang="en-US" sz="2400" i="1">
                                <a:solidFill>
                                  <a:srgbClr val="000000"/>
                                </a:solidFill>
                                <a:latin typeface="Cambria Math" panose="02040503050406030204" pitchFamily="18" charset="0"/>
                              </a:rPr>
                              <m:t>𝑘</m:t>
                            </m:r>
                          </m:sub>
                          <m:sup>
                            <m:r>
                              <a:rPr lang="en-US" sz="2400" i="1">
                                <a:solidFill>
                                  <a:srgbClr val="000000"/>
                                </a:solidFill>
                                <a:latin typeface="Cambria Math" panose="02040503050406030204" pitchFamily="18" charset="0"/>
                              </a:rPr>
                              <m:t>𝑛</m:t>
                            </m:r>
                          </m:sup>
                        </m:sSubSup>
                      </m:oMath>
                    </m:oMathPara>
                  </a14:m>
                  <a:endParaRPr lang="en-US" sz="2400" dirty="0"/>
                </a:p>
              </p:txBody>
            </p:sp>
          </mc:Choice>
          <mc:Fallback xmlns="">
            <p:sp>
              <p:nvSpPr>
                <p:cNvPr id="38920" name="Object 10">
                  <a:extLst>
                    <a:ext uri="{FF2B5EF4-FFF2-40B4-BE49-F238E27FC236}">
                      <a16:creationId xmlns:a16="http://schemas.microsoft.com/office/drawing/2014/main" id="{4A2011E5-537E-4C50-8DEA-B8850621BBB9}"/>
                    </a:ext>
                  </a:extLst>
                </p:cNvPr>
                <p:cNvSpPr txBox="1">
                  <a:spLocks noRot="1" noChangeAspect="1" noMove="1" noResize="1" noEditPoints="1" noAdjustHandles="1" noChangeArrowheads="1" noChangeShapeType="1" noTextEdit="1"/>
                </p:cNvSpPr>
                <p:nvPr/>
              </p:nvSpPr>
              <p:spPr bwMode="auto">
                <a:xfrm>
                  <a:off x="1771945" y="5323708"/>
                  <a:ext cx="2303465" cy="988515"/>
                </a:xfrm>
                <a:prstGeom prst="rect">
                  <a:avLst/>
                </a:prstGeom>
                <a:blipFill>
                  <a:blip r:embed="rId9"/>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21" name="Object 11">
                  <a:extLst>
                    <a:ext uri="{FF2B5EF4-FFF2-40B4-BE49-F238E27FC236}">
                      <a16:creationId xmlns:a16="http://schemas.microsoft.com/office/drawing/2014/main" id="{7CB3F861-D84B-47F5-BB39-9CE10E7DF1E5}"/>
                    </a:ext>
                  </a:extLst>
                </p:cNvPr>
                <p:cNvSpPr txBox="1"/>
                <p:nvPr/>
              </p:nvSpPr>
              <p:spPr bwMode="auto">
                <a:xfrm>
                  <a:off x="5291106" y="5323708"/>
                  <a:ext cx="3175966" cy="98851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smtClean="0">
                            <a:solidFill>
                              <a:srgbClr val="000000"/>
                            </a:solidFill>
                            <a:latin typeface="Cambria Math" panose="02040503050406030204" pitchFamily="18" charset="0"/>
                          </a:rPr>
                          <m:t>𝑦</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𝑛</m:t>
                        </m:r>
                        <m:r>
                          <a:rPr lang="en-US" sz="2400" i="1" smtClean="0">
                            <a:solidFill>
                              <a:srgbClr val="000000"/>
                            </a:solidFill>
                            <a:latin typeface="Cambria Math" panose="02040503050406030204" pitchFamily="18" charset="0"/>
                          </a:rPr>
                          <m:t>]=</m:t>
                        </m:r>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sub>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𝐻</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𝑧</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e>
                        </m:nary>
                        <m:sSubSup>
                          <m:sSubSupPr>
                            <m:ctrlPr>
                              <a:rPr lang="en-US" sz="2400" i="1">
                                <a:solidFill>
                                  <a:srgbClr val="000000"/>
                                </a:solidFill>
                                <a:latin typeface="Cambria Math" panose="02040503050406030204" pitchFamily="18" charset="0"/>
                              </a:rPr>
                            </m:ctrlPr>
                          </m:sSubSupPr>
                          <m:e>
                            <m:r>
                              <a:rPr lang="en-US" sz="2400" b="0" i="1" smtClean="0">
                                <a:solidFill>
                                  <a:srgbClr val="000000"/>
                                </a:solidFill>
                                <a:latin typeface="Cambria Math" panose="02040503050406030204" pitchFamily="18" charset="0"/>
                              </a:rPr>
                              <m:t>𝑧</m:t>
                            </m:r>
                          </m:e>
                          <m:sub>
                            <m:r>
                              <a:rPr lang="en-US" sz="2400" i="1">
                                <a:solidFill>
                                  <a:srgbClr val="000000"/>
                                </a:solidFill>
                                <a:latin typeface="Cambria Math" panose="02040503050406030204" pitchFamily="18" charset="0"/>
                              </a:rPr>
                              <m:t>𝑘</m:t>
                            </m:r>
                          </m:sub>
                          <m:sup>
                            <m:r>
                              <a:rPr lang="en-US" sz="2400" i="1">
                                <a:solidFill>
                                  <a:srgbClr val="000000"/>
                                </a:solidFill>
                                <a:latin typeface="Cambria Math" panose="02040503050406030204" pitchFamily="18" charset="0"/>
                              </a:rPr>
                              <m:t>𝑛</m:t>
                            </m:r>
                          </m:sup>
                        </m:sSubSup>
                      </m:oMath>
                    </m:oMathPara>
                  </a14:m>
                  <a:endParaRPr lang="en-US" sz="2400" dirty="0"/>
                </a:p>
              </p:txBody>
            </p:sp>
          </mc:Choice>
          <mc:Fallback xmlns="">
            <p:sp>
              <p:nvSpPr>
                <p:cNvPr id="38921" name="Object 11">
                  <a:extLst>
                    <a:ext uri="{FF2B5EF4-FFF2-40B4-BE49-F238E27FC236}">
                      <a16:creationId xmlns:a16="http://schemas.microsoft.com/office/drawing/2014/main" id="{7CB3F861-D84B-47F5-BB39-9CE10E7DF1E5}"/>
                    </a:ext>
                  </a:extLst>
                </p:cNvPr>
                <p:cNvSpPr txBox="1">
                  <a:spLocks noRot="1" noChangeAspect="1" noMove="1" noResize="1" noEditPoints="1" noAdjustHandles="1" noChangeArrowheads="1" noChangeShapeType="1" noTextEdit="1"/>
                </p:cNvSpPr>
                <p:nvPr/>
              </p:nvSpPr>
              <p:spPr bwMode="auto">
                <a:xfrm>
                  <a:off x="5291106" y="5323708"/>
                  <a:ext cx="3175966" cy="988515"/>
                </a:xfrm>
                <a:prstGeom prst="rect">
                  <a:avLst/>
                </a:prstGeom>
                <a:blipFill>
                  <a:blip r:embed="rId10"/>
                  <a:stretch>
                    <a:fillRect/>
                  </a:stretch>
                </a:blipFill>
                <a:ln>
                  <a:noFill/>
                </a:ln>
                <a:effectLst/>
              </p:spPr>
              <p:txBody>
                <a:bodyPr/>
                <a:lstStyle/>
                <a:p>
                  <a:r>
                    <a:rPr lang="en-US">
                      <a:noFill/>
                    </a:rPr>
                    <a:t> </a:t>
                  </a:r>
                </a:p>
              </p:txBody>
            </p:sp>
          </mc:Fallback>
        </mc:AlternateContent>
        <p:sp>
          <p:nvSpPr>
            <p:cNvPr id="38930" name="Line 8">
              <a:extLst>
                <a:ext uri="{FF2B5EF4-FFF2-40B4-BE49-F238E27FC236}">
                  <a16:creationId xmlns:a16="http://schemas.microsoft.com/office/drawing/2014/main" id="{E15E2858-635B-4B0C-98E8-F90A97BDF22E}"/>
                </a:ext>
              </a:extLst>
            </p:cNvPr>
            <p:cNvSpPr>
              <a:spLocks noChangeShapeType="1"/>
            </p:cNvSpPr>
            <p:nvPr/>
          </p:nvSpPr>
          <p:spPr bwMode="auto">
            <a:xfrm>
              <a:off x="4138607" y="5817966"/>
              <a:ext cx="104399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sz="2400"/>
            </a:p>
          </p:txBody>
        </p:sp>
      </p:grpSp>
      <p:sp>
        <p:nvSpPr>
          <p:cNvPr id="23" name="矩形 22">
            <a:extLst>
              <a:ext uri="{FF2B5EF4-FFF2-40B4-BE49-F238E27FC236}">
                <a16:creationId xmlns:a16="http://schemas.microsoft.com/office/drawing/2014/main" id="{BEDA7FCE-F134-4480-8626-C563EF0900A6}"/>
              </a:ext>
            </a:extLst>
          </p:cNvPr>
          <p:cNvSpPr>
            <a:spLocks noChangeArrowheads="1"/>
          </p:cNvSpPr>
          <p:nvPr/>
        </p:nvSpPr>
        <p:spPr bwMode="auto">
          <a:xfrm>
            <a:off x="928688" y="6063679"/>
            <a:ext cx="72866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rgbClr val="0070C0"/>
                </a:solidFill>
                <a:latin typeface="华文楷体" panose="02010600040101010101" pitchFamily="2" charset="-122"/>
                <a:ea typeface="华文楷体" panose="02010600040101010101" pitchFamily="2" charset="-122"/>
              </a:rPr>
              <a:t>多大范围的信号可以用复指数信号的线性组合来表示？</a:t>
            </a:r>
          </a:p>
        </p:txBody>
      </p:sp>
      <p:sp>
        <p:nvSpPr>
          <p:cNvPr id="43" name="文本框 42">
            <a:extLst>
              <a:ext uri="{FF2B5EF4-FFF2-40B4-BE49-F238E27FC236}">
                <a16:creationId xmlns:a16="http://schemas.microsoft.com/office/drawing/2014/main" id="{B0D70834-949A-401B-A1D2-7E4EBC635106}"/>
              </a:ext>
            </a:extLst>
          </p:cNvPr>
          <p:cNvSpPr txBox="1"/>
          <p:nvPr/>
        </p:nvSpPr>
        <p:spPr>
          <a:xfrm>
            <a:off x="827584" y="2948751"/>
            <a:ext cx="7859216" cy="461665"/>
          </a:xfrm>
          <a:prstGeom prst="rect">
            <a:avLst/>
          </a:prstGeom>
          <a:noFill/>
        </p:spPr>
        <p:txBody>
          <a:bodyPr wrap="square">
            <a:spAutoFit/>
          </a:bodyPr>
          <a:lstStyle/>
          <a:p>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利用</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LTI</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系统的特征函数以及齐次性与叠加性，则有</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linds(horizontal)">
                                      <p:cBhvr>
                                        <p:cTn id="2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P spid="38919"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24" name="标题 1">
            <a:extLst>
              <a:ext uri="{FF2B5EF4-FFF2-40B4-BE49-F238E27FC236}">
                <a16:creationId xmlns:a16="http://schemas.microsoft.com/office/drawing/2014/main" id="{5B89881C-CDD9-48A9-9442-8D573D7BB998}"/>
              </a:ext>
            </a:extLst>
          </p:cNvPr>
          <p:cNvSpPr>
            <a:spLocks noGrp="1"/>
          </p:cNvSpPr>
          <p:nvPr>
            <p:ph type="title"/>
          </p:nvPr>
        </p:nvSpPr>
        <p:spPr/>
        <p:txBody>
          <a:bodyPr/>
          <a:lstStyle/>
          <a:p>
            <a:r>
              <a:rPr lang="en-US" altLang="zh-CN" sz="4000" dirty="0"/>
              <a:t>3.2 LTI</a:t>
            </a:r>
            <a:r>
              <a:rPr lang="zh-CN" altLang="en-US" sz="4000" dirty="0"/>
              <a:t>系统对复指数信号的响应</a:t>
            </a:r>
          </a:p>
        </p:txBody>
      </p:sp>
      <mc:AlternateContent xmlns:mc="http://schemas.openxmlformats.org/markup-compatibility/2006" xmlns:a14="http://schemas.microsoft.com/office/drawing/2010/main">
        <mc:Choice Requires="a14">
          <p:sp>
            <p:nvSpPr>
              <p:cNvPr id="38925" name="内容占位符 2">
                <a:extLst>
                  <a:ext uri="{FF2B5EF4-FFF2-40B4-BE49-F238E27FC236}">
                    <a16:creationId xmlns:a16="http://schemas.microsoft.com/office/drawing/2014/main" id="{62CBF156-393C-4FD0-938F-6AB5ED44E626}"/>
                  </a:ext>
                </a:extLst>
              </p:cNvPr>
              <p:cNvSpPr>
                <a:spLocks noGrp="1"/>
              </p:cNvSpPr>
              <p:nvPr>
                <p:ph idx="1"/>
              </p:nvPr>
            </p:nvSpPr>
            <p:spPr>
              <a:xfrm>
                <a:off x="457200" y="1285875"/>
                <a:ext cx="8229600" cy="2760499"/>
              </a:xfrm>
            </p:spPr>
            <p:txBody>
              <a:bodyPr>
                <a:spAutoFit/>
              </a:bodyPr>
              <a:lstStyle/>
              <a:p>
                <a:pPr>
                  <a:lnSpc>
                    <a:spcPct val="200000"/>
                  </a:lnSpc>
                  <a:spcBef>
                    <a:spcPts val="0"/>
                  </a:spcBef>
                  <a:spcAft>
                    <a:spcPts val="600"/>
                  </a:spcAft>
                </a:pPr>
                <a:r>
                  <a:rPr lang="zh-CN" altLang="en-US" sz="2800" b="0" dirty="0"/>
                  <a:t>先考虑以下特殊情况：</a:t>
                </a:r>
                <a:endParaRPr lang="en-US" altLang="zh-CN" sz="2800" b="0" dirty="0"/>
              </a:p>
              <a:p>
                <a:pPr lvl="1">
                  <a:lnSpc>
                    <a:spcPct val="200000"/>
                  </a:lnSpc>
                  <a:spcBef>
                    <a:spcPts val="0"/>
                  </a:spcBef>
                  <a:spcAft>
                    <a:spcPts val="600"/>
                  </a:spcAft>
                </a:pPr>
                <a:r>
                  <a:rPr lang="zh-CN" altLang="en-US" b="0" dirty="0"/>
                  <a:t>连续时间：</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j</m:t>
                    </m:r>
                    <m:r>
                      <a:rPr lang="zh-CN" altLang="en-US" b="0" i="1" smtClean="0">
                        <a:latin typeface="Cambria Math" panose="02040503050406030204" pitchFamily="18" charset="0"/>
                      </a:rPr>
                      <m:t>𝜔</m:t>
                    </m:r>
                  </m:oMath>
                </a14:m>
                <a:r>
                  <a:rPr lang="zh-CN" altLang="en-US" b="0" dirty="0"/>
                  <a:t>，即形如</a:t>
                </a:r>
                <a14:m>
                  <m:oMath xmlns:m="http://schemas.openxmlformats.org/officeDocument/2006/math">
                    <m:sSup>
                      <m:sSupPr>
                        <m:ctrlPr>
                          <a:rPr lang="en-US" altLang="zh-CN" b="0" i="1" smtClean="0">
                            <a:solidFill>
                              <a:srgbClr val="FF0000"/>
                            </a:solidFill>
                            <a:latin typeface="Cambria Math" panose="02040503050406030204" pitchFamily="18" charset="0"/>
                          </a:rPr>
                        </m:ctrlPr>
                      </m:sSupPr>
                      <m:e>
                        <m:r>
                          <m:rPr>
                            <m:sty m:val="p"/>
                          </m:rPr>
                          <a:rPr lang="en-US" altLang="zh-CN" b="0" i="0" smtClean="0">
                            <a:solidFill>
                              <a:srgbClr val="FF0000"/>
                            </a:solidFill>
                            <a:latin typeface="Cambria Math" panose="02040503050406030204" pitchFamily="18" charset="0"/>
                          </a:rPr>
                          <m:t>e</m:t>
                        </m:r>
                      </m:e>
                      <m:sup>
                        <m:r>
                          <m:rPr>
                            <m:sty m:val="p"/>
                          </m:rPr>
                          <a:rPr lang="en-US" altLang="zh-CN" b="0" i="0">
                            <a:solidFill>
                              <a:srgbClr val="FF0000"/>
                            </a:solidFill>
                            <a:latin typeface="Cambria Math" panose="02040503050406030204" pitchFamily="18" charset="0"/>
                          </a:rPr>
                          <m:t>j</m:t>
                        </m:r>
                        <m:r>
                          <a:rPr lang="zh-CN" altLang="en-US" b="0" i="1">
                            <a:solidFill>
                              <a:srgbClr val="FF0000"/>
                            </a:solidFill>
                            <a:latin typeface="Cambria Math" panose="02040503050406030204" pitchFamily="18" charset="0"/>
                          </a:rPr>
                          <m:t>𝜔</m:t>
                        </m:r>
                        <m:r>
                          <a:rPr lang="en-US" altLang="zh-CN" b="0" i="1" smtClean="0">
                            <a:solidFill>
                              <a:srgbClr val="FF0000"/>
                            </a:solidFill>
                            <a:latin typeface="Cambria Math" panose="02040503050406030204" pitchFamily="18" charset="0"/>
                          </a:rPr>
                          <m:t>𝑡</m:t>
                        </m:r>
                      </m:sup>
                    </m:sSup>
                  </m:oMath>
                </a14:m>
                <a:r>
                  <a:rPr lang="zh-CN" altLang="en-US" b="0" dirty="0"/>
                  <a:t>的基本信号</a:t>
                </a:r>
                <a:endParaRPr lang="en-US" altLang="zh-CN" b="0" dirty="0"/>
              </a:p>
              <a:p>
                <a:pPr lvl="1">
                  <a:lnSpc>
                    <a:spcPct val="200000"/>
                  </a:lnSpc>
                  <a:spcBef>
                    <a:spcPts val="0"/>
                  </a:spcBef>
                  <a:spcAft>
                    <a:spcPts val="600"/>
                  </a:spcAft>
                </a:pPr>
                <a:r>
                  <a:rPr lang="zh-CN" altLang="en-US" b="0" dirty="0"/>
                  <a:t>离散时间：</a:t>
                </a:r>
                <a14:m>
                  <m:oMath xmlns:m="http://schemas.openxmlformats.org/officeDocument/2006/math">
                    <m:r>
                      <a:rPr lang="en-US" altLang="zh-CN" b="0" i="1" smtClean="0">
                        <a:latin typeface="Cambria Math" panose="02040503050406030204" pitchFamily="18" charset="0"/>
                      </a:rPr>
                      <m:t>𝑧</m:t>
                    </m:r>
                    <m:r>
                      <a:rPr lang="en-US" altLang="zh-CN" b="0" i="1" smtClean="0">
                        <a:latin typeface="Cambria Math" panose="02040503050406030204" pitchFamily="18" charset="0"/>
                      </a:rPr>
                      <m:t>=</m:t>
                    </m:r>
                    <m:sSup>
                      <m:sSupPr>
                        <m:ctrlPr>
                          <a:rPr lang="en-US" altLang="zh-CN" b="0" i="1">
                            <a:latin typeface="Cambria Math" panose="02040503050406030204" pitchFamily="18" charset="0"/>
                          </a:rPr>
                        </m:ctrlPr>
                      </m:sSupPr>
                      <m:e>
                        <m:r>
                          <m:rPr>
                            <m:sty m:val="p"/>
                          </m:rPr>
                          <a:rPr lang="en-US" altLang="zh-CN" b="0" i="0">
                            <a:latin typeface="Cambria Math" panose="02040503050406030204" pitchFamily="18" charset="0"/>
                          </a:rPr>
                          <m:t>e</m:t>
                        </m:r>
                      </m:e>
                      <m:sup>
                        <m:r>
                          <m:rPr>
                            <m:sty m:val="p"/>
                          </m:rPr>
                          <a:rPr lang="en-US" altLang="zh-CN" b="0" i="0">
                            <a:latin typeface="Cambria Math" panose="02040503050406030204" pitchFamily="18" charset="0"/>
                          </a:rPr>
                          <m:t>j</m:t>
                        </m:r>
                        <m:r>
                          <a:rPr lang="zh-CN" altLang="en-US" b="0" i="1">
                            <a:latin typeface="Cambria Math" panose="02040503050406030204" pitchFamily="18" charset="0"/>
                          </a:rPr>
                          <m:t>𝜔</m:t>
                        </m:r>
                      </m:sup>
                    </m:sSup>
                  </m:oMath>
                </a14:m>
                <a:r>
                  <a:rPr lang="zh-CN" altLang="en-US" b="0" dirty="0"/>
                  <a:t>，即形如</a:t>
                </a:r>
                <a14:m>
                  <m:oMath xmlns:m="http://schemas.openxmlformats.org/officeDocument/2006/math">
                    <m:sSup>
                      <m:sSupPr>
                        <m:ctrlPr>
                          <a:rPr lang="en-US" altLang="zh-CN" b="0" i="1" smtClean="0">
                            <a:solidFill>
                              <a:srgbClr val="FF0000"/>
                            </a:solidFill>
                            <a:latin typeface="Cambria Math" panose="02040503050406030204" pitchFamily="18" charset="0"/>
                          </a:rPr>
                        </m:ctrlPr>
                      </m:sSupPr>
                      <m:e>
                        <m:r>
                          <m:rPr>
                            <m:sty m:val="p"/>
                          </m:rPr>
                          <a:rPr lang="en-US" altLang="zh-CN" b="0" i="0">
                            <a:solidFill>
                              <a:srgbClr val="FF0000"/>
                            </a:solidFill>
                            <a:latin typeface="Cambria Math" panose="02040503050406030204" pitchFamily="18" charset="0"/>
                          </a:rPr>
                          <m:t>e</m:t>
                        </m:r>
                      </m:e>
                      <m:sup>
                        <m:r>
                          <m:rPr>
                            <m:sty m:val="p"/>
                          </m:rPr>
                          <a:rPr lang="en-US" altLang="zh-CN" b="0" i="0">
                            <a:solidFill>
                              <a:srgbClr val="FF0000"/>
                            </a:solidFill>
                            <a:latin typeface="Cambria Math" panose="02040503050406030204" pitchFamily="18" charset="0"/>
                          </a:rPr>
                          <m:t>j</m:t>
                        </m:r>
                        <m:r>
                          <a:rPr lang="zh-CN" altLang="en-US" b="0" i="1">
                            <a:solidFill>
                              <a:srgbClr val="FF0000"/>
                            </a:solidFill>
                            <a:latin typeface="Cambria Math" panose="02040503050406030204" pitchFamily="18" charset="0"/>
                          </a:rPr>
                          <m:t>𝜔</m:t>
                        </m:r>
                        <m:r>
                          <a:rPr lang="en-US" altLang="zh-CN" b="0" i="1" smtClean="0">
                            <a:solidFill>
                              <a:srgbClr val="FF0000"/>
                            </a:solidFill>
                            <a:latin typeface="Cambria Math" panose="02040503050406030204" pitchFamily="18" charset="0"/>
                          </a:rPr>
                          <m:t>𝑛</m:t>
                        </m:r>
                      </m:sup>
                    </m:sSup>
                  </m:oMath>
                </a14:m>
                <a:r>
                  <a:rPr lang="zh-CN" altLang="en-US" b="0" dirty="0"/>
                  <a:t>的基本信号</a:t>
                </a:r>
              </a:p>
            </p:txBody>
          </p:sp>
        </mc:Choice>
        <mc:Fallback xmlns="">
          <p:sp>
            <p:nvSpPr>
              <p:cNvPr id="38925" name="内容占位符 2">
                <a:extLst>
                  <a:ext uri="{FF2B5EF4-FFF2-40B4-BE49-F238E27FC236}">
                    <a16:creationId xmlns:a16="http://schemas.microsoft.com/office/drawing/2014/main" id="{62CBF156-393C-4FD0-938F-6AB5ED44E626}"/>
                  </a:ext>
                </a:extLst>
              </p:cNvPr>
              <p:cNvSpPr>
                <a:spLocks noGrp="1" noRot="1" noChangeAspect="1" noMove="1" noResize="1" noEditPoints="1" noAdjustHandles="1" noChangeArrowheads="1" noChangeShapeType="1" noTextEdit="1"/>
              </p:cNvSpPr>
              <p:nvPr>
                <p:ph idx="1"/>
              </p:nvPr>
            </p:nvSpPr>
            <p:spPr>
              <a:xfrm>
                <a:off x="457200" y="1285875"/>
                <a:ext cx="8229600" cy="2760499"/>
              </a:xfrm>
              <a:blipFill>
                <a:blip r:embed="rId2"/>
                <a:stretch>
                  <a:fillRect l="-1333" b="-529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373164A5-7181-4AFA-9FDB-DE5821BD4AA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07A8F7B-3D5D-416F-BE2D-15BF016C2337}" type="slidenum">
              <a:rPr lang="zh-CN" altLang="en-US">
                <a:solidFill>
                  <a:srgbClr val="898989"/>
                </a:solidFill>
                <a:latin typeface="Calibri" panose="020F0502020204030204" pitchFamily="34" charset="0"/>
              </a:rPr>
              <a:pPr eaLnBrk="1" hangingPunct="1"/>
              <a:t>9</a:t>
            </a:fld>
            <a:endParaRPr lang="zh-CN" altLang="en-US">
              <a:solidFill>
                <a:srgbClr val="898989"/>
              </a:solidFill>
              <a:latin typeface="Calibri" panose="020F0502020204030204" pitchFamily="34" charset="0"/>
            </a:endParaRPr>
          </a:p>
        </p:txBody>
      </p:sp>
      <p:sp>
        <p:nvSpPr>
          <p:cNvPr id="43" name="文本框 42">
            <a:extLst>
              <a:ext uri="{FF2B5EF4-FFF2-40B4-BE49-F238E27FC236}">
                <a16:creationId xmlns:a16="http://schemas.microsoft.com/office/drawing/2014/main" id="{B0D70834-949A-401B-A1D2-7E4EBC635106}"/>
              </a:ext>
            </a:extLst>
          </p:cNvPr>
          <p:cNvSpPr txBox="1"/>
          <p:nvPr/>
        </p:nvSpPr>
        <p:spPr>
          <a:xfrm>
            <a:off x="1331640" y="4437112"/>
            <a:ext cx="6480720" cy="523220"/>
          </a:xfrm>
          <a:prstGeom prst="rect">
            <a:avLst/>
          </a:prstGeom>
          <a:noFill/>
        </p:spPr>
        <p:txBody>
          <a:bodyPr wrap="square">
            <a:spAutoFit/>
          </a:bodyPr>
          <a:lstStyle/>
          <a:p>
            <a:pPr algn="ctr"/>
            <a:r>
              <a:rPr lang="zh-CN" altLang="en-US" sz="2800" dirty="0">
                <a:solidFill>
                  <a:prstClr val="black"/>
                </a:solidFill>
                <a:latin typeface="Times New Roman" pitchFamily="18" charset="0"/>
                <a:ea typeface="华文楷体" pitchFamily="2" charset="-122"/>
              </a:rPr>
              <a:t>离散</a:t>
            </a:r>
            <a:r>
              <a:rPr kumimoji="0" lang="en-US" altLang="zh-CN"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rPr>
              <a:t>/</a:t>
            </a:r>
            <a:r>
              <a:rPr lang="zh-CN" altLang="en-US" sz="2800" dirty="0">
                <a:solidFill>
                  <a:prstClr val="black"/>
                </a:solidFill>
                <a:latin typeface="Times New Roman" pitchFamily="18" charset="0"/>
                <a:ea typeface="华文楷体" pitchFamily="2" charset="-122"/>
              </a:rPr>
              <a:t>连续</a:t>
            </a: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rPr>
              <a:t>时间</a:t>
            </a:r>
            <a:r>
              <a:rPr kumimoji="0" lang="zh-CN" altLang="en-US" sz="2800" b="0" i="0" u="none" strike="noStrike" kern="1200" cap="none" spc="0" normalizeH="0" baseline="0" noProof="0" dirty="0">
                <a:ln>
                  <a:noFill/>
                </a:ln>
                <a:solidFill>
                  <a:srgbClr val="0000FF"/>
                </a:solidFill>
                <a:effectLst/>
                <a:uLnTx/>
                <a:uFillTx/>
                <a:latin typeface="Times New Roman" pitchFamily="18" charset="0"/>
                <a:ea typeface="华文楷体" pitchFamily="2" charset="-122"/>
              </a:rPr>
              <a:t>傅里叶级数</a:t>
            </a:r>
            <a:r>
              <a:rPr kumimoji="0" lang="zh-CN" altLang="en-US" sz="2800" b="0" i="0" u="none" strike="noStrike" kern="1200" cap="none" spc="0" normalizeH="0" baseline="0" noProof="0" dirty="0">
                <a:ln>
                  <a:noFill/>
                </a:ln>
                <a:solidFill>
                  <a:prstClr val="black"/>
                </a:solidFill>
                <a:effectLst/>
                <a:uLnTx/>
                <a:uFillTx/>
                <a:latin typeface="Times New Roman" pitchFamily="18" charset="0"/>
                <a:ea typeface="华文楷体" pitchFamily="2" charset="-122"/>
              </a:rPr>
              <a:t>与</a:t>
            </a:r>
            <a:r>
              <a:rPr kumimoji="0" lang="zh-CN" altLang="en-US" sz="2800" b="0" i="0" u="none" strike="noStrike" kern="1200" cap="none" spc="0" normalizeH="0" baseline="0" noProof="0" dirty="0">
                <a:ln>
                  <a:noFill/>
                </a:ln>
                <a:solidFill>
                  <a:srgbClr val="0000FF"/>
                </a:solidFill>
                <a:effectLst/>
                <a:uLnTx/>
                <a:uFillTx/>
                <a:latin typeface="Times New Roman" pitchFamily="18" charset="0"/>
                <a:ea typeface="华文楷体" pitchFamily="2" charset="-122"/>
              </a:rPr>
              <a:t>傅里叶变换</a:t>
            </a:r>
            <a:endParaRPr lang="en-US" sz="2800" dirty="0">
              <a:solidFill>
                <a:srgbClr val="0000FF"/>
              </a:solidFill>
            </a:endParaRPr>
          </a:p>
        </p:txBody>
      </p:sp>
      <p:sp>
        <p:nvSpPr>
          <p:cNvPr id="22" name="Text Box 12">
            <a:extLst>
              <a:ext uri="{FF2B5EF4-FFF2-40B4-BE49-F238E27FC236}">
                <a16:creationId xmlns:a16="http://schemas.microsoft.com/office/drawing/2014/main" id="{E9AC2DEC-3F99-4756-85A8-33BF4ACAEAEA}"/>
              </a:ext>
            </a:extLst>
          </p:cNvPr>
          <p:cNvSpPr txBox="1">
            <a:spLocks noChangeArrowheads="1"/>
          </p:cNvSpPr>
          <p:nvPr/>
        </p:nvSpPr>
        <p:spPr bwMode="auto">
          <a:xfrm>
            <a:off x="3589351" y="5237621"/>
            <a:ext cx="1981200" cy="823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4216" tIns="42108" rIns="84216" bIns="42108">
            <a:spAutoFit/>
          </a:bodyPr>
          <a:lstStyle>
            <a:lvl1pPr defTabSz="841375" eaLnBrk="0" hangingPunct="0">
              <a:defRPr>
                <a:solidFill>
                  <a:schemeClr val="tx1"/>
                </a:solidFill>
                <a:latin typeface="Times New Roman" panose="02020603050405020304" pitchFamily="18" charset="0"/>
              </a:defRPr>
            </a:lvl1pPr>
            <a:lvl2pPr marL="742950" indent="-285750" defTabSz="841375" eaLnBrk="0" hangingPunct="0">
              <a:defRPr>
                <a:solidFill>
                  <a:schemeClr val="tx1"/>
                </a:solidFill>
                <a:latin typeface="Times New Roman" panose="02020603050405020304" pitchFamily="18" charset="0"/>
              </a:defRPr>
            </a:lvl2pPr>
            <a:lvl3pPr marL="1143000" indent="-228600" defTabSz="841375" eaLnBrk="0" hangingPunct="0">
              <a:defRPr>
                <a:solidFill>
                  <a:schemeClr val="tx1"/>
                </a:solidFill>
                <a:latin typeface="Times New Roman" panose="02020603050405020304" pitchFamily="18" charset="0"/>
              </a:defRPr>
            </a:lvl3pPr>
            <a:lvl4pPr marL="1600200" indent="-228600" defTabSz="841375" eaLnBrk="0" hangingPunct="0">
              <a:defRPr>
                <a:solidFill>
                  <a:schemeClr val="tx1"/>
                </a:solidFill>
                <a:latin typeface="Times New Roman" panose="02020603050405020304" pitchFamily="18" charset="0"/>
              </a:defRPr>
            </a:lvl4pPr>
            <a:lvl5pPr marL="2057400" indent="-228600" defTabSz="841375" eaLnBrk="0" hangingPunct="0">
              <a:defRPr>
                <a:solidFill>
                  <a:schemeClr val="tx1"/>
                </a:solidFill>
                <a:latin typeface="Times New Roman" panose="02020603050405020304" pitchFamily="18" charset="0"/>
              </a:defRPr>
            </a:lvl5pPr>
            <a:lvl6pPr marL="25146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9pPr>
          </a:lstStyle>
          <a:p>
            <a:pPr marL="0" marR="0" lvl="0" indent="0" algn="ctr" defTabSz="841375" eaLnBrk="1" fontAlgn="auto" latinLnBrk="0" hangingPunct="1">
              <a:lnSpc>
                <a:spcPct val="100000"/>
              </a:lnSpc>
              <a:spcBef>
                <a:spcPct val="50000"/>
              </a:spcBef>
              <a:spcAft>
                <a:spcPts val="0"/>
              </a:spcAft>
              <a:buClrTx/>
              <a:buSzTx/>
              <a:buFontTx/>
              <a:buNone/>
              <a:tabLst/>
              <a:defRPr/>
            </a:pPr>
            <a:r>
              <a:rPr kumimoji="0" lang="zh-CN" altLang="en-US" sz="2400" i="0" u="none" strike="noStrike" kern="0" cap="none" spc="0" normalizeH="0" baseline="0" noProof="0" dirty="0">
                <a:ln>
                  <a:noFill/>
                </a:ln>
                <a:solidFill>
                  <a:srgbClr val="3333CC"/>
                </a:solidFill>
                <a:effectLst/>
                <a:uLnTx/>
                <a:uFillTx/>
                <a:latin typeface="华文楷体" panose="02010600040101010101" pitchFamily="2" charset="-122"/>
                <a:ea typeface="华文楷体" panose="02010600040101010101" pitchFamily="2" charset="-122"/>
              </a:rPr>
              <a:t>用于表示</a:t>
            </a:r>
            <a:r>
              <a:rPr kumimoji="0" lang="zh-CN" altLang="en-US" sz="240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周期信号</a:t>
            </a:r>
            <a:endParaRPr kumimoji="0" lang="en-US" altLang="zh-CN" sz="240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endParaRPr>
          </a:p>
        </p:txBody>
      </p:sp>
      <p:sp>
        <p:nvSpPr>
          <p:cNvPr id="24" name="Line 15">
            <a:extLst>
              <a:ext uri="{FF2B5EF4-FFF2-40B4-BE49-F238E27FC236}">
                <a16:creationId xmlns:a16="http://schemas.microsoft.com/office/drawing/2014/main" id="{FDBBED84-AA15-4CB6-BEA1-1FBE9D74D36D}"/>
              </a:ext>
            </a:extLst>
          </p:cNvPr>
          <p:cNvSpPr>
            <a:spLocks noChangeShapeType="1"/>
          </p:cNvSpPr>
          <p:nvPr/>
        </p:nvSpPr>
        <p:spPr bwMode="auto">
          <a:xfrm flipV="1">
            <a:off x="4579951" y="4944503"/>
            <a:ext cx="0" cy="214313"/>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pPr>
              <a:spcBef>
                <a:spcPct val="20000"/>
              </a:spcBef>
              <a:buFontTx/>
              <a:buChar char="•"/>
            </a:pPr>
            <a:endParaRPr lang="en-US">
              <a:solidFill>
                <a:srgbClr val="000000"/>
              </a:solidFill>
              <a:latin typeface="Times New Roman" panose="02020603050405020304" pitchFamily="18" charset="0"/>
              <a:ea typeface="+mn-ea"/>
            </a:endParaRPr>
          </a:p>
        </p:txBody>
      </p:sp>
      <p:cxnSp>
        <p:nvCxnSpPr>
          <p:cNvPr id="25" name="直接连接符 24">
            <a:extLst>
              <a:ext uri="{FF2B5EF4-FFF2-40B4-BE49-F238E27FC236}">
                <a16:creationId xmlns:a16="http://schemas.microsoft.com/office/drawing/2014/main" id="{260F57B9-E263-46B8-A383-0D492D6A142D}"/>
              </a:ext>
            </a:extLst>
          </p:cNvPr>
          <p:cNvCxnSpPr/>
          <p:nvPr/>
        </p:nvCxnSpPr>
        <p:spPr bwMode="auto">
          <a:xfrm>
            <a:off x="3697301" y="4944503"/>
            <a:ext cx="1828800" cy="1588"/>
          </a:xfrm>
          <a:prstGeom prst="line">
            <a:avLst/>
          </a:prstGeom>
          <a:noFill/>
          <a:ln w="25400" cap="flat" cmpd="sng" algn="ctr">
            <a:solidFill>
              <a:srgbClr val="3333CC">
                <a:lumMod val="75000"/>
              </a:srgbClr>
            </a:solidFill>
            <a:prstDash val="solid"/>
            <a:round/>
            <a:headEnd type="none" w="med" len="med"/>
            <a:tailEnd type="none" w="med" len="med"/>
          </a:ln>
          <a:effectLst/>
        </p:spPr>
      </p:cxnSp>
      <p:sp>
        <p:nvSpPr>
          <p:cNvPr id="26" name="Text Box 12">
            <a:extLst>
              <a:ext uri="{FF2B5EF4-FFF2-40B4-BE49-F238E27FC236}">
                <a16:creationId xmlns:a16="http://schemas.microsoft.com/office/drawing/2014/main" id="{22EE0C73-4FF2-4758-A4C1-F1DD39115DD3}"/>
              </a:ext>
            </a:extLst>
          </p:cNvPr>
          <p:cNvSpPr txBox="1">
            <a:spLocks noChangeArrowheads="1"/>
          </p:cNvSpPr>
          <p:nvPr/>
        </p:nvSpPr>
        <p:spPr bwMode="auto">
          <a:xfrm>
            <a:off x="5633762" y="5237621"/>
            <a:ext cx="2256809" cy="823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4216" tIns="42108" rIns="84216" bIns="42108">
            <a:spAutoFit/>
          </a:bodyPr>
          <a:lstStyle>
            <a:lvl1pPr defTabSz="841375" eaLnBrk="0" hangingPunct="0">
              <a:defRPr>
                <a:solidFill>
                  <a:schemeClr val="tx1"/>
                </a:solidFill>
                <a:latin typeface="Times New Roman" panose="02020603050405020304" pitchFamily="18" charset="0"/>
              </a:defRPr>
            </a:lvl1pPr>
            <a:lvl2pPr marL="742950" indent="-285750" defTabSz="841375" eaLnBrk="0" hangingPunct="0">
              <a:defRPr>
                <a:solidFill>
                  <a:schemeClr val="tx1"/>
                </a:solidFill>
                <a:latin typeface="Times New Roman" panose="02020603050405020304" pitchFamily="18" charset="0"/>
              </a:defRPr>
            </a:lvl2pPr>
            <a:lvl3pPr marL="1143000" indent="-228600" defTabSz="841375" eaLnBrk="0" hangingPunct="0">
              <a:defRPr>
                <a:solidFill>
                  <a:schemeClr val="tx1"/>
                </a:solidFill>
                <a:latin typeface="Times New Roman" panose="02020603050405020304" pitchFamily="18" charset="0"/>
              </a:defRPr>
            </a:lvl3pPr>
            <a:lvl4pPr marL="1600200" indent="-228600" defTabSz="841375" eaLnBrk="0" hangingPunct="0">
              <a:defRPr>
                <a:solidFill>
                  <a:schemeClr val="tx1"/>
                </a:solidFill>
                <a:latin typeface="Times New Roman" panose="02020603050405020304" pitchFamily="18" charset="0"/>
              </a:defRPr>
            </a:lvl4pPr>
            <a:lvl5pPr marL="2057400" indent="-228600" defTabSz="841375" eaLnBrk="0" hangingPunct="0">
              <a:defRPr>
                <a:solidFill>
                  <a:schemeClr val="tx1"/>
                </a:solidFill>
                <a:latin typeface="Times New Roman" panose="02020603050405020304" pitchFamily="18" charset="0"/>
              </a:defRPr>
            </a:lvl5pPr>
            <a:lvl6pPr marL="25146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9pPr>
          </a:lstStyle>
          <a:p>
            <a:pPr marL="0" marR="0" lvl="0" indent="0" algn="ctr" defTabSz="841375" eaLnBrk="1" fontAlgn="auto" latinLnBrk="0" hangingPunct="1">
              <a:lnSpc>
                <a:spcPct val="100000"/>
              </a:lnSpc>
              <a:spcBef>
                <a:spcPct val="50000"/>
              </a:spcBef>
              <a:spcAft>
                <a:spcPts val="0"/>
              </a:spcAft>
              <a:buClrTx/>
              <a:buSzTx/>
              <a:buFontTx/>
              <a:buNone/>
              <a:tabLst/>
              <a:defRPr/>
            </a:pPr>
            <a:r>
              <a:rPr kumimoji="0" lang="zh-CN" altLang="en-US" sz="2400" i="0" u="none" strike="noStrike" kern="0" cap="none" spc="0" normalizeH="0" baseline="0" noProof="0" dirty="0">
                <a:ln>
                  <a:noFill/>
                </a:ln>
                <a:solidFill>
                  <a:srgbClr val="3333CC"/>
                </a:solidFill>
                <a:effectLst/>
                <a:uLnTx/>
                <a:uFillTx/>
                <a:latin typeface="华文楷体" panose="02010600040101010101" pitchFamily="2" charset="-122"/>
                <a:ea typeface="华文楷体" panose="02010600040101010101" pitchFamily="2" charset="-122"/>
              </a:rPr>
              <a:t>用于表示</a:t>
            </a:r>
            <a:r>
              <a:rPr kumimoji="0" lang="zh-CN" altLang="en-US" sz="240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周期和非周期信号</a:t>
            </a:r>
            <a:endParaRPr kumimoji="0" lang="en-US" altLang="zh-CN" sz="2400" i="0" u="none" strike="noStrike" kern="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endParaRPr>
          </a:p>
        </p:txBody>
      </p:sp>
      <p:sp>
        <p:nvSpPr>
          <p:cNvPr id="27" name="Line 15">
            <a:extLst>
              <a:ext uri="{FF2B5EF4-FFF2-40B4-BE49-F238E27FC236}">
                <a16:creationId xmlns:a16="http://schemas.microsoft.com/office/drawing/2014/main" id="{25920C81-5DEA-448B-9A22-532D28A0323F}"/>
              </a:ext>
            </a:extLst>
          </p:cNvPr>
          <p:cNvSpPr>
            <a:spLocks noChangeShapeType="1"/>
          </p:cNvSpPr>
          <p:nvPr/>
        </p:nvSpPr>
        <p:spPr bwMode="auto">
          <a:xfrm flipV="1">
            <a:off x="6762167" y="4944503"/>
            <a:ext cx="0" cy="214313"/>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pPr>
              <a:spcBef>
                <a:spcPct val="20000"/>
              </a:spcBef>
              <a:buFontTx/>
              <a:buChar char="•"/>
            </a:pPr>
            <a:endParaRPr lang="en-US">
              <a:solidFill>
                <a:srgbClr val="000000"/>
              </a:solidFill>
              <a:latin typeface="Times New Roman" panose="02020603050405020304" pitchFamily="18" charset="0"/>
              <a:ea typeface="+mn-ea"/>
            </a:endParaRPr>
          </a:p>
        </p:txBody>
      </p:sp>
      <p:cxnSp>
        <p:nvCxnSpPr>
          <p:cNvPr id="28" name="直接连接符 27">
            <a:extLst>
              <a:ext uri="{FF2B5EF4-FFF2-40B4-BE49-F238E27FC236}">
                <a16:creationId xmlns:a16="http://schemas.microsoft.com/office/drawing/2014/main" id="{51DD4FD8-1600-483E-8321-7104E553A690}"/>
              </a:ext>
            </a:extLst>
          </p:cNvPr>
          <p:cNvCxnSpPr/>
          <p:nvPr/>
        </p:nvCxnSpPr>
        <p:spPr bwMode="auto">
          <a:xfrm>
            <a:off x="5879517" y="4944503"/>
            <a:ext cx="1828800" cy="1588"/>
          </a:xfrm>
          <a:prstGeom prst="line">
            <a:avLst/>
          </a:prstGeom>
          <a:noFill/>
          <a:ln w="25400" cap="flat" cmpd="sng" algn="ctr">
            <a:solidFill>
              <a:srgbClr val="3333CC">
                <a:lumMod val="75000"/>
              </a:srgbClr>
            </a:solidFill>
            <a:prstDash val="solid"/>
            <a:round/>
            <a:headEnd type="none" w="med" len="med"/>
            <a:tailEnd type="none" w="med" len="med"/>
          </a:ln>
          <a:effectLst/>
        </p:spPr>
      </p:cxnSp>
      <p:sp>
        <p:nvSpPr>
          <p:cNvPr id="12" name="Text Box 10">
            <a:extLst>
              <a:ext uri="{FF2B5EF4-FFF2-40B4-BE49-F238E27FC236}">
                <a16:creationId xmlns:a16="http://schemas.microsoft.com/office/drawing/2014/main" id="{A3E2AC2A-792A-4ED5-99DF-3F1B7FEA7814}"/>
              </a:ext>
            </a:extLst>
          </p:cNvPr>
          <p:cNvSpPr txBox="1">
            <a:spLocks noChangeArrowheads="1"/>
          </p:cNvSpPr>
          <p:nvPr/>
        </p:nvSpPr>
        <p:spPr bwMode="auto">
          <a:xfrm>
            <a:off x="4387850" y="4082188"/>
            <a:ext cx="368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638" tIns="46319" rIns="92638" bIns="46319">
            <a:spAutoFit/>
          </a:bodyPr>
          <a:lstStyle>
            <a:lvl1pPr defTabSz="927100" eaLnBrk="0" hangingPunct="0">
              <a:defRPr>
                <a:solidFill>
                  <a:schemeClr val="tx1"/>
                </a:solidFill>
                <a:latin typeface="Times New Roman" panose="02020603050405020304" pitchFamily="18" charset="0"/>
              </a:defRPr>
            </a:lvl1pPr>
            <a:lvl2pPr marL="742950" indent="-285750" defTabSz="927100" eaLnBrk="0" hangingPunct="0">
              <a:defRPr>
                <a:solidFill>
                  <a:schemeClr val="tx1"/>
                </a:solidFill>
                <a:latin typeface="Times New Roman" panose="02020603050405020304" pitchFamily="18" charset="0"/>
              </a:defRPr>
            </a:lvl2pPr>
            <a:lvl3pPr marL="1143000" indent="-228600" defTabSz="927100" eaLnBrk="0" hangingPunct="0">
              <a:defRPr>
                <a:solidFill>
                  <a:schemeClr val="tx1"/>
                </a:solidFill>
                <a:latin typeface="Times New Roman" panose="02020603050405020304" pitchFamily="18" charset="0"/>
              </a:defRPr>
            </a:lvl3pPr>
            <a:lvl4pPr marL="1600200" indent="-228600" defTabSz="927100" eaLnBrk="0" hangingPunct="0">
              <a:defRPr>
                <a:solidFill>
                  <a:schemeClr val="tx1"/>
                </a:solidFill>
                <a:latin typeface="Times New Roman" panose="02020603050405020304" pitchFamily="18" charset="0"/>
              </a:defRPr>
            </a:lvl4pPr>
            <a:lvl5pPr marL="2057400" indent="-228600" defTabSz="927100" eaLnBrk="0" hangingPunct="0">
              <a:defRPr>
                <a:solidFill>
                  <a:schemeClr val="tx1"/>
                </a:solidFill>
                <a:latin typeface="Times New Roman" panose="02020603050405020304" pitchFamily="18" charset="0"/>
              </a:defRPr>
            </a:lvl5pPr>
            <a:lvl6pPr marL="2514600" indent="-228600" defTabSz="9271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9271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9271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9271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0"/>
              </a:spcBef>
              <a:buFontTx/>
              <a:buNone/>
            </a:pPr>
            <a:r>
              <a:rPr lang="en-US" altLang="zh-CN" sz="2400" b="1" dirty="0">
                <a:latin typeface="Symbol" panose="05050102010706020507" pitchFamily="18" charset="2"/>
                <a:ea typeface="宋体" panose="02010600030101010101" pitchFamily="2" charset="-122"/>
              </a:rPr>
              <a:t>ß</a:t>
            </a:r>
            <a:endParaRPr lang="en-US" altLang="zh-CN" sz="2400" b="1" dirty="0">
              <a:ea typeface="宋体" panose="02010600030101010101" pitchFamily="2" charset="-122"/>
            </a:endParaRPr>
          </a:p>
        </p:txBody>
      </p:sp>
    </p:spTree>
    <p:extLst>
      <p:ext uri="{BB962C8B-B14F-4D97-AF65-F5344CB8AC3E}">
        <p14:creationId xmlns:p14="http://schemas.microsoft.com/office/powerpoint/2010/main" val="53248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500" fill="hold"/>
                                        <p:tgtEl>
                                          <p:spTgt spid="43"/>
                                        </p:tgtEl>
                                        <p:attrNameLst>
                                          <p:attrName>ppt_x</p:attrName>
                                        </p:attrNameLst>
                                      </p:cBhvr>
                                      <p:tavLst>
                                        <p:tav tm="0">
                                          <p:val>
                                            <p:strVal val="#ppt_x"/>
                                          </p:val>
                                        </p:tav>
                                        <p:tav tm="100000">
                                          <p:val>
                                            <p:strVal val="#ppt_x"/>
                                          </p:val>
                                        </p:tav>
                                      </p:tavLst>
                                    </p:anim>
                                    <p:anim calcmode="lin" valueType="num">
                                      <p:cBhvr additive="base">
                                        <p:cTn id="1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additive="base">
                                        <p:cTn id="17" dur="500" fill="hold"/>
                                        <p:tgtEl>
                                          <p:spTgt spid="22"/>
                                        </p:tgtEl>
                                        <p:attrNameLst>
                                          <p:attrName>ppt_x</p:attrName>
                                        </p:attrNameLst>
                                      </p:cBhvr>
                                      <p:tavLst>
                                        <p:tav tm="0">
                                          <p:val>
                                            <p:strVal val="#ppt_x"/>
                                          </p:val>
                                        </p:tav>
                                        <p:tav tm="100000">
                                          <p:val>
                                            <p:strVal val="#ppt_x"/>
                                          </p:val>
                                        </p:tav>
                                      </p:tavLst>
                                    </p:anim>
                                    <p:anim calcmode="lin" valueType="num">
                                      <p:cBhvr additive="base">
                                        <p:cTn id="18" dur="500" fill="hold"/>
                                        <p:tgtEl>
                                          <p:spTgt spid="22"/>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additive="base">
                                        <p:cTn id="35" dur="500" fill="hold"/>
                                        <p:tgtEl>
                                          <p:spTgt spid="27"/>
                                        </p:tgtEl>
                                        <p:attrNameLst>
                                          <p:attrName>ppt_x</p:attrName>
                                        </p:attrNameLst>
                                      </p:cBhvr>
                                      <p:tavLst>
                                        <p:tav tm="0">
                                          <p:val>
                                            <p:strVal val="#ppt_x"/>
                                          </p:val>
                                        </p:tav>
                                        <p:tav tm="100000">
                                          <p:val>
                                            <p:strVal val="#ppt_x"/>
                                          </p:val>
                                        </p:tav>
                                      </p:tavLst>
                                    </p:anim>
                                    <p:anim calcmode="lin" valueType="num">
                                      <p:cBhvr additive="base">
                                        <p:cTn id="36" dur="500" fill="hold"/>
                                        <p:tgtEl>
                                          <p:spTgt spid="2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22" grpId="0"/>
      <p:bldP spid="26"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5" name="标题 1">
            <a:extLst>
              <a:ext uri="{FF2B5EF4-FFF2-40B4-BE49-F238E27FC236}">
                <a16:creationId xmlns:a16="http://schemas.microsoft.com/office/drawing/2014/main" id="{359D7105-793B-4D9D-8445-6EE33F6A24C6}"/>
              </a:ext>
            </a:extLst>
          </p:cNvPr>
          <p:cNvSpPr>
            <a:spLocks noGrp="1"/>
          </p:cNvSpPr>
          <p:nvPr>
            <p:ph type="title"/>
          </p:nvPr>
        </p:nvSpPr>
        <p:spPr/>
        <p:txBody>
          <a:bodyPr/>
          <a:lstStyle/>
          <a:p>
            <a:r>
              <a:rPr lang="en-US" altLang="zh-CN" sz="3200" dirty="0"/>
              <a:t>3.3  </a:t>
            </a:r>
            <a:r>
              <a:rPr lang="zh-CN" altLang="en-US" sz="3200" dirty="0"/>
              <a:t>连续时间周期信号的傅里叶级数表示</a:t>
            </a:r>
          </a:p>
        </p:txBody>
      </p:sp>
      <mc:AlternateContent xmlns:mc="http://schemas.openxmlformats.org/markup-compatibility/2006" xmlns:a14="http://schemas.microsoft.com/office/drawing/2010/main">
        <mc:Choice Requires="a14">
          <p:sp>
            <p:nvSpPr>
              <p:cNvPr id="39946" name="内容占位符 2">
                <a:extLst>
                  <a:ext uri="{FF2B5EF4-FFF2-40B4-BE49-F238E27FC236}">
                    <a16:creationId xmlns:a16="http://schemas.microsoft.com/office/drawing/2014/main" id="{404F2BA4-2364-422B-A10D-F0B407C679DE}"/>
                  </a:ext>
                </a:extLst>
              </p:cNvPr>
              <p:cNvSpPr>
                <a:spLocks noGrp="1"/>
              </p:cNvSpPr>
              <p:nvPr>
                <p:ph idx="1"/>
              </p:nvPr>
            </p:nvSpPr>
            <p:spPr>
              <a:xfrm>
                <a:off x="457200" y="3356992"/>
                <a:ext cx="8229600" cy="2777492"/>
              </a:xfrm>
            </p:spPr>
            <p:txBody>
              <a:bodyPr>
                <a:spAutoFit/>
              </a:bodyPr>
              <a:lstStyle/>
              <a:p>
                <a:pPr algn="just">
                  <a:spcBef>
                    <a:spcPts val="0"/>
                  </a:spcBef>
                </a:pPr>
                <a:r>
                  <a:rPr lang="zh-CN" altLang="en-US" sz="2400" b="0" dirty="0"/>
                  <a:t>这些信号的线性组合</a:t>
                </a:r>
                <a:endParaRPr lang="en-US" altLang="zh-CN" sz="2400" b="0" dirty="0"/>
              </a:p>
              <a:p>
                <a:pPr marL="0" indent="0" algn="just">
                  <a:spcBef>
                    <a:spcPts val="0"/>
                  </a:spcBef>
                  <a:buNone/>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𝑡</m:t>
                      </m:r>
                      <m:r>
                        <a:rPr lang="en-US" sz="2400" b="0" i="1" smtClean="0">
                          <a:solidFill>
                            <a:srgbClr val="FF0000"/>
                          </a:solidFill>
                          <a:latin typeface="Cambria Math" panose="02040503050406030204" pitchFamily="18" charset="0"/>
                        </a:rPr>
                        <m:t>)=</m:t>
                      </m:r>
                      <m:nary>
                        <m:naryPr>
                          <m:chr m:val="∑"/>
                          <m:ctrlPr>
                            <a:rPr lang="en-US" sz="2400" b="0" i="1">
                              <a:solidFill>
                                <a:srgbClr val="FF0000"/>
                              </a:solidFill>
                              <a:latin typeface="Cambria Math" panose="02040503050406030204" pitchFamily="18" charset="0"/>
                            </a:rPr>
                          </m:ctrlPr>
                        </m:naryPr>
                        <m:sub>
                          <m:r>
                            <a:rPr lang="en-US" sz="2400" b="0" i="1" smtClean="0">
                              <a:solidFill>
                                <a:srgbClr val="FF0000"/>
                              </a:solidFill>
                              <a:latin typeface="Cambria Math" panose="02040503050406030204" pitchFamily="18" charset="0"/>
                            </a:rPr>
                            <m:t>𝑘</m:t>
                          </m:r>
                          <m:r>
                            <a:rPr lang="en-US" sz="2400" b="0" i="1" smtClean="0">
                              <a:solidFill>
                                <a:srgbClr val="FF0000"/>
                              </a:solidFill>
                              <a:latin typeface="Cambria Math" panose="02040503050406030204" pitchFamily="18" charset="0"/>
                            </a:rPr>
                            <m:t>=−∞</m:t>
                          </m:r>
                        </m:sub>
                        <m:sup>
                          <m:r>
                            <a:rPr lang="en-US" sz="2400" b="0" i="1" smtClean="0">
                              <a:solidFill>
                                <a:srgbClr val="FF0000"/>
                              </a:solidFill>
                              <a:latin typeface="Cambria Math" panose="02040503050406030204" pitchFamily="18" charset="0"/>
                            </a:rPr>
                            <m:t>∞</m:t>
                          </m:r>
                        </m:sup>
                        <m:e>
                          <m:sSub>
                            <m:sSubPr>
                              <m:ctrlPr>
                                <a:rPr lang="en-US" sz="2400" b="0" i="1">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𝑎</m:t>
                              </m:r>
                            </m:e>
                            <m:sub>
                              <m:r>
                                <a:rPr lang="en-US" sz="2400" b="0" i="1" smtClean="0">
                                  <a:solidFill>
                                    <a:srgbClr val="FF0000"/>
                                  </a:solidFill>
                                  <a:latin typeface="Cambria Math" panose="02040503050406030204" pitchFamily="18" charset="0"/>
                                </a:rPr>
                                <m:t>𝑘</m:t>
                              </m:r>
                            </m:sub>
                          </m:sSub>
                        </m:e>
                      </m:nary>
                      <m:sSup>
                        <m:sSupPr>
                          <m:ctrlPr>
                            <a:rPr lang="en-US" sz="2400" b="0" i="1">
                              <a:solidFill>
                                <a:srgbClr val="FF0000"/>
                              </a:solidFill>
                              <a:latin typeface="Cambria Math" panose="02040503050406030204" pitchFamily="18" charset="0"/>
                            </a:rPr>
                          </m:ctrlPr>
                        </m:sSupPr>
                        <m:e>
                          <m:r>
                            <m:rPr>
                              <m:sty m:val="p"/>
                            </m:rPr>
                            <a:rPr lang="en-US" sz="2400" b="0" i="0" smtClean="0">
                              <a:solidFill>
                                <a:srgbClr val="FF0000"/>
                              </a:solidFill>
                              <a:latin typeface="Cambria Math" panose="02040503050406030204" pitchFamily="18" charset="0"/>
                            </a:rPr>
                            <m:t>e</m:t>
                          </m:r>
                        </m:e>
                        <m:sup>
                          <m:r>
                            <m:rPr>
                              <m:sty m:val="p"/>
                            </m:rPr>
                            <a:rPr lang="en-US" sz="2400" b="0" i="0" smtClean="0">
                              <a:solidFill>
                                <a:srgbClr val="FF0000"/>
                              </a:solidFill>
                              <a:latin typeface="Cambria Math" panose="02040503050406030204" pitchFamily="18" charset="0"/>
                            </a:rPr>
                            <m:t>j</m:t>
                          </m:r>
                          <m:r>
                            <a:rPr lang="en-US" sz="2400" b="0" i="1" smtClean="0">
                              <a:solidFill>
                                <a:srgbClr val="FF0000"/>
                              </a:solidFill>
                              <a:latin typeface="Cambria Math" panose="02040503050406030204" pitchFamily="18" charset="0"/>
                            </a:rPr>
                            <m:t>𝑘</m:t>
                          </m:r>
                          <m:sSub>
                            <m:sSubPr>
                              <m:ctrlPr>
                                <a:rPr lang="en-US" sz="2400" b="0" i="1">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𝜔</m:t>
                              </m:r>
                            </m:e>
                            <m:sub>
                              <m:r>
                                <a:rPr lang="en-US" sz="2400" b="0" i="1" smtClean="0">
                                  <a:solidFill>
                                    <a:srgbClr val="FF0000"/>
                                  </a:solidFill>
                                  <a:latin typeface="Cambria Math" panose="02040503050406030204" pitchFamily="18" charset="0"/>
                                </a:rPr>
                                <m:t>0</m:t>
                              </m:r>
                            </m:sub>
                          </m:sSub>
                          <m:r>
                            <a:rPr lang="en-US" sz="2400" b="0" i="1" smtClean="0">
                              <a:solidFill>
                                <a:srgbClr val="FF0000"/>
                              </a:solidFill>
                              <a:latin typeface="Cambria Math" panose="02040503050406030204" pitchFamily="18" charset="0"/>
                            </a:rPr>
                            <m:t>𝑡</m:t>
                          </m:r>
                        </m:sup>
                      </m:sSup>
                      <m:r>
                        <a:rPr lang="en-US" sz="2400" b="0" i="1" smtClean="0">
                          <a:solidFill>
                            <a:srgbClr val="000000"/>
                          </a:solidFill>
                          <a:latin typeface="Cambria Math" panose="02040503050406030204" pitchFamily="18" charset="0"/>
                        </a:rPr>
                        <m:t>, </m:t>
                      </m:r>
                      <m:r>
                        <a:rPr lang="en-US" sz="2400" b="0" i="1" smtClean="0">
                          <a:solidFill>
                            <a:srgbClr val="000000"/>
                          </a:solidFill>
                          <a:latin typeface="Cambria Math" panose="02040503050406030204" pitchFamily="18" charset="0"/>
                        </a:rPr>
                        <m:t>𝑘</m:t>
                      </m:r>
                      <m:r>
                        <a:rPr lang="en-US" sz="2400" b="0" i="1" smtClean="0">
                          <a:solidFill>
                            <a:srgbClr val="000000"/>
                          </a:solidFill>
                          <a:latin typeface="Cambria Math" panose="02040503050406030204" pitchFamily="18" charset="0"/>
                        </a:rPr>
                        <m:t>=0,±1,±2⋯</m:t>
                      </m:r>
                    </m:oMath>
                  </m:oMathPara>
                </a14:m>
                <a:endParaRPr lang="en-US" altLang="zh-CN" sz="2400" b="0" dirty="0"/>
              </a:p>
              <a:p>
                <a:pPr algn="just">
                  <a:spcBef>
                    <a:spcPts val="0"/>
                  </a:spcBef>
                </a:pPr>
                <a:r>
                  <a:rPr lang="zh-CN" altLang="en-US" sz="2400" b="0" dirty="0"/>
                  <a:t>显然也以</a:t>
                </a:r>
                <a14:m>
                  <m:oMath xmlns:m="http://schemas.openxmlformats.org/officeDocument/2006/math">
                    <m:r>
                      <a:rPr lang="en-US" sz="2400" b="0" i="1">
                        <a:solidFill>
                          <a:srgbClr val="000000"/>
                        </a:solidFill>
                        <a:latin typeface="Cambria Math" panose="02040503050406030204" pitchFamily="18" charset="0"/>
                      </a:rPr>
                      <m:t>𝑇</m:t>
                    </m:r>
                    <m:r>
                      <a:rPr lang="en-US" sz="2400" b="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2</m:t>
                        </m:r>
                        <m:r>
                          <a:rPr lang="en-US" sz="2400" b="0" i="1" smtClean="0">
                            <a:solidFill>
                              <a:srgbClr val="000000"/>
                            </a:solidFill>
                            <a:latin typeface="Cambria Math" panose="02040503050406030204" pitchFamily="18" charset="0"/>
                          </a:rPr>
                          <m:t>𝜋</m:t>
                        </m:r>
                      </m:num>
                      <m:den>
                        <m:d>
                          <m:dPr>
                            <m:begChr m:val="|"/>
                            <m:endChr m:val="|"/>
                            <m:ctrlPr>
                              <a:rPr lang="en-US" sz="2400" b="0" i="1">
                                <a:solidFill>
                                  <a:srgbClr val="000000"/>
                                </a:solidFill>
                                <a:latin typeface="Cambria Math" panose="02040503050406030204" pitchFamily="18" charset="0"/>
                              </a:rPr>
                            </m:ctrlPr>
                          </m:dPr>
                          <m:e>
                            <m:sSub>
                              <m:sSubPr>
                                <m:ctrlPr>
                                  <a:rPr lang="en-US" sz="2400" b="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𝜔</m:t>
                                </m:r>
                              </m:e>
                              <m:sub>
                                <m:r>
                                  <a:rPr lang="en-US" sz="2400" b="0" i="1" smtClean="0">
                                    <a:solidFill>
                                      <a:srgbClr val="000000"/>
                                    </a:solidFill>
                                    <a:latin typeface="Cambria Math" panose="02040503050406030204" pitchFamily="18" charset="0"/>
                                  </a:rPr>
                                  <m:t>0</m:t>
                                </m:r>
                              </m:sub>
                            </m:sSub>
                          </m:e>
                        </m:d>
                      </m:den>
                    </m:f>
                  </m:oMath>
                </a14:m>
                <a:r>
                  <a:rPr lang="zh-CN" altLang="en-US" sz="2400" b="0" dirty="0"/>
                  <a:t>为周期。该级数就是</a:t>
                </a:r>
                <a:r>
                  <a:rPr lang="zh-CN" altLang="en-US" sz="2400" b="0" dirty="0">
                    <a:solidFill>
                      <a:srgbClr val="FF0000"/>
                    </a:solidFill>
                  </a:rPr>
                  <a:t>傅里叶级数</a:t>
                </a:r>
                <a:r>
                  <a:rPr lang="zh-CN" altLang="en-US" sz="2400" b="0" dirty="0"/>
                  <a:t>，</a:t>
                </a:r>
                <a14:m>
                  <m:oMath xmlns:m="http://schemas.openxmlformats.org/officeDocument/2006/math">
                    <m:sSub>
                      <m:sSubPr>
                        <m:ctrlPr>
                          <a:rPr lang="en-US" sz="2400" b="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𝑎</m:t>
                        </m:r>
                      </m:e>
                      <m:sub>
                        <m:r>
                          <a:rPr lang="en-US" sz="2400" b="0" i="1" smtClean="0">
                            <a:solidFill>
                              <a:srgbClr val="000000"/>
                            </a:solidFill>
                            <a:latin typeface="Cambria Math" panose="02040503050406030204" pitchFamily="18" charset="0"/>
                          </a:rPr>
                          <m:t>𝑘</m:t>
                        </m:r>
                      </m:sub>
                    </m:sSub>
                  </m:oMath>
                </a14:m>
                <a:r>
                  <a:rPr lang="zh-CN" altLang="en-US" sz="2400" b="0" dirty="0"/>
                  <a:t>称为傅立叶级数的系数。</a:t>
                </a:r>
                <a14:m>
                  <m:oMath xmlns:m="http://schemas.openxmlformats.org/officeDocument/2006/math">
                    <m:r>
                      <a:rPr lang="en-US" sz="2400" b="0" i="1">
                        <a:solidFill>
                          <a:srgbClr val="000000"/>
                        </a:solidFill>
                        <a:latin typeface="Cambria Math" panose="02040503050406030204" pitchFamily="18" charset="0"/>
                      </a:rPr>
                      <m:t>𝑘</m:t>
                    </m:r>
                    <m:r>
                      <a:rPr lang="en-US" sz="2400" b="0" i="1">
                        <a:solidFill>
                          <a:srgbClr val="000000"/>
                        </a:solidFill>
                        <a:latin typeface="Cambria Math" panose="02040503050406030204" pitchFamily="18" charset="0"/>
                      </a:rPr>
                      <m:t>=0</m:t>
                    </m:r>
                  </m:oMath>
                </a14:m>
                <a:r>
                  <a:rPr lang="zh-CN" altLang="en-US" sz="2400" b="0" dirty="0"/>
                  <a:t>对应</a:t>
                </a:r>
                <a:r>
                  <a:rPr lang="zh-CN" altLang="en-US" sz="2400" b="0" dirty="0">
                    <a:solidFill>
                      <a:srgbClr val="FF0000"/>
                    </a:solidFill>
                  </a:rPr>
                  <a:t>直流分量</a:t>
                </a:r>
                <a:r>
                  <a:rPr lang="zh-CN" altLang="en-US" sz="2400" b="0" dirty="0"/>
                  <a:t>，</a:t>
                </a:r>
                <a14:m>
                  <m:oMath xmlns:m="http://schemas.openxmlformats.org/officeDocument/2006/math">
                    <m:r>
                      <a:rPr lang="en-US" sz="2400" b="0" i="1">
                        <a:solidFill>
                          <a:srgbClr val="000000"/>
                        </a:solidFill>
                        <a:latin typeface="Cambria Math" panose="02040503050406030204" pitchFamily="18" charset="0"/>
                      </a:rPr>
                      <m:t>𝑘</m:t>
                    </m:r>
                    <m:r>
                      <a:rPr lang="en-US" sz="2400" b="0" i="1">
                        <a:solidFill>
                          <a:srgbClr val="000000"/>
                        </a:solidFill>
                        <a:latin typeface="Cambria Math" panose="02040503050406030204" pitchFamily="18" charset="0"/>
                      </a:rPr>
                      <m:t>=±1</m:t>
                    </m:r>
                  </m:oMath>
                </a14:m>
                <a:r>
                  <a:rPr lang="zh-CN" altLang="en-US" sz="2400" b="0" dirty="0"/>
                  <a:t>对应</a:t>
                </a:r>
                <a:r>
                  <a:rPr lang="zh-CN" altLang="en-US" sz="2400" b="0" dirty="0">
                    <a:solidFill>
                      <a:srgbClr val="FF0000"/>
                    </a:solidFill>
                  </a:rPr>
                  <a:t>一次谐波</a:t>
                </a:r>
                <a:r>
                  <a:rPr lang="zh-CN" altLang="en-US" sz="2400" b="0" dirty="0"/>
                  <a:t>，</a:t>
                </a:r>
                <a14:m>
                  <m:oMath xmlns:m="http://schemas.openxmlformats.org/officeDocument/2006/math">
                    <m:r>
                      <a:rPr lang="en-US" sz="2400" b="0" i="1">
                        <a:solidFill>
                          <a:srgbClr val="000000"/>
                        </a:solidFill>
                        <a:latin typeface="Cambria Math" panose="02040503050406030204" pitchFamily="18" charset="0"/>
                      </a:rPr>
                      <m:t>𝑘</m:t>
                    </m:r>
                    <m:r>
                      <a:rPr lang="en-US" sz="2400" b="0" i="1">
                        <a:solidFill>
                          <a:srgbClr val="000000"/>
                        </a:solidFill>
                        <a:latin typeface="Cambria Math" panose="02040503050406030204" pitchFamily="18" charset="0"/>
                      </a:rPr>
                      <m:t>=±2</m:t>
                    </m:r>
                  </m:oMath>
                </a14:m>
                <a:r>
                  <a:rPr lang="zh-CN" altLang="en-US" sz="2400" b="0" dirty="0"/>
                  <a:t>对应</a:t>
                </a:r>
                <a:r>
                  <a:rPr lang="zh-CN" altLang="en-US" sz="2400" b="0" dirty="0">
                    <a:solidFill>
                      <a:srgbClr val="FF0000"/>
                    </a:solidFill>
                  </a:rPr>
                  <a:t>二次谐波</a:t>
                </a:r>
                <a:r>
                  <a:rPr lang="zh-CN" altLang="en-US" sz="2400" b="0" dirty="0"/>
                  <a:t>。</a:t>
                </a:r>
                <a:endParaRPr lang="en-US" altLang="zh-CN" sz="2400" b="0" dirty="0"/>
              </a:p>
            </p:txBody>
          </p:sp>
        </mc:Choice>
        <mc:Fallback xmlns="">
          <p:sp>
            <p:nvSpPr>
              <p:cNvPr id="39946" name="内容占位符 2">
                <a:extLst>
                  <a:ext uri="{FF2B5EF4-FFF2-40B4-BE49-F238E27FC236}">
                    <a16:creationId xmlns:a16="http://schemas.microsoft.com/office/drawing/2014/main" id="{404F2BA4-2364-422B-A10D-F0B407C679DE}"/>
                  </a:ext>
                </a:extLst>
              </p:cNvPr>
              <p:cNvSpPr>
                <a:spLocks noGrp="1" noRot="1" noChangeAspect="1" noMove="1" noResize="1" noEditPoints="1" noAdjustHandles="1" noChangeArrowheads="1" noChangeShapeType="1" noTextEdit="1"/>
              </p:cNvSpPr>
              <p:nvPr>
                <p:ph idx="1"/>
              </p:nvPr>
            </p:nvSpPr>
            <p:spPr>
              <a:xfrm>
                <a:off x="457200" y="3356992"/>
                <a:ext cx="8229600" cy="2777492"/>
              </a:xfrm>
              <a:blipFill>
                <a:blip r:embed="rId2"/>
                <a:stretch>
                  <a:fillRect l="-963" t="-1538" r="-1111" b="-4396"/>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9AB67FBB-BEB5-44A2-905D-466C24D2A30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C92827B-EBAC-4EC2-B7D8-71ECB1C38F78}" type="slidenum">
              <a:rPr lang="zh-CN" altLang="en-US">
                <a:solidFill>
                  <a:srgbClr val="898989"/>
                </a:solidFill>
                <a:latin typeface="Calibri" panose="020F0502020204030204" pitchFamily="34" charset="0"/>
              </a:rPr>
              <a:pPr eaLnBrk="1" hangingPunct="1"/>
              <a:t>10</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326DE275-2945-4552-9F9F-D5165FDA4351}"/>
                  </a:ext>
                </a:extLst>
              </p:cNvPr>
              <p:cNvSpPr txBox="1"/>
              <p:nvPr/>
            </p:nvSpPr>
            <p:spPr>
              <a:xfrm>
                <a:off x="457200" y="1299551"/>
                <a:ext cx="8229600" cy="1859355"/>
              </a:xfrm>
              <a:prstGeom prst="rect">
                <a:avLst/>
              </a:prstGeom>
              <a:noFill/>
            </p:spPr>
            <p:txBody>
              <a:bodyPr wrap="square">
                <a:spAutoFit/>
              </a:bodyPr>
              <a:lstStyle/>
              <a:p>
                <a:pPr marR="0" lvl="0" algn="just" defTabSz="914400" rtl="0" eaLnBrk="0" fontAlgn="base" latinLnBrk="0" hangingPunct="0">
                  <a:spcBef>
                    <a:spcPts val="0"/>
                  </a:spcBef>
                  <a:spcAft>
                    <a:spcPts val="600"/>
                  </a:spcAft>
                  <a:buClrTx/>
                  <a:buSzTx/>
                  <a:tabLst/>
                  <a:defRPr/>
                </a:pPr>
                <a:r>
                  <a:rPr kumimoji="0" lang="zh-CN" altLang="en-US" sz="24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一</a:t>
                </a:r>
                <a:r>
                  <a:rPr kumimoji="0" lang="en-US" altLang="zh-CN" sz="24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 </a:t>
                </a:r>
                <a:r>
                  <a:rPr kumimoji="0" lang="zh-CN" altLang="en-US" sz="24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连续时间傅里叶级数</a:t>
                </a:r>
                <a:endParaRPr kumimoji="0" lang="en-US" altLang="zh-CN" sz="24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endParaRPr>
              </a:p>
              <a:p>
                <a:pPr marL="342900" marR="0" lvl="0" indent="-342900" algn="just" defTabSz="914400" rtl="0" eaLnBrk="0" fontAlgn="base" latinLnBrk="0" hangingPunct="0">
                  <a:spcBef>
                    <a:spcPts val="0"/>
                  </a:spcBef>
                  <a:spcAft>
                    <a:spcPct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成谐波关系的复指数信号集</a:t>
                </a:r>
                <a:r>
                  <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 </a:t>
                </a:r>
                <a14:m>
                  <m:oMath xmlns:m="http://schemas.openxmlformats.org/officeDocument/2006/math">
                    <m:sSup>
                      <m:sSup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smtClean="0">
                            <a:ln>
                              <a:noFill/>
                            </a:ln>
                            <a:solidFill>
                              <a:srgbClr val="FF0000"/>
                            </a:solidFill>
                            <a:effectLst/>
                            <a:uLnTx/>
                            <a:uFillTx/>
                            <a:latin typeface="Cambria Math" panose="02040503050406030204" pitchFamily="18" charset="0"/>
                            <a:cs typeface="+mn-cs"/>
                          </a:rPr>
                          <m:t>e</m:t>
                        </m:r>
                      </m:e>
                      <m:sup>
                        <m:r>
                          <m:rPr>
                            <m:sty m:val="p"/>
                          </m:rPr>
                          <a:rPr kumimoji="0" lang="en-US" sz="2400" b="0" i="0" u="none" strike="noStrike" kern="1200" cap="none" spc="0" normalizeH="0" baseline="0" noProof="0" smtClean="0">
                            <a:ln>
                              <a:noFill/>
                            </a:ln>
                            <a:solidFill>
                              <a:srgbClr val="FF0000"/>
                            </a:solidFill>
                            <a:effectLst/>
                            <a:uLnTx/>
                            <a:uFillTx/>
                            <a:latin typeface="Cambria Math" panose="02040503050406030204" pitchFamily="18" charset="0"/>
                            <a:cs typeface="+mn-cs"/>
                          </a:rPr>
                          <m:t>j</m:t>
                        </m:r>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𝑘</m:t>
                        </m:r>
                        <m:sSub>
                          <m:sSubPr>
                            <m:ctrlPr>
                              <a:rPr kumimoji="0" lang="en-US" sz="24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𝜔</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0</m:t>
                            </m:r>
                          </m:sub>
                        </m:s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𝑡</m:t>
                        </m:r>
                      </m:sup>
                    </m:sSup>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𝑘</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=0,±1,±2,⋯</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中每个信号以</a:t>
                </a:r>
                <a14:m>
                  <m:oMath xmlns:m="http://schemas.openxmlformats.org/officeDocument/2006/math">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2</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𝜋</m:t>
                        </m:r>
                      </m:num>
                      <m:den>
                        <m:d>
                          <m:dPr>
                            <m:begChr m:val="|"/>
                            <m:end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𝑘</m:t>
                            </m:r>
                            <m:sSub>
                              <m:sSub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𝜔</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0</m:t>
                                </m:r>
                              </m:sub>
                            </m:sSub>
                          </m:e>
                        </m:d>
                      </m:den>
                    </m:f>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为周期，公共周期为</a:t>
                </a:r>
                <a14:m>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𝑇</m:t>
                    </m:r>
                    <m:r>
                      <a:rPr kumimoji="0" lang="en-US"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2</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𝜋</m:t>
                        </m:r>
                      </m:num>
                      <m:den>
                        <m:d>
                          <m:dPr>
                            <m:begChr m:val="|"/>
                            <m:end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𝜔</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0</m:t>
                                </m:r>
                              </m:sub>
                            </m:sSub>
                          </m:e>
                        </m:d>
                      </m:den>
                    </m:f>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 </m:t>
                    </m:r>
                  </m:oMath>
                </a14:m>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，各信号彼此独立。</a:t>
                </a:r>
                <a:endParaRPr kumimoji="0" lang="en-US" altLang="zh-CN"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endParaRPr>
              </a:p>
            </p:txBody>
          </p:sp>
        </mc:Choice>
        <mc:Fallback xmlns="">
          <p:sp>
            <p:nvSpPr>
              <p:cNvPr id="31" name="文本框 30">
                <a:extLst>
                  <a:ext uri="{FF2B5EF4-FFF2-40B4-BE49-F238E27FC236}">
                    <a16:creationId xmlns:a16="http://schemas.microsoft.com/office/drawing/2014/main" id="{326DE275-2945-4552-9F9F-D5165FDA4351}"/>
                  </a:ext>
                </a:extLst>
              </p:cNvPr>
              <p:cNvSpPr txBox="1">
                <a:spLocks noRot="1" noChangeAspect="1" noMove="1" noResize="1" noEditPoints="1" noAdjustHandles="1" noChangeArrowheads="1" noChangeShapeType="1" noTextEdit="1"/>
              </p:cNvSpPr>
              <p:nvPr/>
            </p:nvSpPr>
            <p:spPr>
              <a:xfrm>
                <a:off x="457200" y="1299551"/>
                <a:ext cx="8229600" cy="1859355"/>
              </a:xfrm>
              <a:prstGeom prst="rect">
                <a:avLst/>
              </a:prstGeom>
              <a:blipFill>
                <a:blip r:embed="rId3"/>
                <a:stretch>
                  <a:fillRect l="-1111" t="-2951" r="-1111" b="-6885"/>
                </a:stretch>
              </a:blipFill>
            </p:spPr>
            <p:txBody>
              <a:bodyPr/>
              <a:lstStyle/>
              <a:p>
                <a:r>
                  <a:rPr lang="en-US">
                    <a:noFill/>
                  </a:rPr>
                  <a:t> </a:t>
                </a:r>
              </a:p>
            </p:txBody>
          </p:sp>
        </mc:Fallback>
      </mc:AlternateContent>
    </p:spTree>
    <p:extLst>
      <p:ext uri="{BB962C8B-B14F-4D97-AF65-F5344CB8AC3E}">
        <p14:creationId xmlns:p14="http://schemas.microsoft.com/office/powerpoint/2010/main" val="40146413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C3D8640-8070-4B11-A45B-3846E4A0E181}"/>
              </a:ext>
            </a:extLst>
          </p:cNvPr>
          <p:cNvSpPr>
            <a:spLocks noGrp="1"/>
          </p:cNvSpPr>
          <p:nvPr>
            <p:ph type="sldNum" sz="quarter" idx="12"/>
          </p:nvPr>
        </p:nvSpPr>
        <p:spPr/>
        <p:txBody>
          <a:bodyPr/>
          <a:lstStyle/>
          <a:p>
            <a:fld id="{4B616A71-2CBB-40D8-90C9-BD028311B1B3}" type="slidenum">
              <a:rPr lang="zh-CN" altLang="en-US" smtClean="0"/>
              <a:pPr/>
              <a:t>11</a:t>
            </a:fld>
            <a:endParaRPr lang="zh-CN" altLang="en-US"/>
          </a:p>
        </p:txBody>
      </p:sp>
      <p:sp>
        <p:nvSpPr>
          <p:cNvPr id="4" name="矩形 10">
            <a:extLst>
              <a:ext uri="{FF2B5EF4-FFF2-40B4-BE49-F238E27FC236}">
                <a16:creationId xmlns:a16="http://schemas.microsoft.com/office/drawing/2014/main" id="{F8425AFA-4B7C-43A1-9FC1-BA9BC274872A}"/>
              </a:ext>
            </a:extLst>
          </p:cNvPr>
          <p:cNvSpPr>
            <a:spLocks noChangeArrowheads="1"/>
          </p:cNvSpPr>
          <p:nvPr/>
        </p:nvSpPr>
        <p:spPr bwMode="auto">
          <a:xfrm>
            <a:off x="564362" y="4653136"/>
            <a:ext cx="245861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lgn="ctr" eaLnBrk="1" hangingPunct="1">
              <a:buFontTx/>
              <a:buNone/>
            </a:pPr>
            <a:r>
              <a:rPr lang="en-US" altLang="zh-CN" sz="2400" dirty="0">
                <a:solidFill>
                  <a:srgbClr val="3333CC"/>
                </a:solidFill>
                <a:latin typeface="Cambria Math" panose="02040503050406030204" pitchFamily="18" charset="0"/>
                <a:ea typeface="宋体" panose="02010600030101010101" pitchFamily="2" charset="-122"/>
              </a:rPr>
              <a:t>Joseph Fourier</a:t>
            </a:r>
          </a:p>
          <a:p>
            <a:pPr algn="ctr" eaLnBrk="1" hangingPunct="1">
              <a:buFontTx/>
              <a:buNone/>
            </a:pPr>
            <a:r>
              <a:rPr lang="en-US" altLang="zh-CN" sz="2400" dirty="0">
                <a:solidFill>
                  <a:srgbClr val="3333CC"/>
                </a:solidFill>
                <a:latin typeface="Cambria Math" panose="02040503050406030204" pitchFamily="18" charset="0"/>
                <a:ea typeface="宋体" panose="02010600030101010101" pitchFamily="2" charset="-122"/>
              </a:rPr>
              <a:t> 1768-1830</a:t>
            </a:r>
            <a:endParaRPr lang="zh-CN" altLang="en-US" sz="2400" dirty="0">
              <a:latin typeface="Cambria Math" panose="02040503050406030204" pitchFamily="18" charset="0"/>
              <a:ea typeface="宋体" panose="02010600030101010101" pitchFamily="2" charset="-122"/>
            </a:endParaRPr>
          </a:p>
        </p:txBody>
      </p:sp>
      <p:sp>
        <p:nvSpPr>
          <p:cNvPr id="10" name="文本框 9">
            <a:extLst>
              <a:ext uri="{FF2B5EF4-FFF2-40B4-BE49-F238E27FC236}">
                <a16:creationId xmlns:a16="http://schemas.microsoft.com/office/drawing/2014/main" id="{280D509F-CDC8-4B1E-96B4-7F2F855D034D}"/>
              </a:ext>
            </a:extLst>
          </p:cNvPr>
          <p:cNvSpPr txBox="1"/>
          <p:nvPr/>
        </p:nvSpPr>
        <p:spPr>
          <a:xfrm>
            <a:off x="3174525" y="1167453"/>
            <a:ext cx="5452220" cy="3309304"/>
          </a:xfrm>
          <a:prstGeom prst="rect">
            <a:avLst/>
          </a:prstGeom>
          <a:noFill/>
        </p:spPr>
        <p:txBody>
          <a:bodyPr wrap="square">
            <a:spAutoFit/>
          </a:bodyPr>
          <a:lstStyle/>
          <a:p>
            <a:pPr algn="just">
              <a:lnSpc>
                <a:spcPct val="110000"/>
              </a:lnSpc>
              <a:spcAft>
                <a:spcPts val="600"/>
              </a:spcAft>
            </a:pPr>
            <a:r>
              <a:rPr lang="zh-CN" altLang="en-US" sz="2400" dirty="0">
                <a:latin typeface="Cambria Math" panose="02040503050406030204" pitchFamily="18" charset="0"/>
                <a:ea typeface="华文楷体" panose="02010600040101010101" pitchFamily="2" charset="-122"/>
              </a:rPr>
              <a:t>傅里叶早在</a:t>
            </a:r>
            <a:r>
              <a:rPr lang="en-US" altLang="zh-CN" sz="2400" dirty="0">
                <a:latin typeface="Cambria Math" panose="02040503050406030204" pitchFamily="18" charset="0"/>
                <a:ea typeface="华文楷体" panose="02010600040101010101" pitchFamily="2" charset="-122"/>
              </a:rPr>
              <a:t>1807</a:t>
            </a:r>
            <a:r>
              <a:rPr lang="zh-CN" altLang="en-US" sz="2400" dirty="0">
                <a:latin typeface="Cambria Math" panose="02040503050406030204" pitchFamily="18" charset="0"/>
                <a:ea typeface="华文楷体" panose="02010600040101010101" pitchFamily="2" charset="-122"/>
              </a:rPr>
              <a:t>年就写成关于热传导的基本论文</a:t>
            </a:r>
            <a:r>
              <a:rPr lang="en-US" altLang="zh-CN" sz="2400" dirty="0">
                <a:latin typeface="Cambria Math" panose="02040503050406030204" pitchFamily="18" charset="0"/>
                <a:ea typeface="华文楷体" panose="02010600040101010101" pitchFamily="2" charset="-122"/>
              </a:rPr>
              <a:t>《</a:t>
            </a:r>
            <a:r>
              <a:rPr lang="zh-CN" altLang="en-US" sz="2400" dirty="0">
                <a:latin typeface="Cambria Math" panose="02040503050406030204" pitchFamily="18" charset="0"/>
                <a:ea typeface="华文楷体" panose="02010600040101010101" pitchFamily="2" charset="-122"/>
              </a:rPr>
              <a:t>热的传播</a:t>
            </a:r>
            <a:r>
              <a:rPr lang="en-US" altLang="zh-CN" sz="2400" dirty="0">
                <a:latin typeface="Cambria Math" panose="02040503050406030204" pitchFamily="18" charset="0"/>
                <a:ea typeface="华文楷体" panose="02010600040101010101" pitchFamily="2" charset="-122"/>
              </a:rPr>
              <a:t>》</a:t>
            </a:r>
            <a:r>
              <a:rPr lang="zh-CN" altLang="en-US" sz="2400" dirty="0">
                <a:latin typeface="Cambria Math" panose="02040503050406030204" pitchFamily="18" charset="0"/>
                <a:ea typeface="华文楷体" panose="02010600040101010101" pitchFamily="2" charset="-122"/>
              </a:rPr>
              <a:t>，向巴黎科学院呈交，但经拉普拉斯、蒙日、拉克鲁瓦和拉格朗日审阅后被科学院拒绝，</a:t>
            </a:r>
            <a:r>
              <a:rPr lang="en-US" altLang="zh-CN" sz="2400" dirty="0">
                <a:latin typeface="Cambria Math" panose="02040503050406030204" pitchFamily="18" charset="0"/>
                <a:ea typeface="华文楷体" panose="02010600040101010101" pitchFamily="2" charset="-122"/>
              </a:rPr>
              <a:t>1811</a:t>
            </a:r>
            <a:r>
              <a:rPr lang="zh-CN" altLang="en-US" sz="2400" dirty="0">
                <a:latin typeface="Cambria Math" panose="02040503050406030204" pitchFamily="18" charset="0"/>
                <a:ea typeface="华文楷体" panose="02010600040101010101" pitchFamily="2" charset="-122"/>
              </a:rPr>
              <a:t>年又提交了经修改的论文。傅里叶级数（即三角级数）、傅里叶分析等理论均由此创始。傅里叶由于对传热理论的贡献于</a:t>
            </a:r>
            <a:r>
              <a:rPr lang="en-US" altLang="zh-CN" sz="2400" dirty="0">
                <a:latin typeface="Cambria Math" panose="02040503050406030204" pitchFamily="18" charset="0"/>
                <a:ea typeface="华文楷体" panose="02010600040101010101" pitchFamily="2" charset="-122"/>
              </a:rPr>
              <a:t>1817</a:t>
            </a:r>
            <a:r>
              <a:rPr lang="zh-CN" altLang="en-US" sz="2400" dirty="0">
                <a:latin typeface="Cambria Math" panose="02040503050406030204" pitchFamily="18" charset="0"/>
                <a:ea typeface="华文楷体" panose="02010600040101010101" pitchFamily="2" charset="-122"/>
              </a:rPr>
              <a:t>年当选为巴黎科学院院士。</a:t>
            </a:r>
            <a:endParaRPr lang="en-US" sz="2400" dirty="0">
              <a:latin typeface="Cambria Math" panose="02040503050406030204" pitchFamily="18" charset="0"/>
              <a:ea typeface="华文楷体" panose="02010600040101010101" pitchFamily="2" charset="-122"/>
            </a:endParaRPr>
          </a:p>
        </p:txBody>
      </p:sp>
      <p:pic>
        <p:nvPicPr>
          <p:cNvPr id="7" name="图片 6">
            <a:extLst>
              <a:ext uri="{FF2B5EF4-FFF2-40B4-BE49-F238E27FC236}">
                <a16:creationId xmlns:a16="http://schemas.microsoft.com/office/drawing/2014/main" id="{18322F37-D4BD-44B0-9EC6-4CEAD0224329}"/>
              </a:ext>
            </a:extLst>
          </p:cNvPr>
          <p:cNvPicPr>
            <a:picLocks noChangeAspect="1"/>
          </p:cNvPicPr>
          <p:nvPr/>
        </p:nvPicPr>
        <p:blipFill>
          <a:blip r:embed="rId2"/>
          <a:stretch>
            <a:fillRect/>
          </a:stretch>
        </p:blipFill>
        <p:spPr>
          <a:xfrm>
            <a:off x="517255" y="1266275"/>
            <a:ext cx="2552831" cy="3111660"/>
          </a:xfrm>
          <a:prstGeom prst="rect">
            <a:avLst/>
          </a:prstGeom>
        </p:spPr>
      </p:pic>
    </p:spTree>
    <p:extLst>
      <p:ext uri="{BB962C8B-B14F-4D97-AF65-F5344CB8AC3E}">
        <p14:creationId xmlns:p14="http://schemas.microsoft.com/office/powerpoint/2010/main" val="41832745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C3D8640-8070-4B11-A45B-3846E4A0E181}"/>
              </a:ext>
            </a:extLst>
          </p:cNvPr>
          <p:cNvSpPr>
            <a:spLocks noGrp="1"/>
          </p:cNvSpPr>
          <p:nvPr>
            <p:ph type="sldNum" sz="quarter" idx="12"/>
          </p:nvPr>
        </p:nvSpPr>
        <p:spPr/>
        <p:txBody>
          <a:bodyPr/>
          <a:lstStyle/>
          <a:p>
            <a:fld id="{4B616A71-2CBB-40D8-90C9-BD028311B1B3}" type="slidenum">
              <a:rPr lang="zh-CN" altLang="en-US" smtClean="0"/>
              <a:pPr/>
              <a:t>12</a:t>
            </a:fld>
            <a:endParaRPr lang="zh-CN" altLang="en-US"/>
          </a:p>
        </p:txBody>
      </p:sp>
      <p:sp>
        <p:nvSpPr>
          <p:cNvPr id="10" name="文本框 9">
            <a:extLst>
              <a:ext uri="{FF2B5EF4-FFF2-40B4-BE49-F238E27FC236}">
                <a16:creationId xmlns:a16="http://schemas.microsoft.com/office/drawing/2014/main" id="{280D509F-CDC8-4B1E-96B4-7F2F855D034D}"/>
              </a:ext>
            </a:extLst>
          </p:cNvPr>
          <p:cNvSpPr txBox="1"/>
          <p:nvPr/>
        </p:nvSpPr>
        <p:spPr>
          <a:xfrm>
            <a:off x="2940432" y="751792"/>
            <a:ext cx="5698976" cy="5354415"/>
          </a:xfrm>
          <a:prstGeom prst="rect">
            <a:avLst/>
          </a:prstGeom>
          <a:noFill/>
        </p:spPr>
        <p:txBody>
          <a:bodyPr wrap="square">
            <a:spAutoFit/>
          </a:bodyPr>
          <a:lstStyle/>
          <a:p>
            <a:pPr algn="just">
              <a:lnSpc>
                <a:spcPct val="110000"/>
              </a:lnSpc>
            </a:pPr>
            <a:r>
              <a:rPr lang="zh-CN" altLang="en-US" sz="2400" dirty="0">
                <a:latin typeface="Cambria Math" panose="02040503050406030204" pitchFamily="18" charset="0"/>
                <a:ea typeface="华文楷体" panose="02010600040101010101" pitchFamily="2" charset="-122"/>
              </a:rPr>
              <a:t>在我国，数学家与教育家程民德院士最早系统研究多元三角级数与多元傅里叶级数。他为人正直，有强烈的爱国精神与社会责任感。</a:t>
            </a:r>
            <a:r>
              <a:rPr lang="en-US" altLang="zh-CN" sz="2400" dirty="0">
                <a:latin typeface="Cambria Math" panose="02040503050406030204" pitchFamily="18" charset="0"/>
                <a:ea typeface="华文楷体" panose="02010600040101010101" pitchFamily="2" charset="-122"/>
              </a:rPr>
              <a:t>1937</a:t>
            </a:r>
            <a:r>
              <a:rPr lang="zh-CN" altLang="en-US" sz="2400" dirty="0">
                <a:latin typeface="Cambria Math" panose="02040503050406030204" pitchFamily="18" charset="0"/>
                <a:ea typeface="华文楷体" panose="02010600040101010101" pitchFamily="2" charset="-122"/>
              </a:rPr>
              <a:t>年在浙江参加了“抗日游击队”。</a:t>
            </a:r>
            <a:r>
              <a:rPr lang="en-US" altLang="zh-CN" sz="2400" dirty="0">
                <a:latin typeface="Cambria Math" panose="02040503050406030204" pitchFamily="18" charset="0"/>
                <a:ea typeface="华文楷体" panose="02010600040101010101" pitchFamily="2" charset="-122"/>
              </a:rPr>
              <a:t>1947</a:t>
            </a:r>
            <a:r>
              <a:rPr lang="zh-CN" altLang="en-US" sz="2400" dirty="0">
                <a:latin typeface="Cambria Math" panose="02040503050406030204" pitchFamily="18" charset="0"/>
                <a:ea typeface="华文楷体" panose="02010600040101010101" pitchFamily="2" charset="-122"/>
              </a:rPr>
              <a:t>年进入美国普林斯顿大学数学系，刻苦用功，仅用二年便取得博士学位。新中国成立，他满怀报效祖国的决心，放弃了普林斯顿的优越条件，于</a:t>
            </a:r>
            <a:r>
              <a:rPr lang="en-US" altLang="zh-CN" sz="2400" dirty="0">
                <a:latin typeface="Cambria Math" panose="02040503050406030204" pitchFamily="18" charset="0"/>
                <a:ea typeface="华文楷体" panose="02010600040101010101" pitchFamily="2" charset="-122"/>
              </a:rPr>
              <a:t>1950</a:t>
            </a:r>
            <a:r>
              <a:rPr lang="zh-CN" altLang="en-US" sz="2400" dirty="0">
                <a:latin typeface="Cambria Math" panose="02040503050406030204" pitchFamily="18" charset="0"/>
                <a:ea typeface="华文楷体" panose="02010600040101010101" pitchFamily="2" charset="-122"/>
              </a:rPr>
              <a:t>年</a:t>
            </a:r>
            <a:r>
              <a:rPr lang="en-US" altLang="zh-CN" sz="2400" dirty="0">
                <a:latin typeface="Cambria Math" panose="02040503050406030204" pitchFamily="18" charset="0"/>
                <a:ea typeface="华文楷体" panose="02010600040101010101" pitchFamily="2" charset="-122"/>
              </a:rPr>
              <a:t>1</a:t>
            </a:r>
            <a:r>
              <a:rPr lang="zh-CN" altLang="en-US" sz="2400" dirty="0">
                <a:latin typeface="Cambria Math" panose="02040503050406030204" pitchFamily="18" charset="0"/>
                <a:ea typeface="华文楷体" panose="02010600040101010101" pitchFamily="2" charset="-122"/>
              </a:rPr>
              <a:t>月回国，先后在清华大学和北京大学任教。他和他的学生合作，完成了中国第一本有关模式识别方面的专著</a:t>
            </a:r>
            <a:r>
              <a:rPr lang="en-US" altLang="zh-CN" sz="2400" dirty="0">
                <a:latin typeface="Cambria Math" panose="02040503050406030204" pitchFamily="18" charset="0"/>
                <a:ea typeface="华文楷体" panose="02010600040101010101" pitchFamily="2" charset="-122"/>
              </a:rPr>
              <a:t>《</a:t>
            </a:r>
            <a:r>
              <a:rPr lang="zh-CN" altLang="en-US" sz="2400" dirty="0">
                <a:latin typeface="Cambria Math" panose="02040503050406030204" pitchFamily="18" charset="0"/>
                <a:ea typeface="华文楷体" panose="02010600040101010101" pitchFamily="2" charset="-122"/>
              </a:rPr>
              <a:t>图象识别导论</a:t>
            </a:r>
            <a:r>
              <a:rPr lang="en-US" altLang="zh-CN" sz="2400" dirty="0">
                <a:latin typeface="Cambria Math" panose="02040503050406030204" pitchFamily="18" charset="0"/>
                <a:ea typeface="华文楷体" panose="02010600040101010101" pitchFamily="2" charset="-122"/>
              </a:rPr>
              <a:t>》</a:t>
            </a:r>
            <a:r>
              <a:rPr lang="zh-CN" altLang="en-US" sz="2400" dirty="0">
                <a:latin typeface="Cambria Math" panose="02040503050406030204" pitchFamily="18" charset="0"/>
                <a:ea typeface="华文楷体" panose="02010600040101010101" pitchFamily="2" charset="-122"/>
              </a:rPr>
              <a:t>，是我国开展模式识别与图象处理研究的先驱与倡导者之一。</a:t>
            </a:r>
            <a:endParaRPr lang="en-US" sz="2400" dirty="0">
              <a:latin typeface="Cambria Math" panose="02040503050406030204" pitchFamily="18" charset="0"/>
              <a:ea typeface="华文楷体" panose="02010600040101010101" pitchFamily="2" charset="-122"/>
            </a:endParaRPr>
          </a:p>
        </p:txBody>
      </p:sp>
      <p:sp>
        <p:nvSpPr>
          <p:cNvPr id="8" name="文本框 7">
            <a:extLst>
              <a:ext uri="{FF2B5EF4-FFF2-40B4-BE49-F238E27FC236}">
                <a16:creationId xmlns:a16="http://schemas.microsoft.com/office/drawing/2014/main" id="{1E0B8A19-7CF4-4C10-A94C-44307AB358E2}"/>
              </a:ext>
            </a:extLst>
          </p:cNvPr>
          <p:cNvSpPr txBox="1"/>
          <p:nvPr/>
        </p:nvSpPr>
        <p:spPr>
          <a:xfrm>
            <a:off x="684430" y="4725144"/>
            <a:ext cx="1854569" cy="830997"/>
          </a:xfrm>
          <a:prstGeom prst="rect">
            <a:avLst/>
          </a:prstGeom>
          <a:noFill/>
        </p:spPr>
        <p:txBody>
          <a:bodyPr wrap="square">
            <a:spAutoFit/>
          </a:bodyPr>
          <a:lstStyle/>
          <a:p>
            <a:pPr algn="ctr"/>
            <a:r>
              <a:rPr lang="zh-CN" altLang="en-US" sz="2400" dirty="0">
                <a:latin typeface="Cambria Math" panose="02040503050406030204" pitchFamily="18" charset="0"/>
                <a:ea typeface="黑体" panose="02010609060101010101" pitchFamily="49" charset="-122"/>
              </a:rPr>
              <a:t>程民德院士</a:t>
            </a:r>
            <a:endParaRPr lang="en-US" altLang="zh-CN" sz="2400" dirty="0">
              <a:latin typeface="Cambria Math" panose="02040503050406030204" pitchFamily="18" charset="0"/>
              <a:ea typeface="黑体" panose="02010609060101010101" pitchFamily="49" charset="-122"/>
            </a:endParaRPr>
          </a:p>
          <a:p>
            <a:pPr algn="ctr"/>
            <a:r>
              <a:rPr lang="en-US" altLang="zh-CN" sz="2400" dirty="0">
                <a:latin typeface="Cambria Math" panose="02040503050406030204" pitchFamily="18" charset="0"/>
                <a:ea typeface="黑体" panose="02010609060101010101" pitchFamily="49" charset="-122"/>
              </a:rPr>
              <a:t>1917—1998</a:t>
            </a:r>
            <a:endParaRPr lang="en-US" sz="2400" dirty="0">
              <a:latin typeface="Cambria Math" panose="02040503050406030204" pitchFamily="18" charset="0"/>
              <a:ea typeface="黑体" panose="02010609060101010101" pitchFamily="49" charset="-122"/>
            </a:endParaRPr>
          </a:p>
        </p:txBody>
      </p:sp>
      <p:pic>
        <p:nvPicPr>
          <p:cNvPr id="18" name="图片 17">
            <a:extLst>
              <a:ext uri="{FF2B5EF4-FFF2-40B4-BE49-F238E27FC236}">
                <a16:creationId xmlns:a16="http://schemas.microsoft.com/office/drawing/2014/main" id="{4022E0DE-566C-42F5-8FCA-A4CE9D8B30AB}"/>
              </a:ext>
            </a:extLst>
          </p:cNvPr>
          <p:cNvPicPr>
            <a:picLocks noChangeAspect="1"/>
          </p:cNvPicPr>
          <p:nvPr/>
        </p:nvPicPr>
        <p:blipFill>
          <a:blip r:embed="rId2"/>
          <a:stretch>
            <a:fillRect/>
          </a:stretch>
        </p:blipFill>
        <p:spPr>
          <a:xfrm>
            <a:off x="504592" y="1628800"/>
            <a:ext cx="2214246" cy="2952328"/>
          </a:xfrm>
          <a:prstGeom prst="rect">
            <a:avLst/>
          </a:prstGeom>
        </p:spPr>
      </p:pic>
    </p:spTree>
    <p:extLst>
      <p:ext uri="{BB962C8B-B14F-4D97-AF65-F5344CB8AC3E}">
        <p14:creationId xmlns:p14="http://schemas.microsoft.com/office/powerpoint/2010/main" val="8322060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8" name="标题 1">
            <a:extLst>
              <a:ext uri="{FF2B5EF4-FFF2-40B4-BE49-F238E27FC236}">
                <a16:creationId xmlns:a16="http://schemas.microsoft.com/office/drawing/2014/main" id="{E30FAE70-C92A-46D7-BCC5-AACB33ECFF09}"/>
              </a:ext>
            </a:extLst>
          </p:cNvPr>
          <p:cNvSpPr>
            <a:spLocks noGrp="1"/>
          </p:cNvSpPr>
          <p:nvPr>
            <p:ph type="title"/>
          </p:nvPr>
        </p:nvSpPr>
        <p:spPr/>
        <p:txBody>
          <a:bodyPr/>
          <a:lstStyle/>
          <a:p>
            <a:r>
              <a:rPr lang="en-US" altLang="zh-CN" sz="3200" dirty="0"/>
              <a:t>3.3  </a:t>
            </a:r>
            <a:r>
              <a:rPr lang="zh-CN" altLang="en-US" sz="3200" dirty="0"/>
              <a:t>连续时间周期信号的傅里叶级数表示</a:t>
            </a:r>
          </a:p>
        </p:txBody>
      </p:sp>
      <p:sp>
        <p:nvSpPr>
          <p:cNvPr id="40969" name="内容占位符 2">
            <a:extLst>
              <a:ext uri="{FF2B5EF4-FFF2-40B4-BE49-F238E27FC236}">
                <a16:creationId xmlns:a16="http://schemas.microsoft.com/office/drawing/2014/main" id="{41C36FAC-9786-4887-A51E-8B88299F3084}"/>
              </a:ext>
            </a:extLst>
          </p:cNvPr>
          <p:cNvSpPr>
            <a:spLocks noGrp="1"/>
          </p:cNvSpPr>
          <p:nvPr>
            <p:ph idx="1"/>
          </p:nvPr>
        </p:nvSpPr>
        <p:spPr>
          <a:xfrm>
            <a:off x="457200" y="1916832"/>
            <a:ext cx="3178696" cy="461665"/>
          </a:xfrm>
        </p:spPr>
        <p:txBody>
          <a:bodyPr wrap="square">
            <a:spAutoFit/>
          </a:bodyPr>
          <a:lstStyle/>
          <a:p>
            <a:r>
              <a:rPr lang="zh-CN" altLang="en-US" sz="2400" b="0" dirty="0"/>
              <a:t>例</a:t>
            </a:r>
            <a:r>
              <a:rPr lang="en-US" altLang="zh-CN" sz="2400" b="0" dirty="0"/>
              <a:t>1</a:t>
            </a:r>
            <a:r>
              <a:rPr lang="zh-CN" altLang="en-US" sz="2400" b="0" dirty="0"/>
              <a:t>：考虑周期信号</a:t>
            </a:r>
          </a:p>
        </p:txBody>
      </p:sp>
      <p:sp>
        <p:nvSpPr>
          <p:cNvPr id="4" name="灯片编号占位符 3">
            <a:extLst>
              <a:ext uri="{FF2B5EF4-FFF2-40B4-BE49-F238E27FC236}">
                <a16:creationId xmlns:a16="http://schemas.microsoft.com/office/drawing/2014/main" id="{B2877604-31B8-480F-9191-5832129384A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5B12D4-2E3F-4D2D-B582-B7E3E50DB9AC}" type="slidenum">
              <a:rPr lang="zh-CN" altLang="en-US">
                <a:solidFill>
                  <a:srgbClr val="898989"/>
                </a:solidFill>
                <a:latin typeface="Calibri" panose="020F0502020204030204" pitchFamily="34" charset="0"/>
              </a:rPr>
              <a:pPr eaLnBrk="1" hangingPunct="1"/>
              <a:t>13</a:t>
            </a:fld>
            <a:endParaRPr lang="zh-CN" altLang="en-US" dirty="0">
              <a:solidFill>
                <a:srgbClr val="898989"/>
              </a:solidFill>
              <a:latin typeface="Calibri" panose="020F0502020204030204" pitchFamily="34" charset="0"/>
            </a:endParaRPr>
          </a:p>
        </p:txBody>
      </p:sp>
      <p:sp>
        <p:nvSpPr>
          <p:cNvPr id="14" name="文本框 13">
            <a:extLst>
              <a:ext uri="{FF2B5EF4-FFF2-40B4-BE49-F238E27FC236}">
                <a16:creationId xmlns:a16="http://schemas.microsoft.com/office/drawing/2014/main" id="{722B5EC5-EA68-4180-9C15-19CAD201AA44}"/>
              </a:ext>
            </a:extLst>
          </p:cNvPr>
          <p:cNvSpPr txBox="1"/>
          <p:nvPr/>
        </p:nvSpPr>
        <p:spPr>
          <a:xfrm>
            <a:off x="457200" y="1370657"/>
            <a:ext cx="8507288" cy="461665"/>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有相当广泛的一类连续时间周期信号可以表示为傅里叶级数</a:t>
            </a:r>
          </a:p>
        </p:txBody>
      </p:sp>
      <p:sp>
        <p:nvSpPr>
          <p:cNvPr id="22" name="文本框 21">
            <a:extLst>
              <a:ext uri="{FF2B5EF4-FFF2-40B4-BE49-F238E27FC236}">
                <a16:creationId xmlns:a16="http://schemas.microsoft.com/office/drawing/2014/main" id="{859A0C57-D084-4AFB-9BAC-612A60F78CFD}"/>
              </a:ext>
            </a:extLst>
          </p:cNvPr>
          <p:cNvSpPr txBox="1"/>
          <p:nvPr/>
        </p:nvSpPr>
        <p:spPr>
          <a:xfrm>
            <a:off x="795780" y="3516307"/>
            <a:ext cx="864096" cy="461665"/>
          </a:xfrm>
          <a:prstGeom prst="rect">
            <a:avLst/>
          </a:prstGeom>
          <a:noFill/>
        </p:spPr>
        <p:txBody>
          <a:bodyPr wrap="square">
            <a:spAutoFit/>
          </a:bodyPr>
          <a:lstStyle/>
          <a:p>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其中</a:t>
            </a:r>
            <a:endParaRPr lang="en-US" sz="2400" dirty="0"/>
          </a:p>
        </p:txBody>
      </p:sp>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0A584EED-BE8A-45EC-A64A-EB3EF081D188}"/>
                  </a:ext>
                </a:extLst>
              </p:cNvPr>
              <p:cNvSpPr txBox="1"/>
              <p:nvPr/>
            </p:nvSpPr>
            <p:spPr>
              <a:xfrm>
                <a:off x="2830370" y="2450080"/>
                <a:ext cx="3195228" cy="957634"/>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rPr>
                        <m:t>𝑥</m:t>
                      </m:r>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rPr>
                        <m:t>(</m:t>
                      </m:r>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rPr>
                        <m:t>𝑡</m:t>
                      </m:r>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rPr>
                        <m:t>)=</m:t>
                      </m:r>
                      <m:nary>
                        <m:naryPr>
                          <m:chr m:val="∑"/>
                          <m:ctrlP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ctrlPr>
                        </m:naryPr>
                        <m:sub>
                          <m: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t>𝑘</m:t>
                          </m:r>
                          <m: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t>=−3</m:t>
                          </m:r>
                        </m:sub>
                        <m:sup>
                          <m: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t>3</m:t>
                          </m:r>
                        </m:sup>
                        <m:e>
                          <m:sSub>
                            <m:sSubPr>
                              <m:ctrlP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ctrlPr>
                            </m:sSubPr>
                            <m:e>
                              <m: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t>𝑎</m:t>
                              </m:r>
                            </m:e>
                            <m:sub>
                              <m: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t>𝑘</m:t>
                              </m:r>
                            </m:sub>
                          </m:sSub>
                          <m:sSup>
                            <m:sSupPr>
                              <m:ctrlP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ctrlPr>
                            </m:sSupPr>
                            <m:e>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rPr>
                                <m:t>e</m:t>
                              </m:r>
                            </m:e>
                            <m:sup>
                              <m:r>
                                <m:rPr>
                                  <m:sty m:val="p"/>
                                </m:rPr>
                                <a:rPr kumimoji="0" lang="en-US" sz="2000" b="0" i="0" u="none" strike="noStrike" kern="1200" cap="none" spc="0" normalizeH="0" baseline="0" noProof="0">
                                  <a:ln>
                                    <a:noFill/>
                                  </a:ln>
                                  <a:solidFill>
                                    <a:srgbClr val="000000"/>
                                  </a:solidFill>
                                  <a:effectLst/>
                                  <a:uLnTx/>
                                  <a:uFillTx/>
                                  <a:latin typeface="Cambria Math" panose="02040503050406030204" pitchFamily="18" charset="0"/>
                                </a:rPr>
                                <m:t>j</m:t>
                              </m:r>
                              <m: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t>𝑘</m:t>
                              </m:r>
                              <m: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t>2</m:t>
                              </m:r>
                              <m: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t>𝜋</m:t>
                              </m:r>
                              <m:r>
                                <a:rPr kumimoji="0" lang="en-US" sz="2000" b="1" i="1" u="none" strike="noStrike" kern="1200" cap="none" spc="0" normalizeH="0" baseline="0" noProof="0">
                                  <a:ln>
                                    <a:noFill/>
                                  </a:ln>
                                  <a:solidFill>
                                    <a:srgbClr val="000000"/>
                                  </a:solidFill>
                                  <a:effectLst/>
                                  <a:uLnTx/>
                                  <a:uFillTx/>
                                  <a:latin typeface="Cambria Math" panose="02040503050406030204" pitchFamily="18" charset="0"/>
                                </a:rPr>
                                <m:t>𝑡</m:t>
                              </m:r>
                            </m:sup>
                          </m:sSup>
                        </m:e>
                      </m:nary>
                    </m:oMath>
                  </m:oMathPara>
                </a14:m>
                <a:endParaRPr lang="en-US" sz="2000" dirty="0"/>
              </a:p>
            </p:txBody>
          </p:sp>
        </mc:Choice>
        <mc:Fallback xmlns="">
          <p:sp>
            <p:nvSpPr>
              <p:cNvPr id="69" name="文本框 68">
                <a:extLst>
                  <a:ext uri="{FF2B5EF4-FFF2-40B4-BE49-F238E27FC236}">
                    <a16:creationId xmlns:a16="http://schemas.microsoft.com/office/drawing/2014/main" id="{0A584EED-BE8A-45EC-A64A-EB3EF081D188}"/>
                  </a:ext>
                </a:extLst>
              </p:cNvPr>
              <p:cNvSpPr txBox="1">
                <a:spLocks noRot="1" noChangeAspect="1" noMove="1" noResize="1" noEditPoints="1" noAdjustHandles="1" noChangeArrowheads="1" noChangeShapeType="1" noTextEdit="1"/>
              </p:cNvSpPr>
              <p:nvPr/>
            </p:nvSpPr>
            <p:spPr>
              <a:xfrm>
                <a:off x="2830370" y="2450080"/>
                <a:ext cx="3195228" cy="95763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Object 8">
                <a:extLst>
                  <a:ext uri="{FF2B5EF4-FFF2-40B4-BE49-F238E27FC236}">
                    <a16:creationId xmlns:a16="http://schemas.microsoft.com/office/drawing/2014/main" id="{D1A1D800-C8A6-4B24-82DE-38783BFFD191}"/>
                  </a:ext>
                </a:extLst>
              </p:cNvPr>
              <p:cNvSpPr txBox="1"/>
              <p:nvPr/>
            </p:nvSpPr>
            <p:spPr bwMode="auto">
              <a:xfrm>
                <a:off x="1151384" y="4137616"/>
                <a:ext cx="1098153" cy="40011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=1</m:t>
                      </m:r>
                    </m:oMath>
                  </m:oMathPara>
                </a14:m>
                <a:endParaRPr lang="en-US" sz="2000" dirty="0"/>
              </a:p>
            </p:txBody>
          </p:sp>
        </mc:Choice>
        <mc:Fallback xmlns="">
          <p:sp>
            <p:nvSpPr>
              <p:cNvPr id="70" name="Object 8">
                <a:extLst>
                  <a:ext uri="{FF2B5EF4-FFF2-40B4-BE49-F238E27FC236}">
                    <a16:creationId xmlns:a16="http://schemas.microsoft.com/office/drawing/2014/main" id="{D1A1D800-C8A6-4B24-82DE-38783BFFD191}"/>
                  </a:ext>
                </a:extLst>
              </p:cNvPr>
              <p:cNvSpPr txBox="1">
                <a:spLocks noRot="1" noChangeAspect="1" noMove="1" noResize="1" noEditPoints="1" noAdjustHandles="1" noChangeArrowheads="1" noChangeShapeType="1" noTextEdit="1"/>
              </p:cNvSpPr>
              <p:nvPr/>
            </p:nvSpPr>
            <p:spPr bwMode="auto">
              <a:xfrm>
                <a:off x="1151384" y="4137616"/>
                <a:ext cx="1098153" cy="400110"/>
              </a:xfrm>
              <a:prstGeom prst="rect">
                <a:avLst/>
              </a:prstGeom>
              <a:blipFill>
                <a:blip r:embed="rId4"/>
                <a:stretch>
                  <a:fillRect b="-461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Object 9">
                <a:extLst>
                  <a:ext uri="{FF2B5EF4-FFF2-40B4-BE49-F238E27FC236}">
                    <a16:creationId xmlns:a16="http://schemas.microsoft.com/office/drawing/2014/main" id="{BEC94400-9600-461D-80F7-08022348724D}"/>
                  </a:ext>
                </a:extLst>
              </p:cNvPr>
              <p:cNvSpPr txBox="1"/>
              <p:nvPr/>
            </p:nvSpPr>
            <p:spPr bwMode="auto">
              <a:xfrm>
                <a:off x="2446785" y="3976546"/>
                <a:ext cx="1981200" cy="66851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4</m:t>
                          </m:r>
                        </m:den>
                      </m:f>
                    </m:oMath>
                  </m:oMathPara>
                </a14:m>
                <a:endParaRPr lang="en-US" sz="2000" dirty="0"/>
              </a:p>
            </p:txBody>
          </p:sp>
        </mc:Choice>
        <mc:Fallback xmlns="">
          <p:sp>
            <p:nvSpPr>
              <p:cNvPr id="71" name="Object 9">
                <a:extLst>
                  <a:ext uri="{FF2B5EF4-FFF2-40B4-BE49-F238E27FC236}">
                    <a16:creationId xmlns:a16="http://schemas.microsoft.com/office/drawing/2014/main" id="{BEC94400-9600-461D-80F7-08022348724D}"/>
                  </a:ext>
                </a:extLst>
              </p:cNvPr>
              <p:cNvSpPr txBox="1">
                <a:spLocks noRot="1" noChangeAspect="1" noMove="1" noResize="1" noEditPoints="1" noAdjustHandles="1" noChangeArrowheads="1" noChangeShapeType="1" noTextEdit="1"/>
              </p:cNvSpPr>
              <p:nvPr/>
            </p:nvSpPr>
            <p:spPr bwMode="auto">
              <a:xfrm>
                <a:off x="2446785" y="3976546"/>
                <a:ext cx="1981200" cy="668516"/>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Object 10">
                <a:extLst>
                  <a:ext uri="{FF2B5EF4-FFF2-40B4-BE49-F238E27FC236}">
                    <a16:creationId xmlns:a16="http://schemas.microsoft.com/office/drawing/2014/main" id="{83DC990E-24AB-4387-B665-06656395FE19}"/>
                  </a:ext>
                </a:extLst>
              </p:cNvPr>
              <p:cNvSpPr txBox="1"/>
              <p:nvPr/>
            </p:nvSpPr>
            <p:spPr bwMode="auto">
              <a:xfrm>
                <a:off x="4427984" y="3976546"/>
                <a:ext cx="1981199" cy="66851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2</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−2</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den>
                      </m:f>
                    </m:oMath>
                  </m:oMathPara>
                </a14:m>
                <a:endParaRPr lang="en-US" sz="2000" dirty="0"/>
              </a:p>
            </p:txBody>
          </p:sp>
        </mc:Choice>
        <mc:Fallback xmlns="">
          <p:sp>
            <p:nvSpPr>
              <p:cNvPr id="72" name="Object 10">
                <a:extLst>
                  <a:ext uri="{FF2B5EF4-FFF2-40B4-BE49-F238E27FC236}">
                    <a16:creationId xmlns:a16="http://schemas.microsoft.com/office/drawing/2014/main" id="{83DC990E-24AB-4387-B665-06656395FE19}"/>
                  </a:ext>
                </a:extLst>
              </p:cNvPr>
              <p:cNvSpPr txBox="1">
                <a:spLocks noRot="1" noChangeAspect="1" noMove="1" noResize="1" noEditPoints="1" noAdjustHandles="1" noChangeArrowheads="1" noChangeShapeType="1" noTextEdit="1"/>
              </p:cNvSpPr>
              <p:nvPr/>
            </p:nvSpPr>
            <p:spPr bwMode="auto">
              <a:xfrm>
                <a:off x="4427984" y="3976546"/>
                <a:ext cx="1981199" cy="668516"/>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Object 11">
                <a:extLst>
                  <a:ext uri="{FF2B5EF4-FFF2-40B4-BE49-F238E27FC236}">
                    <a16:creationId xmlns:a16="http://schemas.microsoft.com/office/drawing/2014/main" id="{1543BAA2-F910-4D20-AA86-1CFF9A38BA38}"/>
                  </a:ext>
                </a:extLst>
              </p:cNvPr>
              <p:cNvSpPr txBox="1"/>
              <p:nvPr/>
            </p:nvSpPr>
            <p:spPr bwMode="auto">
              <a:xfrm>
                <a:off x="6485385" y="3975360"/>
                <a:ext cx="1981198" cy="67056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3</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−3</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3</m:t>
                          </m:r>
                        </m:den>
                      </m:f>
                    </m:oMath>
                  </m:oMathPara>
                </a14:m>
                <a:endParaRPr lang="en-US" sz="2000" dirty="0"/>
              </a:p>
            </p:txBody>
          </p:sp>
        </mc:Choice>
        <mc:Fallback xmlns="">
          <p:sp>
            <p:nvSpPr>
              <p:cNvPr id="73" name="Object 11">
                <a:extLst>
                  <a:ext uri="{FF2B5EF4-FFF2-40B4-BE49-F238E27FC236}">
                    <a16:creationId xmlns:a16="http://schemas.microsoft.com/office/drawing/2014/main" id="{1543BAA2-F910-4D20-AA86-1CFF9A38BA38}"/>
                  </a:ext>
                </a:extLst>
              </p:cNvPr>
              <p:cNvSpPr txBox="1">
                <a:spLocks noRot="1" noChangeAspect="1" noMove="1" noResize="1" noEditPoints="1" noAdjustHandles="1" noChangeArrowheads="1" noChangeShapeType="1" noTextEdit="1"/>
              </p:cNvSpPr>
              <p:nvPr/>
            </p:nvSpPr>
            <p:spPr bwMode="auto">
              <a:xfrm>
                <a:off x="6485385" y="3975360"/>
                <a:ext cx="1981198" cy="670568"/>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Object 7">
                <a:extLst>
                  <a:ext uri="{FF2B5EF4-FFF2-40B4-BE49-F238E27FC236}">
                    <a16:creationId xmlns:a16="http://schemas.microsoft.com/office/drawing/2014/main" id="{3C704D67-0A4A-477D-9938-7BBA7646B8D1}"/>
                  </a:ext>
                </a:extLst>
              </p:cNvPr>
              <p:cNvSpPr txBox="1"/>
              <p:nvPr/>
            </p:nvSpPr>
            <p:spPr bwMode="auto">
              <a:xfrm>
                <a:off x="899592" y="4745161"/>
                <a:ext cx="7857504" cy="67056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)=1+</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4</m:t>
                          </m:r>
                        </m:den>
                      </m:f>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sup>
                      </m:sSup>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a:rPr lang="en-US" sz="2000" i="1">
                              <a:solidFill>
                                <a:srgbClr val="000000"/>
                              </a:solidFill>
                              <a:latin typeface="Cambria Math" panose="02040503050406030204" pitchFamily="18" charset="0"/>
                            </a:rPr>
                            <m:t>−</m:t>
                          </m:r>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sup>
                      </m:sSup>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den>
                      </m:f>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sup>
                      </m:sSup>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a:rPr lang="en-US" sz="2000" i="1">
                              <a:solidFill>
                                <a:srgbClr val="000000"/>
                              </a:solidFill>
                              <a:latin typeface="Cambria Math" panose="02040503050406030204" pitchFamily="18" charset="0"/>
                            </a:rPr>
                            <m:t>−</m:t>
                          </m:r>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sup>
                      </m:sSup>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3</m:t>
                          </m:r>
                        </m:den>
                      </m:f>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6</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sup>
                      </m:sSup>
                      <m:r>
                        <a:rPr lang="en-US" sz="2000" i="1">
                          <a:solidFill>
                            <a:srgbClr val="000000"/>
                          </a:solidFill>
                          <a:latin typeface="Cambria Math" panose="02040503050406030204" pitchFamily="18" charset="0"/>
                        </a:rPr>
                        <m:t>+</m:t>
                      </m:r>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a:rPr lang="en-US" sz="2000" i="1">
                              <a:solidFill>
                                <a:srgbClr val="000000"/>
                              </a:solidFill>
                              <a:latin typeface="Cambria Math" panose="02040503050406030204" pitchFamily="18" charset="0"/>
                            </a:rPr>
                            <m:t>−</m:t>
                          </m:r>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6</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sup>
                      </m:sSup>
                      <m:r>
                        <a:rPr lang="en-US" sz="2000" i="1">
                          <a:solidFill>
                            <a:srgbClr val="000000"/>
                          </a:solidFill>
                          <a:latin typeface="Cambria Math" panose="02040503050406030204" pitchFamily="18" charset="0"/>
                        </a:rPr>
                        <m:t>)</m:t>
                      </m:r>
                    </m:oMath>
                  </m:oMathPara>
                </a14:m>
                <a:endParaRPr lang="en-US" sz="2000" dirty="0"/>
              </a:p>
            </p:txBody>
          </p:sp>
        </mc:Choice>
        <mc:Fallback xmlns="">
          <p:sp>
            <p:nvSpPr>
              <p:cNvPr id="74" name="Object 7">
                <a:extLst>
                  <a:ext uri="{FF2B5EF4-FFF2-40B4-BE49-F238E27FC236}">
                    <a16:creationId xmlns:a16="http://schemas.microsoft.com/office/drawing/2014/main" id="{3C704D67-0A4A-477D-9938-7BBA7646B8D1}"/>
                  </a:ext>
                </a:extLst>
              </p:cNvPr>
              <p:cNvSpPr txBox="1">
                <a:spLocks noRot="1" noChangeAspect="1" noMove="1" noResize="1" noEditPoints="1" noAdjustHandles="1" noChangeArrowheads="1" noChangeShapeType="1" noTextEdit="1"/>
              </p:cNvSpPr>
              <p:nvPr/>
            </p:nvSpPr>
            <p:spPr bwMode="auto">
              <a:xfrm>
                <a:off x="899592" y="4745161"/>
                <a:ext cx="7857504" cy="670568"/>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Object 6">
                <a:extLst>
                  <a:ext uri="{FF2B5EF4-FFF2-40B4-BE49-F238E27FC236}">
                    <a16:creationId xmlns:a16="http://schemas.microsoft.com/office/drawing/2014/main" id="{69AF1A54-300B-483A-8B20-95A280B8ACAF}"/>
                  </a:ext>
                </a:extLst>
              </p:cNvPr>
              <p:cNvSpPr txBox="1"/>
              <p:nvPr/>
            </p:nvSpPr>
            <p:spPr bwMode="auto">
              <a:xfrm>
                <a:off x="1434470" y="5573905"/>
                <a:ext cx="4433674" cy="67056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=1+</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den>
                      </m:f>
                      <m:func>
                        <m:funcPr>
                          <m:ctrlPr>
                            <a:rPr lang="en-US" sz="2000" i="1">
                              <a:solidFill>
                                <a:srgbClr val="000000"/>
                              </a:solidFill>
                              <a:latin typeface="Cambria Math" panose="02040503050406030204" pitchFamily="18" charset="0"/>
                            </a:rPr>
                          </m:ctrlPr>
                        </m:funcPr>
                        <m:fName>
                          <m:r>
                            <m:rPr>
                              <m:sty m:val="p"/>
                            </m:rPr>
                            <a:rPr lang="en-US" sz="2000" i="0">
                              <a:solidFill>
                                <a:srgbClr val="000000"/>
                              </a:solidFill>
                              <a:latin typeface="Cambria Math" panose="02040503050406030204" pitchFamily="18" charset="0"/>
                            </a:rPr>
                            <m:t>cos</m:t>
                          </m:r>
                        </m:fName>
                        <m:e>
                          <m:r>
                            <a:rPr lang="en-US" sz="2000" i="1">
                              <a:solidFill>
                                <a:srgbClr val="000000"/>
                              </a:solidFill>
                              <a:latin typeface="Cambria Math" panose="02040503050406030204" pitchFamily="18" charset="0"/>
                            </a:rPr>
                            <m:t>2</m:t>
                          </m:r>
                        </m:e>
                      </m:func>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func>
                        <m:funcPr>
                          <m:ctrlPr>
                            <a:rPr lang="en-US" sz="2000" i="1">
                              <a:solidFill>
                                <a:srgbClr val="000000"/>
                              </a:solidFill>
                              <a:latin typeface="Cambria Math" panose="02040503050406030204" pitchFamily="18" charset="0"/>
                            </a:rPr>
                          </m:ctrlPr>
                        </m:funcPr>
                        <m:fName>
                          <m:r>
                            <m:rPr>
                              <m:sty m:val="p"/>
                            </m:rPr>
                            <a:rPr lang="en-US" sz="2000" i="0">
                              <a:solidFill>
                                <a:srgbClr val="000000"/>
                              </a:solidFill>
                              <a:latin typeface="Cambria Math" panose="02040503050406030204" pitchFamily="18" charset="0"/>
                            </a:rPr>
                            <m:t>cos</m:t>
                          </m:r>
                        </m:fName>
                        <m:e>
                          <m:r>
                            <a:rPr lang="en-US" sz="2000" i="1">
                              <a:solidFill>
                                <a:srgbClr val="000000"/>
                              </a:solidFill>
                              <a:latin typeface="Cambria Math" panose="02040503050406030204" pitchFamily="18" charset="0"/>
                            </a:rPr>
                            <m:t>4</m:t>
                          </m:r>
                        </m:e>
                      </m:func>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2</m:t>
                          </m:r>
                        </m:num>
                        <m:den>
                          <m:r>
                            <a:rPr lang="en-US" sz="2000" i="1">
                              <a:solidFill>
                                <a:srgbClr val="000000"/>
                              </a:solidFill>
                              <a:latin typeface="Cambria Math" panose="02040503050406030204" pitchFamily="18" charset="0"/>
                            </a:rPr>
                            <m:t>3</m:t>
                          </m:r>
                        </m:den>
                      </m:f>
                      <m:func>
                        <m:funcPr>
                          <m:ctrlPr>
                            <a:rPr lang="en-US" sz="2000" i="1">
                              <a:solidFill>
                                <a:srgbClr val="000000"/>
                              </a:solidFill>
                              <a:latin typeface="Cambria Math" panose="02040503050406030204" pitchFamily="18" charset="0"/>
                            </a:rPr>
                          </m:ctrlPr>
                        </m:funcPr>
                        <m:fName>
                          <m:r>
                            <m:rPr>
                              <m:sty m:val="p"/>
                            </m:rPr>
                            <a:rPr lang="en-US" sz="2000" i="0">
                              <a:solidFill>
                                <a:srgbClr val="000000"/>
                              </a:solidFill>
                              <a:latin typeface="Cambria Math" panose="02040503050406030204" pitchFamily="18" charset="0"/>
                            </a:rPr>
                            <m:t>cos</m:t>
                          </m:r>
                        </m:fName>
                        <m:e>
                          <m:r>
                            <a:rPr lang="en-US" sz="2000" i="1">
                              <a:solidFill>
                                <a:srgbClr val="000000"/>
                              </a:solidFill>
                              <a:latin typeface="Cambria Math" panose="02040503050406030204" pitchFamily="18" charset="0"/>
                            </a:rPr>
                            <m:t>6</m:t>
                          </m:r>
                        </m:e>
                      </m:func>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oMath>
                  </m:oMathPara>
                </a14:m>
                <a:endParaRPr lang="en-US" sz="2000" dirty="0"/>
              </a:p>
            </p:txBody>
          </p:sp>
        </mc:Choice>
        <mc:Fallback xmlns="">
          <p:sp>
            <p:nvSpPr>
              <p:cNvPr id="75" name="Object 6">
                <a:extLst>
                  <a:ext uri="{FF2B5EF4-FFF2-40B4-BE49-F238E27FC236}">
                    <a16:creationId xmlns:a16="http://schemas.microsoft.com/office/drawing/2014/main" id="{69AF1A54-300B-483A-8B20-95A280B8ACAF}"/>
                  </a:ext>
                </a:extLst>
              </p:cNvPr>
              <p:cNvSpPr txBox="1">
                <a:spLocks noRot="1" noChangeAspect="1" noMove="1" noResize="1" noEditPoints="1" noAdjustHandles="1" noChangeArrowheads="1" noChangeShapeType="1" noTextEdit="1"/>
              </p:cNvSpPr>
              <p:nvPr/>
            </p:nvSpPr>
            <p:spPr bwMode="auto">
              <a:xfrm>
                <a:off x="1434470" y="5573905"/>
                <a:ext cx="4433674" cy="670568"/>
              </a:xfrm>
              <a:prstGeom prst="rect">
                <a:avLst/>
              </a:prstGeom>
              <a:blipFill>
                <a:blip r:embed="rId9"/>
                <a:stretch>
                  <a:fillRect/>
                </a:stretch>
              </a:blipFill>
              <a:ln>
                <a:noFill/>
              </a:ln>
              <a:effectLst/>
            </p:spPr>
            <p:txBody>
              <a:bodyPr/>
              <a:lstStyle/>
              <a:p>
                <a:r>
                  <a:rPr lang="en-US">
                    <a:noFill/>
                  </a:rPr>
                  <a:t> </a:t>
                </a:r>
              </a:p>
            </p:txBody>
          </p:sp>
        </mc:Fallback>
      </mc:AlternateContent>
      <p:grpSp>
        <p:nvGrpSpPr>
          <p:cNvPr id="2" name="组合 1"/>
          <p:cNvGrpSpPr/>
          <p:nvPr/>
        </p:nvGrpSpPr>
        <p:grpSpPr>
          <a:xfrm>
            <a:off x="461012" y="6282738"/>
            <a:ext cx="5407132" cy="481013"/>
            <a:chOff x="461012" y="6282738"/>
            <a:chExt cx="5407132" cy="481013"/>
          </a:xfrm>
        </p:grpSpPr>
        <p:sp>
          <p:nvSpPr>
            <p:cNvPr id="15" name="Text Box 2"/>
            <p:cNvSpPr txBox="1">
              <a:spLocks noChangeArrowheads="1"/>
            </p:cNvSpPr>
            <p:nvPr/>
          </p:nvSpPr>
          <p:spPr bwMode="auto">
            <a:xfrm>
              <a:off x="461012" y="6320553"/>
              <a:ext cx="5407132"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indent="53498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400" b="1" dirty="0">
                  <a:latin typeface="Times New Roman" panose="02020603050405020304" pitchFamily="18" charset="0"/>
                  <a:ea typeface="楷体_GB2312" panose="02010609030101010101" pitchFamily="49" charset="-122"/>
                </a:rPr>
                <a:t>欧拉公式</a:t>
              </a:r>
              <a:endParaRPr lang="zh-CN" altLang="en-US" sz="2000" b="1" dirty="0">
                <a:latin typeface="Times New Roman" panose="02020603050405020304" pitchFamily="18" charset="0"/>
                <a:ea typeface="楷体_GB2312" panose="02010609030101010101" pitchFamily="49" charset="-122"/>
              </a:endParaRPr>
            </a:p>
          </p:txBody>
        </p:sp>
        <p:graphicFrame>
          <p:nvGraphicFramePr>
            <p:cNvPr id="16" name="Object 4"/>
            <p:cNvGraphicFramePr>
              <a:graphicFrameLocks noChangeAspect="1"/>
            </p:cNvGraphicFramePr>
            <p:nvPr>
              <p:extLst>
                <p:ext uri="{D42A27DB-BD31-4B8C-83A1-F6EECF244321}">
                  <p14:modId xmlns:p14="http://schemas.microsoft.com/office/powerpoint/2010/main" val="2740785386"/>
                </p:ext>
              </p:extLst>
            </p:nvPr>
          </p:nvGraphicFramePr>
          <p:xfrm>
            <a:off x="2446785" y="6282738"/>
            <a:ext cx="3076575" cy="481013"/>
          </p:xfrm>
          <a:graphic>
            <a:graphicData uri="http://schemas.openxmlformats.org/presentationml/2006/ole">
              <mc:AlternateContent xmlns:mc="http://schemas.openxmlformats.org/markup-compatibility/2006">
                <mc:Choice xmlns:v="urn:schemas-microsoft-com:vml" Requires="v">
                  <p:oleObj spid="_x0000_s30743" name="公式" r:id="rId10" imgW="1155700" imgH="228600" progId="Equation.3">
                    <p:embed/>
                  </p:oleObj>
                </mc:Choice>
                <mc:Fallback>
                  <p:oleObj name="公式" r:id="rId10" imgW="1155700" imgH="228600" progId="Equation.3">
                    <p:embed/>
                    <p:pic>
                      <p:nvPicPr>
                        <p:cNvPr id="12297"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46785" y="6282738"/>
                          <a:ext cx="3076575"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 calcmode="lin" valueType="num">
                                      <p:cBhvr additive="base">
                                        <p:cTn id="7" dur="500" fill="hold"/>
                                        <p:tgtEl>
                                          <p:spTgt spid="74"/>
                                        </p:tgtEl>
                                        <p:attrNameLst>
                                          <p:attrName>ppt_x</p:attrName>
                                        </p:attrNameLst>
                                      </p:cBhvr>
                                      <p:tavLst>
                                        <p:tav tm="0">
                                          <p:val>
                                            <p:strVal val="#ppt_x"/>
                                          </p:val>
                                        </p:tav>
                                        <p:tav tm="100000">
                                          <p:val>
                                            <p:strVal val="#ppt_x"/>
                                          </p:val>
                                        </p:tav>
                                      </p:tavLst>
                                    </p:anim>
                                    <p:anim calcmode="lin" valueType="num">
                                      <p:cBhvr additive="base">
                                        <p:cTn id="8" dur="500" fill="hold"/>
                                        <p:tgtEl>
                                          <p:spTgt spid="7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anim calcmode="lin" valueType="num">
                                      <p:cBhvr additive="base">
                                        <p:cTn id="11" dur="500" fill="hold"/>
                                        <p:tgtEl>
                                          <p:spTgt spid="75"/>
                                        </p:tgtEl>
                                        <p:attrNameLst>
                                          <p:attrName>ppt_x</p:attrName>
                                        </p:attrNameLst>
                                      </p:cBhvr>
                                      <p:tavLst>
                                        <p:tav tm="0">
                                          <p:val>
                                            <p:strVal val="#ppt_x"/>
                                          </p:val>
                                        </p:tav>
                                        <p:tav tm="100000">
                                          <p:val>
                                            <p:strVal val="#ppt_x"/>
                                          </p:val>
                                        </p:tav>
                                      </p:tavLst>
                                    </p:anim>
                                    <p:anim calcmode="lin" valueType="num">
                                      <p:cBhvr additive="base">
                                        <p:cTn id="12"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2877604-31B8-480F-9191-5832129384A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5B12D4-2E3F-4D2D-B582-B7E3E50DB9AC}" type="slidenum">
              <a:rPr lang="zh-CN" altLang="en-US">
                <a:solidFill>
                  <a:srgbClr val="898989"/>
                </a:solidFill>
                <a:latin typeface="Calibri" panose="020F0502020204030204" pitchFamily="34" charset="0"/>
              </a:rPr>
              <a:pPr eaLnBrk="1" hangingPunct="1"/>
              <a:t>14</a:t>
            </a:fld>
            <a:endParaRPr lang="zh-CN" altLang="en-US">
              <a:solidFill>
                <a:srgbClr val="898989"/>
              </a:solidFill>
              <a:latin typeface="Calibri" panose="020F0502020204030204" pitchFamily="34" charset="0"/>
            </a:endParaRPr>
          </a:p>
        </p:txBody>
      </p:sp>
      <p:pic>
        <p:nvPicPr>
          <p:cNvPr id="15" name="Picture 4" descr="03-04">
            <a:extLst>
              <a:ext uri="{FF2B5EF4-FFF2-40B4-BE49-F238E27FC236}">
                <a16:creationId xmlns:a16="http://schemas.microsoft.com/office/drawing/2014/main" id="{A30DA7F7-29F8-4EC1-840D-FEECDE11F3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5688" y="196850"/>
            <a:ext cx="4608512" cy="643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6" name="Object 4">
                <a:extLst>
                  <a:ext uri="{FF2B5EF4-FFF2-40B4-BE49-F238E27FC236}">
                    <a16:creationId xmlns:a16="http://schemas.microsoft.com/office/drawing/2014/main" id="{71D920E5-F4F2-43A8-B8C8-E11D2E4BB7CD}"/>
                  </a:ext>
                </a:extLst>
              </p:cNvPr>
              <p:cNvSpPr txBox="1"/>
              <p:nvPr/>
            </p:nvSpPr>
            <p:spPr bwMode="auto">
              <a:xfrm>
                <a:off x="6084168" y="404664"/>
                <a:ext cx="2491680" cy="863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nary>
                        <m:naryPr>
                          <m:chr m:val="∑"/>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=−3</m:t>
                          </m:r>
                        </m:sub>
                        <m:sup>
                          <m:r>
                            <a:rPr lang="en-US" sz="2000" i="1">
                              <a:solidFill>
                                <a:srgbClr val="000000"/>
                              </a:solidFill>
                              <a:latin typeface="Cambria Math" panose="02040503050406030204" pitchFamily="18" charset="0"/>
                            </a:rPr>
                            <m:t>3</m:t>
                          </m:r>
                        </m:sup>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𝑘</m:t>
                              </m:r>
                            </m:sub>
                          </m:sSub>
                          <m:sSup>
                            <m:sSupPr>
                              <m:ctrlPr>
                                <a:rPr lang="en-US" sz="2000" i="1">
                                  <a:solidFill>
                                    <a:srgbClr val="000000"/>
                                  </a:solidFill>
                                  <a:latin typeface="Cambria Math" panose="02040503050406030204" pitchFamily="18" charset="0"/>
                                </a:rPr>
                              </m:ctrlPr>
                            </m:sSupPr>
                            <m:e>
                              <m:r>
                                <m:rPr>
                                  <m:sty m:val="p"/>
                                </m:rPr>
                                <a:rPr lang="en-US" sz="2000" i="0">
                                  <a:solidFill>
                                    <a:srgbClr val="000000"/>
                                  </a:solidFill>
                                  <a:latin typeface="Cambria Math" panose="02040503050406030204" pitchFamily="18" charset="0"/>
                                </a:rPr>
                                <m:t>e</m:t>
                              </m:r>
                            </m:e>
                            <m:sup>
                              <m:r>
                                <m:rPr>
                                  <m:sty m:val="p"/>
                                </m:rPr>
                                <a:rPr lang="en-US" sz="2000" i="0">
                                  <a:solidFill>
                                    <a:srgbClr val="000000"/>
                                  </a:solidFill>
                                  <a:latin typeface="Cambria Math" panose="02040503050406030204" pitchFamily="18" charset="0"/>
                                </a:rPr>
                                <m:t>j</m:t>
                              </m:r>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𝑡</m:t>
                              </m:r>
                            </m:sup>
                          </m:sSup>
                        </m:e>
                      </m:nary>
                    </m:oMath>
                  </m:oMathPara>
                </a14:m>
                <a:endParaRPr lang="en-US" sz="2000" dirty="0"/>
              </a:p>
            </p:txBody>
          </p:sp>
        </mc:Choice>
        <mc:Fallback xmlns="">
          <p:sp>
            <p:nvSpPr>
              <p:cNvPr id="16" name="Object 4">
                <a:extLst>
                  <a:ext uri="{FF2B5EF4-FFF2-40B4-BE49-F238E27FC236}">
                    <a16:creationId xmlns:a16="http://schemas.microsoft.com/office/drawing/2014/main" id="{71D920E5-F4F2-43A8-B8C8-E11D2E4BB7CD}"/>
                  </a:ext>
                </a:extLst>
              </p:cNvPr>
              <p:cNvSpPr txBox="1">
                <a:spLocks noRot="1" noChangeAspect="1" noMove="1" noResize="1" noEditPoints="1" noAdjustHandles="1" noChangeArrowheads="1" noChangeShapeType="1" noTextEdit="1"/>
              </p:cNvSpPr>
              <p:nvPr/>
            </p:nvSpPr>
            <p:spPr bwMode="auto">
              <a:xfrm>
                <a:off x="6084168" y="404664"/>
                <a:ext cx="2491680" cy="863600"/>
              </a:xfrm>
              <a:prstGeom prst="rect">
                <a:avLst/>
              </a:prstGeom>
              <a:blipFill>
                <a:blip r:embed="rId3"/>
                <a:stretch>
                  <a:fillRect b="-4225"/>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60939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7" name="标题 1">
            <a:extLst>
              <a:ext uri="{FF2B5EF4-FFF2-40B4-BE49-F238E27FC236}">
                <a16:creationId xmlns:a16="http://schemas.microsoft.com/office/drawing/2014/main" id="{8DB2A678-B668-46BD-9B9B-95E9744B7A95}"/>
              </a:ext>
            </a:extLst>
          </p:cNvPr>
          <p:cNvSpPr>
            <a:spLocks noGrp="1"/>
          </p:cNvSpPr>
          <p:nvPr>
            <p:ph type="title"/>
          </p:nvPr>
        </p:nvSpPr>
        <p:spPr/>
        <p:txBody>
          <a:bodyPr/>
          <a:lstStyle/>
          <a:p>
            <a:r>
              <a:rPr lang="en-US" altLang="zh-CN" sz="3200"/>
              <a:t>3.3  </a:t>
            </a:r>
            <a:r>
              <a:rPr lang="zh-CN" altLang="en-US" sz="3200"/>
              <a:t>连续时间周期信号的傅里叶级数表示</a:t>
            </a:r>
          </a:p>
        </p:txBody>
      </p:sp>
      <p:sp>
        <p:nvSpPr>
          <p:cNvPr id="41998" name="内容占位符 2">
            <a:extLst>
              <a:ext uri="{FF2B5EF4-FFF2-40B4-BE49-F238E27FC236}">
                <a16:creationId xmlns:a16="http://schemas.microsoft.com/office/drawing/2014/main" id="{CD65F6D6-ACCE-4CC2-8A4F-4C4CA1871893}"/>
              </a:ext>
            </a:extLst>
          </p:cNvPr>
          <p:cNvSpPr>
            <a:spLocks noGrp="1"/>
          </p:cNvSpPr>
          <p:nvPr>
            <p:ph idx="1"/>
          </p:nvPr>
        </p:nvSpPr>
        <p:spPr>
          <a:xfrm>
            <a:off x="457200" y="1285875"/>
            <a:ext cx="8229600" cy="1643527"/>
          </a:xfrm>
        </p:spPr>
        <p:txBody>
          <a:bodyPr>
            <a:spAutoFit/>
          </a:bodyPr>
          <a:lstStyle/>
          <a:p>
            <a:pPr marL="0" indent="0">
              <a:buNone/>
            </a:pPr>
            <a:r>
              <a:rPr lang="zh-CN" altLang="en-US" sz="2400" b="0" dirty="0">
                <a:solidFill>
                  <a:srgbClr val="0000FF"/>
                </a:solidFill>
              </a:rPr>
              <a:t>二</a:t>
            </a:r>
            <a:r>
              <a:rPr lang="en-US" altLang="zh-CN" sz="2400" b="0" dirty="0">
                <a:solidFill>
                  <a:srgbClr val="0000FF"/>
                </a:solidFill>
              </a:rPr>
              <a:t>. </a:t>
            </a:r>
            <a:r>
              <a:rPr lang="zh-CN" altLang="en-US" sz="2400" b="0" dirty="0">
                <a:solidFill>
                  <a:srgbClr val="0000FF"/>
                </a:solidFill>
              </a:rPr>
              <a:t>频谱的概念</a:t>
            </a:r>
            <a:endParaRPr lang="en-US" altLang="zh-CN" sz="2400" b="0" dirty="0">
              <a:solidFill>
                <a:srgbClr val="0000FF"/>
              </a:solidFill>
            </a:endParaRPr>
          </a:p>
          <a:p>
            <a:pPr algn="just"/>
            <a:r>
              <a:rPr lang="zh-CN" altLang="en-US" sz="2400" b="0" dirty="0"/>
              <a:t>在傅里叶级数中，各个信号分量（谐波分量）间的区别仅仅是系数和频率不同。因此，可以用线段来表示分量的系数，用线段的位置表示相应的频率（谐波次数）。</a:t>
            </a:r>
          </a:p>
        </p:txBody>
      </p:sp>
      <p:sp>
        <p:nvSpPr>
          <p:cNvPr id="4" name="灯片编号占位符 3">
            <a:extLst>
              <a:ext uri="{FF2B5EF4-FFF2-40B4-BE49-F238E27FC236}">
                <a16:creationId xmlns:a16="http://schemas.microsoft.com/office/drawing/2014/main" id="{DEA11AD0-114E-462A-9C79-5AC8E74186F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30EB660-F622-45B5-BD17-A81EC879F64B}" type="slidenum">
              <a:rPr lang="zh-CN" altLang="en-US">
                <a:solidFill>
                  <a:srgbClr val="898989"/>
                </a:solidFill>
                <a:latin typeface="Calibri" panose="020F0502020204030204" pitchFamily="34" charset="0"/>
              </a:rPr>
              <a:pPr eaLnBrk="1" hangingPunct="1"/>
              <a:t>15</a:t>
            </a:fld>
            <a:endParaRPr lang="zh-CN" altLang="en-US">
              <a:solidFill>
                <a:srgbClr val="898989"/>
              </a:solidFill>
              <a:latin typeface="Calibri" panose="020F0502020204030204" pitchFamily="34" charset="0"/>
            </a:endParaRPr>
          </a:p>
        </p:txBody>
      </p:sp>
      <p:grpSp>
        <p:nvGrpSpPr>
          <p:cNvPr id="42000" name="Group 2">
            <a:extLst>
              <a:ext uri="{FF2B5EF4-FFF2-40B4-BE49-F238E27FC236}">
                <a16:creationId xmlns:a16="http://schemas.microsoft.com/office/drawing/2014/main" id="{B2B929C4-0E02-4DC9-A5B9-3AAB2E9BAFE1}"/>
              </a:ext>
            </a:extLst>
          </p:cNvPr>
          <p:cNvGrpSpPr>
            <a:grpSpLocks/>
          </p:cNvGrpSpPr>
          <p:nvPr/>
        </p:nvGrpSpPr>
        <p:grpSpPr bwMode="auto">
          <a:xfrm>
            <a:off x="835025" y="4427537"/>
            <a:ext cx="3141663" cy="1311274"/>
            <a:chOff x="526" y="1074"/>
            <a:chExt cx="1979" cy="826"/>
          </a:xfrm>
        </p:grpSpPr>
        <mc:AlternateContent xmlns:mc="http://schemas.openxmlformats.org/markup-compatibility/2006" xmlns:a14="http://schemas.microsoft.com/office/drawing/2010/main">
          <mc:Choice Requires="a14">
            <p:sp>
              <p:nvSpPr>
                <p:cNvPr id="41994" name="Object 2">
                  <a:extLst>
                    <a:ext uri="{FF2B5EF4-FFF2-40B4-BE49-F238E27FC236}">
                      <a16:creationId xmlns:a16="http://schemas.microsoft.com/office/drawing/2014/main" id="{F9F65002-6D14-40CB-A2E6-3860E591AE6D}"/>
                    </a:ext>
                  </a:extLst>
                </p:cNvPr>
                <p:cNvSpPr txBox="1"/>
                <p:nvPr/>
              </p:nvSpPr>
              <p:spPr bwMode="auto">
                <a:xfrm>
                  <a:off x="1397" y="1648"/>
                  <a:ext cx="244" cy="25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1</m:t>
                        </m:r>
                      </m:oMath>
                    </m:oMathPara>
                  </a14:m>
                  <a:endParaRPr lang="en-US" sz="2000" dirty="0"/>
                </a:p>
              </p:txBody>
            </p:sp>
          </mc:Choice>
          <mc:Fallback xmlns="">
            <p:sp>
              <p:nvSpPr>
                <p:cNvPr id="41994" name="Object 2">
                  <a:extLst>
                    <a:ext uri="{FF2B5EF4-FFF2-40B4-BE49-F238E27FC236}">
                      <a16:creationId xmlns:a16="http://schemas.microsoft.com/office/drawing/2014/main" id="{F9F65002-6D14-40CB-A2E6-3860E591AE6D}"/>
                    </a:ext>
                  </a:extLst>
                </p:cNvPr>
                <p:cNvSpPr txBox="1">
                  <a:spLocks noRot="1" noChangeAspect="1" noMove="1" noResize="1" noEditPoints="1" noAdjustHandles="1" noChangeArrowheads="1" noChangeShapeType="1" noTextEdit="1"/>
                </p:cNvSpPr>
                <p:nvPr/>
              </p:nvSpPr>
              <p:spPr bwMode="auto">
                <a:xfrm>
                  <a:off x="1397" y="1648"/>
                  <a:ext cx="244" cy="252"/>
                </a:xfrm>
                <a:prstGeom prst="rect">
                  <a:avLst/>
                </a:prstGeom>
                <a:blipFill>
                  <a:blip r:embed="rId2"/>
                  <a:stretch>
                    <a:fillRect/>
                  </a:stretch>
                </a:blipFill>
                <a:ln>
                  <a:noFill/>
                </a:ln>
                <a:effectLst/>
              </p:spPr>
              <p:txBody>
                <a:bodyPr/>
                <a:lstStyle/>
                <a:p>
                  <a:r>
                    <a:rPr lang="en-US">
                      <a:noFill/>
                    </a:rPr>
                    <a:t> </a:t>
                  </a:r>
                </a:p>
              </p:txBody>
            </p:sp>
          </mc:Fallback>
        </mc:AlternateContent>
        <p:sp>
          <p:nvSpPr>
            <p:cNvPr id="42009" name="Line 4">
              <a:extLst>
                <a:ext uri="{FF2B5EF4-FFF2-40B4-BE49-F238E27FC236}">
                  <a16:creationId xmlns:a16="http://schemas.microsoft.com/office/drawing/2014/main" id="{00A59433-DACE-4C28-9A43-B245E629F39F}"/>
                </a:ext>
              </a:extLst>
            </p:cNvPr>
            <p:cNvSpPr>
              <a:spLocks noChangeShapeType="1"/>
            </p:cNvSpPr>
            <p:nvPr/>
          </p:nvSpPr>
          <p:spPr bwMode="auto">
            <a:xfrm>
              <a:off x="526" y="1631"/>
              <a:ext cx="1922" cy="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sz="2000"/>
            </a:p>
          </p:txBody>
        </p:sp>
        <p:sp>
          <p:nvSpPr>
            <p:cNvPr id="42010" name="Line 5">
              <a:extLst>
                <a:ext uri="{FF2B5EF4-FFF2-40B4-BE49-F238E27FC236}">
                  <a16:creationId xmlns:a16="http://schemas.microsoft.com/office/drawing/2014/main" id="{24001492-863D-4334-904E-98625DA5D30C}"/>
                </a:ext>
              </a:extLst>
            </p:cNvPr>
            <p:cNvSpPr>
              <a:spLocks noChangeShapeType="1"/>
            </p:cNvSpPr>
            <p:nvPr/>
          </p:nvSpPr>
          <p:spPr bwMode="auto">
            <a:xfrm flipV="1">
              <a:off x="1478" y="1223"/>
              <a:ext cx="1" cy="40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sz="2000"/>
            </a:p>
          </p:txBody>
        </p:sp>
        <mc:AlternateContent xmlns:mc="http://schemas.openxmlformats.org/markup-compatibility/2006" xmlns:a14="http://schemas.microsoft.com/office/drawing/2010/main">
          <mc:Choice Requires="a14">
            <p:sp>
              <p:nvSpPr>
                <p:cNvPr id="41995" name="Object 3">
                  <a:extLst>
                    <a:ext uri="{FF2B5EF4-FFF2-40B4-BE49-F238E27FC236}">
                      <a16:creationId xmlns:a16="http://schemas.microsoft.com/office/drawing/2014/main" id="{3F2791CE-D5F6-4BD6-9B53-1C436CE9A1F5}"/>
                    </a:ext>
                  </a:extLst>
                </p:cNvPr>
                <p:cNvSpPr txBox="1"/>
                <p:nvPr/>
              </p:nvSpPr>
              <p:spPr bwMode="auto">
                <a:xfrm>
                  <a:off x="1478" y="1074"/>
                  <a:ext cx="230" cy="25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1</m:t>
                        </m:r>
                      </m:oMath>
                    </m:oMathPara>
                  </a14:m>
                  <a:endParaRPr lang="en-US" sz="2000" dirty="0"/>
                </a:p>
              </p:txBody>
            </p:sp>
          </mc:Choice>
          <mc:Fallback xmlns="">
            <p:sp>
              <p:nvSpPr>
                <p:cNvPr id="41995" name="Object 3">
                  <a:extLst>
                    <a:ext uri="{FF2B5EF4-FFF2-40B4-BE49-F238E27FC236}">
                      <a16:creationId xmlns:a16="http://schemas.microsoft.com/office/drawing/2014/main" id="{3F2791CE-D5F6-4BD6-9B53-1C436CE9A1F5}"/>
                    </a:ext>
                  </a:extLst>
                </p:cNvPr>
                <p:cNvSpPr txBox="1">
                  <a:spLocks noRot="1" noChangeAspect="1" noMove="1" noResize="1" noEditPoints="1" noAdjustHandles="1" noChangeArrowheads="1" noChangeShapeType="1" noTextEdit="1"/>
                </p:cNvSpPr>
                <p:nvPr/>
              </p:nvSpPr>
              <p:spPr bwMode="auto">
                <a:xfrm>
                  <a:off x="1478" y="1074"/>
                  <a:ext cx="230" cy="252"/>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996" name="Object 4">
                  <a:extLst>
                    <a:ext uri="{FF2B5EF4-FFF2-40B4-BE49-F238E27FC236}">
                      <a16:creationId xmlns:a16="http://schemas.microsoft.com/office/drawing/2014/main" id="{0A0B17E2-1913-4699-A3E2-EE1FCA686E85}"/>
                    </a:ext>
                  </a:extLst>
                </p:cNvPr>
                <p:cNvSpPr txBox="1"/>
                <p:nvPr/>
              </p:nvSpPr>
              <p:spPr bwMode="auto">
                <a:xfrm>
                  <a:off x="2317" y="1371"/>
                  <a:ext cx="188" cy="25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𝑘</m:t>
                        </m:r>
                      </m:oMath>
                    </m:oMathPara>
                  </a14:m>
                  <a:endParaRPr lang="en-US" sz="2000" dirty="0"/>
                </a:p>
              </p:txBody>
            </p:sp>
          </mc:Choice>
          <mc:Fallback xmlns="">
            <p:sp>
              <p:nvSpPr>
                <p:cNvPr id="41996" name="Object 4">
                  <a:extLst>
                    <a:ext uri="{FF2B5EF4-FFF2-40B4-BE49-F238E27FC236}">
                      <a16:creationId xmlns:a16="http://schemas.microsoft.com/office/drawing/2014/main" id="{0A0B17E2-1913-4699-A3E2-EE1FCA686E85}"/>
                    </a:ext>
                  </a:extLst>
                </p:cNvPr>
                <p:cNvSpPr txBox="1">
                  <a:spLocks noRot="1" noChangeAspect="1" noMove="1" noResize="1" noEditPoints="1" noAdjustHandles="1" noChangeArrowheads="1" noChangeShapeType="1" noTextEdit="1"/>
                </p:cNvSpPr>
                <p:nvPr/>
              </p:nvSpPr>
              <p:spPr bwMode="auto">
                <a:xfrm>
                  <a:off x="2317" y="1371"/>
                  <a:ext cx="188" cy="252"/>
                </a:xfrm>
                <a:prstGeom prst="rect">
                  <a:avLst/>
                </a:prstGeom>
                <a:blipFill>
                  <a:blip r:embed="rId4"/>
                  <a:stretch>
                    <a:fillRect r="-8163"/>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2008" name="Text Box 9">
                <a:extLst>
                  <a:ext uri="{FF2B5EF4-FFF2-40B4-BE49-F238E27FC236}">
                    <a16:creationId xmlns:a16="http://schemas.microsoft.com/office/drawing/2014/main" id="{C83A36E3-6D4D-425B-BC52-B7177D43C299}"/>
                  </a:ext>
                </a:extLst>
              </p:cNvPr>
              <p:cNvSpPr txBox="1">
                <a:spLocks noChangeArrowheads="1"/>
              </p:cNvSpPr>
              <p:nvPr/>
            </p:nvSpPr>
            <p:spPr bwMode="auto">
              <a:xfrm>
                <a:off x="843166" y="3323146"/>
                <a:ext cx="2732036" cy="4735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分量</a:t>
                </a:r>
                <a14:m>
                  <m:oMath xmlns:m="http://schemas.openxmlformats.org/officeDocument/2006/math">
                    <m:sSup>
                      <m:sSupPr>
                        <m:ctrlPr>
                          <a:rPr lang="en-US" sz="2400" i="1" smtClean="0">
                            <a:solidFill>
                              <a:schemeClr val="tx1"/>
                            </a:solidFill>
                            <a:latin typeface="Cambria Math" panose="02040503050406030204" pitchFamily="18" charset="0"/>
                          </a:rPr>
                        </m:ctrlPr>
                      </m:sSupPr>
                      <m:e>
                        <m:r>
                          <m:rPr>
                            <m:sty m:val="p"/>
                          </m:rPr>
                          <a:rPr lang="en-US" sz="2400" b="0" i="0">
                            <a:solidFill>
                              <a:schemeClr val="tx1"/>
                            </a:solidFill>
                            <a:latin typeface="Cambria Math" panose="02040503050406030204" pitchFamily="18" charset="0"/>
                          </a:rPr>
                          <m:t>e</m:t>
                        </m:r>
                      </m:e>
                      <m:sup>
                        <m:r>
                          <m:rPr>
                            <m:sty m:val="p"/>
                          </m:rPr>
                          <a:rPr lang="en-US" sz="2400" b="0" i="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b="0" i="1">
                                <a:solidFill>
                                  <a:schemeClr val="tx1"/>
                                </a:solidFill>
                                <a:latin typeface="Cambria Math" panose="02040503050406030204" pitchFamily="18" charset="0"/>
                              </a:rPr>
                              <m:t>𝜔</m:t>
                            </m:r>
                          </m:e>
                          <m:sub>
                            <m:r>
                              <a:rPr lang="en-US" sz="2400" b="0" i="1">
                                <a:solidFill>
                                  <a:schemeClr val="tx1"/>
                                </a:solidFill>
                                <a:latin typeface="Cambria Math" panose="02040503050406030204" pitchFamily="18" charset="0"/>
                              </a:rPr>
                              <m:t>0</m:t>
                            </m:r>
                          </m:sub>
                        </m:sSub>
                        <m:r>
                          <a:rPr lang="en-US" sz="2400" b="0" i="1">
                            <a:solidFill>
                              <a:schemeClr val="tx1"/>
                            </a:solidFill>
                            <a:latin typeface="Cambria Math" panose="02040503050406030204" pitchFamily="18" charset="0"/>
                          </a:rPr>
                          <m:t>𝑡</m:t>
                        </m:r>
                      </m:sup>
                    </m:sSup>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可表示为</a:t>
                </a:r>
              </a:p>
            </p:txBody>
          </p:sp>
        </mc:Choice>
        <mc:Fallback xmlns="">
          <p:sp>
            <p:nvSpPr>
              <p:cNvPr id="42008" name="Text Box 9">
                <a:extLst>
                  <a:ext uri="{FF2B5EF4-FFF2-40B4-BE49-F238E27FC236}">
                    <a16:creationId xmlns:a16="http://schemas.microsoft.com/office/drawing/2014/main" id="{C83A36E3-6D4D-425B-BC52-B7177D43C299}"/>
                  </a:ext>
                </a:extLst>
              </p:cNvPr>
              <p:cNvSpPr txBox="1">
                <a:spLocks noRot="1" noChangeAspect="1" noMove="1" noResize="1" noEditPoints="1" noAdjustHandles="1" noChangeArrowheads="1" noChangeShapeType="1" noTextEdit="1"/>
              </p:cNvSpPr>
              <p:nvPr/>
            </p:nvSpPr>
            <p:spPr bwMode="auto">
              <a:xfrm>
                <a:off x="843166" y="3323146"/>
                <a:ext cx="2732036" cy="473591"/>
              </a:xfrm>
              <a:prstGeom prst="rect">
                <a:avLst/>
              </a:prstGeom>
              <a:blipFill>
                <a:blip r:embed="rId5"/>
                <a:stretch>
                  <a:fillRect l="-3348" t="-6410" r="-446" b="-294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42002" name="Group 17">
            <a:extLst>
              <a:ext uri="{FF2B5EF4-FFF2-40B4-BE49-F238E27FC236}">
                <a16:creationId xmlns:a16="http://schemas.microsoft.com/office/drawing/2014/main" id="{875E1166-8FC8-4670-B36A-4ADFBF15D9CC}"/>
              </a:ext>
            </a:extLst>
          </p:cNvPr>
          <p:cNvGrpSpPr>
            <a:grpSpLocks/>
          </p:cNvGrpSpPr>
          <p:nvPr/>
        </p:nvGrpSpPr>
        <p:grpSpPr bwMode="auto">
          <a:xfrm>
            <a:off x="4572000" y="4282075"/>
            <a:ext cx="3763962" cy="1525586"/>
            <a:chOff x="3085" y="979"/>
            <a:chExt cx="2371" cy="961"/>
          </a:xfrm>
        </p:grpSpPr>
        <p:sp>
          <p:nvSpPr>
            <p:cNvPr id="42005" name="Line 18">
              <a:extLst>
                <a:ext uri="{FF2B5EF4-FFF2-40B4-BE49-F238E27FC236}">
                  <a16:creationId xmlns:a16="http://schemas.microsoft.com/office/drawing/2014/main" id="{77CC1C62-7530-455D-AB90-F5015E7D0724}"/>
                </a:ext>
              </a:extLst>
            </p:cNvPr>
            <p:cNvSpPr>
              <a:spLocks noChangeShapeType="1"/>
            </p:cNvSpPr>
            <p:nvPr/>
          </p:nvSpPr>
          <p:spPr bwMode="auto">
            <a:xfrm>
              <a:off x="3085" y="1643"/>
              <a:ext cx="2313" cy="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sz="2000"/>
            </a:p>
          </p:txBody>
        </p:sp>
        <p:sp>
          <p:nvSpPr>
            <p:cNvPr id="42006" name="Line 19">
              <a:extLst>
                <a:ext uri="{FF2B5EF4-FFF2-40B4-BE49-F238E27FC236}">
                  <a16:creationId xmlns:a16="http://schemas.microsoft.com/office/drawing/2014/main" id="{147AB96E-B8A7-4868-B487-1ADA2141DDE0}"/>
                </a:ext>
              </a:extLst>
            </p:cNvPr>
            <p:cNvSpPr>
              <a:spLocks noChangeShapeType="1"/>
            </p:cNvSpPr>
            <p:nvPr/>
          </p:nvSpPr>
          <p:spPr bwMode="auto">
            <a:xfrm>
              <a:off x="3575" y="1190"/>
              <a:ext cx="1" cy="4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42007" name="Line 20">
              <a:extLst>
                <a:ext uri="{FF2B5EF4-FFF2-40B4-BE49-F238E27FC236}">
                  <a16:creationId xmlns:a16="http://schemas.microsoft.com/office/drawing/2014/main" id="{ECAE2340-7A6D-4693-A209-8DB4E9ECAD4F}"/>
                </a:ext>
              </a:extLst>
            </p:cNvPr>
            <p:cNvSpPr>
              <a:spLocks noChangeShapeType="1"/>
            </p:cNvSpPr>
            <p:nvPr/>
          </p:nvSpPr>
          <p:spPr bwMode="auto">
            <a:xfrm flipV="1">
              <a:off x="4800" y="1190"/>
              <a:ext cx="1" cy="45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sz="2000"/>
            </a:p>
          </p:txBody>
        </p:sp>
        <mc:AlternateContent xmlns:mc="http://schemas.openxmlformats.org/markup-compatibility/2006" xmlns:a14="http://schemas.microsoft.com/office/drawing/2010/main">
          <mc:Choice Requires="a14">
            <p:sp>
              <p:nvSpPr>
                <p:cNvPr id="41987" name="Object 6">
                  <a:extLst>
                    <a:ext uri="{FF2B5EF4-FFF2-40B4-BE49-F238E27FC236}">
                      <a16:creationId xmlns:a16="http://schemas.microsoft.com/office/drawing/2014/main" id="{19F9975B-171C-4C9E-9F78-0A51F285A7EA}"/>
                    </a:ext>
                  </a:extLst>
                </p:cNvPr>
                <p:cNvSpPr txBox="1"/>
                <p:nvPr/>
              </p:nvSpPr>
              <p:spPr bwMode="auto">
                <a:xfrm>
                  <a:off x="4568" y="987"/>
                  <a:ext cx="231" cy="42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den>
                        </m:f>
                      </m:oMath>
                    </m:oMathPara>
                  </a14:m>
                  <a:endParaRPr lang="en-US" sz="2000"/>
                </a:p>
              </p:txBody>
            </p:sp>
          </mc:Choice>
          <mc:Fallback xmlns="">
            <p:sp>
              <p:nvSpPr>
                <p:cNvPr id="41987" name="Object 6">
                  <a:extLst>
                    <a:ext uri="{FF2B5EF4-FFF2-40B4-BE49-F238E27FC236}">
                      <a16:creationId xmlns:a16="http://schemas.microsoft.com/office/drawing/2014/main" id="{19F9975B-171C-4C9E-9F78-0A51F285A7EA}"/>
                    </a:ext>
                  </a:extLst>
                </p:cNvPr>
                <p:cNvSpPr txBox="1">
                  <a:spLocks noRot="1" noChangeAspect="1" noMove="1" noResize="1" noEditPoints="1" noAdjustHandles="1" noChangeArrowheads="1" noChangeShapeType="1" noTextEdit="1"/>
                </p:cNvSpPr>
                <p:nvPr/>
              </p:nvSpPr>
              <p:spPr bwMode="auto">
                <a:xfrm>
                  <a:off x="4568" y="987"/>
                  <a:ext cx="231" cy="421"/>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988" name="Object 7">
                  <a:extLst>
                    <a:ext uri="{FF2B5EF4-FFF2-40B4-BE49-F238E27FC236}">
                      <a16:creationId xmlns:a16="http://schemas.microsoft.com/office/drawing/2014/main" id="{14CE1D55-7F7D-4D3E-80FA-D9A465670270}"/>
                    </a:ext>
                  </a:extLst>
                </p:cNvPr>
                <p:cNvSpPr txBox="1"/>
                <p:nvPr/>
              </p:nvSpPr>
              <p:spPr bwMode="auto">
                <a:xfrm>
                  <a:off x="3326" y="979"/>
                  <a:ext cx="231" cy="42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den>
                        </m:f>
                      </m:oMath>
                    </m:oMathPara>
                  </a14:m>
                  <a:endParaRPr lang="en-US" sz="2000" dirty="0"/>
                </a:p>
              </p:txBody>
            </p:sp>
          </mc:Choice>
          <mc:Fallback xmlns="">
            <p:sp>
              <p:nvSpPr>
                <p:cNvPr id="41988" name="Object 7">
                  <a:extLst>
                    <a:ext uri="{FF2B5EF4-FFF2-40B4-BE49-F238E27FC236}">
                      <a16:creationId xmlns:a16="http://schemas.microsoft.com/office/drawing/2014/main" id="{14CE1D55-7F7D-4D3E-80FA-D9A465670270}"/>
                    </a:ext>
                  </a:extLst>
                </p:cNvPr>
                <p:cNvSpPr txBox="1">
                  <a:spLocks noRot="1" noChangeAspect="1" noMove="1" noResize="1" noEditPoints="1" noAdjustHandles="1" noChangeArrowheads="1" noChangeShapeType="1" noTextEdit="1"/>
                </p:cNvSpPr>
                <p:nvPr/>
              </p:nvSpPr>
              <p:spPr bwMode="auto">
                <a:xfrm>
                  <a:off x="3326" y="979"/>
                  <a:ext cx="231" cy="421"/>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989" name="Object 8">
                  <a:extLst>
                    <a:ext uri="{FF2B5EF4-FFF2-40B4-BE49-F238E27FC236}">
                      <a16:creationId xmlns:a16="http://schemas.microsoft.com/office/drawing/2014/main" id="{2B358441-84CD-4E71-95E4-84013E6A4DAB}"/>
                    </a:ext>
                  </a:extLst>
                </p:cNvPr>
                <p:cNvSpPr txBox="1"/>
                <p:nvPr/>
              </p:nvSpPr>
              <p:spPr bwMode="auto">
                <a:xfrm>
                  <a:off x="5269" y="1400"/>
                  <a:ext cx="187" cy="26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𝑘</m:t>
                        </m:r>
                      </m:oMath>
                    </m:oMathPara>
                  </a14:m>
                  <a:endParaRPr lang="en-US" sz="2000" dirty="0"/>
                </a:p>
              </p:txBody>
            </p:sp>
          </mc:Choice>
          <mc:Fallback xmlns="">
            <p:sp>
              <p:nvSpPr>
                <p:cNvPr id="41989" name="Object 8">
                  <a:extLst>
                    <a:ext uri="{FF2B5EF4-FFF2-40B4-BE49-F238E27FC236}">
                      <a16:creationId xmlns:a16="http://schemas.microsoft.com/office/drawing/2014/main" id="{2B358441-84CD-4E71-95E4-84013E6A4DAB}"/>
                    </a:ext>
                  </a:extLst>
                </p:cNvPr>
                <p:cNvSpPr txBox="1">
                  <a:spLocks noRot="1" noChangeAspect="1" noMove="1" noResize="1" noEditPoints="1" noAdjustHandles="1" noChangeArrowheads="1" noChangeShapeType="1" noTextEdit="1"/>
                </p:cNvSpPr>
                <p:nvPr/>
              </p:nvSpPr>
              <p:spPr bwMode="auto">
                <a:xfrm>
                  <a:off x="5269" y="1400"/>
                  <a:ext cx="187" cy="261"/>
                </a:xfrm>
                <a:prstGeom prst="rect">
                  <a:avLst/>
                </a:prstGeom>
                <a:blipFill>
                  <a:blip r:embed="rId8"/>
                  <a:stretch>
                    <a:fillRect r="-1041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990" name="Object 9">
                  <a:extLst>
                    <a:ext uri="{FF2B5EF4-FFF2-40B4-BE49-F238E27FC236}">
                      <a16:creationId xmlns:a16="http://schemas.microsoft.com/office/drawing/2014/main" id="{3A112B54-D9C8-485A-8112-62F6E5E6A7EF}"/>
                    </a:ext>
                  </a:extLst>
                </p:cNvPr>
                <p:cNvSpPr txBox="1"/>
                <p:nvPr/>
              </p:nvSpPr>
              <p:spPr bwMode="auto">
                <a:xfrm>
                  <a:off x="4708" y="1688"/>
                  <a:ext cx="181" cy="252"/>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1</m:t>
                        </m:r>
                      </m:oMath>
                    </m:oMathPara>
                  </a14:m>
                  <a:endParaRPr lang="en-US" sz="2000"/>
                </a:p>
              </p:txBody>
            </p:sp>
          </mc:Choice>
          <mc:Fallback xmlns="">
            <p:sp>
              <p:nvSpPr>
                <p:cNvPr id="41990" name="Object 9">
                  <a:extLst>
                    <a:ext uri="{FF2B5EF4-FFF2-40B4-BE49-F238E27FC236}">
                      <a16:creationId xmlns:a16="http://schemas.microsoft.com/office/drawing/2014/main" id="{3A112B54-D9C8-485A-8112-62F6E5E6A7EF}"/>
                    </a:ext>
                  </a:extLst>
                </p:cNvPr>
                <p:cNvSpPr txBox="1">
                  <a:spLocks noRot="1" noChangeAspect="1" noMove="1" noResize="1" noEditPoints="1" noAdjustHandles="1" noChangeArrowheads="1" noChangeShapeType="1" noTextEdit="1"/>
                </p:cNvSpPr>
                <p:nvPr/>
              </p:nvSpPr>
              <p:spPr bwMode="auto">
                <a:xfrm>
                  <a:off x="4708" y="1688"/>
                  <a:ext cx="181" cy="252"/>
                </a:xfrm>
                <a:prstGeom prst="rect">
                  <a:avLst/>
                </a:prstGeom>
                <a:blipFill>
                  <a:blip r:embed="rId9"/>
                  <a:stretch>
                    <a:fillRect r="-1063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991" name="Object 10">
                  <a:extLst>
                    <a:ext uri="{FF2B5EF4-FFF2-40B4-BE49-F238E27FC236}">
                      <a16:creationId xmlns:a16="http://schemas.microsoft.com/office/drawing/2014/main" id="{B707BF44-E50B-4308-8AD9-B89A8739C578}"/>
                    </a:ext>
                  </a:extLst>
                </p:cNvPr>
                <p:cNvSpPr txBox="1"/>
                <p:nvPr/>
              </p:nvSpPr>
              <p:spPr bwMode="auto">
                <a:xfrm>
                  <a:off x="3413" y="1644"/>
                  <a:ext cx="279" cy="252"/>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−1</m:t>
                        </m:r>
                      </m:oMath>
                    </m:oMathPara>
                  </a14:m>
                  <a:endParaRPr lang="en-US" sz="2000" dirty="0"/>
                </a:p>
              </p:txBody>
            </p:sp>
          </mc:Choice>
          <mc:Fallback xmlns="">
            <p:sp>
              <p:nvSpPr>
                <p:cNvPr id="41991" name="Object 10">
                  <a:extLst>
                    <a:ext uri="{FF2B5EF4-FFF2-40B4-BE49-F238E27FC236}">
                      <a16:creationId xmlns:a16="http://schemas.microsoft.com/office/drawing/2014/main" id="{B707BF44-E50B-4308-8AD9-B89A8739C578}"/>
                    </a:ext>
                  </a:extLst>
                </p:cNvPr>
                <p:cNvSpPr txBox="1">
                  <a:spLocks noRot="1" noChangeAspect="1" noMove="1" noResize="1" noEditPoints="1" noAdjustHandles="1" noChangeArrowheads="1" noChangeShapeType="1" noTextEdit="1"/>
                </p:cNvSpPr>
                <p:nvPr/>
              </p:nvSpPr>
              <p:spPr bwMode="auto">
                <a:xfrm>
                  <a:off x="3413" y="1644"/>
                  <a:ext cx="279" cy="252"/>
                </a:xfrm>
                <a:prstGeom prst="rect">
                  <a:avLst/>
                </a:prstGeom>
                <a:blipFill>
                  <a:blip r:embed="rId10"/>
                  <a:stretch>
                    <a:fillRect r="-1506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992" name="Object 11">
                  <a:extLst>
                    <a:ext uri="{FF2B5EF4-FFF2-40B4-BE49-F238E27FC236}">
                      <a16:creationId xmlns:a16="http://schemas.microsoft.com/office/drawing/2014/main" id="{8E89DD71-58DA-446B-A929-78BB87B805DA}"/>
                    </a:ext>
                  </a:extLst>
                </p:cNvPr>
                <p:cNvSpPr txBox="1"/>
                <p:nvPr/>
              </p:nvSpPr>
              <p:spPr bwMode="auto">
                <a:xfrm>
                  <a:off x="4094" y="1648"/>
                  <a:ext cx="294" cy="252"/>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0</m:t>
                        </m:r>
                      </m:oMath>
                    </m:oMathPara>
                  </a14:m>
                  <a:endParaRPr lang="en-US" sz="2000" dirty="0"/>
                </a:p>
              </p:txBody>
            </p:sp>
          </mc:Choice>
          <mc:Fallback xmlns="">
            <p:sp>
              <p:nvSpPr>
                <p:cNvPr id="41992" name="Object 11">
                  <a:extLst>
                    <a:ext uri="{FF2B5EF4-FFF2-40B4-BE49-F238E27FC236}">
                      <a16:creationId xmlns:a16="http://schemas.microsoft.com/office/drawing/2014/main" id="{8E89DD71-58DA-446B-A929-78BB87B805DA}"/>
                    </a:ext>
                  </a:extLst>
                </p:cNvPr>
                <p:cNvSpPr txBox="1">
                  <a:spLocks noRot="1" noChangeAspect="1" noMove="1" noResize="1" noEditPoints="1" noAdjustHandles="1" noChangeArrowheads="1" noChangeShapeType="1" noTextEdit="1"/>
                </p:cNvSpPr>
                <p:nvPr/>
              </p:nvSpPr>
              <p:spPr bwMode="auto">
                <a:xfrm>
                  <a:off x="4094" y="1648"/>
                  <a:ext cx="294" cy="252"/>
                </a:xfrm>
                <a:prstGeom prst="rect">
                  <a:avLst/>
                </a:prstGeom>
                <a:blipFill>
                  <a:blip r:embed="rId11"/>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2004" name="Rectangle 50">
                <a:extLst>
                  <a:ext uri="{FF2B5EF4-FFF2-40B4-BE49-F238E27FC236}">
                    <a16:creationId xmlns:a16="http://schemas.microsoft.com/office/drawing/2014/main" id="{77EDD81B-6163-445E-8874-C30DD37AC1AE}"/>
                  </a:ext>
                </a:extLst>
              </p:cNvPr>
              <p:cNvSpPr>
                <a:spLocks noChangeArrowheads="1"/>
              </p:cNvSpPr>
              <p:nvPr/>
            </p:nvSpPr>
            <p:spPr bwMode="auto">
              <a:xfrm>
                <a:off x="3757625" y="3251676"/>
                <a:ext cx="4869995" cy="61388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func>
                      <m:funcPr>
                        <m:ctrlPr>
                          <a:rPr lang="en-US" sz="2400" i="1" smtClean="0">
                            <a:solidFill>
                              <a:schemeClr val="tx1"/>
                            </a:solidFill>
                            <a:latin typeface="Cambria Math" panose="02040503050406030204" pitchFamily="18" charset="0"/>
                          </a:rPr>
                        </m:ctrlPr>
                      </m:funcPr>
                      <m:fName>
                        <m:r>
                          <m:rPr>
                            <m:sty m:val="p"/>
                          </m:rPr>
                          <a:rPr lang="en-US" sz="2400" b="0" i="0">
                            <a:solidFill>
                              <a:schemeClr val="tx1"/>
                            </a:solidFill>
                            <a:latin typeface="Cambria Math" panose="02040503050406030204" pitchFamily="18" charset="0"/>
                          </a:rPr>
                          <m:t>cos</m:t>
                        </m:r>
                      </m:fName>
                      <m:e>
                        <m:sSub>
                          <m:sSubPr>
                            <m:ctrlPr>
                              <a:rPr lang="en-US" sz="2400" i="1">
                                <a:solidFill>
                                  <a:schemeClr val="tx1"/>
                                </a:solidFill>
                                <a:latin typeface="Cambria Math" panose="02040503050406030204" pitchFamily="18" charset="0"/>
                              </a:rPr>
                            </m:ctrlPr>
                          </m:sSubPr>
                          <m:e>
                            <m:r>
                              <a:rPr lang="en-US" sz="2400" b="0" i="1">
                                <a:solidFill>
                                  <a:schemeClr val="tx1"/>
                                </a:solidFill>
                                <a:latin typeface="Cambria Math" panose="02040503050406030204" pitchFamily="18" charset="0"/>
                              </a:rPr>
                              <m:t>𝜔</m:t>
                            </m:r>
                          </m:e>
                          <m:sub>
                            <m:r>
                              <a:rPr lang="en-US" sz="2400" b="0" i="1">
                                <a:solidFill>
                                  <a:schemeClr val="tx1"/>
                                </a:solidFill>
                                <a:latin typeface="Cambria Math" panose="02040503050406030204" pitchFamily="18" charset="0"/>
                              </a:rPr>
                              <m:t>0</m:t>
                            </m:r>
                          </m:sub>
                        </m:sSub>
                      </m:e>
                    </m:func>
                    <m:r>
                      <a:rPr lang="en-US" sz="2400" b="0" i="1">
                        <a:solidFill>
                          <a:schemeClr val="tx1"/>
                        </a:solidFill>
                        <a:latin typeface="Cambria Math" panose="02040503050406030204" pitchFamily="18" charset="0"/>
                      </a:rPr>
                      <m:t>𝑡</m:t>
                    </m:r>
                    <m:r>
                      <a:rPr lang="en-US" sz="2400" b="0" i="1">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b="0" i="1">
                            <a:solidFill>
                              <a:schemeClr val="tx1"/>
                            </a:solidFill>
                            <a:latin typeface="Cambria Math" panose="02040503050406030204" pitchFamily="18" charset="0"/>
                          </a:rPr>
                          <m:t>1</m:t>
                        </m:r>
                      </m:num>
                      <m:den>
                        <m:r>
                          <a:rPr lang="en-US" sz="2400" b="0" i="1">
                            <a:solidFill>
                              <a:schemeClr val="tx1"/>
                            </a:solidFill>
                            <a:latin typeface="Cambria Math" panose="02040503050406030204" pitchFamily="18" charset="0"/>
                          </a:rPr>
                          <m:t>2</m:t>
                        </m:r>
                      </m:den>
                    </m:f>
                    <m:r>
                      <a:rPr lang="en-US" sz="2400" b="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b="0" i="0">
                            <a:solidFill>
                              <a:schemeClr val="tx1"/>
                            </a:solidFill>
                            <a:latin typeface="Cambria Math" panose="02040503050406030204" pitchFamily="18" charset="0"/>
                          </a:rPr>
                          <m:t>e</m:t>
                        </m:r>
                      </m:e>
                      <m:sup>
                        <m:r>
                          <m:rPr>
                            <m:sty m:val="p"/>
                          </m:rPr>
                          <a:rPr lang="en-US" sz="2400" b="0" i="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b="0" i="1">
                                <a:solidFill>
                                  <a:schemeClr val="tx1"/>
                                </a:solidFill>
                                <a:latin typeface="Cambria Math" panose="02040503050406030204" pitchFamily="18" charset="0"/>
                              </a:rPr>
                              <m:t>𝜔</m:t>
                            </m:r>
                          </m:e>
                          <m:sub>
                            <m:r>
                              <a:rPr lang="en-US" sz="2400" b="0" i="1">
                                <a:solidFill>
                                  <a:schemeClr val="tx1"/>
                                </a:solidFill>
                                <a:latin typeface="Cambria Math" panose="02040503050406030204" pitchFamily="18" charset="0"/>
                              </a:rPr>
                              <m:t>0</m:t>
                            </m:r>
                          </m:sub>
                        </m:sSub>
                        <m:r>
                          <a:rPr lang="en-US" sz="2400" b="0" i="1">
                            <a:solidFill>
                              <a:schemeClr val="tx1"/>
                            </a:solidFill>
                            <a:latin typeface="Cambria Math" panose="02040503050406030204" pitchFamily="18" charset="0"/>
                          </a:rPr>
                          <m:t>𝑡</m:t>
                        </m:r>
                      </m:sup>
                    </m:sSup>
                    <m:r>
                      <a:rPr lang="en-US" sz="2400" b="0" i="1">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r>
                          <m:rPr>
                            <m:sty m:val="p"/>
                          </m:rPr>
                          <a:rPr lang="en-US" sz="2400" b="0" i="0">
                            <a:solidFill>
                              <a:schemeClr val="tx1"/>
                            </a:solidFill>
                            <a:latin typeface="Cambria Math" panose="02040503050406030204" pitchFamily="18" charset="0"/>
                          </a:rPr>
                          <m:t>e</m:t>
                        </m:r>
                      </m:e>
                      <m:sup>
                        <m:r>
                          <a:rPr lang="en-US" sz="2400" b="0" i="1">
                            <a:solidFill>
                              <a:schemeClr val="tx1"/>
                            </a:solidFill>
                            <a:latin typeface="Cambria Math" panose="02040503050406030204" pitchFamily="18" charset="0"/>
                          </a:rPr>
                          <m:t>−</m:t>
                        </m:r>
                        <m:r>
                          <m:rPr>
                            <m:sty m:val="p"/>
                          </m:rPr>
                          <a:rPr lang="en-US" sz="2400" b="0" i="0">
                            <a:solidFill>
                              <a:schemeClr val="tx1"/>
                            </a:solidFill>
                            <a:latin typeface="Cambria Math" panose="02040503050406030204" pitchFamily="18" charset="0"/>
                          </a:rPr>
                          <m:t>j</m:t>
                        </m:r>
                        <m:sSub>
                          <m:sSubPr>
                            <m:ctrlPr>
                              <a:rPr lang="en-US" sz="2400" i="1">
                                <a:solidFill>
                                  <a:schemeClr val="tx1"/>
                                </a:solidFill>
                                <a:latin typeface="Cambria Math" panose="02040503050406030204" pitchFamily="18" charset="0"/>
                              </a:rPr>
                            </m:ctrlPr>
                          </m:sSubPr>
                          <m:e>
                            <m:r>
                              <a:rPr lang="en-US" sz="2400" b="0" i="1">
                                <a:solidFill>
                                  <a:schemeClr val="tx1"/>
                                </a:solidFill>
                                <a:latin typeface="Cambria Math" panose="02040503050406030204" pitchFamily="18" charset="0"/>
                              </a:rPr>
                              <m:t>𝜔</m:t>
                            </m:r>
                          </m:e>
                          <m:sub>
                            <m:r>
                              <a:rPr lang="en-US" sz="2400" b="0" i="1">
                                <a:solidFill>
                                  <a:schemeClr val="tx1"/>
                                </a:solidFill>
                                <a:latin typeface="Cambria Math" panose="02040503050406030204" pitchFamily="18" charset="0"/>
                              </a:rPr>
                              <m:t>0</m:t>
                            </m:r>
                          </m:sub>
                        </m:sSub>
                        <m:r>
                          <a:rPr lang="en-US" sz="2400" b="0" i="1">
                            <a:solidFill>
                              <a:schemeClr val="tx1"/>
                            </a:solidFill>
                            <a:latin typeface="Cambria Math" panose="02040503050406030204" pitchFamily="18" charset="0"/>
                          </a:rPr>
                          <m:t>𝑡</m:t>
                        </m:r>
                      </m:sup>
                    </m:sSup>
                    <m:r>
                      <a:rPr lang="en-US" sz="2400" b="0" i="1">
                        <a:solidFill>
                          <a:schemeClr val="tx1"/>
                        </a:solidFill>
                        <a:latin typeface="Cambria Math" panose="02040503050406030204" pitchFamily="18" charset="0"/>
                      </a:rPr>
                      <m:t>)</m:t>
                    </m:r>
                  </m:oMath>
                </a14:m>
                <a:r>
                  <a:rPr lang="zh-CN" altLang="en-US" sz="2400" dirty="0">
                    <a:solidFill>
                      <a:schemeClr val="tx1"/>
                    </a:solidFill>
                    <a:latin typeface="Times New Roman" panose="02020603050405020304" pitchFamily="18" charset="0"/>
                    <a:ea typeface="华文楷体" panose="02010600040101010101" pitchFamily="2" charset="-122"/>
                    <a:cs typeface="楷体_GB2312" panose="02010609030101010101" pitchFamily="49" charset="-122"/>
                  </a:rPr>
                  <a:t>表示为</a:t>
                </a:r>
              </a:p>
            </p:txBody>
          </p:sp>
        </mc:Choice>
        <mc:Fallback xmlns="">
          <p:sp>
            <p:nvSpPr>
              <p:cNvPr id="42004" name="Rectangle 50">
                <a:extLst>
                  <a:ext uri="{FF2B5EF4-FFF2-40B4-BE49-F238E27FC236}">
                    <a16:creationId xmlns:a16="http://schemas.microsoft.com/office/drawing/2014/main" id="{77EDD81B-6163-445E-8874-C30DD37AC1AE}"/>
                  </a:ext>
                </a:extLst>
              </p:cNvPr>
              <p:cNvSpPr>
                <a:spLocks noRot="1" noChangeAspect="1" noMove="1" noResize="1" noEditPoints="1" noAdjustHandles="1" noChangeArrowheads="1" noChangeShapeType="1" noTextEdit="1"/>
              </p:cNvSpPr>
              <p:nvPr/>
            </p:nvSpPr>
            <p:spPr bwMode="auto">
              <a:xfrm>
                <a:off x="3757625" y="3251676"/>
                <a:ext cx="4869995" cy="613886"/>
              </a:xfrm>
              <a:prstGeom prst="rect">
                <a:avLst/>
              </a:prstGeom>
              <a:blipFill>
                <a:blip r:embed="rId12"/>
                <a:stretch>
                  <a:fillRect b="-1089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23" name="标题 1">
            <a:extLst>
              <a:ext uri="{FF2B5EF4-FFF2-40B4-BE49-F238E27FC236}">
                <a16:creationId xmlns:a16="http://schemas.microsoft.com/office/drawing/2014/main" id="{6200BA3B-3CCC-411A-AFAD-1E02171A2F13}"/>
              </a:ext>
            </a:extLst>
          </p:cNvPr>
          <p:cNvSpPr>
            <a:spLocks noGrp="1"/>
          </p:cNvSpPr>
          <p:nvPr>
            <p:ph type="title"/>
          </p:nvPr>
        </p:nvSpPr>
        <p:spPr/>
        <p:txBody>
          <a:bodyPr/>
          <a:lstStyle/>
          <a:p>
            <a:r>
              <a:rPr lang="en-US" altLang="zh-CN" sz="3200">
                <a:solidFill>
                  <a:srgbClr val="000000"/>
                </a:solidFill>
              </a:rPr>
              <a:t>3.3  </a:t>
            </a:r>
            <a:r>
              <a:rPr lang="zh-CN" altLang="en-US" sz="3200">
                <a:solidFill>
                  <a:srgbClr val="000000"/>
                </a:solidFill>
              </a:rPr>
              <a:t>连续时间周期信号的傅里叶级数表示</a:t>
            </a:r>
            <a:endParaRPr lang="zh-CN" altLang="en-US"/>
          </a:p>
        </p:txBody>
      </p:sp>
      <p:sp>
        <p:nvSpPr>
          <p:cNvPr id="43024" name="内容占位符 2">
            <a:extLst>
              <a:ext uri="{FF2B5EF4-FFF2-40B4-BE49-F238E27FC236}">
                <a16:creationId xmlns:a16="http://schemas.microsoft.com/office/drawing/2014/main" id="{0F110478-32FD-4EC7-9A33-AD7ADB604962}"/>
              </a:ext>
            </a:extLst>
          </p:cNvPr>
          <p:cNvSpPr>
            <a:spLocks noGrp="1"/>
          </p:cNvSpPr>
          <p:nvPr>
            <p:ph idx="1"/>
          </p:nvPr>
        </p:nvSpPr>
        <p:spPr>
          <a:xfrm>
            <a:off x="457200" y="1285875"/>
            <a:ext cx="8229600" cy="461665"/>
          </a:xfrm>
        </p:spPr>
        <p:txBody>
          <a:bodyPr>
            <a:spAutoFit/>
          </a:bodyPr>
          <a:lstStyle/>
          <a:p>
            <a:r>
              <a:rPr lang="zh-CN" altLang="en-US" sz="2400" b="0" dirty="0"/>
              <a:t>傅里叶级数</a:t>
            </a:r>
          </a:p>
        </p:txBody>
      </p:sp>
      <p:sp>
        <p:nvSpPr>
          <p:cNvPr id="4" name="灯片编号占位符 3">
            <a:extLst>
              <a:ext uri="{FF2B5EF4-FFF2-40B4-BE49-F238E27FC236}">
                <a16:creationId xmlns:a16="http://schemas.microsoft.com/office/drawing/2014/main" id="{DC2F2C10-6F7B-4733-A5CE-0E174DBF658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FD9350D-262B-4813-A4AB-C07EF7B7B7AE}" type="slidenum">
              <a:rPr lang="zh-CN" altLang="en-US">
                <a:solidFill>
                  <a:srgbClr val="898989"/>
                </a:solidFill>
                <a:latin typeface="Calibri" panose="020F0502020204030204" pitchFamily="34" charset="0"/>
              </a:rPr>
              <a:pPr eaLnBrk="1" hangingPunct="1"/>
              <a:t>16</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43010" name="Object 2">
                <a:extLst>
                  <a:ext uri="{FF2B5EF4-FFF2-40B4-BE49-F238E27FC236}">
                    <a16:creationId xmlns:a16="http://schemas.microsoft.com/office/drawing/2014/main" id="{5318C436-4E36-4239-8FC0-F39CD0DF2E59}"/>
                  </a:ext>
                </a:extLst>
              </p:cNvPr>
              <p:cNvSpPr txBox="1"/>
              <p:nvPr/>
            </p:nvSpPr>
            <p:spPr bwMode="auto">
              <a:xfrm>
                <a:off x="3170238" y="1460105"/>
                <a:ext cx="3062287" cy="1099340"/>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sub>
                        <m:sup>
                          <m:r>
                            <a:rPr lang="en-US" sz="2400" i="1">
                              <a:solidFill>
                                <a:srgbClr val="000000"/>
                              </a:solidFill>
                              <a:latin typeface="Cambria Math" panose="02040503050406030204" pitchFamily="18" charset="0"/>
                            </a:rPr>
                            <m:t>∞</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e>
                      </m:nary>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sup>
                      </m:sSup>
                    </m:oMath>
                  </m:oMathPara>
                </a14:m>
                <a:endParaRPr lang="en-US" sz="2400" dirty="0"/>
              </a:p>
            </p:txBody>
          </p:sp>
        </mc:Choice>
        <mc:Fallback xmlns="">
          <p:sp>
            <p:nvSpPr>
              <p:cNvPr id="43010" name="Object 2">
                <a:extLst>
                  <a:ext uri="{FF2B5EF4-FFF2-40B4-BE49-F238E27FC236}">
                    <a16:creationId xmlns:a16="http://schemas.microsoft.com/office/drawing/2014/main" id="{5318C436-4E36-4239-8FC0-F39CD0DF2E59}"/>
                  </a:ext>
                </a:extLst>
              </p:cNvPr>
              <p:cNvSpPr txBox="1">
                <a:spLocks noRot="1" noChangeAspect="1" noMove="1" noResize="1" noEditPoints="1" noAdjustHandles="1" noChangeArrowheads="1" noChangeShapeType="1" noTextEdit="1"/>
              </p:cNvSpPr>
              <p:nvPr/>
            </p:nvSpPr>
            <p:spPr bwMode="auto">
              <a:xfrm>
                <a:off x="3170238" y="1460105"/>
                <a:ext cx="3062287" cy="1099340"/>
              </a:xfrm>
              <a:prstGeom prst="rect">
                <a:avLst/>
              </a:prstGeom>
              <a:blipFill>
                <a:blip r:embed="rId2"/>
                <a:stretch>
                  <a:fillRect/>
                </a:stretch>
              </a:blipFill>
              <a:ln>
                <a:noFill/>
              </a:ln>
              <a:effectLst/>
            </p:spPr>
            <p:txBody>
              <a:bodyPr/>
              <a:lstStyle/>
              <a:p>
                <a:r>
                  <a:rPr lang="en-US">
                    <a:noFill/>
                  </a:rPr>
                  <a:t> </a:t>
                </a:r>
              </a:p>
            </p:txBody>
          </p:sp>
        </mc:Fallback>
      </mc:AlternateContent>
      <p:sp>
        <p:nvSpPr>
          <p:cNvPr id="59" name="文本框 58">
            <a:extLst>
              <a:ext uri="{FF2B5EF4-FFF2-40B4-BE49-F238E27FC236}">
                <a16:creationId xmlns:a16="http://schemas.microsoft.com/office/drawing/2014/main" id="{B3C7454F-E559-4D97-9C1B-DD41057D6936}"/>
              </a:ext>
            </a:extLst>
          </p:cNvPr>
          <p:cNvSpPr txBox="1"/>
          <p:nvPr/>
        </p:nvSpPr>
        <p:spPr>
          <a:xfrm>
            <a:off x="823912" y="5487989"/>
            <a:ext cx="7862888" cy="830997"/>
          </a:xfrm>
          <a:prstGeom prst="rect">
            <a:avLst/>
          </a:prstGeom>
          <a:noFill/>
        </p:spPr>
        <p:txBody>
          <a:bodyPr wrap="square">
            <a:spAutoFit/>
          </a:bodyPr>
          <a:lstStyle/>
          <a:p>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这样绘出的图称为</a:t>
            </a:r>
            <a:r>
              <a:rPr kumimoji="0" lang="zh-CN" alt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rPr>
              <a:t>频谱图（条线图）</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。这种表示信号的方法称为</a:t>
            </a:r>
            <a:r>
              <a:rPr kumimoji="0" lang="zh-CN" altLang="en-US" sz="2400" b="0" i="0" u="none" strike="noStrike" kern="1200" cap="none" spc="0" normalizeH="0" baseline="0" noProof="0" dirty="0">
                <a:ln>
                  <a:noFill/>
                </a:ln>
                <a:solidFill>
                  <a:srgbClr val="FF0000"/>
                </a:solidFill>
                <a:effectLst/>
                <a:uLnTx/>
                <a:uFillTx/>
                <a:latin typeface="Times New Roman" pitchFamily="18" charset="0"/>
                <a:ea typeface="华文楷体" pitchFamily="2" charset="-122"/>
                <a:cs typeface="+mn-cs"/>
              </a:rPr>
              <a:t>频域表示法</a:t>
            </a:r>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a:t>
            </a:r>
            <a:endParaRPr lang="en-US" dirty="0"/>
          </a:p>
        </p:txBody>
      </p:sp>
      <p:sp>
        <p:nvSpPr>
          <p:cNvPr id="63" name="文本框 62">
            <a:extLst>
              <a:ext uri="{FF2B5EF4-FFF2-40B4-BE49-F238E27FC236}">
                <a16:creationId xmlns:a16="http://schemas.microsoft.com/office/drawing/2014/main" id="{A4673028-146F-4CB9-8AB7-1818B2607996}"/>
              </a:ext>
            </a:extLst>
          </p:cNvPr>
          <p:cNvSpPr txBox="1"/>
          <p:nvPr/>
        </p:nvSpPr>
        <p:spPr>
          <a:xfrm>
            <a:off x="823912" y="2842864"/>
            <a:ext cx="1731863" cy="461665"/>
          </a:xfrm>
          <a:prstGeom prst="rect">
            <a:avLst/>
          </a:prstGeom>
          <a:noFill/>
        </p:spPr>
        <p:txBody>
          <a:bodyPr wrap="square">
            <a:spAutoFit/>
          </a:bodyPr>
          <a:lstStyle/>
          <a:p>
            <a:r>
              <a:rPr kumimoji="0" lang="zh-CN" altLang="en-US" sz="2400" b="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可以表示为</a:t>
            </a:r>
            <a:endParaRPr lang="en-US" dirty="0"/>
          </a:p>
        </p:txBody>
      </p:sp>
      <p:grpSp>
        <p:nvGrpSpPr>
          <p:cNvPr id="43036" name="组合 43035">
            <a:extLst>
              <a:ext uri="{FF2B5EF4-FFF2-40B4-BE49-F238E27FC236}">
                <a16:creationId xmlns:a16="http://schemas.microsoft.com/office/drawing/2014/main" id="{90FDF497-687D-4B25-A4BC-6826FBEF9D15}"/>
              </a:ext>
            </a:extLst>
          </p:cNvPr>
          <p:cNvGrpSpPr/>
          <p:nvPr/>
        </p:nvGrpSpPr>
        <p:grpSpPr>
          <a:xfrm>
            <a:off x="1550154" y="3226200"/>
            <a:ext cx="4320000" cy="2144711"/>
            <a:chOff x="2555776" y="3183585"/>
            <a:chExt cx="4320000" cy="2144711"/>
          </a:xfrm>
        </p:grpSpPr>
        <mc:AlternateContent xmlns:mc="http://schemas.openxmlformats.org/markup-compatibility/2006" xmlns:a14="http://schemas.microsoft.com/office/drawing/2010/main">
          <mc:Choice Requires="a14">
            <p:sp>
              <p:nvSpPr>
                <p:cNvPr id="43011" name="Object 3">
                  <a:extLst>
                    <a:ext uri="{FF2B5EF4-FFF2-40B4-BE49-F238E27FC236}">
                      <a16:creationId xmlns:a16="http://schemas.microsoft.com/office/drawing/2014/main" id="{31DAB85C-E293-436F-B884-C6AC2BC187D1}"/>
                    </a:ext>
                  </a:extLst>
                </p:cNvPr>
                <p:cNvSpPr txBox="1"/>
                <p:nvPr/>
              </p:nvSpPr>
              <p:spPr bwMode="auto">
                <a:xfrm>
                  <a:off x="4892254" y="4890146"/>
                  <a:ext cx="309563" cy="4381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43011" name="Object 3">
                  <a:extLst>
                    <a:ext uri="{FF2B5EF4-FFF2-40B4-BE49-F238E27FC236}">
                      <a16:creationId xmlns:a16="http://schemas.microsoft.com/office/drawing/2014/main" id="{31DAB85C-E293-436F-B884-C6AC2BC187D1}"/>
                    </a:ext>
                  </a:extLst>
                </p:cNvPr>
                <p:cNvSpPr txBox="1">
                  <a:spLocks noRot="1" noChangeAspect="1" noMove="1" noResize="1" noEditPoints="1" noAdjustHandles="1" noChangeArrowheads="1" noChangeShapeType="1" noTextEdit="1"/>
                </p:cNvSpPr>
                <p:nvPr/>
              </p:nvSpPr>
              <p:spPr bwMode="auto">
                <a:xfrm>
                  <a:off x="4892254" y="4890146"/>
                  <a:ext cx="309563" cy="438150"/>
                </a:xfrm>
                <a:prstGeom prst="rect">
                  <a:avLst/>
                </a:prstGeom>
                <a:blipFill>
                  <a:blip r:embed="rId3"/>
                  <a:stretch>
                    <a:fillRect l="-6000" r="-20000" b="-277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012" name="Object 4">
                  <a:extLst>
                    <a:ext uri="{FF2B5EF4-FFF2-40B4-BE49-F238E27FC236}">
                      <a16:creationId xmlns:a16="http://schemas.microsoft.com/office/drawing/2014/main" id="{C23ACCE0-5233-4060-B0E4-90F9F09724EF}"/>
                    </a:ext>
                  </a:extLst>
                </p:cNvPr>
                <p:cNvSpPr txBox="1"/>
                <p:nvPr/>
              </p:nvSpPr>
              <p:spPr bwMode="auto">
                <a:xfrm>
                  <a:off x="3981029" y="4893321"/>
                  <a:ext cx="439738" cy="381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43012" name="Object 4">
                  <a:extLst>
                    <a:ext uri="{FF2B5EF4-FFF2-40B4-BE49-F238E27FC236}">
                      <a16:creationId xmlns:a16="http://schemas.microsoft.com/office/drawing/2014/main" id="{C23ACCE0-5233-4060-B0E4-90F9F09724EF}"/>
                    </a:ext>
                  </a:extLst>
                </p:cNvPr>
                <p:cNvSpPr txBox="1">
                  <a:spLocks noRot="1" noChangeAspect="1" noMove="1" noResize="1" noEditPoints="1" noAdjustHandles="1" noChangeArrowheads="1" noChangeShapeType="1" noTextEdit="1"/>
                </p:cNvSpPr>
                <p:nvPr/>
              </p:nvSpPr>
              <p:spPr bwMode="auto">
                <a:xfrm>
                  <a:off x="3981029" y="4893321"/>
                  <a:ext cx="439738" cy="381000"/>
                </a:xfrm>
                <a:prstGeom prst="rect">
                  <a:avLst/>
                </a:prstGeom>
                <a:blipFill>
                  <a:blip r:embed="rId4"/>
                  <a:stretch>
                    <a:fillRect r="-36111" b="-1935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013" name="Object 5">
                  <a:extLst>
                    <a:ext uri="{FF2B5EF4-FFF2-40B4-BE49-F238E27FC236}">
                      <a16:creationId xmlns:a16="http://schemas.microsoft.com/office/drawing/2014/main" id="{C7FF8287-D189-4499-8814-CEFD778A6B61}"/>
                    </a:ext>
                  </a:extLst>
                </p:cNvPr>
                <p:cNvSpPr txBox="1"/>
                <p:nvPr/>
              </p:nvSpPr>
              <p:spPr bwMode="auto">
                <a:xfrm>
                  <a:off x="4427116" y="3183585"/>
                  <a:ext cx="504825" cy="5715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0</m:t>
                            </m:r>
                          </m:sub>
                        </m:sSub>
                      </m:oMath>
                    </m:oMathPara>
                  </a14:m>
                  <a:endParaRPr lang="en-US" sz="2400" dirty="0"/>
                </a:p>
              </p:txBody>
            </p:sp>
          </mc:Choice>
          <mc:Fallback xmlns="">
            <p:sp>
              <p:nvSpPr>
                <p:cNvPr id="43013" name="Object 5">
                  <a:extLst>
                    <a:ext uri="{FF2B5EF4-FFF2-40B4-BE49-F238E27FC236}">
                      <a16:creationId xmlns:a16="http://schemas.microsoft.com/office/drawing/2014/main" id="{C7FF8287-D189-4499-8814-CEFD778A6B61}"/>
                    </a:ext>
                  </a:extLst>
                </p:cNvPr>
                <p:cNvSpPr txBox="1">
                  <a:spLocks noRot="1" noChangeAspect="1" noMove="1" noResize="1" noEditPoints="1" noAdjustHandles="1" noChangeArrowheads="1" noChangeShapeType="1" noTextEdit="1"/>
                </p:cNvSpPr>
                <p:nvPr/>
              </p:nvSpPr>
              <p:spPr bwMode="auto">
                <a:xfrm>
                  <a:off x="4427116" y="3183585"/>
                  <a:ext cx="504825" cy="571500"/>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014" name="Object 6">
                  <a:extLst>
                    <a:ext uri="{FF2B5EF4-FFF2-40B4-BE49-F238E27FC236}">
                      <a16:creationId xmlns:a16="http://schemas.microsoft.com/office/drawing/2014/main" id="{937A80BD-B9B2-4F8E-97EE-775FC19F3E02}"/>
                    </a:ext>
                  </a:extLst>
                </p:cNvPr>
                <p:cNvSpPr txBox="1"/>
                <p:nvPr/>
              </p:nvSpPr>
              <p:spPr bwMode="auto">
                <a:xfrm>
                  <a:off x="4795416" y="3539185"/>
                  <a:ext cx="355600" cy="5048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1</m:t>
                            </m:r>
                          </m:sub>
                        </m:sSub>
                      </m:oMath>
                    </m:oMathPara>
                  </a14:m>
                  <a:endParaRPr lang="en-US" sz="2400" dirty="0"/>
                </a:p>
              </p:txBody>
            </p:sp>
          </mc:Choice>
          <mc:Fallback xmlns="">
            <p:sp>
              <p:nvSpPr>
                <p:cNvPr id="43014" name="Object 6">
                  <a:extLst>
                    <a:ext uri="{FF2B5EF4-FFF2-40B4-BE49-F238E27FC236}">
                      <a16:creationId xmlns:a16="http://schemas.microsoft.com/office/drawing/2014/main" id="{937A80BD-B9B2-4F8E-97EE-775FC19F3E02}"/>
                    </a:ext>
                  </a:extLst>
                </p:cNvPr>
                <p:cNvSpPr txBox="1">
                  <a:spLocks noRot="1" noChangeAspect="1" noMove="1" noResize="1" noEditPoints="1" noAdjustHandles="1" noChangeArrowheads="1" noChangeShapeType="1" noTextEdit="1"/>
                </p:cNvSpPr>
                <p:nvPr/>
              </p:nvSpPr>
              <p:spPr bwMode="auto">
                <a:xfrm>
                  <a:off x="4795416" y="3539185"/>
                  <a:ext cx="355600" cy="504825"/>
                </a:xfrm>
                <a:prstGeom prst="rect">
                  <a:avLst/>
                </a:prstGeom>
                <a:blipFill>
                  <a:blip r:embed="rId6"/>
                  <a:stretch>
                    <a:fillRect r="-2931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015" name="Object 7">
                  <a:extLst>
                    <a:ext uri="{FF2B5EF4-FFF2-40B4-BE49-F238E27FC236}">
                      <a16:creationId xmlns:a16="http://schemas.microsoft.com/office/drawing/2014/main" id="{6F17BA0B-5273-4F96-AC7C-3D4C29E1E659}"/>
                    </a:ext>
                  </a:extLst>
                </p:cNvPr>
                <p:cNvSpPr txBox="1"/>
                <p:nvPr/>
              </p:nvSpPr>
              <p:spPr bwMode="auto">
                <a:xfrm>
                  <a:off x="5174829" y="3936059"/>
                  <a:ext cx="385763" cy="5032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43015" name="Object 7">
                  <a:extLst>
                    <a:ext uri="{FF2B5EF4-FFF2-40B4-BE49-F238E27FC236}">
                      <a16:creationId xmlns:a16="http://schemas.microsoft.com/office/drawing/2014/main" id="{6F17BA0B-5273-4F96-AC7C-3D4C29E1E659}"/>
                    </a:ext>
                  </a:extLst>
                </p:cNvPr>
                <p:cNvSpPr txBox="1">
                  <a:spLocks noRot="1" noChangeAspect="1" noMove="1" noResize="1" noEditPoints="1" noAdjustHandles="1" noChangeArrowheads="1" noChangeShapeType="1" noTextEdit="1"/>
                </p:cNvSpPr>
                <p:nvPr/>
              </p:nvSpPr>
              <p:spPr bwMode="auto">
                <a:xfrm>
                  <a:off x="5174829" y="3936059"/>
                  <a:ext cx="385763" cy="503237"/>
                </a:xfrm>
                <a:prstGeom prst="rect">
                  <a:avLst/>
                </a:prstGeom>
                <a:blipFill>
                  <a:blip r:embed="rId7"/>
                  <a:stretch>
                    <a:fillRect r="-2063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016" name="Object 8">
                  <a:extLst>
                    <a:ext uri="{FF2B5EF4-FFF2-40B4-BE49-F238E27FC236}">
                      <a16:creationId xmlns:a16="http://schemas.microsoft.com/office/drawing/2014/main" id="{74864653-1FE2-4672-A749-91A991FF4AD9}"/>
                    </a:ext>
                  </a:extLst>
                </p:cNvPr>
                <p:cNvSpPr txBox="1"/>
                <p:nvPr/>
              </p:nvSpPr>
              <p:spPr bwMode="auto">
                <a:xfrm>
                  <a:off x="5454229" y="4207522"/>
                  <a:ext cx="415925" cy="57626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3</m:t>
                            </m:r>
                          </m:sub>
                        </m:sSub>
                      </m:oMath>
                    </m:oMathPara>
                  </a14:m>
                  <a:endParaRPr lang="en-US" sz="2400" dirty="0"/>
                </a:p>
              </p:txBody>
            </p:sp>
          </mc:Choice>
          <mc:Fallback xmlns="">
            <p:sp>
              <p:nvSpPr>
                <p:cNvPr id="43016" name="Object 8">
                  <a:extLst>
                    <a:ext uri="{FF2B5EF4-FFF2-40B4-BE49-F238E27FC236}">
                      <a16:creationId xmlns:a16="http://schemas.microsoft.com/office/drawing/2014/main" id="{74864653-1FE2-4672-A749-91A991FF4AD9}"/>
                    </a:ext>
                  </a:extLst>
                </p:cNvPr>
                <p:cNvSpPr txBox="1">
                  <a:spLocks noRot="1" noChangeAspect="1" noMove="1" noResize="1" noEditPoints="1" noAdjustHandles="1" noChangeArrowheads="1" noChangeShapeType="1" noTextEdit="1"/>
                </p:cNvSpPr>
                <p:nvPr/>
              </p:nvSpPr>
              <p:spPr bwMode="auto">
                <a:xfrm>
                  <a:off x="5454229" y="4207522"/>
                  <a:ext cx="415925" cy="576262"/>
                </a:xfrm>
                <a:prstGeom prst="rect">
                  <a:avLst/>
                </a:prstGeom>
                <a:blipFill>
                  <a:blip r:embed="rId8"/>
                  <a:stretch>
                    <a:fillRect r="-1176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017" name="Object 9">
                  <a:extLst>
                    <a:ext uri="{FF2B5EF4-FFF2-40B4-BE49-F238E27FC236}">
                      <a16:creationId xmlns:a16="http://schemas.microsoft.com/office/drawing/2014/main" id="{2796E411-E471-4EF0-AEC1-92AE86462FE7}"/>
                    </a:ext>
                  </a:extLst>
                </p:cNvPr>
                <p:cNvSpPr txBox="1"/>
                <p:nvPr/>
              </p:nvSpPr>
              <p:spPr bwMode="auto">
                <a:xfrm>
                  <a:off x="3311104" y="4196409"/>
                  <a:ext cx="452438" cy="5318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−3</m:t>
                            </m:r>
                          </m:sub>
                        </m:sSub>
                      </m:oMath>
                    </m:oMathPara>
                  </a14:m>
                  <a:endParaRPr lang="en-US" sz="2400" dirty="0"/>
                </a:p>
              </p:txBody>
            </p:sp>
          </mc:Choice>
          <mc:Fallback xmlns="">
            <p:sp>
              <p:nvSpPr>
                <p:cNvPr id="43017" name="Object 9">
                  <a:extLst>
                    <a:ext uri="{FF2B5EF4-FFF2-40B4-BE49-F238E27FC236}">
                      <a16:creationId xmlns:a16="http://schemas.microsoft.com/office/drawing/2014/main" id="{2796E411-E471-4EF0-AEC1-92AE86462FE7}"/>
                    </a:ext>
                  </a:extLst>
                </p:cNvPr>
                <p:cNvSpPr txBox="1">
                  <a:spLocks noRot="1" noChangeAspect="1" noMove="1" noResize="1" noEditPoints="1" noAdjustHandles="1" noChangeArrowheads="1" noChangeShapeType="1" noTextEdit="1"/>
                </p:cNvSpPr>
                <p:nvPr/>
              </p:nvSpPr>
              <p:spPr bwMode="auto">
                <a:xfrm>
                  <a:off x="3311104" y="4196409"/>
                  <a:ext cx="452438" cy="531812"/>
                </a:xfrm>
                <a:prstGeom prst="rect">
                  <a:avLst/>
                </a:prstGeom>
                <a:blipFill>
                  <a:blip r:embed="rId9"/>
                  <a:stretch>
                    <a:fillRect r="-39189"/>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018" name="Object 10">
                  <a:extLst>
                    <a:ext uri="{FF2B5EF4-FFF2-40B4-BE49-F238E27FC236}">
                      <a16:creationId xmlns:a16="http://schemas.microsoft.com/office/drawing/2014/main" id="{1C727AAF-C42D-4B91-A71A-E67F8BE93BA5}"/>
                    </a:ext>
                  </a:extLst>
                </p:cNvPr>
                <p:cNvSpPr txBox="1"/>
                <p:nvPr/>
              </p:nvSpPr>
              <p:spPr bwMode="auto">
                <a:xfrm>
                  <a:off x="3655591" y="3956697"/>
                  <a:ext cx="431800" cy="4318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−2</m:t>
                            </m:r>
                          </m:sub>
                        </m:sSub>
                      </m:oMath>
                    </m:oMathPara>
                  </a14:m>
                  <a:endParaRPr lang="en-US" sz="2400" dirty="0"/>
                </a:p>
              </p:txBody>
            </p:sp>
          </mc:Choice>
          <mc:Fallback xmlns="">
            <p:sp>
              <p:nvSpPr>
                <p:cNvPr id="43018" name="Object 10">
                  <a:extLst>
                    <a:ext uri="{FF2B5EF4-FFF2-40B4-BE49-F238E27FC236}">
                      <a16:creationId xmlns:a16="http://schemas.microsoft.com/office/drawing/2014/main" id="{1C727AAF-C42D-4B91-A71A-E67F8BE93BA5}"/>
                    </a:ext>
                  </a:extLst>
                </p:cNvPr>
                <p:cNvSpPr txBox="1">
                  <a:spLocks noRot="1" noChangeAspect="1" noMove="1" noResize="1" noEditPoints="1" noAdjustHandles="1" noChangeArrowheads="1" noChangeShapeType="1" noTextEdit="1"/>
                </p:cNvSpPr>
                <p:nvPr/>
              </p:nvSpPr>
              <p:spPr bwMode="auto">
                <a:xfrm>
                  <a:off x="3655591" y="3956697"/>
                  <a:ext cx="431800" cy="431800"/>
                </a:xfrm>
                <a:prstGeom prst="rect">
                  <a:avLst/>
                </a:prstGeom>
                <a:blipFill>
                  <a:blip r:embed="rId10"/>
                  <a:stretch>
                    <a:fillRect r="-45070" b="-11268"/>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019" name="Object 11">
                  <a:extLst>
                    <a:ext uri="{FF2B5EF4-FFF2-40B4-BE49-F238E27FC236}">
                      <a16:creationId xmlns:a16="http://schemas.microsoft.com/office/drawing/2014/main" id="{8D0BDBFF-9FF8-4632-B808-16509218E973}"/>
                    </a:ext>
                  </a:extLst>
                </p:cNvPr>
                <p:cNvSpPr txBox="1"/>
                <p:nvPr/>
              </p:nvSpPr>
              <p:spPr bwMode="auto">
                <a:xfrm>
                  <a:off x="4003254" y="3589985"/>
                  <a:ext cx="501650" cy="5016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−1</m:t>
                            </m:r>
                          </m:sub>
                        </m:sSub>
                      </m:oMath>
                    </m:oMathPara>
                  </a14:m>
                  <a:endParaRPr lang="en-US" sz="2400"/>
                </a:p>
              </p:txBody>
            </p:sp>
          </mc:Choice>
          <mc:Fallback xmlns="">
            <p:sp>
              <p:nvSpPr>
                <p:cNvPr id="43019" name="Object 11">
                  <a:extLst>
                    <a:ext uri="{FF2B5EF4-FFF2-40B4-BE49-F238E27FC236}">
                      <a16:creationId xmlns:a16="http://schemas.microsoft.com/office/drawing/2014/main" id="{8D0BDBFF-9FF8-4632-B808-16509218E973}"/>
                    </a:ext>
                  </a:extLst>
                </p:cNvPr>
                <p:cNvSpPr txBox="1">
                  <a:spLocks noRot="1" noChangeAspect="1" noMove="1" noResize="1" noEditPoints="1" noAdjustHandles="1" noChangeArrowheads="1" noChangeShapeType="1" noTextEdit="1"/>
                </p:cNvSpPr>
                <p:nvPr/>
              </p:nvSpPr>
              <p:spPr bwMode="auto">
                <a:xfrm>
                  <a:off x="4003254" y="3589985"/>
                  <a:ext cx="501650" cy="501650"/>
                </a:xfrm>
                <a:prstGeom prst="rect">
                  <a:avLst/>
                </a:prstGeom>
                <a:blipFill>
                  <a:blip r:embed="rId11"/>
                  <a:stretch>
                    <a:fillRect r="-2561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020" name="Object 12">
                  <a:extLst>
                    <a:ext uri="{FF2B5EF4-FFF2-40B4-BE49-F238E27FC236}">
                      <a16:creationId xmlns:a16="http://schemas.microsoft.com/office/drawing/2014/main" id="{AC547957-A27E-4016-91C4-C70B4113C705}"/>
                    </a:ext>
                  </a:extLst>
                </p:cNvPr>
                <p:cNvSpPr txBox="1"/>
                <p:nvPr/>
              </p:nvSpPr>
              <p:spPr bwMode="auto">
                <a:xfrm>
                  <a:off x="6517215" y="4435680"/>
                  <a:ext cx="309563" cy="43338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𝑘</m:t>
                        </m:r>
                      </m:oMath>
                    </m:oMathPara>
                  </a14:m>
                  <a:endParaRPr lang="en-US" sz="2400" dirty="0"/>
                </a:p>
              </p:txBody>
            </p:sp>
          </mc:Choice>
          <mc:Fallback xmlns="">
            <p:sp>
              <p:nvSpPr>
                <p:cNvPr id="43020" name="Object 12">
                  <a:extLst>
                    <a:ext uri="{FF2B5EF4-FFF2-40B4-BE49-F238E27FC236}">
                      <a16:creationId xmlns:a16="http://schemas.microsoft.com/office/drawing/2014/main" id="{AC547957-A27E-4016-91C4-C70B4113C705}"/>
                    </a:ext>
                  </a:extLst>
                </p:cNvPr>
                <p:cNvSpPr txBox="1">
                  <a:spLocks noRot="1" noChangeAspect="1" noMove="1" noResize="1" noEditPoints="1" noAdjustHandles="1" noChangeArrowheads="1" noChangeShapeType="1" noTextEdit="1"/>
                </p:cNvSpPr>
                <p:nvPr/>
              </p:nvSpPr>
              <p:spPr bwMode="auto">
                <a:xfrm>
                  <a:off x="6517215" y="4435680"/>
                  <a:ext cx="309563" cy="433387"/>
                </a:xfrm>
                <a:prstGeom prst="rect">
                  <a:avLst/>
                </a:prstGeom>
                <a:blipFill>
                  <a:blip r:embed="rId12"/>
                  <a:stretch>
                    <a:fillRect l="-5882" r="-19608" b="-4225"/>
                  </a:stretch>
                </a:blipFill>
                <a:ln>
                  <a:noFill/>
                </a:ln>
                <a:effectLst/>
              </p:spPr>
              <p:txBody>
                <a:bodyPr/>
                <a:lstStyle/>
                <a:p>
                  <a:r>
                    <a:rPr lang="en-US">
                      <a:noFill/>
                    </a:rPr>
                    <a:t> </a:t>
                  </a:r>
                </a:p>
              </p:txBody>
            </p:sp>
          </mc:Fallback>
        </mc:AlternateContent>
        <p:sp>
          <p:nvSpPr>
            <p:cNvPr id="43027" name="Line 38">
              <a:extLst>
                <a:ext uri="{FF2B5EF4-FFF2-40B4-BE49-F238E27FC236}">
                  <a16:creationId xmlns:a16="http://schemas.microsoft.com/office/drawing/2014/main" id="{4D705487-37AC-46A3-AAEF-BF0368337017}"/>
                </a:ext>
              </a:extLst>
            </p:cNvPr>
            <p:cNvSpPr>
              <a:spLocks noChangeShapeType="1"/>
            </p:cNvSpPr>
            <p:nvPr/>
          </p:nvSpPr>
          <p:spPr bwMode="auto">
            <a:xfrm>
              <a:off x="2555776" y="4883796"/>
              <a:ext cx="43200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p:sp>
          <p:nvSpPr>
            <p:cNvPr id="43028" name="Line 39">
              <a:extLst>
                <a:ext uri="{FF2B5EF4-FFF2-40B4-BE49-F238E27FC236}">
                  <a16:creationId xmlns:a16="http://schemas.microsoft.com/office/drawing/2014/main" id="{FA8F6E81-207A-433E-98DC-125E4DC42641}"/>
                </a:ext>
              </a:extLst>
            </p:cNvPr>
            <p:cNvSpPr>
              <a:spLocks noChangeShapeType="1"/>
            </p:cNvSpPr>
            <p:nvPr/>
          </p:nvSpPr>
          <p:spPr bwMode="auto">
            <a:xfrm>
              <a:off x="4639841" y="3807472"/>
              <a:ext cx="0" cy="10667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43029" name="Line 40">
              <a:extLst>
                <a:ext uri="{FF2B5EF4-FFF2-40B4-BE49-F238E27FC236}">
                  <a16:creationId xmlns:a16="http://schemas.microsoft.com/office/drawing/2014/main" id="{D4628AB4-1705-4F82-8333-92A684B342BD}"/>
                </a:ext>
              </a:extLst>
            </p:cNvPr>
            <p:cNvSpPr>
              <a:spLocks noChangeShapeType="1"/>
            </p:cNvSpPr>
            <p:nvPr/>
          </p:nvSpPr>
          <p:spPr bwMode="auto">
            <a:xfrm>
              <a:off x="4987504" y="4036072"/>
              <a:ext cx="0" cy="8381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43030" name="Line 41">
              <a:extLst>
                <a:ext uri="{FF2B5EF4-FFF2-40B4-BE49-F238E27FC236}">
                  <a16:creationId xmlns:a16="http://schemas.microsoft.com/office/drawing/2014/main" id="{DE919EDD-CFC1-4559-9B16-48E7C13A8EF3}"/>
                </a:ext>
              </a:extLst>
            </p:cNvPr>
            <p:cNvSpPr>
              <a:spLocks noChangeShapeType="1"/>
            </p:cNvSpPr>
            <p:nvPr/>
          </p:nvSpPr>
          <p:spPr bwMode="auto">
            <a:xfrm>
              <a:off x="4287416" y="4021784"/>
              <a:ext cx="0" cy="83819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43031" name="Line 42">
              <a:extLst>
                <a:ext uri="{FF2B5EF4-FFF2-40B4-BE49-F238E27FC236}">
                  <a16:creationId xmlns:a16="http://schemas.microsoft.com/office/drawing/2014/main" id="{4981F7CE-4883-4C1D-B347-638FCE72F75F}"/>
                </a:ext>
              </a:extLst>
            </p:cNvPr>
            <p:cNvSpPr>
              <a:spLocks noChangeShapeType="1"/>
            </p:cNvSpPr>
            <p:nvPr/>
          </p:nvSpPr>
          <p:spPr bwMode="auto">
            <a:xfrm>
              <a:off x="5339929" y="4417072"/>
              <a:ext cx="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43032" name="Line 43">
              <a:extLst>
                <a:ext uri="{FF2B5EF4-FFF2-40B4-BE49-F238E27FC236}">
                  <a16:creationId xmlns:a16="http://schemas.microsoft.com/office/drawing/2014/main" id="{A85D3288-5880-4A7B-BCB0-F5063AF9D32B}"/>
                </a:ext>
              </a:extLst>
            </p:cNvPr>
            <p:cNvSpPr>
              <a:spLocks noChangeShapeType="1"/>
            </p:cNvSpPr>
            <p:nvPr/>
          </p:nvSpPr>
          <p:spPr bwMode="auto">
            <a:xfrm>
              <a:off x="3934991" y="4402784"/>
              <a:ext cx="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43033" name="Line 44">
              <a:extLst>
                <a:ext uri="{FF2B5EF4-FFF2-40B4-BE49-F238E27FC236}">
                  <a16:creationId xmlns:a16="http://schemas.microsoft.com/office/drawing/2014/main" id="{2B4318FF-B824-4A53-8B44-A0C0DE95724D}"/>
                </a:ext>
              </a:extLst>
            </p:cNvPr>
            <p:cNvSpPr>
              <a:spLocks noChangeShapeType="1"/>
            </p:cNvSpPr>
            <p:nvPr/>
          </p:nvSpPr>
          <p:spPr bwMode="auto">
            <a:xfrm>
              <a:off x="5659016" y="4631384"/>
              <a:ext cx="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43034" name="Line 45">
              <a:extLst>
                <a:ext uri="{FF2B5EF4-FFF2-40B4-BE49-F238E27FC236}">
                  <a16:creationId xmlns:a16="http://schemas.microsoft.com/office/drawing/2014/main" id="{015A7060-B15E-42BA-8F7A-44176517E79E}"/>
                </a:ext>
              </a:extLst>
            </p:cNvPr>
            <p:cNvSpPr>
              <a:spLocks noChangeShapeType="1"/>
            </p:cNvSpPr>
            <p:nvPr/>
          </p:nvSpPr>
          <p:spPr bwMode="auto">
            <a:xfrm>
              <a:off x="3601616" y="4640909"/>
              <a:ext cx="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400"/>
            </a:p>
          </p:txBody>
        </p: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A2C63D42-B7EF-41F0-9259-3680FFAB38C6}"/>
                    </a:ext>
                  </a:extLst>
                </p:cNvPr>
                <p:cNvSpPr txBox="1"/>
                <p:nvPr/>
              </p:nvSpPr>
              <p:spPr>
                <a:xfrm>
                  <a:off x="5914241" y="4433499"/>
                  <a:ext cx="56028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m:t>
                        </m:r>
                        <m:r>
                          <a:rPr lang="en-US" sz="2400" i="0">
                            <a:latin typeface="Cambria Math" panose="02040503050406030204" pitchFamily="18" charset="0"/>
                          </a:rPr>
                          <m:t>···</m:t>
                        </m:r>
                      </m:oMath>
                    </m:oMathPara>
                  </a14:m>
                  <a:endParaRPr lang="en-US" sz="2400" dirty="0"/>
                </a:p>
              </p:txBody>
            </p:sp>
          </mc:Choice>
          <mc:Fallback xmlns="">
            <p:sp>
              <p:nvSpPr>
                <p:cNvPr id="65" name="文本框 64">
                  <a:extLst>
                    <a:ext uri="{FF2B5EF4-FFF2-40B4-BE49-F238E27FC236}">
                      <a16:creationId xmlns:a16="http://schemas.microsoft.com/office/drawing/2014/main" id="{A2C63D42-B7EF-41F0-9259-3680FFAB38C6}"/>
                    </a:ext>
                  </a:extLst>
                </p:cNvPr>
                <p:cNvSpPr txBox="1">
                  <a:spLocks noRot="1" noChangeAspect="1" noMove="1" noResize="1" noEditPoints="1" noAdjustHandles="1" noChangeArrowheads="1" noChangeShapeType="1" noTextEdit="1"/>
                </p:cNvSpPr>
                <p:nvPr/>
              </p:nvSpPr>
              <p:spPr>
                <a:xfrm>
                  <a:off x="5914241" y="4433499"/>
                  <a:ext cx="560287"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ACD92113-8212-45E0-AA73-96379BFD53D9}"/>
                    </a:ext>
                  </a:extLst>
                </p:cNvPr>
                <p:cNvSpPr txBox="1"/>
                <p:nvPr/>
              </p:nvSpPr>
              <p:spPr>
                <a:xfrm>
                  <a:off x="2748559" y="4431656"/>
                  <a:ext cx="56028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m:t>
                        </m:r>
                        <m:r>
                          <a:rPr lang="en-US" sz="2400" i="0">
                            <a:latin typeface="Cambria Math" panose="02040503050406030204" pitchFamily="18" charset="0"/>
                          </a:rPr>
                          <m:t>···</m:t>
                        </m:r>
                      </m:oMath>
                    </m:oMathPara>
                  </a14:m>
                  <a:endParaRPr lang="en-US" sz="2400" dirty="0"/>
                </a:p>
              </p:txBody>
            </p:sp>
          </mc:Choice>
          <mc:Fallback xmlns="">
            <p:sp>
              <p:nvSpPr>
                <p:cNvPr id="66" name="文本框 65">
                  <a:extLst>
                    <a:ext uri="{FF2B5EF4-FFF2-40B4-BE49-F238E27FC236}">
                      <a16:creationId xmlns:a16="http://schemas.microsoft.com/office/drawing/2014/main" id="{ACD92113-8212-45E0-AA73-96379BFD53D9}"/>
                    </a:ext>
                  </a:extLst>
                </p:cNvPr>
                <p:cNvSpPr txBox="1">
                  <a:spLocks noRot="1" noChangeAspect="1" noMove="1" noResize="1" noEditPoints="1" noAdjustHandles="1" noChangeArrowheads="1" noChangeShapeType="1" noTextEdit="1"/>
                </p:cNvSpPr>
                <p:nvPr/>
              </p:nvSpPr>
              <p:spPr>
                <a:xfrm>
                  <a:off x="2748559" y="4431656"/>
                  <a:ext cx="560287" cy="461665"/>
                </a:xfrm>
                <a:prstGeom prst="rect">
                  <a:avLst/>
                </a:prstGeom>
                <a:blipFill>
                  <a:blip r:embed="rId1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8" name="Object 2">
                <a:extLst>
                  <a:ext uri="{FF2B5EF4-FFF2-40B4-BE49-F238E27FC236}">
                    <a16:creationId xmlns:a16="http://schemas.microsoft.com/office/drawing/2014/main" id="{F9B819D2-9288-49A0-928D-367A72F528AF}"/>
                  </a:ext>
                </a:extLst>
              </p:cNvPr>
              <p:cNvSpPr txBox="1"/>
              <p:nvPr/>
            </p:nvSpPr>
            <p:spPr bwMode="auto">
              <a:xfrm>
                <a:off x="6316497" y="3837244"/>
                <a:ext cx="1530423" cy="598177"/>
              </a:xfrm>
              <a:prstGeom prst="rect">
                <a:avLst/>
              </a:prstGeom>
              <a:noFill/>
              <a:ln>
                <a:noFill/>
              </a:ln>
              <a:effectLst/>
            </p:spPr>
            <p:txBody>
              <a:bodyPr wrap="square">
                <a:spAutoFit/>
              </a:bodyPr>
              <a:lstStyle/>
              <a:p>
                <a:pPr/>
                <a14:m>
                  <m:oMathPara xmlns:m="http://schemas.openxmlformats.org/officeDocument/2006/math">
                    <m:oMathParaPr>
                      <m:jc m:val="center"/>
                    </m:oMathParaPr>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groupChr>
                        <m:groupChrPr>
                          <m:chr m:val="↔"/>
                          <m:vertJc m:val="bot"/>
                          <m:ctrlPr>
                            <a:rPr lang="en-US" sz="2400" i="1" smtClean="0">
                              <a:solidFill>
                                <a:srgbClr val="000000"/>
                              </a:solidFill>
                              <a:latin typeface="Cambria Math" panose="02040503050406030204" pitchFamily="18" charset="0"/>
                            </a:rPr>
                          </m:ctrlPr>
                        </m:groupChrPr>
                        <m:e>
                          <m:r>
                            <m:rPr>
                              <m:sty m:val="p"/>
                              <m:brk m:alnAt="2"/>
                            </m:rPr>
                            <a:rPr lang="en-US" sz="2400" b="0" i="0" smtClean="0">
                              <a:solidFill>
                                <a:srgbClr val="0000FF"/>
                              </a:solidFill>
                              <a:latin typeface="Cambria Math" panose="02040503050406030204" pitchFamily="18" charset="0"/>
                            </a:rPr>
                            <m:t>F</m:t>
                          </m:r>
                          <m:r>
                            <m:rPr>
                              <m:sty m:val="p"/>
                            </m:rPr>
                            <a:rPr lang="en-US" sz="2400" b="0" i="0" smtClean="0">
                              <a:solidFill>
                                <a:srgbClr val="0000FF"/>
                              </a:solidFill>
                              <a:latin typeface="Cambria Math" panose="02040503050406030204" pitchFamily="18" charset="0"/>
                            </a:rPr>
                            <m:t>S</m:t>
                          </m:r>
                        </m:e>
                      </m:groupCh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oMath>
                  </m:oMathPara>
                </a14:m>
                <a:endParaRPr lang="en-US" sz="2400" dirty="0"/>
              </a:p>
            </p:txBody>
          </p:sp>
        </mc:Choice>
        <mc:Fallback xmlns="">
          <p:sp>
            <p:nvSpPr>
              <p:cNvPr id="68" name="Object 2">
                <a:extLst>
                  <a:ext uri="{FF2B5EF4-FFF2-40B4-BE49-F238E27FC236}">
                    <a16:creationId xmlns:a16="http://schemas.microsoft.com/office/drawing/2014/main" id="{F9B819D2-9288-49A0-928D-367A72F528AF}"/>
                  </a:ext>
                </a:extLst>
              </p:cNvPr>
              <p:cNvSpPr txBox="1">
                <a:spLocks noRot="1" noChangeAspect="1" noMove="1" noResize="1" noEditPoints="1" noAdjustHandles="1" noChangeArrowheads="1" noChangeShapeType="1" noTextEdit="1"/>
              </p:cNvSpPr>
              <p:nvPr/>
            </p:nvSpPr>
            <p:spPr bwMode="auto">
              <a:xfrm>
                <a:off x="6316497" y="3837244"/>
                <a:ext cx="1530423" cy="598177"/>
              </a:xfrm>
              <a:prstGeom prst="rect">
                <a:avLst/>
              </a:prstGeom>
              <a:blipFill>
                <a:blip r:embed="rId15"/>
                <a:stretch>
                  <a:fillRect/>
                </a:stretch>
              </a:blipFill>
              <a:ln>
                <a:noFill/>
              </a:ln>
              <a:effectLst/>
            </p:spPr>
            <p:txBody>
              <a:bodyPr/>
              <a:lstStyle/>
              <a:p>
                <a:r>
                  <a:rPr lang="en-US">
                    <a:noFill/>
                  </a:rPr>
                  <a:t> </a:t>
                </a:r>
              </a:p>
            </p:txBody>
          </p:sp>
        </mc:Fallback>
      </mc:AlternateContent>
      <p:sp>
        <p:nvSpPr>
          <p:cNvPr id="69" name="文本框 68">
            <a:extLst>
              <a:ext uri="{FF2B5EF4-FFF2-40B4-BE49-F238E27FC236}">
                <a16:creationId xmlns:a16="http://schemas.microsoft.com/office/drawing/2014/main" id="{8B8D0CFF-7642-4E69-A982-7095E0FC0E7C}"/>
              </a:ext>
            </a:extLst>
          </p:cNvPr>
          <p:cNvSpPr txBox="1"/>
          <p:nvPr/>
        </p:nvSpPr>
        <p:spPr>
          <a:xfrm>
            <a:off x="7092280" y="3120135"/>
            <a:ext cx="1097707" cy="461665"/>
          </a:xfrm>
          <a:prstGeom prst="rect">
            <a:avLst/>
          </a:prstGeom>
          <a:noFill/>
        </p:spPr>
        <p:txBody>
          <a:bodyPr wrap="square">
            <a:spAutoFit/>
          </a:bodyPr>
          <a:lstStyle/>
          <a:p>
            <a:pPr algn="ctr"/>
            <a:r>
              <a:rPr kumimoji="0" lang="zh-CN" altLang="en-US" sz="2400" b="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可省略</a:t>
            </a:r>
            <a:endParaRPr lang="en-US" dirty="0">
              <a:solidFill>
                <a:srgbClr val="0000FF"/>
              </a:solidFill>
            </a:endParaRPr>
          </a:p>
        </p:txBody>
      </p:sp>
      <p:cxnSp>
        <p:nvCxnSpPr>
          <p:cNvPr id="43038" name="直接箭头连接符 43037">
            <a:extLst>
              <a:ext uri="{FF2B5EF4-FFF2-40B4-BE49-F238E27FC236}">
                <a16:creationId xmlns:a16="http://schemas.microsoft.com/office/drawing/2014/main" id="{3B81AFE5-F449-4FEB-BC1B-5B9DF8C06F46}"/>
              </a:ext>
            </a:extLst>
          </p:cNvPr>
          <p:cNvCxnSpPr>
            <a:stCxn id="69" idx="2"/>
          </p:cNvCxnSpPr>
          <p:nvPr/>
        </p:nvCxnSpPr>
        <p:spPr>
          <a:xfrm flipH="1">
            <a:off x="7356417" y="3581800"/>
            <a:ext cx="284717" cy="3480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23" name="标题 1">
            <a:extLst>
              <a:ext uri="{FF2B5EF4-FFF2-40B4-BE49-F238E27FC236}">
                <a16:creationId xmlns:a16="http://schemas.microsoft.com/office/drawing/2014/main" id="{6200BA3B-3CCC-411A-AFAD-1E02171A2F13}"/>
              </a:ext>
            </a:extLst>
          </p:cNvPr>
          <p:cNvSpPr>
            <a:spLocks noGrp="1"/>
          </p:cNvSpPr>
          <p:nvPr>
            <p:ph type="title"/>
          </p:nvPr>
        </p:nvSpPr>
        <p:spPr/>
        <p:txBody>
          <a:bodyPr/>
          <a:lstStyle/>
          <a:p>
            <a:r>
              <a:rPr lang="en-US" altLang="zh-CN" sz="3200">
                <a:solidFill>
                  <a:srgbClr val="000000"/>
                </a:solidFill>
              </a:rPr>
              <a:t>3.3  </a:t>
            </a:r>
            <a:r>
              <a:rPr lang="zh-CN" altLang="en-US" sz="3200">
                <a:solidFill>
                  <a:srgbClr val="000000"/>
                </a:solidFill>
              </a:rPr>
              <a:t>连续时间周期信号的傅里叶级数表示</a:t>
            </a:r>
            <a:endParaRPr lang="zh-CN" altLang="en-US"/>
          </a:p>
        </p:txBody>
      </p:sp>
      <p:sp>
        <p:nvSpPr>
          <p:cNvPr id="43024" name="内容占位符 2">
            <a:extLst>
              <a:ext uri="{FF2B5EF4-FFF2-40B4-BE49-F238E27FC236}">
                <a16:creationId xmlns:a16="http://schemas.microsoft.com/office/drawing/2014/main" id="{0F110478-32FD-4EC7-9A33-AD7ADB604962}"/>
              </a:ext>
            </a:extLst>
          </p:cNvPr>
          <p:cNvSpPr>
            <a:spLocks noGrp="1"/>
          </p:cNvSpPr>
          <p:nvPr>
            <p:ph idx="1"/>
          </p:nvPr>
        </p:nvSpPr>
        <p:spPr>
          <a:xfrm>
            <a:off x="457200" y="1285875"/>
            <a:ext cx="8229600" cy="461665"/>
          </a:xfrm>
        </p:spPr>
        <p:txBody>
          <a:bodyPr>
            <a:spAutoFit/>
          </a:bodyPr>
          <a:lstStyle/>
          <a:p>
            <a:r>
              <a:rPr lang="zh-CN" altLang="en-US" sz="2400" b="0" dirty="0"/>
              <a:t>傅里叶级数的系数如为复数，通常分幅度与相位分别作图</a:t>
            </a:r>
          </a:p>
        </p:txBody>
      </p:sp>
      <p:sp>
        <p:nvSpPr>
          <p:cNvPr id="4" name="灯片编号占位符 3">
            <a:extLst>
              <a:ext uri="{FF2B5EF4-FFF2-40B4-BE49-F238E27FC236}">
                <a16:creationId xmlns:a16="http://schemas.microsoft.com/office/drawing/2014/main" id="{DC2F2C10-6F7B-4733-A5CE-0E174DBF658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FD9350D-262B-4813-A4AB-C07EF7B7B7AE}" type="slidenum">
              <a:rPr lang="zh-CN" altLang="en-US">
                <a:solidFill>
                  <a:srgbClr val="898989"/>
                </a:solidFill>
                <a:latin typeface="Calibri" panose="020F0502020204030204" pitchFamily="34" charset="0"/>
              </a:rPr>
              <a:pPr eaLnBrk="1" hangingPunct="1"/>
              <a:t>17</a:t>
            </a:fld>
            <a:endParaRPr lang="zh-CN" altLang="en-US">
              <a:solidFill>
                <a:srgbClr val="898989"/>
              </a:solidFill>
              <a:latin typeface="Calibri" panose="020F0502020204030204" pitchFamily="34" charset="0"/>
            </a:endParaRPr>
          </a:p>
        </p:txBody>
      </p:sp>
      <p:pic>
        <p:nvPicPr>
          <p:cNvPr id="29" name="Picture 4" descr="03-05">
            <a:extLst>
              <a:ext uri="{FF2B5EF4-FFF2-40B4-BE49-F238E27FC236}">
                <a16:creationId xmlns:a16="http://schemas.microsoft.com/office/drawing/2014/main" id="{39C3FC75-D696-4FDB-8A26-90E824CCBF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1" y="3275381"/>
            <a:ext cx="4350742" cy="3446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1" name="矩形 7">
                <a:extLst>
                  <a:ext uri="{FF2B5EF4-FFF2-40B4-BE49-F238E27FC236}">
                    <a16:creationId xmlns:a16="http://schemas.microsoft.com/office/drawing/2014/main" id="{1BFCD0AF-17A5-4FA3-A4F7-4FBEA44B2222}"/>
                  </a:ext>
                </a:extLst>
              </p:cNvPr>
              <p:cNvSpPr>
                <a:spLocks noChangeArrowheads="1"/>
              </p:cNvSpPr>
              <p:nvPr/>
            </p:nvSpPr>
            <p:spPr bwMode="auto">
              <a:xfrm>
                <a:off x="784360" y="1657865"/>
                <a:ext cx="7604064" cy="5822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zh-CN" altLang="en-US" sz="2400" dirty="0">
                    <a:latin typeface="华文楷体" panose="02010600040101010101" pitchFamily="2" charset="-122"/>
                    <a:ea typeface="华文楷体" panose="02010600040101010101" pitchFamily="2" charset="-122"/>
                  </a:rPr>
                  <a:t>例如：</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)=1+</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e>
                    </m:func>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+2</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e>
                    </m:func>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cos</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2</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𝜋</m:t>
                        </m:r>
                      </m:num>
                      <m:den>
                        <m:r>
                          <a:rPr lang="en-US" sz="2400" i="1">
                            <a:solidFill>
                              <a:srgbClr val="000000"/>
                            </a:solidFill>
                            <a:latin typeface="Cambria Math" panose="02040503050406030204" pitchFamily="18" charset="0"/>
                          </a:rPr>
                          <m:t>4</m:t>
                        </m:r>
                      </m:den>
                    </m:f>
                    <m:r>
                      <a:rPr lang="en-US" sz="2400" i="1">
                        <a:solidFill>
                          <a:srgbClr val="000000"/>
                        </a:solidFill>
                        <a:latin typeface="Cambria Math" panose="02040503050406030204" pitchFamily="18" charset="0"/>
                      </a:rPr>
                      <m:t>)</m:t>
                    </m:r>
                  </m:oMath>
                </a14:m>
                <a:endParaRPr lang="zh-CN" altLang="en-US" sz="2400" dirty="0">
                  <a:latin typeface="华文楷体" panose="02010600040101010101" pitchFamily="2" charset="-122"/>
                  <a:ea typeface="华文楷体" panose="02010600040101010101" pitchFamily="2" charset="-122"/>
                </a:endParaRPr>
              </a:p>
            </p:txBody>
          </p:sp>
        </mc:Choice>
        <mc:Fallback xmlns="">
          <p:sp>
            <p:nvSpPr>
              <p:cNvPr id="31" name="矩形 7">
                <a:extLst>
                  <a:ext uri="{FF2B5EF4-FFF2-40B4-BE49-F238E27FC236}">
                    <a16:creationId xmlns:a16="http://schemas.microsoft.com/office/drawing/2014/main" id="{1BFCD0AF-17A5-4FA3-A4F7-4FBEA44B2222}"/>
                  </a:ext>
                </a:extLst>
              </p:cNvPr>
              <p:cNvSpPr>
                <a:spLocks noRot="1" noChangeAspect="1" noMove="1" noResize="1" noEditPoints="1" noAdjustHandles="1" noChangeArrowheads="1" noChangeShapeType="1" noTextEdit="1"/>
              </p:cNvSpPr>
              <p:nvPr/>
            </p:nvSpPr>
            <p:spPr bwMode="auto">
              <a:xfrm>
                <a:off x="784360" y="1657865"/>
                <a:ext cx="7604064" cy="582275"/>
              </a:xfrm>
              <a:prstGeom prst="rect">
                <a:avLst/>
              </a:prstGeom>
              <a:blipFill>
                <a:blip r:embed="rId4"/>
                <a:stretch>
                  <a:fillRect l="-1283" b="-1157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9DE2BB0-8767-46FD-889A-4986DDEF2CFB}"/>
                  </a:ext>
                </a:extLst>
              </p:cNvPr>
              <p:cNvSpPr txBox="1"/>
              <p:nvPr/>
            </p:nvSpPr>
            <p:spPr>
              <a:xfrm>
                <a:off x="971600" y="2119530"/>
                <a:ext cx="7883896" cy="11264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i="1" smtClean="0">
                          <a:solidFill>
                            <a:srgbClr val="000000"/>
                          </a:solidFill>
                          <a:latin typeface="Cambria Math" panose="02040503050406030204" pitchFamily="18" charset="0"/>
                        </a:rPr>
                        <m:t>𝑥</m:t>
                      </m:r>
                      <m:d>
                        <m:dPr>
                          <m:ctrlPr>
                            <a:rPr lang="en-US" altLang="zh-CN" sz="1800" i="1" smtClean="0">
                              <a:solidFill>
                                <a:srgbClr val="000000"/>
                              </a:solidFill>
                              <a:latin typeface="Cambria Math" panose="02040503050406030204" pitchFamily="18" charset="0"/>
                            </a:rPr>
                          </m:ctrlPr>
                        </m:dPr>
                        <m:e>
                          <m:r>
                            <a:rPr lang="en-US" altLang="zh-CN" sz="1800" i="1" smtClean="0">
                              <a:solidFill>
                                <a:srgbClr val="000000"/>
                              </a:solidFill>
                              <a:latin typeface="Cambria Math" panose="02040503050406030204" pitchFamily="18" charset="0"/>
                            </a:rPr>
                            <m:t>𝑡</m:t>
                          </m:r>
                        </m:e>
                      </m:d>
                      <m:r>
                        <a:rPr lang="en-US" altLang="zh-CN" sz="1800" i="1" smtClean="0">
                          <a:solidFill>
                            <a:srgbClr val="000000"/>
                          </a:solidFill>
                          <a:latin typeface="Cambria Math" panose="02040503050406030204" pitchFamily="18" charset="0"/>
                        </a:rPr>
                        <m:t>=1+</m:t>
                      </m:r>
                      <m:f>
                        <m:fPr>
                          <m:ctrlPr>
                            <a:rPr lang="en-US" altLang="zh-CN" i="1">
                              <a:solidFill>
                                <a:srgbClr val="000000"/>
                              </a:solidFill>
                              <a:latin typeface="Cambria Math" panose="02040503050406030204" pitchFamily="18" charset="0"/>
                            </a:rPr>
                          </m:ctrlPr>
                        </m:fPr>
                        <m:num>
                          <m:r>
                            <a:rPr lang="en-US" altLang="zh-CN" b="0" i="1" smtClean="0">
                              <a:solidFill>
                                <a:srgbClr val="000000"/>
                              </a:solidFill>
                              <a:latin typeface="Cambria Math" panose="02040503050406030204" pitchFamily="18" charset="0"/>
                            </a:rPr>
                            <m:t>1</m:t>
                          </m:r>
                        </m:num>
                        <m:den>
                          <m:r>
                            <a:rPr lang="en-US" altLang="zh-CN" b="0" i="1" smtClean="0">
                              <a:solidFill>
                                <a:srgbClr val="000000"/>
                              </a:solidFill>
                              <a:latin typeface="Cambria Math" panose="02040503050406030204" pitchFamily="18" charset="0"/>
                            </a:rPr>
                            <m:t>2</m:t>
                          </m:r>
                          <m:r>
                            <m:rPr>
                              <m:sty m:val="p"/>
                            </m:rPr>
                            <a:rPr lang="en-US" altLang="zh-CN" i="1">
                              <a:solidFill>
                                <a:srgbClr val="000000"/>
                              </a:solidFill>
                              <a:latin typeface="Cambria Math" panose="02040503050406030204" pitchFamily="18" charset="0"/>
                            </a:rPr>
                            <m:t>j</m:t>
                          </m:r>
                        </m:den>
                      </m:f>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m:t>
                          </m:r>
                          <m:r>
                            <m:rPr>
                              <m:sty m:val="p"/>
                            </m:rPr>
                            <a:rPr lang="en-US" altLang="zh-CN">
                              <a:latin typeface="Cambria Math" panose="02040503050406030204" pitchFamily="18" charset="0"/>
                            </a:rPr>
                            <m:t>e</m:t>
                          </m:r>
                        </m:e>
                        <m:sup>
                          <m:r>
                            <m:rPr>
                              <m:sty m:val="p"/>
                            </m:rPr>
                            <a:rPr lang="en-US" altLang="zh-CN">
                              <a:latin typeface="Cambria Math" panose="02040503050406030204" pitchFamily="18" charset="0"/>
                            </a:rPr>
                            <m:t>j</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e</m:t>
                          </m:r>
                        </m:e>
                        <m:sup>
                          <m:r>
                            <a:rPr lang="en-US" altLang="zh-CN" b="0" i="1" smtClean="0">
                              <a:latin typeface="Cambria Math" panose="02040503050406030204" pitchFamily="18" charset="0"/>
                            </a:rPr>
                            <m:t>−</m:t>
                          </m:r>
                          <m:r>
                            <m:rPr>
                              <m:sty m:val="p"/>
                            </m:rPr>
                            <a:rPr lang="en-US" altLang="zh-CN">
                              <a:latin typeface="Cambria Math" panose="02040503050406030204" pitchFamily="18" charset="0"/>
                            </a:rPr>
                            <m:t>j</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sup>
                      </m:sSup>
                      <m:r>
                        <a:rPr lang="en-US" altLang="zh-CN" b="0" i="1" smtClean="0">
                          <a:latin typeface="Cambria Math" panose="02040503050406030204" pitchFamily="18" charset="0"/>
                        </a:rPr>
                        <m:t>]</m:t>
                      </m:r>
                      <m:r>
                        <a:rPr lang="en-US" altLang="zh-CN" sz="1800" i="1">
                          <a:solidFill>
                            <a:srgbClr val="000000"/>
                          </a:solidFill>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m:rPr>
                              <m:sty m:val="p"/>
                            </m:rPr>
                            <a:rPr lang="en-US" altLang="zh-CN">
                              <a:latin typeface="Cambria Math" panose="02040503050406030204" pitchFamily="18" charset="0"/>
                            </a:rPr>
                            <m:t>e</m:t>
                          </m:r>
                        </m:e>
                        <m:sup>
                          <m:r>
                            <m:rPr>
                              <m:sty m:val="p"/>
                            </m:rPr>
                            <a:rPr lang="en-US" altLang="zh-CN">
                              <a:latin typeface="Cambria Math" panose="02040503050406030204" pitchFamily="18" charset="0"/>
                            </a:rPr>
                            <m:t>j</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e</m:t>
                          </m:r>
                        </m:e>
                        <m:sup>
                          <m:r>
                            <a:rPr lang="en-US" altLang="zh-CN" i="1">
                              <a:latin typeface="Cambria Math" panose="02040503050406030204" pitchFamily="18" charset="0"/>
                            </a:rPr>
                            <m:t>−</m:t>
                          </m:r>
                          <m:r>
                            <m:rPr>
                              <m:sty m:val="p"/>
                            </m:rPr>
                            <a:rPr lang="en-US" altLang="zh-CN">
                              <a:latin typeface="Cambria Math" panose="02040503050406030204" pitchFamily="18" charset="0"/>
                            </a:rPr>
                            <m:t>j</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sup>
                      </m:sSup>
                      <m:r>
                        <a:rPr lang="en-US" altLang="zh-CN" b="0" i="1" smtClean="0">
                          <a:latin typeface="Cambria Math" panose="02040503050406030204" pitchFamily="18" charset="0"/>
                        </a:rPr>
                        <m:t>]</m:t>
                      </m:r>
                      <m:r>
                        <a:rPr lang="en-US" altLang="zh-CN" sz="1800" i="1">
                          <a:solidFill>
                            <a:srgbClr val="000000"/>
                          </a:solidFill>
                          <a:latin typeface="Cambria Math" panose="02040503050406030204" pitchFamily="18" charset="0"/>
                        </a:rPr>
                        <m:t>+</m:t>
                      </m:r>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1</m:t>
                          </m:r>
                        </m:num>
                        <m:den>
                          <m:r>
                            <a:rPr lang="en-US" altLang="zh-CN" i="1">
                              <a:solidFill>
                                <a:srgbClr val="000000"/>
                              </a:solidFill>
                              <a:latin typeface="Cambria Math" panose="02040503050406030204" pitchFamily="18" charset="0"/>
                            </a:rPr>
                            <m:t>2</m:t>
                          </m:r>
                        </m:den>
                      </m:f>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m:rPr>
                              <m:sty m:val="p"/>
                            </m:rPr>
                            <a:rPr lang="en-US" altLang="zh-CN">
                              <a:latin typeface="Cambria Math" panose="02040503050406030204" pitchFamily="18" charset="0"/>
                            </a:rPr>
                            <m:t>e</m:t>
                          </m:r>
                        </m:e>
                        <m:sup>
                          <m:r>
                            <m:rPr>
                              <m:sty m:val="p"/>
                            </m:rPr>
                            <a:rPr lang="en-US" altLang="zh-CN">
                              <a:latin typeface="Cambria Math" panose="02040503050406030204" pitchFamily="18" charset="0"/>
                            </a:rPr>
                            <m:t>j</m:t>
                          </m:r>
                          <m:r>
                            <a:rPr lang="en-US" altLang="zh-CN" b="0" i="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2</m:t>
                              </m:r>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r>
                            <a:rPr lang="en-US" altLang="zh-CN" b="0" i="1" smtClean="0">
                              <a:latin typeface="Cambria Math" panose="02040503050406030204" pitchFamily="18" charset="0"/>
                            </a:rPr>
                            <m:t>+</m:t>
                          </m:r>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𝜋</m:t>
                              </m:r>
                            </m:num>
                            <m:den>
                              <m:r>
                                <a:rPr lang="en-US" altLang="zh-CN" i="1">
                                  <a:solidFill>
                                    <a:srgbClr val="000000"/>
                                  </a:solidFill>
                                  <a:latin typeface="Cambria Math" panose="02040503050406030204" pitchFamily="18" charset="0"/>
                                </a:rPr>
                                <m:t>4</m:t>
                              </m:r>
                            </m:den>
                          </m:f>
                          <m:r>
                            <a:rPr lang="en-US" altLang="zh-CN" b="0" i="1" smtClean="0">
                              <a:solidFill>
                                <a:srgbClr val="000000"/>
                              </a:solidFill>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m:rPr>
                              <m:sty m:val="p"/>
                            </m:rPr>
                            <a:rPr lang="en-US" altLang="zh-CN">
                              <a:latin typeface="Cambria Math" panose="02040503050406030204" pitchFamily="18" charset="0"/>
                            </a:rPr>
                            <m:t>e</m:t>
                          </m:r>
                        </m:e>
                        <m:sup>
                          <m:r>
                            <a:rPr lang="en-US" altLang="zh-CN" i="1">
                              <a:latin typeface="Cambria Math" panose="02040503050406030204" pitchFamily="18" charset="0"/>
                            </a:rPr>
                            <m:t>−</m:t>
                          </m:r>
                          <m:r>
                            <m:rPr>
                              <m:sty m:val="p"/>
                            </m:rPr>
                            <a:rPr lang="en-US" altLang="zh-CN">
                              <a:latin typeface="Cambria Math" panose="02040503050406030204" pitchFamily="18" charset="0"/>
                            </a:rPr>
                            <m:t>j</m:t>
                          </m:r>
                          <m:r>
                            <a:rPr lang="en-US" altLang="zh-CN" b="0" i="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2</m:t>
                              </m:r>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r>
                            <a:rPr lang="en-US" altLang="zh-CN" i="1">
                              <a:latin typeface="Cambria Math" panose="02040503050406030204" pitchFamily="18" charset="0"/>
                            </a:rPr>
                            <m:t>+</m:t>
                          </m:r>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𝜋</m:t>
                              </m:r>
                            </m:num>
                            <m:den>
                              <m:r>
                                <a:rPr lang="en-US" altLang="zh-CN" i="1">
                                  <a:solidFill>
                                    <a:srgbClr val="000000"/>
                                  </a:solidFill>
                                  <a:latin typeface="Cambria Math" panose="02040503050406030204" pitchFamily="18" charset="0"/>
                                </a:rPr>
                                <m:t>4</m:t>
                              </m:r>
                            </m:den>
                          </m:f>
                          <m:r>
                            <a:rPr lang="en-US" altLang="zh-CN" b="0" i="1" smtClean="0">
                              <a:solidFill>
                                <a:srgbClr val="000000"/>
                              </a:solidFill>
                              <a:latin typeface="Cambria Math" panose="02040503050406030204" pitchFamily="18" charset="0"/>
                            </a:rPr>
                            <m:t>)</m:t>
                          </m:r>
                        </m:sup>
                      </m:sSup>
                      <m:r>
                        <a:rPr lang="en-US" altLang="zh-CN" i="1">
                          <a:latin typeface="Cambria Math" panose="02040503050406030204" pitchFamily="18" charset="0"/>
                        </a:rPr>
                        <m:t>]</m:t>
                      </m:r>
                    </m:oMath>
                  </m:oMathPara>
                </a14:m>
                <a:endParaRPr lang="en-US" altLang="zh-CN" dirty="0"/>
              </a:p>
              <a:p>
                <a:r>
                  <a:rPr lang="zh-CN" altLang="en-US" dirty="0"/>
                  <a:t> </a:t>
                </a:r>
                <a14:m>
                  <m:oMath xmlns:m="http://schemas.openxmlformats.org/officeDocument/2006/math">
                    <m:r>
                      <a:rPr lang="en-US" altLang="zh-CN" sz="1800" b="0" i="0" smtClean="0">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m:t>
                    </m:r>
                    <m:r>
                      <a:rPr lang="en-US" altLang="zh-CN" i="1">
                        <a:latin typeface="Cambria Math" panose="02040503050406030204" pitchFamily="18" charset="0"/>
                      </a:rPr>
                      <m:t>1+</m:t>
                    </m:r>
                    <m:r>
                      <a:rPr lang="en-US" altLang="zh-CN" b="0" i="1" smtClean="0">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r>
                          <m:rPr>
                            <m:sty m:val="p"/>
                          </m:rPr>
                          <a:rPr lang="en-US" altLang="zh-CN" i="1">
                            <a:latin typeface="Cambria Math" panose="02040503050406030204" pitchFamily="18" charset="0"/>
                          </a:rPr>
                          <m:t>j</m:t>
                        </m:r>
                      </m:den>
                    </m:f>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m:t>
                        </m:r>
                        <m:r>
                          <m:rPr>
                            <m:sty m:val="p"/>
                          </m:rPr>
                          <a:rPr lang="en-US" altLang="zh-CN" i="1">
                            <a:latin typeface="Cambria Math" panose="02040503050406030204" pitchFamily="18" charset="0"/>
                          </a:rPr>
                          <m:t>e</m:t>
                        </m:r>
                      </m:e>
                      <m:sup>
                        <m:r>
                          <m:rPr>
                            <m:sty m:val="p"/>
                          </m:rPr>
                          <a:rPr lang="en-US" altLang="zh-CN" i="1">
                            <a:latin typeface="Cambria Math" panose="02040503050406030204" pitchFamily="18" charset="0"/>
                          </a:rPr>
                          <m:t>j</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sup>
                    </m:sSup>
                    <m:r>
                      <a:rPr lang="en-US" altLang="zh-CN" b="0" i="1" smtClean="0">
                        <a:latin typeface="Cambria Math" panose="02040503050406030204" pitchFamily="18" charset="0"/>
                      </a:rPr>
                      <m:t>+(1</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r>
                          <m:rPr>
                            <m:sty m:val="p"/>
                          </m:rPr>
                          <a:rPr lang="en-US" altLang="zh-CN" i="1">
                            <a:latin typeface="Cambria Math" panose="02040503050406030204" pitchFamily="18" charset="0"/>
                          </a:rPr>
                          <m:t>j</m:t>
                        </m:r>
                      </m:den>
                    </m:f>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a:rPr lang="en-US" altLang="zh-CN" i="1">
                            <a:latin typeface="Cambria Math" panose="02040503050406030204" pitchFamily="18" charset="0"/>
                          </a:rPr>
                          <m:t>−</m:t>
                        </m:r>
                        <m:r>
                          <m:rPr>
                            <m:sty m:val="p"/>
                          </m:rPr>
                          <a:rPr lang="en-US" altLang="zh-CN" i="1">
                            <a:latin typeface="Cambria Math" panose="02040503050406030204" pitchFamily="18" charset="0"/>
                          </a:rPr>
                          <m:t>j</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sup>
                    </m:sSup>
                    <m:r>
                      <a:rPr lang="en-US" altLang="zh-CN" i="1">
                        <a:latin typeface="Cambria Math" panose="02040503050406030204" pitchFamily="18" charset="0"/>
                      </a:rPr>
                      <m:t>+</m:t>
                    </m:r>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m:rPr>
                                <m:sty m:val="p"/>
                              </m:rPr>
                              <a:rPr lang="en-US" altLang="zh-CN" i="1">
                                <a:latin typeface="Cambria Math" panose="02040503050406030204" pitchFamily="18" charset="0"/>
                              </a:rPr>
                              <m:t>j</m:t>
                            </m:r>
                            <m:f>
                              <m:fPr>
                                <m:ctrlPr>
                                  <a:rPr lang="en-US" altLang="zh-CN" i="1">
                                    <a:latin typeface="Cambria Math" panose="02040503050406030204" pitchFamily="18" charset="0"/>
                                  </a:rPr>
                                </m:ctrlPr>
                              </m:fPr>
                              <m:num>
                                <m:r>
                                  <a:rPr lang="en-US" altLang="zh-CN" i="1">
                                    <a:latin typeface="Cambria Math" panose="02040503050406030204" pitchFamily="18" charset="0"/>
                                  </a:rPr>
                                  <m:t>𝜋</m:t>
                                </m:r>
                              </m:num>
                              <m:den>
                                <m:r>
                                  <a:rPr lang="en-US" altLang="zh-CN" i="1">
                                    <a:latin typeface="Cambria Math" panose="02040503050406030204" pitchFamily="18" charset="0"/>
                                  </a:rPr>
                                  <m:t>4</m:t>
                                </m:r>
                              </m:den>
                            </m:f>
                          </m:sup>
                        </m:sSup>
                        <m:r>
                          <a:rPr lang="en-US" altLang="zh-CN" b="0" i="1" smtClean="0">
                            <a:latin typeface="Cambria Math" panose="02040503050406030204" pitchFamily="18" charset="0"/>
                          </a:rPr>
                          <m:t>)</m:t>
                        </m:r>
                        <m:r>
                          <m:rPr>
                            <m:sty m:val="p"/>
                          </m:rPr>
                          <a:rPr lang="en-US" altLang="zh-CN" i="1">
                            <a:latin typeface="Cambria Math" panose="02040503050406030204" pitchFamily="18" charset="0"/>
                          </a:rPr>
                          <m:t>e</m:t>
                        </m:r>
                      </m:e>
                      <m:sup>
                        <m:r>
                          <m:rPr>
                            <m:sty m:val="p"/>
                          </m:rPr>
                          <a:rPr lang="en-US" altLang="zh-CN" i="1">
                            <a:latin typeface="Cambria Math" panose="02040503050406030204" pitchFamily="18" charset="0"/>
                          </a:rPr>
                          <m:t>j</m:t>
                        </m:r>
                        <m:sSub>
                          <m:sSubPr>
                            <m:ctrlPr>
                              <a:rPr lang="en-US" altLang="zh-CN" i="1">
                                <a:latin typeface="Cambria Math" panose="02040503050406030204" pitchFamily="18" charset="0"/>
                              </a:rPr>
                            </m:ctrlPr>
                          </m:sSubPr>
                          <m:e>
                            <m:r>
                              <a:rPr lang="en-US" altLang="zh-CN" i="1">
                                <a:latin typeface="Cambria Math" panose="02040503050406030204" pitchFamily="18" charset="0"/>
                              </a:rPr>
                              <m:t>2</m:t>
                            </m:r>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sup>
                    </m:sSup>
                    <m:r>
                      <a:rPr lang="en-US" altLang="zh-CN" i="1">
                        <a:latin typeface="Cambria Math" panose="02040503050406030204" pitchFamily="18" charset="0"/>
                      </a:rPr>
                      <m:t>+</m:t>
                    </m:r>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rPr>
                              <m:t>e</m:t>
                            </m:r>
                          </m:e>
                          <m:sup>
                            <m:r>
                              <a:rPr lang="en-US" altLang="zh-CN" i="1">
                                <a:latin typeface="Cambria Math" panose="02040503050406030204" pitchFamily="18" charset="0"/>
                              </a:rPr>
                              <m:t>−</m:t>
                            </m:r>
                            <m:r>
                              <m:rPr>
                                <m:sty m:val="p"/>
                              </m:rPr>
                              <a:rPr lang="en-US" altLang="zh-CN" i="1">
                                <a:latin typeface="Cambria Math" panose="02040503050406030204" pitchFamily="18" charset="0"/>
                              </a:rPr>
                              <m:t>j</m:t>
                            </m:r>
                            <m:f>
                              <m:fPr>
                                <m:ctrlPr>
                                  <a:rPr lang="en-US" altLang="zh-CN" i="1">
                                    <a:latin typeface="Cambria Math" panose="02040503050406030204" pitchFamily="18" charset="0"/>
                                  </a:rPr>
                                </m:ctrlPr>
                              </m:fPr>
                              <m:num>
                                <m:r>
                                  <a:rPr lang="en-US" altLang="zh-CN" i="1">
                                    <a:latin typeface="Cambria Math" panose="02040503050406030204" pitchFamily="18" charset="0"/>
                                  </a:rPr>
                                  <m:t>𝜋</m:t>
                                </m:r>
                              </m:num>
                              <m:den>
                                <m:r>
                                  <a:rPr lang="en-US" altLang="zh-CN" i="1">
                                    <a:latin typeface="Cambria Math" panose="02040503050406030204" pitchFamily="18" charset="0"/>
                                  </a:rPr>
                                  <m:t>4</m:t>
                                </m:r>
                              </m:den>
                            </m:f>
                          </m:sup>
                        </m:sSup>
                        <m:r>
                          <a:rPr lang="en-US" altLang="zh-CN" b="0" i="1" smtClean="0">
                            <a:latin typeface="Cambria Math" panose="02040503050406030204" pitchFamily="18" charset="0"/>
                          </a:rPr>
                          <m:t>)</m:t>
                        </m:r>
                        <m:r>
                          <m:rPr>
                            <m:sty m:val="p"/>
                          </m:rPr>
                          <a:rPr lang="en-US" altLang="zh-CN" i="1">
                            <a:latin typeface="Cambria Math" panose="02040503050406030204" pitchFamily="18" charset="0"/>
                          </a:rPr>
                          <m:t>e</m:t>
                        </m:r>
                      </m:e>
                      <m:sup>
                        <m:r>
                          <a:rPr lang="en-US" altLang="zh-CN" i="1">
                            <a:latin typeface="Cambria Math" panose="02040503050406030204" pitchFamily="18" charset="0"/>
                          </a:rPr>
                          <m:t>−</m:t>
                        </m:r>
                        <m:r>
                          <m:rPr>
                            <m:sty m:val="p"/>
                          </m:rPr>
                          <a:rPr lang="en-US" altLang="zh-CN" i="1">
                            <a:latin typeface="Cambria Math" panose="02040503050406030204" pitchFamily="18" charset="0"/>
                          </a:rPr>
                          <m:t>j</m:t>
                        </m:r>
                        <m:sSub>
                          <m:sSubPr>
                            <m:ctrlPr>
                              <a:rPr lang="en-US" altLang="zh-CN" i="1">
                                <a:latin typeface="Cambria Math" panose="02040503050406030204" pitchFamily="18" charset="0"/>
                              </a:rPr>
                            </m:ctrlPr>
                          </m:sSubPr>
                          <m:e>
                            <m:r>
                              <a:rPr lang="en-US" altLang="zh-CN" i="1">
                                <a:latin typeface="Cambria Math" panose="02040503050406030204" pitchFamily="18" charset="0"/>
                              </a:rPr>
                              <m:t>2</m:t>
                            </m:r>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i="1">
                            <a:latin typeface="Cambria Math" panose="02040503050406030204" pitchFamily="18" charset="0"/>
                          </a:rPr>
                          <m:t>𝑡</m:t>
                        </m:r>
                      </m:sup>
                    </m:sSup>
                    <m:r>
                      <a:rPr lang="en-US" altLang="zh-CN" i="1">
                        <a:latin typeface="Cambria Math" panose="02040503050406030204" pitchFamily="18" charset="0"/>
                      </a:rPr>
                      <m:t>]</m:t>
                    </m:r>
                  </m:oMath>
                </a14:m>
                <a:endParaRPr lang="en-US" altLang="zh-CN" i="1" dirty="0">
                  <a:latin typeface="Cambria Math" panose="02040503050406030204" pitchFamily="18" charset="0"/>
                </a:endParaRPr>
              </a:p>
            </p:txBody>
          </p:sp>
        </mc:Choice>
        <mc:Fallback xmlns="">
          <p:sp>
            <p:nvSpPr>
              <p:cNvPr id="8" name="文本框 7">
                <a:extLst>
                  <a:ext uri="{FF2B5EF4-FFF2-40B4-BE49-F238E27FC236}">
                    <a16:creationId xmlns:a16="http://schemas.microsoft.com/office/drawing/2014/main" id="{D9DE2BB0-8767-46FD-889A-4986DDEF2CFB}"/>
                  </a:ext>
                </a:extLst>
              </p:cNvPr>
              <p:cNvSpPr txBox="1">
                <a:spLocks noRot="1" noChangeAspect="1" noMove="1" noResize="1" noEditPoints="1" noAdjustHandles="1" noChangeArrowheads="1" noChangeShapeType="1" noTextEdit="1"/>
              </p:cNvSpPr>
              <p:nvPr/>
            </p:nvSpPr>
            <p:spPr>
              <a:xfrm>
                <a:off x="971600" y="2119530"/>
                <a:ext cx="7883896" cy="1126462"/>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324610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8" name="标题 1">
            <a:extLst>
              <a:ext uri="{FF2B5EF4-FFF2-40B4-BE49-F238E27FC236}">
                <a16:creationId xmlns:a16="http://schemas.microsoft.com/office/drawing/2014/main" id="{E30FAE70-C92A-46D7-BCC5-AACB33ECFF09}"/>
              </a:ext>
            </a:extLst>
          </p:cNvPr>
          <p:cNvSpPr>
            <a:spLocks noGrp="1"/>
          </p:cNvSpPr>
          <p:nvPr>
            <p:ph type="title"/>
          </p:nvPr>
        </p:nvSpPr>
        <p:spPr/>
        <p:txBody>
          <a:bodyPr/>
          <a:lstStyle/>
          <a:p>
            <a:r>
              <a:rPr lang="en-US" altLang="zh-CN" sz="3200" dirty="0"/>
              <a:t>3.3  </a:t>
            </a:r>
            <a:r>
              <a:rPr lang="zh-CN" altLang="en-US" sz="3200" dirty="0"/>
              <a:t>连续时间周期信号的傅里叶级数表示</a:t>
            </a:r>
          </a:p>
        </p:txBody>
      </p:sp>
      <p:sp>
        <p:nvSpPr>
          <p:cNvPr id="4" name="灯片编号占位符 3">
            <a:extLst>
              <a:ext uri="{FF2B5EF4-FFF2-40B4-BE49-F238E27FC236}">
                <a16:creationId xmlns:a16="http://schemas.microsoft.com/office/drawing/2014/main" id="{B2877604-31B8-480F-9191-5832129384A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5B12D4-2E3F-4D2D-B582-B7E3E50DB9AC}" type="slidenum">
              <a:rPr lang="zh-CN" altLang="en-US">
                <a:solidFill>
                  <a:srgbClr val="898989"/>
                </a:solidFill>
                <a:latin typeface="Calibri" panose="020F0502020204030204" pitchFamily="34" charset="0"/>
              </a:rPr>
              <a:pPr eaLnBrk="1" hangingPunct="1"/>
              <a:t>18</a:t>
            </a:fld>
            <a:endParaRPr lang="zh-CN" altLang="en-US">
              <a:solidFill>
                <a:srgbClr val="898989"/>
              </a:solidFill>
              <a:latin typeface="Calibri" panose="020F0502020204030204" pitchFamily="34" charset="0"/>
            </a:endParaRPr>
          </a:p>
        </p:txBody>
      </p:sp>
      <p:sp>
        <p:nvSpPr>
          <p:cNvPr id="15" name="文本框 14">
            <a:extLst>
              <a:ext uri="{FF2B5EF4-FFF2-40B4-BE49-F238E27FC236}">
                <a16:creationId xmlns:a16="http://schemas.microsoft.com/office/drawing/2014/main" id="{9C3484D5-7847-48A6-8F17-0BC74F9EE8C1}"/>
              </a:ext>
            </a:extLst>
          </p:cNvPr>
          <p:cNvSpPr txBox="1"/>
          <p:nvPr/>
        </p:nvSpPr>
        <p:spPr>
          <a:xfrm>
            <a:off x="457200" y="1268760"/>
            <a:ext cx="5262904" cy="461665"/>
          </a:xfrm>
          <a:prstGeom prst="rect">
            <a:avLst/>
          </a:prstGeom>
          <a:noFill/>
        </p:spPr>
        <p:txBody>
          <a:bodyPr wrap="square">
            <a:spAutoFit/>
          </a:bodyPr>
          <a:lstStyle/>
          <a:p>
            <a:r>
              <a:rPr kumimoji="0" lang="zh-CN" altLang="en-US" sz="240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三</a:t>
            </a:r>
            <a:r>
              <a:rPr kumimoji="0" lang="en-US" altLang="zh-CN" sz="240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 </a:t>
            </a:r>
            <a:r>
              <a:rPr kumimoji="0" lang="zh-CN" altLang="en-US" sz="2400" i="0" u="none" strike="noStrike" kern="1200" cap="none" spc="0" normalizeH="0" baseline="0" noProof="0" dirty="0">
                <a:ln>
                  <a:noFill/>
                </a:ln>
                <a:solidFill>
                  <a:srgbClr val="0000FF"/>
                </a:solidFill>
                <a:effectLst/>
                <a:uLnTx/>
                <a:uFillTx/>
                <a:latin typeface="Times New Roman" pitchFamily="18" charset="0"/>
                <a:ea typeface="华文楷体" pitchFamily="2" charset="-122"/>
                <a:cs typeface="+mn-cs"/>
              </a:rPr>
              <a:t>连续时间傅里叶级数系数的确定</a:t>
            </a:r>
            <a:endParaRPr lang="en-US" dirty="0">
              <a:solidFill>
                <a:srgbClr val="0000FF"/>
              </a:solidFill>
            </a:endParaRPr>
          </a:p>
        </p:txBody>
      </p:sp>
      <p:sp>
        <p:nvSpPr>
          <p:cNvPr id="18" name="文本框 17">
            <a:extLst>
              <a:ext uri="{FF2B5EF4-FFF2-40B4-BE49-F238E27FC236}">
                <a16:creationId xmlns:a16="http://schemas.microsoft.com/office/drawing/2014/main" id="{A44D3FAD-7DF3-47AD-9728-1C7100BE9D5A}"/>
              </a:ext>
            </a:extLst>
          </p:cNvPr>
          <p:cNvSpPr txBox="1"/>
          <p:nvPr/>
        </p:nvSpPr>
        <p:spPr>
          <a:xfrm>
            <a:off x="457200" y="1844824"/>
            <a:ext cx="6347048" cy="461665"/>
          </a:xfrm>
          <a:prstGeom prst="rect">
            <a:avLst/>
          </a:prstGeom>
          <a:noFill/>
        </p:spPr>
        <p:txBody>
          <a:bodyPr wrap="square">
            <a:spAutoFit/>
          </a:bodyPr>
          <a:lstStyle/>
          <a:p>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cs typeface="+mn-cs"/>
              </a:rPr>
              <a:t>先考虑由若干正弦函数构成的简单周期信号。</a:t>
            </a:r>
            <a:endParaRPr lang="en-US" dirty="0"/>
          </a:p>
        </p:txBody>
      </p:sp>
      <mc:AlternateContent xmlns:mc="http://schemas.openxmlformats.org/markup-compatibility/2006" xmlns:a14="http://schemas.microsoft.com/office/drawing/2010/main">
        <mc:Choice Requires="a14">
          <p:sp>
            <p:nvSpPr>
              <p:cNvPr id="29" name="内容占位符 2">
                <a:extLst>
                  <a:ext uri="{FF2B5EF4-FFF2-40B4-BE49-F238E27FC236}">
                    <a16:creationId xmlns:a16="http://schemas.microsoft.com/office/drawing/2014/main" id="{0EE6DBB2-B133-4F62-B8F5-323CF3FF2955}"/>
                  </a:ext>
                </a:extLst>
              </p:cNvPr>
              <p:cNvSpPr>
                <a:spLocks noGrp="1"/>
              </p:cNvSpPr>
              <p:nvPr>
                <p:ph idx="1"/>
              </p:nvPr>
            </p:nvSpPr>
            <p:spPr>
              <a:xfrm>
                <a:off x="457200" y="2576670"/>
                <a:ext cx="3394720" cy="461665"/>
              </a:xfrm>
            </p:spPr>
            <p:txBody>
              <a:bodyPr wrap="square">
                <a:spAutoFit/>
              </a:bodyPr>
              <a:lstStyle/>
              <a:p>
                <a:r>
                  <a:rPr lang="zh-CN" altLang="en-US" sz="2400" b="0" dirty="0"/>
                  <a:t>例</a:t>
                </a:r>
                <a:r>
                  <a:rPr lang="en-US" altLang="zh-CN" sz="2400" b="0" dirty="0"/>
                  <a:t>1</a:t>
                </a:r>
                <a:r>
                  <a:rPr lang="zh-CN" altLang="en-US" sz="2400" b="0" dirty="0"/>
                  <a:t>：</a:t>
                </a:r>
                <a14:m>
                  <m:oMath xmlns:m="http://schemas.openxmlformats.org/officeDocument/2006/math">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b="0" i="0">
                            <a:solidFill>
                              <a:srgbClr val="000000"/>
                            </a:solidFill>
                            <a:latin typeface="Cambria Math" panose="02040503050406030204" pitchFamily="18" charset="0"/>
                          </a:rPr>
                          <m:t>cos</m:t>
                        </m:r>
                      </m:fName>
                      <m:e>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e>
                    </m:func>
                    <m:r>
                      <a:rPr lang="en-US" sz="2400" b="0" i="1">
                        <a:solidFill>
                          <a:srgbClr val="000000"/>
                        </a:solidFill>
                        <a:latin typeface="Cambria Math" panose="02040503050406030204" pitchFamily="18" charset="0"/>
                      </a:rPr>
                      <m:t>𝑡</m:t>
                    </m:r>
                  </m:oMath>
                </a14:m>
                <a:endParaRPr lang="zh-CN" altLang="en-US" sz="2400" b="0" dirty="0"/>
              </a:p>
            </p:txBody>
          </p:sp>
        </mc:Choice>
        <mc:Fallback xmlns="">
          <p:sp>
            <p:nvSpPr>
              <p:cNvPr id="29" name="内容占位符 2">
                <a:extLst>
                  <a:ext uri="{FF2B5EF4-FFF2-40B4-BE49-F238E27FC236}">
                    <a16:creationId xmlns:a16="http://schemas.microsoft.com/office/drawing/2014/main" id="{0EE6DBB2-B133-4F62-B8F5-323CF3FF2955}"/>
                  </a:ext>
                </a:extLst>
              </p:cNvPr>
              <p:cNvSpPr>
                <a:spLocks noGrp="1" noRot="1" noChangeAspect="1" noMove="1" noResize="1" noEditPoints="1" noAdjustHandles="1" noChangeArrowheads="1" noChangeShapeType="1" noTextEdit="1"/>
              </p:cNvSpPr>
              <p:nvPr>
                <p:ph idx="1"/>
              </p:nvPr>
            </p:nvSpPr>
            <p:spPr>
              <a:xfrm>
                <a:off x="457200" y="2576670"/>
                <a:ext cx="3394720" cy="461665"/>
              </a:xfrm>
              <a:blipFill>
                <a:blip r:embed="rId2"/>
                <a:stretch>
                  <a:fillRect l="-2334" t="-12000" b="-3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bject 6">
                <a:extLst>
                  <a:ext uri="{FF2B5EF4-FFF2-40B4-BE49-F238E27FC236}">
                    <a16:creationId xmlns:a16="http://schemas.microsoft.com/office/drawing/2014/main" id="{FBD41616-8B5D-4364-A374-304DA0106BD6}"/>
                  </a:ext>
                </a:extLst>
              </p:cNvPr>
              <p:cNvSpPr txBox="1"/>
              <p:nvPr/>
            </p:nvSpPr>
            <p:spPr bwMode="auto">
              <a:xfrm>
                <a:off x="2299549" y="5035939"/>
                <a:ext cx="5408438" cy="783804"/>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b="0" i="1">
                              <a:solidFill>
                                <a:srgbClr val="000000"/>
                              </a:solidFill>
                              <a:latin typeface="Cambria Math" panose="02040503050406030204" pitchFamily="18" charset="0"/>
                            </a:rPr>
                            <m:t>1</m:t>
                          </m:r>
                        </m:num>
                        <m:den>
                          <m:r>
                            <a:rPr lang="en-US" sz="2400" b="0" i="1">
                              <a:solidFill>
                                <a:srgbClr val="000000"/>
                              </a:solidFill>
                              <a:latin typeface="Cambria Math" panose="02040503050406030204" pitchFamily="18" charset="0"/>
                            </a:rPr>
                            <m:t>2</m:t>
                          </m:r>
                        </m:den>
                      </m:f>
                      <m:r>
                        <a:rPr lang="en-US" sz="2400" b="0" i="1" smtClean="0">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m:rPr>
                              <m:sty m:val="p"/>
                            </m:rPr>
                            <a:rPr lang="en-US" sz="2400" b="0" i="0">
                              <a:solidFill>
                                <a:srgbClr val="000000"/>
                              </a:solidFill>
                              <a:latin typeface="Cambria Math" panose="02040503050406030204" pitchFamily="18" charset="0"/>
                            </a:rPr>
                            <m:t>j</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𝑡</m:t>
                          </m:r>
                        </m:sup>
                      </m:sSup>
                      <m:r>
                        <a:rPr lang="en-US" sz="2400" b="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a:rPr lang="en-US" sz="2400" b="0" i="1">
                              <a:solidFill>
                                <a:srgbClr val="000000"/>
                              </a:solidFill>
                              <a:latin typeface="Cambria Math" panose="02040503050406030204" pitchFamily="18" charset="0"/>
                            </a:rPr>
                            <m:t>−</m:t>
                          </m:r>
                          <m:r>
                            <m:rPr>
                              <m:sty m:val="p"/>
                            </m:rPr>
                            <a:rPr lang="en-US" sz="2400" b="0" i="0">
                              <a:solidFill>
                                <a:srgbClr val="000000"/>
                              </a:solidFill>
                              <a:latin typeface="Cambria Math" panose="02040503050406030204" pitchFamily="18" charset="0"/>
                            </a:rPr>
                            <m:t>j</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𝑡</m:t>
                          </m:r>
                        </m:sup>
                      </m:sSup>
                      <m:r>
                        <a:rPr lang="en-US" sz="2400" b="0" i="1" smtClean="0">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m:rPr>
                              <m:sty m:val="p"/>
                            </m:rPr>
                            <a:rPr lang="en-US" sz="2400" b="0" i="0">
                              <a:solidFill>
                                <a:srgbClr val="000000"/>
                              </a:solidFill>
                              <a:latin typeface="Cambria Math" panose="02040503050406030204" pitchFamily="18" charset="0"/>
                            </a:rPr>
                            <m:t>j</m:t>
                          </m:r>
                          <m:r>
                            <a:rPr lang="en-US" sz="2400" b="0" i="1">
                              <a:solidFill>
                                <a:srgbClr val="000000"/>
                              </a:solidFill>
                              <a:latin typeface="Cambria Math" panose="02040503050406030204" pitchFamily="18" charset="0"/>
                            </a:rPr>
                            <m:t>3</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𝑡</m:t>
                          </m:r>
                        </m:sup>
                      </m:sSup>
                      <m:r>
                        <a:rPr lang="en-US" sz="2400" b="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a:rPr lang="en-US" sz="2400" b="0" i="1">
                              <a:solidFill>
                                <a:srgbClr val="000000"/>
                              </a:solidFill>
                              <a:latin typeface="Cambria Math" panose="02040503050406030204" pitchFamily="18" charset="0"/>
                            </a:rPr>
                            <m:t>−</m:t>
                          </m:r>
                          <m:r>
                            <m:rPr>
                              <m:sty m:val="p"/>
                            </m:rPr>
                            <a:rPr lang="en-US" sz="2400" b="0" i="0">
                              <a:solidFill>
                                <a:srgbClr val="000000"/>
                              </a:solidFill>
                              <a:latin typeface="Cambria Math" panose="02040503050406030204" pitchFamily="18" charset="0"/>
                            </a:rPr>
                            <m:t>j</m:t>
                          </m:r>
                          <m:r>
                            <a:rPr lang="en-US" sz="2400" b="0" i="1">
                              <a:solidFill>
                                <a:srgbClr val="000000"/>
                              </a:solidFill>
                              <a:latin typeface="Cambria Math" panose="02040503050406030204" pitchFamily="18" charset="0"/>
                            </a:rPr>
                            <m:t>3</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𝑡</m:t>
                          </m:r>
                        </m:sup>
                      </m:sSup>
                    </m:oMath>
                  </m:oMathPara>
                </a14:m>
                <a:endParaRPr lang="en-US" sz="2400" dirty="0"/>
              </a:p>
            </p:txBody>
          </p:sp>
        </mc:Choice>
        <mc:Fallback xmlns="">
          <p:sp>
            <p:nvSpPr>
              <p:cNvPr id="30" name="Object 6">
                <a:extLst>
                  <a:ext uri="{FF2B5EF4-FFF2-40B4-BE49-F238E27FC236}">
                    <a16:creationId xmlns:a16="http://schemas.microsoft.com/office/drawing/2014/main" id="{FBD41616-8B5D-4364-A374-304DA0106BD6}"/>
                  </a:ext>
                </a:extLst>
              </p:cNvPr>
              <p:cNvSpPr txBox="1">
                <a:spLocks noRot="1" noChangeAspect="1" noMove="1" noResize="1" noEditPoints="1" noAdjustHandles="1" noChangeArrowheads="1" noChangeShapeType="1" noTextEdit="1"/>
              </p:cNvSpPr>
              <p:nvPr/>
            </p:nvSpPr>
            <p:spPr bwMode="auto">
              <a:xfrm>
                <a:off x="2299549" y="5035939"/>
                <a:ext cx="5408438" cy="783804"/>
              </a:xfrm>
              <a:prstGeom prst="rect">
                <a:avLst/>
              </a:prstGeom>
              <a:blipFill>
                <a:blip r:embed="rId3"/>
                <a:stretch>
                  <a:fillRect/>
                </a:stretch>
              </a:blipFill>
              <a:ln>
                <a:noFill/>
              </a:ln>
              <a:effectLst/>
            </p:spPr>
            <p:txBody>
              <a:bodyPr/>
              <a:lstStyle/>
              <a:p>
                <a:r>
                  <a:rPr lang="en-US">
                    <a:noFill/>
                  </a:rPr>
                  <a:t> </a:t>
                </a:r>
              </a:p>
            </p:txBody>
          </p:sp>
        </mc:Fallback>
      </mc:AlternateContent>
      <p:sp>
        <p:nvSpPr>
          <p:cNvPr id="31" name="文本框 30">
            <a:extLst>
              <a:ext uri="{FF2B5EF4-FFF2-40B4-BE49-F238E27FC236}">
                <a16:creationId xmlns:a16="http://schemas.microsoft.com/office/drawing/2014/main" id="{A878C1B4-11E5-4134-A7E0-0888E8AF8D60}"/>
              </a:ext>
            </a:extLst>
          </p:cNvPr>
          <p:cNvSpPr txBox="1"/>
          <p:nvPr/>
        </p:nvSpPr>
        <p:spPr>
          <a:xfrm>
            <a:off x="811682" y="3536942"/>
            <a:ext cx="3256262" cy="461665"/>
          </a:xfrm>
          <a:prstGeom prst="rect">
            <a:avLst/>
          </a:prstGeom>
          <a:noFill/>
        </p:spPr>
        <p:txBody>
          <a:bodyPr wrap="square">
            <a:spAutoFit/>
          </a:bodyPr>
          <a:lstStyle/>
          <a:p>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该傅里叶级数的系数为</a:t>
            </a:r>
            <a:endParaRPr lang="en-US" sz="2400" dirty="0"/>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4EA3188C-848D-4850-B154-66A114F0B2A6}"/>
                  </a:ext>
                </a:extLst>
              </p:cNvPr>
              <p:cNvSpPr txBox="1"/>
              <p:nvPr/>
            </p:nvSpPr>
            <p:spPr>
              <a:xfrm>
                <a:off x="457200" y="4343185"/>
                <a:ext cx="5112568" cy="461665"/>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例</a:t>
                </a:r>
                <a:r>
                  <a:rPr kumimoji="0" lang="en-US" altLang="zh-CN"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2</a:t>
                </a:r>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a:t>
                </a:r>
                <a14:m>
                  <m:oMath xmlns:m="http://schemas.openxmlformats.org/officeDocument/2006/math">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func>
                      <m:funcPr>
                        <m:ctrlPr>
                          <a:rPr lang="en-US" sz="2400" i="1">
                            <a:solidFill>
                              <a:srgbClr val="000000"/>
                            </a:solidFill>
                            <a:latin typeface="Cambria Math" panose="02040503050406030204" pitchFamily="18" charset="0"/>
                          </a:rPr>
                        </m:ctrlPr>
                      </m:funcPr>
                      <m:fName>
                        <m:r>
                          <m:rPr>
                            <m:sty m:val="p"/>
                          </m:rPr>
                          <a:rPr lang="en-US" sz="2400" b="0" i="0">
                            <a:solidFill>
                              <a:srgbClr val="000000"/>
                            </a:solidFill>
                            <a:latin typeface="Cambria Math" panose="02040503050406030204" pitchFamily="18" charset="0"/>
                          </a:rPr>
                          <m:t>cos</m:t>
                        </m:r>
                      </m:fName>
                      <m:e>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e>
                    </m:func>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+2</m:t>
                    </m:r>
                    <m:func>
                      <m:funcPr>
                        <m:ctrlPr>
                          <a:rPr lang="en-US" sz="2400" i="1">
                            <a:solidFill>
                              <a:srgbClr val="000000"/>
                            </a:solidFill>
                            <a:latin typeface="Cambria Math" panose="02040503050406030204" pitchFamily="18" charset="0"/>
                          </a:rPr>
                        </m:ctrlPr>
                      </m:funcPr>
                      <m:fName>
                        <m:r>
                          <m:rPr>
                            <m:sty m:val="p"/>
                          </m:rPr>
                          <a:rPr lang="en-US" sz="2400" b="0" i="0">
                            <a:solidFill>
                              <a:srgbClr val="000000"/>
                            </a:solidFill>
                            <a:latin typeface="Cambria Math" panose="02040503050406030204" pitchFamily="18" charset="0"/>
                          </a:rPr>
                          <m:t>cos</m:t>
                        </m:r>
                      </m:fName>
                      <m:e>
                        <m:r>
                          <a:rPr lang="en-US" sz="2400" b="0" i="1">
                            <a:solidFill>
                              <a:srgbClr val="000000"/>
                            </a:solidFill>
                            <a:latin typeface="Cambria Math" panose="02040503050406030204" pitchFamily="18" charset="0"/>
                          </a:rPr>
                          <m:t>3</m:t>
                        </m:r>
                      </m:e>
                    </m:func>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𝑡</m:t>
                    </m:r>
                  </m:oMath>
                </a14:m>
                <a:endParaRPr lang="en-US" sz="2400" dirty="0"/>
              </a:p>
            </p:txBody>
          </p:sp>
        </mc:Choice>
        <mc:Fallback xmlns="">
          <p:sp>
            <p:nvSpPr>
              <p:cNvPr id="32" name="文本框 31">
                <a:extLst>
                  <a:ext uri="{FF2B5EF4-FFF2-40B4-BE49-F238E27FC236}">
                    <a16:creationId xmlns:a16="http://schemas.microsoft.com/office/drawing/2014/main" id="{4EA3188C-848D-4850-B154-66A114F0B2A6}"/>
                  </a:ext>
                </a:extLst>
              </p:cNvPr>
              <p:cNvSpPr txBox="1">
                <a:spLocks noRot="1" noChangeAspect="1" noMove="1" noResize="1" noEditPoints="1" noAdjustHandles="1" noChangeArrowheads="1" noChangeShapeType="1" noTextEdit="1"/>
              </p:cNvSpPr>
              <p:nvPr/>
            </p:nvSpPr>
            <p:spPr>
              <a:xfrm>
                <a:off x="457200" y="4343185"/>
                <a:ext cx="5112568" cy="461665"/>
              </a:xfrm>
              <a:prstGeom prst="rect">
                <a:avLst/>
              </a:prstGeom>
              <a:blipFill>
                <a:blip r:embed="rId4"/>
                <a:stretch>
                  <a:fillRect l="-1549" t="-11842" b="-30263"/>
                </a:stretch>
              </a:blipFill>
            </p:spPr>
            <p:txBody>
              <a:bodyPr/>
              <a:lstStyle/>
              <a:p>
                <a:r>
                  <a:rPr lang="en-US">
                    <a:noFill/>
                  </a:rPr>
                  <a:t> </a:t>
                </a:r>
              </a:p>
            </p:txBody>
          </p:sp>
        </mc:Fallback>
      </mc:AlternateContent>
      <p:sp>
        <p:nvSpPr>
          <p:cNvPr id="33" name="文本框 32">
            <a:extLst>
              <a:ext uri="{FF2B5EF4-FFF2-40B4-BE49-F238E27FC236}">
                <a16:creationId xmlns:a16="http://schemas.microsoft.com/office/drawing/2014/main" id="{EB752D20-8D20-4EE8-BEF5-CEDC43540EA3}"/>
              </a:ext>
            </a:extLst>
          </p:cNvPr>
          <p:cNvSpPr txBox="1"/>
          <p:nvPr/>
        </p:nvSpPr>
        <p:spPr>
          <a:xfrm>
            <a:off x="811682" y="6072452"/>
            <a:ext cx="3240360" cy="461665"/>
          </a:xfrm>
          <a:prstGeom prst="rect">
            <a:avLst/>
          </a:prstGeom>
          <a:noFill/>
        </p:spPr>
        <p:txBody>
          <a:bodyPr wrap="square">
            <a:spAutoFit/>
          </a:bodyPr>
          <a:lstStyle/>
          <a:p>
            <a:r>
              <a:rPr kumimoji="0" lang="zh-CN" altLang="en-US" sz="2400" i="0" u="none" strike="noStrike" kern="1200" cap="none" spc="0" normalizeH="0" baseline="0" noProof="0" dirty="0">
                <a:ln>
                  <a:noFill/>
                </a:ln>
                <a:solidFill>
                  <a:prstClr val="black"/>
                </a:solidFill>
                <a:effectLst/>
                <a:uLnTx/>
                <a:uFillTx/>
                <a:latin typeface="Times New Roman" pitchFamily="18" charset="0"/>
                <a:ea typeface="华文楷体" pitchFamily="2" charset="-122"/>
              </a:rPr>
              <a:t>该傅里叶级数的系数为</a:t>
            </a:r>
            <a:endParaRPr lang="en-US" sz="2400" dirty="0"/>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5CFF9EB1-4A16-42A4-A419-AEA4D25D71BC}"/>
                  </a:ext>
                </a:extLst>
              </p:cNvPr>
              <p:cNvSpPr txBox="1"/>
              <p:nvPr/>
            </p:nvSpPr>
            <p:spPr>
              <a:xfrm>
                <a:off x="3885349" y="3328292"/>
                <a:ext cx="1406732" cy="783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oMath>
                  </m:oMathPara>
                </a14:m>
                <a:endParaRPr lang="en-US" dirty="0"/>
              </a:p>
            </p:txBody>
          </p:sp>
        </mc:Choice>
        <mc:Fallback xmlns="">
          <p:sp>
            <p:nvSpPr>
              <p:cNvPr id="35" name="文本框 34">
                <a:extLst>
                  <a:ext uri="{FF2B5EF4-FFF2-40B4-BE49-F238E27FC236}">
                    <a16:creationId xmlns:a16="http://schemas.microsoft.com/office/drawing/2014/main" id="{5CFF9EB1-4A16-42A4-A419-AEA4D25D71BC}"/>
                  </a:ext>
                </a:extLst>
              </p:cNvPr>
              <p:cNvSpPr txBox="1">
                <a:spLocks noRot="1" noChangeAspect="1" noMove="1" noResize="1" noEditPoints="1" noAdjustHandles="1" noChangeArrowheads="1" noChangeShapeType="1" noTextEdit="1"/>
              </p:cNvSpPr>
              <p:nvPr/>
            </p:nvSpPr>
            <p:spPr>
              <a:xfrm>
                <a:off x="3885349" y="3328292"/>
                <a:ext cx="1406732" cy="7838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1F73BD03-3932-4A5E-8BEB-FE5A28260875}"/>
                  </a:ext>
                </a:extLst>
              </p:cNvPr>
              <p:cNvSpPr txBox="1"/>
              <p:nvPr/>
            </p:nvSpPr>
            <p:spPr>
              <a:xfrm>
                <a:off x="3635896" y="2410748"/>
                <a:ext cx="2877237" cy="783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f>
                        <m:fPr>
                          <m:ctrlPr>
                            <a:rPr kumimoji="0" 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sSup>
                        <m:sSupPr>
                          <m:ctrlPr>
                            <a:rPr kumimoji="0" 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j</m:t>
                          </m:r>
                          <m:sSub>
                            <m:sSubPr>
                              <m:ctrlPr>
                                <a:rPr kumimoji="0" 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sSup>
                        <m:sSupPr>
                          <m:ctrlPr>
                            <a:rPr kumimoji="0" 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ctrlPr>
                        </m:sSupPr>
                        <m:e>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e</m:t>
                          </m:r>
                        </m:e>
                        <m:sup>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0" lang="en-US" sz="2400" b="0" i="0" u="none" strike="noStrike" kern="1200" cap="none" spc="0" normalizeH="0" baseline="0" noProof="0">
                              <a:ln>
                                <a:noFill/>
                              </a:ln>
                              <a:solidFill>
                                <a:srgbClr val="000000"/>
                              </a:solidFill>
                              <a:effectLst/>
                              <a:uLnTx/>
                              <a:uFillTx/>
                              <a:latin typeface="Cambria Math" panose="02040503050406030204" pitchFamily="18" charset="0"/>
                              <a:cs typeface="+mn-cs"/>
                            </a:rPr>
                            <m:t>j</m:t>
                          </m:r>
                          <m:sSub>
                            <m:sSubPr>
                              <m:ctrlPr>
                                <a:rPr kumimoji="0" 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𝑡</m:t>
                          </m:r>
                        </m:sup>
                      </m:sSup>
                    </m:oMath>
                  </m:oMathPara>
                </a14:m>
                <a:endParaRPr lang="en-US" dirty="0"/>
              </a:p>
            </p:txBody>
          </p:sp>
        </mc:Choice>
        <mc:Fallback xmlns="">
          <p:sp>
            <p:nvSpPr>
              <p:cNvPr id="36" name="文本框 35">
                <a:extLst>
                  <a:ext uri="{FF2B5EF4-FFF2-40B4-BE49-F238E27FC236}">
                    <a16:creationId xmlns:a16="http://schemas.microsoft.com/office/drawing/2014/main" id="{1F73BD03-3932-4A5E-8BEB-FE5A28260875}"/>
                  </a:ext>
                </a:extLst>
              </p:cNvPr>
              <p:cNvSpPr txBox="1">
                <a:spLocks noRot="1" noChangeAspect="1" noMove="1" noResize="1" noEditPoints="1" noAdjustHandles="1" noChangeArrowheads="1" noChangeShapeType="1" noTextEdit="1"/>
              </p:cNvSpPr>
              <p:nvPr/>
            </p:nvSpPr>
            <p:spPr>
              <a:xfrm>
                <a:off x="3635896" y="2410748"/>
                <a:ext cx="2877237" cy="78380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AC0A9057-C768-45D6-AF35-20C5434C131C}"/>
                  </a:ext>
                </a:extLst>
              </p:cNvPr>
              <p:cNvSpPr txBox="1"/>
              <p:nvPr/>
            </p:nvSpPr>
            <p:spPr>
              <a:xfrm>
                <a:off x="3923928" y="5885556"/>
                <a:ext cx="2502024" cy="783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num>
                        <m:den>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2</m:t>
                          </m:r>
                        </m:den>
                      </m:f>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𝑎</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±3</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=1.</m:t>
                      </m:r>
                    </m:oMath>
                  </m:oMathPara>
                </a14:m>
                <a:endParaRPr lang="en-US" dirty="0"/>
              </a:p>
            </p:txBody>
          </p:sp>
        </mc:Choice>
        <mc:Fallback xmlns="">
          <p:sp>
            <p:nvSpPr>
              <p:cNvPr id="37" name="文本框 36">
                <a:extLst>
                  <a:ext uri="{FF2B5EF4-FFF2-40B4-BE49-F238E27FC236}">
                    <a16:creationId xmlns:a16="http://schemas.microsoft.com/office/drawing/2014/main" id="{AC0A9057-C768-45D6-AF35-20C5434C131C}"/>
                  </a:ext>
                </a:extLst>
              </p:cNvPr>
              <p:cNvSpPr txBox="1">
                <a:spLocks noRot="1" noChangeAspect="1" noMove="1" noResize="1" noEditPoints="1" noAdjustHandles="1" noChangeArrowheads="1" noChangeShapeType="1" noTextEdit="1"/>
              </p:cNvSpPr>
              <p:nvPr/>
            </p:nvSpPr>
            <p:spPr>
              <a:xfrm>
                <a:off x="3923928" y="5885556"/>
                <a:ext cx="2502024" cy="783804"/>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88459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1+#ppt_w/2"/>
                                          </p:val>
                                        </p:tav>
                                        <p:tav tm="100000">
                                          <p:val>
                                            <p:strVal val="#ppt_x"/>
                                          </p:val>
                                        </p:tav>
                                      </p:tavLst>
                                    </p:anim>
                                    <p:anim calcmode="lin" valueType="num">
                                      <p:cBhvr additive="base">
                                        <p:cTn id="8"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additive="base">
                                        <p:cTn id="13" dur="500" fill="hold"/>
                                        <p:tgtEl>
                                          <p:spTgt spid="35"/>
                                        </p:tgtEl>
                                        <p:attrNameLst>
                                          <p:attrName>ppt_x</p:attrName>
                                        </p:attrNameLst>
                                      </p:cBhvr>
                                      <p:tavLst>
                                        <p:tav tm="0">
                                          <p:val>
                                            <p:strVal val="1+#ppt_w/2"/>
                                          </p:val>
                                        </p:tav>
                                        <p:tav tm="100000">
                                          <p:val>
                                            <p:strVal val="#ppt_x"/>
                                          </p:val>
                                        </p:tav>
                                      </p:tavLst>
                                    </p:anim>
                                    <p:anim calcmode="lin" valueType="num">
                                      <p:cBhvr additive="base">
                                        <p:cTn id="14"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1+#ppt_w/2"/>
                                          </p:val>
                                        </p:tav>
                                        <p:tav tm="100000">
                                          <p:val>
                                            <p:strVal val="#ppt_x"/>
                                          </p:val>
                                        </p:tav>
                                      </p:tavLst>
                                    </p:anim>
                                    <p:anim calcmode="lin" valueType="num">
                                      <p:cBhvr additive="base">
                                        <p:cTn id="20"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ppt_x"/>
                                          </p:val>
                                        </p:tav>
                                        <p:tav tm="100000">
                                          <p:val>
                                            <p:strVal val="#ppt_x"/>
                                          </p:val>
                                        </p:tav>
                                      </p:tavLst>
                                    </p:anim>
                                    <p:anim calcmode="lin" valueType="num">
                                      <p:cBhvr additive="base">
                                        <p:cTn id="2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5" grpId="0"/>
      <p:bldP spid="36" grpId="0"/>
      <p:bldP spid="3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8" name="标题 1">
            <a:extLst>
              <a:ext uri="{FF2B5EF4-FFF2-40B4-BE49-F238E27FC236}">
                <a16:creationId xmlns:a16="http://schemas.microsoft.com/office/drawing/2014/main" id="{E30FAE70-C92A-46D7-BCC5-AACB33ECFF09}"/>
              </a:ext>
            </a:extLst>
          </p:cNvPr>
          <p:cNvSpPr>
            <a:spLocks noGrp="1"/>
          </p:cNvSpPr>
          <p:nvPr>
            <p:ph type="title"/>
          </p:nvPr>
        </p:nvSpPr>
        <p:spPr/>
        <p:txBody>
          <a:bodyPr/>
          <a:lstStyle/>
          <a:p>
            <a:r>
              <a:rPr lang="en-US" altLang="zh-CN" sz="3200" dirty="0"/>
              <a:t>3.3  </a:t>
            </a:r>
            <a:r>
              <a:rPr lang="zh-CN" altLang="en-US" sz="3200" dirty="0"/>
              <a:t>连续时间周期信号的傅里叶级数表示</a:t>
            </a:r>
          </a:p>
        </p:txBody>
      </p:sp>
      <p:sp>
        <p:nvSpPr>
          <p:cNvPr id="4" name="灯片编号占位符 3">
            <a:extLst>
              <a:ext uri="{FF2B5EF4-FFF2-40B4-BE49-F238E27FC236}">
                <a16:creationId xmlns:a16="http://schemas.microsoft.com/office/drawing/2014/main" id="{B2877604-31B8-480F-9191-5832129384A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5B12D4-2E3F-4D2D-B582-B7E3E50DB9AC}" type="slidenum">
              <a:rPr lang="zh-CN" altLang="en-US">
                <a:solidFill>
                  <a:srgbClr val="898989"/>
                </a:solidFill>
                <a:latin typeface="Calibri" panose="020F0502020204030204" pitchFamily="34" charset="0"/>
              </a:rPr>
              <a:pPr eaLnBrk="1" hangingPunct="1"/>
              <a:t>19</a:t>
            </a:fld>
            <a:endParaRPr lang="zh-CN" altLang="en-US">
              <a:solidFill>
                <a:srgbClr val="898989"/>
              </a:solidFill>
              <a:latin typeface="Calibri" panose="020F0502020204030204" pitchFamily="34" charset="0"/>
            </a:endParaRPr>
          </a:p>
        </p:txBody>
      </p:sp>
      <p:pic>
        <p:nvPicPr>
          <p:cNvPr id="14" name="Picture 5" descr="lec5s10_2">
            <a:extLst>
              <a:ext uri="{FF2B5EF4-FFF2-40B4-BE49-F238E27FC236}">
                <a16:creationId xmlns:a16="http://schemas.microsoft.com/office/drawing/2014/main" id="{94E8AAA3-3F1F-4E93-9815-81A24E24FBB0}"/>
              </a:ext>
            </a:extLst>
          </p:cNvPr>
          <p:cNvPicPr>
            <a:picLocks noChangeAspect="1" noChangeArrowheads="1"/>
          </p:cNvPicPr>
          <p:nvPr>
            <p:custDataLst>
              <p:tags r:id="rId2"/>
            </p:custDataLst>
          </p:nvPr>
        </p:nvPicPr>
        <p:blipFill>
          <a:blip r:embed="rId13">
            <a:lum contrast="6000"/>
            <a:extLst>
              <a:ext uri="{28A0092B-C50C-407E-A947-70E740481C1C}">
                <a14:useLocalDpi xmlns:a14="http://schemas.microsoft.com/office/drawing/2010/main" val="0"/>
              </a:ext>
            </a:extLst>
          </a:blip>
          <a:srcRect/>
          <a:stretch>
            <a:fillRect/>
          </a:stretch>
        </p:blipFill>
        <p:spPr bwMode="auto">
          <a:xfrm>
            <a:off x="1285081" y="3422649"/>
            <a:ext cx="785813" cy="273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6" descr="lec5s10_1">
            <a:extLst>
              <a:ext uri="{FF2B5EF4-FFF2-40B4-BE49-F238E27FC236}">
                <a16:creationId xmlns:a16="http://schemas.microsoft.com/office/drawing/2014/main" id="{7F3D56C9-ADA8-4009-AC5D-9DFB089DBBA5}"/>
              </a:ext>
            </a:extLst>
          </p:cNvPr>
          <p:cNvPicPr>
            <a:picLocks noChangeAspect="1" noChangeArrowheads="1"/>
          </p:cNvPicPr>
          <p:nvPr>
            <p:custDataLst>
              <p:tags r:id="rId3"/>
            </p:custDataLst>
          </p:nvPr>
        </p:nvPicPr>
        <p:blipFill>
          <a:blip r:embed="rId14">
            <a:lum contrast="6000"/>
            <a:extLst>
              <a:ext uri="{28A0092B-C50C-407E-A947-70E740481C1C}">
                <a14:useLocalDpi xmlns:a14="http://schemas.microsoft.com/office/drawing/2010/main" val="0"/>
              </a:ext>
            </a:extLst>
          </a:blip>
          <a:srcRect/>
          <a:stretch>
            <a:fillRect/>
          </a:stretch>
        </p:blipFill>
        <p:spPr bwMode="auto">
          <a:xfrm>
            <a:off x="1540669" y="1774824"/>
            <a:ext cx="324802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7" descr="lec5s10_1">
            <a:extLst>
              <a:ext uri="{FF2B5EF4-FFF2-40B4-BE49-F238E27FC236}">
                <a16:creationId xmlns:a16="http://schemas.microsoft.com/office/drawing/2014/main" id="{3AE1C64B-D05C-4629-95E8-B92142A22287}"/>
              </a:ext>
            </a:extLst>
          </p:cNvPr>
          <p:cNvPicPr>
            <a:picLocks noChangeAspect="1" noChangeArrowheads="1"/>
          </p:cNvPicPr>
          <p:nvPr>
            <p:custDataLst>
              <p:tags r:id="rId4"/>
            </p:custDataLst>
          </p:nvPr>
        </p:nvPicPr>
        <p:blipFill>
          <a:blip r:embed="rId15">
            <a:lum contrast="6000"/>
            <a:extLst>
              <a:ext uri="{28A0092B-C50C-407E-A947-70E740481C1C}">
                <a14:useLocalDpi xmlns:a14="http://schemas.microsoft.com/office/drawing/2010/main" val="0"/>
              </a:ext>
            </a:extLst>
          </a:blip>
          <a:srcRect/>
          <a:stretch>
            <a:fillRect/>
          </a:stretch>
        </p:blipFill>
        <p:spPr bwMode="auto">
          <a:xfrm>
            <a:off x="3620294" y="2917824"/>
            <a:ext cx="18272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8" descr="lec5s10_1">
            <a:extLst>
              <a:ext uri="{FF2B5EF4-FFF2-40B4-BE49-F238E27FC236}">
                <a16:creationId xmlns:a16="http://schemas.microsoft.com/office/drawing/2014/main" id="{ECE38CAF-36E4-45C7-9782-155D40A13C6D}"/>
              </a:ext>
            </a:extLst>
          </p:cNvPr>
          <p:cNvPicPr>
            <a:picLocks noChangeAspect="1" noChangeArrowheads="1"/>
          </p:cNvPicPr>
          <p:nvPr>
            <p:custDataLst>
              <p:tags r:id="rId5"/>
            </p:custDataLst>
          </p:nvPr>
        </p:nvPicPr>
        <p:blipFill>
          <a:blip r:embed="rId16">
            <a:lum contrast="6000"/>
            <a:extLst>
              <a:ext uri="{28A0092B-C50C-407E-A947-70E740481C1C}">
                <a14:useLocalDpi xmlns:a14="http://schemas.microsoft.com/office/drawing/2010/main" val="0"/>
              </a:ext>
            </a:extLst>
          </a:blip>
          <a:srcRect/>
          <a:stretch>
            <a:fillRect/>
          </a:stretch>
        </p:blipFill>
        <p:spPr bwMode="auto">
          <a:xfrm>
            <a:off x="4242594" y="2917824"/>
            <a:ext cx="274637"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9" descr="lec5s10_1">
            <a:extLst>
              <a:ext uri="{FF2B5EF4-FFF2-40B4-BE49-F238E27FC236}">
                <a16:creationId xmlns:a16="http://schemas.microsoft.com/office/drawing/2014/main" id="{63EBB8D0-2569-4613-BD3B-29A164AC382C}"/>
              </a:ext>
            </a:extLst>
          </p:cNvPr>
          <p:cNvPicPr>
            <a:picLocks noChangeAspect="1" noChangeArrowheads="1"/>
          </p:cNvPicPr>
          <p:nvPr>
            <p:custDataLst>
              <p:tags r:id="rId6"/>
            </p:custDataLst>
          </p:nvPr>
        </p:nvPicPr>
        <p:blipFill>
          <a:blip r:embed="rId17">
            <a:lum contrast="6000"/>
            <a:extLst>
              <a:ext uri="{28A0092B-C50C-407E-A947-70E740481C1C}">
                <a14:useLocalDpi xmlns:a14="http://schemas.microsoft.com/office/drawing/2010/main" val="0"/>
              </a:ext>
            </a:extLst>
          </a:blip>
          <a:srcRect/>
          <a:stretch>
            <a:fillRect/>
          </a:stretch>
        </p:blipFill>
        <p:spPr bwMode="auto">
          <a:xfrm>
            <a:off x="5636419" y="2774949"/>
            <a:ext cx="172402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0">
            <a:extLst>
              <a:ext uri="{FF2B5EF4-FFF2-40B4-BE49-F238E27FC236}">
                <a16:creationId xmlns:a16="http://schemas.microsoft.com/office/drawing/2014/main" id="{F5A003A7-06AC-42E9-A8C1-F7F039877DF1}"/>
              </a:ext>
            </a:extLst>
          </p:cNvPr>
          <p:cNvSpPr txBox="1">
            <a:spLocks noChangeArrowheads="1"/>
          </p:cNvSpPr>
          <p:nvPr/>
        </p:nvSpPr>
        <p:spPr bwMode="auto">
          <a:xfrm>
            <a:off x="2267744" y="3275012"/>
            <a:ext cx="16671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41375" eaLnBrk="0" hangingPunct="0">
              <a:defRPr>
                <a:solidFill>
                  <a:schemeClr val="tx1"/>
                </a:solidFill>
                <a:latin typeface="Times New Roman" panose="02020603050405020304" pitchFamily="18" charset="0"/>
              </a:defRPr>
            </a:lvl1pPr>
            <a:lvl2pPr marL="742950" indent="-285750" defTabSz="841375" eaLnBrk="0" hangingPunct="0">
              <a:defRPr>
                <a:solidFill>
                  <a:schemeClr val="tx1"/>
                </a:solidFill>
                <a:latin typeface="Times New Roman" panose="02020603050405020304" pitchFamily="18" charset="0"/>
              </a:defRPr>
            </a:lvl2pPr>
            <a:lvl3pPr marL="1143000" indent="-228600" defTabSz="841375" eaLnBrk="0" hangingPunct="0">
              <a:defRPr>
                <a:solidFill>
                  <a:schemeClr val="tx1"/>
                </a:solidFill>
                <a:latin typeface="Times New Roman" panose="02020603050405020304" pitchFamily="18" charset="0"/>
              </a:defRPr>
            </a:lvl3pPr>
            <a:lvl4pPr marL="1600200" indent="-228600" defTabSz="841375" eaLnBrk="0" hangingPunct="0">
              <a:defRPr>
                <a:solidFill>
                  <a:schemeClr val="tx1"/>
                </a:solidFill>
                <a:latin typeface="Times New Roman" panose="02020603050405020304" pitchFamily="18" charset="0"/>
              </a:defRPr>
            </a:lvl4pPr>
            <a:lvl5pPr marL="2057400" indent="-228600" defTabSz="841375" eaLnBrk="0" hangingPunct="0">
              <a:defRPr>
                <a:solidFill>
                  <a:schemeClr val="tx1"/>
                </a:solidFill>
                <a:latin typeface="Times New Roman" panose="02020603050405020304" pitchFamily="18" charset="0"/>
              </a:defRPr>
            </a:lvl5pPr>
            <a:lvl6pPr marL="25146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0"/>
              </a:spcBef>
              <a:buFontTx/>
              <a:buNone/>
            </a:pPr>
            <a:r>
              <a:rPr lang="en-US" altLang="zh-CN" sz="2000" dirty="0">
                <a:solidFill>
                  <a:srgbClr val="0000FF"/>
                </a:solidFill>
                <a:ea typeface="华文楷体" panose="02010600040101010101" pitchFamily="2" charset="-122"/>
              </a:rPr>
              <a:t>0 – </a:t>
            </a:r>
            <a:r>
              <a:rPr lang="zh-CN" altLang="en-US" sz="2000" dirty="0">
                <a:solidFill>
                  <a:srgbClr val="0000FF"/>
                </a:solidFill>
                <a:ea typeface="华文楷体" panose="02010600040101010101" pitchFamily="2" charset="-122"/>
              </a:rPr>
              <a:t>无直流分量</a:t>
            </a:r>
            <a:endParaRPr lang="en-US" altLang="zh-CN" sz="2000" dirty="0">
              <a:solidFill>
                <a:srgbClr val="0000FF"/>
              </a:solidFill>
              <a:ea typeface="华文楷体" panose="02010600040101010101" pitchFamily="2" charset="-122"/>
            </a:endParaRPr>
          </a:p>
        </p:txBody>
      </p:sp>
      <p:pic>
        <p:nvPicPr>
          <p:cNvPr id="21" name="Picture 11" descr="lec5s10_1">
            <a:extLst>
              <a:ext uri="{FF2B5EF4-FFF2-40B4-BE49-F238E27FC236}">
                <a16:creationId xmlns:a16="http://schemas.microsoft.com/office/drawing/2014/main" id="{EE3ADB7D-CAC6-4A8B-AD95-C45B6F79D1FD}"/>
              </a:ext>
            </a:extLst>
          </p:cNvPr>
          <p:cNvPicPr>
            <a:picLocks noChangeAspect="1" noChangeArrowheads="1"/>
          </p:cNvPicPr>
          <p:nvPr>
            <p:custDataLst>
              <p:tags r:id="rId7"/>
            </p:custDataLst>
          </p:nvPr>
        </p:nvPicPr>
        <p:blipFill>
          <a:blip r:embed="rId18">
            <a:lum contrast="6000"/>
            <a:extLst>
              <a:ext uri="{28A0092B-C50C-407E-A947-70E740481C1C}">
                <a14:useLocalDpi xmlns:a14="http://schemas.microsoft.com/office/drawing/2010/main" val="0"/>
              </a:ext>
            </a:extLst>
          </a:blip>
          <a:srcRect/>
          <a:stretch>
            <a:fillRect/>
          </a:stretch>
        </p:blipFill>
        <p:spPr bwMode="auto">
          <a:xfrm>
            <a:off x="2302669" y="3632199"/>
            <a:ext cx="13970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 Box 12">
            <a:extLst>
              <a:ext uri="{FF2B5EF4-FFF2-40B4-BE49-F238E27FC236}">
                <a16:creationId xmlns:a16="http://schemas.microsoft.com/office/drawing/2014/main" id="{0AF69AF0-B454-4FE5-9AF8-6436F37BE8B2}"/>
              </a:ext>
            </a:extLst>
          </p:cNvPr>
          <p:cNvSpPr txBox="1">
            <a:spLocks noChangeArrowheads="1"/>
          </p:cNvSpPr>
          <p:nvPr/>
        </p:nvSpPr>
        <p:spPr bwMode="auto">
          <a:xfrm>
            <a:off x="2234406" y="5418137"/>
            <a:ext cx="128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41375" eaLnBrk="0" hangingPunct="0">
              <a:defRPr>
                <a:solidFill>
                  <a:schemeClr val="tx1"/>
                </a:solidFill>
                <a:latin typeface="Times New Roman" panose="02020603050405020304" pitchFamily="18" charset="0"/>
              </a:defRPr>
            </a:lvl1pPr>
            <a:lvl2pPr marL="742950" indent="-285750" defTabSz="841375" eaLnBrk="0" hangingPunct="0">
              <a:defRPr>
                <a:solidFill>
                  <a:schemeClr val="tx1"/>
                </a:solidFill>
                <a:latin typeface="Times New Roman" panose="02020603050405020304" pitchFamily="18" charset="0"/>
              </a:defRPr>
            </a:lvl2pPr>
            <a:lvl3pPr marL="1143000" indent="-228600" defTabSz="841375" eaLnBrk="0" hangingPunct="0">
              <a:defRPr>
                <a:solidFill>
                  <a:schemeClr val="tx1"/>
                </a:solidFill>
                <a:latin typeface="Times New Roman" panose="02020603050405020304" pitchFamily="18" charset="0"/>
              </a:defRPr>
            </a:lvl3pPr>
            <a:lvl4pPr marL="1600200" indent="-228600" defTabSz="841375" eaLnBrk="0" hangingPunct="0">
              <a:defRPr>
                <a:solidFill>
                  <a:schemeClr val="tx1"/>
                </a:solidFill>
                <a:latin typeface="Times New Roman" panose="02020603050405020304" pitchFamily="18" charset="0"/>
              </a:defRPr>
            </a:lvl4pPr>
            <a:lvl5pPr marL="2057400" indent="-228600" defTabSz="841375" eaLnBrk="0" hangingPunct="0">
              <a:defRPr>
                <a:solidFill>
                  <a:schemeClr val="tx1"/>
                </a:solidFill>
                <a:latin typeface="Times New Roman" panose="02020603050405020304" pitchFamily="18" charset="0"/>
              </a:defRPr>
            </a:lvl5pPr>
            <a:lvl6pPr marL="25146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0"/>
              </a:spcBef>
              <a:buFontTx/>
              <a:buNone/>
            </a:pPr>
            <a:r>
              <a:rPr lang="en-US" altLang="zh-CN" sz="2000">
                <a:solidFill>
                  <a:srgbClr val="0000FF"/>
                </a:solidFill>
                <a:ea typeface="宋体" panose="02010600030101010101" pitchFamily="2" charset="-122"/>
              </a:rPr>
              <a:t>0</a:t>
            </a:r>
          </a:p>
        </p:txBody>
      </p:sp>
      <p:pic>
        <p:nvPicPr>
          <p:cNvPr id="24" name="Picture 13" descr="lec5s10_1">
            <a:extLst>
              <a:ext uri="{FF2B5EF4-FFF2-40B4-BE49-F238E27FC236}">
                <a16:creationId xmlns:a16="http://schemas.microsoft.com/office/drawing/2014/main" id="{1D2A3667-0CC9-48EC-B0DF-55A5DA41B61F}"/>
              </a:ext>
            </a:extLst>
          </p:cNvPr>
          <p:cNvPicPr>
            <a:picLocks noChangeAspect="1" noChangeArrowheads="1"/>
          </p:cNvPicPr>
          <p:nvPr>
            <p:custDataLst>
              <p:tags r:id="rId8"/>
            </p:custDataLst>
          </p:nvPr>
        </p:nvPicPr>
        <p:blipFill>
          <a:blip r:embed="rId18">
            <a:lum contrast="6000"/>
            <a:extLst>
              <a:ext uri="{28A0092B-C50C-407E-A947-70E740481C1C}">
                <a14:useLocalDpi xmlns:a14="http://schemas.microsoft.com/office/drawing/2010/main" val="0"/>
              </a:ext>
            </a:extLst>
          </a:blip>
          <a:srcRect/>
          <a:stretch>
            <a:fillRect/>
          </a:stretch>
        </p:blipFill>
        <p:spPr bwMode="auto">
          <a:xfrm>
            <a:off x="2580481" y="3930649"/>
            <a:ext cx="13811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14">
            <a:extLst>
              <a:ext uri="{FF2B5EF4-FFF2-40B4-BE49-F238E27FC236}">
                <a16:creationId xmlns:a16="http://schemas.microsoft.com/office/drawing/2014/main" id="{4B8BF0C2-9D1B-431D-85C8-528A2D7B698B}"/>
              </a:ext>
            </a:extLst>
          </p:cNvPr>
          <p:cNvSpPr txBox="1">
            <a:spLocks noChangeArrowheads="1"/>
          </p:cNvSpPr>
          <p:nvPr/>
        </p:nvSpPr>
        <p:spPr bwMode="auto">
          <a:xfrm>
            <a:off x="2234406" y="5060949"/>
            <a:ext cx="128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841375" eaLnBrk="0" hangingPunct="0">
              <a:defRPr>
                <a:solidFill>
                  <a:schemeClr val="tx1"/>
                </a:solidFill>
                <a:latin typeface="Times New Roman" panose="02020603050405020304" pitchFamily="18" charset="0"/>
              </a:defRPr>
            </a:lvl1pPr>
            <a:lvl2pPr marL="742950" indent="-285750" defTabSz="841375" eaLnBrk="0" hangingPunct="0">
              <a:defRPr>
                <a:solidFill>
                  <a:schemeClr val="tx1"/>
                </a:solidFill>
                <a:latin typeface="Times New Roman" panose="02020603050405020304" pitchFamily="18" charset="0"/>
              </a:defRPr>
            </a:lvl2pPr>
            <a:lvl3pPr marL="1143000" indent="-228600" defTabSz="841375" eaLnBrk="0" hangingPunct="0">
              <a:defRPr>
                <a:solidFill>
                  <a:schemeClr val="tx1"/>
                </a:solidFill>
                <a:latin typeface="Times New Roman" panose="02020603050405020304" pitchFamily="18" charset="0"/>
              </a:defRPr>
            </a:lvl3pPr>
            <a:lvl4pPr marL="1600200" indent="-228600" defTabSz="841375" eaLnBrk="0" hangingPunct="0">
              <a:defRPr>
                <a:solidFill>
                  <a:schemeClr val="tx1"/>
                </a:solidFill>
                <a:latin typeface="Times New Roman" panose="02020603050405020304" pitchFamily="18" charset="0"/>
              </a:defRPr>
            </a:lvl4pPr>
            <a:lvl5pPr marL="2057400" indent="-228600" defTabSz="841375" eaLnBrk="0" hangingPunct="0">
              <a:defRPr>
                <a:solidFill>
                  <a:schemeClr val="tx1"/>
                </a:solidFill>
                <a:latin typeface="Times New Roman" panose="02020603050405020304" pitchFamily="18" charset="0"/>
              </a:defRPr>
            </a:lvl5pPr>
            <a:lvl6pPr marL="25146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defTabSz="841375"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0"/>
              </a:spcBef>
              <a:buFontTx/>
              <a:buNone/>
            </a:pPr>
            <a:r>
              <a:rPr lang="en-US" altLang="zh-CN" sz="2000">
                <a:solidFill>
                  <a:srgbClr val="0000FF"/>
                </a:solidFill>
                <a:ea typeface="宋体" panose="02010600030101010101" pitchFamily="2" charset="-122"/>
              </a:rPr>
              <a:t>0</a:t>
            </a:r>
          </a:p>
        </p:txBody>
      </p:sp>
      <p:pic>
        <p:nvPicPr>
          <p:cNvPr id="26" name="Picture 16" descr="lec5s10_1">
            <a:extLst>
              <a:ext uri="{FF2B5EF4-FFF2-40B4-BE49-F238E27FC236}">
                <a16:creationId xmlns:a16="http://schemas.microsoft.com/office/drawing/2014/main" id="{B6A0B9BD-05FB-401B-88BC-0BE1A440228B}"/>
              </a:ext>
            </a:extLst>
          </p:cNvPr>
          <p:cNvPicPr>
            <a:picLocks noChangeAspect="1" noChangeArrowheads="1"/>
          </p:cNvPicPr>
          <p:nvPr>
            <p:custDataLst>
              <p:tags r:id="rId9"/>
            </p:custDataLst>
          </p:nvPr>
        </p:nvPicPr>
        <p:blipFill>
          <a:blip r:embed="rId19">
            <a:lum contrast="6000"/>
            <a:extLst>
              <a:ext uri="{28A0092B-C50C-407E-A947-70E740481C1C}">
                <a14:useLocalDpi xmlns:a14="http://schemas.microsoft.com/office/drawing/2010/main" val="0"/>
              </a:ext>
            </a:extLst>
          </a:blip>
          <a:srcRect/>
          <a:stretch>
            <a:fillRect/>
          </a:stretch>
        </p:blipFill>
        <p:spPr bwMode="auto">
          <a:xfrm>
            <a:off x="2647156" y="2132012"/>
            <a:ext cx="44354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8" descr="lec5s10_1">
            <a:extLst>
              <a:ext uri="{FF2B5EF4-FFF2-40B4-BE49-F238E27FC236}">
                <a16:creationId xmlns:a16="http://schemas.microsoft.com/office/drawing/2014/main" id="{F748EA96-073F-4BCE-A8B9-3471C40D38DD}"/>
              </a:ext>
            </a:extLst>
          </p:cNvPr>
          <p:cNvPicPr>
            <a:picLocks noChangeAspect="1" noChangeArrowheads="1"/>
          </p:cNvPicPr>
          <p:nvPr>
            <p:custDataLst>
              <p:tags r:id="rId10"/>
            </p:custDataLst>
          </p:nvPr>
        </p:nvPicPr>
        <p:blipFill>
          <a:blip r:embed="rId20">
            <a:lum contrast="6000"/>
            <a:extLst>
              <a:ext uri="{28A0092B-C50C-407E-A947-70E740481C1C}">
                <a14:useLocalDpi xmlns:a14="http://schemas.microsoft.com/office/drawing/2010/main" val="0"/>
              </a:ext>
            </a:extLst>
          </a:blip>
          <a:srcRect/>
          <a:stretch>
            <a:fillRect/>
          </a:stretch>
        </p:blipFill>
        <p:spPr bwMode="auto">
          <a:xfrm>
            <a:off x="2361406" y="4670424"/>
            <a:ext cx="4032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9" descr="lec5s10_1">
            <a:extLst>
              <a:ext uri="{FF2B5EF4-FFF2-40B4-BE49-F238E27FC236}">
                <a16:creationId xmlns:a16="http://schemas.microsoft.com/office/drawing/2014/main" id="{A78B151F-1CEA-4915-A5D6-E1D3ABB65E64}"/>
              </a:ext>
            </a:extLst>
          </p:cNvPr>
          <p:cNvPicPr>
            <a:picLocks noChangeAspect="1" noChangeArrowheads="1"/>
          </p:cNvPicPr>
          <p:nvPr>
            <p:custDataLst>
              <p:tags r:id="rId11"/>
            </p:custDataLst>
          </p:nvPr>
        </p:nvPicPr>
        <p:blipFill>
          <a:blip r:embed="rId21">
            <a:lum contrast="6000"/>
            <a:extLst>
              <a:ext uri="{28A0092B-C50C-407E-A947-70E740481C1C}">
                <a14:useLocalDpi xmlns:a14="http://schemas.microsoft.com/office/drawing/2010/main" val="0"/>
              </a:ext>
            </a:extLst>
          </a:blip>
          <a:srcRect/>
          <a:stretch>
            <a:fillRect/>
          </a:stretch>
        </p:blipFill>
        <p:spPr bwMode="auto">
          <a:xfrm>
            <a:off x="2234406" y="4254499"/>
            <a:ext cx="1381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9" name="Object 18">
            <a:extLst>
              <a:ext uri="{FF2B5EF4-FFF2-40B4-BE49-F238E27FC236}">
                <a16:creationId xmlns:a16="http://schemas.microsoft.com/office/drawing/2014/main" id="{85C1EF04-5517-4843-9605-1305B436B224}"/>
              </a:ext>
            </a:extLst>
          </p:cNvPr>
          <p:cNvGraphicFramePr>
            <a:graphicFrameLocks noChangeAspect="1"/>
          </p:cNvGraphicFramePr>
          <p:nvPr>
            <p:extLst>
              <p:ext uri="{D42A27DB-BD31-4B8C-83A1-F6EECF244321}">
                <p14:modId xmlns:p14="http://schemas.microsoft.com/office/powerpoint/2010/main" val="1927958618"/>
              </p:ext>
            </p:extLst>
          </p:nvPr>
        </p:nvGraphicFramePr>
        <p:xfrm>
          <a:off x="4769644" y="1792287"/>
          <a:ext cx="144462" cy="247650"/>
        </p:xfrm>
        <a:graphic>
          <a:graphicData uri="http://schemas.openxmlformats.org/presentationml/2006/ole">
            <mc:AlternateContent xmlns:mc="http://schemas.openxmlformats.org/markup-compatibility/2006">
              <mc:Choice xmlns:v="urn:schemas-microsoft-com:vml" Requires="v">
                <p:oleObj spid="_x0000_s1081" name="Equation" r:id="rId22" imgW="88746" imgH="152136" progId="Equation.DSMT4">
                  <p:embed/>
                </p:oleObj>
              </mc:Choice>
              <mc:Fallback>
                <p:oleObj name="Equation" r:id="rId22" imgW="88746" imgH="152136" progId="Equation.DSMT4">
                  <p:embed/>
                  <p:pic>
                    <p:nvPicPr>
                      <p:cNvPr id="16402" name="Object 18">
                        <a:extLst>
                          <a:ext uri="{FF2B5EF4-FFF2-40B4-BE49-F238E27FC236}">
                            <a16:creationId xmlns:a16="http://schemas.microsoft.com/office/drawing/2014/main" id="{09DDE9A2-C2B3-4ADC-9F54-0E384F769B79}"/>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769644" y="1792287"/>
                        <a:ext cx="144462" cy="2476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内容占位符 2">
            <a:extLst>
              <a:ext uri="{FF2B5EF4-FFF2-40B4-BE49-F238E27FC236}">
                <a16:creationId xmlns:a16="http://schemas.microsoft.com/office/drawing/2014/main" id="{DF0493C3-E1D1-4969-A009-C7D66DBF1CBD}"/>
              </a:ext>
            </a:extLst>
          </p:cNvPr>
          <p:cNvSpPr>
            <a:spLocks noGrp="1"/>
          </p:cNvSpPr>
          <p:nvPr>
            <p:ph idx="1"/>
          </p:nvPr>
        </p:nvSpPr>
        <p:spPr>
          <a:xfrm>
            <a:off x="731411" y="1706341"/>
            <a:ext cx="1217754" cy="400110"/>
          </a:xfrm>
          <a:solidFill>
            <a:schemeClr val="bg1"/>
          </a:solidFill>
        </p:spPr>
        <p:txBody>
          <a:bodyPr wrap="square">
            <a:spAutoFit/>
          </a:bodyPr>
          <a:lstStyle/>
          <a:p>
            <a:r>
              <a:rPr lang="zh-CN" altLang="en-US" sz="2000" b="0" dirty="0"/>
              <a:t>例</a:t>
            </a:r>
            <a:r>
              <a:rPr lang="en-US" altLang="zh-CN" sz="2000" b="0" dirty="0"/>
              <a:t>3</a:t>
            </a:r>
            <a:r>
              <a:rPr lang="zh-CN" altLang="en-US" sz="2000" b="0" dirty="0"/>
              <a:t>：</a:t>
            </a:r>
          </a:p>
        </p:txBody>
      </p:sp>
    </p:spTree>
    <p:extLst>
      <p:ext uri="{BB962C8B-B14F-4D97-AF65-F5344CB8AC3E}">
        <p14:creationId xmlns:p14="http://schemas.microsoft.com/office/powerpoint/2010/main" val="2987903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499"/>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utoUpdateAnimBg="0"/>
      <p:bldP spid="23" grpId="0" autoUpdateAnimBg="0"/>
      <p:bldP spid="2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1" name="标题 1">
            <a:extLst>
              <a:ext uri="{FF2B5EF4-FFF2-40B4-BE49-F238E27FC236}">
                <a16:creationId xmlns:a16="http://schemas.microsoft.com/office/drawing/2014/main" id="{4F465525-0F6A-4B3D-881C-9BAD4AD331CB}"/>
              </a:ext>
            </a:extLst>
          </p:cNvPr>
          <p:cNvSpPr>
            <a:spLocks noGrp="1"/>
          </p:cNvSpPr>
          <p:nvPr>
            <p:ph type="title"/>
          </p:nvPr>
        </p:nvSpPr>
        <p:spPr/>
        <p:txBody>
          <a:bodyPr/>
          <a:lstStyle/>
          <a:p>
            <a:r>
              <a:rPr lang="en-US" altLang="zh-CN" sz="3200">
                <a:solidFill>
                  <a:srgbClr val="000000"/>
                </a:solidFill>
              </a:rPr>
              <a:t>3.3  </a:t>
            </a:r>
            <a:r>
              <a:rPr lang="zh-CN" altLang="en-US" sz="3200">
                <a:solidFill>
                  <a:srgbClr val="000000"/>
                </a:solidFill>
              </a:rPr>
              <a:t>连续时间周期信号的傅里叶级数表示</a:t>
            </a:r>
            <a:endParaRPr lang="zh-CN" altLang="en-US"/>
          </a:p>
        </p:txBody>
      </p:sp>
      <mc:AlternateContent xmlns:mc="http://schemas.openxmlformats.org/markup-compatibility/2006" xmlns:a14="http://schemas.microsoft.com/office/drawing/2010/main">
        <mc:Choice Requires="a14">
          <p:sp>
            <p:nvSpPr>
              <p:cNvPr id="47112" name="内容占位符 2">
                <a:extLst>
                  <a:ext uri="{FF2B5EF4-FFF2-40B4-BE49-F238E27FC236}">
                    <a16:creationId xmlns:a16="http://schemas.microsoft.com/office/drawing/2014/main" id="{A355CE97-AC01-4CDD-B4D4-3B9BC0A459D1}"/>
                  </a:ext>
                </a:extLst>
              </p:cNvPr>
              <p:cNvSpPr>
                <a:spLocks noGrp="1"/>
              </p:cNvSpPr>
              <p:nvPr>
                <p:ph idx="1"/>
              </p:nvPr>
            </p:nvSpPr>
            <p:spPr>
              <a:xfrm>
                <a:off x="457200" y="1285875"/>
                <a:ext cx="8229600" cy="5194307"/>
              </a:xfrm>
            </p:spPr>
            <p:txBody>
              <a:bodyPr>
                <a:spAutoFit/>
              </a:bodyPr>
              <a:lstStyle/>
              <a:p>
                <a:pPr marL="0" indent="0">
                  <a:lnSpc>
                    <a:spcPct val="120000"/>
                  </a:lnSpc>
                  <a:spcBef>
                    <a:spcPts val="0"/>
                  </a:spcBef>
                  <a:spcAft>
                    <a:spcPts val="600"/>
                  </a:spcAft>
                  <a:buNone/>
                </a:pPr>
                <a:r>
                  <a:rPr lang="zh-CN" altLang="en-US" sz="2200" b="0" dirty="0"/>
                  <a:t>一般情况：</a:t>
                </a:r>
                <a:endParaRPr lang="en-US" altLang="zh-CN" sz="2200" b="0" dirty="0"/>
              </a:p>
              <a:p>
                <a:pPr>
                  <a:lnSpc>
                    <a:spcPct val="120000"/>
                  </a:lnSpc>
                  <a:spcBef>
                    <a:spcPts val="0"/>
                  </a:spcBef>
                  <a:spcAft>
                    <a:spcPts val="600"/>
                  </a:spcAft>
                </a:pPr>
                <a:r>
                  <a:rPr lang="zh-CN" altLang="en-US" sz="2200" b="0" dirty="0"/>
                  <a:t>如果周期信号</a:t>
                </a:r>
                <a14:m>
                  <m:oMath xmlns:m="http://schemas.openxmlformats.org/officeDocument/2006/math">
                    <m:r>
                      <a:rPr lang="en-US" sz="2200" i="1" smtClean="0">
                        <a:solidFill>
                          <a:srgbClr val="000000"/>
                        </a:solidFill>
                        <a:latin typeface="Cambria Math" panose="02040503050406030204" pitchFamily="18" charset="0"/>
                      </a:rPr>
                      <m:t>𝑥</m:t>
                    </m:r>
                    <m:r>
                      <a:rPr lang="en-US" sz="2200" i="1" smtClean="0">
                        <a:solidFill>
                          <a:srgbClr val="000000"/>
                        </a:solidFill>
                        <a:latin typeface="Cambria Math" panose="02040503050406030204" pitchFamily="18" charset="0"/>
                      </a:rPr>
                      <m:t>(</m:t>
                    </m:r>
                    <m:r>
                      <a:rPr lang="en-US" sz="2200" i="1" smtClean="0">
                        <a:solidFill>
                          <a:srgbClr val="000000"/>
                        </a:solidFill>
                        <a:latin typeface="Cambria Math" panose="02040503050406030204" pitchFamily="18" charset="0"/>
                      </a:rPr>
                      <m:t>𝑡</m:t>
                    </m:r>
                    <m:r>
                      <a:rPr lang="en-US" sz="2200" i="1" smtClean="0">
                        <a:solidFill>
                          <a:srgbClr val="000000"/>
                        </a:solidFill>
                        <a:latin typeface="Cambria Math" panose="02040503050406030204" pitchFamily="18" charset="0"/>
                      </a:rPr>
                      <m:t>)</m:t>
                    </m:r>
                  </m:oMath>
                </a14:m>
                <a:r>
                  <a:rPr lang="zh-CN" altLang="en-US" sz="2200" b="0" dirty="0"/>
                  <a:t>可以表示为傅里叶级数</a:t>
                </a:r>
                <a:r>
                  <a:rPr lang="en-US" altLang="zh-CN" sz="2200" b="0" dirty="0"/>
                  <a:t/>
                </a:r>
                <a:br>
                  <a:rPr lang="en-US" altLang="zh-CN" sz="2200" b="0" dirty="0"/>
                </a:br>
                <a14:m>
                  <m:oMath xmlns:m="http://schemas.openxmlformats.org/officeDocument/2006/math">
                    <m:r>
                      <a:rPr lang="en-US" sz="2200" i="1">
                        <a:solidFill>
                          <a:srgbClr val="000000"/>
                        </a:solidFill>
                        <a:latin typeface="Cambria Math" panose="02040503050406030204" pitchFamily="18" charset="0"/>
                      </a:rPr>
                      <m:t>𝑥</m:t>
                    </m:r>
                    <m:d>
                      <m:dPr>
                        <m:ctrlPr>
                          <a:rPr lang="en-US" sz="2200" i="1">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𝑡</m:t>
                        </m:r>
                      </m:e>
                    </m:d>
                    <m:r>
                      <a:rPr lang="en-US" sz="2200" i="1">
                        <a:solidFill>
                          <a:srgbClr val="000000"/>
                        </a:solidFill>
                        <a:latin typeface="Cambria Math" panose="02040503050406030204" pitchFamily="18" charset="0"/>
                      </a:rPr>
                      <m:t>=</m:t>
                    </m:r>
                    <m:nary>
                      <m:naryPr>
                        <m:chr m:val="∑"/>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𝑎</m:t>
                            </m:r>
                          </m:e>
                          <m:sub>
                            <m:r>
                              <a:rPr lang="en-US" sz="2200" i="1">
                                <a:solidFill>
                                  <a:srgbClr val="000000"/>
                                </a:solidFill>
                                <a:latin typeface="Cambria Math" panose="02040503050406030204" pitchFamily="18" charset="0"/>
                              </a:rPr>
                              <m:t>𝑘</m:t>
                            </m:r>
                          </m:sub>
                        </m:sSub>
                      </m:e>
                    </m:nary>
                    <m:sSup>
                      <m:sSupPr>
                        <m:ctrlPr>
                          <a:rPr lang="en-US" sz="2200" i="1">
                            <a:solidFill>
                              <a:srgbClr val="000000"/>
                            </a:solidFill>
                            <a:latin typeface="Cambria Math" panose="02040503050406030204" pitchFamily="18" charset="0"/>
                          </a:rPr>
                        </m:ctrlPr>
                      </m:sSupPr>
                      <m:e>
                        <m:r>
                          <m:rPr>
                            <m:sty m:val="p"/>
                          </m:rPr>
                          <a:rPr lang="en-US" sz="2200" i="0">
                            <a:solidFill>
                              <a:srgbClr val="000000"/>
                            </a:solidFill>
                            <a:latin typeface="Cambria Math" panose="02040503050406030204" pitchFamily="18" charset="0"/>
                          </a:rPr>
                          <m:t>e</m:t>
                        </m:r>
                      </m:e>
                      <m:sup>
                        <m:r>
                          <m:rPr>
                            <m:sty m:val="p"/>
                          </m:rPr>
                          <a:rPr lang="en-US" sz="2200" i="0">
                            <a:solidFill>
                              <a:srgbClr val="000000"/>
                            </a:solidFill>
                            <a:latin typeface="Cambria Math" panose="02040503050406030204" pitchFamily="18" charset="0"/>
                          </a:rPr>
                          <m:t>j</m:t>
                        </m:r>
                        <m:r>
                          <a:rPr lang="en-US" sz="2200" i="1">
                            <a:solidFill>
                              <a:srgbClr val="000000"/>
                            </a:solidFill>
                            <a:latin typeface="Cambria Math" panose="02040503050406030204" pitchFamily="18" charset="0"/>
                          </a:rPr>
                          <m:t>𝑘</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𝜔</m:t>
                            </m:r>
                          </m:e>
                          <m:sub>
                            <m:r>
                              <a:rPr lang="en-US" sz="2200" i="1">
                                <a:solidFill>
                                  <a:srgbClr val="000000"/>
                                </a:solidFill>
                                <a:latin typeface="Cambria Math" panose="02040503050406030204" pitchFamily="18" charset="0"/>
                              </a:rPr>
                              <m:t>0</m:t>
                            </m:r>
                          </m:sub>
                        </m:sSub>
                        <m:r>
                          <a:rPr lang="en-US" sz="2200" i="1">
                            <a:solidFill>
                              <a:srgbClr val="000000"/>
                            </a:solidFill>
                            <a:latin typeface="Cambria Math" panose="02040503050406030204" pitchFamily="18" charset="0"/>
                          </a:rPr>
                          <m:t>𝑡</m:t>
                        </m:r>
                      </m:sup>
                    </m:sSup>
                    <m:r>
                      <a:rPr lang="en-US" sz="2200" i="1">
                        <a:solidFill>
                          <a:srgbClr val="000000"/>
                        </a:solidFill>
                        <a:latin typeface="Cambria Math" panose="02040503050406030204" pitchFamily="18" charset="0"/>
                      </a:rPr>
                      <m:t>,</m:t>
                    </m:r>
                    <m:r>
                      <a:rPr lang="en-US" sz="2200" b="1" i="1" smtClean="0">
                        <a:solidFill>
                          <a:srgbClr val="000000"/>
                        </a:solidFill>
                        <a:latin typeface="Cambria Math" panose="02040503050406030204" pitchFamily="18" charset="0"/>
                      </a:rPr>
                      <m:t>  </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𝜔</m:t>
                        </m:r>
                      </m:e>
                      <m:sub>
                        <m:r>
                          <a:rPr lang="en-US" sz="2200" i="1">
                            <a:solidFill>
                              <a:srgbClr val="000000"/>
                            </a:solidFill>
                            <a:latin typeface="Cambria Math" panose="02040503050406030204" pitchFamily="18" charset="0"/>
                          </a:rPr>
                          <m:t>0</m:t>
                        </m:r>
                      </m:sub>
                    </m:sSub>
                    <m:r>
                      <a:rPr lang="en-US" sz="2200" i="1">
                        <a:solidFill>
                          <a:srgbClr val="000000"/>
                        </a:solidFill>
                        <a:latin typeface="Cambria Math" panose="02040503050406030204" pitchFamily="18" charset="0"/>
                      </a:rPr>
                      <m:t>=</m:t>
                    </m:r>
                    <m:f>
                      <m:fPr>
                        <m:ctrlPr>
                          <a:rPr lang="en-US" sz="2200" i="1">
                            <a:solidFill>
                              <a:srgbClr val="000000"/>
                            </a:solidFill>
                            <a:latin typeface="Cambria Math" panose="02040503050406030204" pitchFamily="18" charset="0"/>
                          </a:rPr>
                        </m:ctrlPr>
                      </m:fPr>
                      <m:num>
                        <m:r>
                          <a:rPr lang="en-US" sz="2200" i="1">
                            <a:solidFill>
                              <a:srgbClr val="000000"/>
                            </a:solidFill>
                            <a:latin typeface="Cambria Math" panose="02040503050406030204" pitchFamily="18" charset="0"/>
                          </a:rPr>
                          <m:t>2</m:t>
                        </m:r>
                        <m:r>
                          <a:rPr lang="en-US" sz="2200" i="1">
                            <a:solidFill>
                              <a:srgbClr val="000000"/>
                            </a:solidFill>
                            <a:latin typeface="Cambria Math" panose="02040503050406030204" pitchFamily="18" charset="0"/>
                          </a:rPr>
                          <m:t>𝜋</m:t>
                        </m:r>
                      </m:num>
                      <m:den>
                        <m:r>
                          <a:rPr lang="en-US" sz="2200" i="1">
                            <a:solidFill>
                              <a:srgbClr val="000000"/>
                            </a:solidFill>
                            <a:latin typeface="Cambria Math" panose="02040503050406030204" pitchFamily="18" charset="0"/>
                          </a:rPr>
                          <m:t>𝑇</m:t>
                        </m:r>
                      </m:den>
                    </m:f>
                  </m:oMath>
                </a14:m>
                <a:r>
                  <a:rPr lang="en-US" altLang="zh-CN" sz="2200" b="0" dirty="0"/>
                  <a:t/>
                </a:r>
                <a:br>
                  <a:rPr lang="en-US" altLang="zh-CN" sz="2200" b="0" dirty="0"/>
                </a:br>
                <a:r>
                  <a:rPr lang="zh-CN" altLang="en-US" sz="2200" b="0" dirty="0"/>
                  <a:t>则有</a:t>
                </a:r>
                <a:r>
                  <a:rPr lang="en-US" altLang="zh-CN" sz="2200" b="0" dirty="0"/>
                  <a:t/>
                </a:r>
                <a:br>
                  <a:rPr lang="en-US" altLang="zh-CN" sz="2200" b="0" dirty="0"/>
                </a:br>
                <a14:m>
                  <m:oMath xmlns:m="http://schemas.openxmlformats.org/officeDocument/2006/math">
                    <m:r>
                      <a:rPr lang="en-US" sz="2200" i="1">
                        <a:solidFill>
                          <a:srgbClr val="000000"/>
                        </a:solidFill>
                        <a:latin typeface="Cambria Math" panose="02040503050406030204" pitchFamily="18" charset="0"/>
                      </a:rPr>
                      <m:t>𝑥</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sSup>
                      <m:sSupPr>
                        <m:ctrlPr>
                          <a:rPr lang="en-US" sz="2200" i="1">
                            <a:solidFill>
                              <a:srgbClr val="000000"/>
                            </a:solidFill>
                            <a:latin typeface="Cambria Math" panose="02040503050406030204" pitchFamily="18" charset="0"/>
                          </a:rPr>
                        </m:ctrlPr>
                      </m:sSupPr>
                      <m:e>
                        <m:r>
                          <m:rPr>
                            <m:sty m:val="p"/>
                          </m:rPr>
                          <a:rPr lang="en-US" sz="2200" i="0">
                            <a:solidFill>
                              <a:srgbClr val="000000"/>
                            </a:solidFill>
                            <a:latin typeface="Cambria Math" panose="02040503050406030204" pitchFamily="18" charset="0"/>
                          </a:rPr>
                          <m:t>e</m:t>
                        </m:r>
                      </m:e>
                      <m:sup>
                        <m:r>
                          <a:rPr lang="en-US" sz="2200" i="1">
                            <a:solidFill>
                              <a:srgbClr val="000000"/>
                            </a:solidFill>
                            <a:latin typeface="Cambria Math" panose="02040503050406030204" pitchFamily="18" charset="0"/>
                          </a:rPr>
                          <m:t>−</m:t>
                        </m:r>
                        <m:r>
                          <m:rPr>
                            <m:sty m:val="p"/>
                          </m:rPr>
                          <a:rPr lang="en-US" sz="2200" i="0">
                            <a:solidFill>
                              <a:srgbClr val="000000"/>
                            </a:solidFill>
                            <a:latin typeface="Cambria Math" panose="02040503050406030204" pitchFamily="18" charset="0"/>
                          </a:rPr>
                          <m:t>j</m:t>
                        </m:r>
                        <m:r>
                          <a:rPr lang="en-US" sz="2200" i="1">
                            <a:solidFill>
                              <a:srgbClr val="000000"/>
                            </a:solidFill>
                            <a:latin typeface="Cambria Math" panose="02040503050406030204" pitchFamily="18" charset="0"/>
                          </a:rPr>
                          <m:t>𝑛</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𝜔</m:t>
                            </m:r>
                          </m:e>
                          <m:sub>
                            <m:r>
                              <a:rPr lang="en-US" sz="2200" i="1">
                                <a:solidFill>
                                  <a:srgbClr val="000000"/>
                                </a:solidFill>
                                <a:latin typeface="Cambria Math" panose="02040503050406030204" pitchFamily="18" charset="0"/>
                              </a:rPr>
                              <m:t>0</m:t>
                            </m:r>
                          </m:sub>
                        </m:sSub>
                        <m:r>
                          <a:rPr lang="en-US" sz="2200" i="1">
                            <a:solidFill>
                              <a:srgbClr val="000000"/>
                            </a:solidFill>
                            <a:latin typeface="Cambria Math" panose="02040503050406030204" pitchFamily="18" charset="0"/>
                          </a:rPr>
                          <m:t>𝑡</m:t>
                        </m:r>
                      </m:sup>
                    </m:sSup>
                    <m:r>
                      <a:rPr lang="en-US" sz="2200" i="1">
                        <a:solidFill>
                          <a:srgbClr val="000000"/>
                        </a:solidFill>
                        <a:latin typeface="Cambria Math" panose="02040503050406030204" pitchFamily="18" charset="0"/>
                      </a:rPr>
                      <m:t>=</m:t>
                    </m:r>
                    <m:nary>
                      <m:naryPr>
                        <m:chr m:val="∑"/>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𝑎</m:t>
                            </m:r>
                          </m:e>
                          <m:sub>
                            <m:r>
                              <a:rPr lang="en-US" sz="2200" i="1">
                                <a:solidFill>
                                  <a:srgbClr val="000000"/>
                                </a:solidFill>
                                <a:latin typeface="Cambria Math" panose="02040503050406030204" pitchFamily="18" charset="0"/>
                              </a:rPr>
                              <m:t>𝑘</m:t>
                            </m:r>
                          </m:sub>
                        </m:sSub>
                        <m:sSup>
                          <m:sSupPr>
                            <m:ctrlPr>
                              <a:rPr lang="en-US" sz="2200" i="1">
                                <a:solidFill>
                                  <a:srgbClr val="000000"/>
                                </a:solidFill>
                                <a:latin typeface="Cambria Math" panose="02040503050406030204" pitchFamily="18" charset="0"/>
                              </a:rPr>
                            </m:ctrlPr>
                          </m:sSupPr>
                          <m:e>
                            <m:r>
                              <m:rPr>
                                <m:sty m:val="p"/>
                              </m:rPr>
                              <a:rPr lang="en-US" sz="2200" i="0">
                                <a:solidFill>
                                  <a:srgbClr val="000000"/>
                                </a:solidFill>
                                <a:latin typeface="Cambria Math" panose="02040503050406030204" pitchFamily="18" charset="0"/>
                              </a:rPr>
                              <m:t>e</m:t>
                            </m:r>
                          </m:e>
                          <m:sup>
                            <m:r>
                              <m:rPr>
                                <m:sty m:val="p"/>
                              </m:rPr>
                              <a:rPr lang="en-US" sz="2200" i="0">
                                <a:solidFill>
                                  <a:srgbClr val="000000"/>
                                </a:solidFill>
                                <a:latin typeface="Cambria Math" panose="02040503050406030204" pitchFamily="18" charset="0"/>
                              </a:rPr>
                              <m:t>j</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𝑛</m:t>
                            </m:r>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𝜔</m:t>
                                </m:r>
                              </m:e>
                              <m:sub>
                                <m:r>
                                  <a:rPr lang="en-US" sz="2200" i="1">
                                    <a:solidFill>
                                      <a:srgbClr val="000000"/>
                                    </a:solidFill>
                                    <a:latin typeface="Cambria Math" panose="02040503050406030204" pitchFamily="18" charset="0"/>
                                  </a:rPr>
                                  <m:t>0</m:t>
                                </m:r>
                              </m:sub>
                            </m:sSub>
                            <m:r>
                              <a:rPr lang="en-US" sz="2200" i="1">
                                <a:solidFill>
                                  <a:srgbClr val="000000"/>
                                </a:solidFill>
                                <a:latin typeface="Cambria Math" panose="02040503050406030204" pitchFamily="18" charset="0"/>
                              </a:rPr>
                              <m:t>𝑡</m:t>
                            </m:r>
                          </m:sup>
                        </m:sSup>
                      </m:e>
                    </m:nary>
                  </m:oMath>
                </a14:m>
                <a:r>
                  <a:rPr lang="en-US" altLang="zh-CN" sz="2200" b="0" dirty="0"/>
                  <a:t/>
                </a:r>
                <a:br>
                  <a:rPr lang="en-US" altLang="zh-CN" sz="2200" b="0" dirty="0"/>
                </a:br>
                <a:r>
                  <a:rPr lang="zh-CN" altLang="en-US" sz="2200" b="0" dirty="0"/>
                  <a:t>对两边同时在一个周期内积分，有</a:t>
                </a:r>
                <a:r>
                  <a:rPr lang="en-US" altLang="zh-CN" sz="2200" b="0" dirty="0"/>
                  <a:t/>
                </a:r>
                <a:br>
                  <a:rPr lang="en-US" altLang="zh-CN" sz="2200" b="0" dirty="0"/>
                </a:br>
                <a14:m>
                  <m:oMath xmlns:m="http://schemas.openxmlformats.org/officeDocument/2006/math">
                    <m:nary>
                      <m:naryPr>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0</m:t>
                        </m:r>
                      </m:sub>
                      <m:sup>
                        <m:r>
                          <a:rPr lang="en-US" sz="2200" i="1">
                            <a:solidFill>
                              <a:srgbClr val="000000"/>
                            </a:solidFill>
                            <a:latin typeface="Cambria Math" panose="02040503050406030204" pitchFamily="18" charset="0"/>
                          </a:rPr>
                          <m:t>𝑇</m:t>
                        </m:r>
                      </m:sup>
                      <m:e>
                        <m:r>
                          <a:rPr lang="en-US" sz="2200" i="1">
                            <a:solidFill>
                              <a:srgbClr val="000000"/>
                            </a:solidFill>
                            <a:latin typeface="Cambria Math" panose="02040503050406030204" pitchFamily="18" charset="0"/>
                          </a:rPr>
                          <m:t>𝑥</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𝑡</m:t>
                        </m:r>
                        <m:r>
                          <a:rPr lang="en-US" sz="2200" i="1">
                            <a:solidFill>
                              <a:srgbClr val="000000"/>
                            </a:solidFill>
                            <a:latin typeface="Cambria Math" panose="02040503050406030204" pitchFamily="18" charset="0"/>
                          </a:rPr>
                          <m:t>)</m:t>
                        </m:r>
                        <m:sSup>
                          <m:sSupPr>
                            <m:ctrlPr>
                              <a:rPr lang="en-US" sz="2200" i="1">
                                <a:solidFill>
                                  <a:srgbClr val="000000"/>
                                </a:solidFill>
                                <a:latin typeface="Cambria Math" panose="02040503050406030204" pitchFamily="18" charset="0"/>
                              </a:rPr>
                            </m:ctrlPr>
                          </m:sSupPr>
                          <m:e>
                            <m:r>
                              <m:rPr>
                                <m:sty m:val="p"/>
                              </m:rPr>
                              <a:rPr lang="en-US" sz="2200" i="0">
                                <a:solidFill>
                                  <a:srgbClr val="000000"/>
                                </a:solidFill>
                                <a:latin typeface="Cambria Math" panose="02040503050406030204" pitchFamily="18" charset="0"/>
                              </a:rPr>
                              <m:t>e</m:t>
                            </m:r>
                          </m:e>
                          <m:sup>
                            <m:r>
                              <a:rPr lang="en-US" sz="2200" i="1">
                                <a:solidFill>
                                  <a:srgbClr val="000000"/>
                                </a:solidFill>
                                <a:latin typeface="Cambria Math" panose="02040503050406030204" pitchFamily="18" charset="0"/>
                              </a:rPr>
                              <m:t>−</m:t>
                            </m:r>
                            <m:r>
                              <m:rPr>
                                <m:sty m:val="p"/>
                              </m:rPr>
                              <a:rPr lang="en-US" sz="2200" i="0">
                                <a:solidFill>
                                  <a:srgbClr val="000000"/>
                                </a:solidFill>
                                <a:latin typeface="Cambria Math" panose="02040503050406030204" pitchFamily="18" charset="0"/>
                              </a:rPr>
                              <m:t>j</m:t>
                            </m:r>
                            <m:r>
                              <a:rPr lang="en-US" sz="2200" i="1">
                                <a:solidFill>
                                  <a:srgbClr val="000000"/>
                                </a:solidFill>
                                <a:latin typeface="Cambria Math" panose="02040503050406030204" pitchFamily="18" charset="0"/>
                              </a:rPr>
                              <m:t>𝑛</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𝜔</m:t>
                                </m:r>
                              </m:e>
                              <m:sub>
                                <m:r>
                                  <a:rPr lang="en-US" sz="2200" i="1">
                                    <a:solidFill>
                                      <a:srgbClr val="000000"/>
                                    </a:solidFill>
                                    <a:latin typeface="Cambria Math" panose="02040503050406030204" pitchFamily="18" charset="0"/>
                                  </a:rPr>
                                  <m:t>0</m:t>
                                </m:r>
                              </m:sub>
                            </m:sSub>
                            <m:r>
                              <a:rPr lang="en-US" sz="2200" i="1">
                                <a:solidFill>
                                  <a:srgbClr val="000000"/>
                                </a:solidFill>
                                <a:latin typeface="Cambria Math" panose="02040503050406030204" pitchFamily="18" charset="0"/>
                              </a:rPr>
                              <m:t>𝑡</m:t>
                            </m:r>
                          </m:sup>
                        </m:sSup>
                        <m:r>
                          <m:rPr>
                            <m:sty m:val="p"/>
                          </m:rPr>
                          <a:rPr lang="en-US" sz="2200" i="0">
                            <a:solidFill>
                              <a:srgbClr val="000000"/>
                            </a:solidFill>
                            <a:latin typeface="Cambria Math" panose="02040503050406030204" pitchFamily="18" charset="0"/>
                          </a:rPr>
                          <m:t>d</m:t>
                        </m:r>
                        <m:r>
                          <a:rPr lang="en-US" sz="2200" i="1">
                            <a:solidFill>
                              <a:srgbClr val="000000"/>
                            </a:solidFill>
                            <a:latin typeface="Cambria Math" panose="02040503050406030204" pitchFamily="18" charset="0"/>
                          </a:rPr>
                          <m:t>𝑡</m:t>
                        </m:r>
                      </m:e>
                    </m:nary>
                    <m:r>
                      <a:rPr lang="en-US" sz="2200" i="1">
                        <a:solidFill>
                          <a:srgbClr val="000000"/>
                        </a:solidFill>
                        <a:latin typeface="Cambria Math" panose="02040503050406030204" pitchFamily="18" charset="0"/>
                      </a:rPr>
                      <m:t>=</m:t>
                    </m:r>
                    <m:nary>
                      <m:naryPr>
                        <m:chr m:val="∑"/>
                        <m:ctrlPr>
                          <a:rPr lang="en-US" sz="2200" i="1">
                            <a:solidFill>
                              <a:srgbClr val="000000"/>
                            </a:solidFill>
                            <a:latin typeface="Cambria Math" panose="02040503050406030204" pitchFamily="18" charset="0"/>
                          </a:rPr>
                        </m:ctrlPr>
                      </m:naryPr>
                      <m:sub>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m:t>
                        </m:r>
                      </m:sub>
                      <m:sup>
                        <m:r>
                          <a:rPr lang="en-US" sz="2200" i="1">
                            <a:solidFill>
                              <a:srgbClr val="000000"/>
                            </a:solidFill>
                            <a:latin typeface="Cambria Math" panose="02040503050406030204" pitchFamily="18" charset="0"/>
                          </a:rPr>
                          <m:t>∞</m:t>
                        </m:r>
                      </m:sup>
                      <m:e>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𝑎</m:t>
                            </m:r>
                          </m:e>
                          <m:sub>
                            <m:r>
                              <a:rPr lang="en-US" sz="2200" i="1">
                                <a:solidFill>
                                  <a:srgbClr val="000000"/>
                                </a:solidFill>
                                <a:latin typeface="Cambria Math" panose="02040503050406030204" pitchFamily="18" charset="0"/>
                              </a:rPr>
                              <m:t>𝑘</m:t>
                            </m:r>
                          </m:sub>
                        </m:sSub>
                        <m:nary>
                          <m:naryPr>
                            <m:ctrlPr>
                              <a:rPr lang="en-US" sz="2200" i="1">
                                <a:solidFill>
                                  <a:srgbClr val="FF0000"/>
                                </a:solidFill>
                                <a:latin typeface="Cambria Math" panose="02040503050406030204" pitchFamily="18" charset="0"/>
                              </a:rPr>
                            </m:ctrlPr>
                          </m:naryPr>
                          <m:sub>
                            <m:r>
                              <a:rPr lang="en-US" sz="2200" i="1">
                                <a:solidFill>
                                  <a:srgbClr val="FF0000"/>
                                </a:solidFill>
                                <a:latin typeface="Cambria Math" panose="02040503050406030204" pitchFamily="18" charset="0"/>
                              </a:rPr>
                              <m:t>0</m:t>
                            </m:r>
                          </m:sub>
                          <m:sup>
                            <m:r>
                              <a:rPr lang="en-US" sz="2200" i="1">
                                <a:solidFill>
                                  <a:srgbClr val="FF0000"/>
                                </a:solidFill>
                                <a:latin typeface="Cambria Math" panose="02040503050406030204" pitchFamily="18" charset="0"/>
                              </a:rPr>
                              <m:t>𝑇</m:t>
                            </m:r>
                          </m:sup>
                          <m:e>
                            <m:sSup>
                              <m:sSupPr>
                                <m:ctrlPr>
                                  <a:rPr lang="en-US" sz="2200" i="1">
                                    <a:solidFill>
                                      <a:srgbClr val="FF0000"/>
                                    </a:solidFill>
                                    <a:latin typeface="Cambria Math" panose="02040503050406030204" pitchFamily="18" charset="0"/>
                                  </a:rPr>
                                </m:ctrlPr>
                              </m:sSupPr>
                              <m:e>
                                <m:r>
                                  <m:rPr>
                                    <m:sty m:val="p"/>
                                  </m:rPr>
                                  <a:rPr lang="en-US" sz="2200" i="0">
                                    <a:solidFill>
                                      <a:srgbClr val="FF0000"/>
                                    </a:solidFill>
                                    <a:latin typeface="Cambria Math" panose="02040503050406030204" pitchFamily="18" charset="0"/>
                                  </a:rPr>
                                  <m:t>e</m:t>
                                </m:r>
                              </m:e>
                              <m:sup>
                                <m:r>
                                  <m:rPr>
                                    <m:sty m:val="p"/>
                                  </m:rPr>
                                  <a:rPr lang="en-US" sz="2200" i="0">
                                    <a:solidFill>
                                      <a:srgbClr val="FF0000"/>
                                    </a:solidFill>
                                    <a:latin typeface="Cambria Math" panose="02040503050406030204" pitchFamily="18" charset="0"/>
                                  </a:rPr>
                                  <m:t>j</m:t>
                                </m:r>
                                <m:r>
                                  <a:rPr lang="en-US" sz="2200" i="1">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𝑘</m:t>
                                </m:r>
                                <m:r>
                                  <a:rPr lang="en-US" sz="2200" i="1">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rPr>
                                  <m:t>𝑛</m:t>
                                </m:r>
                                <m:r>
                                  <a:rPr lang="en-US" sz="2200" i="1">
                                    <a:solidFill>
                                      <a:srgbClr val="FF0000"/>
                                    </a:solidFill>
                                    <a:latin typeface="Cambria Math" panose="02040503050406030204" pitchFamily="18" charset="0"/>
                                  </a:rPr>
                                  <m:t>)</m:t>
                                </m:r>
                                <m:sSub>
                                  <m:sSubPr>
                                    <m:ctrlPr>
                                      <a:rPr lang="en-US" sz="2200" i="1">
                                        <a:solidFill>
                                          <a:srgbClr val="FF0000"/>
                                        </a:solidFill>
                                        <a:latin typeface="Cambria Math" panose="02040503050406030204" pitchFamily="18" charset="0"/>
                                      </a:rPr>
                                    </m:ctrlPr>
                                  </m:sSubPr>
                                  <m:e>
                                    <m:r>
                                      <a:rPr lang="en-US" sz="2200" i="1">
                                        <a:solidFill>
                                          <a:srgbClr val="FF0000"/>
                                        </a:solidFill>
                                        <a:latin typeface="Cambria Math" panose="02040503050406030204" pitchFamily="18" charset="0"/>
                                      </a:rPr>
                                      <m:t>𝜔</m:t>
                                    </m:r>
                                  </m:e>
                                  <m:sub>
                                    <m:r>
                                      <a:rPr lang="en-US" sz="2200" i="1">
                                        <a:solidFill>
                                          <a:srgbClr val="FF0000"/>
                                        </a:solidFill>
                                        <a:latin typeface="Cambria Math" panose="02040503050406030204" pitchFamily="18" charset="0"/>
                                      </a:rPr>
                                      <m:t>0</m:t>
                                    </m:r>
                                  </m:sub>
                                </m:sSub>
                                <m:r>
                                  <a:rPr lang="en-US" sz="2200" i="1">
                                    <a:solidFill>
                                      <a:srgbClr val="FF0000"/>
                                    </a:solidFill>
                                    <a:latin typeface="Cambria Math" panose="02040503050406030204" pitchFamily="18" charset="0"/>
                                  </a:rPr>
                                  <m:t>𝑡</m:t>
                                </m:r>
                              </m:sup>
                            </m:sSup>
                            <m:r>
                              <m:rPr>
                                <m:sty m:val="p"/>
                              </m:rPr>
                              <a:rPr lang="en-US" sz="2200" i="0">
                                <a:solidFill>
                                  <a:srgbClr val="FF0000"/>
                                </a:solidFill>
                                <a:latin typeface="Cambria Math" panose="02040503050406030204" pitchFamily="18" charset="0"/>
                              </a:rPr>
                              <m:t>d</m:t>
                            </m:r>
                            <m:r>
                              <a:rPr lang="en-US" sz="2200" i="1">
                                <a:solidFill>
                                  <a:srgbClr val="FF0000"/>
                                </a:solidFill>
                                <a:latin typeface="Cambria Math" panose="02040503050406030204" pitchFamily="18" charset="0"/>
                              </a:rPr>
                              <m:t>𝑡</m:t>
                            </m:r>
                          </m:e>
                        </m:nary>
                      </m:e>
                    </m:nary>
                  </m:oMath>
                </a14:m>
                <a:endParaRPr lang="zh-CN" altLang="en-US" sz="2200" b="0" dirty="0"/>
              </a:p>
            </p:txBody>
          </p:sp>
        </mc:Choice>
        <mc:Fallback xmlns="">
          <p:sp>
            <p:nvSpPr>
              <p:cNvPr id="47112" name="内容占位符 2">
                <a:extLst>
                  <a:ext uri="{FF2B5EF4-FFF2-40B4-BE49-F238E27FC236}">
                    <a16:creationId xmlns:a16="http://schemas.microsoft.com/office/drawing/2014/main" id="{A355CE97-AC01-4CDD-B4D4-3B9BC0A459D1}"/>
                  </a:ext>
                </a:extLst>
              </p:cNvPr>
              <p:cNvSpPr>
                <a:spLocks noGrp="1" noRot="1" noChangeAspect="1" noMove="1" noResize="1" noEditPoints="1" noAdjustHandles="1" noChangeArrowheads="1" noChangeShapeType="1" noTextEdit="1"/>
              </p:cNvSpPr>
              <p:nvPr>
                <p:ph idx="1"/>
              </p:nvPr>
            </p:nvSpPr>
            <p:spPr>
              <a:xfrm>
                <a:off x="457200" y="1285875"/>
                <a:ext cx="8229600" cy="5194307"/>
              </a:xfrm>
              <a:blipFill>
                <a:blip r:embed="rId2"/>
                <a:stretch>
                  <a:fillRect l="-96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FE4EEA43-A7FD-4DDE-B598-E97A1C6448B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8C92516-B127-4931-9EC2-10B1E2442ADE}" type="slidenum">
              <a:rPr lang="zh-CN" altLang="en-US">
                <a:solidFill>
                  <a:srgbClr val="898989"/>
                </a:solidFill>
                <a:latin typeface="Calibri" panose="020F0502020204030204" pitchFamily="34" charset="0"/>
              </a:rPr>
              <a:pPr eaLnBrk="1" hangingPunct="1"/>
              <a:t>20</a:t>
            </a:fld>
            <a:endParaRPr lang="zh-CN" altLang="en-US">
              <a:solidFill>
                <a:srgbClr val="898989"/>
              </a:solidFill>
              <a:latin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7" name="标题 1">
            <a:extLst>
              <a:ext uri="{FF2B5EF4-FFF2-40B4-BE49-F238E27FC236}">
                <a16:creationId xmlns:a16="http://schemas.microsoft.com/office/drawing/2014/main" id="{73AFDBE8-4270-46E3-92CF-6347AAC84A86}"/>
              </a:ext>
            </a:extLst>
          </p:cNvPr>
          <p:cNvSpPr>
            <a:spLocks noGrp="1"/>
          </p:cNvSpPr>
          <p:nvPr>
            <p:ph type="title"/>
          </p:nvPr>
        </p:nvSpPr>
        <p:spPr/>
        <p:txBody>
          <a:bodyPr/>
          <a:lstStyle/>
          <a:p>
            <a:r>
              <a:rPr lang="en-US" altLang="zh-CN" sz="3200">
                <a:solidFill>
                  <a:srgbClr val="000000"/>
                </a:solidFill>
              </a:rPr>
              <a:t>3.3  </a:t>
            </a:r>
            <a:r>
              <a:rPr lang="zh-CN" altLang="en-US" sz="3200">
                <a:solidFill>
                  <a:srgbClr val="000000"/>
                </a:solidFill>
              </a:rPr>
              <a:t>连续时间周期信号的傅里叶级数表示</a:t>
            </a:r>
            <a:endParaRPr lang="zh-CN" altLang="en-US"/>
          </a:p>
        </p:txBody>
      </p:sp>
      <p:sp>
        <p:nvSpPr>
          <p:cNvPr id="4" name="灯片编号占位符 3">
            <a:extLst>
              <a:ext uri="{FF2B5EF4-FFF2-40B4-BE49-F238E27FC236}">
                <a16:creationId xmlns:a16="http://schemas.microsoft.com/office/drawing/2014/main" id="{15CEDF78-8B5C-416E-B3D1-B9BAA51FFDA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9BA161-2BED-4B8C-B034-470A68A8D041}" type="slidenum">
              <a:rPr lang="zh-CN" altLang="en-US">
                <a:solidFill>
                  <a:srgbClr val="898989"/>
                </a:solidFill>
                <a:latin typeface="Calibri" panose="020F0502020204030204" pitchFamily="34" charset="0"/>
              </a:rPr>
              <a:pPr eaLnBrk="1" hangingPunct="1"/>
              <a:t>21</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48130" name="Object 2">
                <a:extLst>
                  <a:ext uri="{FF2B5EF4-FFF2-40B4-BE49-F238E27FC236}">
                    <a16:creationId xmlns:a16="http://schemas.microsoft.com/office/drawing/2014/main" id="{96ECC07A-392A-4EDD-84C1-2F353C187262}"/>
                  </a:ext>
                </a:extLst>
              </p:cNvPr>
              <p:cNvSpPr txBox="1"/>
              <p:nvPr/>
            </p:nvSpPr>
            <p:spPr bwMode="auto">
              <a:xfrm>
                <a:off x="371984" y="2692994"/>
                <a:ext cx="8229600" cy="85382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trlPr>
                            <a:rPr lang="en-US" sz="2200" i="1">
                              <a:solidFill>
                                <a:srgbClr val="000000"/>
                              </a:solidFill>
                              <a:latin typeface="Cambria Math" panose="02040503050406030204" pitchFamily="18" charset="0"/>
                            </a:rPr>
                          </m:ctrlPr>
                        </m:naryPr>
                        <m:sub>
                          <m:r>
                            <a:rPr lang="en-US" sz="2200" b="0" i="1">
                              <a:solidFill>
                                <a:srgbClr val="000000"/>
                              </a:solidFill>
                              <a:latin typeface="Cambria Math" panose="02040503050406030204" pitchFamily="18" charset="0"/>
                            </a:rPr>
                            <m:t>0</m:t>
                          </m:r>
                        </m:sub>
                        <m:sup>
                          <m:r>
                            <a:rPr lang="en-US" sz="2200" b="0" i="1">
                              <a:solidFill>
                                <a:srgbClr val="000000"/>
                              </a:solidFill>
                              <a:latin typeface="Cambria Math" panose="02040503050406030204" pitchFamily="18" charset="0"/>
                            </a:rPr>
                            <m:t>𝑇</m:t>
                          </m:r>
                        </m:sup>
                        <m:e>
                          <m:sSup>
                            <m:sSupPr>
                              <m:ctrlPr>
                                <a:rPr lang="en-US" sz="2200" i="1">
                                  <a:solidFill>
                                    <a:srgbClr val="000000"/>
                                  </a:solidFill>
                                  <a:latin typeface="Cambria Math" panose="02040503050406030204" pitchFamily="18" charset="0"/>
                                </a:rPr>
                              </m:ctrlPr>
                            </m:sSupPr>
                            <m:e>
                              <m:r>
                                <m:rPr>
                                  <m:sty m:val="p"/>
                                </m:rPr>
                                <a:rPr lang="en-US" sz="2200" b="0" i="0">
                                  <a:solidFill>
                                    <a:srgbClr val="000000"/>
                                  </a:solidFill>
                                  <a:latin typeface="Cambria Math" panose="02040503050406030204" pitchFamily="18" charset="0"/>
                                </a:rPr>
                                <m:t>e</m:t>
                              </m:r>
                            </m:e>
                            <m:sup>
                              <m:r>
                                <m:rPr>
                                  <m:sty m:val="p"/>
                                </m:rPr>
                                <a:rPr lang="en-US" sz="2200" b="0" i="0">
                                  <a:solidFill>
                                    <a:srgbClr val="000000"/>
                                  </a:solidFill>
                                  <a:latin typeface="Cambria Math" panose="02040503050406030204" pitchFamily="18" charset="0"/>
                                </a:rPr>
                                <m:t>j</m:t>
                              </m:r>
                              <m:r>
                                <a:rPr lang="en-US" sz="2200" b="0" i="1">
                                  <a:solidFill>
                                    <a:srgbClr val="000000"/>
                                  </a:solidFill>
                                  <a:latin typeface="Cambria Math" panose="02040503050406030204" pitchFamily="18" charset="0"/>
                                </a:rPr>
                                <m:t>(</m:t>
                              </m:r>
                              <m:r>
                                <a:rPr lang="en-US" sz="2200" b="0" i="1">
                                  <a:solidFill>
                                    <a:srgbClr val="000000"/>
                                  </a:solidFill>
                                  <a:latin typeface="Cambria Math" panose="02040503050406030204" pitchFamily="18" charset="0"/>
                                </a:rPr>
                                <m:t>𝑘</m:t>
                              </m:r>
                              <m:r>
                                <a:rPr lang="en-US" sz="2200" b="0" i="1">
                                  <a:solidFill>
                                    <a:srgbClr val="000000"/>
                                  </a:solidFill>
                                  <a:latin typeface="Cambria Math" panose="02040503050406030204" pitchFamily="18" charset="0"/>
                                </a:rPr>
                                <m:t>−</m:t>
                              </m:r>
                              <m:r>
                                <a:rPr lang="en-US" sz="2200" b="0" i="1">
                                  <a:solidFill>
                                    <a:srgbClr val="000000"/>
                                  </a:solidFill>
                                  <a:latin typeface="Cambria Math" panose="02040503050406030204" pitchFamily="18" charset="0"/>
                                </a:rPr>
                                <m:t>𝑛</m:t>
                              </m:r>
                              <m:r>
                                <a:rPr lang="en-US" sz="2200" b="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b="0" i="1">
                                      <a:solidFill>
                                        <a:srgbClr val="000000"/>
                                      </a:solidFill>
                                      <a:latin typeface="Cambria Math" panose="02040503050406030204" pitchFamily="18" charset="0"/>
                                    </a:rPr>
                                    <m:t>𝜔</m:t>
                                  </m:r>
                                </m:e>
                                <m:sub>
                                  <m:r>
                                    <a:rPr lang="en-US" sz="2200" b="0" i="1">
                                      <a:solidFill>
                                        <a:srgbClr val="000000"/>
                                      </a:solidFill>
                                      <a:latin typeface="Cambria Math" panose="02040503050406030204" pitchFamily="18" charset="0"/>
                                    </a:rPr>
                                    <m:t>0</m:t>
                                  </m:r>
                                </m:sub>
                              </m:sSub>
                              <m:r>
                                <a:rPr lang="en-US" sz="2200" b="0" i="1">
                                  <a:solidFill>
                                    <a:srgbClr val="000000"/>
                                  </a:solidFill>
                                  <a:latin typeface="Cambria Math" panose="02040503050406030204" pitchFamily="18" charset="0"/>
                                </a:rPr>
                                <m:t>𝑡</m:t>
                              </m:r>
                            </m:sup>
                          </m:sSup>
                          <m:r>
                            <m:rPr>
                              <m:sty m:val="p"/>
                            </m:rPr>
                            <a:rPr lang="en-US" sz="2200" b="0" i="0">
                              <a:solidFill>
                                <a:srgbClr val="000000"/>
                              </a:solidFill>
                              <a:latin typeface="Cambria Math" panose="02040503050406030204" pitchFamily="18" charset="0"/>
                            </a:rPr>
                            <m:t>d</m:t>
                          </m:r>
                          <m:r>
                            <a:rPr lang="en-US" sz="2200" b="0" i="1">
                              <a:solidFill>
                                <a:srgbClr val="000000"/>
                              </a:solidFill>
                              <a:latin typeface="Cambria Math" panose="02040503050406030204" pitchFamily="18" charset="0"/>
                            </a:rPr>
                            <m:t>𝑡</m:t>
                          </m:r>
                          <m:r>
                            <a:rPr lang="en-US" sz="2200" b="0" i="1">
                              <a:solidFill>
                                <a:srgbClr val="000000"/>
                              </a:solidFill>
                              <a:latin typeface="Cambria Math" panose="02040503050406030204" pitchFamily="18" charset="0"/>
                            </a:rPr>
                            <m:t>=</m:t>
                          </m:r>
                          <m:nary>
                            <m:naryPr>
                              <m:ctrlPr>
                                <a:rPr lang="en-US" sz="2200" i="1">
                                  <a:solidFill>
                                    <a:srgbClr val="000000"/>
                                  </a:solidFill>
                                  <a:latin typeface="Cambria Math" panose="02040503050406030204" pitchFamily="18" charset="0"/>
                                </a:rPr>
                              </m:ctrlPr>
                            </m:naryPr>
                            <m:sub>
                              <m:r>
                                <a:rPr lang="en-US" sz="2200" b="0" i="1">
                                  <a:solidFill>
                                    <a:srgbClr val="000000"/>
                                  </a:solidFill>
                                  <a:latin typeface="Cambria Math" panose="02040503050406030204" pitchFamily="18" charset="0"/>
                                </a:rPr>
                                <m:t>0</m:t>
                              </m:r>
                            </m:sub>
                            <m:sup>
                              <m:r>
                                <a:rPr lang="en-US" sz="2200" b="0" i="1">
                                  <a:solidFill>
                                    <a:srgbClr val="000000"/>
                                  </a:solidFill>
                                  <a:latin typeface="Cambria Math" panose="02040503050406030204" pitchFamily="18" charset="0"/>
                                </a:rPr>
                                <m:t>𝑇</m:t>
                              </m:r>
                            </m:sup>
                            <m:e>
                              <m:func>
                                <m:funcPr>
                                  <m:ctrlPr>
                                    <a:rPr lang="en-US" sz="2200" i="1">
                                      <a:solidFill>
                                        <a:srgbClr val="000000"/>
                                      </a:solidFill>
                                      <a:latin typeface="Cambria Math" panose="02040503050406030204" pitchFamily="18" charset="0"/>
                                    </a:rPr>
                                  </m:ctrlPr>
                                </m:funcPr>
                                <m:fName>
                                  <m:r>
                                    <m:rPr>
                                      <m:sty m:val="p"/>
                                    </m:rPr>
                                    <a:rPr lang="en-US" sz="2200" b="0" i="0">
                                      <a:solidFill>
                                        <a:srgbClr val="000000"/>
                                      </a:solidFill>
                                      <a:latin typeface="Cambria Math" panose="02040503050406030204" pitchFamily="18" charset="0"/>
                                    </a:rPr>
                                    <m:t>cos</m:t>
                                  </m:r>
                                </m:fName>
                                <m:e>
                                  <m:d>
                                    <m:dPr>
                                      <m:ctrlPr>
                                        <a:rPr lang="en-US" sz="2200" b="0" i="1" smtClean="0">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𝑛</m:t>
                                      </m:r>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𝜔</m:t>
                                          </m:r>
                                        </m:e>
                                        <m:sub>
                                          <m:r>
                                            <a:rPr lang="en-US" sz="2200" i="1">
                                              <a:solidFill>
                                                <a:srgbClr val="000000"/>
                                              </a:solidFill>
                                              <a:latin typeface="Cambria Math" panose="02040503050406030204" pitchFamily="18" charset="0"/>
                                            </a:rPr>
                                            <m:t>0</m:t>
                                          </m:r>
                                        </m:sub>
                                      </m:sSub>
                                      <m:r>
                                        <a:rPr lang="en-US" sz="2200" i="1">
                                          <a:solidFill>
                                            <a:srgbClr val="000000"/>
                                          </a:solidFill>
                                          <a:latin typeface="Cambria Math" panose="02040503050406030204" pitchFamily="18" charset="0"/>
                                        </a:rPr>
                                        <m:t>𝑡</m:t>
                                      </m:r>
                                    </m:e>
                                  </m:d>
                                </m:e>
                              </m:func>
                              <m:r>
                                <m:rPr>
                                  <m:sty m:val="p"/>
                                </m:rPr>
                                <a:rPr lang="en-US" sz="2200" b="0" i="0">
                                  <a:solidFill>
                                    <a:srgbClr val="000000"/>
                                  </a:solidFill>
                                  <a:latin typeface="Cambria Math" panose="02040503050406030204" pitchFamily="18" charset="0"/>
                                </a:rPr>
                                <m:t>d</m:t>
                              </m:r>
                              <m:r>
                                <a:rPr lang="en-US" sz="2200" b="0" i="1">
                                  <a:solidFill>
                                    <a:srgbClr val="000000"/>
                                  </a:solidFill>
                                  <a:latin typeface="Cambria Math" panose="02040503050406030204" pitchFamily="18" charset="0"/>
                                </a:rPr>
                                <m:t>𝑡</m:t>
                              </m:r>
                              <m:r>
                                <a:rPr lang="en-US" sz="2200" b="0" i="1">
                                  <a:solidFill>
                                    <a:srgbClr val="000000"/>
                                  </a:solidFill>
                                  <a:latin typeface="Cambria Math" panose="02040503050406030204" pitchFamily="18" charset="0"/>
                                </a:rPr>
                                <m:t>+</m:t>
                              </m:r>
                              <m:r>
                                <m:rPr>
                                  <m:sty m:val="p"/>
                                </m:rPr>
                                <a:rPr lang="en-US" sz="2200" b="0" i="0">
                                  <a:solidFill>
                                    <a:srgbClr val="000000"/>
                                  </a:solidFill>
                                  <a:latin typeface="Cambria Math" panose="02040503050406030204" pitchFamily="18" charset="0"/>
                                </a:rPr>
                                <m:t>j</m:t>
                              </m:r>
                              <m:nary>
                                <m:naryPr>
                                  <m:ctrlPr>
                                    <a:rPr lang="en-US" sz="2200" i="1">
                                      <a:solidFill>
                                        <a:srgbClr val="000000"/>
                                      </a:solidFill>
                                      <a:latin typeface="Cambria Math" panose="02040503050406030204" pitchFamily="18" charset="0"/>
                                    </a:rPr>
                                  </m:ctrlPr>
                                </m:naryPr>
                                <m:sub>
                                  <m:r>
                                    <a:rPr lang="en-US" sz="2200" b="0" i="1">
                                      <a:solidFill>
                                        <a:srgbClr val="000000"/>
                                      </a:solidFill>
                                      <a:latin typeface="Cambria Math" panose="02040503050406030204" pitchFamily="18" charset="0"/>
                                    </a:rPr>
                                    <m:t>0</m:t>
                                  </m:r>
                                </m:sub>
                                <m:sup>
                                  <m:r>
                                    <a:rPr lang="en-US" sz="2200" b="0" i="1">
                                      <a:solidFill>
                                        <a:srgbClr val="000000"/>
                                      </a:solidFill>
                                      <a:latin typeface="Cambria Math" panose="02040503050406030204" pitchFamily="18" charset="0"/>
                                    </a:rPr>
                                    <m:t>𝑇</m:t>
                                  </m:r>
                                </m:sup>
                                <m:e>
                                  <m:func>
                                    <m:funcPr>
                                      <m:ctrlPr>
                                        <a:rPr lang="en-US" sz="2200" i="1">
                                          <a:solidFill>
                                            <a:srgbClr val="000000"/>
                                          </a:solidFill>
                                          <a:latin typeface="Cambria Math" panose="02040503050406030204" pitchFamily="18" charset="0"/>
                                        </a:rPr>
                                      </m:ctrlPr>
                                    </m:funcPr>
                                    <m:fName>
                                      <m:r>
                                        <m:rPr>
                                          <m:sty m:val="p"/>
                                        </m:rPr>
                                        <a:rPr lang="en-US" sz="2200" b="0" i="0">
                                          <a:solidFill>
                                            <a:srgbClr val="000000"/>
                                          </a:solidFill>
                                          <a:latin typeface="Cambria Math" panose="02040503050406030204" pitchFamily="18" charset="0"/>
                                        </a:rPr>
                                        <m:t>sin</m:t>
                                      </m:r>
                                    </m:fName>
                                    <m:e>
                                      <m:d>
                                        <m:dPr>
                                          <m:ctrlPr>
                                            <a:rPr lang="en-US" sz="2200" b="0" i="1" smtClean="0">
                                              <a:solidFill>
                                                <a:srgbClr val="000000"/>
                                              </a:solidFill>
                                              <a:latin typeface="Cambria Math" panose="02040503050406030204" pitchFamily="18" charset="0"/>
                                            </a:rPr>
                                          </m:ctrlPr>
                                        </m:dPr>
                                        <m:e>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𝑘</m:t>
                                          </m:r>
                                          <m:r>
                                            <a:rPr lang="en-US"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𝑛</m:t>
                                          </m:r>
                                          <m:r>
                                            <a:rPr lang="en-US" sz="2200" i="1">
                                              <a:solidFill>
                                                <a:srgbClr val="000000"/>
                                              </a:solidFill>
                                              <a:latin typeface="Cambria Math" panose="02040503050406030204" pitchFamily="18" charset="0"/>
                                            </a:rPr>
                                            <m:t>)</m:t>
                                          </m:r>
                                          <m:sSub>
                                            <m:sSubPr>
                                              <m:ctrlPr>
                                                <a:rPr lang="en-US" sz="2200" i="1">
                                                  <a:solidFill>
                                                    <a:srgbClr val="000000"/>
                                                  </a:solidFill>
                                                  <a:latin typeface="Cambria Math" panose="02040503050406030204" pitchFamily="18" charset="0"/>
                                                </a:rPr>
                                              </m:ctrlPr>
                                            </m:sSubPr>
                                            <m:e>
                                              <m:r>
                                                <a:rPr lang="en-US" sz="2200" i="1">
                                                  <a:solidFill>
                                                    <a:srgbClr val="000000"/>
                                                  </a:solidFill>
                                                  <a:latin typeface="Cambria Math" panose="02040503050406030204" pitchFamily="18" charset="0"/>
                                                </a:rPr>
                                                <m:t>𝜔</m:t>
                                              </m:r>
                                            </m:e>
                                            <m:sub>
                                              <m:r>
                                                <a:rPr lang="en-US" sz="2200" i="1">
                                                  <a:solidFill>
                                                    <a:srgbClr val="000000"/>
                                                  </a:solidFill>
                                                  <a:latin typeface="Cambria Math" panose="02040503050406030204" pitchFamily="18" charset="0"/>
                                                </a:rPr>
                                                <m:t>0</m:t>
                                              </m:r>
                                            </m:sub>
                                          </m:sSub>
                                          <m:r>
                                            <a:rPr lang="en-US" sz="2200" i="1">
                                              <a:solidFill>
                                                <a:srgbClr val="000000"/>
                                              </a:solidFill>
                                              <a:latin typeface="Cambria Math" panose="02040503050406030204" pitchFamily="18" charset="0"/>
                                            </a:rPr>
                                            <m:t>𝑡</m:t>
                                          </m:r>
                                        </m:e>
                                      </m:d>
                                    </m:e>
                                  </m:func>
                                  <m:r>
                                    <m:rPr>
                                      <m:sty m:val="p"/>
                                    </m:rPr>
                                    <a:rPr lang="en-US" sz="2200" b="0" i="0">
                                      <a:solidFill>
                                        <a:srgbClr val="000000"/>
                                      </a:solidFill>
                                      <a:latin typeface="Cambria Math" panose="02040503050406030204" pitchFamily="18" charset="0"/>
                                    </a:rPr>
                                    <m:t>d</m:t>
                                  </m:r>
                                  <m:r>
                                    <a:rPr lang="en-US" sz="2200" b="0" i="1">
                                      <a:solidFill>
                                        <a:srgbClr val="000000"/>
                                      </a:solidFill>
                                      <a:latin typeface="Cambria Math" panose="02040503050406030204" pitchFamily="18" charset="0"/>
                                    </a:rPr>
                                    <m:t>𝑡</m:t>
                                  </m:r>
                                </m:e>
                              </m:nary>
                            </m:e>
                          </m:nary>
                        </m:e>
                      </m:nary>
                    </m:oMath>
                  </m:oMathPara>
                </a14:m>
                <a:endParaRPr lang="en-US" sz="2200" dirty="0"/>
              </a:p>
            </p:txBody>
          </p:sp>
        </mc:Choice>
        <mc:Fallback xmlns="">
          <p:sp>
            <p:nvSpPr>
              <p:cNvPr id="48130" name="Object 2">
                <a:extLst>
                  <a:ext uri="{FF2B5EF4-FFF2-40B4-BE49-F238E27FC236}">
                    <a16:creationId xmlns:a16="http://schemas.microsoft.com/office/drawing/2014/main" id="{96ECC07A-392A-4EDD-84C1-2F353C187262}"/>
                  </a:ext>
                </a:extLst>
              </p:cNvPr>
              <p:cNvSpPr txBox="1">
                <a:spLocks noRot="1" noChangeAspect="1" noMove="1" noResize="1" noEditPoints="1" noAdjustHandles="1" noChangeArrowheads="1" noChangeShapeType="1" noTextEdit="1"/>
              </p:cNvSpPr>
              <p:nvPr/>
            </p:nvSpPr>
            <p:spPr bwMode="auto">
              <a:xfrm>
                <a:off x="371984" y="2692994"/>
                <a:ext cx="8229600" cy="853823"/>
              </a:xfrm>
              <a:prstGeom prst="rect">
                <a:avLst/>
              </a:prstGeom>
              <a:blipFill>
                <a:blip r:embed="rId3"/>
                <a:stretch>
                  <a:fillRect/>
                </a:stretch>
              </a:blipFill>
              <a:ln>
                <a:noFill/>
              </a:ln>
              <a:effectLst/>
            </p:spPr>
            <p:txBody>
              <a:bodyPr/>
              <a:lstStyle/>
              <a:p>
                <a:r>
                  <a:rPr lang="en-US">
                    <a:noFill/>
                  </a:rPr>
                  <a:t> </a:t>
                </a:r>
              </a:p>
            </p:txBody>
          </p:sp>
        </mc:Fallback>
      </mc:AlternateContent>
      <p:grpSp>
        <p:nvGrpSpPr>
          <p:cNvPr id="2" name="组合 8">
            <a:extLst>
              <a:ext uri="{FF2B5EF4-FFF2-40B4-BE49-F238E27FC236}">
                <a16:creationId xmlns:a16="http://schemas.microsoft.com/office/drawing/2014/main" id="{9AEE092A-D59C-447B-B010-C451CABA23FC}"/>
              </a:ext>
            </a:extLst>
          </p:cNvPr>
          <p:cNvGrpSpPr>
            <a:grpSpLocks/>
          </p:cNvGrpSpPr>
          <p:nvPr/>
        </p:nvGrpSpPr>
        <p:grpSpPr bwMode="auto">
          <a:xfrm>
            <a:off x="2503064" y="3929492"/>
            <a:ext cx="2069952" cy="916148"/>
            <a:chOff x="2503020" y="2194864"/>
            <a:chExt cx="2070276" cy="916148"/>
          </a:xfrm>
        </p:grpSpPr>
        <mc:AlternateContent xmlns:mc="http://schemas.openxmlformats.org/markup-compatibility/2006" xmlns:a14="http://schemas.microsoft.com/office/drawing/2010/main">
          <mc:Choice Requires="a14">
            <p:sp>
              <p:nvSpPr>
                <p:cNvPr id="48134" name="Object 3">
                  <a:extLst>
                    <a:ext uri="{FF2B5EF4-FFF2-40B4-BE49-F238E27FC236}">
                      <a16:creationId xmlns:a16="http://schemas.microsoft.com/office/drawing/2014/main" id="{55695E73-F90F-4C3C-89EB-A42E48CD6140}"/>
                    </a:ext>
                  </a:extLst>
                </p:cNvPr>
                <p:cNvSpPr txBox="1"/>
                <p:nvPr/>
              </p:nvSpPr>
              <p:spPr bwMode="auto">
                <a:xfrm>
                  <a:off x="2503020" y="2194864"/>
                  <a:ext cx="989012" cy="916148"/>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m:t>
                        </m:r>
                        <m:d>
                          <m:dPr>
                            <m:begChr m:val="{"/>
                            <m:endChr m:val=""/>
                            <m:ctrlPr>
                              <a:rPr lang="en-US" sz="2400" i="1">
                                <a:solidFill>
                                  <a:srgbClr val="000000"/>
                                </a:solidFill>
                                <a:latin typeface="Cambria Math" panose="02040503050406030204" pitchFamily="18" charset="0"/>
                              </a:rPr>
                            </m:ctrlPr>
                          </m:dPr>
                          <m:e>
                            <m:m>
                              <m:mPr>
                                <m:plcHide m:val="on"/>
                                <m:mcs>
                                  <m:mc>
                                    <m:mcPr>
                                      <m:count m:val="1"/>
                                      <m:mcJc m:val="center"/>
                                    </m:mcPr>
                                  </m:mc>
                                </m:mcs>
                                <m:ctrlPr>
                                  <a:rPr lang="en-US" sz="2400" i="1">
                                    <a:solidFill>
                                      <a:srgbClr val="000000"/>
                                    </a:solidFill>
                                    <a:latin typeface="Cambria Math" panose="02040503050406030204" pitchFamily="18" charset="0"/>
                                  </a:rPr>
                                </m:ctrlPr>
                              </m:mPr>
                              <m:mr>
                                <m:e>
                                  <m:r>
                                    <a:rPr lang="en-US" sz="2400" b="0" i="1">
                                      <a:solidFill>
                                        <a:srgbClr val="000000"/>
                                      </a:solidFill>
                                      <a:latin typeface="Cambria Math" panose="02040503050406030204" pitchFamily="18" charset="0"/>
                                    </a:rPr>
                                    <m:t>0,</m:t>
                                  </m:r>
                                </m:e>
                              </m:mr>
                              <m:mr>
                                <m:e>
                                  <m:r>
                                    <a:rPr lang="en-US" sz="2400" b="0" i="1">
                                      <a:solidFill>
                                        <a:srgbClr val="000000"/>
                                      </a:solidFill>
                                      <a:latin typeface="Cambria Math" panose="02040503050406030204" pitchFamily="18" charset="0"/>
                                    </a:rPr>
                                    <m:t>𝑇</m:t>
                                  </m:r>
                                  <m:r>
                                    <a:rPr lang="en-US" sz="2400" b="0" i="1">
                                      <a:solidFill>
                                        <a:srgbClr val="000000"/>
                                      </a:solidFill>
                                      <a:latin typeface="Cambria Math" panose="02040503050406030204" pitchFamily="18" charset="0"/>
                                    </a:rPr>
                                    <m:t>,</m:t>
                                  </m:r>
                                </m:e>
                              </m:mr>
                            </m:m>
                          </m:e>
                        </m:d>
                      </m:oMath>
                    </m:oMathPara>
                  </a14:m>
                  <a:endParaRPr lang="en-US" sz="2400" dirty="0"/>
                </a:p>
              </p:txBody>
            </p:sp>
          </mc:Choice>
          <mc:Fallback xmlns="">
            <p:sp>
              <p:nvSpPr>
                <p:cNvPr id="48134" name="Object 3">
                  <a:extLst>
                    <a:ext uri="{FF2B5EF4-FFF2-40B4-BE49-F238E27FC236}">
                      <a16:creationId xmlns:a16="http://schemas.microsoft.com/office/drawing/2014/main" id="{55695E73-F90F-4C3C-89EB-A42E48CD6140}"/>
                    </a:ext>
                  </a:extLst>
                </p:cNvPr>
                <p:cNvSpPr txBox="1">
                  <a:spLocks noRot="1" noChangeAspect="1" noMove="1" noResize="1" noEditPoints="1" noAdjustHandles="1" noChangeArrowheads="1" noChangeShapeType="1" noTextEdit="1"/>
                </p:cNvSpPr>
                <p:nvPr/>
              </p:nvSpPr>
              <p:spPr bwMode="auto">
                <a:xfrm>
                  <a:off x="2503020" y="2194864"/>
                  <a:ext cx="989012" cy="916148"/>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135" name="Object 4">
                  <a:extLst>
                    <a:ext uri="{FF2B5EF4-FFF2-40B4-BE49-F238E27FC236}">
                      <a16:creationId xmlns:a16="http://schemas.microsoft.com/office/drawing/2014/main" id="{1E25191D-1D1F-46D9-9997-91E81E1BDA25}"/>
                    </a:ext>
                  </a:extLst>
                </p:cNvPr>
                <p:cNvSpPr txBox="1"/>
                <p:nvPr/>
              </p:nvSpPr>
              <p:spPr bwMode="auto">
                <a:xfrm>
                  <a:off x="3583268" y="2234536"/>
                  <a:ext cx="989012"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𝑘</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oMath>
                    </m:oMathPara>
                  </a14:m>
                  <a:endParaRPr lang="en-US" sz="2400" dirty="0"/>
                </a:p>
              </p:txBody>
            </p:sp>
          </mc:Choice>
          <mc:Fallback xmlns="">
            <p:sp>
              <p:nvSpPr>
                <p:cNvPr id="48135" name="Object 4">
                  <a:extLst>
                    <a:ext uri="{FF2B5EF4-FFF2-40B4-BE49-F238E27FC236}">
                      <a16:creationId xmlns:a16="http://schemas.microsoft.com/office/drawing/2014/main" id="{1E25191D-1D1F-46D9-9997-91E81E1BDA25}"/>
                    </a:ext>
                  </a:extLst>
                </p:cNvPr>
                <p:cNvSpPr txBox="1">
                  <a:spLocks noRot="1" noChangeAspect="1" noMove="1" noResize="1" noEditPoints="1" noAdjustHandles="1" noChangeArrowheads="1" noChangeShapeType="1" noTextEdit="1"/>
                </p:cNvSpPr>
                <p:nvPr/>
              </p:nvSpPr>
              <p:spPr bwMode="auto">
                <a:xfrm>
                  <a:off x="3583268" y="2234536"/>
                  <a:ext cx="989012" cy="461665"/>
                </a:xfrm>
                <a:prstGeom prst="rect">
                  <a:avLst/>
                </a:prstGeom>
                <a:blipFill>
                  <a:blip r:embed="rId5"/>
                  <a:stretch>
                    <a:fillRect l="-1852"/>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136" name="Object 5">
                  <a:extLst>
                    <a:ext uri="{FF2B5EF4-FFF2-40B4-BE49-F238E27FC236}">
                      <a16:creationId xmlns:a16="http://schemas.microsoft.com/office/drawing/2014/main" id="{D0EBC841-3A7B-413C-9AE9-FB80C28DBB1E}"/>
                    </a:ext>
                  </a:extLst>
                </p:cNvPr>
                <p:cNvSpPr txBox="1"/>
                <p:nvPr/>
              </p:nvSpPr>
              <p:spPr bwMode="auto">
                <a:xfrm>
                  <a:off x="3584285" y="2603529"/>
                  <a:ext cx="989011" cy="461665"/>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𝑘</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𝑛</m:t>
                        </m:r>
                      </m:oMath>
                    </m:oMathPara>
                  </a14:m>
                  <a:endParaRPr lang="en-US" sz="2400" dirty="0"/>
                </a:p>
              </p:txBody>
            </p:sp>
          </mc:Choice>
          <mc:Fallback xmlns="">
            <p:sp>
              <p:nvSpPr>
                <p:cNvPr id="48136" name="Object 5">
                  <a:extLst>
                    <a:ext uri="{FF2B5EF4-FFF2-40B4-BE49-F238E27FC236}">
                      <a16:creationId xmlns:a16="http://schemas.microsoft.com/office/drawing/2014/main" id="{D0EBC841-3A7B-413C-9AE9-FB80C28DBB1E}"/>
                    </a:ext>
                  </a:extLst>
                </p:cNvPr>
                <p:cNvSpPr txBox="1">
                  <a:spLocks noRot="1" noChangeAspect="1" noMove="1" noResize="1" noEditPoints="1" noAdjustHandles="1" noChangeArrowheads="1" noChangeShapeType="1" noTextEdit="1"/>
                </p:cNvSpPr>
                <p:nvPr/>
              </p:nvSpPr>
              <p:spPr bwMode="auto">
                <a:xfrm>
                  <a:off x="3584285" y="2603529"/>
                  <a:ext cx="989011" cy="461665"/>
                </a:xfrm>
                <a:prstGeom prst="rect">
                  <a:avLst/>
                </a:prstGeom>
                <a:blipFill>
                  <a:blip r:embed="rId6"/>
                  <a:stretch>
                    <a:fillRect l="-1852"/>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8131" name="Object 6">
                <a:extLst>
                  <a:ext uri="{FF2B5EF4-FFF2-40B4-BE49-F238E27FC236}">
                    <a16:creationId xmlns:a16="http://schemas.microsoft.com/office/drawing/2014/main" id="{D1B48AF4-AA34-436D-BC2C-794613627878}"/>
                  </a:ext>
                </a:extLst>
              </p:cNvPr>
              <p:cNvSpPr txBox="1"/>
              <p:nvPr/>
            </p:nvSpPr>
            <p:spPr bwMode="auto">
              <a:xfrm>
                <a:off x="1566689" y="1393556"/>
                <a:ext cx="6010622" cy="109934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b="0" i="1">
                              <a:solidFill>
                                <a:srgbClr val="000000"/>
                              </a:solidFill>
                              <a:latin typeface="Cambria Math" panose="02040503050406030204" pitchFamily="18" charset="0"/>
                            </a:rPr>
                            <m:t>0</m:t>
                          </m:r>
                        </m:sub>
                        <m:sup>
                          <m:r>
                            <a:rPr lang="en-US" sz="2400" b="0" i="1">
                              <a:solidFill>
                                <a:srgbClr val="000000"/>
                              </a:solidFill>
                              <a:latin typeface="Cambria Math" panose="02040503050406030204" pitchFamily="18" charset="0"/>
                            </a:rPr>
                            <m:t>𝑇</m:t>
                          </m:r>
                        </m:sup>
                        <m:e>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a:rPr lang="en-US" sz="2400" b="0" i="1">
                                  <a:solidFill>
                                    <a:srgbClr val="000000"/>
                                  </a:solidFill>
                                  <a:latin typeface="Cambria Math" panose="02040503050406030204" pitchFamily="18" charset="0"/>
                                </a:rPr>
                                <m:t>−</m:t>
                              </m:r>
                              <m:r>
                                <m:rPr>
                                  <m:sty m:val="p"/>
                                </m:rPr>
                                <a:rPr lang="en-US" sz="2400" b="0" i="0">
                                  <a:solidFill>
                                    <a:srgbClr val="000000"/>
                                  </a:solidFill>
                                  <a:latin typeface="Cambria Math" panose="02040503050406030204" pitchFamily="18" charset="0"/>
                                </a:rPr>
                                <m:t>j</m:t>
                              </m:r>
                              <m:r>
                                <a:rPr lang="en-US" sz="2400" b="0" i="1">
                                  <a:solidFill>
                                    <a:srgbClr val="000000"/>
                                  </a:solidFill>
                                  <a:latin typeface="Cambria Math" panose="02040503050406030204" pitchFamily="18" charset="0"/>
                                </a:rPr>
                                <m:t>𝑛</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𝑡</m:t>
                              </m:r>
                            </m:sup>
                          </m:sSup>
                          <m:r>
                            <m:rPr>
                              <m:sty m:val="p"/>
                            </m:rPr>
                            <a:rPr lang="en-US" sz="2400" b="0" i="0">
                              <a:solidFill>
                                <a:srgbClr val="000000"/>
                              </a:solidFill>
                              <a:latin typeface="Cambria Math" panose="02040503050406030204" pitchFamily="18" charset="0"/>
                            </a:rPr>
                            <m:t>d</m:t>
                          </m:r>
                          <m:r>
                            <a:rPr lang="en-US" sz="2400" b="0" i="1">
                              <a:solidFill>
                                <a:srgbClr val="000000"/>
                              </a:solidFill>
                              <a:latin typeface="Cambria Math" panose="02040503050406030204" pitchFamily="18" charset="0"/>
                            </a:rPr>
                            <m:t>𝑡</m:t>
                          </m:r>
                        </m:e>
                      </m:nary>
                      <m:r>
                        <a:rPr lang="en-US" sz="2400" b="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b="0" i="1">
                              <a:solidFill>
                                <a:srgbClr val="000000"/>
                              </a:solidFill>
                              <a:latin typeface="Cambria Math" panose="02040503050406030204" pitchFamily="18" charset="0"/>
                            </a:rPr>
                            <m:t>𝑘</m:t>
                          </m:r>
                          <m:r>
                            <a:rPr lang="en-US" sz="2400" b="0" i="1">
                              <a:solidFill>
                                <a:srgbClr val="000000"/>
                              </a:solidFill>
                              <a:latin typeface="Cambria Math" panose="02040503050406030204" pitchFamily="18" charset="0"/>
                            </a:rPr>
                            <m:t>=−∞</m:t>
                          </m:r>
                        </m:sub>
                        <m:sup>
                          <m:r>
                            <a:rPr lang="en-US" sz="2400" b="0" i="1">
                              <a:solidFill>
                                <a:srgbClr val="000000"/>
                              </a:solidFill>
                              <a:latin typeface="Cambria Math" panose="02040503050406030204" pitchFamily="18" charset="0"/>
                            </a:rPr>
                            <m:t>∞</m:t>
                          </m:r>
                        </m:sup>
                        <m:e>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𝑎</m:t>
                              </m:r>
                            </m:e>
                            <m:sub>
                              <m:r>
                                <a:rPr lang="en-US" sz="2400" b="0" i="1">
                                  <a:solidFill>
                                    <a:srgbClr val="000000"/>
                                  </a:solidFill>
                                  <a:latin typeface="Cambria Math" panose="02040503050406030204" pitchFamily="18" charset="0"/>
                                </a:rPr>
                                <m:t>𝑘</m:t>
                              </m:r>
                            </m:sub>
                          </m:sSub>
                          <m:nary>
                            <m:naryPr>
                              <m:ctrlPr>
                                <a:rPr lang="en-US" sz="2400" i="1">
                                  <a:solidFill>
                                    <a:srgbClr val="FF0000"/>
                                  </a:solidFill>
                                  <a:latin typeface="Cambria Math" panose="02040503050406030204" pitchFamily="18" charset="0"/>
                                </a:rPr>
                              </m:ctrlPr>
                            </m:naryPr>
                            <m:sub>
                              <m:r>
                                <a:rPr lang="en-US" sz="2400" b="0" i="1">
                                  <a:solidFill>
                                    <a:srgbClr val="FF0000"/>
                                  </a:solidFill>
                                  <a:latin typeface="Cambria Math" panose="02040503050406030204" pitchFamily="18" charset="0"/>
                                </a:rPr>
                                <m:t>0</m:t>
                              </m:r>
                            </m:sub>
                            <m:sup>
                              <m:r>
                                <a:rPr lang="en-US" sz="2400" b="0" i="1">
                                  <a:solidFill>
                                    <a:srgbClr val="FF0000"/>
                                  </a:solidFill>
                                  <a:latin typeface="Cambria Math" panose="02040503050406030204" pitchFamily="18" charset="0"/>
                                </a:rPr>
                                <m:t>𝑇</m:t>
                              </m:r>
                            </m:sup>
                            <m:e>
                              <m:sSup>
                                <m:sSupPr>
                                  <m:ctrlPr>
                                    <a:rPr lang="en-US" sz="2400" i="1">
                                      <a:solidFill>
                                        <a:srgbClr val="FF0000"/>
                                      </a:solidFill>
                                      <a:latin typeface="Cambria Math" panose="02040503050406030204" pitchFamily="18" charset="0"/>
                                    </a:rPr>
                                  </m:ctrlPr>
                                </m:sSupPr>
                                <m:e>
                                  <m:r>
                                    <m:rPr>
                                      <m:sty m:val="p"/>
                                    </m:rPr>
                                    <a:rPr lang="en-US" sz="2400" b="0" i="0">
                                      <a:solidFill>
                                        <a:srgbClr val="FF0000"/>
                                      </a:solidFill>
                                      <a:latin typeface="Cambria Math" panose="02040503050406030204" pitchFamily="18" charset="0"/>
                                    </a:rPr>
                                    <m:t>e</m:t>
                                  </m:r>
                                </m:e>
                                <m:sup>
                                  <m:r>
                                    <m:rPr>
                                      <m:sty m:val="p"/>
                                    </m:rPr>
                                    <a:rPr lang="en-US" sz="2400" b="0" i="0">
                                      <a:solidFill>
                                        <a:srgbClr val="FF0000"/>
                                      </a:solidFill>
                                      <a:latin typeface="Cambria Math" panose="02040503050406030204" pitchFamily="18" charset="0"/>
                                    </a:rPr>
                                    <m:t>j</m:t>
                                  </m:r>
                                  <m:r>
                                    <a:rPr lang="en-US" sz="2400" b="0" i="1">
                                      <a:solidFill>
                                        <a:srgbClr val="FF0000"/>
                                      </a:solidFill>
                                      <a:latin typeface="Cambria Math" panose="02040503050406030204" pitchFamily="18" charset="0"/>
                                    </a:rPr>
                                    <m:t>(</m:t>
                                  </m:r>
                                  <m:r>
                                    <a:rPr lang="en-US" sz="2400" b="0" i="1">
                                      <a:solidFill>
                                        <a:srgbClr val="FF0000"/>
                                      </a:solidFill>
                                      <a:latin typeface="Cambria Math" panose="02040503050406030204" pitchFamily="18" charset="0"/>
                                    </a:rPr>
                                    <m:t>𝑘</m:t>
                                  </m:r>
                                  <m:r>
                                    <a:rPr lang="en-US" sz="2400" b="0" i="1">
                                      <a:solidFill>
                                        <a:srgbClr val="FF0000"/>
                                      </a:solidFill>
                                      <a:latin typeface="Cambria Math" panose="02040503050406030204" pitchFamily="18" charset="0"/>
                                    </a:rPr>
                                    <m:t>−</m:t>
                                  </m:r>
                                  <m:r>
                                    <a:rPr lang="en-US" sz="2400" b="0" i="1">
                                      <a:solidFill>
                                        <a:srgbClr val="FF0000"/>
                                      </a:solidFill>
                                      <a:latin typeface="Cambria Math" panose="02040503050406030204" pitchFamily="18" charset="0"/>
                                    </a:rPr>
                                    <m:t>𝑛</m:t>
                                  </m:r>
                                  <m:r>
                                    <a:rPr lang="en-US" sz="2400" b="0"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b="0" i="1">
                                          <a:solidFill>
                                            <a:srgbClr val="FF0000"/>
                                          </a:solidFill>
                                          <a:latin typeface="Cambria Math" panose="02040503050406030204" pitchFamily="18" charset="0"/>
                                        </a:rPr>
                                        <m:t>𝜔</m:t>
                                      </m:r>
                                    </m:e>
                                    <m:sub>
                                      <m:r>
                                        <a:rPr lang="en-US" sz="2400" b="0" i="1">
                                          <a:solidFill>
                                            <a:srgbClr val="FF0000"/>
                                          </a:solidFill>
                                          <a:latin typeface="Cambria Math" panose="02040503050406030204" pitchFamily="18" charset="0"/>
                                        </a:rPr>
                                        <m:t>0</m:t>
                                      </m:r>
                                    </m:sub>
                                  </m:sSub>
                                  <m:r>
                                    <a:rPr lang="en-US" sz="2400" b="0" i="1">
                                      <a:solidFill>
                                        <a:srgbClr val="FF0000"/>
                                      </a:solidFill>
                                      <a:latin typeface="Cambria Math" panose="02040503050406030204" pitchFamily="18" charset="0"/>
                                    </a:rPr>
                                    <m:t>𝑡</m:t>
                                  </m:r>
                                </m:sup>
                              </m:sSup>
                              <m:r>
                                <m:rPr>
                                  <m:sty m:val="p"/>
                                </m:rPr>
                                <a:rPr lang="en-US" sz="2400" b="0" i="0">
                                  <a:solidFill>
                                    <a:srgbClr val="FF0000"/>
                                  </a:solidFill>
                                  <a:latin typeface="Cambria Math" panose="02040503050406030204" pitchFamily="18" charset="0"/>
                                </a:rPr>
                                <m:t>d</m:t>
                              </m:r>
                              <m:r>
                                <a:rPr lang="en-US" sz="2400" b="0" i="1">
                                  <a:solidFill>
                                    <a:srgbClr val="FF0000"/>
                                  </a:solidFill>
                                  <a:latin typeface="Cambria Math" panose="02040503050406030204" pitchFamily="18" charset="0"/>
                                </a:rPr>
                                <m:t>𝑡</m:t>
                              </m:r>
                            </m:e>
                          </m:nary>
                        </m:e>
                      </m:nary>
                    </m:oMath>
                  </m:oMathPara>
                </a14:m>
                <a:endParaRPr lang="en-US" sz="2400" dirty="0"/>
              </a:p>
            </p:txBody>
          </p:sp>
        </mc:Choice>
        <mc:Fallback xmlns="">
          <p:sp>
            <p:nvSpPr>
              <p:cNvPr id="48131" name="Object 6">
                <a:extLst>
                  <a:ext uri="{FF2B5EF4-FFF2-40B4-BE49-F238E27FC236}">
                    <a16:creationId xmlns:a16="http://schemas.microsoft.com/office/drawing/2014/main" id="{D1B48AF4-AA34-436D-BC2C-794613627878}"/>
                  </a:ext>
                </a:extLst>
              </p:cNvPr>
              <p:cNvSpPr txBox="1">
                <a:spLocks noRot="1" noChangeAspect="1" noMove="1" noResize="1" noEditPoints="1" noAdjustHandles="1" noChangeArrowheads="1" noChangeShapeType="1" noTextEdit="1"/>
              </p:cNvSpPr>
              <p:nvPr/>
            </p:nvSpPr>
            <p:spPr bwMode="auto">
              <a:xfrm>
                <a:off x="1566689" y="1393556"/>
                <a:ext cx="6010622" cy="1099340"/>
              </a:xfrm>
              <a:prstGeom prst="rect">
                <a:avLst/>
              </a:prstGeom>
              <a:blipFill>
                <a:blip r:embed="rId7"/>
                <a:stretch>
                  <a:fillRect/>
                </a:stretch>
              </a:blipFill>
              <a:ln>
                <a:noFill/>
              </a:ln>
              <a:effectLst/>
            </p:spPr>
            <p:txBody>
              <a:bodyPr/>
              <a:lstStyle/>
              <a:p>
                <a:r>
                  <a:rPr lang="en-US">
                    <a:noFill/>
                  </a:rPr>
                  <a:t> </a:t>
                </a:r>
              </a:p>
            </p:txBody>
          </p:sp>
        </mc:Fallback>
      </mc:AlternateContent>
      <p:grpSp>
        <p:nvGrpSpPr>
          <p:cNvPr id="3" name="Group 3">
            <a:extLst>
              <a:ext uri="{FF2B5EF4-FFF2-40B4-BE49-F238E27FC236}">
                <a16:creationId xmlns:a16="http://schemas.microsoft.com/office/drawing/2014/main" id="{F388E71D-8E25-4767-B86B-14E2D4C49FF0}"/>
              </a:ext>
            </a:extLst>
          </p:cNvPr>
          <p:cNvGrpSpPr>
            <a:grpSpLocks/>
          </p:cNvGrpSpPr>
          <p:nvPr/>
        </p:nvGrpSpPr>
        <p:grpSpPr bwMode="auto">
          <a:xfrm>
            <a:off x="727868" y="5170958"/>
            <a:ext cx="7751763" cy="922338"/>
            <a:chOff x="565" y="1608"/>
            <a:chExt cx="4883" cy="581"/>
          </a:xfrm>
        </p:grpSpPr>
        <mc:AlternateContent xmlns:mc="http://schemas.openxmlformats.org/markup-compatibility/2006" xmlns:a14="http://schemas.microsoft.com/office/drawing/2010/main">
          <mc:Choice Requires="a14">
            <p:sp>
              <p:nvSpPr>
                <p:cNvPr id="48132" name="Object 7">
                  <a:extLst>
                    <a:ext uri="{FF2B5EF4-FFF2-40B4-BE49-F238E27FC236}">
                      <a16:creationId xmlns:a16="http://schemas.microsoft.com/office/drawing/2014/main" id="{30C4A008-789D-4EDC-825D-D42979E8915A}"/>
                    </a:ext>
                  </a:extLst>
                </p:cNvPr>
                <p:cNvSpPr txBox="1"/>
                <p:nvPr/>
              </p:nvSpPr>
              <p:spPr bwMode="auto">
                <a:xfrm>
                  <a:off x="565" y="1608"/>
                  <a:ext cx="2258" cy="58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b="0" i="1">
                            <a:solidFill>
                              <a:srgbClr val="000000"/>
                            </a:solidFill>
                            <a:latin typeface="Cambria Math" panose="02040503050406030204" pitchFamily="18" charset="0"/>
                          </a:rPr>
                          <m:t>∴</m:t>
                        </m:r>
                        <m:nary>
                          <m:naryPr>
                            <m:ctrlPr>
                              <a:rPr lang="en-US" sz="2400" i="1">
                                <a:solidFill>
                                  <a:srgbClr val="000000"/>
                                </a:solidFill>
                                <a:latin typeface="Cambria Math" panose="02040503050406030204" pitchFamily="18" charset="0"/>
                              </a:rPr>
                            </m:ctrlPr>
                          </m:naryPr>
                          <m:sub>
                            <m:r>
                              <a:rPr lang="en-US" sz="2400" b="0" i="1">
                                <a:solidFill>
                                  <a:srgbClr val="000000"/>
                                </a:solidFill>
                                <a:latin typeface="Cambria Math" panose="02040503050406030204" pitchFamily="18" charset="0"/>
                              </a:rPr>
                              <m:t>0</m:t>
                            </m:r>
                          </m:sub>
                          <m:sup>
                            <m:r>
                              <a:rPr lang="en-US" sz="2400" b="0" i="1">
                                <a:solidFill>
                                  <a:srgbClr val="000000"/>
                                </a:solidFill>
                                <a:latin typeface="Cambria Math" panose="02040503050406030204" pitchFamily="18" charset="0"/>
                              </a:rPr>
                              <m:t>𝑇</m:t>
                            </m:r>
                          </m:sup>
                          <m:e>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a:rPr lang="en-US" sz="2400" b="0" i="1">
                                    <a:solidFill>
                                      <a:srgbClr val="000000"/>
                                    </a:solidFill>
                                    <a:latin typeface="Cambria Math" panose="02040503050406030204" pitchFamily="18" charset="0"/>
                                  </a:rPr>
                                  <m:t>−</m:t>
                                </m:r>
                                <m:r>
                                  <m:rPr>
                                    <m:sty m:val="p"/>
                                  </m:rPr>
                                  <a:rPr lang="en-US" sz="2400" b="0" i="0">
                                    <a:solidFill>
                                      <a:srgbClr val="000000"/>
                                    </a:solidFill>
                                    <a:latin typeface="Cambria Math" panose="02040503050406030204" pitchFamily="18" charset="0"/>
                                  </a:rPr>
                                  <m:t>j</m:t>
                                </m:r>
                                <m:r>
                                  <a:rPr lang="en-US" sz="2400" b="0" i="1">
                                    <a:solidFill>
                                      <a:srgbClr val="000000"/>
                                    </a:solidFill>
                                    <a:latin typeface="Cambria Math" panose="02040503050406030204" pitchFamily="18" charset="0"/>
                                  </a:rPr>
                                  <m:t>𝑛</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𝑡</m:t>
                                </m:r>
                              </m:sup>
                            </m:sSup>
                            <m:r>
                              <m:rPr>
                                <m:sty m:val="p"/>
                              </m:rPr>
                              <a:rPr lang="en-US" sz="2400" b="0" i="0">
                                <a:solidFill>
                                  <a:srgbClr val="000000"/>
                                </a:solidFill>
                                <a:latin typeface="Cambria Math" panose="02040503050406030204" pitchFamily="18" charset="0"/>
                              </a:rPr>
                              <m:t>d</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e>
                        </m:nary>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𝑎</m:t>
                            </m:r>
                          </m:e>
                          <m:sub>
                            <m:r>
                              <a:rPr lang="en-US" sz="2400" b="0" i="1">
                                <a:solidFill>
                                  <a:srgbClr val="000000"/>
                                </a:solidFill>
                                <a:latin typeface="Cambria Math" panose="02040503050406030204" pitchFamily="18" charset="0"/>
                              </a:rPr>
                              <m:t>𝑛</m:t>
                            </m:r>
                          </m:sub>
                        </m:sSub>
                        <m:r>
                          <a:rPr lang="en-US" sz="2400" b="0" i="1">
                            <a:solidFill>
                              <a:srgbClr val="000000"/>
                            </a:solidFill>
                            <a:latin typeface="Cambria Math" panose="02040503050406030204" pitchFamily="18" charset="0"/>
                          </a:rPr>
                          <m:t>𝑇</m:t>
                        </m:r>
                      </m:oMath>
                    </m:oMathPara>
                  </a14:m>
                  <a:endParaRPr lang="en-US" sz="2400" dirty="0"/>
                </a:p>
              </p:txBody>
            </p:sp>
          </mc:Choice>
          <mc:Fallback xmlns="">
            <p:sp>
              <p:nvSpPr>
                <p:cNvPr id="48132" name="Object 7">
                  <a:extLst>
                    <a:ext uri="{FF2B5EF4-FFF2-40B4-BE49-F238E27FC236}">
                      <a16:creationId xmlns:a16="http://schemas.microsoft.com/office/drawing/2014/main" id="{30C4A008-789D-4EDC-825D-D42979E8915A}"/>
                    </a:ext>
                  </a:extLst>
                </p:cNvPr>
                <p:cNvSpPr txBox="1">
                  <a:spLocks noRot="1" noChangeAspect="1" noMove="1" noResize="1" noEditPoints="1" noAdjustHandles="1" noChangeArrowheads="1" noChangeShapeType="1" noTextEdit="1"/>
                </p:cNvSpPr>
                <p:nvPr/>
              </p:nvSpPr>
              <p:spPr bwMode="auto">
                <a:xfrm>
                  <a:off x="565" y="1608"/>
                  <a:ext cx="2258" cy="581"/>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133" name="Object 8">
                  <a:extLst>
                    <a:ext uri="{FF2B5EF4-FFF2-40B4-BE49-F238E27FC236}">
                      <a16:creationId xmlns:a16="http://schemas.microsoft.com/office/drawing/2014/main" id="{4030845F-56EA-4A84-AD66-487B0DFD45F1}"/>
                    </a:ext>
                  </a:extLst>
                </p:cNvPr>
                <p:cNvSpPr txBox="1"/>
                <p:nvPr/>
              </p:nvSpPr>
              <p:spPr bwMode="auto">
                <a:xfrm>
                  <a:off x="3258" y="1608"/>
                  <a:ext cx="2190" cy="58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𝑎</m:t>
                            </m:r>
                          </m:e>
                          <m:sub>
                            <m:r>
                              <a:rPr lang="en-US" sz="2400" b="0" i="1">
                                <a:solidFill>
                                  <a:srgbClr val="000000"/>
                                </a:solidFill>
                                <a:latin typeface="Cambria Math" panose="02040503050406030204" pitchFamily="18" charset="0"/>
                              </a:rPr>
                              <m:t>𝑛</m:t>
                            </m:r>
                          </m:sub>
                        </m:sSub>
                        <m:r>
                          <a:rPr lang="en-US" sz="2400" b="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b="0" i="1">
                                <a:solidFill>
                                  <a:srgbClr val="000000"/>
                                </a:solidFill>
                                <a:latin typeface="Cambria Math" panose="02040503050406030204" pitchFamily="18" charset="0"/>
                              </a:rPr>
                              <m:t>1</m:t>
                            </m:r>
                          </m:num>
                          <m:den>
                            <m:r>
                              <a:rPr lang="en-US" sz="2400" b="0" i="1">
                                <a:solidFill>
                                  <a:srgbClr val="000000"/>
                                </a:solidFill>
                                <a:latin typeface="Cambria Math" panose="02040503050406030204" pitchFamily="18" charset="0"/>
                              </a:rPr>
                              <m:t>𝑇</m:t>
                            </m:r>
                          </m:den>
                        </m:f>
                        <m:nary>
                          <m:naryPr>
                            <m:ctrlPr>
                              <a:rPr lang="en-US" sz="2400" i="1">
                                <a:solidFill>
                                  <a:srgbClr val="000000"/>
                                </a:solidFill>
                                <a:latin typeface="Cambria Math" panose="02040503050406030204" pitchFamily="18" charset="0"/>
                              </a:rPr>
                            </m:ctrlPr>
                          </m:naryPr>
                          <m:sub>
                            <m:r>
                              <a:rPr lang="en-US" sz="2400" b="0" i="1">
                                <a:solidFill>
                                  <a:srgbClr val="000000"/>
                                </a:solidFill>
                                <a:latin typeface="Cambria Math" panose="02040503050406030204" pitchFamily="18" charset="0"/>
                              </a:rPr>
                              <m:t>0</m:t>
                            </m:r>
                          </m:sub>
                          <m:sup>
                            <m:r>
                              <a:rPr lang="en-US" sz="2400" b="0" i="1">
                                <a:solidFill>
                                  <a:srgbClr val="000000"/>
                                </a:solidFill>
                                <a:latin typeface="Cambria Math" panose="02040503050406030204" pitchFamily="18" charset="0"/>
                              </a:rPr>
                              <m:t>𝑇</m:t>
                            </m:r>
                          </m:sup>
                          <m:e>
                            <m:r>
                              <a:rPr lang="en-US" sz="2400" b="0" i="1">
                                <a:solidFill>
                                  <a:srgbClr val="000000"/>
                                </a:solidFill>
                                <a:latin typeface="Cambria Math" panose="02040503050406030204" pitchFamily="18" charset="0"/>
                              </a:rPr>
                              <m:t>𝑥</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𝑡</m:t>
                            </m:r>
                            <m:r>
                              <a:rPr lang="en-US" sz="2400" b="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b="0" i="0">
                                    <a:solidFill>
                                      <a:srgbClr val="000000"/>
                                    </a:solidFill>
                                    <a:latin typeface="Cambria Math" panose="02040503050406030204" pitchFamily="18" charset="0"/>
                                  </a:rPr>
                                  <m:t>e</m:t>
                                </m:r>
                              </m:e>
                              <m:sup>
                                <m:r>
                                  <a:rPr lang="en-US" sz="2400" b="0" i="1">
                                    <a:solidFill>
                                      <a:srgbClr val="000000"/>
                                    </a:solidFill>
                                    <a:latin typeface="Cambria Math" panose="02040503050406030204" pitchFamily="18" charset="0"/>
                                  </a:rPr>
                                  <m:t>−</m:t>
                                </m:r>
                                <m:r>
                                  <m:rPr>
                                    <m:sty m:val="p"/>
                                  </m:rPr>
                                  <a:rPr lang="en-US" sz="2400" b="0" i="0">
                                    <a:solidFill>
                                      <a:srgbClr val="000000"/>
                                    </a:solidFill>
                                    <a:latin typeface="Cambria Math" panose="02040503050406030204" pitchFamily="18" charset="0"/>
                                  </a:rPr>
                                  <m:t>j</m:t>
                                </m:r>
                                <m:r>
                                  <a:rPr lang="en-US" sz="2400" b="0" i="1">
                                    <a:solidFill>
                                      <a:srgbClr val="000000"/>
                                    </a:solidFill>
                                    <a:latin typeface="Cambria Math" panose="02040503050406030204" pitchFamily="18" charset="0"/>
                                  </a:rPr>
                                  <m:t>𝑛</m:t>
                                </m:r>
                                <m:sSub>
                                  <m:sSubPr>
                                    <m:ctrlPr>
                                      <a:rPr lang="en-US" sz="2400" i="1">
                                        <a:solidFill>
                                          <a:srgbClr val="000000"/>
                                        </a:solidFill>
                                        <a:latin typeface="Cambria Math" panose="02040503050406030204" pitchFamily="18" charset="0"/>
                                      </a:rPr>
                                    </m:ctrlPr>
                                  </m:sSubPr>
                                  <m:e>
                                    <m:r>
                                      <a:rPr lang="en-US" sz="2400" b="0" i="1">
                                        <a:solidFill>
                                          <a:srgbClr val="000000"/>
                                        </a:solidFill>
                                        <a:latin typeface="Cambria Math" panose="02040503050406030204" pitchFamily="18" charset="0"/>
                                      </a:rPr>
                                      <m:t>𝜔</m:t>
                                    </m:r>
                                  </m:e>
                                  <m:sub>
                                    <m:r>
                                      <a:rPr lang="en-US" sz="2400" b="0" i="1">
                                        <a:solidFill>
                                          <a:srgbClr val="000000"/>
                                        </a:solidFill>
                                        <a:latin typeface="Cambria Math" panose="02040503050406030204" pitchFamily="18" charset="0"/>
                                      </a:rPr>
                                      <m:t>0</m:t>
                                    </m:r>
                                  </m:sub>
                                </m:sSub>
                                <m:r>
                                  <a:rPr lang="en-US" sz="2400" b="0" i="1">
                                    <a:solidFill>
                                      <a:srgbClr val="000000"/>
                                    </a:solidFill>
                                    <a:latin typeface="Cambria Math" panose="02040503050406030204" pitchFamily="18" charset="0"/>
                                  </a:rPr>
                                  <m:t>𝑡</m:t>
                                </m:r>
                              </m:sup>
                            </m:sSup>
                            <m:r>
                              <m:rPr>
                                <m:sty m:val="p"/>
                              </m:rPr>
                              <a:rPr lang="en-US" sz="2400" b="0" i="0">
                                <a:solidFill>
                                  <a:srgbClr val="000000"/>
                                </a:solidFill>
                                <a:latin typeface="Cambria Math" panose="02040503050406030204" pitchFamily="18" charset="0"/>
                              </a:rPr>
                              <m:t>d</m:t>
                            </m:r>
                            <m:r>
                              <a:rPr lang="en-US" sz="2400" b="0" i="1">
                                <a:solidFill>
                                  <a:srgbClr val="000000"/>
                                </a:solidFill>
                                <a:latin typeface="Cambria Math" panose="02040503050406030204" pitchFamily="18" charset="0"/>
                              </a:rPr>
                              <m:t>𝑡</m:t>
                            </m:r>
                          </m:e>
                        </m:nary>
                      </m:oMath>
                    </m:oMathPara>
                  </a14:m>
                  <a:endParaRPr lang="en-US" sz="2400" dirty="0"/>
                </a:p>
              </p:txBody>
            </p:sp>
          </mc:Choice>
          <mc:Fallback xmlns="">
            <p:sp>
              <p:nvSpPr>
                <p:cNvPr id="48133" name="Object 8">
                  <a:extLst>
                    <a:ext uri="{FF2B5EF4-FFF2-40B4-BE49-F238E27FC236}">
                      <a16:creationId xmlns:a16="http://schemas.microsoft.com/office/drawing/2014/main" id="{4030845F-56EA-4A84-AD66-487B0DFD45F1}"/>
                    </a:ext>
                  </a:extLst>
                </p:cNvPr>
                <p:cNvSpPr txBox="1">
                  <a:spLocks noRot="1" noChangeAspect="1" noMove="1" noResize="1" noEditPoints="1" noAdjustHandles="1" noChangeArrowheads="1" noChangeShapeType="1" noTextEdit="1"/>
                </p:cNvSpPr>
                <p:nvPr/>
              </p:nvSpPr>
              <p:spPr bwMode="auto">
                <a:xfrm>
                  <a:off x="3258" y="1608"/>
                  <a:ext cx="2190" cy="581"/>
                </a:xfrm>
                <a:prstGeom prst="rect">
                  <a:avLst/>
                </a:prstGeom>
                <a:blipFill>
                  <a:blip r:embed="rId9"/>
                  <a:stretch>
                    <a:fillRect/>
                  </a:stretch>
                </a:blipFill>
                <a:ln>
                  <a:noFill/>
                </a:ln>
                <a:effectLst/>
              </p:spPr>
              <p:txBody>
                <a:bodyPr/>
                <a:lstStyle/>
                <a:p>
                  <a:r>
                    <a:rPr lang="en-US">
                      <a:noFill/>
                    </a:rPr>
                    <a:t> </a:t>
                  </a:r>
                </a:p>
              </p:txBody>
            </p:sp>
          </mc:Fallback>
        </mc:AlternateContent>
        <p:sp>
          <p:nvSpPr>
            <p:cNvPr id="48141" name="Text Box 6">
              <a:extLst>
                <a:ext uri="{FF2B5EF4-FFF2-40B4-BE49-F238E27FC236}">
                  <a16:creationId xmlns:a16="http://schemas.microsoft.com/office/drawing/2014/main" id="{C259E2D1-57D5-41F4-B983-530516B4DD99}"/>
                </a:ext>
              </a:extLst>
            </p:cNvPr>
            <p:cNvSpPr txBox="1">
              <a:spLocks noChangeArrowheads="1"/>
            </p:cNvSpPr>
            <p:nvPr/>
          </p:nvSpPr>
          <p:spPr bwMode="auto">
            <a:xfrm>
              <a:off x="3011" y="1795"/>
              <a:ext cx="31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即</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标题 1">
            <a:extLst>
              <a:ext uri="{FF2B5EF4-FFF2-40B4-BE49-F238E27FC236}">
                <a16:creationId xmlns:a16="http://schemas.microsoft.com/office/drawing/2014/main" id="{941FE83C-CD8E-4B18-B5FD-FB8F6D4D9157}"/>
              </a:ext>
            </a:extLst>
          </p:cNvPr>
          <p:cNvSpPr>
            <a:spLocks noGrp="1"/>
          </p:cNvSpPr>
          <p:nvPr>
            <p:ph type="title"/>
          </p:nvPr>
        </p:nvSpPr>
        <p:spPr/>
        <p:txBody>
          <a:bodyPr/>
          <a:lstStyle/>
          <a:p>
            <a:r>
              <a:rPr lang="en-US" altLang="zh-CN" sz="3200">
                <a:solidFill>
                  <a:srgbClr val="000000"/>
                </a:solidFill>
              </a:rPr>
              <a:t>3.3  </a:t>
            </a:r>
            <a:r>
              <a:rPr lang="zh-CN" altLang="en-US" sz="3200">
                <a:solidFill>
                  <a:srgbClr val="000000"/>
                </a:solidFill>
              </a:rPr>
              <a:t>连续时间周期信号的傅里叶级数表示</a:t>
            </a:r>
            <a:endParaRPr lang="zh-CN" altLang="en-US"/>
          </a:p>
        </p:txBody>
      </p:sp>
      <p:sp>
        <p:nvSpPr>
          <p:cNvPr id="49157" name="内容占位符 2">
            <a:extLst>
              <a:ext uri="{FF2B5EF4-FFF2-40B4-BE49-F238E27FC236}">
                <a16:creationId xmlns:a16="http://schemas.microsoft.com/office/drawing/2014/main" id="{DF3EC2FA-2C17-4CB3-A736-D737FE2DB134}"/>
              </a:ext>
            </a:extLst>
          </p:cNvPr>
          <p:cNvSpPr>
            <a:spLocks noGrp="1"/>
          </p:cNvSpPr>
          <p:nvPr>
            <p:ph idx="1"/>
          </p:nvPr>
        </p:nvSpPr>
        <p:spPr/>
        <p:txBody>
          <a:bodyPr>
            <a:spAutoFit/>
          </a:bodyPr>
          <a:lstStyle/>
          <a:p>
            <a:r>
              <a:rPr lang="zh-CN" altLang="en-US" sz="2800" b="0" dirty="0"/>
              <a:t>在确定此积分时，只要积分区间是一个周期即可，对积分区间的起止并无特别要求，因此可表示为</a:t>
            </a:r>
            <a:r>
              <a:rPr lang="en-US" altLang="zh-CN" sz="2800" b="0" dirty="0"/>
              <a:t/>
            </a:r>
            <a:br>
              <a:rPr lang="en-US" altLang="zh-CN" sz="2800" b="0" dirty="0"/>
            </a:br>
            <a:r>
              <a:rPr lang="en-US" altLang="zh-CN" sz="2800" b="0" dirty="0"/>
              <a:t/>
            </a:r>
            <a:br>
              <a:rPr lang="en-US" altLang="zh-CN" sz="2800" b="0" dirty="0"/>
            </a:br>
            <a:r>
              <a:rPr lang="en-US" altLang="zh-CN" sz="2800" b="0" dirty="0"/>
              <a:t/>
            </a:r>
            <a:br>
              <a:rPr lang="en-US" altLang="zh-CN" sz="2800" b="0" dirty="0"/>
            </a:br>
            <a:r>
              <a:rPr lang="en-US" altLang="zh-CN" sz="2800" b="0" dirty="0"/>
              <a:t/>
            </a:r>
            <a:br>
              <a:rPr lang="en-US" altLang="zh-CN" sz="2800" b="0" dirty="0"/>
            </a:br>
            <a:r>
              <a:rPr lang="zh-CN" altLang="en-US" sz="2800" b="0" dirty="0"/>
              <a:t>其中</a:t>
            </a:r>
            <a:r>
              <a:rPr lang="en-US" altLang="zh-CN" sz="2800" b="0" dirty="0"/>
              <a:t/>
            </a:r>
            <a:br>
              <a:rPr lang="en-US" altLang="zh-CN" sz="2800" b="0" dirty="0"/>
            </a:br>
            <a:r>
              <a:rPr lang="en-US" altLang="zh-CN" sz="2800" b="0" dirty="0"/>
              <a:t/>
            </a:r>
            <a:br>
              <a:rPr lang="en-US" altLang="zh-CN" sz="2800" b="0" dirty="0"/>
            </a:br>
            <a:r>
              <a:rPr lang="en-US" altLang="zh-CN" sz="2800" b="0" dirty="0"/>
              <a:t/>
            </a:r>
            <a:br>
              <a:rPr lang="en-US" altLang="zh-CN" sz="2800" b="0" dirty="0"/>
            </a:br>
            <a:r>
              <a:rPr lang="en-US" altLang="zh-CN" sz="2800" b="0" dirty="0"/>
              <a:t/>
            </a:r>
            <a:br>
              <a:rPr lang="en-US" altLang="zh-CN" sz="2800" b="0" dirty="0"/>
            </a:br>
            <a:r>
              <a:rPr lang="zh-CN" altLang="en-US" sz="2800" b="0" dirty="0"/>
              <a:t>为信号在一个周期的平均值，通常称</a:t>
            </a:r>
            <a:r>
              <a:rPr lang="zh-CN" altLang="en-US" sz="2800" b="0" dirty="0">
                <a:solidFill>
                  <a:srgbClr val="FF0000"/>
                </a:solidFill>
              </a:rPr>
              <a:t>直流分量</a:t>
            </a:r>
            <a:r>
              <a:rPr lang="zh-CN" altLang="en-US" sz="2800" b="0" dirty="0"/>
              <a:t>。</a:t>
            </a:r>
          </a:p>
        </p:txBody>
      </p:sp>
      <p:sp>
        <p:nvSpPr>
          <p:cNvPr id="4" name="灯片编号占位符 3">
            <a:extLst>
              <a:ext uri="{FF2B5EF4-FFF2-40B4-BE49-F238E27FC236}">
                <a16:creationId xmlns:a16="http://schemas.microsoft.com/office/drawing/2014/main" id="{B304B850-E9A0-41DE-9C69-B37CC7EBA5D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29EA19-A4E9-4B75-8961-70B5F2076CE0}" type="slidenum">
              <a:rPr lang="zh-CN" altLang="en-US">
                <a:solidFill>
                  <a:srgbClr val="898989"/>
                </a:solidFill>
                <a:latin typeface="Calibri" panose="020F0502020204030204" pitchFamily="34" charset="0"/>
              </a:rPr>
              <a:pPr eaLnBrk="1" hangingPunct="1"/>
              <a:t>22</a:t>
            </a:fld>
            <a:endParaRPr lang="zh-CN" altLang="en-US">
              <a:solidFill>
                <a:srgbClr val="898989"/>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49154" name="Object 2">
                <a:extLst>
                  <a:ext uri="{FF2B5EF4-FFF2-40B4-BE49-F238E27FC236}">
                    <a16:creationId xmlns:a16="http://schemas.microsoft.com/office/drawing/2014/main" id="{461AF840-59B5-44C4-9BF7-C7924535A878}"/>
                  </a:ext>
                </a:extLst>
              </p:cNvPr>
              <p:cNvSpPr txBox="1"/>
              <p:nvPr/>
            </p:nvSpPr>
            <p:spPr bwMode="auto">
              <a:xfrm>
                <a:off x="2655354" y="2621718"/>
                <a:ext cx="3833291" cy="998478"/>
              </a:xfrm>
              <a:prstGeom prst="rect">
                <a:avLst/>
              </a:prstGeom>
              <a:solidFill>
                <a:srgbClr val="CCFFFF"/>
              </a:solid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𝑎</m:t>
                          </m:r>
                        </m:e>
                        <m:sub>
                          <m:r>
                            <a:rPr lang="en-US" sz="2800" i="1">
                              <a:solidFill>
                                <a:srgbClr val="FF0000"/>
                              </a:solidFill>
                              <a:latin typeface="Cambria Math" panose="02040503050406030204" pitchFamily="18" charset="0"/>
                            </a:rPr>
                            <m:t>𝑘</m:t>
                          </m:r>
                        </m:sub>
                      </m:sSub>
                      <m:r>
                        <a:rPr lang="en-US" sz="2800" i="1">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1</m:t>
                          </m:r>
                        </m:num>
                        <m:den>
                          <m:r>
                            <a:rPr lang="en-US" sz="2800" i="1">
                              <a:solidFill>
                                <a:srgbClr val="FF0000"/>
                              </a:solidFill>
                              <a:latin typeface="Cambria Math" panose="02040503050406030204" pitchFamily="18" charset="0"/>
                            </a:rPr>
                            <m:t>𝑇</m:t>
                          </m:r>
                        </m:den>
                      </m:f>
                      <m:nary>
                        <m:naryPr>
                          <m:supHide m:val="on"/>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𝑇</m:t>
                          </m:r>
                        </m:sub>
                        <m:sup/>
                        <m:e>
                          <m:r>
                            <a:rPr lang="en-US" sz="2800" i="1">
                              <a:solidFill>
                                <a:srgbClr val="FF0000"/>
                              </a:solidFill>
                              <a:latin typeface="Cambria Math" panose="02040503050406030204" pitchFamily="18" charset="0"/>
                            </a:rPr>
                            <m:t>𝑥</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𝑡</m:t>
                          </m:r>
                          <m:r>
                            <a:rPr lang="en-US" sz="2800" i="1">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a:rPr lang="en-US" sz="2800" i="1">
                                  <a:solidFill>
                                    <a:srgbClr val="FF0000"/>
                                  </a:solidFill>
                                  <a:latin typeface="Cambria Math" panose="02040503050406030204" pitchFamily="18" charset="0"/>
                                </a:rPr>
                                <m:t>−</m:t>
                              </m:r>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𝑘</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𝜔</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𝑡</m:t>
                              </m:r>
                            </m:sup>
                          </m:sSup>
                          <m:r>
                            <m:rPr>
                              <m:sty m:val="p"/>
                            </m:rPr>
                            <a:rPr lang="en-US" sz="2800" i="0">
                              <a:solidFill>
                                <a:srgbClr val="FF0000"/>
                              </a:solidFill>
                              <a:latin typeface="Cambria Math" panose="02040503050406030204" pitchFamily="18" charset="0"/>
                            </a:rPr>
                            <m:t>d</m:t>
                          </m:r>
                          <m:r>
                            <a:rPr lang="en-US" sz="2800" i="1">
                              <a:solidFill>
                                <a:srgbClr val="FF0000"/>
                              </a:solidFill>
                              <a:latin typeface="Cambria Math" panose="02040503050406030204" pitchFamily="18" charset="0"/>
                            </a:rPr>
                            <m:t>𝑡</m:t>
                          </m:r>
                        </m:e>
                      </m:nary>
                    </m:oMath>
                  </m:oMathPara>
                </a14:m>
                <a:endParaRPr lang="en-US" sz="2800" dirty="0"/>
              </a:p>
            </p:txBody>
          </p:sp>
        </mc:Choice>
        <mc:Fallback xmlns="">
          <p:sp>
            <p:nvSpPr>
              <p:cNvPr id="49154" name="Object 2">
                <a:extLst>
                  <a:ext uri="{FF2B5EF4-FFF2-40B4-BE49-F238E27FC236}">
                    <a16:creationId xmlns:a16="http://schemas.microsoft.com/office/drawing/2014/main" id="{461AF840-59B5-44C4-9BF7-C7924535A878}"/>
                  </a:ext>
                </a:extLst>
              </p:cNvPr>
              <p:cNvSpPr txBox="1">
                <a:spLocks noRot="1" noChangeAspect="1" noMove="1" noResize="1" noEditPoints="1" noAdjustHandles="1" noChangeArrowheads="1" noChangeShapeType="1" noTextEdit="1"/>
              </p:cNvSpPr>
              <p:nvPr/>
            </p:nvSpPr>
            <p:spPr bwMode="auto">
              <a:xfrm>
                <a:off x="2655354" y="2621718"/>
                <a:ext cx="3833291" cy="998478"/>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155" name="Object 3">
                <a:extLst>
                  <a:ext uri="{FF2B5EF4-FFF2-40B4-BE49-F238E27FC236}">
                    <a16:creationId xmlns:a16="http://schemas.microsoft.com/office/drawing/2014/main" id="{9C15C385-BEDE-468B-8EBB-CC65482BB170}"/>
                  </a:ext>
                </a:extLst>
              </p:cNvPr>
              <p:cNvSpPr txBox="1"/>
              <p:nvPr/>
            </p:nvSpPr>
            <p:spPr bwMode="auto">
              <a:xfrm>
                <a:off x="3220813" y="4293096"/>
                <a:ext cx="2702371" cy="998478"/>
              </a:xfrm>
              <a:prstGeom prst="rect">
                <a:avLst/>
              </a:prstGeom>
              <a:solidFill>
                <a:srgbClr val="CCFFFF"/>
              </a:solidFill>
              <a:ln>
                <a:noFill/>
              </a:ln>
              <a:effectLst/>
            </p:spPr>
            <p:txBody>
              <a:bodyPr>
                <a:spAutoFit/>
              </a:bodyPr>
              <a:lstStyle/>
              <a:p>
                <a:pPr/>
                <a14:m>
                  <m:oMathPara xmlns:m="http://schemas.openxmlformats.org/officeDocument/2006/math">
                    <m:oMathParaPr>
                      <m:jc m:val="left"/>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𝑇</m:t>
                          </m:r>
                        </m:den>
                      </m:f>
                      <m:nary>
                        <m:naryPr>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𝑇</m:t>
                          </m:r>
                        </m:sub>
                        <m:sup/>
                        <m:e>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𝑡</m:t>
                          </m:r>
                        </m:e>
                      </m:nary>
                    </m:oMath>
                  </m:oMathPara>
                </a14:m>
                <a:endParaRPr lang="en-US" sz="2800" dirty="0"/>
              </a:p>
            </p:txBody>
          </p:sp>
        </mc:Choice>
        <mc:Fallback xmlns="">
          <p:sp>
            <p:nvSpPr>
              <p:cNvPr id="49155" name="Object 3">
                <a:extLst>
                  <a:ext uri="{FF2B5EF4-FFF2-40B4-BE49-F238E27FC236}">
                    <a16:creationId xmlns:a16="http://schemas.microsoft.com/office/drawing/2014/main" id="{9C15C385-BEDE-468B-8EBB-CC65482BB170}"/>
                  </a:ext>
                </a:extLst>
              </p:cNvPr>
              <p:cNvSpPr txBox="1">
                <a:spLocks noRot="1" noChangeAspect="1" noMove="1" noResize="1" noEditPoints="1" noAdjustHandles="1" noChangeArrowheads="1" noChangeShapeType="1" noTextEdit="1"/>
              </p:cNvSpPr>
              <p:nvPr/>
            </p:nvSpPr>
            <p:spPr bwMode="auto">
              <a:xfrm>
                <a:off x="3220813" y="4293096"/>
                <a:ext cx="2702371" cy="998478"/>
              </a:xfrm>
              <a:prstGeom prst="rect">
                <a:avLst/>
              </a:prstGeom>
              <a:blipFill>
                <a:blip r:embed="rId3"/>
                <a:stretch>
                  <a:fillRect/>
                </a:stretch>
              </a:blipFill>
              <a:ln>
                <a:noFill/>
              </a:ln>
              <a:effectLst/>
            </p:spPr>
            <p:txBody>
              <a:bodyPr/>
              <a:lstStyle/>
              <a:p>
                <a:r>
                  <a:rPr 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90" name="标题 1">
            <a:extLst>
              <a:ext uri="{FF2B5EF4-FFF2-40B4-BE49-F238E27FC236}">
                <a16:creationId xmlns:a16="http://schemas.microsoft.com/office/drawing/2014/main" id="{BE32055E-A3CD-4B13-8B22-D8BAC14AA5FA}"/>
              </a:ext>
            </a:extLst>
          </p:cNvPr>
          <p:cNvSpPr>
            <a:spLocks noGrp="1"/>
          </p:cNvSpPr>
          <p:nvPr>
            <p:ph type="title"/>
          </p:nvPr>
        </p:nvSpPr>
        <p:spPr/>
        <p:txBody>
          <a:bodyPr/>
          <a:lstStyle/>
          <a:p>
            <a:r>
              <a:rPr lang="en-US" altLang="zh-CN" sz="3200">
                <a:solidFill>
                  <a:srgbClr val="000000"/>
                </a:solidFill>
              </a:rPr>
              <a:t>3.3  </a:t>
            </a:r>
            <a:r>
              <a:rPr lang="zh-CN" altLang="en-US" sz="3200">
                <a:solidFill>
                  <a:srgbClr val="000000"/>
                </a:solidFill>
              </a:rPr>
              <a:t>连续时间周期信号的傅里叶级数表示</a:t>
            </a:r>
            <a:endParaRPr lang="zh-CN" altLang="en-US"/>
          </a:p>
        </p:txBody>
      </p:sp>
      <p:sp>
        <p:nvSpPr>
          <p:cNvPr id="50191" name="内容占位符 2">
            <a:extLst>
              <a:ext uri="{FF2B5EF4-FFF2-40B4-BE49-F238E27FC236}">
                <a16:creationId xmlns:a16="http://schemas.microsoft.com/office/drawing/2014/main" id="{820D0FA4-950D-4182-BAB6-FB4FBE64DF86}"/>
              </a:ext>
            </a:extLst>
          </p:cNvPr>
          <p:cNvSpPr>
            <a:spLocks noGrp="1"/>
          </p:cNvSpPr>
          <p:nvPr>
            <p:ph idx="1"/>
          </p:nvPr>
        </p:nvSpPr>
        <p:spPr>
          <a:xfrm>
            <a:off x="457200" y="1214438"/>
            <a:ext cx="8229600" cy="461665"/>
          </a:xfrm>
        </p:spPr>
        <p:txBody>
          <a:bodyPr>
            <a:spAutoFit/>
          </a:bodyPr>
          <a:lstStyle/>
          <a:p>
            <a:pPr marL="0" indent="0">
              <a:buNone/>
            </a:pPr>
            <a:r>
              <a:rPr lang="zh-CN" altLang="en-US" sz="2400" b="0" dirty="0">
                <a:solidFill>
                  <a:srgbClr val="0000FF"/>
                </a:solidFill>
              </a:rPr>
              <a:t>例</a:t>
            </a:r>
            <a:r>
              <a:rPr lang="en-US" altLang="zh-CN" sz="2400" b="0" dirty="0">
                <a:solidFill>
                  <a:srgbClr val="0000FF"/>
                </a:solidFill>
              </a:rPr>
              <a:t>. </a:t>
            </a:r>
            <a:r>
              <a:rPr lang="zh-CN" altLang="en-US" sz="2400" b="0" dirty="0">
                <a:solidFill>
                  <a:srgbClr val="0000FF"/>
                </a:solidFill>
              </a:rPr>
              <a:t>周期性矩形脉冲信号的频谱</a:t>
            </a:r>
          </a:p>
        </p:txBody>
      </p:sp>
      <p:sp>
        <p:nvSpPr>
          <p:cNvPr id="4" name="灯片编号占位符 3">
            <a:extLst>
              <a:ext uri="{FF2B5EF4-FFF2-40B4-BE49-F238E27FC236}">
                <a16:creationId xmlns:a16="http://schemas.microsoft.com/office/drawing/2014/main" id="{D9D52B91-76BE-4E30-B674-E5E20E41607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FE91716-C912-43C2-A6B5-19E2A9D4C3B9}" type="slidenum">
              <a:rPr lang="zh-CN" altLang="en-US">
                <a:solidFill>
                  <a:srgbClr val="898989"/>
                </a:solidFill>
                <a:latin typeface="Calibri" panose="020F0502020204030204" pitchFamily="34" charset="0"/>
              </a:rPr>
              <a:pPr eaLnBrk="1" hangingPunct="1"/>
              <a:t>23</a:t>
            </a:fld>
            <a:endParaRPr lang="zh-CN" altLang="en-US">
              <a:solidFill>
                <a:srgbClr val="898989"/>
              </a:solidFill>
              <a:latin typeface="Calibri" panose="020F0502020204030204" pitchFamily="34" charset="0"/>
            </a:endParaRPr>
          </a:p>
        </p:txBody>
      </p:sp>
      <p:grpSp>
        <p:nvGrpSpPr>
          <p:cNvPr id="50193" name="Group 10">
            <a:extLst>
              <a:ext uri="{FF2B5EF4-FFF2-40B4-BE49-F238E27FC236}">
                <a16:creationId xmlns:a16="http://schemas.microsoft.com/office/drawing/2014/main" id="{DE339146-F5ED-4437-B11A-54F1858CCA62}"/>
              </a:ext>
            </a:extLst>
          </p:cNvPr>
          <p:cNvGrpSpPr>
            <a:grpSpLocks/>
          </p:cNvGrpSpPr>
          <p:nvPr/>
        </p:nvGrpSpPr>
        <p:grpSpPr bwMode="auto">
          <a:xfrm>
            <a:off x="1331911" y="1587501"/>
            <a:ext cx="6840538" cy="1789113"/>
            <a:chOff x="839" y="829"/>
            <a:chExt cx="4309" cy="1127"/>
          </a:xfrm>
        </p:grpSpPr>
        <mc:AlternateContent xmlns:mc="http://schemas.openxmlformats.org/markup-compatibility/2006" xmlns:a14="http://schemas.microsoft.com/office/drawing/2010/main">
          <mc:Choice Requires="a14">
            <p:graphicFrame>
              <p:nvGraphicFramePr>
                <p:cNvPr id="50182" name="Object 2">
                  <a:extLst>
                    <a:ext uri="{FF2B5EF4-FFF2-40B4-BE49-F238E27FC236}">
                      <a16:creationId xmlns:a16="http://schemas.microsoft.com/office/drawing/2014/main" id="{A2336A8F-912F-4FA5-8859-AA36EE08E46F}"/>
                    </a:ext>
                  </a:extLst>
                </p:cNvPr>
                <p:cNvGraphicFramePr>
                  <a:graphicFrameLocks noChangeAspect="1"/>
                </p:cNvGraphicFramePr>
                <p:nvPr/>
              </p:nvGraphicFramePr>
              <p:xfrm>
                <a:off x="1056" y="864"/>
                <a:ext cx="3774" cy="1092"/>
              </p:xfrm>
              <a:graphic>
                <a:graphicData uri="http://schemas.openxmlformats.org/presentationml/2006/ole">
                  <mc:AlternateContent>
                    <mc:Choice xmlns:v="urn:schemas-microsoft-com:vml" Requires="v">
                      <p:oleObj spid="_x0000_s2106" name="位图图像" r:id="rId3" imgW="5990476" imgH="1733333" progId="Paint.Picture">
                        <p:embed/>
                      </p:oleObj>
                    </mc:Choice>
                    <mc:Fallback>
                      <p:oleObj name="位图图像" r:id="rId3" imgW="5990476" imgH="1733333" progId="Paint.Picture">
                        <p:embed/>
                        <p:pic>
                          <p:nvPicPr>
                            <p:cNvPr id="0" name="Object 2"/>
                            <p:cNvPicPr>
                              <a:picLocks noChangeAspect="1" noChangeArrowheads="1"/>
                            </p:cNvPicPr>
                            <p:nvPr/>
                          </p:nvPicPr>
                          <p:blipFill>
                            <a:blip r:embed="rId4">
                              <a:extLst>
                                <a:ext uri="{28A0092B-C50C-407E-A947-70E740481C1C}">
                                  <a14:useLocalDpi val="0"/>
                                </a:ext>
                              </a:extLst>
                            </a:blip>
                            <a:srcRect/>
                            <a:stretch>
                              <a:fillRect/>
                            </a:stretch>
                          </p:blipFill>
                          <p:spPr bwMode="auto">
                            <a:xfrm>
                              <a:off x="1056" y="864"/>
                              <a:ext cx="3774" cy="109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0182" name="Object 2">
                  <a:extLst>
                    <a:ext uri="{FF2B5EF4-FFF2-40B4-BE49-F238E27FC236}">
                      <a16:creationId xmlns:a16="http://schemas.microsoft.com/office/drawing/2014/main" id="{A2336A8F-912F-4FA5-8859-AA36EE08E46F}"/>
                    </a:ext>
                  </a:extLst>
                </p:cNvPr>
                <p:cNvGraphicFramePr>
                  <a:graphicFrameLocks noChangeAspect="1"/>
                </p:cNvGraphicFramePr>
                <p:nvPr/>
              </p:nvGraphicFramePr>
              <p:xfrm>
                <a:off x="1056" y="864"/>
                <a:ext cx="3774" cy="1092"/>
              </p:xfrm>
              <a:graphic>
                <a:graphicData uri="http://schemas.openxmlformats.org/presentationml/2006/ole">
                  <mc:AlternateContent>
                    <mc:Choice xmlns:v="urn:schemas-microsoft-com:vml" Requires="v">
                      <p:oleObj name="位图图像" r:id="rId5" imgW="5990476" imgH="1733333" progId="Paint.Picture">
                        <p:embed/>
                      </p:oleObj>
                    </mc:Choice>
                    <mc:Fallback>
                      <p:oleObj name="位图图像" r:id="rId5" imgW="5990476" imgH="1733333" progId="Paint.Picture">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864"/>
                              <a:ext cx="3774"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50183" name="Object 3">
                  <a:extLst>
                    <a:ext uri="{FF2B5EF4-FFF2-40B4-BE49-F238E27FC236}">
                      <a16:creationId xmlns:a16="http://schemas.microsoft.com/office/drawing/2014/main" id="{C4FB47B0-246A-46BB-9AC3-477AEE02BFF0}"/>
                    </a:ext>
                  </a:extLst>
                </p:cNvPr>
                <p:cNvSpPr txBox="1"/>
                <p:nvPr/>
              </p:nvSpPr>
              <p:spPr bwMode="auto">
                <a:xfrm>
                  <a:off x="2760" y="1142"/>
                  <a:ext cx="165" cy="23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1</m:t>
                        </m:r>
                      </m:oMath>
                    </m:oMathPara>
                  </a14:m>
                  <a:endParaRPr lang="en-US" dirty="0"/>
                </a:p>
              </p:txBody>
            </p:sp>
          </mc:Choice>
          <mc:Fallback xmlns="">
            <p:sp>
              <p:nvSpPr>
                <p:cNvPr id="50183" name="Object 3">
                  <a:extLst>
                    <a:ext uri="{FF2B5EF4-FFF2-40B4-BE49-F238E27FC236}">
                      <a16:creationId xmlns:a16="http://schemas.microsoft.com/office/drawing/2014/main" id="{C4FB47B0-246A-46BB-9AC3-477AEE02BFF0}"/>
                    </a:ext>
                  </a:extLst>
                </p:cNvPr>
                <p:cNvSpPr txBox="1">
                  <a:spLocks noRot="1" noChangeAspect="1" noMove="1" noResize="1" noEditPoints="1" noAdjustHandles="1" noChangeArrowheads="1" noChangeShapeType="1" noTextEdit="1"/>
                </p:cNvSpPr>
                <p:nvPr/>
              </p:nvSpPr>
              <p:spPr bwMode="auto">
                <a:xfrm>
                  <a:off x="2760" y="1142"/>
                  <a:ext cx="165" cy="233"/>
                </a:xfrm>
                <a:prstGeom prst="rect">
                  <a:avLst/>
                </a:prstGeom>
                <a:blipFill>
                  <a:blip r:embed="rId7"/>
                  <a:stretch>
                    <a:fillRect r="-1395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184" name="Object 4">
                  <a:extLst>
                    <a:ext uri="{FF2B5EF4-FFF2-40B4-BE49-F238E27FC236}">
                      <a16:creationId xmlns:a16="http://schemas.microsoft.com/office/drawing/2014/main" id="{C9F02E58-F7E8-4079-AD1D-174EED770306}"/>
                    </a:ext>
                  </a:extLst>
                </p:cNvPr>
                <p:cNvSpPr txBox="1"/>
                <p:nvPr/>
              </p:nvSpPr>
              <p:spPr bwMode="auto">
                <a:xfrm>
                  <a:off x="3516" y="1659"/>
                  <a:ext cx="165" cy="23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𝑇</m:t>
                        </m:r>
                      </m:oMath>
                    </m:oMathPara>
                  </a14:m>
                  <a:endParaRPr lang="en-US" dirty="0"/>
                </a:p>
              </p:txBody>
            </p:sp>
          </mc:Choice>
          <mc:Fallback xmlns="">
            <p:sp>
              <p:nvSpPr>
                <p:cNvPr id="50184" name="Object 4">
                  <a:extLst>
                    <a:ext uri="{FF2B5EF4-FFF2-40B4-BE49-F238E27FC236}">
                      <a16:creationId xmlns:a16="http://schemas.microsoft.com/office/drawing/2014/main" id="{C9F02E58-F7E8-4079-AD1D-174EED770306}"/>
                    </a:ext>
                  </a:extLst>
                </p:cNvPr>
                <p:cNvSpPr txBox="1">
                  <a:spLocks noRot="1" noChangeAspect="1" noMove="1" noResize="1" noEditPoints="1" noAdjustHandles="1" noChangeArrowheads="1" noChangeShapeType="1" noTextEdit="1"/>
                </p:cNvSpPr>
                <p:nvPr/>
              </p:nvSpPr>
              <p:spPr bwMode="auto">
                <a:xfrm>
                  <a:off x="3516" y="1659"/>
                  <a:ext cx="165" cy="233"/>
                </a:xfrm>
                <a:prstGeom prst="rect">
                  <a:avLst/>
                </a:prstGeom>
                <a:blipFill>
                  <a:blip r:embed="rId8"/>
                  <a:stretch>
                    <a:fillRect r="-1860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185" name="Object 5">
                  <a:extLst>
                    <a:ext uri="{FF2B5EF4-FFF2-40B4-BE49-F238E27FC236}">
                      <a16:creationId xmlns:a16="http://schemas.microsoft.com/office/drawing/2014/main" id="{EB0B2BD3-E108-4FB0-8F4C-970A7CC11454}"/>
                    </a:ext>
                  </a:extLst>
                </p:cNvPr>
                <p:cNvSpPr txBox="1"/>
                <p:nvPr/>
              </p:nvSpPr>
              <p:spPr bwMode="auto">
                <a:xfrm>
                  <a:off x="2030" y="1642"/>
                  <a:ext cx="256" cy="23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𝑇</m:t>
                        </m:r>
                      </m:oMath>
                    </m:oMathPara>
                  </a14:m>
                  <a:endParaRPr lang="en-US" dirty="0"/>
                </a:p>
              </p:txBody>
            </p:sp>
          </mc:Choice>
          <mc:Fallback xmlns="">
            <p:sp>
              <p:nvSpPr>
                <p:cNvPr id="50185" name="Object 5">
                  <a:extLst>
                    <a:ext uri="{FF2B5EF4-FFF2-40B4-BE49-F238E27FC236}">
                      <a16:creationId xmlns:a16="http://schemas.microsoft.com/office/drawing/2014/main" id="{EB0B2BD3-E108-4FB0-8F4C-970A7CC11454}"/>
                    </a:ext>
                  </a:extLst>
                </p:cNvPr>
                <p:cNvSpPr txBox="1">
                  <a:spLocks noRot="1" noChangeAspect="1" noMove="1" noResize="1" noEditPoints="1" noAdjustHandles="1" noChangeArrowheads="1" noChangeShapeType="1" noTextEdit="1"/>
                </p:cNvSpPr>
                <p:nvPr/>
              </p:nvSpPr>
              <p:spPr bwMode="auto">
                <a:xfrm>
                  <a:off x="2030" y="1642"/>
                  <a:ext cx="256" cy="233"/>
                </a:xfrm>
                <a:prstGeom prst="rect">
                  <a:avLst/>
                </a:prstGeom>
                <a:blipFill>
                  <a:blip r:embed="rId9"/>
                  <a:stretch>
                    <a:fillRect r="-1969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186" name="Object 6">
                  <a:extLst>
                    <a:ext uri="{FF2B5EF4-FFF2-40B4-BE49-F238E27FC236}">
                      <a16:creationId xmlns:a16="http://schemas.microsoft.com/office/drawing/2014/main" id="{B27C88B7-88BD-47AD-A689-4FD2A49C47EE}"/>
                    </a:ext>
                  </a:extLst>
                </p:cNvPr>
                <p:cNvSpPr txBox="1"/>
                <p:nvPr/>
              </p:nvSpPr>
              <p:spPr bwMode="auto">
                <a:xfrm>
                  <a:off x="4792" y="1404"/>
                  <a:ext cx="123" cy="23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𝑡</m:t>
                        </m:r>
                      </m:oMath>
                    </m:oMathPara>
                  </a14:m>
                  <a:endParaRPr lang="en-US" dirty="0"/>
                </a:p>
              </p:txBody>
            </p:sp>
          </mc:Choice>
          <mc:Fallback xmlns="">
            <p:sp>
              <p:nvSpPr>
                <p:cNvPr id="50186" name="Object 6">
                  <a:extLst>
                    <a:ext uri="{FF2B5EF4-FFF2-40B4-BE49-F238E27FC236}">
                      <a16:creationId xmlns:a16="http://schemas.microsoft.com/office/drawing/2014/main" id="{B27C88B7-88BD-47AD-A689-4FD2A49C47EE}"/>
                    </a:ext>
                  </a:extLst>
                </p:cNvPr>
                <p:cNvSpPr txBox="1">
                  <a:spLocks noRot="1" noChangeAspect="1" noMove="1" noResize="1" noEditPoints="1" noAdjustHandles="1" noChangeArrowheads="1" noChangeShapeType="1" noTextEdit="1"/>
                </p:cNvSpPr>
                <p:nvPr/>
              </p:nvSpPr>
              <p:spPr bwMode="auto">
                <a:xfrm>
                  <a:off x="4792" y="1404"/>
                  <a:ext cx="123" cy="233"/>
                </a:xfrm>
                <a:prstGeom prst="rect">
                  <a:avLst/>
                </a:prstGeom>
                <a:blipFill>
                  <a:blip r:embed="rId10"/>
                  <a:stretch>
                    <a:fillRect r="-3125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187" name="Object 7">
                  <a:extLst>
                    <a:ext uri="{FF2B5EF4-FFF2-40B4-BE49-F238E27FC236}">
                      <a16:creationId xmlns:a16="http://schemas.microsoft.com/office/drawing/2014/main" id="{9B39DDCC-56DD-46E1-A031-86A6172CD21C}"/>
                    </a:ext>
                  </a:extLst>
                </p:cNvPr>
                <p:cNvSpPr txBox="1"/>
                <p:nvPr/>
              </p:nvSpPr>
              <p:spPr bwMode="auto">
                <a:xfrm>
                  <a:off x="2898" y="829"/>
                  <a:ext cx="390" cy="233"/>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oMath>
                    </m:oMathPara>
                  </a14:m>
                  <a:endParaRPr lang="en-US" dirty="0"/>
                </a:p>
              </p:txBody>
            </p:sp>
          </mc:Choice>
          <mc:Fallback xmlns="">
            <p:sp>
              <p:nvSpPr>
                <p:cNvPr id="50187" name="Object 7">
                  <a:extLst>
                    <a:ext uri="{FF2B5EF4-FFF2-40B4-BE49-F238E27FC236}">
                      <a16:creationId xmlns:a16="http://schemas.microsoft.com/office/drawing/2014/main" id="{9B39DDCC-56DD-46E1-A031-86A6172CD21C}"/>
                    </a:ext>
                  </a:extLst>
                </p:cNvPr>
                <p:cNvSpPr txBox="1">
                  <a:spLocks noRot="1" noChangeAspect="1" noMove="1" noResize="1" noEditPoints="1" noAdjustHandles="1" noChangeArrowheads="1" noChangeShapeType="1" noTextEdit="1"/>
                </p:cNvSpPr>
                <p:nvPr/>
              </p:nvSpPr>
              <p:spPr bwMode="auto">
                <a:xfrm>
                  <a:off x="2898" y="829"/>
                  <a:ext cx="390" cy="233"/>
                </a:xfrm>
                <a:prstGeom prst="rect">
                  <a:avLst/>
                </a:prstGeom>
                <a:blipFill>
                  <a:blip r:embed="rId11"/>
                  <a:stretch>
                    <a:fillRect r="-990" b="-14754"/>
                  </a:stretch>
                </a:blipFill>
                <a:ln>
                  <a:noFill/>
                </a:ln>
                <a:effectLst/>
              </p:spPr>
              <p:txBody>
                <a:bodyPr/>
                <a:lstStyle/>
                <a:p>
                  <a:r>
                    <a:rPr lang="en-US">
                      <a:noFill/>
                    </a:rPr>
                    <a:t> </a:t>
                  </a:r>
                </a:p>
              </p:txBody>
            </p:sp>
          </mc:Fallback>
        </mc:AlternateContent>
        <p:sp>
          <p:nvSpPr>
            <p:cNvPr id="50196" name="Line 17">
              <a:extLst>
                <a:ext uri="{FF2B5EF4-FFF2-40B4-BE49-F238E27FC236}">
                  <a16:creationId xmlns:a16="http://schemas.microsoft.com/office/drawing/2014/main" id="{D07C85B4-8D9F-4B57-A532-F679A896ACB5}"/>
                </a:ext>
              </a:extLst>
            </p:cNvPr>
            <p:cNvSpPr>
              <a:spLocks noChangeShapeType="1"/>
            </p:cNvSpPr>
            <p:nvPr/>
          </p:nvSpPr>
          <p:spPr bwMode="auto">
            <a:xfrm>
              <a:off x="839" y="1656"/>
              <a:ext cx="4309"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50197" name="Line 18">
              <a:extLst>
                <a:ext uri="{FF2B5EF4-FFF2-40B4-BE49-F238E27FC236}">
                  <a16:creationId xmlns:a16="http://schemas.microsoft.com/office/drawing/2014/main" id="{D3BD465C-BD25-4092-ACD3-65DA47C56055}"/>
                </a:ext>
              </a:extLst>
            </p:cNvPr>
            <p:cNvSpPr>
              <a:spLocks noChangeShapeType="1"/>
            </p:cNvSpPr>
            <p:nvPr/>
          </p:nvSpPr>
          <p:spPr bwMode="auto">
            <a:xfrm flipV="1">
              <a:off x="2898" y="981"/>
              <a:ext cx="0" cy="672"/>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mc:AlternateContent xmlns:mc="http://schemas.openxmlformats.org/markup-compatibility/2006" xmlns:a14="http://schemas.microsoft.com/office/drawing/2010/main">
          <mc:Choice Requires="a14">
            <p:sp>
              <p:nvSpPr>
                <p:cNvPr id="50188" name="Object 8">
                  <a:extLst>
                    <a:ext uri="{FF2B5EF4-FFF2-40B4-BE49-F238E27FC236}">
                      <a16:creationId xmlns:a16="http://schemas.microsoft.com/office/drawing/2014/main" id="{D04F7079-2ED1-429E-9A6B-1461CAA8C215}"/>
                    </a:ext>
                  </a:extLst>
                </p:cNvPr>
                <p:cNvSpPr txBox="1"/>
                <p:nvPr/>
              </p:nvSpPr>
              <p:spPr bwMode="auto">
                <a:xfrm>
                  <a:off x="986" y="1382"/>
                  <a:ext cx="288" cy="19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oMath>
                    </m:oMathPara>
                  </a14:m>
                  <a:endParaRPr lang="en-US" dirty="0"/>
                </a:p>
              </p:txBody>
            </p:sp>
          </mc:Choice>
          <mc:Fallback xmlns="">
            <p:sp>
              <p:nvSpPr>
                <p:cNvPr id="50188" name="Object 8">
                  <a:extLst>
                    <a:ext uri="{FF2B5EF4-FFF2-40B4-BE49-F238E27FC236}">
                      <a16:creationId xmlns:a16="http://schemas.microsoft.com/office/drawing/2014/main" id="{D04F7079-2ED1-429E-9A6B-1461CAA8C215}"/>
                    </a:ext>
                  </a:extLst>
                </p:cNvPr>
                <p:cNvSpPr txBox="1">
                  <a:spLocks noRot="1" noChangeAspect="1" noMove="1" noResize="1" noEditPoints="1" noAdjustHandles="1" noChangeArrowheads="1" noChangeShapeType="1" noTextEdit="1"/>
                </p:cNvSpPr>
                <p:nvPr/>
              </p:nvSpPr>
              <p:spPr bwMode="auto">
                <a:xfrm>
                  <a:off x="986" y="1382"/>
                  <a:ext cx="288" cy="194"/>
                </a:xfrm>
                <a:prstGeom prst="rect">
                  <a:avLst/>
                </a:prstGeom>
                <a:blipFill>
                  <a:blip r:embed="rId1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189" name="Object 9">
                  <a:extLst>
                    <a:ext uri="{FF2B5EF4-FFF2-40B4-BE49-F238E27FC236}">
                      <a16:creationId xmlns:a16="http://schemas.microsoft.com/office/drawing/2014/main" id="{491402DA-8552-4D6D-ADB1-E4175DF358F4}"/>
                    </a:ext>
                  </a:extLst>
                </p:cNvPr>
                <p:cNvSpPr txBox="1"/>
                <p:nvPr/>
              </p:nvSpPr>
              <p:spPr bwMode="auto">
                <a:xfrm>
                  <a:off x="4508" y="1401"/>
                  <a:ext cx="288" cy="233"/>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m:t>
                        </m:r>
                      </m:oMath>
                    </m:oMathPara>
                  </a14:m>
                  <a:endParaRPr lang="en-US" dirty="0"/>
                </a:p>
              </p:txBody>
            </p:sp>
          </mc:Choice>
          <mc:Fallback xmlns="">
            <p:sp>
              <p:nvSpPr>
                <p:cNvPr id="50189" name="Object 9">
                  <a:extLst>
                    <a:ext uri="{FF2B5EF4-FFF2-40B4-BE49-F238E27FC236}">
                      <a16:creationId xmlns:a16="http://schemas.microsoft.com/office/drawing/2014/main" id="{491402DA-8552-4D6D-ADB1-E4175DF358F4}"/>
                    </a:ext>
                  </a:extLst>
                </p:cNvPr>
                <p:cNvSpPr txBox="1">
                  <a:spLocks noRot="1" noChangeAspect="1" noMove="1" noResize="1" noEditPoints="1" noAdjustHandles="1" noChangeArrowheads="1" noChangeShapeType="1" noTextEdit="1"/>
                </p:cNvSpPr>
                <p:nvPr/>
              </p:nvSpPr>
              <p:spPr bwMode="auto">
                <a:xfrm>
                  <a:off x="4508" y="1401"/>
                  <a:ext cx="288" cy="233"/>
                </a:xfrm>
                <a:prstGeom prst="rect">
                  <a:avLst/>
                </a:prstGeom>
                <a:blipFill>
                  <a:blip r:embed="rId13"/>
                  <a:stretch>
                    <a:fillRect/>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6" name="Object 10">
                <a:extLst>
                  <a:ext uri="{FF2B5EF4-FFF2-40B4-BE49-F238E27FC236}">
                    <a16:creationId xmlns:a16="http://schemas.microsoft.com/office/drawing/2014/main" id="{5D255847-3B65-492F-A18D-A77C3155181E}"/>
                  </a:ext>
                </a:extLst>
              </p:cNvPr>
              <p:cNvSpPr txBox="1"/>
              <p:nvPr/>
            </p:nvSpPr>
            <p:spPr bwMode="auto">
              <a:xfrm>
                <a:off x="597246" y="3316287"/>
                <a:ext cx="8309867" cy="9509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𝑇</m:t>
                          </m:r>
                        </m:den>
                      </m:f>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sub>
                        <m: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sup>
                        <m:e>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𝑇</m:t>
                          </m:r>
                        </m:den>
                      </m:f>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sup>
                      </m:sSup>
                      <m:d>
                        <m:dPr>
                          <m:begChr m:val="|"/>
                          <m:endChr m:val=""/>
                          <m:ctrlPr>
                            <a:rPr lang="en-US" sz="2400" i="1">
                              <a:solidFill>
                                <a:srgbClr val="000000"/>
                              </a:solidFill>
                              <a:latin typeface="Cambria Math" panose="02040503050406030204" pitchFamily="18" charset="0"/>
                            </a:rPr>
                          </m:ctrlPr>
                        </m:dPr>
                        <m:e>
                          <m:sSubSup>
                            <m:sSubSupPr>
                              <m:ctrlPr>
                                <a:rPr lang="en-US" sz="2400" i="1">
                                  <a:solidFill>
                                    <a:srgbClr val="000000"/>
                                  </a:solidFill>
                                  <a:latin typeface="Cambria Math" panose="02040503050406030204" pitchFamily="18" charset="0"/>
                                </a:rPr>
                              </m:ctrlPr>
                            </m:sSubSupPr>
                            <m:e>
                              <m:r>
                                <a:rPr lang="en-US" sz="2400" b="0" i="1" smtClean="0">
                                  <a:solidFill>
                                    <a:schemeClr val="bg1"/>
                                  </a:solidFill>
                                  <a:latin typeface="Cambria Math" panose="02040503050406030204" pitchFamily="18" charset="0"/>
                                </a:rPr>
                                <m:t>.</m:t>
                              </m:r>
                            </m:e>
                            <m: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sub>
                            <m:sup>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sup>
                          </m:sSubSup>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𝑇</m:t>
                          </m:r>
                        </m:den>
                      </m:f>
                    </m:oMath>
                  </m:oMathPara>
                </a14:m>
                <a:endParaRPr lang="en-US" sz="2400" dirty="0"/>
              </a:p>
            </p:txBody>
          </p:sp>
        </mc:Choice>
        <mc:Fallback xmlns="">
          <p:sp>
            <p:nvSpPr>
              <p:cNvPr id="16" name="Object 10">
                <a:extLst>
                  <a:ext uri="{FF2B5EF4-FFF2-40B4-BE49-F238E27FC236}">
                    <a16:creationId xmlns:a16="http://schemas.microsoft.com/office/drawing/2014/main" id="{5D255847-3B65-492F-A18D-A77C3155181E}"/>
                  </a:ext>
                </a:extLst>
              </p:cNvPr>
              <p:cNvSpPr txBox="1">
                <a:spLocks noRot="1" noChangeAspect="1" noMove="1" noResize="1" noEditPoints="1" noAdjustHandles="1" noChangeArrowheads="1" noChangeShapeType="1" noTextEdit="1"/>
              </p:cNvSpPr>
              <p:nvPr/>
            </p:nvSpPr>
            <p:spPr bwMode="auto">
              <a:xfrm>
                <a:off x="597246" y="3316287"/>
                <a:ext cx="8309867" cy="950913"/>
              </a:xfrm>
              <a:prstGeom prst="rect">
                <a:avLst/>
              </a:prstGeom>
              <a:blipFill>
                <a:blip r:embed="rId1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bject 11">
                <a:extLst>
                  <a:ext uri="{FF2B5EF4-FFF2-40B4-BE49-F238E27FC236}">
                    <a16:creationId xmlns:a16="http://schemas.microsoft.com/office/drawing/2014/main" id="{C9D64557-FE0C-4597-ABEF-9BF67D744D17}"/>
                  </a:ext>
                </a:extLst>
              </p:cNvPr>
              <p:cNvSpPr txBox="1"/>
              <p:nvPr/>
            </p:nvSpPr>
            <p:spPr bwMode="auto">
              <a:xfrm>
                <a:off x="1043608" y="4481017"/>
                <a:ext cx="4914875" cy="868362"/>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num>
                        <m:den>
                          <m:r>
                            <a:rPr lang="en-US" sz="2400" i="1">
                              <a:solidFill>
                                <a:srgbClr val="000000"/>
                              </a:solidFill>
                              <a:latin typeface="Cambria Math" panose="02040503050406030204" pitchFamily="18" charset="0"/>
                            </a:rPr>
                            <m:t>𝑇</m:t>
                          </m:r>
                        </m:den>
                      </m:f>
                      <m:f>
                        <m:fPr>
                          <m:ctrlPr>
                            <a:rPr lang="en-US" sz="2400" i="1">
                              <a:solidFill>
                                <a:srgbClr val="000000"/>
                              </a:solidFill>
                              <a:latin typeface="Cambria Math" panose="02040503050406030204" pitchFamily="18" charset="0"/>
                            </a:rPr>
                          </m:ctrlPr>
                        </m:fPr>
                        <m:num>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den>
                      </m:f>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num>
                        <m:den>
                          <m:r>
                            <a:rPr lang="en-US" sz="2400" i="1">
                              <a:solidFill>
                                <a:srgbClr val="000000"/>
                              </a:solidFill>
                              <a:latin typeface="Cambria Math" panose="02040503050406030204" pitchFamily="18" charset="0"/>
                            </a:rPr>
                            <m:t>𝑇</m:t>
                          </m:r>
                        </m:den>
                      </m:f>
                      <m:func>
                        <m:funcPr>
                          <m:ctrlPr>
                            <a:rPr lang="en-US" sz="2400" i="1">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Sa</m:t>
                          </m:r>
                        </m:fName>
                        <m:e>
                          <m:r>
                            <a:rPr lang="en-US" sz="2400" i="1">
                              <a:solidFill>
                                <a:srgbClr val="000000"/>
                              </a:solidFill>
                              <a:latin typeface="Cambria Math" panose="02040503050406030204" pitchFamily="18" charset="0"/>
                            </a:rPr>
                            <m:t>(</m:t>
                          </m:r>
                        </m:e>
                      </m:func>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𝜋</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2</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𝑇</m:t>
                              </m:r>
                            </m:e>
                            <m:sub>
                              <m:r>
                                <a:rPr lang="en-US" sz="2400" i="1">
                                  <a:solidFill>
                                    <a:srgbClr val="000000"/>
                                  </a:solidFill>
                                  <a:latin typeface="Cambria Math" panose="02040503050406030204" pitchFamily="18" charset="0"/>
                                </a:rPr>
                                <m:t>1</m:t>
                              </m:r>
                            </m:sub>
                          </m:sSub>
                        </m:num>
                        <m:den>
                          <m:r>
                            <a:rPr lang="en-US" sz="2400" i="1">
                              <a:solidFill>
                                <a:srgbClr val="000000"/>
                              </a:solidFill>
                              <a:latin typeface="Cambria Math" panose="02040503050406030204" pitchFamily="18" charset="0"/>
                            </a:rPr>
                            <m:t>𝑇</m:t>
                          </m:r>
                        </m:den>
                      </m:f>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17" name="Object 11">
                <a:extLst>
                  <a:ext uri="{FF2B5EF4-FFF2-40B4-BE49-F238E27FC236}">
                    <a16:creationId xmlns:a16="http://schemas.microsoft.com/office/drawing/2014/main" id="{C9D64557-FE0C-4597-ABEF-9BF67D744D17}"/>
                  </a:ext>
                </a:extLst>
              </p:cNvPr>
              <p:cNvSpPr txBox="1">
                <a:spLocks noRot="1" noChangeAspect="1" noMove="1" noResize="1" noEditPoints="1" noAdjustHandles="1" noChangeArrowheads="1" noChangeShapeType="1" noTextEdit="1"/>
              </p:cNvSpPr>
              <p:nvPr/>
            </p:nvSpPr>
            <p:spPr bwMode="auto">
              <a:xfrm>
                <a:off x="1043608" y="4481017"/>
                <a:ext cx="4914875" cy="868362"/>
              </a:xfrm>
              <a:prstGeom prst="rect">
                <a:avLst/>
              </a:prstGeom>
              <a:blipFill>
                <a:blip r:embed="rId1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 Box 9">
                <a:extLst>
                  <a:ext uri="{FF2B5EF4-FFF2-40B4-BE49-F238E27FC236}">
                    <a16:creationId xmlns:a16="http://schemas.microsoft.com/office/drawing/2014/main" id="{5D08E11B-CA28-4E7A-9113-000E605C9A2B}"/>
                  </a:ext>
                </a:extLst>
              </p:cNvPr>
              <p:cNvSpPr txBox="1">
                <a:spLocks noChangeArrowheads="1"/>
              </p:cNvSpPr>
              <p:nvPr/>
            </p:nvSpPr>
            <p:spPr bwMode="auto">
              <a:xfrm>
                <a:off x="857250" y="5703888"/>
                <a:ext cx="7342716" cy="62966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抽样信号</a:t>
                </a:r>
                <a14:m>
                  <m:oMath xmlns:m="http://schemas.openxmlformats.org/officeDocument/2006/math">
                    <m:func>
                      <m:funcPr>
                        <m:ctrlPr>
                          <a:rPr lang="en-US" sz="2400" i="1" smtClean="0">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Sa</m:t>
                        </m:r>
                      </m:fName>
                      <m:e>
                        <m:r>
                          <a:rPr lang="en-US" sz="2400" i="1">
                            <a:solidFill>
                              <a:srgbClr val="FF0000"/>
                            </a:solidFill>
                            <a:latin typeface="Cambria Math" panose="02040503050406030204" pitchFamily="18" charset="0"/>
                          </a:rPr>
                          <m:t>(</m:t>
                        </m:r>
                      </m:e>
                    </m:func>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func>
                          <m:funcPr>
                            <m:ctrlPr>
                              <a:rPr lang="en-US" sz="2400" i="1">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sin</m:t>
                            </m:r>
                          </m:fName>
                          <m:e>
                            <m:r>
                              <a:rPr lang="en-US" sz="2400" i="1">
                                <a:solidFill>
                                  <a:srgbClr val="FF0000"/>
                                </a:solidFill>
                                <a:latin typeface="Cambria Math" panose="02040503050406030204" pitchFamily="18" charset="0"/>
                              </a:rPr>
                              <m:t>𝑥</m:t>
                            </m:r>
                          </m:e>
                        </m:func>
                      </m:num>
                      <m:den>
                        <m:r>
                          <a:rPr lang="en-US" sz="2400" i="1">
                            <a:solidFill>
                              <a:srgbClr val="FF0000"/>
                            </a:solidFill>
                            <a:latin typeface="Cambria Math" panose="02040503050406030204" pitchFamily="18" charset="0"/>
                          </a:rPr>
                          <m:t>𝑥</m:t>
                        </m:r>
                      </m:den>
                    </m:f>
                  </m:oMath>
                </a14:m>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，类似函数有</a:t>
                </a:r>
                <a14:m>
                  <m:oMath xmlns:m="http://schemas.openxmlformats.org/officeDocument/2006/math">
                    <m:func>
                      <m:funcPr>
                        <m:ctrlPr>
                          <a:rPr lang="en-US" sz="2400" i="1" smtClean="0">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sinc</m:t>
                        </m:r>
                      </m:fName>
                      <m:e>
                        <m:r>
                          <a:rPr lang="en-US" sz="2400" i="1">
                            <a:solidFill>
                              <a:srgbClr val="FF0000"/>
                            </a:solidFill>
                            <a:latin typeface="Cambria Math" panose="02040503050406030204" pitchFamily="18" charset="0"/>
                          </a:rPr>
                          <m:t>(</m:t>
                        </m:r>
                      </m:e>
                    </m:func>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func>
                          <m:funcPr>
                            <m:ctrlPr>
                              <a:rPr lang="en-US" sz="2400" i="1">
                                <a:solidFill>
                                  <a:srgbClr val="FF0000"/>
                                </a:solidFill>
                                <a:latin typeface="Cambria Math" panose="02040503050406030204" pitchFamily="18" charset="0"/>
                              </a:rPr>
                            </m:ctrlPr>
                          </m:funcPr>
                          <m:fName>
                            <m:r>
                              <m:rPr>
                                <m:sty m:val="p"/>
                              </m:rPr>
                              <a:rPr lang="en-US" sz="2400">
                                <a:solidFill>
                                  <a:srgbClr val="FF0000"/>
                                </a:solidFill>
                                <a:latin typeface="Cambria Math" panose="02040503050406030204" pitchFamily="18" charset="0"/>
                              </a:rPr>
                              <m:t>sin</m:t>
                            </m:r>
                          </m:fName>
                          <m:e>
                            <m:r>
                              <a:rPr lang="en-US" sz="2400" i="1">
                                <a:solidFill>
                                  <a:srgbClr val="FF0000"/>
                                </a:solidFill>
                                <a:latin typeface="Cambria Math" panose="02040503050406030204" pitchFamily="18" charset="0"/>
                              </a:rPr>
                              <m:t>𝜋</m:t>
                            </m:r>
                          </m:e>
                        </m:func>
                        <m:r>
                          <a:rPr lang="en-US" sz="2400" i="1">
                            <a:solidFill>
                              <a:srgbClr val="FF0000"/>
                            </a:solidFill>
                            <a:latin typeface="Cambria Math" panose="02040503050406030204" pitchFamily="18" charset="0"/>
                          </a:rPr>
                          <m:t>𝑥</m:t>
                        </m:r>
                      </m:num>
                      <m:den>
                        <m:r>
                          <a:rPr lang="en-US" sz="2400" i="1">
                            <a:solidFill>
                              <a:srgbClr val="FF0000"/>
                            </a:solidFill>
                            <a:latin typeface="Cambria Math" panose="02040503050406030204" pitchFamily="18" charset="0"/>
                          </a:rPr>
                          <m:t>𝜋</m:t>
                        </m:r>
                        <m:r>
                          <a:rPr lang="en-US" sz="2400" i="1">
                            <a:solidFill>
                              <a:srgbClr val="FF0000"/>
                            </a:solidFill>
                            <a:latin typeface="Cambria Math" panose="02040503050406030204" pitchFamily="18" charset="0"/>
                          </a:rPr>
                          <m:t>𝑥</m:t>
                        </m:r>
                      </m:den>
                    </m:f>
                  </m:oMath>
                </a14:m>
                <a:r>
                  <a:rPr lang="zh-CN" altLang="en-US" sz="2400" dirty="0">
                    <a:latin typeface="华文楷体" panose="02010600040101010101" pitchFamily="2" charset="-122"/>
                    <a:ea typeface="华文楷体" panose="02010600040101010101" pitchFamily="2" charset="-122"/>
                    <a:cs typeface="楷体_GB2312" panose="02010609030101010101" pitchFamily="49" charset="-122"/>
                  </a:rPr>
                  <a:t>。</a:t>
                </a:r>
              </a:p>
            </p:txBody>
          </p:sp>
        </mc:Choice>
        <mc:Fallback xmlns="">
          <p:sp>
            <p:nvSpPr>
              <p:cNvPr id="21" name="Text Box 9">
                <a:extLst>
                  <a:ext uri="{FF2B5EF4-FFF2-40B4-BE49-F238E27FC236}">
                    <a16:creationId xmlns:a16="http://schemas.microsoft.com/office/drawing/2014/main" id="{5D08E11B-CA28-4E7A-9113-000E605C9A2B}"/>
                  </a:ext>
                </a:extLst>
              </p:cNvPr>
              <p:cNvSpPr txBox="1">
                <a:spLocks noRot="1" noChangeAspect="1" noMove="1" noResize="1" noEditPoints="1" noAdjustHandles="1" noChangeArrowheads="1" noChangeShapeType="1" noTextEdit="1"/>
              </p:cNvSpPr>
              <p:nvPr/>
            </p:nvSpPr>
            <p:spPr bwMode="auto">
              <a:xfrm>
                <a:off x="857250" y="5703888"/>
                <a:ext cx="7342716" cy="629660"/>
              </a:xfrm>
              <a:prstGeom prst="rect">
                <a:avLst/>
              </a:prstGeom>
              <a:blipFill>
                <a:blip r:embed="rId16"/>
                <a:stretch>
                  <a:fillRect l="-1329" r="-332" b="-1068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049E8CBA-EC08-4413-B78C-A74A8627D4B0}"/>
                  </a:ext>
                </a:extLst>
              </p:cNvPr>
              <p:cNvSpPr txBox="1"/>
              <p:nvPr/>
            </p:nvSpPr>
            <p:spPr>
              <a:xfrm>
                <a:off x="6269533" y="4427849"/>
                <a:ext cx="1350467" cy="783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𝜔</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cs typeface="+mn-cs"/>
                            </a:rPr>
                            <m:t>0</m:t>
                          </m:r>
                        </m:sub>
                      </m:s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m:t>
                      </m:r>
                      <m:f>
                        <m:f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fPr>
                        <m:num>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2</m:t>
                          </m:r>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rPr>
                            <m:t>𝜋</m:t>
                          </m:r>
                        </m:num>
                        <m:den>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𝑇</m:t>
                          </m:r>
                        </m:den>
                      </m:f>
                    </m:oMath>
                  </m:oMathPara>
                </a14:m>
                <a:endParaRPr lang="en-US" dirty="0"/>
              </a:p>
            </p:txBody>
          </p:sp>
        </mc:Choice>
        <mc:Fallback xmlns="">
          <p:sp>
            <p:nvSpPr>
              <p:cNvPr id="41" name="文本框 40">
                <a:extLst>
                  <a:ext uri="{FF2B5EF4-FFF2-40B4-BE49-F238E27FC236}">
                    <a16:creationId xmlns:a16="http://schemas.microsoft.com/office/drawing/2014/main" id="{049E8CBA-EC08-4413-B78C-A74A8627D4B0}"/>
                  </a:ext>
                </a:extLst>
              </p:cNvPr>
              <p:cNvSpPr txBox="1">
                <a:spLocks noRot="1" noChangeAspect="1" noMove="1" noResize="1" noEditPoints="1" noAdjustHandles="1" noChangeArrowheads="1" noChangeShapeType="1" noTextEdit="1"/>
              </p:cNvSpPr>
              <p:nvPr/>
            </p:nvSpPr>
            <p:spPr>
              <a:xfrm>
                <a:off x="6269533" y="4427849"/>
                <a:ext cx="1350467" cy="783804"/>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B8F80376-5689-4BA9-8779-9F3C71D986CC}"/>
                  </a:ext>
                </a:extLst>
              </p:cNvPr>
              <p:cNvSpPr txBox="1"/>
              <p:nvPr/>
            </p:nvSpPr>
            <p:spPr>
              <a:xfrm>
                <a:off x="5896157" y="1432988"/>
                <a:ext cx="1798910" cy="614848"/>
              </a:xfrm>
              <a:prstGeom prst="rect">
                <a:avLst/>
              </a:prstGeom>
              <a:noFill/>
            </p:spPr>
            <p:txBody>
              <a:bodyPr wrap="square">
                <a:spAutoFit/>
              </a:bodyPr>
              <a:lstStyle/>
              <a:p>
                <a:r>
                  <a:rPr lang="zh-CN" altLang="en-US" sz="2400" dirty="0">
                    <a:solidFill>
                      <a:srgbClr val="FF0000"/>
                    </a:solidFill>
                    <a:latin typeface="华文楷体" panose="02010600040101010101" pitchFamily="2" charset="-122"/>
                    <a:ea typeface="华文楷体" panose="02010600040101010101" pitchFamily="2" charset="-122"/>
                    <a:cs typeface="楷体_GB2312" panose="02010609030101010101" pitchFamily="49" charset="-122"/>
                  </a:rPr>
                  <a:t>占空比</a:t>
                </a:r>
                <a:r>
                  <a:rPr kumimoji="0" lang="zh-CN" altLang="en-US" sz="2400" b="0" u="none" strike="noStrike" kern="1200" cap="none" spc="0" normalizeH="0" baseline="0" noProof="0" dirty="0">
                    <a:ln>
                      <a:noFill/>
                    </a:ln>
                    <a:solidFill>
                      <a:prstClr val="black"/>
                    </a:solidFill>
                    <a:effectLst/>
                    <a:uLnTx/>
                    <a:uFillTx/>
                    <a:cs typeface="+mn-cs"/>
                  </a:rPr>
                  <a:t>：</a:t>
                </a:r>
                <a14:m>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𝑇</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num>
                      <m:den>
                        <m:r>
                          <a:rPr kumimoji="0" 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𝑇</m:t>
                        </m:r>
                      </m:den>
                    </m:f>
                  </m:oMath>
                </a14:m>
                <a:endParaRPr lang="en-US" dirty="0"/>
              </a:p>
            </p:txBody>
          </p:sp>
        </mc:Choice>
        <mc:Fallback xmlns="">
          <p:sp>
            <p:nvSpPr>
              <p:cNvPr id="23" name="文本框 22">
                <a:extLst>
                  <a:ext uri="{FF2B5EF4-FFF2-40B4-BE49-F238E27FC236}">
                    <a16:creationId xmlns:a16="http://schemas.microsoft.com/office/drawing/2014/main" id="{B8F80376-5689-4BA9-8779-9F3C71D986CC}"/>
                  </a:ext>
                </a:extLst>
              </p:cNvPr>
              <p:cNvSpPr txBox="1">
                <a:spLocks noRot="1" noChangeAspect="1" noMove="1" noResize="1" noEditPoints="1" noAdjustHandles="1" noChangeArrowheads="1" noChangeShapeType="1" noTextEdit="1"/>
              </p:cNvSpPr>
              <p:nvPr/>
            </p:nvSpPr>
            <p:spPr>
              <a:xfrm>
                <a:off x="5896157" y="1432988"/>
                <a:ext cx="1798910" cy="614848"/>
              </a:xfrm>
              <a:prstGeom prst="rect">
                <a:avLst/>
              </a:prstGeom>
              <a:blipFill>
                <a:blip r:embed="rId18"/>
                <a:stretch>
                  <a:fillRect l="-5085" b="-10891"/>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2" name="标题 1">
            <a:extLst>
              <a:ext uri="{FF2B5EF4-FFF2-40B4-BE49-F238E27FC236}">
                <a16:creationId xmlns:a16="http://schemas.microsoft.com/office/drawing/2014/main" id="{CD073366-CE37-41BF-AB7D-E48980DAB73F}"/>
              </a:ext>
            </a:extLst>
          </p:cNvPr>
          <p:cNvSpPr>
            <a:spLocks noGrp="1"/>
          </p:cNvSpPr>
          <p:nvPr>
            <p:ph type="title"/>
          </p:nvPr>
        </p:nvSpPr>
        <p:spPr/>
        <p:txBody>
          <a:bodyPr/>
          <a:lstStyle/>
          <a:p>
            <a:r>
              <a:rPr lang="en-US" altLang="zh-CN" sz="3200">
                <a:solidFill>
                  <a:srgbClr val="000000"/>
                </a:solidFill>
              </a:rPr>
              <a:t>3.3  </a:t>
            </a:r>
            <a:r>
              <a:rPr lang="zh-CN" altLang="en-US" sz="3200">
                <a:solidFill>
                  <a:srgbClr val="000000"/>
                </a:solidFill>
              </a:rPr>
              <a:t>连续时间周期信号的傅里叶级数表示</a:t>
            </a:r>
            <a:endParaRPr lang="zh-CN" altLang="en-US"/>
          </a:p>
        </p:txBody>
      </p:sp>
      <p:sp>
        <p:nvSpPr>
          <p:cNvPr id="4" name="灯片编号占位符 3">
            <a:extLst>
              <a:ext uri="{FF2B5EF4-FFF2-40B4-BE49-F238E27FC236}">
                <a16:creationId xmlns:a16="http://schemas.microsoft.com/office/drawing/2014/main" id="{19D91327-C452-41AE-8240-52EE837F026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2B2E225-DB35-4E6B-A43F-03A43A684811}" type="slidenum">
              <a:rPr lang="zh-CN" altLang="en-US">
                <a:solidFill>
                  <a:srgbClr val="898989"/>
                </a:solidFill>
                <a:latin typeface="Calibri" panose="020F0502020204030204" pitchFamily="34" charset="0"/>
              </a:rPr>
              <a:pPr eaLnBrk="1" hangingPunct="1"/>
              <a:t>24</a:t>
            </a:fld>
            <a:endParaRPr lang="zh-CN" altLang="en-US">
              <a:solidFill>
                <a:srgbClr val="898989"/>
              </a:solidFill>
              <a:latin typeface="Calibri" panose="020F0502020204030204" pitchFamily="34" charset="0"/>
            </a:endParaRPr>
          </a:p>
        </p:txBody>
      </p:sp>
      <p:grpSp>
        <p:nvGrpSpPr>
          <p:cNvPr id="51225" name="Group 7">
            <a:extLst>
              <a:ext uri="{FF2B5EF4-FFF2-40B4-BE49-F238E27FC236}">
                <a16:creationId xmlns:a16="http://schemas.microsoft.com/office/drawing/2014/main" id="{5F0E6340-813D-4367-A9BC-F3E43412B67A}"/>
              </a:ext>
            </a:extLst>
          </p:cNvPr>
          <p:cNvGrpSpPr>
            <a:grpSpLocks/>
          </p:cNvGrpSpPr>
          <p:nvPr/>
        </p:nvGrpSpPr>
        <p:grpSpPr bwMode="auto">
          <a:xfrm>
            <a:off x="1830388" y="1546126"/>
            <a:ext cx="5688012" cy="2273300"/>
            <a:chOff x="1248" y="450"/>
            <a:chExt cx="3583" cy="1432"/>
          </a:xfrm>
        </p:grpSpPr>
        <mc:AlternateContent xmlns:mc="http://schemas.openxmlformats.org/markup-compatibility/2006" xmlns:a14="http://schemas.microsoft.com/office/drawing/2010/main">
          <mc:Choice Requires="a14">
            <p:graphicFrame>
              <p:nvGraphicFramePr>
                <p:cNvPr id="51214" name="Object 5">
                  <a:extLst>
                    <a:ext uri="{FF2B5EF4-FFF2-40B4-BE49-F238E27FC236}">
                      <a16:creationId xmlns:a16="http://schemas.microsoft.com/office/drawing/2014/main" id="{F20715C4-42AB-4FE9-848F-276DAF148BB2}"/>
                    </a:ext>
                  </a:extLst>
                </p:cNvPr>
                <p:cNvGraphicFramePr>
                  <a:graphicFrameLocks noChangeAspect="1"/>
                </p:cNvGraphicFramePr>
                <p:nvPr/>
              </p:nvGraphicFramePr>
              <p:xfrm>
                <a:off x="2270" y="1660"/>
                <a:ext cx="125" cy="175"/>
              </p:xfrm>
              <a:graphic>
                <a:graphicData uri="http://schemas.openxmlformats.org/presentationml/2006/ole">
                  <mc:AlternateContent>
                    <mc:Choice xmlns:v="urn:schemas-microsoft-com:vml" Requires="v">
                      <p:oleObj spid="_x0000_s3569" name="Equation" r:id="rId3" imgW="126720" imgH="177480" progId="Equation.DSMT4">
                        <p:embed/>
                      </p:oleObj>
                    </mc:Choice>
                    <mc:Fallback>
                      <p:oleObj name="Equation" r:id="rId3" imgW="126720" imgH="177480" progId="Equation.DSMT4">
                        <p:embed/>
                        <p:pic>
                          <p:nvPicPr>
                            <p:cNvPr id="0" name="Object 5"/>
                            <p:cNvPicPr>
                              <a:picLocks noChangeAspect="1" noChangeArrowheads="1"/>
                            </p:cNvPicPr>
                            <p:nvPr/>
                          </p:nvPicPr>
                          <p:blipFill>
                            <a:blip r:embed="rId4">
                              <a:extLst>
                                <a:ext uri="{28A0092B-C50C-407E-A947-70E740481C1C}">
                                  <a14:useLocalDpi val="0"/>
                                </a:ext>
                              </a:extLst>
                            </a:blip>
                            <a:srcRect/>
                            <a:stretch>
                              <a:fillRect/>
                            </a:stretch>
                          </p:blipFill>
                          <p:spPr bwMode="auto">
                            <a:xfrm>
                              <a:off x="2270" y="1660"/>
                              <a:ext cx="125" cy="1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1214" name="Object 5">
                  <a:extLst>
                    <a:ext uri="{FF2B5EF4-FFF2-40B4-BE49-F238E27FC236}">
                      <a16:creationId xmlns:a16="http://schemas.microsoft.com/office/drawing/2014/main" id="{F20715C4-42AB-4FE9-848F-276DAF148BB2}"/>
                    </a:ext>
                  </a:extLst>
                </p:cNvPr>
                <p:cNvGraphicFramePr>
                  <a:graphicFrameLocks noChangeAspect="1"/>
                </p:cNvGraphicFramePr>
                <p:nvPr/>
              </p:nvGraphicFramePr>
              <p:xfrm>
                <a:off x="2270" y="1660"/>
                <a:ext cx="125" cy="175"/>
              </p:xfrm>
              <a:graphic>
                <a:graphicData uri="http://schemas.openxmlformats.org/presentationml/2006/ole">
                  <mc:AlternateContent>
                    <mc:Choice xmlns:v="urn:schemas-microsoft-com:vml" Requires="v">
                      <p:oleObj name="Equation" r:id="rId5" imgW="126720" imgH="177480" progId="Equation.DSMT4">
                        <p:embed/>
                      </p:oleObj>
                    </mc:Choice>
                    <mc:Fallback>
                      <p:oleObj name="Equation" r:id="rId5" imgW="126720" imgH="17748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0" y="1660"/>
                              <a:ext cx="125"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51215" name="Object 6">
                  <a:extLst>
                    <a:ext uri="{FF2B5EF4-FFF2-40B4-BE49-F238E27FC236}">
                      <a16:creationId xmlns:a16="http://schemas.microsoft.com/office/drawing/2014/main" id="{FE1982C7-DC9D-442B-B32D-DFDD19EB77D9}"/>
                    </a:ext>
                  </a:extLst>
                </p:cNvPr>
                <p:cNvGraphicFramePr>
                  <a:graphicFrameLocks noChangeAspect="1"/>
                </p:cNvGraphicFramePr>
                <p:nvPr/>
              </p:nvGraphicFramePr>
              <p:xfrm>
                <a:off x="2457" y="1657"/>
                <a:ext cx="156" cy="156"/>
              </p:xfrm>
              <a:graphic>
                <a:graphicData uri="http://schemas.openxmlformats.org/presentationml/2006/ole">
                  <mc:AlternateContent>
                    <mc:Choice xmlns:v="urn:schemas-microsoft-com:vml" Requires="v">
                      <p:oleObj spid="_x0000_s3570" name="Equation" r:id="rId7" imgW="139680" imgH="139680" progId="Equation.DSMT4">
                        <p:embed/>
                      </p:oleObj>
                    </mc:Choice>
                    <mc:Fallback>
                      <p:oleObj name="Equation" r:id="rId7" imgW="139680" imgH="139680" progId="Equation.DSMT4">
                        <p:embed/>
                        <p:pic>
                          <p:nvPicPr>
                            <p:cNvPr id="0" name="Object 6"/>
                            <p:cNvPicPr>
                              <a:picLocks noChangeAspect="1" noChangeArrowheads="1"/>
                            </p:cNvPicPr>
                            <p:nvPr/>
                          </p:nvPicPr>
                          <p:blipFill>
                            <a:blip r:embed="rId6">
                              <a:extLst>
                                <a:ext uri="{28A0092B-C50C-407E-A947-70E740481C1C}">
                                  <a14:useLocalDpi val="0"/>
                                </a:ext>
                              </a:extLst>
                            </a:blip>
                            <a:srcRect/>
                            <a:stretch>
                              <a:fillRect/>
                            </a:stretch>
                          </p:blipFill>
                          <p:spPr bwMode="auto">
                            <a:xfrm>
                              <a:off x="2457" y="1657"/>
                              <a:ext cx="156" cy="1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1215" name="Object 6">
                  <a:extLst>
                    <a:ext uri="{FF2B5EF4-FFF2-40B4-BE49-F238E27FC236}">
                      <a16:creationId xmlns:a16="http://schemas.microsoft.com/office/drawing/2014/main" id="{FE1982C7-DC9D-442B-B32D-DFDD19EB77D9}"/>
                    </a:ext>
                  </a:extLst>
                </p:cNvPr>
                <p:cNvGraphicFramePr>
                  <a:graphicFrameLocks noChangeAspect="1"/>
                </p:cNvGraphicFramePr>
                <p:nvPr/>
              </p:nvGraphicFramePr>
              <p:xfrm>
                <a:off x="2457" y="1657"/>
                <a:ext cx="156" cy="156"/>
              </p:xfrm>
              <a:graphic>
                <a:graphicData uri="http://schemas.openxmlformats.org/presentationml/2006/ole">
                  <mc:AlternateContent>
                    <mc:Choice xmlns:v="urn:schemas-microsoft-com:vml" Requires="v">
                      <p:oleObj name="Equation" r:id="rId9" imgW="139680" imgH="139680" progId="Equation.DSMT4">
                        <p:embed/>
                      </p:oleObj>
                    </mc:Choice>
                    <mc:Fallback>
                      <p:oleObj name="Equation" r:id="rId9" imgW="139680" imgH="13968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57" y="1657"/>
                              <a:ext cx="156"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51216" name="Object 7">
                  <a:extLst>
                    <a:ext uri="{FF2B5EF4-FFF2-40B4-BE49-F238E27FC236}">
                      <a16:creationId xmlns:a16="http://schemas.microsoft.com/office/drawing/2014/main" id="{B8BDC1B8-22FC-4DB3-A4EF-0A690F5275A7}"/>
                    </a:ext>
                  </a:extLst>
                </p:cNvPr>
                <p:cNvGraphicFramePr>
                  <a:graphicFrameLocks noChangeAspect="1"/>
                </p:cNvGraphicFramePr>
                <p:nvPr/>
              </p:nvGraphicFramePr>
              <p:xfrm>
                <a:off x="1792" y="1248"/>
                <a:ext cx="258" cy="158"/>
              </p:xfrm>
              <a:graphic>
                <a:graphicData uri="http://schemas.openxmlformats.org/presentationml/2006/ole">
                  <mc:AlternateContent>
                    <mc:Choice xmlns:v="urn:schemas-microsoft-com:vml" Requires="v">
                      <p:oleObj spid="_x0000_s3571" name="Equation" r:id="rId11" imgW="228600" imgH="139680" progId="Equation.DSMT4">
                        <p:embed/>
                      </p:oleObj>
                    </mc:Choice>
                    <mc:Fallback>
                      <p:oleObj name="Equation" r:id="rId11" imgW="228600" imgH="139680" progId="Equation.DSMT4">
                        <p:embed/>
                        <p:pic>
                          <p:nvPicPr>
                            <p:cNvPr id="0" name="Object 7"/>
                            <p:cNvPicPr>
                              <a:picLocks noChangeAspect="1" noChangeArrowheads="1"/>
                            </p:cNvPicPr>
                            <p:nvPr/>
                          </p:nvPicPr>
                          <p:blipFill>
                            <a:blip r:embed="rId10">
                              <a:extLst>
                                <a:ext uri="{28A0092B-C50C-407E-A947-70E740481C1C}">
                                  <a14:useLocalDpi val="0"/>
                                </a:ext>
                              </a:extLst>
                            </a:blip>
                            <a:srcRect/>
                            <a:stretch>
                              <a:fillRect/>
                            </a:stretch>
                          </p:blipFill>
                          <p:spPr bwMode="auto">
                            <a:xfrm>
                              <a:off x="1792" y="1248"/>
                              <a:ext cx="258" cy="15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1216" name="Object 7">
                  <a:extLst>
                    <a:ext uri="{FF2B5EF4-FFF2-40B4-BE49-F238E27FC236}">
                      <a16:creationId xmlns:a16="http://schemas.microsoft.com/office/drawing/2014/main" id="{B8BDC1B8-22FC-4DB3-A4EF-0A690F5275A7}"/>
                    </a:ext>
                  </a:extLst>
                </p:cNvPr>
                <p:cNvGraphicFramePr>
                  <a:graphicFrameLocks noChangeAspect="1"/>
                </p:cNvGraphicFramePr>
                <p:nvPr/>
              </p:nvGraphicFramePr>
              <p:xfrm>
                <a:off x="1792" y="1248"/>
                <a:ext cx="258" cy="158"/>
              </p:xfrm>
              <a:graphic>
                <a:graphicData uri="http://schemas.openxmlformats.org/presentationml/2006/ole">
                  <mc:AlternateContent>
                    <mc:Choice xmlns:v="urn:schemas-microsoft-com:vml" Requires="v">
                      <p:oleObj name="Equation" r:id="rId13" imgW="228600" imgH="139680" progId="Equation.DSMT4">
                        <p:embed/>
                      </p:oleObj>
                    </mc:Choice>
                    <mc:Fallback>
                      <p:oleObj name="Equation" r:id="rId13" imgW="228600" imgH="13968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2" y="1248"/>
                              <a:ext cx="258"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p:sp>
          <p:nvSpPr>
            <p:cNvPr id="51231" name="Line 11">
              <a:extLst>
                <a:ext uri="{FF2B5EF4-FFF2-40B4-BE49-F238E27FC236}">
                  <a16:creationId xmlns:a16="http://schemas.microsoft.com/office/drawing/2014/main" id="{A50966C4-CFBC-4C7F-8AED-7A0D8E3F779A}"/>
                </a:ext>
              </a:extLst>
            </p:cNvPr>
            <p:cNvSpPr>
              <a:spLocks noChangeShapeType="1"/>
            </p:cNvSpPr>
            <p:nvPr/>
          </p:nvSpPr>
          <p:spPr bwMode="auto">
            <a:xfrm>
              <a:off x="2023" y="1405"/>
              <a:ext cx="90" cy="1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sz="2400"/>
            </a:p>
          </p:txBody>
        </p:sp>
        <mc:AlternateContent xmlns:mc="http://schemas.openxmlformats.org/markup-compatibility/2006" xmlns:a14="http://schemas.microsoft.com/office/drawing/2010/main">
          <mc:Choice Requires="a14">
            <p:graphicFrame>
              <p:nvGraphicFramePr>
                <p:cNvPr id="51217" name="Object 8">
                  <a:extLst>
                    <a:ext uri="{FF2B5EF4-FFF2-40B4-BE49-F238E27FC236}">
                      <a16:creationId xmlns:a16="http://schemas.microsoft.com/office/drawing/2014/main" id="{2A73A492-7D60-4B88-BACD-9980068BE1C4}"/>
                    </a:ext>
                  </a:extLst>
                </p:cNvPr>
                <p:cNvGraphicFramePr>
                  <a:graphicFrameLocks noChangeAspect="1"/>
                </p:cNvGraphicFramePr>
                <p:nvPr/>
              </p:nvGraphicFramePr>
              <p:xfrm>
                <a:off x="1296" y="624"/>
                <a:ext cx="3308" cy="1181"/>
              </p:xfrm>
              <a:graphic>
                <a:graphicData uri="http://schemas.openxmlformats.org/presentationml/2006/ole">
                  <mc:AlternateContent>
                    <mc:Choice xmlns:v="urn:schemas-microsoft-com:vml" Requires="v">
                      <p:oleObj spid="_x0000_s3572" name="位图图像" r:id="rId15" imgW="2847619" imgH="2076740" progId="Paint.Picture">
                        <p:embed/>
                      </p:oleObj>
                    </mc:Choice>
                    <mc:Fallback>
                      <p:oleObj name="位图图像" r:id="rId15" imgW="2847619" imgH="2076740" progId="Paint.Picture">
                        <p:embed/>
                        <p:pic>
                          <p:nvPicPr>
                            <p:cNvPr id="0" name="Object 8"/>
                            <p:cNvPicPr>
                              <a:picLocks noChangeAspect="1" noChangeArrowheads="1"/>
                            </p:cNvPicPr>
                            <p:nvPr/>
                          </p:nvPicPr>
                          <p:blipFill>
                            <a:blip r:embed="rId16">
                              <a:extLst>
                                <a:ext uri="{28A0092B-C50C-407E-A947-70E740481C1C}">
                                  <a14:useLocalDpi val="0"/>
                                </a:ext>
                              </a:extLst>
                            </a:blip>
                            <a:srcRect/>
                            <a:stretch>
                              <a:fillRect/>
                            </a:stretch>
                          </p:blipFill>
                          <p:spPr bwMode="auto">
                            <a:xfrm>
                              <a:off x="1296" y="624"/>
                              <a:ext cx="3308" cy="118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1217" name="Object 8">
                  <a:extLst>
                    <a:ext uri="{FF2B5EF4-FFF2-40B4-BE49-F238E27FC236}">
                      <a16:creationId xmlns:a16="http://schemas.microsoft.com/office/drawing/2014/main" id="{2A73A492-7D60-4B88-BACD-9980068BE1C4}"/>
                    </a:ext>
                  </a:extLst>
                </p:cNvPr>
                <p:cNvGraphicFramePr>
                  <a:graphicFrameLocks noChangeAspect="1"/>
                </p:cNvGraphicFramePr>
                <p:nvPr/>
              </p:nvGraphicFramePr>
              <p:xfrm>
                <a:off x="1296" y="624"/>
                <a:ext cx="3308" cy="1181"/>
              </p:xfrm>
              <a:graphic>
                <a:graphicData uri="http://schemas.openxmlformats.org/presentationml/2006/ole">
                  <mc:AlternateContent>
                    <mc:Choice xmlns:v="urn:schemas-microsoft-com:vml" Requires="v">
                      <p:oleObj name="位图图像" r:id="rId17" imgW="2847619" imgH="2076740" progId="Paint.Picture">
                        <p:embed/>
                      </p:oleObj>
                    </mc:Choice>
                    <mc:Fallback>
                      <p:oleObj name="位图图像" r:id="rId17" imgW="2847619" imgH="2076740" progId="Paint.Picture">
                        <p:embed/>
                        <p:pic>
                          <p:nvPicPr>
                            <p:cNvPr id="0" name="Object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96" y="624"/>
                              <a:ext cx="3308" cy="1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51218" name="Object 9">
                  <a:extLst>
                    <a:ext uri="{FF2B5EF4-FFF2-40B4-BE49-F238E27FC236}">
                      <a16:creationId xmlns:a16="http://schemas.microsoft.com/office/drawing/2014/main" id="{3D607F08-F3CD-4ABF-BA99-F1E00F5E0A87}"/>
                    </a:ext>
                  </a:extLst>
                </p:cNvPr>
                <p:cNvSpPr txBox="1"/>
                <p:nvPr/>
              </p:nvSpPr>
              <p:spPr bwMode="auto">
                <a:xfrm>
                  <a:off x="2866" y="450"/>
                  <a:ext cx="616" cy="29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400" i="0">
                            <a:solidFill>
                              <a:srgbClr val="000000"/>
                            </a:solidFill>
                            <a:latin typeface="Cambria Math" panose="02040503050406030204" pitchFamily="18" charset="0"/>
                          </a:rPr>
                          <m:t>Sa</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oMath>
                    </m:oMathPara>
                  </a14:m>
                  <a:endParaRPr lang="en-US" sz="2400" dirty="0"/>
                </a:p>
              </p:txBody>
            </p:sp>
          </mc:Choice>
          <mc:Fallback xmlns="">
            <p:sp>
              <p:nvSpPr>
                <p:cNvPr id="51218" name="Object 9">
                  <a:extLst>
                    <a:ext uri="{FF2B5EF4-FFF2-40B4-BE49-F238E27FC236}">
                      <a16:creationId xmlns:a16="http://schemas.microsoft.com/office/drawing/2014/main" id="{3D607F08-F3CD-4ABF-BA99-F1E00F5E0A87}"/>
                    </a:ext>
                  </a:extLst>
                </p:cNvPr>
                <p:cNvSpPr txBox="1">
                  <a:spLocks noRot="1" noChangeAspect="1" noMove="1" noResize="1" noEditPoints="1" noAdjustHandles="1" noChangeArrowheads="1" noChangeShapeType="1" noTextEdit="1"/>
                </p:cNvSpPr>
                <p:nvPr/>
              </p:nvSpPr>
              <p:spPr bwMode="auto">
                <a:xfrm>
                  <a:off x="2866" y="450"/>
                  <a:ext cx="616" cy="291"/>
                </a:xfrm>
                <a:prstGeom prst="rect">
                  <a:avLst/>
                </a:prstGeom>
                <a:blipFill>
                  <a:blip r:embed="rId19"/>
                  <a:stretch>
                    <a:fillRect l="-1875" b="-1973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219" name="Object 10">
                  <a:extLst>
                    <a:ext uri="{FF2B5EF4-FFF2-40B4-BE49-F238E27FC236}">
                      <a16:creationId xmlns:a16="http://schemas.microsoft.com/office/drawing/2014/main" id="{98EF0F49-EAC2-4734-9612-A6B99858A4EC}"/>
                    </a:ext>
                  </a:extLst>
                </p:cNvPr>
                <p:cNvSpPr txBox="1"/>
                <p:nvPr/>
              </p:nvSpPr>
              <p:spPr bwMode="auto">
                <a:xfrm>
                  <a:off x="2598" y="513"/>
                  <a:ext cx="256" cy="291"/>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51219" name="Object 10">
                  <a:extLst>
                    <a:ext uri="{FF2B5EF4-FFF2-40B4-BE49-F238E27FC236}">
                      <a16:creationId xmlns:a16="http://schemas.microsoft.com/office/drawing/2014/main" id="{98EF0F49-EAC2-4734-9612-A6B99858A4EC}"/>
                    </a:ext>
                  </a:extLst>
                </p:cNvPr>
                <p:cNvSpPr txBox="1">
                  <a:spLocks noRot="1" noChangeAspect="1" noMove="1" noResize="1" noEditPoints="1" noAdjustHandles="1" noChangeArrowheads="1" noChangeShapeType="1" noTextEdit="1"/>
                </p:cNvSpPr>
                <p:nvPr/>
              </p:nvSpPr>
              <p:spPr bwMode="auto">
                <a:xfrm>
                  <a:off x="2598" y="513"/>
                  <a:ext cx="256" cy="291"/>
                </a:xfrm>
                <a:prstGeom prst="rect">
                  <a:avLst/>
                </a:prstGeom>
                <a:blipFill>
                  <a:blip r:embed="rId20"/>
                  <a:stretch>
                    <a:fillRect l="-4545"/>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220" name="Object 11">
                  <a:extLst>
                    <a:ext uri="{FF2B5EF4-FFF2-40B4-BE49-F238E27FC236}">
                      <a16:creationId xmlns:a16="http://schemas.microsoft.com/office/drawing/2014/main" id="{D90B065B-72EC-4D20-9CEF-B84D42D783D5}"/>
                    </a:ext>
                  </a:extLst>
                </p:cNvPr>
                <p:cNvSpPr txBox="1"/>
                <p:nvPr/>
              </p:nvSpPr>
              <p:spPr bwMode="auto">
                <a:xfrm>
                  <a:off x="2675" y="1591"/>
                  <a:ext cx="229" cy="29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𝜋</m:t>
                        </m:r>
                      </m:oMath>
                    </m:oMathPara>
                  </a14:m>
                  <a:endParaRPr lang="en-US" sz="2400" dirty="0"/>
                </a:p>
              </p:txBody>
            </p:sp>
          </mc:Choice>
          <mc:Fallback xmlns="">
            <p:sp>
              <p:nvSpPr>
                <p:cNvPr id="51220" name="Object 11">
                  <a:extLst>
                    <a:ext uri="{FF2B5EF4-FFF2-40B4-BE49-F238E27FC236}">
                      <a16:creationId xmlns:a16="http://schemas.microsoft.com/office/drawing/2014/main" id="{D90B065B-72EC-4D20-9CEF-B84D42D783D5}"/>
                    </a:ext>
                  </a:extLst>
                </p:cNvPr>
                <p:cNvSpPr txBox="1">
                  <a:spLocks noRot="1" noChangeAspect="1" noMove="1" noResize="1" noEditPoints="1" noAdjustHandles="1" noChangeArrowheads="1" noChangeShapeType="1" noTextEdit="1"/>
                </p:cNvSpPr>
                <p:nvPr/>
              </p:nvSpPr>
              <p:spPr bwMode="auto">
                <a:xfrm>
                  <a:off x="2675" y="1591"/>
                  <a:ext cx="229" cy="291"/>
                </a:xfrm>
                <a:prstGeom prst="rect">
                  <a:avLst/>
                </a:prstGeom>
                <a:blipFill>
                  <a:blip r:embed="rId21"/>
                  <a:stretch>
                    <a:fillRect/>
                  </a:stretch>
                </a:blipFill>
                <a:ln>
                  <a:noFill/>
                </a:ln>
                <a:effectLst/>
              </p:spPr>
              <p:txBody>
                <a:bodyPr/>
                <a:lstStyle/>
                <a:p>
                  <a:r>
                    <a:rPr lang="en-US">
                      <a:noFill/>
                    </a:rPr>
                    <a:t> </a:t>
                  </a:r>
                </a:p>
              </p:txBody>
            </p:sp>
          </mc:Fallback>
        </mc:AlternateContent>
        <p:sp>
          <p:nvSpPr>
            <p:cNvPr id="51232" name="Line 16">
              <a:extLst>
                <a:ext uri="{FF2B5EF4-FFF2-40B4-BE49-F238E27FC236}">
                  <a16:creationId xmlns:a16="http://schemas.microsoft.com/office/drawing/2014/main" id="{55CA392D-2818-4588-98D9-119574E69F83}"/>
                </a:ext>
              </a:extLst>
            </p:cNvPr>
            <p:cNvSpPr>
              <a:spLocks noChangeShapeType="1"/>
            </p:cNvSpPr>
            <p:nvPr/>
          </p:nvSpPr>
          <p:spPr bwMode="auto">
            <a:xfrm flipV="1">
              <a:off x="2880" y="153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sz="2400"/>
            </a:p>
          </p:txBody>
        </p:sp>
        <mc:AlternateContent xmlns:mc="http://schemas.openxmlformats.org/markup-compatibility/2006" xmlns:a14="http://schemas.microsoft.com/office/drawing/2010/main">
          <mc:Choice Requires="a14">
            <p:sp>
              <p:nvSpPr>
                <p:cNvPr id="51221" name="Object 12">
                  <a:extLst>
                    <a:ext uri="{FF2B5EF4-FFF2-40B4-BE49-F238E27FC236}">
                      <a16:creationId xmlns:a16="http://schemas.microsoft.com/office/drawing/2014/main" id="{B57DEE52-E728-40C0-895B-7D8ABB265FAE}"/>
                    </a:ext>
                  </a:extLst>
                </p:cNvPr>
                <p:cNvSpPr txBox="1"/>
                <p:nvPr/>
              </p:nvSpPr>
              <p:spPr bwMode="auto">
                <a:xfrm>
                  <a:off x="4628" y="1275"/>
                  <a:ext cx="203" cy="291"/>
                </a:xfrm>
                <a:prstGeom prst="rect">
                  <a:avLst/>
                </a:prstGeom>
                <a:noFill/>
                <a:ln>
                  <a:noFill/>
                </a:ln>
                <a:effectLst/>
              </p:spPr>
              <p:txBody>
                <a:bodyPr>
                  <a:sp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oMath>
                    </m:oMathPara>
                  </a14:m>
                  <a:endParaRPr lang="en-US" sz="2400" dirty="0"/>
                </a:p>
              </p:txBody>
            </p:sp>
          </mc:Choice>
          <mc:Fallback xmlns="">
            <p:sp>
              <p:nvSpPr>
                <p:cNvPr id="51221" name="Object 12">
                  <a:extLst>
                    <a:ext uri="{FF2B5EF4-FFF2-40B4-BE49-F238E27FC236}">
                      <a16:creationId xmlns:a16="http://schemas.microsoft.com/office/drawing/2014/main" id="{B57DEE52-E728-40C0-895B-7D8ABB265FAE}"/>
                    </a:ext>
                  </a:extLst>
                </p:cNvPr>
                <p:cNvSpPr txBox="1">
                  <a:spLocks noRot="1" noChangeAspect="1" noMove="1" noResize="1" noEditPoints="1" noAdjustHandles="1" noChangeArrowheads="1" noChangeShapeType="1" noTextEdit="1"/>
                </p:cNvSpPr>
                <p:nvPr/>
              </p:nvSpPr>
              <p:spPr bwMode="auto">
                <a:xfrm>
                  <a:off x="4628" y="1275"/>
                  <a:ext cx="203" cy="291"/>
                </a:xfrm>
                <a:prstGeom prst="rect">
                  <a:avLst/>
                </a:prstGeom>
                <a:blipFill>
                  <a:blip r:embed="rId22"/>
                  <a:stretch>
                    <a:fillRect r="-3774"/>
                  </a:stretch>
                </a:blipFill>
                <a:ln>
                  <a:noFill/>
                </a:ln>
                <a:effectLst/>
              </p:spPr>
              <p:txBody>
                <a:bodyPr/>
                <a:lstStyle/>
                <a:p>
                  <a:r>
                    <a:rPr lang="en-US">
                      <a:noFill/>
                    </a:rPr>
                    <a:t> </a:t>
                  </a:r>
                </a:p>
              </p:txBody>
            </p:sp>
          </mc:Fallback>
        </mc:AlternateContent>
        <p:sp>
          <p:nvSpPr>
            <p:cNvPr id="51233" name="Line 18">
              <a:extLst>
                <a:ext uri="{FF2B5EF4-FFF2-40B4-BE49-F238E27FC236}">
                  <a16:creationId xmlns:a16="http://schemas.microsoft.com/office/drawing/2014/main" id="{DA1AFD48-84E8-4C64-A52C-07D5D81A5149}"/>
                </a:ext>
              </a:extLst>
            </p:cNvPr>
            <p:cNvSpPr>
              <a:spLocks noChangeShapeType="1"/>
            </p:cNvSpPr>
            <p:nvPr/>
          </p:nvSpPr>
          <p:spPr bwMode="auto">
            <a:xfrm>
              <a:off x="1248" y="1552"/>
              <a:ext cx="340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sz="2400"/>
            </a:p>
          </p:txBody>
        </p:sp>
        <p:sp>
          <p:nvSpPr>
            <p:cNvPr id="51234" name="Line 19">
              <a:extLst>
                <a:ext uri="{FF2B5EF4-FFF2-40B4-BE49-F238E27FC236}">
                  <a16:creationId xmlns:a16="http://schemas.microsoft.com/office/drawing/2014/main" id="{C7E5EB88-382C-4769-81FF-6FFE9239352E}"/>
                </a:ext>
              </a:extLst>
            </p:cNvPr>
            <p:cNvSpPr>
              <a:spLocks noChangeShapeType="1"/>
            </p:cNvSpPr>
            <p:nvPr/>
          </p:nvSpPr>
          <p:spPr bwMode="auto">
            <a:xfrm flipV="1">
              <a:off x="2841" y="576"/>
              <a:ext cx="0" cy="96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sz="2400"/>
            </a:p>
          </p:txBody>
        </p:sp>
      </p:grpSp>
      <p:grpSp>
        <p:nvGrpSpPr>
          <p:cNvPr id="3" name="Group 20">
            <a:extLst>
              <a:ext uri="{FF2B5EF4-FFF2-40B4-BE49-F238E27FC236}">
                <a16:creationId xmlns:a16="http://schemas.microsoft.com/office/drawing/2014/main" id="{3FCF9AC5-E808-4AFB-92AC-00924562DB25}"/>
              </a:ext>
            </a:extLst>
          </p:cNvPr>
          <p:cNvGrpSpPr>
            <a:grpSpLocks/>
          </p:cNvGrpSpPr>
          <p:nvPr/>
        </p:nvGrpSpPr>
        <p:grpSpPr bwMode="auto">
          <a:xfrm>
            <a:off x="1785938" y="3821013"/>
            <a:ext cx="5681662" cy="2200275"/>
            <a:chOff x="1200" y="2064"/>
            <a:chExt cx="3579" cy="1386"/>
          </a:xfrm>
        </p:grpSpPr>
        <mc:AlternateContent xmlns:mc="http://schemas.openxmlformats.org/markup-compatibility/2006" xmlns:a14="http://schemas.microsoft.com/office/drawing/2010/main">
          <mc:Choice Requires="a14">
            <p:graphicFrame>
              <p:nvGraphicFramePr>
                <p:cNvPr id="51205" name="Object 13">
                  <a:extLst>
                    <a:ext uri="{FF2B5EF4-FFF2-40B4-BE49-F238E27FC236}">
                      <a16:creationId xmlns:a16="http://schemas.microsoft.com/office/drawing/2014/main" id="{51284915-2592-486E-B9F0-5AFBAE923092}"/>
                    </a:ext>
                  </a:extLst>
                </p:cNvPr>
                <p:cNvGraphicFramePr>
                  <a:graphicFrameLocks noChangeAspect="1"/>
                </p:cNvGraphicFramePr>
                <p:nvPr/>
              </p:nvGraphicFramePr>
              <p:xfrm>
                <a:off x="2336" y="3150"/>
                <a:ext cx="145" cy="203"/>
              </p:xfrm>
              <a:graphic>
                <a:graphicData uri="http://schemas.openxmlformats.org/presentationml/2006/ole">
                  <mc:AlternateContent>
                    <mc:Choice xmlns:v="urn:schemas-microsoft-com:vml" Requires="v">
                      <p:oleObj spid="_x0000_s3573" name="Equation" r:id="rId23" imgW="126720" imgH="177480" progId="Equation.DSMT4">
                        <p:embed/>
                      </p:oleObj>
                    </mc:Choice>
                    <mc:Fallback>
                      <p:oleObj name="Equation" r:id="rId23" imgW="126720" imgH="177480" progId="Equation.DSMT4">
                        <p:embed/>
                        <p:pic>
                          <p:nvPicPr>
                            <p:cNvPr id="0" name="Object 13"/>
                            <p:cNvPicPr>
                              <a:picLocks noChangeAspect="1" noChangeArrowheads="1"/>
                            </p:cNvPicPr>
                            <p:nvPr/>
                          </p:nvPicPr>
                          <p:blipFill>
                            <a:blip r:embed="rId6">
                              <a:extLst>
                                <a:ext uri="{28A0092B-C50C-407E-A947-70E740481C1C}">
                                  <a14:useLocalDpi val="0"/>
                                </a:ext>
                              </a:extLst>
                            </a:blip>
                            <a:srcRect/>
                            <a:stretch>
                              <a:fillRect/>
                            </a:stretch>
                          </p:blipFill>
                          <p:spPr bwMode="auto">
                            <a:xfrm>
                              <a:off x="2336" y="3150"/>
                              <a:ext cx="145" cy="20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1205" name="Object 13">
                  <a:extLst>
                    <a:ext uri="{FF2B5EF4-FFF2-40B4-BE49-F238E27FC236}">
                      <a16:creationId xmlns:a16="http://schemas.microsoft.com/office/drawing/2014/main" id="{51284915-2592-486E-B9F0-5AFBAE923092}"/>
                    </a:ext>
                  </a:extLst>
                </p:cNvPr>
                <p:cNvGraphicFramePr>
                  <a:graphicFrameLocks noChangeAspect="1"/>
                </p:cNvGraphicFramePr>
                <p:nvPr/>
              </p:nvGraphicFramePr>
              <p:xfrm>
                <a:off x="2336" y="3150"/>
                <a:ext cx="145" cy="203"/>
              </p:xfrm>
              <a:graphic>
                <a:graphicData uri="http://schemas.openxmlformats.org/presentationml/2006/ole">
                  <mc:AlternateContent>
                    <mc:Choice xmlns:v="urn:schemas-microsoft-com:vml" Requires="v">
                      <p:oleObj name="Equation" r:id="rId24" imgW="126720" imgH="177480" progId="Equation.DSMT4">
                        <p:embed/>
                      </p:oleObj>
                    </mc:Choice>
                    <mc:Fallback>
                      <p:oleObj name="Equation" r:id="rId24" imgW="126720" imgH="177480"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6" y="3150"/>
                              <a:ext cx="145"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51206" name="Object 14">
                  <a:extLst>
                    <a:ext uri="{FF2B5EF4-FFF2-40B4-BE49-F238E27FC236}">
                      <a16:creationId xmlns:a16="http://schemas.microsoft.com/office/drawing/2014/main" id="{2EB326D6-E1C2-47E4-A808-6E08FBB6B43B}"/>
                    </a:ext>
                  </a:extLst>
                </p:cNvPr>
                <p:cNvGraphicFramePr>
                  <a:graphicFrameLocks noChangeAspect="1"/>
                </p:cNvGraphicFramePr>
                <p:nvPr/>
              </p:nvGraphicFramePr>
              <p:xfrm>
                <a:off x="2623" y="2955"/>
                <a:ext cx="97" cy="208"/>
              </p:xfrm>
              <a:graphic>
                <a:graphicData uri="http://schemas.openxmlformats.org/presentationml/2006/ole">
                  <mc:AlternateContent>
                    <mc:Choice xmlns:v="urn:schemas-microsoft-com:vml" Requires="v">
                      <p:oleObj spid="_x0000_s3574" name="Equation" r:id="rId25" imgW="88560" imgH="164880" progId="Equation.DSMT4">
                        <p:embed/>
                      </p:oleObj>
                    </mc:Choice>
                    <mc:Fallback>
                      <p:oleObj name="Equation" r:id="rId25" imgW="88560" imgH="164880" progId="Equation.DSMT4">
                        <p:embed/>
                        <p:pic>
                          <p:nvPicPr>
                            <p:cNvPr id="0" name="Object 14"/>
                            <p:cNvPicPr>
                              <a:picLocks noChangeAspect="1" noChangeArrowheads="1"/>
                            </p:cNvPicPr>
                            <p:nvPr/>
                          </p:nvPicPr>
                          <p:blipFill>
                            <a:blip r:embed="rId26">
                              <a:extLst>
                                <a:ext uri="{28A0092B-C50C-407E-A947-70E740481C1C}">
                                  <a14:useLocalDpi val="0"/>
                                </a:ext>
                              </a:extLst>
                            </a:blip>
                            <a:srcRect/>
                            <a:stretch>
                              <a:fillRect/>
                            </a:stretch>
                          </p:blipFill>
                          <p:spPr bwMode="auto">
                            <a:xfrm>
                              <a:off x="2623" y="2955"/>
                              <a:ext cx="97" cy="20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1206" name="Object 14">
                  <a:extLst>
                    <a:ext uri="{FF2B5EF4-FFF2-40B4-BE49-F238E27FC236}">
                      <a16:creationId xmlns:a16="http://schemas.microsoft.com/office/drawing/2014/main" id="{2EB326D6-E1C2-47E4-A808-6E08FBB6B43B}"/>
                    </a:ext>
                  </a:extLst>
                </p:cNvPr>
                <p:cNvGraphicFramePr>
                  <a:graphicFrameLocks noChangeAspect="1"/>
                </p:cNvGraphicFramePr>
                <p:nvPr/>
              </p:nvGraphicFramePr>
              <p:xfrm>
                <a:off x="2623" y="2955"/>
                <a:ext cx="97" cy="208"/>
              </p:xfrm>
              <a:graphic>
                <a:graphicData uri="http://schemas.openxmlformats.org/presentationml/2006/ole">
                  <mc:AlternateContent>
                    <mc:Choice xmlns:v="urn:schemas-microsoft-com:vml" Requires="v">
                      <p:oleObj name="Equation" r:id="rId27" imgW="88560" imgH="164880" progId="Equation.DSMT4">
                        <p:embed/>
                      </p:oleObj>
                    </mc:Choice>
                    <mc:Fallback>
                      <p:oleObj name="Equation" r:id="rId27" imgW="88560" imgH="164880" progId="Equation.DSMT4">
                        <p:embed/>
                        <p:pic>
                          <p:nvPicPr>
                            <p:cNvPr id="0"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623" y="2955"/>
                              <a:ext cx="97" cy="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51207" name="Object 15">
                  <a:extLst>
                    <a:ext uri="{FF2B5EF4-FFF2-40B4-BE49-F238E27FC236}">
                      <a16:creationId xmlns:a16="http://schemas.microsoft.com/office/drawing/2014/main" id="{18A929AD-1558-4480-BFCC-CE272EE2E414}"/>
                    </a:ext>
                  </a:extLst>
                </p:cNvPr>
                <p:cNvGraphicFramePr>
                  <a:graphicFrameLocks noChangeAspect="1"/>
                </p:cNvGraphicFramePr>
                <p:nvPr/>
              </p:nvGraphicFramePr>
              <p:xfrm>
                <a:off x="2769" y="3182"/>
                <a:ext cx="155" cy="202"/>
              </p:xfrm>
              <a:graphic>
                <a:graphicData uri="http://schemas.openxmlformats.org/presentationml/2006/ole">
                  <mc:AlternateContent>
                    <mc:Choice xmlns:v="urn:schemas-microsoft-com:vml" Requires="v">
                      <p:oleObj spid="_x0000_s3575" name="Equation" r:id="rId29" imgW="126720" imgH="164880" progId="Equation.DSMT4">
                        <p:embed/>
                      </p:oleObj>
                    </mc:Choice>
                    <mc:Fallback>
                      <p:oleObj name="Equation" r:id="rId29" imgW="126720" imgH="164880" progId="Equation.DSMT4">
                        <p:embed/>
                        <p:pic>
                          <p:nvPicPr>
                            <p:cNvPr id="0" name="Object 15"/>
                            <p:cNvPicPr>
                              <a:picLocks noChangeAspect="1" noChangeArrowheads="1"/>
                            </p:cNvPicPr>
                            <p:nvPr/>
                          </p:nvPicPr>
                          <p:blipFill>
                            <a:blip r:embed="rId30">
                              <a:extLst>
                                <a:ext uri="{28A0092B-C50C-407E-A947-70E740481C1C}">
                                  <a14:useLocalDpi val="0"/>
                                </a:ext>
                              </a:extLst>
                            </a:blip>
                            <a:srcRect/>
                            <a:stretch>
                              <a:fillRect/>
                            </a:stretch>
                          </p:blipFill>
                          <p:spPr bwMode="auto">
                            <a:xfrm>
                              <a:off x="2769" y="3182"/>
                              <a:ext cx="155" cy="20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1207" name="Object 15">
                  <a:extLst>
                    <a:ext uri="{FF2B5EF4-FFF2-40B4-BE49-F238E27FC236}">
                      <a16:creationId xmlns:a16="http://schemas.microsoft.com/office/drawing/2014/main" id="{18A929AD-1558-4480-BFCC-CE272EE2E414}"/>
                    </a:ext>
                  </a:extLst>
                </p:cNvPr>
                <p:cNvGraphicFramePr>
                  <a:graphicFrameLocks noChangeAspect="1"/>
                </p:cNvGraphicFramePr>
                <p:nvPr/>
              </p:nvGraphicFramePr>
              <p:xfrm>
                <a:off x="2769" y="3182"/>
                <a:ext cx="155" cy="202"/>
              </p:xfrm>
              <a:graphic>
                <a:graphicData uri="http://schemas.openxmlformats.org/presentationml/2006/ole">
                  <mc:AlternateContent>
                    <mc:Choice xmlns:v="urn:schemas-microsoft-com:vml" Requires="v">
                      <p:oleObj name="Equation" r:id="rId31" imgW="126720" imgH="164880" progId="Equation.DSMT4">
                        <p:embed/>
                      </p:oleObj>
                    </mc:Choice>
                    <mc:Fallback>
                      <p:oleObj name="Equation" r:id="rId31" imgW="126720" imgH="164880" progId="Equation.DSMT4">
                        <p:embed/>
                        <p:pic>
                          <p:nvPicPr>
                            <p:cNvPr id="0" name="Object 1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769" y="3182"/>
                              <a:ext cx="155"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51208" name="Object 16">
                  <a:extLst>
                    <a:ext uri="{FF2B5EF4-FFF2-40B4-BE49-F238E27FC236}">
                      <a16:creationId xmlns:a16="http://schemas.microsoft.com/office/drawing/2014/main" id="{4F7B03FB-3F19-4FCA-99EC-1FD86B82A424}"/>
                    </a:ext>
                  </a:extLst>
                </p:cNvPr>
                <p:cNvGraphicFramePr>
                  <a:graphicFrameLocks noChangeAspect="1"/>
                </p:cNvGraphicFramePr>
                <p:nvPr/>
              </p:nvGraphicFramePr>
              <p:xfrm>
                <a:off x="1695" y="2686"/>
                <a:ext cx="247" cy="214"/>
              </p:xfrm>
              <a:graphic>
                <a:graphicData uri="http://schemas.openxmlformats.org/presentationml/2006/ole">
                  <mc:AlternateContent>
                    <mc:Choice xmlns:v="urn:schemas-microsoft-com:vml" Requires="v">
                      <p:oleObj spid="_x0000_s3576" name="Equation" r:id="rId33" imgW="190440" imgH="164880" progId="Equation.DSMT4">
                        <p:embed/>
                      </p:oleObj>
                    </mc:Choice>
                    <mc:Fallback>
                      <p:oleObj name="Equation" r:id="rId33" imgW="190440" imgH="164880" progId="Equation.DSMT4">
                        <p:embed/>
                        <p:pic>
                          <p:nvPicPr>
                            <p:cNvPr id="0" name="Object 16"/>
                            <p:cNvPicPr>
                              <a:picLocks noChangeAspect="1" noChangeArrowheads="1"/>
                            </p:cNvPicPr>
                            <p:nvPr/>
                          </p:nvPicPr>
                          <p:blipFill>
                            <a:blip r:embed="rId34">
                              <a:extLst>
                                <a:ext uri="{28A0092B-C50C-407E-A947-70E740481C1C}">
                                  <a14:useLocalDpi val="0"/>
                                </a:ext>
                              </a:extLst>
                            </a:blip>
                            <a:srcRect/>
                            <a:stretch>
                              <a:fillRect/>
                            </a:stretch>
                          </p:blipFill>
                          <p:spPr bwMode="auto">
                            <a:xfrm>
                              <a:off x="1695" y="2686"/>
                              <a:ext cx="247" cy="21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1208" name="Object 16">
                  <a:extLst>
                    <a:ext uri="{FF2B5EF4-FFF2-40B4-BE49-F238E27FC236}">
                      <a16:creationId xmlns:a16="http://schemas.microsoft.com/office/drawing/2014/main" id="{4F7B03FB-3F19-4FCA-99EC-1FD86B82A424}"/>
                    </a:ext>
                  </a:extLst>
                </p:cNvPr>
                <p:cNvGraphicFramePr>
                  <a:graphicFrameLocks noChangeAspect="1"/>
                </p:cNvGraphicFramePr>
                <p:nvPr/>
              </p:nvGraphicFramePr>
              <p:xfrm>
                <a:off x="1695" y="2686"/>
                <a:ext cx="247" cy="214"/>
              </p:xfrm>
              <a:graphic>
                <a:graphicData uri="http://schemas.openxmlformats.org/presentationml/2006/ole">
                  <mc:AlternateContent>
                    <mc:Choice xmlns:v="urn:schemas-microsoft-com:vml" Requires="v">
                      <p:oleObj name="Equation" r:id="rId35" imgW="190440" imgH="164880" progId="Equation.DSMT4">
                        <p:embed/>
                      </p:oleObj>
                    </mc:Choice>
                    <mc:Fallback>
                      <p:oleObj name="Equation" r:id="rId35" imgW="190440" imgH="164880" progId="Equation.DSMT4">
                        <p:embed/>
                        <p:pic>
                          <p:nvPicPr>
                            <p:cNvPr id="0" name="Object 16"/>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1695" y="2686"/>
                              <a:ext cx="247"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p:sp>
          <p:nvSpPr>
            <p:cNvPr id="51227" name="Line 25">
              <a:extLst>
                <a:ext uri="{FF2B5EF4-FFF2-40B4-BE49-F238E27FC236}">
                  <a16:creationId xmlns:a16="http://schemas.microsoft.com/office/drawing/2014/main" id="{8C4A89A5-CC45-49DB-B89F-437716AB1B8D}"/>
                </a:ext>
              </a:extLst>
            </p:cNvPr>
            <p:cNvSpPr>
              <a:spLocks noChangeShapeType="1"/>
            </p:cNvSpPr>
            <p:nvPr/>
          </p:nvSpPr>
          <p:spPr bwMode="auto">
            <a:xfrm>
              <a:off x="1973" y="2877"/>
              <a:ext cx="181"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mc:AlternateContent xmlns:mc="http://schemas.openxmlformats.org/markup-compatibility/2006" xmlns:a14="http://schemas.microsoft.com/office/drawing/2010/main">
          <mc:Choice Requires="a14">
            <p:graphicFrame>
              <p:nvGraphicFramePr>
                <p:cNvPr id="51209" name="Object 17">
                  <a:extLst>
                    <a:ext uri="{FF2B5EF4-FFF2-40B4-BE49-F238E27FC236}">
                      <a16:creationId xmlns:a16="http://schemas.microsoft.com/office/drawing/2014/main" id="{92BAD111-127B-45E4-90D0-7F44801AE73A}"/>
                    </a:ext>
                  </a:extLst>
                </p:cNvPr>
                <p:cNvGraphicFramePr>
                  <a:graphicFrameLocks noChangeAspect="1"/>
                </p:cNvGraphicFramePr>
                <p:nvPr/>
              </p:nvGraphicFramePr>
              <p:xfrm>
                <a:off x="1296" y="2248"/>
                <a:ext cx="3248" cy="1194"/>
              </p:xfrm>
              <a:graphic>
                <a:graphicData uri="http://schemas.openxmlformats.org/presentationml/2006/ole">
                  <mc:AlternateContent>
                    <mc:Choice xmlns:v="urn:schemas-microsoft-com:vml" Requires="v">
                      <p:oleObj spid="_x0000_s3577" name="位图图像" r:id="rId37" imgW="2847619" imgH="2076740" progId="Paint.Picture">
                        <p:embed/>
                      </p:oleObj>
                    </mc:Choice>
                    <mc:Fallback>
                      <p:oleObj name="位图图像" r:id="rId37" imgW="2847619" imgH="2076740" progId="Paint.Picture">
                        <p:embed/>
                        <p:pic>
                          <p:nvPicPr>
                            <p:cNvPr id="0" name="Object 17"/>
                            <p:cNvPicPr>
                              <a:picLocks noChangeAspect="1" noChangeArrowheads="1"/>
                            </p:cNvPicPr>
                            <p:nvPr/>
                          </p:nvPicPr>
                          <p:blipFill>
                            <a:blip r:embed="rId18">
                              <a:extLst>
                                <a:ext uri="{28A0092B-C50C-407E-A947-70E740481C1C}">
                                  <a14:useLocalDpi val="0"/>
                                </a:ext>
                              </a:extLst>
                            </a:blip>
                            <a:srcRect/>
                            <a:stretch>
                              <a:fillRect/>
                            </a:stretch>
                          </p:blipFill>
                          <p:spPr bwMode="auto">
                            <a:xfrm>
                              <a:off x="1296" y="2248"/>
                              <a:ext cx="3248" cy="119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pic>
                      </p:oleObj>
                    </mc:Fallback>
                  </mc:AlternateContent>
                </a:graphicData>
              </a:graphic>
            </p:graphicFrame>
          </mc:Choice>
          <mc:Fallback xmlns="">
            <p:graphicFrame>
              <p:nvGraphicFramePr>
                <p:cNvPr id="51209" name="Object 17">
                  <a:extLst>
                    <a:ext uri="{FF2B5EF4-FFF2-40B4-BE49-F238E27FC236}">
                      <a16:creationId xmlns:a16="http://schemas.microsoft.com/office/drawing/2014/main" id="{92BAD111-127B-45E4-90D0-7F44801AE73A}"/>
                    </a:ext>
                  </a:extLst>
                </p:cNvPr>
                <p:cNvGraphicFramePr>
                  <a:graphicFrameLocks noChangeAspect="1"/>
                </p:cNvGraphicFramePr>
                <p:nvPr/>
              </p:nvGraphicFramePr>
              <p:xfrm>
                <a:off x="1296" y="2248"/>
                <a:ext cx="3248" cy="1194"/>
              </p:xfrm>
              <a:graphic>
                <a:graphicData uri="http://schemas.openxmlformats.org/presentationml/2006/ole">
                  <mc:AlternateContent>
                    <mc:Choice xmlns:v="urn:schemas-microsoft-com:vml" Requires="v">
                      <p:oleObj name="位图图像" r:id="rId38" imgW="2847619" imgH="2076740" progId="Paint.Picture">
                        <p:embed/>
                      </p:oleObj>
                    </mc:Choice>
                    <mc:Fallback>
                      <p:oleObj name="位图图像" r:id="rId38" imgW="2847619" imgH="2076740" progId="Paint.Picture">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96" y="2248"/>
                              <a:ext cx="3248" cy="1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51210" name="Object 18">
                  <a:extLst>
                    <a:ext uri="{FF2B5EF4-FFF2-40B4-BE49-F238E27FC236}">
                      <a16:creationId xmlns:a16="http://schemas.microsoft.com/office/drawing/2014/main" id="{EF13922C-5782-4586-9177-CBF778DCBA27}"/>
                    </a:ext>
                  </a:extLst>
                </p:cNvPr>
                <p:cNvSpPr txBox="1"/>
                <p:nvPr/>
              </p:nvSpPr>
              <p:spPr bwMode="auto">
                <a:xfrm>
                  <a:off x="2835" y="2064"/>
                  <a:ext cx="654" cy="2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lang="en-US" sz="2400" i="1" smtClean="0">
                                <a:solidFill>
                                  <a:srgbClr val="000000"/>
                                </a:solidFill>
                                <a:latin typeface="Cambria Math" panose="02040503050406030204" pitchFamily="18" charset="0"/>
                              </a:rPr>
                            </m:ctrlPr>
                          </m:funcPr>
                          <m:fName>
                            <m:r>
                              <m:rPr>
                                <m:sty m:val="p"/>
                              </m:rPr>
                              <a:rPr lang="en-US" sz="2400" i="0">
                                <a:solidFill>
                                  <a:srgbClr val="000000"/>
                                </a:solidFill>
                                <a:latin typeface="Cambria Math" panose="02040503050406030204" pitchFamily="18" charset="0"/>
                              </a:rPr>
                              <m:t>sin</m:t>
                            </m:r>
                            <m:r>
                              <m:rPr>
                                <m:sty m:val="p"/>
                              </m:rPr>
                              <a:rPr lang="en-US" sz="2400" b="0" i="0" smtClean="0">
                                <a:solidFill>
                                  <a:srgbClr val="000000"/>
                                </a:solidFill>
                                <a:latin typeface="Cambria Math" panose="02040503050406030204" pitchFamily="18" charset="0"/>
                              </a:rPr>
                              <m:t>c</m:t>
                            </m:r>
                          </m:fName>
                          <m:e>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e>
                        </m:func>
                      </m:oMath>
                    </m:oMathPara>
                  </a14:m>
                  <a:endParaRPr lang="en-US" sz="2400" dirty="0"/>
                </a:p>
              </p:txBody>
            </p:sp>
          </mc:Choice>
          <mc:Fallback xmlns="">
            <p:sp>
              <p:nvSpPr>
                <p:cNvPr id="51210" name="Object 18">
                  <a:extLst>
                    <a:ext uri="{FF2B5EF4-FFF2-40B4-BE49-F238E27FC236}">
                      <a16:creationId xmlns:a16="http://schemas.microsoft.com/office/drawing/2014/main" id="{EF13922C-5782-4586-9177-CBF778DCBA27}"/>
                    </a:ext>
                  </a:extLst>
                </p:cNvPr>
                <p:cNvSpPr txBox="1">
                  <a:spLocks noRot="1" noChangeAspect="1" noMove="1" noResize="1" noEditPoints="1" noAdjustHandles="1" noChangeArrowheads="1" noChangeShapeType="1" noTextEdit="1"/>
                </p:cNvSpPr>
                <p:nvPr/>
              </p:nvSpPr>
              <p:spPr bwMode="auto">
                <a:xfrm>
                  <a:off x="2835" y="2064"/>
                  <a:ext cx="654" cy="262"/>
                </a:xfrm>
                <a:prstGeom prst="rect">
                  <a:avLst/>
                </a:prstGeom>
                <a:blipFill>
                  <a:blip r:embed="rId39"/>
                  <a:stretch>
                    <a:fillRect l="-1176" r="-13529" b="-3235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211" name="Object 19">
                  <a:extLst>
                    <a:ext uri="{FF2B5EF4-FFF2-40B4-BE49-F238E27FC236}">
                      <a16:creationId xmlns:a16="http://schemas.microsoft.com/office/drawing/2014/main" id="{E7926B0F-A908-40BB-8DA2-C5A83085DF28}"/>
                    </a:ext>
                  </a:extLst>
                </p:cNvPr>
                <p:cNvSpPr txBox="1"/>
                <p:nvPr/>
              </p:nvSpPr>
              <p:spPr bwMode="auto">
                <a:xfrm>
                  <a:off x="2608" y="2171"/>
                  <a:ext cx="194" cy="23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51211" name="Object 19">
                  <a:extLst>
                    <a:ext uri="{FF2B5EF4-FFF2-40B4-BE49-F238E27FC236}">
                      <a16:creationId xmlns:a16="http://schemas.microsoft.com/office/drawing/2014/main" id="{E7926B0F-A908-40BB-8DA2-C5A83085DF28}"/>
                    </a:ext>
                  </a:extLst>
                </p:cNvPr>
                <p:cNvSpPr txBox="1">
                  <a:spLocks noRot="1" noChangeAspect="1" noMove="1" noResize="1" noEditPoints="1" noAdjustHandles="1" noChangeArrowheads="1" noChangeShapeType="1" noTextEdit="1"/>
                </p:cNvSpPr>
                <p:nvPr/>
              </p:nvSpPr>
              <p:spPr bwMode="auto">
                <a:xfrm>
                  <a:off x="2608" y="2171"/>
                  <a:ext cx="194" cy="230"/>
                </a:xfrm>
                <a:prstGeom prst="rect">
                  <a:avLst/>
                </a:prstGeom>
                <a:blipFill>
                  <a:blip r:embed="rId40"/>
                  <a:stretch>
                    <a:fillRect l="-6000" r="-20000" b="-2333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212" name="Object 20">
                  <a:extLst>
                    <a:ext uri="{FF2B5EF4-FFF2-40B4-BE49-F238E27FC236}">
                      <a16:creationId xmlns:a16="http://schemas.microsoft.com/office/drawing/2014/main" id="{1DC8D35A-38DA-4175-9B80-F4C029C80AB9}"/>
                    </a:ext>
                  </a:extLst>
                </p:cNvPr>
                <p:cNvSpPr txBox="1"/>
                <p:nvPr/>
              </p:nvSpPr>
              <p:spPr bwMode="auto">
                <a:xfrm>
                  <a:off x="4556" y="2899"/>
                  <a:ext cx="223" cy="24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𝑥</m:t>
                        </m:r>
                      </m:oMath>
                    </m:oMathPara>
                  </a14:m>
                  <a:endParaRPr lang="en-US" sz="2400" dirty="0"/>
                </a:p>
              </p:txBody>
            </p:sp>
          </mc:Choice>
          <mc:Fallback xmlns="">
            <p:sp>
              <p:nvSpPr>
                <p:cNvPr id="51212" name="Object 20">
                  <a:extLst>
                    <a:ext uri="{FF2B5EF4-FFF2-40B4-BE49-F238E27FC236}">
                      <a16:creationId xmlns:a16="http://schemas.microsoft.com/office/drawing/2014/main" id="{1DC8D35A-38DA-4175-9B80-F4C029C80AB9}"/>
                    </a:ext>
                  </a:extLst>
                </p:cNvPr>
                <p:cNvSpPr txBox="1">
                  <a:spLocks noRot="1" noChangeAspect="1" noMove="1" noResize="1" noEditPoints="1" noAdjustHandles="1" noChangeArrowheads="1" noChangeShapeType="1" noTextEdit="1"/>
                </p:cNvSpPr>
                <p:nvPr/>
              </p:nvSpPr>
              <p:spPr bwMode="auto">
                <a:xfrm>
                  <a:off x="4556" y="2899"/>
                  <a:ext cx="223" cy="244"/>
                </a:xfrm>
                <a:prstGeom prst="rect">
                  <a:avLst/>
                </a:prstGeom>
                <a:blipFill>
                  <a:blip r:embed="rId41"/>
                  <a:stretch>
                    <a:fillRect b="-9524"/>
                  </a:stretch>
                </a:blipFill>
                <a:ln>
                  <a:noFill/>
                </a:ln>
                <a:effectLst/>
              </p:spPr>
              <p:txBody>
                <a:bodyPr/>
                <a:lstStyle/>
                <a:p>
                  <a:r>
                    <a:rPr lang="en-US">
                      <a:noFill/>
                    </a:rPr>
                    <a:t> </a:t>
                  </a:r>
                </a:p>
              </p:txBody>
            </p:sp>
          </mc:Fallback>
        </mc:AlternateContent>
        <p:sp>
          <p:nvSpPr>
            <p:cNvPr id="51228" name="Line 30">
              <a:extLst>
                <a:ext uri="{FF2B5EF4-FFF2-40B4-BE49-F238E27FC236}">
                  <a16:creationId xmlns:a16="http://schemas.microsoft.com/office/drawing/2014/main" id="{7CAF02CF-2A09-4272-B32F-1232F705CAB3}"/>
                </a:ext>
              </a:extLst>
            </p:cNvPr>
            <p:cNvSpPr>
              <a:spLocks noChangeShapeType="1"/>
            </p:cNvSpPr>
            <p:nvPr/>
          </p:nvSpPr>
          <p:spPr bwMode="auto">
            <a:xfrm>
              <a:off x="1200" y="3184"/>
              <a:ext cx="340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p:sp>
          <p:nvSpPr>
            <p:cNvPr id="51229" name="Line 31">
              <a:extLst>
                <a:ext uri="{FF2B5EF4-FFF2-40B4-BE49-F238E27FC236}">
                  <a16:creationId xmlns:a16="http://schemas.microsoft.com/office/drawing/2014/main" id="{8399E6FD-E55E-4CC3-9D2A-B4E1BA25DCA4}"/>
                </a:ext>
              </a:extLst>
            </p:cNvPr>
            <p:cNvSpPr>
              <a:spLocks noChangeShapeType="1"/>
            </p:cNvSpPr>
            <p:nvPr/>
          </p:nvSpPr>
          <p:spPr bwMode="auto">
            <a:xfrm flipV="1">
              <a:off x="2814" y="2160"/>
              <a:ext cx="0" cy="1056"/>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mc:AlternateContent xmlns:mc="http://schemas.openxmlformats.org/markup-compatibility/2006" xmlns:a14="http://schemas.microsoft.com/office/drawing/2010/main">
          <mc:Choice Requires="a14">
            <p:sp>
              <p:nvSpPr>
                <p:cNvPr id="51213" name="Object 21">
                  <a:extLst>
                    <a:ext uri="{FF2B5EF4-FFF2-40B4-BE49-F238E27FC236}">
                      <a16:creationId xmlns:a16="http://schemas.microsoft.com/office/drawing/2014/main" id="{8F19FFF0-CB23-4F20-A344-C88AF3E0C68F}"/>
                    </a:ext>
                  </a:extLst>
                </p:cNvPr>
                <p:cNvSpPr txBox="1"/>
                <p:nvPr/>
              </p:nvSpPr>
              <p:spPr bwMode="auto">
                <a:xfrm>
                  <a:off x="2720" y="3214"/>
                  <a:ext cx="202" cy="23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1</m:t>
                        </m:r>
                      </m:oMath>
                    </m:oMathPara>
                  </a14:m>
                  <a:endParaRPr lang="en-US" sz="2400" dirty="0"/>
                </a:p>
              </p:txBody>
            </p:sp>
          </mc:Choice>
          <mc:Fallback xmlns="">
            <p:sp>
              <p:nvSpPr>
                <p:cNvPr id="51213" name="Object 21">
                  <a:extLst>
                    <a:ext uri="{FF2B5EF4-FFF2-40B4-BE49-F238E27FC236}">
                      <a16:creationId xmlns:a16="http://schemas.microsoft.com/office/drawing/2014/main" id="{8F19FFF0-CB23-4F20-A344-C88AF3E0C68F}"/>
                    </a:ext>
                  </a:extLst>
                </p:cNvPr>
                <p:cNvSpPr txBox="1">
                  <a:spLocks noRot="1" noChangeAspect="1" noMove="1" noResize="1" noEditPoints="1" noAdjustHandles="1" noChangeArrowheads="1" noChangeShapeType="1" noTextEdit="1"/>
                </p:cNvSpPr>
                <p:nvPr/>
              </p:nvSpPr>
              <p:spPr bwMode="auto">
                <a:xfrm>
                  <a:off x="2720" y="3214"/>
                  <a:ext cx="202" cy="236"/>
                </a:xfrm>
                <a:prstGeom prst="rect">
                  <a:avLst/>
                </a:prstGeom>
                <a:blipFill>
                  <a:blip r:embed="rId42"/>
                  <a:stretch>
                    <a:fillRect l="-5769" r="-15385" b="-21311"/>
                  </a:stretch>
                </a:blipFill>
                <a:ln>
                  <a:noFill/>
                </a:ln>
                <a:effectLst/>
              </p:spPr>
              <p:txBody>
                <a:bodyPr/>
                <a:lstStyle/>
                <a:p>
                  <a:r>
                    <a:rPr lang="en-US">
                      <a:noFill/>
                    </a:rPr>
                    <a:t> </a:t>
                  </a:r>
                </a:p>
              </p:txBody>
            </p:sp>
          </mc:Fallback>
        </mc:AlternateContent>
        <p:sp>
          <p:nvSpPr>
            <p:cNvPr id="51230" name="Line 33">
              <a:extLst>
                <a:ext uri="{FF2B5EF4-FFF2-40B4-BE49-F238E27FC236}">
                  <a16:creationId xmlns:a16="http://schemas.microsoft.com/office/drawing/2014/main" id="{B301EF7B-5A7C-4801-BED2-D480FD7C0837}"/>
                </a:ext>
              </a:extLst>
            </p:cNvPr>
            <p:cNvSpPr>
              <a:spLocks noChangeShapeType="1"/>
            </p:cNvSpPr>
            <p:nvPr/>
          </p:nvSpPr>
          <p:spPr bwMode="auto">
            <a:xfrm flipV="1">
              <a:off x="2862" y="3177"/>
              <a:ext cx="9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8BDCE14-663E-4379-99C9-25ED40BD544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0710D4-8471-47C4-9635-CFE128C0A839}" type="slidenum">
              <a:rPr lang="zh-CN" altLang="en-US">
                <a:solidFill>
                  <a:srgbClr val="898989"/>
                </a:solidFill>
                <a:latin typeface="Calibri" panose="020F0502020204030204" pitchFamily="34" charset="0"/>
              </a:rPr>
              <a:pPr eaLnBrk="1" hangingPunct="1"/>
              <a:t>25</a:t>
            </a:fld>
            <a:endParaRPr lang="zh-CN" altLang="en-US">
              <a:solidFill>
                <a:srgbClr val="898989"/>
              </a:solidFill>
              <a:latin typeface="Calibri" panose="020F0502020204030204" pitchFamily="34" charset="0"/>
            </a:endParaRPr>
          </a:p>
        </p:txBody>
      </p:sp>
      <p:graphicFrame>
        <p:nvGraphicFramePr>
          <p:cNvPr id="52226" name="Object 3">
            <a:extLst>
              <a:ext uri="{FF2B5EF4-FFF2-40B4-BE49-F238E27FC236}">
                <a16:creationId xmlns:a16="http://schemas.microsoft.com/office/drawing/2014/main" id="{80A4C8B9-E1D4-4D50-9DBA-8D7202BB7C80}"/>
              </a:ext>
            </a:extLst>
          </p:cNvPr>
          <p:cNvGraphicFramePr>
            <a:graphicFrameLocks noChangeAspect="1"/>
          </p:cNvGraphicFramePr>
          <p:nvPr>
            <p:extLst>
              <p:ext uri="{D42A27DB-BD31-4B8C-83A1-F6EECF244321}">
                <p14:modId xmlns:p14="http://schemas.microsoft.com/office/powerpoint/2010/main" val="2112227579"/>
              </p:ext>
            </p:extLst>
          </p:nvPr>
        </p:nvGraphicFramePr>
        <p:xfrm>
          <a:off x="1092200" y="1084733"/>
          <a:ext cx="6959600" cy="5008563"/>
        </p:xfrm>
        <a:graphic>
          <a:graphicData uri="http://schemas.openxmlformats.org/presentationml/2006/ole">
            <mc:AlternateContent xmlns:mc="http://schemas.openxmlformats.org/markup-compatibility/2006">
              <mc:Choice xmlns:v="urn:schemas-microsoft-com:vml" Requires="v">
                <p:oleObj spid="_x0000_s4154" name="位图图像" r:id="rId3" imgW="4164396" imgH="3416301" progId="Paint.Picture">
                  <p:embed/>
                </p:oleObj>
              </mc:Choice>
              <mc:Fallback>
                <p:oleObj name="位图图像" r:id="rId3" imgW="4164396" imgH="3416301"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200" y="1084733"/>
                        <a:ext cx="6959600" cy="500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52227" name="Object 4">
                <a:extLst>
                  <a:ext uri="{FF2B5EF4-FFF2-40B4-BE49-F238E27FC236}">
                    <a16:creationId xmlns:a16="http://schemas.microsoft.com/office/drawing/2014/main" id="{5826546A-F1B1-40C8-83A0-A8D047E1C937}"/>
                  </a:ext>
                </a:extLst>
              </p:cNvPr>
              <p:cNvSpPr txBox="1"/>
              <p:nvPr/>
            </p:nvSpPr>
            <p:spPr bwMode="auto">
              <a:xfrm>
                <a:off x="7664450" y="1684104"/>
                <a:ext cx="1103510" cy="66851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2</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𝑇</m:t>
                          </m:r>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den>
                      </m:f>
                    </m:oMath>
                  </m:oMathPara>
                </a14:m>
                <a:endParaRPr lang="en-US" sz="2000" dirty="0"/>
              </a:p>
            </p:txBody>
          </p:sp>
        </mc:Choice>
        <mc:Fallback xmlns="">
          <p:sp>
            <p:nvSpPr>
              <p:cNvPr id="52227" name="Object 4">
                <a:extLst>
                  <a:ext uri="{FF2B5EF4-FFF2-40B4-BE49-F238E27FC236}">
                    <a16:creationId xmlns:a16="http://schemas.microsoft.com/office/drawing/2014/main" id="{5826546A-F1B1-40C8-83A0-A8D047E1C937}"/>
                  </a:ext>
                </a:extLst>
              </p:cNvPr>
              <p:cNvSpPr txBox="1">
                <a:spLocks noRot="1" noChangeAspect="1" noMove="1" noResize="1" noEditPoints="1" noAdjustHandles="1" noChangeArrowheads="1" noChangeShapeType="1" noTextEdit="1"/>
              </p:cNvSpPr>
              <p:nvPr/>
            </p:nvSpPr>
            <p:spPr bwMode="auto">
              <a:xfrm>
                <a:off x="7664450" y="1684104"/>
                <a:ext cx="1103510" cy="668516"/>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228" name="Object 5">
                <a:extLst>
                  <a:ext uri="{FF2B5EF4-FFF2-40B4-BE49-F238E27FC236}">
                    <a16:creationId xmlns:a16="http://schemas.microsoft.com/office/drawing/2014/main" id="{B825DA2E-1FD8-4B56-94CB-27801EE9F14B}"/>
                  </a:ext>
                </a:extLst>
              </p:cNvPr>
              <p:cNvSpPr txBox="1"/>
              <p:nvPr/>
            </p:nvSpPr>
            <p:spPr bwMode="auto">
              <a:xfrm>
                <a:off x="7664450" y="3213218"/>
                <a:ext cx="1103510" cy="668516"/>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2</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𝑇</m:t>
                          </m:r>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4</m:t>
                          </m:r>
                        </m:den>
                      </m:f>
                    </m:oMath>
                  </m:oMathPara>
                </a14:m>
                <a:endParaRPr lang="en-US" sz="2000" dirty="0"/>
              </a:p>
            </p:txBody>
          </p:sp>
        </mc:Choice>
        <mc:Fallback xmlns="">
          <p:sp>
            <p:nvSpPr>
              <p:cNvPr id="52228" name="Object 5">
                <a:extLst>
                  <a:ext uri="{FF2B5EF4-FFF2-40B4-BE49-F238E27FC236}">
                    <a16:creationId xmlns:a16="http://schemas.microsoft.com/office/drawing/2014/main" id="{B825DA2E-1FD8-4B56-94CB-27801EE9F14B}"/>
                  </a:ext>
                </a:extLst>
              </p:cNvPr>
              <p:cNvSpPr txBox="1">
                <a:spLocks noRot="1" noChangeAspect="1" noMove="1" noResize="1" noEditPoints="1" noAdjustHandles="1" noChangeArrowheads="1" noChangeShapeType="1" noTextEdit="1"/>
              </p:cNvSpPr>
              <p:nvPr/>
            </p:nvSpPr>
            <p:spPr bwMode="auto">
              <a:xfrm>
                <a:off x="7664450" y="3213218"/>
                <a:ext cx="1103510" cy="668516"/>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229" name="Object 6">
                <a:extLst>
                  <a:ext uri="{FF2B5EF4-FFF2-40B4-BE49-F238E27FC236}">
                    <a16:creationId xmlns:a16="http://schemas.microsoft.com/office/drawing/2014/main" id="{5C9C00BB-C8AC-4F44-86AE-C5F15CFA8E4B}"/>
                  </a:ext>
                </a:extLst>
              </p:cNvPr>
              <p:cNvSpPr txBox="1"/>
              <p:nvPr/>
            </p:nvSpPr>
            <p:spPr bwMode="auto">
              <a:xfrm>
                <a:off x="7664450" y="4763648"/>
                <a:ext cx="1103510" cy="670568"/>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2</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𝑇</m:t>
                          </m:r>
                        </m:den>
                      </m:f>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8</m:t>
                          </m:r>
                        </m:den>
                      </m:f>
                    </m:oMath>
                  </m:oMathPara>
                </a14:m>
                <a:endParaRPr lang="en-US" sz="2000" dirty="0"/>
              </a:p>
            </p:txBody>
          </p:sp>
        </mc:Choice>
        <mc:Fallback xmlns="">
          <p:sp>
            <p:nvSpPr>
              <p:cNvPr id="52229" name="Object 6">
                <a:extLst>
                  <a:ext uri="{FF2B5EF4-FFF2-40B4-BE49-F238E27FC236}">
                    <a16:creationId xmlns:a16="http://schemas.microsoft.com/office/drawing/2014/main" id="{5C9C00BB-C8AC-4F44-86AE-C5F15CFA8E4B}"/>
                  </a:ext>
                </a:extLst>
              </p:cNvPr>
              <p:cNvSpPr txBox="1">
                <a:spLocks noRot="1" noChangeAspect="1" noMove="1" noResize="1" noEditPoints="1" noAdjustHandles="1" noChangeArrowheads="1" noChangeShapeType="1" noTextEdit="1"/>
              </p:cNvSpPr>
              <p:nvPr/>
            </p:nvSpPr>
            <p:spPr bwMode="auto">
              <a:xfrm>
                <a:off x="7664450" y="4763648"/>
                <a:ext cx="1103510" cy="670568"/>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230" name="Object 2">
                <a:extLst>
                  <a:ext uri="{FF2B5EF4-FFF2-40B4-BE49-F238E27FC236}">
                    <a16:creationId xmlns:a16="http://schemas.microsoft.com/office/drawing/2014/main" id="{ED540740-FD3F-431E-B959-D57C2385A256}"/>
                  </a:ext>
                </a:extLst>
              </p:cNvPr>
              <p:cNvSpPr txBox="1"/>
              <p:nvPr/>
            </p:nvSpPr>
            <p:spPr bwMode="auto">
              <a:xfrm>
                <a:off x="1509272" y="673241"/>
                <a:ext cx="6125455" cy="527773"/>
              </a:xfrm>
              <a:prstGeom prst="rect">
                <a:avLst/>
              </a:prstGeom>
              <a:noFill/>
              <a:ln>
                <a:noFill/>
              </a:ln>
              <a:effectLst/>
            </p:spPr>
            <p:txBody>
              <a:bodyPr wrap="square">
                <a:spAutoFit/>
              </a:bodyPr>
              <a:lstStyle/>
              <a:p>
                <a:r>
                  <a:rPr lang="zh-CN" altLang="en-US" sz="2000" dirty="0">
                    <a:solidFill>
                      <a:prstClr val="black"/>
                    </a:solidFill>
                    <a:latin typeface="华文楷体" panose="02010600040101010101" pitchFamily="2" charset="-122"/>
                    <a:ea typeface="华文楷体" panose="02010600040101010101" pitchFamily="2" charset="-122"/>
                    <a:cs typeface="楷体_GB2312" panose="02010609030101010101" pitchFamily="49" charset="-122"/>
                  </a:rPr>
                  <a:t>根据</a:t>
                </a:r>
                <a14:m>
                  <m:oMath xmlns:m="http://schemas.openxmlformats.org/officeDocument/2006/math">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panose="02040503050406030204" pitchFamily="18" charset="0"/>
                          </a:rPr>
                          <m:t>𝑎</m:t>
                        </m:r>
                      </m:e>
                      <m:sub>
                        <m:r>
                          <a:rPr lang="en-US" sz="2000" i="1">
                            <a:solidFill>
                              <a:prstClr val="black"/>
                            </a:solidFill>
                            <a:latin typeface="Cambria Math" panose="02040503050406030204" pitchFamily="18" charset="0"/>
                          </a:rPr>
                          <m:t>𝑘</m:t>
                        </m:r>
                      </m:sub>
                    </m:sSub>
                  </m:oMath>
                </a14:m>
                <a:r>
                  <a:rPr lang="zh-CN" altLang="en-US" sz="2000" dirty="0">
                    <a:solidFill>
                      <a:prstClr val="black"/>
                    </a:solidFill>
                    <a:latin typeface="华文楷体" panose="02010600040101010101" pitchFamily="2" charset="-122"/>
                    <a:ea typeface="华文楷体" panose="02010600040101010101" pitchFamily="2" charset="-122"/>
                    <a:cs typeface="楷体_GB2312" panose="02010609030101010101" pitchFamily="49" charset="-122"/>
                  </a:rPr>
                  <a:t>绘出的</a:t>
                </a:r>
                <a14:m>
                  <m:oMath xmlns:m="http://schemas.openxmlformats.org/officeDocument/2006/math">
                    <m:r>
                      <a:rPr lang="en-US" sz="2000" i="1">
                        <a:solidFill>
                          <a:prstClr val="black"/>
                        </a:solidFill>
                        <a:latin typeface="Cambria Math" panose="02040503050406030204" pitchFamily="18" charset="0"/>
                      </a:rPr>
                      <m:t>𝑥</m:t>
                    </m:r>
                    <m:r>
                      <a:rPr lang="en-US" sz="2000" i="1">
                        <a:solidFill>
                          <a:prstClr val="black"/>
                        </a:solidFill>
                        <a:latin typeface="Cambria Math" panose="02040503050406030204" pitchFamily="18" charset="0"/>
                      </a:rPr>
                      <m:t>(</m:t>
                    </m:r>
                    <m:r>
                      <a:rPr lang="en-US" sz="2000" i="1">
                        <a:solidFill>
                          <a:prstClr val="black"/>
                        </a:solidFill>
                        <a:latin typeface="Cambria Math" panose="02040503050406030204" pitchFamily="18" charset="0"/>
                      </a:rPr>
                      <m:t>𝑡</m:t>
                    </m:r>
                    <m:r>
                      <a:rPr lang="en-US" sz="2000" i="1">
                        <a:solidFill>
                          <a:prstClr val="black"/>
                        </a:solidFill>
                        <a:latin typeface="Cambria Math" panose="02040503050406030204" pitchFamily="18" charset="0"/>
                      </a:rPr>
                      <m:t>)</m:t>
                    </m:r>
                  </m:oMath>
                </a14:m>
                <a:r>
                  <a:rPr lang="zh-CN" altLang="en-US" sz="2000" dirty="0">
                    <a:solidFill>
                      <a:prstClr val="black"/>
                    </a:solidFill>
                    <a:latin typeface="华文楷体" panose="02010600040101010101" pitchFamily="2" charset="-122"/>
                    <a:ea typeface="华文楷体" panose="02010600040101010101" pitchFamily="2" charset="-122"/>
                    <a:cs typeface="楷体_GB2312" panose="02010609030101010101" pitchFamily="49" charset="-122"/>
                  </a:rPr>
                  <a:t>频谱图，此例中</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𝑎</m:t>
                        </m:r>
                      </m:e>
                      <m:sub>
                        <m:r>
                          <a:rPr lang="en-US" sz="2000" i="1">
                            <a:solidFill>
                              <a:srgbClr val="000000"/>
                            </a:solidFill>
                            <a:latin typeface="Cambria Math" panose="02040503050406030204" pitchFamily="18" charset="0"/>
                          </a:rPr>
                          <m:t>𝑘</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2</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𝑇</m:t>
                        </m:r>
                      </m:den>
                    </m:f>
                    <m:func>
                      <m:funcPr>
                        <m:ctrlPr>
                          <a:rPr lang="en-US" sz="2000" i="1">
                            <a:solidFill>
                              <a:srgbClr val="000000"/>
                            </a:solidFill>
                            <a:latin typeface="Cambria Math" panose="02040503050406030204" pitchFamily="18" charset="0"/>
                          </a:rPr>
                        </m:ctrlPr>
                      </m:funcPr>
                      <m:fName>
                        <m:r>
                          <m:rPr>
                            <m:sty m:val="p"/>
                          </m:rPr>
                          <a:rPr lang="en-US" sz="2000" i="0">
                            <a:solidFill>
                              <a:srgbClr val="000000"/>
                            </a:solidFill>
                            <a:latin typeface="Cambria Math" panose="02040503050406030204" pitchFamily="18" charset="0"/>
                          </a:rPr>
                          <m:t>Sa</m:t>
                        </m:r>
                      </m:fName>
                      <m:e>
                        <m:r>
                          <a:rPr lang="en-US" sz="2000" i="1">
                            <a:solidFill>
                              <a:srgbClr val="000000"/>
                            </a:solidFill>
                            <a:latin typeface="Cambria Math" panose="02040503050406030204" pitchFamily="18" charset="0"/>
                          </a:rPr>
                          <m:t>(</m:t>
                        </m:r>
                      </m:e>
                    </m:func>
                    <m:r>
                      <a:rPr lang="en-US" sz="2000" i="1">
                        <a:solidFill>
                          <a:srgbClr val="000000"/>
                        </a:solidFill>
                        <a:latin typeface="Cambria Math" panose="02040503050406030204" pitchFamily="18" charset="0"/>
                      </a:rPr>
                      <m:t>𝑘</m:t>
                    </m:r>
                    <m:r>
                      <a:rPr lang="en-US" sz="2000" i="1">
                        <a:solidFill>
                          <a:srgbClr val="000000"/>
                        </a:solidFill>
                        <a:latin typeface="Cambria Math" panose="02040503050406030204" pitchFamily="18" charset="0"/>
                      </a:rPr>
                      <m:t>𝜋</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2</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𝑇</m:t>
                            </m:r>
                          </m:e>
                          <m:sub>
                            <m:r>
                              <a:rPr lang="en-US" sz="2000" i="1">
                                <a:solidFill>
                                  <a:srgbClr val="000000"/>
                                </a:solidFill>
                                <a:latin typeface="Cambria Math" panose="02040503050406030204" pitchFamily="18" charset="0"/>
                              </a:rPr>
                              <m:t>1</m:t>
                            </m:r>
                          </m:sub>
                        </m:sSub>
                      </m:num>
                      <m:den>
                        <m:r>
                          <a:rPr lang="en-US" sz="2000" i="1">
                            <a:solidFill>
                              <a:srgbClr val="000000"/>
                            </a:solidFill>
                            <a:latin typeface="Cambria Math" panose="02040503050406030204" pitchFamily="18" charset="0"/>
                          </a:rPr>
                          <m:t>𝑇</m:t>
                        </m:r>
                      </m:den>
                    </m:f>
                    <m:r>
                      <a:rPr lang="en-US" sz="2000" i="1">
                        <a:solidFill>
                          <a:srgbClr val="000000"/>
                        </a:solidFill>
                        <a:latin typeface="Cambria Math" panose="02040503050406030204" pitchFamily="18" charset="0"/>
                      </a:rPr>
                      <m:t>)</m:t>
                    </m:r>
                  </m:oMath>
                </a14:m>
                <a:endParaRPr lang="en-US" sz="2000" dirty="0"/>
              </a:p>
            </p:txBody>
          </p:sp>
        </mc:Choice>
        <mc:Fallback xmlns="">
          <p:sp>
            <p:nvSpPr>
              <p:cNvPr id="52230" name="Object 2">
                <a:extLst>
                  <a:ext uri="{FF2B5EF4-FFF2-40B4-BE49-F238E27FC236}">
                    <a16:creationId xmlns:a16="http://schemas.microsoft.com/office/drawing/2014/main" id="{ED540740-FD3F-431E-B959-D57C2385A256}"/>
                  </a:ext>
                </a:extLst>
              </p:cNvPr>
              <p:cNvSpPr txBox="1">
                <a:spLocks noRot="1" noChangeAspect="1" noMove="1" noResize="1" noEditPoints="1" noAdjustHandles="1" noChangeArrowheads="1" noChangeShapeType="1" noTextEdit="1"/>
              </p:cNvSpPr>
              <p:nvPr/>
            </p:nvSpPr>
            <p:spPr bwMode="auto">
              <a:xfrm>
                <a:off x="1509272" y="673241"/>
                <a:ext cx="6125455" cy="527773"/>
              </a:xfrm>
              <a:prstGeom prst="rect">
                <a:avLst/>
              </a:prstGeom>
              <a:blipFill>
                <a:blip r:embed="rId8"/>
                <a:stretch>
                  <a:fillRect l="-1096" b="-9195"/>
                </a:stretch>
              </a:blipFill>
              <a:ln>
                <a:noFill/>
              </a:ln>
              <a:effectLst/>
            </p:spPr>
            <p:txBody>
              <a:bodyPr/>
              <a:lstStyle/>
              <a:p>
                <a:r>
                  <a:rPr 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652486"/>
          </a:xfrm>
        </p:spPr>
        <p:txBody>
          <a:bodyPr>
            <a:spAutoFit/>
          </a:bodyPr>
          <a:lstStyle/>
          <a:p>
            <a:pPr algn="just">
              <a:lnSpc>
                <a:spcPct val="130000"/>
              </a:lnSpc>
              <a:spcBef>
                <a:spcPts val="0"/>
              </a:spcBef>
              <a:spcAft>
                <a:spcPts val="600"/>
              </a:spcAft>
            </a:pPr>
            <a:r>
              <a:rPr lang="en-US" altLang="zh-CN" sz="2800" b="0" dirty="0"/>
              <a:t>3.6, 3.21, 3.22(b)</a:t>
            </a:r>
            <a:endParaRPr lang="en-US" sz="2800" b="0" dirty="0"/>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fld id="{D6CC5206-228A-4188-B6B3-2BFCD2AC1E6E}" type="slidenum">
              <a:rPr lang="zh-CN" altLang="en-US" smtClean="0"/>
              <a:pPr/>
              <a:t>26</a:t>
            </a:fld>
            <a:endParaRPr lang="zh-CN" altLang="en-US"/>
          </a:p>
        </p:txBody>
      </p:sp>
    </p:spTree>
    <p:extLst>
      <p:ext uri="{BB962C8B-B14F-4D97-AF65-F5344CB8AC3E}">
        <p14:creationId xmlns:p14="http://schemas.microsoft.com/office/powerpoint/2010/main" val="398904261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6" name="标题 1">
            <a:extLst>
              <a:ext uri="{FF2B5EF4-FFF2-40B4-BE49-F238E27FC236}">
                <a16:creationId xmlns:a16="http://schemas.microsoft.com/office/drawing/2014/main" id="{BB1A852F-3846-4524-B74C-635F9ED9747F}"/>
              </a:ext>
            </a:extLst>
          </p:cNvPr>
          <p:cNvSpPr>
            <a:spLocks noGrp="1"/>
          </p:cNvSpPr>
          <p:nvPr>
            <p:ph type="title"/>
          </p:nvPr>
        </p:nvSpPr>
        <p:spPr/>
        <p:txBody>
          <a:bodyPr/>
          <a:lstStyle/>
          <a:p>
            <a:r>
              <a:rPr lang="en-US" altLang="zh-CN" dirty="0">
                <a:solidFill>
                  <a:srgbClr val="000000"/>
                </a:solidFill>
              </a:rPr>
              <a:t>3.4 </a:t>
            </a:r>
            <a:r>
              <a:rPr lang="zh-CN" altLang="en-US" dirty="0">
                <a:solidFill>
                  <a:srgbClr val="000000"/>
                </a:solidFill>
              </a:rPr>
              <a:t>连续时间傅里叶级数的收敛</a:t>
            </a:r>
            <a:endParaRPr lang="zh-CN" altLang="en-US" dirty="0"/>
          </a:p>
        </p:txBody>
      </p:sp>
      <mc:AlternateContent xmlns:mc="http://schemas.openxmlformats.org/markup-compatibility/2006" xmlns:a14="http://schemas.microsoft.com/office/drawing/2010/main">
        <mc:Choice Requires="a14">
          <p:sp>
            <p:nvSpPr>
              <p:cNvPr id="53257" name="内容占位符 2">
                <a:extLst>
                  <a:ext uri="{FF2B5EF4-FFF2-40B4-BE49-F238E27FC236}">
                    <a16:creationId xmlns:a16="http://schemas.microsoft.com/office/drawing/2014/main" id="{F8E69818-B8C8-42EF-B1A5-9905B14CAC6F}"/>
                  </a:ext>
                </a:extLst>
              </p:cNvPr>
              <p:cNvSpPr>
                <a:spLocks noGrp="1"/>
              </p:cNvSpPr>
              <p:nvPr>
                <p:ph idx="1"/>
              </p:nvPr>
            </p:nvSpPr>
            <p:spPr>
              <a:xfrm>
                <a:off x="457200" y="1285875"/>
                <a:ext cx="8229600" cy="4978607"/>
              </a:xfrm>
            </p:spPr>
            <p:txBody>
              <a:bodyPr>
                <a:spAutoFit/>
              </a:bodyPr>
              <a:lstStyle/>
              <a:p>
                <a:pPr marL="0" indent="0">
                  <a:lnSpc>
                    <a:spcPct val="130000"/>
                  </a:lnSpc>
                  <a:spcBef>
                    <a:spcPts val="0"/>
                  </a:spcBef>
                  <a:spcAft>
                    <a:spcPts val="600"/>
                  </a:spcAft>
                  <a:buNone/>
                </a:pPr>
                <a:r>
                  <a:rPr lang="zh-CN" altLang="en-US" sz="2400" b="0" dirty="0">
                    <a:solidFill>
                      <a:srgbClr val="0000FF"/>
                    </a:solidFill>
                  </a:rPr>
                  <a:t>一</a:t>
                </a:r>
                <a:r>
                  <a:rPr lang="en-US" altLang="zh-CN" sz="2400" b="0" dirty="0">
                    <a:solidFill>
                      <a:srgbClr val="0000FF"/>
                    </a:solidFill>
                  </a:rPr>
                  <a:t>. </a:t>
                </a:r>
                <a:r>
                  <a:rPr lang="zh-CN" altLang="en-US" sz="2400" b="0" dirty="0">
                    <a:solidFill>
                      <a:srgbClr val="0000FF"/>
                    </a:solidFill>
                  </a:rPr>
                  <a:t>傅里叶级数是对信号的最佳近似</a:t>
                </a:r>
                <a:endParaRPr lang="en-US" altLang="zh-CN" sz="2400" b="0" dirty="0">
                  <a:solidFill>
                    <a:srgbClr val="0000FF"/>
                  </a:solidFill>
                </a:endParaRPr>
              </a:p>
              <a:p>
                <a:pPr>
                  <a:lnSpc>
                    <a:spcPct val="130000"/>
                  </a:lnSpc>
                  <a:spcBef>
                    <a:spcPts val="0"/>
                  </a:spcBef>
                  <a:spcAft>
                    <a:spcPts val="600"/>
                  </a:spcAft>
                </a:pPr>
                <a:r>
                  <a:rPr lang="zh-CN" altLang="en-US" sz="2400" b="0" dirty="0"/>
                  <a:t>若</a:t>
                </a:r>
                <a14:m>
                  <m:oMath xmlns:m="http://schemas.openxmlformats.org/officeDocument/2006/math">
                    <m:r>
                      <a:rPr lang="en-US" sz="2400" i="1" smtClean="0">
                        <a:solidFill>
                          <a:srgbClr val="000000"/>
                        </a:solidFill>
                        <a:latin typeface="Cambria Math" panose="02040503050406030204" pitchFamily="18" charset="0"/>
                      </a:rPr>
                      <m:t>𝑥</m:t>
                    </m:r>
                    <m:r>
                      <a:rPr lang="en-US" sz="2400" i="1" smtClean="0">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𝑡</m:t>
                    </m:r>
                    <m:r>
                      <a:rPr lang="en-US" sz="2400" i="1" smtClean="0">
                        <a:solidFill>
                          <a:srgbClr val="000000"/>
                        </a:solidFill>
                        <a:latin typeface="Cambria Math" panose="02040503050406030204" pitchFamily="18" charset="0"/>
                      </a:rPr>
                      <m:t>)</m:t>
                    </m:r>
                  </m:oMath>
                </a14:m>
                <a:r>
                  <a:rPr lang="zh-CN" altLang="en-US" sz="2400" b="0" dirty="0"/>
                  <a:t>以</a:t>
                </a:r>
                <a14:m>
                  <m:oMath xmlns:m="http://schemas.openxmlformats.org/officeDocument/2006/math">
                    <m:r>
                      <a:rPr lang="en-US" sz="2400" i="1">
                        <a:solidFill>
                          <a:srgbClr val="000000"/>
                        </a:solidFill>
                        <a:latin typeface="Cambria Math" panose="02040503050406030204" pitchFamily="18" charset="0"/>
                      </a:rPr>
                      <m:t>𝑇</m:t>
                    </m:r>
                  </m:oMath>
                </a14:m>
                <a:r>
                  <a:rPr lang="zh-CN" altLang="en-US" sz="2400" b="0" dirty="0"/>
                  <a:t>为周期，用有限项级数</a:t>
                </a:r>
                <a:r>
                  <a:rPr lang="en-US" altLang="zh-CN" sz="2400" b="0" dirty="0"/>
                  <a:t/>
                </a:r>
                <a:br>
                  <a:rPr lang="en-US" altLang="zh-CN" sz="2400" b="0" dirty="0"/>
                </a:b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𝑁</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𝑘</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𝑁</m:t>
                        </m:r>
                      </m:sub>
                      <m:sup>
                        <m:r>
                          <a:rPr lang="en-US" sz="2400" i="1">
                            <a:solidFill>
                              <a:srgbClr val="000000"/>
                            </a:solidFill>
                            <a:latin typeface="Cambria Math" panose="02040503050406030204" pitchFamily="18" charset="0"/>
                          </a:rPr>
                          <m:t>𝑁</m:t>
                        </m:r>
                      </m:sup>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e>
                    </m:nary>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sup>
                    </m:sSup>
                  </m:oMath>
                </a14:m>
                <a:r>
                  <a:rPr lang="en-US" altLang="zh-CN" sz="2400" b="0" dirty="0"/>
                  <a:t/>
                </a:r>
                <a:br>
                  <a:rPr lang="en-US" altLang="zh-CN" sz="2400" b="0" dirty="0"/>
                </a:br>
                <a:r>
                  <a:rPr lang="zh-CN" altLang="en-US" sz="2400" b="0" dirty="0"/>
                  <a:t>近似</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时，定义误差</a:t>
                </a:r>
                <a:r>
                  <a:rPr lang="en-US" altLang="zh-CN" sz="2400" b="0" dirty="0"/>
                  <a:t/>
                </a:r>
                <a:br>
                  <a:rPr lang="en-US" altLang="zh-CN" sz="2400" b="0" dirty="0"/>
                </a:b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𝑒</m:t>
                        </m:r>
                      </m:e>
                      <m:sub>
                        <m:r>
                          <a:rPr lang="en-US" sz="2400" i="1">
                            <a:solidFill>
                              <a:srgbClr val="000000"/>
                            </a:solidFill>
                            <a:latin typeface="Cambria Math" panose="02040503050406030204" pitchFamily="18" charset="0"/>
                          </a:rPr>
                          <m:t>𝑁</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𝑥</m:t>
                        </m:r>
                      </m:e>
                      <m:sub>
                        <m:r>
                          <a:rPr lang="en-US" sz="2400" i="1">
                            <a:solidFill>
                              <a:srgbClr val="000000"/>
                            </a:solidFill>
                            <a:latin typeface="Cambria Math" panose="02040503050406030204" pitchFamily="18" charset="0"/>
                          </a:rPr>
                          <m:t>𝑁</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en-US" altLang="zh-CN" sz="2400" b="0" dirty="0"/>
                  <a:t/>
                </a:r>
                <a:br>
                  <a:rPr lang="en-US" altLang="zh-CN" sz="2400" b="0" dirty="0"/>
                </a:br>
                <a:r>
                  <a:rPr lang="zh-CN" altLang="en-US" sz="2400" b="0" dirty="0"/>
                  <a:t>误差在一个周期内的能量为</a:t>
                </a:r>
                <a:r>
                  <a:rPr lang="en-US" altLang="zh-CN" sz="2400" b="0" dirty="0"/>
                  <a:t/>
                </a:r>
                <a:br>
                  <a:rPr lang="en-US" altLang="zh-CN" sz="2400" b="0" dirty="0"/>
                </a:br>
                <a14:m>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𝑁</m:t>
                        </m:r>
                      </m:sub>
                    </m:sSub>
                    <m:r>
                      <a:rPr lang="en-US" sz="2400" i="1">
                        <a:solidFill>
                          <a:srgbClr val="000000"/>
                        </a:solidFill>
                        <a:latin typeface="Cambria Math" panose="02040503050406030204" pitchFamily="18" charset="0"/>
                      </a:rPr>
                      <m:t>=</m:t>
                    </m:r>
                    <m:nary>
                      <m:naryPr>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𝑇</m:t>
                        </m:r>
                      </m:sub>
                      <m:sup/>
                      <m:e>
                        <m:sSup>
                          <m:sSupPr>
                            <m:ctrlPr>
                              <a:rPr lang="en-US" sz="2400" i="1">
                                <a:solidFill>
                                  <a:srgbClr val="000000"/>
                                </a:solidFill>
                                <a:latin typeface="Cambria Math" panose="02040503050406030204" pitchFamily="18" charset="0"/>
                              </a:rPr>
                            </m:ctrlPr>
                          </m:sSupPr>
                          <m:e>
                            <m:d>
                              <m:dPr>
                                <m:begChr m:val="|"/>
                                <m:endChr m:val="|"/>
                                <m:ctrlPr>
                                  <a:rPr lang="en-US" sz="2400" i="1">
                                    <a:solidFill>
                                      <a:srgbClr val="000000"/>
                                    </a:solidFill>
                                    <a:latin typeface="Cambria Math" panose="02040503050406030204" pitchFamily="18" charset="0"/>
                                  </a:rPr>
                                </m:ctrlPr>
                              </m:d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𝑒</m:t>
                                    </m:r>
                                  </m:e>
                                  <m:sub>
                                    <m:r>
                                      <a:rPr lang="en-US" sz="2400" i="1">
                                        <a:solidFill>
                                          <a:srgbClr val="000000"/>
                                        </a:solidFill>
                                        <a:latin typeface="Cambria Math" panose="02040503050406030204" pitchFamily="18" charset="0"/>
                                      </a:rPr>
                                      <m:t>𝑁</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d>
                          </m:e>
                          <m:sup>
                            <m:r>
                              <a:rPr lang="en-US" sz="2400" i="1">
                                <a:solidFill>
                                  <a:srgbClr val="000000"/>
                                </a:solidFill>
                                <a:latin typeface="Cambria Math" panose="02040503050406030204" pitchFamily="18" charset="0"/>
                              </a:rPr>
                              <m:t>2</m:t>
                            </m:r>
                          </m:sup>
                        </m:sSup>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oMath>
                </a14:m>
                <a:endParaRPr lang="zh-CN" altLang="en-US" sz="2400" b="0" dirty="0"/>
              </a:p>
            </p:txBody>
          </p:sp>
        </mc:Choice>
        <mc:Fallback xmlns="">
          <p:sp>
            <p:nvSpPr>
              <p:cNvPr id="53257" name="内容占位符 2">
                <a:extLst>
                  <a:ext uri="{FF2B5EF4-FFF2-40B4-BE49-F238E27FC236}">
                    <a16:creationId xmlns:a16="http://schemas.microsoft.com/office/drawing/2014/main" id="{F8E69818-B8C8-42EF-B1A5-9905B14CAC6F}"/>
                  </a:ext>
                </a:extLst>
              </p:cNvPr>
              <p:cNvSpPr>
                <a:spLocks noGrp="1" noRot="1" noChangeAspect="1" noMove="1" noResize="1" noEditPoints="1" noAdjustHandles="1" noChangeArrowheads="1" noChangeShapeType="1" noTextEdit="1"/>
              </p:cNvSpPr>
              <p:nvPr>
                <p:ph idx="1"/>
              </p:nvPr>
            </p:nvSpPr>
            <p:spPr>
              <a:xfrm>
                <a:off x="457200" y="1285875"/>
                <a:ext cx="8229600" cy="4978607"/>
              </a:xfrm>
              <a:blipFill>
                <a:blip r:embed="rId2"/>
                <a:stretch>
                  <a:fillRect l="-111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ECE1C1ED-39D4-4954-8FC8-8FB47484D9B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4CCD13C-358E-4E2E-8B0C-A8D10C3D2522}" type="slidenum">
              <a:rPr lang="zh-CN" altLang="en-US">
                <a:solidFill>
                  <a:srgbClr val="898989"/>
                </a:solidFill>
                <a:latin typeface="Calibri" panose="020F0502020204030204" pitchFamily="34" charset="0"/>
              </a:rPr>
              <a:pPr eaLnBrk="1" hangingPunct="1"/>
              <a:t>27</a:t>
            </a:fld>
            <a:endParaRPr lang="zh-CN" altLang="en-US">
              <a:solidFill>
                <a:srgbClr val="898989"/>
              </a:solidFill>
              <a:latin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标题 1">
            <a:extLst>
              <a:ext uri="{FF2B5EF4-FFF2-40B4-BE49-F238E27FC236}">
                <a16:creationId xmlns:a16="http://schemas.microsoft.com/office/drawing/2014/main" id="{A6D0D22F-96B5-4325-B46E-6653760A6C28}"/>
              </a:ext>
            </a:extLst>
          </p:cNvPr>
          <p:cNvSpPr>
            <a:spLocks noGrp="1"/>
          </p:cNvSpPr>
          <p:nvPr>
            <p:ph type="title"/>
          </p:nvPr>
        </p:nvSpPr>
        <p:spPr/>
        <p:txBody>
          <a:bodyPr/>
          <a:lstStyle/>
          <a:p>
            <a:r>
              <a:rPr lang="en-US" altLang="zh-CN" dirty="0">
                <a:solidFill>
                  <a:srgbClr val="000000"/>
                </a:solidFill>
              </a:rPr>
              <a:t>3.4 </a:t>
            </a:r>
            <a:r>
              <a:rPr lang="zh-CN" altLang="en-US" dirty="0">
                <a:solidFill>
                  <a:srgbClr val="000000"/>
                </a:solidFill>
              </a:rPr>
              <a:t>连续时间傅里叶级数的收敛</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6FACB7A-1044-4B6E-8C44-D7AFDFF13B15}"/>
                  </a:ext>
                </a:extLst>
              </p:cNvPr>
              <p:cNvSpPr>
                <a:spLocks noGrp="1"/>
              </p:cNvSpPr>
              <p:nvPr>
                <p:ph idx="1"/>
              </p:nvPr>
            </p:nvSpPr>
            <p:spPr>
              <a:xfrm>
                <a:off x="457200" y="1285875"/>
                <a:ext cx="8229600" cy="4618059"/>
              </a:xfrm>
            </p:spPr>
            <p:txBody>
              <a:bodyPr>
                <a:spAutoFit/>
              </a:bodyPr>
              <a:lstStyle/>
              <a:p>
                <a:pPr>
                  <a:lnSpc>
                    <a:spcPct val="150000"/>
                  </a:lnSpc>
                  <a:spcBef>
                    <a:spcPts val="0"/>
                  </a:spcBef>
                </a:pPr>
                <a:r>
                  <a:rPr lang="zh-CN" altLang="en-US" sz="2800" b="0" dirty="0"/>
                  <a:t>可以证明（习题</a:t>
                </a:r>
                <a:r>
                  <a:rPr lang="en-US" altLang="zh-CN" sz="2800" b="0" dirty="0"/>
                  <a:t>3.66</a:t>
                </a:r>
                <a:r>
                  <a:rPr lang="zh-CN" altLang="en-US" sz="2800" b="0" dirty="0"/>
                  <a:t>），要使</a:t>
                </a:r>
                <a:r>
                  <a:rPr lang="en-US" altLang="zh-CN" sz="2800" b="0" i="1" dirty="0"/>
                  <a:t>E</a:t>
                </a:r>
                <a:r>
                  <a:rPr lang="en-US" altLang="zh-CN" sz="2800" b="0" i="1" baseline="-25000" dirty="0"/>
                  <a:t>N</a:t>
                </a:r>
                <a:r>
                  <a:rPr lang="zh-CN" altLang="en-US" sz="2800" b="0" dirty="0"/>
                  <a:t>最小</a:t>
                </a:r>
                <a:r>
                  <a:rPr lang="zh-CN" altLang="en-US" sz="2800" b="0"/>
                  <a:t>，应有：</a:t>
                </a:r>
                <a:endParaRPr lang="en-US" altLang="zh-CN" sz="2800" b="0" dirty="0"/>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𝑎</m:t>
                          </m:r>
                        </m:e>
                        <m:sub>
                          <m:r>
                            <a:rPr lang="en-US" sz="2800" i="1">
                              <a:solidFill>
                                <a:srgbClr val="000000"/>
                              </a:solidFill>
                              <a:latin typeface="Cambria Math" panose="02040503050406030204" pitchFamily="18" charset="0"/>
                            </a:rPr>
                            <m:t>𝑘</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1</m:t>
                          </m:r>
                        </m:num>
                        <m:den>
                          <m:r>
                            <a:rPr lang="en-US" sz="2800" i="1">
                              <a:solidFill>
                                <a:srgbClr val="000000"/>
                              </a:solidFill>
                              <a:latin typeface="Cambria Math" panose="02040503050406030204" pitchFamily="18" charset="0"/>
                            </a:rPr>
                            <m:t>𝑇</m:t>
                          </m:r>
                        </m:den>
                      </m:f>
                      <m:nary>
                        <m:naryPr>
                          <m:supHide m:val="on"/>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𝑇</m:t>
                          </m:r>
                        </m:sub>
                        <m:sup/>
                        <m:e>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j</m:t>
                              </m:r>
                              <m:r>
                                <a:rPr lang="en-US" sz="2800" i="1">
                                  <a:solidFill>
                                    <a:srgbClr val="000000"/>
                                  </a:solidFill>
                                  <a:latin typeface="Cambria Math" panose="02040503050406030204" pitchFamily="18" charset="0"/>
                                </a:rPr>
                                <m:t>𝑘</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𝜔</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𝑡</m:t>
                              </m:r>
                            </m:sup>
                          </m:sSup>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𝑡</m:t>
                          </m:r>
                        </m:e>
                      </m:nary>
                    </m:oMath>
                  </m:oMathPara>
                </a14:m>
                <a:endParaRPr lang="en-US" altLang="zh-CN" sz="2800" b="0" dirty="0"/>
              </a:p>
              <a:p>
                <a:pPr>
                  <a:lnSpc>
                    <a:spcPct val="150000"/>
                  </a:lnSpc>
                  <a:spcBef>
                    <a:spcPts val="0"/>
                  </a:spcBef>
                </a:pPr>
                <a:endParaRPr lang="en-US" altLang="zh-CN" sz="2800" b="0" dirty="0"/>
              </a:p>
              <a:p>
                <a:pPr>
                  <a:lnSpc>
                    <a:spcPct val="150000"/>
                  </a:lnSpc>
                  <a:spcBef>
                    <a:spcPts val="0"/>
                  </a:spcBef>
                </a:pPr>
                <a:endParaRPr lang="en-US" altLang="zh-CN" sz="2800" b="0" dirty="0"/>
              </a:p>
              <a:p>
                <a:pPr>
                  <a:lnSpc>
                    <a:spcPct val="150000"/>
                  </a:lnSpc>
                  <a:spcBef>
                    <a:spcPts val="0"/>
                  </a:spcBef>
                </a:pPr>
                <a:r>
                  <a:rPr lang="zh-CN" altLang="en-US" sz="2800" b="0" dirty="0"/>
                  <a:t>结论：在误差能量最小的准则下，傅里叶级数是对周期信号的最佳近似。</a:t>
                </a:r>
              </a:p>
            </p:txBody>
          </p:sp>
        </mc:Choice>
        <mc:Fallback xmlns="">
          <p:sp>
            <p:nvSpPr>
              <p:cNvPr id="3" name="内容占位符 2">
                <a:extLst>
                  <a:ext uri="{FF2B5EF4-FFF2-40B4-BE49-F238E27FC236}">
                    <a16:creationId xmlns:a16="http://schemas.microsoft.com/office/drawing/2014/main" id="{E6FACB7A-1044-4B6E-8C44-D7AFDFF13B15}"/>
                  </a:ext>
                </a:extLst>
              </p:cNvPr>
              <p:cNvSpPr>
                <a:spLocks noGrp="1" noRot="1" noChangeAspect="1" noMove="1" noResize="1" noEditPoints="1" noAdjustHandles="1" noChangeArrowheads="1" noChangeShapeType="1" noTextEdit="1"/>
              </p:cNvSpPr>
              <p:nvPr>
                <p:ph idx="1"/>
              </p:nvPr>
            </p:nvSpPr>
            <p:spPr>
              <a:xfrm>
                <a:off x="457200" y="1285875"/>
                <a:ext cx="8229600" cy="4618059"/>
              </a:xfrm>
              <a:blipFill>
                <a:blip r:embed="rId2"/>
                <a:stretch>
                  <a:fillRect l="-1333" b="-2906"/>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FF958CFE-157F-4364-8108-9886F79C3B7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1D43DB-1C61-492D-8F74-1A96DCDCE354}" type="slidenum">
              <a:rPr lang="zh-CN" altLang="en-US">
                <a:solidFill>
                  <a:srgbClr val="898989"/>
                </a:solidFill>
                <a:latin typeface="Calibri" panose="020F0502020204030204" pitchFamily="34" charset="0"/>
              </a:rPr>
              <a:pPr eaLnBrk="1" hangingPunct="1"/>
              <a:t>28</a:t>
            </a:fld>
            <a:endParaRPr lang="zh-CN" altLang="en-US">
              <a:solidFill>
                <a:srgbClr val="898989"/>
              </a:solidFill>
              <a:latin typeface="Calibri" panose="020F0502020204030204" pitchFamily="34" charset="0"/>
            </a:endParaRPr>
          </a:p>
        </p:txBody>
      </p:sp>
      <p:sp>
        <p:nvSpPr>
          <p:cNvPr id="6" name="Text Box 9">
            <a:extLst>
              <a:ext uri="{FF2B5EF4-FFF2-40B4-BE49-F238E27FC236}">
                <a16:creationId xmlns:a16="http://schemas.microsoft.com/office/drawing/2014/main" id="{B9B138C9-F1F5-4876-A179-1318FAB07CF0}"/>
              </a:ext>
            </a:extLst>
          </p:cNvPr>
          <p:cNvSpPr txBox="1">
            <a:spLocks noChangeArrowheads="1"/>
          </p:cNvSpPr>
          <p:nvPr/>
        </p:nvSpPr>
        <p:spPr bwMode="auto">
          <a:xfrm>
            <a:off x="4584425" y="3573016"/>
            <a:ext cx="411362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华文楷体" panose="02010600040101010101" pitchFamily="2" charset="-122"/>
                <a:cs typeface="楷体_GB2312" panose="02010609030101010101" pitchFamily="49" charset="-122"/>
              </a:rPr>
              <a:t>这就是傅里叶级数的系数</a:t>
            </a:r>
          </a:p>
        </p:txBody>
      </p:sp>
      <p:sp>
        <p:nvSpPr>
          <p:cNvPr id="7" name="Line 10">
            <a:extLst>
              <a:ext uri="{FF2B5EF4-FFF2-40B4-BE49-F238E27FC236}">
                <a16:creationId xmlns:a16="http://schemas.microsoft.com/office/drawing/2014/main" id="{FEC54EF6-FC36-4A19-B70E-6C6B4F22A4BD}"/>
              </a:ext>
            </a:extLst>
          </p:cNvPr>
          <p:cNvSpPr>
            <a:spLocks noChangeShapeType="1"/>
          </p:cNvSpPr>
          <p:nvPr/>
        </p:nvSpPr>
        <p:spPr bwMode="auto">
          <a:xfrm>
            <a:off x="3365225" y="3854004"/>
            <a:ext cx="1219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linds(horizontal)">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3" name="标题 1">
            <a:extLst>
              <a:ext uri="{FF2B5EF4-FFF2-40B4-BE49-F238E27FC236}">
                <a16:creationId xmlns:a16="http://schemas.microsoft.com/office/drawing/2014/main" id="{D0BA9439-A00C-4BDE-AAC4-BECC3E930C28}"/>
              </a:ext>
            </a:extLst>
          </p:cNvPr>
          <p:cNvSpPr>
            <a:spLocks noGrp="1"/>
          </p:cNvSpPr>
          <p:nvPr>
            <p:ph type="title"/>
          </p:nvPr>
        </p:nvSpPr>
        <p:spPr/>
        <p:txBody>
          <a:bodyPr/>
          <a:lstStyle/>
          <a:p>
            <a:r>
              <a:rPr lang="en-US" altLang="zh-CN">
                <a:solidFill>
                  <a:srgbClr val="000000"/>
                </a:solidFill>
              </a:rPr>
              <a:t>3.4 </a:t>
            </a:r>
            <a:r>
              <a:rPr lang="zh-CN" altLang="en-US">
                <a:solidFill>
                  <a:srgbClr val="000000"/>
                </a:solidFill>
              </a:rPr>
              <a:t>连续时间傅里叶级数的收敛</a:t>
            </a:r>
            <a:endParaRPr lang="zh-CN" altLang="en-US"/>
          </a:p>
        </p:txBody>
      </p:sp>
      <mc:AlternateContent xmlns:mc="http://schemas.openxmlformats.org/markup-compatibility/2006" xmlns:a14="http://schemas.microsoft.com/office/drawing/2010/main">
        <mc:Choice Requires="a14">
          <p:sp>
            <p:nvSpPr>
              <p:cNvPr id="55304" name="内容占位符 2">
                <a:extLst>
                  <a:ext uri="{FF2B5EF4-FFF2-40B4-BE49-F238E27FC236}">
                    <a16:creationId xmlns:a16="http://schemas.microsoft.com/office/drawing/2014/main" id="{C0676438-08A7-40A7-8B8B-D724C6EA6377}"/>
                  </a:ext>
                </a:extLst>
              </p:cNvPr>
              <p:cNvSpPr>
                <a:spLocks noGrp="1"/>
              </p:cNvSpPr>
              <p:nvPr>
                <p:ph idx="1"/>
              </p:nvPr>
            </p:nvSpPr>
            <p:spPr>
              <a:xfrm>
                <a:off x="457200" y="1285875"/>
                <a:ext cx="8229600" cy="5298053"/>
              </a:xfrm>
            </p:spPr>
            <p:txBody>
              <a:bodyPr>
                <a:spAutoFit/>
              </a:bodyPr>
              <a:lstStyle/>
              <a:p>
                <a:pPr marL="0" indent="0">
                  <a:buNone/>
                </a:pPr>
                <a:r>
                  <a:rPr lang="zh-CN" altLang="en-US" sz="2800" b="0" dirty="0">
                    <a:solidFill>
                      <a:srgbClr val="0000FF"/>
                    </a:solidFill>
                  </a:rPr>
                  <a:t>二</a:t>
                </a:r>
                <a:r>
                  <a:rPr lang="en-US" altLang="zh-CN" sz="2800" b="0" dirty="0">
                    <a:solidFill>
                      <a:srgbClr val="0000FF"/>
                    </a:solidFill>
                  </a:rPr>
                  <a:t>. </a:t>
                </a:r>
                <a:r>
                  <a:rPr lang="zh-CN" altLang="en-US" sz="2800" b="0" dirty="0">
                    <a:solidFill>
                      <a:srgbClr val="0000FF"/>
                    </a:solidFill>
                  </a:rPr>
                  <a:t>傅里叶级数的收敛</a:t>
                </a:r>
                <a:endParaRPr lang="en-US" altLang="zh-CN" sz="2800" b="0" dirty="0">
                  <a:solidFill>
                    <a:srgbClr val="0000FF"/>
                  </a:solidFill>
                </a:endParaRPr>
              </a:p>
              <a:p>
                <a:r>
                  <a:rPr lang="zh-CN" altLang="en-US" sz="2800" b="0" dirty="0"/>
                  <a:t>傅里叶级数收敛的两层含义：</a:t>
                </a:r>
              </a:p>
              <a:p>
                <a:pPr lvl="1"/>
                <a14:m>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𝑘</m:t>
                        </m:r>
                      </m:sub>
                    </m:sSub>
                  </m:oMath>
                </a14:m>
                <a:r>
                  <a:rPr lang="zh-CN" altLang="en-US" b="0" dirty="0"/>
                  <a:t>是否存在</a:t>
                </a:r>
                <a:r>
                  <a:rPr lang="en-US" altLang="zh-CN" b="0" dirty="0"/>
                  <a:t>?</a:t>
                </a:r>
              </a:p>
              <a:p>
                <a:pPr lvl="1"/>
                <a:r>
                  <a:rPr lang="en-US" altLang="zh-CN" b="0" dirty="0"/>
                  <a:t> </a:t>
                </a:r>
                <a:r>
                  <a:rPr lang="zh-CN" altLang="en-US" b="0" dirty="0"/>
                  <a:t>级数是否收敛于</a:t>
                </a:r>
                <a14:m>
                  <m:oMath xmlns:m="http://schemas.openxmlformats.org/officeDocument/2006/math">
                    <m:r>
                      <a:rPr lang="en-US" i="1" smtClean="0">
                        <a:solidFill>
                          <a:srgbClr val="000000"/>
                        </a:solidFill>
                        <a:latin typeface="Cambria Math" panose="02040503050406030204" pitchFamily="18" charset="0"/>
                      </a:rPr>
                      <m:t>𝑥</m:t>
                    </m:r>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𝑡</m:t>
                    </m:r>
                    <m:r>
                      <a:rPr lang="en-US" i="1" smtClean="0">
                        <a:solidFill>
                          <a:srgbClr val="000000"/>
                        </a:solidFill>
                        <a:latin typeface="Cambria Math" panose="02040503050406030204" pitchFamily="18" charset="0"/>
                      </a:rPr>
                      <m:t>)</m:t>
                    </m:r>
                  </m:oMath>
                </a14:m>
                <a:r>
                  <a:rPr lang="en-US" altLang="zh-CN" b="0" dirty="0"/>
                  <a:t>?</a:t>
                </a:r>
              </a:p>
              <a:p>
                <a:r>
                  <a:rPr lang="zh-CN" altLang="en-US" sz="2800" b="0" dirty="0"/>
                  <a:t>两组条件：</a:t>
                </a:r>
              </a:p>
              <a:p>
                <a:pPr lvl="1">
                  <a:lnSpc>
                    <a:spcPct val="150000"/>
                  </a:lnSpc>
                </a:pPr>
                <a:r>
                  <a:rPr lang="en-US" altLang="zh-CN" b="0" dirty="0"/>
                  <a:t>1. </a:t>
                </a:r>
                <a:r>
                  <a:rPr lang="zh-CN" altLang="en-US" b="0" dirty="0">
                    <a:solidFill>
                      <a:srgbClr val="FF0000"/>
                    </a:solidFill>
                  </a:rPr>
                  <a:t>平方可积条件</a:t>
                </a:r>
                <a:r>
                  <a:rPr lang="zh-CN" altLang="en-US" b="0" dirty="0"/>
                  <a:t>：</a:t>
                </a:r>
                <a:r>
                  <a:rPr lang="en-US" altLang="zh-CN" b="0" dirty="0"/>
                  <a:t/>
                </a:r>
                <a:br>
                  <a:rPr lang="en-US" altLang="zh-CN" b="0" dirty="0"/>
                </a:br>
                <a:r>
                  <a:rPr lang="zh-CN" altLang="en-US" b="0" dirty="0"/>
                  <a:t>如果</a:t>
                </a:r>
                <a14:m>
                  <m:oMath xmlns:m="http://schemas.openxmlformats.org/officeDocument/2006/math">
                    <m:nary>
                      <m:naryPr>
                        <m:supHide m:val="on"/>
                        <m:ctrlPr>
                          <a:rPr lang="en-US" i="1" smtClean="0">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𝑇</m:t>
                        </m:r>
                      </m:sub>
                      <m:sup/>
                      <m:e>
                        <m:sSup>
                          <m:sSupPr>
                            <m:ctrlPr>
                              <a:rPr lang="en-US" i="1">
                                <a:solidFill>
                                  <a:srgbClr val="000000"/>
                                </a:solidFill>
                                <a:latin typeface="Cambria Math" panose="02040503050406030204" pitchFamily="18" charset="0"/>
                              </a:rPr>
                            </m:ctrlPr>
                          </m:sSupPr>
                          <m:e>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e>
                            </m:d>
                          </m:e>
                          <m:sup>
                            <m:r>
                              <a:rPr lang="en-US" i="1">
                                <a:solidFill>
                                  <a:srgbClr val="000000"/>
                                </a:solidFill>
                                <a:latin typeface="Cambria Math" panose="02040503050406030204" pitchFamily="18" charset="0"/>
                              </a:rPr>
                              <m:t>2</m:t>
                            </m:r>
                          </m:sup>
                        </m:sSup>
                        <m:r>
                          <m:rPr>
                            <m:sty m:val="p"/>
                          </m:rPr>
                          <a:rPr lang="en-US" i="0">
                            <a:solidFill>
                              <a:srgbClr val="000000"/>
                            </a:solidFill>
                            <a:latin typeface="Cambria Math" panose="02040503050406030204" pitchFamily="18" charset="0"/>
                          </a:rPr>
                          <m:t>d</m:t>
                        </m:r>
                        <m:r>
                          <a:rPr lang="en-US" i="1">
                            <a:solidFill>
                              <a:srgbClr val="000000"/>
                            </a:solidFill>
                            <a:latin typeface="Cambria Math" panose="02040503050406030204" pitchFamily="18" charset="0"/>
                          </a:rPr>
                          <m:t>𝑡</m:t>
                        </m:r>
                      </m:e>
                    </m:nary>
                    <m:r>
                      <a:rPr lang="en-US" i="1">
                        <a:solidFill>
                          <a:srgbClr val="000000"/>
                        </a:solidFill>
                        <a:latin typeface="Cambria Math" panose="02040503050406030204" pitchFamily="18" charset="0"/>
                      </a:rPr>
                      <m:t>&lt;∞ </m:t>
                    </m:r>
                  </m:oMath>
                </a14:m>
                <a:r>
                  <a:rPr lang="zh-CN" altLang="en-US" b="0" dirty="0"/>
                  <a:t>，则</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𝑘</m:t>
                        </m:r>
                      </m:sub>
                    </m:sSub>
                  </m:oMath>
                </a14:m>
                <a:r>
                  <a:rPr lang="zh-CN" altLang="en-US" b="0" dirty="0"/>
                  <a:t>必存在。</a:t>
                </a:r>
                <a:r>
                  <a:rPr lang="en-US" altLang="zh-CN" b="0" dirty="0"/>
                  <a:t/>
                </a:r>
                <a:br>
                  <a:rPr lang="en-US" altLang="zh-CN" b="0" dirty="0"/>
                </a:br>
                <a:r>
                  <a:rPr lang="zh-CN" altLang="en-US" b="0" dirty="0"/>
                  <a:t>此时</a:t>
                </a:r>
                <a14:m>
                  <m:oMath xmlns:m="http://schemas.openxmlformats.org/officeDocument/2006/math">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oMath>
                </a14:m>
                <a:r>
                  <a:rPr lang="zh-CN" altLang="en-US" b="0" dirty="0"/>
                  <a:t>与其傅里叶级数表示之间</a:t>
                </a:r>
                <a:r>
                  <a:rPr lang="zh-CN" altLang="en-US" b="0" dirty="0">
                    <a:solidFill>
                      <a:srgbClr val="FF0000"/>
                    </a:solidFill>
                  </a:rPr>
                  <a:t>没有能量上的区别</a:t>
                </a:r>
                <a:r>
                  <a:rPr lang="zh-CN" altLang="en-US" b="0" dirty="0"/>
                  <a:t>。</a:t>
                </a:r>
              </a:p>
            </p:txBody>
          </p:sp>
        </mc:Choice>
        <mc:Fallback xmlns="">
          <p:sp>
            <p:nvSpPr>
              <p:cNvPr id="55304" name="内容占位符 2">
                <a:extLst>
                  <a:ext uri="{FF2B5EF4-FFF2-40B4-BE49-F238E27FC236}">
                    <a16:creationId xmlns:a16="http://schemas.microsoft.com/office/drawing/2014/main" id="{C0676438-08A7-40A7-8B8B-D724C6EA6377}"/>
                  </a:ext>
                </a:extLst>
              </p:cNvPr>
              <p:cNvSpPr>
                <a:spLocks noGrp="1" noRot="1" noChangeAspect="1" noMove="1" noResize="1" noEditPoints="1" noAdjustHandles="1" noChangeArrowheads="1" noChangeShapeType="1" noTextEdit="1"/>
              </p:cNvSpPr>
              <p:nvPr>
                <p:ph idx="1"/>
              </p:nvPr>
            </p:nvSpPr>
            <p:spPr>
              <a:xfrm>
                <a:off x="457200" y="1285875"/>
                <a:ext cx="8229600" cy="5298053"/>
              </a:xfrm>
              <a:blipFill>
                <a:blip r:embed="rId2"/>
                <a:stretch>
                  <a:fillRect l="-1481" t="-1496" b="-2301"/>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9B18FFEE-566E-4538-B7A6-2215765E745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50DC2A6-BE57-4F71-9A29-60C15ACE90FA}" type="slidenum">
              <a:rPr lang="zh-CN" altLang="en-US">
                <a:solidFill>
                  <a:srgbClr val="898989"/>
                </a:solidFill>
                <a:latin typeface="Calibri" panose="020F0502020204030204" pitchFamily="34" charset="0"/>
              </a:rPr>
              <a:pPr eaLnBrk="1" hangingPunct="1"/>
              <a:t>29</a:t>
            </a:fld>
            <a:endParaRPr lang="zh-CN" altLang="en-US">
              <a:solidFill>
                <a:srgbClr val="898989"/>
              </a:solidFill>
              <a:latin typeface="Calibri" panose="020F0502020204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标题 1">
            <a:extLst>
              <a:ext uri="{FF2B5EF4-FFF2-40B4-BE49-F238E27FC236}">
                <a16:creationId xmlns:a16="http://schemas.microsoft.com/office/drawing/2014/main" id="{8CBC42EE-31E7-46EB-9F99-2E66C4921937}"/>
              </a:ext>
            </a:extLst>
          </p:cNvPr>
          <p:cNvSpPr>
            <a:spLocks noGrp="1"/>
          </p:cNvSpPr>
          <p:nvPr>
            <p:ph type="title"/>
          </p:nvPr>
        </p:nvSpPr>
        <p:spPr/>
        <p:txBody>
          <a:bodyPr/>
          <a:lstStyle/>
          <a:p>
            <a:r>
              <a:rPr lang="en-US" altLang="zh-CN">
                <a:solidFill>
                  <a:srgbClr val="000000"/>
                </a:solidFill>
              </a:rPr>
              <a:t>3.4 </a:t>
            </a:r>
            <a:r>
              <a:rPr lang="zh-CN" altLang="en-US">
                <a:solidFill>
                  <a:srgbClr val="000000"/>
                </a:solidFill>
              </a:rPr>
              <a:t>连续时间傅里叶级数的收敛</a:t>
            </a:r>
            <a:endParaRPr lang="zh-CN" altLang="en-US"/>
          </a:p>
        </p:txBody>
      </p:sp>
      <mc:AlternateContent xmlns:mc="http://schemas.openxmlformats.org/markup-compatibility/2006" xmlns:a14="http://schemas.microsoft.com/office/drawing/2010/main">
        <mc:Choice Requires="a14">
          <p:sp>
            <p:nvSpPr>
              <p:cNvPr id="56326" name="内容占位符 2">
                <a:extLst>
                  <a:ext uri="{FF2B5EF4-FFF2-40B4-BE49-F238E27FC236}">
                    <a16:creationId xmlns:a16="http://schemas.microsoft.com/office/drawing/2014/main" id="{87B47616-EF1E-4DA1-AB9E-48E226E22BE9}"/>
                  </a:ext>
                </a:extLst>
              </p:cNvPr>
              <p:cNvSpPr>
                <a:spLocks noGrp="1"/>
              </p:cNvSpPr>
              <p:nvPr>
                <p:ph idx="1"/>
              </p:nvPr>
            </p:nvSpPr>
            <p:spPr>
              <a:xfrm>
                <a:off x="457200" y="1285875"/>
                <a:ext cx="8229600" cy="5214938"/>
              </a:xfrm>
            </p:spPr>
            <p:txBody>
              <a:bodyPr/>
              <a:lstStyle/>
              <a:p>
                <a:pPr marL="355600" lvl="1" indent="-355600">
                  <a:lnSpc>
                    <a:spcPct val="150000"/>
                  </a:lnSpc>
                </a:pPr>
                <a:r>
                  <a:rPr lang="en-US" altLang="zh-CN" sz="2400" b="0" dirty="0"/>
                  <a:t>2.  </a:t>
                </a:r>
                <a:r>
                  <a:rPr lang="en-US" altLang="zh-CN" sz="2400" b="0" dirty="0">
                    <a:solidFill>
                      <a:srgbClr val="FF0000"/>
                    </a:solidFill>
                  </a:rPr>
                  <a:t>Dirichlet</a:t>
                </a:r>
                <a:r>
                  <a:rPr lang="zh-CN" altLang="en-US" sz="2400" b="0" dirty="0">
                    <a:solidFill>
                      <a:srgbClr val="FF0000"/>
                    </a:solidFill>
                  </a:rPr>
                  <a:t>条件</a:t>
                </a:r>
                <a:r>
                  <a:rPr lang="zh-CN" altLang="en-US" sz="2400" b="0" dirty="0"/>
                  <a:t>：</a:t>
                </a:r>
                <a:r>
                  <a:rPr lang="en-US" altLang="zh-CN" sz="2400" b="0" dirty="0"/>
                  <a:t/>
                </a:r>
                <a:br>
                  <a:rPr lang="en-US" altLang="zh-CN" sz="2400" b="0" dirty="0"/>
                </a:br>
                <a:r>
                  <a:rPr lang="en-US" altLang="zh-CN" sz="2400" b="0" dirty="0"/>
                  <a:t>(1) </a:t>
                </a:r>
                <a14:m>
                  <m:oMath xmlns:m="http://schemas.openxmlformats.org/officeDocument/2006/math">
                    <m:nary>
                      <m:naryPr>
                        <m:supHide m:val="on"/>
                        <m:ctrlPr>
                          <a:rPr lang="en-US" sz="2400" i="1" smtClean="0">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𝑇</m:t>
                        </m:r>
                      </m:sub>
                      <m:sup/>
                      <m:e>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d>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&lt;∞</m:t>
                    </m:r>
                  </m:oMath>
                </a14:m>
                <a:r>
                  <a:rPr lang="zh-CN" altLang="en-US" sz="2400" b="0" dirty="0"/>
                  <a:t>，即</a:t>
                </a:r>
                <a14:m>
                  <m:oMath xmlns:m="http://schemas.openxmlformats.org/officeDocument/2006/math">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在任何周期内信号</a:t>
                </a:r>
                <a:r>
                  <a:rPr lang="zh-CN" altLang="en-US" sz="2400" b="0" dirty="0">
                    <a:solidFill>
                      <a:srgbClr val="FF0000"/>
                    </a:solidFill>
                  </a:rPr>
                  <a:t>绝对可积</a:t>
                </a:r>
                <a:r>
                  <a:rPr lang="zh-CN" altLang="en-US" sz="2400" b="0" dirty="0"/>
                  <a:t>。</a:t>
                </a:r>
                <a:r>
                  <a:rPr lang="en-US" altLang="zh-CN" sz="2400" b="0" dirty="0"/>
                  <a:t/>
                </a:r>
                <a:br>
                  <a:rPr lang="en-US" altLang="zh-CN" sz="2400" b="0" dirty="0"/>
                </a:br>
                <a14:m>
                  <m:oMath xmlns:m="http://schemas.openxmlformats.org/officeDocument/2006/math">
                    <m:d>
                      <m:dPr>
                        <m:begChr m:val="|"/>
                        <m:endChr m:val="|"/>
                        <m:ctrlPr>
                          <a:rPr lang="en-US" sz="2400" i="1">
                            <a:solidFill>
                              <a:srgbClr val="000000"/>
                            </a:solidFill>
                            <a:latin typeface="Cambria Math" panose="02040503050406030204" pitchFamily="18" charset="0"/>
                          </a:rPr>
                        </m:ctrlPr>
                      </m:d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𝑘</m:t>
                            </m:r>
                          </m:sub>
                        </m:sSub>
                      </m:e>
                    </m:d>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𝑇</m:t>
                        </m:r>
                      </m:den>
                    </m:f>
                    <m:nary>
                      <m:naryPr>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𝑇</m:t>
                        </m:r>
                      </m:sub>
                      <m:sup/>
                      <m:e>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sSup>
                              <m:sSupPr>
                                <m:ctrlPr>
                                  <a:rPr lang="en-US" sz="2400" i="1">
                                    <a:solidFill>
                                      <a:srgbClr val="000000"/>
                                    </a:solidFill>
                                    <a:latin typeface="Cambria Math" panose="02040503050406030204" pitchFamily="18" charset="0"/>
                                  </a:rPr>
                                </m:ctrlPr>
                              </m:sSupPr>
                              <m:e>
                                <m:r>
                                  <m:rPr>
                                    <m:sty m:val="p"/>
                                  </m:rPr>
                                  <a:rPr lang="en-US" sz="2400" i="0">
                                    <a:solidFill>
                                      <a:srgbClr val="000000"/>
                                    </a:solidFill>
                                    <a:latin typeface="Cambria Math" panose="02040503050406030204" pitchFamily="18" charset="0"/>
                                  </a:rPr>
                                  <m:t>e</m:t>
                                </m:r>
                              </m:e>
                              <m:sup>
                                <m:r>
                                  <a:rPr lang="en-US" sz="2400" i="1">
                                    <a:solidFill>
                                      <a:srgbClr val="000000"/>
                                    </a:solidFill>
                                    <a:latin typeface="Cambria Math" panose="02040503050406030204" pitchFamily="18" charset="0"/>
                                  </a:rPr>
                                  <m:t>−</m:t>
                                </m:r>
                                <m:r>
                                  <m:rPr>
                                    <m:sty m:val="p"/>
                                  </m:rPr>
                                  <a:rPr lang="en-US" sz="2400" i="0">
                                    <a:solidFill>
                                      <a:srgbClr val="000000"/>
                                    </a:solidFill>
                                    <a:latin typeface="Cambria Math" panose="02040503050406030204" pitchFamily="18" charset="0"/>
                                  </a:rPr>
                                  <m:t>j</m:t>
                                </m:r>
                                <m:r>
                                  <a:rPr lang="en-US" sz="2400" i="1">
                                    <a:solidFill>
                                      <a:srgbClr val="000000"/>
                                    </a:solidFill>
                                    <a:latin typeface="Cambria Math" panose="02040503050406030204" pitchFamily="18" charset="0"/>
                                  </a:rPr>
                                  <m:t>𝑘</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𝜔</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𝑡</m:t>
                                </m:r>
                              </m:sup>
                            </m:sSup>
                          </m:e>
                        </m:d>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𝑇</m:t>
                        </m:r>
                      </m:den>
                    </m:f>
                    <m:nary>
                      <m:naryPr>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𝑇</m:t>
                        </m:r>
                      </m:sub>
                      <m:sup/>
                      <m:e>
                        <m:d>
                          <m:dPr>
                            <m:begChr m:val="|"/>
                            <m:endChr m:val="|"/>
                            <m:ctrlPr>
                              <a:rPr lang="en-US" sz="2400" i="1">
                                <a:solidFill>
                                  <a:srgbClr val="000000"/>
                                </a:solidFill>
                                <a:latin typeface="Cambria Math" panose="02040503050406030204" pitchFamily="18" charset="0"/>
                              </a:rPr>
                            </m:ctrlPr>
                          </m:dPr>
                          <m:e>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e>
                        </m:d>
                        <m:r>
                          <m:rPr>
                            <m:sty m:val="p"/>
                          </m:rPr>
                          <a:rPr lang="en-US" sz="2400" i="0">
                            <a:solidFill>
                              <a:srgbClr val="000000"/>
                            </a:solidFill>
                            <a:latin typeface="Cambria Math" panose="02040503050406030204" pitchFamily="18" charset="0"/>
                          </a:rPr>
                          <m:t>d</m:t>
                        </m:r>
                        <m:r>
                          <a:rPr lang="en-US" sz="2400" i="1">
                            <a:solidFill>
                              <a:srgbClr val="000000"/>
                            </a:solidFill>
                            <a:latin typeface="Cambria Math" panose="02040503050406030204" pitchFamily="18" charset="0"/>
                          </a:rPr>
                          <m:t>𝑡</m:t>
                        </m:r>
                      </m:e>
                    </m:nary>
                    <m:r>
                      <a:rPr lang="en-US" sz="2400" i="1">
                        <a:solidFill>
                          <a:srgbClr val="000000"/>
                        </a:solidFill>
                        <a:latin typeface="Cambria Math" panose="02040503050406030204" pitchFamily="18" charset="0"/>
                      </a:rPr>
                      <m:t>&lt;∞</m:t>
                    </m:r>
                  </m:oMath>
                </a14:m>
                <a:r>
                  <a:rPr lang="en-US" altLang="zh-CN" sz="2400" b="0" dirty="0"/>
                  <a:t/>
                </a:r>
                <a:br>
                  <a:rPr lang="en-US" altLang="zh-CN" sz="2400" b="0" dirty="0"/>
                </a:br>
                <a:r>
                  <a:rPr lang="en-US" altLang="zh-CN" sz="2400" b="0" dirty="0"/>
                  <a:t>(2) </a:t>
                </a:r>
                <a:r>
                  <a:rPr lang="zh-CN" altLang="en-US" sz="2400" b="0" dirty="0"/>
                  <a:t>在任何有限区间内，只有有限个极值点，且极值为有限值。</a:t>
                </a:r>
                <a:r>
                  <a:rPr lang="en-US" altLang="zh-CN" sz="2400" b="0" dirty="0"/>
                  <a:t/>
                </a:r>
                <a:br>
                  <a:rPr lang="en-US" altLang="zh-CN" sz="2400" b="0" dirty="0"/>
                </a:br>
                <a:r>
                  <a:rPr lang="en-US" altLang="zh-CN" sz="2400" b="0" dirty="0"/>
                  <a:t>(3) </a:t>
                </a:r>
                <a:r>
                  <a:rPr lang="zh-CN" altLang="en-US" sz="2400" b="0" dirty="0"/>
                  <a:t>在任何有限区间内，只有有限个间断点，且在这些间断点上，函数值有限。</a:t>
                </a:r>
              </a:p>
            </p:txBody>
          </p:sp>
        </mc:Choice>
        <mc:Fallback xmlns="">
          <p:sp>
            <p:nvSpPr>
              <p:cNvPr id="56326" name="内容占位符 2">
                <a:extLst>
                  <a:ext uri="{FF2B5EF4-FFF2-40B4-BE49-F238E27FC236}">
                    <a16:creationId xmlns:a16="http://schemas.microsoft.com/office/drawing/2014/main" id="{87B47616-EF1E-4DA1-AB9E-48E226E22BE9}"/>
                  </a:ext>
                </a:extLst>
              </p:cNvPr>
              <p:cNvSpPr>
                <a:spLocks noGrp="1" noRot="1" noChangeAspect="1" noMove="1" noResize="1" noEditPoints="1" noAdjustHandles="1" noChangeArrowheads="1" noChangeShapeType="1" noTextEdit="1"/>
              </p:cNvSpPr>
              <p:nvPr>
                <p:ph idx="1"/>
              </p:nvPr>
            </p:nvSpPr>
            <p:spPr>
              <a:xfrm>
                <a:off x="457200" y="1285875"/>
                <a:ext cx="8229600" cy="5214938"/>
              </a:xfrm>
              <a:blipFill>
                <a:blip r:embed="rId2"/>
                <a:stretch>
                  <a:fillRect l="-963" t="-585"/>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A6B60200-7A4C-4871-AB72-C02865BC4E2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C133A1B-5AFA-4EFD-856D-3CB7E42B60FB}" type="slidenum">
              <a:rPr lang="zh-CN" altLang="en-US">
                <a:solidFill>
                  <a:srgbClr val="898989"/>
                </a:solidFill>
                <a:latin typeface="Calibri" panose="020F0502020204030204" pitchFamily="34" charset="0"/>
              </a:rPr>
              <a:pPr eaLnBrk="1" hangingPunct="1"/>
              <a:t>30</a:t>
            </a:fld>
            <a:endParaRPr lang="zh-CN" altLang="en-US">
              <a:solidFill>
                <a:srgbClr val="898989"/>
              </a:solidFill>
              <a:latin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90665DCF-ECAE-434F-B84B-0CEB3EB72477}"/>
              </a:ext>
            </a:extLst>
          </p:cNvPr>
          <p:cNvSpPr>
            <a:spLocks noGrp="1"/>
          </p:cNvSpPr>
          <p:nvPr>
            <p:ph type="title"/>
          </p:nvPr>
        </p:nvSpPr>
        <p:spPr/>
        <p:txBody>
          <a:bodyPr/>
          <a:lstStyle/>
          <a:p>
            <a:r>
              <a:rPr lang="en-US" altLang="zh-CN">
                <a:solidFill>
                  <a:srgbClr val="000000"/>
                </a:solidFill>
              </a:rPr>
              <a:t>3.4 </a:t>
            </a:r>
            <a:r>
              <a:rPr lang="zh-CN" altLang="en-US">
                <a:solidFill>
                  <a:srgbClr val="000000"/>
                </a:solidFill>
              </a:rPr>
              <a:t>连续时间傅里叶级数的收敛</a:t>
            </a:r>
            <a:endParaRPr lang="zh-CN" altLang="en-US"/>
          </a:p>
        </p:txBody>
      </p:sp>
      <p:sp>
        <p:nvSpPr>
          <p:cNvPr id="3" name="内容占位符 2">
            <a:extLst>
              <a:ext uri="{FF2B5EF4-FFF2-40B4-BE49-F238E27FC236}">
                <a16:creationId xmlns:a16="http://schemas.microsoft.com/office/drawing/2014/main" id="{5B11145C-EB8E-481D-90CD-B1DE99D39A3D}"/>
              </a:ext>
            </a:extLst>
          </p:cNvPr>
          <p:cNvSpPr>
            <a:spLocks noGrp="1"/>
          </p:cNvSpPr>
          <p:nvPr>
            <p:ph idx="1"/>
          </p:nvPr>
        </p:nvSpPr>
        <p:spPr/>
        <p:txBody>
          <a:bodyPr/>
          <a:lstStyle/>
          <a:p>
            <a:pPr lvl="1"/>
            <a:r>
              <a:rPr lang="en-US" altLang="zh-CN" b="0" dirty="0"/>
              <a:t>Dirichlet</a:t>
            </a:r>
            <a:r>
              <a:rPr lang="zh-CN" altLang="en-US" b="0" dirty="0"/>
              <a:t>条件保证在间断点之外</a:t>
            </a:r>
            <a:r>
              <a:rPr lang="en-US" altLang="zh-CN" b="0" i="1" dirty="0"/>
              <a:t>x</a:t>
            </a:r>
            <a:r>
              <a:rPr lang="en-US" altLang="zh-CN" b="0" dirty="0"/>
              <a:t>(</a:t>
            </a:r>
            <a:r>
              <a:rPr lang="en-US" altLang="zh-CN" b="0" i="1" dirty="0"/>
              <a:t>t</a:t>
            </a:r>
            <a:r>
              <a:rPr lang="en-US" altLang="zh-CN" b="0" dirty="0"/>
              <a:t>)</a:t>
            </a:r>
            <a:r>
              <a:rPr lang="zh-CN" altLang="en-US" b="0" dirty="0"/>
              <a:t>等于它的傅里叶级数；而在间断点上，该无穷级数收敛于间断点两边值的平均值。</a:t>
            </a:r>
            <a:endParaRPr lang="en-US" altLang="zh-CN" b="0" dirty="0"/>
          </a:p>
          <a:p>
            <a:endParaRPr lang="en-US" altLang="zh-CN" sz="2800" b="0" dirty="0"/>
          </a:p>
          <a:p>
            <a:r>
              <a:rPr lang="zh-CN" altLang="en-US" sz="2800" b="0" dirty="0"/>
              <a:t>两组条件并不完全等价。它们都是傅里叶级数收敛的</a:t>
            </a:r>
            <a:r>
              <a:rPr lang="zh-CN" altLang="en-US" sz="2800" b="0" dirty="0">
                <a:solidFill>
                  <a:srgbClr val="FF0000"/>
                </a:solidFill>
              </a:rPr>
              <a:t>充分条件</a:t>
            </a:r>
            <a:r>
              <a:rPr lang="zh-CN" altLang="en-US" sz="2800" b="0" dirty="0"/>
              <a:t>。</a:t>
            </a:r>
            <a:endParaRPr lang="en-US" altLang="zh-CN" sz="2800" b="0" dirty="0"/>
          </a:p>
          <a:p>
            <a:r>
              <a:rPr lang="zh-CN" altLang="en-US" sz="2800" b="0" dirty="0"/>
              <a:t>相当广泛的信号都能满足这两组条件中的一组，因而用傅里叶级数表示周期信号具有相当的普遍适用性。</a:t>
            </a:r>
          </a:p>
        </p:txBody>
      </p:sp>
      <p:sp>
        <p:nvSpPr>
          <p:cNvPr id="4" name="灯片编号占位符 3">
            <a:extLst>
              <a:ext uri="{FF2B5EF4-FFF2-40B4-BE49-F238E27FC236}">
                <a16:creationId xmlns:a16="http://schemas.microsoft.com/office/drawing/2014/main" id="{C1325023-00B8-485E-8AA7-D4450944A2A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21BCFF-9745-4C7F-AB97-7B754907ED5B}" type="slidenum">
              <a:rPr lang="zh-CN" altLang="en-US">
                <a:solidFill>
                  <a:srgbClr val="898989"/>
                </a:solidFill>
                <a:latin typeface="Calibri" panose="020F0502020204030204" pitchFamily="34" charset="0"/>
              </a:rPr>
              <a:pPr eaLnBrk="1" hangingPunct="1"/>
              <a:t>31</a:t>
            </a:fld>
            <a:endParaRPr lang="zh-CN" altLang="en-US">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标题 1">
            <a:extLst>
              <a:ext uri="{FF2B5EF4-FFF2-40B4-BE49-F238E27FC236}">
                <a16:creationId xmlns:a16="http://schemas.microsoft.com/office/drawing/2014/main" id="{875848D2-4BA7-4FEE-840E-B44C5FA19A54}"/>
              </a:ext>
            </a:extLst>
          </p:cNvPr>
          <p:cNvSpPr>
            <a:spLocks noGrp="1"/>
          </p:cNvSpPr>
          <p:nvPr>
            <p:ph type="title"/>
          </p:nvPr>
        </p:nvSpPr>
        <p:spPr/>
        <p:txBody>
          <a:bodyPr/>
          <a:lstStyle/>
          <a:p>
            <a:r>
              <a:rPr lang="en-US" altLang="zh-CN">
                <a:solidFill>
                  <a:srgbClr val="000000"/>
                </a:solidFill>
              </a:rPr>
              <a:t>3.4 </a:t>
            </a:r>
            <a:r>
              <a:rPr lang="zh-CN" altLang="en-US">
                <a:solidFill>
                  <a:srgbClr val="000000"/>
                </a:solidFill>
              </a:rPr>
              <a:t>连续时间傅里叶级数的收敛</a:t>
            </a:r>
            <a:endParaRPr lang="zh-CN" altLang="en-US"/>
          </a:p>
        </p:txBody>
      </p:sp>
      <p:sp>
        <p:nvSpPr>
          <p:cNvPr id="57348" name="内容占位符 2">
            <a:extLst>
              <a:ext uri="{FF2B5EF4-FFF2-40B4-BE49-F238E27FC236}">
                <a16:creationId xmlns:a16="http://schemas.microsoft.com/office/drawing/2014/main" id="{2AD3C3A8-F21D-40DA-839B-65782C69BB08}"/>
              </a:ext>
            </a:extLst>
          </p:cNvPr>
          <p:cNvSpPr>
            <a:spLocks noGrp="1"/>
          </p:cNvSpPr>
          <p:nvPr>
            <p:ph idx="1"/>
          </p:nvPr>
        </p:nvSpPr>
        <p:spPr>
          <a:xfrm>
            <a:off x="457200" y="1269350"/>
            <a:ext cx="8229600" cy="4840288"/>
          </a:xfrm>
        </p:spPr>
        <p:txBody>
          <a:bodyPr/>
          <a:lstStyle/>
          <a:p>
            <a:r>
              <a:rPr lang="zh-CN" altLang="en-US" sz="2800" b="0" dirty="0"/>
              <a:t>几个不满足</a:t>
            </a:r>
            <a:r>
              <a:rPr lang="en-US" altLang="zh-CN" sz="2800" b="0" dirty="0"/>
              <a:t>Dirichlet</a:t>
            </a:r>
            <a:r>
              <a:rPr lang="zh-CN" altLang="en-US" sz="2800" b="0" dirty="0"/>
              <a:t>条件的信号</a:t>
            </a:r>
          </a:p>
        </p:txBody>
      </p:sp>
      <p:sp>
        <p:nvSpPr>
          <p:cNvPr id="4" name="灯片编号占位符 3">
            <a:extLst>
              <a:ext uri="{FF2B5EF4-FFF2-40B4-BE49-F238E27FC236}">
                <a16:creationId xmlns:a16="http://schemas.microsoft.com/office/drawing/2014/main" id="{E265AA2A-3C1B-43A4-8319-057D309C82A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A3E4A3-E0CA-4092-8F77-5FDDD1F88885}" type="slidenum">
              <a:rPr lang="zh-CN" altLang="en-US">
                <a:solidFill>
                  <a:srgbClr val="898989"/>
                </a:solidFill>
                <a:latin typeface="Calibri" panose="020F0502020204030204" pitchFamily="34" charset="0"/>
              </a:rPr>
              <a:pPr eaLnBrk="1" hangingPunct="1"/>
              <a:t>32</a:t>
            </a:fld>
            <a:endParaRPr lang="zh-CN" altLang="en-US">
              <a:solidFill>
                <a:srgbClr val="898989"/>
              </a:solidFill>
              <a:latin typeface="Calibri" panose="020F0502020204030204" pitchFamily="34" charset="0"/>
            </a:endParaRPr>
          </a:p>
        </p:txBody>
      </p:sp>
      <p:pic>
        <p:nvPicPr>
          <p:cNvPr id="5" name="Picture 4">
            <a:extLst>
              <a:ext uri="{FF2B5EF4-FFF2-40B4-BE49-F238E27FC236}">
                <a16:creationId xmlns:a16="http://schemas.microsoft.com/office/drawing/2014/main" id="{08C6DFB0-04A9-4E48-A324-2951414C62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857375"/>
            <a:ext cx="3492500"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B11FC67-4AEA-4152-8446-2C20C7DEA186}"/>
                  </a:ext>
                </a:extLst>
              </p:cNvPr>
              <p:cNvSpPr txBox="1">
                <a:spLocks noChangeArrowheads="1"/>
              </p:cNvSpPr>
              <p:nvPr/>
            </p:nvSpPr>
            <p:spPr bwMode="auto">
              <a:xfrm>
                <a:off x="592878" y="4048066"/>
                <a:ext cx="3878369" cy="4001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14:m>
                  <m:oMath xmlns:m="http://schemas.openxmlformats.org/officeDocument/2006/math">
                    <m:r>
                      <a:rPr lang="en-US" altLang="zh-CN" sz="2000" i="1" dirty="0" smtClean="0">
                        <a:latin typeface="Cambria Math" panose="02040503050406030204" pitchFamily="18" charset="0"/>
                        <a:ea typeface="华文楷体" panose="02010600040101010101" pitchFamily="2" charset="-122"/>
                      </a:rPr>
                      <m:t>𝑥</m:t>
                    </m:r>
                    <m:r>
                      <a:rPr lang="en-US" altLang="zh-CN" sz="2000" i="1" dirty="0" smtClean="0">
                        <a:latin typeface="Cambria Math" panose="02040503050406030204" pitchFamily="18" charset="0"/>
                        <a:ea typeface="华文楷体" panose="02010600040101010101" pitchFamily="2" charset="-122"/>
                      </a:rPr>
                      <m:t>(</m:t>
                    </m:r>
                    <m:r>
                      <a:rPr lang="en-US" altLang="zh-CN" sz="2000" i="1" dirty="0" smtClean="0">
                        <a:latin typeface="Cambria Math" panose="02040503050406030204" pitchFamily="18" charset="0"/>
                        <a:ea typeface="华文楷体" panose="02010600040101010101" pitchFamily="2" charset="-122"/>
                      </a:rPr>
                      <m:t>𝑡</m:t>
                    </m:r>
                    <m:r>
                      <a:rPr lang="en-US" altLang="zh-CN" sz="2000" i="1" dirty="0" smtClean="0">
                        <a:latin typeface="Cambria Math" panose="02040503050406030204" pitchFamily="18" charset="0"/>
                        <a:ea typeface="华文楷体" panose="02010600040101010101" pitchFamily="2" charset="-122"/>
                      </a:rPr>
                      <m:t>) = 1/</m:t>
                    </m:r>
                    <m:r>
                      <a:rPr lang="en-US" altLang="zh-CN" sz="2000" i="1" dirty="0" smtClean="0">
                        <a:latin typeface="Cambria Math" panose="02040503050406030204" pitchFamily="18" charset="0"/>
                        <a:ea typeface="华文楷体" panose="02010600040101010101" pitchFamily="2" charset="-122"/>
                      </a:rPr>
                      <m:t>𝑡</m:t>
                    </m:r>
                  </m:oMath>
                </a14:m>
                <a:r>
                  <a:rPr lang="en-US" altLang="zh-CN" sz="2000" dirty="0">
                    <a:latin typeface="Times New Roman" panose="02020603050405020304" pitchFamily="18" charset="0"/>
                    <a:ea typeface="华文楷体" panose="02010600040101010101" pitchFamily="2" charset="-122"/>
                  </a:rPr>
                  <a:t>, </a:t>
                </a:r>
                <a14:m>
                  <m:oMath xmlns:m="http://schemas.openxmlformats.org/officeDocument/2006/math">
                    <m:r>
                      <a:rPr lang="en-US" altLang="zh-CN" sz="2000" i="1" dirty="0" smtClean="0">
                        <a:latin typeface="Cambria Math" panose="02040503050406030204" pitchFamily="18" charset="0"/>
                        <a:ea typeface="华文楷体" panose="02010600040101010101" pitchFamily="2" charset="-122"/>
                      </a:rPr>
                      <m:t>0&lt;</m:t>
                    </m:r>
                    <m:r>
                      <a:rPr lang="en-US" altLang="zh-CN" sz="2000" i="1" dirty="0" smtClean="0">
                        <a:latin typeface="Cambria Math" panose="02040503050406030204" pitchFamily="18" charset="0"/>
                        <a:ea typeface="华文楷体" panose="02010600040101010101" pitchFamily="2" charset="-122"/>
                      </a:rPr>
                      <m:t>𝑡</m:t>
                    </m:r>
                    <m:r>
                      <a:rPr lang="en-US" altLang="zh-CN" sz="2000" i="1" dirty="0" smtClean="0">
                        <a:latin typeface="Cambria Math" panose="02040503050406030204" pitchFamily="18" charset="0"/>
                        <a:ea typeface="华文楷体" panose="02010600040101010101" pitchFamily="2" charset="-122"/>
                      </a:rPr>
                      <m:t>≤1</m:t>
                    </m:r>
                  </m:oMath>
                </a14:m>
                <a:r>
                  <a:rPr lang="zh-CN" altLang="en-US" sz="2000" dirty="0">
                    <a:latin typeface="Times New Roman" panose="02020603050405020304" pitchFamily="18" charset="0"/>
                    <a:ea typeface="华文楷体" panose="02010600040101010101" pitchFamily="2" charset="-122"/>
                  </a:rPr>
                  <a:t>，周期为</a:t>
                </a:r>
                <a:r>
                  <a:rPr lang="en-US" altLang="zh-CN" sz="2000" dirty="0">
                    <a:latin typeface="Times New Roman" panose="02020603050405020304" pitchFamily="18" charset="0"/>
                    <a:ea typeface="华文楷体" panose="02010600040101010101" pitchFamily="2" charset="-122"/>
                  </a:rPr>
                  <a:t>1.</a:t>
                </a:r>
                <a:endParaRPr lang="zh-CN" altLang="en-US" sz="2000" dirty="0">
                  <a:latin typeface="Times New Roman" panose="02020603050405020304" pitchFamily="18" charset="0"/>
                  <a:ea typeface="华文楷体" panose="02010600040101010101" pitchFamily="2" charset="-122"/>
                </a:endParaRPr>
              </a:p>
            </p:txBody>
          </p:sp>
        </mc:Choice>
        <mc:Fallback xmlns="">
          <p:sp>
            <p:nvSpPr>
              <p:cNvPr id="6" name="TextBox 5">
                <a:extLst>
                  <a:ext uri="{FF2B5EF4-FFF2-40B4-BE49-F238E27FC236}">
                    <a16:creationId xmlns:a16="http://schemas.microsoft.com/office/drawing/2014/main" id="{BB11FC67-4AEA-4152-8446-2C20C7DEA186}"/>
                  </a:ext>
                </a:extLst>
              </p:cNvPr>
              <p:cNvSpPr txBox="1">
                <a:spLocks noRot="1" noChangeAspect="1" noMove="1" noResize="1" noEditPoints="1" noAdjustHandles="1" noChangeArrowheads="1" noChangeShapeType="1" noTextEdit="1"/>
              </p:cNvSpPr>
              <p:nvPr/>
            </p:nvSpPr>
            <p:spPr bwMode="auto">
              <a:xfrm>
                <a:off x="592878" y="4048066"/>
                <a:ext cx="3878369" cy="400110"/>
              </a:xfrm>
              <a:prstGeom prst="rect">
                <a:avLst/>
              </a:prstGeom>
              <a:blipFill>
                <a:blip r:embed="rId3"/>
                <a:stretch>
                  <a:fillRect t="-9091" r="-1258" b="-2727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7" name="Picture 5">
            <a:extLst>
              <a:ext uri="{FF2B5EF4-FFF2-40B4-BE49-F238E27FC236}">
                <a16:creationId xmlns:a16="http://schemas.microsoft.com/office/drawing/2014/main" id="{81C994E5-C2E2-472D-83FF-8283881595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0" y="1828800"/>
            <a:ext cx="3643313"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8" name="Object 2">
                <a:extLst>
                  <a:ext uri="{FF2B5EF4-FFF2-40B4-BE49-F238E27FC236}">
                    <a16:creationId xmlns:a16="http://schemas.microsoft.com/office/drawing/2014/main" id="{88C6C33F-76B0-4505-B372-19907833B0EE}"/>
                  </a:ext>
                </a:extLst>
              </p:cNvPr>
              <p:cNvSpPr txBox="1"/>
              <p:nvPr/>
            </p:nvSpPr>
            <p:spPr bwMode="auto">
              <a:xfrm>
                <a:off x="5021796" y="4048066"/>
                <a:ext cx="3315220" cy="400110"/>
              </a:xfrm>
              <a:prstGeom prst="rect">
                <a:avLst/>
              </a:prstGeom>
              <a:noFill/>
              <a:ln>
                <a:noFill/>
              </a:ln>
              <a:effectLst/>
            </p:spPr>
            <p:txBody>
              <a:bodyPr wrap="square">
                <a:sp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𝑥</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m:t>
                      </m:r>
                      <m:func>
                        <m:funcPr>
                          <m:ctrlPr>
                            <a:rPr lang="en-US" sz="2000" i="1">
                              <a:solidFill>
                                <a:srgbClr val="000000"/>
                              </a:solidFill>
                              <a:latin typeface="Cambria Math" panose="02040503050406030204" pitchFamily="18" charset="0"/>
                            </a:rPr>
                          </m:ctrlPr>
                        </m:funcPr>
                        <m:fName>
                          <m:r>
                            <m:rPr>
                              <m:sty m:val="p"/>
                            </m:rPr>
                            <a:rPr lang="en-US" sz="2000" i="0">
                              <a:solidFill>
                                <a:srgbClr val="000000"/>
                              </a:solidFill>
                              <a:latin typeface="Cambria Math" panose="02040503050406030204" pitchFamily="18" charset="0"/>
                            </a:rPr>
                            <m:t>sin</m:t>
                          </m:r>
                        </m:fName>
                        <m:e>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𝜋</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𝑡</m:t>
                              </m:r>
                            </m:e>
                          </m:d>
                        </m:e>
                      </m:func>
                      <m:r>
                        <a:rPr lang="en-US" sz="2000" i="1">
                          <a:solidFill>
                            <a:srgbClr val="000000"/>
                          </a:solidFill>
                          <a:latin typeface="Cambria Math" panose="02040503050406030204" pitchFamily="18" charset="0"/>
                        </a:rPr>
                        <m:t>,0&lt;</m:t>
                      </m:r>
                      <m:r>
                        <a:rPr lang="en-US" sz="2000" i="1">
                          <a:solidFill>
                            <a:srgbClr val="000000"/>
                          </a:solidFill>
                          <a:latin typeface="Cambria Math" panose="02040503050406030204" pitchFamily="18" charset="0"/>
                        </a:rPr>
                        <m:t>𝑡</m:t>
                      </m:r>
                      <m:r>
                        <a:rPr lang="en-US" sz="2000" i="1">
                          <a:solidFill>
                            <a:srgbClr val="000000"/>
                          </a:solidFill>
                          <a:latin typeface="Cambria Math" panose="02040503050406030204" pitchFamily="18" charset="0"/>
                        </a:rPr>
                        <m:t>≤1</m:t>
                      </m:r>
                    </m:oMath>
                  </m:oMathPara>
                </a14:m>
                <a:endParaRPr lang="en-US" sz="2000" dirty="0"/>
              </a:p>
            </p:txBody>
          </p:sp>
        </mc:Choice>
        <mc:Fallback xmlns="">
          <p:sp>
            <p:nvSpPr>
              <p:cNvPr id="8" name="Object 2">
                <a:extLst>
                  <a:ext uri="{FF2B5EF4-FFF2-40B4-BE49-F238E27FC236}">
                    <a16:creationId xmlns:a16="http://schemas.microsoft.com/office/drawing/2014/main" id="{88C6C33F-76B0-4505-B372-19907833B0EE}"/>
                  </a:ext>
                </a:extLst>
              </p:cNvPr>
              <p:cNvSpPr txBox="1">
                <a:spLocks noRot="1" noChangeAspect="1" noMove="1" noResize="1" noEditPoints="1" noAdjustHandles="1" noChangeArrowheads="1" noChangeShapeType="1" noTextEdit="1"/>
              </p:cNvSpPr>
              <p:nvPr/>
            </p:nvSpPr>
            <p:spPr bwMode="auto">
              <a:xfrm>
                <a:off x="5021796" y="4048066"/>
                <a:ext cx="3315220" cy="400110"/>
              </a:xfrm>
              <a:prstGeom prst="rect">
                <a:avLst/>
              </a:prstGeom>
              <a:blipFill>
                <a:blip r:embed="rId5"/>
                <a:stretch>
                  <a:fillRect b="-18182"/>
                </a:stretch>
              </a:blipFill>
              <a:ln>
                <a:noFill/>
              </a:ln>
              <a:effectLst/>
            </p:spPr>
            <p:txBody>
              <a:bodyPr/>
              <a:lstStyle/>
              <a:p>
                <a:r>
                  <a:rPr lang="en-US">
                    <a:noFill/>
                  </a:rPr>
                  <a:t> </a:t>
                </a:r>
              </a:p>
            </p:txBody>
          </p:sp>
        </mc:Fallback>
      </mc:AlternateContent>
      <p:pic>
        <p:nvPicPr>
          <p:cNvPr id="9" name="Picture 8">
            <a:extLst>
              <a:ext uri="{FF2B5EF4-FFF2-40B4-BE49-F238E27FC236}">
                <a16:creationId xmlns:a16="http://schemas.microsoft.com/office/drawing/2014/main" id="{AB675C54-C3F4-4EE8-924B-4ACF01326F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7375" y="4500563"/>
            <a:ext cx="5429250" cy="217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6950586" y="5130702"/>
            <a:ext cx="1338828" cy="369332"/>
          </a:xfrm>
          <a:prstGeom prst="rect">
            <a:avLst/>
          </a:prstGeom>
        </p:spPr>
        <p:txBody>
          <a:bodyPr wrap="none">
            <a:spAutoFit/>
          </a:bodyPr>
          <a:lstStyle/>
          <a:p>
            <a:r>
              <a:rPr lang="zh-CN" altLang="en-US" dirty="0"/>
              <a:t>无穷间断点</a:t>
            </a:r>
          </a:p>
        </p:txBody>
      </p:sp>
      <p:sp>
        <p:nvSpPr>
          <p:cNvPr id="12" name="文本框 11">
            <a:extLst>
              <a:ext uri="{FF2B5EF4-FFF2-40B4-BE49-F238E27FC236}">
                <a16:creationId xmlns:a16="http://schemas.microsoft.com/office/drawing/2014/main" id="{F975C9C9-C933-4494-9DD9-89B7DED29E2C}"/>
              </a:ext>
            </a:extLst>
          </p:cNvPr>
          <p:cNvSpPr txBox="1"/>
          <p:nvPr/>
        </p:nvSpPr>
        <p:spPr>
          <a:xfrm>
            <a:off x="3495415" y="1828800"/>
            <a:ext cx="1130162" cy="276999"/>
          </a:xfrm>
          <a:prstGeom prst="rect">
            <a:avLst/>
          </a:prstGeom>
          <a:noFill/>
        </p:spPr>
        <p:txBody>
          <a:bodyPr wrap="square">
            <a:spAutoFit/>
          </a:bodyPr>
          <a:lstStyle/>
          <a:p>
            <a:r>
              <a:rPr lang="zh-CN" altLang="en-US" sz="1200" b="0" dirty="0"/>
              <a:t>条件</a:t>
            </a:r>
            <a:r>
              <a:rPr lang="en-US" altLang="zh-CN" sz="1200" b="0" dirty="0"/>
              <a:t>1</a:t>
            </a:r>
            <a:r>
              <a:rPr lang="zh-CN" altLang="en-US" sz="1200" b="0" dirty="0"/>
              <a:t>不满足</a:t>
            </a:r>
            <a:endParaRPr lang="zh-CN" altLang="en-US" sz="1200" dirty="0"/>
          </a:p>
        </p:txBody>
      </p:sp>
      <p:sp>
        <p:nvSpPr>
          <p:cNvPr id="13" name="文本框 12">
            <a:extLst>
              <a:ext uri="{FF2B5EF4-FFF2-40B4-BE49-F238E27FC236}">
                <a16:creationId xmlns:a16="http://schemas.microsoft.com/office/drawing/2014/main" id="{3D463E48-BDF8-404B-95D1-C8955B29E122}"/>
              </a:ext>
            </a:extLst>
          </p:cNvPr>
          <p:cNvSpPr txBox="1"/>
          <p:nvPr/>
        </p:nvSpPr>
        <p:spPr>
          <a:xfrm>
            <a:off x="7374042" y="1857375"/>
            <a:ext cx="1130162" cy="276999"/>
          </a:xfrm>
          <a:prstGeom prst="rect">
            <a:avLst/>
          </a:prstGeom>
          <a:noFill/>
        </p:spPr>
        <p:txBody>
          <a:bodyPr wrap="square">
            <a:spAutoFit/>
          </a:bodyPr>
          <a:lstStyle/>
          <a:p>
            <a:r>
              <a:rPr lang="zh-CN" altLang="en-US" sz="1200" b="0" dirty="0"/>
              <a:t>条件</a:t>
            </a:r>
            <a:r>
              <a:rPr lang="en-US" altLang="zh-CN" sz="1200" b="0" dirty="0"/>
              <a:t>2</a:t>
            </a:r>
            <a:r>
              <a:rPr lang="zh-CN" altLang="en-US" sz="1200" b="0" dirty="0"/>
              <a:t>不满足</a:t>
            </a:r>
            <a:endParaRPr lang="zh-CN" altLang="en-US" sz="1200" dirty="0"/>
          </a:p>
        </p:txBody>
      </p:sp>
      <p:sp>
        <p:nvSpPr>
          <p:cNvPr id="14" name="文本框 13">
            <a:extLst>
              <a:ext uri="{FF2B5EF4-FFF2-40B4-BE49-F238E27FC236}">
                <a16:creationId xmlns:a16="http://schemas.microsoft.com/office/drawing/2014/main" id="{65DEC58D-EB29-406E-BB87-B80559FCC6DC}"/>
              </a:ext>
            </a:extLst>
          </p:cNvPr>
          <p:cNvSpPr txBox="1"/>
          <p:nvPr/>
        </p:nvSpPr>
        <p:spPr>
          <a:xfrm>
            <a:off x="696615" y="5500034"/>
            <a:ext cx="1130162" cy="276999"/>
          </a:xfrm>
          <a:prstGeom prst="rect">
            <a:avLst/>
          </a:prstGeom>
          <a:noFill/>
        </p:spPr>
        <p:txBody>
          <a:bodyPr wrap="square">
            <a:spAutoFit/>
          </a:bodyPr>
          <a:lstStyle/>
          <a:p>
            <a:r>
              <a:rPr lang="zh-CN" altLang="en-US" sz="1200" b="0" dirty="0"/>
              <a:t>条件</a:t>
            </a:r>
            <a:r>
              <a:rPr lang="en-US" altLang="zh-CN" sz="1200" b="0" dirty="0"/>
              <a:t>3</a:t>
            </a:r>
            <a:r>
              <a:rPr lang="zh-CN" altLang="en-US" sz="1200" b="0" dirty="0"/>
              <a:t>不满足</a:t>
            </a:r>
            <a:endParaRPr lang="zh-CN"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5" name="标题 1">
            <a:extLst>
              <a:ext uri="{FF2B5EF4-FFF2-40B4-BE49-F238E27FC236}">
                <a16:creationId xmlns:a16="http://schemas.microsoft.com/office/drawing/2014/main" id="{22EF9E53-C86E-4BD0-9AC1-9428278BA5EB}"/>
              </a:ext>
            </a:extLst>
          </p:cNvPr>
          <p:cNvSpPr>
            <a:spLocks noGrp="1"/>
          </p:cNvSpPr>
          <p:nvPr>
            <p:ph type="title"/>
          </p:nvPr>
        </p:nvSpPr>
        <p:spPr/>
        <p:txBody>
          <a:bodyPr/>
          <a:lstStyle/>
          <a:p>
            <a:r>
              <a:rPr lang="en-US" altLang="zh-CN">
                <a:solidFill>
                  <a:srgbClr val="000000"/>
                </a:solidFill>
              </a:rPr>
              <a:t>3.4 </a:t>
            </a:r>
            <a:r>
              <a:rPr lang="zh-CN" altLang="en-US">
                <a:solidFill>
                  <a:srgbClr val="000000"/>
                </a:solidFill>
              </a:rPr>
              <a:t>连续时间傅里叶级数的收敛</a:t>
            </a:r>
            <a:endParaRPr lang="zh-CN" altLang="en-US"/>
          </a:p>
        </p:txBody>
      </p:sp>
      <mc:AlternateContent xmlns:mc="http://schemas.openxmlformats.org/markup-compatibility/2006" xmlns:a14="http://schemas.microsoft.com/office/drawing/2010/main">
        <mc:Choice Requires="a14">
          <p:sp>
            <p:nvSpPr>
              <p:cNvPr id="58376" name="内容占位符 2">
                <a:extLst>
                  <a:ext uri="{FF2B5EF4-FFF2-40B4-BE49-F238E27FC236}">
                    <a16:creationId xmlns:a16="http://schemas.microsoft.com/office/drawing/2014/main" id="{F786DA4A-720B-47FA-A3D2-3FDA7D3228E9}"/>
                  </a:ext>
                </a:extLst>
              </p:cNvPr>
              <p:cNvSpPr>
                <a:spLocks noGrp="1"/>
              </p:cNvSpPr>
              <p:nvPr>
                <p:ph idx="1"/>
              </p:nvPr>
            </p:nvSpPr>
            <p:spPr/>
            <p:txBody>
              <a:bodyPr/>
              <a:lstStyle/>
              <a:p>
                <a:pPr marL="0" indent="0">
                  <a:buNone/>
                </a:pPr>
                <a:r>
                  <a:rPr lang="zh-CN" altLang="en-US" sz="2800" b="0" dirty="0">
                    <a:solidFill>
                      <a:srgbClr val="0000FF"/>
                    </a:solidFill>
                  </a:rPr>
                  <a:t>三</a:t>
                </a:r>
                <a:r>
                  <a:rPr lang="en-US" altLang="zh-CN" sz="2800" b="0" dirty="0">
                    <a:solidFill>
                      <a:srgbClr val="0000FF"/>
                    </a:solidFill>
                  </a:rPr>
                  <a:t>. Gibbs</a:t>
                </a:r>
                <a:r>
                  <a:rPr lang="zh-CN" altLang="en-US" sz="2800" b="0" dirty="0">
                    <a:solidFill>
                      <a:srgbClr val="0000FF"/>
                    </a:solidFill>
                  </a:rPr>
                  <a:t>现象</a:t>
                </a:r>
                <a:endParaRPr lang="en-US" altLang="zh-CN" sz="2800" b="0" dirty="0">
                  <a:solidFill>
                    <a:srgbClr val="0000FF"/>
                  </a:solidFill>
                </a:endParaRPr>
              </a:p>
              <a:p>
                <a:r>
                  <a:rPr lang="zh-CN" altLang="en-US" sz="2800" b="0" dirty="0"/>
                  <a:t>满足 </a:t>
                </a:r>
                <a:r>
                  <a:rPr lang="en-US" altLang="zh-CN" sz="2800" b="0" dirty="0"/>
                  <a:t>Dirichlet</a:t>
                </a:r>
                <a:r>
                  <a:rPr lang="zh-CN" altLang="en-US" sz="2800" b="0" dirty="0"/>
                  <a:t>条件的信号，其傅里叶级数是如何收敛于</a:t>
                </a:r>
                <a14:m>
                  <m:oMath xmlns:m="http://schemas.openxmlformats.org/officeDocument/2006/math">
                    <m:r>
                      <a:rPr lang="en-US" sz="2800" i="1" smtClean="0">
                        <a:solidFill>
                          <a:srgbClr val="000000"/>
                        </a:solidFill>
                        <a:latin typeface="Cambria Math" panose="02040503050406030204" pitchFamily="18" charset="0"/>
                      </a:rPr>
                      <m:t>𝑥</m:t>
                    </m:r>
                    <m:r>
                      <a:rPr lang="en-US" sz="2800" i="1" smtClean="0">
                        <a:solidFill>
                          <a:srgbClr val="000000"/>
                        </a:solidFill>
                        <a:latin typeface="Cambria Math" panose="02040503050406030204" pitchFamily="18" charset="0"/>
                      </a:rPr>
                      <m:t>(</m:t>
                    </m:r>
                    <m:r>
                      <a:rPr lang="en-US" sz="2800" i="1" smtClean="0">
                        <a:solidFill>
                          <a:srgbClr val="000000"/>
                        </a:solidFill>
                        <a:latin typeface="Cambria Math" panose="02040503050406030204" pitchFamily="18" charset="0"/>
                      </a:rPr>
                      <m:t>𝑡</m:t>
                    </m:r>
                    <m:r>
                      <a:rPr lang="en-US" sz="2800" i="1" smtClean="0">
                        <a:solidFill>
                          <a:srgbClr val="000000"/>
                        </a:solidFill>
                        <a:latin typeface="Cambria Math" panose="02040503050406030204" pitchFamily="18" charset="0"/>
                      </a:rPr>
                      <m:t>)</m:t>
                    </m:r>
                  </m:oMath>
                </a14:m>
                <a:r>
                  <a:rPr lang="zh-CN" altLang="en-US" sz="2800" b="0" dirty="0"/>
                  <a:t>的？特别当</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m:t>
                    </m:r>
                  </m:oMath>
                </a14:m>
                <a:r>
                  <a:rPr lang="zh-CN" altLang="en-US" sz="2800" b="0" dirty="0"/>
                  <a:t>具有间断点时，在间断点附近，如何收敛于</a:t>
                </a:r>
                <a14:m>
                  <m:oMath xmlns:m="http://schemas.openxmlformats.org/officeDocument/2006/math">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𝑡</m:t>
                    </m:r>
                    <m:r>
                      <a:rPr lang="en-US" sz="2800" i="1">
                        <a:solidFill>
                          <a:srgbClr val="000000"/>
                        </a:solidFill>
                        <a:latin typeface="Cambria Math" panose="02040503050406030204" pitchFamily="18" charset="0"/>
                      </a:rPr>
                      <m:t>) </m:t>
                    </m:r>
                  </m:oMath>
                </a14:m>
                <a:r>
                  <a:rPr lang="zh-CN" altLang="en-US" sz="2800" b="0" dirty="0"/>
                  <a:t>？</a:t>
                </a:r>
              </a:p>
            </p:txBody>
          </p:sp>
        </mc:Choice>
        <mc:Fallback xmlns="">
          <p:sp>
            <p:nvSpPr>
              <p:cNvPr id="58376" name="内容占位符 2">
                <a:extLst>
                  <a:ext uri="{FF2B5EF4-FFF2-40B4-BE49-F238E27FC236}">
                    <a16:creationId xmlns:a16="http://schemas.microsoft.com/office/drawing/2014/main" id="{F786DA4A-720B-47FA-A3D2-3FDA7D3228E9}"/>
                  </a:ext>
                </a:extLst>
              </p:cNvPr>
              <p:cNvSpPr>
                <a:spLocks noGrp="1" noRot="1" noChangeAspect="1" noMove="1" noResize="1" noEditPoints="1" noAdjustHandles="1" noChangeArrowheads="1" noChangeShapeType="1" noTextEdit="1"/>
              </p:cNvSpPr>
              <p:nvPr>
                <p:ph idx="1"/>
              </p:nvPr>
            </p:nvSpPr>
            <p:spPr>
              <a:blipFill>
                <a:blip r:embed="rId3"/>
                <a:stretch>
                  <a:fillRect l="-1481" t="-1637" r="-963"/>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CD68FFBA-D697-4282-96C3-28AE1C8FA13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71EB94-EC00-4D15-A71A-1858D516C2FC}" type="slidenum">
              <a:rPr lang="zh-CN" altLang="en-US">
                <a:solidFill>
                  <a:srgbClr val="898989"/>
                </a:solidFill>
                <a:latin typeface="Calibri" panose="020F0502020204030204" pitchFamily="34" charset="0"/>
              </a:rPr>
              <a:pPr eaLnBrk="1" hangingPunct="1"/>
              <a:t>33</a:t>
            </a:fld>
            <a:endParaRPr lang="zh-CN" altLang="en-US">
              <a:solidFill>
                <a:srgbClr val="898989"/>
              </a:solidFill>
              <a:latin typeface="Calibri" panose="020F0502020204030204" pitchFamily="34" charset="0"/>
            </a:endParaRPr>
          </a:p>
        </p:txBody>
      </p:sp>
      <p:grpSp>
        <p:nvGrpSpPr>
          <p:cNvPr id="58378" name="Group 2">
            <a:extLst>
              <a:ext uri="{FF2B5EF4-FFF2-40B4-BE49-F238E27FC236}">
                <a16:creationId xmlns:a16="http://schemas.microsoft.com/office/drawing/2014/main" id="{44C048CF-115D-4F8A-864F-713DD5173EF9}"/>
              </a:ext>
            </a:extLst>
          </p:cNvPr>
          <p:cNvGrpSpPr>
            <a:grpSpLocks/>
          </p:cNvGrpSpPr>
          <p:nvPr/>
        </p:nvGrpSpPr>
        <p:grpSpPr bwMode="auto">
          <a:xfrm>
            <a:off x="528638" y="3357563"/>
            <a:ext cx="4114800" cy="2736850"/>
            <a:chOff x="432" y="484"/>
            <a:chExt cx="2592" cy="1724"/>
          </a:xfrm>
        </p:grpSpPr>
        <p:pic>
          <p:nvPicPr>
            <p:cNvPr id="58381" name="Picture 3">
              <a:extLst>
                <a:ext uri="{FF2B5EF4-FFF2-40B4-BE49-F238E27FC236}">
                  <a16:creationId xmlns:a16="http://schemas.microsoft.com/office/drawing/2014/main" id="{329E13C9-7292-4640-8E7B-CFC04AFDF5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 y="484"/>
              <a:ext cx="2256" cy="1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8374" name="Object 5">
              <a:extLst>
                <a:ext uri="{FF2B5EF4-FFF2-40B4-BE49-F238E27FC236}">
                  <a16:creationId xmlns:a16="http://schemas.microsoft.com/office/drawing/2014/main" id="{9E8B43EB-82DD-4C5E-934F-EF411AAA3585}"/>
                </a:ext>
              </a:extLst>
            </p:cNvPr>
            <p:cNvGraphicFramePr>
              <a:graphicFrameLocks noChangeAspect="1"/>
            </p:cNvGraphicFramePr>
            <p:nvPr/>
          </p:nvGraphicFramePr>
          <p:xfrm>
            <a:off x="432" y="720"/>
            <a:ext cx="480" cy="231"/>
          </p:xfrm>
          <a:graphic>
            <a:graphicData uri="http://schemas.openxmlformats.org/presentationml/2006/ole">
              <mc:AlternateContent xmlns:mc="http://schemas.openxmlformats.org/markup-compatibility/2006">
                <mc:Choice xmlns:v="urn:schemas-microsoft-com:vml" Requires="v">
                  <p:oleObj spid="_x0000_s8331" name="Equation" r:id="rId5" imgW="368280" imgH="177480" progId="Equation.DSMT4">
                    <p:embed/>
                  </p:oleObj>
                </mc:Choice>
                <mc:Fallback>
                  <p:oleObj name="Equation" r:id="rId5" imgW="368280" imgH="17748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 y="72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5">
            <a:extLst>
              <a:ext uri="{FF2B5EF4-FFF2-40B4-BE49-F238E27FC236}">
                <a16:creationId xmlns:a16="http://schemas.microsoft.com/office/drawing/2014/main" id="{75B1AD0C-B4B2-4AFA-9319-6C507934E01B}"/>
              </a:ext>
            </a:extLst>
          </p:cNvPr>
          <p:cNvGrpSpPr>
            <a:grpSpLocks/>
          </p:cNvGrpSpPr>
          <p:nvPr/>
        </p:nvGrpSpPr>
        <p:grpSpPr bwMode="auto">
          <a:xfrm>
            <a:off x="4610100" y="3357563"/>
            <a:ext cx="4176713" cy="2736850"/>
            <a:chOff x="2889" y="472"/>
            <a:chExt cx="2631" cy="1724"/>
          </a:xfrm>
        </p:grpSpPr>
        <p:pic>
          <p:nvPicPr>
            <p:cNvPr id="58380" name="Picture 6">
              <a:extLst>
                <a:ext uri="{FF2B5EF4-FFF2-40B4-BE49-F238E27FC236}">
                  <a16:creationId xmlns:a16="http://schemas.microsoft.com/office/drawing/2014/main" id="{5E6E80B3-DBF5-4A71-92E8-203C62B4ED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9" y="472"/>
              <a:ext cx="2304" cy="1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8373" name="Object 6">
              <a:extLst>
                <a:ext uri="{FF2B5EF4-FFF2-40B4-BE49-F238E27FC236}">
                  <a16:creationId xmlns:a16="http://schemas.microsoft.com/office/drawing/2014/main" id="{05E71949-1F73-454F-8B50-07FF4E5CCEA7}"/>
                </a:ext>
              </a:extLst>
            </p:cNvPr>
            <p:cNvGraphicFramePr>
              <a:graphicFrameLocks noChangeAspect="1"/>
            </p:cNvGraphicFramePr>
            <p:nvPr/>
          </p:nvGraphicFramePr>
          <p:xfrm>
            <a:off x="5040" y="672"/>
            <a:ext cx="480" cy="216"/>
          </p:xfrm>
          <a:graphic>
            <a:graphicData uri="http://schemas.openxmlformats.org/presentationml/2006/ole">
              <mc:AlternateContent xmlns:mc="http://schemas.openxmlformats.org/markup-compatibility/2006">
                <mc:Choice xmlns:v="urn:schemas-microsoft-com:vml" Requires="v">
                  <p:oleObj spid="_x0000_s8332" name="Equation" r:id="rId8" imgW="393480" imgH="177480" progId="Equation.DSMT4">
                    <p:embed/>
                  </p:oleObj>
                </mc:Choice>
                <mc:Fallback>
                  <p:oleObj name="Equation" r:id="rId8" imgW="393480" imgH="17748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40" y="672"/>
                          <a:ext cx="480"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标题 1">
            <a:extLst>
              <a:ext uri="{FF2B5EF4-FFF2-40B4-BE49-F238E27FC236}">
                <a16:creationId xmlns:a16="http://schemas.microsoft.com/office/drawing/2014/main" id="{D708E102-C4A7-49E2-80DA-1509C2A4F2C1}"/>
              </a:ext>
            </a:extLst>
          </p:cNvPr>
          <p:cNvSpPr>
            <a:spLocks noGrp="1"/>
          </p:cNvSpPr>
          <p:nvPr>
            <p:ph type="title"/>
          </p:nvPr>
        </p:nvSpPr>
        <p:spPr/>
        <p:txBody>
          <a:bodyPr/>
          <a:lstStyle/>
          <a:p>
            <a:r>
              <a:rPr lang="en-US" altLang="zh-CN">
                <a:solidFill>
                  <a:srgbClr val="000000"/>
                </a:solidFill>
              </a:rPr>
              <a:t>3.4 </a:t>
            </a:r>
            <a:r>
              <a:rPr lang="zh-CN" altLang="en-US">
                <a:solidFill>
                  <a:srgbClr val="000000"/>
                </a:solidFill>
              </a:rPr>
              <a:t>连续时间傅里叶级数的收敛</a:t>
            </a:r>
            <a:endParaRPr lang="zh-CN" altLang="en-US"/>
          </a:p>
        </p:txBody>
      </p:sp>
      <p:sp>
        <p:nvSpPr>
          <p:cNvPr id="4" name="灯片编号占位符 3">
            <a:extLst>
              <a:ext uri="{FF2B5EF4-FFF2-40B4-BE49-F238E27FC236}">
                <a16:creationId xmlns:a16="http://schemas.microsoft.com/office/drawing/2014/main" id="{88765A15-765D-468F-A069-BB3813924C8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20865E9-4A75-41D3-9329-70646F151130}" type="slidenum">
              <a:rPr lang="zh-CN" altLang="en-US">
                <a:solidFill>
                  <a:srgbClr val="898989"/>
                </a:solidFill>
                <a:latin typeface="Calibri" panose="020F0502020204030204" pitchFamily="34" charset="0"/>
              </a:rPr>
              <a:pPr eaLnBrk="1" hangingPunct="1"/>
              <a:t>34</a:t>
            </a:fld>
            <a:endParaRPr lang="zh-CN" altLang="en-US">
              <a:solidFill>
                <a:srgbClr val="898989"/>
              </a:solidFill>
              <a:latin typeface="Calibri" panose="020F0502020204030204" pitchFamily="34" charset="0"/>
            </a:endParaRPr>
          </a:p>
        </p:txBody>
      </p:sp>
      <p:grpSp>
        <p:nvGrpSpPr>
          <p:cNvPr id="59399" name="Group 8">
            <a:extLst>
              <a:ext uri="{FF2B5EF4-FFF2-40B4-BE49-F238E27FC236}">
                <a16:creationId xmlns:a16="http://schemas.microsoft.com/office/drawing/2014/main" id="{86251F5C-A9A6-4E92-A7F2-05DBB30D833D}"/>
              </a:ext>
            </a:extLst>
          </p:cNvPr>
          <p:cNvGrpSpPr>
            <a:grpSpLocks/>
          </p:cNvGrpSpPr>
          <p:nvPr/>
        </p:nvGrpSpPr>
        <p:grpSpPr bwMode="auto">
          <a:xfrm>
            <a:off x="428625" y="1314450"/>
            <a:ext cx="4114800" cy="2708275"/>
            <a:chOff x="432" y="2243"/>
            <a:chExt cx="2592" cy="1706"/>
          </a:xfrm>
        </p:grpSpPr>
        <p:pic>
          <p:nvPicPr>
            <p:cNvPr id="59403" name="Picture 9">
              <a:extLst>
                <a:ext uri="{FF2B5EF4-FFF2-40B4-BE49-F238E27FC236}">
                  <a16:creationId xmlns:a16="http://schemas.microsoft.com/office/drawing/2014/main" id="{9104CAD8-E14C-42B7-AE6E-30374257A8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2243"/>
              <a:ext cx="2256" cy="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9396" name="Object 2">
              <a:extLst>
                <a:ext uri="{FF2B5EF4-FFF2-40B4-BE49-F238E27FC236}">
                  <a16:creationId xmlns:a16="http://schemas.microsoft.com/office/drawing/2014/main" id="{29DB11E7-D744-4CE7-9FBF-F5D258562F5F}"/>
                </a:ext>
              </a:extLst>
            </p:cNvPr>
            <p:cNvGraphicFramePr>
              <a:graphicFrameLocks noChangeAspect="1"/>
            </p:cNvGraphicFramePr>
            <p:nvPr/>
          </p:nvGraphicFramePr>
          <p:xfrm>
            <a:off x="432" y="2448"/>
            <a:ext cx="544" cy="238"/>
          </p:xfrm>
          <a:graphic>
            <a:graphicData uri="http://schemas.openxmlformats.org/presentationml/2006/ole">
              <mc:AlternateContent xmlns:mc="http://schemas.openxmlformats.org/markup-compatibility/2006">
                <mc:Choice xmlns:v="urn:schemas-microsoft-com:vml" Requires="v">
                  <p:oleObj spid="_x0000_s9383" name="Equation" r:id="rId4" imgW="406080" imgH="177480" progId="Equation.DSMT4">
                    <p:embed/>
                  </p:oleObj>
                </mc:Choice>
                <mc:Fallback>
                  <p:oleObj name="Equation" r:id="rId4" imgW="406080" imgH="17748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 y="2448"/>
                          <a:ext cx="544"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11">
            <a:extLst>
              <a:ext uri="{FF2B5EF4-FFF2-40B4-BE49-F238E27FC236}">
                <a16:creationId xmlns:a16="http://schemas.microsoft.com/office/drawing/2014/main" id="{F1394A40-0840-4C3B-87B4-6FEEEFE90D40}"/>
              </a:ext>
            </a:extLst>
          </p:cNvPr>
          <p:cNvGrpSpPr>
            <a:grpSpLocks/>
          </p:cNvGrpSpPr>
          <p:nvPr/>
        </p:nvGrpSpPr>
        <p:grpSpPr bwMode="auto">
          <a:xfrm>
            <a:off x="4357688" y="1285875"/>
            <a:ext cx="4343400" cy="2733675"/>
            <a:chOff x="2880" y="2225"/>
            <a:chExt cx="2736" cy="1722"/>
          </a:xfrm>
        </p:grpSpPr>
        <p:pic>
          <p:nvPicPr>
            <p:cNvPr id="59402" name="Picture 12">
              <a:extLst>
                <a:ext uri="{FF2B5EF4-FFF2-40B4-BE49-F238E27FC236}">
                  <a16:creationId xmlns:a16="http://schemas.microsoft.com/office/drawing/2014/main" id="{E082250D-591B-479D-8F5E-C8F4C0B995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0" y="2225"/>
              <a:ext cx="2352" cy="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9395" name="Object 3">
              <a:extLst>
                <a:ext uri="{FF2B5EF4-FFF2-40B4-BE49-F238E27FC236}">
                  <a16:creationId xmlns:a16="http://schemas.microsoft.com/office/drawing/2014/main" id="{AA0D8EEA-D418-46DE-A3BA-4970B160E47D}"/>
                </a:ext>
              </a:extLst>
            </p:cNvPr>
            <p:cNvGraphicFramePr>
              <a:graphicFrameLocks noChangeAspect="1"/>
            </p:cNvGraphicFramePr>
            <p:nvPr/>
          </p:nvGraphicFramePr>
          <p:xfrm>
            <a:off x="5040" y="2448"/>
            <a:ext cx="576" cy="223"/>
          </p:xfrm>
          <a:graphic>
            <a:graphicData uri="http://schemas.openxmlformats.org/presentationml/2006/ole">
              <mc:AlternateContent xmlns:mc="http://schemas.openxmlformats.org/markup-compatibility/2006">
                <mc:Choice xmlns:v="urn:schemas-microsoft-com:vml" Requires="v">
                  <p:oleObj spid="_x0000_s9384" name="Equation" r:id="rId7" imgW="457200" imgH="177480" progId="Equation.DSMT4">
                    <p:embed/>
                  </p:oleObj>
                </mc:Choice>
                <mc:Fallback>
                  <p:oleObj name="Equation" r:id="rId7" imgW="457200" imgH="17748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0" y="2448"/>
                          <a:ext cx="576"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11" name="Picture 2">
            <a:extLst>
              <a:ext uri="{FF2B5EF4-FFF2-40B4-BE49-F238E27FC236}">
                <a16:creationId xmlns:a16="http://schemas.microsoft.com/office/drawing/2014/main" id="{7EC791A1-BA55-41F8-BBEE-22E5B7D9E0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71750" y="3995738"/>
            <a:ext cx="3786188" cy="271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8068" name="Object 4">
            <a:extLst>
              <a:ext uri="{FF2B5EF4-FFF2-40B4-BE49-F238E27FC236}">
                <a16:creationId xmlns:a16="http://schemas.microsoft.com/office/drawing/2014/main" id="{1B1D3452-B1CB-4869-930D-9F557D5AF29F}"/>
              </a:ext>
            </a:extLst>
          </p:cNvPr>
          <p:cNvGraphicFramePr>
            <a:graphicFrameLocks noChangeAspect="1"/>
          </p:cNvGraphicFramePr>
          <p:nvPr/>
        </p:nvGraphicFramePr>
        <p:xfrm>
          <a:off x="1357313" y="4643438"/>
          <a:ext cx="1133475" cy="377825"/>
        </p:xfrm>
        <a:graphic>
          <a:graphicData uri="http://schemas.openxmlformats.org/presentationml/2006/ole">
            <mc:AlternateContent xmlns:mc="http://schemas.openxmlformats.org/markup-compatibility/2006">
              <mc:Choice xmlns:v="urn:schemas-microsoft-com:vml" Requires="v">
                <p:oleObj spid="_x0000_s9385" name="Equation" r:id="rId10" imgW="533160" imgH="177480" progId="Equation.DSMT4">
                  <p:embed/>
                </p:oleObj>
              </mc:Choice>
              <mc:Fallback>
                <p:oleObj name="Equation" r:id="rId10" imgW="533160" imgH="177480" progId="Equation.DSMT4">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57313" y="4643438"/>
                        <a:ext cx="1133475"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80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99364AF6-20E7-47BA-B343-91E215BD589D}"/>
              </a:ext>
            </a:extLst>
          </p:cNvPr>
          <p:cNvSpPr>
            <a:spLocks noGrp="1"/>
          </p:cNvSpPr>
          <p:nvPr>
            <p:ph type="title"/>
          </p:nvPr>
        </p:nvSpPr>
        <p:spPr/>
        <p:txBody>
          <a:bodyPr/>
          <a:lstStyle/>
          <a:p>
            <a:r>
              <a:rPr lang="en-US" altLang="zh-CN">
                <a:solidFill>
                  <a:srgbClr val="000000"/>
                </a:solidFill>
              </a:rPr>
              <a:t>3.4 </a:t>
            </a:r>
            <a:r>
              <a:rPr lang="zh-CN" altLang="en-US">
                <a:solidFill>
                  <a:srgbClr val="000000"/>
                </a:solidFill>
              </a:rPr>
              <a:t>连续时间傅里叶级数的收敛</a:t>
            </a:r>
            <a:endParaRPr lang="zh-CN" altLang="en-US"/>
          </a:p>
        </p:txBody>
      </p:sp>
      <p:sp>
        <p:nvSpPr>
          <p:cNvPr id="76803" name="内容占位符 2">
            <a:extLst>
              <a:ext uri="{FF2B5EF4-FFF2-40B4-BE49-F238E27FC236}">
                <a16:creationId xmlns:a16="http://schemas.microsoft.com/office/drawing/2014/main" id="{6E097578-04B9-4842-AA36-D2DD6D348D56}"/>
              </a:ext>
            </a:extLst>
          </p:cNvPr>
          <p:cNvSpPr>
            <a:spLocks noGrp="1"/>
          </p:cNvSpPr>
          <p:nvPr>
            <p:ph idx="1"/>
          </p:nvPr>
        </p:nvSpPr>
        <p:spPr/>
        <p:txBody>
          <a:bodyPr/>
          <a:lstStyle/>
          <a:p>
            <a:r>
              <a:rPr lang="en-US" altLang="zh-CN" sz="2800" b="0"/>
              <a:t>Gibbs</a:t>
            </a:r>
            <a:r>
              <a:rPr lang="zh-CN" altLang="en-US" sz="2800" b="0"/>
              <a:t>现象表明：</a:t>
            </a:r>
            <a:endParaRPr lang="en-US" altLang="zh-CN" sz="2800" b="0"/>
          </a:p>
          <a:p>
            <a:pPr lvl="1"/>
            <a:r>
              <a:rPr lang="zh-CN" altLang="en-US" b="0"/>
              <a:t>用有限项傅里叶级数表示有间断点的信号时，</a:t>
            </a:r>
            <a:r>
              <a:rPr lang="zh-CN" altLang="en-US" b="0">
                <a:solidFill>
                  <a:srgbClr val="FF0000"/>
                </a:solidFill>
              </a:rPr>
              <a:t>在间断点附近不可避免的会出现振荡和超量</a:t>
            </a:r>
            <a:r>
              <a:rPr lang="zh-CN" altLang="en-US" b="0"/>
              <a:t>。</a:t>
            </a:r>
            <a:r>
              <a:rPr lang="zh-CN" altLang="en-US" b="0">
                <a:solidFill>
                  <a:srgbClr val="FF0000"/>
                </a:solidFill>
              </a:rPr>
              <a:t>超量的幅度不会随所取项数的增加而减小</a:t>
            </a:r>
            <a:r>
              <a:rPr lang="zh-CN" altLang="en-US" b="0"/>
              <a:t>。只是</a:t>
            </a:r>
            <a:r>
              <a:rPr lang="zh-CN" altLang="en-US" b="0">
                <a:solidFill>
                  <a:srgbClr val="FF0000"/>
                </a:solidFill>
              </a:rPr>
              <a:t>随着项数的增多，振荡频率变高，并向间断点处压缩，从而使它所占有的能量减少</a:t>
            </a:r>
            <a:r>
              <a:rPr lang="zh-CN" altLang="en-US" b="0"/>
              <a:t>。</a:t>
            </a:r>
          </a:p>
        </p:txBody>
      </p:sp>
      <p:sp>
        <p:nvSpPr>
          <p:cNvPr id="4" name="灯片编号占位符 3">
            <a:extLst>
              <a:ext uri="{FF2B5EF4-FFF2-40B4-BE49-F238E27FC236}">
                <a16:creationId xmlns:a16="http://schemas.microsoft.com/office/drawing/2014/main" id="{A97892FF-5D53-4335-BE0E-27B23C9DF8E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A93214-67A6-455F-9EE3-A40B225B0C9F}" type="slidenum">
              <a:rPr lang="zh-CN" altLang="en-US">
                <a:solidFill>
                  <a:srgbClr val="898989"/>
                </a:solidFill>
                <a:latin typeface="Calibri" panose="020F0502020204030204" pitchFamily="34" charset="0"/>
              </a:rPr>
              <a:pPr eaLnBrk="1" hangingPunct="1"/>
              <a:t>35</a:t>
            </a:fld>
            <a:endParaRPr lang="zh-CN" altLang="en-US">
              <a:solidFill>
                <a:srgbClr val="898989"/>
              </a:solidFill>
              <a:latin typeface="Calibri" panose="020F05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标题 1">
            <a:extLst>
              <a:ext uri="{FF2B5EF4-FFF2-40B4-BE49-F238E27FC236}">
                <a16:creationId xmlns:a16="http://schemas.microsoft.com/office/drawing/2014/main" id="{EA458977-A2DD-4DD3-A3A3-7E411BE072EE}"/>
              </a:ext>
            </a:extLst>
          </p:cNvPr>
          <p:cNvSpPr>
            <a:spLocks noGrp="1"/>
          </p:cNvSpPr>
          <p:nvPr>
            <p:ph type="title"/>
          </p:nvPr>
        </p:nvSpPr>
        <p:spPr/>
        <p:txBody>
          <a:bodyPr/>
          <a:lstStyle/>
          <a:p>
            <a:r>
              <a:rPr lang="en-US" altLang="zh-CN" sz="3200" dirty="0"/>
              <a:t>3.6 </a:t>
            </a:r>
            <a:r>
              <a:rPr lang="zh-CN" altLang="en-US" sz="3200" dirty="0"/>
              <a:t>离散时间周期信号的傅里叶级数表示</a:t>
            </a:r>
            <a:endParaRPr lang="zh-CN" altLang="en-US" sz="2000" dirty="0"/>
          </a:p>
        </p:txBody>
      </p:sp>
      <mc:AlternateContent xmlns:mc="http://schemas.openxmlformats.org/markup-compatibility/2006" xmlns:a14="http://schemas.microsoft.com/office/drawing/2010/main">
        <mc:Choice Requires="a14">
          <p:sp>
            <p:nvSpPr>
              <p:cNvPr id="4101" name="内容占位符 2">
                <a:extLst>
                  <a:ext uri="{FF2B5EF4-FFF2-40B4-BE49-F238E27FC236}">
                    <a16:creationId xmlns:a16="http://schemas.microsoft.com/office/drawing/2014/main" id="{E051B6D7-2C43-472B-9046-79FD0E01DE18}"/>
                  </a:ext>
                </a:extLst>
              </p:cNvPr>
              <p:cNvSpPr>
                <a:spLocks noGrp="1"/>
              </p:cNvSpPr>
              <p:nvPr>
                <p:ph idx="1"/>
              </p:nvPr>
            </p:nvSpPr>
            <p:spPr/>
            <p:txBody>
              <a:bodyPr/>
              <a:lstStyle/>
              <a:p>
                <a:pPr marL="0" indent="0" algn="just">
                  <a:buNone/>
                </a:pPr>
                <a:r>
                  <a:rPr lang="zh-CN" altLang="en-US" sz="2800" b="0" dirty="0">
                    <a:solidFill>
                      <a:srgbClr val="0000FF"/>
                    </a:solidFill>
                  </a:rPr>
                  <a:t>一</a:t>
                </a:r>
                <a:r>
                  <a:rPr lang="en-US" altLang="zh-CN" sz="2800" b="0" dirty="0">
                    <a:solidFill>
                      <a:srgbClr val="0000FF"/>
                    </a:solidFill>
                  </a:rPr>
                  <a:t>. </a:t>
                </a:r>
                <a:r>
                  <a:rPr lang="zh-CN" altLang="en-US" sz="2800" b="0" dirty="0">
                    <a:solidFill>
                      <a:srgbClr val="0000FF"/>
                    </a:solidFill>
                  </a:rPr>
                  <a:t>离散时间傅里叶级数</a:t>
                </a:r>
                <a:endParaRPr lang="en-US" altLang="zh-CN" sz="2800" b="0" dirty="0">
                  <a:solidFill>
                    <a:srgbClr val="0000FF"/>
                  </a:solidFill>
                </a:endParaRPr>
              </a:p>
              <a:p>
                <a:pPr algn="just"/>
                <a:r>
                  <a:rPr lang="zh-CN" altLang="en-US" sz="2800" b="0" dirty="0"/>
                  <a:t>考察成谐波关系的复指数信号集：</a:t>
                </a:r>
                <a:r>
                  <a:rPr lang="en-US" sz="2800" dirty="0">
                    <a:solidFill>
                      <a:srgbClr val="000000"/>
                    </a:solidFill>
                  </a:rPr>
                  <a:t> </a:t>
                </a:r>
                <a14:m>
                  <m:oMath xmlns:m="http://schemas.openxmlformats.org/officeDocument/2006/math">
                    <m:sSub>
                      <m:sSubPr>
                        <m:ctrlPr>
                          <a:rPr lang="en-US" sz="2800" i="1">
                            <a:solidFill>
                              <a:srgbClr val="000000"/>
                            </a:solidFill>
                            <a:latin typeface="Cambria Math" panose="02040503050406030204" pitchFamily="18" charset="0"/>
                          </a:rPr>
                        </m:ctrlPr>
                      </m:sSubPr>
                      <m:e>
                        <m:r>
                          <m:rPr>
                            <m:sty m:val="p"/>
                          </m:rPr>
                          <a:rPr lang="en-US" sz="2800" i="1">
                            <a:solidFill>
                              <a:srgbClr val="000000"/>
                            </a:solidFill>
                            <a:latin typeface="Cambria Math" panose="02040503050406030204" pitchFamily="18" charset="0"/>
                          </a:rPr>
                          <m:t>Φ</m:t>
                        </m:r>
                      </m:e>
                      <m:sub>
                        <m:r>
                          <a:rPr lang="en-US" sz="2800" i="1">
                            <a:solidFill>
                              <a:srgbClr val="000000"/>
                            </a:solidFill>
                            <a:latin typeface="Cambria Math" panose="02040503050406030204" pitchFamily="18" charset="0"/>
                          </a:rPr>
                          <m:t>𝑘</m:t>
                        </m:r>
                      </m:sub>
                    </m:sSub>
                    <m:r>
                      <a:rPr lang="en-US" sz="2800" b="1"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𝑛</m:t>
                    </m:r>
                    <m:r>
                      <a:rPr lang="en-US" sz="2800" b="1"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m:t>
                    </m:r>
                    <m:sSup>
                      <m:sSupPr>
                        <m:ctrlPr>
                          <a:rPr lang="en-US" sz="2800" i="1">
                            <a:solidFill>
                              <a:srgbClr val="000000"/>
                            </a:solidFill>
                            <a:latin typeface="Cambria Math" panose="02040503050406030204" pitchFamily="18" charset="0"/>
                          </a:rPr>
                        </m:ctrlPr>
                      </m:sSupPr>
                      <m:e>
                        <m:r>
                          <m:rPr>
                            <m:sty m:val="p"/>
                          </m:rPr>
                          <a:rPr lang="en-US" sz="2800" i="0">
                            <a:solidFill>
                              <a:srgbClr val="000000"/>
                            </a:solidFill>
                            <a:latin typeface="Cambria Math" panose="02040503050406030204" pitchFamily="18" charset="0"/>
                          </a:rPr>
                          <m:t>e</m:t>
                        </m:r>
                      </m:e>
                      <m:sup>
                        <m:r>
                          <m:rPr>
                            <m:sty m:val="p"/>
                          </m:rPr>
                          <a:rPr lang="en-US" sz="2800" i="0">
                            <a:solidFill>
                              <a:srgbClr val="000000"/>
                            </a:solidFill>
                            <a:latin typeface="Cambria Math" panose="02040503050406030204" pitchFamily="18" charset="0"/>
                          </a:rPr>
                          <m:t>j</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r>
                              <a:rPr lang="en-US" sz="2800" i="1">
                                <a:solidFill>
                                  <a:srgbClr val="000000"/>
                                </a:solidFill>
                                <a:latin typeface="Cambria Math" panose="02040503050406030204" pitchFamily="18" charset="0"/>
                              </a:rPr>
                              <m:t>𝜋</m:t>
                            </m:r>
                          </m:num>
                          <m:den>
                            <m:r>
                              <a:rPr lang="en-US" sz="2800" i="1">
                                <a:solidFill>
                                  <a:srgbClr val="000000"/>
                                </a:solidFill>
                                <a:latin typeface="Cambria Math" panose="02040503050406030204" pitchFamily="18" charset="0"/>
                              </a:rPr>
                              <m:t>𝑁</m:t>
                            </m:r>
                          </m:den>
                        </m:f>
                        <m:r>
                          <a:rPr lang="en-US" sz="2800" i="1">
                            <a:solidFill>
                              <a:srgbClr val="000000"/>
                            </a:solidFill>
                            <a:latin typeface="Cambria Math" panose="02040503050406030204" pitchFamily="18" charset="0"/>
                          </a:rPr>
                          <m:t>𝑘𝑛</m:t>
                        </m:r>
                      </m:sup>
                    </m:sSup>
                    <m:r>
                      <a:rPr lang="en-US" sz="2800" i="1">
                        <a:solidFill>
                          <a:srgbClr val="000000"/>
                        </a:solidFill>
                        <a:latin typeface="Cambria Math" panose="02040503050406030204" pitchFamily="18" charset="0"/>
                      </a:rPr>
                      <m:t>}</m:t>
                    </m:r>
                  </m:oMath>
                </a14:m>
                <a:r>
                  <a:rPr lang="zh-CN" altLang="en-US" sz="2800" b="0" dirty="0"/>
                  <a:t>该信号集中每一个信号都以 </a:t>
                </a:r>
                <a:r>
                  <a:rPr lang="en-US" altLang="zh-CN" sz="2800" b="0" i="1" dirty="0"/>
                  <a:t>N</a:t>
                </a:r>
                <a:r>
                  <a:rPr lang="zh-CN" altLang="en-US" sz="2800" b="0" dirty="0"/>
                  <a:t>为周期，且该集合中只有 </a:t>
                </a:r>
                <a:r>
                  <a:rPr lang="en-US" altLang="zh-CN" sz="2800" b="0" i="1" dirty="0"/>
                  <a:t>N</a:t>
                </a:r>
                <a:r>
                  <a:rPr lang="zh-CN" altLang="en-US" sz="2800" b="0" dirty="0"/>
                  <a:t>个信号是彼此独立的。</a:t>
                </a:r>
                <a:r>
                  <a:rPr lang="en-US" altLang="zh-CN" sz="2800" b="0" dirty="0"/>
                  <a:t/>
                </a:r>
                <a:br>
                  <a:rPr lang="en-US" altLang="zh-CN" sz="2800" b="0" dirty="0"/>
                </a:br>
                <a:r>
                  <a:rPr lang="zh-CN" altLang="en-US" sz="2800" b="0" dirty="0"/>
                  <a:t>将这</a:t>
                </a:r>
                <a:r>
                  <a:rPr lang="en-US" altLang="zh-CN" sz="2800" b="0" i="1" dirty="0"/>
                  <a:t>N</a:t>
                </a:r>
                <a:r>
                  <a:rPr lang="zh-CN" altLang="en-US" sz="2800" b="0" dirty="0"/>
                  <a:t>个独立信号线性组合起来，</a:t>
                </a:r>
                <a:endParaRPr lang="en-US" altLang="zh-CN" sz="2800" b="0" dirty="0"/>
              </a:p>
              <a:p>
                <a:pPr algn="just"/>
                <a:endParaRPr lang="en-US" altLang="zh-CN" sz="2800" b="0" dirty="0"/>
              </a:p>
              <a:p>
                <a:pPr algn="just"/>
                <a:endParaRPr lang="en-US" altLang="zh-CN" sz="2800" b="0" dirty="0"/>
              </a:p>
              <a:p>
                <a:pPr algn="just"/>
                <a:endParaRPr lang="en-US" altLang="zh-CN" sz="2800" b="0" dirty="0"/>
              </a:p>
              <a:p>
                <a:pPr marL="357188" indent="0" algn="just">
                  <a:buNone/>
                </a:pPr>
                <a:r>
                  <a:rPr lang="zh-CN" altLang="en-US" sz="2800" b="0" dirty="0"/>
                  <a:t>表示一个以 </a:t>
                </a:r>
                <a:r>
                  <a:rPr lang="en-US" altLang="zh-CN" sz="2800" b="0" i="1" dirty="0"/>
                  <a:t>N</a:t>
                </a:r>
                <a:r>
                  <a:rPr lang="zh-CN" altLang="en-US" sz="2800" b="0" dirty="0"/>
                  <a:t>为周期的序列。这个级数就称为</a:t>
                </a:r>
                <a:r>
                  <a:rPr lang="zh-CN" altLang="en-US" sz="2800" b="0" dirty="0">
                    <a:solidFill>
                      <a:srgbClr val="FF0000"/>
                    </a:solidFill>
                  </a:rPr>
                  <a:t>离散时间傅里叶级数</a:t>
                </a:r>
                <a:r>
                  <a:rPr lang="zh-CN" altLang="en-US" sz="2800" b="0" dirty="0"/>
                  <a:t>，其中 </a:t>
                </a:r>
                <a:r>
                  <a:rPr lang="en-US" altLang="zh-CN" sz="2800" b="0" i="1" dirty="0" err="1"/>
                  <a:t>a</a:t>
                </a:r>
                <a:r>
                  <a:rPr lang="en-US" altLang="zh-CN" sz="2800" b="0" i="1" baseline="-25000" dirty="0" err="1"/>
                  <a:t>k</a:t>
                </a:r>
                <a:r>
                  <a:rPr lang="zh-CN" altLang="en-US" sz="2800" b="0" dirty="0"/>
                  <a:t>则为傅里叶级数的系数。</a:t>
                </a:r>
              </a:p>
            </p:txBody>
          </p:sp>
        </mc:Choice>
        <mc:Fallback xmlns="">
          <p:sp>
            <p:nvSpPr>
              <p:cNvPr id="4101" name="内容占位符 2">
                <a:extLst>
                  <a:ext uri="{FF2B5EF4-FFF2-40B4-BE49-F238E27FC236}">
                    <a16:creationId xmlns:a16="http://schemas.microsoft.com/office/drawing/2014/main" id="{E051B6D7-2C43-472B-9046-79FD0E01DE18}"/>
                  </a:ext>
                </a:extLst>
              </p:cNvPr>
              <p:cNvSpPr>
                <a:spLocks noGrp="1" noRot="1" noChangeAspect="1" noMove="1" noResize="1" noEditPoints="1" noAdjustHandles="1" noChangeArrowheads="1" noChangeShapeType="1" noTextEdit="1"/>
              </p:cNvSpPr>
              <p:nvPr>
                <p:ph idx="1"/>
              </p:nvPr>
            </p:nvSpPr>
            <p:spPr>
              <a:blipFill>
                <a:blip r:embed="rId2"/>
                <a:stretch>
                  <a:fillRect l="-1481" t="-1637" r="-1481" b="-14484"/>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CAAB4254-9827-474A-B899-3AB350451F9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84B31D5-2675-4AA5-B928-09432BF3D26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4099" name="Object 3">
                <a:extLst>
                  <a:ext uri="{FF2B5EF4-FFF2-40B4-BE49-F238E27FC236}">
                    <a16:creationId xmlns:a16="http://schemas.microsoft.com/office/drawing/2014/main" id="{2EBDD93E-FCBA-4EBB-B5B5-A16E5DBB4EDD}"/>
                  </a:ext>
                </a:extLst>
              </p:cNvPr>
              <p:cNvSpPr txBox="1"/>
              <p:nvPr/>
            </p:nvSpPr>
            <p:spPr bwMode="auto">
              <a:xfrm>
                <a:off x="2843808" y="3933056"/>
                <a:ext cx="3805584" cy="1139543"/>
              </a:xfrm>
              <a:prstGeom prst="rect">
                <a:avLst/>
              </a:prstGeom>
              <a:solidFill>
                <a:srgbClr val="CCFFFF"/>
              </a:solidFill>
              <a:ln w="50800">
                <a:noFill/>
                <a:miter lim="800000"/>
                <a:headEnd/>
                <a:tailEnd/>
              </a:ln>
              <a:effectLst/>
            </p:spPr>
            <p:txBody>
              <a:bodyPr>
                <a:spAutoFit/>
              </a:bodyPr>
              <a:lstStyle/>
              <a:p>
                <a:pPr/>
                <a14:m>
                  <m:oMathPara xmlns:m="http://schemas.openxmlformats.org/officeDocument/2006/math">
                    <m:oMathParaPr>
                      <m:jc m:val="center"/>
                    </m:oMathParaPr>
                    <m:oMath xmlns:m="http://schemas.openxmlformats.org/officeDocument/2006/math">
                      <m:r>
                        <a:rPr lang="en-US" sz="2800" i="1" smtClean="0">
                          <a:solidFill>
                            <a:srgbClr val="FF0000"/>
                          </a:solidFill>
                          <a:latin typeface="Cambria Math" panose="02040503050406030204" pitchFamily="18" charset="0"/>
                        </a:rPr>
                        <m:t>𝑥</m:t>
                      </m:r>
                      <m:r>
                        <a:rPr lang="en-US" sz="2800" b="0" i="1" smtClean="0">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m:t>
                      </m:r>
                      <m:nary>
                        <m:naryPr>
                          <m:chr m:val="∑"/>
                          <m:supHide m:val="on"/>
                          <m:ctrlPr>
                            <a:rPr lang="en-US" sz="2800" i="1">
                              <a:solidFill>
                                <a:srgbClr val="FF0000"/>
                              </a:solidFill>
                              <a:latin typeface="Cambria Math" panose="02040503050406030204" pitchFamily="18" charset="0"/>
                            </a:rPr>
                          </m:ctrlPr>
                        </m:naryPr>
                        <m:sub>
                          <m:r>
                            <a:rPr lang="en-US" sz="2800" i="1">
                              <a:solidFill>
                                <a:srgbClr val="FF0000"/>
                              </a:solidFill>
                              <a:latin typeface="Cambria Math" panose="02040503050406030204" pitchFamily="18" charset="0"/>
                            </a:rPr>
                            <m:t>𝑘</m:t>
                          </m:r>
                          <m:r>
                            <a:rPr lang="en-US" sz="2800" i="1">
                              <a:solidFill>
                                <a:srgbClr val="FF0000"/>
                              </a:solidFill>
                              <a:latin typeface="Cambria Math" panose="02040503050406030204" pitchFamily="18" charset="0"/>
                            </a:rPr>
                            <m:t>=&lt;</m:t>
                          </m:r>
                          <m:r>
                            <a:rPr lang="en-US" sz="2800" i="1">
                              <a:solidFill>
                                <a:srgbClr val="FF0000"/>
                              </a:solidFill>
                              <a:latin typeface="Cambria Math" panose="02040503050406030204" pitchFamily="18" charset="0"/>
                            </a:rPr>
                            <m:t>𝑁</m:t>
                          </m:r>
                          <m:r>
                            <a:rPr lang="en-US" sz="2800" i="1">
                              <a:solidFill>
                                <a:srgbClr val="FF0000"/>
                              </a:solidFill>
                              <a:latin typeface="Cambria Math" panose="02040503050406030204" pitchFamily="18" charset="0"/>
                            </a:rPr>
                            <m:t>&gt;</m:t>
                          </m:r>
                        </m:sub>
                        <m:sup/>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𝑎</m:t>
                              </m:r>
                            </m:e>
                            <m:sub>
                              <m:r>
                                <a:rPr lang="en-US" sz="2800" i="1">
                                  <a:solidFill>
                                    <a:srgbClr val="FF0000"/>
                                  </a:solidFill>
                                  <a:latin typeface="Cambria Math" panose="02040503050406030204" pitchFamily="18" charset="0"/>
                                </a:rPr>
                                <m:t>𝑘</m:t>
                              </m:r>
                            </m:sub>
                          </m:sSub>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m:rPr>
                                  <m:sty m:val="p"/>
                                </m:rPr>
                                <a:rPr lang="en-US" sz="2800" i="0">
                                  <a:solidFill>
                                    <a:srgbClr val="FF0000"/>
                                  </a:solidFill>
                                  <a:latin typeface="Cambria Math" panose="02040503050406030204" pitchFamily="18" charset="0"/>
                                </a:rPr>
                                <m:t>j</m:t>
                              </m:r>
                              <m:f>
                                <m:fPr>
                                  <m:ctrlPr>
                                    <a:rPr lang="en-US" sz="2800" i="1">
                                      <a:solidFill>
                                        <a:srgbClr val="FF0000"/>
                                      </a:solidFill>
                                      <a:latin typeface="Cambria Math" panose="02040503050406030204" pitchFamily="18" charset="0"/>
                                    </a:rPr>
                                  </m:ctrlPr>
                                </m:fPr>
                                <m:num>
                                  <m:r>
                                    <a:rPr lang="en-US" sz="2800" i="1">
                                      <a:solidFill>
                                        <a:srgbClr val="FF0000"/>
                                      </a:solidFill>
                                      <a:latin typeface="Cambria Math" panose="02040503050406030204" pitchFamily="18" charset="0"/>
                                    </a:rPr>
                                    <m:t>2</m:t>
                                  </m:r>
                                  <m:r>
                                    <a:rPr lang="en-US" sz="2800" i="1">
                                      <a:solidFill>
                                        <a:srgbClr val="FF0000"/>
                                      </a:solidFill>
                                      <a:latin typeface="Cambria Math" panose="02040503050406030204" pitchFamily="18" charset="0"/>
                                    </a:rPr>
                                    <m:t>𝜋</m:t>
                                  </m:r>
                                </m:num>
                                <m:den>
                                  <m:r>
                                    <a:rPr lang="en-US" sz="2800" i="1">
                                      <a:solidFill>
                                        <a:srgbClr val="FF0000"/>
                                      </a:solidFill>
                                      <a:latin typeface="Cambria Math" panose="02040503050406030204" pitchFamily="18" charset="0"/>
                                    </a:rPr>
                                    <m:t>𝑁</m:t>
                                  </m:r>
                                </m:den>
                              </m:f>
                              <m:r>
                                <a:rPr lang="en-US" sz="2800" i="1">
                                  <a:solidFill>
                                    <a:srgbClr val="FF0000"/>
                                  </a:solidFill>
                                  <a:latin typeface="Cambria Math" panose="02040503050406030204" pitchFamily="18" charset="0"/>
                                </a:rPr>
                                <m:t>𝑘𝑛</m:t>
                              </m:r>
                            </m:sup>
                          </m:sSup>
                        </m:e>
                      </m:nary>
                    </m:oMath>
                  </m:oMathPara>
                </a14:m>
                <a:endParaRPr lang="en-US" sz="2800" dirty="0"/>
              </a:p>
            </p:txBody>
          </p:sp>
        </mc:Choice>
        <mc:Fallback xmlns="">
          <p:sp>
            <p:nvSpPr>
              <p:cNvPr id="4099" name="Object 3">
                <a:extLst>
                  <a:ext uri="{FF2B5EF4-FFF2-40B4-BE49-F238E27FC236}">
                    <a16:creationId xmlns:a16="http://schemas.microsoft.com/office/drawing/2014/main" id="{2EBDD93E-FCBA-4EBB-B5B5-A16E5DBB4EDD}"/>
                  </a:ext>
                </a:extLst>
              </p:cNvPr>
              <p:cNvSpPr txBox="1">
                <a:spLocks noRot="1" noChangeAspect="1" noMove="1" noResize="1" noEditPoints="1" noAdjustHandles="1" noChangeArrowheads="1" noChangeShapeType="1" noTextEdit="1"/>
              </p:cNvSpPr>
              <p:nvPr/>
            </p:nvSpPr>
            <p:spPr bwMode="auto">
              <a:xfrm>
                <a:off x="2843808" y="3933056"/>
                <a:ext cx="3805584" cy="1139543"/>
              </a:xfrm>
              <a:prstGeom prst="rect">
                <a:avLst/>
              </a:prstGeom>
              <a:blipFill>
                <a:blip r:embed="rId3"/>
                <a:stretch>
                  <a:fillRect/>
                </a:stretch>
              </a:blipFill>
              <a:ln w="50800">
                <a:noFill/>
                <a:miter lim="800000"/>
                <a:headEnd/>
                <a:tailEnd/>
              </a:ln>
              <a:effectLst/>
            </p:spPr>
            <p:txBody>
              <a:bodyPr/>
              <a:lstStyle/>
              <a:p>
                <a:r>
                  <a:rPr 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B8061BE-91D4-423A-94AF-E7A5220311A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95DC34C-F25C-4DE8-95E9-0BBAC8AA052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内容占位符 2">
            <a:extLst>
              <a:ext uri="{FF2B5EF4-FFF2-40B4-BE49-F238E27FC236}">
                <a16:creationId xmlns:a16="http://schemas.microsoft.com/office/drawing/2014/main" id="{B4239D4C-7DCC-484D-8230-7459E4401F3E}"/>
              </a:ext>
            </a:extLst>
          </p:cNvPr>
          <p:cNvSpPr>
            <a:spLocks noGrp="1"/>
          </p:cNvSpPr>
          <p:nvPr>
            <p:ph idx="4294967295"/>
          </p:nvPr>
        </p:nvSpPr>
        <p:spPr>
          <a:xfrm>
            <a:off x="457200" y="404664"/>
            <a:ext cx="8229600" cy="904863"/>
          </a:xfrm>
        </p:spPr>
        <p:txBody>
          <a:bodyPr>
            <a:spAutoFit/>
          </a:bodyPr>
          <a:lstStyle/>
          <a:p>
            <a:pPr marL="514350" indent="-514350">
              <a:buAutoNum type="ea1ChsPeriod" startAt="2"/>
            </a:pPr>
            <a:r>
              <a:rPr lang="zh-CN" altLang="en-US" sz="2400" b="0" dirty="0">
                <a:solidFill>
                  <a:srgbClr val="0000FF"/>
                </a:solidFill>
                <a:latin typeface="Times New Roman" panose="02020603050405020304" pitchFamily="18" charset="0"/>
                <a:ea typeface="华文楷体" panose="02010600040101010101" pitchFamily="2" charset="-122"/>
              </a:rPr>
              <a:t>傅里叶级数系数的确定</a:t>
            </a:r>
            <a:endParaRPr lang="en-US" altLang="zh-CN" sz="2400" b="0" dirty="0">
              <a:solidFill>
                <a:srgbClr val="0000FF"/>
              </a:solidFill>
              <a:latin typeface="Times New Roman" panose="02020603050405020304" pitchFamily="18" charset="0"/>
              <a:ea typeface="华文楷体" panose="02010600040101010101" pitchFamily="2" charset="-122"/>
            </a:endParaRPr>
          </a:p>
          <a:p>
            <a:pPr marL="914400" lvl="1" indent="-514350"/>
            <a:r>
              <a:rPr lang="zh-CN" altLang="en-US" sz="2400" b="0" dirty="0">
                <a:solidFill>
                  <a:srgbClr val="0000FF"/>
                </a:solidFill>
                <a:latin typeface="Times New Roman" panose="02020603050405020304" pitchFamily="18" charset="0"/>
                <a:ea typeface="华文楷体" panose="02010600040101010101" pitchFamily="2" charset="-122"/>
              </a:rPr>
              <a:t>特殊情形：三角函数组合</a:t>
            </a:r>
          </a:p>
        </p:txBody>
      </p:sp>
      <p:pic>
        <p:nvPicPr>
          <p:cNvPr id="9" name="图片 8">
            <a:extLst>
              <a:ext uri="{FF2B5EF4-FFF2-40B4-BE49-F238E27FC236}">
                <a16:creationId xmlns:a16="http://schemas.microsoft.com/office/drawing/2014/main" id="{87840FA8-CF5A-4354-8192-A44814A77993}"/>
              </a:ext>
            </a:extLst>
          </p:cNvPr>
          <p:cNvPicPr>
            <a:picLocks noChangeAspect="1"/>
          </p:cNvPicPr>
          <p:nvPr/>
        </p:nvPicPr>
        <p:blipFill>
          <a:blip r:embed="rId2"/>
          <a:stretch>
            <a:fillRect/>
          </a:stretch>
        </p:blipFill>
        <p:spPr>
          <a:xfrm>
            <a:off x="1907704" y="1517650"/>
            <a:ext cx="5676900" cy="4838700"/>
          </a:xfrm>
          <a:prstGeom prst="rect">
            <a:avLst/>
          </a:prstGeom>
        </p:spPr>
      </p:pic>
      <p:sp>
        <p:nvSpPr>
          <p:cNvPr id="17" name="TextBox 3">
            <a:extLst>
              <a:ext uri="{FF2B5EF4-FFF2-40B4-BE49-F238E27FC236}">
                <a16:creationId xmlns:a16="http://schemas.microsoft.com/office/drawing/2014/main" id="{66B8BC56-40A7-4C4C-9A58-0B4BE5429211}"/>
              </a:ext>
            </a:extLst>
          </p:cNvPr>
          <p:cNvSpPr txBox="1">
            <a:spLocks noChangeArrowheads="1"/>
          </p:cNvSpPr>
          <p:nvPr/>
        </p:nvSpPr>
        <p:spPr bwMode="auto">
          <a:xfrm>
            <a:off x="2594507" y="3908903"/>
            <a:ext cx="479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dirty="0">
                <a:solidFill>
                  <a:srgbClr val="262699"/>
                </a:solidFill>
                <a:ea typeface="宋体" panose="02010600030101010101" pitchFamily="2" charset="-122"/>
              </a:rPr>
              <a:t>1/2</a:t>
            </a:r>
            <a:endParaRPr lang="zh-CN" altLang="en-US" dirty="0">
              <a:solidFill>
                <a:srgbClr val="262699"/>
              </a:solidFill>
              <a:ea typeface="宋体" panose="02010600030101010101" pitchFamily="2" charset="-122"/>
            </a:endParaRPr>
          </a:p>
        </p:txBody>
      </p:sp>
      <p:sp>
        <p:nvSpPr>
          <p:cNvPr id="18" name="TextBox 4">
            <a:extLst>
              <a:ext uri="{FF2B5EF4-FFF2-40B4-BE49-F238E27FC236}">
                <a16:creationId xmlns:a16="http://schemas.microsoft.com/office/drawing/2014/main" id="{88759E45-8B34-40B6-96E3-1428273AD816}"/>
              </a:ext>
            </a:extLst>
          </p:cNvPr>
          <p:cNvSpPr txBox="1">
            <a:spLocks noChangeArrowheads="1"/>
          </p:cNvSpPr>
          <p:nvPr/>
        </p:nvSpPr>
        <p:spPr bwMode="auto">
          <a:xfrm>
            <a:off x="2594507" y="4288316"/>
            <a:ext cx="479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a:solidFill>
                  <a:srgbClr val="262699"/>
                </a:solidFill>
                <a:ea typeface="宋体" panose="02010600030101010101" pitchFamily="2" charset="-122"/>
              </a:rPr>
              <a:t>1/2</a:t>
            </a:r>
            <a:endParaRPr lang="zh-CN" altLang="en-US">
              <a:solidFill>
                <a:srgbClr val="262699"/>
              </a:solidFill>
              <a:ea typeface="宋体" panose="02010600030101010101" pitchFamily="2" charset="-122"/>
            </a:endParaRPr>
          </a:p>
        </p:txBody>
      </p:sp>
      <p:sp>
        <p:nvSpPr>
          <p:cNvPr id="19" name="TextBox 5">
            <a:extLst>
              <a:ext uri="{FF2B5EF4-FFF2-40B4-BE49-F238E27FC236}">
                <a16:creationId xmlns:a16="http://schemas.microsoft.com/office/drawing/2014/main" id="{1D23DDA3-574C-4EE7-857A-1B6A5A7E78B1}"/>
              </a:ext>
            </a:extLst>
          </p:cNvPr>
          <p:cNvSpPr txBox="1">
            <a:spLocks noChangeArrowheads="1"/>
          </p:cNvSpPr>
          <p:nvPr/>
        </p:nvSpPr>
        <p:spPr bwMode="auto">
          <a:xfrm>
            <a:off x="2594507" y="3481866"/>
            <a:ext cx="300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a:solidFill>
                  <a:srgbClr val="262699"/>
                </a:solidFill>
                <a:ea typeface="宋体" panose="02010600030101010101" pitchFamily="2" charset="-122"/>
              </a:rPr>
              <a:t>0</a:t>
            </a:r>
            <a:endParaRPr lang="zh-CN" altLang="en-US">
              <a:solidFill>
                <a:srgbClr val="262699"/>
              </a:solidFill>
              <a:ea typeface="宋体" panose="02010600030101010101" pitchFamily="2" charset="-122"/>
            </a:endParaRPr>
          </a:p>
        </p:txBody>
      </p:sp>
      <p:sp>
        <p:nvSpPr>
          <p:cNvPr id="20" name="TextBox 6">
            <a:extLst>
              <a:ext uri="{FF2B5EF4-FFF2-40B4-BE49-F238E27FC236}">
                <a16:creationId xmlns:a16="http://schemas.microsoft.com/office/drawing/2014/main" id="{EDADC7E1-150F-478D-BE45-8A467B81343E}"/>
              </a:ext>
            </a:extLst>
          </p:cNvPr>
          <p:cNvSpPr txBox="1">
            <a:spLocks noChangeArrowheads="1"/>
          </p:cNvSpPr>
          <p:nvPr/>
        </p:nvSpPr>
        <p:spPr bwMode="auto">
          <a:xfrm>
            <a:off x="2594507" y="4680428"/>
            <a:ext cx="706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dirty="0" err="1">
                <a:solidFill>
                  <a:srgbClr val="262699"/>
                </a:solidFill>
                <a:ea typeface="宋体" panose="02010600030101010101" pitchFamily="2" charset="-122"/>
              </a:rPr>
              <a:t>e</a:t>
            </a:r>
            <a:r>
              <a:rPr lang="en-US" altLang="zh-CN" i="1" baseline="30000" dirty="0" err="1">
                <a:solidFill>
                  <a:srgbClr val="262699"/>
                </a:solidFill>
                <a:ea typeface="宋体" panose="02010600030101010101" pitchFamily="2" charset="-122"/>
              </a:rPr>
              <a:t>j</a:t>
            </a:r>
            <a:r>
              <a:rPr lang="el-GR" altLang="zh-CN" baseline="30000" dirty="0">
                <a:solidFill>
                  <a:srgbClr val="262699"/>
                </a:solidFill>
              </a:rPr>
              <a:t>π</a:t>
            </a:r>
            <a:r>
              <a:rPr lang="en-US" altLang="zh-CN" baseline="30000" dirty="0">
                <a:solidFill>
                  <a:srgbClr val="262699"/>
                </a:solidFill>
                <a:ea typeface="宋体" panose="02010600030101010101" pitchFamily="2" charset="-122"/>
              </a:rPr>
              <a:t>/4</a:t>
            </a:r>
            <a:r>
              <a:rPr lang="en-US" altLang="zh-CN" dirty="0">
                <a:solidFill>
                  <a:srgbClr val="262699"/>
                </a:solidFill>
                <a:ea typeface="宋体" panose="02010600030101010101" pitchFamily="2" charset="-122"/>
              </a:rPr>
              <a:t>/2</a:t>
            </a:r>
            <a:endParaRPr lang="zh-CN" altLang="en-US" dirty="0">
              <a:solidFill>
                <a:srgbClr val="262699"/>
              </a:solidFill>
              <a:ea typeface="宋体" panose="02010600030101010101" pitchFamily="2" charset="-122"/>
            </a:endParaRPr>
          </a:p>
        </p:txBody>
      </p:sp>
      <p:sp>
        <p:nvSpPr>
          <p:cNvPr id="21" name="TextBox 7">
            <a:extLst>
              <a:ext uri="{FF2B5EF4-FFF2-40B4-BE49-F238E27FC236}">
                <a16:creationId xmlns:a16="http://schemas.microsoft.com/office/drawing/2014/main" id="{69F31DB5-DE1E-41E8-9186-240322D2E2F9}"/>
              </a:ext>
            </a:extLst>
          </p:cNvPr>
          <p:cNvSpPr txBox="1">
            <a:spLocks noChangeArrowheads="1"/>
          </p:cNvSpPr>
          <p:nvPr/>
        </p:nvSpPr>
        <p:spPr bwMode="auto">
          <a:xfrm>
            <a:off x="2594507" y="5096353"/>
            <a:ext cx="784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a:solidFill>
                  <a:srgbClr val="262699"/>
                </a:solidFill>
                <a:ea typeface="宋体" panose="02010600030101010101" pitchFamily="2" charset="-122"/>
              </a:rPr>
              <a:t>e</a:t>
            </a:r>
            <a:r>
              <a:rPr lang="en-US" altLang="zh-CN" baseline="30000">
                <a:solidFill>
                  <a:srgbClr val="262699"/>
                </a:solidFill>
                <a:ea typeface="宋体" panose="02010600030101010101" pitchFamily="2" charset="-122"/>
              </a:rPr>
              <a:t>-</a:t>
            </a:r>
            <a:r>
              <a:rPr lang="en-US" altLang="zh-CN" i="1" baseline="30000">
                <a:solidFill>
                  <a:srgbClr val="262699"/>
                </a:solidFill>
                <a:ea typeface="宋体" panose="02010600030101010101" pitchFamily="2" charset="-122"/>
              </a:rPr>
              <a:t>j</a:t>
            </a:r>
            <a:r>
              <a:rPr lang="el-GR" altLang="zh-CN" baseline="30000">
                <a:solidFill>
                  <a:srgbClr val="262699"/>
                </a:solidFill>
              </a:rPr>
              <a:t>π</a:t>
            </a:r>
            <a:r>
              <a:rPr lang="en-US" altLang="zh-CN" baseline="30000">
                <a:solidFill>
                  <a:srgbClr val="262699"/>
                </a:solidFill>
                <a:ea typeface="宋体" panose="02010600030101010101" pitchFamily="2" charset="-122"/>
              </a:rPr>
              <a:t>/4</a:t>
            </a:r>
            <a:r>
              <a:rPr lang="en-US" altLang="zh-CN">
                <a:solidFill>
                  <a:srgbClr val="262699"/>
                </a:solidFill>
                <a:ea typeface="宋体" panose="02010600030101010101" pitchFamily="2" charset="-122"/>
              </a:rPr>
              <a:t>/2</a:t>
            </a:r>
            <a:endParaRPr lang="zh-CN" altLang="en-US">
              <a:solidFill>
                <a:srgbClr val="262699"/>
              </a:solidFill>
              <a:ea typeface="宋体" panose="02010600030101010101" pitchFamily="2" charset="-122"/>
            </a:endParaRPr>
          </a:p>
        </p:txBody>
      </p:sp>
      <p:sp>
        <p:nvSpPr>
          <p:cNvPr id="22" name="TextBox 8">
            <a:extLst>
              <a:ext uri="{FF2B5EF4-FFF2-40B4-BE49-F238E27FC236}">
                <a16:creationId xmlns:a16="http://schemas.microsoft.com/office/drawing/2014/main" id="{008BDD45-D434-4E9A-B3DB-AFB932AA8F7D}"/>
              </a:ext>
            </a:extLst>
          </p:cNvPr>
          <p:cNvSpPr txBox="1">
            <a:spLocks noChangeArrowheads="1"/>
          </p:cNvSpPr>
          <p:nvPr/>
        </p:nvSpPr>
        <p:spPr bwMode="auto">
          <a:xfrm>
            <a:off x="2594507" y="5518628"/>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a:solidFill>
                  <a:srgbClr val="262699"/>
                </a:solidFill>
                <a:ea typeface="宋体" panose="02010600030101010101" pitchFamily="2" charset="-122"/>
              </a:rPr>
              <a:t>0</a:t>
            </a:r>
            <a:endParaRPr lang="zh-CN" altLang="en-US">
              <a:solidFill>
                <a:srgbClr val="262699"/>
              </a:solidFill>
              <a:ea typeface="宋体" panose="02010600030101010101" pitchFamily="2" charset="-122"/>
            </a:endParaRPr>
          </a:p>
        </p:txBody>
      </p:sp>
      <p:sp>
        <p:nvSpPr>
          <p:cNvPr id="23" name="TextBox 9">
            <a:extLst>
              <a:ext uri="{FF2B5EF4-FFF2-40B4-BE49-F238E27FC236}">
                <a16:creationId xmlns:a16="http://schemas.microsoft.com/office/drawing/2014/main" id="{B2E4527C-5CC7-4150-AA13-9E7A7C5E7B24}"/>
              </a:ext>
            </a:extLst>
          </p:cNvPr>
          <p:cNvSpPr txBox="1">
            <a:spLocks noChangeArrowheads="1"/>
          </p:cNvSpPr>
          <p:nvPr/>
        </p:nvSpPr>
        <p:spPr bwMode="auto">
          <a:xfrm>
            <a:off x="2594507" y="5955191"/>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a:solidFill>
                  <a:srgbClr val="262699"/>
                </a:solidFill>
                <a:ea typeface="宋体" panose="02010600030101010101" pitchFamily="2" charset="-122"/>
              </a:rPr>
              <a:t>0</a:t>
            </a:r>
            <a:endParaRPr lang="zh-CN" altLang="en-US">
              <a:solidFill>
                <a:srgbClr val="262699"/>
              </a:solidFill>
              <a:ea typeface="宋体" panose="02010600030101010101" pitchFamily="2" charset="-122"/>
            </a:endParaRPr>
          </a:p>
        </p:txBody>
      </p:sp>
      <p:sp>
        <p:nvSpPr>
          <p:cNvPr id="24" name="TextBox 11">
            <a:extLst>
              <a:ext uri="{FF2B5EF4-FFF2-40B4-BE49-F238E27FC236}">
                <a16:creationId xmlns:a16="http://schemas.microsoft.com/office/drawing/2014/main" id="{D58CC889-891C-4D85-BA44-285899DDDE39}"/>
              </a:ext>
            </a:extLst>
          </p:cNvPr>
          <p:cNvSpPr txBox="1">
            <a:spLocks noChangeArrowheads="1"/>
          </p:cNvSpPr>
          <p:nvPr/>
        </p:nvSpPr>
        <p:spPr bwMode="auto">
          <a:xfrm>
            <a:off x="5552590" y="5340350"/>
            <a:ext cx="708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a:solidFill>
                  <a:srgbClr val="262699"/>
                </a:solidFill>
                <a:ea typeface="宋体" panose="02010600030101010101" pitchFamily="2" charset="-122"/>
              </a:rPr>
              <a:t>e</a:t>
            </a:r>
            <a:r>
              <a:rPr lang="en-US" altLang="zh-CN" i="1" baseline="30000">
                <a:solidFill>
                  <a:srgbClr val="262699"/>
                </a:solidFill>
                <a:ea typeface="宋体" panose="02010600030101010101" pitchFamily="2" charset="-122"/>
              </a:rPr>
              <a:t>j</a:t>
            </a:r>
            <a:r>
              <a:rPr lang="el-GR" altLang="zh-CN" baseline="30000">
                <a:solidFill>
                  <a:srgbClr val="262699"/>
                </a:solidFill>
              </a:rPr>
              <a:t>π</a:t>
            </a:r>
            <a:r>
              <a:rPr lang="en-US" altLang="zh-CN" baseline="30000">
                <a:solidFill>
                  <a:srgbClr val="262699"/>
                </a:solidFill>
                <a:ea typeface="宋体" panose="02010600030101010101" pitchFamily="2" charset="-122"/>
              </a:rPr>
              <a:t>/4</a:t>
            </a:r>
            <a:r>
              <a:rPr lang="en-US" altLang="zh-CN">
                <a:solidFill>
                  <a:srgbClr val="262699"/>
                </a:solidFill>
                <a:ea typeface="宋体" panose="02010600030101010101" pitchFamily="2" charset="-122"/>
              </a:rPr>
              <a:t>/2</a:t>
            </a:r>
            <a:endParaRPr lang="zh-CN" altLang="en-US">
              <a:solidFill>
                <a:srgbClr val="262699"/>
              </a:solidFill>
              <a:ea typeface="宋体" panose="02010600030101010101" pitchFamily="2" charset="-122"/>
            </a:endParaRPr>
          </a:p>
        </p:txBody>
      </p:sp>
      <p:sp>
        <p:nvSpPr>
          <p:cNvPr id="25" name="TextBox 12">
            <a:extLst>
              <a:ext uri="{FF2B5EF4-FFF2-40B4-BE49-F238E27FC236}">
                <a16:creationId xmlns:a16="http://schemas.microsoft.com/office/drawing/2014/main" id="{F62BE9A4-526B-43D8-B64F-FBB412F679DC}"/>
              </a:ext>
            </a:extLst>
          </p:cNvPr>
          <p:cNvSpPr txBox="1">
            <a:spLocks noChangeArrowheads="1"/>
          </p:cNvSpPr>
          <p:nvPr/>
        </p:nvSpPr>
        <p:spPr bwMode="auto">
          <a:xfrm>
            <a:off x="5552590" y="4535487"/>
            <a:ext cx="479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buFontTx/>
              <a:buNone/>
            </a:pPr>
            <a:r>
              <a:rPr lang="en-US" altLang="zh-CN">
                <a:solidFill>
                  <a:srgbClr val="262699"/>
                </a:solidFill>
                <a:ea typeface="宋体" panose="02010600030101010101" pitchFamily="2" charset="-122"/>
              </a:rPr>
              <a:t>1/2</a:t>
            </a:r>
            <a:endParaRPr lang="zh-CN" altLang="en-US">
              <a:solidFill>
                <a:srgbClr val="262699"/>
              </a:solidFill>
              <a:ea typeface="宋体" panose="02010600030101010101" pitchFamily="2" charset="-122"/>
            </a:endParaRPr>
          </a:p>
        </p:txBody>
      </p:sp>
      <p:sp>
        <p:nvSpPr>
          <p:cNvPr id="10" name="文本框 9">
            <a:extLst>
              <a:ext uri="{FF2B5EF4-FFF2-40B4-BE49-F238E27FC236}">
                <a16:creationId xmlns:a16="http://schemas.microsoft.com/office/drawing/2014/main" id="{13BE3757-82C6-4297-8275-9711A63CCE36}"/>
              </a:ext>
            </a:extLst>
          </p:cNvPr>
          <p:cNvSpPr txBox="1"/>
          <p:nvPr/>
        </p:nvSpPr>
        <p:spPr>
          <a:xfrm>
            <a:off x="3370781" y="1868677"/>
            <a:ext cx="800219" cy="461665"/>
          </a:xfrm>
          <a:prstGeom prst="rect">
            <a:avLst/>
          </a:prstGeom>
          <a:noFill/>
        </p:spPr>
        <p:txBody>
          <a:bodyPr wrap="none" rtlCol="0">
            <a:spAutoFit/>
          </a:bodyPr>
          <a:lstStyle/>
          <a:p>
            <a:r>
              <a:rPr lang="zh-CN" altLang="en-US" sz="2400" dirty="0">
                <a:latin typeface="华文楷体" panose="02010600040101010101" pitchFamily="2" charset="-122"/>
                <a:ea typeface="华文楷体" panose="02010600040101010101" pitchFamily="2" charset="-122"/>
              </a:rPr>
              <a:t>周期</a:t>
            </a:r>
            <a:endParaRPr lang="en-US" sz="24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linds(horizontal)">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linds(horizontal)">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blinds(horizontal)">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blinds(horizontal)">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blinds(horizontal)">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P spid="23" grpId="0"/>
      <p:bldP spid="24" grpId="0"/>
      <p:bldP spid="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 name="标题 1">
            <a:extLst>
              <a:ext uri="{FF2B5EF4-FFF2-40B4-BE49-F238E27FC236}">
                <a16:creationId xmlns:a16="http://schemas.microsoft.com/office/drawing/2014/main" id="{8B5E527E-3CA7-4460-8386-1D2D7DF5BDEE}"/>
              </a:ext>
            </a:extLst>
          </p:cNvPr>
          <p:cNvSpPr>
            <a:spLocks noGrp="1"/>
          </p:cNvSpPr>
          <p:nvPr>
            <p:ph type="title"/>
          </p:nvPr>
        </p:nvSpPr>
        <p:spPr/>
        <p:txBody>
          <a:bodyPr/>
          <a:lstStyle/>
          <a:p>
            <a:r>
              <a:rPr lang="en-US" altLang="zh-CN" sz="3200" dirty="0"/>
              <a:t>3.6 </a:t>
            </a:r>
            <a:r>
              <a:rPr lang="zh-CN" altLang="en-US" sz="3200" dirty="0"/>
              <a:t>离散时间周期信号的傅里叶级数表示</a:t>
            </a:r>
          </a:p>
        </p:txBody>
      </p:sp>
      <p:sp>
        <p:nvSpPr>
          <p:cNvPr id="5129" name="内容占位符 2">
            <a:extLst>
              <a:ext uri="{FF2B5EF4-FFF2-40B4-BE49-F238E27FC236}">
                <a16:creationId xmlns:a16="http://schemas.microsoft.com/office/drawing/2014/main" id="{B4239D4C-7DCC-484D-8230-7459E4401F3E}"/>
              </a:ext>
            </a:extLst>
          </p:cNvPr>
          <p:cNvSpPr>
            <a:spLocks noGrp="1"/>
          </p:cNvSpPr>
          <p:nvPr>
            <p:ph idx="1"/>
          </p:nvPr>
        </p:nvSpPr>
        <p:spPr/>
        <p:txBody>
          <a:bodyPr/>
          <a:lstStyle/>
          <a:p>
            <a:pPr marL="0" indent="0">
              <a:buNone/>
            </a:pPr>
            <a:r>
              <a:rPr lang="zh-CN" altLang="en-US" sz="2800" b="0" dirty="0">
                <a:solidFill>
                  <a:srgbClr val="0000FF"/>
                </a:solidFill>
              </a:rPr>
              <a:t>一般情况：</a:t>
            </a:r>
          </a:p>
        </p:txBody>
      </p:sp>
      <p:sp>
        <p:nvSpPr>
          <p:cNvPr id="4" name="灯片编号占位符 3">
            <a:extLst>
              <a:ext uri="{FF2B5EF4-FFF2-40B4-BE49-F238E27FC236}">
                <a16:creationId xmlns:a16="http://schemas.microsoft.com/office/drawing/2014/main" id="{9B8061BE-91D4-423A-94AF-E7A5220311A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95DC34C-F25C-4DE8-95E9-0BBAC8AA052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Text Box 8">
            <a:extLst>
              <a:ext uri="{FF2B5EF4-FFF2-40B4-BE49-F238E27FC236}">
                <a16:creationId xmlns:a16="http://schemas.microsoft.com/office/drawing/2014/main" id="{E90A5577-4416-4139-AD80-B83A99DDC555}"/>
              </a:ext>
            </a:extLst>
          </p:cNvPr>
          <p:cNvSpPr txBox="1">
            <a:spLocks noChangeArrowheads="1"/>
          </p:cNvSpPr>
          <p:nvPr/>
        </p:nvSpPr>
        <p:spPr bwMode="auto">
          <a:xfrm>
            <a:off x="857250" y="2138363"/>
            <a:ext cx="7456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给                               两边同乘以              ，得：</a:t>
            </a:r>
          </a:p>
        </p:txBody>
      </p:sp>
      <p:graphicFrame>
        <p:nvGraphicFramePr>
          <p:cNvPr id="7" name="Object 2">
            <a:extLst>
              <a:ext uri="{FF2B5EF4-FFF2-40B4-BE49-F238E27FC236}">
                <a16:creationId xmlns:a16="http://schemas.microsoft.com/office/drawing/2014/main" id="{0C608AE4-1B94-4054-91AB-7D52FD9B2129}"/>
              </a:ext>
            </a:extLst>
          </p:cNvPr>
          <p:cNvGraphicFramePr>
            <a:graphicFrameLocks noChangeAspect="1"/>
          </p:cNvGraphicFramePr>
          <p:nvPr/>
        </p:nvGraphicFramePr>
        <p:xfrm>
          <a:off x="1455738" y="1928813"/>
          <a:ext cx="2536825" cy="982662"/>
        </p:xfrm>
        <a:graphic>
          <a:graphicData uri="http://schemas.openxmlformats.org/presentationml/2006/ole">
            <mc:AlternateContent xmlns:mc="http://schemas.openxmlformats.org/markup-compatibility/2006">
              <mc:Choice xmlns:v="urn:schemas-microsoft-com:vml" Requires="v">
                <p:oleObj spid="_x0000_s10572" name="Equation" r:id="rId3" imgW="1218960" imgH="444240" progId="Equation.DSMT4">
                  <p:embed/>
                </p:oleObj>
              </mc:Choice>
              <mc:Fallback>
                <p:oleObj name="Equation" r:id="rId3" imgW="1218960" imgH="444240" progId="Equation.DSMT4">
                  <p:embed/>
                  <p:pic>
                    <p:nvPicPr>
                      <p:cNvPr id="7" name="Object 2">
                        <a:extLst>
                          <a:ext uri="{FF2B5EF4-FFF2-40B4-BE49-F238E27FC236}">
                            <a16:creationId xmlns:a16="http://schemas.microsoft.com/office/drawing/2014/main" id="{0C608AE4-1B94-4054-91AB-7D52FD9B2129}"/>
                          </a:ext>
                        </a:extLst>
                      </p:cNvPr>
                      <p:cNvPicPr>
                        <a:picLocks noChangeAspect="1" noChangeArrowheads="1"/>
                      </p:cNvPicPr>
                      <p:nvPr/>
                    </p:nvPicPr>
                    <p:blipFill>
                      <a:blip r:embed="rId4"/>
                      <a:srcRect/>
                      <a:stretch>
                        <a:fillRect/>
                      </a:stretch>
                    </p:blipFill>
                    <p:spPr bwMode="auto">
                      <a:xfrm>
                        <a:off x="1455738" y="1928813"/>
                        <a:ext cx="2536825" cy="98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3">
            <a:extLst>
              <a:ext uri="{FF2B5EF4-FFF2-40B4-BE49-F238E27FC236}">
                <a16:creationId xmlns:a16="http://schemas.microsoft.com/office/drawing/2014/main" id="{767AA5BC-F4D2-4F4B-B224-55E2146AFD26}"/>
              </a:ext>
            </a:extLst>
          </p:cNvPr>
          <p:cNvGraphicFramePr>
            <a:graphicFrameLocks noChangeAspect="1"/>
          </p:cNvGraphicFramePr>
          <p:nvPr/>
        </p:nvGraphicFramePr>
        <p:xfrm>
          <a:off x="6003925" y="2001838"/>
          <a:ext cx="1068388" cy="727075"/>
        </p:xfrm>
        <a:graphic>
          <a:graphicData uri="http://schemas.openxmlformats.org/presentationml/2006/ole">
            <mc:AlternateContent xmlns:mc="http://schemas.openxmlformats.org/markup-compatibility/2006">
              <mc:Choice xmlns:v="urn:schemas-microsoft-com:vml" Requires="v">
                <p:oleObj spid="_x0000_s10573" name="Equation" r:id="rId5" imgW="431640" imgH="304560" progId="Equation.DSMT4">
                  <p:embed/>
                </p:oleObj>
              </mc:Choice>
              <mc:Fallback>
                <p:oleObj name="Equation" r:id="rId5" imgW="431640" imgH="304560" progId="Equation.DSMT4">
                  <p:embed/>
                  <p:pic>
                    <p:nvPicPr>
                      <p:cNvPr id="8" name="Object 3">
                        <a:extLst>
                          <a:ext uri="{FF2B5EF4-FFF2-40B4-BE49-F238E27FC236}">
                            <a16:creationId xmlns:a16="http://schemas.microsoft.com/office/drawing/2014/main" id="{767AA5BC-F4D2-4F4B-B224-55E2146AFD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3925" y="2001838"/>
                        <a:ext cx="1068388"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0116" name="Object 4">
            <a:extLst>
              <a:ext uri="{FF2B5EF4-FFF2-40B4-BE49-F238E27FC236}">
                <a16:creationId xmlns:a16="http://schemas.microsoft.com/office/drawing/2014/main" id="{F78E6FCE-354A-40AC-8C9F-C103A2FF074A}"/>
              </a:ext>
            </a:extLst>
          </p:cNvPr>
          <p:cNvGraphicFramePr>
            <a:graphicFrameLocks noChangeAspect="1"/>
          </p:cNvGraphicFramePr>
          <p:nvPr/>
        </p:nvGraphicFramePr>
        <p:xfrm>
          <a:off x="2174875" y="3000375"/>
          <a:ext cx="4535488" cy="1096963"/>
        </p:xfrm>
        <a:graphic>
          <a:graphicData uri="http://schemas.openxmlformats.org/presentationml/2006/ole">
            <mc:AlternateContent xmlns:mc="http://schemas.openxmlformats.org/markup-compatibility/2006">
              <mc:Choice xmlns:v="urn:schemas-microsoft-com:vml" Requires="v">
                <p:oleObj spid="_x0000_s10574" name="Equation" r:id="rId7" imgW="1803240" imgH="444240" progId="Equation.DSMT4">
                  <p:embed/>
                </p:oleObj>
              </mc:Choice>
              <mc:Fallback>
                <p:oleObj name="Equation" r:id="rId7" imgW="1803240" imgH="444240" progId="Equation.DSMT4">
                  <p:embed/>
                  <p:pic>
                    <p:nvPicPr>
                      <p:cNvPr id="90116" name="Object 4">
                        <a:extLst>
                          <a:ext uri="{FF2B5EF4-FFF2-40B4-BE49-F238E27FC236}">
                            <a16:creationId xmlns:a16="http://schemas.microsoft.com/office/drawing/2014/main" id="{F78E6FCE-354A-40AC-8C9F-C103A2FF074A}"/>
                          </a:ext>
                        </a:extLst>
                      </p:cNvPr>
                      <p:cNvPicPr>
                        <a:picLocks noChangeAspect="1" noChangeArrowheads="1"/>
                      </p:cNvPicPr>
                      <p:nvPr/>
                    </p:nvPicPr>
                    <p:blipFill>
                      <a:blip r:embed="rId8"/>
                      <a:srcRect/>
                      <a:stretch>
                        <a:fillRect/>
                      </a:stretch>
                    </p:blipFill>
                    <p:spPr bwMode="auto">
                      <a:xfrm>
                        <a:off x="2174875" y="3000375"/>
                        <a:ext cx="4535488"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Text Box 11">
            <a:extLst>
              <a:ext uri="{FF2B5EF4-FFF2-40B4-BE49-F238E27FC236}">
                <a16:creationId xmlns:a16="http://schemas.microsoft.com/office/drawing/2014/main" id="{E5B0EBF1-B943-41AA-9EEF-014C061F33FC}"/>
              </a:ext>
            </a:extLst>
          </p:cNvPr>
          <p:cNvSpPr txBox="1">
            <a:spLocks noChangeArrowheads="1"/>
          </p:cNvSpPr>
          <p:nvPr/>
        </p:nvSpPr>
        <p:spPr bwMode="auto">
          <a:xfrm>
            <a:off x="863600" y="4360863"/>
            <a:ext cx="7994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显然                       仍是以    为周期的，对两边求和</a:t>
            </a:r>
          </a:p>
        </p:txBody>
      </p:sp>
      <p:graphicFrame>
        <p:nvGraphicFramePr>
          <p:cNvPr id="12" name="Object 5">
            <a:extLst>
              <a:ext uri="{FF2B5EF4-FFF2-40B4-BE49-F238E27FC236}">
                <a16:creationId xmlns:a16="http://schemas.microsoft.com/office/drawing/2014/main" id="{190452AC-24C1-4873-AE48-3E9A9F1529F0}"/>
              </a:ext>
            </a:extLst>
          </p:cNvPr>
          <p:cNvGraphicFramePr>
            <a:graphicFrameLocks noChangeAspect="1"/>
          </p:cNvGraphicFramePr>
          <p:nvPr/>
        </p:nvGraphicFramePr>
        <p:xfrm>
          <a:off x="1843088" y="4143375"/>
          <a:ext cx="1789112" cy="744538"/>
        </p:xfrm>
        <a:graphic>
          <a:graphicData uri="http://schemas.openxmlformats.org/presentationml/2006/ole">
            <mc:AlternateContent xmlns:mc="http://schemas.openxmlformats.org/markup-compatibility/2006">
              <mc:Choice xmlns:v="urn:schemas-microsoft-com:vml" Requires="v">
                <p:oleObj spid="_x0000_s10575" name="Equation" r:id="rId9" imgW="685800" imgH="330120" progId="Equation.DSMT4">
                  <p:embed/>
                </p:oleObj>
              </mc:Choice>
              <mc:Fallback>
                <p:oleObj name="Equation" r:id="rId9" imgW="685800" imgH="330120" progId="Equation.DSMT4">
                  <p:embed/>
                  <p:pic>
                    <p:nvPicPr>
                      <p:cNvPr id="12" name="Object 5">
                        <a:extLst>
                          <a:ext uri="{FF2B5EF4-FFF2-40B4-BE49-F238E27FC236}">
                            <a16:creationId xmlns:a16="http://schemas.microsoft.com/office/drawing/2014/main" id="{190452AC-24C1-4873-AE48-3E9A9F1529F0}"/>
                          </a:ext>
                        </a:extLst>
                      </p:cNvPr>
                      <p:cNvPicPr>
                        <a:picLocks noChangeAspect="1" noChangeArrowheads="1"/>
                      </p:cNvPicPr>
                      <p:nvPr/>
                    </p:nvPicPr>
                    <p:blipFill>
                      <a:blip r:embed="rId10"/>
                      <a:srcRect/>
                      <a:stretch>
                        <a:fillRect/>
                      </a:stretch>
                    </p:blipFill>
                    <p:spPr bwMode="auto">
                      <a:xfrm>
                        <a:off x="1843088" y="4143375"/>
                        <a:ext cx="1789112" cy="74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6">
            <a:extLst>
              <a:ext uri="{FF2B5EF4-FFF2-40B4-BE49-F238E27FC236}">
                <a16:creationId xmlns:a16="http://schemas.microsoft.com/office/drawing/2014/main" id="{335C15BA-7DE4-41A7-A827-B2FFEC782438}"/>
              </a:ext>
            </a:extLst>
          </p:cNvPr>
          <p:cNvGraphicFramePr>
            <a:graphicFrameLocks noChangeAspect="1"/>
          </p:cNvGraphicFramePr>
          <p:nvPr/>
        </p:nvGraphicFramePr>
        <p:xfrm>
          <a:off x="4781550" y="4395788"/>
          <a:ext cx="439738" cy="439737"/>
        </p:xfrm>
        <a:graphic>
          <a:graphicData uri="http://schemas.openxmlformats.org/presentationml/2006/ole">
            <mc:AlternateContent xmlns:mc="http://schemas.openxmlformats.org/markup-compatibility/2006">
              <mc:Choice xmlns:v="urn:schemas-microsoft-com:vml" Requires="v">
                <p:oleObj spid="_x0000_s10576" name="Equation" r:id="rId11" imgW="177480" imgH="177480" progId="Equation.DSMT4">
                  <p:embed/>
                </p:oleObj>
              </mc:Choice>
              <mc:Fallback>
                <p:oleObj name="Equation" r:id="rId11" imgW="177480" imgH="177480" progId="Equation.DSMT4">
                  <p:embed/>
                  <p:pic>
                    <p:nvPicPr>
                      <p:cNvPr id="13" name="Object 6">
                        <a:extLst>
                          <a:ext uri="{FF2B5EF4-FFF2-40B4-BE49-F238E27FC236}">
                            <a16:creationId xmlns:a16="http://schemas.microsoft.com/office/drawing/2014/main" id="{335C15BA-7DE4-41A7-A827-B2FFEC78243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81550" y="4395788"/>
                        <a:ext cx="439738" cy="43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0119" name="Object 7">
            <a:extLst>
              <a:ext uri="{FF2B5EF4-FFF2-40B4-BE49-F238E27FC236}">
                <a16:creationId xmlns:a16="http://schemas.microsoft.com/office/drawing/2014/main" id="{85DAA110-42A5-4A69-9DF0-143B0383BF6A}"/>
              </a:ext>
            </a:extLst>
          </p:cNvPr>
          <p:cNvGraphicFramePr>
            <a:graphicFrameLocks noChangeAspect="1"/>
          </p:cNvGraphicFramePr>
          <p:nvPr/>
        </p:nvGraphicFramePr>
        <p:xfrm>
          <a:off x="1012825" y="5143500"/>
          <a:ext cx="7453313" cy="1006475"/>
        </p:xfrm>
        <a:graphic>
          <a:graphicData uri="http://schemas.openxmlformats.org/presentationml/2006/ole">
            <mc:AlternateContent xmlns:mc="http://schemas.openxmlformats.org/markup-compatibility/2006">
              <mc:Choice xmlns:v="urn:schemas-microsoft-com:vml" Requires="v">
                <p:oleObj spid="_x0000_s10577" name="Equation" r:id="rId13" imgW="3835080" imgH="444240" progId="Equation.DSMT4">
                  <p:embed/>
                </p:oleObj>
              </mc:Choice>
              <mc:Fallback>
                <p:oleObj name="Equation" r:id="rId13" imgW="3835080" imgH="444240" progId="Equation.DSMT4">
                  <p:embed/>
                  <p:pic>
                    <p:nvPicPr>
                      <p:cNvPr id="90119" name="Object 7">
                        <a:extLst>
                          <a:ext uri="{FF2B5EF4-FFF2-40B4-BE49-F238E27FC236}">
                            <a16:creationId xmlns:a16="http://schemas.microsoft.com/office/drawing/2014/main" id="{85DAA110-42A5-4A69-9DF0-143B0383BF6A}"/>
                          </a:ext>
                        </a:extLst>
                      </p:cNvPr>
                      <p:cNvPicPr>
                        <a:picLocks noChangeAspect="1" noChangeArrowheads="1"/>
                      </p:cNvPicPr>
                      <p:nvPr/>
                    </p:nvPicPr>
                    <p:blipFill>
                      <a:blip r:embed="rId14"/>
                      <a:srcRect/>
                      <a:stretch>
                        <a:fillRect/>
                      </a:stretch>
                    </p:blipFill>
                    <p:spPr bwMode="auto">
                      <a:xfrm>
                        <a:off x="1012825" y="5143500"/>
                        <a:ext cx="745331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94833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90116"/>
                                        </p:tgtEl>
                                        <p:attrNameLst>
                                          <p:attrName>style.visibility</p:attrName>
                                        </p:attrNameLst>
                                      </p:cBhvr>
                                      <p:to>
                                        <p:strVal val="visible"/>
                                      </p:to>
                                    </p:set>
                                    <p:animEffect transition="in" filter="blinds(horizontal)">
                                      <p:cBhvr>
                                        <p:cTn id="18" dur="500"/>
                                        <p:tgtEl>
                                          <p:spTgt spid="9011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par>
                                <p:cTn id="24" presetID="3" presetClass="entr" presetSubtype="1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linds(horizontal)">
                                      <p:cBhvr>
                                        <p:cTn id="26" dur="500"/>
                                        <p:tgtEl>
                                          <p:spTgt spid="12"/>
                                        </p:tgtEl>
                                      </p:cBhvr>
                                    </p:animEffect>
                                  </p:childTnLst>
                                </p:cTn>
                              </p:par>
                              <p:par>
                                <p:cTn id="27" presetID="3" presetClass="entr" presetSubtype="1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linds(horizontal)">
                                      <p:cBhvr>
                                        <p:cTn id="29" dur="500"/>
                                        <p:tgtEl>
                                          <p:spTgt spid="1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90119"/>
                                        </p:tgtEl>
                                        <p:attrNameLst>
                                          <p:attrName>style.visibility</p:attrName>
                                        </p:attrNameLst>
                                      </p:cBhvr>
                                      <p:to>
                                        <p:strVal val="visible"/>
                                      </p:to>
                                    </p:set>
                                    <p:animEffect transition="in" filter="blinds(horizontal)">
                                      <p:cBhvr>
                                        <p:cTn id="34" dur="500"/>
                                        <p:tgtEl>
                                          <p:spTgt spid="90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标题 1">
            <a:extLst>
              <a:ext uri="{FF2B5EF4-FFF2-40B4-BE49-F238E27FC236}">
                <a16:creationId xmlns:a16="http://schemas.microsoft.com/office/drawing/2014/main" id="{E6714FDF-C669-40F3-8E12-FA616F0DE9E0}"/>
              </a:ext>
            </a:extLst>
          </p:cNvPr>
          <p:cNvSpPr>
            <a:spLocks noGrp="1"/>
          </p:cNvSpPr>
          <p:nvPr>
            <p:ph type="title"/>
          </p:nvPr>
        </p:nvSpPr>
        <p:spPr/>
        <p:txBody>
          <a:bodyPr/>
          <a:lstStyle/>
          <a:p>
            <a:r>
              <a:rPr lang="en-US" altLang="zh-CN" sz="3200">
                <a:solidFill>
                  <a:srgbClr val="000000"/>
                </a:solidFill>
              </a:rPr>
              <a:t>3.6 </a:t>
            </a:r>
            <a:r>
              <a:rPr lang="zh-CN" altLang="en-US" sz="3200">
                <a:solidFill>
                  <a:srgbClr val="000000"/>
                </a:solidFill>
              </a:rPr>
              <a:t>离散时间周期信号的傅里叶级数表示</a:t>
            </a:r>
            <a:endParaRPr lang="zh-CN" altLang="en-US"/>
          </a:p>
        </p:txBody>
      </p:sp>
      <p:sp>
        <p:nvSpPr>
          <p:cNvPr id="4" name="灯片编号占位符 3">
            <a:extLst>
              <a:ext uri="{FF2B5EF4-FFF2-40B4-BE49-F238E27FC236}">
                <a16:creationId xmlns:a16="http://schemas.microsoft.com/office/drawing/2014/main" id="{C5156A47-F8EF-4686-BA57-E422470097B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2EDB40E-ABB0-4DC7-8A83-F3023D5A423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6155" name="Group 5">
            <a:extLst>
              <a:ext uri="{FF2B5EF4-FFF2-40B4-BE49-F238E27FC236}">
                <a16:creationId xmlns:a16="http://schemas.microsoft.com/office/drawing/2014/main" id="{9256350E-22A6-45EC-97B3-8A468D14B03C}"/>
              </a:ext>
            </a:extLst>
          </p:cNvPr>
          <p:cNvGrpSpPr>
            <a:grpSpLocks/>
          </p:cNvGrpSpPr>
          <p:nvPr/>
        </p:nvGrpSpPr>
        <p:grpSpPr bwMode="auto">
          <a:xfrm>
            <a:off x="500063" y="2138363"/>
            <a:ext cx="8143875" cy="1147762"/>
            <a:chOff x="429" y="2719"/>
            <a:chExt cx="5130" cy="723"/>
          </a:xfrm>
        </p:grpSpPr>
        <p:graphicFrame>
          <p:nvGraphicFramePr>
            <p:cNvPr id="6150" name="Object 2">
              <a:extLst>
                <a:ext uri="{FF2B5EF4-FFF2-40B4-BE49-F238E27FC236}">
                  <a16:creationId xmlns:a16="http://schemas.microsoft.com/office/drawing/2014/main" id="{FCC42C85-0742-4086-9640-B0654A21AFB6}"/>
                </a:ext>
              </a:extLst>
            </p:cNvPr>
            <p:cNvGraphicFramePr>
              <a:graphicFrameLocks noChangeAspect="1"/>
            </p:cNvGraphicFramePr>
            <p:nvPr/>
          </p:nvGraphicFramePr>
          <p:xfrm>
            <a:off x="814" y="2719"/>
            <a:ext cx="4205" cy="723"/>
          </p:xfrm>
          <a:graphic>
            <a:graphicData uri="http://schemas.openxmlformats.org/presentationml/2006/ole">
              <mc:AlternateContent xmlns:mc="http://schemas.openxmlformats.org/markup-compatibility/2006">
                <mc:Choice xmlns:v="urn:schemas-microsoft-com:vml" Requires="v">
                  <p:oleObj spid="_x0000_s11596" name="Equation" r:id="rId3" imgW="2971800" imgH="520560" progId="Equation.DSMT4">
                    <p:embed/>
                  </p:oleObj>
                </mc:Choice>
                <mc:Fallback>
                  <p:oleObj name="Equation" r:id="rId3" imgW="2971800" imgH="520560" progId="Equation.DSMT4">
                    <p:embed/>
                    <p:pic>
                      <p:nvPicPr>
                        <p:cNvPr id="6150" name="Object 2">
                          <a:extLst>
                            <a:ext uri="{FF2B5EF4-FFF2-40B4-BE49-F238E27FC236}">
                              <a16:creationId xmlns:a16="http://schemas.microsoft.com/office/drawing/2014/main" id="{FCC42C85-0742-4086-9640-B0654A21AF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 y="2719"/>
                          <a:ext cx="4205" cy="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59" name="Text Box 7">
              <a:extLst>
                <a:ext uri="{FF2B5EF4-FFF2-40B4-BE49-F238E27FC236}">
                  <a16:creationId xmlns:a16="http://schemas.microsoft.com/office/drawing/2014/main" id="{29715ABE-77FF-4830-9172-E78637704179}"/>
                </a:ext>
              </a:extLst>
            </p:cNvPr>
            <p:cNvSpPr txBox="1">
              <a:spLocks noChangeArrowheads="1"/>
            </p:cNvSpPr>
            <p:nvPr/>
          </p:nvSpPr>
          <p:spPr bwMode="auto">
            <a:xfrm>
              <a:off x="429" y="2869"/>
              <a:ext cx="4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而  </a:t>
              </a:r>
            </a:p>
          </p:txBody>
        </p:sp>
        <p:graphicFrame>
          <p:nvGraphicFramePr>
            <p:cNvPr id="6151" name="Object 3">
              <a:extLst>
                <a:ext uri="{FF2B5EF4-FFF2-40B4-BE49-F238E27FC236}">
                  <a16:creationId xmlns:a16="http://schemas.microsoft.com/office/drawing/2014/main" id="{C0D403AC-363D-45A5-8313-6D0C71716A8A}"/>
                </a:ext>
              </a:extLst>
            </p:cNvPr>
            <p:cNvGraphicFramePr>
              <a:graphicFrameLocks noChangeAspect="1"/>
            </p:cNvGraphicFramePr>
            <p:nvPr/>
          </p:nvGraphicFramePr>
          <p:xfrm>
            <a:off x="5065" y="3058"/>
            <a:ext cx="494" cy="247"/>
          </p:xfrm>
          <a:graphic>
            <a:graphicData uri="http://schemas.openxmlformats.org/presentationml/2006/ole">
              <mc:AlternateContent xmlns:mc="http://schemas.openxmlformats.org/markup-compatibility/2006">
                <mc:Choice xmlns:v="urn:schemas-microsoft-com:vml" Requires="v">
                  <p:oleObj spid="_x0000_s11597" name="Equation" r:id="rId5" imgW="355320" imgH="177480" progId="Equation.DSMT4">
                    <p:embed/>
                  </p:oleObj>
                </mc:Choice>
                <mc:Fallback>
                  <p:oleObj name="Equation" r:id="rId5" imgW="355320" imgH="177480" progId="Equation.DSMT4">
                    <p:embed/>
                    <p:pic>
                      <p:nvPicPr>
                        <p:cNvPr id="6151" name="Object 3">
                          <a:extLst>
                            <a:ext uri="{FF2B5EF4-FFF2-40B4-BE49-F238E27FC236}">
                              <a16:creationId xmlns:a16="http://schemas.microsoft.com/office/drawing/2014/main" id="{C0D403AC-363D-45A5-8313-6D0C71716A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5" y="3058"/>
                          <a:ext cx="494"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2" name="Object 4">
              <a:extLst>
                <a:ext uri="{FF2B5EF4-FFF2-40B4-BE49-F238E27FC236}">
                  <a16:creationId xmlns:a16="http://schemas.microsoft.com/office/drawing/2014/main" id="{E88516FE-F126-440E-A51F-346F76E15855}"/>
                </a:ext>
              </a:extLst>
            </p:cNvPr>
            <p:cNvGraphicFramePr>
              <a:graphicFrameLocks noChangeAspect="1"/>
            </p:cNvGraphicFramePr>
            <p:nvPr/>
          </p:nvGraphicFramePr>
          <p:xfrm>
            <a:off x="5065" y="2750"/>
            <a:ext cx="460" cy="245"/>
          </p:xfrm>
          <a:graphic>
            <a:graphicData uri="http://schemas.openxmlformats.org/presentationml/2006/ole">
              <mc:AlternateContent xmlns:mc="http://schemas.openxmlformats.org/markup-compatibility/2006">
                <mc:Choice xmlns:v="urn:schemas-microsoft-com:vml" Requires="v">
                  <p:oleObj spid="_x0000_s11598" name="Equation" r:id="rId7" imgW="355320" imgH="177480" progId="Equation.DSMT4">
                    <p:embed/>
                  </p:oleObj>
                </mc:Choice>
                <mc:Fallback>
                  <p:oleObj name="Equation" r:id="rId7" imgW="355320" imgH="177480" progId="Equation.DSMT4">
                    <p:embed/>
                    <p:pic>
                      <p:nvPicPr>
                        <p:cNvPr id="6152" name="Object 4">
                          <a:extLst>
                            <a:ext uri="{FF2B5EF4-FFF2-40B4-BE49-F238E27FC236}">
                              <a16:creationId xmlns:a16="http://schemas.microsoft.com/office/drawing/2014/main" id="{E88516FE-F126-440E-A51F-346F76E158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65" y="2750"/>
                          <a:ext cx="460" cy="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1141" name="Object 5">
            <a:extLst>
              <a:ext uri="{FF2B5EF4-FFF2-40B4-BE49-F238E27FC236}">
                <a16:creationId xmlns:a16="http://schemas.microsoft.com/office/drawing/2014/main" id="{D7BD592E-AE90-4DF3-9425-ED178F006FB5}"/>
              </a:ext>
            </a:extLst>
          </p:cNvPr>
          <p:cNvGraphicFramePr>
            <a:graphicFrameLocks noChangeAspect="1"/>
          </p:cNvGraphicFramePr>
          <p:nvPr>
            <p:extLst>
              <p:ext uri="{D42A27DB-BD31-4B8C-83A1-F6EECF244321}">
                <p14:modId xmlns:p14="http://schemas.microsoft.com/office/powerpoint/2010/main" val="28561105"/>
              </p:ext>
            </p:extLst>
          </p:nvPr>
        </p:nvGraphicFramePr>
        <p:xfrm>
          <a:off x="2959100" y="3500438"/>
          <a:ext cx="3436938" cy="1019175"/>
        </p:xfrm>
        <a:graphic>
          <a:graphicData uri="http://schemas.openxmlformats.org/presentationml/2006/ole">
            <mc:AlternateContent xmlns:mc="http://schemas.openxmlformats.org/markup-compatibility/2006">
              <mc:Choice xmlns:v="urn:schemas-microsoft-com:vml" Requires="v">
                <p:oleObj spid="_x0000_s11599" name="Equation" r:id="rId9" imgW="1498320" imgH="444240" progId="Equation.DSMT4">
                  <p:embed/>
                </p:oleObj>
              </mc:Choice>
              <mc:Fallback>
                <p:oleObj name="Equation" r:id="rId9" imgW="1498320" imgH="444240" progId="Equation.DSMT4">
                  <p:embed/>
                  <p:pic>
                    <p:nvPicPr>
                      <p:cNvPr id="91141" name="Object 5">
                        <a:extLst>
                          <a:ext uri="{FF2B5EF4-FFF2-40B4-BE49-F238E27FC236}">
                            <a16:creationId xmlns:a16="http://schemas.microsoft.com/office/drawing/2014/main" id="{D7BD592E-AE90-4DF3-9425-ED178F006FB5}"/>
                          </a:ext>
                        </a:extLst>
                      </p:cNvPr>
                      <p:cNvPicPr>
                        <a:picLocks noChangeAspect="1" noChangeArrowheads="1"/>
                      </p:cNvPicPr>
                      <p:nvPr/>
                    </p:nvPicPr>
                    <p:blipFill>
                      <a:blip r:embed="rId10"/>
                      <a:srcRect/>
                      <a:stretch>
                        <a:fillRect/>
                      </a:stretch>
                    </p:blipFill>
                    <p:spPr bwMode="auto">
                      <a:xfrm>
                        <a:off x="2959100" y="3500438"/>
                        <a:ext cx="3436938"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2">
            <a:extLst>
              <a:ext uri="{FF2B5EF4-FFF2-40B4-BE49-F238E27FC236}">
                <a16:creationId xmlns:a16="http://schemas.microsoft.com/office/drawing/2014/main" id="{2B1D1B54-A967-4B3A-89C3-3041858D552A}"/>
              </a:ext>
            </a:extLst>
          </p:cNvPr>
          <p:cNvGrpSpPr>
            <a:grpSpLocks/>
          </p:cNvGrpSpPr>
          <p:nvPr/>
        </p:nvGrpSpPr>
        <p:grpSpPr bwMode="auto">
          <a:xfrm>
            <a:off x="1909763" y="4605338"/>
            <a:ext cx="4860925" cy="928687"/>
            <a:chOff x="816" y="528"/>
            <a:chExt cx="3062" cy="585"/>
          </a:xfrm>
        </p:grpSpPr>
        <p:graphicFrame>
          <p:nvGraphicFramePr>
            <p:cNvPr id="6149" name="Object 6">
              <a:extLst>
                <a:ext uri="{FF2B5EF4-FFF2-40B4-BE49-F238E27FC236}">
                  <a16:creationId xmlns:a16="http://schemas.microsoft.com/office/drawing/2014/main" id="{E3144566-4272-4A44-8CC6-EF47623C6138}"/>
                </a:ext>
              </a:extLst>
            </p:cNvPr>
            <p:cNvGraphicFramePr>
              <a:graphicFrameLocks noChangeAspect="1"/>
            </p:cNvGraphicFramePr>
            <p:nvPr>
              <p:extLst>
                <p:ext uri="{D42A27DB-BD31-4B8C-83A1-F6EECF244321}">
                  <p14:modId xmlns:p14="http://schemas.microsoft.com/office/powerpoint/2010/main" val="2837397469"/>
                </p:ext>
              </p:extLst>
            </p:nvPr>
          </p:nvGraphicFramePr>
          <p:xfrm>
            <a:off x="1594" y="528"/>
            <a:ext cx="2284" cy="585"/>
          </p:xfrm>
          <a:graphic>
            <a:graphicData uri="http://schemas.openxmlformats.org/presentationml/2006/ole">
              <mc:AlternateContent xmlns:mc="http://schemas.openxmlformats.org/markup-compatibility/2006">
                <mc:Choice xmlns:v="urn:schemas-microsoft-com:vml" Requires="v">
                  <p:oleObj spid="_x0000_s11600" name="Equation" r:id="rId11" imgW="1447560" imgH="444240" progId="Equation.DSMT4">
                    <p:embed/>
                  </p:oleObj>
                </mc:Choice>
                <mc:Fallback>
                  <p:oleObj name="Equation" r:id="rId11" imgW="1447560" imgH="444240" progId="Equation.DSMT4">
                    <p:embed/>
                    <p:pic>
                      <p:nvPicPr>
                        <p:cNvPr id="6149" name="Object 6">
                          <a:extLst>
                            <a:ext uri="{FF2B5EF4-FFF2-40B4-BE49-F238E27FC236}">
                              <a16:creationId xmlns:a16="http://schemas.microsoft.com/office/drawing/2014/main" id="{E3144566-4272-4A44-8CC6-EF47623C6138}"/>
                            </a:ext>
                          </a:extLst>
                        </p:cNvPr>
                        <p:cNvPicPr>
                          <a:picLocks noChangeAspect="1" noChangeArrowheads="1"/>
                        </p:cNvPicPr>
                        <p:nvPr/>
                      </p:nvPicPr>
                      <p:blipFill>
                        <a:blip r:embed="rId12"/>
                        <a:srcRect/>
                        <a:stretch>
                          <a:fillRect/>
                        </a:stretch>
                      </p:blipFill>
                      <p:spPr bwMode="auto">
                        <a:xfrm>
                          <a:off x="1594" y="528"/>
                          <a:ext cx="2284"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58" name="Text Box 5">
              <a:extLst>
                <a:ext uri="{FF2B5EF4-FFF2-40B4-BE49-F238E27FC236}">
                  <a16:creationId xmlns:a16="http://schemas.microsoft.com/office/drawing/2014/main" id="{3234045C-D8CA-4C58-B994-6C3F480FE1C6}"/>
                </a:ext>
              </a:extLst>
            </p:cNvPr>
            <p:cNvSpPr txBox="1">
              <a:spLocks noChangeArrowheads="1"/>
            </p:cNvSpPr>
            <p:nvPr/>
          </p:nvSpPr>
          <p:spPr bwMode="auto">
            <a:xfrm>
              <a:off x="816" y="672"/>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即</a:t>
              </a:r>
            </a:p>
          </p:txBody>
        </p:sp>
      </p:grpSp>
      <p:graphicFrame>
        <p:nvGraphicFramePr>
          <p:cNvPr id="90119" name="Object 7">
            <a:extLst>
              <a:ext uri="{FF2B5EF4-FFF2-40B4-BE49-F238E27FC236}">
                <a16:creationId xmlns:a16="http://schemas.microsoft.com/office/drawing/2014/main" id="{C4717EE2-AE11-4CF5-AB10-B3D1502E91AE}"/>
              </a:ext>
            </a:extLst>
          </p:cNvPr>
          <p:cNvGraphicFramePr>
            <a:graphicFrameLocks noChangeAspect="1"/>
          </p:cNvGraphicFramePr>
          <p:nvPr>
            <p:extLst>
              <p:ext uri="{D42A27DB-BD31-4B8C-83A1-F6EECF244321}">
                <p14:modId xmlns:p14="http://schemas.microsoft.com/office/powerpoint/2010/main" val="3562951343"/>
              </p:ext>
            </p:extLst>
          </p:nvPr>
        </p:nvGraphicFramePr>
        <p:xfrm>
          <a:off x="322263" y="1219200"/>
          <a:ext cx="3303587" cy="709613"/>
        </p:xfrm>
        <a:graphic>
          <a:graphicData uri="http://schemas.openxmlformats.org/presentationml/2006/ole">
            <mc:AlternateContent xmlns:mc="http://schemas.openxmlformats.org/markup-compatibility/2006">
              <mc:Choice xmlns:v="urn:schemas-microsoft-com:vml" Requires="v">
                <p:oleObj spid="_x0000_s11601" name="Equation" r:id="rId13" imgW="2412720" imgH="444240" progId="Equation.DSMT4">
                  <p:embed/>
                </p:oleObj>
              </mc:Choice>
              <mc:Fallback>
                <p:oleObj name="Equation" r:id="rId13" imgW="2412720" imgH="444240" progId="Equation.DSMT4">
                  <p:embed/>
                  <p:pic>
                    <p:nvPicPr>
                      <p:cNvPr id="90119" name="Object 7">
                        <a:extLst>
                          <a:ext uri="{FF2B5EF4-FFF2-40B4-BE49-F238E27FC236}">
                            <a16:creationId xmlns:a16="http://schemas.microsoft.com/office/drawing/2014/main" id="{C4717EE2-AE11-4CF5-AB10-B3D1502E91AE}"/>
                          </a:ext>
                        </a:extLst>
                      </p:cNvPr>
                      <p:cNvPicPr>
                        <a:picLocks noChangeAspect="1" noChangeArrowheads="1"/>
                      </p:cNvPicPr>
                      <p:nvPr/>
                    </p:nvPicPr>
                    <p:blipFill>
                      <a:blip r:embed="rId14"/>
                      <a:srcRect/>
                      <a:stretch>
                        <a:fillRect/>
                      </a:stretch>
                    </p:blipFill>
                    <p:spPr bwMode="auto">
                      <a:xfrm>
                        <a:off x="322263" y="1219200"/>
                        <a:ext cx="3303587"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6" name="Object 7">
                <a:extLst>
                  <a:ext uri="{FF2B5EF4-FFF2-40B4-BE49-F238E27FC236}">
                    <a16:creationId xmlns:a16="http://schemas.microsoft.com/office/drawing/2014/main" id="{247AC307-F693-4ED6-A3C0-8B89610FE7F2}"/>
                  </a:ext>
                </a:extLst>
              </p:cNvPr>
              <p:cNvSpPr txBox="1"/>
              <p:nvPr/>
            </p:nvSpPr>
            <p:spPr bwMode="auto">
              <a:xfrm>
                <a:off x="3067050" y="5672138"/>
                <a:ext cx="3703638" cy="989951"/>
              </a:xfrm>
              <a:prstGeom prst="rect">
                <a:avLst/>
              </a:prstGeom>
              <a:solidFill>
                <a:srgbClr val="CCFFFF"/>
              </a:solidFill>
              <a:ln w="50800">
                <a:noFill/>
                <a:miter lim="800000"/>
                <a:headEnd/>
                <a:tailEnd/>
              </a:ln>
              <a:effectLst/>
            </p:spPr>
            <p:txBody>
              <a:bodyPr>
                <a:spAutoFit/>
              </a:bodyPr>
              <a:lstStyle/>
              <a:p>
                <a:pPr/>
                <a14:m>
                  <m:oMathPara xmlns:m="http://schemas.openxmlformats.org/officeDocument/2006/math">
                    <m:oMathParaPr>
                      <m:jc m:val="center"/>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𝑎</m:t>
                          </m:r>
                        </m:e>
                        <m:sub>
                          <m:r>
                            <a:rPr lang="en-US" sz="2400" i="1">
                              <a:solidFill>
                                <a:srgbClr val="FF0000"/>
                              </a:solidFill>
                              <a:latin typeface="Cambria Math" panose="02040503050406030204" pitchFamily="18" charset="0"/>
                            </a:rPr>
                            <m:t>𝑘</m:t>
                          </m:r>
                        </m:sub>
                      </m:sSub>
                      <m:r>
                        <a:rPr lang="en-US" sz="2400" i="1">
                          <a:solidFill>
                            <a:srgbClr val="FF0000"/>
                          </a:solidFill>
                          <a:latin typeface="Cambria Math" panose="02040503050406030204" pitchFamily="18" charset="0"/>
                        </a:rPr>
                        <m:t>=</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𝑁</m:t>
                          </m:r>
                        </m:den>
                      </m:f>
                      <m:nary>
                        <m:naryPr>
                          <m:chr m:val="∑"/>
                          <m:supHide m:val="on"/>
                          <m:ctrlPr>
                            <a:rPr lang="en-US" sz="2400" i="1">
                              <a:solidFill>
                                <a:srgbClr val="FF0000"/>
                              </a:solidFill>
                              <a:latin typeface="Cambria Math" panose="02040503050406030204" pitchFamily="18" charset="0"/>
                            </a:rPr>
                          </m:ctrlPr>
                        </m:naryPr>
                        <m:sub>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=&lt;</m:t>
                          </m:r>
                          <m:r>
                            <a:rPr lang="en-US" sz="2400" i="1">
                              <a:solidFill>
                                <a:srgbClr val="FF0000"/>
                              </a:solidFill>
                              <a:latin typeface="Cambria Math" panose="02040503050406030204" pitchFamily="18" charset="0"/>
                            </a:rPr>
                            <m:t>𝑁</m:t>
                          </m:r>
                          <m:r>
                            <a:rPr lang="en-US" sz="2400" i="1">
                              <a:solidFill>
                                <a:srgbClr val="FF0000"/>
                              </a:solidFill>
                              <a:latin typeface="Cambria Math" panose="02040503050406030204" pitchFamily="18" charset="0"/>
                            </a:rPr>
                            <m:t>&gt;</m:t>
                          </m:r>
                        </m:sub>
                        <m:sup/>
                        <m:e>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𝑛</m:t>
                          </m:r>
                          <m:r>
                            <a:rPr lang="en-US" sz="2400" i="1">
                              <a:solidFill>
                                <a:srgbClr val="FF0000"/>
                              </a:solidFill>
                              <a:latin typeface="Cambria Math" panose="02040503050406030204" pitchFamily="18" charset="0"/>
                            </a:rPr>
                            <m:t>]</m:t>
                          </m:r>
                          <m:sSup>
                            <m:sSupPr>
                              <m:ctrlPr>
                                <a:rPr lang="en-US" sz="2400" i="1">
                                  <a:solidFill>
                                    <a:srgbClr val="FF0000"/>
                                  </a:solidFill>
                                  <a:latin typeface="Cambria Math" panose="02040503050406030204" pitchFamily="18" charset="0"/>
                                </a:rPr>
                              </m:ctrlPr>
                            </m:sSupPr>
                            <m:e>
                              <m:r>
                                <a:rPr lang="en-US" sz="2400" i="1">
                                  <a:solidFill>
                                    <a:srgbClr val="FF0000"/>
                                  </a:solidFill>
                                  <a:latin typeface="Cambria Math" panose="02040503050406030204" pitchFamily="18" charset="0"/>
                                </a:rPr>
                                <m:t>𝑒</m:t>
                              </m:r>
                            </m:e>
                            <m:sup>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𝑗</m:t>
                              </m:r>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2</m:t>
                                  </m:r>
                                  <m:r>
                                    <a:rPr lang="en-US" sz="2400" i="1">
                                      <a:solidFill>
                                        <a:srgbClr val="FF0000"/>
                                      </a:solidFill>
                                      <a:latin typeface="Cambria Math" panose="02040503050406030204" pitchFamily="18" charset="0"/>
                                    </a:rPr>
                                    <m:t>𝜋</m:t>
                                  </m:r>
                                </m:num>
                                <m:den>
                                  <m:r>
                                    <a:rPr lang="en-US" sz="2400" i="1">
                                      <a:solidFill>
                                        <a:srgbClr val="FF0000"/>
                                      </a:solidFill>
                                      <a:latin typeface="Cambria Math" panose="02040503050406030204" pitchFamily="18" charset="0"/>
                                    </a:rPr>
                                    <m:t>𝑁</m:t>
                                  </m:r>
                                </m:den>
                              </m:f>
                              <m:r>
                                <a:rPr lang="en-US" sz="2400" i="1">
                                  <a:solidFill>
                                    <a:srgbClr val="FF0000"/>
                                  </a:solidFill>
                                  <a:latin typeface="Cambria Math" panose="02040503050406030204" pitchFamily="18" charset="0"/>
                                </a:rPr>
                                <m:t>𝑘𝑛</m:t>
                              </m:r>
                            </m:sup>
                          </m:sSup>
                        </m:e>
                      </m:nary>
                    </m:oMath>
                  </m:oMathPara>
                </a14:m>
                <a:endParaRPr lang="en-US" sz="2400" dirty="0">
                  <a:solidFill>
                    <a:srgbClr val="FF0000"/>
                  </a:solidFill>
                </a:endParaRPr>
              </a:p>
            </p:txBody>
          </p:sp>
        </mc:Choice>
        <mc:Fallback xmlns="">
          <p:sp>
            <p:nvSpPr>
              <p:cNvPr id="16" name="Object 7">
                <a:extLst>
                  <a:ext uri="{FF2B5EF4-FFF2-40B4-BE49-F238E27FC236}">
                    <a16:creationId xmlns:a16="http://schemas.microsoft.com/office/drawing/2014/main" id="{247AC307-F693-4ED6-A3C0-8B89610FE7F2}"/>
                  </a:ext>
                </a:extLst>
              </p:cNvPr>
              <p:cNvSpPr txBox="1">
                <a:spLocks noRot="1" noChangeAspect="1" noMove="1" noResize="1" noEditPoints="1" noAdjustHandles="1" noChangeArrowheads="1" noChangeShapeType="1" noTextEdit="1"/>
              </p:cNvSpPr>
              <p:nvPr/>
            </p:nvSpPr>
            <p:spPr bwMode="auto">
              <a:xfrm>
                <a:off x="3067050" y="5672138"/>
                <a:ext cx="3703638" cy="989951"/>
              </a:xfrm>
              <a:prstGeom prst="rect">
                <a:avLst/>
              </a:prstGeom>
              <a:blipFill>
                <a:blip r:embed="rId15"/>
                <a:stretch>
                  <a:fillRect/>
                </a:stretch>
              </a:blipFill>
              <a:ln w="50800">
                <a:noFill/>
                <a:miter lim="800000"/>
                <a:headEnd/>
                <a:tailEnd/>
              </a:ln>
              <a:effectLst/>
            </p:spPr>
            <p:txBody>
              <a:bodyPr/>
              <a:lstStyle/>
              <a:p>
                <a:r>
                  <a:rPr lang="en-US">
                    <a:noFill/>
                  </a:rPr>
                  <a:t> </a:t>
                </a:r>
              </a:p>
            </p:txBody>
          </p:sp>
        </mc:Fallback>
      </mc:AlternateContent>
      <p:sp>
        <p:nvSpPr>
          <p:cNvPr id="17" name="Text Box 6">
            <a:extLst>
              <a:ext uri="{FF2B5EF4-FFF2-40B4-BE49-F238E27FC236}">
                <a16:creationId xmlns:a16="http://schemas.microsoft.com/office/drawing/2014/main" id="{70043324-14B0-46C7-A13F-FB0EBD5804EE}"/>
              </a:ext>
            </a:extLst>
          </p:cNvPr>
          <p:cNvSpPr txBox="1">
            <a:spLocks noChangeArrowheads="1"/>
          </p:cNvSpPr>
          <p:nvPr/>
        </p:nvSpPr>
        <p:spPr bwMode="auto">
          <a:xfrm>
            <a:off x="1909763" y="5891213"/>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1141"/>
                                        </p:tgtEl>
                                        <p:attrNameLst>
                                          <p:attrName>style.visibility</p:attrName>
                                        </p:attrNameLst>
                                      </p:cBhvr>
                                      <p:to>
                                        <p:strVal val="visible"/>
                                      </p:to>
                                    </p:set>
                                    <p:animEffect transition="in" filter="blinds(horizontal)">
                                      <p:cBhvr>
                                        <p:cTn id="7" dur="500"/>
                                        <p:tgtEl>
                                          <p:spTgt spid="911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linds(horizontal)">
                                      <p:cBhvr>
                                        <p:cTn id="15" dur="500"/>
                                        <p:tgtEl>
                                          <p:spTgt spid="17"/>
                                        </p:tgtEl>
                                      </p:cBhvr>
                                    </p:animEffect>
                                  </p:childTnLst>
                                </p:cTn>
                              </p:par>
                            </p:childTnLst>
                          </p:cTn>
                        </p:par>
                        <p:par>
                          <p:cTn id="16" fill="hold">
                            <p:stCondLst>
                              <p:cond delay="500"/>
                            </p:stCondLst>
                            <p:childTnLst>
                              <p:par>
                                <p:cTn id="17" presetID="2" presetClass="entr" presetSubtype="4"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1" name="标题 1">
            <a:extLst>
              <a:ext uri="{FF2B5EF4-FFF2-40B4-BE49-F238E27FC236}">
                <a16:creationId xmlns:a16="http://schemas.microsoft.com/office/drawing/2014/main" id="{0F04F646-B305-427B-8BAE-210C2592F6CC}"/>
              </a:ext>
            </a:extLst>
          </p:cNvPr>
          <p:cNvSpPr>
            <a:spLocks noGrp="1"/>
          </p:cNvSpPr>
          <p:nvPr>
            <p:ph type="title"/>
          </p:nvPr>
        </p:nvSpPr>
        <p:spPr/>
        <p:txBody>
          <a:bodyPr/>
          <a:lstStyle/>
          <a:p>
            <a:r>
              <a:rPr lang="en-US" altLang="zh-CN" sz="3200">
                <a:solidFill>
                  <a:srgbClr val="000000"/>
                </a:solidFill>
              </a:rPr>
              <a:t>3.6 </a:t>
            </a:r>
            <a:r>
              <a:rPr lang="zh-CN" altLang="en-US" sz="3200">
                <a:solidFill>
                  <a:srgbClr val="000000"/>
                </a:solidFill>
              </a:rPr>
              <a:t>离散时间周期信号的傅里叶级数表示</a:t>
            </a:r>
            <a:endParaRPr lang="zh-CN" altLang="en-US"/>
          </a:p>
        </p:txBody>
      </p:sp>
      <p:sp>
        <p:nvSpPr>
          <p:cNvPr id="4" name="灯片编号占位符 3">
            <a:extLst>
              <a:ext uri="{FF2B5EF4-FFF2-40B4-BE49-F238E27FC236}">
                <a16:creationId xmlns:a16="http://schemas.microsoft.com/office/drawing/2014/main" id="{A6925883-676D-4B09-A5B8-3E16F1E5132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8CB4C69-63E4-4EDD-B856-0BAA31269154}"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84" name="Text Box 17">
            <a:extLst>
              <a:ext uri="{FF2B5EF4-FFF2-40B4-BE49-F238E27FC236}">
                <a16:creationId xmlns:a16="http://schemas.microsoft.com/office/drawing/2014/main" id="{26EECBB8-7118-46C2-9FA7-56EF8751AD4C}"/>
              </a:ext>
            </a:extLst>
          </p:cNvPr>
          <p:cNvSpPr txBox="1">
            <a:spLocks noChangeArrowheads="1"/>
          </p:cNvSpPr>
          <p:nvPr/>
        </p:nvSpPr>
        <p:spPr bwMode="auto">
          <a:xfrm>
            <a:off x="642938" y="2487861"/>
            <a:ext cx="7758112"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4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显然上式满足                   ，即     也是以     为周期的，或者说      中只有     个是独立的</a:t>
            </a:r>
            <a:r>
              <a:rPr kumimoji="0" lang="zh-CN" altLang="en-US" sz="32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graphicFrame>
        <p:nvGraphicFramePr>
          <p:cNvPr id="7175" name="Object 7">
            <a:extLst>
              <a:ext uri="{FF2B5EF4-FFF2-40B4-BE49-F238E27FC236}">
                <a16:creationId xmlns:a16="http://schemas.microsoft.com/office/drawing/2014/main" id="{3330FFC6-4413-4649-B19B-3021DEF4CC22}"/>
              </a:ext>
            </a:extLst>
          </p:cNvPr>
          <p:cNvGraphicFramePr>
            <a:graphicFrameLocks noChangeAspect="1"/>
          </p:cNvGraphicFramePr>
          <p:nvPr>
            <p:extLst>
              <p:ext uri="{D42A27DB-BD31-4B8C-83A1-F6EECF244321}">
                <p14:modId xmlns:p14="http://schemas.microsoft.com/office/powerpoint/2010/main" val="3527015054"/>
              </p:ext>
            </p:extLst>
          </p:nvPr>
        </p:nvGraphicFramePr>
        <p:xfrm>
          <a:off x="2943225" y="2545011"/>
          <a:ext cx="1676400" cy="639762"/>
        </p:xfrm>
        <a:graphic>
          <a:graphicData uri="http://schemas.openxmlformats.org/presentationml/2006/ole">
            <mc:AlternateContent xmlns:mc="http://schemas.openxmlformats.org/markup-compatibility/2006">
              <mc:Choice xmlns:v="urn:schemas-microsoft-com:vml" Requires="v">
                <p:oleObj spid="_x0000_s12620" name="Equation" r:id="rId3" imgW="596880" imgH="228600" progId="Equation.DSMT4">
                  <p:embed/>
                </p:oleObj>
              </mc:Choice>
              <mc:Fallback>
                <p:oleObj name="Equation" r:id="rId3" imgW="596880" imgH="228600" progId="Equation.DSMT4">
                  <p:embed/>
                  <p:pic>
                    <p:nvPicPr>
                      <p:cNvPr id="7175" name="Object 7">
                        <a:extLst>
                          <a:ext uri="{FF2B5EF4-FFF2-40B4-BE49-F238E27FC236}">
                            <a16:creationId xmlns:a16="http://schemas.microsoft.com/office/drawing/2014/main" id="{3330FFC6-4413-4649-B19B-3021DEF4CC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3225" y="2545011"/>
                        <a:ext cx="16764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6" name="Object 8">
            <a:extLst>
              <a:ext uri="{FF2B5EF4-FFF2-40B4-BE49-F238E27FC236}">
                <a16:creationId xmlns:a16="http://schemas.microsoft.com/office/drawing/2014/main" id="{0C51AE97-CE91-43CA-B5F1-22F86003F761}"/>
              </a:ext>
            </a:extLst>
          </p:cNvPr>
          <p:cNvGraphicFramePr>
            <a:graphicFrameLocks noChangeAspect="1"/>
          </p:cNvGraphicFramePr>
          <p:nvPr>
            <p:extLst>
              <p:ext uri="{D42A27DB-BD31-4B8C-83A1-F6EECF244321}">
                <p14:modId xmlns:p14="http://schemas.microsoft.com/office/powerpoint/2010/main" val="2410148174"/>
              </p:ext>
            </p:extLst>
          </p:nvPr>
        </p:nvGraphicFramePr>
        <p:xfrm>
          <a:off x="5226050" y="2537073"/>
          <a:ext cx="493713" cy="635000"/>
        </p:xfrm>
        <a:graphic>
          <a:graphicData uri="http://schemas.openxmlformats.org/presentationml/2006/ole">
            <mc:AlternateContent xmlns:mc="http://schemas.openxmlformats.org/markup-compatibility/2006">
              <mc:Choice xmlns:v="urn:schemas-microsoft-com:vml" Requires="v">
                <p:oleObj spid="_x0000_s12621" name="Equation" r:id="rId5" imgW="177480" imgH="228600" progId="Equation.DSMT4">
                  <p:embed/>
                </p:oleObj>
              </mc:Choice>
              <mc:Fallback>
                <p:oleObj name="Equation" r:id="rId5" imgW="177480" imgH="228600" progId="Equation.DSMT4">
                  <p:embed/>
                  <p:pic>
                    <p:nvPicPr>
                      <p:cNvPr id="7176" name="Object 8">
                        <a:extLst>
                          <a:ext uri="{FF2B5EF4-FFF2-40B4-BE49-F238E27FC236}">
                            <a16:creationId xmlns:a16="http://schemas.microsoft.com/office/drawing/2014/main" id="{0C51AE97-CE91-43CA-B5F1-22F86003F7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6050" y="2537073"/>
                        <a:ext cx="493713"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7" name="Object 9">
            <a:extLst>
              <a:ext uri="{FF2B5EF4-FFF2-40B4-BE49-F238E27FC236}">
                <a16:creationId xmlns:a16="http://schemas.microsoft.com/office/drawing/2014/main" id="{B4CC31AB-3D34-488D-A86D-475D2CF5357B}"/>
              </a:ext>
            </a:extLst>
          </p:cNvPr>
          <p:cNvGraphicFramePr>
            <a:graphicFrameLocks noChangeAspect="1"/>
          </p:cNvGraphicFramePr>
          <p:nvPr>
            <p:extLst>
              <p:ext uri="{D42A27DB-BD31-4B8C-83A1-F6EECF244321}">
                <p14:modId xmlns:p14="http://schemas.microsoft.com/office/powerpoint/2010/main" val="2348568639"/>
              </p:ext>
            </p:extLst>
          </p:nvPr>
        </p:nvGraphicFramePr>
        <p:xfrm>
          <a:off x="2571750" y="3184773"/>
          <a:ext cx="612775" cy="635000"/>
        </p:xfrm>
        <a:graphic>
          <a:graphicData uri="http://schemas.openxmlformats.org/presentationml/2006/ole">
            <mc:AlternateContent xmlns:mc="http://schemas.openxmlformats.org/markup-compatibility/2006">
              <mc:Choice xmlns:v="urn:schemas-microsoft-com:vml" Requires="v">
                <p:oleObj spid="_x0000_s12622" name="Equation" r:id="rId7" imgW="177480" imgH="228600" progId="Equation.DSMT4">
                  <p:embed/>
                </p:oleObj>
              </mc:Choice>
              <mc:Fallback>
                <p:oleObj name="Equation" r:id="rId7" imgW="177480" imgH="228600" progId="Equation.DSMT4">
                  <p:embed/>
                  <p:pic>
                    <p:nvPicPr>
                      <p:cNvPr id="7177" name="Object 9">
                        <a:extLst>
                          <a:ext uri="{FF2B5EF4-FFF2-40B4-BE49-F238E27FC236}">
                            <a16:creationId xmlns:a16="http://schemas.microsoft.com/office/drawing/2014/main" id="{B4CC31AB-3D34-488D-A86D-475D2CF535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750" y="3184773"/>
                        <a:ext cx="612775"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8" name="Object 10">
            <a:extLst>
              <a:ext uri="{FF2B5EF4-FFF2-40B4-BE49-F238E27FC236}">
                <a16:creationId xmlns:a16="http://schemas.microsoft.com/office/drawing/2014/main" id="{8D43EDDB-6A23-402D-AABE-06B918B7693C}"/>
              </a:ext>
            </a:extLst>
          </p:cNvPr>
          <p:cNvGraphicFramePr>
            <a:graphicFrameLocks noChangeAspect="1"/>
          </p:cNvGraphicFramePr>
          <p:nvPr>
            <p:extLst>
              <p:ext uri="{D42A27DB-BD31-4B8C-83A1-F6EECF244321}">
                <p14:modId xmlns:p14="http://schemas.microsoft.com/office/powerpoint/2010/main" val="2728893514"/>
              </p:ext>
            </p:extLst>
          </p:nvPr>
        </p:nvGraphicFramePr>
        <p:xfrm>
          <a:off x="4157663" y="3294311"/>
          <a:ext cx="457200" cy="457200"/>
        </p:xfrm>
        <a:graphic>
          <a:graphicData uri="http://schemas.openxmlformats.org/presentationml/2006/ole">
            <mc:AlternateContent xmlns:mc="http://schemas.openxmlformats.org/markup-compatibility/2006">
              <mc:Choice xmlns:v="urn:schemas-microsoft-com:vml" Requires="v">
                <p:oleObj spid="_x0000_s12623" name="Equation" r:id="rId8" imgW="177480" imgH="177480" progId="Equation.DSMT4">
                  <p:embed/>
                </p:oleObj>
              </mc:Choice>
              <mc:Fallback>
                <p:oleObj name="Equation" r:id="rId8" imgW="177480" imgH="177480" progId="Equation.DSMT4">
                  <p:embed/>
                  <p:pic>
                    <p:nvPicPr>
                      <p:cNvPr id="7178" name="Object 10">
                        <a:extLst>
                          <a:ext uri="{FF2B5EF4-FFF2-40B4-BE49-F238E27FC236}">
                            <a16:creationId xmlns:a16="http://schemas.microsoft.com/office/drawing/2014/main" id="{8D43EDDB-6A23-402D-AABE-06B918B7693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57663" y="3294311"/>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9" name="Object 11">
            <a:extLst>
              <a:ext uri="{FF2B5EF4-FFF2-40B4-BE49-F238E27FC236}">
                <a16:creationId xmlns:a16="http://schemas.microsoft.com/office/drawing/2014/main" id="{07BEBEB6-321A-49BA-B40B-FC6405CDF660}"/>
              </a:ext>
            </a:extLst>
          </p:cNvPr>
          <p:cNvGraphicFramePr>
            <a:graphicFrameLocks noChangeAspect="1"/>
          </p:cNvGraphicFramePr>
          <p:nvPr>
            <p:extLst>
              <p:ext uri="{D42A27DB-BD31-4B8C-83A1-F6EECF244321}">
                <p14:modId xmlns:p14="http://schemas.microsoft.com/office/powerpoint/2010/main" val="1307053197"/>
              </p:ext>
            </p:extLst>
          </p:nvPr>
        </p:nvGraphicFramePr>
        <p:xfrm>
          <a:off x="6797675" y="2660898"/>
          <a:ext cx="442913" cy="442913"/>
        </p:xfrm>
        <a:graphic>
          <a:graphicData uri="http://schemas.openxmlformats.org/presentationml/2006/ole">
            <mc:AlternateContent xmlns:mc="http://schemas.openxmlformats.org/markup-compatibility/2006">
              <mc:Choice xmlns:v="urn:schemas-microsoft-com:vml" Requires="v">
                <p:oleObj spid="_x0000_s12624" name="Equation" r:id="rId10" imgW="177480" imgH="177480" progId="Equation.DSMT4">
                  <p:embed/>
                </p:oleObj>
              </mc:Choice>
              <mc:Fallback>
                <p:oleObj name="Equation" r:id="rId10" imgW="177480" imgH="177480" progId="Equation.DSMT4">
                  <p:embed/>
                  <p:pic>
                    <p:nvPicPr>
                      <p:cNvPr id="7179" name="Object 11">
                        <a:extLst>
                          <a:ext uri="{FF2B5EF4-FFF2-40B4-BE49-F238E27FC236}">
                            <a16:creationId xmlns:a16="http://schemas.microsoft.com/office/drawing/2014/main" id="{07BEBEB6-321A-49BA-B40B-FC6405CDF66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97675" y="2660898"/>
                        <a:ext cx="442913"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0" name="Object 7">
            <a:extLst>
              <a:ext uri="{FF2B5EF4-FFF2-40B4-BE49-F238E27FC236}">
                <a16:creationId xmlns:a16="http://schemas.microsoft.com/office/drawing/2014/main" id="{19915503-AB00-4693-AFB5-3C8C9A7ADAE9}"/>
              </a:ext>
            </a:extLst>
          </p:cNvPr>
          <p:cNvGraphicFramePr>
            <a:graphicFrameLocks noChangeAspect="1"/>
          </p:cNvGraphicFramePr>
          <p:nvPr>
            <p:extLst>
              <p:ext uri="{D42A27DB-BD31-4B8C-83A1-F6EECF244321}">
                <p14:modId xmlns:p14="http://schemas.microsoft.com/office/powerpoint/2010/main" val="1632965424"/>
              </p:ext>
            </p:extLst>
          </p:nvPr>
        </p:nvGraphicFramePr>
        <p:xfrm>
          <a:off x="835314" y="1484784"/>
          <a:ext cx="2970213" cy="800100"/>
        </p:xfrm>
        <a:graphic>
          <a:graphicData uri="http://schemas.openxmlformats.org/presentationml/2006/ole">
            <mc:AlternateContent xmlns:mc="http://schemas.openxmlformats.org/markup-compatibility/2006">
              <mc:Choice xmlns:v="urn:schemas-microsoft-com:vml" Requires="v">
                <p:oleObj spid="_x0000_s12625" name="Equation" r:id="rId11" imgW="1460160" imgH="444240" progId="Equation.DSMT4">
                  <p:embed/>
                </p:oleObj>
              </mc:Choice>
              <mc:Fallback>
                <p:oleObj name="Equation" r:id="rId11" imgW="1460160" imgH="444240" progId="Equation.DSMT4">
                  <p:embed/>
                  <p:pic>
                    <p:nvPicPr>
                      <p:cNvPr id="7180" name="Object 7">
                        <a:extLst>
                          <a:ext uri="{FF2B5EF4-FFF2-40B4-BE49-F238E27FC236}">
                            <a16:creationId xmlns:a16="http://schemas.microsoft.com/office/drawing/2014/main" id="{19915503-AB00-4693-AFB5-3C8C9A7ADAE9}"/>
                          </a:ext>
                        </a:extLst>
                      </p:cNvPr>
                      <p:cNvPicPr>
                        <a:picLocks noChangeAspect="1" noChangeArrowheads="1"/>
                      </p:cNvPicPr>
                      <p:nvPr/>
                    </p:nvPicPr>
                    <p:blipFill>
                      <a:blip r:embed="rId12"/>
                      <a:srcRect/>
                      <a:stretch>
                        <a:fillRect/>
                      </a:stretch>
                    </p:blipFill>
                    <p:spPr bwMode="auto">
                      <a:xfrm>
                        <a:off x="835314" y="1484784"/>
                        <a:ext cx="2970213" cy="8001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标题 1">
            <a:extLst>
              <a:ext uri="{FF2B5EF4-FFF2-40B4-BE49-F238E27FC236}">
                <a16:creationId xmlns:a16="http://schemas.microsoft.com/office/drawing/2014/main" id="{58B8C45C-D90A-488D-A699-E45255C280A1}"/>
              </a:ext>
            </a:extLst>
          </p:cNvPr>
          <p:cNvSpPr>
            <a:spLocks noGrp="1"/>
          </p:cNvSpPr>
          <p:nvPr>
            <p:ph type="title"/>
          </p:nvPr>
        </p:nvSpPr>
        <p:spPr/>
        <p:txBody>
          <a:bodyPr/>
          <a:lstStyle/>
          <a:p>
            <a:r>
              <a:rPr lang="en-US" altLang="zh-CN" sz="3200">
                <a:solidFill>
                  <a:srgbClr val="000000"/>
                </a:solidFill>
              </a:rPr>
              <a:t>3.6 </a:t>
            </a:r>
            <a:r>
              <a:rPr lang="zh-CN" altLang="en-US" sz="3200">
                <a:solidFill>
                  <a:srgbClr val="000000"/>
                </a:solidFill>
              </a:rPr>
              <a:t>离散时间周期信号的傅里叶级数表示</a:t>
            </a:r>
            <a:endParaRPr lang="zh-CN" altLang="en-US"/>
          </a:p>
        </p:txBody>
      </p:sp>
      <p:sp>
        <p:nvSpPr>
          <p:cNvPr id="8196" name="内容占位符 2">
            <a:extLst>
              <a:ext uri="{FF2B5EF4-FFF2-40B4-BE49-F238E27FC236}">
                <a16:creationId xmlns:a16="http://schemas.microsoft.com/office/drawing/2014/main" id="{958C20D2-329A-4537-8A01-D41D85541768}"/>
              </a:ext>
            </a:extLst>
          </p:cNvPr>
          <p:cNvSpPr>
            <a:spLocks noGrp="1"/>
          </p:cNvSpPr>
          <p:nvPr>
            <p:ph idx="1"/>
          </p:nvPr>
        </p:nvSpPr>
        <p:spPr/>
        <p:txBody>
          <a:bodyPr/>
          <a:lstStyle/>
          <a:p>
            <a:pPr marL="0" indent="0">
              <a:buNone/>
            </a:pPr>
            <a:r>
              <a:rPr lang="zh-CN" altLang="en-US" sz="2800" b="0" dirty="0">
                <a:solidFill>
                  <a:srgbClr val="0000FF"/>
                </a:solidFill>
              </a:rPr>
              <a:t>例</a:t>
            </a:r>
            <a:r>
              <a:rPr lang="en-US" altLang="zh-CN" sz="2800" b="0" dirty="0">
                <a:solidFill>
                  <a:srgbClr val="0000FF"/>
                </a:solidFill>
              </a:rPr>
              <a:t>. </a:t>
            </a:r>
            <a:r>
              <a:rPr lang="zh-CN" altLang="en-US" sz="2800" b="0" dirty="0">
                <a:solidFill>
                  <a:srgbClr val="0000FF"/>
                </a:solidFill>
              </a:rPr>
              <a:t>周期性方波序列的频谱</a:t>
            </a:r>
            <a:endParaRPr lang="en-US" altLang="zh-CN" sz="2800" b="0" dirty="0">
              <a:solidFill>
                <a:srgbClr val="0000FF"/>
              </a:solidFill>
            </a:endParaRPr>
          </a:p>
          <a:p>
            <a:pPr lvl="1"/>
            <a:r>
              <a:rPr lang="zh-CN" altLang="en-US" b="0" dirty="0"/>
              <a:t>周期信号</a:t>
            </a:r>
            <a:r>
              <a:rPr lang="en-US" altLang="zh-CN" b="0" i="1" dirty="0"/>
              <a:t>x</a:t>
            </a:r>
            <a:r>
              <a:rPr lang="en-US" altLang="zh-CN" b="0" dirty="0"/>
              <a:t>[</a:t>
            </a:r>
            <a:r>
              <a:rPr lang="en-US" altLang="zh-CN" b="0" i="1" dirty="0"/>
              <a:t>n</a:t>
            </a:r>
            <a:r>
              <a:rPr lang="en-US" altLang="zh-CN" b="0" dirty="0"/>
              <a:t>]</a:t>
            </a:r>
            <a:r>
              <a:rPr lang="zh-CN" altLang="en-US" b="0" dirty="0"/>
              <a:t>的傅里叶级数系数</a:t>
            </a:r>
            <a:r>
              <a:rPr lang="en-US" altLang="zh-CN" b="0" i="1" dirty="0" err="1"/>
              <a:t>a</a:t>
            </a:r>
            <a:r>
              <a:rPr lang="en-US" altLang="zh-CN" b="0" i="1" baseline="-25000" dirty="0" err="1"/>
              <a:t>k</a:t>
            </a:r>
            <a:r>
              <a:rPr lang="zh-CN" altLang="en-US" b="0" dirty="0"/>
              <a:t>也称为</a:t>
            </a:r>
            <a:r>
              <a:rPr lang="en-US" altLang="zh-CN" b="0" i="1" dirty="0"/>
              <a:t>x</a:t>
            </a:r>
            <a:r>
              <a:rPr lang="en-US" altLang="zh-CN" b="0" dirty="0"/>
              <a:t>[</a:t>
            </a:r>
            <a:r>
              <a:rPr lang="en-US" altLang="zh-CN" b="0" i="1" dirty="0"/>
              <a:t>n</a:t>
            </a:r>
            <a:r>
              <a:rPr lang="en-US" altLang="zh-CN" b="0" dirty="0"/>
              <a:t>]</a:t>
            </a:r>
            <a:r>
              <a:rPr lang="zh-CN" altLang="en-US" b="0" dirty="0"/>
              <a:t>的</a:t>
            </a:r>
            <a:r>
              <a:rPr lang="zh-CN" altLang="en-US" b="0" dirty="0">
                <a:solidFill>
                  <a:srgbClr val="FF0000"/>
                </a:solidFill>
              </a:rPr>
              <a:t>频谱系数</a:t>
            </a:r>
            <a:r>
              <a:rPr lang="zh-CN" altLang="en-US" b="0" dirty="0"/>
              <a:t>。</a:t>
            </a:r>
          </a:p>
        </p:txBody>
      </p:sp>
      <p:sp>
        <p:nvSpPr>
          <p:cNvPr id="4" name="灯片编号占位符 3">
            <a:extLst>
              <a:ext uri="{FF2B5EF4-FFF2-40B4-BE49-F238E27FC236}">
                <a16:creationId xmlns:a16="http://schemas.microsoft.com/office/drawing/2014/main" id="{67B5E005-9C43-4096-8450-6055B39E79F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A3271A7-F543-4420-99FF-E94182EB59B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8198" name="Picture 2">
            <a:extLst>
              <a:ext uri="{FF2B5EF4-FFF2-40B4-BE49-F238E27FC236}">
                <a16:creationId xmlns:a16="http://schemas.microsoft.com/office/drawing/2014/main" id="{8B19B8EE-01B5-4C22-9CA4-05452CAD2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563" y="2928938"/>
            <a:ext cx="708660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3186" name="Object 2">
            <a:extLst>
              <a:ext uri="{FF2B5EF4-FFF2-40B4-BE49-F238E27FC236}">
                <a16:creationId xmlns:a16="http://schemas.microsoft.com/office/drawing/2014/main" id="{C81E7943-0C80-44FD-ACB3-EFC278502C5F}"/>
              </a:ext>
            </a:extLst>
          </p:cNvPr>
          <p:cNvGraphicFramePr>
            <a:graphicFrameLocks noChangeAspect="1"/>
          </p:cNvGraphicFramePr>
          <p:nvPr/>
        </p:nvGraphicFramePr>
        <p:xfrm>
          <a:off x="1357313" y="4846638"/>
          <a:ext cx="6426200" cy="1435100"/>
        </p:xfrm>
        <a:graphic>
          <a:graphicData uri="http://schemas.openxmlformats.org/presentationml/2006/ole">
            <mc:AlternateContent xmlns:mc="http://schemas.openxmlformats.org/markup-compatibility/2006">
              <mc:Choice xmlns:v="urn:schemas-microsoft-com:vml" Requires="v">
                <p:oleObj spid="_x0000_s13369" name="Equation" r:id="rId4" imgW="2616120" imgH="622080" progId="Equation.DSMT4">
                  <p:embed/>
                </p:oleObj>
              </mc:Choice>
              <mc:Fallback>
                <p:oleObj name="Equation" r:id="rId4" imgW="2616120" imgH="622080" progId="Equation.DSMT4">
                  <p:embed/>
                  <p:pic>
                    <p:nvPicPr>
                      <p:cNvPr id="93186" name="Object 2">
                        <a:extLst>
                          <a:ext uri="{FF2B5EF4-FFF2-40B4-BE49-F238E27FC236}">
                            <a16:creationId xmlns:a16="http://schemas.microsoft.com/office/drawing/2014/main" id="{C81E7943-0C80-44FD-ACB3-EFC278502C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7313" y="4846638"/>
                        <a:ext cx="6426200" cy="143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blinds(horizontal)">
                                      <p:cBhvr>
                                        <p:cTn id="7" dur="500"/>
                                        <p:tgtEl>
                                          <p:spTgt spid="93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5" name="标题 1">
            <a:extLst>
              <a:ext uri="{FF2B5EF4-FFF2-40B4-BE49-F238E27FC236}">
                <a16:creationId xmlns:a16="http://schemas.microsoft.com/office/drawing/2014/main" id="{5EFD2E34-BB00-4CB1-9C1B-895736ED59D9}"/>
              </a:ext>
            </a:extLst>
          </p:cNvPr>
          <p:cNvSpPr>
            <a:spLocks noGrp="1"/>
          </p:cNvSpPr>
          <p:nvPr>
            <p:ph type="title"/>
          </p:nvPr>
        </p:nvSpPr>
        <p:spPr/>
        <p:txBody>
          <a:bodyPr/>
          <a:lstStyle/>
          <a:p>
            <a:r>
              <a:rPr lang="en-US" altLang="zh-CN" sz="3200">
                <a:solidFill>
                  <a:srgbClr val="000000"/>
                </a:solidFill>
              </a:rPr>
              <a:t>3.6 </a:t>
            </a:r>
            <a:r>
              <a:rPr lang="zh-CN" altLang="en-US" sz="3200">
                <a:solidFill>
                  <a:srgbClr val="000000"/>
                </a:solidFill>
              </a:rPr>
              <a:t>离散时间周期信号的傅里叶级数表示</a:t>
            </a:r>
            <a:endParaRPr lang="zh-CN" altLang="en-US"/>
          </a:p>
        </p:txBody>
      </p:sp>
      <p:sp>
        <p:nvSpPr>
          <p:cNvPr id="4" name="灯片编号占位符 3">
            <a:extLst>
              <a:ext uri="{FF2B5EF4-FFF2-40B4-BE49-F238E27FC236}">
                <a16:creationId xmlns:a16="http://schemas.microsoft.com/office/drawing/2014/main" id="{CF8C1EBD-3C1F-4A3A-9193-A1697A85803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F62120B-A6C0-467B-89E7-D92DB339A0B1}"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9218" name="Object 2">
            <a:extLst>
              <a:ext uri="{FF2B5EF4-FFF2-40B4-BE49-F238E27FC236}">
                <a16:creationId xmlns:a16="http://schemas.microsoft.com/office/drawing/2014/main" id="{5E45E16F-37C9-4DE9-B5F2-74C4618625AA}"/>
              </a:ext>
            </a:extLst>
          </p:cNvPr>
          <p:cNvGraphicFramePr>
            <a:graphicFrameLocks noChangeAspect="1"/>
          </p:cNvGraphicFramePr>
          <p:nvPr/>
        </p:nvGraphicFramePr>
        <p:xfrm>
          <a:off x="1044575" y="2428875"/>
          <a:ext cx="7143750" cy="1371600"/>
        </p:xfrm>
        <a:graphic>
          <a:graphicData uri="http://schemas.openxmlformats.org/presentationml/2006/ole">
            <mc:AlternateContent xmlns:mc="http://schemas.openxmlformats.org/markup-compatibility/2006">
              <mc:Choice xmlns:v="urn:schemas-microsoft-com:vml" Requires="v">
                <p:oleObj spid="_x0000_s14723" name="Equation" r:id="rId3" imgW="2349360" imgH="622080" progId="Equation.DSMT4">
                  <p:embed/>
                </p:oleObj>
              </mc:Choice>
              <mc:Fallback>
                <p:oleObj name="Equation" r:id="rId3" imgW="2349360" imgH="622080" progId="Equation.DSMT4">
                  <p:embed/>
                  <p:pic>
                    <p:nvPicPr>
                      <p:cNvPr id="9218" name="Object 2">
                        <a:extLst>
                          <a:ext uri="{FF2B5EF4-FFF2-40B4-BE49-F238E27FC236}">
                            <a16:creationId xmlns:a16="http://schemas.microsoft.com/office/drawing/2014/main" id="{5E45E16F-37C9-4DE9-B5F2-74C4618625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575" y="2428875"/>
                        <a:ext cx="71437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3">
            <a:extLst>
              <a:ext uri="{FF2B5EF4-FFF2-40B4-BE49-F238E27FC236}">
                <a16:creationId xmlns:a16="http://schemas.microsoft.com/office/drawing/2014/main" id="{3B35A992-D715-4056-9407-2EA121374BD2}"/>
              </a:ext>
            </a:extLst>
          </p:cNvPr>
          <p:cNvGraphicFramePr>
            <a:graphicFrameLocks noChangeAspect="1"/>
          </p:cNvGraphicFramePr>
          <p:nvPr/>
        </p:nvGraphicFramePr>
        <p:xfrm>
          <a:off x="3938588" y="5618163"/>
          <a:ext cx="1565275" cy="866775"/>
        </p:xfrm>
        <a:graphic>
          <a:graphicData uri="http://schemas.openxmlformats.org/presentationml/2006/ole">
            <mc:AlternateContent xmlns:mc="http://schemas.openxmlformats.org/markup-compatibility/2006">
              <mc:Choice xmlns:v="urn:schemas-microsoft-com:vml" Requires="v">
                <p:oleObj spid="_x0000_s14724" name="Equation" r:id="rId5" imgW="609480" imgH="393480" progId="Equation.DSMT4">
                  <p:embed/>
                </p:oleObj>
              </mc:Choice>
              <mc:Fallback>
                <p:oleObj name="Equation" r:id="rId5" imgW="609480" imgH="393480" progId="Equation.DSMT4">
                  <p:embed/>
                  <p:pic>
                    <p:nvPicPr>
                      <p:cNvPr id="7" name="Object 3">
                        <a:extLst>
                          <a:ext uri="{FF2B5EF4-FFF2-40B4-BE49-F238E27FC236}">
                            <a16:creationId xmlns:a16="http://schemas.microsoft.com/office/drawing/2014/main" id="{3B35A992-D715-4056-9407-2EA121374B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8588" y="5618163"/>
                        <a:ext cx="156527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4">
            <a:extLst>
              <a:ext uri="{FF2B5EF4-FFF2-40B4-BE49-F238E27FC236}">
                <a16:creationId xmlns:a16="http://schemas.microsoft.com/office/drawing/2014/main" id="{9AB83895-D853-49F8-8664-A1B67D19ECF1}"/>
              </a:ext>
            </a:extLst>
          </p:cNvPr>
          <p:cNvGraphicFramePr>
            <a:graphicFrameLocks noChangeAspect="1"/>
          </p:cNvGraphicFramePr>
          <p:nvPr>
            <p:extLst>
              <p:ext uri="{D42A27DB-BD31-4B8C-83A1-F6EECF244321}">
                <p14:modId xmlns:p14="http://schemas.microsoft.com/office/powerpoint/2010/main" val="2089617679"/>
              </p:ext>
            </p:extLst>
          </p:nvPr>
        </p:nvGraphicFramePr>
        <p:xfrm>
          <a:off x="6180138" y="5872163"/>
          <a:ext cx="1000125" cy="388937"/>
        </p:xfrm>
        <a:graphic>
          <a:graphicData uri="http://schemas.openxmlformats.org/presentationml/2006/ole">
            <mc:AlternateContent xmlns:mc="http://schemas.openxmlformats.org/markup-compatibility/2006">
              <mc:Choice xmlns:v="urn:schemas-microsoft-com:vml" Requires="v">
                <p:oleObj spid="_x0000_s14725" name="Equation" r:id="rId7" imgW="457200" imgH="177480" progId="Equation.DSMT4">
                  <p:embed/>
                </p:oleObj>
              </mc:Choice>
              <mc:Fallback>
                <p:oleObj name="Equation" r:id="rId7" imgW="457200" imgH="177480" progId="Equation.DSMT4">
                  <p:embed/>
                  <p:pic>
                    <p:nvPicPr>
                      <p:cNvPr id="8" name="Object 4">
                        <a:extLst>
                          <a:ext uri="{FF2B5EF4-FFF2-40B4-BE49-F238E27FC236}">
                            <a16:creationId xmlns:a16="http://schemas.microsoft.com/office/drawing/2014/main" id="{9AB83895-D853-49F8-8664-A1B67D19EC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80138" y="5872163"/>
                        <a:ext cx="10001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9">
            <a:extLst>
              <a:ext uri="{FF2B5EF4-FFF2-40B4-BE49-F238E27FC236}">
                <a16:creationId xmlns:a16="http://schemas.microsoft.com/office/drawing/2014/main" id="{4222EE4B-5B85-4F3B-84A5-C885BFEA5684}"/>
              </a:ext>
            </a:extLst>
          </p:cNvPr>
          <p:cNvSpPr txBox="1">
            <a:spLocks noChangeArrowheads="1"/>
          </p:cNvSpPr>
          <p:nvPr/>
        </p:nvSpPr>
        <p:spPr bwMode="auto">
          <a:xfrm>
            <a:off x="7102475" y="5767388"/>
            <a:ext cx="541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时</a:t>
            </a:r>
          </a:p>
        </p:txBody>
      </p:sp>
      <p:graphicFrame>
        <p:nvGraphicFramePr>
          <p:cNvPr id="9221" name="Object 5">
            <a:extLst>
              <a:ext uri="{FF2B5EF4-FFF2-40B4-BE49-F238E27FC236}">
                <a16:creationId xmlns:a16="http://schemas.microsoft.com/office/drawing/2014/main" id="{2DC3FA00-F8A1-4813-A8F5-CE5AF894070E}"/>
              </a:ext>
            </a:extLst>
          </p:cNvPr>
          <p:cNvGraphicFramePr>
            <a:graphicFrameLocks noChangeAspect="1"/>
          </p:cNvGraphicFramePr>
          <p:nvPr/>
        </p:nvGraphicFramePr>
        <p:xfrm>
          <a:off x="1584325" y="3832225"/>
          <a:ext cx="3386138" cy="1673225"/>
        </p:xfrm>
        <a:graphic>
          <a:graphicData uri="http://schemas.openxmlformats.org/presentationml/2006/ole">
            <mc:AlternateContent xmlns:mc="http://schemas.openxmlformats.org/markup-compatibility/2006">
              <mc:Choice xmlns:v="urn:schemas-microsoft-com:vml" Requires="v">
                <p:oleObj spid="_x0000_s14726" name="Equation" r:id="rId9" imgW="1358640" imgH="761760" progId="Equation.DSMT4">
                  <p:embed/>
                </p:oleObj>
              </mc:Choice>
              <mc:Fallback>
                <p:oleObj name="Equation" r:id="rId9" imgW="1358640" imgH="761760" progId="Equation.DSMT4">
                  <p:embed/>
                  <p:pic>
                    <p:nvPicPr>
                      <p:cNvPr id="9221" name="Object 5">
                        <a:extLst>
                          <a:ext uri="{FF2B5EF4-FFF2-40B4-BE49-F238E27FC236}">
                            <a16:creationId xmlns:a16="http://schemas.microsoft.com/office/drawing/2014/main" id="{2DC3FA00-F8A1-4813-A8F5-CE5AF894070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4325" y="3832225"/>
                        <a:ext cx="3386138" cy="167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2" name="Object 6">
            <a:extLst>
              <a:ext uri="{FF2B5EF4-FFF2-40B4-BE49-F238E27FC236}">
                <a16:creationId xmlns:a16="http://schemas.microsoft.com/office/drawing/2014/main" id="{E3A1E88A-D260-4ECC-8533-0BB237AC53B8}"/>
              </a:ext>
            </a:extLst>
          </p:cNvPr>
          <p:cNvGraphicFramePr>
            <a:graphicFrameLocks noChangeAspect="1"/>
          </p:cNvGraphicFramePr>
          <p:nvPr/>
        </p:nvGraphicFramePr>
        <p:xfrm>
          <a:off x="5837238" y="4483100"/>
          <a:ext cx="2378075" cy="446088"/>
        </p:xfrm>
        <a:graphic>
          <a:graphicData uri="http://schemas.openxmlformats.org/presentationml/2006/ole">
            <mc:AlternateContent xmlns:mc="http://schemas.openxmlformats.org/markup-compatibility/2006">
              <mc:Choice xmlns:v="urn:schemas-microsoft-com:vml" Requires="v">
                <p:oleObj spid="_x0000_s14727" name="Equation" r:id="rId11" imgW="1155600" imgH="203040" progId="Equation.DSMT4">
                  <p:embed/>
                </p:oleObj>
              </mc:Choice>
              <mc:Fallback>
                <p:oleObj name="Equation" r:id="rId11" imgW="1155600" imgH="203040" progId="Equation.DSMT4">
                  <p:embed/>
                  <p:pic>
                    <p:nvPicPr>
                      <p:cNvPr id="9222" name="Object 6">
                        <a:extLst>
                          <a:ext uri="{FF2B5EF4-FFF2-40B4-BE49-F238E27FC236}">
                            <a16:creationId xmlns:a16="http://schemas.microsoft.com/office/drawing/2014/main" id="{E3A1E88A-D260-4ECC-8533-0BB237AC53B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37238" y="4483100"/>
                        <a:ext cx="2378075"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186" name="Object 2">
            <a:extLst>
              <a:ext uri="{FF2B5EF4-FFF2-40B4-BE49-F238E27FC236}">
                <a16:creationId xmlns:a16="http://schemas.microsoft.com/office/drawing/2014/main" id="{4F5F784E-1C3C-496A-9074-F1D27E126128}"/>
              </a:ext>
            </a:extLst>
          </p:cNvPr>
          <p:cNvGraphicFramePr>
            <a:graphicFrameLocks noChangeAspect="1"/>
          </p:cNvGraphicFramePr>
          <p:nvPr/>
        </p:nvGraphicFramePr>
        <p:xfrm>
          <a:off x="357188" y="1214438"/>
          <a:ext cx="2741612" cy="993775"/>
        </p:xfrm>
        <a:graphic>
          <a:graphicData uri="http://schemas.openxmlformats.org/presentationml/2006/ole">
            <mc:AlternateContent xmlns:mc="http://schemas.openxmlformats.org/markup-compatibility/2006">
              <mc:Choice xmlns:v="urn:schemas-microsoft-com:vml" Requires="v">
                <p:oleObj spid="_x0000_s14728" name="Equation" r:id="rId13" imgW="1612800" imgH="622080" progId="Equation.DSMT4">
                  <p:embed/>
                </p:oleObj>
              </mc:Choice>
              <mc:Fallback>
                <p:oleObj name="Equation" r:id="rId13" imgW="1612800" imgH="622080" progId="Equation.DSMT4">
                  <p:embed/>
                  <p:pic>
                    <p:nvPicPr>
                      <p:cNvPr id="93186" name="Object 2">
                        <a:extLst>
                          <a:ext uri="{FF2B5EF4-FFF2-40B4-BE49-F238E27FC236}">
                            <a16:creationId xmlns:a16="http://schemas.microsoft.com/office/drawing/2014/main" id="{4F5F784E-1C3C-496A-9074-F1D27E12612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188" y="1214438"/>
                        <a:ext cx="2741612"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2">
            <a:extLst>
              <a:ext uri="{FF2B5EF4-FFF2-40B4-BE49-F238E27FC236}">
                <a16:creationId xmlns:a16="http://schemas.microsoft.com/office/drawing/2014/main" id="{71E9C082-A276-473E-BE74-104A62078782}"/>
              </a:ext>
            </a:extLst>
          </p:cNvPr>
          <p:cNvGraphicFramePr>
            <a:graphicFrameLocks noChangeAspect="1"/>
          </p:cNvGraphicFramePr>
          <p:nvPr/>
        </p:nvGraphicFramePr>
        <p:xfrm>
          <a:off x="1071563" y="5535613"/>
          <a:ext cx="2932112" cy="1082675"/>
        </p:xfrm>
        <a:graphic>
          <a:graphicData uri="http://schemas.openxmlformats.org/presentationml/2006/ole">
            <mc:AlternateContent xmlns:mc="http://schemas.openxmlformats.org/markup-compatibility/2006">
              <mc:Choice xmlns:v="urn:schemas-microsoft-com:vml" Requires="v">
                <p:oleObj spid="_x0000_s14729" name="Equation" r:id="rId15" imgW="1193760" imgH="469800" progId="Equation.DSMT4">
                  <p:embed/>
                </p:oleObj>
              </mc:Choice>
              <mc:Fallback>
                <p:oleObj name="Equation" r:id="rId15" imgW="1193760" imgH="469800" progId="Equation.DSMT4">
                  <p:embed/>
                  <p:pic>
                    <p:nvPicPr>
                      <p:cNvPr id="2" name="Object 2">
                        <a:extLst>
                          <a:ext uri="{FF2B5EF4-FFF2-40B4-BE49-F238E27FC236}">
                            <a16:creationId xmlns:a16="http://schemas.microsoft.com/office/drawing/2014/main" id="{71E9C082-A276-473E-BE74-104A6207878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1563" y="5535613"/>
                        <a:ext cx="2932112" cy="108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blinds(horizontal)">
                                      <p:cBhvr>
                                        <p:cTn id="7" dur="500"/>
                                        <p:tgtEl>
                                          <p:spTgt spid="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221"/>
                                        </p:tgtEl>
                                        <p:attrNameLst>
                                          <p:attrName>style.visibility</p:attrName>
                                        </p:attrNameLst>
                                      </p:cBhvr>
                                      <p:to>
                                        <p:strVal val="visible"/>
                                      </p:to>
                                    </p:set>
                                    <p:animEffect transition="in" filter="blinds(horizontal)">
                                      <p:cBhvr>
                                        <p:cTn id="12" dur="500"/>
                                        <p:tgtEl>
                                          <p:spTgt spid="9221"/>
                                        </p:tgtEl>
                                      </p:cBhvr>
                                    </p:animEffect>
                                  </p:childTnLst>
                                </p:cTn>
                              </p:par>
                              <p:par>
                                <p:cTn id="13" presetID="3" presetClass="entr" presetSubtype="10" fill="hold" nodeType="withEffect">
                                  <p:stCondLst>
                                    <p:cond delay="0"/>
                                  </p:stCondLst>
                                  <p:childTnLst>
                                    <p:set>
                                      <p:cBhvr>
                                        <p:cTn id="14" dur="1" fill="hold">
                                          <p:stCondLst>
                                            <p:cond delay="0"/>
                                          </p:stCondLst>
                                        </p:cTn>
                                        <p:tgtEl>
                                          <p:spTgt spid="9222"/>
                                        </p:tgtEl>
                                        <p:attrNameLst>
                                          <p:attrName>style.visibility</p:attrName>
                                        </p:attrNameLst>
                                      </p:cBhvr>
                                      <p:to>
                                        <p:strVal val="visible"/>
                                      </p:to>
                                    </p:set>
                                    <p:animEffect transition="in" filter="blinds(horizontal)">
                                      <p:cBhvr>
                                        <p:cTn id="15" dur="500"/>
                                        <p:tgtEl>
                                          <p:spTgt spid="922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linds(horizontal)">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EB632A35-8F80-4750-AA3E-01EBC14F1799}"/>
              </a:ext>
            </a:extLst>
          </p:cNvPr>
          <p:cNvSpPr>
            <a:spLocks noGrp="1"/>
          </p:cNvSpPr>
          <p:nvPr>
            <p:ph type="title"/>
          </p:nvPr>
        </p:nvSpPr>
        <p:spPr/>
        <p:txBody>
          <a:bodyPr/>
          <a:lstStyle/>
          <a:p>
            <a:r>
              <a:rPr lang="en-US" altLang="zh-CN" sz="3200">
                <a:solidFill>
                  <a:srgbClr val="000000"/>
                </a:solidFill>
              </a:rPr>
              <a:t>3.6 </a:t>
            </a:r>
            <a:r>
              <a:rPr lang="zh-CN" altLang="en-US" sz="3200">
                <a:solidFill>
                  <a:srgbClr val="000000"/>
                </a:solidFill>
              </a:rPr>
              <a:t>离散时间周期信号的傅里叶级数表示</a:t>
            </a:r>
            <a:endParaRPr lang="zh-CN" altLang="en-US"/>
          </a:p>
        </p:txBody>
      </p:sp>
      <p:sp>
        <p:nvSpPr>
          <p:cNvPr id="4" name="灯片编号占位符 3">
            <a:extLst>
              <a:ext uri="{FF2B5EF4-FFF2-40B4-BE49-F238E27FC236}">
                <a16:creationId xmlns:a16="http://schemas.microsoft.com/office/drawing/2014/main" id="{2457D66B-2986-46BD-A20E-4675EEEBB7F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5F270F1-95A6-426D-85D8-3CA81E6DD29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0964" name="Rectangle 9">
            <a:extLst>
              <a:ext uri="{FF2B5EF4-FFF2-40B4-BE49-F238E27FC236}">
                <a16:creationId xmlns:a16="http://schemas.microsoft.com/office/drawing/2014/main" id="{964D975D-504E-426A-834A-440FCB221B20}"/>
              </a:ext>
            </a:extLst>
          </p:cNvPr>
          <p:cNvSpPr>
            <a:spLocks noChangeArrowheads="1"/>
          </p:cNvSpPr>
          <p:nvPr/>
        </p:nvSpPr>
        <p:spPr bwMode="auto">
          <a:xfrm>
            <a:off x="2601913" y="1266825"/>
            <a:ext cx="3756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solidFill>
                  <a:srgbClr val="A5002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周期性方波序列的频谱</a:t>
            </a:r>
          </a:p>
        </p:txBody>
      </p:sp>
      <p:pic>
        <p:nvPicPr>
          <p:cNvPr id="95241" name="Picture 9">
            <a:extLst>
              <a:ext uri="{FF2B5EF4-FFF2-40B4-BE49-F238E27FC236}">
                <a16:creationId xmlns:a16="http://schemas.microsoft.com/office/drawing/2014/main" id="{A04D6B61-54EF-4733-96D8-6F47E1853263}"/>
              </a:ext>
            </a:extLst>
          </p:cNvPr>
          <p:cNvPicPr>
            <a:picLocks noChangeAspect="1" noChangeArrowheads="1"/>
          </p:cNvPicPr>
          <p:nvPr/>
        </p:nvPicPr>
        <p:blipFill>
          <a:blip r:embed="rId2"/>
          <a:srcRect/>
          <a:stretch>
            <a:fillRect/>
          </a:stretch>
        </p:blipFill>
        <p:spPr bwMode="auto">
          <a:xfrm>
            <a:off x="1762125" y="1957388"/>
            <a:ext cx="5619750" cy="4543425"/>
          </a:xfrm>
          <a:prstGeom prst="rect">
            <a:avLst/>
          </a:prstGeom>
          <a:noFill/>
          <a:ln w="9525">
            <a:noFill/>
            <a:miter lim="800000"/>
            <a:headEnd/>
            <a:tailEnd/>
          </a:ln>
          <a:effectLst>
            <a:prstShdw prst="shdw17" dist="17961" dir="2700000">
              <a:schemeClr val="accent1">
                <a:gamma/>
                <a:shade val="60000"/>
                <a:invGamma/>
              </a:schemeClr>
            </a:prst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9626C080-3375-4891-A21E-1BF6826B35DE}"/>
              </a:ext>
            </a:extLst>
          </p:cNvPr>
          <p:cNvSpPr>
            <a:spLocks noGrp="1"/>
          </p:cNvSpPr>
          <p:nvPr>
            <p:ph type="title"/>
          </p:nvPr>
        </p:nvSpPr>
        <p:spPr/>
        <p:txBody>
          <a:bodyPr/>
          <a:lstStyle/>
          <a:p>
            <a:r>
              <a:rPr lang="en-US" altLang="zh-CN" sz="3200">
                <a:solidFill>
                  <a:srgbClr val="000000"/>
                </a:solidFill>
              </a:rPr>
              <a:t>3.6 </a:t>
            </a:r>
            <a:r>
              <a:rPr lang="zh-CN" altLang="en-US" sz="3200">
                <a:solidFill>
                  <a:srgbClr val="000000"/>
                </a:solidFill>
              </a:rPr>
              <a:t>离散时间周期信号的傅里叶级数表示</a:t>
            </a:r>
            <a:endParaRPr lang="zh-CN" altLang="en-US"/>
          </a:p>
        </p:txBody>
      </p:sp>
      <p:sp>
        <p:nvSpPr>
          <p:cNvPr id="41987" name="内容占位符 2">
            <a:extLst>
              <a:ext uri="{FF2B5EF4-FFF2-40B4-BE49-F238E27FC236}">
                <a16:creationId xmlns:a16="http://schemas.microsoft.com/office/drawing/2014/main" id="{E15F4584-F5EB-43EB-8503-CFDF262D7689}"/>
              </a:ext>
            </a:extLst>
          </p:cNvPr>
          <p:cNvSpPr>
            <a:spLocks noGrp="1"/>
          </p:cNvSpPr>
          <p:nvPr>
            <p:ph idx="1"/>
          </p:nvPr>
        </p:nvSpPr>
        <p:spPr/>
        <p:txBody>
          <a:bodyPr/>
          <a:lstStyle/>
          <a:p>
            <a:pPr marL="0" indent="0">
              <a:lnSpc>
                <a:spcPct val="150000"/>
              </a:lnSpc>
              <a:buNone/>
            </a:pPr>
            <a:r>
              <a:rPr lang="zh-CN" altLang="en-US" b="0" dirty="0">
                <a:solidFill>
                  <a:srgbClr val="0000FF"/>
                </a:solidFill>
              </a:rPr>
              <a:t>三</a:t>
            </a:r>
            <a:r>
              <a:rPr lang="en-US" altLang="zh-CN" b="0" dirty="0">
                <a:solidFill>
                  <a:srgbClr val="0000FF"/>
                </a:solidFill>
              </a:rPr>
              <a:t>.  </a:t>
            </a:r>
            <a:r>
              <a:rPr lang="zh-CN" altLang="en-US" b="0" dirty="0">
                <a:solidFill>
                  <a:srgbClr val="0000FF"/>
                </a:solidFill>
              </a:rPr>
              <a:t>离散时间傅里叶级数的收敛</a:t>
            </a:r>
            <a:endParaRPr lang="en-US" altLang="zh-CN" b="0" dirty="0">
              <a:solidFill>
                <a:srgbClr val="0000FF"/>
              </a:solidFill>
            </a:endParaRPr>
          </a:p>
          <a:p>
            <a:pPr lvl="1">
              <a:lnSpc>
                <a:spcPct val="150000"/>
              </a:lnSpc>
            </a:pPr>
            <a:r>
              <a:rPr lang="zh-CN" altLang="en-US" b="0" dirty="0"/>
              <a:t> 离散时间傅里叶级数是一个有限项的级数，确定</a:t>
            </a:r>
            <a:r>
              <a:rPr lang="en-US" altLang="zh-CN" b="0" i="1" dirty="0" err="1"/>
              <a:t>a</a:t>
            </a:r>
            <a:r>
              <a:rPr lang="en-US" altLang="zh-CN" b="0" i="1" baseline="-25000" dirty="0" err="1"/>
              <a:t>k</a:t>
            </a:r>
            <a:r>
              <a:rPr lang="zh-CN" altLang="en-US" b="0" dirty="0"/>
              <a:t>的关系式也是有限项的和式，因而不存在收敛问题，也不会产生</a:t>
            </a:r>
            <a:r>
              <a:rPr lang="en-US" altLang="zh-CN" b="0" dirty="0"/>
              <a:t>Gibbs</a:t>
            </a:r>
            <a:r>
              <a:rPr lang="zh-CN" altLang="en-US" b="0" dirty="0"/>
              <a:t>现象。</a:t>
            </a:r>
          </a:p>
        </p:txBody>
      </p:sp>
      <p:sp>
        <p:nvSpPr>
          <p:cNvPr id="4" name="灯片编号占位符 3">
            <a:extLst>
              <a:ext uri="{FF2B5EF4-FFF2-40B4-BE49-F238E27FC236}">
                <a16:creationId xmlns:a16="http://schemas.microsoft.com/office/drawing/2014/main" id="{8BD02AA8-7754-4E6A-A7F3-C88F32A53AA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F2A8D95-E576-407A-843E-C6384A0A539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标题 1">
            <a:extLst>
              <a:ext uri="{FF2B5EF4-FFF2-40B4-BE49-F238E27FC236}">
                <a16:creationId xmlns:a16="http://schemas.microsoft.com/office/drawing/2014/main" id="{F92C9A87-13BA-4468-9CBD-8A8CB110669D}"/>
              </a:ext>
            </a:extLst>
          </p:cNvPr>
          <p:cNvSpPr>
            <a:spLocks noGrp="1"/>
          </p:cNvSpPr>
          <p:nvPr>
            <p:ph type="title"/>
          </p:nvPr>
        </p:nvSpPr>
        <p:spPr/>
        <p:txBody>
          <a:bodyPr/>
          <a:lstStyle/>
          <a:p>
            <a:r>
              <a:rPr lang="en-US" altLang="zh-CN" dirty="0"/>
              <a:t>3.8 </a:t>
            </a:r>
            <a:r>
              <a:rPr lang="zh-CN" altLang="en-US" dirty="0"/>
              <a:t>傅里叶级数与</a:t>
            </a:r>
            <a:r>
              <a:rPr lang="en-US" altLang="zh-CN" dirty="0"/>
              <a:t>LTI</a:t>
            </a:r>
            <a:r>
              <a:rPr lang="zh-CN" altLang="en-US" dirty="0"/>
              <a:t>系统</a:t>
            </a:r>
          </a:p>
        </p:txBody>
      </p:sp>
      <p:sp>
        <p:nvSpPr>
          <p:cNvPr id="10247" name="内容占位符 2">
            <a:extLst>
              <a:ext uri="{FF2B5EF4-FFF2-40B4-BE49-F238E27FC236}">
                <a16:creationId xmlns:a16="http://schemas.microsoft.com/office/drawing/2014/main" id="{F278F28D-D73B-49BA-8A45-1A14216B3B0A}"/>
              </a:ext>
            </a:extLst>
          </p:cNvPr>
          <p:cNvSpPr>
            <a:spLocks noGrp="1"/>
          </p:cNvSpPr>
          <p:nvPr>
            <p:ph idx="1"/>
          </p:nvPr>
        </p:nvSpPr>
        <p:spPr/>
        <p:txBody>
          <a:bodyPr/>
          <a:lstStyle/>
          <a:p>
            <a:r>
              <a:rPr lang="en-US" altLang="zh-CN" sz="2800" b="0" dirty="0"/>
              <a:t>LTI</a:t>
            </a:r>
            <a:r>
              <a:rPr lang="zh-CN" altLang="en-US" sz="2800" b="0" dirty="0"/>
              <a:t>系统对复指数信号所起的作用只是给输入信号加权了一个相应的特征值。</a:t>
            </a:r>
          </a:p>
        </p:txBody>
      </p:sp>
      <p:sp>
        <p:nvSpPr>
          <p:cNvPr id="4" name="灯片编号占位符 3">
            <a:extLst>
              <a:ext uri="{FF2B5EF4-FFF2-40B4-BE49-F238E27FC236}">
                <a16:creationId xmlns:a16="http://schemas.microsoft.com/office/drawing/2014/main" id="{370E6E31-495A-438E-B577-54BC45CE867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A424134-7A56-4BF0-A8D3-16943FCF6EC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Group 20">
            <a:extLst>
              <a:ext uri="{FF2B5EF4-FFF2-40B4-BE49-F238E27FC236}">
                <a16:creationId xmlns:a16="http://schemas.microsoft.com/office/drawing/2014/main" id="{9F8FBCF0-3765-47D5-BC73-151237076555}"/>
              </a:ext>
            </a:extLst>
          </p:cNvPr>
          <p:cNvGrpSpPr>
            <a:grpSpLocks/>
          </p:cNvGrpSpPr>
          <p:nvPr/>
        </p:nvGrpSpPr>
        <p:grpSpPr bwMode="auto">
          <a:xfrm>
            <a:off x="1143000" y="2484438"/>
            <a:ext cx="6223000" cy="788987"/>
            <a:chOff x="640" y="2160"/>
            <a:chExt cx="3920" cy="497"/>
          </a:xfrm>
        </p:grpSpPr>
        <p:graphicFrame>
          <p:nvGraphicFramePr>
            <p:cNvPr id="10245" name="Object 21">
              <a:extLst>
                <a:ext uri="{FF2B5EF4-FFF2-40B4-BE49-F238E27FC236}">
                  <a16:creationId xmlns:a16="http://schemas.microsoft.com/office/drawing/2014/main" id="{C90B7530-B9FE-4C65-B183-36DE09CE36BB}"/>
                </a:ext>
              </a:extLst>
            </p:cNvPr>
            <p:cNvGraphicFramePr>
              <a:graphicFrameLocks noChangeAspect="1"/>
            </p:cNvGraphicFramePr>
            <p:nvPr/>
          </p:nvGraphicFramePr>
          <p:xfrm>
            <a:off x="2448" y="2160"/>
            <a:ext cx="2112" cy="497"/>
          </p:xfrm>
          <a:graphic>
            <a:graphicData uri="http://schemas.openxmlformats.org/presentationml/2006/ole">
              <mc:AlternateContent xmlns:mc="http://schemas.openxmlformats.org/markup-compatibility/2006">
                <mc:Choice xmlns:v="urn:schemas-microsoft-com:vml" Requires="v">
                  <p:oleObj spid="_x0000_s15582" name="Equation" r:id="rId3" imgW="1269720" imgH="330120" progId="Equation.DSMT4">
                    <p:embed/>
                  </p:oleObj>
                </mc:Choice>
                <mc:Fallback>
                  <p:oleObj name="Equation" r:id="rId3" imgW="1269720" imgH="330120" progId="Equation.DSMT4">
                    <p:embed/>
                    <p:pic>
                      <p:nvPicPr>
                        <p:cNvPr id="10245" name="Object 21">
                          <a:extLst>
                            <a:ext uri="{FF2B5EF4-FFF2-40B4-BE49-F238E27FC236}">
                              <a16:creationId xmlns:a16="http://schemas.microsoft.com/office/drawing/2014/main" id="{C90B7530-B9FE-4C65-B183-36DE09CE36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8" y="2160"/>
                          <a:ext cx="2112"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4" name="Text Box 22">
              <a:extLst>
                <a:ext uri="{FF2B5EF4-FFF2-40B4-BE49-F238E27FC236}">
                  <a16:creationId xmlns:a16="http://schemas.microsoft.com/office/drawing/2014/main" id="{F5AA8E9A-9123-407F-9201-4F6CB46CB195}"/>
                </a:ext>
              </a:extLst>
            </p:cNvPr>
            <p:cNvSpPr txBox="1">
              <a:spLocks noChangeArrowheads="1"/>
            </p:cNvSpPr>
            <p:nvPr/>
          </p:nvSpPr>
          <p:spPr bwMode="auto">
            <a:xfrm>
              <a:off x="640" y="2226"/>
              <a:ext cx="16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solidFill>
                    <a:srgbClr val="A5002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对连续时间系统</a:t>
              </a:r>
            </a:p>
          </p:txBody>
        </p:sp>
      </p:grpSp>
      <p:grpSp>
        <p:nvGrpSpPr>
          <p:cNvPr id="3" name="Group 23">
            <a:extLst>
              <a:ext uri="{FF2B5EF4-FFF2-40B4-BE49-F238E27FC236}">
                <a16:creationId xmlns:a16="http://schemas.microsoft.com/office/drawing/2014/main" id="{A33B5B08-1642-4CB5-933D-1C03CE08CDC2}"/>
              </a:ext>
            </a:extLst>
          </p:cNvPr>
          <p:cNvGrpSpPr>
            <a:grpSpLocks/>
          </p:cNvGrpSpPr>
          <p:nvPr/>
        </p:nvGrpSpPr>
        <p:grpSpPr bwMode="auto">
          <a:xfrm>
            <a:off x="1169988" y="3395663"/>
            <a:ext cx="5537200" cy="1033462"/>
            <a:chOff x="657" y="2734"/>
            <a:chExt cx="3488" cy="651"/>
          </a:xfrm>
        </p:grpSpPr>
        <p:sp>
          <p:nvSpPr>
            <p:cNvPr id="10253" name="Text Box 24">
              <a:extLst>
                <a:ext uri="{FF2B5EF4-FFF2-40B4-BE49-F238E27FC236}">
                  <a16:creationId xmlns:a16="http://schemas.microsoft.com/office/drawing/2014/main" id="{E454EA73-E250-495E-8233-5E7BED63D60F}"/>
                </a:ext>
              </a:extLst>
            </p:cNvPr>
            <p:cNvSpPr txBox="1">
              <a:spLocks noChangeArrowheads="1"/>
            </p:cNvSpPr>
            <p:nvPr/>
          </p:nvSpPr>
          <p:spPr bwMode="auto">
            <a:xfrm>
              <a:off x="657" y="2861"/>
              <a:ext cx="16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solidFill>
                    <a:srgbClr val="A50021"/>
                  </a:solidFill>
                  <a:effectLst/>
                  <a:uLnTx/>
                  <a:uFillTx/>
                  <a:latin typeface="华文楷体" panose="02010600040101010101" pitchFamily="2" charset="-122"/>
                  <a:ea typeface="华文楷体" panose="02010600040101010101" pitchFamily="2" charset="-122"/>
                  <a:cs typeface="楷体_GB2312" panose="02010609030101010101" pitchFamily="49" charset="-122"/>
                </a:rPr>
                <a:t>对离散时间系统</a:t>
              </a:r>
            </a:p>
          </p:txBody>
        </p:sp>
        <p:graphicFrame>
          <p:nvGraphicFramePr>
            <p:cNvPr id="10244" name="Object 25">
              <a:extLst>
                <a:ext uri="{FF2B5EF4-FFF2-40B4-BE49-F238E27FC236}">
                  <a16:creationId xmlns:a16="http://schemas.microsoft.com/office/drawing/2014/main" id="{65D44E05-F1CC-486F-A3AA-CC72A24C9703}"/>
                </a:ext>
              </a:extLst>
            </p:cNvPr>
            <p:cNvGraphicFramePr>
              <a:graphicFrameLocks noChangeAspect="1"/>
            </p:cNvGraphicFramePr>
            <p:nvPr>
              <p:extLst>
                <p:ext uri="{D42A27DB-BD31-4B8C-83A1-F6EECF244321}">
                  <p14:modId xmlns:p14="http://schemas.microsoft.com/office/powerpoint/2010/main" val="1067253688"/>
                </p:ext>
              </p:extLst>
            </p:nvPr>
          </p:nvGraphicFramePr>
          <p:xfrm>
            <a:off x="2435" y="2734"/>
            <a:ext cx="1710" cy="651"/>
          </p:xfrm>
          <a:graphic>
            <a:graphicData uri="http://schemas.openxmlformats.org/presentationml/2006/ole">
              <mc:AlternateContent xmlns:mc="http://schemas.openxmlformats.org/markup-compatibility/2006">
                <mc:Choice xmlns:v="urn:schemas-microsoft-com:vml" Requires="v">
                  <p:oleObj spid="_x0000_s15583" name="Equation" r:id="rId5" imgW="1206360" imgH="431640" progId="Equation.DSMT4">
                    <p:embed/>
                  </p:oleObj>
                </mc:Choice>
                <mc:Fallback>
                  <p:oleObj name="Equation" r:id="rId5" imgW="1206360" imgH="431640" progId="Equation.DSMT4">
                    <p:embed/>
                    <p:pic>
                      <p:nvPicPr>
                        <p:cNvPr id="10244" name="Object 25">
                          <a:extLst>
                            <a:ext uri="{FF2B5EF4-FFF2-40B4-BE49-F238E27FC236}">
                              <a16:creationId xmlns:a16="http://schemas.microsoft.com/office/drawing/2014/main" id="{65D44E05-F1CC-486F-A3AA-CC72A24C9703}"/>
                            </a:ext>
                          </a:extLst>
                        </p:cNvPr>
                        <p:cNvPicPr>
                          <a:picLocks noChangeAspect="1" noChangeArrowheads="1"/>
                        </p:cNvPicPr>
                        <p:nvPr/>
                      </p:nvPicPr>
                      <p:blipFill>
                        <a:blip r:embed="rId6"/>
                        <a:srcRect/>
                        <a:stretch>
                          <a:fillRect/>
                        </a:stretch>
                      </p:blipFill>
                      <p:spPr bwMode="auto">
                        <a:xfrm>
                          <a:off x="2435" y="2734"/>
                          <a:ext cx="1710" cy="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26">
            <a:extLst>
              <a:ext uri="{FF2B5EF4-FFF2-40B4-BE49-F238E27FC236}">
                <a16:creationId xmlns:a16="http://schemas.microsoft.com/office/drawing/2014/main" id="{7F6AFF1A-0E5A-42C5-822F-5B30D7B12757}"/>
              </a:ext>
            </a:extLst>
          </p:cNvPr>
          <p:cNvGrpSpPr>
            <a:grpSpLocks/>
          </p:cNvGrpSpPr>
          <p:nvPr/>
        </p:nvGrpSpPr>
        <p:grpSpPr bwMode="auto">
          <a:xfrm>
            <a:off x="1428750" y="4857750"/>
            <a:ext cx="5834063" cy="523875"/>
            <a:chOff x="924" y="3538"/>
            <a:chExt cx="3675" cy="330"/>
          </a:xfrm>
        </p:grpSpPr>
        <p:sp>
          <p:nvSpPr>
            <p:cNvPr id="10252" name="Text Box 27">
              <a:extLst>
                <a:ext uri="{FF2B5EF4-FFF2-40B4-BE49-F238E27FC236}">
                  <a16:creationId xmlns:a16="http://schemas.microsoft.com/office/drawing/2014/main" id="{95909E8E-81C7-4979-B7D0-5E7C512EC7FB}"/>
                </a:ext>
              </a:extLst>
            </p:cNvPr>
            <p:cNvSpPr txBox="1">
              <a:spLocks noChangeArrowheads="1"/>
            </p:cNvSpPr>
            <p:nvPr/>
          </p:nvSpPr>
          <p:spPr bwMode="auto">
            <a:xfrm>
              <a:off x="1260" y="3538"/>
              <a:ext cx="333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        被称为系统的</a:t>
              </a:r>
              <a:r>
                <a:rPr kumimoji="0" lang="zh-CN" altLang="en-US" sz="28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楷体_GB2312" panose="02010609030101010101" pitchFamily="49" charset="-122"/>
                </a:rPr>
                <a:t>系统函数</a:t>
              </a:r>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楷体_GB2312" panose="02010609030101010101" pitchFamily="49" charset="-122"/>
                </a:rPr>
                <a:t>。</a:t>
              </a:r>
            </a:p>
          </p:txBody>
        </p:sp>
        <p:graphicFrame>
          <p:nvGraphicFramePr>
            <p:cNvPr id="10242" name="Object 28">
              <a:extLst>
                <a:ext uri="{FF2B5EF4-FFF2-40B4-BE49-F238E27FC236}">
                  <a16:creationId xmlns:a16="http://schemas.microsoft.com/office/drawing/2014/main" id="{0256432C-3C1E-44A4-AF5D-0B49CBECC1D5}"/>
                </a:ext>
              </a:extLst>
            </p:cNvPr>
            <p:cNvGraphicFramePr>
              <a:graphicFrameLocks noChangeAspect="1"/>
            </p:cNvGraphicFramePr>
            <p:nvPr/>
          </p:nvGraphicFramePr>
          <p:xfrm>
            <a:off x="924" y="3570"/>
            <a:ext cx="397" cy="289"/>
          </p:xfrm>
          <a:graphic>
            <a:graphicData uri="http://schemas.openxmlformats.org/presentationml/2006/ole">
              <mc:AlternateContent xmlns:mc="http://schemas.openxmlformats.org/markup-compatibility/2006">
                <mc:Choice xmlns:v="urn:schemas-microsoft-com:vml" Requires="v">
                  <p:oleObj spid="_x0000_s15584" name="Equation" r:id="rId7" imgW="355320" imgH="203040" progId="Equation.DSMT4">
                    <p:embed/>
                  </p:oleObj>
                </mc:Choice>
                <mc:Fallback>
                  <p:oleObj name="Equation" r:id="rId7" imgW="355320" imgH="203040" progId="Equation.DSMT4">
                    <p:embed/>
                    <p:pic>
                      <p:nvPicPr>
                        <p:cNvPr id="10242" name="Object 28">
                          <a:extLst>
                            <a:ext uri="{FF2B5EF4-FFF2-40B4-BE49-F238E27FC236}">
                              <a16:creationId xmlns:a16="http://schemas.microsoft.com/office/drawing/2014/main" id="{0256432C-3C1E-44A4-AF5D-0B49CBECC1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4" y="3570"/>
                          <a:ext cx="397" cy="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3" name="Object 29">
              <a:extLst>
                <a:ext uri="{FF2B5EF4-FFF2-40B4-BE49-F238E27FC236}">
                  <a16:creationId xmlns:a16="http://schemas.microsoft.com/office/drawing/2014/main" id="{50EF7254-CC4A-4BCE-8FEF-CB06DD3AF3FD}"/>
                </a:ext>
              </a:extLst>
            </p:cNvPr>
            <p:cNvGraphicFramePr>
              <a:graphicFrameLocks noChangeAspect="1"/>
            </p:cNvGraphicFramePr>
            <p:nvPr/>
          </p:nvGraphicFramePr>
          <p:xfrm>
            <a:off x="1566" y="3579"/>
            <a:ext cx="397" cy="276"/>
          </p:xfrm>
          <a:graphic>
            <a:graphicData uri="http://schemas.openxmlformats.org/presentationml/2006/ole">
              <mc:AlternateContent xmlns:mc="http://schemas.openxmlformats.org/markup-compatibility/2006">
                <mc:Choice xmlns:v="urn:schemas-microsoft-com:vml" Requires="v">
                  <p:oleObj spid="_x0000_s15585" name="Equation" r:id="rId9" imgW="368280" imgH="203040" progId="Equation.DSMT4">
                    <p:embed/>
                  </p:oleObj>
                </mc:Choice>
                <mc:Fallback>
                  <p:oleObj name="Equation" r:id="rId9" imgW="368280" imgH="203040" progId="Equation.DSMT4">
                    <p:embed/>
                    <p:pic>
                      <p:nvPicPr>
                        <p:cNvPr id="10243" name="Object 29">
                          <a:extLst>
                            <a:ext uri="{FF2B5EF4-FFF2-40B4-BE49-F238E27FC236}">
                              <a16:creationId xmlns:a16="http://schemas.microsoft.com/office/drawing/2014/main" id="{50EF7254-CC4A-4BCE-8FEF-CB06DD3AF3F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66" y="3579"/>
                          <a:ext cx="397" cy="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7" name="标题 1">
            <a:extLst>
              <a:ext uri="{FF2B5EF4-FFF2-40B4-BE49-F238E27FC236}">
                <a16:creationId xmlns:a16="http://schemas.microsoft.com/office/drawing/2014/main" id="{78A98B1B-2A36-4596-87CC-83807A5DE9FB}"/>
              </a:ext>
            </a:extLst>
          </p:cNvPr>
          <p:cNvSpPr>
            <a:spLocks noGrp="1"/>
          </p:cNvSpPr>
          <p:nvPr>
            <p:ph type="title"/>
          </p:nvPr>
        </p:nvSpPr>
        <p:spPr/>
        <p:txBody>
          <a:bodyPr/>
          <a:lstStyle/>
          <a:p>
            <a:r>
              <a:rPr lang="en-US" altLang="zh-CN" dirty="0"/>
              <a:t>3.8 </a:t>
            </a:r>
            <a:r>
              <a:rPr lang="zh-CN" altLang="en-US" dirty="0"/>
              <a:t>傅里叶级数与</a:t>
            </a:r>
            <a:r>
              <a:rPr lang="en-US" altLang="zh-CN" dirty="0"/>
              <a:t>LTI</a:t>
            </a:r>
            <a:r>
              <a:rPr lang="zh-CN" altLang="en-US" dirty="0"/>
              <a:t>系统</a:t>
            </a:r>
          </a:p>
        </p:txBody>
      </p:sp>
      <p:sp>
        <p:nvSpPr>
          <p:cNvPr id="4" name="灯片编号占位符 3">
            <a:extLst>
              <a:ext uri="{FF2B5EF4-FFF2-40B4-BE49-F238E27FC236}">
                <a16:creationId xmlns:a16="http://schemas.microsoft.com/office/drawing/2014/main" id="{AE8602A6-CBD8-47DD-98D1-C797673BD44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69770E-84CE-4FAE-B670-A3E54E973C6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11279" name="Group 2">
            <a:extLst>
              <a:ext uri="{FF2B5EF4-FFF2-40B4-BE49-F238E27FC236}">
                <a16:creationId xmlns:a16="http://schemas.microsoft.com/office/drawing/2014/main" id="{602EC000-C0A3-4EB7-9EF4-A2ADD0B8E7E1}"/>
              </a:ext>
            </a:extLst>
          </p:cNvPr>
          <p:cNvGrpSpPr>
            <a:grpSpLocks/>
          </p:cNvGrpSpPr>
          <p:nvPr/>
        </p:nvGrpSpPr>
        <p:grpSpPr bwMode="auto">
          <a:xfrm>
            <a:off x="928688" y="1911350"/>
            <a:ext cx="7356475" cy="1316038"/>
            <a:chOff x="672" y="624"/>
            <a:chExt cx="4634" cy="829"/>
          </a:xfrm>
        </p:grpSpPr>
        <p:sp>
          <p:nvSpPr>
            <p:cNvPr id="11286" name="Text Box 3">
              <a:extLst>
                <a:ext uri="{FF2B5EF4-FFF2-40B4-BE49-F238E27FC236}">
                  <a16:creationId xmlns:a16="http://schemas.microsoft.com/office/drawing/2014/main" id="{D205A797-0ED6-45B6-955D-1674580D14B2}"/>
                </a:ext>
              </a:extLst>
            </p:cNvPr>
            <p:cNvSpPr txBox="1">
              <a:spLocks noChangeArrowheads="1"/>
            </p:cNvSpPr>
            <p:nvPr/>
          </p:nvSpPr>
          <p:spPr bwMode="auto">
            <a:xfrm>
              <a:off x="672" y="672"/>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如果</a:t>
              </a:r>
            </a:p>
          </p:txBody>
        </p:sp>
        <p:graphicFrame>
          <p:nvGraphicFramePr>
            <p:cNvPr id="11274" name="Object 4">
              <a:extLst>
                <a:ext uri="{FF2B5EF4-FFF2-40B4-BE49-F238E27FC236}">
                  <a16:creationId xmlns:a16="http://schemas.microsoft.com/office/drawing/2014/main" id="{7D156B2F-9027-4DDA-86E6-ACAAC84E60DA}"/>
                </a:ext>
              </a:extLst>
            </p:cNvPr>
            <p:cNvGraphicFramePr>
              <a:graphicFrameLocks noChangeAspect="1"/>
            </p:cNvGraphicFramePr>
            <p:nvPr/>
          </p:nvGraphicFramePr>
          <p:xfrm>
            <a:off x="1200" y="720"/>
            <a:ext cx="639" cy="274"/>
          </p:xfrm>
          <a:graphic>
            <a:graphicData uri="http://schemas.openxmlformats.org/presentationml/2006/ole">
              <mc:AlternateContent xmlns:mc="http://schemas.openxmlformats.org/markup-compatibility/2006">
                <mc:Choice xmlns:v="urn:schemas-microsoft-com:vml" Requires="v">
                  <p:oleObj spid="_x0000_s16991" name="Equation" r:id="rId4" imgW="444240" imgH="190440" progId="Equation.DSMT4">
                    <p:embed/>
                  </p:oleObj>
                </mc:Choice>
                <mc:Fallback>
                  <p:oleObj name="Equation" r:id="rId4" imgW="444240" imgH="190440" progId="Equation.DSMT4">
                    <p:embed/>
                    <p:pic>
                      <p:nvPicPr>
                        <p:cNvPr id="11274" name="Object 4">
                          <a:extLst>
                            <a:ext uri="{FF2B5EF4-FFF2-40B4-BE49-F238E27FC236}">
                              <a16:creationId xmlns:a16="http://schemas.microsoft.com/office/drawing/2014/main" id="{7D156B2F-9027-4DDA-86E6-ACAAC84E60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0" y="720"/>
                          <a:ext cx="639"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7" name="Text Box 5">
              <a:extLst>
                <a:ext uri="{FF2B5EF4-FFF2-40B4-BE49-F238E27FC236}">
                  <a16:creationId xmlns:a16="http://schemas.microsoft.com/office/drawing/2014/main" id="{7A185DB1-5CBC-4CFD-AD17-039F3E43DAAA}"/>
                </a:ext>
              </a:extLst>
            </p:cNvPr>
            <p:cNvSpPr txBox="1">
              <a:spLocks noChangeArrowheads="1"/>
            </p:cNvSpPr>
            <p:nvPr/>
          </p:nvSpPr>
          <p:spPr bwMode="auto">
            <a:xfrm>
              <a:off x="1872" y="672"/>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aphicFrame>
          <p:nvGraphicFramePr>
            <p:cNvPr id="11275" name="Object 6">
              <a:extLst>
                <a:ext uri="{FF2B5EF4-FFF2-40B4-BE49-F238E27FC236}">
                  <a16:creationId xmlns:a16="http://schemas.microsoft.com/office/drawing/2014/main" id="{A9F220D7-55B9-4D5F-9104-E50DD6583AF9}"/>
                </a:ext>
              </a:extLst>
            </p:cNvPr>
            <p:cNvGraphicFramePr>
              <a:graphicFrameLocks noChangeAspect="1"/>
            </p:cNvGraphicFramePr>
            <p:nvPr/>
          </p:nvGraphicFramePr>
          <p:xfrm>
            <a:off x="2208" y="624"/>
            <a:ext cx="2042" cy="464"/>
          </p:xfrm>
          <a:graphic>
            <a:graphicData uri="http://schemas.openxmlformats.org/presentationml/2006/ole">
              <mc:AlternateContent xmlns:mc="http://schemas.openxmlformats.org/markup-compatibility/2006">
                <mc:Choice xmlns:v="urn:schemas-microsoft-com:vml" Requires="v">
                  <p:oleObj spid="_x0000_s16992" name="Equation" r:id="rId6" imgW="1447560" imgH="330120" progId="Equation.DSMT4">
                    <p:embed/>
                  </p:oleObj>
                </mc:Choice>
                <mc:Fallback>
                  <p:oleObj name="Equation" r:id="rId6" imgW="1447560" imgH="330120" progId="Equation.DSMT4">
                    <p:embed/>
                    <p:pic>
                      <p:nvPicPr>
                        <p:cNvPr id="11275" name="Object 6">
                          <a:extLst>
                            <a:ext uri="{FF2B5EF4-FFF2-40B4-BE49-F238E27FC236}">
                              <a16:creationId xmlns:a16="http://schemas.microsoft.com/office/drawing/2014/main" id="{A9F220D7-55B9-4D5F-9104-E50DD6583A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8" y="624"/>
                          <a:ext cx="2042" cy="464"/>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6" name="Object 7">
              <a:extLst>
                <a:ext uri="{FF2B5EF4-FFF2-40B4-BE49-F238E27FC236}">
                  <a16:creationId xmlns:a16="http://schemas.microsoft.com/office/drawing/2014/main" id="{5BDC42EC-282F-499B-8540-006A660874E0}"/>
                </a:ext>
              </a:extLst>
            </p:cNvPr>
            <p:cNvGraphicFramePr>
              <a:graphicFrameLocks noChangeAspect="1"/>
            </p:cNvGraphicFramePr>
            <p:nvPr/>
          </p:nvGraphicFramePr>
          <p:xfrm>
            <a:off x="1056" y="1152"/>
            <a:ext cx="636" cy="274"/>
          </p:xfrm>
          <a:graphic>
            <a:graphicData uri="http://schemas.openxmlformats.org/presentationml/2006/ole">
              <mc:AlternateContent xmlns:mc="http://schemas.openxmlformats.org/markup-compatibility/2006">
                <mc:Choice xmlns:v="urn:schemas-microsoft-com:vml" Requires="v">
                  <p:oleObj spid="_x0000_s16993" name="Equation" r:id="rId8" imgW="469800" imgH="203040" progId="Equation.DSMT4">
                    <p:embed/>
                  </p:oleObj>
                </mc:Choice>
                <mc:Fallback>
                  <p:oleObj name="Equation" r:id="rId8" imgW="469800" imgH="203040" progId="Equation.DSMT4">
                    <p:embed/>
                    <p:pic>
                      <p:nvPicPr>
                        <p:cNvPr id="11276" name="Object 7">
                          <a:extLst>
                            <a:ext uri="{FF2B5EF4-FFF2-40B4-BE49-F238E27FC236}">
                              <a16:creationId xmlns:a16="http://schemas.microsoft.com/office/drawing/2014/main" id="{5BDC42EC-282F-499B-8540-006A660874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6" y="1152"/>
                          <a:ext cx="636"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8" name="Text Box 8">
              <a:extLst>
                <a:ext uri="{FF2B5EF4-FFF2-40B4-BE49-F238E27FC236}">
                  <a16:creationId xmlns:a16="http://schemas.microsoft.com/office/drawing/2014/main" id="{D2612F16-B1CD-4C6E-A44D-14D292465AC0}"/>
                </a:ext>
              </a:extLst>
            </p:cNvPr>
            <p:cNvSpPr txBox="1">
              <a:spLocks noChangeArrowheads="1"/>
            </p:cNvSpPr>
            <p:nvPr/>
          </p:nvSpPr>
          <p:spPr bwMode="auto">
            <a:xfrm>
              <a:off x="1655" y="1126"/>
              <a:ext cx="36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被称为连续时间</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系统的</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频率响应</a:t>
              </a:r>
            </a:p>
          </p:txBody>
        </p:sp>
      </p:grpSp>
      <p:grpSp>
        <p:nvGrpSpPr>
          <p:cNvPr id="3" name="Group 9">
            <a:extLst>
              <a:ext uri="{FF2B5EF4-FFF2-40B4-BE49-F238E27FC236}">
                <a16:creationId xmlns:a16="http://schemas.microsoft.com/office/drawing/2014/main" id="{D88D0827-E7F4-48F5-B153-92959B5A1829}"/>
              </a:ext>
            </a:extLst>
          </p:cNvPr>
          <p:cNvGrpSpPr>
            <a:grpSpLocks/>
          </p:cNvGrpSpPr>
          <p:nvPr/>
        </p:nvGrpSpPr>
        <p:grpSpPr bwMode="auto">
          <a:xfrm>
            <a:off x="928688" y="3898900"/>
            <a:ext cx="7072312" cy="1474788"/>
            <a:chOff x="672" y="1439"/>
            <a:chExt cx="4455" cy="929"/>
          </a:xfrm>
        </p:grpSpPr>
        <p:sp>
          <p:nvSpPr>
            <p:cNvPr id="11283" name="Text Box 10">
              <a:extLst>
                <a:ext uri="{FF2B5EF4-FFF2-40B4-BE49-F238E27FC236}">
                  <a16:creationId xmlns:a16="http://schemas.microsoft.com/office/drawing/2014/main" id="{8E075E64-ADB5-40E9-BF11-64EFAE98D650}"/>
                </a:ext>
              </a:extLst>
            </p:cNvPr>
            <p:cNvSpPr txBox="1">
              <a:spLocks noChangeArrowheads="1"/>
            </p:cNvSpPr>
            <p:nvPr/>
          </p:nvSpPr>
          <p:spPr bwMode="auto">
            <a:xfrm>
              <a:off x="672" y="1570"/>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如果</a:t>
              </a:r>
            </a:p>
          </p:txBody>
        </p:sp>
        <p:graphicFrame>
          <p:nvGraphicFramePr>
            <p:cNvPr id="11271" name="Object 11">
              <a:extLst>
                <a:ext uri="{FF2B5EF4-FFF2-40B4-BE49-F238E27FC236}">
                  <a16:creationId xmlns:a16="http://schemas.microsoft.com/office/drawing/2014/main" id="{34D15FB5-974B-4F13-98EB-E7F64223745C}"/>
                </a:ext>
              </a:extLst>
            </p:cNvPr>
            <p:cNvGraphicFramePr>
              <a:graphicFrameLocks noChangeAspect="1"/>
            </p:cNvGraphicFramePr>
            <p:nvPr/>
          </p:nvGraphicFramePr>
          <p:xfrm>
            <a:off x="1242" y="1573"/>
            <a:ext cx="602" cy="268"/>
          </p:xfrm>
          <a:graphic>
            <a:graphicData uri="http://schemas.openxmlformats.org/presentationml/2006/ole">
              <mc:AlternateContent xmlns:mc="http://schemas.openxmlformats.org/markup-compatibility/2006">
                <mc:Choice xmlns:v="urn:schemas-microsoft-com:vml" Requires="v">
                  <p:oleObj spid="_x0000_s16994" name="Equation" r:id="rId10" imgW="457200" imgH="203040" progId="Equation.DSMT4">
                    <p:embed/>
                  </p:oleObj>
                </mc:Choice>
                <mc:Fallback>
                  <p:oleObj name="Equation" r:id="rId10" imgW="457200" imgH="203040" progId="Equation.DSMT4">
                    <p:embed/>
                    <p:pic>
                      <p:nvPicPr>
                        <p:cNvPr id="11271" name="Object 11">
                          <a:extLst>
                            <a:ext uri="{FF2B5EF4-FFF2-40B4-BE49-F238E27FC236}">
                              <a16:creationId xmlns:a16="http://schemas.microsoft.com/office/drawing/2014/main" id="{34D15FB5-974B-4F13-98EB-E7F6422374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42" y="1573"/>
                          <a:ext cx="602"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4" name="Text Box 12">
              <a:extLst>
                <a:ext uri="{FF2B5EF4-FFF2-40B4-BE49-F238E27FC236}">
                  <a16:creationId xmlns:a16="http://schemas.microsoft.com/office/drawing/2014/main" id="{764C9457-6AB8-4C4D-B603-62867A28029D}"/>
                </a:ext>
              </a:extLst>
            </p:cNvPr>
            <p:cNvSpPr txBox="1">
              <a:spLocks noChangeArrowheads="1"/>
            </p:cNvSpPr>
            <p:nvPr/>
          </p:nvSpPr>
          <p:spPr bwMode="auto">
            <a:xfrm>
              <a:off x="1824" y="1552"/>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则</a:t>
              </a:r>
            </a:p>
          </p:txBody>
        </p:sp>
        <p:graphicFrame>
          <p:nvGraphicFramePr>
            <p:cNvPr id="11272" name="Object 13">
              <a:extLst>
                <a:ext uri="{FF2B5EF4-FFF2-40B4-BE49-F238E27FC236}">
                  <a16:creationId xmlns:a16="http://schemas.microsoft.com/office/drawing/2014/main" id="{A51B7484-9E59-41C9-AD1D-07C64497A678}"/>
                </a:ext>
              </a:extLst>
            </p:cNvPr>
            <p:cNvGraphicFramePr>
              <a:graphicFrameLocks noChangeAspect="1"/>
            </p:cNvGraphicFramePr>
            <p:nvPr>
              <p:extLst>
                <p:ext uri="{D42A27DB-BD31-4B8C-83A1-F6EECF244321}">
                  <p14:modId xmlns:p14="http://schemas.microsoft.com/office/powerpoint/2010/main" val="351896063"/>
                </p:ext>
              </p:extLst>
            </p:nvPr>
          </p:nvGraphicFramePr>
          <p:xfrm>
            <a:off x="2217" y="1439"/>
            <a:ext cx="2070" cy="608"/>
          </p:xfrm>
          <a:graphic>
            <a:graphicData uri="http://schemas.openxmlformats.org/presentationml/2006/ole">
              <mc:AlternateContent xmlns:mc="http://schemas.openxmlformats.org/markup-compatibility/2006">
                <mc:Choice xmlns:v="urn:schemas-microsoft-com:vml" Requires="v">
                  <p:oleObj spid="_x0000_s16995" name="Equation" r:id="rId12" imgW="1422360" imgH="431640" progId="Equation.DSMT4">
                    <p:embed/>
                  </p:oleObj>
                </mc:Choice>
                <mc:Fallback>
                  <p:oleObj name="Equation" r:id="rId12" imgW="1422360" imgH="431640" progId="Equation.DSMT4">
                    <p:embed/>
                    <p:pic>
                      <p:nvPicPr>
                        <p:cNvPr id="11272" name="Object 13">
                          <a:extLst>
                            <a:ext uri="{FF2B5EF4-FFF2-40B4-BE49-F238E27FC236}">
                              <a16:creationId xmlns:a16="http://schemas.microsoft.com/office/drawing/2014/main" id="{A51B7484-9E59-41C9-AD1D-07C64497A678}"/>
                            </a:ext>
                          </a:extLst>
                        </p:cNvPr>
                        <p:cNvPicPr>
                          <a:picLocks noChangeAspect="1" noChangeArrowheads="1"/>
                        </p:cNvPicPr>
                        <p:nvPr/>
                      </p:nvPicPr>
                      <p:blipFill>
                        <a:blip r:embed="rId13"/>
                        <a:srcRect/>
                        <a:stretch>
                          <a:fillRect/>
                        </a:stretch>
                      </p:blipFill>
                      <p:spPr bwMode="auto">
                        <a:xfrm>
                          <a:off x="2217" y="1439"/>
                          <a:ext cx="2070" cy="608"/>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3" name="Object 14">
              <a:extLst>
                <a:ext uri="{FF2B5EF4-FFF2-40B4-BE49-F238E27FC236}">
                  <a16:creationId xmlns:a16="http://schemas.microsoft.com/office/drawing/2014/main" id="{CF5A4DBF-8F81-47E7-90B6-57CC3AAF361A}"/>
                </a:ext>
              </a:extLst>
            </p:cNvPr>
            <p:cNvGraphicFramePr>
              <a:graphicFrameLocks noChangeAspect="1"/>
            </p:cNvGraphicFramePr>
            <p:nvPr/>
          </p:nvGraphicFramePr>
          <p:xfrm>
            <a:off x="1069" y="2046"/>
            <a:ext cx="648" cy="307"/>
          </p:xfrm>
          <a:graphic>
            <a:graphicData uri="http://schemas.openxmlformats.org/presentationml/2006/ole">
              <mc:AlternateContent xmlns:mc="http://schemas.openxmlformats.org/markup-compatibility/2006">
                <mc:Choice xmlns:v="urn:schemas-microsoft-com:vml" Requires="v">
                  <p:oleObj spid="_x0000_s16996" name="Equation" r:id="rId14" imgW="482400" imgH="228600" progId="Equation.DSMT4">
                    <p:embed/>
                  </p:oleObj>
                </mc:Choice>
                <mc:Fallback>
                  <p:oleObj name="Equation" r:id="rId14" imgW="482400" imgH="228600" progId="Equation.DSMT4">
                    <p:embed/>
                    <p:pic>
                      <p:nvPicPr>
                        <p:cNvPr id="11273" name="Object 14">
                          <a:extLst>
                            <a:ext uri="{FF2B5EF4-FFF2-40B4-BE49-F238E27FC236}">
                              <a16:creationId xmlns:a16="http://schemas.microsoft.com/office/drawing/2014/main" id="{CF5A4DBF-8F81-47E7-90B6-57CC3AAF361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69" y="2046"/>
                          <a:ext cx="648"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5" name="Text Box 15">
              <a:extLst>
                <a:ext uri="{FF2B5EF4-FFF2-40B4-BE49-F238E27FC236}">
                  <a16:creationId xmlns:a16="http://schemas.microsoft.com/office/drawing/2014/main" id="{C176AC36-1861-40DE-96EA-D477751303ED}"/>
                </a:ext>
              </a:extLst>
            </p:cNvPr>
            <p:cNvSpPr txBox="1">
              <a:spLocks noChangeArrowheads="1"/>
            </p:cNvSpPr>
            <p:nvPr/>
          </p:nvSpPr>
          <p:spPr bwMode="auto">
            <a:xfrm>
              <a:off x="1701" y="2041"/>
              <a:ext cx="34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称为离散时间</a:t>
              </a:r>
              <a:r>
                <a:rPr kumimoji="0"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系统的</a:t>
              </a: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频率响应</a:t>
              </a:r>
            </a:p>
          </p:txBody>
        </p:sp>
      </p:grpSp>
      <p:grpSp>
        <p:nvGrpSpPr>
          <p:cNvPr id="5" name="Group 16">
            <a:extLst>
              <a:ext uri="{FF2B5EF4-FFF2-40B4-BE49-F238E27FC236}">
                <a16:creationId xmlns:a16="http://schemas.microsoft.com/office/drawing/2014/main" id="{17C4FD5E-1E73-4B9B-A5E7-6964D4105D4A}"/>
              </a:ext>
            </a:extLst>
          </p:cNvPr>
          <p:cNvGrpSpPr>
            <a:grpSpLocks/>
          </p:cNvGrpSpPr>
          <p:nvPr/>
        </p:nvGrpSpPr>
        <p:grpSpPr bwMode="auto">
          <a:xfrm>
            <a:off x="1530350" y="5548313"/>
            <a:ext cx="6042025" cy="523875"/>
            <a:chOff x="1110" y="2543"/>
            <a:chExt cx="3806" cy="330"/>
          </a:xfrm>
        </p:grpSpPr>
        <p:graphicFrame>
          <p:nvGraphicFramePr>
            <p:cNvPr id="11268" name="Object 17">
              <a:extLst>
                <a:ext uri="{FF2B5EF4-FFF2-40B4-BE49-F238E27FC236}">
                  <a16:creationId xmlns:a16="http://schemas.microsoft.com/office/drawing/2014/main" id="{9A332A38-88F4-4CC1-B297-02FE2CA468E6}"/>
                </a:ext>
              </a:extLst>
            </p:cNvPr>
            <p:cNvGraphicFramePr>
              <a:graphicFrameLocks noChangeAspect="1"/>
            </p:cNvGraphicFramePr>
            <p:nvPr/>
          </p:nvGraphicFramePr>
          <p:xfrm>
            <a:off x="1110" y="2547"/>
            <a:ext cx="648" cy="307"/>
          </p:xfrm>
          <a:graphic>
            <a:graphicData uri="http://schemas.openxmlformats.org/presentationml/2006/ole">
              <mc:AlternateContent xmlns:mc="http://schemas.openxmlformats.org/markup-compatibility/2006">
                <mc:Choice xmlns:v="urn:schemas-microsoft-com:vml" Requires="v">
                  <p:oleObj spid="_x0000_s16997" name="Equation" r:id="rId16" imgW="482400" imgH="228600" progId="Equation.DSMT4">
                    <p:embed/>
                  </p:oleObj>
                </mc:Choice>
                <mc:Fallback>
                  <p:oleObj name="Equation" r:id="rId16" imgW="482400" imgH="228600" progId="Equation.DSMT4">
                    <p:embed/>
                    <p:pic>
                      <p:nvPicPr>
                        <p:cNvPr id="11268" name="Object 17">
                          <a:extLst>
                            <a:ext uri="{FF2B5EF4-FFF2-40B4-BE49-F238E27FC236}">
                              <a16:creationId xmlns:a16="http://schemas.microsoft.com/office/drawing/2014/main" id="{9A332A38-88F4-4CC1-B297-02FE2CA468E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0" y="2547"/>
                          <a:ext cx="648"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82" name="Text Box 18">
              <a:extLst>
                <a:ext uri="{FF2B5EF4-FFF2-40B4-BE49-F238E27FC236}">
                  <a16:creationId xmlns:a16="http://schemas.microsoft.com/office/drawing/2014/main" id="{78010311-C140-4E85-B783-D62ADA45FAA5}"/>
                </a:ext>
              </a:extLst>
            </p:cNvPr>
            <p:cNvSpPr txBox="1">
              <a:spLocks noChangeArrowheads="1"/>
            </p:cNvSpPr>
            <p:nvPr/>
          </p:nvSpPr>
          <p:spPr bwMode="auto">
            <a:xfrm>
              <a:off x="1746" y="2543"/>
              <a:ext cx="317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对    而言，是以      为周期的。</a:t>
              </a:r>
            </a:p>
          </p:txBody>
        </p:sp>
        <p:graphicFrame>
          <p:nvGraphicFramePr>
            <p:cNvPr id="11269" name="Object 19">
              <a:extLst>
                <a:ext uri="{FF2B5EF4-FFF2-40B4-BE49-F238E27FC236}">
                  <a16:creationId xmlns:a16="http://schemas.microsoft.com/office/drawing/2014/main" id="{6B29D5A5-DD87-4177-BEF7-FC4EA3CB0BE0}"/>
                </a:ext>
              </a:extLst>
            </p:cNvPr>
            <p:cNvGraphicFramePr>
              <a:graphicFrameLocks noChangeAspect="1"/>
            </p:cNvGraphicFramePr>
            <p:nvPr/>
          </p:nvGraphicFramePr>
          <p:xfrm>
            <a:off x="2016" y="2592"/>
            <a:ext cx="252" cy="231"/>
          </p:xfrm>
          <a:graphic>
            <a:graphicData uri="http://schemas.openxmlformats.org/presentationml/2006/ole">
              <mc:AlternateContent xmlns:mc="http://schemas.openxmlformats.org/markup-compatibility/2006">
                <mc:Choice xmlns:v="urn:schemas-microsoft-com:vml" Requires="v">
                  <p:oleObj spid="_x0000_s16998" name="Equation" r:id="rId17" imgW="152280" imgH="139680" progId="Equation.DSMT4">
                    <p:embed/>
                  </p:oleObj>
                </mc:Choice>
                <mc:Fallback>
                  <p:oleObj name="Equation" r:id="rId17" imgW="152280" imgH="139680" progId="Equation.DSMT4">
                    <p:embed/>
                    <p:pic>
                      <p:nvPicPr>
                        <p:cNvPr id="11269" name="Object 19">
                          <a:extLst>
                            <a:ext uri="{FF2B5EF4-FFF2-40B4-BE49-F238E27FC236}">
                              <a16:creationId xmlns:a16="http://schemas.microsoft.com/office/drawing/2014/main" id="{6B29D5A5-DD87-4177-BEF7-FC4EA3CB0BE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16" y="2592"/>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0" name="Object 20">
              <a:extLst>
                <a:ext uri="{FF2B5EF4-FFF2-40B4-BE49-F238E27FC236}">
                  <a16:creationId xmlns:a16="http://schemas.microsoft.com/office/drawing/2014/main" id="{2EBAC770-73D6-47A1-A356-6B44AFE2078A}"/>
                </a:ext>
              </a:extLst>
            </p:cNvPr>
            <p:cNvGraphicFramePr>
              <a:graphicFrameLocks noChangeAspect="1"/>
            </p:cNvGraphicFramePr>
            <p:nvPr/>
          </p:nvGraphicFramePr>
          <p:xfrm>
            <a:off x="3407" y="2571"/>
            <a:ext cx="335" cy="261"/>
          </p:xfrm>
          <a:graphic>
            <a:graphicData uri="http://schemas.openxmlformats.org/presentationml/2006/ole">
              <mc:AlternateContent xmlns:mc="http://schemas.openxmlformats.org/markup-compatibility/2006">
                <mc:Choice xmlns:v="urn:schemas-microsoft-com:vml" Requires="v">
                  <p:oleObj spid="_x0000_s16999" name="Equation" r:id="rId19" imgW="228600" imgH="177480" progId="Equation.DSMT4">
                    <p:embed/>
                  </p:oleObj>
                </mc:Choice>
                <mc:Fallback>
                  <p:oleObj name="Equation" r:id="rId19" imgW="228600" imgH="177480" progId="Equation.DSMT4">
                    <p:embed/>
                    <p:pic>
                      <p:nvPicPr>
                        <p:cNvPr id="11270" name="Object 20">
                          <a:extLst>
                            <a:ext uri="{FF2B5EF4-FFF2-40B4-BE49-F238E27FC236}">
                              <a16:creationId xmlns:a16="http://schemas.microsoft.com/office/drawing/2014/main" id="{2EBAC770-73D6-47A1-A356-6B44AFE2078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07" y="2571"/>
                          <a:ext cx="335"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1266" name="Object 21">
            <a:extLst>
              <a:ext uri="{FF2B5EF4-FFF2-40B4-BE49-F238E27FC236}">
                <a16:creationId xmlns:a16="http://schemas.microsoft.com/office/drawing/2014/main" id="{F719DBA6-A99F-49B6-8784-F5CC7F7CAD94}"/>
              </a:ext>
            </a:extLst>
          </p:cNvPr>
          <p:cNvGraphicFramePr>
            <a:graphicFrameLocks noChangeAspect="1"/>
          </p:cNvGraphicFramePr>
          <p:nvPr>
            <p:extLst>
              <p:ext uri="{D42A27DB-BD31-4B8C-83A1-F6EECF244321}">
                <p14:modId xmlns:p14="http://schemas.microsoft.com/office/powerpoint/2010/main" val="3920415708"/>
              </p:ext>
            </p:extLst>
          </p:nvPr>
        </p:nvGraphicFramePr>
        <p:xfrm>
          <a:off x="714375" y="1262063"/>
          <a:ext cx="2525713" cy="593725"/>
        </p:xfrm>
        <a:graphic>
          <a:graphicData uri="http://schemas.openxmlformats.org/presentationml/2006/ole">
            <mc:AlternateContent xmlns:mc="http://schemas.openxmlformats.org/markup-compatibility/2006">
              <mc:Choice xmlns:v="urn:schemas-microsoft-com:vml" Requires="v">
                <p:oleObj spid="_x0000_s17000" name="Equation" r:id="rId21" imgW="1269720" imgH="330120" progId="Equation.DSMT4">
                  <p:embed/>
                </p:oleObj>
              </mc:Choice>
              <mc:Fallback>
                <p:oleObj name="Equation" r:id="rId21" imgW="1269720" imgH="330120" progId="Equation.DSMT4">
                  <p:embed/>
                  <p:pic>
                    <p:nvPicPr>
                      <p:cNvPr id="11266" name="Object 21">
                        <a:extLst>
                          <a:ext uri="{FF2B5EF4-FFF2-40B4-BE49-F238E27FC236}">
                            <a16:creationId xmlns:a16="http://schemas.microsoft.com/office/drawing/2014/main" id="{F719DBA6-A99F-49B6-8784-F5CC7F7CAD94}"/>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14375" y="1262063"/>
                        <a:ext cx="252571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7" name="Object 25">
            <a:extLst>
              <a:ext uri="{FF2B5EF4-FFF2-40B4-BE49-F238E27FC236}">
                <a16:creationId xmlns:a16="http://schemas.microsoft.com/office/drawing/2014/main" id="{C09E26B9-E8FB-4F52-9068-A097845FB2C0}"/>
              </a:ext>
            </a:extLst>
          </p:cNvPr>
          <p:cNvGraphicFramePr>
            <a:graphicFrameLocks noChangeAspect="1"/>
          </p:cNvGraphicFramePr>
          <p:nvPr>
            <p:extLst>
              <p:ext uri="{D42A27DB-BD31-4B8C-83A1-F6EECF244321}">
                <p14:modId xmlns:p14="http://schemas.microsoft.com/office/powerpoint/2010/main" val="3560213267"/>
              </p:ext>
            </p:extLst>
          </p:nvPr>
        </p:nvGraphicFramePr>
        <p:xfrm>
          <a:off x="663575" y="3333750"/>
          <a:ext cx="2309813" cy="523875"/>
        </p:xfrm>
        <a:graphic>
          <a:graphicData uri="http://schemas.openxmlformats.org/presentationml/2006/ole">
            <mc:AlternateContent xmlns:mc="http://schemas.openxmlformats.org/markup-compatibility/2006">
              <mc:Choice xmlns:v="urn:schemas-microsoft-com:vml" Requires="v">
                <p:oleObj spid="_x0000_s17001" name="Equation" r:id="rId23" imgW="1371600" imgH="291960" progId="Equation.DSMT4">
                  <p:embed/>
                </p:oleObj>
              </mc:Choice>
              <mc:Fallback>
                <p:oleObj name="Equation" r:id="rId23" imgW="1371600" imgH="291960" progId="Equation.DSMT4">
                  <p:embed/>
                  <p:pic>
                    <p:nvPicPr>
                      <p:cNvPr id="11267" name="Object 25">
                        <a:extLst>
                          <a:ext uri="{FF2B5EF4-FFF2-40B4-BE49-F238E27FC236}">
                            <a16:creationId xmlns:a16="http://schemas.microsoft.com/office/drawing/2014/main" id="{C09E26B9-E8FB-4F52-9068-A097845FB2C0}"/>
                          </a:ext>
                        </a:extLst>
                      </p:cNvPr>
                      <p:cNvPicPr>
                        <a:picLocks noChangeAspect="1" noChangeArrowheads="1"/>
                      </p:cNvPicPr>
                      <p:nvPr/>
                    </p:nvPicPr>
                    <p:blipFill>
                      <a:blip r:embed="rId24"/>
                      <a:srcRect/>
                      <a:stretch>
                        <a:fillRect/>
                      </a:stretch>
                    </p:blipFill>
                    <p:spPr bwMode="auto">
                      <a:xfrm>
                        <a:off x="663575" y="3333750"/>
                        <a:ext cx="230981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标题 1">
            <a:extLst>
              <a:ext uri="{FF2B5EF4-FFF2-40B4-BE49-F238E27FC236}">
                <a16:creationId xmlns:a16="http://schemas.microsoft.com/office/drawing/2014/main" id="{21B51130-2A07-4A49-BA52-44B71BB9C746}"/>
              </a:ext>
            </a:extLst>
          </p:cNvPr>
          <p:cNvSpPr>
            <a:spLocks noGrp="1"/>
          </p:cNvSpPr>
          <p:nvPr>
            <p:ph type="title"/>
          </p:nvPr>
        </p:nvSpPr>
        <p:spPr/>
        <p:txBody>
          <a:bodyPr/>
          <a:lstStyle/>
          <a:p>
            <a:r>
              <a:rPr lang="en-US" altLang="zh-CN"/>
              <a:t>3.8 </a:t>
            </a:r>
            <a:r>
              <a:rPr lang="zh-CN" altLang="en-US"/>
              <a:t>傅里叶级数与</a:t>
            </a:r>
            <a:r>
              <a:rPr lang="en-US" altLang="zh-CN"/>
              <a:t>LTI</a:t>
            </a:r>
            <a:r>
              <a:rPr lang="zh-CN" altLang="en-US"/>
              <a:t>系统</a:t>
            </a:r>
          </a:p>
        </p:txBody>
      </p:sp>
      <p:sp>
        <p:nvSpPr>
          <p:cNvPr id="3" name="内容占位符 2">
            <a:extLst>
              <a:ext uri="{FF2B5EF4-FFF2-40B4-BE49-F238E27FC236}">
                <a16:creationId xmlns:a16="http://schemas.microsoft.com/office/drawing/2014/main" id="{BEBE4153-313F-4464-AC20-E2B714C2B8F4}"/>
              </a:ext>
            </a:extLst>
          </p:cNvPr>
          <p:cNvSpPr>
            <a:spLocks noGrp="1"/>
          </p:cNvSpPr>
          <p:nvPr>
            <p:ph idx="1"/>
          </p:nvPr>
        </p:nvSpPr>
        <p:spPr>
          <a:xfrm>
            <a:off x="457200" y="4732338"/>
            <a:ext cx="8229600" cy="1411287"/>
          </a:xfrm>
        </p:spPr>
        <p:txBody>
          <a:bodyPr/>
          <a:lstStyle/>
          <a:p>
            <a:r>
              <a:rPr lang="en-US" altLang="zh-CN" sz="2800" b="0"/>
              <a:t>LTI</a:t>
            </a:r>
            <a:r>
              <a:rPr lang="zh-CN" altLang="en-US" sz="2800" b="0"/>
              <a:t>系统对周期信号的响应仍是一个周期信号；</a:t>
            </a:r>
            <a:endParaRPr lang="en-US" altLang="zh-CN" sz="2800" b="0"/>
          </a:p>
          <a:p>
            <a:r>
              <a:rPr lang="en-US" altLang="zh-CN" sz="2800" b="0"/>
              <a:t>LTI</a:t>
            </a:r>
            <a:r>
              <a:rPr lang="zh-CN" altLang="en-US" sz="2800" b="0"/>
              <a:t>系统频率响应的意义在于对各个谐波频率的信号分量进行不同的加权处理。</a:t>
            </a:r>
          </a:p>
        </p:txBody>
      </p:sp>
      <p:sp>
        <p:nvSpPr>
          <p:cNvPr id="4" name="灯片编号占位符 3">
            <a:extLst>
              <a:ext uri="{FF2B5EF4-FFF2-40B4-BE49-F238E27FC236}">
                <a16:creationId xmlns:a16="http://schemas.microsoft.com/office/drawing/2014/main" id="{13FCA711-18B9-4026-A59B-440332E2677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2096845-2276-41C8-B967-1B1EA55F118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299" name="Text Box 22">
            <a:extLst>
              <a:ext uri="{FF2B5EF4-FFF2-40B4-BE49-F238E27FC236}">
                <a16:creationId xmlns:a16="http://schemas.microsoft.com/office/drawing/2014/main" id="{04EDEA9D-349F-4302-B853-3D5963382A65}"/>
              </a:ext>
            </a:extLst>
          </p:cNvPr>
          <p:cNvSpPr txBox="1">
            <a:spLocks noChangeArrowheads="1"/>
          </p:cNvSpPr>
          <p:nvPr/>
        </p:nvSpPr>
        <p:spPr bwMode="auto">
          <a:xfrm>
            <a:off x="714375" y="1285875"/>
            <a:ext cx="71294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如果一个</a:t>
            </a:r>
            <a:r>
              <a:rPr kumimoji="0" lang="en-US" altLang="zh-CN"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系统输入周期性信号        或</a:t>
            </a:r>
            <a:r>
              <a:rPr kumimoji="0" lang="zh-CN" altLang="en-US" sz="32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a:t>
            </a:r>
          </a:p>
        </p:txBody>
      </p:sp>
      <p:graphicFrame>
        <p:nvGraphicFramePr>
          <p:cNvPr id="12290" name="Object 23">
            <a:extLst>
              <a:ext uri="{FF2B5EF4-FFF2-40B4-BE49-F238E27FC236}">
                <a16:creationId xmlns:a16="http://schemas.microsoft.com/office/drawing/2014/main" id="{340DECAD-02D6-439D-A082-F423D1E10614}"/>
              </a:ext>
            </a:extLst>
          </p:cNvPr>
          <p:cNvGraphicFramePr>
            <a:graphicFrameLocks noChangeAspect="1"/>
          </p:cNvGraphicFramePr>
          <p:nvPr>
            <p:extLst>
              <p:ext uri="{D42A27DB-BD31-4B8C-83A1-F6EECF244321}">
                <p14:modId xmlns:p14="http://schemas.microsoft.com/office/powerpoint/2010/main" val="2924614634"/>
              </p:ext>
            </p:extLst>
          </p:nvPr>
        </p:nvGraphicFramePr>
        <p:xfrm>
          <a:off x="6048375" y="1401763"/>
          <a:ext cx="690563" cy="425450"/>
        </p:xfrm>
        <a:graphic>
          <a:graphicData uri="http://schemas.openxmlformats.org/presentationml/2006/ole">
            <mc:AlternateContent xmlns:mc="http://schemas.openxmlformats.org/markup-compatibility/2006">
              <mc:Choice xmlns:v="urn:schemas-microsoft-com:vml" Requires="v">
                <p:oleObj spid="_x0000_s17740" name="Equation" r:id="rId3" imgW="279360" imgH="203040" progId="Equation.DSMT4">
                  <p:embed/>
                </p:oleObj>
              </mc:Choice>
              <mc:Fallback>
                <p:oleObj name="Equation" r:id="rId3" imgW="279360" imgH="203040" progId="Equation.DSMT4">
                  <p:embed/>
                  <p:pic>
                    <p:nvPicPr>
                      <p:cNvPr id="12290" name="Object 23">
                        <a:extLst>
                          <a:ext uri="{FF2B5EF4-FFF2-40B4-BE49-F238E27FC236}">
                            <a16:creationId xmlns:a16="http://schemas.microsoft.com/office/drawing/2014/main" id="{340DECAD-02D6-439D-A082-F423D1E106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375" y="1401763"/>
                        <a:ext cx="69056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1" name="Object 24">
            <a:extLst>
              <a:ext uri="{FF2B5EF4-FFF2-40B4-BE49-F238E27FC236}">
                <a16:creationId xmlns:a16="http://schemas.microsoft.com/office/drawing/2014/main" id="{E820E152-041D-4E6C-9B91-8580E7050BC6}"/>
              </a:ext>
            </a:extLst>
          </p:cNvPr>
          <p:cNvGraphicFramePr>
            <a:graphicFrameLocks noChangeAspect="1"/>
          </p:cNvGraphicFramePr>
          <p:nvPr>
            <p:extLst>
              <p:ext uri="{D42A27DB-BD31-4B8C-83A1-F6EECF244321}">
                <p14:modId xmlns:p14="http://schemas.microsoft.com/office/powerpoint/2010/main" val="4043943871"/>
              </p:ext>
            </p:extLst>
          </p:nvPr>
        </p:nvGraphicFramePr>
        <p:xfrm>
          <a:off x="7154863" y="1389063"/>
          <a:ext cx="684212" cy="477837"/>
        </p:xfrm>
        <a:graphic>
          <a:graphicData uri="http://schemas.openxmlformats.org/presentationml/2006/ole">
            <mc:AlternateContent xmlns:mc="http://schemas.openxmlformats.org/markup-compatibility/2006">
              <mc:Choice xmlns:v="urn:schemas-microsoft-com:vml" Requires="v">
                <p:oleObj spid="_x0000_s17741" name="Equation" r:id="rId5" imgW="291960" imgH="203040" progId="Equation.DSMT4">
                  <p:embed/>
                </p:oleObj>
              </mc:Choice>
              <mc:Fallback>
                <p:oleObj name="Equation" r:id="rId5" imgW="291960" imgH="203040" progId="Equation.DSMT4">
                  <p:embed/>
                  <p:pic>
                    <p:nvPicPr>
                      <p:cNvPr id="12291" name="Object 24">
                        <a:extLst>
                          <a:ext uri="{FF2B5EF4-FFF2-40B4-BE49-F238E27FC236}">
                            <a16:creationId xmlns:a16="http://schemas.microsoft.com/office/drawing/2014/main" id="{E820E152-041D-4E6C-9B91-8580E7050BC6}"/>
                          </a:ext>
                        </a:extLst>
                      </p:cNvPr>
                      <p:cNvPicPr>
                        <a:picLocks noChangeAspect="1" noChangeArrowheads="1"/>
                      </p:cNvPicPr>
                      <p:nvPr/>
                    </p:nvPicPr>
                    <p:blipFill>
                      <a:blip r:embed="rId6"/>
                      <a:srcRect/>
                      <a:stretch>
                        <a:fillRect/>
                      </a:stretch>
                    </p:blipFill>
                    <p:spPr bwMode="auto">
                      <a:xfrm>
                        <a:off x="7154863" y="1389063"/>
                        <a:ext cx="684212"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2" name="Object 25">
            <a:extLst>
              <a:ext uri="{FF2B5EF4-FFF2-40B4-BE49-F238E27FC236}">
                <a16:creationId xmlns:a16="http://schemas.microsoft.com/office/drawing/2014/main" id="{DA0061F7-726A-445E-BBD2-DA016F906FD1}"/>
              </a:ext>
            </a:extLst>
          </p:cNvPr>
          <p:cNvGraphicFramePr>
            <a:graphicFrameLocks/>
          </p:cNvGraphicFramePr>
          <p:nvPr>
            <p:extLst>
              <p:ext uri="{D42A27DB-BD31-4B8C-83A1-F6EECF244321}">
                <p14:modId xmlns:p14="http://schemas.microsoft.com/office/powerpoint/2010/main" val="2111177755"/>
              </p:ext>
            </p:extLst>
          </p:nvPr>
        </p:nvGraphicFramePr>
        <p:xfrm>
          <a:off x="642938" y="2141538"/>
          <a:ext cx="2422525" cy="971550"/>
        </p:xfrm>
        <a:graphic>
          <a:graphicData uri="http://schemas.openxmlformats.org/presentationml/2006/ole">
            <mc:AlternateContent xmlns:mc="http://schemas.openxmlformats.org/markup-compatibility/2006">
              <mc:Choice xmlns:v="urn:schemas-microsoft-com:vml" Requires="v">
                <p:oleObj spid="_x0000_s17742" name="Equation" r:id="rId7" imgW="1079280" imgH="431640" progId="Equation.DSMT4">
                  <p:embed/>
                </p:oleObj>
              </mc:Choice>
              <mc:Fallback>
                <p:oleObj name="Equation" r:id="rId7" imgW="1079280" imgH="431640" progId="Equation.DSMT4">
                  <p:embed/>
                  <p:pic>
                    <p:nvPicPr>
                      <p:cNvPr id="12292" name="Object 25">
                        <a:extLst>
                          <a:ext uri="{FF2B5EF4-FFF2-40B4-BE49-F238E27FC236}">
                            <a16:creationId xmlns:a16="http://schemas.microsoft.com/office/drawing/2014/main" id="{DA0061F7-726A-445E-BBD2-DA016F906FD1}"/>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938" y="2141538"/>
                        <a:ext cx="242252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3">
            <a:extLst>
              <a:ext uri="{FF2B5EF4-FFF2-40B4-BE49-F238E27FC236}">
                <a16:creationId xmlns:a16="http://schemas.microsoft.com/office/drawing/2014/main" id="{39F81407-4F9D-440C-87AF-CC4B2976F9FF}"/>
              </a:ext>
            </a:extLst>
          </p:cNvPr>
          <p:cNvGraphicFramePr>
            <a:graphicFrameLocks/>
          </p:cNvGraphicFramePr>
          <p:nvPr>
            <p:extLst>
              <p:ext uri="{D42A27DB-BD31-4B8C-83A1-F6EECF244321}">
                <p14:modId xmlns:p14="http://schemas.microsoft.com/office/powerpoint/2010/main" val="3073177490"/>
              </p:ext>
            </p:extLst>
          </p:nvPr>
        </p:nvGraphicFramePr>
        <p:xfrm>
          <a:off x="4543425" y="2144713"/>
          <a:ext cx="3916363" cy="971550"/>
        </p:xfrm>
        <a:graphic>
          <a:graphicData uri="http://schemas.openxmlformats.org/presentationml/2006/ole">
            <mc:AlternateContent xmlns:mc="http://schemas.openxmlformats.org/markup-compatibility/2006">
              <mc:Choice xmlns:v="urn:schemas-microsoft-com:vml" Requires="v">
                <p:oleObj spid="_x0000_s17743" name="Equation" r:id="rId9" imgW="1638000" imgH="431640" progId="Equation.DSMT4">
                  <p:embed/>
                </p:oleObj>
              </mc:Choice>
              <mc:Fallback>
                <p:oleObj name="Equation" r:id="rId9" imgW="1638000" imgH="431640" progId="Equation.DSMT4">
                  <p:embed/>
                  <p:pic>
                    <p:nvPicPr>
                      <p:cNvPr id="11" name="Object 3">
                        <a:extLst>
                          <a:ext uri="{FF2B5EF4-FFF2-40B4-BE49-F238E27FC236}">
                            <a16:creationId xmlns:a16="http://schemas.microsoft.com/office/drawing/2014/main" id="{39F81407-4F9D-440C-87AF-CC4B2976F9FF}"/>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43425" y="2144713"/>
                        <a:ext cx="3916363"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4" name="Object 6">
            <a:extLst>
              <a:ext uri="{FF2B5EF4-FFF2-40B4-BE49-F238E27FC236}">
                <a16:creationId xmlns:a16="http://schemas.microsoft.com/office/drawing/2014/main" id="{E1516632-CD28-4531-B39E-2391DD08BE10}"/>
              </a:ext>
            </a:extLst>
          </p:cNvPr>
          <p:cNvGraphicFramePr>
            <a:graphicFrameLocks/>
          </p:cNvGraphicFramePr>
          <p:nvPr>
            <p:extLst>
              <p:ext uri="{D42A27DB-BD31-4B8C-83A1-F6EECF244321}">
                <p14:modId xmlns:p14="http://schemas.microsoft.com/office/powerpoint/2010/main" val="1325956583"/>
              </p:ext>
            </p:extLst>
          </p:nvPr>
        </p:nvGraphicFramePr>
        <p:xfrm>
          <a:off x="671513" y="3357563"/>
          <a:ext cx="2719387" cy="998537"/>
        </p:xfrm>
        <a:graphic>
          <a:graphicData uri="http://schemas.openxmlformats.org/presentationml/2006/ole">
            <mc:AlternateContent xmlns:mc="http://schemas.openxmlformats.org/markup-compatibility/2006">
              <mc:Choice xmlns:v="urn:schemas-microsoft-com:vml" Requires="v">
                <p:oleObj spid="_x0000_s17744" name="Equation" r:id="rId11" imgW="1206360" imgH="444240" progId="Equation.DSMT4">
                  <p:embed/>
                </p:oleObj>
              </mc:Choice>
              <mc:Fallback>
                <p:oleObj name="Equation" r:id="rId11" imgW="1206360" imgH="444240" progId="Equation.DSMT4">
                  <p:embed/>
                  <p:pic>
                    <p:nvPicPr>
                      <p:cNvPr id="12294" name="Object 6">
                        <a:extLst>
                          <a:ext uri="{FF2B5EF4-FFF2-40B4-BE49-F238E27FC236}">
                            <a16:creationId xmlns:a16="http://schemas.microsoft.com/office/drawing/2014/main" id="{E1516632-CD28-4531-B39E-2391DD08BE10}"/>
                          </a:ext>
                        </a:extLst>
                      </p:cNvPr>
                      <p:cNvPicPr>
                        <a:picLocks noChangeArrowheads="1"/>
                      </p:cNvPicPr>
                      <p:nvPr/>
                    </p:nvPicPr>
                    <p:blipFill>
                      <a:blip r:embed="rId12"/>
                      <a:srcRect/>
                      <a:stretch>
                        <a:fillRect/>
                      </a:stretch>
                    </p:blipFill>
                    <p:spPr bwMode="auto">
                      <a:xfrm>
                        <a:off x="671513" y="3357563"/>
                        <a:ext cx="2719387" cy="99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4">
            <a:extLst>
              <a:ext uri="{FF2B5EF4-FFF2-40B4-BE49-F238E27FC236}">
                <a16:creationId xmlns:a16="http://schemas.microsoft.com/office/drawing/2014/main" id="{27146E5B-10EE-4AE5-957B-DEF11EC14053}"/>
              </a:ext>
            </a:extLst>
          </p:cNvPr>
          <p:cNvGraphicFramePr>
            <a:graphicFrameLocks/>
          </p:cNvGraphicFramePr>
          <p:nvPr>
            <p:extLst>
              <p:ext uri="{D42A27DB-BD31-4B8C-83A1-F6EECF244321}">
                <p14:modId xmlns:p14="http://schemas.microsoft.com/office/powerpoint/2010/main" val="2601887410"/>
              </p:ext>
            </p:extLst>
          </p:nvPr>
        </p:nvGraphicFramePr>
        <p:xfrm>
          <a:off x="4557713" y="3357563"/>
          <a:ext cx="4000500" cy="996950"/>
        </p:xfrm>
        <a:graphic>
          <a:graphicData uri="http://schemas.openxmlformats.org/presentationml/2006/ole">
            <mc:AlternateContent xmlns:mc="http://schemas.openxmlformats.org/markup-compatibility/2006">
              <mc:Choice xmlns:v="urn:schemas-microsoft-com:vml" Requires="v">
                <p:oleObj spid="_x0000_s17745" name="Equation" r:id="rId13" imgW="1777680" imgH="444240" progId="Equation.DSMT4">
                  <p:embed/>
                </p:oleObj>
              </mc:Choice>
              <mc:Fallback>
                <p:oleObj name="Equation" r:id="rId13" imgW="1777680" imgH="444240" progId="Equation.DSMT4">
                  <p:embed/>
                  <p:pic>
                    <p:nvPicPr>
                      <p:cNvPr id="13" name="Object 4">
                        <a:extLst>
                          <a:ext uri="{FF2B5EF4-FFF2-40B4-BE49-F238E27FC236}">
                            <a16:creationId xmlns:a16="http://schemas.microsoft.com/office/drawing/2014/main" id="{27146E5B-10EE-4AE5-957B-DEF11EC14053}"/>
                          </a:ext>
                        </a:extLst>
                      </p:cNvPr>
                      <p:cNvPicPr>
                        <a:picLocks noChangeArrowheads="1"/>
                      </p:cNvPicPr>
                      <p:nvPr/>
                    </p:nvPicPr>
                    <p:blipFill>
                      <a:blip r:embed="rId14"/>
                      <a:srcRect/>
                      <a:stretch>
                        <a:fillRect/>
                      </a:stretch>
                    </p:blipFill>
                    <p:spPr bwMode="auto">
                      <a:xfrm>
                        <a:off x="4557713" y="3357563"/>
                        <a:ext cx="400050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右箭头 13">
            <a:extLst>
              <a:ext uri="{FF2B5EF4-FFF2-40B4-BE49-F238E27FC236}">
                <a16:creationId xmlns:a16="http://schemas.microsoft.com/office/drawing/2014/main" id="{DD0A0EF8-6F5D-4B06-AD48-A6EE3FDBBCD5}"/>
              </a:ext>
            </a:extLst>
          </p:cNvPr>
          <p:cNvSpPr/>
          <p:nvPr/>
        </p:nvSpPr>
        <p:spPr>
          <a:xfrm>
            <a:off x="3643313" y="2573338"/>
            <a:ext cx="571500" cy="2143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5" name="右箭头 14">
            <a:extLst>
              <a:ext uri="{FF2B5EF4-FFF2-40B4-BE49-F238E27FC236}">
                <a16:creationId xmlns:a16="http://schemas.microsoft.com/office/drawing/2014/main" id="{79582F4F-1492-4318-8A3D-021F71EBCB77}"/>
              </a:ext>
            </a:extLst>
          </p:cNvPr>
          <p:cNvSpPr/>
          <p:nvPr/>
        </p:nvSpPr>
        <p:spPr>
          <a:xfrm>
            <a:off x="3643313" y="3786188"/>
            <a:ext cx="571500" cy="2143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blinds(horizontal)">
                                      <p:cBhvr>
                                        <p:cTn id="17" dur="500"/>
                                        <p:tgtEl>
                                          <p:spTgt spid="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blinds(horizontal)">
                                      <p:cBhvr>
                                        <p:cTn id="2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3" name="标题 1">
            <a:extLst>
              <a:ext uri="{FF2B5EF4-FFF2-40B4-BE49-F238E27FC236}">
                <a16:creationId xmlns:a16="http://schemas.microsoft.com/office/drawing/2014/main" id="{81F7F890-F13E-49B2-BC93-5DD9C453963A}"/>
              </a:ext>
            </a:extLst>
          </p:cNvPr>
          <p:cNvSpPr>
            <a:spLocks noGrp="1"/>
          </p:cNvSpPr>
          <p:nvPr>
            <p:ph type="title"/>
          </p:nvPr>
        </p:nvSpPr>
        <p:spPr/>
        <p:txBody>
          <a:bodyPr/>
          <a:lstStyle/>
          <a:p>
            <a:r>
              <a:rPr lang="en-US" altLang="zh-CN"/>
              <a:t>3.8 </a:t>
            </a:r>
            <a:r>
              <a:rPr lang="zh-CN" altLang="en-US"/>
              <a:t>傅里叶级数与</a:t>
            </a:r>
            <a:r>
              <a:rPr lang="en-US" altLang="zh-CN"/>
              <a:t>LTI</a:t>
            </a:r>
            <a:r>
              <a:rPr lang="zh-CN" altLang="en-US"/>
              <a:t>系统</a:t>
            </a:r>
          </a:p>
        </p:txBody>
      </p:sp>
      <p:sp>
        <p:nvSpPr>
          <p:cNvPr id="4" name="灯片编号占位符 3">
            <a:extLst>
              <a:ext uri="{FF2B5EF4-FFF2-40B4-BE49-F238E27FC236}">
                <a16:creationId xmlns:a16="http://schemas.microsoft.com/office/drawing/2014/main" id="{224FA632-B5FE-45C2-97F8-0A25A62B587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F5A83D8-AA7A-475E-9FAE-9E76B344D8DC}"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6" name="Object 3">
            <a:extLst>
              <a:ext uri="{FF2B5EF4-FFF2-40B4-BE49-F238E27FC236}">
                <a16:creationId xmlns:a16="http://schemas.microsoft.com/office/drawing/2014/main" id="{3EA32FFC-CAA8-45B4-A9B3-1948B1FA53EE}"/>
              </a:ext>
            </a:extLst>
          </p:cNvPr>
          <p:cNvGraphicFramePr>
            <a:graphicFrameLocks noChangeAspect="1"/>
          </p:cNvGraphicFramePr>
          <p:nvPr>
            <p:extLst>
              <p:ext uri="{D42A27DB-BD31-4B8C-83A1-F6EECF244321}">
                <p14:modId xmlns:p14="http://schemas.microsoft.com/office/powerpoint/2010/main" val="1722601932"/>
              </p:ext>
            </p:extLst>
          </p:nvPr>
        </p:nvGraphicFramePr>
        <p:xfrm>
          <a:off x="1317625" y="3000375"/>
          <a:ext cx="3311525" cy="1004888"/>
        </p:xfrm>
        <a:graphic>
          <a:graphicData uri="http://schemas.openxmlformats.org/presentationml/2006/ole">
            <mc:AlternateContent xmlns:mc="http://schemas.openxmlformats.org/markup-compatibility/2006">
              <mc:Choice xmlns:v="urn:schemas-microsoft-com:vml" Requires="v">
                <p:oleObj spid="_x0000_s18929" name="Equation" r:id="rId3" imgW="1473120" imgH="419040" progId="Equation.DSMT4">
                  <p:embed/>
                </p:oleObj>
              </mc:Choice>
              <mc:Fallback>
                <p:oleObj name="Equation" r:id="rId3" imgW="1473120" imgH="419040" progId="Equation.DSMT4">
                  <p:embed/>
                  <p:pic>
                    <p:nvPicPr>
                      <p:cNvPr id="6" name="Object 3">
                        <a:extLst>
                          <a:ext uri="{FF2B5EF4-FFF2-40B4-BE49-F238E27FC236}">
                            <a16:creationId xmlns:a16="http://schemas.microsoft.com/office/drawing/2014/main" id="{3EA32FFC-CAA8-45B4-A9B3-1948B1FA53EE}"/>
                          </a:ext>
                        </a:extLst>
                      </p:cNvPr>
                      <p:cNvPicPr>
                        <a:picLocks noChangeAspect="1" noChangeArrowheads="1"/>
                      </p:cNvPicPr>
                      <p:nvPr/>
                    </p:nvPicPr>
                    <p:blipFill>
                      <a:blip r:embed="rId4"/>
                      <a:srcRect/>
                      <a:stretch>
                        <a:fillRect/>
                      </a:stretch>
                    </p:blipFill>
                    <p:spPr bwMode="auto">
                      <a:xfrm>
                        <a:off x="1317625" y="3000375"/>
                        <a:ext cx="3311525"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325" name="Group 4">
            <a:extLst>
              <a:ext uri="{FF2B5EF4-FFF2-40B4-BE49-F238E27FC236}">
                <a16:creationId xmlns:a16="http://schemas.microsoft.com/office/drawing/2014/main" id="{56D46606-0664-4444-B3CA-DAD53E910DFB}"/>
              </a:ext>
            </a:extLst>
          </p:cNvPr>
          <p:cNvGrpSpPr>
            <a:grpSpLocks/>
          </p:cNvGrpSpPr>
          <p:nvPr/>
        </p:nvGrpSpPr>
        <p:grpSpPr bwMode="auto">
          <a:xfrm>
            <a:off x="500063" y="1108075"/>
            <a:ext cx="8104188" cy="1535113"/>
            <a:chOff x="476" y="618"/>
            <a:chExt cx="5105" cy="967"/>
          </a:xfrm>
        </p:grpSpPr>
        <p:sp>
          <p:nvSpPr>
            <p:cNvPr id="13330" name="Text Box 5">
              <a:extLst>
                <a:ext uri="{FF2B5EF4-FFF2-40B4-BE49-F238E27FC236}">
                  <a16:creationId xmlns:a16="http://schemas.microsoft.com/office/drawing/2014/main" id="{3A38969A-DAA8-4C55-8713-CBDAC2C70732}"/>
                </a:ext>
              </a:extLst>
            </p:cNvPr>
            <p:cNvSpPr txBox="1">
              <a:spLocks noChangeArrowheads="1"/>
            </p:cNvSpPr>
            <p:nvPr/>
          </p:nvSpPr>
          <p:spPr bwMode="auto">
            <a:xfrm>
              <a:off x="476" y="618"/>
              <a:ext cx="4853" cy="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50000"/>
                </a:spcBef>
                <a:spcAft>
                  <a:spcPct val="0"/>
                </a:spcAft>
                <a:buClrTx/>
                <a:buSzTx/>
                <a:buFontTx/>
                <a:buNone/>
                <a:tabLst/>
                <a:defRPr/>
              </a:pPr>
              <a:r>
                <a:rPr kumimoji="1"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例</a:t>
              </a:r>
              <a:r>
                <a:rPr kumimoji="1"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：某离散时间</a:t>
              </a:r>
              <a:r>
                <a:rPr kumimoji="1"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LTI</a:t>
              </a:r>
              <a:r>
                <a:rPr kumimoji="1"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系统，</a:t>
              </a:r>
              <a:r>
                <a:rPr kumimoji="1"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a:r>
              <a:br>
                <a:rPr kumimoji="1" lang="en-US" altLang="zh-CN"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br>
              <a:r>
                <a:rPr kumimoji="1"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输入为                              ，求输出</a:t>
              </a:r>
              <a:r>
                <a:rPr kumimoji="1" lang="zh-CN" altLang="en-US" sz="24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         。</a:t>
              </a:r>
            </a:p>
          </p:txBody>
        </p:sp>
        <p:graphicFrame>
          <p:nvGraphicFramePr>
            <p:cNvPr id="13320" name="Object 6">
              <a:extLst>
                <a:ext uri="{FF2B5EF4-FFF2-40B4-BE49-F238E27FC236}">
                  <a16:creationId xmlns:a16="http://schemas.microsoft.com/office/drawing/2014/main" id="{2F40D164-0E43-466C-927F-75B818ED5660}"/>
                </a:ext>
              </a:extLst>
            </p:cNvPr>
            <p:cNvGraphicFramePr>
              <a:graphicFrameLocks/>
            </p:cNvGraphicFramePr>
            <p:nvPr>
              <p:extLst>
                <p:ext uri="{D42A27DB-BD31-4B8C-83A1-F6EECF244321}">
                  <p14:modId xmlns:p14="http://schemas.microsoft.com/office/powerpoint/2010/main" val="2785189950"/>
                </p:ext>
              </p:extLst>
            </p:nvPr>
          </p:nvGraphicFramePr>
          <p:xfrm>
            <a:off x="3087" y="719"/>
            <a:ext cx="2494" cy="347"/>
          </p:xfrm>
          <a:graphic>
            <a:graphicData uri="http://schemas.openxmlformats.org/presentationml/2006/ole">
              <mc:AlternateContent xmlns:mc="http://schemas.openxmlformats.org/markup-compatibility/2006">
                <mc:Choice xmlns:v="urn:schemas-microsoft-com:vml" Requires="v">
                  <p:oleObj spid="_x0000_s18930" name="Equation" r:id="rId5" imgW="1650960" imgH="228600" progId="Equation.DSMT4">
                    <p:embed/>
                  </p:oleObj>
                </mc:Choice>
                <mc:Fallback>
                  <p:oleObj name="Equation" r:id="rId5" imgW="1650960" imgH="228600" progId="Equation.DSMT4">
                    <p:embed/>
                    <p:pic>
                      <p:nvPicPr>
                        <p:cNvPr id="13320" name="Object 6">
                          <a:extLst>
                            <a:ext uri="{FF2B5EF4-FFF2-40B4-BE49-F238E27FC236}">
                              <a16:creationId xmlns:a16="http://schemas.microsoft.com/office/drawing/2014/main" id="{2F40D164-0E43-466C-927F-75B818ED5660}"/>
                            </a:ext>
                          </a:extLst>
                        </p:cNvPr>
                        <p:cNvPicPr>
                          <a:picLocks noChangeArrowheads="1"/>
                        </p:cNvPicPr>
                        <p:nvPr/>
                      </p:nvPicPr>
                      <p:blipFill>
                        <a:blip r:embed="rId6"/>
                        <a:srcRect/>
                        <a:stretch>
                          <a:fillRect/>
                        </a:stretch>
                      </p:blipFill>
                      <p:spPr bwMode="auto">
                        <a:xfrm>
                          <a:off x="3087" y="719"/>
                          <a:ext cx="2494"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1" name="Object 7">
              <a:extLst>
                <a:ext uri="{FF2B5EF4-FFF2-40B4-BE49-F238E27FC236}">
                  <a16:creationId xmlns:a16="http://schemas.microsoft.com/office/drawing/2014/main" id="{FF2711B1-E41C-484F-AFFC-FF8282EA162D}"/>
                </a:ext>
              </a:extLst>
            </p:cNvPr>
            <p:cNvGraphicFramePr>
              <a:graphicFrameLocks noChangeAspect="1"/>
            </p:cNvGraphicFramePr>
            <p:nvPr>
              <p:extLst>
                <p:ext uri="{D42A27DB-BD31-4B8C-83A1-F6EECF244321}">
                  <p14:modId xmlns:p14="http://schemas.microsoft.com/office/powerpoint/2010/main" val="1669383924"/>
                </p:ext>
              </p:extLst>
            </p:nvPr>
          </p:nvGraphicFramePr>
          <p:xfrm>
            <a:off x="1253" y="991"/>
            <a:ext cx="1591" cy="594"/>
          </p:xfrm>
          <a:graphic>
            <a:graphicData uri="http://schemas.openxmlformats.org/presentationml/2006/ole">
              <mc:AlternateContent xmlns:mc="http://schemas.openxmlformats.org/markup-compatibility/2006">
                <mc:Choice xmlns:v="urn:schemas-microsoft-com:vml" Requires="v">
                  <p:oleObj spid="_x0000_s18931" name="Equation" r:id="rId7" imgW="1054080" imgH="393480" progId="Equation.DSMT4">
                    <p:embed/>
                  </p:oleObj>
                </mc:Choice>
                <mc:Fallback>
                  <p:oleObj name="Equation" r:id="rId7" imgW="1054080" imgH="393480" progId="Equation.DSMT4">
                    <p:embed/>
                    <p:pic>
                      <p:nvPicPr>
                        <p:cNvPr id="13321" name="Object 7">
                          <a:extLst>
                            <a:ext uri="{FF2B5EF4-FFF2-40B4-BE49-F238E27FC236}">
                              <a16:creationId xmlns:a16="http://schemas.microsoft.com/office/drawing/2014/main" id="{FF2711B1-E41C-484F-AFFC-FF8282EA162D}"/>
                            </a:ext>
                          </a:extLst>
                        </p:cNvPr>
                        <p:cNvPicPr>
                          <a:picLocks noChangeAspect="1" noChangeArrowheads="1"/>
                        </p:cNvPicPr>
                        <p:nvPr/>
                      </p:nvPicPr>
                      <p:blipFill>
                        <a:blip r:embed="rId8"/>
                        <a:srcRect/>
                        <a:stretch>
                          <a:fillRect/>
                        </a:stretch>
                      </p:blipFill>
                      <p:spPr bwMode="auto">
                        <a:xfrm>
                          <a:off x="1253" y="991"/>
                          <a:ext cx="1591" cy="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22" name="Object 8">
              <a:extLst>
                <a:ext uri="{FF2B5EF4-FFF2-40B4-BE49-F238E27FC236}">
                  <a16:creationId xmlns:a16="http://schemas.microsoft.com/office/drawing/2014/main" id="{04516A05-B57D-4261-A05C-0EC8590F08E0}"/>
                </a:ext>
              </a:extLst>
            </p:cNvPr>
            <p:cNvGraphicFramePr>
              <a:graphicFrameLocks noChangeAspect="1"/>
            </p:cNvGraphicFramePr>
            <p:nvPr>
              <p:extLst>
                <p:ext uri="{D42A27DB-BD31-4B8C-83A1-F6EECF244321}">
                  <p14:modId xmlns:p14="http://schemas.microsoft.com/office/powerpoint/2010/main" val="896496710"/>
                </p:ext>
              </p:extLst>
            </p:nvPr>
          </p:nvGraphicFramePr>
          <p:xfrm>
            <a:off x="3797" y="1123"/>
            <a:ext cx="453" cy="306"/>
          </p:xfrm>
          <a:graphic>
            <a:graphicData uri="http://schemas.openxmlformats.org/presentationml/2006/ole">
              <mc:AlternateContent xmlns:mc="http://schemas.openxmlformats.org/markup-compatibility/2006">
                <mc:Choice xmlns:v="urn:schemas-microsoft-com:vml" Requires="v">
                  <p:oleObj spid="_x0000_s18932" name="Equation" r:id="rId9" imgW="304560" imgH="203040" progId="Equation.DSMT4">
                    <p:embed/>
                  </p:oleObj>
                </mc:Choice>
                <mc:Fallback>
                  <p:oleObj name="Equation" r:id="rId9" imgW="304560" imgH="203040" progId="Equation.DSMT4">
                    <p:embed/>
                    <p:pic>
                      <p:nvPicPr>
                        <p:cNvPr id="13322" name="Object 8">
                          <a:extLst>
                            <a:ext uri="{FF2B5EF4-FFF2-40B4-BE49-F238E27FC236}">
                              <a16:creationId xmlns:a16="http://schemas.microsoft.com/office/drawing/2014/main" id="{04516A05-B57D-4261-A05C-0EC8590F08E0}"/>
                            </a:ext>
                          </a:extLst>
                        </p:cNvPr>
                        <p:cNvPicPr>
                          <a:picLocks noChangeAspect="1" noChangeArrowheads="1"/>
                        </p:cNvPicPr>
                        <p:nvPr/>
                      </p:nvPicPr>
                      <p:blipFill>
                        <a:blip r:embed="rId10"/>
                        <a:srcRect/>
                        <a:stretch>
                          <a:fillRect/>
                        </a:stretch>
                      </p:blipFill>
                      <p:spPr bwMode="auto">
                        <a:xfrm>
                          <a:off x="3797" y="1123"/>
                          <a:ext cx="453"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2" name="Object 9">
            <a:extLst>
              <a:ext uri="{FF2B5EF4-FFF2-40B4-BE49-F238E27FC236}">
                <a16:creationId xmlns:a16="http://schemas.microsoft.com/office/drawing/2014/main" id="{4E8FAC9B-086E-461C-9029-AF88AA4AB630}"/>
              </a:ext>
            </a:extLst>
          </p:cNvPr>
          <p:cNvGraphicFramePr>
            <a:graphicFrameLocks noChangeAspect="1"/>
          </p:cNvGraphicFramePr>
          <p:nvPr>
            <p:extLst>
              <p:ext uri="{D42A27DB-BD31-4B8C-83A1-F6EECF244321}">
                <p14:modId xmlns:p14="http://schemas.microsoft.com/office/powerpoint/2010/main" val="2560633020"/>
              </p:ext>
            </p:extLst>
          </p:nvPr>
        </p:nvGraphicFramePr>
        <p:xfrm>
          <a:off x="1331913" y="4078288"/>
          <a:ext cx="3783012" cy="1065212"/>
        </p:xfrm>
        <a:graphic>
          <a:graphicData uri="http://schemas.openxmlformats.org/presentationml/2006/ole">
            <mc:AlternateContent xmlns:mc="http://schemas.openxmlformats.org/markup-compatibility/2006">
              <mc:Choice xmlns:v="urn:schemas-microsoft-com:vml" Requires="v">
                <p:oleObj spid="_x0000_s18933" name="Equation" r:id="rId11" imgW="1638000" imgH="444240" progId="Equation.DSMT4">
                  <p:embed/>
                </p:oleObj>
              </mc:Choice>
              <mc:Fallback>
                <p:oleObj name="Equation" r:id="rId11" imgW="1638000" imgH="444240" progId="Equation.DSMT4">
                  <p:embed/>
                  <p:pic>
                    <p:nvPicPr>
                      <p:cNvPr id="12" name="Object 9">
                        <a:extLst>
                          <a:ext uri="{FF2B5EF4-FFF2-40B4-BE49-F238E27FC236}">
                            <a16:creationId xmlns:a16="http://schemas.microsoft.com/office/drawing/2014/main" id="{4E8FAC9B-086E-461C-9029-AF88AA4AB630}"/>
                          </a:ext>
                        </a:extLst>
                      </p:cNvPr>
                      <p:cNvPicPr>
                        <a:picLocks noChangeAspect="1" noChangeArrowheads="1"/>
                      </p:cNvPicPr>
                      <p:nvPr/>
                    </p:nvPicPr>
                    <p:blipFill>
                      <a:blip r:embed="rId12"/>
                      <a:srcRect/>
                      <a:stretch>
                        <a:fillRect/>
                      </a:stretch>
                    </p:blipFill>
                    <p:spPr bwMode="auto">
                      <a:xfrm>
                        <a:off x="1331913" y="4078288"/>
                        <a:ext cx="3783012" cy="106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10">
            <a:extLst>
              <a:ext uri="{FF2B5EF4-FFF2-40B4-BE49-F238E27FC236}">
                <a16:creationId xmlns:a16="http://schemas.microsoft.com/office/drawing/2014/main" id="{C4250C83-0F5E-4F11-BF7D-F647A313B624}"/>
              </a:ext>
            </a:extLst>
          </p:cNvPr>
          <p:cNvGrpSpPr>
            <a:grpSpLocks/>
          </p:cNvGrpSpPr>
          <p:nvPr/>
        </p:nvGrpSpPr>
        <p:grpSpPr bwMode="auto">
          <a:xfrm>
            <a:off x="2659063" y="5192713"/>
            <a:ext cx="4386262" cy="1260475"/>
            <a:chOff x="1791" y="3113"/>
            <a:chExt cx="2763" cy="794"/>
          </a:xfrm>
        </p:grpSpPr>
        <p:graphicFrame>
          <p:nvGraphicFramePr>
            <p:cNvPr id="13317" name="Object 11">
              <a:extLst>
                <a:ext uri="{FF2B5EF4-FFF2-40B4-BE49-F238E27FC236}">
                  <a16:creationId xmlns:a16="http://schemas.microsoft.com/office/drawing/2014/main" id="{781CFFF8-EEEE-41F1-9FB9-26E92A8DBDB0}"/>
                </a:ext>
              </a:extLst>
            </p:cNvPr>
            <p:cNvGraphicFramePr>
              <a:graphicFrameLocks noChangeAspect="1"/>
            </p:cNvGraphicFramePr>
            <p:nvPr/>
          </p:nvGraphicFramePr>
          <p:xfrm>
            <a:off x="3539" y="3402"/>
            <a:ext cx="89" cy="159"/>
          </p:xfrm>
          <a:graphic>
            <a:graphicData uri="http://schemas.openxmlformats.org/presentationml/2006/ole">
              <mc:AlternateContent xmlns:mc="http://schemas.openxmlformats.org/markup-compatibility/2006">
                <mc:Choice xmlns:v="urn:schemas-microsoft-com:vml" Requires="v">
                  <p:oleObj spid="_x0000_s18934" name="Equation" r:id="rId13" imgW="114120" imgH="215640" progId="Equation.3">
                    <p:embed/>
                  </p:oleObj>
                </mc:Choice>
                <mc:Fallback>
                  <p:oleObj name="Equation" r:id="rId13" imgW="114120" imgH="215640" progId="Equation.3">
                    <p:embed/>
                    <p:pic>
                      <p:nvPicPr>
                        <p:cNvPr id="13317" name="Object 11">
                          <a:extLst>
                            <a:ext uri="{FF2B5EF4-FFF2-40B4-BE49-F238E27FC236}">
                              <a16:creationId xmlns:a16="http://schemas.microsoft.com/office/drawing/2014/main" id="{781CFFF8-EEEE-41F1-9FB9-26E92A8DBDB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39" y="3402"/>
                          <a:ext cx="89"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 name="Object 12">
              <a:extLst>
                <a:ext uri="{FF2B5EF4-FFF2-40B4-BE49-F238E27FC236}">
                  <a16:creationId xmlns:a16="http://schemas.microsoft.com/office/drawing/2014/main" id="{B9767E67-5671-4BC1-BBCA-E567F7A604B3}"/>
                </a:ext>
              </a:extLst>
            </p:cNvPr>
            <p:cNvGraphicFramePr>
              <a:graphicFrameLocks noChangeAspect="1"/>
            </p:cNvGraphicFramePr>
            <p:nvPr/>
          </p:nvGraphicFramePr>
          <p:xfrm>
            <a:off x="1791" y="3113"/>
            <a:ext cx="1313" cy="672"/>
          </p:xfrm>
          <a:graphic>
            <a:graphicData uri="http://schemas.openxmlformats.org/presentationml/2006/ole">
              <mc:AlternateContent xmlns:mc="http://schemas.openxmlformats.org/markup-compatibility/2006">
                <mc:Choice xmlns:v="urn:schemas-microsoft-com:vml" Requires="v">
                  <p:oleObj spid="_x0000_s18935" name="Equation" r:id="rId15" imgW="901440" imgH="444240" progId="Equation.DSMT4">
                    <p:embed/>
                  </p:oleObj>
                </mc:Choice>
                <mc:Fallback>
                  <p:oleObj name="Equation" r:id="rId15" imgW="901440" imgH="444240" progId="Equation.DSMT4">
                    <p:embed/>
                    <p:pic>
                      <p:nvPicPr>
                        <p:cNvPr id="13318" name="Object 12">
                          <a:extLst>
                            <a:ext uri="{FF2B5EF4-FFF2-40B4-BE49-F238E27FC236}">
                              <a16:creationId xmlns:a16="http://schemas.microsoft.com/office/drawing/2014/main" id="{B9767E67-5671-4BC1-BBCA-E567F7A604B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91" y="3113"/>
                          <a:ext cx="1313"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9" name="Object 13">
              <a:extLst>
                <a:ext uri="{FF2B5EF4-FFF2-40B4-BE49-F238E27FC236}">
                  <a16:creationId xmlns:a16="http://schemas.microsoft.com/office/drawing/2014/main" id="{CB283EA4-B2E6-46B7-9936-B91F35458195}"/>
                </a:ext>
              </a:extLst>
            </p:cNvPr>
            <p:cNvGraphicFramePr>
              <a:graphicFrameLocks noChangeAspect="1"/>
            </p:cNvGraphicFramePr>
            <p:nvPr/>
          </p:nvGraphicFramePr>
          <p:xfrm>
            <a:off x="3334" y="3158"/>
            <a:ext cx="1220" cy="749"/>
          </p:xfrm>
          <a:graphic>
            <a:graphicData uri="http://schemas.openxmlformats.org/presentationml/2006/ole">
              <mc:AlternateContent xmlns:mc="http://schemas.openxmlformats.org/markup-compatibility/2006">
                <mc:Choice xmlns:v="urn:schemas-microsoft-com:vml" Requires="v">
                  <p:oleObj spid="_x0000_s18936" name="Equation" r:id="rId17" imgW="838080" imgH="495000" progId="Equation.DSMT4">
                    <p:embed/>
                  </p:oleObj>
                </mc:Choice>
                <mc:Fallback>
                  <p:oleObj name="Equation" r:id="rId17" imgW="838080" imgH="495000" progId="Equation.DSMT4">
                    <p:embed/>
                    <p:pic>
                      <p:nvPicPr>
                        <p:cNvPr id="13319" name="Object 13">
                          <a:extLst>
                            <a:ext uri="{FF2B5EF4-FFF2-40B4-BE49-F238E27FC236}">
                              <a16:creationId xmlns:a16="http://schemas.microsoft.com/office/drawing/2014/main" id="{CB283EA4-B2E6-46B7-9936-B91F3545819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34" y="3158"/>
                          <a:ext cx="1220" cy="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4">
            <a:extLst>
              <a:ext uri="{FF2B5EF4-FFF2-40B4-BE49-F238E27FC236}">
                <a16:creationId xmlns:a16="http://schemas.microsoft.com/office/drawing/2014/main" id="{F53DAA20-D819-42D2-B568-10E8EA9F191A}"/>
              </a:ext>
            </a:extLst>
          </p:cNvPr>
          <p:cNvGrpSpPr>
            <a:grpSpLocks/>
          </p:cNvGrpSpPr>
          <p:nvPr/>
        </p:nvGrpSpPr>
        <p:grpSpPr bwMode="auto">
          <a:xfrm>
            <a:off x="5143500" y="3060700"/>
            <a:ext cx="2479675" cy="914400"/>
            <a:chOff x="3586" y="1616"/>
            <a:chExt cx="1562" cy="576"/>
          </a:xfrm>
        </p:grpSpPr>
        <p:graphicFrame>
          <p:nvGraphicFramePr>
            <p:cNvPr id="13316" name="Object 15">
              <a:extLst>
                <a:ext uri="{FF2B5EF4-FFF2-40B4-BE49-F238E27FC236}">
                  <a16:creationId xmlns:a16="http://schemas.microsoft.com/office/drawing/2014/main" id="{1FE98F8B-5B9F-4808-B44E-CFE5AD19DE26}"/>
                </a:ext>
              </a:extLst>
            </p:cNvPr>
            <p:cNvGraphicFramePr>
              <a:graphicFrameLocks noChangeAspect="1"/>
            </p:cNvGraphicFramePr>
            <p:nvPr/>
          </p:nvGraphicFramePr>
          <p:xfrm>
            <a:off x="4012" y="1616"/>
            <a:ext cx="1136" cy="576"/>
          </p:xfrm>
          <a:graphic>
            <a:graphicData uri="http://schemas.openxmlformats.org/presentationml/2006/ole">
              <mc:AlternateContent xmlns:mc="http://schemas.openxmlformats.org/markup-compatibility/2006">
                <mc:Choice xmlns:v="urn:schemas-microsoft-com:vml" Requires="v">
                  <p:oleObj spid="_x0000_s18937" name="Equation" r:id="rId19" imgW="761760" imgH="393480" progId="Equation.DSMT4">
                    <p:embed/>
                  </p:oleObj>
                </mc:Choice>
                <mc:Fallback>
                  <p:oleObj name="Equation" r:id="rId19" imgW="761760" imgH="393480" progId="Equation.DSMT4">
                    <p:embed/>
                    <p:pic>
                      <p:nvPicPr>
                        <p:cNvPr id="13316" name="Object 15">
                          <a:extLst>
                            <a:ext uri="{FF2B5EF4-FFF2-40B4-BE49-F238E27FC236}">
                              <a16:creationId xmlns:a16="http://schemas.microsoft.com/office/drawing/2014/main" id="{1FE98F8B-5B9F-4808-B44E-CFE5AD19DE2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12" y="1616"/>
                          <a:ext cx="1136"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29" name="Text Box 16">
              <a:extLst>
                <a:ext uri="{FF2B5EF4-FFF2-40B4-BE49-F238E27FC236}">
                  <a16:creationId xmlns:a16="http://schemas.microsoft.com/office/drawing/2014/main" id="{794E95B9-B6F1-4A64-BC70-84A80BA4B250}"/>
                </a:ext>
              </a:extLst>
            </p:cNvPr>
            <p:cNvSpPr txBox="1">
              <a:spLocks noChangeArrowheads="1"/>
            </p:cNvSpPr>
            <p:nvPr/>
          </p:nvSpPr>
          <p:spPr bwMode="auto">
            <a:xfrm>
              <a:off x="3586" y="1742"/>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即：</a:t>
              </a:r>
            </a:p>
          </p:txBody>
        </p:sp>
      </p:grpSp>
      <p:sp>
        <p:nvSpPr>
          <p:cNvPr id="13328" name="Text Box 3">
            <a:extLst>
              <a:ext uri="{FF2B5EF4-FFF2-40B4-BE49-F238E27FC236}">
                <a16:creationId xmlns:a16="http://schemas.microsoft.com/office/drawing/2014/main" id="{387CC7BB-776D-480D-9653-9DA1DA92E6B3}"/>
              </a:ext>
            </a:extLst>
          </p:cNvPr>
          <p:cNvSpPr txBox="1">
            <a:spLocks noChangeArrowheads="1"/>
          </p:cNvSpPr>
          <p:nvPr/>
        </p:nvSpPr>
        <p:spPr bwMode="auto">
          <a:xfrm>
            <a:off x="500063" y="2547938"/>
            <a:ext cx="126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分析</a:t>
            </a:r>
            <a:r>
              <a:rPr kumimoji="1" lang="zh-CN" altLang="en-US" sz="2800"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楷体_GB2312" panose="0201060903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标题 1">
            <a:extLst>
              <a:ext uri="{FF2B5EF4-FFF2-40B4-BE49-F238E27FC236}">
                <a16:creationId xmlns:a16="http://schemas.microsoft.com/office/drawing/2014/main" id="{BF22E296-8009-45F0-BD1C-BC79D524D37D}"/>
              </a:ext>
            </a:extLst>
          </p:cNvPr>
          <p:cNvSpPr>
            <a:spLocks noGrp="1"/>
          </p:cNvSpPr>
          <p:nvPr>
            <p:ph type="title"/>
          </p:nvPr>
        </p:nvSpPr>
        <p:spPr/>
        <p:txBody>
          <a:bodyPr/>
          <a:lstStyle/>
          <a:p>
            <a:r>
              <a:rPr lang="en-US" altLang="zh-CN"/>
              <a:t>3.8 </a:t>
            </a:r>
            <a:r>
              <a:rPr lang="zh-CN" altLang="en-US"/>
              <a:t>傅里叶级数与</a:t>
            </a:r>
            <a:r>
              <a:rPr lang="en-US" altLang="zh-CN"/>
              <a:t>LTI</a:t>
            </a:r>
            <a:r>
              <a:rPr lang="zh-CN" altLang="en-US"/>
              <a:t>系统</a:t>
            </a:r>
          </a:p>
        </p:txBody>
      </p:sp>
      <p:sp>
        <p:nvSpPr>
          <p:cNvPr id="4" name="灯片编号占位符 3">
            <a:extLst>
              <a:ext uri="{FF2B5EF4-FFF2-40B4-BE49-F238E27FC236}">
                <a16:creationId xmlns:a16="http://schemas.microsoft.com/office/drawing/2014/main" id="{76A9B6E7-843E-4568-84EB-93C9B956C2D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C1AC3F-1982-4B7C-973F-BA08DD74E79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66562" name="Object 2">
            <a:extLst>
              <a:ext uri="{FF2B5EF4-FFF2-40B4-BE49-F238E27FC236}">
                <a16:creationId xmlns:a16="http://schemas.microsoft.com/office/drawing/2014/main" id="{D0A21E32-A5DC-4585-B3B6-7625125C15F7}"/>
              </a:ext>
            </a:extLst>
          </p:cNvPr>
          <p:cNvGraphicFramePr>
            <a:graphicFrameLocks noChangeAspect="1"/>
          </p:cNvGraphicFramePr>
          <p:nvPr>
            <p:extLst>
              <p:ext uri="{D42A27DB-BD31-4B8C-83A1-F6EECF244321}">
                <p14:modId xmlns:p14="http://schemas.microsoft.com/office/powerpoint/2010/main" val="3779877372"/>
              </p:ext>
            </p:extLst>
          </p:nvPr>
        </p:nvGraphicFramePr>
        <p:xfrm>
          <a:off x="285750" y="3791991"/>
          <a:ext cx="6735763" cy="2373313"/>
        </p:xfrm>
        <a:graphic>
          <a:graphicData uri="http://schemas.openxmlformats.org/presentationml/2006/ole">
            <mc:AlternateContent xmlns:mc="http://schemas.openxmlformats.org/markup-compatibility/2006">
              <mc:Choice xmlns:v="urn:schemas-microsoft-com:vml" Requires="v">
                <p:oleObj spid="_x0000_s19678" name="Equation" r:id="rId3" imgW="2946240" imgH="990360" progId="Equation.DSMT4">
                  <p:embed/>
                </p:oleObj>
              </mc:Choice>
              <mc:Fallback>
                <p:oleObj name="Equation" r:id="rId3" imgW="2946240" imgH="990360" progId="Equation.DSMT4">
                  <p:embed/>
                  <p:pic>
                    <p:nvPicPr>
                      <p:cNvPr id="66562" name="Object 2">
                        <a:extLst>
                          <a:ext uri="{FF2B5EF4-FFF2-40B4-BE49-F238E27FC236}">
                            <a16:creationId xmlns:a16="http://schemas.microsoft.com/office/drawing/2014/main" id="{D0A21E32-A5DC-4585-B3B6-7625125C15F7}"/>
                          </a:ext>
                        </a:extLst>
                      </p:cNvPr>
                      <p:cNvPicPr>
                        <a:picLocks noChangeAspect="1" noChangeArrowheads="1"/>
                      </p:cNvPicPr>
                      <p:nvPr/>
                    </p:nvPicPr>
                    <p:blipFill>
                      <a:blip r:embed="rId4"/>
                      <a:srcRect/>
                      <a:stretch>
                        <a:fillRect/>
                      </a:stretch>
                    </p:blipFill>
                    <p:spPr bwMode="auto">
                      <a:xfrm>
                        <a:off x="285750" y="3791991"/>
                        <a:ext cx="6735763" cy="2373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9" name="Object 10">
            <a:extLst>
              <a:ext uri="{FF2B5EF4-FFF2-40B4-BE49-F238E27FC236}">
                <a16:creationId xmlns:a16="http://schemas.microsoft.com/office/drawing/2014/main" id="{DF8786F6-353E-4283-971C-47B0837451E7}"/>
              </a:ext>
            </a:extLst>
          </p:cNvPr>
          <p:cNvGraphicFramePr>
            <a:graphicFrameLocks noChangeAspect="1"/>
          </p:cNvGraphicFramePr>
          <p:nvPr>
            <p:extLst>
              <p:ext uri="{D42A27DB-BD31-4B8C-83A1-F6EECF244321}">
                <p14:modId xmlns:p14="http://schemas.microsoft.com/office/powerpoint/2010/main" val="715118590"/>
              </p:ext>
            </p:extLst>
          </p:nvPr>
        </p:nvGraphicFramePr>
        <p:xfrm>
          <a:off x="285750" y="2423839"/>
          <a:ext cx="4498975" cy="1252537"/>
        </p:xfrm>
        <a:graphic>
          <a:graphicData uri="http://schemas.openxmlformats.org/presentationml/2006/ole">
            <mc:AlternateContent xmlns:mc="http://schemas.openxmlformats.org/markup-compatibility/2006">
              <mc:Choice xmlns:v="urn:schemas-microsoft-com:vml" Requires="v">
                <p:oleObj spid="_x0000_s19679" name="Equation" r:id="rId5" imgW="1562040" imgH="520560" progId="Equation.DSMT4">
                  <p:embed/>
                </p:oleObj>
              </mc:Choice>
              <mc:Fallback>
                <p:oleObj name="Equation" r:id="rId5" imgW="1562040" imgH="520560" progId="Equation.DSMT4">
                  <p:embed/>
                  <p:pic>
                    <p:nvPicPr>
                      <p:cNvPr id="14339" name="Object 10">
                        <a:extLst>
                          <a:ext uri="{FF2B5EF4-FFF2-40B4-BE49-F238E27FC236}">
                            <a16:creationId xmlns:a16="http://schemas.microsoft.com/office/drawing/2014/main" id="{DF8786F6-353E-4283-971C-47B0837451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50" y="2423839"/>
                        <a:ext cx="4498975"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71" name="Object 11">
            <a:extLst>
              <a:ext uri="{FF2B5EF4-FFF2-40B4-BE49-F238E27FC236}">
                <a16:creationId xmlns:a16="http://schemas.microsoft.com/office/drawing/2014/main" id="{D9A7AFD1-030A-4BA2-9C72-1333C35AB4A4}"/>
              </a:ext>
            </a:extLst>
          </p:cNvPr>
          <p:cNvGraphicFramePr>
            <a:graphicFrameLocks noChangeAspect="1"/>
          </p:cNvGraphicFramePr>
          <p:nvPr>
            <p:extLst>
              <p:ext uri="{D42A27DB-BD31-4B8C-83A1-F6EECF244321}">
                <p14:modId xmlns:p14="http://schemas.microsoft.com/office/powerpoint/2010/main" val="401899073"/>
              </p:ext>
            </p:extLst>
          </p:nvPr>
        </p:nvGraphicFramePr>
        <p:xfrm>
          <a:off x="5000625" y="2423839"/>
          <a:ext cx="3854450" cy="1249362"/>
        </p:xfrm>
        <a:graphic>
          <a:graphicData uri="http://schemas.openxmlformats.org/presentationml/2006/ole">
            <mc:AlternateContent xmlns:mc="http://schemas.openxmlformats.org/markup-compatibility/2006">
              <mc:Choice xmlns:v="urn:schemas-microsoft-com:vml" Requires="v">
                <p:oleObj spid="_x0000_s19680" name="Equation" r:id="rId7" imgW="1333440" imgH="520560" progId="Equation.DSMT4">
                  <p:embed/>
                </p:oleObj>
              </mc:Choice>
              <mc:Fallback>
                <p:oleObj name="Equation" r:id="rId7" imgW="1333440" imgH="520560" progId="Equation.DSMT4">
                  <p:embed/>
                  <p:pic>
                    <p:nvPicPr>
                      <p:cNvPr id="66571" name="Object 11">
                        <a:extLst>
                          <a:ext uri="{FF2B5EF4-FFF2-40B4-BE49-F238E27FC236}">
                            <a16:creationId xmlns:a16="http://schemas.microsoft.com/office/drawing/2014/main" id="{D9A7AFD1-030A-4BA2-9C72-1333C35AB4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0625" y="2423839"/>
                        <a:ext cx="3854450" cy="124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1" name="Object 13">
            <a:extLst>
              <a:ext uri="{FF2B5EF4-FFF2-40B4-BE49-F238E27FC236}">
                <a16:creationId xmlns:a16="http://schemas.microsoft.com/office/drawing/2014/main" id="{3D8EDDF8-C73F-4F47-BF69-ABD4D85DB0AC}"/>
              </a:ext>
            </a:extLst>
          </p:cNvPr>
          <p:cNvGraphicFramePr>
            <a:graphicFrameLocks noChangeAspect="1"/>
          </p:cNvGraphicFramePr>
          <p:nvPr>
            <p:extLst>
              <p:ext uri="{D42A27DB-BD31-4B8C-83A1-F6EECF244321}">
                <p14:modId xmlns:p14="http://schemas.microsoft.com/office/powerpoint/2010/main" val="2626037703"/>
              </p:ext>
            </p:extLst>
          </p:nvPr>
        </p:nvGraphicFramePr>
        <p:xfrm>
          <a:off x="352425" y="1386805"/>
          <a:ext cx="2576513" cy="960437"/>
        </p:xfrm>
        <a:graphic>
          <a:graphicData uri="http://schemas.openxmlformats.org/presentationml/2006/ole">
            <mc:AlternateContent xmlns:mc="http://schemas.openxmlformats.org/markup-compatibility/2006">
              <mc:Choice xmlns:v="urn:schemas-microsoft-com:vml" Requires="v">
                <p:oleObj spid="_x0000_s19681" name="Equation" r:id="rId9" imgW="1485720" imgH="533160" progId="Equation.DSMT4">
                  <p:embed/>
                </p:oleObj>
              </mc:Choice>
              <mc:Fallback>
                <p:oleObj name="Equation" r:id="rId9" imgW="1485720" imgH="533160" progId="Equation.DSMT4">
                  <p:embed/>
                  <p:pic>
                    <p:nvPicPr>
                      <p:cNvPr id="14341" name="Object 13">
                        <a:extLst>
                          <a:ext uri="{FF2B5EF4-FFF2-40B4-BE49-F238E27FC236}">
                            <a16:creationId xmlns:a16="http://schemas.microsoft.com/office/drawing/2014/main" id="{3D8EDDF8-C73F-4F47-BF69-ABD4D85DB0A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2425" y="1386805"/>
                        <a:ext cx="2576513" cy="96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blinds(horizontal)">
                                      <p:cBhvr>
                                        <p:cTn id="7" dur="500"/>
                                        <p:tgtEl>
                                          <p:spTgt spid="14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6571"/>
                                        </p:tgtEl>
                                        <p:attrNameLst>
                                          <p:attrName>style.visibility</p:attrName>
                                        </p:attrNameLst>
                                      </p:cBhvr>
                                      <p:to>
                                        <p:strVal val="visible"/>
                                      </p:to>
                                    </p:set>
                                    <p:animEffect transition="in" filter="blinds(horizontal)">
                                      <p:cBhvr>
                                        <p:cTn id="12" dur="500"/>
                                        <p:tgtEl>
                                          <p:spTgt spid="665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6562"/>
                                        </p:tgtEl>
                                        <p:attrNameLst>
                                          <p:attrName>style.visibility</p:attrName>
                                        </p:attrNameLst>
                                      </p:cBhvr>
                                      <p:to>
                                        <p:strVal val="visible"/>
                                      </p:to>
                                    </p:set>
                                    <p:animEffect transition="in" filter="blinds(horizontal)">
                                      <p:cBhvr>
                                        <p:cTn id="17" dur="500"/>
                                        <p:tgtEl>
                                          <p:spTgt spid="66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652486"/>
          </a:xfrm>
        </p:spPr>
        <p:txBody>
          <a:bodyPr>
            <a:spAutoFit/>
          </a:bodyPr>
          <a:lstStyle/>
          <a:p>
            <a:pPr algn="just">
              <a:lnSpc>
                <a:spcPct val="130000"/>
              </a:lnSpc>
              <a:spcBef>
                <a:spcPts val="0"/>
              </a:spcBef>
              <a:spcAft>
                <a:spcPts val="600"/>
              </a:spcAft>
            </a:pPr>
            <a:r>
              <a:rPr lang="en-US" altLang="zh-CN" sz="2800" b="0" dirty="0"/>
              <a:t>3.28(c)</a:t>
            </a:r>
            <a:r>
              <a:rPr lang="zh-CN" altLang="en-US" sz="2800" b="0" dirty="0"/>
              <a:t>、</a:t>
            </a:r>
            <a:r>
              <a:rPr lang="en-US" altLang="zh-CN" sz="2800" b="0" dirty="0"/>
              <a:t>3.30</a:t>
            </a:r>
            <a:r>
              <a:rPr lang="zh-CN" altLang="en-US" sz="2800" b="0"/>
              <a:t>、</a:t>
            </a:r>
            <a:r>
              <a:rPr lang="en-US" altLang="zh-CN" sz="2800" b="0"/>
              <a:t>3.34(c</a:t>
            </a:r>
            <a:r>
              <a:rPr lang="en-US" altLang="zh-CN" sz="2800" b="0" dirty="0"/>
              <a:t>, </a:t>
            </a:r>
            <a:r>
              <a:rPr lang="zh-CN" altLang="en-US" sz="2800" b="0" dirty="0"/>
              <a:t>方波高度</a:t>
            </a:r>
            <a:r>
              <a:rPr lang="en-US" altLang="zh-CN" sz="2800" b="0" dirty="0"/>
              <a:t>= 1)</a:t>
            </a:r>
            <a:endParaRPr lang="en-US" sz="2800" b="0" dirty="0"/>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85445817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609E31BE-6AAB-4703-B4E6-7E4D31C1B29F}"/>
              </a:ext>
            </a:extLst>
          </p:cNvPr>
          <p:cNvSpPr>
            <a:spLocks noGrp="1"/>
          </p:cNvSpPr>
          <p:nvPr>
            <p:ph type="title"/>
          </p:nvPr>
        </p:nvSpPr>
        <p:spPr/>
        <p:txBody>
          <a:bodyPr/>
          <a:lstStyle/>
          <a:p>
            <a:r>
              <a:rPr lang="en-US" altLang="zh-CN" dirty="0"/>
              <a:t>3.9 </a:t>
            </a:r>
            <a:r>
              <a:rPr lang="zh-CN" altLang="en-US" dirty="0"/>
              <a:t>滤波</a:t>
            </a:r>
          </a:p>
        </p:txBody>
      </p:sp>
      <p:sp>
        <p:nvSpPr>
          <p:cNvPr id="3" name="内容占位符 2">
            <a:extLst>
              <a:ext uri="{FF2B5EF4-FFF2-40B4-BE49-F238E27FC236}">
                <a16:creationId xmlns:a16="http://schemas.microsoft.com/office/drawing/2014/main" id="{575AF1B0-ADC8-451A-8422-4026096AD355}"/>
              </a:ext>
            </a:extLst>
          </p:cNvPr>
          <p:cNvSpPr>
            <a:spLocks noGrp="1"/>
          </p:cNvSpPr>
          <p:nvPr>
            <p:ph idx="1"/>
          </p:nvPr>
        </p:nvSpPr>
        <p:spPr/>
        <p:txBody>
          <a:bodyPr/>
          <a:lstStyle/>
          <a:p>
            <a:r>
              <a:rPr lang="zh-CN" altLang="en-US" sz="2800" b="0"/>
              <a:t>滤波：改变信号中各频率分量的相对大小或消除某些频率分量的过程。</a:t>
            </a:r>
            <a:endParaRPr lang="en-US" altLang="zh-CN" sz="2800" b="0"/>
          </a:p>
          <a:p>
            <a:pPr lvl="1"/>
            <a:r>
              <a:rPr lang="zh-CN" altLang="en-US" b="0">
                <a:solidFill>
                  <a:srgbClr val="FF0000"/>
                </a:solidFill>
              </a:rPr>
              <a:t>频率成形滤波器</a:t>
            </a:r>
            <a:r>
              <a:rPr lang="zh-CN" altLang="en-US" b="0"/>
              <a:t>：改变信号频谱形状的滤波器。</a:t>
            </a:r>
            <a:endParaRPr lang="en-US" altLang="zh-CN" b="0"/>
          </a:p>
          <a:p>
            <a:pPr lvl="1"/>
            <a:r>
              <a:rPr lang="zh-CN" altLang="en-US" b="0">
                <a:solidFill>
                  <a:srgbClr val="FF0000"/>
                </a:solidFill>
              </a:rPr>
              <a:t>频率选择性滤波器</a:t>
            </a:r>
            <a:r>
              <a:rPr lang="zh-CN" altLang="en-US" b="0"/>
              <a:t>：基本上无失真地通过某些频率，而显著地衰减或消除另一些频率的滤波器。</a:t>
            </a:r>
            <a:endParaRPr lang="en-US" altLang="zh-CN" b="0"/>
          </a:p>
          <a:p>
            <a:r>
              <a:rPr lang="zh-CN" altLang="en-US" sz="2800" b="0"/>
              <a:t>频率成形滤波器例</a:t>
            </a:r>
            <a:r>
              <a:rPr lang="en-US" altLang="zh-CN" sz="2800" b="0"/>
              <a:t>1</a:t>
            </a:r>
            <a:r>
              <a:rPr lang="zh-CN" altLang="en-US" sz="2800" b="0"/>
              <a:t>：音频系统</a:t>
            </a:r>
          </a:p>
        </p:txBody>
      </p:sp>
      <p:sp>
        <p:nvSpPr>
          <p:cNvPr id="4" name="灯片编号占位符 3">
            <a:extLst>
              <a:ext uri="{FF2B5EF4-FFF2-40B4-BE49-F238E27FC236}">
                <a16:creationId xmlns:a16="http://schemas.microsoft.com/office/drawing/2014/main" id="{C21B0ED9-1778-46AC-882A-B67F7A2B78A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71AE74D-A723-4D6C-A00E-49A4E1DB586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45058" name="Picture 2">
            <a:extLst>
              <a:ext uri="{FF2B5EF4-FFF2-40B4-BE49-F238E27FC236}">
                <a16:creationId xmlns:a16="http://schemas.microsoft.com/office/drawing/2014/main" id="{59560C79-4701-4712-AE26-3A003E809B81}"/>
              </a:ext>
            </a:extLst>
          </p:cNvPr>
          <p:cNvPicPr>
            <a:picLocks noChangeAspect="1" noChangeArrowheads="1"/>
          </p:cNvPicPr>
          <p:nvPr/>
        </p:nvPicPr>
        <p:blipFill>
          <a:blip r:embed="rId2"/>
          <a:srcRect/>
          <a:stretch>
            <a:fillRect/>
          </a:stretch>
        </p:blipFill>
        <p:spPr bwMode="auto">
          <a:xfrm>
            <a:off x="742950" y="5119688"/>
            <a:ext cx="7658100" cy="1524000"/>
          </a:xfrm>
          <a:prstGeom prst="rect">
            <a:avLst/>
          </a:prstGeom>
          <a:noFill/>
          <a:ln w="9525">
            <a:noFill/>
            <a:miter lim="800000"/>
            <a:headEnd/>
            <a:tailEnd/>
          </a:ln>
          <a:effectLst>
            <a:prstShdw prst="shdw17" dist="17961" dir="2700000">
              <a:schemeClr val="accent1">
                <a:gamma/>
                <a:shade val="60000"/>
                <a:invGamma/>
              </a:schemeClr>
            </a:prstShdw>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45058"/>
                                        </p:tgtEl>
                                        <p:attrNameLst>
                                          <p:attrName>style.visibility</p:attrName>
                                        </p:attrNameLst>
                                      </p:cBhvr>
                                      <p:to>
                                        <p:strVal val="visible"/>
                                      </p:to>
                                    </p:set>
                                    <p:animEffect transition="in" filter="blinds(horizontal)">
                                      <p:cBhvr>
                                        <p:cTn id="20" dur="500"/>
                                        <p:tgtEl>
                                          <p:spTgt spid="45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9" name="标题 1">
            <a:extLst>
              <a:ext uri="{FF2B5EF4-FFF2-40B4-BE49-F238E27FC236}">
                <a16:creationId xmlns:a16="http://schemas.microsoft.com/office/drawing/2014/main" id="{0885ED5C-41B6-435A-905D-C973F1A7E07C}"/>
              </a:ext>
            </a:extLst>
          </p:cNvPr>
          <p:cNvSpPr>
            <a:spLocks noGrp="1"/>
          </p:cNvSpPr>
          <p:nvPr>
            <p:ph type="title"/>
          </p:nvPr>
        </p:nvSpPr>
        <p:spPr/>
        <p:txBody>
          <a:bodyPr/>
          <a:lstStyle/>
          <a:p>
            <a:r>
              <a:rPr lang="en-US" altLang="zh-CN" dirty="0"/>
              <a:t>3.9 </a:t>
            </a:r>
            <a:r>
              <a:rPr lang="zh-CN" altLang="en-US" dirty="0"/>
              <a:t>滤波</a:t>
            </a:r>
          </a:p>
        </p:txBody>
      </p:sp>
      <p:sp>
        <p:nvSpPr>
          <p:cNvPr id="15370" name="内容占位符 2">
            <a:extLst>
              <a:ext uri="{FF2B5EF4-FFF2-40B4-BE49-F238E27FC236}">
                <a16:creationId xmlns:a16="http://schemas.microsoft.com/office/drawing/2014/main" id="{12002A1A-62EE-4C5E-A2B6-39AD04F19A99}"/>
              </a:ext>
            </a:extLst>
          </p:cNvPr>
          <p:cNvSpPr>
            <a:spLocks noGrp="1"/>
          </p:cNvSpPr>
          <p:nvPr>
            <p:ph idx="1"/>
          </p:nvPr>
        </p:nvSpPr>
        <p:spPr/>
        <p:txBody>
          <a:bodyPr/>
          <a:lstStyle/>
          <a:p>
            <a:r>
              <a:rPr lang="zh-CN" altLang="en-US" sz="2800" b="0"/>
              <a:t>频率成形滤波器例</a:t>
            </a:r>
            <a:r>
              <a:rPr lang="en-US" altLang="zh-CN" sz="2800" b="0"/>
              <a:t>2</a:t>
            </a:r>
            <a:r>
              <a:rPr lang="zh-CN" altLang="en-US" sz="2800" b="0"/>
              <a:t>：微分器</a:t>
            </a:r>
          </a:p>
        </p:txBody>
      </p:sp>
      <p:sp>
        <p:nvSpPr>
          <p:cNvPr id="4" name="灯片编号占位符 3">
            <a:extLst>
              <a:ext uri="{FF2B5EF4-FFF2-40B4-BE49-F238E27FC236}">
                <a16:creationId xmlns:a16="http://schemas.microsoft.com/office/drawing/2014/main" id="{5FC63E2E-3FB0-4450-AFB1-295C5352B9C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DCCD4BB-1349-445D-BA7E-BB4BB03C0FB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5" name="Object 2">
            <a:extLst>
              <a:ext uri="{FF2B5EF4-FFF2-40B4-BE49-F238E27FC236}">
                <a16:creationId xmlns:a16="http://schemas.microsoft.com/office/drawing/2014/main" id="{E309C0ED-FBD5-4717-A75C-29F28573738D}"/>
              </a:ext>
            </a:extLst>
          </p:cNvPr>
          <p:cNvGraphicFramePr>
            <a:graphicFrameLocks noChangeAspect="1"/>
          </p:cNvGraphicFramePr>
          <p:nvPr>
            <p:extLst>
              <p:ext uri="{D42A27DB-BD31-4B8C-83A1-F6EECF244321}">
                <p14:modId xmlns:p14="http://schemas.microsoft.com/office/powerpoint/2010/main" val="3556637124"/>
              </p:ext>
            </p:extLst>
          </p:nvPr>
        </p:nvGraphicFramePr>
        <p:xfrm>
          <a:off x="2325688" y="1928813"/>
          <a:ext cx="4354512" cy="792162"/>
        </p:xfrm>
        <a:graphic>
          <a:graphicData uri="http://schemas.openxmlformats.org/presentationml/2006/ole">
            <mc:AlternateContent xmlns:mc="http://schemas.openxmlformats.org/markup-compatibility/2006">
              <mc:Choice xmlns:v="urn:schemas-microsoft-com:vml" Requires="v">
                <p:oleObj spid="_x0000_s20867" name="Equation" r:id="rId4" imgW="1815840" imgH="330120" progId="Equation.DSMT4">
                  <p:embed/>
                </p:oleObj>
              </mc:Choice>
              <mc:Fallback>
                <p:oleObj name="Equation" r:id="rId4" imgW="1815840" imgH="330120" progId="Equation.DSMT4">
                  <p:embed/>
                  <p:pic>
                    <p:nvPicPr>
                      <p:cNvPr id="5" name="Object 2">
                        <a:extLst>
                          <a:ext uri="{FF2B5EF4-FFF2-40B4-BE49-F238E27FC236}">
                            <a16:creationId xmlns:a16="http://schemas.microsoft.com/office/drawing/2014/main" id="{E309C0ED-FBD5-4717-A75C-29F2857373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5688" y="1928813"/>
                        <a:ext cx="4354512"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组合 17">
            <a:extLst>
              <a:ext uri="{FF2B5EF4-FFF2-40B4-BE49-F238E27FC236}">
                <a16:creationId xmlns:a16="http://schemas.microsoft.com/office/drawing/2014/main" id="{2F5A0A4A-8D52-4A2A-8E4C-67E8212ED870}"/>
              </a:ext>
            </a:extLst>
          </p:cNvPr>
          <p:cNvGrpSpPr>
            <a:grpSpLocks/>
          </p:cNvGrpSpPr>
          <p:nvPr/>
        </p:nvGrpSpPr>
        <p:grpSpPr bwMode="auto">
          <a:xfrm>
            <a:off x="1541463" y="2857500"/>
            <a:ext cx="4673600" cy="1630363"/>
            <a:chOff x="2214546" y="2879724"/>
            <a:chExt cx="4673631" cy="1630370"/>
          </a:xfrm>
        </p:grpSpPr>
        <p:cxnSp>
          <p:nvCxnSpPr>
            <p:cNvPr id="7" name="直接连接符 6">
              <a:extLst>
                <a:ext uri="{FF2B5EF4-FFF2-40B4-BE49-F238E27FC236}">
                  <a16:creationId xmlns:a16="http://schemas.microsoft.com/office/drawing/2014/main" id="{B13C5E68-F335-4128-979D-1296A6A9C791}"/>
                </a:ext>
              </a:extLst>
            </p:cNvPr>
            <p:cNvCxnSpPr/>
            <p:nvPr/>
          </p:nvCxnSpPr>
          <p:spPr>
            <a:xfrm>
              <a:off x="2214546" y="4425956"/>
              <a:ext cx="4357716" cy="1588"/>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F7738D5-A1AE-4792-8C08-DEAA26761147}"/>
                </a:ext>
              </a:extLst>
            </p:cNvPr>
            <p:cNvCxnSpPr/>
            <p:nvPr/>
          </p:nvCxnSpPr>
          <p:spPr>
            <a:xfrm rot="16200000" flipV="1">
              <a:off x="3720302" y="3750472"/>
              <a:ext cx="1347793" cy="9525"/>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CC5193B-8A06-4BDD-BE35-67CC7B214821}"/>
                </a:ext>
              </a:extLst>
            </p:cNvPr>
            <p:cNvCxnSpPr/>
            <p:nvPr/>
          </p:nvCxnSpPr>
          <p:spPr>
            <a:xfrm flipV="1">
              <a:off x="4416423" y="3184525"/>
              <a:ext cx="1735150" cy="122873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46E5F06-0ECA-43B3-AF64-0245AAD3A601}"/>
                </a:ext>
              </a:extLst>
            </p:cNvPr>
            <p:cNvCxnSpPr/>
            <p:nvPr/>
          </p:nvCxnSpPr>
          <p:spPr>
            <a:xfrm flipH="1" flipV="1">
              <a:off x="2668574" y="3184525"/>
              <a:ext cx="1736737" cy="122873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15367" name="Object 3">
              <a:extLst>
                <a:ext uri="{FF2B5EF4-FFF2-40B4-BE49-F238E27FC236}">
                  <a16:creationId xmlns:a16="http://schemas.microsoft.com/office/drawing/2014/main" id="{CFB27627-44A9-4745-8DD2-DC8249B4E6C8}"/>
                </a:ext>
              </a:extLst>
            </p:cNvPr>
            <p:cNvGraphicFramePr>
              <a:graphicFrameLocks noChangeAspect="1"/>
            </p:cNvGraphicFramePr>
            <p:nvPr/>
          </p:nvGraphicFramePr>
          <p:xfrm>
            <a:off x="4451355" y="2879724"/>
            <a:ext cx="835025" cy="406400"/>
          </p:xfrm>
          <a:graphic>
            <a:graphicData uri="http://schemas.openxmlformats.org/presentationml/2006/ole">
              <mc:AlternateContent xmlns:mc="http://schemas.openxmlformats.org/markup-compatibility/2006">
                <mc:Choice xmlns:v="urn:schemas-microsoft-com:vml" Requires="v">
                  <p:oleObj spid="_x0000_s20868" name="Equation" r:id="rId6" imgW="520560" imgH="253800" progId="Equation.DSMT4">
                    <p:embed/>
                  </p:oleObj>
                </mc:Choice>
                <mc:Fallback>
                  <p:oleObj name="Equation" r:id="rId6" imgW="520560" imgH="253800" progId="Equation.DSMT4">
                    <p:embed/>
                    <p:pic>
                      <p:nvPicPr>
                        <p:cNvPr id="15367" name="Object 3">
                          <a:extLst>
                            <a:ext uri="{FF2B5EF4-FFF2-40B4-BE49-F238E27FC236}">
                              <a16:creationId xmlns:a16="http://schemas.microsoft.com/office/drawing/2014/main" id="{CFB27627-44A9-4745-8DD2-DC8249B4E6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51355" y="2879724"/>
                          <a:ext cx="83502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 name="Object 4">
              <a:extLst>
                <a:ext uri="{FF2B5EF4-FFF2-40B4-BE49-F238E27FC236}">
                  <a16:creationId xmlns:a16="http://schemas.microsoft.com/office/drawing/2014/main" id="{47980103-1C71-4E25-B635-07705B5E3E4D}"/>
                </a:ext>
              </a:extLst>
            </p:cNvPr>
            <p:cNvGraphicFramePr>
              <a:graphicFrameLocks noChangeAspect="1"/>
            </p:cNvGraphicFramePr>
            <p:nvPr/>
          </p:nvGraphicFramePr>
          <p:xfrm>
            <a:off x="6643702" y="4286256"/>
            <a:ext cx="244475" cy="223838"/>
          </p:xfrm>
          <a:graphic>
            <a:graphicData uri="http://schemas.openxmlformats.org/presentationml/2006/ole">
              <mc:AlternateContent xmlns:mc="http://schemas.openxmlformats.org/markup-compatibility/2006">
                <mc:Choice xmlns:v="urn:schemas-microsoft-com:vml" Requires="v">
                  <p:oleObj spid="_x0000_s20869" name="Equation" r:id="rId8" imgW="152280" imgH="139680" progId="Equation.DSMT4">
                    <p:embed/>
                  </p:oleObj>
                </mc:Choice>
                <mc:Fallback>
                  <p:oleObj name="Equation" r:id="rId8" imgW="152280" imgH="139680" progId="Equation.DSMT4">
                    <p:embed/>
                    <p:pic>
                      <p:nvPicPr>
                        <p:cNvPr id="15368" name="Object 4">
                          <a:extLst>
                            <a:ext uri="{FF2B5EF4-FFF2-40B4-BE49-F238E27FC236}">
                              <a16:creationId xmlns:a16="http://schemas.microsoft.com/office/drawing/2014/main" id="{47980103-1C71-4E25-B635-07705B5E3E4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43702" y="4286256"/>
                          <a:ext cx="244475" cy="223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组合 39">
            <a:extLst>
              <a:ext uri="{FF2B5EF4-FFF2-40B4-BE49-F238E27FC236}">
                <a16:creationId xmlns:a16="http://schemas.microsoft.com/office/drawing/2014/main" id="{E9BCCF76-75B7-4BAA-ADA4-C549E8FB23FF}"/>
              </a:ext>
            </a:extLst>
          </p:cNvPr>
          <p:cNvGrpSpPr>
            <a:grpSpLocks/>
          </p:cNvGrpSpPr>
          <p:nvPr/>
        </p:nvGrpSpPr>
        <p:grpSpPr bwMode="auto">
          <a:xfrm>
            <a:off x="1541463" y="4838700"/>
            <a:ext cx="4673600" cy="1520825"/>
            <a:chOff x="2214546" y="4838700"/>
            <a:chExt cx="4673631" cy="1520052"/>
          </a:xfrm>
        </p:grpSpPr>
        <p:cxnSp>
          <p:nvCxnSpPr>
            <p:cNvPr id="20" name="直接连接符 19">
              <a:extLst>
                <a:ext uri="{FF2B5EF4-FFF2-40B4-BE49-F238E27FC236}">
                  <a16:creationId xmlns:a16="http://schemas.microsoft.com/office/drawing/2014/main" id="{51990C7D-198D-48E9-907A-4B9337C7BEF8}"/>
                </a:ext>
              </a:extLst>
            </p:cNvPr>
            <p:cNvCxnSpPr/>
            <p:nvPr/>
          </p:nvCxnSpPr>
          <p:spPr>
            <a:xfrm>
              <a:off x="2214546" y="5701861"/>
              <a:ext cx="4357716" cy="1587"/>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04BBF383-4A8D-44E3-88CA-78D578E80C9E}"/>
                </a:ext>
              </a:extLst>
            </p:cNvPr>
            <p:cNvCxnSpPr/>
            <p:nvPr/>
          </p:nvCxnSpPr>
          <p:spPr>
            <a:xfrm rot="5400000" flipH="1" flipV="1">
              <a:off x="3705568" y="5679647"/>
              <a:ext cx="1356622" cy="1587"/>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15363" name="Object 5">
              <a:extLst>
                <a:ext uri="{FF2B5EF4-FFF2-40B4-BE49-F238E27FC236}">
                  <a16:creationId xmlns:a16="http://schemas.microsoft.com/office/drawing/2014/main" id="{E858ABC6-32F1-4575-925C-A3396728729E}"/>
                </a:ext>
              </a:extLst>
            </p:cNvPr>
            <p:cNvGraphicFramePr>
              <a:graphicFrameLocks noChangeAspect="1"/>
            </p:cNvGraphicFramePr>
            <p:nvPr/>
          </p:nvGraphicFramePr>
          <p:xfrm>
            <a:off x="4400550" y="4838700"/>
            <a:ext cx="936625" cy="325438"/>
          </p:xfrm>
          <a:graphic>
            <a:graphicData uri="http://schemas.openxmlformats.org/presentationml/2006/ole">
              <mc:AlternateContent xmlns:mc="http://schemas.openxmlformats.org/markup-compatibility/2006">
                <mc:Choice xmlns:v="urn:schemas-microsoft-com:vml" Requires="v">
                  <p:oleObj spid="_x0000_s20870" name="Equation" r:id="rId10" imgW="583920" imgH="203040" progId="Equation.DSMT4">
                    <p:embed/>
                  </p:oleObj>
                </mc:Choice>
                <mc:Fallback>
                  <p:oleObj name="Equation" r:id="rId10" imgW="583920" imgH="203040" progId="Equation.DSMT4">
                    <p:embed/>
                    <p:pic>
                      <p:nvPicPr>
                        <p:cNvPr id="15363" name="Object 5">
                          <a:extLst>
                            <a:ext uri="{FF2B5EF4-FFF2-40B4-BE49-F238E27FC236}">
                              <a16:creationId xmlns:a16="http://schemas.microsoft.com/office/drawing/2014/main" id="{E858ABC6-32F1-4575-925C-A3396728729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00550" y="4838700"/>
                          <a:ext cx="936625" cy="325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4" name="Object 6">
              <a:extLst>
                <a:ext uri="{FF2B5EF4-FFF2-40B4-BE49-F238E27FC236}">
                  <a16:creationId xmlns:a16="http://schemas.microsoft.com/office/drawing/2014/main" id="{743DE79A-41ED-482B-AFC9-1BC0D295FF0E}"/>
                </a:ext>
              </a:extLst>
            </p:cNvPr>
            <p:cNvGraphicFramePr>
              <a:graphicFrameLocks noChangeAspect="1"/>
            </p:cNvGraphicFramePr>
            <p:nvPr/>
          </p:nvGraphicFramePr>
          <p:xfrm>
            <a:off x="6643702" y="5562616"/>
            <a:ext cx="244475" cy="223838"/>
          </p:xfrm>
          <a:graphic>
            <a:graphicData uri="http://schemas.openxmlformats.org/presentationml/2006/ole">
              <mc:AlternateContent xmlns:mc="http://schemas.openxmlformats.org/markup-compatibility/2006">
                <mc:Choice xmlns:v="urn:schemas-microsoft-com:vml" Requires="v">
                  <p:oleObj spid="_x0000_s20871" name="Equation" r:id="rId12" imgW="152280" imgH="139680" progId="Equation.DSMT4">
                    <p:embed/>
                  </p:oleObj>
                </mc:Choice>
                <mc:Fallback>
                  <p:oleObj name="Equation" r:id="rId12" imgW="152280" imgH="139680" progId="Equation.DSMT4">
                    <p:embed/>
                    <p:pic>
                      <p:nvPicPr>
                        <p:cNvPr id="15364" name="Object 6">
                          <a:extLst>
                            <a:ext uri="{FF2B5EF4-FFF2-40B4-BE49-F238E27FC236}">
                              <a16:creationId xmlns:a16="http://schemas.microsoft.com/office/drawing/2014/main" id="{743DE79A-41ED-482B-AFC9-1BC0D295FF0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43702" y="5562616"/>
                          <a:ext cx="244475" cy="223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26" name="直接连接符 25">
              <a:extLst>
                <a:ext uri="{FF2B5EF4-FFF2-40B4-BE49-F238E27FC236}">
                  <a16:creationId xmlns:a16="http://schemas.microsoft.com/office/drawing/2014/main" id="{2030FD83-BE24-42BC-AC40-5000EFD48B1E}"/>
                </a:ext>
              </a:extLst>
            </p:cNvPr>
            <p:cNvCxnSpPr/>
            <p:nvPr/>
          </p:nvCxnSpPr>
          <p:spPr>
            <a:xfrm>
              <a:off x="4397372" y="5286147"/>
              <a:ext cx="2159014" cy="3173"/>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FAD95DF-2EB6-4755-97A7-620D766F4EC7}"/>
                </a:ext>
              </a:extLst>
            </p:cNvPr>
            <p:cNvCxnSpPr/>
            <p:nvPr/>
          </p:nvCxnSpPr>
          <p:spPr>
            <a:xfrm>
              <a:off x="2239946" y="6141376"/>
              <a:ext cx="2160601" cy="1586"/>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D754EF8-D78D-4D41-9C98-949911844E4D}"/>
                </a:ext>
              </a:extLst>
            </p:cNvPr>
            <p:cNvCxnSpPr/>
            <p:nvPr/>
          </p:nvCxnSpPr>
          <p:spPr>
            <a:xfrm rot="5400000" flipH="1" flipV="1">
              <a:off x="3983245" y="5725662"/>
              <a:ext cx="828254"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graphicFrame>
          <p:nvGraphicFramePr>
            <p:cNvPr id="15365" name="Object 7">
              <a:extLst>
                <a:ext uri="{FF2B5EF4-FFF2-40B4-BE49-F238E27FC236}">
                  <a16:creationId xmlns:a16="http://schemas.microsoft.com/office/drawing/2014/main" id="{F86255C6-29EF-4FAE-9381-8608F67EA47B}"/>
                </a:ext>
              </a:extLst>
            </p:cNvPr>
            <p:cNvGraphicFramePr>
              <a:graphicFrameLocks noChangeAspect="1"/>
            </p:cNvGraphicFramePr>
            <p:nvPr/>
          </p:nvGraphicFramePr>
          <p:xfrm>
            <a:off x="4429124" y="6000768"/>
            <a:ext cx="650875" cy="284162"/>
          </p:xfrm>
          <a:graphic>
            <a:graphicData uri="http://schemas.openxmlformats.org/presentationml/2006/ole">
              <mc:AlternateContent xmlns:mc="http://schemas.openxmlformats.org/markup-compatibility/2006">
                <mc:Choice xmlns:v="urn:schemas-microsoft-com:vml" Requires="v">
                  <p:oleObj spid="_x0000_s20872" name="Equation" r:id="rId14" imgW="406080" imgH="177480" progId="Equation.DSMT4">
                    <p:embed/>
                  </p:oleObj>
                </mc:Choice>
                <mc:Fallback>
                  <p:oleObj name="Equation" r:id="rId14" imgW="406080" imgH="177480" progId="Equation.DSMT4">
                    <p:embed/>
                    <p:pic>
                      <p:nvPicPr>
                        <p:cNvPr id="15365" name="Object 7">
                          <a:extLst>
                            <a:ext uri="{FF2B5EF4-FFF2-40B4-BE49-F238E27FC236}">
                              <a16:creationId xmlns:a16="http://schemas.microsoft.com/office/drawing/2014/main" id="{F86255C6-29EF-4FAE-9381-8608F67EA47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29124" y="6000768"/>
                          <a:ext cx="650875" cy="284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8">
              <a:extLst>
                <a:ext uri="{FF2B5EF4-FFF2-40B4-BE49-F238E27FC236}">
                  <a16:creationId xmlns:a16="http://schemas.microsoft.com/office/drawing/2014/main" id="{9D33DDE0-72A1-473C-B3B0-4A5C5B671EED}"/>
                </a:ext>
              </a:extLst>
            </p:cNvPr>
            <p:cNvGraphicFramePr>
              <a:graphicFrameLocks noChangeAspect="1"/>
            </p:cNvGraphicFramePr>
            <p:nvPr/>
          </p:nvGraphicFramePr>
          <p:xfrm>
            <a:off x="3849686" y="5156575"/>
            <a:ext cx="508000" cy="284163"/>
          </p:xfrm>
          <a:graphic>
            <a:graphicData uri="http://schemas.openxmlformats.org/presentationml/2006/ole">
              <mc:AlternateContent xmlns:mc="http://schemas.openxmlformats.org/markup-compatibility/2006">
                <mc:Choice xmlns:v="urn:schemas-microsoft-com:vml" Requires="v">
                  <p:oleObj spid="_x0000_s20873" name="Equation" r:id="rId16" imgW="317160" imgH="177480" progId="Equation.DSMT4">
                    <p:embed/>
                  </p:oleObj>
                </mc:Choice>
                <mc:Fallback>
                  <p:oleObj name="Equation" r:id="rId16" imgW="317160" imgH="177480" progId="Equation.DSMT4">
                    <p:embed/>
                    <p:pic>
                      <p:nvPicPr>
                        <p:cNvPr id="15366" name="Object 8">
                          <a:extLst>
                            <a:ext uri="{FF2B5EF4-FFF2-40B4-BE49-F238E27FC236}">
                              <a16:creationId xmlns:a16="http://schemas.microsoft.com/office/drawing/2014/main" id="{9D33DDE0-72A1-473C-B3B0-4A5C5B671EE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49686" y="5156575"/>
                          <a:ext cx="5080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 name="TextBox 40">
            <a:extLst>
              <a:ext uri="{FF2B5EF4-FFF2-40B4-BE49-F238E27FC236}">
                <a16:creationId xmlns:a16="http://schemas.microsoft.com/office/drawing/2014/main" id="{672F0DAA-E697-434D-B456-6619C459690C}"/>
              </a:ext>
            </a:extLst>
          </p:cNvPr>
          <p:cNvSpPr txBox="1">
            <a:spLocks noChangeArrowheads="1"/>
          </p:cNvSpPr>
          <p:nvPr/>
        </p:nvSpPr>
        <p:spPr bwMode="auto">
          <a:xfrm>
            <a:off x="6429375" y="3429000"/>
            <a:ext cx="1620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solidFill>
                  <a:srgbClr val="002060"/>
                </a:solidFill>
                <a:effectLst/>
                <a:uLnTx/>
                <a:uFillTx/>
                <a:latin typeface="华文楷体" panose="02010600040101010101" pitchFamily="2" charset="-122"/>
                <a:ea typeface="华文楷体" panose="02010600040101010101" pitchFamily="2" charset="-122"/>
                <a:cs typeface="+mn-cs"/>
              </a:rPr>
              <a:t>幅度特性</a:t>
            </a:r>
          </a:p>
        </p:txBody>
      </p:sp>
      <p:sp>
        <p:nvSpPr>
          <p:cNvPr id="42" name="TextBox 41">
            <a:extLst>
              <a:ext uri="{FF2B5EF4-FFF2-40B4-BE49-F238E27FC236}">
                <a16:creationId xmlns:a16="http://schemas.microsoft.com/office/drawing/2014/main" id="{3C5EE6B0-5CB2-4C94-9CAD-29633D751293}"/>
              </a:ext>
            </a:extLst>
          </p:cNvPr>
          <p:cNvSpPr txBox="1">
            <a:spLocks noChangeArrowheads="1"/>
          </p:cNvSpPr>
          <p:nvPr/>
        </p:nvSpPr>
        <p:spPr bwMode="auto">
          <a:xfrm>
            <a:off x="6429375" y="5405438"/>
            <a:ext cx="1620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solidFill>
                  <a:srgbClr val="002060"/>
                </a:solidFill>
                <a:effectLst/>
                <a:uLnTx/>
                <a:uFillTx/>
                <a:latin typeface="华文楷体" panose="02010600040101010101" pitchFamily="2" charset="-122"/>
                <a:ea typeface="华文楷体" panose="02010600040101010101" pitchFamily="2" charset="-122"/>
                <a:cs typeface="+mn-cs"/>
              </a:rPr>
              <a:t>相位特性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par>
                                <p:cTn id="13" presetID="3" presetClass="entr" presetSubtype="1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blinds(horizontal)">
                                      <p:cBhvr>
                                        <p:cTn id="18" dur="500"/>
                                        <p:tgtEl>
                                          <p:spTgt spid="4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blinds(horizontal)">
                                      <p:cBhvr>
                                        <p:cTn id="2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1008AC7F-3323-4C26-8C52-73E1F15E304F}"/>
              </a:ext>
            </a:extLst>
          </p:cNvPr>
          <p:cNvSpPr>
            <a:spLocks noGrp="1"/>
          </p:cNvSpPr>
          <p:nvPr>
            <p:ph type="title"/>
          </p:nvPr>
        </p:nvSpPr>
        <p:spPr/>
        <p:txBody>
          <a:bodyPr/>
          <a:lstStyle/>
          <a:p>
            <a:r>
              <a:rPr lang="en-US" altLang="zh-CN" dirty="0"/>
              <a:t>3.9 </a:t>
            </a:r>
            <a:r>
              <a:rPr lang="zh-CN" altLang="en-US" dirty="0"/>
              <a:t>滤波</a:t>
            </a:r>
          </a:p>
        </p:txBody>
      </p:sp>
      <p:sp>
        <p:nvSpPr>
          <p:cNvPr id="4" name="灯片编号占位符 3">
            <a:extLst>
              <a:ext uri="{FF2B5EF4-FFF2-40B4-BE49-F238E27FC236}">
                <a16:creationId xmlns:a16="http://schemas.microsoft.com/office/drawing/2014/main" id="{BF763206-057A-4E5F-BA2D-0DECDC77739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F246930-A3FC-41D4-B563-F1B9AE9823A7}"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44036" name="Picture 4">
            <a:extLst>
              <a:ext uri="{FF2B5EF4-FFF2-40B4-BE49-F238E27FC236}">
                <a16:creationId xmlns:a16="http://schemas.microsoft.com/office/drawing/2014/main" id="{0D319B17-C47E-4B23-A19D-21275B2B21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714500"/>
            <a:ext cx="305117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5">
            <a:extLst>
              <a:ext uri="{FF2B5EF4-FFF2-40B4-BE49-F238E27FC236}">
                <a16:creationId xmlns:a16="http://schemas.microsoft.com/office/drawing/2014/main" id="{7BD1FAFE-A535-4FB4-896C-9E87E3F2F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5688" y="1714500"/>
            <a:ext cx="3051175"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23C35B73-529E-4856-B9C7-D678A6AED8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6088" y="4286250"/>
            <a:ext cx="30480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4345DB33-6844-4938-B171-DBFF46D7C9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5688" y="4286250"/>
            <a:ext cx="3049587"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0" name="TextBox 8">
            <a:extLst>
              <a:ext uri="{FF2B5EF4-FFF2-40B4-BE49-F238E27FC236}">
                <a16:creationId xmlns:a16="http://schemas.microsoft.com/office/drawing/2014/main" id="{5AD372B5-CC13-420B-A5FB-CEFA6E9D4E23}"/>
              </a:ext>
            </a:extLst>
          </p:cNvPr>
          <p:cNvSpPr txBox="1">
            <a:spLocks noChangeArrowheads="1"/>
          </p:cNvSpPr>
          <p:nvPr/>
        </p:nvSpPr>
        <p:spPr bwMode="auto">
          <a:xfrm>
            <a:off x="714772" y="2214563"/>
            <a:ext cx="615553"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原图像</a:t>
            </a:r>
          </a:p>
        </p:txBody>
      </p:sp>
      <p:sp>
        <p:nvSpPr>
          <p:cNvPr id="44041" name="TextBox 9">
            <a:extLst>
              <a:ext uri="{FF2B5EF4-FFF2-40B4-BE49-F238E27FC236}">
                <a16:creationId xmlns:a16="http://schemas.microsoft.com/office/drawing/2014/main" id="{8EAE0E9F-CC35-4A9E-85B6-E0C22E804F6D}"/>
              </a:ext>
            </a:extLst>
          </p:cNvPr>
          <p:cNvSpPr txBox="1">
            <a:spLocks noChangeArrowheads="1"/>
          </p:cNvSpPr>
          <p:nvPr/>
        </p:nvSpPr>
        <p:spPr bwMode="auto">
          <a:xfrm>
            <a:off x="499785" y="4437112"/>
            <a:ext cx="1046440" cy="2084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二维微分器响应</a:t>
            </a:r>
          </a:p>
        </p:txBody>
      </p:sp>
      <p:sp>
        <p:nvSpPr>
          <p:cNvPr id="44042" name="TextBox 10">
            <a:extLst>
              <a:ext uri="{FF2B5EF4-FFF2-40B4-BE49-F238E27FC236}">
                <a16:creationId xmlns:a16="http://schemas.microsoft.com/office/drawing/2014/main" id="{AF44E7C8-A9F5-453B-92A1-3F5AF922FEB7}"/>
              </a:ext>
            </a:extLst>
          </p:cNvPr>
          <p:cNvSpPr txBox="1">
            <a:spLocks noChangeArrowheads="1"/>
          </p:cNvSpPr>
          <p:nvPr/>
        </p:nvSpPr>
        <p:spPr bwMode="auto">
          <a:xfrm>
            <a:off x="1724025" y="1168400"/>
            <a:ext cx="5210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i="0" u="none" strike="noStrike" kern="1200" cap="none" spc="0" normalizeH="0" baseline="0" noProof="0" dirty="0">
                <a:ln>
                  <a:noFill/>
                </a:ln>
                <a:effectLst/>
                <a:uLnTx/>
                <a:uFillTx/>
                <a:latin typeface="华文楷体" panose="02010600040101010101" pitchFamily="2" charset="-122"/>
                <a:ea typeface="华文楷体" panose="02010600040101010101" pitchFamily="2" charset="-122"/>
                <a:cs typeface="+mn-cs"/>
              </a:rPr>
              <a:t>利用微分器进行图像边缘增强：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内容占位符 2">
            <a:extLst>
              <a:ext uri="{FF2B5EF4-FFF2-40B4-BE49-F238E27FC236}">
                <a16:creationId xmlns:a16="http://schemas.microsoft.com/office/drawing/2014/main" id="{ECE0B34F-6BBB-4F4F-A9A5-FAAE1F250D3D}"/>
              </a:ext>
            </a:extLst>
          </p:cNvPr>
          <p:cNvSpPr>
            <a:spLocks noGrp="1"/>
          </p:cNvSpPr>
          <p:nvPr>
            <p:ph idx="1"/>
          </p:nvPr>
        </p:nvSpPr>
        <p:spPr>
          <a:xfrm>
            <a:off x="457200" y="1214438"/>
            <a:ext cx="8229600" cy="4840287"/>
          </a:xfrm>
        </p:spPr>
        <p:txBody>
          <a:bodyPr/>
          <a:lstStyle/>
          <a:p>
            <a:r>
              <a:rPr lang="zh-CN" altLang="en-US" sz="2800" b="0" dirty="0"/>
              <a:t>频率选择性滤波器：</a:t>
            </a:r>
            <a:endParaRPr lang="en-US" altLang="zh-CN" sz="2800" b="0" dirty="0"/>
          </a:p>
          <a:p>
            <a:pPr lvl="1"/>
            <a:r>
              <a:rPr lang="zh-CN" altLang="en-US" dirty="0">
                <a:solidFill>
                  <a:srgbClr val="FF0000"/>
                </a:solidFill>
              </a:rPr>
              <a:t>低通滤波器</a:t>
            </a:r>
            <a:r>
              <a:rPr lang="zh-CN" altLang="en-US" b="0" dirty="0"/>
              <a:t>：通过低频分量，衰减或阻止高频分量。</a:t>
            </a:r>
          </a:p>
        </p:txBody>
      </p:sp>
      <p:sp>
        <p:nvSpPr>
          <p:cNvPr id="45059" name="标题 1">
            <a:extLst>
              <a:ext uri="{FF2B5EF4-FFF2-40B4-BE49-F238E27FC236}">
                <a16:creationId xmlns:a16="http://schemas.microsoft.com/office/drawing/2014/main" id="{A4D5D4A9-AD4A-4712-A1E8-0FBC49BD965F}"/>
              </a:ext>
            </a:extLst>
          </p:cNvPr>
          <p:cNvSpPr>
            <a:spLocks noGrp="1"/>
          </p:cNvSpPr>
          <p:nvPr>
            <p:ph type="title"/>
          </p:nvPr>
        </p:nvSpPr>
        <p:spPr/>
        <p:txBody>
          <a:bodyPr/>
          <a:lstStyle/>
          <a:p>
            <a:r>
              <a:rPr lang="en-US" altLang="zh-CN" dirty="0"/>
              <a:t>3.9 </a:t>
            </a:r>
            <a:r>
              <a:rPr lang="zh-CN" altLang="en-US" dirty="0"/>
              <a:t>滤波</a:t>
            </a:r>
          </a:p>
        </p:txBody>
      </p:sp>
      <p:sp>
        <p:nvSpPr>
          <p:cNvPr id="4" name="灯片编号占位符 3">
            <a:extLst>
              <a:ext uri="{FF2B5EF4-FFF2-40B4-BE49-F238E27FC236}">
                <a16:creationId xmlns:a16="http://schemas.microsoft.com/office/drawing/2014/main" id="{D25F3209-2286-4C54-840F-D0874D453D3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993FA12-F7F3-4474-B2DA-7A01824F7476}"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2" name="组合 9">
            <a:extLst>
              <a:ext uri="{FF2B5EF4-FFF2-40B4-BE49-F238E27FC236}">
                <a16:creationId xmlns:a16="http://schemas.microsoft.com/office/drawing/2014/main" id="{2A5DD379-8308-42BB-8D16-65FA6A0AD387}"/>
              </a:ext>
            </a:extLst>
          </p:cNvPr>
          <p:cNvGrpSpPr>
            <a:grpSpLocks/>
          </p:cNvGrpSpPr>
          <p:nvPr/>
        </p:nvGrpSpPr>
        <p:grpSpPr bwMode="auto">
          <a:xfrm>
            <a:off x="2400300" y="2174875"/>
            <a:ext cx="5029200" cy="2306638"/>
            <a:chOff x="2400320" y="2175365"/>
            <a:chExt cx="5029200" cy="2306139"/>
          </a:xfrm>
        </p:grpSpPr>
        <p:pic>
          <p:nvPicPr>
            <p:cNvPr id="47106" name="Picture 2">
              <a:extLst>
                <a:ext uri="{FF2B5EF4-FFF2-40B4-BE49-F238E27FC236}">
                  <a16:creationId xmlns:a16="http://schemas.microsoft.com/office/drawing/2014/main" id="{147EF062-4159-4F2E-A224-0DB6BDE79294}"/>
                </a:ext>
              </a:extLst>
            </p:cNvPr>
            <p:cNvPicPr>
              <a:picLocks noChangeAspect="1" noChangeArrowheads="1"/>
            </p:cNvPicPr>
            <p:nvPr/>
          </p:nvPicPr>
          <p:blipFill>
            <a:blip r:embed="rId2"/>
            <a:srcRect/>
            <a:stretch>
              <a:fillRect/>
            </a:stretch>
          </p:blipFill>
          <p:spPr bwMode="auto">
            <a:xfrm>
              <a:off x="2400320" y="2215044"/>
              <a:ext cx="5029200" cy="2266460"/>
            </a:xfrm>
            <a:prstGeom prst="rect">
              <a:avLst/>
            </a:prstGeom>
            <a:noFill/>
            <a:ln w="9525">
              <a:noFill/>
              <a:miter lim="800000"/>
              <a:headEnd/>
              <a:tailEnd/>
            </a:ln>
            <a:effectLst>
              <a:prstShdw prst="shdw17" dist="17961" dir="2700000">
                <a:schemeClr val="accent1">
                  <a:gamma/>
                  <a:shade val="60000"/>
                  <a:invGamma/>
                </a:schemeClr>
              </a:prstShdw>
            </a:effectLst>
          </p:spPr>
        </p:pic>
        <p:sp>
          <p:nvSpPr>
            <p:cNvPr id="45068" name="TextBox 7">
              <a:extLst>
                <a:ext uri="{FF2B5EF4-FFF2-40B4-BE49-F238E27FC236}">
                  <a16:creationId xmlns:a16="http://schemas.microsoft.com/office/drawing/2014/main" id="{948E1F41-91D2-45A3-81C0-0B70C469097E}"/>
                </a:ext>
              </a:extLst>
            </p:cNvPr>
            <p:cNvSpPr txBox="1">
              <a:spLocks noChangeArrowheads="1"/>
            </p:cNvSpPr>
            <p:nvPr/>
          </p:nvSpPr>
          <p:spPr bwMode="auto">
            <a:xfrm>
              <a:off x="5000628" y="2175365"/>
              <a:ext cx="20072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continuous time)</a:t>
              </a:r>
              <a:endParaRPr kumimoji="0" lang="zh-CN" altLang="en-US" sz="18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3" name="组合 10">
            <a:extLst>
              <a:ext uri="{FF2B5EF4-FFF2-40B4-BE49-F238E27FC236}">
                <a16:creationId xmlns:a16="http://schemas.microsoft.com/office/drawing/2014/main" id="{0D65A4D2-CC62-4C18-9127-022786AF63C0}"/>
              </a:ext>
            </a:extLst>
          </p:cNvPr>
          <p:cNvGrpSpPr>
            <a:grpSpLocks/>
          </p:cNvGrpSpPr>
          <p:nvPr/>
        </p:nvGrpSpPr>
        <p:grpSpPr bwMode="auto">
          <a:xfrm>
            <a:off x="1943100" y="4546600"/>
            <a:ext cx="6343650" cy="2239963"/>
            <a:chOff x="1943126" y="4545882"/>
            <a:chExt cx="6343650" cy="2240704"/>
          </a:xfrm>
        </p:grpSpPr>
        <p:pic>
          <p:nvPicPr>
            <p:cNvPr id="47107" name="Picture 3">
              <a:extLst>
                <a:ext uri="{FF2B5EF4-FFF2-40B4-BE49-F238E27FC236}">
                  <a16:creationId xmlns:a16="http://schemas.microsoft.com/office/drawing/2014/main" id="{59C50512-5753-41BE-B07F-0FD4A297236C}"/>
                </a:ext>
              </a:extLst>
            </p:cNvPr>
            <p:cNvPicPr>
              <a:picLocks noChangeAspect="1" noChangeArrowheads="1"/>
            </p:cNvPicPr>
            <p:nvPr/>
          </p:nvPicPr>
          <p:blipFill>
            <a:blip r:embed="rId3"/>
            <a:srcRect/>
            <a:stretch>
              <a:fillRect/>
            </a:stretch>
          </p:blipFill>
          <p:spPr bwMode="auto">
            <a:xfrm>
              <a:off x="1943126" y="4566527"/>
              <a:ext cx="6343650" cy="2220059"/>
            </a:xfrm>
            <a:prstGeom prst="rect">
              <a:avLst/>
            </a:prstGeom>
            <a:noFill/>
            <a:ln w="9525">
              <a:noFill/>
              <a:miter lim="800000"/>
              <a:headEnd/>
              <a:tailEnd/>
            </a:ln>
            <a:effectLst>
              <a:prstShdw prst="shdw17" dist="17961" dir="2700000">
                <a:schemeClr val="accent1">
                  <a:gamma/>
                  <a:shade val="60000"/>
                  <a:invGamma/>
                </a:schemeClr>
              </a:prstShdw>
            </a:effectLst>
          </p:spPr>
        </p:pic>
        <p:sp>
          <p:nvSpPr>
            <p:cNvPr id="45066" name="TextBox 8">
              <a:extLst>
                <a:ext uri="{FF2B5EF4-FFF2-40B4-BE49-F238E27FC236}">
                  <a16:creationId xmlns:a16="http://schemas.microsoft.com/office/drawing/2014/main" id="{E4E8EA13-FAFB-45FB-AF8F-7002A73F6B45}"/>
                </a:ext>
              </a:extLst>
            </p:cNvPr>
            <p:cNvSpPr txBox="1">
              <a:spLocks noChangeArrowheads="1"/>
            </p:cNvSpPr>
            <p:nvPr/>
          </p:nvSpPr>
          <p:spPr bwMode="auto">
            <a:xfrm>
              <a:off x="5344755" y="4545882"/>
              <a:ext cx="17123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discrete time)</a:t>
              </a:r>
              <a:endParaRPr kumimoji="0" lang="zh-CN" altLang="en-US" sz="18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7" name="TextBox 6">
            <a:extLst>
              <a:ext uri="{FF2B5EF4-FFF2-40B4-BE49-F238E27FC236}">
                <a16:creationId xmlns:a16="http://schemas.microsoft.com/office/drawing/2014/main" id="{F6128521-8559-4726-80C2-0B6681EE92D3}"/>
              </a:ext>
            </a:extLst>
          </p:cNvPr>
          <p:cNvSpPr txBox="1">
            <a:spLocks noChangeArrowheads="1"/>
          </p:cNvSpPr>
          <p:nvPr/>
        </p:nvSpPr>
        <p:spPr bwMode="auto">
          <a:xfrm>
            <a:off x="142875" y="4500563"/>
            <a:ext cx="5108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离散时间系统频响特性表现周期性：</a:t>
            </a:r>
          </a:p>
        </p:txBody>
      </p:sp>
      <p:sp>
        <p:nvSpPr>
          <p:cNvPr id="45064" name="TextBox 10">
            <a:extLst>
              <a:ext uri="{FF2B5EF4-FFF2-40B4-BE49-F238E27FC236}">
                <a16:creationId xmlns:a16="http://schemas.microsoft.com/office/drawing/2014/main" id="{8AA02189-C317-45EA-B604-903B62284B38}"/>
              </a:ext>
            </a:extLst>
          </p:cNvPr>
          <p:cNvSpPr txBox="1">
            <a:spLocks noChangeArrowheads="1"/>
          </p:cNvSpPr>
          <p:nvPr/>
        </p:nvSpPr>
        <p:spPr bwMode="auto">
          <a:xfrm>
            <a:off x="928688" y="2800350"/>
            <a:ext cx="13573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LPF: Lowpass filter</a:t>
            </a:r>
            <a:endParaRPr kumimoji="0" lang="zh-CN" altLang="en-US" sz="2400" i="0" u="none" strike="noStrike" kern="1200" cap="none" spc="0" normalizeH="0" baseline="0" noProof="0" dirty="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3" name="TextBox 10">
            <a:extLst>
              <a:ext uri="{FF2B5EF4-FFF2-40B4-BE49-F238E27FC236}">
                <a16:creationId xmlns:a16="http://schemas.microsoft.com/office/drawing/2014/main" id="{9BB769C2-EBFE-423F-BDCD-D66BF943D236}"/>
              </a:ext>
            </a:extLst>
          </p:cNvPr>
          <p:cNvSpPr txBox="1">
            <a:spLocks noChangeArrowheads="1"/>
          </p:cNvSpPr>
          <p:nvPr/>
        </p:nvSpPr>
        <p:spPr bwMode="auto">
          <a:xfrm>
            <a:off x="4501844" y="3808941"/>
            <a:ext cx="8261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Times New Roman" panose="02020603050405020304" pitchFamily="18" charset="0"/>
              </a:rPr>
              <a:t>通带</a:t>
            </a:r>
          </a:p>
        </p:txBody>
      </p:sp>
      <p:sp>
        <p:nvSpPr>
          <p:cNvPr id="14" name="TextBox 10">
            <a:extLst>
              <a:ext uri="{FF2B5EF4-FFF2-40B4-BE49-F238E27FC236}">
                <a16:creationId xmlns:a16="http://schemas.microsoft.com/office/drawing/2014/main" id="{8AC92325-2E47-4F4F-954D-F705E9EA6408}"/>
              </a:ext>
            </a:extLst>
          </p:cNvPr>
          <p:cNvSpPr txBox="1">
            <a:spLocks noChangeArrowheads="1"/>
          </p:cNvSpPr>
          <p:nvPr/>
        </p:nvSpPr>
        <p:spPr bwMode="auto">
          <a:xfrm>
            <a:off x="2400300" y="3808941"/>
            <a:ext cx="8261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i="0" u="none" strike="noStrike" kern="1200" cap="none" spc="0" normalizeH="0" baseline="0" noProof="0" dirty="0">
                <a:ln>
                  <a:noFill/>
                </a:ln>
                <a:effectLst/>
                <a:uLnTx/>
                <a:uFillTx/>
                <a:latin typeface="Times New Roman" panose="02020603050405020304" pitchFamily="18" charset="0"/>
                <a:ea typeface="华文楷体" panose="02010600040101010101" pitchFamily="2" charset="-122"/>
                <a:cs typeface="Times New Roman" panose="02020603050405020304" pitchFamily="18" charset="0"/>
              </a:rPr>
              <a:t>阻带</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10870842-3912-464D-A336-9A16DFDC0211}"/>
              </a:ext>
            </a:extLst>
          </p:cNvPr>
          <p:cNvSpPr>
            <a:spLocks noGrp="1"/>
          </p:cNvSpPr>
          <p:nvPr>
            <p:ph type="title"/>
          </p:nvPr>
        </p:nvSpPr>
        <p:spPr/>
        <p:txBody>
          <a:bodyPr/>
          <a:lstStyle/>
          <a:p>
            <a:r>
              <a:rPr lang="en-US" altLang="zh-CN" dirty="0"/>
              <a:t>3.9 </a:t>
            </a:r>
            <a:r>
              <a:rPr lang="zh-CN" altLang="en-US" dirty="0"/>
              <a:t>滤波</a:t>
            </a:r>
          </a:p>
        </p:txBody>
      </p:sp>
      <p:sp>
        <p:nvSpPr>
          <p:cNvPr id="46083" name="内容占位符 2">
            <a:extLst>
              <a:ext uri="{FF2B5EF4-FFF2-40B4-BE49-F238E27FC236}">
                <a16:creationId xmlns:a16="http://schemas.microsoft.com/office/drawing/2014/main" id="{5D4D5364-2602-4BC7-8608-27EA5E90E9AF}"/>
              </a:ext>
            </a:extLst>
          </p:cNvPr>
          <p:cNvSpPr>
            <a:spLocks noGrp="1"/>
          </p:cNvSpPr>
          <p:nvPr>
            <p:ph idx="1"/>
          </p:nvPr>
        </p:nvSpPr>
        <p:spPr/>
        <p:txBody>
          <a:bodyPr/>
          <a:lstStyle/>
          <a:p>
            <a:pPr lvl="1"/>
            <a:r>
              <a:rPr lang="zh-CN" altLang="en-US" dirty="0">
                <a:solidFill>
                  <a:srgbClr val="FF0000"/>
                </a:solidFill>
              </a:rPr>
              <a:t>高通滤波器</a:t>
            </a:r>
            <a:r>
              <a:rPr lang="zh-CN" altLang="en-US" b="0" dirty="0"/>
              <a:t>：通过高频而衰减或阻止低频。</a:t>
            </a:r>
          </a:p>
        </p:txBody>
      </p:sp>
      <p:sp>
        <p:nvSpPr>
          <p:cNvPr id="4" name="灯片编号占位符 3">
            <a:extLst>
              <a:ext uri="{FF2B5EF4-FFF2-40B4-BE49-F238E27FC236}">
                <a16:creationId xmlns:a16="http://schemas.microsoft.com/office/drawing/2014/main" id="{2F2BE700-20DA-4373-90CE-35B856896B4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0979A44-5ED7-45A1-A61E-9C8C45890E2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48130" name="Picture 2">
            <a:extLst>
              <a:ext uri="{FF2B5EF4-FFF2-40B4-BE49-F238E27FC236}">
                <a16:creationId xmlns:a16="http://schemas.microsoft.com/office/drawing/2014/main" id="{739725E2-F2A2-4B33-8D56-3D9B61CCDCBD}"/>
              </a:ext>
            </a:extLst>
          </p:cNvPr>
          <p:cNvPicPr>
            <a:picLocks noChangeAspect="1" noChangeArrowheads="1"/>
          </p:cNvPicPr>
          <p:nvPr/>
        </p:nvPicPr>
        <p:blipFill>
          <a:blip r:embed="rId2"/>
          <a:srcRect/>
          <a:stretch>
            <a:fillRect/>
          </a:stretch>
        </p:blipFill>
        <p:spPr bwMode="auto">
          <a:xfrm>
            <a:off x="1928813" y="1928813"/>
            <a:ext cx="5286375" cy="2085975"/>
          </a:xfrm>
          <a:prstGeom prst="rect">
            <a:avLst/>
          </a:prstGeom>
          <a:noFill/>
          <a:ln w="9525">
            <a:noFill/>
            <a:miter lim="800000"/>
            <a:headEnd/>
            <a:tailEnd/>
          </a:ln>
          <a:effectLst>
            <a:prstShdw prst="shdw17" dist="17961" dir="2700000">
              <a:schemeClr val="accent1">
                <a:gamma/>
                <a:shade val="60000"/>
                <a:invGamma/>
              </a:schemeClr>
            </a:prstShdw>
          </a:effectLst>
        </p:spPr>
      </p:pic>
      <p:pic>
        <p:nvPicPr>
          <p:cNvPr id="48131" name="Picture 3">
            <a:extLst>
              <a:ext uri="{FF2B5EF4-FFF2-40B4-BE49-F238E27FC236}">
                <a16:creationId xmlns:a16="http://schemas.microsoft.com/office/drawing/2014/main" id="{556EF8ED-E9D3-4F19-8289-4475DF8EC6D2}"/>
              </a:ext>
            </a:extLst>
          </p:cNvPr>
          <p:cNvPicPr>
            <a:picLocks noChangeAspect="1" noChangeArrowheads="1"/>
          </p:cNvPicPr>
          <p:nvPr/>
        </p:nvPicPr>
        <p:blipFill>
          <a:blip r:embed="rId3"/>
          <a:srcRect/>
          <a:stretch>
            <a:fillRect/>
          </a:stretch>
        </p:blipFill>
        <p:spPr bwMode="auto">
          <a:xfrm>
            <a:off x="1304925" y="4214813"/>
            <a:ext cx="6534150" cy="2371725"/>
          </a:xfrm>
          <a:prstGeom prst="rect">
            <a:avLst/>
          </a:prstGeom>
          <a:noFill/>
          <a:ln w="9525">
            <a:noFill/>
            <a:miter lim="800000"/>
            <a:headEnd/>
            <a:tailEnd/>
          </a:ln>
          <a:effectLst>
            <a:prstShdw prst="shdw17" dist="17961" dir="2700000">
              <a:schemeClr val="accent1">
                <a:gamma/>
                <a:shade val="60000"/>
                <a:invGamma/>
              </a:schemeClr>
            </a:prstShdw>
          </a:effectLst>
        </p:spPr>
      </p:pic>
      <p:sp>
        <p:nvSpPr>
          <p:cNvPr id="46087" name="TextBox 10">
            <a:extLst>
              <a:ext uri="{FF2B5EF4-FFF2-40B4-BE49-F238E27FC236}">
                <a16:creationId xmlns:a16="http://schemas.microsoft.com/office/drawing/2014/main" id="{235AD5E1-6884-4AE9-A20A-60A79CA5F544}"/>
              </a:ext>
            </a:extLst>
          </p:cNvPr>
          <p:cNvSpPr txBox="1">
            <a:spLocks noChangeArrowheads="1"/>
          </p:cNvSpPr>
          <p:nvPr/>
        </p:nvSpPr>
        <p:spPr bwMode="auto">
          <a:xfrm>
            <a:off x="381000" y="2417763"/>
            <a:ext cx="15001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HPF: Highpass filter</a:t>
            </a:r>
            <a:endParaRPr kumimoji="0" lang="zh-CN" altLang="en-US" sz="2400" i="0" u="none" strike="noStrike" kern="1200" cap="none" spc="0" normalizeH="0" baseline="0" noProof="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blinds(horizontal)">
                                      <p:cBhvr>
                                        <p:cTn id="7" dur="500"/>
                                        <p:tgtEl>
                                          <p:spTgt spid="48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8131"/>
                                        </p:tgtEl>
                                        <p:attrNameLst>
                                          <p:attrName>style.visibility</p:attrName>
                                        </p:attrNameLst>
                                      </p:cBhvr>
                                      <p:to>
                                        <p:strVal val="visible"/>
                                      </p:to>
                                    </p:set>
                                    <p:animEffect transition="in" filter="blinds(horizontal)">
                                      <p:cBhvr>
                                        <p:cTn id="12" dur="500"/>
                                        <p:tgtEl>
                                          <p:spTgt spid="48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6A21DC6C-97EC-4A7C-B241-991096636095}"/>
              </a:ext>
            </a:extLst>
          </p:cNvPr>
          <p:cNvSpPr>
            <a:spLocks noGrp="1"/>
          </p:cNvSpPr>
          <p:nvPr>
            <p:ph type="title"/>
          </p:nvPr>
        </p:nvSpPr>
        <p:spPr/>
        <p:txBody>
          <a:bodyPr/>
          <a:lstStyle/>
          <a:p>
            <a:r>
              <a:rPr lang="en-US" altLang="zh-CN" dirty="0"/>
              <a:t>3.9 </a:t>
            </a:r>
            <a:r>
              <a:rPr lang="zh-CN" altLang="en-US" dirty="0"/>
              <a:t>滤波</a:t>
            </a:r>
          </a:p>
        </p:txBody>
      </p:sp>
      <p:sp>
        <p:nvSpPr>
          <p:cNvPr id="47107" name="内容占位符 2">
            <a:extLst>
              <a:ext uri="{FF2B5EF4-FFF2-40B4-BE49-F238E27FC236}">
                <a16:creationId xmlns:a16="http://schemas.microsoft.com/office/drawing/2014/main" id="{A4CF1248-E390-48FE-8FA6-DAC2EEF152F9}"/>
              </a:ext>
            </a:extLst>
          </p:cNvPr>
          <p:cNvSpPr>
            <a:spLocks noGrp="1"/>
          </p:cNvSpPr>
          <p:nvPr>
            <p:ph idx="1"/>
          </p:nvPr>
        </p:nvSpPr>
        <p:spPr/>
        <p:txBody>
          <a:bodyPr/>
          <a:lstStyle/>
          <a:p>
            <a:pPr lvl="1"/>
            <a:r>
              <a:rPr lang="zh-CN" altLang="en-US" dirty="0">
                <a:solidFill>
                  <a:srgbClr val="FF0000"/>
                </a:solidFill>
              </a:rPr>
              <a:t>带通滤波器</a:t>
            </a:r>
            <a:r>
              <a:rPr lang="zh-CN" altLang="en-US" b="0" dirty="0"/>
              <a:t>：通过一频带范围，衰减或阻止这一频带之外的频率分量。</a:t>
            </a:r>
          </a:p>
          <a:p>
            <a:endParaRPr lang="zh-CN" altLang="en-US" b="0" dirty="0"/>
          </a:p>
        </p:txBody>
      </p:sp>
      <p:sp>
        <p:nvSpPr>
          <p:cNvPr id="4" name="灯片编号占位符 3">
            <a:extLst>
              <a:ext uri="{FF2B5EF4-FFF2-40B4-BE49-F238E27FC236}">
                <a16:creationId xmlns:a16="http://schemas.microsoft.com/office/drawing/2014/main" id="{BFAEECFE-1E77-4307-A3D6-9B049E13B2E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33B4BAD-EB9D-42CB-A00E-5AB0D63F81D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49154" name="Picture 2">
            <a:extLst>
              <a:ext uri="{FF2B5EF4-FFF2-40B4-BE49-F238E27FC236}">
                <a16:creationId xmlns:a16="http://schemas.microsoft.com/office/drawing/2014/main" id="{0150F9D4-5CB8-4A9D-971D-F755C8FB8893}"/>
              </a:ext>
            </a:extLst>
          </p:cNvPr>
          <p:cNvPicPr>
            <a:picLocks noChangeAspect="1" noChangeArrowheads="1"/>
          </p:cNvPicPr>
          <p:nvPr/>
        </p:nvPicPr>
        <p:blipFill>
          <a:blip r:embed="rId3"/>
          <a:srcRect/>
          <a:stretch>
            <a:fillRect/>
          </a:stretch>
        </p:blipFill>
        <p:spPr bwMode="auto">
          <a:xfrm>
            <a:off x="766763" y="2428875"/>
            <a:ext cx="4591050" cy="1657350"/>
          </a:xfrm>
          <a:prstGeom prst="rect">
            <a:avLst/>
          </a:prstGeom>
          <a:noFill/>
          <a:ln w="9525">
            <a:noFill/>
            <a:miter lim="800000"/>
            <a:headEnd/>
            <a:tailEnd/>
          </a:ln>
          <a:effectLst>
            <a:prstShdw prst="shdw17" dist="17961" dir="2700000">
              <a:schemeClr val="accent1">
                <a:gamma/>
                <a:shade val="60000"/>
                <a:invGamma/>
              </a:schemeClr>
            </a:prstShdw>
          </a:effectLst>
        </p:spPr>
      </p:pic>
      <p:pic>
        <p:nvPicPr>
          <p:cNvPr id="49155" name="Picture 3">
            <a:extLst>
              <a:ext uri="{FF2B5EF4-FFF2-40B4-BE49-F238E27FC236}">
                <a16:creationId xmlns:a16="http://schemas.microsoft.com/office/drawing/2014/main" id="{FA2B9F02-372E-4A79-B01B-BF705D42FA87}"/>
              </a:ext>
            </a:extLst>
          </p:cNvPr>
          <p:cNvPicPr>
            <a:picLocks noChangeAspect="1" noChangeArrowheads="1"/>
          </p:cNvPicPr>
          <p:nvPr/>
        </p:nvPicPr>
        <p:blipFill>
          <a:blip r:embed="rId4"/>
          <a:srcRect/>
          <a:stretch>
            <a:fillRect/>
          </a:stretch>
        </p:blipFill>
        <p:spPr bwMode="auto">
          <a:xfrm>
            <a:off x="500063" y="4643438"/>
            <a:ext cx="5314950" cy="1714500"/>
          </a:xfrm>
          <a:prstGeom prst="rect">
            <a:avLst/>
          </a:prstGeom>
          <a:noFill/>
          <a:ln w="9525">
            <a:noFill/>
            <a:miter lim="800000"/>
            <a:headEnd/>
            <a:tailEnd/>
          </a:ln>
          <a:effectLst>
            <a:prstShdw prst="shdw17" dist="17961" dir="2700000">
              <a:schemeClr val="accent1">
                <a:gamma/>
                <a:shade val="60000"/>
                <a:invGamma/>
              </a:schemeClr>
            </a:prstShdw>
          </a:effectLst>
        </p:spPr>
      </p:pic>
      <p:grpSp>
        <p:nvGrpSpPr>
          <p:cNvPr id="2" name="组合 25">
            <a:extLst>
              <a:ext uri="{FF2B5EF4-FFF2-40B4-BE49-F238E27FC236}">
                <a16:creationId xmlns:a16="http://schemas.microsoft.com/office/drawing/2014/main" id="{8CFF83DB-49EA-46AD-99B4-9F85B585C705}"/>
              </a:ext>
            </a:extLst>
          </p:cNvPr>
          <p:cNvGrpSpPr>
            <a:grpSpLocks/>
          </p:cNvGrpSpPr>
          <p:nvPr/>
        </p:nvGrpSpPr>
        <p:grpSpPr bwMode="auto">
          <a:xfrm>
            <a:off x="5662613" y="3357563"/>
            <a:ext cx="3124200" cy="1359888"/>
            <a:chOff x="5448328" y="2682879"/>
            <a:chExt cx="3124200" cy="1359940"/>
          </a:xfrm>
        </p:grpSpPr>
        <p:sp>
          <p:nvSpPr>
            <p:cNvPr id="47116" name="Line 4">
              <a:extLst>
                <a:ext uri="{FF2B5EF4-FFF2-40B4-BE49-F238E27FC236}">
                  <a16:creationId xmlns:a16="http://schemas.microsoft.com/office/drawing/2014/main" id="{D9DAE768-4254-4A88-9AF2-916F53802F6C}"/>
                </a:ext>
              </a:extLst>
            </p:cNvPr>
            <p:cNvSpPr>
              <a:spLocks noChangeShapeType="1"/>
            </p:cNvSpPr>
            <p:nvPr/>
          </p:nvSpPr>
          <p:spPr bwMode="auto">
            <a:xfrm>
              <a:off x="5448328" y="2987679"/>
              <a:ext cx="533400" cy="1588"/>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17" name="Rectangle 5">
              <a:extLst>
                <a:ext uri="{FF2B5EF4-FFF2-40B4-BE49-F238E27FC236}">
                  <a16:creationId xmlns:a16="http://schemas.microsoft.com/office/drawing/2014/main" id="{BFF3BE5A-8E85-46AB-B2C2-AF8C1469B137}"/>
                </a:ext>
              </a:extLst>
            </p:cNvPr>
            <p:cNvSpPr>
              <a:spLocks noChangeArrowheads="1"/>
            </p:cNvSpPr>
            <p:nvPr/>
          </p:nvSpPr>
          <p:spPr bwMode="auto">
            <a:xfrm>
              <a:off x="5981728" y="2835279"/>
              <a:ext cx="6858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18" name="Line 6">
              <a:extLst>
                <a:ext uri="{FF2B5EF4-FFF2-40B4-BE49-F238E27FC236}">
                  <a16:creationId xmlns:a16="http://schemas.microsoft.com/office/drawing/2014/main" id="{A39B9638-B4DE-45BF-91AA-FC1434E1A08A}"/>
                </a:ext>
              </a:extLst>
            </p:cNvPr>
            <p:cNvSpPr>
              <a:spLocks noChangeShapeType="1"/>
            </p:cNvSpPr>
            <p:nvPr/>
          </p:nvSpPr>
          <p:spPr bwMode="auto">
            <a:xfrm>
              <a:off x="6667528" y="2987679"/>
              <a:ext cx="685800" cy="1588"/>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19" name="Rectangle 7">
              <a:extLst>
                <a:ext uri="{FF2B5EF4-FFF2-40B4-BE49-F238E27FC236}">
                  <a16:creationId xmlns:a16="http://schemas.microsoft.com/office/drawing/2014/main" id="{DDDBA66D-50C8-4CC9-B96C-6BE122255222}"/>
                </a:ext>
              </a:extLst>
            </p:cNvPr>
            <p:cNvSpPr>
              <a:spLocks noChangeArrowheads="1"/>
            </p:cNvSpPr>
            <p:nvPr/>
          </p:nvSpPr>
          <p:spPr bwMode="auto">
            <a:xfrm>
              <a:off x="7353328" y="2835279"/>
              <a:ext cx="6858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20" name="Line 8">
              <a:extLst>
                <a:ext uri="{FF2B5EF4-FFF2-40B4-BE49-F238E27FC236}">
                  <a16:creationId xmlns:a16="http://schemas.microsoft.com/office/drawing/2014/main" id="{E0982182-2D24-4BF1-9E95-69E5FFC2A00A}"/>
                </a:ext>
              </a:extLst>
            </p:cNvPr>
            <p:cNvSpPr>
              <a:spLocks noChangeShapeType="1"/>
            </p:cNvSpPr>
            <p:nvPr/>
          </p:nvSpPr>
          <p:spPr bwMode="auto">
            <a:xfrm>
              <a:off x="8039128" y="2987679"/>
              <a:ext cx="533400" cy="1588"/>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21" name="Rectangle 9">
              <a:extLst>
                <a:ext uri="{FF2B5EF4-FFF2-40B4-BE49-F238E27FC236}">
                  <a16:creationId xmlns:a16="http://schemas.microsoft.com/office/drawing/2014/main" id="{19A63845-6E61-4C5B-B2D7-35B37C15C653}"/>
                </a:ext>
              </a:extLst>
            </p:cNvPr>
            <p:cNvSpPr>
              <a:spLocks noChangeArrowheads="1"/>
            </p:cNvSpPr>
            <p:nvPr/>
          </p:nvSpPr>
          <p:spPr bwMode="auto">
            <a:xfrm>
              <a:off x="6081876" y="2809153"/>
              <a:ext cx="453956" cy="3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LP</a:t>
              </a:r>
            </a:p>
          </p:txBody>
        </p:sp>
        <p:sp>
          <p:nvSpPr>
            <p:cNvPr id="47122" name="Rectangle 10">
              <a:extLst>
                <a:ext uri="{FF2B5EF4-FFF2-40B4-BE49-F238E27FC236}">
                  <a16:creationId xmlns:a16="http://schemas.microsoft.com/office/drawing/2014/main" id="{60F6D7D3-2968-4866-985C-5C3E73AB50D5}"/>
                </a:ext>
              </a:extLst>
            </p:cNvPr>
            <p:cNvSpPr>
              <a:spLocks noChangeArrowheads="1"/>
            </p:cNvSpPr>
            <p:nvPr/>
          </p:nvSpPr>
          <p:spPr bwMode="auto">
            <a:xfrm>
              <a:off x="7466539" y="2809153"/>
              <a:ext cx="479604" cy="3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8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HP</a:t>
              </a:r>
            </a:p>
          </p:txBody>
        </p:sp>
        <p:sp>
          <p:nvSpPr>
            <p:cNvPr id="47123" name="Line 11">
              <a:extLst>
                <a:ext uri="{FF2B5EF4-FFF2-40B4-BE49-F238E27FC236}">
                  <a16:creationId xmlns:a16="http://schemas.microsoft.com/office/drawing/2014/main" id="{1EB3D4F0-4A71-45F0-8E6D-F4FD10C421EE}"/>
                </a:ext>
              </a:extLst>
            </p:cNvPr>
            <p:cNvSpPr>
              <a:spLocks noChangeShapeType="1"/>
            </p:cNvSpPr>
            <p:nvPr/>
          </p:nvSpPr>
          <p:spPr bwMode="auto">
            <a:xfrm>
              <a:off x="5676928" y="3749679"/>
              <a:ext cx="3048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24" name="Line 12">
              <a:extLst>
                <a:ext uri="{FF2B5EF4-FFF2-40B4-BE49-F238E27FC236}">
                  <a16:creationId xmlns:a16="http://schemas.microsoft.com/office/drawing/2014/main" id="{B805AF6D-85CA-4D42-82F6-30E2DF4620F4}"/>
                </a:ext>
              </a:extLst>
            </p:cNvPr>
            <p:cNvSpPr>
              <a:spLocks noChangeShapeType="1"/>
            </p:cNvSpPr>
            <p:nvPr/>
          </p:nvSpPr>
          <p:spPr bwMode="auto">
            <a:xfrm flipV="1">
              <a:off x="5981728" y="3444879"/>
              <a:ext cx="1588"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25" name="Line 13">
              <a:extLst>
                <a:ext uri="{FF2B5EF4-FFF2-40B4-BE49-F238E27FC236}">
                  <a16:creationId xmlns:a16="http://schemas.microsoft.com/office/drawing/2014/main" id="{058DA6BD-26CD-4D3D-ABEB-53B77BA5693B}"/>
                </a:ext>
              </a:extLst>
            </p:cNvPr>
            <p:cNvSpPr>
              <a:spLocks noChangeShapeType="1"/>
            </p:cNvSpPr>
            <p:nvPr/>
          </p:nvSpPr>
          <p:spPr bwMode="auto">
            <a:xfrm>
              <a:off x="5981728" y="3444879"/>
              <a:ext cx="6096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26" name="Line 14">
              <a:extLst>
                <a:ext uri="{FF2B5EF4-FFF2-40B4-BE49-F238E27FC236}">
                  <a16:creationId xmlns:a16="http://schemas.microsoft.com/office/drawing/2014/main" id="{6D1D5646-1C58-4ED7-AA49-D13D97A1D62C}"/>
                </a:ext>
              </a:extLst>
            </p:cNvPr>
            <p:cNvSpPr>
              <a:spLocks noChangeShapeType="1"/>
            </p:cNvSpPr>
            <p:nvPr/>
          </p:nvSpPr>
          <p:spPr bwMode="auto">
            <a:xfrm>
              <a:off x="6591328" y="3444879"/>
              <a:ext cx="1588"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27" name="Line 15">
              <a:extLst>
                <a:ext uri="{FF2B5EF4-FFF2-40B4-BE49-F238E27FC236}">
                  <a16:creationId xmlns:a16="http://schemas.microsoft.com/office/drawing/2014/main" id="{755AE715-F936-45FC-8620-1B31F35FC605}"/>
                </a:ext>
              </a:extLst>
            </p:cNvPr>
            <p:cNvSpPr>
              <a:spLocks noChangeShapeType="1"/>
            </p:cNvSpPr>
            <p:nvPr/>
          </p:nvSpPr>
          <p:spPr bwMode="auto">
            <a:xfrm>
              <a:off x="6591328" y="3749679"/>
              <a:ext cx="3048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28" name="Line 16">
              <a:extLst>
                <a:ext uri="{FF2B5EF4-FFF2-40B4-BE49-F238E27FC236}">
                  <a16:creationId xmlns:a16="http://schemas.microsoft.com/office/drawing/2014/main" id="{BEB36415-99EB-4C2B-BCF6-3359394D240D}"/>
                </a:ext>
              </a:extLst>
            </p:cNvPr>
            <p:cNvSpPr>
              <a:spLocks noChangeShapeType="1"/>
            </p:cNvSpPr>
            <p:nvPr/>
          </p:nvSpPr>
          <p:spPr bwMode="auto">
            <a:xfrm>
              <a:off x="7048528" y="3749679"/>
              <a:ext cx="14478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29" name="Line 17">
              <a:extLst>
                <a:ext uri="{FF2B5EF4-FFF2-40B4-BE49-F238E27FC236}">
                  <a16:creationId xmlns:a16="http://schemas.microsoft.com/office/drawing/2014/main" id="{1D44DA31-5C04-43B6-9CB8-108729D8DA17}"/>
                </a:ext>
              </a:extLst>
            </p:cNvPr>
            <p:cNvSpPr>
              <a:spLocks noChangeShapeType="1"/>
            </p:cNvSpPr>
            <p:nvPr/>
          </p:nvSpPr>
          <p:spPr bwMode="auto">
            <a:xfrm>
              <a:off x="7962928" y="3444879"/>
              <a:ext cx="1588"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30" name="Line 18">
              <a:extLst>
                <a:ext uri="{FF2B5EF4-FFF2-40B4-BE49-F238E27FC236}">
                  <a16:creationId xmlns:a16="http://schemas.microsoft.com/office/drawing/2014/main" id="{7F1BDCBE-8E67-4DD1-8C23-4C34CEE2D7D3}"/>
                </a:ext>
              </a:extLst>
            </p:cNvPr>
            <p:cNvSpPr>
              <a:spLocks noChangeShapeType="1"/>
            </p:cNvSpPr>
            <p:nvPr/>
          </p:nvSpPr>
          <p:spPr bwMode="auto">
            <a:xfrm>
              <a:off x="7124728" y="3444879"/>
              <a:ext cx="3048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31" name="Line 19">
              <a:extLst>
                <a:ext uri="{FF2B5EF4-FFF2-40B4-BE49-F238E27FC236}">
                  <a16:creationId xmlns:a16="http://schemas.microsoft.com/office/drawing/2014/main" id="{C27D6934-B400-4D62-AE10-DF1515AEEB37}"/>
                </a:ext>
              </a:extLst>
            </p:cNvPr>
            <p:cNvSpPr>
              <a:spLocks noChangeShapeType="1"/>
            </p:cNvSpPr>
            <p:nvPr/>
          </p:nvSpPr>
          <p:spPr bwMode="auto">
            <a:xfrm>
              <a:off x="7962928" y="3444879"/>
              <a:ext cx="3048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32" name="Rectangle 20">
              <a:extLst>
                <a:ext uri="{FF2B5EF4-FFF2-40B4-BE49-F238E27FC236}">
                  <a16:creationId xmlns:a16="http://schemas.microsoft.com/office/drawing/2014/main" id="{43C7A0BD-9828-4C98-9517-65CE3B8858ED}"/>
                </a:ext>
              </a:extLst>
            </p:cNvPr>
            <p:cNvSpPr>
              <a:spLocks noChangeArrowheads="1"/>
            </p:cNvSpPr>
            <p:nvPr/>
          </p:nvSpPr>
          <p:spPr bwMode="auto">
            <a:xfrm>
              <a:off x="6362728" y="3673479"/>
              <a:ext cx="1943147" cy="3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spAutoFit/>
            </a:bodyPr>
            <a:lstStyle>
              <a:lvl1pPr eaLnBrk="0" hangingPunct="0">
                <a:tabLst>
                  <a:tab pos="1368425"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1368425"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1368425"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136842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136842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36842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36842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36842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368425"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368425" algn="l"/>
                </a:tabLst>
                <a:defRPr/>
              </a:pPr>
              <a:r>
                <a:rPr kumimoji="0" lang="en-US" altLang="zh-CN" sz="1800"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lang="el-GR" altLang="zh-CN" sz="1800"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ω</a:t>
              </a:r>
              <a:r>
                <a:rPr kumimoji="0" lang="en-US" altLang="zh-CN" sz="1800" i="1" u="none" strike="noStrike" kern="120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cl                             </a:t>
              </a:r>
              <a:r>
                <a:rPr kumimoji="0" lang="el-GR" altLang="zh-CN" sz="1800"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ω</a:t>
              </a:r>
              <a:r>
                <a:rPr kumimoji="0" lang="en-US" altLang="zh-CN" sz="1800" i="1" u="none" strike="noStrike" kern="120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ch</a:t>
              </a:r>
              <a:endParaRPr kumimoji="0" lang="en-US" altLang="zh-CN" sz="20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133" name="Rectangle 21">
              <a:extLst>
                <a:ext uri="{FF2B5EF4-FFF2-40B4-BE49-F238E27FC236}">
                  <a16:creationId xmlns:a16="http://schemas.microsoft.com/office/drawing/2014/main" id="{F352625E-AA15-42B1-BEEC-DCA6E1E5D964}"/>
                </a:ext>
              </a:extLst>
            </p:cNvPr>
            <p:cNvSpPr>
              <a:spLocks noChangeArrowheads="1"/>
            </p:cNvSpPr>
            <p:nvPr/>
          </p:nvSpPr>
          <p:spPr bwMode="auto">
            <a:xfrm>
              <a:off x="5753128" y="2682879"/>
              <a:ext cx="2590800" cy="6096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47134" name="Line 23">
              <a:extLst>
                <a:ext uri="{FF2B5EF4-FFF2-40B4-BE49-F238E27FC236}">
                  <a16:creationId xmlns:a16="http://schemas.microsoft.com/office/drawing/2014/main" id="{00BE079E-B831-4AB9-AAC0-BCAEA52E5BBF}"/>
                </a:ext>
              </a:extLst>
            </p:cNvPr>
            <p:cNvSpPr>
              <a:spLocks noChangeShapeType="1"/>
            </p:cNvSpPr>
            <p:nvPr/>
          </p:nvSpPr>
          <p:spPr bwMode="auto">
            <a:xfrm>
              <a:off x="7429528" y="3444879"/>
              <a:ext cx="1588"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grpSp>
        <p:nvGrpSpPr>
          <p:cNvPr id="3" name="组合 28">
            <a:extLst>
              <a:ext uri="{FF2B5EF4-FFF2-40B4-BE49-F238E27FC236}">
                <a16:creationId xmlns:a16="http://schemas.microsoft.com/office/drawing/2014/main" id="{DDC31C29-FC82-4A82-8D7A-92E1989B2CEF}"/>
              </a:ext>
            </a:extLst>
          </p:cNvPr>
          <p:cNvGrpSpPr>
            <a:grpSpLocks/>
          </p:cNvGrpSpPr>
          <p:nvPr/>
        </p:nvGrpSpPr>
        <p:grpSpPr bwMode="auto">
          <a:xfrm>
            <a:off x="6357938" y="4818063"/>
            <a:ext cx="1939925" cy="396875"/>
            <a:chOff x="6357950" y="4175133"/>
            <a:chExt cx="1939925" cy="396875"/>
          </a:xfrm>
        </p:grpSpPr>
        <p:sp>
          <p:nvSpPr>
            <p:cNvPr id="47114" name="Rectangle 22">
              <a:extLst>
                <a:ext uri="{FF2B5EF4-FFF2-40B4-BE49-F238E27FC236}">
                  <a16:creationId xmlns:a16="http://schemas.microsoft.com/office/drawing/2014/main" id="{4F0CE7A8-94F0-42AA-B71A-27D047613DA0}"/>
                </a:ext>
              </a:extLst>
            </p:cNvPr>
            <p:cNvSpPr>
              <a:spLocks noChangeArrowheads="1"/>
            </p:cNvSpPr>
            <p:nvPr/>
          </p:nvSpPr>
          <p:spPr bwMode="auto">
            <a:xfrm>
              <a:off x="6357950" y="4175133"/>
              <a:ext cx="882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BPF if</a:t>
              </a:r>
              <a:endParaRPr kumimoji="0" lang="en-US" altLang="zh-CN" sz="1600" i="1" u="none" strike="noStrike" kern="120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7115" name="Picture 24" descr="lec7s8_2">
              <a:extLst>
                <a:ext uri="{FF2B5EF4-FFF2-40B4-BE49-F238E27FC236}">
                  <a16:creationId xmlns:a16="http://schemas.microsoft.com/office/drawing/2014/main" id="{445D9E90-5985-4BBD-B845-D1AA79CEB122}"/>
                </a:ext>
              </a:extLst>
            </p:cNvPr>
            <p:cNvPicPr>
              <a:picLocks noChangeAspect="1" noChangeArrowheads="1"/>
            </p:cNvPicPr>
            <p:nvPr>
              <p:custDataLst>
                <p:tags r:id="rId1"/>
              </p:custDataLst>
            </p:nvPr>
          </p:nvPicPr>
          <p:blipFill>
            <a:blip r:embed="rId5">
              <a:lum contrast="6000"/>
              <a:extLst>
                <a:ext uri="{28A0092B-C50C-407E-A947-70E740481C1C}">
                  <a14:useLocalDpi xmlns:a14="http://schemas.microsoft.com/office/drawing/2010/main" val="0"/>
                </a:ext>
              </a:extLst>
            </a:blip>
            <a:srcRect/>
            <a:stretch>
              <a:fillRect/>
            </a:stretch>
          </p:blipFill>
          <p:spPr bwMode="auto">
            <a:xfrm>
              <a:off x="7272350" y="4306034"/>
              <a:ext cx="10255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7113" name="TextBox 10">
            <a:extLst>
              <a:ext uri="{FF2B5EF4-FFF2-40B4-BE49-F238E27FC236}">
                <a16:creationId xmlns:a16="http://schemas.microsoft.com/office/drawing/2014/main" id="{83E77603-F027-48E9-9E50-DF38D06725A2}"/>
              </a:ext>
            </a:extLst>
          </p:cNvPr>
          <p:cNvSpPr txBox="1">
            <a:spLocks noChangeArrowheads="1"/>
          </p:cNvSpPr>
          <p:nvPr/>
        </p:nvSpPr>
        <p:spPr bwMode="auto">
          <a:xfrm>
            <a:off x="6000750" y="2098675"/>
            <a:ext cx="2286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BPF: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Bandpass filter</a:t>
            </a:r>
            <a:endParaRPr kumimoji="0" lang="zh-CN" altLang="en-US" sz="2400" i="0" u="none" strike="noStrike" kern="1200" cap="none" spc="0" normalizeH="0" baseline="0" noProof="0">
              <a:ln>
                <a:noFill/>
              </a:ln>
              <a:solidFill>
                <a:srgbClr val="002060"/>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blinds(horizontal)">
                                      <p:cBhvr>
                                        <p:cTn id="7" dur="500"/>
                                        <p:tgtEl>
                                          <p:spTgt spid="491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9155"/>
                                        </p:tgtEl>
                                        <p:attrNameLst>
                                          <p:attrName>style.visibility</p:attrName>
                                        </p:attrNameLst>
                                      </p:cBhvr>
                                      <p:to>
                                        <p:strVal val="visible"/>
                                      </p:to>
                                    </p:set>
                                    <p:animEffect transition="in" filter="blinds(horizontal)">
                                      <p:cBhvr>
                                        <p:cTn id="12" dur="500"/>
                                        <p:tgtEl>
                                          <p:spTgt spid="491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par>
                                <p:cTn id="18" presetID="3" presetClass="entr" presetSubtype="1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D6CE6702-46C1-40DB-AD1C-B1C8D7FBA1CA}"/>
              </a:ext>
            </a:extLst>
          </p:cNvPr>
          <p:cNvSpPr>
            <a:spLocks noGrp="1"/>
          </p:cNvSpPr>
          <p:nvPr>
            <p:ph type="title"/>
          </p:nvPr>
        </p:nvSpPr>
        <p:spPr/>
        <p:txBody>
          <a:bodyPr/>
          <a:lstStyle/>
          <a:p>
            <a:r>
              <a:rPr lang="en-US" altLang="zh-CN" dirty="0"/>
              <a:t>3.9 </a:t>
            </a:r>
            <a:r>
              <a:rPr lang="zh-CN" altLang="en-US" dirty="0"/>
              <a:t>滤波</a:t>
            </a:r>
          </a:p>
        </p:txBody>
      </p:sp>
      <p:sp>
        <p:nvSpPr>
          <p:cNvPr id="4" name="灯片编号占位符 3">
            <a:extLst>
              <a:ext uri="{FF2B5EF4-FFF2-40B4-BE49-F238E27FC236}">
                <a16:creationId xmlns:a16="http://schemas.microsoft.com/office/drawing/2014/main" id="{D77BDF54-9E2D-416B-9A05-A6CA717C9EB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5EEEFF1-959E-414C-B5A3-F036AA3957AD}"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51204" name="Picture 4">
            <a:extLst>
              <a:ext uri="{FF2B5EF4-FFF2-40B4-BE49-F238E27FC236}">
                <a16:creationId xmlns:a16="http://schemas.microsoft.com/office/drawing/2014/main" id="{71B08B81-47A4-46B1-BEF2-B4FD0DCDB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400" y="1309688"/>
            <a:ext cx="7102475"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57A7EF4D-256D-4C32-B5C7-FF5FB5F465A8}"/>
              </a:ext>
            </a:extLst>
          </p:cNvPr>
          <p:cNvSpPr>
            <a:spLocks noGrp="1"/>
          </p:cNvSpPr>
          <p:nvPr>
            <p:ph type="title"/>
          </p:nvPr>
        </p:nvSpPr>
        <p:spPr/>
        <p:txBody>
          <a:bodyPr/>
          <a:lstStyle/>
          <a:p>
            <a:r>
              <a:rPr lang="en-US" altLang="zh-CN" dirty="0"/>
              <a:t>3.9 </a:t>
            </a:r>
            <a:r>
              <a:rPr lang="zh-CN" altLang="en-US" dirty="0"/>
              <a:t>滤波</a:t>
            </a:r>
          </a:p>
        </p:txBody>
      </p:sp>
      <p:sp>
        <p:nvSpPr>
          <p:cNvPr id="4" name="灯片编号占位符 3">
            <a:extLst>
              <a:ext uri="{FF2B5EF4-FFF2-40B4-BE49-F238E27FC236}">
                <a16:creationId xmlns:a16="http://schemas.microsoft.com/office/drawing/2014/main" id="{5568E6E7-C3E1-4C46-A73C-8E9D91F0838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EDB7DD1-9C1C-4CBD-A799-0F22A602EAC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52228" name="Picture 4">
            <a:extLst>
              <a:ext uri="{FF2B5EF4-FFF2-40B4-BE49-F238E27FC236}">
                <a16:creationId xmlns:a16="http://schemas.microsoft.com/office/drawing/2014/main" id="{C9843470-106B-43C1-8F2D-9807364834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713" y="1182688"/>
            <a:ext cx="6872287" cy="560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991C361D-A31C-4922-95DC-D1B650E417D8}"/>
              </a:ext>
            </a:extLst>
          </p:cNvPr>
          <p:cNvSpPr>
            <a:spLocks noGrp="1"/>
          </p:cNvSpPr>
          <p:nvPr>
            <p:ph type="title"/>
          </p:nvPr>
        </p:nvSpPr>
        <p:spPr/>
        <p:txBody>
          <a:bodyPr/>
          <a:lstStyle/>
          <a:p>
            <a:r>
              <a:rPr lang="en-US" altLang="zh-CN" dirty="0"/>
              <a:t>3.9 </a:t>
            </a:r>
            <a:r>
              <a:rPr lang="zh-CN" altLang="en-US" dirty="0"/>
              <a:t>滤波</a:t>
            </a:r>
          </a:p>
        </p:txBody>
      </p:sp>
      <p:sp>
        <p:nvSpPr>
          <p:cNvPr id="4" name="灯片编号占位符 3">
            <a:extLst>
              <a:ext uri="{FF2B5EF4-FFF2-40B4-BE49-F238E27FC236}">
                <a16:creationId xmlns:a16="http://schemas.microsoft.com/office/drawing/2014/main" id="{21BCE729-7ECF-480C-AFB6-F6026777C2F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5BEFAFB-7CCA-4E0C-A98F-EAC0EDCBDB2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5" name="Picture 3">
            <a:extLst>
              <a:ext uri="{FF2B5EF4-FFF2-40B4-BE49-F238E27FC236}">
                <a16:creationId xmlns:a16="http://schemas.microsoft.com/office/drawing/2014/main" id="{EF6C4157-5DE3-47FD-9621-30F9C5752E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225" y="2428875"/>
            <a:ext cx="5659438" cy="232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50C9DD36-8DF3-4A72-B97D-8C1082456881}"/>
              </a:ext>
            </a:extLst>
          </p:cNvPr>
          <p:cNvSpPr>
            <a:spLocks noChangeArrowheads="1"/>
          </p:cNvSpPr>
          <p:nvPr/>
        </p:nvSpPr>
        <p:spPr bwMode="auto">
          <a:xfrm>
            <a:off x="5961063" y="2643188"/>
            <a:ext cx="26114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eaLnBrk="0" hangingPunct="0">
              <a:tabLst>
                <a:tab pos="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Lst>
              <a:defRPr/>
            </a:pPr>
            <a:r>
              <a:rPr kumimoji="0" lang="zh-CN" altLang="en-US" sz="2000" i="1"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000" i="0" u="none" strike="noStrike" kern="1200" cap="none" spc="0" normalizeH="0" baseline="-2500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a:t>
            </a:r>
            <a:r>
              <a:rPr kumimoji="0"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 — </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截止频率 </a:t>
            </a:r>
            <a:r>
              <a:rPr kumimoji="0"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(cutoff</a:t>
            </a:r>
          </a:p>
          <a:p>
            <a:pPr marL="0" marR="0" lvl="0" indent="0" algn="l" defTabSz="914400" rtl="0" eaLnBrk="1" fontAlgn="base" latinLnBrk="0" hangingPunct="1">
              <a:lnSpc>
                <a:spcPct val="100000"/>
              </a:lnSpc>
              <a:spcBef>
                <a:spcPct val="0"/>
              </a:spcBef>
              <a:spcAft>
                <a:spcPct val="0"/>
              </a:spcAft>
              <a:buClrTx/>
              <a:buSzTx/>
              <a:buFontTx/>
              <a:buNone/>
              <a:tabLst>
                <a:tab pos="0" algn="l"/>
              </a:tabLst>
              <a:defRPr/>
            </a:pPr>
            <a:r>
              <a:rPr kumimoji="0"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frequency)</a:t>
            </a:r>
          </a:p>
        </p:txBody>
      </p:sp>
      <p:sp>
        <p:nvSpPr>
          <p:cNvPr id="7" name="TextBox 6">
            <a:extLst>
              <a:ext uri="{FF2B5EF4-FFF2-40B4-BE49-F238E27FC236}">
                <a16:creationId xmlns:a16="http://schemas.microsoft.com/office/drawing/2014/main" id="{6A765C18-A538-451A-88C8-75E8A13E1DE6}"/>
              </a:ext>
            </a:extLst>
          </p:cNvPr>
          <p:cNvSpPr txBox="1">
            <a:spLocks noChangeArrowheads="1"/>
          </p:cNvSpPr>
          <p:nvPr/>
        </p:nvSpPr>
        <p:spPr bwMode="auto">
          <a:xfrm>
            <a:off x="776288" y="282892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连续时间：</a:t>
            </a:r>
          </a:p>
        </p:txBody>
      </p:sp>
      <p:pic>
        <p:nvPicPr>
          <p:cNvPr id="8" name="Picture 6">
            <a:extLst>
              <a:ext uri="{FF2B5EF4-FFF2-40B4-BE49-F238E27FC236}">
                <a16:creationId xmlns:a16="http://schemas.microsoft.com/office/drawing/2014/main" id="{CB8C2357-FD57-4339-AFF3-E7E588062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0975" y="4857750"/>
            <a:ext cx="6192838"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B04A47A9-0F37-4E6C-B36E-17B91FA07FFA}"/>
              </a:ext>
            </a:extLst>
          </p:cNvPr>
          <p:cNvSpPr txBox="1">
            <a:spLocks noChangeArrowheads="1"/>
          </p:cNvSpPr>
          <p:nvPr/>
        </p:nvSpPr>
        <p:spPr bwMode="auto">
          <a:xfrm>
            <a:off x="808038" y="4929188"/>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离散时间：</a:t>
            </a:r>
          </a:p>
        </p:txBody>
      </p:sp>
      <p:sp>
        <p:nvSpPr>
          <p:cNvPr id="3" name="内容占位符 2">
            <a:extLst>
              <a:ext uri="{FF2B5EF4-FFF2-40B4-BE49-F238E27FC236}">
                <a16:creationId xmlns:a16="http://schemas.microsoft.com/office/drawing/2014/main" id="{174AE8F3-79FF-4749-B776-3FF1C72544CE}"/>
              </a:ext>
            </a:extLst>
          </p:cNvPr>
          <p:cNvSpPr>
            <a:spLocks noGrp="1"/>
          </p:cNvSpPr>
          <p:nvPr>
            <p:ph idx="1"/>
          </p:nvPr>
        </p:nvSpPr>
        <p:spPr>
          <a:xfrm>
            <a:off x="457200" y="1285875"/>
            <a:ext cx="8229600" cy="1471172"/>
          </a:xfrm>
        </p:spPr>
        <p:txBody>
          <a:bodyPr>
            <a:spAutoFit/>
          </a:bodyPr>
          <a:lstStyle/>
          <a:p>
            <a:r>
              <a:rPr lang="zh-CN" altLang="en-US" sz="2800" b="0" dirty="0"/>
              <a:t>理想频率选择性滤波器滤波器：无失真通过指定频率而完全阻止其他频率。</a:t>
            </a:r>
            <a:endParaRPr lang="en-US" altLang="zh-CN" sz="2800" b="0" dirty="0"/>
          </a:p>
          <a:p>
            <a:pPr lvl="1"/>
            <a:r>
              <a:rPr lang="zh-CN" altLang="en-US" b="0" dirty="0">
                <a:solidFill>
                  <a:srgbClr val="FF0000"/>
                </a:solidFill>
              </a:rPr>
              <a:t>理想低通滤波器</a:t>
            </a:r>
            <a:r>
              <a:rPr lang="zh-CN" altLang="en-US" b="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linds(horizontal)">
                                      <p:cBhvr>
                                        <p:cTn id="20" dur="500"/>
                                        <p:tgtEl>
                                          <p:spTgt spid="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par>
                                <p:cTn id="26" presetID="3" presetClass="entr" presetSubtype="1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91CE29B5-6D8C-4E6C-94A0-AE604932A52B}"/>
              </a:ext>
            </a:extLst>
          </p:cNvPr>
          <p:cNvSpPr>
            <a:spLocks noGrp="1"/>
          </p:cNvSpPr>
          <p:nvPr>
            <p:ph type="title"/>
          </p:nvPr>
        </p:nvSpPr>
        <p:spPr/>
        <p:txBody>
          <a:bodyPr/>
          <a:lstStyle/>
          <a:p>
            <a:r>
              <a:rPr lang="en-US" altLang="zh-CN" dirty="0"/>
              <a:t>3.9 </a:t>
            </a:r>
            <a:r>
              <a:rPr lang="zh-CN" altLang="en-US" dirty="0"/>
              <a:t>滤波</a:t>
            </a:r>
          </a:p>
        </p:txBody>
      </p:sp>
      <p:sp>
        <p:nvSpPr>
          <p:cNvPr id="49155" name="内容占位符 2">
            <a:extLst>
              <a:ext uri="{FF2B5EF4-FFF2-40B4-BE49-F238E27FC236}">
                <a16:creationId xmlns:a16="http://schemas.microsoft.com/office/drawing/2014/main" id="{52D8596E-42AA-4271-84CB-EB39A2E489E6}"/>
              </a:ext>
            </a:extLst>
          </p:cNvPr>
          <p:cNvSpPr>
            <a:spLocks noGrp="1"/>
          </p:cNvSpPr>
          <p:nvPr>
            <p:ph idx="1"/>
          </p:nvPr>
        </p:nvSpPr>
        <p:spPr/>
        <p:txBody>
          <a:bodyPr/>
          <a:lstStyle/>
          <a:p>
            <a:pPr lvl="1"/>
            <a:r>
              <a:rPr lang="zh-CN" altLang="en-US" b="0" dirty="0">
                <a:solidFill>
                  <a:srgbClr val="FF0000"/>
                </a:solidFill>
              </a:rPr>
              <a:t>理想高通滤波器</a:t>
            </a:r>
            <a:r>
              <a:rPr lang="zh-CN" altLang="en-US" b="0" dirty="0"/>
              <a:t>：</a:t>
            </a:r>
          </a:p>
        </p:txBody>
      </p:sp>
      <p:sp>
        <p:nvSpPr>
          <p:cNvPr id="4" name="灯片编号占位符 3">
            <a:extLst>
              <a:ext uri="{FF2B5EF4-FFF2-40B4-BE49-F238E27FC236}">
                <a16:creationId xmlns:a16="http://schemas.microsoft.com/office/drawing/2014/main" id="{9EAAB5B4-F8EA-44B4-88AE-33420DDDCEE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D45BFEC-08E3-41CC-B9D6-4818D6BD9F2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7" name="Picture 5">
            <a:extLst>
              <a:ext uri="{FF2B5EF4-FFF2-40B4-BE49-F238E27FC236}">
                <a16:creationId xmlns:a16="http://schemas.microsoft.com/office/drawing/2014/main" id="{3E12C7FD-0ADB-4D4F-879B-A38DA17DA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87588"/>
            <a:ext cx="5202238"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580A6DBB-2CB7-416F-A986-F116BA65CC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621213"/>
            <a:ext cx="6192838"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33A2F43D-4FFF-4098-A3B8-E6DD7E1B6CF6}"/>
              </a:ext>
            </a:extLst>
          </p:cNvPr>
          <p:cNvSpPr txBox="1">
            <a:spLocks noChangeArrowheads="1"/>
          </p:cNvSpPr>
          <p:nvPr/>
        </p:nvSpPr>
        <p:spPr bwMode="auto">
          <a:xfrm>
            <a:off x="776288" y="2071688"/>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连续时间：</a:t>
            </a:r>
          </a:p>
        </p:txBody>
      </p:sp>
      <p:sp>
        <p:nvSpPr>
          <p:cNvPr id="10" name="TextBox 9">
            <a:extLst>
              <a:ext uri="{FF2B5EF4-FFF2-40B4-BE49-F238E27FC236}">
                <a16:creationId xmlns:a16="http://schemas.microsoft.com/office/drawing/2014/main" id="{F173EA91-D697-4861-86B4-468CBB716697}"/>
              </a:ext>
            </a:extLst>
          </p:cNvPr>
          <p:cNvSpPr txBox="1">
            <a:spLocks noChangeArrowheads="1"/>
          </p:cNvSpPr>
          <p:nvPr/>
        </p:nvSpPr>
        <p:spPr bwMode="auto">
          <a:xfrm>
            <a:off x="808038" y="4500563"/>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离散时间：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par>
                                <p:cTn id="16" presetID="3" presetClass="entr" presetSubtype="1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19B39651-1CB5-4B87-8886-7D80918AA5E3}"/>
              </a:ext>
            </a:extLst>
          </p:cNvPr>
          <p:cNvSpPr>
            <a:spLocks noGrp="1"/>
          </p:cNvSpPr>
          <p:nvPr>
            <p:ph type="title"/>
          </p:nvPr>
        </p:nvSpPr>
        <p:spPr/>
        <p:txBody>
          <a:bodyPr/>
          <a:lstStyle/>
          <a:p>
            <a:r>
              <a:rPr lang="en-US" altLang="zh-CN" dirty="0"/>
              <a:t>3.9 </a:t>
            </a:r>
            <a:r>
              <a:rPr lang="zh-CN" altLang="en-US" dirty="0"/>
              <a:t>滤波</a:t>
            </a:r>
          </a:p>
        </p:txBody>
      </p:sp>
      <p:sp>
        <p:nvSpPr>
          <p:cNvPr id="50179" name="内容占位符 2">
            <a:extLst>
              <a:ext uri="{FF2B5EF4-FFF2-40B4-BE49-F238E27FC236}">
                <a16:creationId xmlns:a16="http://schemas.microsoft.com/office/drawing/2014/main" id="{E6E72C24-FF25-46CB-8C9D-CC65E61346B9}"/>
              </a:ext>
            </a:extLst>
          </p:cNvPr>
          <p:cNvSpPr>
            <a:spLocks noGrp="1"/>
          </p:cNvSpPr>
          <p:nvPr>
            <p:ph idx="1"/>
          </p:nvPr>
        </p:nvSpPr>
        <p:spPr/>
        <p:txBody>
          <a:bodyPr/>
          <a:lstStyle/>
          <a:p>
            <a:pPr lvl="1"/>
            <a:r>
              <a:rPr lang="zh-CN" altLang="en-US" b="0" dirty="0">
                <a:solidFill>
                  <a:srgbClr val="FF0000"/>
                </a:solidFill>
              </a:rPr>
              <a:t>理想带通滤波器</a:t>
            </a:r>
            <a:r>
              <a:rPr lang="zh-CN" altLang="en-US" b="0" dirty="0"/>
              <a:t>：</a:t>
            </a:r>
          </a:p>
        </p:txBody>
      </p:sp>
      <p:sp>
        <p:nvSpPr>
          <p:cNvPr id="4" name="灯片编号占位符 3">
            <a:extLst>
              <a:ext uri="{FF2B5EF4-FFF2-40B4-BE49-F238E27FC236}">
                <a16:creationId xmlns:a16="http://schemas.microsoft.com/office/drawing/2014/main" id="{3CF93127-790D-4388-A2EC-B9FEACA9D77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56F713F-FB59-438A-BD85-99D858F82108}"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6" name="Picture 5">
            <a:extLst>
              <a:ext uri="{FF2B5EF4-FFF2-40B4-BE49-F238E27FC236}">
                <a16:creationId xmlns:a16="http://schemas.microsoft.com/office/drawing/2014/main" id="{0F97910C-EF70-497A-8578-5030066DDA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038" y="4714875"/>
            <a:ext cx="6192837" cy="156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1">
            <a:extLst>
              <a:ext uri="{FF2B5EF4-FFF2-40B4-BE49-F238E27FC236}">
                <a16:creationId xmlns:a16="http://schemas.microsoft.com/office/drawing/2014/main" id="{2A0923B2-6D24-4FBE-AA2E-D117F72CD4A9}"/>
              </a:ext>
            </a:extLst>
          </p:cNvPr>
          <p:cNvGrpSpPr>
            <a:grpSpLocks/>
          </p:cNvGrpSpPr>
          <p:nvPr/>
        </p:nvGrpSpPr>
        <p:grpSpPr bwMode="auto">
          <a:xfrm>
            <a:off x="2408238" y="1785938"/>
            <a:ext cx="5202237" cy="2714629"/>
            <a:chOff x="2408262" y="1928802"/>
            <a:chExt cx="5202238" cy="2714648"/>
          </a:xfrm>
        </p:grpSpPr>
        <p:pic>
          <p:nvPicPr>
            <p:cNvPr id="50185" name="Picture 4">
              <a:extLst>
                <a:ext uri="{FF2B5EF4-FFF2-40B4-BE49-F238E27FC236}">
                  <a16:creationId xmlns:a16="http://schemas.microsoft.com/office/drawing/2014/main" id="{0147D2BD-0603-4D61-A4AD-E05B1B8EF9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8262" y="1928802"/>
              <a:ext cx="5202238"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6" name="Rectangle 7">
              <a:extLst>
                <a:ext uri="{FF2B5EF4-FFF2-40B4-BE49-F238E27FC236}">
                  <a16:creationId xmlns:a16="http://schemas.microsoft.com/office/drawing/2014/main" id="{5704326F-BDA1-4CBA-B39B-70488DC6A499}"/>
                </a:ext>
              </a:extLst>
            </p:cNvPr>
            <p:cNvSpPr>
              <a:spLocks noChangeArrowheads="1"/>
            </p:cNvSpPr>
            <p:nvPr/>
          </p:nvSpPr>
          <p:spPr bwMode="auto">
            <a:xfrm>
              <a:off x="4896736" y="4058677"/>
              <a:ext cx="2492976" cy="584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spAutoFit/>
            </a:bodyPr>
            <a:lstStyle>
              <a:lvl1pPr eaLnBrk="0" hangingPunct="0">
                <a:tabLst>
                  <a:tab pos="1368425"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1368425"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1368425"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136842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136842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36842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36842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36842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368425"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368425" algn="l"/>
                </a:tabLst>
                <a:defRPr/>
              </a:pPr>
              <a:r>
                <a:rPr kumimoji="0" lang="zh-CN" altLang="en-US" sz="160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Times New Roman" panose="02020603050405020304" pitchFamily="18" charset="0"/>
                </a:rPr>
                <a:t>下截止频率     上截止频率</a:t>
              </a:r>
              <a:endParaRPr kumimoji="0" lang="en-US" altLang="zh-CN" sz="160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tab pos="1368425" algn="l"/>
                </a:tabLst>
                <a:defRPr/>
              </a:pPr>
              <a:r>
                <a:rPr kumimoji="0" lang="en-US" altLang="zh-CN" sz="1600" i="0" u="none" strike="noStrike" kern="1200" cap="none" spc="0" normalizeH="0" baseline="0" noProof="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lower cut-off   upper cut-off</a:t>
              </a:r>
            </a:p>
          </p:txBody>
        </p:sp>
        <p:sp>
          <p:nvSpPr>
            <p:cNvPr id="50187" name="Line 8">
              <a:extLst>
                <a:ext uri="{FF2B5EF4-FFF2-40B4-BE49-F238E27FC236}">
                  <a16:creationId xmlns:a16="http://schemas.microsoft.com/office/drawing/2014/main" id="{D9F7DB40-E6B0-481B-BF4A-E292C66EB75A}"/>
                </a:ext>
              </a:extLst>
            </p:cNvPr>
            <p:cNvSpPr>
              <a:spLocks noChangeShapeType="1"/>
            </p:cNvSpPr>
            <p:nvPr/>
          </p:nvSpPr>
          <p:spPr bwMode="auto">
            <a:xfrm flipV="1">
              <a:off x="5608662" y="3757602"/>
              <a:ext cx="0" cy="3048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188" name="Line 9">
              <a:extLst>
                <a:ext uri="{FF2B5EF4-FFF2-40B4-BE49-F238E27FC236}">
                  <a16:creationId xmlns:a16="http://schemas.microsoft.com/office/drawing/2014/main" id="{7BF7C1C8-7E75-4166-9675-4BD68C8F5CB4}"/>
                </a:ext>
              </a:extLst>
            </p:cNvPr>
            <p:cNvSpPr>
              <a:spLocks noChangeShapeType="1"/>
            </p:cNvSpPr>
            <p:nvPr/>
          </p:nvSpPr>
          <p:spPr bwMode="auto">
            <a:xfrm flipV="1">
              <a:off x="6751662" y="3757602"/>
              <a:ext cx="0" cy="304800"/>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
        <p:nvSpPr>
          <p:cNvPr id="10" name="TextBox 9">
            <a:extLst>
              <a:ext uri="{FF2B5EF4-FFF2-40B4-BE49-F238E27FC236}">
                <a16:creationId xmlns:a16="http://schemas.microsoft.com/office/drawing/2014/main" id="{311A642E-CC55-47C6-9C28-2D281E8EBC0B}"/>
              </a:ext>
            </a:extLst>
          </p:cNvPr>
          <p:cNvSpPr txBox="1">
            <a:spLocks noChangeArrowheads="1"/>
          </p:cNvSpPr>
          <p:nvPr/>
        </p:nvSpPr>
        <p:spPr bwMode="auto">
          <a:xfrm>
            <a:off x="776288" y="2071688"/>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连续时间：</a:t>
            </a:r>
          </a:p>
        </p:txBody>
      </p:sp>
      <p:sp>
        <p:nvSpPr>
          <p:cNvPr id="11" name="TextBox 10">
            <a:extLst>
              <a:ext uri="{FF2B5EF4-FFF2-40B4-BE49-F238E27FC236}">
                <a16:creationId xmlns:a16="http://schemas.microsoft.com/office/drawing/2014/main" id="{25945049-29FB-4A8C-9C31-0EEE355A3212}"/>
              </a:ext>
            </a:extLst>
          </p:cNvPr>
          <p:cNvSpPr txBox="1">
            <a:spLocks noChangeArrowheads="1"/>
          </p:cNvSpPr>
          <p:nvPr/>
        </p:nvSpPr>
        <p:spPr bwMode="auto">
          <a:xfrm>
            <a:off x="808038" y="4467225"/>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solidFill>
                  <a:prstClr val="black"/>
                </a:solidFill>
                <a:effectLst/>
                <a:uLnTx/>
                <a:uFillTx/>
                <a:latin typeface="华文楷体" panose="02010600040101010101" pitchFamily="2" charset="-122"/>
                <a:ea typeface="华文楷体" panose="02010600040101010101" pitchFamily="2" charset="-122"/>
                <a:cs typeface="+mn-cs"/>
              </a:rPr>
              <a:t>离散时间：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par>
                                <p:cTn id="16" presetID="3"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1" name="标题 1">
            <a:extLst>
              <a:ext uri="{FF2B5EF4-FFF2-40B4-BE49-F238E27FC236}">
                <a16:creationId xmlns:a16="http://schemas.microsoft.com/office/drawing/2014/main" id="{DACB6A1E-34C3-438C-9733-7CA8DB9A6208}"/>
              </a:ext>
            </a:extLst>
          </p:cNvPr>
          <p:cNvSpPr>
            <a:spLocks noGrp="1"/>
          </p:cNvSpPr>
          <p:nvPr>
            <p:ph type="title"/>
          </p:nvPr>
        </p:nvSpPr>
        <p:spPr/>
        <p:txBody>
          <a:bodyPr/>
          <a:lstStyle/>
          <a:p>
            <a:r>
              <a:rPr lang="en-US" altLang="zh-CN" sz="3200" dirty="0"/>
              <a:t>3.10 </a:t>
            </a:r>
            <a:r>
              <a:rPr lang="zh-CN" altLang="en-US" sz="3200" dirty="0"/>
              <a:t>微分方程描述的连续时间滤波器举例</a:t>
            </a:r>
            <a:endParaRPr lang="zh-CN" altLang="en-US" sz="1600" dirty="0"/>
          </a:p>
        </p:txBody>
      </p:sp>
      <p:sp>
        <p:nvSpPr>
          <p:cNvPr id="16392" name="内容占位符 2">
            <a:extLst>
              <a:ext uri="{FF2B5EF4-FFF2-40B4-BE49-F238E27FC236}">
                <a16:creationId xmlns:a16="http://schemas.microsoft.com/office/drawing/2014/main" id="{42AC5AA1-401A-4786-84C9-4A30EC1FAC48}"/>
              </a:ext>
            </a:extLst>
          </p:cNvPr>
          <p:cNvSpPr>
            <a:spLocks noGrp="1"/>
          </p:cNvSpPr>
          <p:nvPr>
            <p:ph idx="1"/>
          </p:nvPr>
        </p:nvSpPr>
        <p:spPr>
          <a:xfrm>
            <a:off x="457200" y="1285875"/>
            <a:ext cx="4972050" cy="1285875"/>
          </a:xfrm>
        </p:spPr>
        <p:txBody>
          <a:bodyPr/>
          <a:lstStyle/>
          <a:p>
            <a:pPr marL="0" indent="0">
              <a:buNone/>
            </a:pPr>
            <a:r>
              <a:rPr lang="zh-CN" altLang="en-US" sz="2400" b="0" dirty="0">
                <a:solidFill>
                  <a:srgbClr val="0000FF"/>
                </a:solidFill>
              </a:rPr>
              <a:t>一</a:t>
            </a:r>
            <a:r>
              <a:rPr lang="en-US" altLang="zh-CN" sz="2400" b="0" dirty="0">
                <a:solidFill>
                  <a:srgbClr val="0000FF"/>
                </a:solidFill>
              </a:rPr>
              <a:t>. </a:t>
            </a:r>
            <a:r>
              <a:rPr lang="zh-CN" altLang="en-US" sz="2400" b="0" dirty="0">
                <a:solidFill>
                  <a:srgbClr val="0000FF"/>
                </a:solidFill>
              </a:rPr>
              <a:t>简单</a:t>
            </a:r>
            <a:r>
              <a:rPr lang="en-US" altLang="zh-CN" sz="2400" b="0" dirty="0">
                <a:solidFill>
                  <a:srgbClr val="0000FF"/>
                </a:solidFill>
              </a:rPr>
              <a:t>RC</a:t>
            </a:r>
            <a:r>
              <a:rPr lang="zh-CN" altLang="en-US" sz="2400" b="0" dirty="0">
                <a:solidFill>
                  <a:srgbClr val="0000FF"/>
                </a:solidFill>
              </a:rPr>
              <a:t>低通滤波器</a:t>
            </a:r>
            <a:endParaRPr lang="en-US" altLang="zh-CN" sz="2400" b="0" dirty="0">
              <a:solidFill>
                <a:srgbClr val="0000FF"/>
              </a:solidFill>
            </a:endParaRPr>
          </a:p>
          <a:p>
            <a:pPr lvl="1"/>
            <a:r>
              <a:rPr lang="zh-CN" altLang="en-US" sz="2400" b="0" dirty="0"/>
              <a:t>图中电路输入</a:t>
            </a:r>
            <a:r>
              <a:rPr lang="en-US" altLang="zh-CN" sz="2400" b="0" i="1" dirty="0"/>
              <a:t>v</a:t>
            </a:r>
            <a:r>
              <a:rPr lang="en-US" altLang="zh-CN" sz="2400" b="0" i="1" baseline="-25000" dirty="0"/>
              <a:t>s</a:t>
            </a:r>
            <a:r>
              <a:rPr lang="en-US" altLang="zh-CN" sz="2400" b="0" dirty="0"/>
              <a:t>(</a:t>
            </a:r>
            <a:r>
              <a:rPr lang="en-US" altLang="zh-CN" sz="2400" b="0" i="1" dirty="0"/>
              <a:t>t</a:t>
            </a:r>
            <a:r>
              <a:rPr lang="en-US" altLang="zh-CN" sz="2400" b="0" dirty="0"/>
              <a:t>)</a:t>
            </a:r>
            <a:r>
              <a:rPr lang="zh-CN" altLang="en-US" sz="2400" b="0" dirty="0"/>
              <a:t>与输出</a:t>
            </a:r>
            <a:r>
              <a:rPr lang="en-US" altLang="zh-CN" sz="2400" b="0" i="1" dirty="0" err="1"/>
              <a:t>v</a:t>
            </a:r>
            <a:r>
              <a:rPr lang="en-US" altLang="zh-CN" sz="2400" b="0" i="1" baseline="-25000" dirty="0" err="1"/>
              <a:t>c</a:t>
            </a:r>
            <a:r>
              <a:rPr lang="en-US" altLang="zh-CN" sz="2400" b="0" dirty="0"/>
              <a:t>(</a:t>
            </a:r>
            <a:r>
              <a:rPr lang="en-US" altLang="zh-CN" sz="2400" b="0" i="1" dirty="0"/>
              <a:t>t</a:t>
            </a:r>
            <a:r>
              <a:rPr lang="en-US" altLang="zh-CN" sz="2400" b="0" dirty="0"/>
              <a:t>)</a:t>
            </a:r>
            <a:r>
              <a:rPr lang="zh-CN" altLang="en-US" sz="2400" b="0" dirty="0"/>
              <a:t>之间关系可用微分方程描述：</a:t>
            </a:r>
          </a:p>
        </p:txBody>
      </p:sp>
      <p:sp>
        <p:nvSpPr>
          <p:cNvPr id="4" name="灯片编号占位符 3">
            <a:extLst>
              <a:ext uri="{FF2B5EF4-FFF2-40B4-BE49-F238E27FC236}">
                <a16:creationId xmlns:a16="http://schemas.microsoft.com/office/drawing/2014/main" id="{35F1A749-D6C3-41EC-9493-5D0AD592FD3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DB8160-4CCF-40AB-BD2E-2FD8A9C80DA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pSp>
        <p:nvGrpSpPr>
          <p:cNvPr id="16394" name="组合 7">
            <a:extLst>
              <a:ext uri="{FF2B5EF4-FFF2-40B4-BE49-F238E27FC236}">
                <a16:creationId xmlns:a16="http://schemas.microsoft.com/office/drawing/2014/main" id="{DB28FD57-4A0C-473D-A059-F0DC16A913DB}"/>
              </a:ext>
            </a:extLst>
          </p:cNvPr>
          <p:cNvGrpSpPr>
            <a:grpSpLocks/>
          </p:cNvGrpSpPr>
          <p:nvPr/>
        </p:nvGrpSpPr>
        <p:grpSpPr bwMode="auto">
          <a:xfrm>
            <a:off x="5357813" y="1785938"/>
            <a:ext cx="3344862" cy="2171700"/>
            <a:chOff x="4929190" y="2214554"/>
            <a:chExt cx="3344860" cy="2171700"/>
          </a:xfrm>
        </p:grpSpPr>
        <p:pic>
          <p:nvPicPr>
            <p:cNvPr id="57346" name="Picture 2">
              <a:extLst>
                <a:ext uri="{FF2B5EF4-FFF2-40B4-BE49-F238E27FC236}">
                  <a16:creationId xmlns:a16="http://schemas.microsoft.com/office/drawing/2014/main" id="{EA562063-C976-40A6-8248-2577BDE2A722}"/>
                </a:ext>
              </a:extLst>
            </p:cNvPr>
            <p:cNvPicPr>
              <a:picLocks noChangeAspect="1" noChangeArrowheads="1"/>
            </p:cNvPicPr>
            <p:nvPr/>
          </p:nvPicPr>
          <p:blipFill>
            <a:blip r:embed="rId4"/>
            <a:srcRect/>
            <a:stretch>
              <a:fillRect/>
            </a:stretch>
          </p:blipFill>
          <p:spPr bwMode="auto">
            <a:xfrm>
              <a:off x="5643565" y="2214554"/>
              <a:ext cx="2181224" cy="2171700"/>
            </a:xfrm>
            <a:prstGeom prst="rect">
              <a:avLst/>
            </a:prstGeom>
            <a:noFill/>
            <a:ln w="9525">
              <a:noFill/>
              <a:miter lim="800000"/>
              <a:headEnd/>
              <a:tailEnd/>
            </a:ln>
            <a:effectLst>
              <a:prstShdw prst="shdw17" dist="17961" dir="2700000">
                <a:schemeClr val="accent1">
                  <a:gamma/>
                  <a:shade val="60000"/>
                  <a:invGamma/>
                </a:schemeClr>
              </a:prstShdw>
            </a:effectLst>
          </p:spPr>
        </p:pic>
        <p:graphicFrame>
          <p:nvGraphicFramePr>
            <p:cNvPr id="16389" name="Object 3">
              <a:extLst>
                <a:ext uri="{FF2B5EF4-FFF2-40B4-BE49-F238E27FC236}">
                  <a16:creationId xmlns:a16="http://schemas.microsoft.com/office/drawing/2014/main" id="{DD68531D-59A8-496C-9FF3-5F7715EA0E4D}"/>
                </a:ext>
              </a:extLst>
            </p:cNvPr>
            <p:cNvGraphicFramePr>
              <a:graphicFrameLocks noChangeAspect="1"/>
            </p:cNvGraphicFramePr>
            <p:nvPr/>
          </p:nvGraphicFramePr>
          <p:xfrm>
            <a:off x="7572375" y="3000375"/>
            <a:ext cx="701675" cy="504825"/>
          </p:xfrm>
          <a:graphic>
            <a:graphicData uri="http://schemas.openxmlformats.org/presentationml/2006/ole">
              <mc:AlternateContent xmlns:mc="http://schemas.openxmlformats.org/markup-compatibility/2006">
                <mc:Choice xmlns:v="urn:schemas-microsoft-com:vml" Requires="v">
                  <p:oleObj spid="_x0000_s21781" name="Equation" r:id="rId5" imgW="317160" imgH="228600" progId="Equation.DSMT4">
                    <p:embed/>
                  </p:oleObj>
                </mc:Choice>
                <mc:Fallback>
                  <p:oleObj name="Equation" r:id="rId5" imgW="317160" imgH="228600" progId="Equation.DSMT4">
                    <p:embed/>
                    <p:pic>
                      <p:nvPicPr>
                        <p:cNvPr id="16389" name="Object 3">
                          <a:extLst>
                            <a:ext uri="{FF2B5EF4-FFF2-40B4-BE49-F238E27FC236}">
                              <a16:creationId xmlns:a16="http://schemas.microsoft.com/office/drawing/2014/main" id="{DD68531D-59A8-496C-9FF3-5F7715EA0E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72375" y="3000375"/>
                          <a:ext cx="701675" cy="5048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0" name="Object 4">
              <a:extLst>
                <a:ext uri="{FF2B5EF4-FFF2-40B4-BE49-F238E27FC236}">
                  <a16:creationId xmlns:a16="http://schemas.microsoft.com/office/drawing/2014/main" id="{5C424E7D-3F8F-4E97-9D13-CDC8CFBD4879}"/>
                </a:ext>
              </a:extLst>
            </p:cNvPr>
            <p:cNvGraphicFramePr>
              <a:graphicFrameLocks noChangeAspect="1"/>
            </p:cNvGraphicFramePr>
            <p:nvPr/>
          </p:nvGraphicFramePr>
          <p:xfrm>
            <a:off x="4929190" y="3000372"/>
            <a:ext cx="701675" cy="504825"/>
          </p:xfrm>
          <a:graphic>
            <a:graphicData uri="http://schemas.openxmlformats.org/presentationml/2006/ole">
              <mc:AlternateContent xmlns:mc="http://schemas.openxmlformats.org/markup-compatibility/2006">
                <mc:Choice xmlns:v="urn:schemas-microsoft-com:vml" Requires="v">
                  <p:oleObj spid="_x0000_s21782" name="Equation" r:id="rId7" imgW="317160" imgH="228600" progId="Equation.DSMT4">
                    <p:embed/>
                  </p:oleObj>
                </mc:Choice>
                <mc:Fallback>
                  <p:oleObj name="Equation" r:id="rId7" imgW="317160" imgH="228600" progId="Equation.DSMT4">
                    <p:embed/>
                    <p:pic>
                      <p:nvPicPr>
                        <p:cNvPr id="16390" name="Object 4">
                          <a:extLst>
                            <a:ext uri="{FF2B5EF4-FFF2-40B4-BE49-F238E27FC236}">
                              <a16:creationId xmlns:a16="http://schemas.microsoft.com/office/drawing/2014/main" id="{5C424E7D-3F8F-4E97-9D13-CDC8CFBD48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9190" y="3000372"/>
                          <a:ext cx="701675" cy="5048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6386" name="Object 5">
            <a:extLst>
              <a:ext uri="{FF2B5EF4-FFF2-40B4-BE49-F238E27FC236}">
                <a16:creationId xmlns:a16="http://schemas.microsoft.com/office/drawing/2014/main" id="{518F0EC3-AE0F-4CC6-866D-A1581CADE517}"/>
              </a:ext>
            </a:extLst>
          </p:cNvPr>
          <p:cNvGraphicFramePr>
            <a:graphicFrameLocks noChangeAspect="1"/>
          </p:cNvGraphicFramePr>
          <p:nvPr>
            <p:extLst>
              <p:ext uri="{D42A27DB-BD31-4B8C-83A1-F6EECF244321}">
                <p14:modId xmlns:p14="http://schemas.microsoft.com/office/powerpoint/2010/main" val="2808908113"/>
              </p:ext>
            </p:extLst>
          </p:nvPr>
        </p:nvGraphicFramePr>
        <p:xfrm>
          <a:off x="1727200" y="2643188"/>
          <a:ext cx="2976563" cy="788987"/>
        </p:xfrm>
        <a:graphic>
          <a:graphicData uri="http://schemas.openxmlformats.org/presentationml/2006/ole">
            <mc:AlternateContent xmlns:mc="http://schemas.openxmlformats.org/markup-compatibility/2006">
              <mc:Choice xmlns:v="urn:schemas-microsoft-com:vml" Requires="v">
                <p:oleObj spid="_x0000_s21783" name="Equation" r:id="rId9" imgW="1485720" imgH="393480" progId="Equation.DSMT4">
                  <p:embed/>
                </p:oleObj>
              </mc:Choice>
              <mc:Fallback>
                <p:oleObj name="Equation" r:id="rId9" imgW="1485720" imgH="393480" progId="Equation.DSMT4">
                  <p:embed/>
                  <p:pic>
                    <p:nvPicPr>
                      <p:cNvPr id="16386" name="Object 5">
                        <a:extLst>
                          <a:ext uri="{FF2B5EF4-FFF2-40B4-BE49-F238E27FC236}">
                            <a16:creationId xmlns:a16="http://schemas.microsoft.com/office/drawing/2014/main" id="{518F0EC3-AE0F-4CC6-866D-A1581CADE51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27200" y="2643188"/>
                        <a:ext cx="2976563"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Box 9">
            <a:extLst>
              <a:ext uri="{FF2B5EF4-FFF2-40B4-BE49-F238E27FC236}">
                <a16:creationId xmlns:a16="http://schemas.microsoft.com/office/drawing/2014/main" id="{E4FE771D-F857-4A5A-8E78-ADD4588FD7D5}"/>
              </a:ext>
            </a:extLst>
          </p:cNvPr>
          <p:cNvSpPr txBox="1">
            <a:spLocks noChangeArrowheads="1"/>
          </p:cNvSpPr>
          <p:nvPr/>
        </p:nvSpPr>
        <p:spPr bwMode="auto">
          <a:xfrm>
            <a:off x="1331913" y="3968750"/>
            <a:ext cx="72151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设系统初始松弛，则为一</a:t>
            </a:r>
            <a:r>
              <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LTI</a:t>
            </a: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系统，输入</a:t>
            </a:r>
            <a:r>
              <a:rPr kumimoji="0"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v</a:t>
            </a:r>
            <a:r>
              <a:rPr kumimoji="0" lang="en-US" altLang="zh-CN" sz="2400" i="1" u="none" strike="noStrike" kern="1200" cap="none" spc="0" normalizeH="0" baseline="-25000" noProof="0" dirty="0">
                <a:ln>
                  <a:noFill/>
                </a:ln>
                <a:solidFill>
                  <a:srgbClr val="000000"/>
                </a:solidFill>
                <a:effectLst/>
                <a:uLnTx/>
                <a:uFillTx/>
                <a:latin typeface="Times New Roman" panose="02020603050405020304" pitchFamily="18" charset="0"/>
                <a:ea typeface="华文楷体" panose="02010600040101010101" pitchFamily="2" charset="-122"/>
              </a:rPr>
              <a:t>s</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a:t>
            </a:r>
            <a:r>
              <a:rPr kumimoji="0"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t</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 </a:t>
            </a:r>
            <a:r>
              <a:rPr kumimoji="0" lang="en-US" altLang="zh-CN" sz="2400" i="0"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rPr>
              <a:t>e</a:t>
            </a:r>
            <a:r>
              <a:rPr kumimoji="0" lang="en-US" altLang="zh-CN" sz="2400" i="0" u="none" strike="noStrike" kern="1200" cap="none" spc="0" normalizeH="0" baseline="30000" noProof="0" dirty="0" err="1">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t</a:t>
            </a:r>
            <a:r>
              <a:rPr kumimoji="0" lang="zh-CN" altLang="en-US"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将产生输出</a:t>
            </a:r>
            <a:r>
              <a:rPr kumimoji="0" lang="en-US" altLang="zh-CN" sz="2400" i="1"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rPr>
              <a:t>v</a:t>
            </a:r>
            <a:r>
              <a:rPr kumimoji="0" lang="en-US" altLang="zh-CN" sz="2400" i="1" u="none" strike="noStrike" kern="1200" cap="none" spc="0" normalizeH="0" baseline="-25000" noProof="0" dirty="0" err="1">
                <a:ln>
                  <a:noFill/>
                </a:ln>
                <a:solidFill>
                  <a:srgbClr val="000000"/>
                </a:solidFill>
                <a:effectLst/>
                <a:uLnTx/>
                <a:uFillTx/>
                <a:latin typeface="Times New Roman" panose="02020603050405020304" pitchFamily="18" charset="0"/>
                <a:ea typeface="华文楷体" panose="02010600040101010101" pitchFamily="2" charset="-122"/>
              </a:rPr>
              <a:t>c</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a:t>
            </a:r>
            <a:r>
              <a:rPr kumimoji="0"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t</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 </a:t>
            </a:r>
            <a:r>
              <a:rPr kumimoji="0"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H</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ω</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a:t>
            </a:r>
            <a:r>
              <a:rPr kumimoji="0" lang="en-US" altLang="zh-CN" sz="2400" i="0"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rPr>
              <a:t>e</a:t>
            </a:r>
            <a:r>
              <a:rPr kumimoji="0" lang="en-US" altLang="zh-CN" sz="2400" i="0" u="none" strike="noStrike" kern="1200" cap="none" spc="0" normalizeH="0" baseline="30000" noProof="0" dirty="0" err="1">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ω</a:t>
            </a:r>
            <a:r>
              <a:rPr kumimoji="0" lang="en-US"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t </a:t>
            </a:r>
            <a:r>
              <a:rPr kumimoji="0" lang="zh-CN" altLang="en-US"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，因此：</a:t>
            </a:r>
            <a:endPar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endParaRPr>
          </a:p>
        </p:txBody>
      </p:sp>
      <p:sp>
        <p:nvSpPr>
          <p:cNvPr id="11" name="TextBox 10">
            <a:extLst>
              <a:ext uri="{FF2B5EF4-FFF2-40B4-BE49-F238E27FC236}">
                <a16:creationId xmlns:a16="http://schemas.microsoft.com/office/drawing/2014/main" id="{BED841B3-CA3C-4428-BE18-99329B149D9A}"/>
              </a:ext>
            </a:extLst>
          </p:cNvPr>
          <p:cNvSpPr txBox="1">
            <a:spLocks noChangeArrowheads="1"/>
          </p:cNvSpPr>
          <p:nvPr/>
        </p:nvSpPr>
        <p:spPr bwMode="auto">
          <a:xfrm>
            <a:off x="1320800" y="3500438"/>
            <a:ext cx="2822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频率响应</a:t>
            </a:r>
            <a:r>
              <a:rPr kumimoji="0" lang="en-US" altLang="zh-CN" sz="2400" i="1"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H</a:t>
            </a:r>
            <a:r>
              <a:rPr kumimoji="0" lang="en-US" altLang="zh-CN"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a:t>
            </a:r>
            <a:r>
              <a:rPr kumimoji="0" lang="zh-CN" altLang="en-US"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 </a:t>
            </a:r>
            <a:r>
              <a:rPr kumimoji="0" lang="en-US" altLang="zh-CN"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 </a:t>
            </a:r>
            <a:r>
              <a:rPr kumimoji="0" lang="zh-CN" altLang="en-US"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a:t>
            </a:r>
          </a:p>
        </p:txBody>
      </p:sp>
      <p:graphicFrame>
        <p:nvGraphicFramePr>
          <p:cNvPr id="57350" name="Object 6">
            <a:extLst>
              <a:ext uri="{FF2B5EF4-FFF2-40B4-BE49-F238E27FC236}">
                <a16:creationId xmlns:a16="http://schemas.microsoft.com/office/drawing/2014/main" id="{16EA9501-A394-4E06-861B-582EED139A11}"/>
              </a:ext>
            </a:extLst>
          </p:cNvPr>
          <p:cNvGraphicFramePr>
            <a:graphicFrameLocks noChangeAspect="1"/>
          </p:cNvGraphicFramePr>
          <p:nvPr>
            <p:extLst>
              <p:ext uri="{D42A27DB-BD31-4B8C-83A1-F6EECF244321}">
                <p14:modId xmlns:p14="http://schemas.microsoft.com/office/powerpoint/2010/main" val="3562805630"/>
              </p:ext>
            </p:extLst>
          </p:nvPr>
        </p:nvGraphicFramePr>
        <p:xfrm>
          <a:off x="1946275" y="4857750"/>
          <a:ext cx="4554538" cy="788988"/>
        </p:xfrm>
        <a:graphic>
          <a:graphicData uri="http://schemas.openxmlformats.org/presentationml/2006/ole">
            <mc:AlternateContent xmlns:mc="http://schemas.openxmlformats.org/markup-compatibility/2006">
              <mc:Choice xmlns:v="urn:schemas-microsoft-com:vml" Requires="v">
                <p:oleObj spid="_x0000_s21784" name="Equation" r:id="rId11" imgW="2273040" imgH="393480" progId="Equation.DSMT4">
                  <p:embed/>
                </p:oleObj>
              </mc:Choice>
              <mc:Fallback>
                <p:oleObj name="Equation" r:id="rId11" imgW="2273040" imgH="393480" progId="Equation.DSMT4">
                  <p:embed/>
                  <p:pic>
                    <p:nvPicPr>
                      <p:cNvPr id="57350" name="Object 6">
                        <a:extLst>
                          <a:ext uri="{FF2B5EF4-FFF2-40B4-BE49-F238E27FC236}">
                            <a16:creationId xmlns:a16="http://schemas.microsoft.com/office/drawing/2014/main" id="{16EA9501-A394-4E06-861B-582EED139A1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46275" y="4857750"/>
                        <a:ext cx="4554538"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1" name="Object 7">
            <a:extLst>
              <a:ext uri="{FF2B5EF4-FFF2-40B4-BE49-F238E27FC236}">
                <a16:creationId xmlns:a16="http://schemas.microsoft.com/office/drawing/2014/main" id="{E4071608-C2EE-4580-99E3-0852FCF5D01C}"/>
              </a:ext>
            </a:extLst>
          </p:cNvPr>
          <p:cNvGraphicFramePr>
            <a:graphicFrameLocks noChangeAspect="1"/>
          </p:cNvGraphicFramePr>
          <p:nvPr>
            <p:extLst>
              <p:ext uri="{D42A27DB-BD31-4B8C-83A1-F6EECF244321}">
                <p14:modId xmlns:p14="http://schemas.microsoft.com/office/powerpoint/2010/main" val="3603298337"/>
              </p:ext>
            </p:extLst>
          </p:nvPr>
        </p:nvGraphicFramePr>
        <p:xfrm>
          <a:off x="2000250" y="5707063"/>
          <a:ext cx="2722563" cy="839787"/>
        </p:xfrm>
        <a:graphic>
          <a:graphicData uri="http://schemas.openxmlformats.org/presentationml/2006/ole">
            <mc:AlternateContent xmlns:mc="http://schemas.openxmlformats.org/markup-compatibility/2006">
              <mc:Choice xmlns:v="urn:schemas-microsoft-com:vml" Requires="v">
                <p:oleObj spid="_x0000_s21785" name="Equation" r:id="rId13" imgW="1358640" imgH="419040" progId="Equation.DSMT4">
                  <p:embed/>
                </p:oleObj>
              </mc:Choice>
              <mc:Fallback>
                <p:oleObj name="Equation" r:id="rId13" imgW="1358640" imgH="419040" progId="Equation.DSMT4">
                  <p:embed/>
                  <p:pic>
                    <p:nvPicPr>
                      <p:cNvPr id="57351" name="Object 7">
                        <a:extLst>
                          <a:ext uri="{FF2B5EF4-FFF2-40B4-BE49-F238E27FC236}">
                            <a16:creationId xmlns:a16="http://schemas.microsoft.com/office/drawing/2014/main" id="{E4071608-C2EE-4580-99E3-0852FCF5D01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0250" y="5707063"/>
                        <a:ext cx="2722563" cy="839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7350"/>
                                        </p:tgtEl>
                                        <p:attrNameLst>
                                          <p:attrName>style.visibility</p:attrName>
                                        </p:attrNameLst>
                                      </p:cBhvr>
                                      <p:to>
                                        <p:strVal val="visible"/>
                                      </p:to>
                                    </p:set>
                                    <p:animEffect transition="in" filter="blinds(horizontal)">
                                      <p:cBhvr>
                                        <p:cTn id="17" dur="500"/>
                                        <p:tgtEl>
                                          <p:spTgt spid="573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7351"/>
                                        </p:tgtEl>
                                        <p:attrNameLst>
                                          <p:attrName>style.visibility</p:attrName>
                                        </p:attrNameLst>
                                      </p:cBhvr>
                                      <p:to>
                                        <p:strVal val="visible"/>
                                      </p:to>
                                    </p:set>
                                    <p:animEffect transition="in" filter="blinds(horizontal)">
                                      <p:cBhvr>
                                        <p:cTn id="22" dur="500"/>
                                        <p:tgtEl>
                                          <p:spTgt spid="57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标题 1">
            <a:extLst>
              <a:ext uri="{FF2B5EF4-FFF2-40B4-BE49-F238E27FC236}">
                <a16:creationId xmlns:a16="http://schemas.microsoft.com/office/drawing/2014/main" id="{087EE30C-4E93-4629-82B4-9B86ED6E4AAE}"/>
              </a:ext>
            </a:extLst>
          </p:cNvPr>
          <p:cNvSpPr>
            <a:spLocks noGrp="1"/>
          </p:cNvSpPr>
          <p:nvPr>
            <p:ph type="title"/>
          </p:nvPr>
        </p:nvSpPr>
        <p:spPr/>
        <p:txBody>
          <a:bodyPr/>
          <a:lstStyle/>
          <a:p>
            <a:r>
              <a:rPr lang="en-US" altLang="zh-CN" sz="3200">
                <a:solidFill>
                  <a:srgbClr val="000000"/>
                </a:solidFill>
              </a:rPr>
              <a:t>3.10 </a:t>
            </a:r>
            <a:r>
              <a:rPr lang="zh-CN" altLang="en-US" sz="3200">
                <a:solidFill>
                  <a:srgbClr val="000000"/>
                </a:solidFill>
              </a:rPr>
              <a:t>微分方程描述的连续时间滤波器举例</a:t>
            </a:r>
            <a:endParaRPr lang="zh-CN" altLang="en-US"/>
          </a:p>
        </p:txBody>
      </p:sp>
      <p:sp>
        <p:nvSpPr>
          <p:cNvPr id="4" name="灯片编号占位符 3">
            <a:extLst>
              <a:ext uri="{FF2B5EF4-FFF2-40B4-BE49-F238E27FC236}">
                <a16:creationId xmlns:a16="http://schemas.microsoft.com/office/drawing/2014/main" id="{09805284-3CAE-47B6-A46F-0FC7BD209B2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BF8C227-62D1-4298-B0BD-DC77A32681A0}"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0482" name="Object 2">
            <a:extLst>
              <a:ext uri="{FF2B5EF4-FFF2-40B4-BE49-F238E27FC236}">
                <a16:creationId xmlns:a16="http://schemas.microsoft.com/office/drawing/2014/main" id="{8D4C54AE-2578-4704-9E43-FB8A0850B259}"/>
              </a:ext>
            </a:extLst>
          </p:cNvPr>
          <p:cNvGraphicFramePr>
            <a:graphicFrameLocks noChangeAspect="1"/>
          </p:cNvGraphicFramePr>
          <p:nvPr/>
        </p:nvGraphicFramePr>
        <p:xfrm>
          <a:off x="500063" y="1285875"/>
          <a:ext cx="2130425" cy="755650"/>
        </p:xfrm>
        <a:graphic>
          <a:graphicData uri="http://schemas.openxmlformats.org/presentationml/2006/ole">
            <mc:AlternateContent xmlns:mc="http://schemas.openxmlformats.org/markup-compatibility/2006">
              <mc:Choice xmlns:v="urn:schemas-microsoft-com:vml" Requires="v">
                <p:oleObj spid="_x0000_s22640" name="Equation" r:id="rId3" imgW="1180800" imgH="419040" progId="Equation.DSMT4">
                  <p:embed/>
                </p:oleObj>
              </mc:Choice>
              <mc:Fallback>
                <p:oleObj name="Equation" r:id="rId3" imgW="1180800" imgH="419040" progId="Equation.DSMT4">
                  <p:embed/>
                  <p:pic>
                    <p:nvPicPr>
                      <p:cNvPr id="20482" name="Object 2">
                        <a:extLst>
                          <a:ext uri="{FF2B5EF4-FFF2-40B4-BE49-F238E27FC236}">
                            <a16:creationId xmlns:a16="http://schemas.microsoft.com/office/drawing/2014/main" id="{8D4C54AE-2578-4704-9E43-FB8A0850B2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3" y="1285875"/>
                        <a:ext cx="2130425"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3" name="Object 3">
            <a:extLst>
              <a:ext uri="{FF2B5EF4-FFF2-40B4-BE49-F238E27FC236}">
                <a16:creationId xmlns:a16="http://schemas.microsoft.com/office/drawing/2014/main" id="{A9549924-36B1-45B5-BB0D-DB10E0E33E21}"/>
              </a:ext>
            </a:extLst>
          </p:cNvPr>
          <p:cNvGraphicFramePr>
            <a:graphicFrameLocks noChangeAspect="1"/>
          </p:cNvGraphicFramePr>
          <p:nvPr/>
        </p:nvGraphicFramePr>
        <p:xfrm>
          <a:off x="2643188" y="1293813"/>
          <a:ext cx="5919787" cy="846137"/>
        </p:xfrm>
        <a:graphic>
          <a:graphicData uri="http://schemas.openxmlformats.org/presentationml/2006/ole">
            <mc:AlternateContent xmlns:mc="http://schemas.openxmlformats.org/markup-compatibility/2006">
              <mc:Choice xmlns:v="urn:schemas-microsoft-com:vml" Requires="v">
                <p:oleObj spid="_x0000_s22641" name="Equation" r:id="rId5" imgW="3288960" imgH="469800" progId="Equation.DSMT4">
                  <p:embed/>
                </p:oleObj>
              </mc:Choice>
              <mc:Fallback>
                <p:oleObj name="Equation" r:id="rId5" imgW="3288960" imgH="469800" progId="Equation.DSMT4">
                  <p:embed/>
                  <p:pic>
                    <p:nvPicPr>
                      <p:cNvPr id="61443" name="Object 3">
                        <a:extLst>
                          <a:ext uri="{FF2B5EF4-FFF2-40B4-BE49-F238E27FC236}">
                            <a16:creationId xmlns:a16="http://schemas.microsoft.com/office/drawing/2014/main" id="{A9549924-36B1-45B5-BB0D-DB10E0E33E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3188" y="1293813"/>
                        <a:ext cx="5919787" cy="846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1444" name="Picture 4">
            <a:extLst>
              <a:ext uri="{FF2B5EF4-FFF2-40B4-BE49-F238E27FC236}">
                <a16:creationId xmlns:a16="http://schemas.microsoft.com/office/drawing/2014/main" id="{91F341FE-BE41-4C75-8D3C-3601C80250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2838" y="2071688"/>
            <a:ext cx="6888162"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5">
            <a:extLst>
              <a:ext uri="{FF2B5EF4-FFF2-40B4-BE49-F238E27FC236}">
                <a16:creationId xmlns:a16="http://schemas.microsoft.com/office/drawing/2014/main" id="{FC495CDC-F882-4DB1-98DA-F70E4FC08A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1625" y="4000500"/>
            <a:ext cx="6016625"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43"/>
                                        </p:tgtEl>
                                        <p:attrNameLst>
                                          <p:attrName>style.visibility</p:attrName>
                                        </p:attrNameLst>
                                      </p:cBhvr>
                                      <p:to>
                                        <p:strVal val="visible"/>
                                      </p:to>
                                    </p:set>
                                    <p:animEffect transition="in" filter="blinds(horizontal)">
                                      <p:cBhvr>
                                        <p:cTn id="7" dur="500"/>
                                        <p:tgtEl>
                                          <p:spTgt spid="614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44"/>
                                        </p:tgtEl>
                                        <p:attrNameLst>
                                          <p:attrName>style.visibility</p:attrName>
                                        </p:attrNameLst>
                                      </p:cBhvr>
                                      <p:to>
                                        <p:strVal val="visible"/>
                                      </p:to>
                                    </p:set>
                                    <p:animEffect transition="in" filter="blinds(horizontal)">
                                      <p:cBhvr>
                                        <p:cTn id="12" dur="500"/>
                                        <p:tgtEl>
                                          <p:spTgt spid="61444"/>
                                        </p:tgtEl>
                                      </p:cBhvr>
                                    </p:animEffect>
                                  </p:childTnLst>
                                </p:cTn>
                              </p:par>
                              <p:par>
                                <p:cTn id="13" presetID="3" presetClass="entr" presetSubtype="10" fill="hold" nodeType="withEffect">
                                  <p:stCondLst>
                                    <p:cond delay="0"/>
                                  </p:stCondLst>
                                  <p:childTnLst>
                                    <p:set>
                                      <p:cBhvr>
                                        <p:cTn id="14" dur="1" fill="hold">
                                          <p:stCondLst>
                                            <p:cond delay="0"/>
                                          </p:stCondLst>
                                        </p:cTn>
                                        <p:tgtEl>
                                          <p:spTgt spid="61445"/>
                                        </p:tgtEl>
                                        <p:attrNameLst>
                                          <p:attrName>style.visibility</p:attrName>
                                        </p:attrNameLst>
                                      </p:cBhvr>
                                      <p:to>
                                        <p:strVal val="visible"/>
                                      </p:to>
                                    </p:set>
                                    <p:animEffect transition="in" filter="blinds(horizontal)">
                                      <p:cBhvr>
                                        <p:cTn id="15" dur="500"/>
                                        <p:tgtEl>
                                          <p:spTgt spid="61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标题 1">
            <a:extLst>
              <a:ext uri="{FF2B5EF4-FFF2-40B4-BE49-F238E27FC236}">
                <a16:creationId xmlns:a16="http://schemas.microsoft.com/office/drawing/2014/main" id="{5E944DF1-8773-428C-9B7C-E0CAC6519849}"/>
              </a:ext>
            </a:extLst>
          </p:cNvPr>
          <p:cNvSpPr>
            <a:spLocks noGrp="1"/>
          </p:cNvSpPr>
          <p:nvPr>
            <p:ph type="title"/>
          </p:nvPr>
        </p:nvSpPr>
        <p:spPr/>
        <p:txBody>
          <a:bodyPr/>
          <a:lstStyle/>
          <a:p>
            <a:r>
              <a:rPr lang="en-US" altLang="zh-CN" sz="3200">
                <a:solidFill>
                  <a:srgbClr val="000000"/>
                </a:solidFill>
              </a:rPr>
              <a:t>3.10 </a:t>
            </a:r>
            <a:r>
              <a:rPr lang="zh-CN" altLang="en-US" sz="3200">
                <a:solidFill>
                  <a:srgbClr val="000000"/>
                </a:solidFill>
              </a:rPr>
              <a:t>微分方程描述的连续时间滤波器举例</a:t>
            </a:r>
            <a:endParaRPr lang="zh-CN" altLang="en-US"/>
          </a:p>
        </p:txBody>
      </p:sp>
      <p:sp>
        <p:nvSpPr>
          <p:cNvPr id="4" name="灯片编号占位符 3">
            <a:extLst>
              <a:ext uri="{FF2B5EF4-FFF2-40B4-BE49-F238E27FC236}">
                <a16:creationId xmlns:a16="http://schemas.microsoft.com/office/drawing/2014/main" id="{CC84111A-C0C8-4ACB-8FCD-E2E6FADF0D8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AFD6958-C98D-4781-8F6B-F1E47FE06644}"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1512" name="内容占位符 2">
            <a:extLst>
              <a:ext uri="{FF2B5EF4-FFF2-40B4-BE49-F238E27FC236}">
                <a16:creationId xmlns:a16="http://schemas.microsoft.com/office/drawing/2014/main" id="{96D15243-7F67-46F4-A20C-1D45F8AEBAE5}"/>
              </a:ext>
            </a:extLst>
          </p:cNvPr>
          <p:cNvSpPr>
            <a:spLocks noGrp="1"/>
          </p:cNvSpPr>
          <p:nvPr>
            <p:ph idx="1"/>
          </p:nvPr>
        </p:nvSpPr>
        <p:spPr>
          <a:xfrm>
            <a:off x="457200" y="1285875"/>
            <a:ext cx="4972050" cy="1285875"/>
          </a:xfrm>
        </p:spPr>
        <p:txBody>
          <a:bodyPr/>
          <a:lstStyle/>
          <a:p>
            <a:pPr marL="0" indent="0">
              <a:buNone/>
            </a:pPr>
            <a:r>
              <a:rPr lang="zh-CN" altLang="en-US" sz="2400" b="0" dirty="0">
                <a:solidFill>
                  <a:srgbClr val="0000FF"/>
                </a:solidFill>
              </a:rPr>
              <a:t>二</a:t>
            </a:r>
            <a:r>
              <a:rPr lang="en-US" altLang="zh-CN" sz="2400" b="0" dirty="0">
                <a:solidFill>
                  <a:srgbClr val="0000FF"/>
                </a:solidFill>
              </a:rPr>
              <a:t>. </a:t>
            </a:r>
            <a:r>
              <a:rPr lang="zh-CN" altLang="en-US" sz="2400" b="0" dirty="0">
                <a:solidFill>
                  <a:srgbClr val="0000FF"/>
                </a:solidFill>
              </a:rPr>
              <a:t>简单</a:t>
            </a:r>
            <a:r>
              <a:rPr lang="en-US" altLang="zh-CN" sz="2400" b="0" dirty="0">
                <a:solidFill>
                  <a:srgbClr val="0000FF"/>
                </a:solidFill>
              </a:rPr>
              <a:t>RC</a:t>
            </a:r>
            <a:r>
              <a:rPr lang="zh-CN" altLang="en-US" sz="2400" b="0" dirty="0">
                <a:solidFill>
                  <a:srgbClr val="0000FF"/>
                </a:solidFill>
              </a:rPr>
              <a:t>高通滤波器</a:t>
            </a:r>
            <a:endParaRPr lang="en-US" altLang="zh-CN" sz="2400" b="0" dirty="0">
              <a:solidFill>
                <a:srgbClr val="0000FF"/>
              </a:solidFill>
            </a:endParaRPr>
          </a:p>
          <a:p>
            <a:pPr lvl="1"/>
            <a:r>
              <a:rPr lang="zh-CN" altLang="en-US" sz="2400" b="0" dirty="0"/>
              <a:t>图中电路输入</a:t>
            </a:r>
            <a:r>
              <a:rPr lang="en-US" altLang="zh-CN" sz="2400" b="0" i="1" dirty="0"/>
              <a:t>v</a:t>
            </a:r>
            <a:r>
              <a:rPr lang="en-US" altLang="zh-CN" sz="2400" b="0" i="1" baseline="-25000" dirty="0"/>
              <a:t>s</a:t>
            </a:r>
            <a:r>
              <a:rPr lang="en-US" altLang="zh-CN" sz="2400" b="0" dirty="0"/>
              <a:t>(</a:t>
            </a:r>
            <a:r>
              <a:rPr lang="en-US" altLang="zh-CN" sz="2400" b="0" i="1" dirty="0"/>
              <a:t>t</a:t>
            </a:r>
            <a:r>
              <a:rPr lang="en-US" altLang="zh-CN" sz="2400" b="0" dirty="0"/>
              <a:t>)</a:t>
            </a:r>
            <a:r>
              <a:rPr lang="zh-CN" altLang="en-US" sz="2400" b="0" dirty="0"/>
              <a:t>与输出</a:t>
            </a:r>
            <a:r>
              <a:rPr lang="en-US" altLang="zh-CN" sz="2400" b="0" i="1" dirty="0" err="1"/>
              <a:t>v</a:t>
            </a:r>
            <a:r>
              <a:rPr lang="en-US" altLang="zh-CN" sz="2400" b="0" i="1" baseline="-25000" dirty="0" err="1"/>
              <a:t>r</a:t>
            </a:r>
            <a:r>
              <a:rPr lang="en-US" altLang="zh-CN" sz="2400" b="0" dirty="0"/>
              <a:t>(</a:t>
            </a:r>
            <a:r>
              <a:rPr lang="en-US" altLang="zh-CN" sz="2400" b="0" i="1" dirty="0"/>
              <a:t>t</a:t>
            </a:r>
            <a:r>
              <a:rPr lang="en-US" altLang="zh-CN" sz="2400" b="0" dirty="0"/>
              <a:t>)</a:t>
            </a:r>
            <a:r>
              <a:rPr lang="zh-CN" altLang="en-US" sz="2400" b="0" dirty="0"/>
              <a:t>之间关系可用微分方程描述：</a:t>
            </a:r>
          </a:p>
        </p:txBody>
      </p:sp>
      <p:grpSp>
        <p:nvGrpSpPr>
          <p:cNvPr id="21513" name="组合 10">
            <a:extLst>
              <a:ext uri="{FF2B5EF4-FFF2-40B4-BE49-F238E27FC236}">
                <a16:creationId xmlns:a16="http://schemas.microsoft.com/office/drawing/2014/main" id="{44CE6023-B5D4-40B5-8D9C-0DE8A53A14C3}"/>
              </a:ext>
            </a:extLst>
          </p:cNvPr>
          <p:cNvGrpSpPr>
            <a:grpSpLocks/>
          </p:cNvGrpSpPr>
          <p:nvPr/>
        </p:nvGrpSpPr>
        <p:grpSpPr bwMode="auto">
          <a:xfrm>
            <a:off x="5364163" y="1643063"/>
            <a:ext cx="3325812" cy="1971675"/>
            <a:chOff x="5363583" y="1643050"/>
            <a:chExt cx="3326053" cy="1971675"/>
          </a:xfrm>
        </p:grpSpPr>
        <p:pic>
          <p:nvPicPr>
            <p:cNvPr id="62466" name="Picture 2">
              <a:extLst>
                <a:ext uri="{FF2B5EF4-FFF2-40B4-BE49-F238E27FC236}">
                  <a16:creationId xmlns:a16="http://schemas.microsoft.com/office/drawing/2014/main" id="{C3C67CBE-96D2-4401-9359-62F7414E6C5A}"/>
                </a:ext>
              </a:extLst>
            </p:cNvPr>
            <p:cNvPicPr>
              <a:picLocks noChangeAspect="1" noChangeArrowheads="1"/>
            </p:cNvPicPr>
            <p:nvPr/>
          </p:nvPicPr>
          <p:blipFill>
            <a:blip r:embed="rId4"/>
            <a:srcRect/>
            <a:stretch>
              <a:fillRect/>
            </a:stretch>
          </p:blipFill>
          <p:spPr bwMode="auto">
            <a:xfrm>
              <a:off x="6071659" y="1643050"/>
              <a:ext cx="2076600" cy="1971675"/>
            </a:xfrm>
            <a:prstGeom prst="rect">
              <a:avLst/>
            </a:prstGeom>
            <a:noFill/>
            <a:ln w="9525">
              <a:noFill/>
              <a:miter lim="800000"/>
              <a:headEnd/>
              <a:tailEnd/>
            </a:ln>
            <a:effectLst>
              <a:prstShdw prst="shdw17" dist="17961" dir="2700000">
                <a:schemeClr val="accent1">
                  <a:gamma/>
                  <a:shade val="60000"/>
                  <a:invGamma/>
                </a:schemeClr>
              </a:prstShdw>
            </a:effectLst>
          </p:spPr>
        </p:pic>
        <p:graphicFrame>
          <p:nvGraphicFramePr>
            <p:cNvPr id="21508" name="Object 3">
              <a:extLst>
                <a:ext uri="{FF2B5EF4-FFF2-40B4-BE49-F238E27FC236}">
                  <a16:creationId xmlns:a16="http://schemas.microsoft.com/office/drawing/2014/main" id="{2EFD4BA2-C35C-4C39-A0CA-9BD694686592}"/>
                </a:ext>
              </a:extLst>
            </p:cNvPr>
            <p:cNvGraphicFramePr>
              <a:graphicFrameLocks noChangeAspect="1"/>
            </p:cNvGraphicFramePr>
            <p:nvPr/>
          </p:nvGraphicFramePr>
          <p:xfrm>
            <a:off x="7987961" y="2352671"/>
            <a:ext cx="701675" cy="504825"/>
          </p:xfrm>
          <a:graphic>
            <a:graphicData uri="http://schemas.openxmlformats.org/presentationml/2006/ole">
              <mc:AlternateContent xmlns:mc="http://schemas.openxmlformats.org/markup-compatibility/2006">
                <mc:Choice xmlns:v="urn:schemas-microsoft-com:vml" Requires="v">
                  <p:oleObj spid="_x0000_s23774" name="Equation" r:id="rId5" imgW="317160" imgH="228600" progId="Equation.DSMT4">
                    <p:embed/>
                  </p:oleObj>
                </mc:Choice>
                <mc:Fallback>
                  <p:oleObj name="Equation" r:id="rId5" imgW="317160" imgH="228600" progId="Equation.DSMT4">
                    <p:embed/>
                    <p:pic>
                      <p:nvPicPr>
                        <p:cNvPr id="21508" name="Object 3">
                          <a:extLst>
                            <a:ext uri="{FF2B5EF4-FFF2-40B4-BE49-F238E27FC236}">
                              <a16:creationId xmlns:a16="http://schemas.microsoft.com/office/drawing/2014/main" id="{2EFD4BA2-C35C-4C39-A0CA-9BD6946865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87961" y="2352671"/>
                          <a:ext cx="701675" cy="5048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9" name="Object 4">
              <a:extLst>
                <a:ext uri="{FF2B5EF4-FFF2-40B4-BE49-F238E27FC236}">
                  <a16:creationId xmlns:a16="http://schemas.microsoft.com/office/drawing/2014/main" id="{CB0878B1-7618-42DA-A096-7A829915AA5D}"/>
                </a:ext>
              </a:extLst>
            </p:cNvPr>
            <p:cNvGraphicFramePr>
              <a:graphicFrameLocks noChangeAspect="1"/>
            </p:cNvGraphicFramePr>
            <p:nvPr/>
          </p:nvGraphicFramePr>
          <p:xfrm>
            <a:off x="5363583" y="2357430"/>
            <a:ext cx="701675" cy="504825"/>
          </p:xfrm>
          <a:graphic>
            <a:graphicData uri="http://schemas.openxmlformats.org/presentationml/2006/ole">
              <mc:AlternateContent xmlns:mc="http://schemas.openxmlformats.org/markup-compatibility/2006">
                <mc:Choice xmlns:v="urn:schemas-microsoft-com:vml" Requires="v">
                  <p:oleObj spid="_x0000_s23775" name="Equation" r:id="rId7" imgW="317160" imgH="228600" progId="Equation.DSMT4">
                    <p:embed/>
                  </p:oleObj>
                </mc:Choice>
                <mc:Fallback>
                  <p:oleObj name="Equation" r:id="rId7" imgW="317160" imgH="228600" progId="Equation.DSMT4">
                    <p:embed/>
                    <p:pic>
                      <p:nvPicPr>
                        <p:cNvPr id="21509" name="Object 4">
                          <a:extLst>
                            <a:ext uri="{FF2B5EF4-FFF2-40B4-BE49-F238E27FC236}">
                              <a16:creationId xmlns:a16="http://schemas.microsoft.com/office/drawing/2014/main" id="{CB0878B1-7618-42DA-A096-7A829915AA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3583" y="2357430"/>
                          <a:ext cx="701675" cy="5048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1506" name="Object 5">
            <a:extLst>
              <a:ext uri="{FF2B5EF4-FFF2-40B4-BE49-F238E27FC236}">
                <a16:creationId xmlns:a16="http://schemas.microsoft.com/office/drawing/2014/main" id="{FDEFEE22-5D4C-499D-BF49-1E4343086949}"/>
              </a:ext>
            </a:extLst>
          </p:cNvPr>
          <p:cNvGraphicFramePr>
            <a:graphicFrameLocks noChangeAspect="1"/>
          </p:cNvGraphicFramePr>
          <p:nvPr>
            <p:extLst>
              <p:ext uri="{D42A27DB-BD31-4B8C-83A1-F6EECF244321}">
                <p14:modId xmlns:p14="http://schemas.microsoft.com/office/powerpoint/2010/main" val="2513869514"/>
              </p:ext>
            </p:extLst>
          </p:nvPr>
        </p:nvGraphicFramePr>
        <p:xfrm>
          <a:off x="1384300" y="2617788"/>
          <a:ext cx="3636963" cy="788987"/>
        </p:xfrm>
        <a:graphic>
          <a:graphicData uri="http://schemas.openxmlformats.org/presentationml/2006/ole">
            <mc:AlternateContent xmlns:mc="http://schemas.openxmlformats.org/markup-compatibility/2006">
              <mc:Choice xmlns:v="urn:schemas-microsoft-com:vml" Requires="v">
                <p:oleObj spid="_x0000_s23776" name="Equation" r:id="rId9" imgW="1815840" imgH="393480" progId="Equation.DSMT4">
                  <p:embed/>
                </p:oleObj>
              </mc:Choice>
              <mc:Fallback>
                <p:oleObj name="Equation" r:id="rId9" imgW="1815840" imgH="393480" progId="Equation.DSMT4">
                  <p:embed/>
                  <p:pic>
                    <p:nvPicPr>
                      <p:cNvPr id="21506" name="Object 5">
                        <a:extLst>
                          <a:ext uri="{FF2B5EF4-FFF2-40B4-BE49-F238E27FC236}">
                            <a16:creationId xmlns:a16="http://schemas.microsoft.com/office/drawing/2014/main" id="{FDEFEE22-5D4C-499D-BF49-1E43430869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84300" y="2617788"/>
                        <a:ext cx="3636963"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Box 12">
            <a:extLst>
              <a:ext uri="{FF2B5EF4-FFF2-40B4-BE49-F238E27FC236}">
                <a16:creationId xmlns:a16="http://schemas.microsoft.com/office/drawing/2014/main" id="{DE672AA1-37AE-4E2F-B917-0197C04691A0}"/>
              </a:ext>
            </a:extLst>
          </p:cNvPr>
          <p:cNvSpPr txBox="1">
            <a:spLocks noChangeArrowheads="1"/>
          </p:cNvSpPr>
          <p:nvPr/>
        </p:nvSpPr>
        <p:spPr bwMode="auto">
          <a:xfrm>
            <a:off x="1201738" y="3500438"/>
            <a:ext cx="2822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频率响应</a:t>
            </a:r>
            <a:r>
              <a:rPr kumimoji="0" lang="en-US" altLang="zh-CN" sz="2400" i="1"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G</a:t>
            </a:r>
            <a:r>
              <a:rPr kumimoji="0" lang="en-US" altLang="zh-CN"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a:t>
            </a:r>
            <a:r>
              <a:rPr kumimoji="0" lang="zh-CN" altLang="en-US"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 </a:t>
            </a:r>
            <a:r>
              <a:rPr kumimoji="0" lang="en-US" altLang="zh-CN"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 </a:t>
            </a:r>
            <a:r>
              <a:rPr kumimoji="0" lang="zh-CN" altLang="en-US"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a:t>
            </a:r>
          </a:p>
        </p:txBody>
      </p:sp>
      <p:sp>
        <p:nvSpPr>
          <p:cNvPr id="14" name="TextBox 13">
            <a:extLst>
              <a:ext uri="{FF2B5EF4-FFF2-40B4-BE49-F238E27FC236}">
                <a16:creationId xmlns:a16="http://schemas.microsoft.com/office/drawing/2014/main" id="{FEB2B087-4499-4E3D-81C1-EE246EA2BA2F}"/>
              </a:ext>
            </a:extLst>
          </p:cNvPr>
          <p:cNvSpPr txBox="1">
            <a:spLocks noChangeArrowheads="1"/>
          </p:cNvSpPr>
          <p:nvPr/>
        </p:nvSpPr>
        <p:spPr bwMode="auto">
          <a:xfrm>
            <a:off x="1214438" y="4000500"/>
            <a:ext cx="72151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可以采用类似前面简单</a:t>
            </a:r>
            <a:r>
              <a:rPr kumimoji="0" lang="en-US" altLang="zh-CN"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RC</a:t>
            </a: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mn-cs"/>
              </a:rPr>
              <a:t>低通滤波器的分析方法。</a:t>
            </a:r>
          </a:p>
        </p:txBody>
      </p:sp>
      <p:sp>
        <p:nvSpPr>
          <p:cNvPr id="15" name="TextBox 14">
            <a:extLst>
              <a:ext uri="{FF2B5EF4-FFF2-40B4-BE49-F238E27FC236}">
                <a16:creationId xmlns:a16="http://schemas.microsoft.com/office/drawing/2014/main" id="{5570341A-2AD1-42CE-8E5E-AFBE73DF7943}"/>
              </a:ext>
            </a:extLst>
          </p:cNvPr>
          <p:cNvSpPr txBox="1">
            <a:spLocks noChangeArrowheads="1"/>
          </p:cNvSpPr>
          <p:nvPr/>
        </p:nvSpPr>
        <p:spPr bwMode="auto">
          <a:xfrm>
            <a:off x="1201738" y="6275428"/>
            <a:ext cx="7000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此处注意到</a:t>
            </a:r>
            <a:r>
              <a:rPr kumimoji="0"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H</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a:t>
            </a:r>
            <a:r>
              <a:rPr kumimoji="0" lang="en-US" altLang="zh-CN" sz="2400" i="0"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rPr>
              <a:t>e</a:t>
            </a:r>
            <a:r>
              <a:rPr kumimoji="0" lang="en-US" altLang="zh-CN" sz="2400" i="0" u="none" strike="noStrike" kern="1200" cap="none" spc="0" normalizeH="0" baseline="30000" noProof="0" dirty="0" err="1">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ω</a:t>
            </a:r>
            <a:r>
              <a:rPr kumimoji="0" lang="en-US"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t</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 </a:t>
            </a:r>
            <a:r>
              <a:rPr kumimoji="0"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G</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ω</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a:t>
            </a:r>
            <a:r>
              <a:rPr kumimoji="0" lang="en-US" altLang="zh-CN" sz="2400" i="0"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rPr>
              <a:t>e</a:t>
            </a:r>
            <a:r>
              <a:rPr kumimoji="0" lang="en-US" altLang="zh-CN" sz="2400" i="0" u="none" strike="noStrike" kern="1200" cap="none" spc="0" normalizeH="0" baseline="30000" noProof="0" dirty="0" err="1">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ω</a:t>
            </a:r>
            <a:r>
              <a:rPr kumimoji="0" lang="en-US"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t</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 </a:t>
            </a:r>
            <a:r>
              <a:rPr kumimoji="0" lang="en-US" altLang="zh-CN" sz="2400" i="0"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rPr>
              <a:t>e</a:t>
            </a:r>
            <a:r>
              <a:rPr kumimoji="0" lang="en-US" altLang="zh-CN" sz="2400" i="0" u="none" strike="noStrike" kern="1200" cap="none" spc="0" normalizeH="0" baseline="30000" noProof="0" dirty="0" err="1">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ω</a:t>
            </a:r>
            <a:r>
              <a:rPr kumimoji="0" lang="en-US"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t</a:t>
            </a:r>
            <a:endPar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141469905"/>
              </p:ext>
            </p:extLst>
          </p:nvPr>
        </p:nvGraphicFramePr>
        <p:xfrm>
          <a:off x="3069456" y="5196438"/>
          <a:ext cx="2645519" cy="800937"/>
        </p:xfrm>
        <a:graphic>
          <a:graphicData uri="http://schemas.openxmlformats.org/presentationml/2006/ole">
            <mc:AlternateContent xmlns:mc="http://schemas.openxmlformats.org/markup-compatibility/2006">
              <mc:Choice xmlns:v="urn:schemas-microsoft-com:vml" Requires="v">
                <p:oleObj spid="_x0000_s23777" name="公式" r:id="rId11" imgW="1384200" imgH="419040" progId="Equation.3">
                  <p:embed/>
                </p:oleObj>
              </mc:Choice>
              <mc:Fallback>
                <p:oleObj name="公式" r:id="rId11" imgW="1384200" imgH="419040" progId="Equation.3">
                  <p:embed/>
                  <p:pic>
                    <p:nvPicPr>
                      <p:cNvPr id="0" name=""/>
                      <p:cNvPicPr/>
                      <p:nvPr/>
                    </p:nvPicPr>
                    <p:blipFill>
                      <a:blip r:embed="rId12"/>
                      <a:stretch>
                        <a:fillRect/>
                      </a:stretch>
                    </p:blipFill>
                    <p:spPr>
                      <a:xfrm>
                        <a:off x="3069456" y="5196438"/>
                        <a:ext cx="2645519" cy="800937"/>
                      </a:xfrm>
                      <a:prstGeom prst="rect">
                        <a:avLst/>
                      </a:prstGeom>
                    </p:spPr>
                  </p:pic>
                </p:oleObj>
              </mc:Fallback>
            </mc:AlternateContent>
          </a:graphicData>
        </a:graphic>
      </p:graphicFrame>
      <p:sp>
        <p:nvSpPr>
          <p:cNvPr id="3" name="矩形 2"/>
          <p:cNvSpPr/>
          <p:nvPr/>
        </p:nvSpPr>
        <p:spPr>
          <a:xfrm>
            <a:off x="1229430" y="4365441"/>
            <a:ext cx="7457370" cy="830997"/>
          </a:xfrm>
          <a:prstGeom prst="rect">
            <a:avLst/>
          </a:prstGeom>
        </p:spPr>
        <p:txBody>
          <a:bodyPr wrap="square">
            <a:spAutoFit/>
          </a:bodyPr>
          <a:lstStyle/>
          <a:p>
            <a:pPr lvl="0">
              <a:defRPr/>
            </a:pPr>
            <a:r>
              <a:rPr lang="zh-CN" altLang="en-US" sz="2400" dirty="0">
                <a:solidFill>
                  <a:prstClr val="black"/>
                </a:solidFill>
                <a:latin typeface="Times New Roman" panose="02020603050405020304" pitchFamily="18" charset="0"/>
                <a:ea typeface="华文楷体" panose="02010600040101010101" pitchFamily="2" charset="-122"/>
              </a:rPr>
              <a:t>设系统初始松弛，则为一</a:t>
            </a:r>
            <a:r>
              <a:rPr lang="en-US" altLang="zh-CN" sz="2400" dirty="0">
                <a:solidFill>
                  <a:prstClr val="black"/>
                </a:solidFill>
                <a:latin typeface="Times New Roman" panose="02020603050405020304" pitchFamily="18" charset="0"/>
                <a:ea typeface="华文楷体" panose="02010600040101010101" pitchFamily="2" charset="-122"/>
              </a:rPr>
              <a:t>LTI</a:t>
            </a:r>
            <a:r>
              <a:rPr lang="zh-CN" altLang="en-US" sz="2400" dirty="0">
                <a:solidFill>
                  <a:prstClr val="black"/>
                </a:solidFill>
                <a:latin typeface="Times New Roman" panose="02020603050405020304" pitchFamily="18" charset="0"/>
                <a:ea typeface="华文楷体" panose="02010600040101010101" pitchFamily="2" charset="-122"/>
              </a:rPr>
              <a:t>系统，输入</a:t>
            </a:r>
            <a:r>
              <a:rPr lang="en-US" altLang="zh-CN" sz="2400" i="1" dirty="0">
                <a:solidFill>
                  <a:srgbClr val="000000"/>
                </a:solidFill>
                <a:latin typeface="Times New Roman" panose="02020603050405020304" pitchFamily="18" charset="0"/>
                <a:ea typeface="华文楷体" panose="02010600040101010101" pitchFamily="2" charset="-122"/>
              </a:rPr>
              <a:t>v</a:t>
            </a:r>
            <a:r>
              <a:rPr lang="en-US" altLang="zh-CN" sz="2400" i="1" baseline="-25000" dirty="0">
                <a:solidFill>
                  <a:srgbClr val="000000"/>
                </a:solidFill>
                <a:latin typeface="Times New Roman" panose="02020603050405020304" pitchFamily="18" charset="0"/>
                <a:ea typeface="华文楷体" panose="02010600040101010101" pitchFamily="2" charset="-122"/>
              </a:rPr>
              <a:t>s</a:t>
            </a:r>
            <a:r>
              <a:rPr lang="en-US" altLang="zh-CN" sz="2400" dirty="0">
                <a:solidFill>
                  <a:srgbClr val="000000"/>
                </a:solidFill>
                <a:latin typeface="Times New Roman" panose="02020603050405020304" pitchFamily="18" charset="0"/>
                <a:ea typeface="华文楷体" panose="02010600040101010101" pitchFamily="2" charset="-122"/>
              </a:rPr>
              <a:t>(</a:t>
            </a:r>
            <a:r>
              <a:rPr lang="en-US" altLang="zh-CN" sz="2400" i="1" dirty="0">
                <a:solidFill>
                  <a:srgbClr val="000000"/>
                </a:solidFill>
                <a:latin typeface="Times New Roman" panose="02020603050405020304" pitchFamily="18" charset="0"/>
                <a:ea typeface="华文楷体" panose="02010600040101010101" pitchFamily="2" charset="-122"/>
              </a:rPr>
              <a:t>t</a:t>
            </a:r>
            <a:r>
              <a:rPr lang="en-US" altLang="zh-CN" sz="2400" dirty="0">
                <a:solidFill>
                  <a:srgbClr val="000000"/>
                </a:solidFill>
                <a:latin typeface="Times New Roman" panose="02020603050405020304" pitchFamily="18" charset="0"/>
                <a:ea typeface="华文楷体" panose="02010600040101010101" pitchFamily="2" charset="-122"/>
              </a:rPr>
              <a:t>) = </a:t>
            </a:r>
            <a:r>
              <a:rPr lang="en-US" altLang="zh-CN" sz="2400" dirty="0" err="1">
                <a:solidFill>
                  <a:srgbClr val="000000"/>
                </a:solidFill>
                <a:latin typeface="Times New Roman" panose="02020603050405020304" pitchFamily="18" charset="0"/>
                <a:ea typeface="华文楷体" panose="02010600040101010101" pitchFamily="2" charset="-122"/>
              </a:rPr>
              <a:t>e</a:t>
            </a:r>
            <a:r>
              <a:rPr lang="en-US" altLang="zh-CN" sz="2400" baseline="30000" dirty="0" err="1">
                <a:solidFill>
                  <a:srgbClr val="000000"/>
                </a:solidFill>
                <a:latin typeface="Times New Roman" panose="02020603050405020304" pitchFamily="18" charset="0"/>
                <a:ea typeface="华文楷体" panose="02010600040101010101" pitchFamily="2" charset="-122"/>
              </a:rPr>
              <a:t>j</a:t>
            </a:r>
            <a:r>
              <a:rPr lang="el-GR" altLang="zh-CN" sz="2400" i="1" baseline="30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ω</a:t>
            </a:r>
            <a:r>
              <a:rPr lang="en-US" altLang="zh-CN" sz="2400" i="1" baseline="300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24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将产生输出</a:t>
            </a:r>
            <a:r>
              <a:rPr lang="en-US" altLang="zh-CN" sz="2400" i="1" dirty="0" err="1">
                <a:solidFill>
                  <a:srgbClr val="000000"/>
                </a:solidFill>
                <a:latin typeface="Times New Roman" panose="02020603050405020304" pitchFamily="18" charset="0"/>
                <a:ea typeface="华文楷体" panose="02010600040101010101" pitchFamily="2" charset="-122"/>
              </a:rPr>
              <a:t>v</a:t>
            </a:r>
            <a:r>
              <a:rPr lang="en-US" altLang="zh-CN" sz="2400" i="1" baseline="-25000" dirty="0" err="1">
                <a:solidFill>
                  <a:srgbClr val="000000"/>
                </a:solidFill>
                <a:latin typeface="Times New Roman" panose="02020603050405020304" pitchFamily="18" charset="0"/>
                <a:ea typeface="华文楷体" panose="02010600040101010101" pitchFamily="2" charset="-122"/>
              </a:rPr>
              <a:t>r</a:t>
            </a:r>
            <a:r>
              <a:rPr lang="en-US" altLang="zh-CN" sz="2400" dirty="0">
                <a:solidFill>
                  <a:srgbClr val="000000"/>
                </a:solidFill>
                <a:latin typeface="Times New Roman" panose="02020603050405020304" pitchFamily="18" charset="0"/>
                <a:ea typeface="华文楷体" panose="02010600040101010101" pitchFamily="2" charset="-122"/>
              </a:rPr>
              <a:t>(</a:t>
            </a:r>
            <a:r>
              <a:rPr lang="en-US" altLang="zh-CN" sz="2400" i="1" dirty="0">
                <a:solidFill>
                  <a:srgbClr val="000000"/>
                </a:solidFill>
                <a:latin typeface="Times New Roman" panose="02020603050405020304" pitchFamily="18" charset="0"/>
                <a:ea typeface="华文楷体" panose="02010600040101010101" pitchFamily="2" charset="-122"/>
              </a:rPr>
              <a:t>t</a:t>
            </a:r>
            <a:r>
              <a:rPr lang="en-US" altLang="zh-CN" sz="2400" dirty="0">
                <a:solidFill>
                  <a:srgbClr val="000000"/>
                </a:solidFill>
                <a:latin typeface="Times New Roman" panose="02020603050405020304" pitchFamily="18" charset="0"/>
                <a:ea typeface="华文楷体" panose="02010600040101010101" pitchFamily="2" charset="-122"/>
              </a:rPr>
              <a:t>) = </a:t>
            </a:r>
            <a:r>
              <a:rPr lang="en-US" altLang="zh-CN" sz="2400" i="1" dirty="0">
                <a:solidFill>
                  <a:srgbClr val="000000"/>
                </a:solidFill>
                <a:latin typeface="Times New Roman" panose="02020603050405020304" pitchFamily="18" charset="0"/>
                <a:ea typeface="华文楷体" panose="02010600040101010101" pitchFamily="2" charset="-122"/>
              </a:rPr>
              <a:t>G</a:t>
            </a:r>
            <a:r>
              <a:rPr lang="en-US" altLang="zh-CN" sz="2400" dirty="0">
                <a:solidFill>
                  <a:srgbClr val="000000"/>
                </a:solidFill>
                <a:latin typeface="Times New Roman" panose="02020603050405020304" pitchFamily="18" charset="0"/>
                <a:ea typeface="华文楷体" panose="02010600040101010101" pitchFamily="2" charset="-122"/>
              </a:rPr>
              <a:t>(j</a:t>
            </a:r>
            <a:r>
              <a:rPr lang="el-GR" altLang="zh-CN" sz="2400" i="1" dirty="0">
                <a:solidFill>
                  <a:srgbClr val="000000"/>
                </a:solidFill>
                <a:latin typeface="Times New Roman" panose="02020603050405020304" pitchFamily="18" charset="0"/>
                <a:ea typeface="华文楷体" panose="02010600040101010101" pitchFamily="2" charset="-122"/>
              </a:rPr>
              <a:t>ω</a:t>
            </a:r>
            <a:r>
              <a:rPr lang="en-US" altLang="zh-CN" sz="2400" dirty="0">
                <a:solidFill>
                  <a:srgbClr val="000000"/>
                </a:solidFill>
                <a:latin typeface="Times New Roman" panose="02020603050405020304" pitchFamily="18" charset="0"/>
                <a:ea typeface="华文楷体" panose="02010600040101010101" pitchFamily="2" charset="-122"/>
              </a:rPr>
              <a:t>) </a:t>
            </a:r>
            <a:r>
              <a:rPr lang="en-US" altLang="zh-CN" sz="2400" dirty="0" err="1">
                <a:solidFill>
                  <a:srgbClr val="000000"/>
                </a:solidFill>
                <a:latin typeface="Times New Roman" panose="02020603050405020304" pitchFamily="18" charset="0"/>
                <a:ea typeface="华文楷体" panose="02010600040101010101" pitchFamily="2" charset="-122"/>
              </a:rPr>
              <a:t>e</a:t>
            </a:r>
            <a:r>
              <a:rPr lang="en-US" altLang="zh-CN" sz="2400" baseline="30000" dirty="0" err="1">
                <a:solidFill>
                  <a:srgbClr val="000000"/>
                </a:solidFill>
                <a:latin typeface="Times New Roman" panose="02020603050405020304" pitchFamily="18" charset="0"/>
                <a:ea typeface="华文楷体" panose="02010600040101010101" pitchFamily="2" charset="-122"/>
              </a:rPr>
              <a:t>j</a:t>
            </a:r>
            <a:r>
              <a:rPr lang="el-GR" altLang="zh-CN" sz="2400" i="1" baseline="30000" dirty="0">
                <a:solidFill>
                  <a:srgbClr val="000000"/>
                </a:solidFill>
                <a:latin typeface="Times New Roman" panose="02020603050405020304" pitchFamily="18" charset="0"/>
                <a:ea typeface="华文楷体" panose="02010600040101010101" pitchFamily="2" charset="-122"/>
              </a:rPr>
              <a:t>ω</a:t>
            </a:r>
            <a:r>
              <a:rPr lang="en-US" altLang="zh-CN" sz="2400" i="1" baseline="30000" dirty="0">
                <a:solidFill>
                  <a:srgbClr val="000000"/>
                </a:solidFill>
                <a:latin typeface="Times New Roman" panose="02020603050405020304" pitchFamily="18" charset="0"/>
                <a:ea typeface="华文楷体" panose="02010600040101010101" pitchFamily="2" charset="-122"/>
              </a:rPr>
              <a:t>t </a:t>
            </a:r>
            <a:r>
              <a:rPr lang="zh-CN" altLang="en-US" sz="2400" dirty="0">
                <a:solidFill>
                  <a:srgbClr val="000000"/>
                </a:solidFill>
                <a:latin typeface="Times New Roman" panose="02020603050405020304" pitchFamily="18" charset="0"/>
                <a:ea typeface="华文楷体" panose="02010600040101010101" pitchFamily="2" charset="-122"/>
              </a:rPr>
              <a:t>，因此：</a:t>
            </a:r>
            <a:endParaRPr lang="zh-CN" altLang="en-US" sz="2400" dirty="0">
              <a:solidFill>
                <a:prstClr val="black"/>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ppt_x"/>
                                          </p:val>
                                        </p:tav>
                                        <p:tav tm="100000">
                                          <p:val>
                                            <p:strVal val="#ppt_x"/>
                                          </p:val>
                                        </p:tav>
                                      </p:tavLst>
                                    </p:anim>
                                    <p:anim calcmode="lin" valueType="num">
                                      <p:cBhvr additive="base">
                                        <p:cTn id="2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标题 1">
            <a:extLst>
              <a:ext uri="{FF2B5EF4-FFF2-40B4-BE49-F238E27FC236}">
                <a16:creationId xmlns:a16="http://schemas.microsoft.com/office/drawing/2014/main" id="{E9E0C27F-6493-4C2D-A7B4-AE1B074227E7}"/>
              </a:ext>
            </a:extLst>
          </p:cNvPr>
          <p:cNvSpPr>
            <a:spLocks noGrp="1"/>
          </p:cNvSpPr>
          <p:nvPr>
            <p:ph type="title"/>
          </p:nvPr>
        </p:nvSpPr>
        <p:spPr/>
        <p:txBody>
          <a:bodyPr/>
          <a:lstStyle/>
          <a:p>
            <a:r>
              <a:rPr lang="en-US" altLang="zh-CN" sz="3200">
                <a:solidFill>
                  <a:srgbClr val="000000"/>
                </a:solidFill>
              </a:rPr>
              <a:t>3.10 </a:t>
            </a:r>
            <a:r>
              <a:rPr lang="zh-CN" altLang="en-US" sz="3200">
                <a:solidFill>
                  <a:srgbClr val="000000"/>
                </a:solidFill>
              </a:rPr>
              <a:t>微分方程描述的连续时间滤波器举例</a:t>
            </a:r>
            <a:endParaRPr lang="zh-CN" altLang="en-US"/>
          </a:p>
        </p:txBody>
      </p:sp>
      <p:sp>
        <p:nvSpPr>
          <p:cNvPr id="4" name="灯片编号占位符 3">
            <a:extLst>
              <a:ext uri="{FF2B5EF4-FFF2-40B4-BE49-F238E27FC236}">
                <a16:creationId xmlns:a16="http://schemas.microsoft.com/office/drawing/2014/main" id="{D2F15ACE-98A4-4FF1-A836-32C2CF4C6AA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121C4D7-7BFC-4E1B-9D2C-688E8CCB091A}"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2530" name="Object 2">
            <a:extLst>
              <a:ext uri="{FF2B5EF4-FFF2-40B4-BE49-F238E27FC236}">
                <a16:creationId xmlns:a16="http://schemas.microsoft.com/office/drawing/2014/main" id="{52F634C8-F04C-4570-AB68-55C4B4F904A4}"/>
              </a:ext>
            </a:extLst>
          </p:cNvPr>
          <p:cNvGraphicFramePr>
            <a:graphicFrameLocks noChangeAspect="1"/>
          </p:cNvGraphicFramePr>
          <p:nvPr/>
        </p:nvGraphicFramePr>
        <p:xfrm>
          <a:off x="692150" y="1260475"/>
          <a:ext cx="7745413" cy="846138"/>
        </p:xfrm>
        <a:graphic>
          <a:graphicData uri="http://schemas.openxmlformats.org/presentationml/2006/ole">
            <mc:AlternateContent xmlns:mc="http://schemas.openxmlformats.org/markup-compatibility/2006">
              <mc:Choice xmlns:v="urn:schemas-microsoft-com:vml" Requires="v">
                <p:oleObj spid="_x0000_s24633" name="Equation" r:id="rId3" imgW="4305240" imgH="469800" progId="Equation.DSMT4">
                  <p:embed/>
                </p:oleObj>
              </mc:Choice>
              <mc:Fallback>
                <p:oleObj name="Equation" r:id="rId3" imgW="4305240" imgH="469800" progId="Equation.DSMT4">
                  <p:embed/>
                  <p:pic>
                    <p:nvPicPr>
                      <p:cNvPr id="22530" name="Object 2">
                        <a:extLst>
                          <a:ext uri="{FF2B5EF4-FFF2-40B4-BE49-F238E27FC236}">
                            <a16:creationId xmlns:a16="http://schemas.microsoft.com/office/drawing/2014/main" id="{52F634C8-F04C-4570-AB68-55C4B4F904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150" y="1260475"/>
                        <a:ext cx="7745413"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3492" name="Picture 4">
            <a:extLst>
              <a:ext uri="{FF2B5EF4-FFF2-40B4-BE49-F238E27FC236}">
                <a16:creationId xmlns:a16="http://schemas.microsoft.com/office/drawing/2014/main" id="{52F9DE6C-458F-48E1-A288-F351FB8620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438" y="3798888"/>
            <a:ext cx="7131050" cy="303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5">
            <a:extLst>
              <a:ext uri="{FF2B5EF4-FFF2-40B4-BE49-F238E27FC236}">
                <a16:creationId xmlns:a16="http://schemas.microsoft.com/office/drawing/2014/main" id="{AEE35FE8-D937-4D10-AE15-199DA4C219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4438" y="2009775"/>
            <a:ext cx="7131050" cy="177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3493"/>
                                        </p:tgtEl>
                                        <p:attrNameLst>
                                          <p:attrName>style.visibility</p:attrName>
                                        </p:attrNameLst>
                                      </p:cBhvr>
                                      <p:to>
                                        <p:strVal val="visible"/>
                                      </p:to>
                                    </p:set>
                                    <p:animEffect transition="in" filter="blinds(horizontal)">
                                      <p:cBhvr>
                                        <p:cTn id="7" dur="500"/>
                                        <p:tgtEl>
                                          <p:spTgt spid="63493"/>
                                        </p:tgtEl>
                                      </p:cBhvr>
                                    </p:animEffect>
                                  </p:childTnLst>
                                </p:cTn>
                              </p:par>
                              <p:par>
                                <p:cTn id="8" presetID="3" presetClass="entr" presetSubtype="10" fill="hold" nodeType="withEffect">
                                  <p:stCondLst>
                                    <p:cond delay="0"/>
                                  </p:stCondLst>
                                  <p:childTnLst>
                                    <p:set>
                                      <p:cBhvr>
                                        <p:cTn id="9" dur="1" fill="hold">
                                          <p:stCondLst>
                                            <p:cond delay="0"/>
                                          </p:stCondLst>
                                        </p:cTn>
                                        <p:tgtEl>
                                          <p:spTgt spid="63492"/>
                                        </p:tgtEl>
                                        <p:attrNameLst>
                                          <p:attrName>style.visibility</p:attrName>
                                        </p:attrNameLst>
                                      </p:cBhvr>
                                      <p:to>
                                        <p:strVal val="visible"/>
                                      </p:to>
                                    </p:set>
                                    <p:animEffect transition="in" filter="blinds(horizontal)">
                                      <p:cBhvr>
                                        <p:cTn id="10" dur="500"/>
                                        <p:tgtEl>
                                          <p:spTgt spid="63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标题 1">
            <a:extLst>
              <a:ext uri="{FF2B5EF4-FFF2-40B4-BE49-F238E27FC236}">
                <a16:creationId xmlns:a16="http://schemas.microsoft.com/office/drawing/2014/main" id="{40941D5B-0F41-4A60-9AAD-845E3B996E5C}"/>
              </a:ext>
            </a:extLst>
          </p:cNvPr>
          <p:cNvSpPr>
            <a:spLocks noGrp="1"/>
          </p:cNvSpPr>
          <p:nvPr>
            <p:ph type="title"/>
          </p:nvPr>
        </p:nvSpPr>
        <p:spPr/>
        <p:txBody>
          <a:bodyPr/>
          <a:lstStyle/>
          <a:p>
            <a:r>
              <a:rPr lang="en-US" altLang="zh-CN" sz="3200" dirty="0"/>
              <a:t>3.11 </a:t>
            </a:r>
            <a:r>
              <a:rPr lang="zh-CN" altLang="en-US" sz="3200" dirty="0"/>
              <a:t>差分方程描述的离散时间滤波器举例</a:t>
            </a:r>
            <a:endParaRPr lang="zh-CN" altLang="en-US" dirty="0"/>
          </a:p>
        </p:txBody>
      </p:sp>
      <p:sp>
        <p:nvSpPr>
          <p:cNvPr id="23558" name="内容占位符 2">
            <a:extLst>
              <a:ext uri="{FF2B5EF4-FFF2-40B4-BE49-F238E27FC236}">
                <a16:creationId xmlns:a16="http://schemas.microsoft.com/office/drawing/2014/main" id="{EF95D05B-9BA6-4DBA-A50F-2D27F9475057}"/>
              </a:ext>
            </a:extLst>
          </p:cNvPr>
          <p:cNvSpPr>
            <a:spLocks noGrp="1"/>
          </p:cNvSpPr>
          <p:nvPr>
            <p:ph idx="1"/>
          </p:nvPr>
        </p:nvSpPr>
        <p:spPr/>
        <p:txBody>
          <a:bodyPr/>
          <a:lstStyle/>
          <a:p>
            <a:pPr marL="0" indent="0">
              <a:buNone/>
            </a:pPr>
            <a:r>
              <a:rPr lang="zh-CN" altLang="en-US" sz="2400" b="0" dirty="0">
                <a:solidFill>
                  <a:srgbClr val="0000FF"/>
                </a:solidFill>
              </a:rPr>
              <a:t>一</a:t>
            </a:r>
            <a:r>
              <a:rPr lang="en-US" altLang="zh-CN" sz="2400" b="0" dirty="0">
                <a:solidFill>
                  <a:srgbClr val="0000FF"/>
                </a:solidFill>
              </a:rPr>
              <a:t>. </a:t>
            </a:r>
            <a:r>
              <a:rPr lang="zh-CN" altLang="en-US" sz="2400" b="0" dirty="0">
                <a:solidFill>
                  <a:srgbClr val="0000FF"/>
                </a:solidFill>
              </a:rPr>
              <a:t>一阶递归离散时间滤波器</a:t>
            </a:r>
            <a:endParaRPr lang="en-US" altLang="zh-CN" sz="2400" b="0" dirty="0">
              <a:solidFill>
                <a:srgbClr val="0000FF"/>
              </a:solidFill>
            </a:endParaRPr>
          </a:p>
          <a:p>
            <a:pPr lvl="1"/>
            <a:r>
              <a:rPr lang="zh-CN" altLang="en-US" sz="2400" b="0" dirty="0"/>
              <a:t>对于由一阶差分方程描述的</a:t>
            </a:r>
            <a:r>
              <a:rPr lang="en-US" altLang="zh-CN" sz="2400" b="0" dirty="0"/>
              <a:t>LTI</a:t>
            </a:r>
            <a:r>
              <a:rPr lang="zh-CN" altLang="en-US" sz="2400" b="0" dirty="0"/>
              <a:t>系统</a:t>
            </a:r>
          </a:p>
        </p:txBody>
      </p:sp>
      <p:sp>
        <p:nvSpPr>
          <p:cNvPr id="4" name="灯片编号占位符 3">
            <a:extLst>
              <a:ext uri="{FF2B5EF4-FFF2-40B4-BE49-F238E27FC236}">
                <a16:creationId xmlns:a16="http://schemas.microsoft.com/office/drawing/2014/main" id="{E1114E9D-8157-4D12-9D1D-DD20544D7D7B}"/>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4D84A12-F8E4-4614-BD85-7982F2970192}"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3554" name="Object 2">
            <a:extLst>
              <a:ext uri="{FF2B5EF4-FFF2-40B4-BE49-F238E27FC236}">
                <a16:creationId xmlns:a16="http://schemas.microsoft.com/office/drawing/2014/main" id="{251322F6-6006-49E3-BE14-6336BD2E643F}"/>
              </a:ext>
            </a:extLst>
          </p:cNvPr>
          <p:cNvGraphicFramePr>
            <a:graphicFrameLocks noChangeAspect="1"/>
          </p:cNvGraphicFramePr>
          <p:nvPr>
            <p:extLst>
              <p:ext uri="{D42A27DB-BD31-4B8C-83A1-F6EECF244321}">
                <p14:modId xmlns:p14="http://schemas.microsoft.com/office/powerpoint/2010/main" val="61588373"/>
              </p:ext>
            </p:extLst>
          </p:nvPr>
        </p:nvGraphicFramePr>
        <p:xfrm>
          <a:off x="2716213" y="2286000"/>
          <a:ext cx="2963862" cy="446088"/>
        </p:xfrm>
        <a:graphic>
          <a:graphicData uri="http://schemas.openxmlformats.org/presentationml/2006/ole">
            <mc:AlternateContent xmlns:mc="http://schemas.openxmlformats.org/markup-compatibility/2006">
              <mc:Choice xmlns:v="urn:schemas-microsoft-com:vml" Requires="v">
                <p:oleObj spid="_x0000_s25767" name="Equation" r:id="rId3" imgW="1333440" imgH="203040" progId="Equation.DSMT4">
                  <p:embed/>
                </p:oleObj>
              </mc:Choice>
              <mc:Fallback>
                <p:oleObj name="Equation" r:id="rId3" imgW="1333440" imgH="203040" progId="Equation.DSMT4">
                  <p:embed/>
                  <p:pic>
                    <p:nvPicPr>
                      <p:cNvPr id="23554" name="Object 2">
                        <a:extLst>
                          <a:ext uri="{FF2B5EF4-FFF2-40B4-BE49-F238E27FC236}">
                            <a16:creationId xmlns:a16="http://schemas.microsoft.com/office/drawing/2014/main" id="{251322F6-6006-49E3-BE14-6336BD2E643F}"/>
                          </a:ext>
                        </a:extLst>
                      </p:cNvPr>
                      <p:cNvPicPr>
                        <a:picLocks noChangeAspect="1" noChangeArrowheads="1"/>
                      </p:cNvPicPr>
                      <p:nvPr/>
                    </p:nvPicPr>
                    <p:blipFill>
                      <a:blip r:embed="rId4"/>
                      <a:srcRect/>
                      <a:stretch>
                        <a:fillRect/>
                      </a:stretch>
                    </p:blipFill>
                    <p:spPr bwMode="auto">
                      <a:xfrm>
                        <a:off x="2716213" y="2286000"/>
                        <a:ext cx="2963862" cy="446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a:extLst>
              <a:ext uri="{FF2B5EF4-FFF2-40B4-BE49-F238E27FC236}">
                <a16:creationId xmlns:a16="http://schemas.microsoft.com/office/drawing/2014/main" id="{0E7826B4-660E-48BF-B5DF-0BEDE70C71FA}"/>
              </a:ext>
            </a:extLst>
          </p:cNvPr>
          <p:cNvSpPr txBox="1">
            <a:spLocks noChangeArrowheads="1"/>
          </p:cNvSpPr>
          <p:nvPr/>
        </p:nvSpPr>
        <p:spPr bwMode="auto">
          <a:xfrm>
            <a:off x="1201738" y="3397250"/>
            <a:ext cx="7215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输入</a:t>
            </a:r>
            <a:r>
              <a:rPr kumimoji="0" lang="en-US" altLang="zh-CN" sz="2400" i="1"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x</a:t>
            </a:r>
            <a:r>
              <a:rPr kumimoji="0" lang="en-US" altLang="zh-CN" sz="240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a:t>
            </a:r>
            <a:r>
              <a:rPr kumimoji="0" lang="en-US" altLang="zh-CN" sz="2400" i="1"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n</a:t>
            </a:r>
            <a:r>
              <a:rPr kumimoji="0" lang="en-US" altLang="zh-CN" sz="240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 </a:t>
            </a:r>
            <a:r>
              <a:rPr kumimoji="0" lang="en-US" altLang="zh-CN" sz="2400" i="0"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rPr>
              <a:t>e</a:t>
            </a:r>
            <a:r>
              <a:rPr kumimoji="0" lang="en-US" altLang="zh-CN" sz="2400" i="0" u="none" strike="noStrike" kern="1200" cap="none" spc="0" normalizeH="0" baseline="30000" noProof="0" dirty="0" err="1">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n</a:t>
            </a:r>
            <a:r>
              <a:rPr kumimoji="0" lang="zh-CN" altLang="en-US"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将产生输出</a:t>
            </a:r>
            <a:r>
              <a:rPr kumimoji="0" lang="en-US" altLang="zh-CN" sz="2400" i="1"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y</a:t>
            </a:r>
            <a:r>
              <a:rPr kumimoji="0" lang="en-US" altLang="zh-CN" sz="240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a:t>
            </a:r>
            <a:r>
              <a:rPr kumimoji="0" lang="en-US" altLang="zh-CN" sz="2400" i="1"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n</a:t>
            </a:r>
            <a:r>
              <a:rPr kumimoji="0" lang="en-US" altLang="zh-CN" sz="240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rPr>
              <a:t>]</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 </a:t>
            </a:r>
            <a:r>
              <a:rPr kumimoji="0"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H</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a:t>
            </a:r>
            <a:r>
              <a:rPr kumimoji="0" lang="en-US" altLang="zh-CN" sz="2400" i="0"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rPr>
              <a:t>e</a:t>
            </a:r>
            <a:r>
              <a:rPr kumimoji="0" lang="en-US" altLang="zh-CN" sz="2400" i="0" u="none" strike="noStrike" kern="1200" cap="none" spc="0" normalizeH="0" baseline="30000" noProof="0" dirty="0" err="1">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ω</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 </a:t>
            </a:r>
            <a:r>
              <a:rPr kumimoji="0" lang="en-US" altLang="zh-CN" sz="2400" i="0" u="none" strike="noStrike" kern="1200" cap="none" spc="0" normalizeH="0" baseline="0" noProof="0" dirty="0" err="1">
                <a:ln>
                  <a:noFill/>
                </a:ln>
                <a:solidFill>
                  <a:srgbClr val="000000"/>
                </a:solidFill>
                <a:effectLst/>
                <a:uLnTx/>
                <a:uFillTx/>
                <a:latin typeface="Times New Roman" panose="02020603050405020304" pitchFamily="18" charset="0"/>
                <a:ea typeface="华文楷体" panose="02010600040101010101" pitchFamily="2" charset="-122"/>
              </a:rPr>
              <a:t>e</a:t>
            </a:r>
            <a:r>
              <a:rPr kumimoji="0" lang="en-US" altLang="zh-CN" sz="2400" i="0" u="none" strike="noStrike" kern="1200" cap="none" spc="0" normalizeH="0" baseline="30000" noProof="0" dirty="0" err="1">
                <a:ln>
                  <a:noFill/>
                </a:ln>
                <a:solidFill>
                  <a:srgbClr val="00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ω</a:t>
            </a:r>
            <a:r>
              <a:rPr kumimoji="0" lang="en-US" altLang="zh-CN" sz="2400" i="1" u="none" strike="noStrike" kern="1200" cap="none" spc="0" normalizeH="0" baseline="30000" noProof="0" dirty="0">
                <a:ln>
                  <a:noFill/>
                </a:ln>
                <a:solidFill>
                  <a:srgbClr val="000000"/>
                </a:solidFill>
                <a:effectLst/>
                <a:uLnTx/>
                <a:uFillTx/>
                <a:latin typeface="Times New Roman" panose="02020603050405020304" pitchFamily="18" charset="0"/>
                <a:ea typeface="华文楷体" panose="02010600040101010101" pitchFamily="2" charset="-122"/>
              </a:rPr>
              <a:t>n </a:t>
            </a:r>
            <a:r>
              <a:rPr kumimoji="0" lang="zh-CN" altLang="en-US"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rPr>
              <a:t>，因此：</a:t>
            </a:r>
            <a:endParaRPr kumimoji="0" lang="zh-CN" altLang="en-US" sz="240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endParaRPr>
          </a:p>
        </p:txBody>
      </p:sp>
      <p:sp>
        <p:nvSpPr>
          <p:cNvPr id="7" name="TextBox 6">
            <a:extLst>
              <a:ext uri="{FF2B5EF4-FFF2-40B4-BE49-F238E27FC236}">
                <a16:creationId xmlns:a16="http://schemas.microsoft.com/office/drawing/2014/main" id="{4C903746-23EC-4DB3-B0F1-0C917007911D}"/>
              </a:ext>
            </a:extLst>
          </p:cNvPr>
          <p:cNvSpPr txBox="1">
            <a:spLocks noChangeArrowheads="1"/>
          </p:cNvSpPr>
          <p:nvPr/>
        </p:nvSpPr>
        <p:spPr bwMode="auto">
          <a:xfrm>
            <a:off x="1190625" y="2857500"/>
            <a:ext cx="28167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频率响应</a:t>
            </a:r>
            <a:r>
              <a:rPr kumimoji="0" lang="en-US" altLang="zh-CN" sz="2400" i="1"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H</a:t>
            </a:r>
            <a:r>
              <a:rPr kumimoji="0" lang="en-US" altLang="zh-CN"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(e</a:t>
            </a:r>
            <a:r>
              <a:rPr kumimoji="0" lang="en-US" altLang="zh-CN" sz="2400" i="0" u="none" strike="noStrike" kern="1200" cap="none" spc="0" normalizeH="0" baseline="30000" noProof="0">
                <a:ln>
                  <a:noFill/>
                </a:ln>
                <a:solidFill>
                  <a:srgbClr val="FF0000"/>
                </a:solidFill>
                <a:effectLst/>
                <a:uLnTx/>
                <a:uFillTx/>
                <a:latin typeface="Times New Roman" panose="02020603050405020304" pitchFamily="18" charset="0"/>
                <a:ea typeface="华文楷体" panose="02010600040101010101" pitchFamily="2" charset="-122"/>
              </a:rPr>
              <a:t>j</a:t>
            </a:r>
            <a:r>
              <a:rPr kumimoji="0" lang="el-GR" altLang="zh-CN" sz="2400" i="1" u="none" strike="noStrike" kern="1200" cap="none" spc="0" normalizeH="0" baseline="30000" noProof="0">
                <a:ln>
                  <a:noFill/>
                </a:ln>
                <a:solidFill>
                  <a:srgbClr val="FF0000"/>
                </a:solidFill>
                <a:effectLst/>
                <a:uLnTx/>
                <a:uFillTx/>
                <a:latin typeface="Times New Roman" panose="02020603050405020304" pitchFamily="18" charset="0"/>
                <a:ea typeface="华文楷体" panose="02010600040101010101" pitchFamily="2" charset="-122"/>
                <a:cs typeface="Times New Roman" panose="02020603050405020304" pitchFamily="18" charset="0"/>
              </a:rPr>
              <a:t>ω</a:t>
            </a:r>
            <a:r>
              <a:rPr kumimoji="0" lang="en-US" altLang="zh-CN"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a:t>
            </a:r>
            <a:r>
              <a:rPr kumimoji="0" lang="zh-CN" altLang="en-US"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 </a:t>
            </a:r>
            <a:r>
              <a:rPr kumimoji="0" lang="en-US" altLang="zh-CN"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 </a:t>
            </a:r>
            <a:r>
              <a:rPr kumimoji="0" lang="zh-CN" altLang="en-US" sz="2400" i="0" u="none" strike="noStrike" kern="1200" cap="none" spc="0" normalizeH="0" baseline="0" noProof="0">
                <a:ln>
                  <a:noFill/>
                </a:ln>
                <a:solidFill>
                  <a:srgbClr val="FF0000"/>
                </a:solidFill>
                <a:effectLst/>
                <a:uLnTx/>
                <a:uFillTx/>
                <a:latin typeface="Times New Roman" panose="02020603050405020304" pitchFamily="18" charset="0"/>
                <a:ea typeface="华文楷体" panose="02010600040101010101" pitchFamily="2" charset="-122"/>
              </a:rPr>
              <a:t>？</a:t>
            </a:r>
          </a:p>
        </p:txBody>
      </p:sp>
      <p:graphicFrame>
        <p:nvGraphicFramePr>
          <p:cNvPr id="8" name="Object 3">
            <a:extLst>
              <a:ext uri="{FF2B5EF4-FFF2-40B4-BE49-F238E27FC236}">
                <a16:creationId xmlns:a16="http://schemas.microsoft.com/office/drawing/2014/main" id="{653A5A6B-1B0A-4596-A4FC-778BFACE9EF5}"/>
              </a:ext>
            </a:extLst>
          </p:cNvPr>
          <p:cNvGraphicFramePr>
            <a:graphicFrameLocks noChangeAspect="1"/>
          </p:cNvGraphicFramePr>
          <p:nvPr>
            <p:extLst>
              <p:ext uri="{D42A27DB-BD31-4B8C-83A1-F6EECF244321}">
                <p14:modId xmlns:p14="http://schemas.microsoft.com/office/powerpoint/2010/main" val="4159685998"/>
              </p:ext>
            </p:extLst>
          </p:nvPr>
        </p:nvGraphicFramePr>
        <p:xfrm>
          <a:off x="1962150" y="4143375"/>
          <a:ext cx="4224338" cy="457200"/>
        </p:xfrm>
        <a:graphic>
          <a:graphicData uri="http://schemas.openxmlformats.org/presentationml/2006/ole">
            <mc:AlternateContent xmlns:mc="http://schemas.openxmlformats.org/markup-compatibility/2006">
              <mc:Choice xmlns:v="urn:schemas-microsoft-com:vml" Requires="v">
                <p:oleObj spid="_x0000_s25768" name="Equation" r:id="rId5" imgW="2108160" imgH="228600" progId="Equation.DSMT4">
                  <p:embed/>
                </p:oleObj>
              </mc:Choice>
              <mc:Fallback>
                <p:oleObj name="Equation" r:id="rId5" imgW="2108160" imgH="228600" progId="Equation.DSMT4">
                  <p:embed/>
                  <p:pic>
                    <p:nvPicPr>
                      <p:cNvPr id="8" name="Object 3">
                        <a:extLst>
                          <a:ext uri="{FF2B5EF4-FFF2-40B4-BE49-F238E27FC236}">
                            <a16:creationId xmlns:a16="http://schemas.microsoft.com/office/drawing/2014/main" id="{653A5A6B-1B0A-4596-A4FC-778BFACE9E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2150" y="4143375"/>
                        <a:ext cx="42243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4">
            <a:extLst>
              <a:ext uri="{FF2B5EF4-FFF2-40B4-BE49-F238E27FC236}">
                <a16:creationId xmlns:a16="http://schemas.microsoft.com/office/drawing/2014/main" id="{A2AEB7C4-048C-423A-9B7B-3F49FC064E42}"/>
              </a:ext>
            </a:extLst>
          </p:cNvPr>
          <p:cNvGraphicFramePr>
            <a:graphicFrameLocks noChangeAspect="1"/>
          </p:cNvGraphicFramePr>
          <p:nvPr>
            <p:extLst>
              <p:ext uri="{D42A27DB-BD31-4B8C-83A1-F6EECF244321}">
                <p14:modId xmlns:p14="http://schemas.microsoft.com/office/powerpoint/2010/main" val="2406392953"/>
              </p:ext>
            </p:extLst>
          </p:nvPr>
        </p:nvGraphicFramePr>
        <p:xfrm>
          <a:off x="2000250" y="4854575"/>
          <a:ext cx="2671763" cy="788988"/>
        </p:xfrm>
        <a:graphic>
          <a:graphicData uri="http://schemas.openxmlformats.org/presentationml/2006/ole">
            <mc:AlternateContent xmlns:mc="http://schemas.openxmlformats.org/markup-compatibility/2006">
              <mc:Choice xmlns:v="urn:schemas-microsoft-com:vml" Requires="v">
                <p:oleObj spid="_x0000_s25769" name="Equation" r:id="rId7" imgW="1333440" imgH="393480" progId="Equation.DSMT4">
                  <p:embed/>
                </p:oleObj>
              </mc:Choice>
              <mc:Fallback>
                <p:oleObj name="Equation" r:id="rId7" imgW="1333440" imgH="393480" progId="Equation.DSMT4">
                  <p:embed/>
                  <p:pic>
                    <p:nvPicPr>
                      <p:cNvPr id="9" name="Object 4">
                        <a:extLst>
                          <a:ext uri="{FF2B5EF4-FFF2-40B4-BE49-F238E27FC236}">
                            <a16:creationId xmlns:a16="http://schemas.microsoft.com/office/drawing/2014/main" id="{A2AEB7C4-048C-423A-9B7B-3F49FC064E4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0250" y="4854575"/>
                        <a:ext cx="2671763"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993EB0E3-A9C4-431B-9D42-2339D7625092}"/>
              </a:ext>
            </a:extLst>
          </p:cNvPr>
          <p:cNvSpPr>
            <a:spLocks noGrp="1"/>
          </p:cNvSpPr>
          <p:nvPr>
            <p:ph type="title"/>
          </p:nvPr>
        </p:nvSpPr>
        <p:spPr/>
        <p:txBody>
          <a:bodyPr/>
          <a:lstStyle/>
          <a:p>
            <a:r>
              <a:rPr lang="en-US" altLang="zh-CN" sz="3200" dirty="0">
                <a:solidFill>
                  <a:srgbClr val="000000"/>
                </a:solidFill>
              </a:rPr>
              <a:t>3.11 </a:t>
            </a:r>
            <a:r>
              <a:rPr lang="zh-CN" altLang="en-US" sz="3200" dirty="0">
                <a:solidFill>
                  <a:srgbClr val="000000"/>
                </a:solidFill>
              </a:rPr>
              <a:t>差分方程描述的离散时间滤波器举例</a:t>
            </a:r>
            <a:endParaRPr lang="zh-CN" altLang="en-US" dirty="0"/>
          </a:p>
        </p:txBody>
      </p:sp>
      <p:sp>
        <p:nvSpPr>
          <p:cNvPr id="4" name="灯片编号占位符 3">
            <a:extLst>
              <a:ext uri="{FF2B5EF4-FFF2-40B4-BE49-F238E27FC236}">
                <a16:creationId xmlns:a16="http://schemas.microsoft.com/office/drawing/2014/main" id="{3398E723-5062-4F1C-AE24-2A5D2BC82C3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6FFAAC3-0CAD-4741-924C-9736AA164D4E}"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53252" name="Picture 4">
            <a:extLst>
              <a:ext uri="{FF2B5EF4-FFF2-40B4-BE49-F238E27FC236}">
                <a16:creationId xmlns:a16="http://schemas.microsoft.com/office/drawing/2014/main" id="{594CE163-3405-40ED-9A43-EE950A309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90650"/>
            <a:ext cx="4216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5">
            <a:extLst>
              <a:ext uri="{FF2B5EF4-FFF2-40B4-BE49-F238E27FC236}">
                <a16:creationId xmlns:a16="http://schemas.microsoft.com/office/drawing/2014/main" id="{5A0443E9-C1E0-4F65-B29E-94D683D53F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314450"/>
            <a:ext cx="373062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 Box 7">
            <a:extLst>
              <a:ext uri="{FF2B5EF4-FFF2-40B4-BE49-F238E27FC236}">
                <a16:creationId xmlns:a16="http://schemas.microsoft.com/office/drawing/2014/main" id="{41C6EEB7-39FD-43F9-A52D-355B7AFED9FB}"/>
              </a:ext>
            </a:extLst>
          </p:cNvPr>
          <p:cNvSpPr txBox="1">
            <a:spLocks noChangeArrowheads="1"/>
          </p:cNvSpPr>
          <p:nvPr/>
        </p:nvSpPr>
        <p:spPr bwMode="auto">
          <a:xfrm>
            <a:off x="2290763" y="6419850"/>
            <a:ext cx="4938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1415" tIns="45706" rIns="91415" bIns="45706">
            <a:spAutoFit/>
          </a:bodyPr>
          <a:lstStyle>
            <a:lvl1pPr defTabSz="912813" eaLnBrk="0" hangingPunct="0">
              <a:defRPr>
                <a:solidFill>
                  <a:schemeClr val="tx1"/>
                </a:solidFill>
                <a:latin typeface="Arial" panose="020B0604020202020204" pitchFamily="34" charset="0"/>
                <a:ea typeface="宋体" panose="02010600030101010101" pitchFamily="2" charset="-122"/>
              </a:defRPr>
            </a:lvl1pPr>
            <a:lvl2pPr marL="742950" indent="-285750" defTabSz="912813" eaLnBrk="0" hangingPunct="0">
              <a:defRPr>
                <a:solidFill>
                  <a:schemeClr val="tx1"/>
                </a:solidFill>
                <a:latin typeface="Arial" panose="020B0604020202020204" pitchFamily="34" charset="0"/>
                <a:ea typeface="宋体" panose="02010600030101010101" pitchFamily="2" charset="-122"/>
              </a:defRPr>
            </a:lvl2pPr>
            <a:lvl3pPr marL="1143000" indent="-228600" defTabSz="912813" eaLnBrk="0" hangingPunct="0">
              <a:defRPr>
                <a:solidFill>
                  <a:schemeClr val="tx1"/>
                </a:solidFill>
                <a:latin typeface="Arial" panose="020B0604020202020204" pitchFamily="34" charset="0"/>
                <a:ea typeface="宋体" panose="02010600030101010101" pitchFamily="2" charset="-122"/>
              </a:defRPr>
            </a:lvl3pPr>
            <a:lvl4pPr marL="1600200" indent="-228600" defTabSz="912813" eaLnBrk="0" hangingPunct="0">
              <a:defRPr>
                <a:solidFill>
                  <a:schemeClr val="tx1"/>
                </a:solidFill>
                <a:latin typeface="Arial" panose="020B0604020202020204" pitchFamily="34" charset="0"/>
                <a:ea typeface="宋体" panose="02010600030101010101" pitchFamily="2" charset="-122"/>
              </a:defRPr>
            </a:lvl4pPr>
            <a:lvl5pPr marL="2057400" indent="-228600" defTabSz="912813" eaLnBrk="0" hangingPunct="0">
              <a:defRPr>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2813" rtl="0" eaLnBrk="1" fontAlgn="base" latinLnBrk="0" hangingPunct="1">
              <a:lnSpc>
                <a:spcPct val="100000"/>
              </a:lnSpc>
              <a:spcBef>
                <a:spcPct val="50000"/>
              </a:spcBef>
              <a:spcAft>
                <a:spcPct val="0"/>
              </a:spcAft>
              <a:buClrTx/>
              <a:buSzTx/>
              <a:buFontTx/>
              <a:buNone/>
              <a:tabLst/>
              <a:defRPr/>
            </a:pPr>
            <a:r>
              <a:rPr kumimoji="0" lang="en-US" altLang="zh-CN" sz="1800" i="0" u="none" strike="noStrike" kern="1200" cap="none" spc="0" normalizeH="0" baseline="0" noProof="0">
                <a:ln>
                  <a:noFill/>
                </a:ln>
                <a:solidFill>
                  <a:srgbClr val="C0504D"/>
                </a:solidFill>
                <a:effectLst/>
                <a:uLnTx/>
                <a:uFillTx/>
                <a:latin typeface="Times New Roman" panose="02020603050405020304" pitchFamily="18" charset="0"/>
                <a:ea typeface="宋体" panose="02010600030101010101" pitchFamily="2" charset="-122"/>
                <a:cs typeface="Times New Roman" panose="02020603050405020304" pitchFamily="18" charset="0"/>
              </a:rPr>
              <a:t>a=0.6                                                         a=-0.6</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标题 1">
            <a:extLst>
              <a:ext uri="{FF2B5EF4-FFF2-40B4-BE49-F238E27FC236}">
                <a16:creationId xmlns:a16="http://schemas.microsoft.com/office/drawing/2014/main" id="{6ABA647F-4712-44CE-90D1-6E20BFF83DA4}"/>
              </a:ext>
            </a:extLst>
          </p:cNvPr>
          <p:cNvSpPr>
            <a:spLocks noGrp="1"/>
          </p:cNvSpPr>
          <p:nvPr>
            <p:ph type="title"/>
          </p:nvPr>
        </p:nvSpPr>
        <p:spPr/>
        <p:txBody>
          <a:bodyPr/>
          <a:lstStyle/>
          <a:p>
            <a:r>
              <a:rPr lang="en-US" altLang="zh-CN" sz="3200" dirty="0">
                <a:solidFill>
                  <a:srgbClr val="000000"/>
                </a:solidFill>
              </a:rPr>
              <a:t>3.11 </a:t>
            </a:r>
            <a:r>
              <a:rPr lang="zh-CN" altLang="en-US" sz="3200" dirty="0">
                <a:solidFill>
                  <a:srgbClr val="000000"/>
                </a:solidFill>
              </a:rPr>
              <a:t>差分方程描述的离散时间滤波器举例</a:t>
            </a:r>
            <a:endParaRPr lang="zh-CN" altLang="en-US" dirty="0"/>
          </a:p>
        </p:txBody>
      </p:sp>
      <p:sp>
        <p:nvSpPr>
          <p:cNvPr id="24582" name="内容占位符 2">
            <a:extLst>
              <a:ext uri="{FF2B5EF4-FFF2-40B4-BE49-F238E27FC236}">
                <a16:creationId xmlns:a16="http://schemas.microsoft.com/office/drawing/2014/main" id="{5AD18287-982A-4C9A-A40E-26967F159857}"/>
              </a:ext>
            </a:extLst>
          </p:cNvPr>
          <p:cNvSpPr>
            <a:spLocks noGrp="1"/>
          </p:cNvSpPr>
          <p:nvPr>
            <p:ph idx="1"/>
          </p:nvPr>
        </p:nvSpPr>
        <p:spPr/>
        <p:txBody>
          <a:bodyPr/>
          <a:lstStyle/>
          <a:p>
            <a:pPr marL="0" indent="0">
              <a:buNone/>
            </a:pPr>
            <a:r>
              <a:rPr lang="zh-CN" altLang="en-US" sz="2400" b="0" dirty="0">
                <a:solidFill>
                  <a:srgbClr val="0000FF"/>
                </a:solidFill>
              </a:rPr>
              <a:t>二</a:t>
            </a:r>
            <a:r>
              <a:rPr lang="en-US" altLang="zh-CN" sz="2400" b="0" dirty="0">
                <a:solidFill>
                  <a:srgbClr val="0000FF"/>
                </a:solidFill>
              </a:rPr>
              <a:t>. </a:t>
            </a:r>
            <a:r>
              <a:rPr lang="zh-CN" altLang="en-US" sz="2400" b="0" dirty="0">
                <a:solidFill>
                  <a:srgbClr val="0000FF"/>
                </a:solidFill>
              </a:rPr>
              <a:t>非递归离散时间滤波器</a:t>
            </a:r>
            <a:endParaRPr lang="en-US" altLang="zh-CN" sz="2400" b="0" dirty="0">
              <a:solidFill>
                <a:srgbClr val="0000FF"/>
              </a:solidFill>
            </a:endParaRPr>
          </a:p>
          <a:p>
            <a:pPr lvl="1"/>
            <a:r>
              <a:rPr lang="zh-CN" altLang="en-US" sz="2400" b="0" dirty="0"/>
              <a:t>移动均值滤波器</a:t>
            </a:r>
          </a:p>
        </p:txBody>
      </p:sp>
      <p:sp>
        <p:nvSpPr>
          <p:cNvPr id="4" name="灯片编号占位符 3">
            <a:extLst>
              <a:ext uri="{FF2B5EF4-FFF2-40B4-BE49-F238E27FC236}">
                <a16:creationId xmlns:a16="http://schemas.microsoft.com/office/drawing/2014/main" id="{C93E8A3E-84E8-4B20-8CD6-0B32F60FD06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5835960-2F8A-4628-A794-E801B2233923}"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4578" name="Object 3">
            <a:extLst>
              <a:ext uri="{FF2B5EF4-FFF2-40B4-BE49-F238E27FC236}">
                <a16:creationId xmlns:a16="http://schemas.microsoft.com/office/drawing/2014/main" id="{B1DA8FA2-6902-4C76-8914-C71D2081221F}"/>
              </a:ext>
            </a:extLst>
          </p:cNvPr>
          <p:cNvGraphicFramePr>
            <a:graphicFrameLocks noChangeAspect="1"/>
          </p:cNvGraphicFramePr>
          <p:nvPr>
            <p:extLst>
              <p:ext uri="{D42A27DB-BD31-4B8C-83A1-F6EECF244321}">
                <p14:modId xmlns:p14="http://schemas.microsoft.com/office/powerpoint/2010/main" val="2442817425"/>
              </p:ext>
            </p:extLst>
          </p:nvPr>
        </p:nvGraphicFramePr>
        <p:xfrm>
          <a:off x="862013" y="2214563"/>
          <a:ext cx="4154487" cy="784225"/>
        </p:xfrm>
        <a:graphic>
          <a:graphicData uri="http://schemas.openxmlformats.org/presentationml/2006/ole">
            <mc:AlternateContent xmlns:mc="http://schemas.openxmlformats.org/markup-compatibility/2006">
              <mc:Choice xmlns:v="urn:schemas-microsoft-com:vml" Requires="v">
                <p:oleObj spid="_x0000_s26791" name="Equation" r:id="rId3" imgW="2057400" imgH="393480" progId="Equation.DSMT4">
                  <p:embed/>
                </p:oleObj>
              </mc:Choice>
              <mc:Fallback>
                <p:oleObj name="Equation" r:id="rId3" imgW="2057400" imgH="393480" progId="Equation.DSMT4">
                  <p:embed/>
                  <p:pic>
                    <p:nvPicPr>
                      <p:cNvPr id="24578" name="Object 3">
                        <a:extLst>
                          <a:ext uri="{FF2B5EF4-FFF2-40B4-BE49-F238E27FC236}">
                            <a16:creationId xmlns:a16="http://schemas.microsoft.com/office/drawing/2014/main" id="{B1DA8FA2-6902-4C76-8914-C71D2081221F}"/>
                          </a:ext>
                        </a:extLst>
                      </p:cNvPr>
                      <p:cNvPicPr>
                        <a:picLocks noChangeAspect="1" noChangeArrowheads="1"/>
                      </p:cNvPicPr>
                      <p:nvPr/>
                    </p:nvPicPr>
                    <p:blipFill>
                      <a:blip r:embed="rId4"/>
                      <a:srcRect/>
                      <a:stretch>
                        <a:fillRect/>
                      </a:stretch>
                    </p:blipFill>
                    <p:spPr bwMode="auto">
                      <a:xfrm>
                        <a:off x="862013" y="2214563"/>
                        <a:ext cx="4154487"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40" name="Object 4">
            <a:extLst>
              <a:ext uri="{FF2B5EF4-FFF2-40B4-BE49-F238E27FC236}">
                <a16:creationId xmlns:a16="http://schemas.microsoft.com/office/drawing/2014/main" id="{AA56AEA1-30C9-4815-85EB-159C0B093655}"/>
              </a:ext>
            </a:extLst>
          </p:cNvPr>
          <p:cNvGraphicFramePr>
            <a:graphicFrameLocks noChangeAspect="1"/>
          </p:cNvGraphicFramePr>
          <p:nvPr>
            <p:extLst>
              <p:ext uri="{D42A27DB-BD31-4B8C-83A1-F6EECF244321}">
                <p14:modId xmlns:p14="http://schemas.microsoft.com/office/powerpoint/2010/main" val="3363162920"/>
              </p:ext>
            </p:extLst>
          </p:nvPr>
        </p:nvGraphicFramePr>
        <p:xfrm>
          <a:off x="862013" y="3001963"/>
          <a:ext cx="4567237" cy="784225"/>
        </p:xfrm>
        <a:graphic>
          <a:graphicData uri="http://schemas.openxmlformats.org/presentationml/2006/ole">
            <mc:AlternateContent xmlns:mc="http://schemas.openxmlformats.org/markup-compatibility/2006">
              <mc:Choice xmlns:v="urn:schemas-microsoft-com:vml" Requires="v">
                <p:oleObj spid="_x0000_s26792" name="Equation" r:id="rId5" imgW="2260440" imgH="393480" progId="Equation.DSMT4">
                  <p:embed/>
                </p:oleObj>
              </mc:Choice>
              <mc:Fallback>
                <p:oleObj name="Equation" r:id="rId5" imgW="2260440" imgH="393480" progId="Equation.DSMT4">
                  <p:embed/>
                  <p:pic>
                    <p:nvPicPr>
                      <p:cNvPr id="65540" name="Object 4">
                        <a:extLst>
                          <a:ext uri="{FF2B5EF4-FFF2-40B4-BE49-F238E27FC236}">
                            <a16:creationId xmlns:a16="http://schemas.microsoft.com/office/drawing/2014/main" id="{AA56AEA1-30C9-4815-85EB-159C0B093655}"/>
                          </a:ext>
                        </a:extLst>
                      </p:cNvPr>
                      <p:cNvPicPr>
                        <a:picLocks noChangeAspect="1" noChangeArrowheads="1"/>
                      </p:cNvPicPr>
                      <p:nvPr/>
                    </p:nvPicPr>
                    <p:blipFill>
                      <a:blip r:embed="rId6"/>
                      <a:srcRect/>
                      <a:stretch>
                        <a:fillRect/>
                      </a:stretch>
                    </p:blipFill>
                    <p:spPr bwMode="auto">
                      <a:xfrm>
                        <a:off x="862013" y="3001963"/>
                        <a:ext cx="4567237"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542" name="Object 6">
            <a:extLst>
              <a:ext uri="{FF2B5EF4-FFF2-40B4-BE49-F238E27FC236}">
                <a16:creationId xmlns:a16="http://schemas.microsoft.com/office/drawing/2014/main" id="{13ADA568-BF01-4ADF-ABE1-BF80B9866410}"/>
              </a:ext>
            </a:extLst>
          </p:cNvPr>
          <p:cNvGraphicFramePr>
            <a:graphicFrameLocks noChangeAspect="1"/>
          </p:cNvGraphicFramePr>
          <p:nvPr>
            <p:extLst>
              <p:ext uri="{D42A27DB-BD31-4B8C-83A1-F6EECF244321}">
                <p14:modId xmlns:p14="http://schemas.microsoft.com/office/powerpoint/2010/main" val="2309760813"/>
              </p:ext>
            </p:extLst>
          </p:nvPr>
        </p:nvGraphicFramePr>
        <p:xfrm>
          <a:off x="836613" y="3859213"/>
          <a:ext cx="7437437" cy="784225"/>
        </p:xfrm>
        <a:graphic>
          <a:graphicData uri="http://schemas.openxmlformats.org/presentationml/2006/ole">
            <mc:AlternateContent xmlns:mc="http://schemas.openxmlformats.org/markup-compatibility/2006">
              <mc:Choice xmlns:v="urn:schemas-microsoft-com:vml" Requires="v">
                <p:oleObj spid="_x0000_s26793" name="Equation" r:id="rId7" imgW="3682800" imgH="393480" progId="Equation.DSMT4">
                  <p:embed/>
                </p:oleObj>
              </mc:Choice>
              <mc:Fallback>
                <p:oleObj name="Equation" r:id="rId7" imgW="3682800" imgH="393480" progId="Equation.DSMT4">
                  <p:embed/>
                  <p:pic>
                    <p:nvPicPr>
                      <p:cNvPr id="65542" name="Object 6">
                        <a:extLst>
                          <a:ext uri="{FF2B5EF4-FFF2-40B4-BE49-F238E27FC236}">
                            <a16:creationId xmlns:a16="http://schemas.microsoft.com/office/drawing/2014/main" id="{13ADA568-BF01-4ADF-ABE1-BF80B9866410}"/>
                          </a:ext>
                        </a:extLst>
                      </p:cNvPr>
                      <p:cNvPicPr>
                        <a:picLocks noChangeAspect="1" noChangeArrowheads="1"/>
                      </p:cNvPicPr>
                      <p:nvPr/>
                    </p:nvPicPr>
                    <p:blipFill>
                      <a:blip r:embed="rId8"/>
                      <a:srcRect/>
                      <a:stretch>
                        <a:fillRect/>
                      </a:stretch>
                    </p:blipFill>
                    <p:spPr bwMode="auto">
                      <a:xfrm>
                        <a:off x="836613" y="3859213"/>
                        <a:ext cx="7437437"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5543" name="Picture 7">
            <a:extLst>
              <a:ext uri="{FF2B5EF4-FFF2-40B4-BE49-F238E27FC236}">
                <a16:creationId xmlns:a16="http://schemas.microsoft.com/office/drawing/2014/main" id="{246C8118-C5E1-4876-8B99-B5FEE6A27F7C}"/>
              </a:ext>
            </a:extLst>
          </p:cNvPr>
          <p:cNvPicPr>
            <a:picLocks noChangeAspect="1" noChangeArrowheads="1"/>
          </p:cNvPicPr>
          <p:nvPr/>
        </p:nvPicPr>
        <p:blipFill>
          <a:blip r:embed="rId9"/>
          <a:srcRect/>
          <a:stretch>
            <a:fillRect/>
          </a:stretch>
        </p:blipFill>
        <p:spPr bwMode="auto">
          <a:xfrm>
            <a:off x="3000375" y="4686300"/>
            <a:ext cx="3248025" cy="2028825"/>
          </a:xfrm>
          <a:prstGeom prst="rect">
            <a:avLst/>
          </a:prstGeom>
          <a:noFill/>
          <a:ln w="9525">
            <a:noFill/>
            <a:miter lim="800000"/>
            <a:headEnd/>
            <a:tailEnd/>
          </a:ln>
          <a:effectLst>
            <a:prstShdw prst="shdw17" dist="17961" dir="2700000">
              <a:schemeClr val="accent1">
                <a:gamma/>
                <a:shade val="60000"/>
                <a:invGamma/>
              </a:schemeClr>
            </a:prstShdw>
          </a:effectLst>
        </p:spPr>
      </p:pic>
      <p:sp>
        <p:nvSpPr>
          <p:cNvPr id="24585" name="矩形 10">
            <a:extLst>
              <a:ext uri="{FF2B5EF4-FFF2-40B4-BE49-F238E27FC236}">
                <a16:creationId xmlns:a16="http://schemas.microsoft.com/office/drawing/2014/main" id="{924F58CD-1B36-401F-83D8-708CC304912B}"/>
              </a:ext>
            </a:extLst>
          </p:cNvPr>
          <p:cNvSpPr>
            <a:spLocks noChangeArrowheads="1"/>
          </p:cNvSpPr>
          <p:nvPr/>
        </p:nvSpPr>
        <p:spPr bwMode="auto">
          <a:xfrm>
            <a:off x="5214938" y="2376488"/>
            <a:ext cx="3159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20000"/>
              </a:spcBef>
              <a:spcAft>
                <a:spcPct val="0"/>
              </a:spcAft>
              <a:buClrTx/>
              <a:buSzTx/>
              <a:buFontTx/>
              <a:buNone/>
              <a:tabLst/>
              <a:defRPr/>
            </a:pPr>
            <a:r>
              <a:rPr kumimoji="0" lang="en-US" altLang="zh-CN" sz="240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a:t>
            </a:r>
            <a:r>
              <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三点移动均值滤波器</a:t>
            </a:r>
            <a:r>
              <a:rPr kumimoji="0" lang="en-US" altLang="zh-CN" sz="240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rPr>
              <a:t>)</a:t>
            </a: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华文楷体"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blinds(horizontal)">
                                      <p:cBhvr>
                                        <p:cTn id="7" dur="500"/>
                                        <p:tgtEl>
                                          <p:spTgt spid="655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5542"/>
                                        </p:tgtEl>
                                        <p:attrNameLst>
                                          <p:attrName>style.visibility</p:attrName>
                                        </p:attrNameLst>
                                      </p:cBhvr>
                                      <p:to>
                                        <p:strVal val="visible"/>
                                      </p:to>
                                    </p:set>
                                    <p:animEffect transition="in" filter="blinds(horizontal)">
                                      <p:cBhvr>
                                        <p:cTn id="12" dur="500"/>
                                        <p:tgtEl>
                                          <p:spTgt spid="655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5543"/>
                                        </p:tgtEl>
                                        <p:attrNameLst>
                                          <p:attrName>style.visibility</p:attrName>
                                        </p:attrNameLst>
                                      </p:cBhvr>
                                      <p:to>
                                        <p:strVal val="visible"/>
                                      </p:to>
                                    </p:set>
                                    <p:animEffect transition="in" filter="blinds(horizontal)">
                                      <p:cBhvr>
                                        <p:cTn id="17" dur="500"/>
                                        <p:tgtEl>
                                          <p:spTgt spid="65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8" name="标题 1">
            <a:extLst>
              <a:ext uri="{FF2B5EF4-FFF2-40B4-BE49-F238E27FC236}">
                <a16:creationId xmlns:a16="http://schemas.microsoft.com/office/drawing/2014/main" id="{360F7AD6-932E-46FF-BAD8-4FD0DE0812D1}"/>
              </a:ext>
            </a:extLst>
          </p:cNvPr>
          <p:cNvSpPr>
            <a:spLocks noGrp="1"/>
          </p:cNvSpPr>
          <p:nvPr>
            <p:ph type="title"/>
          </p:nvPr>
        </p:nvSpPr>
        <p:spPr/>
        <p:txBody>
          <a:bodyPr/>
          <a:lstStyle/>
          <a:p>
            <a:r>
              <a:rPr lang="en-US" altLang="zh-CN" sz="3200" dirty="0">
                <a:solidFill>
                  <a:srgbClr val="000000"/>
                </a:solidFill>
              </a:rPr>
              <a:t>3.11 </a:t>
            </a:r>
            <a:r>
              <a:rPr lang="zh-CN" altLang="en-US" sz="3200" dirty="0">
                <a:solidFill>
                  <a:srgbClr val="000000"/>
                </a:solidFill>
              </a:rPr>
              <a:t>差分方程描述的离散时间滤波器举例</a:t>
            </a:r>
            <a:endParaRPr lang="zh-CN" altLang="en-US" dirty="0"/>
          </a:p>
        </p:txBody>
      </p:sp>
      <p:sp>
        <p:nvSpPr>
          <p:cNvPr id="4" name="灯片编号占位符 3">
            <a:extLst>
              <a:ext uri="{FF2B5EF4-FFF2-40B4-BE49-F238E27FC236}">
                <a16:creationId xmlns:a16="http://schemas.microsoft.com/office/drawing/2014/main" id="{1C5E5E94-9131-4BFB-B37C-DC12CEAB7B3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558C772-1DB6-4704-8EB5-4DA55740C24B}"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zh-CN" altLang="en-US" sz="1200" b="0" i="0" u="none" strike="noStrike" kern="1200" cap="none" spc="0" normalizeH="0" baseline="0" noProof="0" dirty="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5602" name="Object 2">
            <a:extLst>
              <a:ext uri="{FF2B5EF4-FFF2-40B4-BE49-F238E27FC236}">
                <a16:creationId xmlns:a16="http://schemas.microsoft.com/office/drawing/2014/main" id="{8E701F6B-EBBB-44FB-BEA6-A6C0B675C51D}"/>
              </a:ext>
            </a:extLst>
          </p:cNvPr>
          <p:cNvGraphicFramePr>
            <a:graphicFrameLocks noChangeAspect="1"/>
          </p:cNvGraphicFramePr>
          <p:nvPr>
            <p:extLst>
              <p:ext uri="{D42A27DB-BD31-4B8C-83A1-F6EECF244321}">
                <p14:modId xmlns:p14="http://schemas.microsoft.com/office/powerpoint/2010/main" val="459211995"/>
              </p:ext>
            </p:extLst>
          </p:nvPr>
        </p:nvGraphicFramePr>
        <p:xfrm>
          <a:off x="646113" y="1738313"/>
          <a:ext cx="3668712" cy="860425"/>
        </p:xfrm>
        <a:graphic>
          <a:graphicData uri="http://schemas.openxmlformats.org/presentationml/2006/ole">
            <mc:AlternateContent xmlns:mc="http://schemas.openxmlformats.org/markup-compatibility/2006">
              <mc:Choice xmlns:v="urn:schemas-microsoft-com:vml" Requires="v">
                <p:oleObj spid="_x0000_s27980" name="Equation" r:id="rId3" imgW="1815840" imgH="431640" progId="Equation.DSMT4">
                  <p:embed/>
                </p:oleObj>
              </mc:Choice>
              <mc:Fallback>
                <p:oleObj name="Equation" r:id="rId3" imgW="1815840" imgH="431640" progId="Equation.DSMT4">
                  <p:embed/>
                  <p:pic>
                    <p:nvPicPr>
                      <p:cNvPr id="25602" name="Object 2">
                        <a:extLst>
                          <a:ext uri="{FF2B5EF4-FFF2-40B4-BE49-F238E27FC236}">
                            <a16:creationId xmlns:a16="http://schemas.microsoft.com/office/drawing/2014/main" id="{8E701F6B-EBBB-44FB-BEA6-A6C0B675C51D}"/>
                          </a:ext>
                        </a:extLst>
                      </p:cNvPr>
                      <p:cNvPicPr>
                        <a:picLocks noChangeAspect="1" noChangeArrowheads="1"/>
                      </p:cNvPicPr>
                      <p:nvPr/>
                    </p:nvPicPr>
                    <p:blipFill>
                      <a:blip r:embed="rId4"/>
                      <a:srcRect/>
                      <a:stretch>
                        <a:fillRect/>
                      </a:stretch>
                    </p:blipFill>
                    <p:spPr bwMode="auto">
                      <a:xfrm>
                        <a:off x="646113" y="1738313"/>
                        <a:ext cx="3668712"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3" name="Object 3">
            <a:extLst>
              <a:ext uri="{FF2B5EF4-FFF2-40B4-BE49-F238E27FC236}">
                <a16:creationId xmlns:a16="http://schemas.microsoft.com/office/drawing/2014/main" id="{22AAF47D-1E85-4457-BA2B-4C6FD3C30234}"/>
              </a:ext>
            </a:extLst>
          </p:cNvPr>
          <p:cNvGraphicFramePr>
            <a:graphicFrameLocks noChangeAspect="1"/>
          </p:cNvGraphicFramePr>
          <p:nvPr>
            <p:extLst>
              <p:ext uri="{D42A27DB-BD31-4B8C-83A1-F6EECF244321}">
                <p14:modId xmlns:p14="http://schemas.microsoft.com/office/powerpoint/2010/main" val="3308012097"/>
              </p:ext>
            </p:extLst>
          </p:nvPr>
        </p:nvGraphicFramePr>
        <p:xfrm>
          <a:off x="4454525" y="1738313"/>
          <a:ext cx="4054475" cy="860425"/>
        </p:xfrm>
        <a:graphic>
          <a:graphicData uri="http://schemas.openxmlformats.org/presentationml/2006/ole">
            <mc:AlternateContent xmlns:mc="http://schemas.openxmlformats.org/markup-compatibility/2006">
              <mc:Choice xmlns:v="urn:schemas-microsoft-com:vml" Requires="v">
                <p:oleObj spid="_x0000_s27981" name="Equation" r:id="rId5" imgW="2006280" imgH="431640" progId="Equation.DSMT4">
                  <p:embed/>
                </p:oleObj>
              </mc:Choice>
              <mc:Fallback>
                <p:oleObj name="Equation" r:id="rId5" imgW="2006280" imgH="431640" progId="Equation.DSMT4">
                  <p:embed/>
                  <p:pic>
                    <p:nvPicPr>
                      <p:cNvPr id="66563" name="Object 3">
                        <a:extLst>
                          <a:ext uri="{FF2B5EF4-FFF2-40B4-BE49-F238E27FC236}">
                            <a16:creationId xmlns:a16="http://schemas.microsoft.com/office/drawing/2014/main" id="{22AAF47D-1E85-4457-BA2B-4C6FD3C30234}"/>
                          </a:ext>
                        </a:extLst>
                      </p:cNvPr>
                      <p:cNvPicPr>
                        <a:picLocks noChangeAspect="1" noChangeArrowheads="1"/>
                      </p:cNvPicPr>
                      <p:nvPr/>
                    </p:nvPicPr>
                    <p:blipFill>
                      <a:blip r:embed="rId6"/>
                      <a:srcRect/>
                      <a:stretch>
                        <a:fillRect/>
                      </a:stretch>
                    </p:blipFill>
                    <p:spPr bwMode="auto">
                      <a:xfrm>
                        <a:off x="4454525" y="1738313"/>
                        <a:ext cx="4054475"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4" name="Object 4">
            <a:extLst>
              <a:ext uri="{FF2B5EF4-FFF2-40B4-BE49-F238E27FC236}">
                <a16:creationId xmlns:a16="http://schemas.microsoft.com/office/drawing/2014/main" id="{12332FF1-5756-402B-9DEE-56EE08074E13}"/>
              </a:ext>
            </a:extLst>
          </p:cNvPr>
          <p:cNvGraphicFramePr>
            <a:graphicFrameLocks noChangeAspect="1"/>
          </p:cNvGraphicFramePr>
          <p:nvPr>
            <p:extLst>
              <p:ext uri="{D42A27DB-BD31-4B8C-83A1-F6EECF244321}">
                <p14:modId xmlns:p14="http://schemas.microsoft.com/office/powerpoint/2010/main" val="3281744749"/>
              </p:ext>
            </p:extLst>
          </p:nvPr>
        </p:nvGraphicFramePr>
        <p:xfrm>
          <a:off x="620713" y="2832100"/>
          <a:ext cx="6153150" cy="784225"/>
        </p:xfrm>
        <a:graphic>
          <a:graphicData uri="http://schemas.openxmlformats.org/presentationml/2006/ole">
            <mc:AlternateContent xmlns:mc="http://schemas.openxmlformats.org/markup-compatibility/2006">
              <mc:Choice xmlns:v="urn:schemas-microsoft-com:vml" Requires="v">
                <p:oleObj spid="_x0000_s27982" name="Equation" r:id="rId7" imgW="3047760" imgH="393480" progId="Equation.DSMT4">
                  <p:embed/>
                </p:oleObj>
              </mc:Choice>
              <mc:Fallback>
                <p:oleObj name="Equation" r:id="rId7" imgW="3047760" imgH="393480" progId="Equation.DSMT4">
                  <p:embed/>
                  <p:pic>
                    <p:nvPicPr>
                      <p:cNvPr id="66564" name="Object 4">
                        <a:extLst>
                          <a:ext uri="{FF2B5EF4-FFF2-40B4-BE49-F238E27FC236}">
                            <a16:creationId xmlns:a16="http://schemas.microsoft.com/office/drawing/2014/main" id="{12332FF1-5756-402B-9DEE-56EE08074E13}"/>
                          </a:ext>
                        </a:extLst>
                      </p:cNvPr>
                      <p:cNvPicPr>
                        <a:picLocks noChangeAspect="1" noChangeArrowheads="1"/>
                      </p:cNvPicPr>
                      <p:nvPr/>
                    </p:nvPicPr>
                    <p:blipFill>
                      <a:blip r:embed="rId8"/>
                      <a:srcRect/>
                      <a:stretch>
                        <a:fillRect/>
                      </a:stretch>
                    </p:blipFill>
                    <p:spPr bwMode="auto">
                      <a:xfrm>
                        <a:off x="620713" y="2832100"/>
                        <a:ext cx="615315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6" name="Object 6">
            <a:extLst>
              <a:ext uri="{FF2B5EF4-FFF2-40B4-BE49-F238E27FC236}">
                <a16:creationId xmlns:a16="http://schemas.microsoft.com/office/drawing/2014/main" id="{51485C56-4D61-495C-9F87-CEC0FB94DEDA}"/>
              </a:ext>
            </a:extLst>
          </p:cNvPr>
          <p:cNvGraphicFramePr>
            <a:graphicFrameLocks noChangeAspect="1"/>
          </p:cNvGraphicFramePr>
          <p:nvPr>
            <p:extLst>
              <p:ext uri="{D42A27DB-BD31-4B8C-83A1-F6EECF244321}">
                <p14:modId xmlns:p14="http://schemas.microsoft.com/office/powerpoint/2010/main" val="1695957533"/>
              </p:ext>
            </p:extLst>
          </p:nvPr>
        </p:nvGraphicFramePr>
        <p:xfrm>
          <a:off x="620713" y="3849688"/>
          <a:ext cx="4870450" cy="782637"/>
        </p:xfrm>
        <a:graphic>
          <a:graphicData uri="http://schemas.openxmlformats.org/presentationml/2006/ole">
            <mc:AlternateContent xmlns:mc="http://schemas.openxmlformats.org/markup-compatibility/2006">
              <mc:Choice xmlns:v="urn:schemas-microsoft-com:vml" Requires="v">
                <p:oleObj spid="_x0000_s27983" name="Equation" r:id="rId9" imgW="2412720" imgH="393480" progId="Equation.DSMT4">
                  <p:embed/>
                </p:oleObj>
              </mc:Choice>
              <mc:Fallback>
                <p:oleObj name="Equation" r:id="rId9" imgW="2412720" imgH="393480" progId="Equation.DSMT4">
                  <p:embed/>
                  <p:pic>
                    <p:nvPicPr>
                      <p:cNvPr id="66566" name="Object 6">
                        <a:extLst>
                          <a:ext uri="{FF2B5EF4-FFF2-40B4-BE49-F238E27FC236}">
                            <a16:creationId xmlns:a16="http://schemas.microsoft.com/office/drawing/2014/main" id="{51485C56-4D61-495C-9F87-CEC0FB94DEDA}"/>
                          </a:ext>
                        </a:extLst>
                      </p:cNvPr>
                      <p:cNvPicPr>
                        <a:picLocks noChangeAspect="1" noChangeArrowheads="1"/>
                      </p:cNvPicPr>
                      <p:nvPr/>
                    </p:nvPicPr>
                    <p:blipFill>
                      <a:blip r:embed="rId10"/>
                      <a:srcRect/>
                      <a:stretch>
                        <a:fillRect/>
                      </a:stretch>
                    </p:blipFill>
                    <p:spPr bwMode="auto">
                      <a:xfrm>
                        <a:off x="620713" y="3849688"/>
                        <a:ext cx="4870450" cy="782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7" name="Object 7">
            <a:extLst>
              <a:ext uri="{FF2B5EF4-FFF2-40B4-BE49-F238E27FC236}">
                <a16:creationId xmlns:a16="http://schemas.microsoft.com/office/drawing/2014/main" id="{F149A2DF-BC40-40EA-9FD4-904921A9B0DD}"/>
              </a:ext>
            </a:extLst>
          </p:cNvPr>
          <p:cNvGraphicFramePr>
            <a:graphicFrameLocks noChangeAspect="1"/>
          </p:cNvGraphicFramePr>
          <p:nvPr>
            <p:extLst>
              <p:ext uri="{D42A27DB-BD31-4B8C-83A1-F6EECF244321}">
                <p14:modId xmlns:p14="http://schemas.microsoft.com/office/powerpoint/2010/main" val="314783659"/>
              </p:ext>
            </p:extLst>
          </p:nvPr>
        </p:nvGraphicFramePr>
        <p:xfrm>
          <a:off x="608013" y="4865688"/>
          <a:ext cx="3078162" cy="782637"/>
        </p:xfrm>
        <a:graphic>
          <a:graphicData uri="http://schemas.openxmlformats.org/presentationml/2006/ole">
            <mc:AlternateContent xmlns:mc="http://schemas.openxmlformats.org/markup-compatibility/2006">
              <mc:Choice xmlns:v="urn:schemas-microsoft-com:vml" Requires="v">
                <p:oleObj spid="_x0000_s27984" name="Equation" r:id="rId11" imgW="1523880" imgH="393480" progId="Equation.DSMT4">
                  <p:embed/>
                </p:oleObj>
              </mc:Choice>
              <mc:Fallback>
                <p:oleObj name="Equation" r:id="rId11" imgW="1523880" imgH="393480" progId="Equation.DSMT4">
                  <p:embed/>
                  <p:pic>
                    <p:nvPicPr>
                      <p:cNvPr id="66567" name="Object 7">
                        <a:extLst>
                          <a:ext uri="{FF2B5EF4-FFF2-40B4-BE49-F238E27FC236}">
                            <a16:creationId xmlns:a16="http://schemas.microsoft.com/office/drawing/2014/main" id="{F149A2DF-BC40-40EA-9FD4-904921A9B0D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8013" y="4865688"/>
                        <a:ext cx="3078162" cy="782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8" name="Object 8">
            <a:extLst>
              <a:ext uri="{FF2B5EF4-FFF2-40B4-BE49-F238E27FC236}">
                <a16:creationId xmlns:a16="http://schemas.microsoft.com/office/drawing/2014/main" id="{204FF891-FBE2-48C7-A0F0-694F57953FCF}"/>
              </a:ext>
            </a:extLst>
          </p:cNvPr>
          <p:cNvGraphicFramePr>
            <a:graphicFrameLocks noChangeAspect="1"/>
          </p:cNvGraphicFramePr>
          <p:nvPr>
            <p:extLst>
              <p:ext uri="{D42A27DB-BD31-4B8C-83A1-F6EECF244321}">
                <p14:modId xmlns:p14="http://schemas.microsoft.com/office/powerpoint/2010/main" val="3502813579"/>
              </p:ext>
            </p:extLst>
          </p:nvPr>
        </p:nvGraphicFramePr>
        <p:xfrm>
          <a:off x="608013" y="5881688"/>
          <a:ext cx="5518150" cy="833437"/>
        </p:xfrm>
        <a:graphic>
          <a:graphicData uri="http://schemas.openxmlformats.org/presentationml/2006/ole">
            <mc:AlternateContent xmlns:mc="http://schemas.openxmlformats.org/markup-compatibility/2006">
              <mc:Choice xmlns:v="urn:schemas-microsoft-com:vml" Requires="v">
                <p:oleObj spid="_x0000_s27985" name="Equation" r:id="rId13" imgW="2730240" imgH="419040" progId="Equation.DSMT4">
                  <p:embed/>
                </p:oleObj>
              </mc:Choice>
              <mc:Fallback>
                <p:oleObj name="Equation" r:id="rId13" imgW="2730240" imgH="419040" progId="Equation.DSMT4">
                  <p:embed/>
                  <p:pic>
                    <p:nvPicPr>
                      <p:cNvPr id="66568" name="Object 8">
                        <a:extLst>
                          <a:ext uri="{FF2B5EF4-FFF2-40B4-BE49-F238E27FC236}">
                            <a16:creationId xmlns:a16="http://schemas.microsoft.com/office/drawing/2014/main" id="{204FF891-FBE2-48C7-A0F0-694F57953FC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8013" y="5881688"/>
                        <a:ext cx="5518150" cy="833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10" name="矩形 11">
            <a:extLst>
              <a:ext uri="{FF2B5EF4-FFF2-40B4-BE49-F238E27FC236}">
                <a16:creationId xmlns:a16="http://schemas.microsoft.com/office/drawing/2014/main" id="{429B520F-5D92-485D-93DB-A8FA9F9E10CB}"/>
              </a:ext>
            </a:extLst>
          </p:cNvPr>
          <p:cNvSpPr>
            <a:spLocks noChangeArrowheads="1"/>
          </p:cNvSpPr>
          <p:nvPr/>
        </p:nvSpPr>
        <p:spPr bwMode="auto">
          <a:xfrm>
            <a:off x="560388" y="1181100"/>
            <a:ext cx="3749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1" indent="0" algn="l" defTabSz="914400" rtl="0" eaLnBrk="0" fontAlgn="base" latinLnBrk="0" hangingPunct="0">
              <a:lnSpc>
                <a:spcPct val="100000"/>
              </a:lnSpc>
              <a:spcBef>
                <a:spcPct val="20000"/>
              </a:spcBef>
              <a:spcAft>
                <a:spcPct val="0"/>
              </a:spcAft>
              <a:buClrTx/>
              <a:buSzTx/>
              <a:buFontTx/>
              <a:buNone/>
              <a:tabLst/>
              <a:defRPr/>
            </a:pPr>
            <a:r>
              <a:rPr kumimoji="0"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N</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a:t>
            </a:r>
            <a:r>
              <a:rPr kumimoji="0"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M</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+1</a:t>
            </a:r>
            <a:r>
              <a:rPr kumimoji="0" lang="zh-CN" altLang="en-US"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点移动均值滤波器</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rPr>
              <a:t>:</a:t>
            </a:r>
            <a:endParaRPr kumimoji="0" lang="zh-CN" altLang="en-US" sz="2400" i="0" u="none" strike="noStrike" kern="1200" cap="none" spc="0" normalizeH="0" baseline="0" noProof="0" dirty="0">
              <a:ln>
                <a:noFill/>
              </a:ln>
              <a:solidFill>
                <a:srgbClr val="000000"/>
              </a:solidFill>
              <a:effectLst/>
              <a:uLnTx/>
              <a:uFillTx/>
              <a:latin typeface="Times New Roman" panose="02020603050405020304" pitchFamily="18" charset="0"/>
              <a:ea typeface="华文楷体" panose="02010600040101010101" pitchFamily="2" charset="-122"/>
              <a:cs typeface="+mn-cs"/>
            </a:endParaRPr>
          </a:p>
        </p:txBody>
      </p:sp>
      <p:sp>
        <p:nvSpPr>
          <p:cNvPr id="2" name="矩形 1"/>
          <p:cNvSpPr/>
          <p:nvPr/>
        </p:nvSpPr>
        <p:spPr>
          <a:xfrm>
            <a:off x="6481762" y="6062607"/>
            <a:ext cx="1645587" cy="461665"/>
          </a:xfrm>
          <a:prstGeom prst="rect">
            <a:avLst/>
          </a:prstGeom>
        </p:spPr>
        <p:txBody>
          <a:bodyPr wrap="square">
            <a:spAutoFit/>
          </a:bodyPr>
          <a:lstStyle/>
          <a:p>
            <a:r>
              <a:rPr lang="zh-CN" altLang="en-US" sz="2400" dirty="0">
                <a:solidFill>
                  <a:srgbClr val="000000"/>
                </a:solidFill>
                <a:latin typeface="Times New Roman" panose="02020603050405020304" pitchFamily="18" charset="0"/>
                <a:ea typeface="华文楷体" panose="02010600040101010101" pitchFamily="2" charset="-122"/>
              </a:rPr>
              <a:t>见书例</a:t>
            </a:r>
            <a:r>
              <a:rPr lang="en-US" altLang="zh-CN" sz="2400" dirty="0">
                <a:solidFill>
                  <a:srgbClr val="000000"/>
                </a:solidFill>
                <a:latin typeface="Times New Roman" panose="02020603050405020304" pitchFamily="18" charset="0"/>
                <a:ea typeface="华文楷体" panose="02010600040101010101" pitchFamily="2" charset="-122"/>
              </a:rPr>
              <a:t>3.12</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563"/>
                                        </p:tgtEl>
                                        <p:attrNameLst>
                                          <p:attrName>style.visibility</p:attrName>
                                        </p:attrNameLst>
                                      </p:cBhvr>
                                      <p:to>
                                        <p:strVal val="visible"/>
                                      </p:to>
                                    </p:set>
                                    <p:animEffect transition="in" filter="blinds(horizontal)">
                                      <p:cBhvr>
                                        <p:cTn id="7" dur="500"/>
                                        <p:tgtEl>
                                          <p:spTgt spid="665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6564"/>
                                        </p:tgtEl>
                                        <p:attrNameLst>
                                          <p:attrName>style.visibility</p:attrName>
                                        </p:attrNameLst>
                                      </p:cBhvr>
                                      <p:to>
                                        <p:strVal val="visible"/>
                                      </p:to>
                                    </p:set>
                                    <p:animEffect transition="in" filter="blinds(horizontal)">
                                      <p:cBhvr>
                                        <p:cTn id="12" dur="500"/>
                                        <p:tgtEl>
                                          <p:spTgt spid="665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6566"/>
                                        </p:tgtEl>
                                        <p:attrNameLst>
                                          <p:attrName>style.visibility</p:attrName>
                                        </p:attrNameLst>
                                      </p:cBhvr>
                                      <p:to>
                                        <p:strVal val="visible"/>
                                      </p:to>
                                    </p:set>
                                    <p:animEffect transition="in" filter="blinds(horizontal)">
                                      <p:cBhvr>
                                        <p:cTn id="17" dur="500"/>
                                        <p:tgtEl>
                                          <p:spTgt spid="665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6567"/>
                                        </p:tgtEl>
                                        <p:attrNameLst>
                                          <p:attrName>style.visibility</p:attrName>
                                        </p:attrNameLst>
                                      </p:cBhvr>
                                      <p:to>
                                        <p:strVal val="visible"/>
                                      </p:to>
                                    </p:set>
                                    <p:animEffect transition="in" filter="blinds(horizontal)">
                                      <p:cBhvr>
                                        <p:cTn id="22" dur="500"/>
                                        <p:tgtEl>
                                          <p:spTgt spid="665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6568"/>
                                        </p:tgtEl>
                                        <p:attrNameLst>
                                          <p:attrName>style.visibility</p:attrName>
                                        </p:attrNameLst>
                                      </p:cBhvr>
                                      <p:to>
                                        <p:strVal val="visible"/>
                                      </p:to>
                                    </p:set>
                                    <p:animEffect transition="in" filter="blinds(horizontal)">
                                      <p:cBhvr>
                                        <p:cTn id="27" dur="500"/>
                                        <p:tgtEl>
                                          <p:spTgt spid="6656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74CFEFC3-2E2D-4CE3-8480-67022B3EE498}"/>
              </a:ext>
            </a:extLst>
          </p:cNvPr>
          <p:cNvSpPr>
            <a:spLocks noGrp="1"/>
          </p:cNvSpPr>
          <p:nvPr>
            <p:ph type="title"/>
          </p:nvPr>
        </p:nvSpPr>
        <p:spPr/>
        <p:txBody>
          <a:bodyPr/>
          <a:lstStyle/>
          <a:p>
            <a:r>
              <a:rPr lang="en-US" altLang="zh-CN" sz="3200" dirty="0">
                <a:solidFill>
                  <a:srgbClr val="000000"/>
                </a:solidFill>
              </a:rPr>
              <a:t>3.11 </a:t>
            </a:r>
            <a:r>
              <a:rPr lang="zh-CN" altLang="en-US" sz="3200" dirty="0">
                <a:solidFill>
                  <a:srgbClr val="000000"/>
                </a:solidFill>
              </a:rPr>
              <a:t>差分方程描述的离散时间滤波器举例</a:t>
            </a:r>
            <a:endParaRPr lang="zh-CN" altLang="en-US" dirty="0"/>
          </a:p>
        </p:txBody>
      </p:sp>
      <p:sp>
        <p:nvSpPr>
          <p:cNvPr id="4" name="灯片编号占位符 3">
            <a:extLst>
              <a:ext uri="{FF2B5EF4-FFF2-40B4-BE49-F238E27FC236}">
                <a16:creationId xmlns:a16="http://schemas.microsoft.com/office/drawing/2014/main" id="{EB896F12-7AE6-4A1F-B893-BA580CEC0D6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8CCB1D3-BF3A-43B7-B769-47437ADD5B69}"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67586" name="Picture 2">
            <a:extLst>
              <a:ext uri="{FF2B5EF4-FFF2-40B4-BE49-F238E27FC236}">
                <a16:creationId xmlns:a16="http://schemas.microsoft.com/office/drawing/2014/main" id="{16A2F815-A8D0-496A-B7D8-D0152BF04CA8}"/>
              </a:ext>
            </a:extLst>
          </p:cNvPr>
          <p:cNvPicPr>
            <a:picLocks noChangeAspect="1" noChangeArrowheads="1"/>
          </p:cNvPicPr>
          <p:nvPr/>
        </p:nvPicPr>
        <p:blipFill>
          <a:blip r:embed="rId2"/>
          <a:srcRect/>
          <a:stretch>
            <a:fillRect/>
          </a:stretch>
        </p:blipFill>
        <p:spPr bwMode="auto">
          <a:xfrm>
            <a:off x="966788" y="1681163"/>
            <a:ext cx="7319962" cy="3962400"/>
          </a:xfrm>
          <a:prstGeom prst="rect">
            <a:avLst/>
          </a:prstGeom>
          <a:noFill/>
          <a:ln w="9525">
            <a:noFill/>
            <a:miter lim="800000"/>
            <a:headEnd/>
            <a:tailEnd/>
          </a:ln>
          <a:effectLst>
            <a:prstShdw prst="shdw17" dist="17961" dir="2700000">
              <a:schemeClr val="accent1">
                <a:gamma/>
                <a:shade val="60000"/>
                <a:invGamma/>
              </a:schemeClr>
            </a:prstShdw>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2" name="标题 1">
            <a:extLst>
              <a:ext uri="{FF2B5EF4-FFF2-40B4-BE49-F238E27FC236}">
                <a16:creationId xmlns:a16="http://schemas.microsoft.com/office/drawing/2014/main" id="{C4B1A55D-C72E-402F-B951-6015157549F8}"/>
              </a:ext>
            </a:extLst>
          </p:cNvPr>
          <p:cNvSpPr>
            <a:spLocks noGrp="1"/>
          </p:cNvSpPr>
          <p:nvPr>
            <p:ph type="title"/>
          </p:nvPr>
        </p:nvSpPr>
        <p:spPr/>
        <p:txBody>
          <a:bodyPr/>
          <a:lstStyle/>
          <a:p>
            <a:r>
              <a:rPr lang="en-US" altLang="zh-CN" sz="3200" dirty="0">
                <a:solidFill>
                  <a:srgbClr val="000000"/>
                </a:solidFill>
              </a:rPr>
              <a:t>3.11 </a:t>
            </a:r>
            <a:r>
              <a:rPr lang="zh-CN" altLang="en-US" sz="3200" dirty="0">
                <a:solidFill>
                  <a:srgbClr val="000000"/>
                </a:solidFill>
              </a:rPr>
              <a:t>差分方程描述的离散时间滤波器举例</a:t>
            </a:r>
            <a:endParaRPr lang="zh-CN" altLang="en-US" dirty="0"/>
          </a:p>
        </p:txBody>
      </p:sp>
      <p:sp>
        <p:nvSpPr>
          <p:cNvPr id="26633" name="内容占位符 2">
            <a:extLst>
              <a:ext uri="{FF2B5EF4-FFF2-40B4-BE49-F238E27FC236}">
                <a16:creationId xmlns:a16="http://schemas.microsoft.com/office/drawing/2014/main" id="{408C0914-B156-41C4-BF26-8FA6C7926A1C}"/>
              </a:ext>
            </a:extLst>
          </p:cNvPr>
          <p:cNvSpPr>
            <a:spLocks noGrp="1"/>
          </p:cNvSpPr>
          <p:nvPr>
            <p:ph idx="1"/>
          </p:nvPr>
        </p:nvSpPr>
        <p:spPr/>
        <p:txBody>
          <a:bodyPr/>
          <a:lstStyle/>
          <a:p>
            <a:pPr lvl="1"/>
            <a:r>
              <a:rPr lang="zh-CN" altLang="en-US" sz="2400" b="0"/>
              <a:t>输入信号差分对应的高通滤波器</a:t>
            </a:r>
          </a:p>
        </p:txBody>
      </p:sp>
      <p:sp>
        <p:nvSpPr>
          <p:cNvPr id="4" name="灯片编号占位符 3">
            <a:extLst>
              <a:ext uri="{FF2B5EF4-FFF2-40B4-BE49-F238E27FC236}">
                <a16:creationId xmlns:a16="http://schemas.microsoft.com/office/drawing/2014/main" id="{9E299A8F-03A8-48A1-86C7-51E9637CDD5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73BD3B-17F0-420B-B0F5-B05CA308A4DF}"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graphicFrame>
        <p:nvGraphicFramePr>
          <p:cNvPr id="26626" name="Object 2">
            <a:extLst>
              <a:ext uri="{FF2B5EF4-FFF2-40B4-BE49-F238E27FC236}">
                <a16:creationId xmlns:a16="http://schemas.microsoft.com/office/drawing/2014/main" id="{FE930D0D-9DD0-474D-949C-A5764C959B7C}"/>
              </a:ext>
            </a:extLst>
          </p:cNvPr>
          <p:cNvGraphicFramePr>
            <a:graphicFrameLocks noChangeAspect="1"/>
          </p:cNvGraphicFramePr>
          <p:nvPr>
            <p:extLst>
              <p:ext uri="{D42A27DB-BD31-4B8C-83A1-F6EECF244321}">
                <p14:modId xmlns:p14="http://schemas.microsoft.com/office/powerpoint/2010/main" val="678042377"/>
              </p:ext>
            </p:extLst>
          </p:nvPr>
        </p:nvGraphicFramePr>
        <p:xfrm>
          <a:off x="1096963" y="1928813"/>
          <a:ext cx="3024187" cy="784225"/>
        </p:xfrm>
        <a:graphic>
          <a:graphicData uri="http://schemas.openxmlformats.org/presentationml/2006/ole">
            <mc:AlternateContent xmlns:mc="http://schemas.openxmlformats.org/markup-compatibility/2006">
              <mc:Choice xmlns:v="urn:schemas-microsoft-com:vml" Requires="v">
                <p:oleObj spid="_x0000_s29004" name="Equation" r:id="rId3" imgW="1498320" imgH="393480" progId="Equation.DSMT4">
                  <p:embed/>
                </p:oleObj>
              </mc:Choice>
              <mc:Fallback>
                <p:oleObj name="Equation" r:id="rId3" imgW="1498320" imgH="393480" progId="Equation.DSMT4">
                  <p:embed/>
                  <p:pic>
                    <p:nvPicPr>
                      <p:cNvPr id="26626" name="Object 2">
                        <a:extLst>
                          <a:ext uri="{FF2B5EF4-FFF2-40B4-BE49-F238E27FC236}">
                            <a16:creationId xmlns:a16="http://schemas.microsoft.com/office/drawing/2014/main" id="{FE930D0D-9DD0-474D-949C-A5764C959B7C}"/>
                          </a:ext>
                        </a:extLst>
                      </p:cNvPr>
                      <p:cNvPicPr>
                        <a:picLocks noChangeAspect="1" noChangeArrowheads="1"/>
                      </p:cNvPicPr>
                      <p:nvPr/>
                    </p:nvPicPr>
                    <p:blipFill>
                      <a:blip r:embed="rId4"/>
                      <a:srcRect/>
                      <a:stretch>
                        <a:fillRect/>
                      </a:stretch>
                    </p:blipFill>
                    <p:spPr bwMode="auto">
                      <a:xfrm>
                        <a:off x="1096963" y="1928813"/>
                        <a:ext cx="3024187"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1" name="Object 3">
            <a:extLst>
              <a:ext uri="{FF2B5EF4-FFF2-40B4-BE49-F238E27FC236}">
                <a16:creationId xmlns:a16="http://schemas.microsoft.com/office/drawing/2014/main" id="{18E24BD7-793F-4BF7-B8D2-3BD0F784FCB9}"/>
              </a:ext>
            </a:extLst>
          </p:cNvPr>
          <p:cNvGraphicFramePr>
            <a:graphicFrameLocks noChangeAspect="1"/>
          </p:cNvGraphicFramePr>
          <p:nvPr>
            <p:extLst>
              <p:ext uri="{D42A27DB-BD31-4B8C-83A1-F6EECF244321}">
                <p14:modId xmlns:p14="http://schemas.microsoft.com/office/powerpoint/2010/main" val="1458264453"/>
              </p:ext>
            </p:extLst>
          </p:nvPr>
        </p:nvGraphicFramePr>
        <p:xfrm>
          <a:off x="1084263" y="2786063"/>
          <a:ext cx="3051175" cy="784225"/>
        </p:xfrm>
        <a:graphic>
          <a:graphicData uri="http://schemas.openxmlformats.org/presentationml/2006/ole">
            <mc:AlternateContent xmlns:mc="http://schemas.openxmlformats.org/markup-compatibility/2006">
              <mc:Choice xmlns:v="urn:schemas-microsoft-com:vml" Requires="v">
                <p:oleObj spid="_x0000_s29005" name="Equation" r:id="rId5" imgW="1511280" imgH="393480" progId="Equation.DSMT4">
                  <p:embed/>
                </p:oleObj>
              </mc:Choice>
              <mc:Fallback>
                <p:oleObj name="Equation" r:id="rId5" imgW="1511280" imgH="393480" progId="Equation.DSMT4">
                  <p:embed/>
                  <p:pic>
                    <p:nvPicPr>
                      <p:cNvPr id="68611" name="Object 3">
                        <a:extLst>
                          <a:ext uri="{FF2B5EF4-FFF2-40B4-BE49-F238E27FC236}">
                            <a16:creationId xmlns:a16="http://schemas.microsoft.com/office/drawing/2014/main" id="{18E24BD7-793F-4BF7-B8D2-3BD0F784FCB9}"/>
                          </a:ext>
                        </a:extLst>
                      </p:cNvPr>
                      <p:cNvPicPr>
                        <a:picLocks noChangeAspect="1" noChangeArrowheads="1"/>
                      </p:cNvPicPr>
                      <p:nvPr/>
                    </p:nvPicPr>
                    <p:blipFill>
                      <a:blip r:embed="rId6"/>
                      <a:srcRect/>
                      <a:stretch>
                        <a:fillRect/>
                      </a:stretch>
                    </p:blipFill>
                    <p:spPr bwMode="auto">
                      <a:xfrm>
                        <a:off x="1084263" y="2786063"/>
                        <a:ext cx="3051175"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8612" name="Picture 4">
            <a:extLst>
              <a:ext uri="{FF2B5EF4-FFF2-40B4-BE49-F238E27FC236}">
                <a16:creationId xmlns:a16="http://schemas.microsoft.com/office/drawing/2014/main" id="{F9C03F0B-BF55-4C25-B5F9-984182A80EBA}"/>
              </a:ext>
            </a:extLst>
          </p:cNvPr>
          <p:cNvPicPr>
            <a:picLocks noChangeAspect="1" noChangeArrowheads="1"/>
          </p:cNvPicPr>
          <p:nvPr/>
        </p:nvPicPr>
        <p:blipFill>
          <a:blip r:embed="rId7"/>
          <a:srcRect/>
          <a:stretch>
            <a:fillRect/>
          </a:stretch>
        </p:blipFill>
        <p:spPr bwMode="auto">
          <a:xfrm>
            <a:off x="4714875" y="2143125"/>
            <a:ext cx="3819525" cy="1457325"/>
          </a:xfrm>
          <a:prstGeom prst="rect">
            <a:avLst/>
          </a:prstGeom>
          <a:noFill/>
          <a:ln w="9525">
            <a:noFill/>
            <a:miter lim="800000"/>
            <a:headEnd/>
            <a:tailEnd/>
          </a:ln>
          <a:effectLst>
            <a:prstShdw prst="shdw17" dist="17961" dir="2700000">
              <a:schemeClr val="accent1">
                <a:gamma/>
                <a:shade val="60000"/>
                <a:invGamma/>
              </a:schemeClr>
            </a:prstShdw>
          </a:effectLst>
        </p:spPr>
      </p:pic>
      <p:graphicFrame>
        <p:nvGraphicFramePr>
          <p:cNvPr id="68613" name="Object 5">
            <a:extLst>
              <a:ext uri="{FF2B5EF4-FFF2-40B4-BE49-F238E27FC236}">
                <a16:creationId xmlns:a16="http://schemas.microsoft.com/office/drawing/2014/main" id="{3A575AF6-CEF1-452E-981C-0EAE451B3803}"/>
              </a:ext>
            </a:extLst>
          </p:cNvPr>
          <p:cNvGraphicFramePr>
            <a:graphicFrameLocks noChangeAspect="1"/>
          </p:cNvGraphicFramePr>
          <p:nvPr>
            <p:extLst>
              <p:ext uri="{D42A27DB-BD31-4B8C-83A1-F6EECF244321}">
                <p14:modId xmlns:p14="http://schemas.microsoft.com/office/powerpoint/2010/main" val="26381453"/>
              </p:ext>
            </p:extLst>
          </p:nvPr>
        </p:nvGraphicFramePr>
        <p:xfrm>
          <a:off x="1096963" y="3848100"/>
          <a:ext cx="3179762" cy="582613"/>
        </p:xfrm>
        <a:graphic>
          <a:graphicData uri="http://schemas.openxmlformats.org/presentationml/2006/ole">
            <mc:AlternateContent xmlns:mc="http://schemas.openxmlformats.org/markup-compatibility/2006">
              <mc:Choice xmlns:v="urn:schemas-microsoft-com:vml" Requires="v">
                <p:oleObj spid="_x0000_s29006" name="Equation" r:id="rId8" imgW="1574640" imgH="291960" progId="Equation.DSMT4">
                  <p:embed/>
                </p:oleObj>
              </mc:Choice>
              <mc:Fallback>
                <p:oleObj name="Equation" r:id="rId8" imgW="1574640" imgH="291960" progId="Equation.DSMT4">
                  <p:embed/>
                  <p:pic>
                    <p:nvPicPr>
                      <p:cNvPr id="68613" name="Object 5">
                        <a:extLst>
                          <a:ext uri="{FF2B5EF4-FFF2-40B4-BE49-F238E27FC236}">
                            <a16:creationId xmlns:a16="http://schemas.microsoft.com/office/drawing/2014/main" id="{3A575AF6-CEF1-452E-981C-0EAE451B3803}"/>
                          </a:ext>
                        </a:extLst>
                      </p:cNvPr>
                      <p:cNvPicPr>
                        <a:picLocks noChangeAspect="1" noChangeArrowheads="1"/>
                      </p:cNvPicPr>
                      <p:nvPr/>
                    </p:nvPicPr>
                    <p:blipFill>
                      <a:blip r:embed="rId9"/>
                      <a:srcRect/>
                      <a:stretch>
                        <a:fillRect/>
                      </a:stretch>
                    </p:blipFill>
                    <p:spPr bwMode="auto">
                      <a:xfrm>
                        <a:off x="1096963" y="3848100"/>
                        <a:ext cx="3179762" cy="582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8614" name="Picture 6">
            <a:extLst>
              <a:ext uri="{FF2B5EF4-FFF2-40B4-BE49-F238E27FC236}">
                <a16:creationId xmlns:a16="http://schemas.microsoft.com/office/drawing/2014/main" id="{A43B4B80-DE7C-4EFA-80F2-80D49D415F3F}"/>
              </a:ext>
            </a:extLst>
          </p:cNvPr>
          <p:cNvPicPr>
            <a:picLocks noChangeAspect="1" noChangeArrowheads="1"/>
          </p:cNvPicPr>
          <p:nvPr/>
        </p:nvPicPr>
        <p:blipFill>
          <a:blip r:embed="rId10"/>
          <a:srcRect/>
          <a:stretch>
            <a:fillRect/>
          </a:stretch>
        </p:blipFill>
        <p:spPr bwMode="auto">
          <a:xfrm>
            <a:off x="4038600" y="4667250"/>
            <a:ext cx="3533775" cy="2047875"/>
          </a:xfrm>
          <a:prstGeom prst="rect">
            <a:avLst/>
          </a:prstGeom>
          <a:noFill/>
          <a:ln w="9525">
            <a:noFill/>
            <a:miter lim="800000"/>
            <a:headEnd/>
            <a:tailEnd/>
          </a:ln>
          <a:effectLst>
            <a:prstShdw prst="shdw17" dist="17961" dir="2700000">
              <a:schemeClr val="accent1">
                <a:gamma/>
                <a:shade val="60000"/>
                <a:invGamma/>
              </a:schemeClr>
            </a:prstShdw>
          </a:effectLst>
        </p:spPr>
      </p:pic>
      <p:graphicFrame>
        <p:nvGraphicFramePr>
          <p:cNvPr id="68615" name="Object 7">
            <a:extLst>
              <a:ext uri="{FF2B5EF4-FFF2-40B4-BE49-F238E27FC236}">
                <a16:creationId xmlns:a16="http://schemas.microsoft.com/office/drawing/2014/main" id="{7CAB7E04-1A23-40C6-9046-EA0E674399A1}"/>
              </a:ext>
            </a:extLst>
          </p:cNvPr>
          <p:cNvGraphicFramePr>
            <a:graphicFrameLocks noChangeAspect="1"/>
          </p:cNvGraphicFramePr>
          <p:nvPr>
            <p:extLst>
              <p:ext uri="{D42A27DB-BD31-4B8C-83A1-F6EECF244321}">
                <p14:modId xmlns:p14="http://schemas.microsoft.com/office/powerpoint/2010/main" val="2867198085"/>
              </p:ext>
            </p:extLst>
          </p:nvPr>
        </p:nvGraphicFramePr>
        <p:xfrm>
          <a:off x="4330700" y="3746500"/>
          <a:ext cx="1641475" cy="784225"/>
        </p:xfrm>
        <a:graphic>
          <a:graphicData uri="http://schemas.openxmlformats.org/presentationml/2006/ole">
            <mc:AlternateContent xmlns:mc="http://schemas.openxmlformats.org/markup-compatibility/2006">
              <mc:Choice xmlns:v="urn:schemas-microsoft-com:vml" Requires="v">
                <p:oleObj spid="_x0000_s29007" name="Equation" r:id="rId11" imgW="812520" imgH="393480" progId="Equation.DSMT4">
                  <p:embed/>
                </p:oleObj>
              </mc:Choice>
              <mc:Fallback>
                <p:oleObj name="Equation" r:id="rId11" imgW="812520" imgH="393480" progId="Equation.DSMT4">
                  <p:embed/>
                  <p:pic>
                    <p:nvPicPr>
                      <p:cNvPr id="68615" name="Object 7">
                        <a:extLst>
                          <a:ext uri="{FF2B5EF4-FFF2-40B4-BE49-F238E27FC236}">
                            <a16:creationId xmlns:a16="http://schemas.microsoft.com/office/drawing/2014/main" id="{7CAB7E04-1A23-40C6-9046-EA0E674399A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30700" y="3746500"/>
                        <a:ext cx="1641475"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6" name="Object 8">
            <a:extLst>
              <a:ext uri="{FF2B5EF4-FFF2-40B4-BE49-F238E27FC236}">
                <a16:creationId xmlns:a16="http://schemas.microsoft.com/office/drawing/2014/main" id="{B80037AA-209B-4947-A8FD-6F551DEA2892}"/>
              </a:ext>
            </a:extLst>
          </p:cNvPr>
          <p:cNvGraphicFramePr>
            <a:graphicFrameLocks noChangeAspect="1"/>
          </p:cNvGraphicFramePr>
          <p:nvPr>
            <p:extLst>
              <p:ext uri="{D42A27DB-BD31-4B8C-83A1-F6EECF244321}">
                <p14:modId xmlns:p14="http://schemas.microsoft.com/office/powerpoint/2010/main" val="2203866505"/>
              </p:ext>
            </p:extLst>
          </p:nvPr>
        </p:nvGraphicFramePr>
        <p:xfrm>
          <a:off x="6000750" y="3911600"/>
          <a:ext cx="2281238" cy="455613"/>
        </p:xfrm>
        <a:graphic>
          <a:graphicData uri="http://schemas.openxmlformats.org/presentationml/2006/ole">
            <mc:AlternateContent xmlns:mc="http://schemas.openxmlformats.org/markup-compatibility/2006">
              <mc:Choice xmlns:v="urn:schemas-microsoft-com:vml" Requires="v">
                <p:oleObj spid="_x0000_s29008" name="Equation" r:id="rId13" imgW="1130040" imgH="228600" progId="Equation.DSMT4">
                  <p:embed/>
                </p:oleObj>
              </mc:Choice>
              <mc:Fallback>
                <p:oleObj name="Equation" r:id="rId13" imgW="1130040" imgH="228600" progId="Equation.DSMT4">
                  <p:embed/>
                  <p:pic>
                    <p:nvPicPr>
                      <p:cNvPr id="68616" name="Object 8">
                        <a:extLst>
                          <a:ext uri="{FF2B5EF4-FFF2-40B4-BE49-F238E27FC236}">
                            <a16:creationId xmlns:a16="http://schemas.microsoft.com/office/drawing/2014/main" id="{B80037AA-209B-4947-A8FD-6F551DEA289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00750" y="3911600"/>
                        <a:ext cx="2281238"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7" name="Object 9">
            <a:extLst>
              <a:ext uri="{FF2B5EF4-FFF2-40B4-BE49-F238E27FC236}">
                <a16:creationId xmlns:a16="http://schemas.microsoft.com/office/drawing/2014/main" id="{24BB422F-8DF7-475A-A5C4-455F4A6D11CB}"/>
              </a:ext>
            </a:extLst>
          </p:cNvPr>
          <p:cNvGraphicFramePr>
            <a:graphicFrameLocks noChangeAspect="1"/>
          </p:cNvGraphicFramePr>
          <p:nvPr>
            <p:extLst>
              <p:ext uri="{D42A27DB-BD31-4B8C-83A1-F6EECF244321}">
                <p14:modId xmlns:p14="http://schemas.microsoft.com/office/powerpoint/2010/main" val="893731332"/>
              </p:ext>
            </p:extLst>
          </p:nvPr>
        </p:nvGraphicFramePr>
        <p:xfrm>
          <a:off x="1312863" y="5227638"/>
          <a:ext cx="2616200" cy="557212"/>
        </p:xfrm>
        <a:graphic>
          <a:graphicData uri="http://schemas.openxmlformats.org/presentationml/2006/ole">
            <mc:AlternateContent xmlns:mc="http://schemas.openxmlformats.org/markup-compatibility/2006">
              <mc:Choice xmlns:v="urn:schemas-microsoft-com:vml" Requires="v">
                <p:oleObj spid="_x0000_s29009" name="Equation" r:id="rId15" imgW="1295280" imgH="279360" progId="Equation.DSMT4">
                  <p:embed/>
                </p:oleObj>
              </mc:Choice>
              <mc:Fallback>
                <p:oleObj name="Equation" r:id="rId15" imgW="1295280" imgH="279360" progId="Equation.DSMT4">
                  <p:embed/>
                  <p:pic>
                    <p:nvPicPr>
                      <p:cNvPr id="68617" name="Object 9">
                        <a:extLst>
                          <a:ext uri="{FF2B5EF4-FFF2-40B4-BE49-F238E27FC236}">
                            <a16:creationId xmlns:a16="http://schemas.microsoft.com/office/drawing/2014/main" id="{24BB422F-8DF7-475A-A5C4-455F4A6D11C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12863" y="5227638"/>
                        <a:ext cx="2616200" cy="557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8611"/>
                                        </p:tgtEl>
                                        <p:attrNameLst>
                                          <p:attrName>style.visibility</p:attrName>
                                        </p:attrNameLst>
                                      </p:cBhvr>
                                      <p:to>
                                        <p:strVal val="visible"/>
                                      </p:to>
                                    </p:set>
                                    <p:animEffect transition="in" filter="blinds(horizontal)">
                                      <p:cBhvr>
                                        <p:cTn id="7" dur="500"/>
                                        <p:tgtEl>
                                          <p:spTgt spid="686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8612"/>
                                        </p:tgtEl>
                                        <p:attrNameLst>
                                          <p:attrName>style.visibility</p:attrName>
                                        </p:attrNameLst>
                                      </p:cBhvr>
                                      <p:to>
                                        <p:strVal val="visible"/>
                                      </p:to>
                                    </p:set>
                                    <p:animEffect transition="in" filter="blinds(horizontal)">
                                      <p:cBhvr>
                                        <p:cTn id="12" dur="500"/>
                                        <p:tgtEl>
                                          <p:spTgt spid="686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8613"/>
                                        </p:tgtEl>
                                        <p:attrNameLst>
                                          <p:attrName>style.visibility</p:attrName>
                                        </p:attrNameLst>
                                      </p:cBhvr>
                                      <p:to>
                                        <p:strVal val="visible"/>
                                      </p:to>
                                    </p:set>
                                    <p:animEffect transition="in" filter="blinds(horizontal)">
                                      <p:cBhvr>
                                        <p:cTn id="17" dur="500"/>
                                        <p:tgtEl>
                                          <p:spTgt spid="686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8615"/>
                                        </p:tgtEl>
                                        <p:attrNameLst>
                                          <p:attrName>style.visibility</p:attrName>
                                        </p:attrNameLst>
                                      </p:cBhvr>
                                      <p:to>
                                        <p:strVal val="visible"/>
                                      </p:to>
                                    </p:set>
                                    <p:animEffect transition="in" filter="blinds(horizontal)">
                                      <p:cBhvr>
                                        <p:cTn id="22" dur="500"/>
                                        <p:tgtEl>
                                          <p:spTgt spid="686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8616"/>
                                        </p:tgtEl>
                                        <p:attrNameLst>
                                          <p:attrName>style.visibility</p:attrName>
                                        </p:attrNameLst>
                                      </p:cBhvr>
                                      <p:to>
                                        <p:strVal val="visible"/>
                                      </p:to>
                                    </p:set>
                                    <p:animEffect transition="in" filter="blinds(horizontal)">
                                      <p:cBhvr>
                                        <p:cTn id="27" dur="500"/>
                                        <p:tgtEl>
                                          <p:spTgt spid="686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8617"/>
                                        </p:tgtEl>
                                        <p:attrNameLst>
                                          <p:attrName>style.visibility</p:attrName>
                                        </p:attrNameLst>
                                      </p:cBhvr>
                                      <p:to>
                                        <p:strVal val="visible"/>
                                      </p:to>
                                    </p:set>
                                    <p:animEffect transition="in" filter="blinds(horizontal)">
                                      <p:cBhvr>
                                        <p:cTn id="32" dur="500"/>
                                        <p:tgtEl>
                                          <p:spTgt spid="68617"/>
                                        </p:tgtEl>
                                      </p:cBhvr>
                                    </p:animEffect>
                                  </p:childTnLst>
                                </p:cTn>
                              </p:par>
                              <p:par>
                                <p:cTn id="33" presetID="3" presetClass="entr" presetSubtype="10" fill="hold" nodeType="withEffect">
                                  <p:stCondLst>
                                    <p:cond delay="0"/>
                                  </p:stCondLst>
                                  <p:childTnLst>
                                    <p:set>
                                      <p:cBhvr>
                                        <p:cTn id="34" dur="1" fill="hold">
                                          <p:stCondLst>
                                            <p:cond delay="0"/>
                                          </p:stCondLst>
                                        </p:cTn>
                                        <p:tgtEl>
                                          <p:spTgt spid="68614"/>
                                        </p:tgtEl>
                                        <p:attrNameLst>
                                          <p:attrName>style.visibility</p:attrName>
                                        </p:attrNameLst>
                                      </p:cBhvr>
                                      <p:to>
                                        <p:strVal val="visible"/>
                                      </p:to>
                                    </p:set>
                                    <p:animEffect transition="in" filter="blinds(horizontal)">
                                      <p:cBhvr>
                                        <p:cTn id="35" dur="500"/>
                                        <p:tgtEl>
                                          <p:spTgt spid="68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630AD8-5AFE-48AB-9C71-9149836067B8}"/>
              </a:ext>
            </a:extLst>
          </p:cNvPr>
          <p:cNvSpPr>
            <a:spLocks noGrp="1"/>
          </p:cNvSpPr>
          <p:nvPr>
            <p:ph type="title"/>
          </p:nvPr>
        </p:nvSpPr>
        <p:spPr/>
        <p:txBody>
          <a:bodyPr/>
          <a:lstStyle/>
          <a:p>
            <a:r>
              <a:rPr lang="zh-CN" altLang="en-US" dirty="0"/>
              <a:t>课后作业</a:t>
            </a:r>
            <a:endParaRPr lang="en-US" dirty="0"/>
          </a:p>
        </p:txBody>
      </p:sp>
      <p:sp>
        <p:nvSpPr>
          <p:cNvPr id="3" name="内容占位符 2">
            <a:extLst>
              <a:ext uri="{FF2B5EF4-FFF2-40B4-BE49-F238E27FC236}">
                <a16:creationId xmlns:a16="http://schemas.microsoft.com/office/drawing/2014/main" id="{2D1D437D-C598-40E2-B0B9-F3A9C6B201DE}"/>
              </a:ext>
            </a:extLst>
          </p:cNvPr>
          <p:cNvSpPr>
            <a:spLocks noGrp="1"/>
          </p:cNvSpPr>
          <p:nvPr>
            <p:ph idx="1"/>
          </p:nvPr>
        </p:nvSpPr>
        <p:spPr>
          <a:xfrm>
            <a:off x="457200" y="1285875"/>
            <a:ext cx="8229600" cy="523220"/>
          </a:xfrm>
        </p:spPr>
        <p:txBody>
          <a:bodyPr>
            <a:spAutoFit/>
          </a:bodyPr>
          <a:lstStyle/>
          <a:p>
            <a:pPr algn="just">
              <a:spcBef>
                <a:spcPts val="0"/>
              </a:spcBef>
              <a:spcAft>
                <a:spcPts val="300"/>
              </a:spcAft>
            </a:pPr>
            <a:r>
              <a:rPr lang="en-US" altLang="zh-CN" sz="2800" b="0" dirty="0"/>
              <a:t>3.35</a:t>
            </a:r>
            <a:endParaRPr lang="en-US" sz="2800" b="0" dirty="0"/>
          </a:p>
        </p:txBody>
      </p:sp>
      <p:sp>
        <p:nvSpPr>
          <p:cNvPr id="4" name="灯片编号占位符 3">
            <a:extLst>
              <a:ext uri="{FF2B5EF4-FFF2-40B4-BE49-F238E27FC236}">
                <a16:creationId xmlns:a16="http://schemas.microsoft.com/office/drawing/2014/main" id="{C018AEBB-9A02-4033-B315-77405E85549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28314168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F3AC8FC6-7B01-4FF2-A763-7BCAF2389573}"/>
              </a:ext>
            </a:extLst>
          </p:cNvPr>
          <p:cNvSpPr>
            <a:spLocks noGrp="1"/>
          </p:cNvSpPr>
          <p:nvPr>
            <p:ph type="title"/>
          </p:nvPr>
        </p:nvSpPr>
        <p:spPr/>
        <p:txBody>
          <a:bodyPr/>
          <a:lstStyle/>
          <a:p>
            <a:r>
              <a:rPr lang="zh-CN" altLang="en-US"/>
              <a:t>本章小结</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90A1002-AC64-488F-9D91-03F5E3913875}"/>
                  </a:ext>
                </a:extLst>
              </p:cNvPr>
              <p:cNvSpPr>
                <a:spLocks noGrp="1"/>
              </p:cNvSpPr>
              <p:nvPr>
                <p:ph idx="1"/>
              </p:nvPr>
            </p:nvSpPr>
            <p:spPr>
              <a:xfrm>
                <a:off x="457200" y="1285875"/>
                <a:ext cx="8229600" cy="5143500"/>
              </a:xfrm>
            </p:spPr>
            <p:txBody>
              <a:bodyPr/>
              <a:lstStyle/>
              <a:p>
                <a:pPr>
                  <a:lnSpc>
                    <a:spcPct val="150000"/>
                  </a:lnSpc>
                  <a:spcBef>
                    <a:spcPts val="0"/>
                  </a:spcBef>
                </a:pPr>
                <a:r>
                  <a:rPr lang="zh-CN" altLang="en-US" sz="2400" b="0" dirty="0"/>
                  <a:t>复指数函数</a:t>
                </a:r>
                <a14:m>
                  <m:oMath xmlns:m="http://schemas.openxmlformats.org/officeDocument/2006/math">
                    <m:sSup>
                      <m:sSupPr>
                        <m:ctrlPr>
                          <a:rPr lang="en-US" sz="2400" b="0" i="1">
                            <a:solidFill>
                              <a:srgbClr val="FF0000"/>
                            </a:solidFill>
                            <a:latin typeface="Cambria Math" panose="02040503050406030204" pitchFamily="18" charset="0"/>
                          </a:rPr>
                        </m:ctrlPr>
                      </m:sSupPr>
                      <m:e>
                        <m:r>
                          <m:rPr>
                            <m:sty m:val="p"/>
                          </m:rPr>
                          <a:rPr lang="en-US" sz="2400" b="0" i="0">
                            <a:solidFill>
                              <a:srgbClr val="FF0000"/>
                            </a:solidFill>
                            <a:latin typeface="Cambria Math" panose="02040503050406030204" pitchFamily="18" charset="0"/>
                          </a:rPr>
                          <m:t>e</m:t>
                        </m:r>
                      </m:e>
                      <m:sup>
                        <m:r>
                          <a:rPr lang="en-US" sz="2400" b="0" i="1" smtClean="0">
                            <a:solidFill>
                              <a:srgbClr val="FF0000"/>
                            </a:solidFill>
                            <a:latin typeface="Cambria Math" panose="02040503050406030204" pitchFamily="18" charset="0"/>
                          </a:rPr>
                          <m:t>𝑠</m:t>
                        </m:r>
                        <m:r>
                          <a:rPr lang="en-US" sz="2400" b="0" i="1">
                            <a:solidFill>
                              <a:srgbClr val="FF0000"/>
                            </a:solidFill>
                            <a:latin typeface="Cambria Math" panose="02040503050406030204" pitchFamily="18" charset="0"/>
                          </a:rPr>
                          <m:t>𝑡</m:t>
                        </m:r>
                      </m:sup>
                    </m:sSup>
                  </m:oMath>
                </a14:m>
                <a:r>
                  <a:rPr lang="zh-CN" altLang="en-US" sz="2400" b="0" dirty="0"/>
                  <a:t>或</a:t>
                </a:r>
                <a14:m>
                  <m:oMath xmlns:m="http://schemas.openxmlformats.org/officeDocument/2006/math">
                    <m:sSup>
                      <m:sSupPr>
                        <m:ctrlPr>
                          <a:rPr lang="en-US" sz="2400" b="0" i="1">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𝑧</m:t>
                        </m:r>
                      </m:e>
                      <m:sup>
                        <m:r>
                          <a:rPr lang="en-US" sz="2400" b="0" i="1">
                            <a:solidFill>
                              <a:srgbClr val="FF0000"/>
                            </a:solidFill>
                            <a:latin typeface="Cambria Math" panose="02040503050406030204" pitchFamily="18" charset="0"/>
                          </a:rPr>
                          <m:t>𝑛</m:t>
                        </m:r>
                      </m:sup>
                    </m:sSup>
                  </m:oMath>
                </a14:m>
                <a:r>
                  <a:rPr lang="zh-CN" altLang="en-US" sz="2400" b="0" dirty="0"/>
                  <a:t>是一切</a:t>
                </a:r>
                <a:r>
                  <a:rPr lang="en-US" altLang="zh-CN" sz="2400" b="0" dirty="0"/>
                  <a:t>LTI</a:t>
                </a:r>
                <a:r>
                  <a:rPr lang="zh-CN" altLang="en-US" sz="2400" b="0" dirty="0"/>
                  <a:t>系统的</a:t>
                </a:r>
                <a:r>
                  <a:rPr lang="zh-CN" altLang="en-US" sz="2400" b="0" dirty="0">
                    <a:solidFill>
                      <a:srgbClr val="FF0000"/>
                    </a:solidFill>
                  </a:rPr>
                  <a:t>特征函数</a:t>
                </a:r>
                <a:r>
                  <a:rPr lang="zh-CN" altLang="en-US" sz="2400" b="0" dirty="0"/>
                  <a:t>，对应的特征值（称为系统函数）体现了系统特性。</a:t>
                </a:r>
              </a:p>
              <a:p>
                <a:pPr>
                  <a:lnSpc>
                    <a:spcPct val="150000"/>
                  </a:lnSpc>
                  <a:spcBef>
                    <a:spcPts val="0"/>
                  </a:spcBef>
                </a:pPr>
                <a:r>
                  <a:rPr lang="zh-CN" altLang="en-US" sz="2400" b="0" dirty="0"/>
                  <a:t>建立了用</a:t>
                </a:r>
                <a:r>
                  <a:rPr lang="zh-CN" altLang="en-US" sz="2400" b="0" dirty="0">
                    <a:solidFill>
                      <a:srgbClr val="FF0000"/>
                    </a:solidFill>
                  </a:rPr>
                  <a:t>傅里叶级数</a:t>
                </a:r>
                <a:r>
                  <a:rPr lang="zh-CN" altLang="en-US" sz="2400" b="0" dirty="0"/>
                  <a:t>表示</a:t>
                </a:r>
                <a:r>
                  <a:rPr lang="zh-CN" altLang="en-US" sz="2400" b="0" dirty="0">
                    <a:solidFill>
                      <a:srgbClr val="FF0000"/>
                    </a:solidFill>
                  </a:rPr>
                  <a:t>周期信号</a:t>
                </a:r>
                <a:r>
                  <a:rPr lang="zh-CN" altLang="en-US" sz="2400" b="0" dirty="0"/>
                  <a:t>的方法，实现了对周期信号的</a:t>
                </a:r>
                <a:r>
                  <a:rPr lang="zh-CN" altLang="en-US" sz="2400" b="0" dirty="0">
                    <a:solidFill>
                      <a:srgbClr val="FF0000"/>
                    </a:solidFill>
                  </a:rPr>
                  <a:t>频域分解</a:t>
                </a:r>
                <a:r>
                  <a:rPr lang="zh-CN" altLang="en-US" sz="2400" b="0" dirty="0"/>
                  <a:t>，即把周期信号表示为成谐波关系的复指数信号</a:t>
                </a:r>
                <a14:m>
                  <m:oMath xmlns:m="http://schemas.openxmlformats.org/officeDocument/2006/math">
                    <m:sSup>
                      <m:sSupPr>
                        <m:ctrlPr>
                          <a:rPr lang="en-US" sz="2400" b="0" i="1">
                            <a:solidFill>
                              <a:srgbClr val="FF0000"/>
                            </a:solidFill>
                            <a:latin typeface="Cambria Math" panose="02040503050406030204" pitchFamily="18" charset="0"/>
                          </a:rPr>
                        </m:ctrlPr>
                      </m:sSupPr>
                      <m:e>
                        <m:r>
                          <m:rPr>
                            <m:sty m:val="p"/>
                          </m:rPr>
                          <a:rPr lang="en-US" sz="2400" b="0" i="0">
                            <a:solidFill>
                              <a:srgbClr val="FF0000"/>
                            </a:solidFill>
                            <a:latin typeface="Cambria Math" panose="02040503050406030204" pitchFamily="18" charset="0"/>
                          </a:rPr>
                          <m:t>e</m:t>
                        </m:r>
                      </m:e>
                      <m:sup>
                        <m:r>
                          <m:rPr>
                            <m:sty m:val="p"/>
                          </m:rPr>
                          <a:rPr lang="en-US" sz="2400" b="0" i="0">
                            <a:solidFill>
                              <a:srgbClr val="FF0000"/>
                            </a:solidFill>
                            <a:latin typeface="Cambria Math" panose="02040503050406030204" pitchFamily="18" charset="0"/>
                          </a:rPr>
                          <m:t>j</m:t>
                        </m:r>
                        <m:r>
                          <a:rPr lang="en-US" sz="2400" b="0" i="1">
                            <a:solidFill>
                              <a:srgbClr val="FF0000"/>
                            </a:solidFill>
                            <a:latin typeface="Cambria Math" panose="02040503050406030204" pitchFamily="18" charset="0"/>
                          </a:rPr>
                          <m:t>𝑘</m:t>
                        </m:r>
                        <m:sSub>
                          <m:sSubPr>
                            <m:ctrlPr>
                              <a:rPr lang="en-US" sz="2400" b="0" i="1">
                                <a:solidFill>
                                  <a:srgbClr val="FF0000"/>
                                </a:solidFill>
                                <a:latin typeface="Cambria Math" panose="02040503050406030204" pitchFamily="18" charset="0"/>
                              </a:rPr>
                            </m:ctrlPr>
                          </m:sSubPr>
                          <m:e>
                            <m:r>
                              <a:rPr lang="en-US" sz="2400" b="0" i="1">
                                <a:solidFill>
                                  <a:srgbClr val="FF0000"/>
                                </a:solidFill>
                                <a:latin typeface="Cambria Math" panose="02040503050406030204" pitchFamily="18" charset="0"/>
                              </a:rPr>
                              <m:t>𝜔</m:t>
                            </m:r>
                          </m:e>
                          <m:sub>
                            <m:r>
                              <a:rPr lang="en-US" sz="2400" b="0" i="1">
                                <a:solidFill>
                                  <a:srgbClr val="FF0000"/>
                                </a:solidFill>
                                <a:latin typeface="Cambria Math" panose="02040503050406030204" pitchFamily="18" charset="0"/>
                              </a:rPr>
                              <m:t>0</m:t>
                            </m:r>
                          </m:sub>
                        </m:sSub>
                        <m:r>
                          <a:rPr lang="en-US" sz="2400" b="0" i="1">
                            <a:solidFill>
                              <a:srgbClr val="FF0000"/>
                            </a:solidFill>
                            <a:latin typeface="Cambria Math" panose="02040503050406030204" pitchFamily="18" charset="0"/>
                          </a:rPr>
                          <m:t>𝑡</m:t>
                        </m:r>
                      </m:sup>
                    </m:sSup>
                  </m:oMath>
                </a14:m>
                <a:r>
                  <a:rPr lang="zh-CN" altLang="en-US" sz="2400" b="0" dirty="0"/>
                  <a:t>或</a:t>
                </a:r>
                <a14:m>
                  <m:oMath xmlns:m="http://schemas.openxmlformats.org/officeDocument/2006/math">
                    <m:sSup>
                      <m:sSupPr>
                        <m:ctrlPr>
                          <a:rPr lang="en-US" sz="2400" b="0" i="1">
                            <a:solidFill>
                              <a:srgbClr val="FF0000"/>
                            </a:solidFill>
                            <a:latin typeface="Cambria Math" panose="02040503050406030204" pitchFamily="18" charset="0"/>
                          </a:rPr>
                        </m:ctrlPr>
                      </m:sSupPr>
                      <m:e>
                        <m:r>
                          <m:rPr>
                            <m:sty m:val="p"/>
                          </m:rPr>
                          <a:rPr lang="en-US" sz="2400" b="0" i="0">
                            <a:solidFill>
                              <a:srgbClr val="FF0000"/>
                            </a:solidFill>
                            <a:latin typeface="Cambria Math" panose="02040503050406030204" pitchFamily="18" charset="0"/>
                          </a:rPr>
                          <m:t>e</m:t>
                        </m:r>
                      </m:e>
                      <m:sup>
                        <m:r>
                          <m:rPr>
                            <m:sty m:val="p"/>
                          </m:rPr>
                          <a:rPr lang="en-US" sz="2400" b="0" i="0">
                            <a:solidFill>
                              <a:srgbClr val="FF0000"/>
                            </a:solidFill>
                            <a:latin typeface="Cambria Math" panose="02040503050406030204" pitchFamily="18" charset="0"/>
                          </a:rPr>
                          <m:t>j</m:t>
                        </m:r>
                        <m:r>
                          <a:rPr lang="en-US" sz="2400" b="0" i="1">
                            <a:solidFill>
                              <a:srgbClr val="FF0000"/>
                            </a:solidFill>
                            <a:latin typeface="Cambria Math" panose="02040503050406030204" pitchFamily="18" charset="0"/>
                          </a:rPr>
                          <m:t>𝑘</m:t>
                        </m:r>
                        <m:sSub>
                          <m:sSubPr>
                            <m:ctrlPr>
                              <a:rPr lang="en-US" sz="2400" b="0" i="1">
                                <a:solidFill>
                                  <a:srgbClr val="FF0000"/>
                                </a:solidFill>
                                <a:latin typeface="Cambria Math" panose="02040503050406030204" pitchFamily="18" charset="0"/>
                              </a:rPr>
                            </m:ctrlPr>
                          </m:sSubPr>
                          <m:e>
                            <m:r>
                              <a:rPr lang="en-US" sz="2400" b="0" i="1">
                                <a:solidFill>
                                  <a:srgbClr val="FF0000"/>
                                </a:solidFill>
                                <a:latin typeface="Cambria Math" panose="02040503050406030204" pitchFamily="18" charset="0"/>
                              </a:rPr>
                              <m:t>𝜔</m:t>
                            </m:r>
                          </m:e>
                          <m:sub>
                            <m:r>
                              <a:rPr lang="en-US" sz="2400" b="0" i="1">
                                <a:solidFill>
                                  <a:srgbClr val="FF0000"/>
                                </a:solidFill>
                                <a:latin typeface="Cambria Math" panose="02040503050406030204" pitchFamily="18" charset="0"/>
                              </a:rPr>
                              <m:t>0</m:t>
                            </m:r>
                          </m:sub>
                        </m:sSub>
                        <m:r>
                          <a:rPr lang="en-US" sz="2400" b="0" i="1">
                            <a:solidFill>
                              <a:srgbClr val="FF0000"/>
                            </a:solidFill>
                            <a:latin typeface="Cambria Math" panose="02040503050406030204" pitchFamily="18" charset="0"/>
                          </a:rPr>
                          <m:t>𝑛</m:t>
                        </m:r>
                      </m:sup>
                    </m:sSup>
                  </m:oMath>
                </a14:m>
                <a:r>
                  <a:rPr lang="zh-CN" altLang="en-US" sz="2400" b="0" dirty="0"/>
                  <a:t>的线性组合。</a:t>
                </a:r>
              </a:p>
              <a:p>
                <a:pPr>
                  <a:lnSpc>
                    <a:spcPct val="150000"/>
                  </a:lnSpc>
                  <a:spcBef>
                    <a:spcPts val="0"/>
                  </a:spcBef>
                </a:pPr>
                <a:r>
                  <a:rPr lang="zh-CN" altLang="en-US" sz="2400" b="0" dirty="0"/>
                  <a:t>在对信号分析的基础上，研究了</a:t>
                </a:r>
                <a:r>
                  <a:rPr lang="en-US" altLang="zh-CN" sz="2400" b="0" dirty="0"/>
                  <a:t>LTI</a:t>
                </a:r>
                <a:r>
                  <a:rPr lang="zh-CN" altLang="en-US" sz="2400" b="0" dirty="0"/>
                  <a:t>系统</a:t>
                </a:r>
                <a:r>
                  <a:rPr lang="en-US" altLang="zh-CN" sz="2400" b="0" dirty="0"/>
                  <a:t>LTI</a:t>
                </a:r>
                <a:r>
                  <a:rPr lang="zh-CN" altLang="en-US" sz="2400" b="0" dirty="0"/>
                  <a:t>系统对周期信号的响应，发现</a:t>
                </a:r>
                <a:r>
                  <a:rPr lang="en-US" altLang="zh-CN" sz="2400" b="0" dirty="0"/>
                  <a:t>LTI</a:t>
                </a:r>
                <a:r>
                  <a:rPr lang="zh-CN" altLang="en-US" sz="2400" b="0" dirty="0"/>
                  <a:t>系统可以用</a:t>
                </a:r>
                <a:r>
                  <a:rPr lang="zh-CN" altLang="en-US" sz="2400" b="0" dirty="0">
                    <a:solidFill>
                      <a:srgbClr val="FF0000"/>
                    </a:solidFill>
                  </a:rPr>
                  <a:t>频率响应</a:t>
                </a:r>
                <a14:m>
                  <m:oMath xmlns:m="http://schemas.openxmlformats.org/officeDocument/2006/math">
                    <m:r>
                      <a:rPr lang="en-US" altLang="zh-CN" sz="2400" b="0" i="1" dirty="0">
                        <a:solidFill>
                          <a:srgbClr val="FF0000"/>
                        </a:solidFill>
                        <a:latin typeface="Cambria Math" panose="02040503050406030204" pitchFamily="18" charset="0"/>
                      </a:rPr>
                      <m:t>𝐻</m:t>
                    </m:r>
                    <m:r>
                      <a:rPr lang="en-US" altLang="zh-CN" sz="2400" b="0" i="0" dirty="0" smtClean="0">
                        <a:solidFill>
                          <a:srgbClr val="FF0000"/>
                        </a:solidFill>
                        <a:latin typeface="Cambria Math" panose="02040503050406030204" pitchFamily="18" charset="0"/>
                      </a:rPr>
                      <m:t>(</m:t>
                    </m:r>
                    <m:r>
                      <m:rPr>
                        <m:sty m:val="p"/>
                      </m:rPr>
                      <a:rPr lang="en-US" sz="2400" b="0" i="0">
                        <a:solidFill>
                          <a:srgbClr val="FF0000"/>
                        </a:solidFill>
                        <a:latin typeface="Cambria Math" panose="02040503050406030204" pitchFamily="18" charset="0"/>
                      </a:rPr>
                      <m:t>j</m:t>
                    </m:r>
                    <m:r>
                      <a:rPr lang="en-US" sz="2400" b="0" i="1">
                        <a:solidFill>
                          <a:srgbClr val="FF0000"/>
                        </a:solidFill>
                        <a:latin typeface="Cambria Math" panose="02040503050406030204" pitchFamily="18" charset="0"/>
                      </a:rPr>
                      <m:t>𝜔</m:t>
                    </m:r>
                    <m:r>
                      <a:rPr lang="en-US" sz="2400" b="0" i="1" smtClean="0">
                        <a:solidFill>
                          <a:srgbClr val="FF0000"/>
                        </a:solidFill>
                        <a:latin typeface="Cambria Math" panose="02040503050406030204" pitchFamily="18" charset="0"/>
                      </a:rPr>
                      <m:t>)</m:t>
                    </m:r>
                  </m:oMath>
                </a14:m>
                <a:r>
                  <a:rPr lang="zh-CN" altLang="en-US" sz="2400" b="0" dirty="0"/>
                  <a:t>或</a:t>
                </a:r>
                <a14:m>
                  <m:oMath xmlns:m="http://schemas.openxmlformats.org/officeDocument/2006/math">
                    <m:r>
                      <a:rPr lang="en-US" altLang="zh-CN" sz="2400" b="0" i="1" dirty="0">
                        <a:solidFill>
                          <a:srgbClr val="FF0000"/>
                        </a:solidFill>
                        <a:latin typeface="Cambria Math" panose="02040503050406030204" pitchFamily="18" charset="0"/>
                      </a:rPr>
                      <m:t>𝐻</m:t>
                    </m:r>
                    <m:r>
                      <a:rPr lang="en-US" altLang="zh-CN" sz="2400" b="0" dirty="0">
                        <a:solidFill>
                          <a:srgbClr val="FF0000"/>
                        </a:solidFill>
                        <a:latin typeface="Cambria Math" panose="02040503050406030204" pitchFamily="18" charset="0"/>
                      </a:rPr>
                      <m:t>(</m:t>
                    </m:r>
                    <m:sSup>
                      <m:sSupPr>
                        <m:ctrlPr>
                          <a:rPr lang="en-US" sz="2400" b="0" i="1">
                            <a:solidFill>
                              <a:srgbClr val="FF0000"/>
                            </a:solidFill>
                            <a:latin typeface="Cambria Math" panose="02040503050406030204" pitchFamily="18" charset="0"/>
                          </a:rPr>
                        </m:ctrlPr>
                      </m:sSupPr>
                      <m:e>
                        <m:r>
                          <m:rPr>
                            <m:sty m:val="p"/>
                          </m:rPr>
                          <a:rPr lang="en-US" sz="2400" b="0" i="0">
                            <a:solidFill>
                              <a:srgbClr val="FF0000"/>
                            </a:solidFill>
                            <a:latin typeface="Cambria Math" panose="02040503050406030204" pitchFamily="18" charset="0"/>
                          </a:rPr>
                          <m:t>e</m:t>
                        </m:r>
                      </m:e>
                      <m:sup>
                        <m:r>
                          <m:rPr>
                            <m:sty m:val="p"/>
                          </m:rPr>
                          <a:rPr lang="en-US" sz="2400" b="0" i="0">
                            <a:solidFill>
                              <a:srgbClr val="FF0000"/>
                            </a:solidFill>
                            <a:latin typeface="Cambria Math" panose="02040503050406030204" pitchFamily="18" charset="0"/>
                          </a:rPr>
                          <m:t>j</m:t>
                        </m:r>
                        <m:r>
                          <a:rPr lang="en-US" sz="2400" b="0" i="1">
                            <a:solidFill>
                              <a:srgbClr val="FF0000"/>
                            </a:solidFill>
                            <a:latin typeface="Cambria Math" panose="02040503050406030204" pitchFamily="18" charset="0"/>
                          </a:rPr>
                          <m:t>𝜔</m:t>
                        </m:r>
                      </m:sup>
                    </m:sSup>
                    <m:r>
                      <a:rPr lang="en-US" sz="2400" b="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 </m:t>
                    </m:r>
                  </m:oMath>
                </a14:m>
                <a:r>
                  <a:rPr lang="en-US" altLang="zh-CN" sz="2400" b="0" dirty="0"/>
                  <a:t>——</a:t>
                </a:r>
                <a:r>
                  <a:rPr lang="zh-CN" altLang="en-US" sz="2400" b="0" dirty="0"/>
                  <a:t>即对周期性复指数信号的响应</a:t>
                </a:r>
                <a:r>
                  <a:rPr lang="en-US" altLang="zh-CN" sz="2400" b="0" dirty="0"/>
                  <a:t>——</a:t>
                </a:r>
                <a:r>
                  <a:rPr lang="zh-CN" altLang="en-US" sz="2400" b="0" dirty="0"/>
                  <a:t>刻画。</a:t>
                </a:r>
                <a:endParaRPr lang="en-US" altLang="zh-CN" sz="2400" b="0" dirty="0"/>
              </a:p>
              <a:p>
                <a:pPr>
                  <a:lnSpc>
                    <a:spcPct val="150000"/>
                  </a:lnSpc>
                  <a:spcBef>
                    <a:spcPts val="0"/>
                  </a:spcBef>
                </a:pPr>
                <a:r>
                  <a:rPr lang="zh-CN" altLang="en-US" sz="2400" b="0" dirty="0"/>
                  <a:t>滤波器：</a:t>
                </a:r>
                <a:r>
                  <a:rPr lang="zh-CN" altLang="en-US" sz="2400" b="0" dirty="0">
                    <a:solidFill>
                      <a:srgbClr val="FF0000"/>
                    </a:solidFill>
                  </a:rPr>
                  <a:t>低通</a:t>
                </a:r>
                <a:r>
                  <a:rPr lang="zh-CN" altLang="en-US" sz="2400" b="0" dirty="0"/>
                  <a:t>、</a:t>
                </a:r>
                <a:r>
                  <a:rPr lang="zh-CN" altLang="en-US" sz="2400" b="0" dirty="0">
                    <a:solidFill>
                      <a:srgbClr val="FF0000"/>
                    </a:solidFill>
                  </a:rPr>
                  <a:t>高通</a:t>
                </a:r>
                <a:r>
                  <a:rPr lang="zh-CN" altLang="en-US" sz="2400" b="0" dirty="0"/>
                  <a:t>、</a:t>
                </a:r>
                <a:r>
                  <a:rPr lang="zh-CN" altLang="en-US" sz="2400" b="0" dirty="0">
                    <a:solidFill>
                      <a:srgbClr val="FF0000"/>
                    </a:solidFill>
                  </a:rPr>
                  <a:t>带通</a:t>
                </a:r>
                <a:r>
                  <a:rPr lang="zh-CN" altLang="en-US" sz="2400" b="0" dirty="0"/>
                  <a:t>。</a:t>
                </a:r>
              </a:p>
            </p:txBody>
          </p:sp>
        </mc:Choice>
        <mc:Fallback xmlns="">
          <p:sp>
            <p:nvSpPr>
              <p:cNvPr id="3" name="内容占位符 2">
                <a:extLst>
                  <a:ext uri="{FF2B5EF4-FFF2-40B4-BE49-F238E27FC236}">
                    <a16:creationId xmlns:a16="http://schemas.microsoft.com/office/drawing/2014/main" id="{090A1002-AC64-488F-9D91-03F5E3913875}"/>
                  </a:ext>
                </a:extLst>
              </p:cNvPr>
              <p:cNvSpPr>
                <a:spLocks noGrp="1" noRot="1" noChangeAspect="1" noMove="1" noResize="1" noEditPoints="1" noAdjustHandles="1" noChangeArrowheads="1" noChangeShapeType="1" noTextEdit="1"/>
              </p:cNvSpPr>
              <p:nvPr>
                <p:ph idx="1"/>
              </p:nvPr>
            </p:nvSpPr>
            <p:spPr>
              <a:xfrm>
                <a:off x="457200" y="1285875"/>
                <a:ext cx="8229600" cy="5143500"/>
              </a:xfrm>
              <a:blipFill>
                <a:blip r:embed="rId2"/>
                <a:stretch>
                  <a:fillRect l="-963" r="-963" b="-118"/>
                </a:stretch>
              </a:blipFill>
            </p:spPr>
            <p:txBody>
              <a:bodyPr/>
              <a:lstStyle/>
              <a:p>
                <a:r>
                  <a:rPr lang="en-US">
                    <a:noFill/>
                  </a:rPr>
                  <a:t> </a:t>
                </a:r>
              </a:p>
            </p:txBody>
          </p:sp>
        </mc:Fallback>
      </mc:AlternateContent>
      <p:sp>
        <p:nvSpPr>
          <p:cNvPr id="4" name="灯片编号占位符 3">
            <a:extLst>
              <a:ext uri="{FF2B5EF4-FFF2-40B4-BE49-F238E27FC236}">
                <a16:creationId xmlns:a16="http://schemas.microsoft.com/office/drawing/2014/main" id="{9E6C475A-0268-43CE-9717-2D8DFED38E8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1BA06F7-58C8-4DDF-8FAC-A32F49BDFCE5}" type="slidenum">
              <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zh-CN" altLang="en-US" sz="12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begin{eqnarray*}&#10;a_0 &amp; = &amp; \\&#10;a_1 &amp; = &amp; \\&#10;a_{-1} &amp; = &amp; \\&#10;a_2 &amp; = &amp; \\&#10;a_{-2} &amp; = &amp; \\&#10;a_3 &amp; = &amp; \\&#10;a_{-3} &amp; = &amp; \\&#10;&amp;\vdots &amp; &#10;\end{eqnarray*} &#10;\end{document} &#10;&#10;"/>
  <p:tag name="EXTERNALNAME" val="lec5s10_2"/>
  <p:tag name="BLEND" val="False"/>
  <p:tag name="TRANSPARENT" val="False"/>
  <p:tag name="KEEPFILES" val="True"/>
  <p:tag name="DEBUGPAUSE" val="False"/>
  <p:tag name="RESOLUTION" val="300"/>
  <p:tag name="TIMEOUT" val="15"/>
  <p:tag name="BITMAPFORMAT" val="bmpmono"/>
  <p:tag name="DEBUGINTERACTIVE" val="True"/>
  <p:tag name="ORIGWIDTH" val="68.875"/>
  <p:tag name="PICTUREFILESIZE" val="36062"/>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begin{eqnarray*}&#10;{\text{  Ex:   }} x(t) &amp; = &amp; \cos 4\pi t + 2 \sin 8 \pi &#10;\end{eqnarray*} &#10;\end{document} &#10;&#10;"/>
  <p:tag name="EXTERNALNAME" val="lec5s10_1"/>
  <p:tag name="BLEND" val="False"/>
  <p:tag name="TRANSPARENT" val="False"/>
  <p:tag name="KEEPFILES" val="True"/>
  <p:tag name="DEBUGPAUSE" val="False"/>
  <p:tag name="RESOLUTION" val="300"/>
  <p:tag name="TIMEOUT" val="15"/>
  <p:tag name="BITMAPFORMAT" val="bmpmono"/>
  <p:tag name="DEBUGINTERACTIVE" val="True"/>
  <p:tag name="ORIGWIDTH" val="283.875"/>
  <p:tag name="PICTUREFILESIZE" val="13530"/>
</p:tagLst>
</file>

<file path=ppt/tags/tag3.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omega_0  = \hspace{0.5in} T = $&#10;\end{document} &#10;&#10;"/>
  <p:tag name="EXTERNALNAME" val="lec5s10_1"/>
  <p:tag name="BLEND" val="False"/>
  <p:tag name="TRANSPARENT" val="False"/>
  <p:tag name="KEEPFILES" val="True"/>
  <p:tag name="DEBUGPAUSE" val="False"/>
  <p:tag name="RESOLUTION" val="300"/>
  <p:tag name="TIMEOUT" val="15"/>
  <p:tag name="BITMAPFORMAT" val="bmpmono"/>
  <p:tag name="DEBUGINTERACTIVE" val="True"/>
  <p:tag name="ORIGWIDTH" val="159.875"/>
  <p:tag name="PICTUREFILESIZE" val="6362"/>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color{blue}&#10;$4\pi$&#10;\end{document} &#10;&#10;"/>
  <p:tag name="EXTERNALNAME" val="lec5s10_1"/>
  <p:tag name="BLEND" val="False"/>
  <p:tag name="TRANSPARENT" val="False"/>
  <p:tag name="KEEPFILES" val="True"/>
  <p:tag name="DEBUGPAUSE" val="False"/>
  <p:tag name="RESOLUTION" val="300"/>
  <p:tag name="TIMEOUT" val="15"/>
  <p:tag name="BITMAPFORMAT" val="bmp256"/>
  <p:tag name="DEBUGINTERACTIVE" val="True"/>
  <p:tag name="ORIGWIDTH" val="21.875"/>
  <p:tag name="PICTUREFILESIZE" val="6782"/>
</p:tagLst>
</file>

<file path=ppt/tags/tag5.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color{blue}&#10;$\frac{2\pi}{\omega_0} = \frac{2\pi}{4\pi} = \frac{1}{2}$&#10;\end{document} &#10;&#10;"/>
  <p:tag name="EXTERNALNAME" val="lec5s10_1"/>
  <p:tag name="BLEND" val="False"/>
  <p:tag name="TRANSPARENT" val="False"/>
  <p:tag name="KEEPFILES" val="True"/>
  <p:tag name="DEBUGPAUSE" val="False"/>
  <p:tag name="RESOLUTION" val="300"/>
  <p:tag name="TIMEOUT" val="15"/>
  <p:tag name="BITMAPFORMAT" val="bmp256"/>
  <p:tag name="DEBUGINTERACTIVE" val="True"/>
  <p:tag name="ORIGWIDTH" val="110.875"/>
  <p:tag name="PICTUREFILESIZE" val="54902"/>
</p:tagLst>
</file>

<file path=ppt/tags/tag6.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color{blue}&#10;$\frac{1}{2}$&#10;\end{document} &#10;&#10;"/>
  <p:tag name="EXTERNALNAME" val="lec5s10_1"/>
  <p:tag name="BLEND" val="False"/>
  <p:tag name="TRANSPARENT" val="False"/>
  <p:tag name="KEEPFILES" val="True"/>
  <p:tag name="DEBUGPAUSE" val="False"/>
  <p:tag name="RESOLUTION" val="300"/>
  <p:tag name="TIMEOUT" val="15"/>
  <p:tag name="BITMAPFORMAT" val="bmp256"/>
  <p:tag name="DEBUGINTERACTIVE" val="True"/>
  <p:tag name="ORIGWIDTH" val="8.875"/>
  <p:tag name="PICTUREFILESIZE" val="5398"/>
</p:tagLst>
</file>

<file path=ppt/tags/tag7.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color{blue}&#10;$\frac{1}{2}$&#10;\end{document} &#10;&#10;"/>
  <p:tag name="EXTERNALNAME" val="lec5s10_1"/>
  <p:tag name="BLEND" val="False"/>
  <p:tag name="TRANSPARENT" val="False"/>
  <p:tag name="KEEPFILES" val="True"/>
  <p:tag name="DEBUGPAUSE" val="False"/>
  <p:tag name="RESOLUTION" val="300"/>
  <p:tag name="TIMEOUT" val="15"/>
  <p:tag name="BITMAPFORMAT" val="bmp256"/>
  <p:tag name="DEBUGINTERACTIVE" val="True"/>
  <p:tag name="ORIGWIDTH" val="8.875"/>
  <p:tag name="PICTUREFILESIZE" val="5398"/>
</p:tagLst>
</file>

<file path=ppt/tags/tag8.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begin{eqnarray*}&#10;&amp;= &amp; \frac{1}{2} \left[e^{j4\pi t} +e^{-j4\pi t} \right]+ \frac{2}{2j} &#10;\left[e^{j8\pi t} -e^{-j8\pi t}\right ]&#10;\end{eqnarray*} &#10;\end{document} &#10;&#10;"/>
  <p:tag name="EXTERNALNAME" val="lec5s10_1"/>
  <p:tag name="BLEND" val="False"/>
  <p:tag name="TRANSPARENT" val="False"/>
  <p:tag name="KEEPFILES" val="True"/>
  <p:tag name="DEBUGPAUSE" val="False"/>
  <p:tag name="RESOLUTION" val="300"/>
  <p:tag name="TIMEOUT" val="15"/>
  <p:tag name="BITMAPFORMAT" val="bmpmono"/>
  <p:tag name="DEBUGINTERACTIVE" val="True"/>
  <p:tag name="ORIGWIDTH" val="387.875"/>
  <p:tag name="PICTUREFILESIZE" val="39842"/>
</p:tagLst>
</file>

<file path=ppt/tags/tag9.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color{blue}&#10;$-\frac{1}{j}$&#10;\end{document} &#10;&#10;"/>
  <p:tag name="EXTERNALNAME" val="lec5s10_1"/>
  <p:tag name="BLEND" val="False"/>
  <p:tag name="TRANSPARENT" val="False"/>
  <p:tag name="KEEPFILES" val="True"/>
  <p:tag name="DEBUGPAUSE" val="False"/>
  <p:tag name="RESOLUTION" val="300"/>
  <p:tag name="TIMEOUT" val="15"/>
  <p:tag name="BITMAPFORMAT" val="bmp256"/>
  <p:tag name="DEBUGINTERACTIVE" val="True"/>
  <p:tag name="ORIGWIDTH" val="25.875"/>
  <p:tag name="PICTUREFILESIZE" val="14038"/>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color{blue}&#10;$\frac{1}{j}$&#10;\end{document} &#10;&#10;"/>
  <p:tag name="EXTERNALNAME" val="lec5s10_1"/>
  <p:tag name="BLEND" val="False"/>
  <p:tag name="TRANSPARENT" val="False"/>
  <p:tag name="KEEPFILES" val="True"/>
  <p:tag name="DEBUGPAUSE" val="False"/>
  <p:tag name="RESOLUTION" val="300"/>
  <p:tag name="TIMEOUT" val="15"/>
  <p:tag name="BITMAPFORMAT" val="bmp256"/>
  <p:tag name="DEBUGINTERACTIVE" val="True"/>
  <p:tag name="ORIGWIDTH" val="8.875"/>
  <p:tag name="PICTUREFILESIZE" val="5878"/>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seminar}\pagestyle{empty}&#10;\usepackage[dvips]{pstcol,graphicx}&#10;\usepackage{semrot,epsf}&#10;\usepackage{amsmath,pstricks,semcolor}&#10;\usepackage{epic}&#10;\begin{document}&#10;$\omega_{cl} &gt; \omega_{ch} $&#10;\end{document}&#10;"/>
  <p:tag name="EXTERNALNAME" val="lec7s8_2"/>
  <p:tag name="BLEND" val="False"/>
  <p:tag name="TRANSPARENT" val="False"/>
  <p:tag name="KEEPFILES" val="True"/>
  <p:tag name="DEBUGPAUSE" val="False"/>
  <p:tag name="RESOLUTION" val="300"/>
  <p:tag name="TIMEOUT" val="15"/>
  <p:tag name="BITMAPFORMAT" val="bmpmono"/>
  <p:tag name="DEBUGINTERACTIVE" val="True"/>
  <p:tag name="ORIGWIDTH" val="84"/>
  <p:tag name="PICTUREFILESIZE" val="296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10949</TotalTime>
  <Words>2607</Words>
  <Application>Microsoft Office PowerPoint</Application>
  <PresentationFormat>全屏显示(4:3)</PresentationFormat>
  <Paragraphs>465</Paragraphs>
  <Slides>73</Slides>
  <Notes>6</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3</vt:i4>
      </vt:variant>
      <vt:variant>
        <vt:lpstr>幻灯片标题</vt:lpstr>
      </vt:variant>
      <vt:variant>
        <vt:i4>73</vt:i4>
      </vt:variant>
    </vt:vector>
  </HeadingPairs>
  <TitlesOfParts>
    <vt:vector size="90" baseType="lpstr">
      <vt:lpstr>黑体</vt:lpstr>
      <vt:lpstr>华文楷体</vt:lpstr>
      <vt:lpstr>华文行楷</vt:lpstr>
      <vt:lpstr>楷体_GB2312</vt:lpstr>
      <vt:lpstr>宋体</vt:lpstr>
      <vt:lpstr>Arial</vt:lpstr>
      <vt:lpstr>Arial Black</vt:lpstr>
      <vt:lpstr>Calibri</vt:lpstr>
      <vt:lpstr>Cambria Math</vt:lpstr>
      <vt:lpstr>Georgia</vt:lpstr>
      <vt:lpstr>Symbol</vt:lpstr>
      <vt:lpstr>Times New Roman</vt:lpstr>
      <vt:lpstr>Office 主题</vt:lpstr>
      <vt:lpstr>1_Office 主题</vt:lpstr>
      <vt:lpstr>Equation</vt:lpstr>
      <vt:lpstr>公式</vt:lpstr>
      <vt:lpstr>位图图像</vt:lpstr>
      <vt:lpstr>第三章 周期信号的傅里叶级数表示</vt:lpstr>
      <vt:lpstr>3.1 引言</vt:lpstr>
      <vt:lpstr>引言</vt:lpstr>
      <vt:lpstr>引言</vt:lpstr>
      <vt:lpstr>引言</vt:lpstr>
      <vt:lpstr>3.2 LTI系统对复指数信号的响应</vt:lpstr>
      <vt:lpstr>3.2 LTI系统对复指数信号的响应</vt:lpstr>
      <vt:lpstr>3.2 LTI系统对复指数信号的响应</vt:lpstr>
      <vt:lpstr>3.2 LTI系统对复指数信号的响应</vt:lpstr>
      <vt:lpstr>3.3  连续时间周期信号的傅里叶级数表示</vt:lpstr>
      <vt:lpstr>PowerPoint 演示文稿</vt:lpstr>
      <vt:lpstr>PowerPoint 演示文稿</vt:lpstr>
      <vt:lpstr>3.3  连续时间周期信号的傅里叶级数表示</vt:lpstr>
      <vt:lpstr>PowerPoint 演示文稿</vt:lpstr>
      <vt:lpstr>3.3  连续时间周期信号的傅里叶级数表示</vt:lpstr>
      <vt:lpstr>3.3  连续时间周期信号的傅里叶级数表示</vt:lpstr>
      <vt:lpstr>3.3  连续时间周期信号的傅里叶级数表示</vt:lpstr>
      <vt:lpstr>3.3  连续时间周期信号的傅里叶级数表示</vt:lpstr>
      <vt:lpstr>3.3  连续时间周期信号的傅里叶级数表示</vt:lpstr>
      <vt:lpstr>3.3  连续时间周期信号的傅里叶级数表示</vt:lpstr>
      <vt:lpstr>3.3  连续时间周期信号的傅里叶级数表示</vt:lpstr>
      <vt:lpstr>3.3  连续时间周期信号的傅里叶级数表示</vt:lpstr>
      <vt:lpstr>3.3  连续时间周期信号的傅里叶级数表示</vt:lpstr>
      <vt:lpstr>3.3  连续时间周期信号的傅里叶级数表示</vt:lpstr>
      <vt:lpstr>PowerPoint 演示文稿</vt:lpstr>
      <vt:lpstr>课后作业</vt:lpstr>
      <vt:lpstr>3.4 连续时间傅里叶级数的收敛</vt:lpstr>
      <vt:lpstr>3.4 连续时间傅里叶级数的收敛</vt:lpstr>
      <vt:lpstr>3.4 连续时间傅里叶级数的收敛</vt:lpstr>
      <vt:lpstr>3.4 连续时间傅里叶级数的收敛</vt:lpstr>
      <vt:lpstr>3.4 连续时间傅里叶级数的收敛</vt:lpstr>
      <vt:lpstr>3.4 连续时间傅里叶级数的收敛</vt:lpstr>
      <vt:lpstr>3.4 连续时间傅里叶级数的收敛</vt:lpstr>
      <vt:lpstr>3.4 连续时间傅里叶级数的收敛</vt:lpstr>
      <vt:lpstr>3.4 连续时间傅里叶级数的收敛</vt:lpstr>
      <vt:lpstr>3.6 离散时间周期信号的傅里叶级数表示</vt:lpstr>
      <vt:lpstr>PowerPoint 演示文稿</vt:lpstr>
      <vt:lpstr>3.6 离散时间周期信号的傅里叶级数表示</vt:lpstr>
      <vt:lpstr>3.6 离散时间周期信号的傅里叶级数表示</vt:lpstr>
      <vt:lpstr>3.6 离散时间周期信号的傅里叶级数表示</vt:lpstr>
      <vt:lpstr>3.6 离散时间周期信号的傅里叶级数表示</vt:lpstr>
      <vt:lpstr>3.6 离散时间周期信号的傅里叶级数表示</vt:lpstr>
      <vt:lpstr>3.6 离散时间周期信号的傅里叶级数表示</vt:lpstr>
      <vt:lpstr>3.6 离散时间周期信号的傅里叶级数表示</vt:lpstr>
      <vt:lpstr>3.8 傅里叶级数与LTI系统</vt:lpstr>
      <vt:lpstr>3.8 傅里叶级数与LTI系统</vt:lpstr>
      <vt:lpstr>3.8 傅里叶级数与LTI系统</vt:lpstr>
      <vt:lpstr>3.8 傅里叶级数与LTI系统</vt:lpstr>
      <vt:lpstr>3.8 傅里叶级数与LTI系统</vt:lpstr>
      <vt:lpstr>课后作业</vt:lpstr>
      <vt:lpstr>3.9 滤波</vt:lpstr>
      <vt:lpstr>3.9 滤波</vt:lpstr>
      <vt:lpstr>3.9 滤波</vt:lpstr>
      <vt:lpstr>3.9 滤波</vt:lpstr>
      <vt:lpstr>3.9 滤波</vt:lpstr>
      <vt:lpstr>3.9 滤波</vt:lpstr>
      <vt:lpstr>3.9 滤波</vt:lpstr>
      <vt:lpstr>3.9 滤波</vt:lpstr>
      <vt:lpstr>3.9 滤波</vt:lpstr>
      <vt:lpstr>3.9 滤波</vt:lpstr>
      <vt:lpstr>3.9 滤波</vt:lpstr>
      <vt:lpstr>3.10 微分方程描述的连续时间滤波器举例</vt:lpstr>
      <vt:lpstr>3.10 微分方程描述的连续时间滤波器举例</vt:lpstr>
      <vt:lpstr>3.10 微分方程描述的连续时间滤波器举例</vt:lpstr>
      <vt:lpstr>3.10 微分方程描述的连续时间滤波器举例</vt:lpstr>
      <vt:lpstr>3.11 差分方程描述的离散时间滤波器举例</vt:lpstr>
      <vt:lpstr>3.11 差分方程描述的离散时间滤波器举例</vt:lpstr>
      <vt:lpstr>3.11 差分方程描述的离散时间滤波器举例</vt:lpstr>
      <vt:lpstr>3.11 差分方程描述的离散时间滤波器举例</vt:lpstr>
      <vt:lpstr>3.11 差分方程描述的离散时间滤波器举例</vt:lpstr>
      <vt:lpstr>3.11 差分方程描述的离散时间滤波器举例</vt:lpstr>
      <vt:lpstr>课后作业</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Dell</cp:lastModifiedBy>
  <cp:revision>721</cp:revision>
  <dcterms:created xsi:type="dcterms:W3CDTF">2009-02-26T06:47:18Z</dcterms:created>
  <dcterms:modified xsi:type="dcterms:W3CDTF">2025-03-15T08:06:23Z</dcterms:modified>
</cp:coreProperties>
</file>