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541" r:id="rId2"/>
    <p:sldId id="542" r:id="rId3"/>
    <p:sldId id="545" r:id="rId4"/>
    <p:sldId id="546" r:id="rId5"/>
    <p:sldId id="547" r:id="rId6"/>
    <p:sldId id="548" r:id="rId7"/>
    <p:sldId id="549" r:id="rId8"/>
    <p:sldId id="552" r:id="rId9"/>
    <p:sldId id="605" r:id="rId10"/>
    <p:sldId id="553" r:id="rId11"/>
    <p:sldId id="554" r:id="rId12"/>
    <p:sldId id="555" r:id="rId13"/>
    <p:sldId id="556" r:id="rId14"/>
    <p:sldId id="557" r:id="rId15"/>
    <p:sldId id="689" r:id="rId16"/>
    <p:sldId id="562" r:id="rId17"/>
    <p:sldId id="563" r:id="rId18"/>
    <p:sldId id="702" r:id="rId19"/>
    <p:sldId id="703" r:id="rId20"/>
    <p:sldId id="566" r:id="rId21"/>
    <p:sldId id="568" r:id="rId22"/>
    <p:sldId id="569" r:id="rId23"/>
    <p:sldId id="570" r:id="rId24"/>
    <p:sldId id="572" r:id="rId25"/>
    <p:sldId id="573" r:id="rId26"/>
    <p:sldId id="576" r:id="rId27"/>
    <p:sldId id="577" r:id="rId28"/>
    <p:sldId id="607" r:id="rId29"/>
    <p:sldId id="578" r:id="rId30"/>
    <p:sldId id="587" r:id="rId31"/>
    <p:sldId id="590" r:id="rId32"/>
    <p:sldId id="690" r:id="rId33"/>
    <p:sldId id="591" r:id="rId34"/>
    <p:sldId id="592" r:id="rId35"/>
    <p:sldId id="594" r:id="rId36"/>
    <p:sldId id="691" r:id="rId37"/>
    <p:sldId id="692" r:id="rId38"/>
    <p:sldId id="693" r:id="rId39"/>
    <p:sldId id="694" r:id="rId40"/>
    <p:sldId id="695" r:id="rId41"/>
    <p:sldId id="696" r:id="rId42"/>
    <p:sldId id="600" r:id="rId43"/>
    <p:sldId id="601" r:id="rId44"/>
    <p:sldId id="697" r:id="rId45"/>
    <p:sldId id="698" r:id="rId46"/>
    <p:sldId id="699" r:id="rId47"/>
    <p:sldId id="700" r:id="rId48"/>
    <p:sldId id="701" r:id="rId49"/>
    <p:sldId id="603" r:id="rId50"/>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2" autoAdjust="0"/>
    <p:restoredTop sz="92076" autoAdjust="0"/>
  </p:normalViewPr>
  <p:slideViewPr>
    <p:cSldViewPr>
      <p:cViewPr varScale="1">
        <p:scale>
          <a:sx n="104" d="100"/>
          <a:sy n="104" d="100"/>
        </p:scale>
        <p:origin x="1818"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image" Target="../media/image65.wmf"/><Relationship Id="rId3" Type="http://schemas.openxmlformats.org/officeDocument/2006/relationships/image" Target="../media/image55.wmf"/><Relationship Id="rId7" Type="http://schemas.openxmlformats.org/officeDocument/2006/relationships/image" Target="../media/image59.wmf"/><Relationship Id="rId12" Type="http://schemas.openxmlformats.org/officeDocument/2006/relationships/image" Target="../media/image64.wmf"/><Relationship Id="rId2" Type="http://schemas.openxmlformats.org/officeDocument/2006/relationships/image" Target="../media/image54.wmf"/><Relationship Id="rId1" Type="http://schemas.openxmlformats.org/officeDocument/2006/relationships/image" Target="../media/image53.wmf"/><Relationship Id="rId6" Type="http://schemas.openxmlformats.org/officeDocument/2006/relationships/image" Target="../media/image58.wmf"/><Relationship Id="rId11" Type="http://schemas.openxmlformats.org/officeDocument/2006/relationships/image" Target="../media/image63.wmf"/><Relationship Id="rId5" Type="http://schemas.openxmlformats.org/officeDocument/2006/relationships/image" Target="../media/image57.wmf"/><Relationship Id="rId10" Type="http://schemas.openxmlformats.org/officeDocument/2006/relationships/image" Target="../media/image62.wmf"/><Relationship Id="rId4" Type="http://schemas.openxmlformats.org/officeDocument/2006/relationships/image" Target="../media/image56.wmf"/><Relationship Id="rId9" Type="http://schemas.openxmlformats.org/officeDocument/2006/relationships/image" Target="../media/image61.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image" Target="../media/image77.wmf"/><Relationship Id="rId3" Type="http://schemas.openxmlformats.org/officeDocument/2006/relationships/image" Target="../media/image68.wmf"/><Relationship Id="rId7" Type="http://schemas.openxmlformats.org/officeDocument/2006/relationships/image" Target="../media/image72.wmf"/><Relationship Id="rId12" Type="http://schemas.openxmlformats.org/officeDocument/2006/relationships/image" Target="../media/image76.wmf"/><Relationship Id="rId2" Type="http://schemas.openxmlformats.org/officeDocument/2006/relationships/image" Target="../media/image67.wmf"/><Relationship Id="rId16" Type="http://schemas.openxmlformats.org/officeDocument/2006/relationships/image" Target="../media/image80.wmf"/><Relationship Id="rId1" Type="http://schemas.openxmlformats.org/officeDocument/2006/relationships/image" Target="../media/image66.wmf"/><Relationship Id="rId6" Type="http://schemas.openxmlformats.org/officeDocument/2006/relationships/image" Target="../media/image71.wmf"/><Relationship Id="rId11" Type="http://schemas.openxmlformats.org/officeDocument/2006/relationships/image" Target="../media/image58.wmf"/><Relationship Id="rId5" Type="http://schemas.openxmlformats.org/officeDocument/2006/relationships/image" Target="../media/image70.wmf"/><Relationship Id="rId15" Type="http://schemas.openxmlformats.org/officeDocument/2006/relationships/image" Target="../media/image79.wmf"/><Relationship Id="rId10" Type="http://schemas.openxmlformats.org/officeDocument/2006/relationships/image" Target="../media/image75.wmf"/><Relationship Id="rId4" Type="http://schemas.openxmlformats.org/officeDocument/2006/relationships/image" Target="../media/image69.wmf"/><Relationship Id="rId9" Type="http://schemas.openxmlformats.org/officeDocument/2006/relationships/image" Target="../media/image74.wmf"/><Relationship Id="rId14" Type="http://schemas.openxmlformats.org/officeDocument/2006/relationships/image" Target="../media/image78.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104.wmf"/><Relationship Id="rId13" Type="http://schemas.openxmlformats.org/officeDocument/2006/relationships/image" Target="../media/image109.wmf"/><Relationship Id="rId18" Type="http://schemas.openxmlformats.org/officeDocument/2006/relationships/image" Target="../media/image113.wmf"/><Relationship Id="rId3" Type="http://schemas.openxmlformats.org/officeDocument/2006/relationships/image" Target="../media/image100.wmf"/><Relationship Id="rId21" Type="http://schemas.openxmlformats.org/officeDocument/2006/relationships/image" Target="../media/image116.wmf"/><Relationship Id="rId7" Type="http://schemas.openxmlformats.org/officeDocument/2006/relationships/image" Target="../media/image103.wmf"/><Relationship Id="rId12" Type="http://schemas.openxmlformats.org/officeDocument/2006/relationships/image" Target="../media/image108.wmf"/><Relationship Id="rId17" Type="http://schemas.openxmlformats.org/officeDocument/2006/relationships/image" Target="../media/image32.wmf"/><Relationship Id="rId25" Type="http://schemas.openxmlformats.org/officeDocument/2006/relationships/image" Target="../media/image120.wmf"/><Relationship Id="rId2" Type="http://schemas.openxmlformats.org/officeDocument/2006/relationships/image" Target="../media/image99.wmf"/><Relationship Id="rId16" Type="http://schemas.openxmlformats.org/officeDocument/2006/relationships/image" Target="../media/image112.wmf"/><Relationship Id="rId20" Type="http://schemas.openxmlformats.org/officeDocument/2006/relationships/image" Target="../media/image115.wmf"/><Relationship Id="rId1" Type="http://schemas.openxmlformats.org/officeDocument/2006/relationships/image" Target="../media/image98.wmf"/><Relationship Id="rId6" Type="http://schemas.openxmlformats.org/officeDocument/2006/relationships/image" Target="../media/image102.wmf"/><Relationship Id="rId11" Type="http://schemas.openxmlformats.org/officeDocument/2006/relationships/image" Target="../media/image107.wmf"/><Relationship Id="rId24" Type="http://schemas.openxmlformats.org/officeDocument/2006/relationships/image" Target="../media/image119.wmf"/><Relationship Id="rId5" Type="http://schemas.openxmlformats.org/officeDocument/2006/relationships/image" Target="../media/image70.wmf"/><Relationship Id="rId15" Type="http://schemas.openxmlformats.org/officeDocument/2006/relationships/image" Target="../media/image111.wmf"/><Relationship Id="rId23" Type="http://schemas.openxmlformats.org/officeDocument/2006/relationships/image" Target="../media/image118.wmf"/><Relationship Id="rId10" Type="http://schemas.openxmlformats.org/officeDocument/2006/relationships/image" Target="../media/image106.wmf"/><Relationship Id="rId19" Type="http://schemas.openxmlformats.org/officeDocument/2006/relationships/image" Target="../media/image114.wmf"/><Relationship Id="rId4" Type="http://schemas.openxmlformats.org/officeDocument/2006/relationships/image" Target="../media/image101.wmf"/><Relationship Id="rId9" Type="http://schemas.openxmlformats.org/officeDocument/2006/relationships/image" Target="../media/image105.wmf"/><Relationship Id="rId14" Type="http://schemas.openxmlformats.org/officeDocument/2006/relationships/image" Target="../media/image110.wmf"/><Relationship Id="rId22" Type="http://schemas.openxmlformats.org/officeDocument/2006/relationships/image" Target="../media/image117.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128.wmf"/><Relationship Id="rId13" Type="http://schemas.openxmlformats.org/officeDocument/2006/relationships/image" Target="../media/image133.wmf"/><Relationship Id="rId18" Type="http://schemas.openxmlformats.org/officeDocument/2006/relationships/image" Target="../media/image138.wmf"/><Relationship Id="rId3" Type="http://schemas.openxmlformats.org/officeDocument/2006/relationships/image" Target="../media/image123.wmf"/><Relationship Id="rId7" Type="http://schemas.openxmlformats.org/officeDocument/2006/relationships/image" Target="../media/image127.wmf"/><Relationship Id="rId12" Type="http://schemas.openxmlformats.org/officeDocument/2006/relationships/image" Target="../media/image132.wmf"/><Relationship Id="rId17" Type="http://schemas.openxmlformats.org/officeDocument/2006/relationships/image" Target="../media/image137.wmf"/><Relationship Id="rId2" Type="http://schemas.openxmlformats.org/officeDocument/2006/relationships/image" Target="../media/image122.wmf"/><Relationship Id="rId16" Type="http://schemas.openxmlformats.org/officeDocument/2006/relationships/image" Target="../media/image136.wmf"/><Relationship Id="rId1" Type="http://schemas.openxmlformats.org/officeDocument/2006/relationships/image" Target="../media/image121.wmf"/><Relationship Id="rId6" Type="http://schemas.openxmlformats.org/officeDocument/2006/relationships/image" Target="../media/image126.wmf"/><Relationship Id="rId11" Type="http://schemas.openxmlformats.org/officeDocument/2006/relationships/image" Target="../media/image131.wmf"/><Relationship Id="rId5" Type="http://schemas.openxmlformats.org/officeDocument/2006/relationships/image" Target="../media/image125.wmf"/><Relationship Id="rId15" Type="http://schemas.openxmlformats.org/officeDocument/2006/relationships/image" Target="../media/image135.wmf"/><Relationship Id="rId10" Type="http://schemas.openxmlformats.org/officeDocument/2006/relationships/image" Target="../media/image130.wmf"/><Relationship Id="rId4" Type="http://schemas.openxmlformats.org/officeDocument/2006/relationships/image" Target="../media/image124.wmf"/><Relationship Id="rId9" Type="http://schemas.openxmlformats.org/officeDocument/2006/relationships/image" Target="../media/image129.wmf"/><Relationship Id="rId14" Type="http://schemas.openxmlformats.org/officeDocument/2006/relationships/image" Target="../media/image13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9D2C94C-CBA5-4D5F-BB57-C3D90FE427D8}"/>
              </a:ext>
            </a:extLst>
          </p:cNvPr>
          <p:cNvSpPr>
            <a:spLocks noGrp="1"/>
          </p:cNvSpPr>
          <p:nvPr>
            <p:ph type="hdr" sz="quarter"/>
          </p:nvPr>
        </p:nvSpPr>
        <p:spPr>
          <a:xfrm>
            <a:off x="0" y="0"/>
            <a:ext cx="3076575" cy="512763"/>
          </a:xfrm>
          <a:prstGeom prst="rect">
            <a:avLst/>
          </a:prstGeom>
        </p:spPr>
        <p:txBody>
          <a:bodyPr vert="horz" lIns="95445" tIns="47723" rIns="95445" bIns="47723" rtlCol="0"/>
          <a:lstStyle>
            <a:lvl1pPr algn="l">
              <a:defRPr sz="13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C96B469E-BD43-4BD6-AEA4-26C077EF41C6}"/>
              </a:ext>
            </a:extLst>
          </p:cNvPr>
          <p:cNvSpPr>
            <a:spLocks noGrp="1"/>
          </p:cNvSpPr>
          <p:nvPr>
            <p:ph type="dt" sz="quarter" idx="1"/>
          </p:nvPr>
        </p:nvSpPr>
        <p:spPr>
          <a:xfrm>
            <a:off x="4021138" y="0"/>
            <a:ext cx="3076575" cy="512763"/>
          </a:xfrm>
          <a:prstGeom prst="rect">
            <a:avLst/>
          </a:prstGeom>
        </p:spPr>
        <p:txBody>
          <a:bodyPr vert="horz" lIns="95445" tIns="47723" rIns="95445" bIns="47723" rtlCol="0"/>
          <a:lstStyle>
            <a:lvl1pPr algn="r">
              <a:defRPr sz="1300">
                <a:latin typeface="Arial" charset="0"/>
                <a:ea typeface="宋体" charset="-122"/>
              </a:defRPr>
            </a:lvl1pPr>
          </a:lstStyle>
          <a:p>
            <a:pPr>
              <a:defRPr/>
            </a:pPr>
            <a:fld id="{CDD98E6D-A9AC-4EC5-983B-3EB1D65200E5}" type="datetimeFigureOut">
              <a:rPr lang="zh-CN" altLang="en-US"/>
              <a:pPr>
                <a:defRPr/>
              </a:pPr>
              <a:t>2025/03/26</a:t>
            </a:fld>
            <a:endParaRPr lang="zh-CN" altLang="en-US"/>
          </a:p>
        </p:txBody>
      </p:sp>
      <p:sp>
        <p:nvSpPr>
          <p:cNvPr id="4" name="页脚占位符 3">
            <a:extLst>
              <a:ext uri="{FF2B5EF4-FFF2-40B4-BE49-F238E27FC236}">
                <a16:creationId xmlns:a16="http://schemas.microsoft.com/office/drawing/2014/main" id="{AC7B088B-BE3F-412F-B861-DB81E2A02B6C}"/>
              </a:ext>
            </a:extLst>
          </p:cNvPr>
          <p:cNvSpPr>
            <a:spLocks noGrp="1"/>
          </p:cNvSpPr>
          <p:nvPr>
            <p:ph type="ftr" sz="quarter" idx="2"/>
          </p:nvPr>
        </p:nvSpPr>
        <p:spPr>
          <a:xfrm>
            <a:off x="0" y="9720263"/>
            <a:ext cx="3076575" cy="512762"/>
          </a:xfrm>
          <a:prstGeom prst="rect">
            <a:avLst/>
          </a:prstGeom>
        </p:spPr>
        <p:txBody>
          <a:bodyPr vert="horz" lIns="95445" tIns="47723" rIns="95445" bIns="47723" rtlCol="0" anchor="b"/>
          <a:lstStyle>
            <a:lvl1pPr algn="l">
              <a:defRPr sz="13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DF34E9B8-71B3-4F48-A318-D4E58271E10D}"/>
              </a:ext>
            </a:extLst>
          </p:cNvPr>
          <p:cNvSpPr>
            <a:spLocks noGrp="1"/>
          </p:cNvSpPr>
          <p:nvPr>
            <p:ph type="sldNum" sz="quarter" idx="3"/>
          </p:nvPr>
        </p:nvSpPr>
        <p:spPr>
          <a:xfrm>
            <a:off x="4021138" y="9720263"/>
            <a:ext cx="3076575" cy="512762"/>
          </a:xfrm>
          <a:prstGeom prst="rect">
            <a:avLst/>
          </a:prstGeom>
        </p:spPr>
        <p:txBody>
          <a:bodyPr vert="horz" wrap="square" lIns="95445" tIns="47723" rIns="95445" bIns="47723" numCol="1" anchor="b" anchorCtr="0" compatLnSpc="1">
            <a:prstTxWarp prst="textNoShape">
              <a:avLst/>
            </a:prstTxWarp>
          </a:bodyPr>
          <a:lstStyle>
            <a:lvl1pPr algn="r">
              <a:defRPr sz="1300"/>
            </a:lvl1pPr>
          </a:lstStyle>
          <a:p>
            <a:fld id="{3713183C-BACB-4B7B-A3A1-BCCAB1E89ED7}"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E0A3F8A-C07F-4F45-8480-C8C3691F70B4}"/>
              </a:ext>
            </a:extLst>
          </p:cNvPr>
          <p:cNvSpPr>
            <a:spLocks noGrp="1"/>
          </p:cNvSpPr>
          <p:nvPr>
            <p:ph type="hdr" sz="quarter"/>
          </p:nvPr>
        </p:nvSpPr>
        <p:spPr>
          <a:xfrm>
            <a:off x="0" y="0"/>
            <a:ext cx="3076575" cy="511175"/>
          </a:xfrm>
          <a:prstGeom prst="rect">
            <a:avLst/>
          </a:prstGeom>
        </p:spPr>
        <p:txBody>
          <a:bodyPr vert="horz" lIns="95445" tIns="47723" rIns="95445" bIns="47723"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B7D5514F-D6B1-4CFA-AF77-37A92E01C8AF}"/>
              </a:ext>
            </a:extLst>
          </p:cNvPr>
          <p:cNvSpPr>
            <a:spLocks noGrp="1"/>
          </p:cNvSpPr>
          <p:nvPr>
            <p:ph type="dt" idx="1"/>
          </p:nvPr>
        </p:nvSpPr>
        <p:spPr>
          <a:xfrm>
            <a:off x="4021138" y="0"/>
            <a:ext cx="3076575" cy="511175"/>
          </a:xfrm>
          <a:prstGeom prst="rect">
            <a:avLst/>
          </a:prstGeom>
        </p:spPr>
        <p:txBody>
          <a:bodyPr vert="horz" lIns="95445" tIns="47723" rIns="95445" bIns="47723" rtlCol="0"/>
          <a:lstStyle>
            <a:lvl1pPr algn="r" fontAlgn="auto">
              <a:spcBef>
                <a:spcPts val="0"/>
              </a:spcBef>
              <a:spcAft>
                <a:spcPts val="0"/>
              </a:spcAft>
              <a:defRPr sz="1300">
                <a:latin typeface="+mn-lt"/>
                <a:ea typeface="+mn-ea"/>
              </a:defRPr>
            </a:lvl1pPr>
          </a:lstStyle>
          <a:p>
            <a:pPr>
              <a:defRPr/>
            </a:pPr>
            <a:fld id="{0AC3D235-346F-4FBF-910E-B2131EBF94C4}" type="datetimeFigureOut">
              <a:rPr lang="zh-CN" altLang="en-US"/>
              <a:pPr>
                <a:defRPr/>
              </a:pPr>
              <a:t>2025/03/26</a:t>
            </a:fld>
            <a:endParaRPr lang="zh-CN" altLang="en-US"/>
          </a:p>
        </p:txBody>
      </p:sp>
      <p:sp>
        <p:nvSpPr>
          <p:cNvPr id="4" name="幻灯片图像占位符 3">
            <a:extLst>
              <a:ext uri="{FF2B5EF4-FFF2-40B4-BE49-F238E27FC236}">
                <a16:creationId xmlns:a16="http://schemas.microsoft.com/office/drawing/2014/main" id="{9C34DDD5-5528-4CA9-BD36-E1E5455C6AE4}"/>
              </a:ext>
            </a:extLst>
          </p:cNvPr>
          <p:cNvSpPr>
            <a:spLocks noGrp="1" noRot="1" noChangeAspect="1"/>
          </p:cNvSpPr>
          <p:nvPr>
            <p:ph type="sldImg" idx="2"/>
          </p:nvPr>
        </p:nvSpPr>
        <p:spPr>
          <a:xfrm>
            <a:off x="989013" y="766763"/>
            <a:ext cx="5121275" cy="3840162"/>
          </a:xfrm>
          <a:prstGeom prst="rect">
            <a:avLst/>
          </a:prstGeom>
          <a:noFill/>
          <a:ln w="12700">
            <a:solidFill>
              <a:prstClr val="black"/>
            </a:solidFill>
          </a:ln>
        </p:spPr>
        <p:txBody>
          <a:bodyPr vert="horz" lIns="95445" tIns="47723" rIns="95445" bIns="47723" rtlCol="0" anchor="ctr"/>
          <a:lstStyle/>
          <a:p>
            <a:pPr lvl="0"/>
            <a:endParaRPr lang="zh-CN" altLang="en-US" noProof="0"/>
          </a:p>
        </p:txBody>
      </p:sp>
      <p:sp>
        <p:nvSpPr>
          <p:cNvPr id="5" name="备注占位符 4">
            <a:extLst>
              <a:ext uri="{FF2B5EF4-FFF2-40B4-BE49-F238E27FC236}">
                <a16:creationId xmlns:a16="http://schemas.microsoft.com/office/drawing/2014/main" id="{31B0C902-09D8-4760-BEC5-6554614AB40A}"/>
              </a:ext>
            </a:extLst>
          </p:cNvPr>
          <p:cNvSpPr>
            <a:spLocks noGrp="1"/>
          </p:cNvSpPr>
          <p:nvPr>
            <p:ph type="body" sz="quarter" idx="3"/>
          </p:nvPr>
        </p:nvSpPr>
        <p:spPr>
          <a:xfrm>
            <a:off x="709613" y="4860925"/>
            <a:ext cx="5680075" cy="4605338"/>
          </a:xfrm>
          <a:prstGeom prst="rect">
            <a:avLst/>
          </a:prstGeom>
        </p:spPr>
        <p:txBody>
          <a:bodyPr vert="horz" lIns="95445" tIns="47723" rIns="95445" bIns="47723"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49F2AB9D-5E68-4F73-A0D1-DCE2EA8F3784}"/>
              </a:ext>
            </a:extLst>
          </p:cNvPr>
          <p:cNvSpPr>
            <a:spLocks noGrp="1"/>
          </p:cNvSpPr>
          <p:nvPr>
            <p:ph type="ftr" sz="quarter" idx="4"/>
          </p:nvPr>
        </p:nvSpPr>
        <p:spPr>
          <a:xfrm>
            <a:off x="0" y="9721850"/>
            <a:ext cx="3076575" cy="511175"/>
          </a:xfrm>
          <a:prstGeom prst="rect">
            <a:avLst/>
          </a:prstGeom>
        </p:spPr>
        <p:txBody>
          <a:bodyPr vert="horz" lIns="95445" tIns="47723" rIns="95445" bIns="47723"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8B0192A8-E3B2-496E-A353-E99E162ACEC5}"/>
              </a:ext>
            </a:extLst>
          </p:cNvPr>
          <p:cNvSpPr>
            <a:spLocks noGrp="1"/>
          </p:cNvSpPr>
          <p:nvPr>
            <p:ph type="sldNum" sz="quarter" idx="5"/>
          </p:nvPr>
        </p:nvSpPr>
        <p:spPr>
          <a:xfrm>
            <a:off x="4021138" y="9721850"/>
            <a:ext cx="3076575" cy="511175"/>
          </a:xfrm>
          <a:prstGeom prst="rect">
            <a:avLst/>
          </a:prstGeom>
        </p:spPr>
        <p:txBody>
          <a:bodyPr vert="horz" wrap="square" lIns="95445" tIns="47723" rIns="95445" bIns="47723" numCol="1" anchor="b" anchorCtr="0" compatLnSpc="1">
            <a:prstTxWarp prst="textNoShape">
              <a:avLst/>
            </a:prstTxWarp>
          </a:bodyPr>
          <a:lstStyle>
            <a:lvl1pPr algn="r">
              <a:defRPr sz="1300">
                <a:latin typeface="Calibri" panose="020F0502020204030204" pitchFamily="34" charset="0"/>
              </a:defRPr>
            </a:lvl1pPr>
          </a:lstStyle>
          <a:p>
            <a:fld id="{3E89DC9F-F273-408D-9717-78B9778D6BDE}"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E89DC9F-F273-408D-9717-78B9778D6BDE}" type="slidenum">
              <a:rPr lang="zh-CN" altLang="en-US" smtClean="0"/>
              <a:pPr/>
              <a:t>12</a:t>
            </a:fld>
            <a:endParaRPr lang="zh-CN" altLang="en-US"/>
          </a:p>
        </p:txBody>
      </p:sp>
    </p:spTree>
    <p:extLst>
      <p:ext uri="{BB962C8B-B14F-4D97-AF65-F5344CB8AC3E}">
        <p14:creationId xmlns:p14="http://schemas.microsoft.com/office/powerpoint/2010/main" val="2366104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改写求和项</a:t>
            </a:r>
          </a:p>
        </p:txBody>
      </p:sp>
      <p:sp>
        <p:nvSpPr>
          <p:cNvPr id="4" name="灯片编号占位符 3"/>
          <p:cNvSpPr>
            <a:spLocks noGrp="1"/>
          </p:cNvSpPr>
          <p:nvPr>
            <p:ph type="sldNum" sz="quarter" idx="10"/>
          </p:nvPr>
        </p:nvSpPr>
        <p:spPr/>
        <p:txBody>
          <a:bodyPr/>
          <a:lstStyle/>
          <a:p>
            <a:fld id="{3E89DC9F-F273-408D-9717-78B9778D6BDE}" type="slidenum">
              <a:rPr lang="zh-CN" altLang="en-US" smtClean="0"/>
              <a:pPr/>
              <a:t>18</a:t>
            </a:fld>
            <a:endParaRPr lang="zh-CN" altLang="en-US"/>
          </a:p>
        </p:txBody>
      </p:sp>
    </p:spTree>
    <p:extLst>
      <p:ext uri="{BB962C8B-B14F-4D97-AF65-F5344CB8AC3E}">
        <p14:creationId xmlns:p14="http://schemas.microsoft.com/office/powerpoint/2010/main" val="749500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55D77F99-9C52-4026-A272-15AD50EF387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B13255D4-937E-4437-9A5D-AEE96693125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AFE5A499-FDDC-49A6-9D1E-E590D61C5CEC}"/>
              </a:ext>
            </a:extLst>
          </p:cNvPr>
          <p:cNvSpPr>
            <a:spLocks noGrp="1"/>
          </p:cNvSpPr>
          <p:nvPr>
            <p:ph type="dt" sz="half" idx="10"/>
          </p:nvPr>
        </p:nvSpPr>
        <p:spPr/>
        <p:txBody>
          <a:bodyPr/>
          <a:lstStyle>
            <a:lvl1pPr>
              <a:defRPr/>
            </a:lvl1pPr>
          </a:lstStyle>
          <a:p>
            <a:pPr>
              <a:defRPr/>
            </a:pPr>
            <a:fld id="{EBA7D106-55E4-445B-8FD3-6AE69A72A7D6}" type="datetime1">
              <a:rPr lang="zh-CN" altLang="en-US"/>
              <a:pPr>
                <a:defRPr/>
              </a:pPr>
              <a:t>2025/03/26</a:t>
            </a:fld>
            <a:endParaRPr lang="zh-CN" altLang="en-US"/>
          </a:p>
        </p:txBody>
      </p:sp>
      <p:sp>
        <p:nvSpPr>
          <p:cNvPr id="7" name="页脚占位符 4">
            <a:extLst>
              <a:ext uri="{FF2B5EF4-FFF2-40B4-BE49-F238E27FC236}">
                <a16:creationId xmlns:a16="http://schemas.microsoft.com/office/drawing/2014/main" id="{D4AC5787-D2BB-43BE-8A85-D8BC8ECB74CA}"/>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277AD4F8-FC52-4F97-AB0C-80085469C477}"/>
              </a:ext>
            </a:extLst>
          </p:cNvPr>
          <p:cNvSpPr>
            <a:spLocks noGrp="1"/>
          </p:cNvSpPr>
          <p:nvPr>
            <p:ph type="sldNum" sz="quarter" idx="12"/>
          </p:nvPr>
        </p:nvSpPr>
        <p:spPr/>
        <p:txBody>
          <a:bodyPr/>
          <a:lstStyle>
            <a:lvl1pPr>
              <a:defRPr/>
            </a:lvl1pPr>
          </a:lstStyle>
          <a:p>
            <a:fld id="{C8CC64FB-159A-41F9-823A-FEBFDE5775B6}" type="slidenum">
              <a:rPr lang="zh-CN" altLang="en-US"/>
              <a:pPr/>
              <a:t>‹#›</a:t>
            </a:fld>
            <a:endParaRPr lang="zh-CN" altLang="en-US"/>
          </a:p>
        </p:txBody>
      </p:sp>
    </p:spTree>
    <p:extLst>
      <p:ext uri="{BB962C8B-B14F-4D97-AF65-F5344CB8AC3E}">
        <p14:creationId xmlns:p14="http://schemas.microsoft.com/office/powerpoint/2010/main" val="2414180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4C90C1A8-FE85-4B5E-9811-CA7CFD256FE5}"/>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1CF5EE0C-8EC9-491F-AECB-60F22045A82C}"/>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F3B6EE1B-3B6A-48B3-B653-D4096327833B}"/>
              </a:ext>
            </a:extLst>
          </p:cNvPr>
          <p:cNvSpPr>
            <a:spLocks noGrp="1"/>
          </p:cNvSpPr>
          <p:nvPr>
            <p:ph type="dt" sz="half" idx="10"/>
          </p:nvPr>
        </p:nvSpPr>
        <p:spPr/>
        <p:txBody>
          <a:bodyPr/>
          <a:lstStyle>
            <a:lvl1pPr>
              <a:defRPr/>
            </a:lvl1pPr>
          </a:lstStyle>
          <a:p>
            <a:pPr>
              <a:defRPr/>
            </a:pPr>
            <a:fld id="{C7B0A13F-F4CB-4135-80E1-6C2FBA70F1CF}" type="datetime1">
              <a:rPr lang="zh-CN" altLang="en-US"/>
              <a:pPr>
                <a:defRPr/>
              </a:pPr>
              <a:t>2025/03/26</a:t>
            </a:fld>
            <a:endParaRPr lang="zh-CN" altLang="en-US"/>
          </a:p>
        </p:txBody>
      </p:sp>
      <p:sp>
        <p:nvSpPr>
          <p:cNvPr id="7" name="页脚占位符 4">
            <a:extLst>
              <a:ext uri="{FF2B5EF4-FFF2-40B4-BE49-F238E27FC236}">
                <a16:creationId xmlns:a16="http://schemas.microsoft.com/office/drawing/2014/main" id="{4766EB41-8047-44C2-BA70-7E9FBA368048}"/>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818A6517-9602-49FA-B38C-D72CE1AB843B}"/>
              </a:ext>
            </a:extLst>
          </p:cNvPr>
          <p:cNvSpPr>
            <a:spLocks noGrp="1"/>
          </p:cNvSpPr>
          <p:nvPr>
            <p:ph type="sldNum" sz="quarter" idx="12"/>
          </p:nvPr>
        </p:nvSpPr>
        <p:spPr/>
        <p:txBody>
          <a:bodyPr/>
          <a:lstStyle>
            <a:lvl1pPr>
              <a:defRPr/>
            </a:lvl1pPr>
          </a:lstStyle>
          <a:p>
            <a:fld id="{3AB91AAA-B07D-4031-BE8F-8AAEF51A17CE}" type="slidenum">
              <a:rPr lang="zh-CN" altLang="en-US"/>
              <a:pPr/>
              <a:t>‹#›</a:t>
            </a:fld>
            <a:endParaRPr lang="zh-CN" altLang="en-US"/>
          </a:p>
        </p:txBody>
      </p:sp>
    </p:spTree>
    <p:extLst>
      <p:ext uri="{BB962C8B-B14F-4D97-AF65-F5344CB8AC3E}">
        <p14:creationId xmlns:p14="http://schemas.microsoft.com/office/powerpoint/2010/main" val="308514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7001D06-7F67-48E9-A06D-084436E27357}"/>
              </a:ext>
            </a:extLst>
          </p:cNvPr>
          <p:cNvSpPr>
            <a:spLocks noGrp="1"/>
          </p:cNvSpPr>
          <p:nvPr>
            <p:ph type="dt" sz="half" idx="10"/>
          </p:nvPr>
        </p:nvSpPr>
        <p:spPr/>
        <p:txBody>
          <a:bodyPr/>
          <a:lstStyle>
            <a:lvl1pPr>
              <a:defRPr/>
            </a:lvl1pPr>
          </a:lstStyle>
          <a:p>
            <a:pPr>
              <a:defRPr/>
            </a:pPr>
            <a:fld id="{DE019BE3-99E8-4A51-A51E-08763C2F375D}" type="datetime1">
              <a:rPr lang="zh-CN" altLang="en-US"/>
              <a:pPr>
                <a:defRPr/>
              </a:pPr>
              <a:t>2025/03/26</a:t>
            </a:fld>
            <a:endParaRPr lang="zh-CN" altLang="en-US" dirty="0"/>
          </a:p>
        </p:txBody>
      </p:sp>
      <p:sp>
        <p:nvSpPr>
          <p:cNvPr id="5" name="页脚占位符 4">
            <a:extLst>
              <a:ext uri="{FF2B5EF4-FFF2-40B4-BE49-F238E27FC236}">
                <a16:creationId xmlns:a16="http://schemas.microsoft.com/office/drawing/2014/main" id="{A8221B1D-0C6D-4F43-9D2E-9D53C141F15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BA2558D-33B5-4559-AC2C-92A42A43B5B4}"/>
              </a:ext>
            </a:extLst>
          </p:cNvPr>
          <p:cNvSpPr>
            <a:spLocks noGrp="1"/>
          </p:cNvSpPr>
          <p:nvPr>
            <p:ph type="sldNum" sz="quarter" idx="12"/>
          </p:nvPr>
        </p:nvSpPr>
        <p:spPr/>
        <p:txBody>
          <a:bodyPr/>
          <a:lstStyle>
            <a:lvl1pPr>
              <a:defRPr/>
            </a:lvl1pPr>
          </a:lstStyle>
          <a:p>
            <a:fld id="{A0759918-A88B-4EF9-B487-5BCAC54334B5}" type="slidenum">
              <a:rPr lang="zh-CN" altLang="en-US"/>
              <a:pPr/>
              <a:t>‹#›</a:t>
            </a:fld>
            <a:endParaRPr lang="zh-CN" altLang="en-US"/>
          </a:p>
        </p:txBody>
      </p:sp>
    </p:spTree>
    <p:extLst>
      <p:ext uri="{BB962C8B-B14F-4D97-AF65-F5344CB8AC3E}">
        <p14:creationId xmlns:p14="http://schemas.microsoft.com/office/powerpoint/2010/main" val="1402162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B3401419-2B0F-4CC5-B71A-FDD83224D11A}"/>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EDE7290B-79B0-404E-A544-EA8DCD5300E0}"/>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7C433E36-E931-4CBF-BF76-4F6967954931}"/>
              </a:ext>
            </a:extLst>
          </p:cNvPr>
          <p:cNvSpPr>
            <a:spLocks noGrp="1"/>
          </p:cNvSpPr>
          <p:nvPr>
            <p:ph type="dt" sz="half" idx="10"/>
          </p:nvPr>
        </p:nvSpPr>
        <p:spPr/>
        <p:txBody>
          <a:bodyPr/>
          <a:lstStyle>
            <a:lvl1pPr>
              <a:defRPr/>
            </a:lvl1pPr>
          </a:lstStyle>
          <a:p>
            <a:pPr>
              <a:defRPr/>
            </a:pPr>
            <a:fld id="{2D9162F4-E7A8-47D5-B618-ED8FFEAF96C7}" type="datetime1">
              <a:rPr lang="zh-CN" altLang="en-US"/>
              <a:pPr>
                <a:defRPr/>
              </a:pPr>
              <a:t>2025/03/26</a:t>
            </a:fld>
            <a:endParaRPr lang="zh-CN" altLang="en-US"/>
          </a:p>
        </p:txBody>
      </p:sp>
      <p:sp>
        <p:nvSpPr>
          <p:cNvPr id="8" name="页脚占位符 5">
            <a:extLst>
              <a:ext uri="{FF2B5EF4-FFF2-40B4-BE49-F238E27FC236}">
                <a16:creationId xmlns:a16="http://schemas.microsoft.com/office/drawing/2014/main" id="{C0AFFF40-DEAD-4720-BD34-38ECBFCA6861}"/>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2B45C64C-2153-496D-BB3B-2D0601827018}"/>
              </a:ext>
            </a:extLst>
          </p:cNvPr>
          <p:cNvSpPr>
            <a:spLocks noGrp="1"/>
          </p:cNvSpPr>
          <p:nvPr>
            <p:ph type="sldNum" sz="quarter" idx="12"/>
          </p:nvPr>
        </p:nvSpPr>
        <p:spPr/>
        <p:txBody>
          <a:bodyPr/>
          <a:lstStyle>
            <a:lvl1pPr>
              <a:defRPr/>
            </a:lvl1pPr>
          </a:lstStyle>
          <a:p>
            <a:fld id="{292B0659-8488-4486-ACB4-DE87ADF54303}" type="slidenum">
              <a:rPr lang="zh-CN" altLang="en-US"/>
              <a:pPr/>
              <a:t>‹#›</a:t>
            </a:fld>
            <a:endParaRPr lang="zh-CN" altLang="en-US"/>
          </a:p>
        </p:txBody>
      </p:sp>
    </p:spTree>
    <p:extLst>
      <p:ext uri="{BB962C8B-B14F-4D97-AF65-F5344CB8AC3E}">
        <p14:creationId xmlns:p14="http://schemas.microsoft.com/office/powerpoint/2010/main" val="2492203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CD7B71D8-AF0A-4DEE-89CD-6DA9164C87C0}"/>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5430FA97-AB9E-4CF8-A039-D630701087B8}"/>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512001CA-92A0-46D0-95FF-80A465F8CF77}"/>
              </a:ext>
            </a:extLst>
          </p:cNvPr>
          <p:cNvSpPr>
            <a:spLocks noGrp="1"/>
          </p:cNvSpPr>
          <p:nvPr>
            <p:ph type="dt" sz="half" idx="10"/>
          </p:nvPr>
        </p:nvSpPr>
        <p:spPr/>
        <p:txBody>
          <a:bodyPr/>
          <a:lstStyle>
            <a:lvl1pPr>
              <a:defRPr/>
            </a:lvl1pPr>
          </a:lstStyle>
          <a:p>
            <a:pPr>
              <a:defRPr/>
            </a:pPr>
            <a:fld id="{046A7D1C-9F4D-4785-923F-B85743550171}" type="datetime1">
              <a:rPr lang="zh-CN" altLang="en-US"/>
              <a:pPr>
                <a:defRPr/>
              </a:pPr>
              <a:t>2025/03/26</a:t>
            </a:fld>
            <a:endParaRPr lang="zh-CN" altLang="en-US"/>
          </a:p>
        </p:txBody>
      </p:sp>
      <p:sp>
        <p:nvSpPr>
          <p:cNvPr id="10" name="页脚占位符 7">
            <a:extLst>
              <a:ext uri="{FF2B5EF4-FFF2-40B4-BE49-F238E27FC236}">
                <a16:creationId xmlns:a16="http://schemas.microsoft.com/office/drawing/2014/main" id="{4A65E096-D0F3-4114-B826-3BC51D2753DC}"/>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567E9A93-10B5-42A1-B5DE-99F119337EF5}"/>
              </a:ext>
            </a:extLst>
          </p:cNvPr>
          <p:cNvSpPr>
            <a:spLocks noGrp="1"/>
          </p:cNvSpPr>
          <p:nvPr>
            <p:ph type="sldNum" sz="quarter" idx="12"/>
          </p:nvPr>
        </p:nvSpPr>
        <p:spPr/>
        <p:txBody>
          <a:bodyPr/>
          <a:lstStyle>
            <a:lvl1pPr>
              <a:defRPr/>
            </a:lvl1pPr>
          </a:lstStyle>
          <a:p>
            <a:fld id="{80277EB4-3626-4329-9516-1891D2717DC3}" type="slidenum">
              <a:rPr lang="zh-CN" altLang="en-US"/>
              <a:pPr/>
              <a:t>‹#›</a:t>
            </a:fld>
            <a:endParaRPr lang="zh-CN" altLang="en-US"/>
          </a:p>
        </p:txBody>
      </p:sp>
    </p:spTree>
    <p:extLst>
      <p:ext uri="{BB962C8B-B14F-4D97-AF65-F5344CB8AC3E}">
        <p14:creationId xmlns:p14="http://schemas.microsoft.com/office/powerpoint/2010/main" val="3543646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F2EE8A74-F510-4806-BDF4-EB0FB06C5A5B}"/>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D579AFE6-AC5D-478B-B05A-4C85182016F9}"/>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C4454D74-9EF1-4EF1-90D5-07E3D009D156}"/>
              </a:ext>
            </a:extLst>
          </p:cNvPr>
          <p:cNvSpPr>
            <a:spLocks noGrp="1"/>
          </p:cNvSpPr>
          <p:nvPr>
            <p:ph type="dt" sz="half" idx="10"/>
          </p:nvPr>
        </p:nvSpPr>
        <p:spPr/>
        <p:txBody>
          <a:bodyPr/>
          <a:lstStyle>
            <a:lvl1pPr>
              <a:defRPr/>
            </a:lvl1pPr>
          </a:lstStyle>
          <a:p>
            <a:pPr>
              <a:defRPr/>
            </a:pPr>
            <a:fld id="{AE20EF0E-81A4-40CF-B0F2-47E050679494}" type="datetime1">
              <a:rPr lang="zh-CN" altLang="en-US"/>
              <a:pPr>
                <a:defRPr/>
              </a:pPr>
              <a:t>2025/03/26</a:t>
            </a:fld>
            <a:endParaRPr lang="zh-CN" altLang="en-US"/>
          </a:p>
        </p:txBody>
      </p:sp>
      <p:sp>
        <p:nvSpPr>
          <p:cNvPr id="6" name="页脚占位符 3">
            <a:extLst>
              <a:ext uri="{FF2B5EF4-FFF2-40B4-BE49-F238E27FC236}">
                <a16:creationId xmlns:a16="http://schemas.microsoft.com/office/drawing/2014/main" id="{17747F5A-C1C5-466F-A02A-4DEE56E16DF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0D24B34B-E1DC-43A3-8CBC-DFCE023DB0BC}"/>
              </a:ext>
            </a:extLst>
          </p:cNvPr>
          <p:cNvSpPr>
            <a:spLocks noGrp="1"/>
          </p:cNvSpPr>
          <p:nvPr>
            <p:ph type="sldNum" sz="quarter" idx="12"/>
          </p:nvPr>
        </p:nvSpPr>
        <p:spPr/>
        <p:txBody>
          <a:bodyPr/>
          <a:lstStyle>
            <a:lvl1pPr>
              <a:defRPr/>
            </a:lvl1pPr>
          </a:lstStyle>
          <a:p>
            <a:fld id="{4BA41C70-BA5A-49E9-AB5C-ED131FB6A862}" type="slidenum">
              <a:rPr lang="zh-CN" altLang="en-US"/>
              <a:pPr/>
              <a:t>‹#›</a:t>
            </a:fld>
            <a:endParaRPr lang="zh-CN" altLang="en-US"/>
          </a:p>
        </p:txBody>
      </p:sp>
    </p:spTree>
    <p:extLst>
      <p:ext uri="{BB962C8B-B14F-4D97-AF65-F5344CB8AC3E}">
        <p14:creationId xmlns:p14="http://schemas.microsoft.com/office/powerpoint/2010/main" val="3630766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D1D9AC3-66DD-42F9-BF27-D96BB0A074D2}"/>
              </a:ext>
            </a:extLst>
          </p:cNvPr>
          <p:cNvSpPr>
            <a:spLocks noGrp="1"/>
          </p:cNvSpPr>
          <p:nvPr>
            <p:ph type="dt" sz="half" idx="10"/>
          </p:nvPr>
        </p:nvSpPr>
        <p:spPr/>
        <p:txBody>
          <a:bodyPr/>
          <a:lstStyle>
            <a:lvl1pPr>
              <a:defRPr/>
            </a:lvl1pPr>
          </a:lstStyle>
          <a:p>
            <a:pPr>
              <a:defRPr/>
            </a:pPr>
            <a:fld id="{D1BCC965-3D37-4242-82EF-CD4CEA3B59F4}" type="datetime1">
              <a:rPr lang="zh-CN" altLang="en-US"/>
              <a:pPr>
                <a:defRPr/>
              </a:pPr>
              <a:t>2025/03/26</a:t>
            </a:fld>
            <a:endParaRPr lang="zh-CN" altLang="en-US" dirty="0"/>
          </a:p>
        </p:txBody>
      </p:sp>
      <p:sp>
        <p:nvSpPr>
          <p:cNvPr id="3" name="页脚占位符 4">
            <a:extLst>
              <a:ext uri="{FF2B5EF4-FFF2-40B4-BE49-F238E27FC236}">
                <a16:creationId xmlns:a16="http://schemas.microsoft.com/office/drawing/2014/main" id="{AD135EE1-9C32-4F8E-AC86-98C742317A4D}"/>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E898A8FA-A112-4FB3-B270-7BD4BE630AED}"/>
              </a:ext>
            </a:extLst>
          </p:cNvPr>
          <p:cNvSpPr>
            <a:spLocks noGrp="1"/>
          </p:cNvSpPr>
          <p:nvPr>
            <p:ph type="sldNum" sz="quarter" idx="12"/>
          </p:nvPr>
        </p:nvSpPr>
        <p:spPr/>
        <p:txBody>
          <a:bodyPr/>
          <a:lstStyle>
            <a:lvl1pPr>
              <a:defRPr/>
            </a:lvl1pPr>
          </a:lstStyle>
          <a:p>
            <a:fld id="{F0D779B2-FF90-4195-AE60-0B19A2543402}" type="slidenum">
              <a:rPr lang="zh-CN" altLang="en-US"/>
              <a:pPr/>
              <a:t>‹#›</a:t>
            </a:fld>
            <a:endParaRPr lang="zh-CN" altLang="en-US"/>
          </a:p>
        </p:txBody>
      </p:sp>
    </p:spTree>
    <p:extLst>
      <p:ext uri="{BB962C8B-B14F-4D97-AF65-F5344CB8AC3E}">
        <p14:creationId xmlns:p14="http://schemas.microsoft.com/office/powerpoint/2010/main" val="224064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9CBA97E-405B-4C5A-8B99-1EF03C5ED5F9}"/>
              </a:ext>
            </a:extLst>
          </p:cNvPr>
          <p:cNvSpPr>
            <a:spLocks noGrp="1"/>
          </p:cNvSpPr>
          <p:nvPr>
            <p:ph type="dt" sz="half" idx="10"/>
          </p:nvPr>
        </p:nvSpPr>
        <p:spPr/>
        <p:txBody>
          <a:bodyPr/>
          <a:lstStyle>
            <a:lvl1pPr>
              <a:defRPr/>
            </a:lvl1pPr>
          </a:lstStyle>
          <a:p>
            <a:pPr>
              <a:defRPr/>
            </a:pPr>
            <a:fld id="{07F8158F-32FA-4B7A-B0AE-D5E209944A89}" type="datetime1">
              <a:rPr lang="zh-CN" altLang="en-US"/>
              <a:pPr>
                <a:defRPr/>
              </a:pPr>
              <a:t>2025/03/26</a:t>
            </a:fld>
            <a:endParaRPr lang="zh-CN" altLang="en-US" dirty="0"/>
          </a:p>
        </p:txBody>
      </p:sp>
      <p:sp>
        <p:nvSpPr>
          <p:cNvPr id="6" name="页脚占位符 4">
            <a:extLst>
              <a:ext uri="{FF2B5EF4-FFF2-40B4-BE49-F238E27FC236}">
                <a16:creationId xmlns:a16="http://schemas.microsoft.com/office/drawing/2014/main" id="{7593AB6F-83B0-4398-8F09-11B5A637C74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E8738CF1-D476-4260-AD22-FBBD91FFD4EE}"/>
              </a:ext>
            </a:extLst>
          </p:cNvPr>
          <p:cNvSpPr>
            <a:spLocks noGrp="1"/>
          </p:cNvSpPr>
          <p:nvPr>
            <p:ph type="sldNum" sz="quarter" idx="12"/>
          </p:nvPr>
        </p:nvSpPr>
        <p:spPr/>
        <p:txBody>
          <a:bodyPr/>
          <a:lstStyle>
            <a:lvl1pPr>
              <a:defRPr/>
            </a:lvl1pPr>
          </a:lstStyle>
          <a:p>
            <a:fld id="{12998518-7D26-446C-A9C0-FF0B6B86DB6A}" type="slidenum">
              <a:rPr lang="zh-CN" altLang="en-US"/>
              <a:pPr/>
              <a:t>‹#›</a:t>
            </a:fld>
            <a:endParaRPr lang="zh-CN" altLang="en-US"/>
          </a:p>
        </p:txBody>
      </p:sp>
    </p:spTree>
    <p:extLst>
      <p:ext uri="{BB962C8B-B14F-4D97-AF65-F5344CB8AC3E}">
        <p14:creationId xmlns:p14="http://schemas.microsoft.com/office/powerpoint/2010/main" val="1940956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46DE65C-7917-452B-A04F-759BB7BA652F}"/>
              </a:ext>
            </a:extLst>
          </p:cNvPr>
          <p:cNvSpPr>
            <a:spLocks noGrp="1"/>
          </p:cNvSpPr>
          <p:nvPr>
            <p:ph type="dt" sz="half" idx="10"/>
          </p:nvPr>
        </p:nvSpPr>
        <p:spPr/>
        <p:txBody>
          <a:bodyPr/>
          <a:lstStyle>
            <a:lvl1pPr>
              <a:defRPr/>
            </a:lvl1pPr>
          </a:lstStyle>
          <a:p>
            <a:pPr>
              <a:defRPr/>
            </a:pPr>
            <a:fld id="{2FBAD5CB-5BED-4383-AAAD-377E92205408}" type="datetime1">
              <a:rPr lang="zh-CN" altLang="en-US"/>
              <a:pPr>
                <a:defRPr/>
              </a:pPr>
              <a:t>2025/03/26</a:t>
            </a:fld>
            <a:endParaRPr lang="zh-CN" altLang="en-US" dirty="0"/>
          </a:p>
        </p:txBody>
      </p:sp>
      <p:sp>
        <p:nvSpPr>
          <p:cNvPr id="6" name="页脚占位符 4">
            <a:extLst>
              <a:ext uri="{FF2B5EF4-FFF2-40B4-BE49-F238E27FC236}">
                <a16:creationId xmlns:a16="http://schemas.microsoft.com/office/drawing/2014/main" id="{B34B523B-0C5D-42E3-93B8-70F443389588}"/>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E30C7326-6626-4E51-A388-26AC355E36A4}"/>
              </a:ext>
            </a:extLst>
          </p:cNvPr>
          <p:cNvSpPr>
            <a:spLocks noGrp="1"/>
          </p:cNvSpPr>
          <p:nvPr>
            <p:ph type="sldNum" sz="quarter" idx="12"/>
          </p:nvPr>
        </p:nvSpPr>
        <p:spPr/>
        <p:txBody>
          <a:bodyPr/>
          <a:lstStyle>
            <a:lvl1pPr>
              <a:defRPr/>
            </a:lvl1pPr>
          </a:lstStyle>
          <a:p>
            <a:fld id="{44546F5E-72C8-4489-B2EF-7FDEB53AE68A}" type="slidenum">
              <a:rPr lang="zh-CN" altLang="en-US"/>
              <a:pPr/>
              <a:t>‹#›</a:t>
            </a:fld>
            <a:endParaRPr lang="zh-CN" altLang="en-US"/>
          </a:p>
        </p:txBody>
      </p:sp>
    </p:spTree>
    <p:extLst>
      <p:ext uri="{BB962C8B-B14F-4D97-AF65-F5344CB8AC3E}">
        <p14:creationId xmlns:p14="http://schemas.microsoft.com/office/powerpoint/2010/main" val="141735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B2C03F08-4C01-4BF9-BB01-F9BC9B0AA30E}"/>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6DE3216F-AF0B-4696-9D5F-A392BA71FA8D}"/>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38B7F463-1452-42CB-84BC-B54FEC13406D}"/>
              </a:ext>
            </a:extLst>
          </p:cNvPr>
          <p:cNvSpPr>
            <a:spLocks noGrp="1"/>
          </p:cNvSpPr>
          <p:nvPr>
            <p:ph type="dt" sz="half" idx="10"/>
          </p:nvPr>
        </p:nvSpPr>
        <p:spPr/>
        <p:txBody>
          <a:bodyPr/>
          <a:lstStyle>
            <a:lvl1pPr>
              <a:defRPr/>
            </a:lvl1pPr>
          </a:lstStyle>
          <a:p>
            <a:pPr>
              <a:defRPr/>
            </a:pPr>
            <a:fld id="{CB32556E-C21B-42F5-94B6-8944784B37B3}" type="datetime1">
              <a:rPr lang="zh-CN" altLang="en-US"/>
              <a:pPr>
                <a:defRPr/>
              </a:pPr>
              <a:t>2025/03/26</a:t>
            </a:fld>
            <a:endParaRPr lang="zh-CN" altLang="en-US"/>
          </a:p>
        </p:txBody>
      </p:sp>
      <p:sp>
        <p:nvSpPr>
          <p:cNvPr id="7" name="页脚占位符 4">
            <a:extLst>
              <a:ext uri="{FF2B5EF4-FFF2-40B4-BE49-F238E27FC236}">
                <a16:creationId xmlns:a16="http://schemas.microsoft.com/office/drawing/2014/main" id="{C7ACB530-1A5E-47F3-BF9C-222BABE203A8}"/>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D9264291-4FB0-41DB-A158-181487C83A41}"/>
              </a:ext>
            </a:extLst>
          </p:cNvPr>
          <p:cNvSpPr>
            <a:spLocks noGrp="1"/>
          </p:cNvSpPr>
          <p:nvPr>
            <p:ph type="sldNum" sz="quarter" idx="12"/>
          </p:nvPr>
        </p:nvSpPr>
        <p:spPr/>
        <p:txBody>
          <a:bodyPr/>
          <a:lstStyle>
            <a:lvl1pPr>
              <a:defRPr/>
            </a:lvl1pPr>
          </a:lstStyle>
          <a:p>
            <a:fld id="{6D244A52-08BC-4B64-B35A-A2F02E9B3934}" type="slidenum">
              <a:rPr lang="zh-CN" altLang="en-US"/>
              <a:pPr/>
              <a:t>‹#›</a:t>
            </a:fld>
            <a:endParaRPr lang="zh-CN" altLang="en-US"/>
          </a:p>
        </p:txBody>
      </p:sp>
    </p:spTree>
    <p:extLst>
      <p:ext uri="{BB962C8B-B14F-4D97-AF65-F5344CB8AC3E}">
        <p14:creationId xmlns:p14="http://schemas.microsoft.com/office/powerpoint/2010/main" val="3791460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60F07C8-5AB1-47B8-8966-01F03AEC351B}"/>
              </a:ext>
            </a:extLst>
          </p:cNvPr>
          <p:cNvSpPr>
            <a:spLocks noGrp="1"/>
          </p:cNvSpPr>
          <p:nvPr>
            <p:ph type="dt" sz="half" idx="10"/>
          </p:nvPr>
        </p:nvSpPr>
        <p:spPr/>
        <p:txBody>
          <a:bodyPr/>
          <a:lstStyle>
            <a:lvl1pPr>
              <a:defRPr/>
            </a:lvl1pPr>
          </a:lstStyle>
          <a:p>
            <a:pPr>
              <a:defRPr/>
            </a:pPr>
            <a:fld id="{05AFB636-AA99-4B0F-847F-FDE880103800}" type="datetime1">
              <a:rPr lang="zh-CN" altLang="en-US"/>
              <a:pPr>
                <a:defRPr/>
              </a:pPr>
              <a:t>2025/03/26</a:t>
            </a:fld>
            <a:endParaRPr lang="zh-CN" altLang="en-US" dirty="0"/>
          </a:p>
        </p:txBody>
      </p:sp>
      <p:sp>
        <p:nvSpPr>
          <p:cNvPr id="5" name="页脚占位符 4">
            <a:extLst>
              <a:ext uri="{FF2B5EF4-FFF2-40B4-BE49-F238E27FC236}">
                <a16:creationId xmlns:a16="http://schemas.microsoft.com/office/drawing/2014/main" id="{1675CD27-7B1F-47F6-8ACE-5F9210323181}"/>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85E46F26-9796-4930-B4D1-83861566DF31}"/>
              </a:ext>
            </a:extLst>
          </p:cNvPr>
          <p:cNvSpPr>
            <a:spLocks noGrp="1"/>
          </p:cNvSpPr>
          <p:nvPr>
            <p:ph type="sldNum" sz="quarter" idx="12"/>
          </p:nvPr>
        </p:nvSpPr>
        <p:spPr/>
        <p:txBody>
          <a:bodyPr/>
          <a:lstStyle>
            <a:lvl1pPr>
              <a:defRPr/>
            </a:lvl1pPr>
          </a:lstStyle>
          <a:p>
            <a:fld id="{A2673604-6881-49BC-95A8-37FA15F00F0E}" type="slidenum">
              <a:rPr lang="zh-CN" altLang="en-US"/>
              <a:pPr/>
              <a:t>‹#›</a:t>
            </a:fld>
            <a:endParaRPr lang="zh-CN" altLang="en-US"/>
          </a:p>
        </p:txBody>
      </p:sp>
    </p:spTree>
    <p:extLst>
      <p:ext uri="{BB962C8B-B14F-4D97-AF65-F5344CB8AC3E}">
        <p14:creationId xmlns:p14="http://schemas.microsoft.com/office/powerpoint/2010/main" val="4225755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标题占位符 1">
            <a:extLst>
              <a:ext uri="{FF2B5EF4-FFF2-40B4-BE49-F238E27FC236}">
                <a16:creationId xmlns:a16="http://schemas.microsoft.com/office/drawing/2014/main" id="{79DFB8FF-E18F-4BED-BAC7-DD9231096D0F}"/>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9699" name="文本占位符 2">
            <a:extLst>
              <a:ext uri="{FF2B5EF4-FFF2-40B4-BE49-F238E27FC236}">
                <a16:creationId xmlns:a16="http://schemas.microsoft.com/office/drawing/2014/main" id="{626F14A9-87D9-473E-B7BA-D065A4B6978F}"/>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732CAF9-C6A3-44F9-A6E0-48E86228205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F5C948D-846E-4945-BD31-6C99D3D3CB15}" type="datetime1">
              <a:rPr lang="zh-CN" altLang="en-US"/>
              <a:pPr>
                <a:defRPr/>
              </a:pPr>
              <a:t>2025/03/26</a:t>
            </a:fld>
            <a:endParaRPr lang="zh-CN" altLang="en-US" dirty="0"/>
          </a:p>
        </p:txBody>
      </p:sp>
      <p:sp>
        <p:nvSpPr>
          <p:cNvPr id="5" name="页脚占位符 4">
            <a:extLst>
              <a:ext uri="{FF2B5EF4-FFF2-40B4-BE49-F238E27FC236}">
                <a16:creationId xmlns:a16="http://schemas.microsoft.com/office/drawing/2014/main" id="{54636B40-D10A-471C-BAAD-5E04DD43E4E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8B0EC47B-A00B-4D19-BD0F-D64AF7C9FE4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68E9970E-C5BD-4C3A-BBA2-8103235B4D59}"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317" r:id="rId1"/>
    <p:sldLayoutId id="2147484318" r:id="rId2"/>
    <p:sldLayoutId id="2147484312" r:id="rId3"/>
    <p:sldLayoutId id="2147484319" r:id="rId4"/>
    <p:sldLayoutId id="2147484320" r:id="rId5"/>
    <p:sldLayoutId id="2147484321" r:id="rId6"/>
    <p:sldLayoutId id="2147484313" r:id="rId7"/>
    <p:sldLayoutId id="2147484314" r:id="rId8"/>
    <p:sldLayoutId id="2147484315" r:id="rId9"/>
    <p:sldLayoutId id="2147484322" r:id="rId10"/>
    <p:sldLayoutId id="214748431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image" Target="../media/image29.png"/><Relationship Id="rId7"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30.png"/><Relationship Id="rId5" Type="http://schemas.openxmlformats.org/officeDocument/2006/relationships/image" Target="../media/image4.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34.wmf"/><Relationship Id="rId3" Type="http://schemas.openxmlformats.org/officeDocument/2006/relationships/image" Target="../media/image35.png"/><Relationship Id="rId7" Type="http://schemas.openxmlformats.org/officeDocument/2006/relationships/image" Target="../media/image31.wmf"/><Relationship Id="rId12" Type="http://schemas.openxmlformats.org/officeDocument/2006/relationships/oleObject" Target="../embeddings/oleObject6.bin"/><Relationship Id="rId17" Type="http://schemas.openxmlformats.org/officeDocument/2006/relationships/image" Target="../media/image36.wmf"/><Relationship Id="rId2" Type="http://schemas.openxmlformats.org/officeDocument/2006/relationships/slideLayout" Target="../slideLayouts/slideLayout2.xml"/><Relationship Id="rId16" Type="http://schemas.openxmlformats.org/officeDocument/2006/relationships/oleObject" Target="../embeddings/oleObject8.bin"/><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33.wmf"/><Relationship Id="rId5" Type="http://schemas.openxmlformats.org/officeDocument/2006/relationships/image" Target="../media/image37.png"/><Relationship Id="rId15" Type="http://schemas.openxmlformats.org/officeDocument/2006/relationships/image" Target="../media/image35.wmf"/><Relationship Id="rId10" Type="http://schemas.openxmlformats.org/officeDocument/2006/relationships/oleObject" Target="../embeddings/oleObject5.bin"/><Relationship Id="rId4" Type="http://schemas.openxmlformats.org/officeDocument/2006/relationships/image" Target="../media/image36.png"/><Relationship Id="rId9" Type="http://schemas.openxmlformats.org/officeDocument/2006/relationships/image" Target="../media/image32.wmf"/><Relationship Id="rId1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9.wmf"/><Relationship Id="rId3" Type="http://schemas.openxmlformats.org/officeDocument/2006/relationships/notesSlide" Target="../notesSlides/notesSlide1.xml"/><Relationship Id="rId7" Type="http://schemas.openxmlformats.org/officeDocument/2006/relationships/image" Target="../media/image37.wmf"/><Relationship Id="rId12"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9.bin"/><Relationship Id="rId11" Type="http://schemas.openxmlformats.org/officeDocument/2006/relationships/image" Target="../media/image49.png"/><Relationship Id="rId5" Type="http://schemas.openxmlformats.org/officeDocument/2006/relationships/image" Target="../media/image45.png"/><Relationship Id="rId10" Type="http://schemas.openxmlformats.org/officeDocument/2006/relationships/image" Target="../media/image38.wmf"/><Relationship Id="rId4" Type="http://schemas.openxmlformats.org/officeDocument/2006/relationships/image" Target="../media/image44.png"/><Relationship Id="rId9" Type="http://schemas.openxmlformats.org/officeDocument/2006/relationships/oleObject" Target="../embeddings/oleObject10.bin"/><Relationship Id="rId14" Type="http://schemas.openxmlformats.org/officeDocument/2006/relationships/image" Target="../media/image51.png"/></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2.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2.bin"/><Relationship Id="rId11" Type="http://schemas.openxmlformats.org/officeDocument/2006/relationships/image" Target="../media/image50.png"/><Relationship Id="rId5" Type="http://schemas.openxmlformats.org/officeDocument/2006/relationships/image" Target="../media/image47.png"/><Relationship Id="rId10" Type="http://schemas.openxmlformats.org/officeDocument/2006/relationships/image" Target="../media/image59.png"/><Relationship Id="rId4" Type="http://schemas.openxmlformats.org/officeDocument/2006/relationships/image" Target="../media/image46.png"/><Relationship Id="rId9" Type="http://schemas.openxmlformats.org/officeDocument/2006/relationships/image" Target="../media/image5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60.png"/><Relationship Id="rId1" Type="http://schemas.openxmlformats.org/officeDocument/2006/relationships/slideLayout" Target="../slideLayouts/slideLayout2.xml"/><Relationship Id="rId5" Type="http://schemas.openxmlformats.org/officeDocument/2006/relationships/image" Target="../media/image520.png"/><Relationship Id="rId4" Type="http://schemas.openxmlformats.org/officeDocument/2006/relationships/image" Target="../media/image500.png"/></Relationships>
</file>

<file path=ppt/slides/_rels/slide18.xml.rels><?xml version="1.0" encoding="UTF-8" standalone="yes"?>
<Relationships xmlns="http://schemas.openxmlformats.org/package/2006/relationships"><Relationship Id="rId3" Type="http://schemas.openxmlformats.org/officeDocument/2006/relationships/image" Target="../media/image560.png"/><Relationship Id="rId7" Type="http://schemas.openxmlformats.org/officeDocument/2006/relationships/image" Target="../media/image5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62.png"/><Relationship Id="rId4" Type="http://schemas.openxmlformats.org/officeDocument/2006/relationships/image" Target="../media/image61.png"/></Relationships>
</file>

<file path=ppt/slides/_rels/slide19.xml.rels><?xml version="1.0" encoding="UTF-8" standalone="yes"?>
<Relationships xmlns="http://schemas.openxmlformats.org/package/2006/relationships"><Relationship Id="rId39" Type="http://schemas.openxmlformats.org/officeDocument/2006/relationships/oleObject" Target="../embeddings/oleObject21.bin"/><Relationship Id="rId63" Type="http://schemas.openxmlformats.org/officeDocument/2006/relationships/oleObject" Target="../embeddings/oleObject15.bin"/><Relationship Id="rId68" Type="http://schemas.openxmlformats.org/officeDocument/2006/relationships/image" Target="../media/image57.wmf"/><Relationship Id="rId76" Type="http://schemas.openxmlformats.org/officeDocument/2006/relationships/image" Target="../media/image61.wmf"/><Relationship Id="rId47" Type="http://schemas.openxmlformats.org/officeDocument/2006/relationships/oleObject" Target="../embeddings/oleObject23.bin"/><Relationship Id="rId84" Type="http://schemas.openxmlformats.org/officeDocument/2006/relationships/image" Target="../media/image65.wmf"/><Relationship Id="rId7" Type="http://schemas.openxmlformats.org/officeDocument/2006/relationships/oleObject" Target="../embeddings/oleObject130.bin"/><Relationship Id="rId71" Type="http://schemas.openxmlformats.org/officeDocument/2006/relationships/oleObject" Target="../embeddings/oleObject19.bin"/><Relationship Id="rId2" Type="http://schemas.openxmlformats.org/officeDocument/2006/relationships/slideLayout" Target="../slideLayouts/slideLayout2.xml"/><Relationship Id="rId16" Type="http://schemas.openxmlformats.org/officeDocument/2006/relationships/image" Target="../media/image441.wmf"/><Relationship Id="rId58" Type="http://schemas.openxmlformats.org/officeDocument/2006/relationships/image" Target="../media/image67.png"/><Relationship Id="rId11" Type="http://schemas.openxmlformats.org/officeDocument/2006/relationships/oleObject" Target="../embeddings/oleObject140.bin"/><Relationship Id="rId66" Type="http://schemas.openxmlformats.org/officeDocument/2006/relationships/image" Target="../media/image56.wmf"/><Relationship Id="rId24" Type="http://schemas.openxmlformats.org/officeDocument/2006/relationships/image" Target="../media/image57.wmf"/><Relationship Id="rId32" Type="http://schemas.openxmlformats.org/officeDocument/2006/relationships/image" Target="../media/image59.wmf"/><Relationship Id="rId74" Type="http://schemas.openxmlformats.org/officeDocument/2006/relationships/image" Target="../media/image60.wmf"/><Relationship Id="rId40" Type="http://schemas.openxmlformats.org/officeDocument/2006/relationships/image" Target="../media/image61.wmf"/><Relationship Id="rId79" Type="http://schemas.openxmlformats.org/officeDocument/2006/relationships/oleObject" Target="../embeddings/oleObject23.bin"/><Relationship Id="rId53" Type="http://schemas.openxmlformats.org/officeDocument/2006/relationships/image" Target="../media/image64.wmf"/><Relationship Id="rId61" Type="http://schemas.openxmlformats.org/officeDocument/2006/relationships/oleObject" Target="../embeddings/oleObject14.bin"/><Relationship Id="rId82" Type="http://schemas.openxmlformats.org/officeDocument/2006/relationships/image" Target="../media/image64.wmf"/><Relationship Id="rId19" Type="http://schemas.openxmlformats.org/officeDocument/2006/relationships/oleObject" Target="../embeddings/oleObject16.bin"/><Relationship Id="rId4" Type="http://schemas.openxmlformats.org/officeDocument/2006/relationships/image" Target="../media/image481.png"/><Relationship Id="rId64" Type="http://schemas.openxmlformats.org/officeDocument/2006/relationships/image" Target="../media/image55.wmf"/><Relationship Id="rId69" Type="http://schemas.openxmlformats.org/officeDocument/2006/relationships/oleObject" Target="../embeddings/oleObject18.bin"/><Relationship Id="rId27" Type="http://schemas.openxmlformats.org/officeDocument/2006/relationships/oleObject" Target="../embeddings/oleObject18.bin"/><Relationship Id="rId35" Type="http://schemas.openxmlformats.org/officeDocument/2006/relationships/oleObject" Target="../embeddings/oleObject20.bin"/><Relationship Id="rId77" Type="http://schemas.openxmlformats.org/officeDocument/2006/relationships/oleObject" Target="../embeddings/oleObject22.bin"/><Relationship Id="rId43" Type="http://schemas.openxmlformats.org/officeDocument/2006/relationships/oleObject" Target="../embeddings/oleObject22.bin"/><Relationship Id="rId48" Type="http://schemas.openxmlformats.org/officeDocument/2006/relationships/image" Target="../media/image63.wmf"/><Relationship Id="rId56" Type="http://schemas.openxmlformats.org/officeDocument/2006/relationships/oleObject" Target="../embeddings/oleObject25.bin"/><Relationship Id="rId8" Type="http://schemas.openxmlformats.org/officeDocument/2006/relationships/image" Target="../media/image440.wmf"/><Relationship Id="rId72" Type="http://schemas.openxmlformats.org/officeDocument/2006/relationships/image" Target="../media/image59.wmf"/><Relationship Id="rId80" Type="http://schemas.openxmlformats.org/officeDocument/2006/relationships/image" Target="../media/image63.wmf"/><Relationship Id="rId3" Type="http://schemas.openxmlformats.org/officeDocument/2006/relationships/image" Target="../media/image430.png"/><Relationship Id="rId59" Type="http://schemas.openxmlformats.org/officeDocument/2006/relationships/oleObject" Target="../embeddings/oleObject13.bin"/><Relationship Id="rId12" Type="http://schemas.openxmlformats.org/officeDocument/2006/relationships/image" Target="../media/image442.wmf"/><Relationship Id="rId67" Type="http://schemas.openxmlformats.org/officeDocument/2006/relationships/oleObject" Target="../embeddings/oleObject17.bin"/><Relationship Id="rId62" Type="http://schemas.openxmlformats.org/officeDocument/2006/relationships/image" Target="../media/image54.wmf"/><Relationship Id="rId20" Type="http://schemas.openxmlformats.org/officeDocument/2006/relationships/image" Target="../media/image56.wmf"/><Relationship Id="rId70" Type="http://schemas.openxmlformats.org/officeDocument/2006/relationships/image" Target="../media/image58.wmf"/><Relationship Id="rId75" Type="http://schemas.openxmlformats.org/officeDocument/2006/relationships/oleObject" Target="../embeddings/oleObject21.bin"/><Relationship Id="rId83" Type="http://schemas.openxmlformats.org/officeDocument/2006/relationships/oleObject" Target="../embeddings/oleObject25.bin"/><Relationship Id="rId1" Type="http://schemas.openxmlformats.org/officeDocument/2006/relationships/vmlDrawing" Target="../drawings/vmlDrawing5.vml"/><Relationship Id="rId15" Type="http://schemas.openxmlformats.org/officeDocument/2006/relationships/oleObject" Target="../embeddings/oleObject150.bin"/><Relationship Id="rId23" Type="http://schemas.openxmlformats.org/officeDocument/2006/relationships/oleObject" Target="../embeddings/oleObject17.bin"/><Relationship Id="rId28" Type="http://schemas.openxmlformats.org/officeDocument/2006/relationships/image" Target="../media/image58.wmf"/><Relationship Id="rId36" Type="http://schemas.openxmlformats.org/officeDocument/2006/relationships/image" Target="../media/image60.wmf"/><Relationship Id="rId49" Type="http://schemas.openxmlformats.org/officeDocument/2006/relationships/image" Target="../media/image640.png"/><Relationship Id="rId57" Type="http://schemas.openxmlformats.org/officeDocument/2006/relationships/image" Target="../media/image65.wmf"/><Relationship Id="rId60" Type="http://schemas.openxmlformats.org/officeDocument/2006/relationships/image" Target="../media/image53.wmf"/><Relationship Id="rId65" Type="http://schemas.openxmlformats.org/officeDocument/2006/relationships/oleObject" Target="../embeddings/oleObject16.bin"/><Relationship Id="rId31" Type="http://schemas.openxmlformats.org/officeDocument/2006/relationships/oleObject" Target="../embeddings/oleObject19.bin"/><Relationship Id="rId73" Type="http://schemas.openxmlformats.org/officeDocument/2006/relationships/oleObject" Target="../embeddings/oleObject20.bin"/><Relationship Id="rId78" Type="http://schemas.openxmlformats.org/officeDocument/2006/relationships/image" Target="../media/image62.wmf"/><Relationship Id="rId44" Type="http://schemas.openxmlformats.org/officeDocument/2006/relationships/image" Target="../media/image62.wmf"/><Relationship Id="rId81" Type="http://schemas.openxmlformats.org/officeDocument/2006/relationships/oleObject" Target="../embeddings/oleObject24.bin"/><Relationship Id="rId52"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13" Type="http://schemas.openxmlformats.org/officeDocument/2006/relationships/image" Target="../media/image69.wmf"/><Relationship Id="rId18" Type="http://schemas.openxmlformats.org/officeDocument/2006/relationships/oleObject" Target="../embeddings/oleObject32.bin"/><Relationship Id="rId26" Type="http://schemas.openxmlformats.org/officeDocument/2006/relationships/oleObject" Target="../embeddings/oleObject36.bin"/><Relationship Id="rId21" Type="http://schemas.openxmlformats.org/officeDocument/2006/relationships/image" Target="../media/image73.wmf"/><Relationship Id="rId34" Type="http://schemas.openxmlformats.org/officeDocument/2006/relationships/oleObject" Target="../embeddings/oleObject38.bin"/><Relationship Id="rId42" Type="http://schemas.openxmlformats.org/officeDocument/2006/relationships/oleObject" Target="../embeddings/oleObject40.bin"/><Relationship Id="rId47" Type="http://schemas.openxmlformats.org/officeDocument/2006/relationships/image" Target="../media/image77.wmf"/><Relationship Id="rId50" Type="http://schemas.openxmlformats.org/officeDocument/2006/relationships/oleObject" Target="../embeddings/oleObject42.bin"/><Relationship Id="rId55" Type="http://schemas.openxmlformats.org/officeDocument/2006/relationships/image" Target="../media/image79.wmf"/><Relationship Id="rId7" Type="http://schemas.openxmlformats.org/officeDocument/2006/relationships/image" Target="../media/image66.wmf"/><Relationship Id="rId2" Type="http://schemas.openxmlformats.org/officeDocument/2006/relationships/slideLayout" Target="../slideLayouts/slideLayout2.xml"/><Relationship Id="rId16" Type="http://schemas.openxmlformats.org/officeDocument/2006/relationships/oleObject" Target="../embeddings/oleObject31.bin"/><Relationship Id="rId29" Type="http://schemas.openxmlformats.org/officeDocument/2006/relationships/image" Target="../media/image75.wmf"/><Relationship Id="rId11" Type="http://schemas.openxmlformats.org/officeDocument/2006/relationships/image" Target="../media/image68.wmf"/><Relationship Id="rId24" Type="http://schemas.openxmlformats.org/officeDocument/2006/relationships/oleObject" Target="../embeddings/oleObject35.bin"/><Relationship Id="rId32" Type="http://schemas.openxmlformats.org/officeDocument/2006/relationships/oleObject" Target="../embeddings/oleObject37.bin"/><Relationship Id="rId37" Type="http://schemas.openxmlformats.org/officeDocument/2006/relationships/image" Target="../media/image58.wmf"/><Relationship Id="rId40" Type="http://schemas.openxmlformats.org/officeDocument/2006/relationships/oleObject" Target="../embeddings/oleObject39.bin"/><Relationship Id="rId45" Type="http://schemas.openxmlformats.org/officeDocument/2006/relationships/image" Target="../media/image78.wmf"/><Relationship Id="rId53" Type="http://schemas.openxmlformats.org/officeDocument/2006/relationships/image" Target="../media/image80.wmf"/><Relationship Id="rId58" Type="http://schemas.openxmlformats.org/officeDocument/2006/relationships/oleObject" Target="../embeddings/oleObject44.bin"/><Relationship Id="rId5" Type="http://schemas.openxmlformats.org/officeDocument/2006/relationships/image" Target="../media/image70.png"/><Relationship Id="rId61" Type="http://schemas.openxmlformats.org/officeDocument/2006/relationships/image" Target="../media/image86.wmf"/><Relationship Id="rId19" Type="http://schemas.openxmlformats.org/officeDocument/2006/relationships/image" Target="../media/image72.wmf"/><Relationship Id="rId4" Type="http://schemas.openxmlformats.org/officeDocument/2006/relationships/image" Target="../media/image69.png"/><Relationship Id="rId9" Type="http://schemas.openxmlformats.org/officeDocument/2006/relationships/image" Target="../media/image67.wmf"/><Relationship Id="rId14" Type="http://schemas.openxmlformats.org/officeDocument/2006/relationships/oleObject" Target="../embeddings/oleObject30.bin"/><Relationship Id="rId22" Type="http://schemas.openxmlformats.org/officeDocument/2006/relationships/oleObject" Target="../embeddings/oleObject34.bin"/><Relationship Id="rId27" Type="http://schemas.openxmlformats.org/officeDocument/2006/relationships/image" Target="../media/image75.wmf"/><Relationship Id="rId30" Type="http://schemas.openxmlformats.org/officeDocument/2006/relationships/oleObject" Target="../embeddings/oleObject37.bin"/><Relationship Id="rId35" Type="http://schemas.openxmlformats.org/officeDocument/2006/relationships/image" Target="../media/image58.wmf"/><Relationship Id="rId43" Type="http://schemas.openxmlformats.org/officeDocument/2006/relationships/image" Target="../media/image76.wmf"/><Relationship Id="rId48" Type="http://schemas.openxmlformats.org/officeDocument/2006/relationships/oleObject" Target="../embeddings/oleObject41.bin"/><Relationship Id="rId56" Type="http://schemas.openxmlformats.org/officeDocument/2006/relationships/oleObject" Target="../embeddings/oleObject43.bin"/><Relationship Id="rId8" Type="http://schemas.openxmlformats.org/officeDocument/2006/relationships/oleObject" Target="../embeddings/oleObject27.bin"/><Relationship Id="rId51" Type="http://schemas.openxmlformats.org/officeDocument/2006/relationships/image" Target="../media/image78.wmf"/><Relationship Id="rId3" Type="http://schemas.openxmlformats.org/officeDocument/2006/relationships/image" Target="../media/image68.png"/><Relationship Id="rId12" Type="http://schemas.openxmlformats.org/officeDocument/2006/relationships/oleObject" Target="../embeddings/oleObject29.bin"/><Relationship Id="rId17" Type="http://schemas.openxmlformats.org/officeDocument/2006/relationships/image" Target="../media/image71.wmf"/><Relationship Id="rId25" Type="http://schemas.openxmlformats.org/officeDocument/2006/relationships/image" Target="../media/image80.png"/><Relationship Id="rId33" Type="http://schemas.openxmlformats.org/officeDocument/2006/relationships/image" Target="../media/image76.wmf"/><Relationship Id="rId38" Type="http://schemas.openxmlformats.org/officeDocument/2006/relationships/oleObject" Target="../embeddings/oleObject39.bin"/><Relationship Id="rId46" Type="http://schemas.openxmlformats.org/officeDocument/2006/relationships/oleObject" Target="../embeddings/oleObject41.bin"/><Relationship Id="rId59" Type="http://schemas.openxmlformats.org/officeDocument/2006/relationships/image" Target="../media/image80.wmf"/><Relationship Id="rId20" Type="http://schemas.openxmlformats.org/officeDocument/2006/relationships/oleObject" Target="../embeddings/oleObject33.bin"/><Relationship Id="rId41" Type="http://schemas.openxmlformats.org/officeDocument/2006/relationships/image" Target="../media/image77.wmf"/><Relationship Id="rId54" Type="http://schemas.openxmlformats.org/officeDocument/2006/relationships/oleObject" Target="../embeddings/oleObject43.bin"/><Relationship Id="rId1" Type="http://schemas.openxmlformats.org/officeDocument/2006/relationships/vmlDrawing" Target="../drawings/vmlDrawing6.vml"/><Relationship Id="rId6" Type="http://schemas.openxmlformats.org/officeDocument/2006/relationships/oleObject" Target="../embeddings/oleObject26.bin"/><Relationship Id="rId15" Type="http://schemas.openxmlformats.org/officeDocument/2006/relationships/image" Target="../media/image70.wmf"/><Relationship Id="rId23" Type="http://schemas.openxmlformats.org/officeDocument/2006/relationships/image" Target="../media/image74.wmf"/><Relationship Id="rId28" Type="http://schemas.openxmlformats.org/officeDocument/2006/relationships/oleObject" Target="../embeddings/oleObject36.bin"/><Relationship Id="rId36" Type="http://schemas.openxmlformats.org/officeDocument/2006/relationships/oleObject" Target="../embeddings/oleObject38.bin"/><Relationship Id="rId49" Type="http://schemas.openxmlformats.org/officeDocument/2006/relationships/image" Target="../media/image79.wmf"/><Relationship Id="rId57" Type="http://schemas.openxmlformats.org/officeDocument/2006/relationships/image" Target="../media/image710.wmf"/><Relationship Id="rId10" Type="http://schemas.openxmlformats.org/officeDocument/2006/relationships/oleObject" Target="../embeddings/oleObject28.bin"/><Relationship Id="rId44" Type="http://schemas.openxmlformats.org/officeDocument/2006/relationships/oleObject" Target="../embeddings/oleObject40.bin"/><Relationship Id="rId52" Type="http://schemas.openxmlformats.org/officeDocument/2006/relationships/oleObject" Target="../embeddings/oleObject42.bin"/><Relationship Id="rId60" Type="http://schemas.openxmlformats.org/officeDocument/2006/relationships/oleObject" Target="../embeddings/oleObject44.bin"/></Relationships>
</file>

<file path=ppt/slides/_rels/slide2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2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95.png"/></Relationships>
</file>

<file path=ppt/slides/_rels/slide23.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86.png"/><Relationship Id="rId7" Type="http://schemas.openxmlformats.org/officeDocument/2006/relationships/image" Target="../media/image103.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9" Type="http://schemas.openxmlformats.org/officeDocument/2006/relationships/image" Target="../media/image105.png"/></Relationships>
</file>

<file path=ppt/slides/_rels/slide24.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25.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88.png"/><Relationship Id="rId4" Type="http://schemas.openxmlformats.org/officeDocument/2006/relationships/image" Target="../media/image87.png"/></Relationships>
</file>

<file path=ppt/slides/_rels/slide26.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90.png"/><Relationship Id="rId7" Type="http://schemas.openxmlformats.org/officeDocument/2006/relationships/image" Target="../media/image123.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27.xml.rels><?xml version="1.0" encoding="UTF-8" standalone="yes"?>
<Relationships xmlns="http://schemas.openxmlformats.org/package/2006/relationships"><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image" Target="../media/image125.png"/><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2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29.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image" Target="../media/image135.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30.xml.rels><?xml version="1.0" encoding="UTF-8" standalone="yes"?>
<Relationships xmlns="http://schemas.openxmlformats.org/package/2006/relationships"><Relationship Id="rId3" Type="http://schemas.openxmlformats.org/officeDocument/2006/relationships/image" Target="../media/image960.png"/><Relationship Id="rId7" Type="http://schemas.openxmlformats.org/officeDocument/2006/relationships/image" Target="../media/image990.png"/><Relationship Id="rId2" Type="http://schemas.openxmlformats.org/officeDocument/2006/relationships/image" Target="../media/image920.png"/><Relationship Id="rId1" Type="http://schemas.openxmlformats.org/officeDocument/2006/relationships/slideLayout" Target="../slideLayouts/slideLayout2.xml"/><Relationship Id="rId6" Type="http://schemas.openxmlformats.org/officeDocument/2006/relationships/image" Target="../media/image980.png"/></Relationships>
</file>

<file path=ppt/slides/_rels/slide3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97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50.png"/><Relationship Id="rId2" Type="http://schemas.openxmlformats.org/officeDocument/2006/relationships/image" Target="../media/image1140.png"/><Relationship Id="rId1" Type="http://schemas.openxmlformats.org/officeDocument/2006/relationships/slideLayout" Target="../slideLayouts/slideLayout2.xml"/><Relationship Id="rId5" Type="http://schemas.openxmlformats.org/officeDocument/2006/relationships/image" Target="../media/image119.png"/><Relationship Id="rId4" Type="http://schemas.openxmlformats.org/officeDocument/2006/relationships/image" Target="../media/image118.png"/></Relationships>
</file>

<file path=ppt/slides/_rels/slide34.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1.png"/><Relationship Id="rId7" Type="http://schemas.openxmlformats.org/officeDocument/2006/relationships/image" Target="../media/image138.png"/><Relationship Id="rId2" Type="http://schemas.openxmlformats.org/officeDocument/2006/relationships/image" Target="../media/image124.png"/><Relationship Id="rId1"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png"/><Relationship Id="rId10" Type="http://schemas.openxmlformats.org/officeDocument/2006/relationships/image" Target="../media/image141.png"/><Relationship Id="rId4" Type="http://schemas.openxmlformats.org/officeDocument/2006/relationships/image" Target="../media/image132.png"/><Relationship Id="rId9" Type="http://schemas.openxmlformats.org/officeDocument/2006/relationships/image" Target="../media/image140.png"/></Relationships>
</file>

<file path=ppt/slides/_rels/slide35.xml.rels><?xml version="1.0" encoding="UTF-8" standalone="yes"?>
<Relationships xmlns="http://schemas.openxmlformats.org/package/2006/relationships"><Relationship Id="rId13" Type="http://schemas.openxmlformats.org/officeDocument/2006/relationships/image" Target="../media/image70.wmf"/><Relationship Id="rId18" Type="http://schemas.openxmlformats.org/officeDocument/2006/relationships/oleObject" Target="../embeddings/oleObject53.bin"/><Relationship Id="rId26" Type="http://schemas.openxmlformats.org/officeDocument/2006/relationships/oleObject" Target="../embeddings/oleObject57.bin"/><Relationship Id="rId39" Type="http://schemas.openxmlformats.org/officeDocument/2006/relationships/oleObject" Target="../embeddings/oleObject64.bin"/><Relationship Id="rId21" Type="http://schemas.openxmlformats.org/officeDocument/2006/relationships/image" Target="../media/image105.wmf"/><Relationship Id="rId34" Type="http://schemas.openxmlformats.org/officeDocument/2006/relationships/image" Target="../media/image111.wmf"/><Relationship Id="rId42" Type="http://schemas.openxmlformats.org/officeDocument/2006/relationships/oleObject" Target="../embeddings/oleObject66.bin"/><Relationship Id="rId47" Type="http://schemas.openxmlformats.org/officeDocument/2006/relationships/image" Target="../media/image116.wmf"/><Relationship Id="rId50" Type="http://schemas.openxmlformats.org/officeDocument/2006/relationships/image" Target="../media/image117.wmf"/><Relationship Id="rId55" Type="http://schemas.openxmlformats.org/officeDocument/2006/relationships/oleObject" Target="../embeddings/oleObject73.bin"/><Relationship Id="rId7" Type="http://schemas.openxmlformats.org/officeDocument/2006/relationships/image" Target="../media/image99.wmf"/><Relationship Id="rId2" Type="http://schemas.openxmlformats.org/officeDocument/2006/relationships/slideLayout" Target="../slideLayouts/slideLayout2.xml"/><Relationship Id="rId16" Type="http://schemas.openxmlformats.org/officeDocument/2006/relationships/oleObject" Target="../embeddings/oleObject52.bin"/><Relationship Id="rId29" Type="http://schemas.openxmlformats.org/officeDocument/2006/relationships/image" Target="../media/image109.wmf"/><Relationship Id="rId11" Type="http://schemas.openxmlformats.org/officeDocument/2006/relationships/image" Target="../media/image101.wmf"/><Relationship Id="rId24" Type="http://schemas.openxmlformats.org/officeDocument/2006/relationships/oleObject" Target="../embeddings/oleObject56.bin"/><Relationship Id="rId32" Type="http://schemas.openxmlformats.org/officeDocument/2006/relationships/oleObject" Target="../embeddings/oleObject60.bin"/><Relationship Id="rId37" Type="http://schemas.openxmlformats.org/officeDocument/2006/relationships/oleObject" Target="../embeddings/oleObject63.bin"/><Relationship Id="rId40" Type="http://schemas.openxmlformats.org/officeDocument/2006/relationships/image" Target="../media/image113.wmf"/><Relationship Id="rId45" Type="http://schemas.openxmlformats.org/officeDocument/2006/relationships/image" Target="../media/image115.wmf"/><Relationship Id="rId53" Type="http://schemas.openxmlformats.org/officeDocument/2006/relationships/oleObject" Target="../embeddings/oleObject72.bin"/><Relationship Id="rId5" Type="http://schemas.openxmlformats.org/officeDocument/2006/relationships/oleObject" Target="../embeddings/oleObject46.bin"/><Relationship Id="rId10" Type="http://schemas.openxmlformats.org/officeDocument/2006/relationships/oleObject" Target="../embeddings/oleObject49.bin"/><Relationship Id="rId19" Type="http://schemas.openxmlformats.org/officeDocument/2006/relationships/image" Target="../media/image104.wmf"/><Relationship Id="rId31" Type="http://schemas.openxmlformats.org/officeDocument/2006/relationships/image" Target="../media/image110.wmf"/><Relationship Id="rId44" Type="http://schemas.openxmlformats.org/officeDocument/2006/relationships/oleObject" Target="../embeddings/oleObject67.bin"/><Relationship Id="rId52" Type="http://schemas.openxmlformats.org/officeDocument/2006/relationships/image" Target="../media/image118.wmf"/><Relationship Id="rId4" Type="http://schemas.openxmlformats.org/officeDocument/2006/relationships/image" Target="../media/image98.wmf"/><Relationship Id="rId9" Type="http://schemas.openxmlformats.org/officeDocument/2006/relationships/image" Target="../media/image100.wmf"/><Relationship Id="rId14" Type="http://schemas.openxmlformats.org/officeDocument/2006/relationships/oleObject" Target="../embeddings/oleObject51.bin"/><Relationship Id="rId22" Type="http://schemas.openxmlformats.org/officeDocument/2006/relationships/oleObject" Target="../embeddings/oleObject55.bin"/><Relationship Id="rId27" Type="http://schemas.openxmlformats.org/officeDocument/2006/relationships/image" Target="../media/image108.wmf"/><Relationship Id="rId30" Type="http://schemas.openxmlformats.org/officeDocument/2006/relationships/oleObject" Target="../embeddings/oleObject59.bin"/><Relationship Id="rId35" Type="http://schemas.openxmlformats.org/officeDocument/2006/relationships/oleObject" Target="../embeddings/oleObject62.bin"/><Relationship Id="rId43" Type="http://schemas.openxmlformats.org/officeDocument/2006/relationships/image" Target="../media/image114.wmf"/><Relationship Id="rId48" Type="http://schemas.openxmlformats.org/officeDocument/2006/relationships/oleObject" Target="../embeddings/oleObject69.bin"/><Relationship Id="rId56" Type="http://schemas.openxmlformats.org/officeDocument/2006/relationships/image" Target="../media/image120.wmf"/><Relationship Id="rId8" Type="http://schemas.openxmlformats.org/officeDocument/2006/relationships/oleObject" Target="../embeddings/oleObject48.bin"/><Relationship Id="rId51" Type="http://schemas.openxmlformats.org/officeDocument/2006/relationships/oleObject" Target="../embeddings/oleObject71.bin"/><Relationship Id="rId3" Type="http://schemas.openxmlformats.org/officeDocument/2006/relationships/oleObject" Target="../embeddings/oleObject45.bin"/><Relationship Id="rId12" Type="http://schemas.openxmlformats.org/officeDocument/2006/relationships/oleObject" Target="../embeddings/oleObject50.bin"/><Relationship Id="rId17" Type="http://schemas.openxmlformats.org/officeDocument/2006/relationships/image" Target="../media/image103.wmf"/><Relationship Id="rId25" Type="http://schemas.openxmlformats.org/officeDocument/2006/relationships/image" Target="../media/image107.wmf"/><Relationship Id="rId33" Type="http://schemas.openxmlformats.org/officeDocument/2006/relationships/oleObject" Target="../embeddings/oleObject61.bin"/><Relationship Id="rId38" Type="http://schemas.openxmlformats.org/officeDocument/2006/relationships/image" Target="../media/image32.wmf"/><Relationship Id="rId46" Type="http://schemas.openxmlformats.org/officeDocument/2006/relationships/oleObject" Target="../embeddings/oleObject68.bin"/><Relationship Id="rId20" Type="http://schemas.openxmlformats.org/officeDocument/2006/relationships/oleObject" Target="../embeddings/oleObject54.bin"/><Relationship Id="rId41" Type="http://schemas.openxmlformats.org/officeDocument/2006/relationships/oleObject" Target="../embeddings/oleObject65.bin"/><Relationship Id="rId54" Type="http://schemas.openxmlformats.org/officeDocument/2006/relationships/image" Target="../media/image119.wmf"/><Relationship Id="rId1" Type="http://schemas.openxmlformats.org/officeDocument/2006/relationships/vmlDrawing" Target="../drawings/vmlDrawing7.vml"/><Relationship Id="rId6" Type="http://schemas.openxmlformats.org/officeDocument/2006/relationships/oleObject" Target="../embeddings/oleObject47.bin"/><Relationship Id="rId15" Type="http://schemas.openxmlformats.org/officeDocument/2006/relationships/image" Target="../media/image102.wmf"/><Relationship Id="rId23" Type="http://schemas.openxmlformats.org/officeDocument/2006/relationships/image" Target="../media/image106.wmf"/><Relationship Id="rId28" Type="http://schemas.openxmlformats.org/officeDocument/2006/relationships/oleObject" Target="../embeddings/oleObject58.bin"/><Relationship Id="rId36" Type="http://schemas.openxmlformats.org/officeDocument/2006/relationships/image" Target="../media/image112.wmf"/><Relationship Id="rId49" Type="http://schemas.openxmlformats.org/officeDocument/2006/relationships/oleObject" Target="../embeddings/oleObject70.bin"/></Relationships>
</file>

<file path=ppt/slides/_rels/slide3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144.png"/></Relationships>
</file>

<file path=ppt/slides/_rels/slide3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3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52.png"/></Relationships>
</file>

<file path=ppt/slides/_rels/slide39.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 Id="rId5" Type="http://schemas.openxmlformats.org/officeDocument/2006/relationships/image" Target="../media/image156.png"/><Relationship Id="rId4" Type="http://schemas.openxmlformats.org/officeDocument/2006/relationships/image" Target="../media/image155.png"/></Relationships>
</file>

<file path=ppt/slides/_rels/slide40.xml.rels><?xml version="1.0" encoding="UTF-8" standalone="yes"?>
<Relationships xmlns="http://schemas.openxmlformats.org/package/2006/relationships"><Relationship Id="rId13" Type="http://schemas.openxmlformats.org/officeDocument/2006/relationships/oleObject" Target="../embeddings/oleObject79.bin"/><Relationship Id="rId18" Type="http://schemas.openxmlformats.org/officeDocument/2006/relationships/image" Target="../media/image128.wmf"/><Relationship Id="rId26" Type="http://schemas.openxmlformats.org/officeDocument/2006/relationships/image" Target="../media/image132.wmf"/><Relationship Id="rId21" Type="http://schemas.openxmlformats.org/officeDocument/2006/relationships/oleObject" Target="../embeddings/oleObject83.bin"/><Relationship Id="rId34" Type="http://schemas.openxmlformats.org/officeDocument/2006/relationships/image" Target="../media/image136.wmf"/><Relationship Id="rId7" Type="http://schemas.openxmlformats.org/officeDocument/2006/relationships/oleObject" Target="../embeddings/oleObject76.bin"/><Relationship Id="rId12" Type="http://schemas.openxmlformats.org/officeDocument/2006/relationships/image" Target="../media/image125.wmf"/><Relationship Id="rId17" Type="http://schemas.openxmlformats.org/officeDocument/2006/relationships/oleObject" Target="../embeddings/oleObject81.bin"/><Relationship Id="rId25" Type="http://schemas.openxmlformats.org/officeDocument/2006/relationships/oleObject" Target="../embeddings/oleObject85.bin"/><Relationship Id="rId33" Type="http://schemas.openxmlformats.org/officeDocument/2006/relationships/oleObject" Target="../embeddings/oleObject89.bin"/><Relationship Id="rId38" Type="http://schemas.openxmlformats.org/officeDocument/2006/relationships/image" Target="../media/image138.wmf"/><Relationship Id="rId2" Type="http://schemas.openxmlformats.org/officeDocument/2006/relationships/slideLayout" Target="../slideLayouts/slideLayout7.xml"/><Relationship Id="rId16" Type="http://schemas.openxmlformats.org/officeDocument/2006/relationships/image" Target="../media/image127.wmf"/><Relationship Id="rId20" Type="http://schemas.openxmlformats.org/officeDocument/2006/relationships/image" Target="../media/image129.wmf"/><Relationship Id="rId29" Type="http://schemas.openxmlformats.org/officeDocument/2006/relationships/oleObject" Target="../embeddings/oleObject87.bin"/><Relationship Id="rId1" Type="http://schemas.openxmlformats.org/officeDocument/2006/relationships/vmlDrawing" Target="../drawings/vmlDrawing8.vml"/><Relationship Id="rId6" Type="http://schemas.openxmlformats.org/officeDocument/2006/relationships/image" Target="../media/image122.wmf"/><Relationship Id="rId11" Type="http://schemas.openxmlformats.org/officeDocument/2006/relationships/oleObject" Target="../embeddings/oleObject78.bin"/><Relationship Id="rId24" Type="http://schemas.openxmlformats.org/officeDocument/2006/relationships/image" Target="../media/image131.wmf"/><Relationship Id="rId32" Type="http://schemas.openxmlformats.org/officeDocument/2006/relationships/image" Target="../media/image135.wmf"/><Relationship Id="rId37" Type="http://schemas.openxmlformats.org/officeDocument/2006/relationships/oleObject" Target="../embeddings/oleObject91.bin"/><Relationship Id="rId5" Type="http://schemas.openxmlformats.org/officeDocument/2006/relationships/oleObject" Target="../embeddings/oleObject75.bin"/><Relationship Id="rId15" Type="http://schemas.openxmlformats.org/officeDocument/2006/relationships/oleObject" Target="../embeddings/oleObject80.bin"/><Relationship Id="rId23" Type="http://schemas.openxmlformats.org/officeDocument/2006/relationships/oleObject" Target="../embeddings/oleObject84.bin"/><Relationship Id="rId28" Type="http://schemas.openxmlformats.org/officeDocument/2006/relationships/image" Target="../media/image133.wmf"/><Relationship Id="rId36" Type="http://schemas.openxmlformats.org/officeDocument/2006/relationships/image" Target="../media/image137.wmf"/><Relationship Id="rId10" Type="http://schemas.openxmlformats.org/officeDocument/2006/relationships/image" Target="../media/image124.wmf"/><Relationship Id="rId19" Type="http://schemas.openxmlformats.org/officeDocument/2006/relationships/oleObject" Target="../embeddings/oleObject82.bin"/><Relationship Id="rId31" Type="http://schemas.openxmlformats.org/officeDocument/2006/relationships/oleObject" Target="../embeddings/oleObject88.bin"/><Relationship Id="rId4" Type="http://schemas.openxmlformats.org/officeDocument/2006/relationships/image" Target="../media/image121.wmf"/><Relationship Id="rId9" Type="http://schemas.openxmlformats.org/officeDocument/2006/relationships/oleObject" Target="../embeddings/oleObject77.bin"/><Relationship Id="rId14" Type="http://schemas.openxmlformats.org/officeDocument/2006/relationships/image" Target="../media/image126.wmf"/><Relationship Id="rId22" Type="http://schemas.openxmlformats.org/officeDocument/2006/relationships/image" Target="../media/image130.wmf"/><Relationship Id="rId27" Type="http://schemas.openxmlformats.org/officeDocument/2006/relationships/oleObject" Target="../embeddings/oleObject86.bin"/><Relationship Id="rId30" Type="http://schemas.openxmlformats.org/officeDocument/2006/relationships/image" Target="../media/image134.wmf"/><Relationship Id="rId35" Type="http://schemas.openxmlformats.org/officeDocument/2006/relationships/oleObject" Target="../embeddings/oleObject90.bin"/><Relationship Id="rId8" Type="http://schemas.openxmlformats.org/officeDocument/2006/relationships/image" Target="../media/image123.wmf"/><Relationship Id="rId3" Type="http://schemas.openxmlformats.org/officeDocument/2006/relationships/oleObject" Target="../embeddings/oleObject74.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30.png"/><Relationship Id="rId2" Type="http://schemas.openxmlformats.org/officeDocument/2006/relationships/image" Target="../media/image1420.png"/><Relationship Id="rId1" Type="http://schemas.openxmlformats.org/officeDocument/2006/relationships/slideLayout" Target="../slideLayouts/slideLayout2.xml"/><Relationship Id="rId4" Type="http://schemas.openxmlformats.org/officeDocument/2006/relationships/image" Target="../media/image1440.png"/></Relationships>
</file>

<file path=ppt/slides/_rels/slide4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2.xml"/><Relationship Id="rId4" Type="http://schemas.openxmlformats.org/officeDocument/2006/relationships/image" Target="../media/image176.png"/></Relationships>
</file>

<file path=ppt/slides/_rels/slide44.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79.png"/></Relationships>
</file>

<file path=ppt/slides/_rels/slide4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 Id="rId5" Type="http://schemas.openxmlformats.org/officeDocument/2006/relationships/image" Target="../media/image184.png"/><Relationship Id="rId4" Type="http://schemas.openxmlformats.org/officeDocument/2006/relationships/image" Target="../media/image183.png"/></Relationships>
</file>

<file path=ppt/slides/_rels/slide46.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85.png"/><Relationship Id="rId1" Type="http://schemas.openxmlformats.org/officeDocument/2006/relationships/slideLayout" Target="../slideLayouts/slideLayout2.xml"/><Relationship Id="rId4" Type="http://schemas.openxmlformats.org/officeDocument/2006/relationships/image" Target="../media/image187.png"/></Relationships>
</file>

<file path=ppt/slides/_rels/slide47.xml.rels><?xml version="1.0" encoding="UTF-8" standalone="yes"?>
<Relationships xmlns="http://schemas.openxmlformats.org/package/2006/relationships"><Relationship Id="rId3" Type="http://schemas.openxmlformats.org/officeDocument/2006/relationships/image" Target="../media/image189.png"/><Relationship Id="rId7" Type="http://schemas.openxmlformats.org/officeDocument/2006/relationships/image" Target="../media/image193.png"/><Relationship Id="rId2" Type="http://schemas.openxmlformats.org/officeDocument/2006/relationships/image" Target="../media/image188.png"/><Relationship Id="rId1" Type="http://schemas.openxmlformats.org/officeDocument/2006/relationships/slideLayout" Target="../slideLayouts/slideLayout7.xml"/><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7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F6EB9E0A-F610-4351-BA74-6F67D7F67A80}"/>
              </a:ext>
            </a:extLst>
          </p:cNvPr>
          <p:cNvSpPr>
            <a:spLocks noGrp="1"/>
          </p:cNvSpPr>
          <p:nvPr>
            <p:ph type="ctrTitle"/>
          </p:nvPr>
        </p:nvSpPr>
        <p:spPr/>
        <p:txBody>
          <a:bodyPr/>
          <a:lstStyle/>
          <a:p>
            <a:r>
              <a:rPr lang="zh-CN" altLang="en-US" dirty="0"/>
              <a:t>第五章   离散时间傅里叶变换</a:t>
            </a:r>
          </a:p>
        </p:txBody>
      </p:sp>
      <p:sp>
        <p:nvSpPr>
          <p:cNvPr id="3" name="副标题 2">
            <a:extLst>
              <a:ext uri="{FF2B5EF4-FFF2-40B4-BE49-F238E27FC236}">
                <a16:creationId xmlns:a16="http://schemas.microsoft.com/office/drawing/2014/main" id="{A75EDCA8-7D1A-42E0-8502-C0975CD18739}"/>
              </a:ext>
            </a:extLst>
          </p:cNvPr>
          <p:cNvSpPr>
            <a:spLocks noGrp="1"/>
          </p:cNvSpPr>
          <p:nvPr>
            <p:ph type="subTitle" idx="1"/>
          </p:nvPr>
        </p:nvSpPr>
        <p:spPr>
          <a:xfrm>
            <a:off x="914400" y="3717032"/>
            <a:ext cx="7315200" cy="1470025"/>
          </a:xfrm>
        </p:spPr>
        <p:txBody>
          <a:bodyPr anchor="ctr"/>
          <a:lstStyle/>
          <a:p>
            <a:pPr>
              <a:defRPr/>
            </a:pPr>
            <a:r>
              <a:rPr lang="en-US" altLang="zh-CN" dirty="0"/>
              <a:t>The Discrete-Time Fourier Transform</a:t>
            </a:r>
            <a:endParaRPr lang="zh-CN" altLang="en-US" dirty="0"/>
          </a:p>
        </p:txBody>
      </p:sp>
      <p:sp>
        <p:nvSpPr>
          <p:cNvPr id="4" name="灯片编号占位符 3">
            <a:extLst>
              <a:ext uri="{FF2B5EF4-FFF2-40B4-BE49-F238E27FC236}">
                <a16:creationId xmlns:a16="http://schemas.microsoft.com/office/drawing/2014/main" id="{7978B9A0-2B80-4CCC-A8C1-8F44866CF59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F2319FD-F603-42DF-BCC6-D12260EFB0A4}" type="slidenum">
              <a:rPr lang="zh-CN" altLang="en-US">
                <a:solidFill>
                  <a:srgbClr val="898989"/>
                </a:solidFill>
                <a:latin typeface="Calibri" panose="020F0502020204030204" pitchFamily="34" charset="0"/>
              </a:rPr>
              <a:pPr eaLnBrk="1" hangingPunct="1"/>
              <a:t>1</a:t>
            </a:fld>
            <a:endParaRPr lang="zh-CN" altLang="en-US">
              <a:solidFill>
                <a:srgbClr val="898989"/>
              </a:solidFill>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C3507ACA-0176-4588-8046-022D7B323F82}"/>
              </a:ext>
            </a:extLst>
          </p:cNvPr>
          <p:cNvSpPr>
            <a:spLocks noGrp="1"/>
          </p:cNvSpPr>
          <p:nvPr>
            <p:ph type="title"/>
          </p:nvPr>
        </p:nvSpPr>
        <p:spPr/>
        <p:txBody>
          <a:bodyPr/>
          <a:lstStyle/>
          <a:p>
            <a:r>
              <a:rPr lang="en-US" altLang="zh-CN" dirty="0"/>
              <a:t>5.0  </a:t>
            </a:r>
            <a:r>
              <a:rPr lang="zh-CN" altLang="en-US" dirty="0"/>
              <a:t>引言</a:t>
            </a:r>
          </a:p>
        </p:txBody>
      </p:sp>
      <p:sp>
        <p:nvSpPr>
          <p:cNvPr id="3" name="内容占位符 2">
            <a:extLst>
              <a:ext uri="{FF2B5EF4-FFF2-40B4-BE49-F238E27FC236}">
                <a16:creationId xmlns:a16="http://schemas.microsoft.com/office/drawing/2014/main" id="{0B52A7CB-0D3E-403F-8C7C-072B7217D9C5}"/>
              </a:ext>
            </a:extLst>
          </p:cNvPr>
          <p:cNvSpPr>
            <a:spLocks noGrp="1"/>
          </p:cNvSpPr>
          <p:nvPr>
            <p:ph idx="1"/>
          </p:nvPr>
        </p:nvSpPr>
        <p:spPr/>
        <p:txBody>
          <a:bodyPr/>
          <a:lstStyle/>
          <a:p>
            <a:pPr>
              <a:lnSpc>
                <a:spcPct val="150000"/>
              </a:lnSpc>
              <a:spcBef>
                <a:spcPts val="0"/>
              </a:spcBef>
            </a:pPr>
            <a:r>
              <a:rPr lang="zh-CN" altLang="en-US" sz="2800" b="0" dirty="0"/>
              <a:t>在计算机技术领域，离散时间信号与系统具有重要应用。本章研究</a:t>
            </a:r>
            <a:r>
              <a:rPr lang="zh-CN" altLang="en-US" sz="2800" b="0" dirty="0">
                <a:solidFill>
                  <a:srgbClr val="FF0000"/>
                </a:solidFill>
              </a:rPr>
              <a:t>离散时间非周期信号的频域分解</a:t>
            </a:r>
            <a:r>
              <a:rPr lang="zh-CN" altLang="en-US" sz="2800" b="0" dirty="0"/>
              <a:t>问题，讨论思路与第四章相似。</a:t>
            </a:r>
            <a:endParaRPr lang="en-US" altLang="zh-CN" sz="2800" b="0" dirty="0"/>
          </a:p>
          <a:p>
            <a:pPr>
              <a:lnSpc>
                <a:spcPct val="150000"/>
              </a:lnSpc>
              <a:spcBef>
                <a:spcPts val="0"/>
              </a:spcBef>
            </a:pPr>
            <a:r>
              <a:rPr lang="zh-CN" altLang="en-US" sz="2800" b="0" dirty="0"/>
              <a:t>通过对离散时间非周期信号进行</a:t>
            </a:r>
            <a:r>
              <a:rPr lang="zh-CN" altLang="en-US" sz="2800" b="0" dirty="0">
                <a:solidFill>
                  <a:srgbClr val="FF0000"/>
                </a:solidFill>
              </a:rPr>
              <a:t>周期性延拓</a:t>
            </a:r>
            <a:r>
              <a:rPr lang="zh-CN" altLang="en-US" sz="2800" b="0" dirty="0"/>
              <a:t>，并考查离散时间傅里叶级数在</a:t>
            </a:r>
            <a:r>
              <a:rPr lang="zh-CN" altLang="en-US" sz="2800" b="0" dirty="0">
                <a:solidFill>
                  <a:srgbClr val="FF0000"/>
                </a:solidFill>
              </a:rPr>
              <a:t>基波周期趋于无穷大</a:t>
            </a:r>
            <a:r>
              <a:rPr lang="zh-CN" altLang="en-US" sz="2800" b="0" dirty="0"/>
              <a:t>时的变化，就能够得到离散时间非周期信号的频域表示方法。</a:t>
            </a:r>
          </a:p>
        </p:txBody>
      </p:sp>
      <p:sp>
        <p:nvSpPr>
          <p:cNvPr id="4" name="灯片编号占位符 3">
            <a:extLst>
              <a:ext uri="{FF2B5EF4-FFF2-40B4-BE49-F238E27FC236}">
                <a16:creationId xmlns:a16="http://schemas.microsoft.com/office/drawing/2014/main" id="{7369A957-F4A2-4484-8AB0-C4F32BF093E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0DDC343-DE12-43F6-8A64-BC223667449D}" type="slidenum">
              <a:rPr lang="zh-CN" altLang="en-US">
                <a:solidFill>
                  <a:srgbClr val="898989"/>
                </a:solidFill>
                <a:latin typeface="Calibri" panose="020F0502020204030204" pitchFamily="34" charset="0"/>
              </a:rPr>
              <a:pPr eaLnBrk="1" hangingPunct="1"/>
              <a:t>2</a:t>
            </a:fld>
            <a:endParaRPr lang="zh-CN" altLang="en-US">
              <a:solidFill>
                <a:srgbClr val="898989"/>
              </a:solidFill>
              <a:latin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内容占位符 2">
            <a:extLst>
              <a:ext uri="{FF2B5EF4-FFF2-40B4-BE49-F238E27FC236}">
                <a16:creationId xmlns:a16="http://schemas.microsoft.com/office/drawing/2014/main" id="{8699AC9F-58E1-44AE-8B80-A15BD1F6E93A}"/>
              </a:ext>
            </a:extLst>
          </p:cNvPr>
          <p:cNvSpPr>
            <a:spLocks noGrp="1"/>
          </p:cNvSpPr>
          <p:nvPr>
            <p:ph idx="1"/>
          </p:nvPr>
        </p:nvSpPr>
        <p:spPr>
          <a:xfrm>
            <a:off x="457200" y="1393612"/>
            <a:ext cx="8229600" cy="523220"/>
          </a:xfrm>
        </p:spPr>
        <p:txBody>
          <a:bodyPr>
            <a:spAutoFit/>
          </a:bodyPr>
          <a:lstStyle/>
          <a:p>
            <a:pPr marL="0" indent="0">
              <a:spcBef>
                <a:spcPts val="0"/>
              </a:spcBef>
              <a:buNone/>
            </a:pPr>
            <a:r>
              <a:rPr lang="zh-CN" altLang="en-US" sz="2800" b="0" dirty="0">
                <a:solidFill>
                  <a:srgbClr val="0000FF"/>
                </a:solidFill>
              </a:rPr>
              <a:t>一</a:t>
            </a:r>
            <a:r>
              <a:rPr lang="en-US" altLang="zh-CN" sz="2800" b="0" dirty="0">
                <a:solidFill>
                  <a:srgbClr val="0000FF"/>
                </a:solidFill>
              </a:rPr>
              <a:t>. </a:t>
            </a:r>
            <a:r>
              <a:rPr lang="zh-CN" altLang="en-US" sz="2800" b="0" dirty="0">
                <a:solidFill>
                  <a:srgbClr val="0000FF"/>
                </a:solidFill>
              </a:rPr>
              <a:t>从离散时间傅里叶级数到傅里叶变换</a:t>
            </a:r>
            <a:endParaRPr lang="zh-CN" altLang="en-US" b="0" dirty="0"/>
          </a:p>
        </p:txBody>
      </p:sp>
      <p:sp>
        <p:nvSpPr>
          <p:cNvPr id="4" name="灯片编号占位符 3">
            <a:extLst>
              <a:ext uri="{FF2B5EF4-FFF2-40B4-BE49-F238E27FC236}">
                <a16:creationId xmlns:a16="http://schemas.microsoft.com/office/drawing/2014/main" id="{AB300914-A97C-40FD-B92B-82D509E3F76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8B2D0F-C95D-4A88-92C0-D7741DA73726}" type="slidenum">
              <a:rPr lang="zh-CN" altLang="en-US">
                <a:solidFill>
                  <a:srgbClr val="898989"/>
                </a:solidFill>
                <a:latin typeface="Calibri" panose="020F0502020204030204" pitchFamily="34" charset="0"/>
              </a:rPr>
              <a:pPr eaLnBrk="1" hangingPunct="1"/>
              <a:t>3</a:t>
            </a:fld>
            <a:endParaRPr lang="zh-CN" altLang="en-US">
              <a:solidFill>
                <a:srgbClr val="898989"/>
              </a:solidFill>
              <a:latin typeface="Calibri" panose="020F0502020204030204" pitchFamily="34" charset="0"/>
            </a:endParaRPr>
          </a:p>
        </p:txBody>
      </p:sp>
      <p:sp>
        <p:nvSpPr>
          <p:cNvPr id="16" name="标题 1">
            <a:extLst>
              <a:ext uri="{FF2B5EF4-FFF2-40B4-BE49-F238E27FC236}">
                <a16:creationId xmlns:a16="http://schemas.microsoft.com/office/drawing/2014/main" id="{CDB72067-9C16-4460-A043-DD0BD72E4319}"/>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mc:AlternateContent xmlns:mc="http://schemas.openxmlformats.org/markup-compatibility/2006" xmlns:a14="http://schemas.microsoft.com/office/drawing/2010/main">
        <mc:Choice Requires="a14">
          <p:sp>
            <p:nvSpPr>
              <p:cNvPr id="19" name="TextBox 12">
                <a:extLst>
                  <a:ext uri="{FF2B5EF4-FFF2-40B4-BE49-F238E27FC236}">
                    <a16:creationId xmlns:a16="http://schemas.microsoft.com/office/drawing/2014/main" id="{7F122762-F53C-4C2B-80FE-68D207911F06}"/>
                  </a:ext>
                </a:extLst>
              </p:cNvPr>
              <p:cNvSpPr txBox="1">
                <a:spLocks noChangeArrowheads="1"/>
              </p:cNvSpPr>
              <p:nvPr/>
            </p:nvSpPr>
            <p:spPr bwMode="auto">
              <a:xfrm>
                <a:off x="1259632" y="2348880"/>
                <a:ext cx="6840760" cy="26125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14:m>
                  <m:oMath xmlns:m="http://schemas.openxmlformats.org/officeDocument/2006/math">
                    <m:r>
                      <a:rPr lang="en-US" sz="2800" b="0" i="1" smtClean="0">
                        <a:solidFill>
                          <a:srgbClr val="0000FF"/>
                        </a:solidFill>
                        <a:latin typeface="Cambria Math" panose="02040503050406030204" pitchFamily="18" charset="0"/>
                      </a:rPr>
                      <m:t>𝑥</m:t>
                    </m:r>
                    <m:r>
                      <a:rPr lang="en-US" sz="2800" b="0" i="1" smtClean="0">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𝑛</m:t>
                    </m:r>
                    <m:r>
                      <a:rPr lang="en-US" sz="2800" b="0" i="1" smtClean="0">
                        <a:solidFill>
                          <a:srgbClr val="0000FF"/>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rPr>
                  <a:t>：具有有限持续期的非周期信号。</a:t>
                </a:r>
                <a:endParaRPr lang="en-US" altLang="zh-CN" sz="2800" dirty="0">
                  <a:latin typeface="Times New Roman" panose="02020603050405020304" pitchFamily="18" charset="0"/>
                  <a:ea typeface="华文楷体" panose="02010600040101010101" pitchFamily="2" charset="-122"/>
                </a:endParaRPr>
              </a:p>
              <a:p>
                <a:pPr algn="just" eaLnBrk="1" hangingPunct="1">
                  <a:lnSpc>
                    <a:spcPct val="150000"/>
                  </a:lnSpc>
                </a:pPr>
                <a14:m>
                  <m:oMath xmlns:m="http://schemas.openxmlformats.org/officeDocument/2006/math">
                    <m:acc>
                      <m:accPr>
                        <m:chr m:val="̃"/>
                        <m:ctrlPr>
                          <a:rPr lang="en-US" sz="2800" i="1" smtClean="0">
                            <a:solidFill>
                              <a:srgbClr val="0000FF"/>
                            </a:solidFill>
                            <a:latin typeface="Cambria Math" panose="02040503050406030204" pitchFamily="18" charset="0"/>
                          </a:rPr>
                        </m:ctrlPr>
                      </m:accPr>
                      <m:e>
                        <m:r>
                          <a:rPr lang="en-US" sz="2800" i="1">
                            <a:solidFill>
                              <a:srgbClr val="0000FF"/>
                            </a:solidFill>
                            <a:latin typeface="Cambria Math" panose="02040503050406030204" pitchFamily="18" charset="0"/>
                          </a:rPr>
                          <m:t>𝑥</m:t>
                        </m:r>
                      </m:e>
                    </m:acc>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rPr>
                  <a:t>：</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rPr>
                  <a:t>的周期延拓，以</a:t>
                </a:r>
                <a:r>
                  <a:rPr lang="en-US" altLang="zh-CN" sz="2800" i="1" dirty="0">
                    <a:latin typeface="Times New Roman" panose="02020603050405020304" pitchFamily="18" charset="0"/>
                    <a:ea typeface="华文楷体" panose="02010600040101010101" pitchFamily="2" charset="-122"/>
                  </a:rPr>
                  <a:t>N</a:t>
                </a:r>
                <a:r>
                  <a:rPr lang="zh-CN" altLang="en-US" sz="2800" dirty="0">
                    <a:latin typeface="Times New Roman" panose="02020603050405020304" pitchFamily="18" charset="0"/>
                    <a:ea typeface="华文楷体" panose="02010600040101010101" pitchFamily="2" charset="-122"/>
                  </a:rPr>
                  <a:t>为周期，</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rPr>
                  <a:t>是</a:t>
                </a:r>
                <a14:m>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𝑥</m:t>
                        </m:r>
                      </m:e>
                    </m:acc>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rPr>
                  <a:t>的一个周期。</a:t>
                </a:r>
                <a:endParaRPr lang="en-US" altLang="zh-CN" sz="2800" dirty="0">
                  <a:latin typeface="Times New Roman" panose="02020603050405020304" pitchFamily="18" charset="0"/>
                  <a:ea typeface="华文楷体" panose="02010600040101010101" pitchFamily="2" charset="-122"/>
                </a:endParaRPr>
              </a:p>
              <a:p>
                <a:pPr algn="just" eaLnBrk="1" hangingPunct="1">
                  <a:lnSpc>
                    <a:spcPct val="150000"/>
                  </a:lnSpc>
                </a:pPr>
                <a:r>
                  <a:rPr lang="zh-CN" altLang="en-US" sz="2800" dirty="0">
                    <a:solidFill>
                      <a:srgbClr val="0000FF"/>
                    </a:solidFill>
                    <a:latin typeface="Times New Roman" panose="02020603050405020304" pitchFamily="18" charset="0"/>
                    <a:ea typeface="华文楷体" panose="02010600040101010101" pitchFamily="2" charset="-122"/>
                  </a:rPr>
                  <a:t>当</a:t>
                </a:r>
                <a14:m>
                  <m:oMath xmlns:m="http://schemas.openxmlformats.org/officeDocument/2006/math">
                    <m:r>
                      <a:rPr lang="en-US" sz="2800" b="0" i="1" smtClean="0">
                        <a:solidFill>
                          <a:srgbClr val="0000FF"/>
                        </a:solidFill>
                        <a:latin typeface="Cambria Math" panose="02040503050406030204" pitchFamily="18" charset="0"/>
                      </a:rPr>
                      <m:t>𝑁</m:t>
                    </m:r>
                    <m:r>
                      <a:rPr lang="en-US" sz="2800" i="1" smtClean="0">
                        <a:solidFill>
                          <a:srgbClr val="0000FF"/>
                        </a:solidFill>
                        <a:latin typeface="Cambria Math" panose="02040503050406030204" pitchFamily="18" charset="0"/>
                      </a:rPr>
                      <m:t>→∞</m:t>
                    </m:r>
                  </m:oMath>
                </a14:m>
                <a:r>
                  <a:rPr lang="zh-CN" altLang="en-US" sz="2800" dirty="0">
                    <a:solidFill>
                      <a:srgbClr val="0000FF"/>
                    </a:solidFill>
                    <a:latin typeface="Times New Roman" panose="02020603050405020304" pitchFamily="18" charset="0"/>
                    <a:ea typeface="华文楷体" panose="02010600040101010101" pitchFamily="2" charset="-122"/>
                  </a:rPr>
                  <a:t>时，在</a:t>
                </a:r>
                <a:r>
                  <a:rPr lang="en-US" altLang="zh-CN" sz="2800" dirty="0">
                    <a:solidFill>
                      <a:srgbClr val="0000FF"/>
                    </a:solidFill>
                    <a:latin typeface="Times New Roman" panose="02020603050405020304" pitchFamily="18" charset="0"/>
                    <a:ea typeface="华文楷体" panose="02010600040101010101" pitchFamily="2" charset="-122"/>
                  </a:rPr>
                  <a:t>(- ∞, ∞)</a:t>
                </a:r>
                <a:r>
                  <a:rPr lang="zh-CN" altLang="en-US" sz="2800" dirty="0">
                    <a:solidFill>
                      <a:srgbClr val="0000FF"/>
                    </a:solidFill>
                    <a:latin typeface="Times New Roman" panose="02020603050405020304" pitchFamily="18" charset="0"/>
                    <a:ea typeface="华文楷体" panose="02010600040101010101" pitchFamily="2" charset="-122"/>
                  </a:rPr>
                  <a:t>内</a:t>
                </a:r>
                <a14:m>
                  <m:oMath xmlns:m="http://schemas.openxmlformats.org/officeDocument/2006/math">
                    <m:acc>
                      <m:accPr>
                        <m:chr m:val="̃"/>
                        <m:ctrlPr>
                          <a:rPr lang="en-US" sz="2800" i="1">
                            <a:solidFill>
                              <a:srgbClr val="0000FF"/>
                            </a:solidFill>
                            <a:latin typeface="Cambria Math" panose="02040503050406030204" pitchFamily="18" charset="0"/>
                          </a:rPr>
                        </m:ctrlPr>
                      </m:accPr>
                      <m:e>
                        <m:r>
                          <a:rPr lang="en-US" sz="2800" i="1">
                            <a:solidFill>
                              <a:srgbClr val="0000FF"/>
                            </a:solidFill>
                            <a:latin typeface="Cambria Math" panose="02040503050406030204" pitchFamily="18" charset="0"/>
                          </a:rPr>
                          <m:t>𝑥</m:t>
                        </m:r>
                      </m:e>
                    </m:acc>
                    <m:r>
                      <a:rPr lang="en-US" sz="2800" b="0" i="1" smtClean="0">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𝑛</m:t>
                    </m:r>
                    <m:r>
                      <a:rPr lang="en-US" sz="2800" b="0" i="1" smtClean="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𝑥</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rPr>
                  <a:t>。</a:t>
                </a:r>
              </a:p>
            </p:txBody>
          </p:sp>
        </mc:Choice>
        <mc:Fallback xmlns="">
          <p:sp>
            <p:nvSpPr>
              <p:cNvPr id="19" name="TextBox 12">
                <a:extLst>
                  <a:ext uri="{FF2B5EF4-FFF2-40B4-BE49-F238E27FC236}">
                    <a16:creationId xmlns:a16="http://schemas.microsoft.com/office/drawing/2014/main" id="{7F122762-F53C-4C2B-80FE-68D207911F06}"/>
                  </a:ext>
                </a:extLst>
              </p:cNvPr>
              <p:cNvSpPr txBox="1">
                <a:spLocks noRot="1" noChangeAspect="1" noMove="1" noResize="1" noEditPoints="1" noAdjustHandles="1" noChangeArrowheads="1" noChangeShapeType="1" noTextEdit="1"/>
              </p:cNvSpPr>
              <p:nvPr/>
            </p:nvSpPr>
            <p:spPr bwMode="auto">
              <a:xfrm>
                <a:off x="1259632" y="2348880"/>
                <a:ext cx="6840760" cy="2612510"/>
              </a:xfrm>
              <a:prstGeom prst="rect">
                <a:avLst/>
              </a:prstGeom>
              <a:blipFill>
                <a:blip r:embed="rId2"/>
                <a:stretch>
                  <a:fillRect l="-1872" b="-55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31" name="内容占位符 2">
                <a:extLst>
                  <a:ext uri="{FF2B5EF4-FFF2-40B4-BE49-F238E27FC236}">
                    <a16:creationId xmlns:a16="http://schemas.microsoft.com/office/drawing/2014/main" id="{5DC6A1F7-FC04-422F-8111-F2E40CE2D90D}"/>
                  </a:ext>
                </a:extLst>
              </p:cNvPr>
              <p:cNvSpPr>
                <a:spLocks noGrp="1"/>
              </p:cNvSpPr>
              <p:nvPr>
                <p:ph idx="1"/>
              </p:nvPr>
            </p:nvSpPr>
            <p:spPr>
              <a:xfrm>
                <a:off x="457200" y="1196752"/>
                <a:ext cx="8229600" cy="4840288"/>
              </a:xfrm>
            </p:spPr>
            <p:txBody>
              <a:bodyPr/>
              <a:lstStyle/>
              <a:p>
                <a:pPr lvl="1"/>
                <a:r>
                  <a:rPr lang="zh-CN" altLang="en-US" sz="2400" b="0" dirty="0"/>
                  <a:t>通过</a:t>
                </a:r>
                <a14:m>
                  <m:oMath xmlns:m="http://schemas.openxmlformats.org/officeDocument/2006/math">
                    <m:acc>
                      <m:accPr>
                        <m:chr m:val="̃"/>
                        <m:ctrlPr>
                          <a:rPr lang="en-US" sz="2400" i="1" smtClean="0">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𝑥</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a14:m>
                <a:r>
                  <a:rPr lang="zh-CN" altLang="en-US" sz="2400" b="0" dirty="0"/>
                  <a:t>的傅里叶级数在</a:t>
                </a:r>
                <a14:m>
                  <m:oMath xmlns:m="http://schemas.openxmlformats.org/officeDocument/2006/math">
                    <m:r>
                      <a:rPr lang="en-US" sz="2400" b="0" i="1" smtClean="0">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m:t>
                    </m:r>
                  </m:oMath>
                </a14:m>
                <a:r>
                  <a:rPr lang="zh-CN" altLang="en-US" sz="2400" b="0" dirty="0"/>
                  <a:t>时的极限情况推导</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a14:m>
                <a:r>
                  <a:rPr lang="zh-CN" altLang="en-US" sz="2400" b="0" dirty="0"/>
                  <a:t>的频谱表示：</a:t>
                </a:r>
              </a:p>
            </p:txBody>
          </p:sp>
        </mc:Choice>
        <mc:Fallback xmlns="">
          <p:sp>
            <p:nvSpPr>
              <p:cNvPr id="5131" name="内容占位符 2">
                <a:extLst>
                  <a:ext uri="{FF2B5EF4-FFF2-40B4-BE49-F238E27FC236}">
                    <a16:creationId xmlns:a16="http://schemas.microsoft.com/office/drawing/2014/main" id="{5DC6A1F7-FC04-422F-8111-F2E40CE2D90D}"/>
                  </a:ext>
                </a:extLst>
              </p:cNvPr>
              <p:cNvSpPr>
                <a:spLocks noGrp="1" noRot="1" noChangeAspect="1" noMove="1" noResize="1" noEditPoints="1" noAdjustHandles="1" noChangeArrowheads="1" noChangeShapeType="1" noTextEdit="1"/>
              </p:cNvSpPr>
              <p:nvPr>
                <p:ph idx="1"/>
              </p:nvPr>
            </p:nvSpPr>
            <p:spPr>
              <a:xfrm>
                <a:off x="457200" y="1196752"/>
                <a:ext cx="8229600" cy="4840288"/>
              </a:xfrm>
              <a:blipFill>
                <a:blip r:embed="rId2"/>
                <a:stretch>
                  <a:fillRect t="-100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BD244EB9-DE11-49FB-9784-5F323CE492F7}"/>
              </a:ext>
            </a:extLst>
          </p:cNvPr>
          <p:cNvSpPr>
            <a:spLocks noGrp="1"/>
          </p:cNvSpPr>
          <p:nvPr>
            <p:ph type="sldNum" sz="quarter" idx="12"/>
          </p:nvPr>
        </p:nvSpPr>
        <p:spPr>
          <a:xfrm>
            <a:off x="6553200" y="6400799"/>
            <a:ext cx="2133600" cy="365125"/>
          </a:xfrm>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E41ABE3-9DC6-46AC-843D-F8F8A864DD92}" type="slidenum">
              <a:rPr lang="zh-CN" altLang="en-US">
                <a:solidFill>
                  <a:srgbClr val="898989"/>
                </a:solidFill>
                <a:latin typeface="Calibri" panose="020F0502020204030204" pitchFamily="34" charset="0"/>
              </a:rPr>
              <a:pPr eaLnBrk="1" hangingPunct="1"/>
              <a:t>4</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5124" name="Object 5">
                <a:extLst>
                  <a:ext uri="{FF2B5EF4-FFF2-40B4-BE49-F238E27FC236}">
                    <a16:creationId xmlns:a16="http://schemas.microsoft.com/office/drawing/2014/main" id="{F2150EA7-6ABA-43E6-95E5-7B695884AF5D}"/>
                  </a:ext>
                </a:extLst>
              </p:cNvPr>
              <p:cNvSpPr txBox="1"/>
              <p:nvPr/>
            </p:nvSpPr>
            <p:spPr bwMode="auto">
              <a:xfrm>
                <a:off x="1148117" y="2095506"/>
                <a:ext cx="5074121" cy="481157"/>
              </a:xfrm>
              <a:prstGeom prst="rect">
                <a:avLst/>
              </a:prstGeom>
              <a:noFill/>
              <a:ln>
                <a:noFill/>
              </a:ln>
              <a:effectLst/>
            </p:spPr>
            <p:txBody>
              <a:bodyPr wrap="square">
                <a:spAutoFit/>
              </a:bodyPr>
              <a:lstStyle/>
              <a:p>
                <a14:m>
                  <m:oMath xmlns:m="http://schemas.openxmlformats.org/officeDocument/2006/math">
                    <m:acc>
                      <m:accPr>
                        <m:chr m:val="̃"/>
                        <m:ctrlPr>
                          <a:rPr lang="en-US" sz="2400" i="1" smtClean="0">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𝑥</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nary>
                      <m:naryPr>
                        <m:chr m:val="∑"/>
                        <m:limLoc m:val="subSup"/>
                        <m:supHide m:val="on"/>
                        <m:ctrlPr>
                          <a:rPr lang="en-US" sz="2400" i="1" smtClean="0">
                            <a:solidFill>
                              <a:srgbClr val="000000"/>
                            </a:solidFill>
                            <a:latin typeface="Cambria Math" panose="02040503050406030204" pitchFamily="18" charset="0"/>
                          </a:rPr>
                        </m:ctrlPr>
                      </m:naryPr>
                      <m:sub>
                        <m:r>
                          <m:rPr>
                            <m:brk m:alnAt="7"/>
                          </m:rP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e>
                    </m:nary>
                  </m:oMath>
                </a14:m>
                <a:r>
                  <a:rPr lang="en-US" sz="2400" dirty="0"/>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b="0" i="1" smtClean="0">
                        <a:solidFill>
                          <a:srgbClr val="000000"/>
                        </a:solidFill>
                        <a:latin typeface="Cambria Math" panose="02040503050406030204" pitchFamily="18" charset="0"/>
                      </a:rPr>
                      <m:t>=2</m:t>
                    </m:r>
                    <m:r>
                      <a:rPr lang="en-US" sz="2400" b="0" i="1" smtClean="0">
                        <a:solidFill>
                          <a:srgbClr val="000000"/>
                        </a:solidFill>
                        <a:latin typeface="Cambria Math" panose="02040503050406030204" pitchFamily="18" charset="0"/>
                        <a:ea typeface="Cambria Math" panose="02040503050406030204" pitchFamily="18" charset="0"/>
                      </a:rPr>
                      <m:t>𝜋</m:t>
                    </m:r>
                    <m:r>
                      <a:rPr lang="en-US" sz="2400" b="0" i="1" smtClean="0">
                        <a:solidFill>
                          <a:srgbClr val="000000"/>
                        </a:solidFill>
                        <a:latin typeface="Cambria Math" panose="02040503050406030204" pitchFamily="18" charset="0"/>
                        <a:ea typeface="Cambria Math" panose="02040503050406030204" pitchFamily="18" charset="0"/>
                      </a:rPr>
                      <m:t>/</m:t>
                    </m:r>
                    <m:r>
                      <a:rPr lang="en-US" sz="2400" b="0" i="1" smtClean="0">
                        <a:solidFill>
                          <a:srgbClr val="000000"/>
                        </a:solidFill>
                        <a:latin typeface="Cambria Math" panose="02040503050406030204" pitchFamily="18" charset="0"/>
                        <a:ea typeface="Cambria Math" panose="02040503050406030204" pitchFamily="18" charset="0"/>
                      </a:rPr>
                      <m:t>𝑁</m:t>
                    </m:r>
                  </m:oMath>
                </a14:m>
                <a:endParaRPr lang="en-US" sz="2400" dirty="0"/>
              </a:p>
            </p:txBody>
          </p:sp>
        </mc:Choice>
        <mc:Fallback xmlns="">
          <p:sp>
            <p:nvSpPr>
              <p:cNvPr id="5124" name="Object 5">
                <a:extLst>
                  <a:ext uri="{FF2B5EF4-FFF2-40B4-BE49-F238E27FC236}">
                    <a16:creationId xmlns:a16="http://schemas.microsoft.com/office/drawing/2014/main" id="{F2150EA7-6ABA-43E6-95E5-7B695884AF5D}"/>
                  </a:ext>
                </a:extLst>
              </p:cNvPr>
              <p:cNvSpPr txBox="1">
                <a:spLocks noRot="1" noChangeAspect="1" noMove="1" noResize="1" noEditPoints="1" noAdjustHandles="1" noChangeArrowheads="1" noChangeShapeType="1" noTextEdit="1"/>
              </p:cNvSpPr>
              <p:nvPr/>
            </p:nvSpPr>
            <p:spPr bwMode="auto">
              <a:xfrm>
                <a:off x="1148117" y="2095506"/>
                <a:ext cx="5074121" cy="481157"/>
              </a:xfrm>
              <a:prstGeom prst="rect">
                <a:avLst/>
              </a:prstGeom>
              <a:blipFill>
                <a:blip r:embed="rId3"/>
                <a:stretch>
                  <a:fillRect t="-6329" b="-2784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25" name="Object 6">
                <a:extLst>
                  <a:ext uri="{FF2B5EF4-FFF2-40B4-BE49-F238E27FC236}">
                    <a16:creationId xmlns:a16="http://schemas.microsoft.com/office/drawing/2014/main" id="{92C9B9B6-D366-444A-85CD-23B1162BEE62}"/>
                  </a:ext>
                </a:extLst>
              </p:cNvPr>
              <p:cNvSpPr txBox="1"/>
              <p:nvPr/>
            </p:nvSpPr>
            <p:spPr bwMode="auto">
              <a:xfrm>
                <a:off x="1148117" y="2708921"/>
                <a:ext cx="3994001" cy="83529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𝑁</m:t>
                          </m:r>
                        </m:den>
                      </m:f>
                      <m:nary>
                        <m:naryPr>
                          <m:chr m:val="∑"/>
                          <m:limLoc m:val="subSup"/>
                          <m:supHide m:val="on"/>
                          <m:ctrlPr>
                            <a:rPr lang="en-US" sz="2400" i="1">
                              <a:solidFill>
                                <a:srgbClr val="000000"/>
                              </a:solidFill>
                              <a:latin typeface="Cambria Math" panose="02040503050406030204" pitchFamily="18" charset="0"/>
                            </a:rPr>
                          </m:ctrlPr>
                        </m:naryPr>
                        <m:sub>
                          <m:r>
                            <a:rPr lang="en-US" sz="2400" b="0" i="1" smtClean="0">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𝑥</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b="0" i="0" smtClean="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5125" name="Object 6">
                <a:extLst>
                  <a:ext uri="{FF2B5EF4-FFF2-40B4-BE49-F238E27FC236}">
                    <a16:creationId xmlns:a16="http://schemas.microsoft.com/office/drawing/2014/main" id="{92C9B9B6-D366-444A-85CD-23B1162BEE62}"/>
                  </a:ext>
                </a:extLst>
              </p:cNvPr>
              <p:cNvSpPr txBox="1">
                <a:spLocks noRot="1" noChangeAspect="1" noMove="1" noResize="1" noEditPoints="1" noAdjustHandles="1" noChangeArrowheads="1" noChangeShapeType="1" noTextEdit="1"/>
              </p:cNvSpPr>
              <p:nvPr/>
            </p:nvSpPr>
            <p:spPr bwMode="auto">
              <a:xfrm>
                <a:off x="1148117" y="2708921"/>
                <a:ext cx="3994001" cy="835293"/>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735" name="Object 7">
                <a:extLst>
                  <a:ext uri="{FF2B5EF4-FFF2-40B4-BE49-F238E27FC236}">
                    <a16:creationId xmlns:a16="http://schemas.microsoft.com/office/drawing/2014/main" id="{4C42E531-9CE9-4C5C-81D4-5AB28F3D5660}"/>
                  </a:ext>
                </a:extLst>
              </p:cNvPr>
              <p:cNvSpPr txBox="1"/>
              <p:nvPr/>
            </p:nvSpPr>
            <p:spPr bwMode="auto">
              <a:xfrm>
                <a:off x="5076056" y="2708920"/>
                <a:ext cx="3482763" cy="83529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m:t>
                      </m:r>
                      <m:f>
                        <m:fPr>
                          <m:ctrlPr>
                            <a:rPr lang="en-US" sz="2400" i="1" smtClean="0">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𝑁</m:t>
                          </m:r>
                        </m:den>
                      </m:f>
                      <m:nary>
                        <m:naryPr>
                          <m:chr m:val="∑"/>
                          <m:limLoc m:val="subSup"/>
                          <m:supHide m:val="on"/>
                          <m:ctrlPr>
                            <a:rPr lang="en-US" sz="2400" i="1">
                              <a:solidFill>
                                <a:srgbClr val="000000"/>
                              </a:solidFill>
                              <a:latin typeface="Cambria Math" panose="02040503050406030204" pitchFamily="18" charset="0"/>
                            </a:rPr>
                          </m:ctrlPr>
                        </m:naryPr>
                        <m:sub>
                          <m:r>
                            <a:rPr lang="en-US" sz="2400" b="0" i="1" smtClean="0">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r>
                            <a:rPr lang="en-US" sz="2400" b="0" i="1" smtClean="0">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73735" name="Object 7">
                <a:extLst>
                  <a:ext uri="{FF2B5EF4-FFF2-40B4-BE49-F238E27FC236}">
                    <a16:creationId xmlns:a16="http://schemas.microsoft.com/office/drawing/2014/main" id="{4C42E531-9CE9-4C5C-81D4-5AB28F3D5660}"/>
                  </a:ext>
                </a:extLst>
              </p:cNvPr>
              <p:cNvSpPr txBox="1">
                <a:spLocks noRot="1" noChangeAspect="1" noMove="1" noResize="1" noEditPoints="1" noAdjustHandles="1" noChangeArrowheads="1" noChangeShapeType="1" noTextEdit="1"/>
              </p:cNvSpPr>
              <p:nvPr/>
            </p:nvSpPr>
            <p:spPr bwMode="auto">
              <a:xfrm>
                <a:off x="5076056" y="2708920"/>
                <a:ext cx="3482763" cy="835293"/>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736" name="Object 8">
                <a:extLst>
                  <a:ext uri="{FF2B5EF4-FFF2-40B4-BE49-F238E27FC236}">
                    <a16:creationId xmlns:a16="http://schemas.microsoft.com/office/drawing/2014/main" id="{FC74FEB3-17AA-4892-8A71-C517DD4ED5B9}"/>
                  </a:ext>
                </a:extLst>
              </p:cNvPr>
              <p:cNvSpPr txBox="1"/>
              <p:nvPr/>
            </p:nvSpPr>
            <p:spPr bwMode="auto">
              <a:xfrm>
                <a:off x="1568275" y="3741382"/>
                <a:ext cx="3035349" cy="10993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𝑁</m:t>
                          </m:r>
                        </m:den>
                      </m:f>
                      <m:nary>
                        <m:naryPr>
                          <m:chr m:val="∑"/>
                          <m:ctrlPr>
                            <a:rPr lang="en-US" sz="2400" i="1" smtClean="0">
                              <a:solidFill>
                                <a:srgbClr val="000000"/>
                              </a:solidFill>
                              <a:latin typeface="Cambria Math" panose="02040503050406030204" pitchFamily="18" charset="0"/>
                            </a:rPr>
                          </m:ctrlPr>
                        </m:naryPr>
                        <m:sub>
                          <m:r>
                            <m:rPr>
                              <m:brk m:alnAt="23"/>
                            </m:rP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ub>
                        <m:sup>
                          <m:r>
                            <a:rPr lang="en-US" sz="2400" i="1" smtClean="0">
                              <a:solidFill>
                                <a:srgbClr val="000000"/>
                              </a:solidFill>
                              <a:latin typeface="Cambria Math" panose="02040503050406030204" pitchFamily="18" charset="0"/>
                              <a:ea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73736" name="Object 8">
                <a:extLst>
                  <a:ext uri="{FF2B5EF4-FFF2-40B4-BE49-F238E27FC236}">
                    <a16:creationId xmlns:a16="http://schemas.microsoft.com/office/drawing/2014/main" id="{FC74FEB3-17AA-4892-8A71-C517DD4ED5B9}"/>
                  </a:ext>
                </a:extLst>
              </p:cNvPr>
              <p:cNvSpPr txBox="1">
                <a:spLocks noRot="1" noChangeAspect="1" noMove="1" noResize="1" noEditPoints="1" noAdjustHandles="1" noChangeArrowheads="1" noChangeShapeType="1" noTextEdit="1"/>
              </p:cNvSpPr>
              <p:nvPr/>
            </p:nvSpPr>
            <p:spPr bwMode="auto">
              <a:xfrm>
                <a:off x="1568275" y="3741382"/>
                <a:ext cx="3035349" cy="1099340"/>
              </a:xfrm>
              <a:prstGeom prst="rect">
                <a:avLst/>
              </a:prstGeom>
              <a:blipFill>
                <a:blip r:embed="rId6"/>
                <a:stretch>
                  <a:fillRect/>
                </a:stretch>
              </a:blipFill>
              <a:ln>
                <a:noFill/>
              </a:ln>
              <a:effectLst/>
            </p:spPr>
            <p:txBody>
              <a:bodyPr/>
              <a:lstStyle/>
              <a:p>
                <a:r>
                  <a:rPr lang="en-US">
                    <a:noFill/>
                  </a:rPr>
                  <a:t> </a:t>
                </a:r>
              </a:p>
            </p:txBody>
          </p:sp>
        </mc:Fallback>
      </mc:AlternateContent>
      <p:sp>
        <p:nvSpPr>
          <p:cNvPr id="12" name="TextBox 11">
            <a:extLst>
              <a:ext uri="{FF2B5EF4-FFF2-40B4-BE49-F238E27FC236}">
                <a16:creationId xmlns:a16="http://schemas.microsoft.com/office/drawing/2014/main" id="{69BB7B74-D50A-4D9E-89BF-7B9C479EBA3F}"/>
              </a:ext>
            </a:extLst>
          </p:cNvPr>
          <p:cNvSpPr txBox="1">
            <a:spLocks noChangeArrowheads="1"/>
          </p:cNvSpPr>
          <p:nvPr/>
        </p:nvSpPr>
        <p:spPr bwMode="auto">
          <a:xfrm>
            <a:off x="1148117" y="5022353"/>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ea typeface="华文楷体" panose="02010600040101010101" pitchFamily="2" charset="-122"/>
              </a:rPr>
              <a:t>定义：</a:t>
            </a:r>
          </a:p>
        </p:txBody>
      </p:sp>
      <mc:AlternateContent xmlns:mc="http://schemas.openxmlformats.org/markup-compatibility/2006" xmlns:a14="http://schemas.microsoft.com/office/drawing/2010/main">
        <mc:Choice Requires="a14">
          <p:sp>
            <p:nvSpPr>
              <p:cNvPr id="73737" name="Object 9">
                <a:extLst>
                  <a:ext uri="{FF2B5EF4-FFF2-40B4-BE49-F238E27FC236}">
                    <a16:creationId xmlns:a16="http://schemas.microsoft.com/office/drawing/2014/main" id="{A27B7FC5-4A98-4D53-AABF-5D47D4DC5DBF}"/>
                  </a:ext>
                </a:extLst>
              </p:cNvPr>
              <p:cNvSpPr txBox="1"/>
              <p:nvPr/>
            </p:nvSpPr>
            <p:spPr bwMode="auto">
              <a:xfrm>
                <a:off x="2224509" y="5038455"/>
                <a:ext cx="3482763" cy="1099340"/>
              </a:xfrm>
              <a:prstGeom prst="rect">
                <a:avLst/>
              </a:prstGeom>
              <a:noFill/>
              <a:ln w="25400">
                <a:solidFill>
                  <a:srgbClr val="0000FF"/>
                </a:solidFill>
                <a:miter lim="800000"/>
                <a:headEnd/>
                <a:tailEnd/>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ea typeface="Cambria Math" panose="02040503050406030204" pitchFamily="18" charset="0"/>
                            </a:rPr>
                            <m:t>𝜔</m:t>
                          </m:r>
                        </m:sup>
                      </m:sSup>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m:rPr>
                              <m:brk m:alnAt="23"/>
                            </m:rP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ea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smtClean="0">
                                  <a:solidFill>
                                    <a:srgbClr val="000000"/>
                                  </a:solidFill>
                                  <a:latin typeface="Cambria Math" panose="02040503050406030204" pitchFamily="18" charset="0"/>
                                  <a:ea typeface="Cambria Math" panose="02040503050406030204" pitchFamily="18" charset="0"/>
                                </a:rPr>
                                <m:t>𝜔</m:t>
                              </m:r>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73737" name="Object 9">
                <a:extLst>
                  <a:ext uri="{FF2B5EF4-FFF2-40B4-BE49-F238E27FC236}">
                    <a16:creationId xmlns:a16="http://schemas.microsoft.com/office/drawing/2014/main" id="{A27B7FC5-4A98-4D53-AABF-5D47D4DC5DBF}"/>
                  </a:ext>
                </a:extLst>
              </p:cNvPr>
              <p:cNvSpPr txBox="1">
                <a:spLocks noRot="1" noChangeAspect="1" noMove="1" noResize="1" noEditPoints="1" noAdjustHandles="1" noChangeArrowheads="1" noChangeShapeType="1" noTextEdit="1"/>
              </p:cNvSpPr>
              <p:nvPr/>
            </p:nvSpPr>
            <p:spPr bwMode="auto">
              <a:xfrm>
                <a:off x="2224509" y="5038455"/>
                <a:ext cx="3482763" cy="1099340"/>
              </a:xfrm>
              <a:prstGeom prst="rect">
                <a:avLst/>
              </a:prstGeom>
              <a:blipFill>
                <a:blip r:embed="rId7"/>
                <a:stretch>
                  <a:fillRect/>
                </a:stretch>
              </a:blipFill>
              <a:ln w="25400">
                <a:solidFill>
                  <a:srgbClr val="0000FF"/>
                </a:solid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738" name="Object 10">
                <a:extLst>
                  <a:ext uri="{FF2B5EF4-FFF2-40B4-BE49-F238E27FC236}">
                    <a16:creationId xmlns:a16="http://schemas.microsoft.com/office/drawing/2014/main" id="{3D2F2C68-7805-472C-BDC2-39598D951C33}"/>
                  </a:ext>
                </a:extLst>
              </p:cNvPr>
              <p:cNvSpPr txBox="1"/>
              <p:nvPr/>
            </p:nvSpPr>
            <p:spPr bwMode="auto">
              <a:xfrm>
                <a:off x="5728915" y="5196223"/>
                <a:ext cx="2731517" cy="78380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𝑁</m:t>
                          </m:r>
                        </m:den>
                      </m:f>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sup>
                      </m:sSup>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73738" name="Object 10">
                <a:extLst>
                  <a:ext uri="{FF2B5EF4-FFF2-40B4-BE49-F238E27FC236}">
                    <a16:creationId xmlns:a16="http://schemas.microsoft.com/office/drawing/2014/main" id="{3D2F2C68-7805-472C-BDC2-39598D951C33}"/>
                  </a:ext>
                </a:extLst>
              </p:cNvPr>
              <p:cNvSpPr txBox="1">
                <a:spLocks noRot="1" noChangeAspect="1" noMove="1" noResize="1" noEditPoints="1" noAdjustHandles="1" noChangeArrowheads="1" noChangeShapeType="1" noTextEdit="1"/>
              </p:cNvSpPr>
              <p:nvPr/>
            </p:nvSpPr>
            <p:spPr bwMode="auto">
              <a:xfrm>
                <a:off x="5728915" y="5196223"/>
                <a:ext cx="2731517" cy="783804"/>
              </a:xfrm>
              <a:prstGeom prst="rect">
                <a:avLst/>
              </a:prstGeom>
              <a:blipFill>
                <a:blip r:embed="rId8"/>
                <a:stretch>
                  <a:fillRect/>
                </a:stretch>
              </a:blipFill>
              <a:ln>
                <a:noFill/>
              </a:ln>
              <a:effectLst/>
            </p:spPr>
            <p:txBody>
              <a:bodyPr/>
              <a:lstStyle/>
              <a:p>
                <a:r>
                  <a:rPr lang="en-US">
                    <a:noFill/>
                  </a:rPr>
                  <a:t> </a:t>
                </a:r>
              </a:p>
            </p:txBody>
          </p:sp>
        </mc:Fallback>
      </mc:AlternateContent>
      <p:sp>
        <p:nvSpPr>
          <p:cNvPr id="15" name="标题 1">
            <a:extLst>
              <a:ext uri="{FF2B5EF4-FFF2-40B4-BE49-F238E27FC236}">
                <a16:creationId xmlns:a16="http://schemas.microsoft.com/office/drawing/2014/main" id="{5154BB8D-6F0D-4F38-94F2-2E9DD46D8423}"/>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mc:AlternateContent xmlns:mc="http://schemas.openxmlformats.org/markup-compatibility/2006" xmlns:a14="http://schemas.microsoft.com/office/drawing/2010/main">
        <mc:Choice Requires="a14">
          <p:sp>
            <p:nvSpPr>
              <p:cNvPr id="30" name="TextBox 4">
                <a:extLst>
                  <a:ext uri="{FF2B5EF4-FFF2-40B4-BE49-F238E27FC236}">
                    <a16:creationId xmlns:a16="http://schemas.microsoft.com/office/drawing/2014/main" id="{D1823CF8-00DE-40C6-8EC4-3E939E0AB3E9}"/>
                  </a:ext>
                </a:extLst>
              </p:cNvPr>
              <p:cNvSpPr txBox="1">
                <a:spLocks noChangeArrowheads="1"/>
              </p:cNvSpPr>
              <p:nvPr/>
            </p:nvSpPr>
            <p:spPr bwMode="auto">
              <a:xfrm>
                <a:off x="2123728" y="6257792"/>
                <a:ext cx="4198329" cy="4735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rPr>
                  <a:t>注：</a:t>
                </a:r>
                <a14:m>
                  <m:oMath xmlns:m="http://schemas.openxmlformats.org/officeDocument/2006/math">
                    <m:r>
                      <a:rPr lang="en-US" sz="2400" i="1" smtClean="0">
                        <a:solidFill>
                          <a:srgbClr val="FF0000"/>
                        </a:solidFill>
                        <a:latin typeface="Cambria Math" panose="02040503050406030204" pitchFamily="18" charset="0"/>
                      </a:rPr>
                      <m:t>𝑋</m:t>
                    </m:r>
                    <m:r>
                      <a:rPr lang="en-US" sz="2400" i="1" smtClean="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m:rPr>
                            <m:sty m:val="p"/>
                          </m:rPr>
                          <a:rPr lang="en-US" sz="2400">
                            <a:solidFill>
                              <a:srgbClr val="FF0000"/>
                            </a:solidFill>
                            <a:latin typeface="Cambria Math" panose="02040503050406030204" pitchFamily="18" charset="0"/>
                          </a:rPr>
                          <m:t>e</m:t>
                        </m:r>
                      </m:e>
                      <m:sup>
                        <m:r>
                          <m:rPr>
                            <m:sty m:val="p"/>
                          </m:rPr>
                          <a:rPr lang="en-US" sz="2400">
                            <a:solidFill>
                              <a:srgbClr val="FF0000"/>
                            </a:solidFill>
                            <a:latin typeface="Cambria Math" panose="02040503050406030204" pitchFamily="18" charset="0"/>
                          </a:rPr>
                          <m:t>j</m:t>
                        </m:r>
                        <m:r>
                          <a:rPr lang="en-US" sz="2400" i="1">
                            <a:solidFill>
                              <a:srgbClr val="FF0000"/>
                            </a:solidFill>
                            <a:latin typeface="Cambria Math" panose="02040503050406030204" pitchFamily="18" charset="0"/>
                            <a:ea typeface="Cambria Math" panose="02040503050406030204" pitchFamily="18" charset="0"/>
                          </a:rPr>
                          <m:t>𝜔</m:t>
                        </m:r>
                      </m:sup>
                    </m:sSup>
                    <m:r>
                      <a:rPr lang="en-US" sz="2400" i="1">
                        <a:solidFill>
                          <a:srgbClr val="FF0000"/>
                        </a:solidFill>
                        <a:latin typeface="Cambria Math" panose="02040503050406030204" pitchFamily="18" charset="0"/>
                      </a:rPr>
                      <m:t>)</m:t>
                    </m:r>
                  </m:oMath>
                </a14:m>
                <a:r>
                  <a:rPr lang="zh-CN" altLang="en-US" sz="2400" dirty="0">
                    <a:solidFill>
                      <a:srgbClr val="FF0000"/>
                    </a:solidFill>
                    <a:latin typeface="Times New Roman" panose="02020603050405020304" pitchFamily="18" charset="0"/>
                    <a:ea typeface="华文楷体" panose="02010600040101010101" pitchFamily="2" charset="-122"/>
                  </a:rPr>
                  <a:t>是以</a:t>
                </a:r>
                <a14:m>
                  <m:oMath xmlns:m="http://schemas.openxmlformats.org/officeDocument/2006/math">
                    <m:r>
                      <a:rPr lang="en-US" sz="2400" i="1">
                        <a:solidFill>
                          <a:srgbClr val="FF0000"/>
                        </a:solidFill>
                        <a:latin typeface="Cambria Math" panose="02040503050406030204" pitchFamily="18" charset="0"/>
                      </a:rPr>
                      <m:t>2</m:t>
                    </m:r>
                    <m:r>
                      <a:rPr lang="en-US" sz="2400" i="1">
                        <a:solidFill>
                          <a:srgbClr val="FF0000"/>
                        </a:solidFill>
                        <a:latin typeface="Cambria Math" panose="02040503050406030204" pitchFamily="18" charset="0"/>
                      </a:rPr>
                      <m:t>𝜋</m:t>
                    </m:r>
                  </m:oMath>
                </a14:m>
                <a:r>
                  <a:rPr lang="zh-CN" altLang="en-US" sz="2400" dirty="0">
                    <a:solidFill>
                      <a:srgbClr val="FF0000"/>
                    </a:solidFill>
                    <a:latin typeface="Times New Roman" panose="02020603050405020304" pitchFamily="18" charset="0"/>
                    <a:ea typeface="华文楷体" panose="02010600040101010101" pitchFamily="2" charset="-122"/>
                  </a:rPr>
                  <a:t>为周期的</a:t>
                </a:r>
                <a:r>
                  <a:rPr lang="zh-CN" altLang="en-US" sz="2400" dirty="0">
                    <a:latin typeface="Times New Roman" panose="02020603050405020304" pitchFamily="18" charset="0"/>
                    <a:ea typeface="华文楷体" panose="02010600040101010101" pitchFamily="2" charset="-122"/>
                  </a:rPr>
                  <a:t>。</a:t>
                </a:r>
              </a:p>
            </p:txBody>
          </p:sp>
        </mc:Choice>
        <mc:Fallback xmlns="">
          <p:sp>
            <p:nvSpPr>
              <p:cNvPr id="30" name="TextBox 4">
                <a:extLst>
                  <a:ext uri="{FF2B5EF4-FFF2-40B4-BE49-F238E27FC236}">
                    <a16:creationId xmlns:a16="http://schemas.microsoft.com/office/drawing/2014/main" id="{D1823CF8-00DE-40C6-8EC4-3E939E0AB3E9}"/>
                  </a:ext>
                </a:extLst>
              </p:cNvPr>
              <p:cNvSpPr txBox="1">
                <a:spLocks noRot="1" noChangeAspect="1" noMove="1" noResize="1" noEditPoints="1" noAdjustHandles="1" noChangeArrowheads="1" noChangeShapeType="1" noTextEdit="1"/>
              </p:cNvSpPr>
              <p:nvPr/>
            </p:nvSpPr>
            <p:spPr bwMode="auto">
              <a:xfrm>
                <a:off x="2123728" y="6257792"/>
                <a:ext cx="4198329" cy="473591"/>
              </a:xfrm>
              <a:prstGeom prst="rect">
                <a:avLst/>
              </a:prstGeom>
              <a:blipFill>
                <a:blip r:embed="rId9"/>
                <a:stretch>
                  <a:fillRect l="-2177" t="-6494" r="-1306" b="-311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3735"/>
                                        </p:tgtEl>
                                        <p:attrNameLst>
                                          <p:attrName>style.visibility</p:attrName>
                                        </p:attrNameLst>
                                      </p:cBhvr>
                                      <p:to>
                                        <p:strVal val="visible"/>
                                      </p:to>
                                    </p:set>
                                    <p:animEffect transition="in" filter="wipe(down)">
                                      <p:cBhvr>
                                        <p:cTn id="7" dur="500"/>
                                        <p:tgtEl>
                                          <p:spTgt spid="737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3736"/>
                                        </p:tgtEl>
                                        <p:attrNameLst>
                                          <p:attrName>style.visibility</p:attrName>
                                        </p:attrNameLst>
                                      </p:cBhvr>
                                      <p:to>
                                        <p:strVal val="visible"/>
                                      </p:to>
                                    </p:set>
                                    <p:animEffect transition="in" filter="wipe(down)">
                                      <p:cBhvr>
                                        <p:cTn id="12" dur="500"/>
                                        <p:tgtEl>
                                          <p:spTgt spid="737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73737"/>
                                        </p:tgtEl>
                                        <p:attrNameLst>
                                          <p:attrName>style.visibility</p:attrName>
                                        </p:attrNameLst>
                                      </p:cBhvr>
                                      <p:to>
                                        <p:strVal val="visible"/>
                                      </p:to>
                                    </p:set>
                                    <p:animEffect transition="in" filter="wipe(down)">
                                      <p:cBhvr>
                                        <p:cTn id="20" dur="500"/>
                                        <p:tgtEl>
                                          <p:spTgt spid="7373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3738"/>
                                        </p:tgtEl>
                                        <p:attrNameLst>
                                          <p:attrName>style.visibility</p:attrName>
                                        </p:attrNameLst>
                                      </p:cBhvr>
                                      <p:to>
                                        <p:strVal val="visible"/>
                                      </p:to>
                                    </p:set>
                                    <p:animEffect transition="in" filter="wipe(down)">
                                      <p:cBhvr>
                                        <p:cTn id="25" dur="500"/>
                                        <p:tgtEl>
                                          <p:spTgt spid="7373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wipe(down)">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5" grpId="0"/>
      <p:bldP spid="73736" grpId="0"/>
      <p:bldP spid="12" grpId="0"/>
      <p:bldP spid="73737" grpId="0" animBg="1"/>
      <p:bldP spid="73738"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92992EA-C498-4056-BBA6-8EC2B5858D7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56F7EC2-E0EC-48AC-8314-74829B1788BF}" type="slidenum">
              <a:rPr lang="zh-CN" altLang="en-US">
                <a:solidFill>
                  <a:srgbClr val="898989"/>
                </a:solidFill>
                <a:latin typeface="Calibri" panose="020F0502020204030204" pitchFamily="34" charset="0"/>
              </a:rPr>
              <a:pPr eaLnBrk="1" hangingPunct="1"/>
              <a:t>5</a:t>
            </a:fld>
            <a:endParaRPr lang="zh-CN" altLang="en-US">
              <a:solidFill>
                <a:srgbClr val="898989"/>
              </a:solidFill>
              <a:latin typeface="Calibri" panose="020F0502020204030204" pitchFamily="34" charset="0"/>
            </a:endParaRPr>
          </a:p>
        </p:txBody>
      </p:sp>
      <p:sp>
        <p:nvSpPr>
          <p:cNvPr id="6152" name="TextBox 4">
            <a:extLst>
              <a:ext uri="{FF2B5EF4-FFF2-40B4-BE49-F238E27FC236}">
                <a16:creationId xmlns:a16="http://schemas.microsoft.com/office/drawing/2014/main" id="{47994473-4E18-4368-B723-84B73AADB969}"/>
              </a:ext>
            </a:extLst>
          </p:cNvPr>
          <p:cNvSpPr txBox="1">
            <a:spLocks noChangeArrowheads="1"/>
          </p:cNvSpPr>
          <p:nvPr/>
        </p:nvSpPr>
        <p:spPr bwMode="auto">
          <a:xfrm>
            <a:off x="571500" y="1196752"/>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rPr>
              <a:t>因此，在一个周期内有：</a:t>
            </a:r>
          </a:p>
        </p:txBody>
      </p:sp>
      <mc:AlternateContent xmlns:mc="http://schemas.openxmlformats.org/markup-compatibility/2006" xmlns:a14="http://schemas.microsoft.com/office/drawing/2010/main">
        <mc:Choice Requires="a14">
          <p:sp>
            <p:nvSpPr>
              <p:cNvPr id="6146" name="Object 2">
                <a:extLst>
                  <a:ext uri="{FF2B5EF4-FFF2-40B4-BE49-F238E27FC236}">
                    <a16:creationId xmlns:a16="http://schemas.microsoft.com/office/drawing/2014/main" id="{F70EA02F-E916-47C0-8EAF-6938BAD24F12}"/>
                  </a:ext>
                </a:extLst>
              </p:cNvPr>
              <p:cNvSpPr txBox="1"/>
              <p:nvPr/>
            </p:nvSpPr>
            <p:spPr bwMode="auto">
              <a:xfrm>
                <a:off x="1806326" y="1700808"/>
                <a:ext cx="4533900" cy="77649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𝑥</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nary>
                        <m:naryPr>
                          <m:chr m:val="∑"/>
                          <m:limLoc m:val="subSup"/>
                          <m:supHide m:val="on"/>
                          <m:ctrlPr>
                            <a:rPr lang="en-US" sz="2400" i="1">
                              <a:solidFill>
                                <a:srgbClr val="000000"/>
                              </a:solidFill>
                              <a:latin typeface="Cambria Math" panose="02040503050406030204" pitchFamily="18" charset="0"/>
                            </a:rPr>
                          </m:ctrlPr>
                        </m:naryPr>
                        <m:sub>
                          <m:r>
                            <m:rPr>
                              <m:brk m:alnAt="7"/>
                            </m:rP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6146" name="Object 2">
                <a:extLst>
                  <a:ext uri="{FF2B5EF4-FFF2-40B4-BE49-F238E27FC236}">
                    <a16:creationId xmlns:a16="http://schemas.microsoft.com/office/drawing/2014/main" id="{F70EA02F-E916-47C0-8EAF-6938BAD24F12}"/>
                  </a:ext>
                </a:extLst>
              </p:cNvPr>
              <p:cNvSpPr txBox="1">
                <a:spLocks noRot="1" noChangeAspect="1" noMove="1" noResize="1" noEditPoints="1" noAdjustHandles="1" noChangeArrowheads="1" noChangeShapeType="1" noTextEdit="1"/>
              </p:cNvSpPr>
              <p:nvPr/>
            </p:nvSpPr>
            <p:spPr bwMode="auto">
              <a:xfrm>
                <a:off x="1806326" y="1700808"/>
                <a:ext cx="4533900" cy="776495"/>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755" name="Object 3">
                <a:extLst>
                  <a:ext uri="{FF2B5EF4-FFF2-40B4-BE49-F238E27FC236}">
                    <a16:creationId xmlns:a16="http://schemas.microsoft.com/office/drawing/2014/main" id="{9100FB18-2BCD-4A76-A146-B044BCDAF40C}"/>
                  </a:ext>
                </a:extLst>
              </p:cNvPr>
              <p:cNvSpPr txBox="1"/>
              <p:nvPr/>
            </p:nvSpPr>
            <p:spPr bwMode="auto">
              <a:xfrm>
                <a:off x="2446336" y="2532484"/>
                <a:ext cx="3997871" cy="86836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𝑁</m:t>
                          </m:r>
                        </m:den>
                      </m:f>
                      <m:nary>
                        <m:naryPr>
                          <m:chr m:val="∑"/>
                          <m:limLoc m:val="subSup"/>
                          <m:supHide m:val="on"/>
                          <m:ctrlPr>
                            <a:rPr lang="en-US" sz="2400" i="1">
                              <a:solidFill>
                                <a:srgbClr val="000000"/>
                              </a:solidFill>
                              <a:latin typeface="Cambria Math" panose="02040503050406030204" pitchFamily="18" charset="0"/>
                            </a:rPr>
                          </m:ctrlPr>
                        </m:naryPr>
                        <m:sub>
                          <m:r>
                            <m:rPr>
                              <m:brk m:alnAt="7"/>
                            </m:rP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74755" name="Object 3">
                <a:extLst>
                  <a:ext uri="{FF2B5EF4-FFF2-40B4-BE49-F238E27FC236}">
                    <a16:creationId xmlns:a16="http://schemas.microsoft.com/office/drawing/2014/main" id="{9100FB18-2BCD-4A76-A146-B044BCDAF40C}"/>
                  </a:ext>
                </a:extLst>
              </p:cNvPr>
              <p:cNvSpPr txBox="1">
                <a:spLocks noRot="1" noChangeAspect="1" noMove="1" noResize="1" noEditPoints="1" noAdjustHandles="1" noChangeArrowheads="1" noChangeShapeType="1" noTextEdit="1"/>
              </p:cNvSpPr>
              <p:nvPr/>
            </p:nvSpPr>
            <p:spPr bwMode="auto">
              <a:xfrm>
                <a:off x="2446336" y="2532484"/>
                <a:ext cx="3997871" cy="868363"/>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756" name="Object 4">
                <a:extLst>
                  <a:ext uri="{FF2B5EF4-FFF2-40B4-BE49-F238E27FC236}">
                    <a16:creationId xmlns:a16="http://schemas.microsoft.com/office/drawing/2014/main" id="{2FAFF591-C743-4C87-B4A5-70D99D8A780E}"/>
                  </a:ext>
                </a:extLst>
              </p:cNvPr>
              <p:cNvSpPr txBox="1"/>
              <p:nvPr/>
            </p:nvSpPr>
            <p:spPr bwMode="auto">
              <a:xfrm>
                <a:off x="2446337" y="3456028"/>
                <a:ext cx="4501927" cy="86836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chr m:val="∑"/>
                          <m:limLoc m:val="subSup"/>
                          <m:supHide m:val="on"/>
                          <m:ctrlPr>
                            <a:rPr lang="en-US" sz="2400" i="1">
                              <a:solidFill>
                                <a:srgbClr val="000000"/>
                              </a:solidFill>
                              <a:latin typeface="Cambria Math" panose="02040503050406030204" pitchFamily="18" charset="0"/>
                            </a:rPr>
                          </m:ctrlPr>
                        </m:naryPr>
                        <m:sub>
                          <m:r>
                            <m:rPr>
                              <m:brk m:alnAt="7"/>
                            </m:rP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e>
                      </m:nary>
                    </m:oMath>
                  </m:oMathPara>
                </a14:m>
                <a:endParaRPr lang="en-US" sz="2400" dirty="0"/>
              </a:p>
            </p:txBody>
          </p:sp>
        </mc:Choice>
        <mc:Fallback xmlns="">
          <p:sp>
            <p:nvSpPr>
              <p:cNvPr id="74756" name="Object 4">
                <a:extLst>
                  <a:ext uri="{FF2B5EF4-FFF2-40B4-BE49-F238E27FC236}">
                    <a16:creationId xmlns:a16="http://schemas.microsoft.com/office/drawing/2014/main" id="{2FAFF591-C743-4C87-B4A5-70D99D8A780E}"/>
                  </a:ext>
                </a:extLst>
              </p:cNvPr>
              <p:cNvSpPr txBox="1">
                <a:spLocks noRot="1" noChangeAspect="1" noMove="1" noResize="1" noEditPoints="1" noAdjustHandles="1" noChangeArrowheads="1" noChangeShapeType="1" noTextEdit="1"/>
              </p:cNvSpPr>
              <p:nvPr/>
            </p:nvSpPr>
            <p:spPr bwMode="auto">
              <a:xfrm>
                <a:off x="2446337" y="3456028"/>
                <a:ext cx="4501927" cy="868363"/>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0F5715A-C8B0-49B1-B8DF-6B3C5AC37D08}"/>
                  </a:ext>
                </a:extLst>
              </p:cNvPr>
              <p:cNvSpPr txBox="1">
                <a:spLocks noChangeArrowheads="1"/>
              </p:cNvSpPr>
              <p:nvPr/>
            </p:nvSpPr>
            <p:spPr bwMode="auto">
              <a:xfrm>
                <a:off x="571500" y="4444216"/>
                <a:ext cx="7929563" cy="12003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ea typeface="华文楷体" panose="02010600040101010101" pitchFamily="2" charset="-122"/>
                  </a:rPr>
                  <a:t>令</a:t>
                </a:r>
                <a:r>
                  <a:rPr lang="zh-CN" altLang="zh-CN" sz="2400" i="1" dirty="0">
                    <a:latin typeface="Times New Roman" panose="02020603050405020304" pitchFamily="18" charset="0"/>
                    <a:ea typeface="华文楷体" panose="02010600040101010101" pitchFamily="2" charset="-122"/>
                    <a:cs typeface="Times New Roman" panose="02020603050405020304" pitchFamily="18" charset="0"/>
                  </a:rPr>
                  <a:t>ω </a:t>
                </a:r>
                <a:r>
                  <a:rPr lang="en-US" altLang="zh-CN" sz="2400" dirty="0">
                    <a:latin typeface="Times New Roman" panose="02020603050405020304" pitchFamily="18" charset="0"/>
                    <a:ea typeface="华文楷体" panose="02010600040101010101" pitchFamily="2" charset="-122"/>
                  </a:rPr>
                  <a:t>=</a:t>
                </a:r>
                <a:r>
                  <a:rPr lang="en-US" altLang="zh-CN" sz="2400" i="1" dirty="0">
                    <a:latin typeface="Times New Roman" panose="02020603050405020304" pitchFamily="18" charset="0"/>
                    <a:ea typeface="华文楷体" panose="02010600040101010101" pitchFamily="2" charset="-122"/>
                  </a:rPr>
                  <a:t>k</a:t>
                </a:r>
                <a:r>
                  <a:rPr lang="zh-CN" altLang="zh-CN" sz="2400" i="1" dirty="0">
                    <a:latin typeface="Times New Roman" panose="02020603050405020304" pitchFamily="18" charset="0"/>
                    <a:ea typeface="华文楷体" panose="02010600040101010101" pitchFamily="2" charset="-122"/>
                  </a:rPr>
                  <a:t>ω</a:t>
                </a:r>
                <a:r>
                  <a:rPr lang="en-US" altLang="zh-CN" sz="2400" baseline="-25000" dirty="0">
                    <a:latin typeface="Times New Roman" panose="02020603050405020304" pitchFamily="18" charset="0"/>
                    <a:ea typeface="华文楷体" panose="02010600040101010101" pitchFamily="2" charset="-122"/>
                  </a:rPr>
                  <a:t>0</a:t>
                </a:r>
                <a:r>
                  <a:rPr lang="zh-CN" altLang="en-US" sz="2400" dirty="0">
                    <a:latin typeface="Times New Roman" panose="02020603050405020304" pitchFamily="18" charset="0"/>
                    <a:ea typeface="华文楷体" panose="02010600040101010101" pitchFamily="2" charset="-122"/>
                  </a:rPr>
                  <a:t>，当</a:t>
                </a:r>
                <a:r>
                  <a:rPr lang="en-US" altLang="zh-CN" sz="2400" i="1" dirty="0">
                    <a:latin typeface="Times New Roman" panose="02020603050405020304" pitchFamily="18" charset="0"/>
                    <a:ea typeface="华文楷体" panose="02010600040101010101" pitchFamily="2" charset="-122"/>
                  </a:rPr>
                  <a:t>N</a:t>
                </a:r>
                <a:r>
                  <a:rPr lang="en-US" altLang="zh-CN" sz="2400" dirty="0">
                    <a:latin typeface="Times New Roman" panose="02020603050405020304" pitchFamily="18" charset="0"/>
                    <a:ea typeface="华文楷体" panose="02010600040101010101" pitchFamily="2" charset="-122"/>
                  </a:rPr>
                  <a:t> → ∞</a:t>
                </a:r>
                <a:r>
                  <a:rPr lang="zh-CN" altLang="en-US" sz="2400" dirty="0">
                    <a:latin typeface="Times New Roman" panose="02020603050405020304" pitchFamily="18" charset="0"/>
                    <a:ea typeface="华文楷体" panose="02010600040101010101" pitchFamily="2" charset="-122"/>
                  </a:rPr>
                  <a:t>时，</a:t>
                </a:r>
                <a:r>
                  <a:rPr lang="zh-CN" altLang="zh-CN" sz="2400" i="1" dirty="0">
                    <a:latin typeface="Times New Roman" panose="02020603050405020304" pitchFamily="18" charset="0"/>
                    <a:ea typeface="华文楷体" panose="02010600040101010101" pitchFamily="2" charset="-122"/>
                  </a:rPr>
                  <a:t>ω</a:t>
                </a:r>
                <a:r>
                  <a:rPr lang="en-US" altLang="zh-CN" sz="2400" baseline="-25000" dirty="0">
                    <a:latin typeface="Times New Roman" panose="02020603050405020304" pitchFamily="18" charset="0"/>
                    <a:ea typeface="华文楷体" panose="02010600040101010101" pitchFamily="2" charset="-122"/>
                  </a:rPr>
                  <a:t>0</a:t>
                </a:r>
                <a:r>
                  <a:rPr lang="en-US" altLang="zh-CN" sz="2400" dirty="0">
                    <a:latin typeface="Times New Roman" panose="02020603050405020304" pitchFamily="18" charset="0"/>
                    <a:ea typeface="华文楷体" panose="02010600040101010101" pitchFamily="2" charset="-122"/>
                  </a:rPr>
                  <a:t> → 0</a:t>
                </a:r>
                <a:r>
                  <a:rPr lang="zh-CN" altLang="en-US"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a:t>
                </a:r>
                <a:r>
                  <a:rPr lang="en-US" altLang="zh-CN" sz="2400" i="1" dirty="0">
                    <a:latin typeface="Times New Roman" panose="02020603050405020304" pitchFamily="18" charset="0"/>
                    <a:ea typeface="华文楷体" panose="02010600040101010101" pitchFamily="2" charset="-122"/>
                  </a:rPr>
                  <a:t>f</a:t>
                </a:r>
                <a:r>
                  <a:rPr lang="en-US" altLang="zh-CN" sz="2400" dirty="0">
                    <a:latin typeface="Times New Roman" panose="02020603050405020304" pitchFamily="18" charset="0"/>
                    <a:ea typeface="华文楷体" panose="02010600040101010101" pitchFamily="2" charset="-122"/>
                  </a:rPr>
                  <a:t>(</a:t>
                </a:r>
                <a:r>
                  <a:rPr lang="en-US" altLang="zh-CN" sz="2400" i="1" dirty="0">
                    <a:latin typeface="Times New Roman" panose="02020603050405020304" pitchFamily="18" charset="0"/>
                    <a:ea typeface="华文楷体" panose="02010600040101010101" pitchFamily="2" charset="-122"/>
                  </a:rPr>
                  <a:t>k</a:t>
                </a:r>
                <a:r>
                  <a:rPr lang="zh-CN" altLang="zh-CN" sz="2400" i="1" dirty="0">
                    <a:latin typeface="Times New Roman" panose="02020603050405020304" pitchFamily="18" charset="0"/>
                    <a:ea typeface="华文楷体" panose="02010600040101010101" pitchFamily="2" charset="-122"/>
                  </a:rPr>
                  <a:t>ω</a:t>
                </a:r>
                <a:r>
                  <a:rPr lang="en-US" altLang="zh-CN" sz="2400" baseline="-25000" dirty="0">
                    <a:latin typeface="Times New Roman" panose="02020603050405020304" pitchFamily="18" charset="0"/>
                    <a:ea typeface="华文楷体" panose="02010600040101010101" pitchFamily="2" charset="-122"/>
                  </a:rPr>
                  <a:t>0</a:t>
                </a:r>
                <a:r>
                  <a:rPr lang="en-US" altLang="zh-CN" sz="2400" dirty="0">
                    <a:latin typeface="Times New Roman" panose="02020603050405020304" pitchFamily="18" charset="0"/>
                    <a:ea typeface="华文楷体" panose="02010600040101010101" pitchFamily="2" charset="-122"/>
                  </a:rPr>
                  <a:t>)</a:t>
                </a:r>
                <a:r>
                  <a:rPr lang="zh-CN" altLang="zh-CN" sz="2400" i="1" dirty="0">
                    <a:latin typeface="Times New Roman" panose="02020603050405020304" pitchFamily="18" charset="0"/>
                    <a:ea typeface="华文楷体" panose="02010600040101010101" pitchFamily="2" charset="-122"/>
                  </a:rPr>
                  <a:t>ω</a:t>
                </a:r>
                <a:r>
                  <a:rPr lang="en-US" altLang="zh-CN" sz="2400" baseline="-25000" dirty="0">
                    <a:latin typeface="Times New Roman" panose="02020603050405020304" pitchFamily="18" charset="0"/>
                    <a:ea typeface="华文楷体" panose="02010600040101010101" pitchFamily="2" charset="-122"/>
                  </a:rPr>
                  <a:t>0</a:t>
                </a:r>
                <a:r>
                  <a:rPr lang="en-US" altLang="zh-CN" sz="2400" dirty="0">
                    <a:latin typeface="Times New Roman" panose="02020603050405020304" pitchFamily="18" charset="0"/>
                    <a:ea typeface="华文楷体" panose="02010600040101010101" pitchFamily="2" charset="-122"/>
                  </a:rPr>
                  <a:t> → ∫</a:t>
                </a:r>
                <a:r>
                  <a:rPr lang="en-US" altLang="zh-CN" sz="2400" i="1" dirty="0">
                    <a:latin typeface="Times New Roman" panose="02020603050405020304" pitchFamily="18" charset="0"/>
                    <a:ea typeface="华文楷体" panose="02010600040101010101" pitchFamily="2" charset="-122"/>
                  </a:rPr>
                  <a:t>f</a:t>
                </a:r>
                <a:r>
                  <a:rPr lang="en-US" altLang="zh-CN" sz="2400" dirty="0">
                    <a:latin typeface="Times New Roman" panose="02020603050405020304" pitchFamily="18" charset="0"/>
                    <a:ea typeface="华文楷体" panose="02010600040101010101" pitchFamily="2" charset="-122"/>
                  </a:rPr>
                  <a:t>(</a:t>
                </a:r>
                <a:r>
                  <a:rPr lang="zh-CN" altLang="zh-CN" sz="2400" i="1" dirty="0">
                    <a:latin typeface="Times New Roman" panose="02020603050405020304" pitchFamily="18" charset="0"/>
                    <a:ea typeface="华文楷体" panose="02010600040101010101" pitchFamily="2" charset="-122"/>
                  </a:rPr>
                  <a:t>ω</a:t>
                </a:r>
                <a:r>
                  <a:rPr lang="en-US" altLang="zh-CN" sz="2400" dirty="0">
                    <a:latin typeface="Times New Roman" panose="02020603050405020304" pitchFamily="18" charset="0"/>
                    <a:ea typeface="华文楷体" panose="02010600040101010101" pitchFamily="2" charset="-122"/>
                  </a:rPr>
                  <a:t>)d</a:t>
                </a:r>
                <a:r>
                  <a:rPr lang="zh-CN" altLang="zh-CN" sz="2400" i="1" dirty="0">
                    <a:latin typeface="Times New Roman" panose="02020603050405020304" pitchFamily="18" charset="0"/>
                    <a:ea typeface="华文楷体" panose="02010600040101010101" pitchFamily="2" charset="-122"/>
                  </a:rPr>
                  <a:t>ω</a:t>
                </a:r>
                <a:r>
                  <a:rPr lang="zh-CN" altLang="en-US" sz="2400" dirty="0">
                    <a:latin typeface="Times New Roman" panose="02020603050405020304" pitchFamily="18" charset="0"/>
                    <a:ea typeface="华文楷体" panose="02010600040101010101" pitchFamily="2" charset="-122"/>
                  </a:rPr>
                  <a:t>，且当</a:t>
                </a:r>
                <a:r>
                  <a:rPr lang="en-US" altLang="zh-CN" sz="2400" i="1" dirty="0">
                    <a:latin typeface="Times New Roman" panose="02020603050405020304" pitchFamily="18" charset="0"/>
                    <a:ea typeface="华文楷体" panose="02010600040101010101" pitchFamily="2" charset="-122"/>
                  </a:rPr>
                  <a:t>k</a:t>
                </a:r>
                <a:r>
                  <a:rPr lang="zh-CN" altLang="en-US" sz="2400" dirty="0">
                    <a:latin typeface="Times New Roman" panose="02020603050405020304" pitchFamily="18" charset="0"/>
                    <a:ea typeface="华文楷体" panose="02010600040101010101" pitchFamily="2" charset="-122"/>
                  </a:rPr>
                  <a:t>在一个周期范围内变化时，</a:t>
                </a:r>
                <a:r>
                  <a:rPr lang="en-US" altLang="zh-CN" sz="2400" i="1" dirty="0">
                    <a:latin typeface="Times New Roman" panose="02020603050405020304" pitchFamily="18" charset="0"/>
                    <a:ea typeface="华文楷体" panose="02010600040101010101" pitchFamily="2" charset="-122"/>
                  </a:rPr>
                  <a:t> k</a:t>
                </a:r>
                <a:r>
                  <a:rPr lang="zh-CN" altLang="zh-CN" sz="2400" i="1" dirty="0">
                    <a:latin typeface="Times New Roman" panose="02020603050405020304" pitchFamily="18" charset="0"/>
                    <a:ea typeface="华文楷体" panose="02010600040101010101" pitchFamily="2" charset="-122"/>
                  </a:rPr>
                  <a:t>ω</a:t>
                </a:r>
                <a:r>
                  <a:rPr lang="en-US" altLang="zh-CN" sz="2400" baseline="-25000" dirty="0">
                    <a:latin typeface="Times New Roman" panose="02020603050405020304" pitchFamily="18" charset="0"/>
                    <a:ea typeface="华文楷体" panose="02010600040101010101" pitchFamily="2" charset="-122"/>
                  </a:rPr>
                  <a:t>0</a:t>
                </a:r>
                <a:r>
                  <a:rPr lang="zh-CN" altLang="en-US" sz="2400" dirty="0">
                    <a:latin typeface="Times New Roman" panose="02020603050405020304" pitchFamily="18" charset="0"/>
                    <a:ea typeface="华文楷体" panose="02010600040101010101" pitchFamily="2" charset="-122"/>
                  </a:rPr>
                  <a:t>在</a:t>
                </a:r>
                <a14:m>
                  <m:oMath xmlns:m="http://schemas.openxmlformats.org/officeDocument/2006/math">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oMath>
                </a14:m>
                <a:r>
                  <a:rPr lang="zh-CN" altLang="en-US" sz="2400" dirty="0">
                    <a:latin typeface="Times New Roman" panose="02020603050405020304" pitchFamily="18" charset="0"/>
                    <a:ea typeface="华文楷体" panose="02010600040101010101" pitchFamily="2" charset="-122"/>
                  </a:rPr>
                  <a:t>范围变化，所以积分区间为</a:t>
                </a:r>
                <a14:m>
                  <m:oMath xmlns:m="http://schemas.openxmlformats.org/officeDocument/2006/math">
                    <m:r>
                      <a:rPr lang="en-US" sz="2400" i="1" smtClean="0">
                        <a:solidFill>
                          <a:srgbClr val="FF0000"/>
                        </a:solidFill>
                        <a:latin typeface="Cambria Math" panose="02040503050406030204" pitchFamily="18" charset="0"/>
                      </a:rPr>
                      <m:t>2</m:t>
                    </m:r>
                    <m:r>
                      <a:rPr lang="en-US" sz="2400" i="1" smtClean="0">
                        <a:solidFill>
                          <a:srgbClr val="FF0000"/>
                        </a:solidFill>
                        <a:latin typeface="Cambria Math" panose="02040503050406030204" pitchFamily="18" charset="0"/>
                      </a:rPr>
                      <m:t>𝜋</m:t>
                    </m:r>
                  </m:oMath>
                </a14:m>
                <a:r>
                  <a:rPr lang="zh-CN" altLang="en-US" sz="2400" dirty="0">
                    <a:latin typeface="Times New Roman" panose="02020603050405020304" pitchFamily="18" charset="0"/>
                    <a:ea typeface="华文楷体" panose="02010600040101010101" pitchFamily="2" charset="-122"/>
                  </a:rPr>
                  <a:t>。因此有：</a:t>
                </a:r>
              </a:p>
            </p:txBody>
          </p:sp>
        </mc:Choice>
        <mc:Fallback xmlns="">
          <p:sp>
            <p:nvSpPr>
              <p:cNvPr id="9" name="TextBox 8">
                <a:extLst>
                  <a:ext uri="{FF2B5EF4-FFF2-40B4-BE49-F238E27FC236}">
                    <a16:creationId xmlns:a16="http://schemas.microsoft.com/office/drawing/2014/main" id="{80F5715A-C8B0-49B1-B8DF-6B3C5AC37D08}"/>
                  </a:ext>
                </a:extLst>
              </p:cNvPr>
              <p:cNvSpPr txBox="1">
                <a:spLocks noRot="1" noChangeAspect="1" noMove="1" noResize="1" noEditPoints="1" noAdjustHandles="1" noChangeArrowheads="1" noChangeShapeType="1" noTextEdit="1"/>
              </p:cNvSpPr>
              <p:nvPr/>
            </p:nvSpPr>
            <p:spPr bwMode="auto">
              <a:xfrm>
                <a:off x="571500" y="4444216"/>
                <a:ext cx="7929563" cy="1200329"/>
              </a:xfrm>
              <a:prstGeom prst="rect">
                <a:avLst/>
              </a:prstGeom>
              <a:blipFill>
                <a:blip r:embed="rId5"/>
                <a:stretch>
                  <a:fillRect l="-1230" t="-4569" r="-1153" b="-111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758" name="Object 6">
                <a:extLst>
                  <a:ext uri="{FF2B5EF4-FFF2-40B4-BE49-F238E27FC236}">
                    <a16:creationId xmlns:a16="http://schemas.microsoft.com/office/drawing/2014/main" id="{F98E81C9-E1D6-46C5-95C8-A5070572DA55}"/>
                  </a:ext>
                </a:extLst>
              </p:cNvPr>
              <p:cNvSpPr txBox="1"/>
              <p:nvPr/>
            </p:nvSpPr>
            <p:spPr bwMode="auto">
              <a:xfrm>
                <a:off x="2660178" y="5661248"/>
                <a:ext cx="3856038" cy="955133"/>
              </a:xfrm>
              <a:prstGeom prst="rect">
                <a:avLst/>
              </a:prstGeom>
              <a:noFill/>
              <a:ln w="25400">
                <a:solidFill>
                  <a:srgbClr val="0000FF"/>
                </a:solidFill>
                <a:miter lim="800000"/>
                <a:headEnd/>
                <a:tailEnd/>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sub>
                        <m:sup/>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ea typeface="Cambria Math" panose="02040503050406030204" pitchFamily="18" charset="0"/>
                                </a:rPr>
                                <m:t>𝜔</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b="0" i="1" smtClean="0">
                                  <a:solidFill>
                                    <a:srgbClr val="000000"/>
                                  </a:solidFill>
                                  <a:latin typeface="Cambria Math" panose="02040503050406030204" pitchFamily="18" charset="0"/>
                                </a:rPr>
                                <m:t>𝑛</m:t>
                              </m:r>
                            </m:sup>
                          </m:sSup>
                          <m:r>
                            <m:rPr>
                              <m:sty m:val="p"/>
                            </m:rPr>
                            <a:rPr lang="en-US" sz="240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oMath>
                  </m:oMathPara>
                </a14:m>
                <a:endParaRPr lang="en-US" sz="2400" dirty="0"/>
              </a:p>
            </p:txBody>
          </p:sp>
        </mc:Choice>
        <mc:Fallback xmlns="">
          <p:sp>
            <p:nvSpPr>
              <p:cNvPr id="74758" name="Object 6">
                <a:extLst>
                  <a:ext uri="{FF2B5EF4-FFF2-40B4-BE49-F238E27FC236}">
                    <a16:creationId xmlns:a16="http://schemas.microsoft.com/office/drawing/2014/main" id="{F98E81C9-E1D6-46C5-95C8-A5070572DA55}"/>
                  </a:ext>
                </a:extLst>
              </p:cNvPr>
              <p:cNvSpPr txBox="1">
                <a:spLocks noRot="1" noChangeAspect="1" noMove="1" noResize="1" noEditPoints="1" noAdjustHandles="1" noChangeArrowheads="1" noChangeShapeType="1" noTextEdit="1"/>
              </p:cNvSpPr>
              <p:nvPr/>
            </p:nvSpPr>
            <p:spPr bwMode="auto">
              <a:xfrm>
                <a:off x="2660178" y="5661248"/>
                <a:ext cx="3856038" cy="955133"/>
              </a:xfrm>
              <a:prstGeom prst="rect">
                <a:avLst/>
              </a:prstGeom>
              <a:blipFill>
                <a:blip r:embed="rId6"/>
                <a:stretch>
                  <a:fillRect/>
                </a:stretch>
              </a:blipFill>
              <a:ln w="25400">
                <a:solidFill>
                  <a:srgbClr val="0000FF"/>
                </a:solidFill>
                <a:miter lim="800000"/>
                <a:headEnd/>
                <a:tailEnd/>
              </a:ln>
              <a:effectLst/>
            </p:spPr>
            <p:txBody>
              <a:bodyPr/>
              <a:lstStyle/>
              <a:p>
                <a:r>
                  <a:rPr lang="en-US">
                    <a:noFill/>
                  </a:rPr>
                  <a:t> </a:t>
                </a:r>
              </a:p>
            </p:txBody>
          </p:sp>
        </mc:Fallback>
      </mc:AlternateContent>
      <p:sp>
        <p:nvSpPr>
          <p:cNvPr id="11" name="标题 1">
            <a:extLst>
              <a:ext uri="{FF2B5EF4-FFF2-40B4-BE49-F238E27FC236}">
                <a16:creationId xmlns:a16="http://schemas.microsoft.com/office/drawing/2014/main" id="{1E01237B-4A9F-4893-9541-9872238E433E}"/>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4755"/>
                                        </p:tgtEl>
                                        <p:attrNameLst>
                                          <p:attrName>style.visibility</p:attrName>
                                        </p:attrNameLst>
                                      </p:cBhvr>
                                      <p:to>
                                        <p:strVal val="visible"/>
                                      </p:to>
                                    </p:set>
                                    <p:animEffect transition="in" filter="wipe(down)">
                                      <p:cBhvr>
                                        <p:cTn id="7" dur="500"/>
                                        <p:tgtEl>
                                          <p:spTgt spid="747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4756"/>
                                        </p:tgtEl>
                                        <p:attrNameLst>
                                          <p:attrName>style.visibility</p:attrName>
                                        </p:attrNameLst>
                                      </p:cBhvr>
                                      <p:to>
                                        <p:strVal val="visible"/>
                                      </p:to>
                                    </p:set>
                                    <p:animEffect transition="in" filter="wipe(down)">
                                      <p:cBhvr>
                                        <p:cTn id="12" dur="500"/>
                                        <p:tgtEl>
                                          <p:spTgt spid="747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74758"/>
                                        </p:tgtEl>
                                        <p:attrNameLst>
                                          <p:attrName>style.visibility</p:attrName>
                                        </p:attrNameLst>
                                      </p:cBhvr>
                                      <p:to>
                                        <p:strVal val="visible"/>
                                      </p:to>
                                    </p:set>
                                    <p:animEffect transition="in" filter="wipe(down)">
                                      <p:cBhvr>
                                        <p:cTn id="20" dur="5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p:bldP spid="74756" grpId="0"/>
      <p:bldP spid="9" grpId="0"/>
      <p:bldP spid="7475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BC348D2-20C5-4178-B724-7B7245053B7F}"/>
              </a:ext>
            </a:extLst>
          </p:cNvPr>
          <p:cNvSpPr>
            <a:spLocks noGrp="1"/>
          </p:cNvSpPr>
          <p:nvPr>
            <p:ph idx="1"/>
          </p:nvPr>
        </p:nvSpPr>
        <p:spPr>
          <a:xfrm>
            <a:off x="457200" y="1196752"/>
            <a:ext cx="8229600" cy="4450449"/>
          </a:xfrm>
        </p:spPr>
        <p:txBody>
          <a:bodyPr>
            <a:spAutoFit/>
          </a:bodyPr>
          <a:lstStyle/>
          <a:p>
            <a:pPr lvl="1"/>
            <a:r>
              <a:rPr lang="zh-CN" altLang="en-US" sz="2400" b="0" dirty="0"/>
              <a:t>因此，我们得到</a:t>
            </a:r>
            <a:r>
              <a:rPr lang="zh-CN" altLang="en-US" sz="2400" b="0" dirty="0">
                <a:solidFill>
                  <a:srgbClr val="FF0000"/>
                </a:solidFill>
              </a:rPr>
              <a:t>离散时间傅里叶变换对</a:t>
            </a:r>
            <a:r>
              <a:rPr lang="zh-CN" altLang="en-US" sz="2400" b="0" dirty="0"/>
              <a:t>：</a:t>
            </a:r>
            <a:br>
              <a:rPr lang="en-US" altLang="zh-CN" sz="2400" b="0" dirty="0"/>
            </a:br>
            <a:r>
              <a:rPr lang="zh-CN" altLang="en-US" sz="2400" b="0" dirty="0">
                <a:solidFill>
                  <a:srgbClr val="FF0000"/>
                </a:solidFill>
              </a:rPr>
              <a:t>傅里叶变换</a:t>
            </a:r>
            <a:r>
              <a:rPr lang="zh-CN" altLang="en-US" sz="2400" b="0" dirty="0"/>
              <a:t>：</a:t>
            </a:r>
            <a:br>
              <a:rPr lang="en-US" altLang="zh-CN" sz="2400" b="0" dirty="0"/>
            </a:br>
            <a:br>
              <a:rPr lang="en-US" altLang="zh-CN" sz="2400" b="0" dirty="0"/>
            </a:br>
            <a:br>
              <a:rPr lang="en-US" altLang="zh-CN" sz="2400" b="0" dirty="0"/>
            </a:br>
            <a:br>
              <a:rPr lang="en-US" altLang="zh-CN" sz="2400" b="0" dirty="0"/>
            </a:br>
            <a:endParaRPr lang="en-US" altLang="zh-CN" sz="2400" b="0" dirty="0"/>
          </a:p>
          <a:p>
            <a:pPr lvl="1"/>
            <a:endParaRPr lang="en-US" altLang="zh-CN" sz="2400" b="0" dirty="0"/>
          </a:p>
          <a:p>
            <a:pPr lvl="1"/>
            <a:endParaRPr lang="en-US" altLang="zh-CN" sz="2400" b="0" dirty="0"/>
          </a:p>
          <a:p>
            <a:pPr lvl="1"/>
            <a:endParaRPr lang="en-US" altLang="zh-CN" sz="2400" b="0" dirty="0"/>
          </a:p>
          <a:p>
            <a:pPr lvl="1"/>
            <a:r>
              <a:rPr lang="zh-CN" altLang="en-US" sz="2400" b="0" dirty="0"/>
              <a:t>离散时间周期信号的傅里叶级数的系数为其一个周期内信号傅里叶变换的等间隔采样：</a:t>
            </a:r>
          </a:p>
        </p:txBody>
      </p:sp>
      <p:sp>
        <p:nvSpPr>
          <p:cNvPr id="4" name="灯片编号占位符 3">
            <a:extLst>
              <a:ext uri="{FF2B5EF4-FFF2-40B4-BE49-F238E27FC236}">
                <a16:creationId xmlns:a16="http://schemas.microsoft.com/office/drawing/2014/main" id="{646EA5E2-9338-495F-83BD-33D9439795F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1935F9-EB50-41E4-98AC-843E4C0FD2B0}" type="slidenum">
              <a:rPr lang="zh-CN" altLang="en-US">
                <a:solidFill>
                  <a:srgbClr val="898989"/>
                </a:solidFill>
                <a:latin typeface="Calibri" panose="020F0502020204030204" pitchFamily="34" charset="0"/>
              </a:rPr>
              <a:pPr eaLnBrk="1" hangingPunct="1"/>
              <a:t>6</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7170" name="Object 2">
                <a:extLst>
                  <a:ext uri="{FF2B5EF4-FFF2-40B4-BE49-F238E27FC236}">
                    <a16:creationId xmlns:a16="http://schemas.microsoft.com/office/drawing/2014/main" id="{EF6EF681-EAB4-47B0-A2E1-4F0FC1C2A30B}"/>
                  </a:ext>
                </a:extLst>
              </p:cNvPr>
              <p:cNvSpPr txBox="1"/>
              <p:nvPr/>
            </p:nvSpPr>
            <p:spPr bwMode="auto">
              <a:xfrm>
                <a:off x="1475656" y="3707104"/>
                <a:ext cx="3865612" cy="955133"/>
              </a:xfrm>
              <a:prstGeom prst="rect">
                <a:avLst/>
              </a:prstGeom>
              <a:solidFill>
                <a:srgbClr val="CCFFFF"/>
              </a:solidFill>
              <a:ln w="50800">
                <a:solidFill>
                  <a:srgbClr val="0000FF"/>
                </a:solidFill>
                <a:miter lim="800000"/>
                <a:headEnd/>
                <a:tailEnd/>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sub>
                        <m:sup/>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ea typeface="Cambria Math" panose="02040503050406030204" pitchFamily="18" charset="0"/>
                                </a:rPr>
                                <m:t>𝜔</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r>
                            <m:rPr>
                              <m:sty m:val="p"/>
                            </m:rPr>
                            <a:rPr lang="en-US" sz="240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oMath>
                  </m:oMathPara>
                </a14:m>
                <a:endParaRPr lang="en-US" sz="2400" dirty="0"/>
              </a:p>
            </p:txBody>
          </p:sp>
        </mc:Choice>
        <mc:Fallback xmlns="">
          <p:sp>
            <p:nvSpPr>
              <p:cNvPr id="7170" name="Object 2">
                <a:extLst>
                  <a:ext uri="{FF2B5EF4-FFF2-40B4-BE49-F238E27FC236}">
                    <a16:creationId xmlns:a16="http://schemas.microsoft.com/office/drawing/2014/main" id="{EF6EF681-EAB4-47B0-A2E1-4F0FC1C2A30B}"/>
                  </a:ext>
                </a:extLst>
              </p:cNvPr>
              <p:cNvSpPr txBox="1">
                <a:spLocks noRot="1" noChangeAspect="1" noMove="1" noResize="1" noEditPoints="1" noAdjustHandles="1" noChangeArrowheads="1" noChangeShapeType="1" noTextEdit="1"/>
              </p:cNvSpPr>
              <p:nvPr/>
            </p:nvSpPr>
            <p:spPr bwMode="auto">
              <a:xfrm>
                <a:off x="1475656" y="3707104"/>
                <a:ext cx="3865612" cy="955133"/>
              </a:xfrm>
              <a:prstGeom prst="rect">
                <a:avLst/>
              </a:prstGeom>
              <a:blipFill>
                <a:blip r:embed="rId2"/>
                <a:stretch>
                  <a:fillRect/>
                </a:stretch>
              </a:blipFill>
              <a:ln w="50800">
                <a:solidFill>
                  <a:srgbClr val="0000FF"/>
                </a:solid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71" name="Object 3">
                <a:extLst>
                  <a:ext uri="{FF2B5EF4-FFF2-40B4-BE49-F238E27FC236}">
                    <a16:creationId xmlns:a16="http://schemas.microsoft.com/office/drawing/2014/main" id="{F532B6D9-9551-4A8D-B6C7-0AEFC9AC1AFB}"/>
                  </a:ext>
                </a:extLst>
              </p:cNvPr>
              <p:cNvSpPr txBox="1"/>
              <p:nvPr/>
            </p:nvSpPr>
            <p:spPr bwMode="auto">
              <a:xfrm>
                <a:off x="1475656" y="2048055"/>
                <a:ext cx="3505572" cy="1099340"/>
              </a:xfrm>
              <a:prstGeom prst="rect">
                <a:avLst/>
              </a:prstGeom>
              <a:solidFill>
                <a:srgbClr val="CCFFFF"/>
              </a:solidFill>
              <a:ln w="50800">
                <a:solidFill>
                  <a:srgbClr val="0000FF"/>
                </a:solidFill>
                <a:miter lim="800000"/>
                <a:headEnd/>
                <a:tailEnd/>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ea typeface="Cambria Math" panose="02040503050406030204" pitchFamily="18" charset="0"/>
                            </a:rPr>
                            <m:t>𝜔</m:t>
                          </m:r>
                        </m:sup>
                      </m:sSup>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m:rPr>
                              <m:brk m:alnAt="23"/>
                            </m:rP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ea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ea typeface="Cambria Math" panose="02040503050406030204" pitchFamily="18" charset="0"/>
                                </a:rPr>
                                <m:t>𝜔</m:t>
                              </m:r>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7171" name="Object 3">
                <a:extLst>
                  <a:ext uri="{FF2B5EF4-FFF2-40B4-BE49-F238E27FC236}">
                    <a16:creationId xmlns:a16="http://schemas.microsoft.com/office/drawing/2014/main" id="{F532B6D9-9551-4A8D-B6C7-0AEFC9AC1AFB}"/>
                  </a:ext>
                </a:extLst>
              </p:cNvPr>
              <p:cNvSpPr txBox="1">
                <a:spLocks noRot="1" noChangeAspect="1" noMove="1" noResize="1" noEditPoints="1" noAdjustHandles="1" noChangeArrowheads="1" noChangeShapeType="1" noTextEdit="1"/>
              </p:cNvSpPr>
              <p:nvPr/>
            </p:nvSpPr>
            <p:spPr bwMode="auto">
              <a:xfrm>
                <a:off x="1475656" y="2048055"/>
                <a:ext cx="3505572" cy="1099340"/>
              </a:xfrm>
              <a:prstGeom prst="rect">
                <a:avLst/>
              </a:prstGeom>
              <a:blipFill>
                <a:blip r:embed="rId3"/>
                <a:stretch>
                  <a:fillRect/>
                </a:stretch>
              </a:blipFill>
              <a:ln w="50800">
                <a:solidFill>
                  <a:srgbClr val="0000FF"/>
                </a:solidFill>
                <a:miter lim="800000"/>
                <a:headEnd/>
                <a:tailEnd/>
              </a:ln>
              <a:effectLst/>
            </p:spPr>
            <p:txBody>
              <a:bodyPr/>
              <a:lstStyle/>
              <a:p>
                <a:r>
                  <a:rPr lang="en-US">
                    <a:noFill/>
                  </a:rPr>
                  <a:t> </a:t>
                </a:r>
              </a:p>
            </p:txBody>
          </p:sp>
        </mc:Fallback>
      </mc:AlternateContent>
      <p:sp>
        <p:nvSpPr>
          <p:cNvPr id="7" name="TextBox 6">
            <a:extLst>
              <a:ext uri="{FF2B5EF4-FFF2-40B4-BE49-F238E27FC236}">
                <a16:creationId xmlns:a16="http://schemas.microsoft.com/office/drawing/2014/main" id="{0FDF689C-ADA0-49B7-AAB7-BC63CB230404}"/>
              </a:ext>
            </a:extLst>
          </p:cNvPr>
          <p:cNvSpPr txBox="1">
            <a:spLocks noChangeArrowheads="1"/>
          </p:cNvSpPr>
          <p:nvPr/>
        </p:nvSpPr>
        <p:spPr bwMode="auto">
          <a:xfrm>
            <a:off x="5483293" y="3732814"/>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FF0000"/>
                </a:solidFill>
                <a:latin typeface="Times New Roman" panose="02020603050405020304" pitchFamily="18" charset="0"/>
                <a:ea typeface="华文楷体" panose="02010600040101010101" pitchFamily="2" charset="-122"/>
              </a:rPr>
              <a:t>综合公式</a:t>
            </a:r>
          </a:p>
        </p:txBody>
      </p:sp>
      <p:sp>
        <p:nvSpPr>
          <p:cNvPr id="8" name="TextBox 7">
            <a:extLst>
              <a:ext uri="{FF2B5EF4-FFF2-40B4-BE49-F238E27FC236}">
                <a16:creationId xmlns:a16="http://schemas.microsoft.com/office/drawing/2014/main" id="{58D808BA-EC2D-45E8-935F-55642FB44188}"/>
              </a:ext>
            </a:extLst>
          </p:cNvPr>
          <p:cNvSpPr txBox="1">
            <a:spLocks noChangeArrowheads="1"/>
          </p:cNvSpPr>
          <p:nvPr/>
        </p:nvSpPr>
        <p:spPr bwMode="auto">
          <a:xfrm>
            <a:off x="5483293" y="2119491"/>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FF0000"/>
                </a:solidFill>
                <a:latin typeface="Times New Roman" panose="02020603050405020304" pitchFamily="18" charset="0"/>
                <a:ea typeface="华文楷体" panose="02010600040101010101" pitchFamily="2" charset="-122"/>
              </a:rPr>
              <a:t>分析公式</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7D962BE-EB41-4402-8250-DC68F74CC516}"/>
                  </a:ext>
                </a:extLst>
              </p:cNvPr>
              <p:cNvSpPr txBox="1">
                <a:spLocks noChangeArrowheads="1"/>
              </p:cNvSpPr>
              <p:nvPr/>
            </p:nvSpPr>
            <p:spPr bwMode="auto">
              <a:xfrm>
                <a:off x="5483293" y="4209434"/>
                <a:ext cx="2495170" cy="4735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Times New Roman" panose="02020603050405020304" pitchFamily="18" charset="0"/>
                    <a:ea typeface="华文楷体" panose="02010600040101010101" pitchFamily="2" charset="-122"/>
                  </a:rPr>
                  <a:t>(</a:t>
                </a:r>
                <a14:m>
                  <m:oMath xmlns:m="http://schemas.openxmlformats.org/officeDocument/2006/math">
                    <m:sSup>
                      <m:sSupPr>
                        <m:ctrlPr>
                          <a:rPr lang="en-US" sz="2400" i="1" smtClean="0">
                            <a:solidFill>
                              <a:srgbClr val="FF0000"/>
                            </a:solidFill>
                            <a:latin typeface="Cambria Math" panose="02040503050406030204" pitchFamily="18" charset="0"/>
                          </a:rPr>
                        </m:ctrlPr>
                      </m:sSupPr>
                      <m:e>
                        <m:r>
                          <m:rPr>
                            <m:sty m:val="p"/>
                          </m:rPr>
                          <a:rPr lang="en-US" sz="2400">
                            <a:solidFill>
                              <a:srgbClr val="FF0000"/>
                            </a:solidFill>
                            <a:latin typeface="Cambria Math" panose="02040503050406030204" pitchFamily="18" charset="0"/>
                          </a:rPr>
                          <m:t>e</m:t>
                        </m:r>
                      </m:e>
                      <m:sup>
                        <m:r>
                          <m:rPr>
                            <m:sty m:val="p"/>
                          </m:rPr>
                          <a:rPr lang="en-US" sz="2400">
                            <a:solidFill>
                              <a:srgbClr val="FF0000"/>
                            </a:solidFill>
                            <a:latin typeface="Cambria Math" panose="02040503050406030204" pitchFamily="18" charset="0"/>
                          </a:rPr>
                          <m:t>j</m:t>
                        </m:r>
                        <m:r>
                          <a:rPr lang="en-US" sz="2400" i="1">
                            <a:solidFill>
                              <a:srgbClr val="FF0000"/>
                            </a:solidFill>
                            <a:latin typeface="Cambria Math" panose="02040503050406030204" pitchFamily="18" charset="0"/>
                          </a:rPr>
                          <m:t>𝜔</m:t>
                        </m:r>
                        <m:r>
                          <a:rPr lang="en-US" sz="2400" i="1">
                            <a:solidFill>
                              <a:srgbClr val="FF0000"/>
                            </a:solidFill>
                            <a:latin typeface="Cambria Math" panose="02040503050406030204" pitchFamily="18" charset="0"/>
                          </a:rPr>
                          <m:t>𝑛</m:t>
                        </m:r>
                      </m:sup>
                    </m:sSup>
                  </m:oMath>
                </a14:m>
                <a:r>
                  <a:rPr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的线性组合</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solidFill>
                    <a:srgbClr val="FF0000"/>
                  </a:solidFill>
                  <a:latin typeface="Times New Roman" panose="02020603050405020304" pitchFamily="18" charset="0"/>
                  <a:ea typeface="华文楷体" panose="02010600040101010101" pitchFamily="2" charset="-122"/>
                </a:endParaRPr>
              </a:p>
            </p:txBody>
          </p:sp>
        </mc:Choice>
        <mc:Fallback xmlns="">
          <p:sp>
            <p:nvSpPr>
              <p:cNvPr id="9" name="TextBox 8">
                <a:extLst>
                  <a:ext uri="{FF2B5EF4-FFF2-40B4-BE49-F238E27FC236}">
                    <a16:creationId xmlns:a16="http://schemas.microsoft.com/office/drawing/2014/main" id="{47D962BE-EB41-4402-8250-DC68F74CC516}"/>
                  </a:ext>
                </a:extLst>
              </p:cNvPr>
              <p:cNvSpPr txBox="1">
                <a:spLocks noRot="1" noChangeAspect="1" noMove="1" noResize="1" noEditPoints="1" noAdjustHandles="1" noChangeArrowheads="1" noChangeShapeType="1" noTextEdit="1"/>
              </p:cNvSpPr>
              <p:nvPr/>
            </p:nvSpPr>
            <p:spPr bwMode="auto">
              <a:xfrm>
                <a:off x="5483293" y="4209434"/>
                <a:ext cx="2495170" cy="473591"/>
              </a:xfrm>
              <a:prstGeom prst="rect">
                <a:avLst/>
              </a:prstGeom>
              <a:blipFill>
                <a:blip r:embed="rId4"/>
                <a:stretch>
                  <a:fillRect l="-3659" t="-9091" r="-2927" b="-311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A005B77-CBEF-45B3-B175-8E9048F49B18}"/>
                  </a:ext>
                </a:extLst>
              </p:cNvPr>
              <p:cNvSpPr txBox="1">
                <a:spLocks noChangeArrowheads="1"/>
              </p:cNvSpPr>
              <p:nvPr/>
            </p:nvSpPr>
            <p:spPr bwMode="auto">
              <a:xfrm>
                <a:off x="5483293" y="2633841"/>
                <a:ext cx="2497928"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latin typeface="Times New Roman" panose="02020603050405020304" pitchFamily="18" charset="0"/>
                    <a:ea typeface="华文楷体" panose="02010600040101010101" pitchFamily="2" charset="-122"/>
                  </a:rPr>
                  <a:t>(</a:t>
                </a:r>
                <a:r>
                  <a:rPr lang="zh-CN" altLang="en-US" sz="2400" dirty="0">
                    <a:solidFill>
                      <a:srgbClr val="FF0000"/>
                    </a:solidFill>
                    <a:latin typeface="Times New Roman" panose="02020603050405020304" pitchFamily="18" charset="0"/>
                    <a:ea typeface="华文楷体" panose="02010600040101010101" pitchFamily="2" charset="-122"/>
                  </a:rPr>
                  <a:t>获得</a:t>
                </a:r>
                <a14:m>
                  <m:oMath xmlns:m="http://schemas.openxmlformats.org/officeDocument/2006/math">
                    <m:r>
                      <a:rPr lang="en-US" sz="2400" i="1" smtClean="0">
                        <a:solidFill>
                          <a:srgbClr val="FF0000"/>
                        </a:solidFill>
                        <a:latin typeface="Cambria Math" panose="02040503050406030204" pitchFamily="18" charset="0"/>
                      </a:rPr>
                      <m:t>𝑥</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m:t>
                    </m:r>
                  </m:oMath>
                </a14:m>
                <a:r>
                  <a:rPr lang="zh-CN" altLang="en-US" sz="2400" dirty="0">
                    <a:solidFill>
                      <a:srgbClr val="FF0000"/>
                    </a:solidFill>
                    <a:latin typeface="Times New Roman" panose="02020603050405020304" pitchFamily="18" charset="0"/>
                    <a:ea typeface="华文楷体" panose="02010600040101010101" pitchFamily="2" charset="-122"/>
                  </a:rPr>
                  <a:t>的频谱</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solidFill>
                    <a:srgbClr val="FF0000"/>
                  </a:solidFill>
                  <a:latin typeface="Times New Roman" panose="02020603050405020304" pitchFamily="18" charset="0"/>
                  <a:ea typeface="华文楷体" panose="02010600040101010101" pitchFamily="2" charset="-122"/>
                </a:endParaRPr>
              </a:p>
            </p:txBody>
          </p:sp>
        </mc:Choice>
        <mc:Fallback xmlns="">
          <p:sp>
            <p:nvSpPr>
              <p:cNvPr id="10" name="TextBox 9">
                <a:extLst>
                  <a:ext uri="{FF2B5EF4-FFF2-40B4-BE49-F238E27FC236}">
                    <a16:creationId xmlns:a16="http://schemas.microsoft.com/office/drawing/2014/main" id="{BA005B77-CBEF-45B3-B175-8E9048F49B18}"/>
                  </a:ext>
                </a:extLst>
              </p:cNvPr>
              <p:cNvSpPr txBox="1">
                <a:spLocks noRot="1" noChangeAspect="1" noMove="1" noResize="1" noEditPoints="1" noAdjustHandles="1" noChangeArrowheads="1" noChangeShapeType="1" noTextEdit="1"/>
              </p:cNvSpPr>
              <p:nvPr/>
            </p:nvSpPr>
            <p:spPr bwMode="auto">
              <a:xfrm>
                <a:off x="5483293" y="2633841"/>
                <a:ext cx="2497928" cy="461665"/>
              </a:xfrm>
              <a:prstGeom prst="rect">
                <a:avLst/>
              </a:prstGeom>
              <a:blipFill>
                <a:blip r:embed="rId5"/>
                <a:stretch>
                  <a:fillRect l="-3659" t="-11842" r="-2927"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780" name="Object 4">
                <a:extLst>
                  <a:ext uri="{FF2B5EF4-FFF2-40B4-BE49-F238E27FC236}">
                    <a16:creationId xmlns:a16="http://schemas.microsoft.com/office/drawing/2014/main" id="{7327F7A6-6784-4DBB-8907-A6902803F847}"/>
                  </a:ext>
                </a:extLst>
              </p:cNvPr>
              <p:cNvSpPr txBox="1"/>
              <p:nvPr/>
            </p:nvSpPr>
            <p:spPr bwMode="auto">
              <a:xfrm>
                <a:off x="1763688" y="5622923"/>
                <a:ext cx="5688632" cy="93493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smtClean="0">
                              <a:solidFill>
                                <a:srgbClr val="000000"/>
                              </a:solidFill>
                              <a:latin typeface="Cambria Math" panose="02040503050406030204" pitchFamily="18" charset="0"/>
                            </a:rPr>
                          </m:ctrlPr>
                        </m:dPr>
                        <m:e>
                          <m:m>
                            <m:mPr>
                              <m:plcHide m:val="on"/>
                              <m:mcs>
                                <m:mc>
                                  <m:mcPr>
                                    <m:count m:val="1"/>
                                    <m:mcJc m:val="center"/>
                                  </m:mcPr>
                                </m:mc>
                              </m:mcs>
                              <m:ctrlPr>
                                <a:rPr lang="en-US" sz="2400" i="1">
                                  <a:solidFill>
                                    <a:srgbClr val="000000"/>
                                  </a:solidFill>
                                  <a:latin typeface="Cambria Math" panose="02040503050406030204" pitchFamily="18" charset="0"/>
                                </a:rPr>
                              </m:ctrlPr>
                            </m:mPr>
                            <m:mr>
                              <m:e/>
                            </m:mr>
                            <m:mr>
                              <m:e/>
                            </m:mr>
                          </m:m>
                          <m:m>
                            <m:mPr>
                              <m:mcs>
                                <m:mc>
                                  <m:mcPr>
                                    <m:count m:val="1"/>
                                    <m:mcJc m:val="center"/>
                                  </m:mcPr>
                                </m:mc>
                              </m:mcs>
                              <m:ctrlPr>
                                <a:rPr lang="en-US" sz="2400" i="1" smtClean="0">
                                  <a:solidFill>
                                    <a:srgbClr val="000000"/>
                                  </a:solidFill>
                                  <a:latin typeface="Cambria Math" panose="02040503050406030204" pitchFamily="18" charset="0"/>
                                </a:rPr>
                              </m:ctrlPr>
                            </m:mPr>
                            <m:m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ea typeface="Cambria Math" panose="02040503050406030204" pitchFamily="18" charset="0"/>
                                      </a:rPr>
                                      <m:t>𝜔</m:t>
                                    </m:r>
                                  </m:sup>
                                </m:sSup>
                                <m:r>
                                  <a:rPr lang="en-US" sz="2400" i="1">
                                    <a:solidFill>
                                      <a:srgbClr val="000000"/>
                                    </a:solidFill>
                                    <a:latin typeface="Cambria Math" panose="02040503050406030204" pitchFamily="18" charset="0"/>
                                  </a:rPr>
                                  <m:t>)</m:t>
                                </m:r>
                              </m:e>
                            </m:mr>
                            <m:m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𝑥</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e>
                            </m:mr>
                          </m:m>
                        </m:e>
                      </m:d>
                      <m:r>
                        <a:rPr lang="en-US" sz="2400" i="1">
                          <a:solidFill>
                            <a:srgbClr val="000000"/>
                          </a:solidFill>
                          <a:latin typeface="Cambria Math" panose="02040503050406030204" pitchFamily="18" charset="0"/>
                        </a:rPr>
                        <m:t>⇒</m:t>
                      </m:r>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𝑎</m:t>
                          </m:r>
                        </m:e>
                        <m:sub>
                          <m:r>
                            <a:rPr lang="en-US" sz="2400" i="1">
                              <a:solidFill>
                                <a:srgbClr val="FF0000"/>
                              </a:solidFill>
                              <a:latin typeface="Cambria Math" panose="02040503050406030204" pitchFamily="18" charset="0"/>
                            </a:rPr>
                            <m:t>𝑘</m:t>
                          </m:r>
                        </m:sub>
                      </m:sSub>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b="0" i="1" smtClean="0">
                              <a:solidFill>
                                <a:srgbClr val="FF0000"/>
                              </a:solidFill>
                              <a:latin typeface="Cambria Math" panose="02040503050406030204" pitchFamily="18" charset="0"/>
                            </a:rPr>
                            <m:t>𝑁</m:t>
                          </m:r>
                        </m:den>
                      </m:f>
                      <m:r>
                        <a:rPr lang="en-US" sz="2400" i="1">
                          <a:solidFill>
                            <a:srgbClr val="FF0000"/>
                          </a:solidFill>
                          <a:latin typeface="Cambria Math" panose="02040503050406030204" pitchFamily="18" charset="0"/>
                        </a:rPr>
                        <m:t>𝑋</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m:rPr>
                              <m:sty m:val="p"/>
                            </m:rPr>
                            <a:rPr lang="en-US" sz="2400">
                              <a:solidFill>
                                <a:srgbClr val="FF0000"/>
                              </a:solidFill>
                              <a:latin typeface="Cambria Math" panose="02040503050406030204" pitchFamily="18" charset="0"/>
                            </a:rPr>
                            <m:t>e</m:t>
                          </m:r>
                        </m:e>
                        <m:sup>
                          <m:r>
                            <m:rPr>
                              <m:sty m:val="p"/>
                            </m:rPr>
                            <a:rPr lang="en-US" sz="2400">
                              <a:solidFill>
                                <a:srgbClr val="FF0000"/>
                              </a:solidFill>
                              <a:latin typeface="Cambria Math" panose="02040503050406030204" pitchFamily="18" charset="0"/>
                            </a:rPr>
                            <m:t>j</m:t>
                          </m:r>
                          <m:r>
                            <a:rPr lang="en-US" sz="2400" i="1">
                              <a:solidFill>
                                <a:srgbClr val="FF0000"/>
                              </a:solidFill>
                              <a:latin typeface="Cambria Math" panose="02040503050406030204" pitchFamily="18" charset="0"/>
                              <a:ea typeface="Cambria Math" panose="02040503050406030204" pitchFamily="18" charset="0"/>
                            </a:rPr>
                            <m:t>𝜔</m:t>
                          </m:r>
                        </m:sup>
                      </m:sSup>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m:t>
                          </m:r>
                        </m:e>
                        <m:sub>
                          <m:r>
                            <a:rPr lang="en-US" sz="2400" i="1">
                              <a:solidFill>
                                <a:srgbClr val="FF0000"/>
                              </a:solidFill>
                              <a:latin typeface="Cambria Math" panose="02040503050406030204" pitchFamily="18" charset="0"/>
                            </a:rPr>
                            <m:t>𝜔</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0</m:t>
                              </m:r>
                            </m:sub>
                          </m:sSub>
                        </m:sub>
                      </m:sSub>
                    </m:oMath>
                  </m:oMathPara>
                </a14:m>
                <a:endParaRPr lang="en-US" sz="2400" dirty="0"/>
              </a:p>
            </p:txBody>
          </p:sp>
        </mc:Choice>
        <mc:Fallback xmlns="">
          <p:sp>
            <p:nvSpPr>
              <p:cNvPr id="75780" name="Object 4">
                <a:extLst>
                  <a:ext uri="{FF2B5EF4-FFF2-40B4-BE49-F238E27FC236}">
                    <a16:creationId xmlns:a16="http://schemas.microsoft.com/office/drawing/2014/main" id="{7327F7A6-6784-4DBB-8907-A6902803F847}"/>
                  </a:ext>
                </a:extLst>
              </p:cNvPr>
              <p:cNvSpPr txBox="1">
                <a:spLocks noRot="1" noChangeAspect="1" noMove="1" noResize="1" noEditPoints="1" noAdjustHandles="1" noChangeArrowheads="1" noChangeShapeType="1" noTextEdit="1"/>
              </p:cNvSpPr>
              <p:nvPr/>
            </p:nvSpPr>
            <p:spPr bwMode="auto">
              <a:xfrm>
                <a:off x="1763688" y="5622923"/>
                <a:ext cx="5688632" cy="934936"/>
              </a:xfrm>
              <a:prstGeom prst="rect">
                <a:avLst/>
              </a:prstGeom>
              <a:blipFill>
                <a:blip r:embed="rId6"/>
                <a:stretch>
                  <a:fillRect/>
                </a:stretch>
              </a:blipFill>
              <a:ln>
                <a:noFill/>
              </a:ln>
              <a:effectLst/>
            </p:spPr>
            <p:txBody>
              <a:bodyPr/>
              <a:lstStyle/>
              <a:p>
                <a:r>
                  <a:rPr lang="en-US">
                    <a:noFill/>
                  </a:rPr>
                  <a:t> </a:t>
                </a:r>
              </a:p>
            </p:txBody>
          </p:sp>
        </mc:Fallback>
      </mc:AlternateContent>
      <p:sp>
        <p:nvSpPr>
          <p:cNvPr id="7182" name="矩形 11">
            <a:extLst>
              <a:ext uri="{FF2B5EF4-FFF2-40B4-BE49-F238E27FC236}">
                <a16:creationId xmlns:a16="http://schemas.microsoft.com/office/drawing/2014/main" id="{CDA06637-7592-47DD-B7A4-48A4E52EAB6E}"/>
              </a:ext>
            </a:extLst>
          </p:cNvPr>
          <p:cNvSpPr>
            <a:spLocks noChangeArrowheads="1"/>
          </p:cNvSpPr>
          <p:nvPr/>
        </p:nvSpPr>
        <p:spPr bwMode="auto">
          <a:xfrm>
            <a:off x="1214438" y="3197002"/>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rgbClr val="FF0000"/>
                </a:solidFill>
                <a:latin typeface="Times New Roman" panose="02020603050405020304" pitchFamily="18" charset="0"/>
                <a:ea typeface="华文楷体" panose="02010600040101010101" pitchFamily="2" charset="-122"/>
              </a:rPr>
              <a:t>傅里叶反变换</a:t>
            </a:r>
            <a:r>
              <a:rPr lang="zh-CN" altLang="en-US" sz="2400">
                <a:solidFill>
                  <a:srgbClr val="000000"/>
                </a:solidFill>
                <a:latin typeface="Times New Roman" panose="02020603050405020304" pitchFamily="18" charset="0"/>
                <a:ea typeface="华文楷体" panose="02010600040101010101" pitchFamily="2" charset="-122"/>
              </a:rPr>
              <a:t>：</a:t>
            </a:r>
            <a:endParaRPr lang="zh-CN" altLang="en-US" sz="2400"/>
          </a:p>
        </p:txBody>
      </p:sp>
      <p:sp>
        <p:nvSpPr>
          <p:cNvPr id="17" name="标题 1">
            <a:extLst>
              <a:ext uri="{FF2B5EF4-FFF2-40B4-BE49-F238E27FC236}">
                <a16:creationId xmlns:a16="http://schemas.microsoft.com/office/drawing/2014/main" id="{3FF06748-8E40-47EC-A0DF-870A0123F19E}"/>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5780"/>
                                        </p:tgtEl>
                                        <p:attrNameLst>
                                          <p:attrName>style.visibility</p:attrName>
                                        </p:attrNameLst>
                                      </p:cBhvr>
                                      <p:to>
                                        <p:strVal val="visible"/>
                                      </p:to>
                                    </p:set>
                                    <p:animEffect transition="in" filter="wipe(down)">
                                      <p:cBhvr>
                                        <p:cTn id="10" dur="500"/>
                                        <p:tgtEl>
                                          <p:spTgt spid="75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02D07B2-68B3-437E-8AD0-0CA6B81D9262}"/>
                  </a:ext>
                </a:extLst>
              </p:cNvPr>
              <p:cNvSpPr>
                <a:spLocks noGrp="1"/>
              </p:cNvSpPr>
              <p:nvPr>
                <p:ph idx="1"/>
              </p:nvPr>
            </p:nvSpPr>
            <p:spPr/>
            <p:txBody>
              <a:bodyPr/>
              <a:lstStyle/>
              <a:p>
                <a:pPr marL="0" indent="0" algn="just">
                  <a:lnSpc>
                    <a:spcPct val="120000"/>
                  </a:lnSpc>
                  <a:buNone/>
                </a:pPr>
                <a:r>
                  <a:rPr lang="zh-CN" altLang="en-US" sz="2800" b="0" dirty="0">
                    <a:solidFill>
                      <a:srgbClr val="0000FF"/>
                    </a:solidFill>
                  </a:rPr>
                  <a:t>二</a:t>
                </a:r>
                <a:r>
                  <a:rPr lang="en-US" altLang="zh-CN" sz="2800" b="0" dirty="0">
                    <a:solidFill>
                      <a:srgbClr val="0000FF"/>
                    </a:solidFill>
                  </a:rPr>
                  <a:t>. </a:t>
                </a:r>
                <a:r>
                  <a:rPr lang="zh-CN" altLang="en-US" sz="2800" b="0" dirty="0">
                    <a:solidFill>
                      <a:srgbClr val="0000FF"/>
                    </a:solidFill>
                  </a:rPr>
                  <a:t>离散时间傅里叶变换的收敛</a:t>
                </a:r>
                <a:endParaRPr lang="en-US" altLang="zh-CN" sz="2800" b="0" dirty="0">
                  <a:solidFill>
                    <a:srgbClr val="0000FF"/>
                  </a:solidFill>
                </a:endParaRPr>
              </a:p>
              <a:p>
                <a:pPr lvl="1" algn="just">
                  <a:lnSpc>
                    <a:spcPct val="120000"/>
                  </a:lnSpc>
                </a:pPr>
                <a:r>
                  <a:rPr lang="zh-CN" altLang="en-US" b="0" dirty="0"/>
                  <a:t>当</a:t>
                </a:r>
                <a14:m>
                  <m:oMath xmlns:m="http://schemas.openxmlformats.org/officeDocument/2006/math">
                    <m:r>
                      <a:rPr lang="en-US" b="0" i="1">
                        <a:solidFill>
                          <a:srgbClr val="000000"/>
                        </a:solidFill>
                        <a:latin typeface="Cambria Math" panose="02040503050406030204" pitchFamily="18" charset="0"/>
                      </a:rPr>
                      <m:t>𝑥</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𝑛</m:t>
                    </m:r>
                    <m:r>
                      <a:rPr lang="en-US" b="0" i="1">
                        <a:solidFill>
                          <a:srgbClr val="000000"/>
                        </a:solidFill>
                        <a:latin typeface="Cambria Math" panose="02040503050406030204" pitchFamily="18" charset="0"/>
                      </a:rPr>
                      <m:t>]</m:t>
                    </m:r>
                  </m:oMath>
                </a14:m>
                <a:r>
                  <a:rPr lang="zh-CN" altLang="en-US" b="0" dirty="0"/>
                  <a:t>是无限长序列时，由于</a:t>
                </a:r>
                <a14:m>
                  <m:oMath xmlns:m="http://schemas.openxmlformats.org/officeDocument/2006/math">
                    <m:r>
                      <a:rPr lang="en-US" b="0" i="1">
                        <a:solidFill>
                          <a:srgbClr val="000000"/>
                        </a:solidFill>
                        <a:latin typeface="Cambria Math" panose="02040503050406030204" pitchFamily="18" charset="0"/>
                      </a:rPr>
                      <m:t>𝑋</m:t>
                    </m:r>
                    <m:r>
                      <a:rPr lang="en-US" b="0" i="1">
                        <a:solidFill>
                          <a:srgbClr val="000000"/>
                        </a:solidFill>
                        <a:latin typeface="Cambria Math" panose="02040503050406030204" pitchFamily="18" charset="0"/>
                      </a:rPr>
                      <m:t>(</m:t>
                    </m:r>
                    <m:sSup>
                      <m:sSupPr>
                        <m:ctrlPr>
                          <a:rPr lang="en-US" b="0" i="1">
                            <a:solidFill>
                              <a:srgbClr val="000000"/>
                            </a:solidFill>
                            <a:latin typeface="Cambria Math" panose="02040503050406030204" pitchFamily="18" charset="0"/>
                          </a:rPr>
                        </m:ctrlPr>
                      </m:sSupPr>
                      <m:e>
                        <m:r>
                          <m:rPr>
                            <m:sty m:val="p"/>
                          </m:rPr>
                          <a:rPr lang="en-US" b="0" i="0">
                            <a:solidFill>
                              <a:srgbClr val="000000"/>
                            </a:solidFill>
                            <a:latin typeface="Cambria Math" panose="02040503050406030204" pitchFamily="18" charset="0"/>
                          </a:rPr>
                          <m:t>e</m:t>
                        </m:r>
                      </m:e>
                      <m:sup>
                        <m:r>
                          <m:rPr>
                            <m:sty m:val="p"/>
                          </m:rPr>
                          <a:rPr lang="en-US" b="0" i="0">
                            <a:solidFill>
                              <a:srgbClr val="000000"/>
                            </a:solidFill>
                            <a:latin typeface="Cambria Math" panose="02040503050406030204" pitchFamily="18" charset="0"/>
                          </a:rPr>
                          <m:t>j</m:t>
                        </m:r>
                        <m:r>
                          <a:rPr lang="en-US" b="0" i="1">
                            <a:solidFill>
                              <a:srgbClr val="000000"/>
                            </a:solidFill>
                            <a:latin typeface="Cambria Math" panose="02040503050406030204" pitchFamily="18" charset="0"/>
                            <a:ea typeface="Cambria Math" panose="02040503050406030204" pitchFamily="18" charset="0"/>
                          </a:rPr>
                          <m:t>𝜔</m:t>
                        </m:r>
                      </m:sup>
                    </m:sSup>
                    <m:r>
                      <a:rPr lang="en-US" b="0" i="1">
                        <a:solidFill>
                          <a:srgbClr val="000000"/>
                        </a:solidFill>
                        <a:latin typeface="Cambria Math" panose="02040503050406030204" pitchFamily="18" charset="0"/>
                      </a:rPr>
                      <m:t>)</m:t>
                    </m:r>
                  </m:oMath>
                </a14:m>
                <a:r>
                  <a:rPr lang="zh-CN" altLang="en-US" b="0" dirty="0"/>
                  <a:t>的表达式是无穷项级数，会存在收敛问题。</a:t>
                </a:r>
                <a:endParaRPr lang="en-US" altLang="zh-CN" b="0" dirty="0"/>
              </a:p>
              <a:p>
                <a:pPr lvl="1" algn="just">
                  <a:lnSpc>
                    <a:spcPct val="120000"/>
                  </a:lnSpc>
                </a:pPr>
                <a:r>
                  <a:rPr lang="zh-CN" altLang="en-US" b="0" dirty="0"/>
                  <a:t>有两组收敛条件：</a:t>
                </a:r>
                <a:r>
                  <a:rPr lang="zh-CN" altLang="en-US" b="0" dirty="0">
                    <a:cs typeface="楷体_GB2312" panose="02010609030101010101" pitchFamily="49" charset="-122"/>
                  </a:rPr>
                  <a:t>若</a:t>
                </a:r>
                <a14:m>
                  <m:oMath xmlns:m="http://schemas.openxmlformats.org/officeDocument/2006/math">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r>
                      <a:rPr lang="zh-CN" altLang="en-US" b="0" i="1" smtClean="0">
                        <a:solidFill>
                          <a:schemeClr val="tx1"/>
                        </a:solidFill>
                        <a:latin typeface="Cambria Math" panose="02040503050406030204" pitchFamily="18" charset="0"/>
                      </a:rPr>
                      <m:t>平方</m:t>
                    </m:r>
                    <m:r>
                      <a:rPr lang="zh-CN" altLang="en-US" b="0" i="1">
                        <a:solidFill>
                          <a:schemeClr val="tx1"/>
                        </a:solidFill>
                        <a:latin typeface="Cambria Math" panose="02040503050406030204" pitchFamily="18" charset="0"/>
                      </a:rPr>
                      <m:t>可和</m:t>
                    </m:r>
                    <m:r>
                      <a:rPr lang="zh-CN" altLang="en-US" b="0" i="1" smtClean="0">
                        <a:solidFill>
                          <a:schemeClr val="tx1"/>
                        </a:solidFill>
                        <a:latin typeface="Cambria Math" panose="02040503050406030204" pitchFamily="18" charset="0"/>
                      </a:rPr>
                      <m:t>，</m:t>
                    </m:r>
                    <m:r>
                      <a:rPr lang="zh-CN" altLang="en-US" b="0" i="1">
                        <a:solidFill>
                          <a:schemeClr val="tx1"/>
                        </a:solidFill>
                        <a:latin typeface="Cambria Math" panose="02040503050406030204" pitchFamily="18" charset="0"/>
                      </a:rPr>
                      <m:t>即</m:t>
                    </m:r>
                    <m:nary>
                      <m:naryPr>
                        <m:chr m:val="∑"/>
                        <m:ctrlPr>
                          <a:rPr lang="en-US" b="0" i="1">
                            <a:solidFill>
                              <a:srgbClr val="FF0000"/>
                            </a:solidFill>
                            <a:latin typeface="Cambria Math" panose="02040503050406030204" pitchFamily="18" charset="0"/>
                          </a:rPr>
                        </m:ctrlPr>
                      </m:naryPr>
                      <m:sub>
                        <m:r>
                          <a:rPr lang="en-US" b="0" i="1">
                            <a:solidFill>
                              <a:srgbClr val="FF0000"/>
                            </a:solidFill>
                            <a:latin typeface="Cambria Math" panose="02040503050406030204" pitchFamily="18" charset="0"/>
                          </a:rPr>
                          <m:t>𝑛</m:t>
                        </m:r>
                        <m:r>
                          <a:rPr lang="en-US" b="0" i="1">
                            <a:solidFill>
                              <a:srgbClr val="FF0000"/>
                            </a:solidFill>
                            <a:latin typeface="Cambria Math" panose="02040503050406030204" pitchFamily="18" charset="0"/>
                          </a:rPr>
                          <m:t>=−∞</m:t>
                        </m:r>
                      </m:sub>
                      <m:sup>
                        <m:r>
                          <a:rPr lang="en-US" b="0" i="1">
                            <a:solidFill>
                              <a:srgbClr val="FF0000"/>
                            </a:solidFill>
                            <a:latin typeface="Cambria Math" panose="02040503050406030204" pitchFamily="18" charset="0"/>
                          </a:rPr>
                          <m:t>∞</m:t>
                        </m:r>
                      </m:sup>
                      <m:e>
                        <m:sSup>
                          <m:sSupPr>
                            <m:ctrlPr>
                              <a:rPr lang="en-US" b="0" i="1">
                                <a:solidFill>
                                  <a:srgbClr val="FF0000"/>
                                </a:solidFill>
                                <a:latin typeface="Cambria Math" panose="02040503050406030204" pitchFamily="18" charset="0"/>
                              </a:rPr>
                            </m:ctrlPr>
                          </m:sSupPr>
                          <m:e>
                            <m:d>
                              <m:dPr>
                                <m:begChr m:val="|"/>
                                <m:endChr m:val="|"/>
                                <m:ctrlPr>
                                  <a:rPr lang="en-US" b="0" i="1">
                                    <a:solidFill>
                                      <a:srgbClr val="FF0000"/>
                                    </a:solidFill>
                                    <a:latin typeface="Cambria Math" panose="02040503050406030204" pitchFamily="18" charset="0"/>
                                  </a:rPr>
                                </m:ctrlPr>
                              </m:dPr>
                              <m:e>
                                <m:r>
                                  <a:rPr lang="en-US" b="0" i="1">
                                    <a:solidFill>
                                      <a:srgbClr val="FF0000"/>
                                    </a:solidFill>
                                    <a:latin typeface="Cambria Math" panose="02040503050406030204" pitchFamily="18" charset="0"/>
                                  </a:rPr>
                                  <m:t>𝑥</m:t>
                                </m:r>
                                <m:r>
                                  <a:rPr lang="en-US" b="0" i="1">
                                    <a:solidFill>
                                      <a:srgbClr val="FF0000"/>
                                    </a:solidFill>
                                    <a:latin typeface="Cambria Math" panose="02040503050406030204" pitchFamily="18" charset="0"/>
                                  </a:rPr>
                                  <m:t>[</m:t>
                                </m:r>
                                <m:r>
                                  <a:rPr lang="en-US" b="0" i="1">
                                    <a:solidFill>
                                      <a:srgbClr val="FF0000"/>
                                    </a:solidFill>
                                    <a:latin typeface="Cambria Math" panose="02040503050406030204" pitchFamily="18" charset="0"/>
                                  </a:rPr>
                                  <m:t>𝑛</m:t>
                                </m:r>
                                <m:r>
                                  <a:rPr lang="en-US" b="0" i="1">
                                    <a:solidFill>
                                      <a:srgbClr val="FF0000"/>
                                    </a:solidFill>
                                    <a:latin typeface="Cambria Math" panose="02040503050406030204" pitchFamily="18" charset="0"/>
                                  </a:rPr>
                                  <m:t>]</m:t>
                                </m:r>
                              </m:e>
                            </m:d>
                          </m:e>
                          <m:sup>
                            <m:r>
                              <a:rPr lang="en-US" b="0" i="1">
                                <a:solidFill>
                                  <a:srgbClr val="FF0000"/>
                                </a:solidFill>
                                <a:latin typeface="Cambria Math" panose="02040503050406030204" pitchFamily="18" charset="0"/>
                              </a:rPr>
                              <m:t>2</m:t>
                            </m:r>
                          </m:sup>
                        </m:sSup>
                      </m:e>
                    </m:nary>
                    <m:r>
                      <a:rPr lang="en-US" b="0" i="1">
                        <a:solidFill>
                          <a:srgbClr val="FF0000"/>
                        </a:solidFill>
                        <a:latin typeface="Cambria Math" panose="02040503050406030204" pitchFamily="18" charset="0"/>
                      </a:rPr>
                      <m:t>&lt;∞</m:t>
                    </m:r>
                  </m:oMath>
                </a14:m>
                <a:r>
                  <a:rPr lang="zh-CN" altLang="en-US" b="0" dirty="0">
                    <a:cs typeface="楷体_GB2312" panose="02010609030101010101" pitchFamily="49" charset="-122"/>
                  </a:rPr>
                  <a:t>，或绝对可和，即</a:t>
                </a:r>
                <a14:m>
                  <m:oMath xmlns:m="http://schemas.openxmlformats.org/officeDocument/2006/math">
                    <m:nary>
                      <m:naryPr>
                        <m:chr m:val="∑"/>
                        <m:ctrlPr>
                          <a:rPr lang="en-US" b="0" i="1">
                            <a:solidFill>
                              <a:srgbClr val="FF0000"/>
                            </a:solidFill>
                            <a:latin typeface="Cambria Math" panose="02040503050406030204" pitchFamily="18" charset="0"/>
                          </a:rPr>
                        </m:ctrlPr>
                      </m:naryPr>
                      <m:sub>
                        <m:r>
                          <a:rPr lang="en-US" b="0" i="1">
                            <a:solidFill>
                              <a:srgbClr val="FF0000"/>
                            </a:solidFill>
                            <a:latin typeface="Cambria Math" panose="02040503050406030204" pitchFamily="18" charset="0"/>
                          </a:rPr>
                          <m:t>𝑛</m:t>
                        </m:r>
                        <m:r>
                          <a:rPr lang="en-US" b="0" i="1">
                            <a:solidFill>
                              <a:srgbClr val="FF0000"/>
                            </a:solidFill>
                            <a:latin typeface="Cambria Math" panose="02040503050406030204" pitchFamily="18" charset="0"/>
                          </a:rPr>
                          <m:t>=−∞</m:t>
                        </m:r>
                      </m:sub>
                      <m:sup>
                        <m:r>
                          <a:rPr lang="en-US" b="0" i="1">
                            <a:solidFill>
                              <a:srgbClr val="FF0000"/>
                            </a:solidFill>
                            <a:latin typeface="Cambria Math" panose="02040503050406030204" pitchFamily="18" charset="0"/>
                          </a:rPr>
                          <m:t>∞</m:t>
                        </m:r>
                      </m:sup>
                      <m:e>
                        <m:d>
                          <m:dPr>
                            <m:begChr m:val="|"/>
                            <m:endChr m:val="|"/>
                            <m:ctrlPr>
                              <a:rPr lang="en-US" b="0" i="1">
                                <a:solidFill>
                                  <a:srgbClr val="FF0000"/>
                                </a:solidFill>
                                <a:latin typeface="Cambria Math" panose="02040503050406030204" pitchFamily="18" charset="0"/>
                              </a:rPr>
                            </m:ctrlPr>
                          </m:dPr>
                          <m:e>
                            <m:r>
                              <a:rPr lang="en-US" b="0" i="1">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rPr>
                              <m:t>]</m:t>
                            </m:r>
                          </m:e>
                        </m:d>
                      </m:e>
                    </m:nary>
                    <m:r>
                      <a:rPr lang="en-US" b="0" i="1">
                        <a:solidFill>
                          <a:srgbClr val="FF0000"/>
                        </a:solidFill>
                        <a:latin typeface="Cambria Math" panose="02040503050406030204" pitchFamily="18" charset="0"/>
                      </a:rPr>
                      <m:t>&lt;∞</m:t>
                    </m:r>
                  </m:oMath>
                </a14:m>
                <a:r>
                  <a:rPr lang="zh-CN" altLang="en-US" b="0" dirty="0">
                    <a:cs typeface="楷体_GB2312" panose="02010609030101010101" pitchFamily="49" charset="-122"/>
                  </a:rPr>
                  <a:t>，则级数收敛于</a:t>
                </a:r>
                <a14:m>
                  <m:oMath xmlns:m="http://schemas.openxmlformats.org/officeDocument/2006/math">
                    <m:r>
                      <a:rPr lang="en-US" b="0" i="1">
                        <a:solidFill>
                          <a:srgbClr val="000000"/>
                        </a:solidFill>
                        <a:latin typeface="Cambria Math" panose="02040503050406030204" pitchFamily="18" charset="0"/>
                      </a:rPr>
                      <m:t>𝑋</m:t>
                    </m:r>
                    <m:r>
                      <a:rPr lang="en-US" b="0" i="1">
                        <a:solidFill>
                          <a:srgbClr val="000000"/>
                        </a:solidFill>
                        <a:latin typeface="Cambria Math" panose="02040503050406030204" pitchFamily="18" charset="0"/>
                      </a:rPr>
                      <m:t>(</m:t>
                    </m:r>
                    <m:sSup>
                      <m:sSupPr>
                        <m:ctrlPr>
                          <a:rPr lang="en-US" b="0" i="1">
                            <a:solidFill>
                              <a:srgbClr val="000000"/>
                            </a:solidFill>
                            <a:latin typeface="Cambria Math" panose="02040503050406030204" pitchFamily="18" charset="0"/>
                          </a:rPr>
                        </m:ctrlPr>
                      </m:sSupPr>
                      <m:e>
                        <m:r>
                          <m:rPr>
                            <m:sty m:val="p"/>
                          </m:rPr>
                          <a:rPr lang="en-US" b="0" i="0">
                            <a:solidFill>
                              <a:srgbClr val="000000"/>
                            </a:solidFill>
                            <a:latin typeface="Cambria Math" panose="02040503050406030204" pitchFamily="18" charset="0"/>
                          </a:rPr>
                          <m:t>e</m:t>
                        </m:r>
                      </m:e>
                      <m:sup>
                        <m:r>
                          <m:rPr>
                            <m:sty m:val="p"/>
                          </m:rPr>
                          <a:rPr lang="en-US" b="0" i="0">
                            <a:solidFill>
                              <a:srgbClr val="000000"/>
                            </a:solidFill>
                            <a:latin typeface="Cambria Math" panose="02040503050406030204" pitchFamily="18" charset="0"/>
                          </a:rPr>
                          <m:t>j</m:t>
                        </m:r>
                        <m:r>
                          <a:rPr lang="en-US" b="0" i="1">
                            <a:solidFill>
                              <a:srgbClr val="000000"/>
                            </a:solidFill>
                            <a:latin typeface="Cambria Math" panose="02040503050406030204" pitchFamily="18" charset="0"/>
                            <a:ea typeface="Cambria Math" panose="02040503050406030204" pitchFamily="18" charset="0"/>
                          </a:rPr>
                          <m:t>𝜔</m:t>
                        </m:r>
                      </m:sup>
                    </m:sSup>
                    <m:r>
                      <a:rPr lang="en-US" b="0" i="1">
                        <a:solidFill>
                          <a:srgbClr val="000000"/>
                        </a:solidFill>
                        <a:latin typeface="Cambria Math" panose="02040503050406030204" pitchFamily="18" charset="0"/>
                      </a:rPr>
                      <m:t>)</m:t>
                    </m:r>
                  </m:oMath>
                </a14:m>
                <a:r>
                  <a:rPr lang="zh-CN" altLang="en-US" b="0" dirty="0">
                    <a:cs typeface="楷体_GB2312" panose="02010609030101010101" pitchFamily="49" charset="-122"/>
                  </a:rPr>
                  <a:t>。</a:t>
                </a:r>
                <a:endParaRPr lang="en-US" altLang="zh-CN" b="0" dirty="0">
                  <a:cs typeface="楷体_GB2312" panose="02010609030101010101" pitchFamily="49" charset="-122"/>
                </a:endParaRPr>
              </a:p>
              <a:p>
                <a:pPr lvl="1" algn="just">
                  <a:lnSpc>
                    <a:spcPct val="120000"/>
                  </a:lnSpc>
                </a:pPr>
                <a:r>
                  <a:rPr lang="zh-CN" altLang="en-US" b="0" dirty="0"/>
                  <a:t>当</a:t>
                </a:r>
                <a14:m>
                  <m:oMath xmlns:m="http://schemas.openxmlformats.org/officeDocument/2006/math">
                    <m:r>
                      <a:rPr lang="en-US" b="0" i="1">
                        <a:solidFill>
                          <a:srgbClr val="000000"/>
                        </a:solidFill>
                        <a:latin typeface="Cambria Math" panose="02040503050406030204" pitchFamily="18" charset="0"/>
                      </a:rPr>
                      <m:t>𝑥</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𝑛</m:t>
                    </m:r>
                    <m:r>
                      <a:rPr lang="en-US" b="0" i="1">
                        <a:solidFill>
                          <a:srgbClr val="000000"/>
                        </a:solidFill>
                        <a:latin typeface="Cambria Math" panose="02040503050406030204" pitchFamily="18" charset="0"/>
                      </a:rPr>
                      <m:t>]</m:t>
                    </m:r>
                  </m:oMath>
                </a14:m>
                <a:r>
                  <a:rPr lang="zh-CN" altLang="en-US" b="0" dirty="0"/>
                  <a:t>的傅里叶变换</a:t>
                </a:r>
                <a14:m>
                  <m:oMath xmlns:m="http://schemas.openxmlformats.org/officeDocument/2006/math">
                    <m:r>
                      <a:rPr lang="en-US" b="0" i="1">
                        <a:solidFill>
                          <a:srgbClr val="000000"/>
                        </a:solidFill>
                        <a:latin typeface="Cambria Math" panose="02040503050406030204" pitchFamily="18" charset="0"/>
                      </a:rPr>
                      <m:t>𝑋</m:t>
                    </m:r>
                    <m:r>
                      <a:rPr lang="en-US" b="0" i="1">
                        <a:solidFill>
                          <a:srgbClr val="000000"/>
                        </a:solidFill>
                        <a:latin typeface="Cambria Math" panose="02040503050406030204" pitchFamily="18" charset="0"/>
                      </a:rPr>
                      <m:t>(</m:t>
                    </m:r>
                    <m:sSup>
                      <m:sSupPr>
                        <m:ctrlPr>
                          <a:rPr lang="en-US" b="0" i="1">
                            <a:solidFill>
                              <a:srgbClr val="000000"/>
                            </a:solidFill>
                            <a:latin typeface="Cambria Math" panose="02040503050406030204" pitchFamily="18" charset="0"/>
                          </a:rPr>
                        </m:ctrlPr>
                      </m:sSupPr>
                      <m:e>
                        <m:r>
                          <m:rPr>
                            <m:sty m:val="p"/>
                          </m:rPr>
                          <a:rPr lang="en-US" b="0" i="0">
                            <a:solidFill>
                              <a:srgbClr val="000000"/>
                            </a:solidFill>
                            <a:latin typeface="Cambria Math" panose="02040503050406030204" pitchFamily="18" charset="0"/>
                          </a:rPr>
                          <m:t>e</m:t>
                        </m:r>
                      </m:e>
                      <m:sup>
                        <m:r>
                          <m:rPr>
                            <m:sty m:val="p"/>
                          </m:rPr>
                          <a:rPr lang="en-US" b="0" i="0">
                            <a:solidFill>
                              <a:srgbClr val="000000"/>
                            </a:solidFill>
                            <a:latin typeface="Cambria Math" panose="02040503050406030204" pitchFamily="18" charset="0"/>
                          </a:rPr>
                          <m:t>j</m:t>
                        </m:r>
                        <m:r>
                          <a:rPr lang="en-US" b="0" i="1">
                            <a:solidFill>
                              <a:srgbClr val="000000"/>
                            </a:solidFill>
                            <a:latin typeface="Cambria Math" panose="02040503050406030204" pitchFamily="18" charset="0"/>
                            <a:ea typeface="Cambria Math" panose="02040503050406030204" pitchFamily="18" charset="0"/>
                          </a:rPr>
                          <m:t>𝜔</m:t>
                        </m:r>
                      </m:sup>
                    </m:sSup>
                    <m:r>
                      <a:rPr lang="en-US" b="0" i="1">
                        <a:solidFill>
                          <a:srgbClr val="000000"/>
                        </a:solidFill>
                        <a:latin typeface="Cambria Math" panose="02040503050406030204" pitchFamily="18" charset="0"/>
                      </a:rPr>
                      <m:t>)</m:t>
                    </m:r>
                  </m:oMath>
                </a14:m>
                <a:r>
                  <a:rPr lang="zh-CN" altLang="en-US" b="0" dirty="0"/>
                  <a:t>存在时，其反变换不会产生</a:t>
                </a:r>
                <a:r>
                  <a:rPr lang="en-US" altLang="zh-CN" b="0" dirty="0"/>
                  <a:t>Gibbs </a:t>
                </a:r>
                <a:r>
                  <a:rPr lang="zh-CN" altLang="en-US" b="0" dirty="0"/>
                  <a:t>现象，也不存在收敛性问题。</a:t>
                </a:r>
              </a:p>
            </p:txBody>
          </p:sp>
        </mc:Choice>
        <mc:Fallback xmlns="">
          <p:sp>
            <p:nvSpPr>
              <p:cNvPr id="3" name="内容占位符 2">
                <a:extLst>
                  <a:ext uri="{FF2B5EF4-FFF2-40B4-BE49-F238E27FC236}">
                    <a16:creationId xmlns:a16="http://schemas.microsoft.com/office/drawing/2014/main" id="{902D07B2-68B3-437E-8AD0-0CA6B81D9262}"/>
                  </a:ext>
                </a:extLst>
              </p:cNvPr>
              <p:cNvSpPr>
                <a:spLocks noGrp="1" noRot="1" noChangeAspect="1" noMove="1" noResize="1" noEditPoints="1" noAdjustHandles="1" noChangeArrowheads="1" noChangeShapeType="1" noTextEdit="1"/>
              </p:cNvSpPr>
              <p:nvPr>
                <p:ph idx="1"/>
              </p:nvPr>
            </p:nvSpPr>
            <p:spPr>
              <a:blipFill>
                <a:blip r:embed="rId2"/>
                <a:stretch>
                  <a:fillRect l="-1481" t="-504" r="-148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6CC095AF-A1E1-4A25-A665-4C1A11244F7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F5E8CE9-D3C6-4F0F-9A01-FA464EBD3AFB}" type="slidenum">
              <a:rPr lang="zh-CN" altLang="en-US">
                <a:solidFill>
                  <a:srgbClr val="898989"/>
                </a:solidFill>
                <a:latin typeface="Calibri" panose="020F0502020204030204" pitchFamily="34" charset="0"/>
              </a:rPr>
              <a:pPr eaLnBrk="1" hangingPunct="1"/>
              <a:t>7</a:t>
            </a:fld>
            <a:endParaRPr lang="zh-CN" altLang="en-US">
              <a:solidFill>
                <a:srgbClr val="898989"/>
              </a:solidFill>
              <a:latin typeface="Calibri" panose="020F0502020204030204" pitchFamily="34" charset="0"/>
            </a:endParaRPr>
          </a:p>
        </p:txBody>
      </p:sp>
      <p:sp>
        <p:nvSpPr>
          <p:cNvPr id="12" name="标题 1">
            <a:extLst>
              <a:ext uri="{FF2B5EF4-FFF2-40B4-BE49-F238E27FC236}">
                <a16:creationId xmlns:a16="http://schemas.microsoft.com/office/drawing/2014/main" id="{11ACC5E0-5B6D-4D84-992D-FA6CEDC0A9BD}"/>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down)">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7" name="内容占位符 2">
            <a:extLst>
              <a:ext uri="{FF2B5EF4-FFF2-40B4-BE49-F238E27FC236}">
                <a16:creationId xmlns:a16="http://schemas.microsoft.com/office/drawing/2014/main" id="{B93579B3-FBFE-453C-8418-BA610C9AFFF0}"/>
              </a:ext>
            </a:extLst>
          </p:cNvPr>
          <p:cNvSpPr>
            <a:spLocks noGrp="1"/>
          </p:cNvSpPr>
          <p:nvPr>
            <p:ph idx="1"/>
          </p:nvPr>
        </p:nvSpPr>
        <p:spPr/>
        <p:txBody>
          <a:bodyPr/>
          <a:lstStyle/>
          <a:p>
            <a:pPr marL="0" indent="0">
              <a:buNone/>
            </a:pPr>
            <a:r>
              <a:rPr lang="zh-CN" altLang="en-US" sz="2800" b="0" dirty="0">
                <a:solidFill>
                  <a:srgbClr val="0000FF"/>
                </a:solidFill>
              </a:rPr>
              <a:t>三</a:t>
            </a:r>
            <a:r>
              <a:rPr lang="en-US" altLang="zh-CN" sz="2800" b="0" dirty="0">
                <a:solidFill>
                  <a:srgbClr val="0000FF"/>
                </a:solidFill>
              </a:rPr>
              <a:t>. </a:t>
            </a:r>
            <a:r>
              <a:rPr lang="zh-CN" altLang="en-US" sz="2800" b="0" dirty="0">
                <a:solidFill>
                  <a:srgbClr val="0000FF"/>
                </a:solidFill>
              </a:rPr>
              <a:t>常见信号的傅里叶变换</a:t>
            </a:r>
          </a:p>
        </p:txBody>
      </p:sp>
      <p:sp>
        <p:nvSpPr>
          <p:cNvPr id="4" name="灯片编号占位符 3">
            <a:extLst>
              <a:ext uri="{FF2B5EF4-FFF2-40B4-BE49-F238E27FC236}">
                <a16:creationId xmlns:a16="http://schemas.microsoft.com/office/drawing/2014/main" id="{767534B5-BD9F-4A7C-88F4-4E2AC0557D7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54384A1-78A5-48BA-8AF2-F881D4C2E643}" type="slidenum">
              <a:rPr lang="zh-CN" altLang="en-US">
                <a:solidFill>
                  <a:srgbClr val="898989"/>
                </a:solidFill>
                <a:latin typeface="Calibri" panose="020F0502020204030204" pitchFamily="34" charset="0"/>
              </a:rPr>
              <a:pPr eaLnBrk="1" hangingPunct="1"/>
              <a:t>8</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0291" name="Text Box 5">
                <a:extLst>
                  <a:ext uri="{FF2B5EF4-FFF2-40B4-BE49-F238E27FC236}">
                    <a16:creationId xmlns:a16="http://schemas.microsoft.com/office/drawing/2014/main" id="{A91A1320-C64A-42D8-A159-761AF774ED43}"/>
                  </a:ext>
                </a:extLst>
              </p:cNvPr>
              <p:cNvSpPr txBox="1">
                <a:spLocks noChangeArrowheads="1"/>
              </p:cNvSpPr>
              <p:nvPr/>
            </p:nvSpPr>
            <p:spPr bwMode="auto">
              <a:xfrm>
                <a:off x="914400" y="1824038"/>
                <a:ext cx="3751733" cy="50674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000099"/>
                    </a:solidFill>
                    <a:latin typeface="Times New Roman" panose="02020603050405020304" pitchFamily="18" charset="0"/>
                    <a:ea typeface="楷体_GB2312" panose="02010609030101010101" pitchFamily="49" charset="-122"/>
                    <a:cs typeface="Times New Roman" panose="02020603050405020304" pitchFamily="18" charset="0"/>
                  </a:rPr>
                  <a:t>1. </a:t>
                </a:r>
                <a14:m>
                  <m:oMath xmlns:m="http://schemas.openxmlformats.org/officeDocument/2006/math">
                    <m:r>
                      <a:rPr lang="en-US" sz="2400" i="1" smtClean="0">
                        <a:solidFill>
                          <a:srgbClr val="000000"/>
                        </a:solidFill>
                        <a:latin typeface="Cambria Math" panose="02040503050406030204" pitchFamily="18" charset="0"/>
                      </a:rPr>
                      <m:t>𝑥</m:t>
                    </m:r>
                    <m:d>
                      <m:dPr>
                        <m:begChr m:val="["/>
                        <m:endChr m:val="]"/>
                        <m:ctrlPr>
                          <a:rPr lang="en-US" sz="2400" b="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𝑛</m:t>
                        </m:r>
                      </m:e>
                    </m:d>
                    <m:r>
                      <a:rPr lang="en-US" sz="2400" i="1" smtClean="0">
                        <a:solidFill>
                          <a:srgbClr val="000000"/>
                        </a:solidFill>
                        <a:latin typeface="Cambria Math" panose="02040503050406030204" pitchFamily="18" charset="0"/>
                      </a:rPr>
                      <m:t>=</m:t>
                    </m:r>
                    <m:sSup>
                      <m:sSupPr>
                        <m:ctrlPr>
                          <a:rPr lang="en-US" sz="2400" i="1" smtClean="0">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𝑎</m:t>
                        </m:r>
                      </m:e>
                      <m:sup>
                        <m:r>
                          <a:rPr lang="en-US" sz="2400" b="0" i="1" smtClean="0">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𝑢</m:t>
                    </m:r>
                    <m:d>
                      <m:dPr>
                        <m:begChr m:val="["/>
                        <m:endChr m:val="]"/>
                        <m:ctrlPr>
                          <a:rPr lang="en-US" sz="2400" b="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, </m:t>
                    </m:r>
                    <m:d>
                      <m:dPr>
                        <m:begChr m:val="|"/>
                        <m:endChr m:val="|"/>
                        <m:ctrlPr>
                          <a:rPr lang="en-US" sz="2400" b="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𝑎</m:t>
                        </m:r>
                      </m:e>
                    </m:d>
                    <m:r>
                      <a:rPr lang="en-US" sz="2400" b="0" i="1" smtClean="0">
                        <a:solidFill>
                          <a:srgbClr val="000000"/>
                        </a:solidFill>
                        <a:latin typeface="Cambria Math" panose="02040503050406030204" pitchFamily="18" charset="0"/>
                      </a:rPr>
                      <m:t>&lt;1</m:t>
                    </m:r>
                  </m:oMath>
                </a14:m>
                <a:endParaRPr lang="en-US" altLang="zh-CN" sz="2400" dirty="0">
                  <a:solidFill>
                    <a:srgbClr val="000099"/>
                  </a:solidFill>
                  <a:latin typeface="Times New Roman" panose="02020603050405020304" pitchFamily="18" charset="0"/>
                  <a:ea typeface="楷体_GB2312" panose="02010609030101010101" pitchFamily="49" charset="-122"/>
                  <a:cs typeface="Times New Roman" panose="02020603050405020304" pitchFamily="18" charset="0"/>
                </a:endParaRPr>
              </a:p>
            </p:txBody>
          </p:sp>
        </mc:Choice>
        <mc:Fallback xmlns="">
          <p:sp>
            <p:nvSpPr>
              <p:cNvPr id="10291" name="Text Box 5">
                <a:extLst>
                  <a:ext uri="{FF2B5EF4-FFF2-40B4-BE49-F238E27FC236}">
                    <a16:creationId xmlns:a16="http://schemas.microsoft.com/office/drawing/2014/main" id="{A91A1320-C64A-42D8-A159-761AF774ED43}"/>
                  </a:ext>
                </a:extLst>
              </p:cNvPr>
              <p:cNvSpPr txBox="1">
                <a:spLocks noRot="1" noChangeAspect="1" noMove="1" noResize="1" noEditPoints="1" noAdjustHandles="1" noChangeArrowheads="1" noChangeShapeType="1" noTextEdit="1"/>
              </p:cNvSpPr>
              <p:nvPr/>
            </p:nvSpPr>
            <p:spPr bwMode="auto">
              <a:xfrm>
                <a:off x="914400" y="1824038"/>
                <a:ext cx="3751733" cy="506742"/>
              </a:xfrm>
              <a:prstGeom prst="rect">
                <a:avLst/>
              </a:prstGeom>
              <a:blipFill>
                <a:blip r:embed="rId2"/>
                <a:stretch>
                  <a:fillRect l="-2439" b="-277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3" name="标题 1">
            <a:extLst>
              <a:ext uri="{FF2B5EF4-FFF2-40B4-BE49-F238E27FC236}">
                <a16:creationId xmlns:a16="http://schemas.microsoft.com/office/drawing/2014/main" id="{604F9966-DBA4-439A-A307-16B364F1AED3}"/>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mc:AlternateContent xmlns:mc="http://schemas.openxmlformats.org/markup-compatibility/2006" xmlns:a14="http://schemas.microsoft.com/office/drawing/2010/main">
        <mc:Choice Requires="a14">
          <p:sp>
            <p:nvSpPr>
              <p:cNvPr id="56" name="Object 2050">
                <a:extLst>
                  <a:ext uri="{FF2B5EF4-FFF2-40B4-BE49-F238E27FC236}">
                    <a16:creationId xmlns:a16="http://schemas.microsoft.com/office/drawing/2014/main" id="{DAC300D8-0F78-402E-8D3F-4D26AF0EC504}"/>
                  </a:ext>
                </a:extLst>
              </p:cNvPr>
              <p:cNvSpPr txBox="1"/>
              <p:nvPr/>
            </p:nvSpPr>
            <p:spPr bwMode="auto">
              <a:xfrm>
                <a:off x="1361480" y="2543490"/>
                <a:ext cx="4938712" cy="109966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𝑛</m:t>
                              </m:r>
                            </m:sup>
                          </m:sSup>
                        </m:e>
                      </m:nary>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m:t>
                      </m:r>
                      <m:f>
                        <m:fPr>
                          <m:ctrlPr>
                            <a:rPr lang="en-US" sz="2400" i="1" smtClean="0">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𝑎</m:t>
                          </m:r>
                          <m:sSup>
                            <m:sSupPr>
                              <m:ctrlPr>
                                <a:rPr lang="en-US" sz="2400" i="1">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j</m:t>
                              </m:r>
                              <m:r>
                                <a:rPr lang="en-US" sz="2400" i="1">
                                  <a:solidFill>
                                    <a:srgbClr val="FF0000"/>
                                  </a:solidFill>
                                  <a:latin typeface="Cambria Math" panose="02040503050406030204" pitchFamily="18" charset="0"/>
                                </a:rPr>
                                <m:t>𝜔</m:t>
                              </m:r>
                            </m:sup>
                          </m:sSup>
                        </m:den>
                      </m:f>
                    </m:oMath>
                  </m:oMathPara>
                </a14:m>
                <a:endParaRPr lang="en-US" sz="2400" dirty="0"/>
              </a:p>
            </p:txBody>
          </p:sp>
        </mc:Choice>
        <mc:Fallback xmlns="">
          <p:sp>
            <p:nvSpPr>
              <p:cNvPr id="56" name="Object 2050">
                <a:extLst>
                  <a:ext uri="{FF2B5EF4-FFF2-40B4-BE49-F238E27FC236}">
                    <a16:creationId xmlns:a16="http://schemas.microsoft.com/office/drawing/2014/main" id="{DAC300D8-0F78-402E-8D3F-4D26AF0EC504}"/>
                  </a:ext>
                </a:extLst>
              </p:cNvPr>
              <p:cNvSpPr txBox="1">
                <a:spLocks noRot="1" noChangeAspect="1" noMove="1" noResize="1" noEditPoints="1" noAdjustHandles="1" noChangeArrowheads="1" noChangeShapeType="1" noTextEdit="1"/>
              </p:cNvSpPr>
              <p:nvPr/>
            </p:nvSpPr>
            <p:spPr bwMode="auto">
              <a:xfrm>
                <a:off x="1361480" y="2543490"/>
                <a:ext cx="4938712" cy="109966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bject 2083">
                <a:extLst>
                  <a:ext uri="{FF2B5EF4-FFF2-40B4-BE49-F238E27FC236}">
                    <a16:creationId xmlns:a16="http://schemas.microsoft.com/office/drawing/2014/main" id="{BF09B300-379F-4840-A188-686D340A2DC9}"/>
                  </a:ext>
                </a:extLst>
              </p:cNvPr>
              <p:cNvSpPr txBox="1"/>
              <p:nvPr/>
            </p:nvSpPr>
            <p:spPr bwMode="auto">
              <a:xfrm>
                <a:off x="2060575" y="4530235"/>
                <a:ext cx="4239617" cy="855299"/>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ad>
                            <m:radPr>
                              <m:degHide m:val="on"/>
                              <m:ctrlPr>
                                <a:rPr lang="en-US" sz="2400" i="1">
                                  <a:solidFill>
                                    <a:srgbClr val="000000"/>
                                  </a:solidFill>
                                  <a:latin typeface="Cambria Math" panose="02040503050406030204" pitchFamily="18" charset="0"/>
                                </a:rPr>
                              </m:ctrlPr>
                            </m:radPr>
                            <m:deg/>
                            <m:e>
                              <m:r>
                                <a:rPr lang="en-US" sz="2400" i="1">
                                  <a:solidFill>
                                    <a:srgbClr val="000000"/>
                                  </a:solidFill>
                                  <a:latin typeface="Cambria Math" panose="02040503050406030204" pitchFamily="18" charset="0"/>
                                </a:rPr>
                                <m:t>1+</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𝑎</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𝜔</m:t>
                                  </m:r>
                                </m:e>
                              </m:func>
                            </m:e>
                          </m:rad>
                        </m:den>
                      </m:f>
                    </m:oMath>
                  </m:oMathPara>
                </a14:m>
                <a:endParaRPr lang="en-US" sz="2400" dirty="0"/>
              </a:p>
            </p:txBody>
          </p:sp>
        </mc:Choice>
        <mc:Fallback xmlns="">
          <p:sp>
            <p:nvSpPr>
              <p:cNvPr id="59" name="Object 2083">
                <a:extLst>
                  <a:ext uri="{FF2B5EF4-FFF2-40B4-BE49-F238E27FC236}">
                    <a16:creationId xmlns:a16="http://schemas.microsoft.com/office/drawing/2014/main" id="{BF09B300-379F-4840-A188-686D340A2DC9}"/>
                  </a:ext>
                </a:extLst>
              </p:cNvPr>
              <p:cNvSpPr txBox="1">
                <a:spLocks noRot="1" noChangeAspect="1" noMove="1" noResize="1" noEditPoints="1" noAdjustHandles="1" noChangeArrowheads="1" noChangeShapeType="1" noTextEdit="1"/>
              </p:cNvSpPr>
              <p:nvPr/>
            </p:nvSpPr>
            <p:spPr bwMode="auto">
              <a:xfrm>
                <a:off x="2060575" y="4530235"/>
                <a:ext cx="4239617" cy="855299"/>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Object 2086">
                <a:extLst>
                  <a:ext uri="{FF2B5EF4-FFF2-40B4-BE49-F238E27FC236}">
                    <a16:creationId xmlns:a16="http://schemas.microsoft.com/office/drawing/2014/main" id="{7249B1A2-2EE1-46C0-8666-BA55B64242E8}"/>
                  </a:ext>
                </a:extLst>
              </p:cNvPr>
              <p:cNvSpPr txBox="1"/>
              <p:nvPr/>
            </p:nvSpPr>
            <p:spPr bwMode="auto">
              <a:xfrm>
                <a:off x="2060575" y="5598244"/>
                <a:ext cx="4434879" cy="9271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𝑋</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b="0" i="0" smtClean="0">
                              <a:solidFill>
                                <a:srgbClr val="000000"/>
                              </a:solidFill>
                              <a:latin typeface="Cambria Math" panose="02040503050406030204" pitchFamily="18" charset="0"/>
                            </a:rPr>
                            <m:t>arc</m:t>
                          </m:r>
                          <m:r>
                            <m:rPr>
                              <m:sty m:val="p"/>
                            </m:rPr>
                            <a:rPr lang="en-US" sz="2400">
                              <a:solidFill>
                                <a:srgbClr val="000000"/>
                              </a:solidFill>
                              <a:latin typeface="Cambria Math" panose="02040503050406030204" pitchFamily="18" charset="0"/>
                            </a:rPr>
                            <m:t>t</m:t>
                          </m:r>
                          <m:r>
                            <m:rPr>
                              <m:sty m:val="p"/>
                            </m:rPr>
                            <a:rPr lang="en-US" sz="2400" b="0" i="0" smtClean="0">
                              <a:solidFill>
                                <a:srgbClr val="000000"/>
                              </a:solidFill>
                              <a:latin typeface="Cambria Math" panose="02040503050406030204" pitchFamily="18" charset="0"/>
                            </a:rPr>
                            <m:t>an</m:t>
                          </m:r>
                        </m:fName>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𝑎</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𝜔</m:t>
                                  </m:r>
                                </m:e>
                              </m:func>
                            </m:num>
                            <m:den>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𝑎</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𝜔</m:t>
                                  </m:r>
                                </m:e>
                              </m:func>
                            </m:den>
                          </m:f>
                        </m:e>
                      </m:func>
                    </m:oMath>
                  </m:oMathPara>
                </a14:m>
                <a:endParaRPr lang="en-US" sz="2400" dirty="0"/>
              </a:p>
            </p:txBody>
          </p:sp>
        </mc:Choice>
        <mc:Fallback xmlns="">
          <p:sp>
            <p:nvSpPr>
              <p:cNvPr id="62" name="Object 2086">
                <a:extLst>
                  <a:ext uri="{FF2B5EF4-FFF2-40B4-BE49-F238E27FC236}">
                    <a16:creationId xmlns:a16="http://schemas.microsoft.com/office/drawing/2014/main" id="{7249B1A2-2EE1-46C0-8666-BA55B64242E8}"/>
                  </a:ext>
                </a:extLst>
              </p:cNvPr>
              <p:cNvSpPr txBox="1">
                <a:spLocks noRot="1" noChangeAspect="1" noMove="1" noResize="1" noEditPoints="1" noAdjustHandles="1" noChangeArrowheads="1" noChangeShapeType="1" noTextEdit="1"/>
              </p:cNvSpPr>
              <p:nvPr/>
            </p:nvSpPr>
            <p:spPr bwMode="auto">
              <a:xfrm>
                <a:off x="2060575" y="5598244"/>
                <a:ext cx="4434879" cy="92710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5">
                <a:extLst>
                  <a:ext uri="{FF2B5EF4-FFF2-40B4-BE49-F238E27FC236}">
                    <a16:creationId xmlns:a16="http://schemas.microsoft.com/office/drawing/2014/main" id="{C90C67C9-99FE-4D2E-8B94-D5508E808005}"/>
                  </a:ext>
                </a:extLst>
              </p:cNvPr>
              <p:cNvSpPr txBox="1">
                <a:spLocks noChangeArrowheads="1"/>
              </p:cNvSpPr>
              <p:nvPr/>
            </p:nvSpPr>
            <p:spPr bwMode="auto">
              <a:xfrm>
                <a:off x="1361480" y="3855860"/>
                <a:ext cx="2016224" cy="46166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sz="2400" i="1" smtClean="0">
                        <a:solidFill>
                          <a:srgbClr val="000000"/>
                        </a:solidFill>
                        <a:latin typeface="Cambria Math" panose="02040503050406030204" pitchFamily="18" charset="0"/>
                      </a:rPr>
                      <m:t>𝑎</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为实数时：</a:t>
                </a:r>
              </a:p>
            </p:txBody>
          </p:sp>
        </mc:Choice>
        <mc:Fallback xmlns="">
          <p:sp>
            <p:nvSpPr>
              <p:cNvPr id="9" name="Text Box 5">
                <a:extLst>
                  <a:ext uri="{FF2B5EF4-FFF2-40B4-BE49-F238E27FC236}">
                    <a16:creationId xmlns:a16="http://schemas.microsoft.com/office/drawing/2014/main" id="{C90C67C9-99FE-4D2E-8B94-D5508E808005}"/>
                  </a:ext>
                </a:extLst>
              </p:cNvPr>
              <p:cNvSpPr txBox="1">
                <a:spLocks noRot="1" noChangeAspect="1" noMove="1" noResize="1" noEditPoints="1" noAdjustHandles="1" noChangeArrowheads="1" noChangeShapeType="1" noTextEdit="1"/>
              </p:cNvSpPr>
              <p:nvPr/>
            </p:nvSpPr>
            <p:spPr bwMode="auto">
              <a:xfrm>
                <a:off x="1361480" y="3855860"/>
                <a:ext cx="2016224" cy="461665"/>
              </a:xfrm>
              <a:prstGeom prst="rect">
                <a:avLst/>
              </a:prstGeom>
              <a:blipFill>
                <a:blip r:embed="rId6"/>
                <a:stretch>
                  <a:fillRect t="-9333"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down)">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down)">
                                      <p:cBhvr>
                                        <p:cTn id="15" dur="500"/>
                                        <p:tgtEl>
                                          <p:spTgt spid="5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wipe(down)">
                                      <p:cBhvr>
                                        <p:cTn id="18"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9" grpId="0"/>
      <p:bldP spid="62"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63F0333-3954-4690-ABBE-3B958DE8466A}"/>
              </a:ext>
            </a:extLst>
          </p:cNvPr>
          <p:cNvSpPr>
            <a:spLocks noGrp="1"/>
          </p:cNvSpPr>
          <p:nvPr>
            <p:ph type="sldNum" sz="quarter" idx="12"/>
          </p:nvPr>
        </p:nvSpPr>
        <p:spPr/>
        <p:txBody>
          <a:bodyPr/>
          <a:lstStyle/>
          <a:p>
            <a:fld id="{4BA41C70-BA5A-49E9-AB5C-ED131FB6A862}" type="slidenum">
              <a:rPr lang="zh-CN" altLang="en-US" smtClean="0"/>
              <a:pPr/>
              <a:t>9</a:t>
            </a:fld>
            <a:endParaRPr lang="zh-CN" altLang="en-US"/>
          </a:p>
        </p:txBody>
      </p:sp>
      <p:pic>
        <p:nvPicPr>
          <p:cNvPr id="11" name="Picture 8">
            <a:extLst>
              <a:ext uri="{FF2B5EF4-FFF2-40B4-BE49-F238E27FC236}">
                <a16:creationId xmlns:a16="http://schemas.microsoft.com/office/drawing/2014/main" id="{0F455F25-745E-499E-999E-ACDD91B82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340768"/>
            <a:ext cx="4636410" cy="4402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 name="Object 10">
            <a:extLst>
              <a:ext uri="{FF2B5EF4-FFF2-40B4-BE49-F238E27FC236}">
                <a16:creationId xmlns:a16="http://schemas.microsoft.com/office/drawing/2014/main" id="{DC5388D9-B005-4D47-B1D3-AAEDDAC266C2}"/>
              </a:ext>
            </a:extLst>
          </p:cNvPr>
          <p:cNvGraphicFramePr>
            <a:graphicFrameLocks noChangeAspect="1"/>
          </p:cNvGraphicFramePr>
          <p:nvPr>
            <p:extLst>
              <p:ext uri="{D42A27DB-BD31-4B8C-83A1-F6EECF244321}">
                <p14:modId xmlns:p14="http://schemas.microsoft.com/office/powerpoint/2010/main" val="3559255436"/>
              </p:ext>
            </p:extLst>
          </p:nvPr>
        </p:nvGraphicFramePr>
        <p:xfrm>
          <a:off x="2003781" y="5738080"/>
          <a:ext cx="1131888" cy="360362"/>
        </p:xfrm>
        <a:graphic>
          <a:graphicData uri="http://schemas.openxmlformats.org/presentationml/2006/ole">
            <mc:AlternateContent xmlns:mc="http://schemas.openxmlformats.org/markup-compatibility/2006">
              <mc:Choice xmlns:v="urn:schemas-microsoft-com:vml" Requires="v">
                <p:oleObj spid="_x0000_s1134" name="Equation" r:id="rId4" imgW="558720" imgH="177480" progId="Equation.DSMT4">
                  <p:embed/>
                </p:oleObj>
              </mc:Choice>
              <mc:Fallback>
                <p:oleObj name="Equation" r:id="rId4" imgW="558720" imgH="177480" progId="Equation.DSMT4">
                  <p:embed/>
                  <p:pic>
                    <p:nvPicPr>
                      <p:cNvPr id="631818" name="Object 10">
                        <a:extLst>
                          <a:ext uri="{FF2B5EF4-FFF2-40B4-BE49-F238E27FC236}">
                            <a16:creationId xmlns:a16="http://schemas.microsoft.com/office/drawing/2014/main" id="{DDBEA08F-F7F7-4228-BE70-2D643E94EC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3781" y="5738080"/>
                        <a:ext cx="1131888"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4" name="Picture 9">
            <a:extLst>
              <a:ext uri="{FF2B5EF4-FFF2-40B4-BE49-F238E27FC236}">
                <a16:creationId xmlns:a16="http://schemas.microsoft.com/office/drawing/2014/main" id="{01842BD6-5F02-4092-A8CA-7B26751CBE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4592" y="1520792"/>
            <a:ext cx="4330059" cy="398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5" name="Object 11">
            <a:extLst>
              <a:ext uri="{FF2B5EF4-FFF2-40B4-BE49-F238E27FC236}">
                <a16:creationId xmlns:a16="http://schemas.microsoft.com/office/drawing/2014/main" id="{7C9C2D31-413A-4F42-B7ED-C0C4574D2476}"/>
              </a:ext>
            </a:extLst>
          </p:cNvPr>
          <p:cNvGraphicFramePr>
            <a:graphicFrameLocks noChangeAspect="1"/>
          </p:cNvGraphicFramePr>
          <p:nvPr>
            <p:extLst>
              <p:ext uri="{D42A27DB-BD31-4B8C-83A1-F6EECF244321}">
                <p14:modId xmlns:p14="http://schemas.microsoft.com/office/powerpoint/2010/main" val="764942484"/>
              </p:ext>
            </p:extLst>
          </p:nvPr>
        </p:nvGraphicFramePr>
        <p:xfrm>
          <a:off x="6156176" y="5738080"/>
          <a:ext cx="1339850" cy="360363"/>
        </p:xfrm>
        <a:graphic>
          <a:graphicData uri="http://schemas.openxmlformats.org/presentationml/2006/ole">
            <mc:AlternateContent xmlns:mc="http://schemas.openxmlformats.org/markup-compatibility/2006">
              <mc:Choice xmlns:v="urn:schemas-microsoft-com:vml" Requires="v">
                <p:oleObj spid="_x0000_s1135" name="Equation" r:id="rId7" imgW="660240" imgH="177480" progId="Equation.DSMT4">
                  <p:embed/>
                </p:oleObj>
              </mc:Choice>
              <mc:Fallback>
                <p:oleObj name="Equation" r:id="rId7" imgW="660240" imgH="177480" progId="Equation.DSMT4">
                  <p:embed/>
                  <p:pic>
                    <p:nvPicPr>
                      <p:cNvPr id="631819" name="Object 11">
                        <a:extLst>
                          <a:ext uri="{FF2B5EF4-FFF2-40B4-BE49-F238E27FC236}">
                            <a16:creationId xmlns:a16="http://schemas.microsoft.com/office/drawing/2014/main" id="{D8A0739E-FC04-4CA3-9FF4-ED60702CA9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6176" y="5738080"/>
                        <a:ext cx="1339850"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标题 1">
            <a:extLst>
              <a:ext uri="{FF2B5EF4-FFF2-40B4-BE49-F238E27FC236}">
                <a16:creationId xmlns:a16="http://schemas.microsoft.com/office/drawing/2014/main" id="{C0DF58D2-BCAC-4FFD-9148-841EF7D487DD}"/>
              </a:ext>
            </a:extLst>
          </p:cNvPr>
          <p:cNvSpPr>
            <a:spLocks noGrp="1"/>
          </p:cNvSpPr>
          <p:nvPr>
            <p:ph type="title"/>
          </p:nvPr>
        </p:nvSpPr>
        <p:spPr>
          <a:xfrm>
            <a:off x="457200" y="274638"/>
            <a:ext cx="8229600" cy="725487"/>
          </a:xfrm>
        </p:spPr>
        <p:txBody>
          <a:bodyPr/>
          <a:lstStyle/>
          <a:p>
            <a:r>
              <a:rPr lang="en-US" altLang="zh-CN" sz="3200" b="1" dirty="0">
                <a:latin typeface="Georgia" panose="02040502050405020303" pitchFamily="18" charset="0"/>
                <a:ea typeface="华文行楷" panose="02010800040101010101" pitchFamily="2" charset="-122"/>
              </a:rPr>
              <a:t>5.1 </a:t>
            </a:r>
            <a:r>
              <a:rPr lang="zh-CN" altLang="en-US" sz="3200" b="1" dirty="0">
                <a:latin typeface="Georgia" panose="02040502050405020303" pitchFamily="18" charset="0"/>
                <a:ea typeface="华文行楷" panose="02010800040101010101" pitchFamily="2" charset="-122"/>
              </a:rPr>
              <a:t>非周期信号的表示</a:t>
            </a:r>
            <a:r>
              <a:rPr lang="en-US" altLang="zh-CN" sz="3200" b="1" dirty="0">
                <a:latin typeface="Georgia" panose="02040502050405020303" pitchFamily="18" charset="0"/>
                <a:ea typeface="华文行楷" panose="02010800040101010101" pitchFamily="2" charset="-122"/>
              </a:rPr>
              <a:t>—</a:t>
            </a:r>
            <a:r>
              <a:rPr lang="zh-CN" altLang="en-US" sz="3200" b="1" dirty="0">
                <a:latin typeface="Georgia" panose="02040502050405020303" pitchFamily="18" charset="0"/>
                <a:ea typeface="华文行楷" panose="02010800040101010101" pitchFamily="2" charset="-122"/>
              </a:rPr>
              <a:t>离散时间傅里叶变换</a:t>
            </a:r>
          </a:p>
        </p:txBody>
      </p:sp>
    </p:spTree>
    <p:extLst>
      <p:ext uri="{BB962C8B-B14F-4D97-AF65-F5344CB8AC3E}">
        <p14:creationId xmlns:p14="http://schemas.microsoft.com/office/powerpoint/2010/main" val="3051824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8274302-2E52-4D73-A4D3-D70BFE16FC9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6E1AE1-BCE6-49B9-ADE7-6B882329A688}" type="slidenum">
              <a:rPr lang="zh-CN" altLang="en-US">
                <a:solidFill>
                  <a:srgbClr val="898989"/>
                </a:solidFill>
                <a:latin typeface="Calibri" panose="020F0502020204030204" pitchFamily="34" charset="0"/>
              </a:rPr>
              <a:pPr eaLnBrk="1" hangingPunct="1"/>
              <a:t>10</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1304" name="Text Box 3">
                <a:extLst>
                  <a:ext uri="{FF2B5EF4-FFF2-40B4-BE49-F238E27FC236}">
                    <a16:creationId xmlns:a16="http://schemas.microsoft.com/office/drawing/2014/main" id="{B2E4F419-596E-469C-B2F9-BA975A4DF3F1}"/>
                  </a:ext>
                </a:extLst>
              </p:cNvPr>
              <p:cNvSpPr txBox="1">
                <a:spLocks noChangeArrowheads="1"/>
              </p:cNvSpPr>
              <p:nvPr/>
            </p:nvSpPr>
            <p:spPr bwMode="auto">
              <a:xfrm>
                <a:off x="638175" y="1347788"/>
                <a:ext cx="3312125" cy="50674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rPr>
                  <a:t>2. </a:t>
                </a:r>
                <a14:m>
                  <m:oMath xmlns:m="http://schemas.openxmlformats.org/officeDocument/2006/math">
                    <m:r>
                      <a:rPr lang="en-US" sz="2400" i="1" smtClean="0">
                        <a:solidFill>
                          <a:srgbClr val="000000"/>
                        </a:solidFill>
                        <a:latin typeface="Cambria Math" panose="02040503050406030204" pitchFamily="18" charset="0"/>
                      </a:rPr>
                      <m:t>𝑥</m:t>
                    </m:r>
                    <m:d>
                      <m:dPr>
                        <m:begChr m:val="["/>
                        <m:endChr m:val="]"/>
                        <m:ctrlPr>
                          <a:rPr lang="en-US" sz="2400" b="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𝑛</m:t>
                        </m:r>
                      </m:e>
                    </m:d>
                    <m:r>
                      <a:rPr lang="en-US" sz="2400" i="1" smtClean="0">
                        <a:solidFill>
                          <a:srgbClr val="000000"/>
                        </a:solidFill>
                        <a:latin typeface="Cambria Math" panose="02040503050406030204" pitchFamily="18" charset="0"/>
                      </a:rPr>
                      <m:t>=</m:t>
                    </m:r>
                    <m:sSup>
                      <m:sSupPr>
                        <m:ctrlPr>
                          <a:rPr lang="en-US" sz="2400" i="1" smtClean="0">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𝑎</m:t>
                        </m:r>
                      </m:e>
                      <m:sup>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, </m:t>
                    </m:r>
                    <m:d>
                      <m:dPr>
                        <m:begChr m:val="|"/>
                        <m:endChr m:val="|"/>
                        <m:ctrlPr>
                          <a:rPr lang="en-US" sz="2400" b="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𝑎</m:t>
                        </m:r>
                      </m:e>
                    </m:d>
                    <m:r>
                      <a:rPr lang="en-US" sz="2400" b="0" i="1" smtClean="0">
                        <a:solidFill>
                          <a:srgbClr val="000000"/>
                        </a:solidFill>
                        <a:latin typeface="Cambria Math" panose="02040503050406030204" pitchFamily="18" charset="0"/>
                      </a:rPr>
                      <m:t>&lt;1</m:t>
                    </m:r>
                  </m:oMath>
                </a14:m>
                <a:endPar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1304" name="Text Box 3">
                <a:extLst>
                  <a:ext uri="{FF2B5EF4-FFF2-40B4-BE49-F238E27FC236}">
                    <a16:creationId xmlns:a16="http://schemas.microsoft.com/office/drawing/2014/main" id="{B2E4F419-596E-469C-B2F9-BA975A4DF3F1}"/>
                  </a:ext>
                </a:extLst>
              </p:cNvPr>
              <p:cNvSpPr txBox="1">
                <a:spLocks noRot="1" noChangeAspect="1" noMove="1" noResize="1" noEditPoints="1" noAdjustHandles="1" noChangeArrowheads="1" noChangeShapeType="1" noTextEdit="1"/>
              </p:cNvSpPr>
              <p:nvPr/>
            </p:nvSpPr>
            <p:spPr bwMode="auto">
              <a:xfrm>
                <a:off x="638175" y="1347788"/>
                <a:ext cx="3312125" cy="506742"/>
              </a:xfrm>
              <a:prstGeom prst="rect">
                <a:avLst/>
              </a:prstGeom>
              <a:blipFill>
                <a:blip r:embed="rId2"/>
                <a:stretch>
                  <a:fillRect l="-2947" b="-277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sp>
        <p:nvSpPr>
          <p:cNvPr id="8" name="Text Box 5">
            <a:extLst>
              <a:ext uri="{FF2B5EF4-FFF2-40B4-BE49-F238E27FC236}">
                <a16:creationId xmlns:a16="http://schemas.microsoft.com/office/drawing/2014/main" id="{E9BD4C56-6C66-4349-A7CC-C3EE643E204A}"/>
              </a:ext>
            </a:extLst>
          </p:cNvPr>
          <p:cNvSpPr txBox="1">
            <a:spLocks noChangeArrowheads="1"/>
          </p:cNvSpPr>
          <p:nvPr/>
        </p:nvSpPr>
        <p:spPr bwMode="auto">
          <a:xfrm>
            <a:off x="948902" y="5824242"/>
            <a:ext cx="73675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注意：</a:t>
            </a:r>
            <a:r>
              <a:rPr lang="zh-CN" altLang="en-US" sz="24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实偶序列的离散时间傅里叶变换是实偶函数</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42" name="标题 1">
            <a:extLst>
              <a:ext uri="{FF2B5EF4-FFF2-40B4-BE49-F238E27FC236}">
                <a16:creationId xmlns:a16="http://schemas.microsoft.com/office/drawing/2014/main" id="{8A974F45-C9C5-4AC2-ACEF-F96E6393C39F}"/>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mc:AlternateContent xmlns:mc="http://schemas.openxmlformats.org/markup-compatibility/2006" xmlns:a14="http://schemas.microsoft.com/office/drawing/2010/main">
        <mc:Choice Requires="a14">
          <p:sp>
            <p:nvSpPr>
              <p:cNvPr id="43" name="Object 1027">
                <a:extLst>
                  <a:ext uri="{FF2B5EF4-FFF2-40B4-BE49-F238E27FC236}">
                    <a16:creationId xmlns:a16="http://schemas.microsoft.com/office/drawing/2014/main" id="{8FA0931B-3C30-4270-827C-6ECFB5C409CA}"/>
                  </a:ext>
                </a:extLst>
              </p:cNvPr>
              <p:cNvSpPr txBox="1"/>
              <p:nvPr/>
            </p:nvSpPr>
            <p:spPr bwMode="auto">
              <a:xfrm>
                <a:off x="959016" y="2060848"/>
                <a:ext cx="4279677"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𝑢</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𝑢</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43" name="Object 1027">
                <a:extLst>
                  <a:ext uri="{FF2B5EF4-FFF2-40B4-BE49-F238E27FC236}">
                    <a16:creationId xmlns:a16="http://schemas.microsoft.com/office/drawing/2014/main" id="{8FA0931B-3C30-4270-827C-6ECFB5C409CA}"/>
                  </a:ext>
                </a:extLst>
              </p:cNvPr>
              <p:cNvSpPr txBox="1">
                <a:spLocks noRot="1" noChangeAspect="1" noMove="1" noResize="1" noEditPoints="1" noAdjustHandles="1" noChangeArrowheads="1" noChangeShapeType="1" noTextEdit="1"/>
              </p:cNvSpPr>
              <p:nvPr/>
            </p:nvSpPr>
            <p:spPr bwMode="auto">
              <a:xfrm>
                <a:off x="959016" y="2060848"/>
                <a:ext cx="4279677" cy="461665"/>
              </a:xfrm>
              <a:prstGeom prst="rect">
                <a:avLst/>
              </a:prstGeom>
              <a:blipFill>
                <a:blip r:embed="rId3"/>
                <a:stretch>
                  <a:fillRect r="-712"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Object 1028">
                <a:extLst>
                  <a:ext uri="{FF2B5EF4-FFF2-40B4-BE49-F238E27FC236}">
                    <a16:creationId xmlns:a16="http://schemas.microsoft.com/office/drawing/2014/main" id="{E2864AA6-A2AD-4ED6-B904-63622C738A32}"/>
                  </a:ext>
                </a:extLst>
              </p:cNvPr>
              <p:cNvSpPr txBox="1"/>
              <p:nvPr/>
            </p:nvSpPr>
            <p:spPr bwMode="auto">
              <a:xfrm>
                <a:off x="959016" y="2722705"/>
                <a:ext cx="7727784" cy="289784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𝑋</m:t>
                      </m:r>
                      <m:d>
                        <m:dPr>
                          <m:ctrlPr>
                            <a:rPr lang="en-US" sz="2400" i="1" smtClean="0">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𝑗</m:t>
                              </m:r>
                              <m:r>
                                <a:rPr lang="en-US" sz="2400" i="1">
                                  <a:solidFill>
                                    <a:srgbClr val="000000"/>
                                  </a:solidFill>
                                  <a:latin typeface="Cambria Math" panose="02040503050406030204" pitchFamily="18" charset="0"/>
                                </a:rPr>
                                <m:t>𝜔</m:t>
                              </m:r>
                            </m:sup>
                          </m:sSup>
                        </m:e>
                      </m:d>
                      <m:r>
                        <m:rPr>
                          <m:aln/>
                        </m:rP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−1</m:t>
                          </m:r>
                        </m:sup>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e>
                      </m:nary>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𝑛</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e>
                      </m:nary>
                    </m:oMath>
                  </m:oMathPara>
                </a14:m>
                <a:endParaRPr lang="en-US"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𝑛</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e>
                      </m:nary>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𝑛</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e>
                      </m:nary>
                      <m:r>
                        <m:rPr>
                          <m:aln/>
                        </m:rP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𝑎</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num>
                        <m:den>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𝑎</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𝑎</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oMath>
                  </m:oMathPara>
                </a14:m>
                <a:endParaRPr lang="en-US"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2</m:t>
                              </m:r>
                            </m:sup>
                          </m:sSup>
                        </m:num>
                        <m:den>
                          <m:r>
                            <a:rPr lang="en-US" sz="2400" i="1">
                              <a:solidFill>
                                <a:srgbClr val="000000"/>
                              </a:solidFill>
                              <a:latin typeface="Cambria Math" panose="02040503050406030204" pitchFamily="18" charset="0"/>
                            </a:rPr>
                            <m:t>1+</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𝑎</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𝑎</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𝜔</m:t>
                              </m:r>
                            </m:e>
                          </m:func>
                        </m:den>
                      </m:f>
                    </m:oMath>
                  </m:oMathPara>
                </a14:m>
                <a:endParaRPr lang="en-US" sz="2400" dirty="0"/>
              </a:p>
            </p:txBody>
          </p:sp>
        </mc:Choice>
        <mc:Fallback xmlns="">
          <p:sp>
            <p:nvSpPr>
              <p:cNvPr id="46" name="Object 1028">
                <a:extLst>
                  <a:ext uri="{FF2B5EF4-FFF2-40B4-BE49-F238E27FC236}">
                    <a16:creationId xmlns:a16="http://schemas.microsoft.com/office/drawing/2014/main" id="{E2864AA6-A2AD-4ED6-B904-63622C738A32}"/>
                  </a:ext>
                </a:extLst>
              </p:cNvPr>
              <p:cNvSpPr txBox="1">
                <a:spLocks noRot="1" noChangeAspect="1" noMove="1" noResize="1" noEditPoints="1" noAdjustHandles="1" noChangeArrowheads="1" noChangeShapeType="1" noTextEdit="1"/>
              </p:cNvSpPr>
              <p:nvPr/>
            </p:nvSpPr>
            <p:spPr bwMode="auto">
              <a:xfrm>
                <a:off x="959016" y="2722705"/>
                <a:ext cx="7727784" cy="2897845"/>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6">
                                            <p:txEl>
                                              <p:pRg st="0" end="0"/>
                                            </p:txEl>
                                          </p:spTgt>
                                        </p:tgtEl>
                                        <p:attrNameLst>
                                          <p:attrName>style.visibility</p:attrName>
                                        </p:attrNameLst>
                                      </p:cBhvr>
                                      <p:to>
                                        <p:strVal val="visible"/>
                                      </p:to>
                                    </p:set>
                                    <p:animEffect transition="in" filter="wipe(down)">
                                      <p:cBhvr>
                                        <p:cTn id="12" dur="500"/>
                                        <p:tgtEl>
                                          <p:spTgt spid="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6">
                                            <p:txEl>
                                              <p:pRg st="1" end="1"/>
                                            </p:txEl>
                                          </p:spTgt>
                                        </p:tgtEl>
                                        <p:attrNameLst>
                                          <p:attrName>style.visibility</p:attrName>
                                        </p:attrNameLst>
                                      </p:cBhvr>
                                      <p:to>
                                        <p:strVal val="visible"/>
                                      </p:to>
                                    </p:set>
                                    <p:animEffect transition="in" filter="wipe(down)">
                                      <p:cBhvr>
                                        <p:cTn id="17" dur="500"/>
                                        <p:tgtEl>
                                          <p:spTgt spid="4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6">
                                            <p:txEl>
                                              <p:pRg st="2" end="2"/>
                                            </p:txEl>
                                          </p:spTgt>
                                        </p:tgtEl>
                                        <p:attrNameLst>
                                          <p:attrName>style.visibility</p:attrName>
                                        </p:attrNameLst>
                                      </p:cBhvr>
                                      <p:to>
                                        <p:strVal val="visible"/>
                                      </p:to>
                                    </p:set>
                                    <p:animEffect transition="in" filter="wipe(down)">
                                      <p:cBhvr>
                                        <p:cTn id="22" dur="500"/>
                                        <p:tgtEl>
                                          <p:spTgt spid="4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02334DC-A34E-4C0A-BF93-F42340B0960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DBEC364-DC00-41B6-9DD0-7E7805E8FB47}" type="slidenum">
              <a:rPr lang="zh-CN" altLang="en-US">
                <a:solidFill>
                  <a:srgbClr val="898989"/>
                </a:solidFill>
                <a:latin typeface="Calibri" panose="020F0502020204030204" pitchFamily="34" charset="0"/>
              </a:rPr>
              <a:pPr eaLnBrk="1" hangingPunct="1"/>
              <a:t>11</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2314" name="Text Box 3">
                <a:extLst>
                  <a:ext uri="{FF2B5EF4-FFF2-40B4-BE49-F238E27FC236}">
                    <a16:creationId xmlns:a16="http://schemas.microsoft.com/office/drawing/2014/main" id="{F14B7DD8-F52F-480B-847D-ED0E8A3DDC96}"/>
                  </a:ext>
                </a:extLst>
              </p:cNvPr>
              <p:cNvSpPr txBox="1">
                <a:spLocks noChangeArrowheads="1"/>
              </p:cNvSpPr>
              <p:nvPr/>
            </p:nvSpPr>
            <p:spPr bwMode="auto">
              <a:xfrm>
                <a:off x="714375" y="1340768"/>
                <a:ext cx="2035365" cy="46166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rPr>
                  <a:t>3. </a:t>
                </a:r>
                <a14:m>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endPar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2314" name="Text Box 3">
                <a:extLst>
                  <a:ext uri="{FF2B5EF4-FFF2-40B4-BE49-F238E27FC236}">
                    <a16:creationId xmlns:a16="http://schemas.microsoft.com/office/drawing/2014/main" id="{F14B7DD8-F52F-480B-847D-ED0E8A3DDC96}"/>
                  </a:ext>
                </a:extLst>
              </p:cNvPr>
              <p:cNvSpPr txBox="1">
                <a:spLocks noRot="1" noChangeAspect="1" noMove="1" noResize="1" noEditPoints="1" noAdjustHandles="1" noChangeArrowheads="1" noChangeShapeType="1" noTextEdit="1"/>
              </p:cNvSpPr>
              <p:nvPr/>
            </p:nvSpPr>
            <p:spPr bwMode="auto">
              <a:xfrm>
                <a:off x="714375" y="1340768"/>
                <a:ext cx="2035365" cy="461665"/>
              </a:xfrm>
              <a:prstGeom prst="rect">
                <a:avLst/>
              </a:prstGeom>
              <a:blipFill>
                <a:blip r:embed="rId3"/>
                <a:stretch>
                  <a:fillRect l="-4491" t="-10526" r="-1796" b="-28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10" name="Text Box 13">
                <a:extLst>
                  <a:ext uri="{FF2B5EF4-FFF2-40B4-BE49-F238E27FC236}">
                    <a16:creationId xmlns:a16="http://schemas.microsoft.com/office/drawing/2014/main" id="{D9C1113C-2410-4779-AF8D-271C9C27C0AE}"/>
                  </a:ext>
                </a:extLst>
              </p:cNvPr>
              <p:cNvSpPr txBox="1">
                <a:spLocks noChangeArrowheads="1"/>
              </p:cNvSpPr>
              <p:nvPr/>
            </p:nvSpPr>
            <p:spPr bwMode="auto">
              <a:xfrm>
                <a:off x="623888" y="5262299"/>
                <a:ext cx="8077200" cy="830997"/>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与</a:t>
                </a:r>
                <a14:m>
                  <m:oMath xmlns:m="http://schemas.openxmlformats.org/officeDocument/2006/math">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类似，</a:t>
                </a:r>
                <a14:m>
                  <m:oMath xmlns:m="http://schemas.openxmlformats.org/officeDocument/2006/math">
                    <m:r>
                      <a:rPr lang="en-US" sz="2400" i="1" smtClean="0">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中也包括所有的频率成分，且所有频率分量的幅度、相位都相同。</a:t>
                </a:r>
              </a:p>
            </p:txBody>
          </p:sp>
        </mc:Choice>
        <mc:Fallback xmlns="">
          <p:sp>
            <p:nvSpPr>
              <p:cNvPr id="12310" name="Text Box 13">
                <a:extLst>
                  <a:ext uri="{FF2B5EF4-FFF2-40B4-BE49-F238E27FC236}">
                    <a16:creationId xmlns:a16="http://schemas.microsoft.com/office/drawing/2014/main" id="{D9C1113C-2410-4779-AF8D-271C9C27C0AE}"/>
                  </a:ext>
                </a:extLst>
              </p:cNvPr>
              <p:cNvSpPr txBox="1">
                <a:spLocks noRot="1" noChangeAspect="1" noMove="1" noResize="1" noEditPoints="1" noAdjustHandles="1" noChangeArrowheads="1" noChangeShapeType="1" noTextEdit="1"/>
              </p:cNvSpPr>
              <p:nvPr/>
            </p:nvSpPr>
            <p:spPr bwMode="auto">
              <a:xfrm>
                <a:off x="623888" y="5262299"/>
                <a:ext cx="8077200" cy="830997"/>
              </a:xfrm>
              <a:prstGeom prst="rect">
                <a:avLst/>
              </a:prstGeom>
              <a:blipFill>
                <a:blip r:embed="rId4"/>
                <a:stretch>
                  <a:fillRect l="-1132" t="-5839" r="-377" b="-160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sp>
        <p:nvSpPr>
          <p:cNvPr id="28" name="标题 1">
            <a:extLst>
              <a:ext uri="{FF2B5EF4-FFF2-40B4-BE49-F238E27FC236}">
                <a16:creationId xmlns:a16="http://schemas.microsoft.com/office/drawing/2014/main" id="{8D17CF94-C41B-49F4-813B-CCA49AFC90A2}"/>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mc:AlternateContent xmlns:mc="http://schemas.openxmlformats.org/markup-compatibility/2006" xmlns:a14="http://schemas.microsoft.com/office/drawing/2010/main">
        <mc:Choice Requires="a14">
          <p:sp>
            <p:nvSpPr>
              <p:cNvPr id="32" name="Object 3">
                <a:extLst>
                  <a:ext uri="{FF2B5EF4-FFF2-40B4-BE49-F238E27FC236}">
                    <a16:creationId xmlns:a16="http://schemas.microsoft.com/office/drawing/2014/main" id="{A6B1678D-0741-4C0B-95AE-CC96D13D0000}"/>
                  </a:ext>
                </a:extLst>
              </p:cNvPr>
              <p:cNvSpPr txBox="1"/>
              <p:nvPr/>
            </p:nvSpPr>
            <p:spPr bwMode="auto">
              <a:xfrm>
                <a:off x="1403586" y="2041628"/>
                <a:ext cx="6840822" cy="10993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𝑋</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e>
                      </m:nary>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e>
                      </m:nary>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32" name="Object 3">
                <a:extLst>
                  <a:ext uri="{FF2B5EF4-FFF2-40B4-BE49-F238E27FC236}">
                    <a16:creationId xmlns:a16="http://schemas.microsoft.com/office/drawing/2014/main" id="{A6B1678D-0741-4C0B-95AE-CC96D13D0000}"/>
                  </a:ext>
                </a:extLst>
              </p:cNvPr>
              <p:cNvSpPr txBox="1">
                <a:spLocks noRot="1" noChangeAspect="1" noMove="1" noResize="1" noEditPoints="1" noAdjustHandles="1" noChangeArrowheads="1" noChangeShapeType="1" noTextEdit="1"/>
              </p:cNvSpPr>
              <p:nvPr/>
            </p:nvSpPr>
            <p:spPr bwMode="auto">
              <a:xfrm>
                <a:off x="1403586" y="2041628"/>
                <a:ext cx="6840822" cy="1099340"/>
              </a:xfrm>
              <a:prstGeom prst="rect">
                <a:avLst/>
              </a:prstGeom>
              <a:blipFill>
                <a:blip r:embed="rId5"/>
                <a:stretch>
                  <a:fillRect/>
                </a:stretch>
              </a:blipFill>
              <a:ln>
                <a:noFill/>
              </a:ln>
              <a:effectLst/>
            </p:spPr>
            <p:txBody>
              <a:bodyPr/>
              <a:lstStyle/>
              <a:p>
                <a:r>
                  <a:rPr lang="en-US">
                    <a:noFill/>
                  </a:rPr>
                  <a:t> </a:t>
                </a:r>
              </a:p>
            </p:txBody>
          </p:sp>
        </mc:Fallback>
      </mc:AlternateContent>
      <p:grpSp>
        <p:nvGrpSpPr>
          <p:cNvPr id="36" name="Group 29">
            <a:extLst>
              <a:ext uri="{FF2B5EF4-FFF2-40B4-BE49-F238E27FC236}">
                <a16:creationId xmlns:a16="http://schemas.microsoft.com/office/drawing/2014/main" id="{B906D736-1642-4297-A758-0AD99C71FA6A}"/>
              </a:ext>
            </a:extLst>
          </p:cNvPr>
          <p:cNvGrpSpPr>
            <a:grpSpLocks/>
          </p:cNvGrpSpPr>
          <p:nvPr/>
        </p:nvGrpSpPr>
        <p:grpSpPr bwMode="auto">
          <a:xfrm>
            <a:off x="3259138" y="3389734"/>
            <a:ext cx="3294062" cy="1695450"/>
            <a:chOff x="2753" y="2747"/>
            <a:chExt cx="2075" cy="1068"/>
          </a:xfrm>
        </p:grpSpPr>
        <p:graphicFrame>
          <p:nvGraphicFramePr>
            <p:cNvPr id="38" name="Object 5">
              <a:extLst>
                <a:ext uri="{FF2B5EF4-FFF2-40B4-BE49-F238E27FC236}">
                  <a16:creationId xmlns:a16="http://schemas.microsoft.com/office/drawing/2014/main" id="{38B21886-5B14-48AF-B737-1612F6CAFB18}"/>
                </a:ext>
              </a:extLst>
            </p:cNvPr>
            <p:cNvGraphicFramePr>
              <a:graphicFrameLocks noChangeAspect="1"/>
            </p:cNvGraphicFramePr>
            <p:nvPr/>
          </p:nvGraphicFramePr>
          <p:xfrm>
            <a:off x="3155" y="2747"/>
            <a:ext cx="582" cy="278"/>
          </p:xfrm>
          <a:graphic>
            <a:graphicData uri="http://schemas.openxmlformats.org/presentationml/2006/ole">
              <mc:AlternateContent xmlns:mc="http://schemas.openxmlformats.org/markup-compatibility/2006">
                <mc:Choice xmlns:v="urn:schemas-microsoft-com:vml" Requires="v">
                  <p:oleObj spid="_x0000_s2374" name="公式" r:id="rId6" imgW="482400" imgH="228600" progId="Equation.3">
                    <p:embed/>
                  </p:oleObj>
                </mc:Choice>
                <mc:Fallback>
                  <p:oleObj name="公式" r:id="rId6" imgW="482400" imgH="228600" progId="Equation.3">
                    <p:embed/>
                    <p:pic>
                      <p:nvPicPr>
                        <p:cNvPr id="679941" name="Object 5">
                          <a:extLst>
                            <a:ext uri="{FF2B5EF4-FFF2-40B4-BE49-F238E27FC236}">
                              <a16:creationId xmlns:a16="http://schemas.microsoft.com/office/drawing/2014/main" id="{BBB4AC19-CAE0-4E4B-81A4-FD5484F5DEFD}"/>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5" y="2747"/>
                          <a:ext cx="582"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 name="Line 6">
              <a:extLst>
                <a:ext uri="{FF2B5EF4-FFF2-40B4-BE49-F238E27FC236}">
                  <a16:creationId xmlns:a16="http://schemas.microsoft.com/office/drawing/2014/main" id="{07EE086A-2051-48F1-88E5-92DB3C4DA796}"/>
                </a:ext>
              </a:extLst>
            </p:cNvPr>
            <p:cNvSpPr>
              <a:spLocks noChangeShapeType="1"/>
            </p:cNvSpPr>
            <p:nvPr/>
          </p:nvSpPr>
          <p:spPr bwMode="auto">
            <a:xfrm flipV="1">
              <a:off x="3774" y="2779"/>
              <a:ext cx="0" cy="8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40" name="Object 7">
              <a:extLst>
                <a:ext uri="{FF2B5EF4-FFF2-40B4-BE49-F238E27FC236}">
                  <a16:creationId xmlns:a16="http://schemas.microsoft.com/office/drawing/2014/main" id="{0EC6975B-B6DD-422C-8A48-95E5AC6303F8}"/>
                </a:ext>
              </a:extLst>
            </p:cNvPr>
            <p:cNvGraphicFramePr>
              <a:graphicFrameLocks noChangeAspect="1"/>
            </p:cNvGraphicFramePr>
            <p:nvPr/>
          </p:nvGraphicFramePr>
          <p:xfrm>
            <a:off x="3836" y="2996"/>
            <a:ext cx="187" cy="221"/>
          </p:xfrm>
          <a:graphic>
            <a:graphicData uri="http://schemas.openxmlformats.org/presentationml/2006/ole">
              <mc:AlternateContent xmlns:mc="http://schemas.openxmlformats.org/markup-compatibility/2006">
                <mc:Choice xmlns:v="urn:schemas-microsoft-com:vml" Requires="v">
                  <p:oleObj spid="_x0000_s2375" name="公式" r:id="rId8" imgW="88560" imgH="164880" progId="Equation.3">
                    <p:embed/>
                  </p:oleObj>
                </mc:Choice>
                <mc:Fallback>
                  <p:oleObj name="公式" r:id="rId8" imgW="88560" imgH="164880" progId="Equation.3">
                    <p:embed/>
                    <p:pic>
                      <p:nvPicPr>
                        <p:cNvPr id="679943" name="Object 7">
                          <a:extLst>
                            <a:ext uri="{FF2B5EF4-FFF2-40B4-BE49-F238E27FC236}">
                              <a16:creationId xmlns:a16="http://schemas.microsoft.com/office/drawing/2014/main" id="{0CFDBBF4-A803-4AC4-B500-4E399DE5AD22}"/>
                            </a:ext>
                          </a:extLst>
                        </p:cNvPr>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36" y="2996"/>
                          <a:ext cx="187"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8">
              <a:extLst>
                <a:ext uri="{FF2B5EF4-FFF2-40B4-BE49-F238E27FC236}">
                  <a16:creationId xmlns:a16="http://schemas.microsoft.com/office/drawing/2014/main" id="{6C5A898E-8AD1-4757-A06F-09D9D56BDC82}"/>
                </a:ext>
              </a:extLst>
            </p:cNvPr>
            <p:cNvGraphicFramePr>
              <a:graphicFrameLocks noChangeAspect="1"/>
            </p:cNvGraphicFramePr>
            <p:nvPr/>
          </p:nvGraphicFramePr>
          <p:xfrm>
            <a:off x="2956" y="3633"/>
            <a:ext cx="364" cy="168"/>
          </p:xfrm>
          <a:graphic>
            <a:graphicData uri="http://schemas.openxmlformats.org/presentationml/2006/ole">
              <mc:AlternateContent xmlns:mc="http://schemas.openxmlformats.org/markup-compatibility/2006">
                <mc:Choice xmlns:v="urn:schemas-microsoft-com:vml" Requires="v">
                  <p:oleObj spid="_x0000_s2376" name="公式" r:id="rId10" imgW="253800" imgH="139680" progId="Equation.3">
                    <p:embed/>
                  </p:oleObj>
                </mc:Choice>
                <mc:Fallback>
                  <p:oleObj name="公式" r:id="rId10" imgW="253800" imgH="139680" progId="Equation.3">
                    <p:embed/>
                    <p:pic>
                      <p:nvPicPr>
                        <p:cNvPr id="679944" name="Object 8">
                          <a:extLst>
                            <a:ext uri="{FF2B5EF4-FFF2-40B4-BE49-F238E27FC236}">
                              <a16:creationId xmlns:a16="http://schemas.microsoft.com/office/drawing/2014/main" id="{D0091225-A7F4-4652-A38C-84591166C41F}"/>
                            </a:ext>
                          </a:extLst>
                        </p:cNvPr>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56" y="3633"/>
                          <a:ext cx="364"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9">
              <a:extLst>
                <a:ext uri="{FF2B5EF4-FFF2-40B4-BE49-F238E27FC236}">
                  <a16:creationId xmlns:a16="http://schemas.microsoft.com/office/drawing/2014/main" id="{81A7ECF6-E3D8-48B3-8228-E1EC11130A7F}"/>
                </a:ext>
              </a:extLst>
            </p:cNvPr>
            <p:cNvGraphicFramePr>
              <a:graphicFrameLocks noChangeAspect="1"/>
            </p:cNvGraphicFramePr>
            <p:nvPr/>
          </p:nvGraphicFramePr>
          <p:xfrm>
            <a:off x="4277" y="3628"/>
            <a:ext cx="223" cy="162"/>
          </p:xfrm>
          <a:graphic>
            <a:graphicData uri="http://schemas.openxmlformats.org/presentationml/2006/ole">
              <mc:AlternateContent xmlns:mc="http://schemas.openxmlformats.org/markup-compatibility/2006">
                <mc:Choice xmlns:v="urn:schemas-microsoft-com:vml" Requires="v">
                  <p:oleObj spid="_x0000_s2377" name="公式" r:id="rId12" imgW="139680" imgH="139680" progId="Equation.3">
                    <p:embed/>
                  </p:oleObj>
                </mc:Choice>
                <mc:Fallback>
                  <p:oleObj name="公式" r:id="rId12" imgW="139680" imgH="139680" progId="Equation.3">
                    <p:embed/>
                    <p:pic>
                      <p:nvPicPr>
                        <p:cNvPr id="679945" name="Object 9">
                          <a:extLst>
                            <a:ext uri="{FF2B5EF4-FFF2-40B4-BE49-F238E27FC236}">
                              <a16:creationId xmlns:a16="http://schemas.microsoft.com/office/drawing/2014/main" id="{FB514EE9-5F54-4DEE-910B-F66BCD459C9E}"/>
                            </a:ext>
                          </a:extLst>
                        </p:cNvPr>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77" y="3628"/>
                          <a:ext cx="223"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10">
              <a:extLst>
                <a:ext uri="{FF2B5EF4-FFF2-40B4-BE49-F238E27FC236}">
                  <a16:creationId xmlns:a16="http://schemas.microsoft.com/office/drawing/2014/main" id="{DC81ABB7-2A9E-44E0-879C-D137BCB7BCA4}"/>
                </a:ext>
              </a:extLst>
            </p:cNvPr>
            <p:cNvGraphicFramePr>
              <a:graphicFrameLocks noChangeAspect="1"/>
            </p:cNvGraphicFramePr>
            <p:nvPr/>
          </p:nvGraphicFramePr>
          <p:xfrm>
            <a:off x="3698" y="3611"/>
            <a:ext cx="226" cy="204"/>
          </p:xfrm>
          <a:graphic>
            <a:graphicData uri="http://schemas.openxmlformats.org/presentationml/2006/ole">
              <mc:AlternateContent xmlns:mc="http://schemas.openxmlformats.org/markup-compatibility/2006">
                <mc:Choice xmlns:v="urn:schemas-microsoft-com:vml" Requires="v">
                  <p:oleObj spid="_x0000_s2378" name="公式" r:id="rId14" imgW="126720" imgH="177480" progId="Equation.3">
                    <p:embed/>
                  </p:oleObj>
                </mc:Choice>
                <mc:Fallback>
                  <p:oleObj name="公式" r:id="rId14" imgW="126720" imgH="177480" progId="Equation.3">
                    <p:embed/>
                    <p:pic>
                      <p:nvPicPr>
                        <p:cNvPr id="679946" name="Object 10">
                          <a:extLst>
                            <a:ext uri="{FF2B5EF4-FFF2-40B4-BE49-F238E27FC236}">
                              <a16:creationId xmlns:a16="http://schemas.microsoft.com/office/drawing/2014/main" id="{2AE41C16-B713-4907-BA75-3F8A71E84C3F}"/>
                            </a:ext>
                          </a:extLst>
                        </p:cNvPr>
                        <p:cNvPicPr preferRelativeResize="0">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98" y="3611"/>
                          <a:ext cx="226"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1">
              <a:extLst>
                <a:ext uri="{FF2B5EF4-FFF2-40B4-BE49-F238E27FC236}">
                  <a16:creationId xmlns:a16="http://schemas.microsoft.com/office/drawing/2014/main" id="{499874BB-2A66-4460-83FA-E15AFA91BBB9}"/>
                </a:ext>
              </a:extLst>
            </p:cNvPr>
            <p:cNvGraphicFramePr>
              <a:graphicFrameLocks noChangeAspect="1"/>
            </p:cNvGraphicFramePr>
            <p:nvPr/>
          </p:nvGraphicFramePr>
          <p:xfrm>
            <a:off x="4563" y="3397"/>
            <a:ext cx="265" cy="204"/>
          </p:xfrm>
          <a:graphic>
            <a:graphicData uri="http://schemas.openxmlformats.org/presentationml/2006/ole">
              <mc:AlternateContent xmlns:mc="http://schemas.openxmlformats.org/markup-compatibility/2006">
                <mc:Choice xmlns:v="urn:schemas-microsoft-com:vml" Requires="v">
                  <p:oleObj spid="_x0000_s2379" name="公式" r:id="rId16" imgW="152280" imgH="139680" progId="Equation.3">
                    <p:embed/>
                  </p:oleObj>
                </mc:Choice>
                <mc:Fallback>
                  <p:oleObj name="公式" r:id="rId16" imgW="152280" imgH="139680" progId="Equation.3">
                    <p:embed/>
                    <p:pic>
                      <p:nvPicPr>
                        <p:cNvPr id="679947" name="Object 11">
                          <a:extLst>
                            <a:ext uri="{FF2B5EF4-FFF2-40B4-BE49-F238E27FC236}">
                              <a16:creationId xmlns:a16="http://schemas.microsoft.com/office/drawing/2014/main" id="{F06581F2-F554-4122-AB2A-C238BE84E528}"/>
                            </a:ext>
                          </a:extLst>
                        </p:cNvPr>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63" y="3397"/>
                          <a:ext cx="265"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 name="Line 12">
              <a:extLst>
                <a:ext uri="{FF2B5EF4-FFF2-40B4-BE49-F238E27FC236}">
                  <a16:creationId xmlns:a16="http://schemas.microsoft.com/office/drawing/2014/main" id="{1D856C43-EA0F-43E9-94B2-88882F9A0832}"/>
                </a:ext>
              </a:extLst>
            </p:cNvPr>
            <p:cNvSpPr>
              <a:spLocks noChangeShapeType="1"/>
            </p:cNvSpPr>
            <p:nvPr/>
          </p:nvSpPr>
          <p:spPr bwMode="auto">
            <a:xfrm>
              <a:off x="3050" y="3212"/>
              <a:ext cx="14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13">
              <a:extLst>
                <a:ext uri="{FF2B5EF4-FFF2-40B4-BE49-F238E27FC236}">
                  <a16:creationId xmlns:a16="http://schemas.microsoft.com/office/drawing/2014/main" id="{C2A7854D-0F23-410B-B10A-63D9AE5CF7E6}"/>
                </a:ext>
              </a:extLst>
            </p:cNvPr>
            <p:cNvSpPr>
              <a:spLocks noChangeShapeType="1"/>
            </p:cNvSpPr>
            <p:nvPr/>
          </p:nvSpPr>
          <p:spPr bwMode="auto">
            <a:xfrm>
              <a:off x="2753" y="3582"/>
              <a:ext cx="20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14">
              <a:extLst>
                <a:ext uri="{FF2B5EF4-FFF2-40B4-BE49-F238E27FC236}">
                  <a16:creationId xmlns:a16="http://schemas.microsoft.com/office/drawing/2014/main" id="{45790028-3924-49E6-8F69-05650247F56E}"/>
                </a:ext>
              </a:extLst>
            </p:cNvPr>
            <p:cNvSpPr>
              <a:spLocks noChangeShapeType="1"/>
            </p:cNvSpPr>
            <p:nvPr/>
          </p:nvSpPr>
          <p:spPr bwMode="auto">
            <a:xfrm flipV="1">
              <a:off x="4388" y="3540"/>
              <a:ext cx="0" cy="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15">
              <a:extLst>
                <a:ext uri="{FF2B5EF4-FFF2-40B4-BE49-F238E27FC236}">
                  <a16:creationId xmlns:a16="http://schemas.microsoft.com/office/drawing/2014/main" id="{B9549EC8-C963-4E4F-B0D8-BCA5648841EB}"/>
                </a:ext>
              </a:extLst>
            </p:cNvPr>
            <p:cNvSpPr>
              <a:spLocks noChangeShapeType="1"/>
            </p:cNvSpPr>
            <p:nvPr/>
          </p:nvSpPr>
          <p:spPr bwMode="auto">
            <a:xfrm flipV="1">
              <a:off x="3138" y="3552"/>
              <a:ext cx="0" cy="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down)">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down)">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310"/>
                                        </p:tgtEl>
                                        <p:attrNameLst>
                                          <p:attrName>style.visibility</p:attrName>
                                        </p:attrNameLst>
                                      </p:cBhvr>
                                      <p:to>
                                        <p:strVal val="visible"/>
                                      </p:to>
                                    </p:set>
                                    <p:animEffect transition="in" filter="wipe(down)">
                                      <p:cBhvr>
                                        <p:cTn id="17" dur="500"/>
                                        <p:tgtEl>
                                          <p:spTgt spid="12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0" grpId="0"/>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8B8B1DC-D305-4AEA-9D95-AE40AE6CA0C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C38D87-3FB3-4B98-9435-AEE03EDBE2BF}" type="slidenum">
              <a:rPr lang="zh-CN" altLang="en-US">
                <a:solidFill>
                  <a:srgbClr val="898989"/>
                </a:solidFill>
                <a:latin typeface="Calibri" panose="020F0502020204030204" pitchFamily="34" charset="0"/>
              </a:rPr>
              <a:pPr eaLnBrk="1" hangingPunct="1"/>
              <a:t>12</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3346" name="Text Box 4">
                <a:extLst>
                  <a:ext uri="{FF2B5EF4-FFF2-40B4-BE49-F238E27FC236}">
                    <a16:creationId xmlns:a16="http://schemas.microsoft.com/office/drawing/2014/main" id="{39AF2E28-D3F1-435B-9B35-020ADC847EEA}"/>
                  </a:ext>
                </a:extLst>
              </p:cNvPr>
              <p:cNvSpPr txBox="1">
                <a:spLocks noChangeArrowheads="1"/>
              </p:cNvSpPr>
              <p:nvPr/>
            </p:nvSpPr>
            <p:spPr bwMode="auto">
              <a:xfrm>
                <a:off x="762000" y="5101873"/>
                <a:ext cx="7924800" cy="1135439"/>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显然，将</a:t>
                </a:r>
                <a14:m>
                  <m:oMath xmlns:m="http://schemas.openxmlformats.org/officeDocument/2006/math">
                    <m:r>
                      <a:rPr lang="en-US" sz="2400" i="1">
                        <a:solidFill>
                          <a:schemeClr val="tx1"/>
                        </a:solidFill>
                        <a:latin typeface="Cambria Math" panose="02040503050406030204" pitchFamily="18" charset="0"/>
                      </a:rPr>
                      <m:t>𝑋</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a:solidFill>
                              <a:schemeClr val="tx1"/>
                            </a:solidFill>
                            <a:latin typeface="Cambria Math" panose="02040503050406030204" pitchFamily="18" charset="0"/>
                          </a:rPr>
                          <m:t>e</m:t>
                        </m:r>
                      </m:e>
                      <m:sup>
                        <m:r>
                          <m:rPr>
                            <m:sty m:val="p"/>
                          </m:rPr>
                          <a:rPr lang="en-US" sz="240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𝜔</m:t>
                        </m:r>
                      </m:sup>
                    </m:sSup>
                    <m:r>
                      <a:rPr lang="en-US" sz="2400" i="1">
                        <a:solidFill>
                          <a:schemeClr val="tx1"/>
                        </a:solidFill>
                        <a:latin typeface="Cambria Math" panose="02040503050406030204" pitchFamily="18" charset="0"/>
                      </a:rPr>
                      <m:t>)</m:t>
                    </m:r>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中的</a:t>
                </a:r>
                <a14:m>
                  <m:oMath xmlns:m="http://schemas.openxmlformats.org/officeDocument/2006/math">
                    <m:r>
                      <a:rPr lang="en-US" sz="2400" i="1">
                        <a:solidFill>
                          <a:schemeClr val="tx1"/>
                        </a:solidFill>
                        <a:latin typeface="Cambria Math" panose="02040503050406030204" pitchFamily="18" charset="0"/>
                      </a:rPr>
                      <m:t>𝜔</m:t>
                    </m:r>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代之以</a:t>
                </a:r>
                <a14:m>
                  <m:oMath xmlns:m="http://schemas.openxmlformats.org/officeDocument/2006/math">
                    <m:r>
                      <a:rPr lang="en-US" sz="2400" i="1">
                        <a:solidFill>
                          <a:schemeClr val="tx1"/>
                        </a:solidFill>
                        <a:latin typeface="Cambria Math" panose="02040503050406030204" pitchFamily="18" charset="0"/>
                      </a:rPr>
                      <m:t>𝑘</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再乘以</a:t>
                </a:r>
                <a14:m>
                  <m:oMath xmlns:m="http://schemas.openxmlformats.org/officeDocument/2006/math">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1</m:t>
                        </m:r>
                      </m:num>
                      <m:den>
                        <m:r>
                          <a:rPr lang="en-US" sz="2400" b="0" i="1" smtClean="0">
                            <a:solidFill>
                              <a:schemeClr val="tx1"/>
                            </a:solidFill>
                            <a:latin typeface="Cambria Math" panose="02040503050406030204" pitchFamily="18" charset="0"/>
                          </a:rPr>
                          <m:t>𝑁</m:t>
                        </m:r>
                      </m:den>
                    </m:f>
                    <m:r>
                      <a:rPr lang="en-US" sz="2400" i="1">
                        <a:solidFill>
                          <a:schemeClr val="tx1"/>
                        </a:solidFill>
                        <a:latin typeface="Cambria Math" panose="02040503050406030204" pitchFamily="18" charset="0"/>
                      </a:rPr>
                      <m:t> </m:t>
                    </m:r>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，即是相应周期延拓序列的频谱：</a:t>
                </a:r>
                <a:r>
                  <a:rPr lang="en-US" sz="2400" dirty="0">
                    <a:solidFill>
                      <a:schemeClr val="tx1"/>
                    </a:solidFill>
                  </a:rPr>
                  <a:t> </a:t>
                </a:r>
                <a14:m>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𝑘</m:t>
                        </m:r>
                      </m:sub>
                    </m:sSub>
                    <m:r>
                      <a:rPr lang="en-US" sz="2400" i="1">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1</m:t>
                        </m:r>
                      </m:num>
                      <m:den>
                        <m:r>
                          <a:rPr lang="en-US" sz="2400" i="1">
                            <a:solidFill>
                              <a:schemeClr val="tx1"/>
                            </a:solidFill>
                            <a:latin typeface="Cambria Math" panose="02040503050406030204" pitchFamily="18" charset="0"/>
                          </a:rPr>
                          <m:t>𝑁</m:t>
                        </m:r>
                      </m:den>
                    </m:f>
                    <m:r>
                      <a:rPr lang="en-US" sz="2400" i="1">
                        <a:solidFill>
                          <a:schemeClr val="tx1"/>
                        </a:solidFill>
                        <a:latin typeface="Cambria Math" panose="02040503050406030204" pitchFamily="18" charset="0"/>
                      </a:rPr>
                      <m:t>𝑋</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a:solidFill>
                              <a:schemeClr val="tx1"/>
                            </a:solidFill>
                            <a:latin typeface="Cambria Math" panose="02040503050406030204" pitchFamily="18" charset="0"/>
                          </a:rPr>
                          <m:t>e</m:t>
                        </m:r>
                      </m:e>
                      <m:sup>
                        <m:r>
                          <m:rPr>
                            <m:sty m:val="p"/>
                          </m:rPr>
                          <a:rPr lang="en-US" sz="240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ea typeface="Cambria Math" panose="02040503050406030204" pitchFamily="18" charset="0"/>
                          </a:rPr>
                          <m:t>𝜔</m:t>
                        </m:r>
                      </m:sup>
                    </m:sSup>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m:t>
                        </m:r>
                      </m:e>
                      <m:sub>
                        <m:r>
                          <a:rPr lang="en-US" sz="2400" i="1">
                            <a:solidFill>
                              <a:schemeClr val="tx1"/>
                            </a:solidFill>
                            <a:latin typeface="Cambria Math" panose="02040503050406030204" pitchFamily="18" charset="0"/>
                          </a:rPr>
                          <m:t>𝜔</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𝑘</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sub>
                    </m:sSub>
                  </m:oMath>
                </a14:m>
                <a:endPar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3346" name="Text Box 4">
                <a:extLst>
                  <a:ext uri="{FF2B5EF4-FFF2-40B4-BE49-F238E27FC236}">
                    <a16:creationId xmlns:a16="http://schemas.microsoft.com/office/drawing/2014/main" id="{39AF2E28-D3F1-435B-9B35-020ADC847EEA}"/>
                  </a:ext>
                </a:extLst>
              </p:cNvPr>
              <p:cNvSpPr txBox="1">
                <a:spLocks noRot="1" noChangeAspect="1" noMove="1" noResize="1" noEditPoints="1" noAdjustHandles="1" noChangeArrowheads="1" noChangeShapeType="1" noTextEdit="1"/>
              </p:cNvSpPr>
              <p:nvPr/>
            </p:nvSpPr>
            <p:spPr bwMode="auto">
              <a:xfrm>
                <a:off x="762000" y="5101873"/>
                <a:ext cx="7924800" cy="1135439"/>
              </a:xfrm>
              <a:prstGeom prst="rect">
                <a:avLst/>
              </a:prstGeom>
              <a:blipFill>
                <a:blip r:embed="rId4"/>
                <a:stretch>
                  <a:fillRect l="-1154" r="-231" b="-53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sp>
        <p:nvSpPr>
          <p:cNvPr id="13344" name="Text Box 11">
            <a:extLst>
              <a:ext uri="{FF2B5EF4-FFF2-40B4-BE49-F238E27FC236}">
                <a16:creationId xmlns:a16="http://schemas.microsoft.com/office/drawing/2014/main" id="{1E8BD71E-5830-45F4-83DA-E783E945C321}"/>
              </a:ext>
            </a:extLst>
          </p:cNvPr>
          <p:cNvSpPr txBox="1">
            <a:spLocks noChangeArrowheads="1"/>
          </p:cNvSpPr>
          <p:nvPr/>
        </p:nvSpPr>
        <p:spPr bwMode="auto">
          <a:xfrm>
            <a:off x="642938" y="1620838"/>
            <a:ext cx="1912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rPr>
              <a:t>4. </a:t>
            </a:r>
            <a:r>
              <a:rPr lang="zh-CN" altLang="en-US"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rPr>
              <a:t>矩形脉冲</a:t>
            </a:r>
            <a:r>
              <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13324" name="Object 8">
                <a:extLst>
                  <a:ext uri="{FF2B5EF4-FFF2-40B4-BE49-F238E27FC236}">
                    <a16:creationId xmlns:a16="http://schemas.microsoft.com/office/drawing/2014/main" id="{3D8CA4F2-FDEA-4D26-89F6-EF89716F7A2F}"/>
                  </a:ext>
                </a:extLst>
              </p:cNvPr>
              <p:cNvSpPr txBox="1"/>
              <p:nvPr/>
            </p:nvSpPr>
            <p:spPr bwMode="auto">
              <a:xfrm>
                <a:off x="2724150" y="1635584"/>
                <a:ext cx="1073107"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13324" name="Object 8">
                <a:extLst>
                  <a:ext uri="{FF2B5EF4-FFF2-40B4-BE49-F238E27FC236}">
                    <a16:creationId xmlns:a16="http://schemas.microsoft.com/office/drawing/2014/main" id="{3D8CA4F2-FDEA-4D26-89F6-EF89716F7A2F}"/>
                  </a:ext>
                </a:extLst>
              </p:cNvPr>
              <p:cNvSpPr txBox="1">
                <a:spLocks noRot="1" noChangeAspect="1" noMove="1" noResize="1" noEditPoints="1" noAdjustHandles="1" noChangeArrowheads="1" noChangeShapeType="1" noTextEdit="1"/>
              </p:cNvSpPr>
              <p:nvPr/>
            </p:nvSpPr>
            <p:spPr bwMode="auto">
              <a:xfrm>
                <a:off x="2724150" y="1635584"/>
                <a:ext cx="1073107" cy="461665"/>
              </a:xfrm>
              <a:prstGeom prst="rect">
                <a:avLst/>
              </a:prstGeom>
              <a:blipFill>
                <a:blip r:embed="rId5"/>
                <a:stretch>
                  <a:fillRect b="-19737"/>
                </a:stretch>
              </a:blipFill>
              <a:ln>
                <a:noFill/>
              </a:ln>
              <a:effectLst/>
            </p:spPr>
            <p:txBody>
              <a:bodyPr/>
              <a:lstStyle/>
              <a:p>
                <a:r>
                  <a:rPr lang="en-US">
                    <a:noFill/>
                  </a:rPr>
                  <a:t> </a:t>
                </a:r>
              </a:p>
            </p:txBody>
          </p:sp>
        </mc:Fallback>
      </mc:AlternateContent>
      <p:graphicFrame>
        <p:nvGraphicFramePr>
          <p:cNvPr id="13325" name="Object 9">
            <a:extLst>
              <a:ext uri="{FF2B5EF4-FFF2-40B4-BE49-F238E27FC236}">
                <a16:creationId xmlns:a16="http://schemas.microsoft.com/office/drawing/2014/main" id="{6E555DE3-AA22-46D8-9ABA-31F5C5E1EE68}"/>
              </a:ext>
            </a:extLst>
          </p:cNvPr>
          <p:cNvGraphicFramePr>
            <a:graphicFrameLocks noChangeAspect="1"/>
          </p:cNvGraphicFramePr>
          <p:nvPr>
            <p:extLst>
              <p:ext uri="{D42A27DB-BD31-4B8C-83A1-F6EECF244321}">
                <p14:modId xmlns:p14="http://schemas.microsoft.com/office/powerpoint/2010/main" val="1076065380"/>
              </p:ext>
            </p:extLst>
          </p:nvPr>
        </p:nvGraphicFramePr>
        <p:xfrm>
          <a:off x="4019992" y="1409680"/>
          <a:ext cx="246525" cy="449956"/>
        </p:xfrm>
        <a:graphic>
          <a:graphicData uri="http://schemas.openxmlformats.org/presentationml/2006/ole">
            <mc:AlternateContent xmlns:mc="http://schemas.openxmlformats.org/markup-compatibility/2006">
              <mc:Choice xmlns:v="urn:schemas-microsoft-com:vml" Requires="v">
                <p:oleObj spid="_x0000_s3236" name="Equation" r:id="rId6" imgW="126720" imgH="203040" progId="Equation.DSMT4">
                  <p:embed/>
                </p:oleObj>
              </mc:Choice>
              <mc:Fallback>
                <p:oleObj name="Equation" r:id="rId6" imgW="126720" imgH="20304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9992" y="1409680"/>
                        <a:ext cx="246525" cy="4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3326" name="Object 10">
                <a:extLst>
                  <a:ext uri="{FF2B5EF4-FFF2-40B4-BE49-F238E27FC236}">
                    <a16:creationId xmlns:a16="http://schemas.microsoft.com/office/drawing/2014/main" id="{69283EDB-5037-4589-B96F-164365F2FBDF}"/>
                  </a:ext>
                </a:extLst>
              </p:cNvPr>
              <p:cNvSpPr txBox="1"/>
              <p:nvPr/>
            </p:nvSpPr>
            <p:spPr bwMode="auto">
              <a:xfrm>
                <a:off x="4572000" y="1360651"/>
                <a:ext cx="1303338"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𝑛</m:t>
                          </m:r>
                        </m:e>
                      </m:d>
                      <m:r>
                        <a:rPr lang="en-US" sz="2400" i="1" smtClean="0">
                          <a:solidFill>
                            <a:srgbClr val="000000"/>
                          </a:solidFill>
                          <a:latin typeface="Cambria Math" panose="02040503050406030204" pitchFamily="18" charset="0"/>
                          <a:ea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𝑁</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13326" name="Object 10">
                <a:extLst>
                  <a:ext uri="{FF2B5EF4-FFF2-40B4-BE49-F238E27FC236}">
                    <a16:creationId xmlns:a16="http://schemas.microsoft.com/office/drawing/2014/main" id="{69283EDB-5037-4589-B96F-164365F2FBDF}"/>
                  </a:ext>
                </a:extLst>
              </p:cNvPr>
              <p:cNvSpPr txBox="1">
                <a:spLocks noRot="1" noChangeAspect="1" noMove="1" noResize="1" noEditPoints="1" noAdjustHandles="1" noChangeArrowheads="1" noChangeShapeType="1" noTextEdit="1"/>
              </p:cNvSpPr>
              <p:nvPr/>
            </p:nvSpPr>
            <p:spPr bwMode="auto">
              <a:xfrm>
                <a:off x="4572000" y="1360651"/>
                <a:ext cx="1303338" cy="461665"/>
              </a:xfrm>
              <a:prstGeom prst="rect">
                <a:avLst/>
              </a:prstGeom>
              <a:blipFill>
                <a:blip r:embed="rId8"/>
                <a:stretch>
                  <a:fillRect b="-3947"/>
                </a:stretch>
              </a:blipFill>
              <a:ln>
                <a:noFill/>
              </a:ln>
              <a:effectLst/>
            </p:spPr>
            <p:txBody>
              <a:bodyPr/>
              <a:lstStyle/>
              <a:p>
                <a:r>
                  <a:rPr lang="en-US">
                    <a:noFill/>
                  </a:rPr>
                  <a:t> </a:t>
                </a:r>
              </a:p>
            </p:txBody>
          </p:sp>
        </mc:Fallback>
      </mc:AlternateContent>
      <p:graphicFrame>
        <p:nvGraphicFramePr>
          <p:cNvPr id="13327" name="Object 11">
            <a:extLst>
              <a:ext uri="{FF2B5EF4-FFF2-40B4-BE49-F238E27FC236}">
                <a16:creationId xmlns:a16="http://schemas.microsoft.com/office/drawing/2014/main" id="{4818DE11-35DC-4570-B8A5-A9086432B9F6}"/>
              </a:ext>
            </a:extLst>
          </p:cNvPr>
          <p:cNvGraphicFramePr>
            <a:graphicFrameLocks noChangeAspect="1"/>
          </p:cNvGraphicFramePr>
          <p:nvPr>
            <p:extLst>
              <p:ext uri="{D42A27DB-BD31-4B8C-83A1-F6EECF244321}">
                <p14:modId xmlns:p14="http://schemas.microsoft.com/office/powerpoint/2010/main" val="3027050702"/>
              </p:ext>
            </p:extLst>
          </p:nvPr>
        </p:nvGraphicFramePr>
        <p:xfrm>
          <a:off x="4015158" y="2004066"/>
          <a:ext cx="293251" cy="449956"/>
        </p:xfrm>
        <a:graphic>
          <a:graphicData uri="http://schemas.openxmlformats.org/presentationml/2006/ole">
            <mc:AlternateContent xmlns:mc="http://schemas.openxmlformats.org/markup-compatibility/2006">
              <mc:Choice xmlns:v="urn:schemas-microsoft-com:vml" Requires="v">
                <p:oleObj spid="_x0000_s3237" name="Equation" r:id="rId9" imgW="152280" imgH="203040" progId="Equation.DSMT4">
                  <p:embed/>
                </p:oleObj>
              </mc:Choice>
              <mc:Fallback>
                <p:oleObj name="Equation" r:id="rId9" imgW="152280" imgH="20304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5158" y="2004066"/>
                        <a:ext cx="293251" cy="4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3328" name="Object 12">
                <a:extLst>
                  <a:ext uri="{FF2B5EF4-FFF2-40B4-BE49-F238E27FC236}">
                    <a16:creationId xmlns:a16="http://schemas.microsoft.com/office/drawing/2014/main" id="{D02C08BC-1826-4F72-8E23-A3B428E8AA50}"/>
                  </a:ext>
                </a:extLst>
              </p:cNvPr>
              <p:cNvSpPr txBox="1"/>
              <p:nvPr/>
            </p:nvSpPr>
            <p:spPr bwMode="auto">
              <a:xfrm>
                <a:off x="4572000" y="1937990"/>
                <a:ext cx="1303338"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&gt;</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𝑁</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13328" name="Object 12">
                <a:extLst>
                  <a:ext uri="{FF2B5EF4-FFF2-40B4-BE49-F238E27FC236}">
                    <a16:creationId xmlns:a16="http://schemas.microsoft.com/office/drawing/2014/main" id="{D02C08BC-1826-4F72-8E23-A3B428E8AA50}"/>
                  </a:ext>
                </a:extLst>
              </p:cNvPr>
              <p:cNvSpPr txBox="1">
                <a:spLocks noRot="1" noChangeAspect="1" noMove="1" noResize="1" noEditPoints="1" noAdjustHandles="1" noChangeArrowheads="1" noChangeShapeType="1" noTextEdit="1"/>
              </p:cNvSpPr>
              <p:nvPr/>
            </p:nvSpPr>
            <p:spPr bwMode="auto">
              <a:xfrm>
                <a:off x="4572000" y="1937990"/>
                <a:ext cx="1303338" cy="461665"/>
              </a:xfrm>
              <a:prstGeom prst="rect">
                <a:avLst/>
              </a:prstGeom>
              <a:blipFill>
                <a:blip r:embed="rId11"/>
                <a:stretch>
                  <a:fillRect b="-2632"/>
                </a:stretch>
              </a:blipFill>
              <a:ln>
                <a:noFill/>
              </a:ln>
              <a:effectLst/>
            </p:spPr>
            <p:txBody>
              <a:bodyPr/>
              <a:lstStyle/>
              <a:p>
                <a:r>
                  <a:rPr lang="en-US">
                    <a:noFill/>
                  </a:rPr>
                  <a:t> </a:t>
                </a:r>
              </a:p>
            </p:txBody>
          </p:sp>
        </mc:Fallback>
      </mc:AlternateContent>
      <p:graphicFrame>
        <p:nvGraphicFramePr>
          <p:cNvPr id="13329" name="Object 13">
            <a:extLst>
              <a:ext uri="{FF2B5EF4-FFF2-40B4-BE49-F238E27FC236}">
                <a16:creationId xmlns:a16="http://schemas.microsoft.com/office/drawing/2014/main" id="{9819837D-504F-4A1E-AB40-4BDC801822E0}"/>
              </a:ext>
            </a:extLst>
          </p:cNvPr>
          <p:cNvGraphicFramePr>
            <a:graphicFrameLocks noChangeAspect="1"/>
          </p:cNvGraphicFramePr>
          <p:nvPr>
            <p:extLst>
              <p:ext uri="{D42A27DB-BD31-4B8C-83A1-F6EECF244321}">
                <p14:modId xmlns:p14="http://schemas.microsoft.com/office/powerpoint/2010/main" val="2041612600"/>
              </p:ext>
            </p:extLst>
          </p:nvPr>
        </p:nvGraphicFramePr>
        <p:xfrm>
          <a:off x="3779912" y="1344872"/>
          <a:ext cx="454379" cy="1129518"/>
        </p:xfrm>
        <a:graphic>
          <a:graphicData uri="http://schemas.openxmlformats.org/presentationml/2006/ole">
            <mc:AlternateContent xmlns:mc="http://schemas.openxmlformats.org/markup-compatibility/2006">
              <mc:Choice xmlns:v="urn:schemas-microsoft-com:vml" Requires="v">
                <p:oleObj spid="_x0000_s3238" name="Equation" r:id="rId12" imgW="177480" imgH="253800" progId="Equation.DSMT4">
                  <p:embed/>
                </p:oleObj>
              </mc:Choice>
              <mc:Fallback>
                <p:oleObj name="Equation" r:id="rId12" imgW="177480" imgH="25380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79912" y="1344872"/>
                        <a:ext cx="454379" cy="112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 name="标题 1">
            <a:extLst>
              <a:ext uri="{FF2B5EF4-FFF2-40B4-BE49-F238E27FC236}">
                <a16:creationId xmlns:a16="http://schemas.microsoft.com/office/drawing/2014/main" id="{08FFBEE9-AAB9-4EA8-A9BF-5BD7873698D5}"/>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mc:AlternateContent xmlns:mc="http://schemas.openxmlformats.org/markup-compatibility/2006" xmlns:a14="http://schemas.microsoft.com/office/drawing/2010/main">
        <mc:Choice Requires="a14">
          <p:sp>
            <p:nvSpPr>
              <p:cNvPr id="43" name="Object 1026">
                <a:extLst>
                  <a:ext uri="{FF2B5EF4-FFF2-40B4-BE49-F238E27FC236}">
                    <a16:creationId xmlns:a16="http://schemas.microsoft.com/office/drawing/2014/main" id="{7294AE78-DFDB-4BFB-9367-334DC793217A}"/>
                  </a:ext>
                </a:extLst>
              </p:cNvPr>
              <p:cNvSpPr txBox="1"/>
              <p:nvPr/>
            </p:nvSpPr>
            <p:spPr bwMode="auto">
              <a:xfrm>
                <a:off x="1792436" y="2780928"/>
                <a:ext cx="5803900" cy="1221809"/>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𝑋</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𝑁</m:t>
                              </m:r>
                            </m:e>
                            <m:sub>
                              <m:r>
                                <a:rPr lang="en-US" sz="2400" i="1">
                                  <a:solidFill>
                                    <a:srgbClr val="000000"/>
                                  </a:solidFill>
                                  <a:latin typeface="Cambria Math" panose="02040503050406030204" pitchFamily="18" charset="0"/>
                                </a:rPr>
                                <m:t>1</m:t>
                              </m:r>
                            </m:sub>
                          </m:sSub>
                        </m:sub>
                        <m: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𝑁</m:t>
                              </m:r>
                            </m:e>
                            <m:sub>
                              <m:r>
                                <a:rPr lang="en-US" sz="2400" i="1">
                                  <a:solidFill>
                                    <a:srgbClr val="000000"/>
                                  </a:solidFill>
                                  <a:latin typeface="Cambria Math" panose="02040503050406030204" pitchFamily="18" charset="0"/>
                                </a:rPr>
                                <m:t>1</m:t>
                              </m:r>
                            </m:sub>
                          </m:sSub>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d>
                                <m:dPr>
                                  <m:begChr m:val="["/>
                                  <m:endChr m:val="]"/>
                                  <m:ctrlPr>
                                    <a:rPr lang="en-US" sz="240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𝑁</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𝜔</m:t>
                                      </m:r>
                                    </m:num>
                                    <m:den>
                                      <m:r>
                                        <a:rPr lang="en-US" sz="2400" i="1">
                                          <a:solidFill>
                                            <a:srgbClr val="000000"/>
                                          </a:solidFill>
                                          <a:latin typeface="Cambria Math" panose="02040503050406030204" pitchFamily="18" charset="0"/>
                                        </a:rPr>
                                        <m:t>2</m:t>
                                      </m:r>
                                    </m:den>
                                  </m:f>
                                </m:e>
                              </m:d>
                            </m:e>
                          </m:func>
                        </m:num>
                        <m:den>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𝜔</m:t>
                                  </m:r>
                                </m:num>
                                <m:den>
                                  <m:r>
                                    <a:rPr lang="en-US" sz="2400" i="1">
                                      <a:solidFill>
                                        <a:srgbClr val="000000"/>
                                      </a:solidFill>
                                      <a:latin typeface="Cambria Math" panose="02040503050406030204" pitchFamily="18" charset="0"/>
                                    </a:rPr>
                                    <m:t>2</m:t>
                                  </m:r>
                                </m:den>
                              </m:f>
                            </m:e>
                          </m:func>
                        </m:den>
                      </m:f>
                    </m:oMath>
                  </m:oMathPara>
                </a14:m>
                <a:endParaRPr lang="en-US" sz="2400" dirty="0"/>
              </a:p>
            </p:txBody>
          </p:sp>
        </mc:Choice>
        <mc:Fallback xmlns="">
          <p:sp>
            <p:nvSpPr>
              <p:cNvPr id="43" name="Object 1026">
                <a:extLst>
                  <a:ext uri="{FF2B5EF4-FFF2-40B4-BE49-F238E27FC236}">
                    <a16:creationId xmlns:a16="http://schemas.microsoft.com/office/drawing/2014/main" id="{7294AE78-DFDB-4BFB-9367-334DC793217A}"/>
                  </a:ext>
                </a:extLst>
              </p:cNvPr>
              <p:cNvSpPr txBox="1">
                <a:spLocks noRot="1" noChangeAspect="1" noMove="1" noResize="1" noEditPoints="1" noAdjustHandles="1" noChangeArrowheads="1" noChangeShapeType="1" noTextEdit="1"/>
              </p:cNvSpPr>
              <p:nvPr/>
            </p:nvSpPr>
            <p:spPr bwMode="auto">
              <a:xfrm>
                <a:off x="1792436" y="2780928"/>
                <a:ext cx="5803900" cy="1221809"/>
              </a:xfrm>
              <a:prstGeom prst="rect">
                <a:avLst/>
              </a:prstGeom>
              <a:blipFill>
                <a:blip r:embed="rId14"/>
                <a:stretch>
                  <a:fillRect/>
                </a:stretch>
              </a:blipFill>
              <a:ln>
                <a:noFill/>
              </a:ln>
              <a:effectLst/>
            </p:spPr>
            <p:txBody>
              <a:bodyPr/>
              <a:lstStyle/>
              <a:p>
                <a:r>
                  <a:rPr lang="en-US">
                    <a:noFill/>
                  </a:rPr>
                  <a:t> </a:t>
                </a:r>
              </a:p>
            </p:txBody>
          </p:sp>
        </mc:Fallback>
      </mc:AlternateContent>
      <p:grpSp>
        <p:nvGrpSpPr>
          <p:cNvPr id="46" name="Group 1041">
            <a:extLst>
              <a:ext uri="{FF2B5EF4-FFF2-40B4-BE49-F238E27FC236}">
                <a16:creationId xmlns:a16="http://schemas.microsoft.com/office/drawing/2014/main" id="{F3B6FFEE-D227-4DB1-81E0-52E7D0214A53}"/>
              </a:ext>
            </a:extLst>
          </p:cNvPr>
          <p:cNvGrpSpPr>
            <a:grpSpLocks/>
          </p:cNvGrpSpPr>
          <p:nvPr/>
        </p:nvGrpSpPr>
        <p:grpSpPr bwMode="auto">
          <a:xfrm>
            <a:off x="2709391" y="4335189"/>
            <a:ext cx="3806825" cy="461963"/>
            <a:chOff x="2215" y="2769"/>
            <a:chExt cx="2398" cy="291"/>
          </a:xfrm>
        </p:grpSpPr>
        <p:sp>
          <p:nvSpPr>
            <p:cNvPr id="47" name="Text Box 1036">
              <a:extLst>
                <a:ext uri="{FF2B5EF4-FFF2-40B4-BE49-F238E27FC236}">
                  <a16:creationId xmlns:a16="http://schemas.microsoft.com/office/drawing/2014/main" id="{8ABC9C9A-6A90-418C-85EC-F8D9DFDE5325}"/>
                </a:ext>
              </a:extLst>
            </p:cNvPr>
            <p:cNvSpPr txBox="1">
              <a:spLocks noChangeArrowheads="1"/>
            </p:cNvSpPr>
            <p:nvPr/>
          </p:nvSpPr>
          <p:spPr bwMode="auto">
            <a:xfrm>
              <a:off x="2215" y="2769"/>
              <a:ext cx="8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FF0000"/>
                  </a:solidFill>
                  <a:latin typeface="楷体_GB2312" panose="02010609030101010101" pitchFamily="49" charset="-122"/>
                  <a:ea typeface="楷体_GB2312" panose="02010609030101010101" pitchFamily="49" charset="-122"/>
                </a:rPr>
                <a:t>实偶信号</a:t>
              </a:r>
            </a:p>
          </p:txBody>
        </p:sp>
        <p:sp>
          <p:nvSpPr>
            <p:cNvPr id="48" name="Line 1037">
              <a:extLst>
                <a:ext uri="{FF2B5EF4-FFF2-40B4-BE49-F238E27FC236}">
                  <a16:creationId xmlns:a16="http://schemas.microsoft.com/office/drawing/2014/main" id="{8BFB1E53-CC2D-493E-9143-7B8B3848D4D4}"/>
                </a:ext>
              </a:extLst>
            </p:cNvPr>
            <p:cNvSpPr>
              <a:spLocks noChangeShapeType="1"/>
            </p:cNvSpPr>
            <p:nvPr/>
          </p:nvSpPr>
          <p:spPr bwMode="auto">
            <a:xfrm>
              <a:off x="3183" y="2914"/>
              <a:ext cx="457"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9" name="Text Box 1038">
              <a:extLst>
                <a:ext uri="{FF2B5EF4-FFF2-40B4-BE49-F238E27FC236}">
                  <a16:creationId xmlns:a16="http://schemas.microsoft.com/office/drawing/2014/main" id="{C749553A-C713-465F-A020-745C92927112}"/>
                </a:ext>
              </a:extLst>
            </p:cNvPr>
            <p:cNvSpPr txBox="1">
              <a:spLocks noChangeArrowheads="1"/>
            </p:cNvSpPr>
            <p:nvPr/>
          </p:nvSpPr>
          <p:spPr bwMode="auto">
            <a:xfrm>
              <a:off x="3717" y="2769"/>
              <a:ext cx="8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FF0000"/>
                  </a:solidFill>
                  <a:ea typeface="楷体_GB2312" panose="02010609030101010101" pitchFamily="49" charset="-122"/>
                </a:rPr>
                <a:t>实偶函数</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down)">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346"/>
                                        </p:tgtEl>
                                        <p:attrNameLst>
                                          <p:attrName>style.visibility</p:attrName>
                                        </p:attrNameLst>
                                      </p:cBhvr>
                                      <p:to>
                                        <p:strVal val="visible"/>
                                      </p:to>
                                    </p:set>
                                    <p:animEffect transition="in" filter="wipe(down)">
                                      <p:cBhvr>
                                        <p:cTn id="17" dur="500"/>
                                        <p:tgtEl>
                                          <p:spTgt spid="13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6" grpId="0"/>
      <p:bldP spid="4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29D28BA-342B-4CD2-8C4A-C0EBC32052D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05FCEDC-1EBC-4FCE-9F98-E00BBBFA9481}" type="slidenum">
              <a:rPr lang="zh-CN" altLang="en-US">
                <a:solidFill>
                  <a:srgbClr val="898989"/>
                </a:solidFill>
                <a:latin typeface="Calibri" panose="020F0502020204030204" pitchFamily="34" charset="0"/>
              </a:rPr>
              <a:pPr eaLnBrk="1" hangingPunct="1"/>
              <a:t>13</a:t>
            </a:fld>
            <a:endParaRPr lang="zh-CN" altLang="en-US">
              <a:solidFill>
                <a:srgbClr val="898989"/>
              </a:solidFill>
              <a:latin typeface="Calibri" panose="020F0502020204030204" pitchFamily="34" charset="0"/>
            </a:endParaRPr>
          </a:p>
        </p:txBody>
      </p:sp>
      <p:sp>
        <p:nvSpPr>
          <p:cNvPr id="54" name="标题 1">
            <a:extLst>
              <a:ext uri="{FF2B5EF4-FFF2-40B4-BE49-F238E27FC236}">
                <a16:creationId xmlns:a16="http://schemas.microsoft.com/office/drawing/2014/main" id="{7CCC53E9-0693-42B2-82CB-1A116CA69E7B}"/>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p:pic>
        <p:nvPicPr>
          <p:cNvPr id="55" name="Picture 4">
            <a:extLst>
              <a:ext uri="{FF2B5EF4-FFF2-40B4-BE49-F238E27FC236}">
                <a16:creationId xmlns:a16="http://schemas.microsoft.com/office/drawing/2014/main" id="{5CCA57C1-38C9-44C6-968A-41469A540A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2774" y="1327665"/>
            <a:ext cx="6178451" cy="5269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C4D9C7C-A41C-499E-8D38-31C7DFE7500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9F3F5E-C411-4EAB-8A96-82D63B01A6E0}" type="slidenum">
              <a:rPr lang="zh-CN" altLang="en-US">
                <a:solidFill>
                  <a:srgbClr val="898989"/>
                </a:solidFill>
                <a:latin typeface="Calibri" panose="020F0502020204030204" pitchFamily="34" charset="0"/>
              </a:rPr>
              <a:pPr eaLnBrk="1" hangingPunct="1"/>
              <a:t>14</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5395" name="Text Box 6">
                <a:extLst>
                  <a:ext uri="{FF2B5EF4-FFF2-40B4-BE49-F238E27FC236}">
                    <a16:creationId xmlns:a16="http://schemas.microsoft.com/office/drawing/2014/main" id="{DA70620D-34DF-4823-B3E5-1364021B1EFD}"/>
                  </a:ext>
                </a:extLst>
              </p:cNvPr>
              <p:cNvSpPr txBox="1">
                <a:spLocks noChangeArrowheads="1"/>
              </p:cNvSpPr>
              <p:nvPr/>
            </p:nvSpPr>
            <p:spPr bwMode="auto">
              <a:xfrm>
                <a:off x="539552" y="1597943"/>
                <a:ext cx="1691553" cy="473591"/>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rPr>
                  <a:t>5. </a:t>
                </a:r>
                <a14:m>
                  <m:oMath xmlns:m="http://schemas.openxmlformats.org/officeDocument/2006/math">
                    <m:r>
                      <a:rPr lang="en-US" sz="2400" i="1" smtClean="0">
                        <a:solidFill>
                          <a:srgbClr val="000000"/>
                        </a:solidFill>
                        <a:latin typeface="Cambria Math" panose="02040503050406030204" pitchFamily="18" charset="0"/>
                      </a:rPr>
                      <m:t>𝑋</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oMath>
                </a14:m>
                <a:endPar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5395" name="Text Box 6">
                <a:extLst>
                  <a:ext uri="{FF2B5EF4-FFF2-40B4-BE49-F238E27FC236}">
                    <a16:creationId xmlns:a16="http://schemas.microsoft.com/office/drawing/2014/main" id="{DA70620D-34DF-4823-B3E5-1364021B1EFD}"/>
                  </a:ext>
                </a:extLst>
              </p:cNvPr>
              <p:cNvSpPr txBox="1">
                <a:spLocks noRot="1" noChangeAspect="1" noMove="1" noResize="1" noEditPoints="1" noAdjustHandles="1" noChangeArrowheads="1" noChangeShapeType="1" noTextEdit="1"/>
              </p:cNvSpPr>
              <p:nvPr/>
            </p:nvSpPr>
            <p:spPr bwMode="auto">
              <a:xfrm>
                <a:off x="539552" y="1597943"/>
                <a:ext cx="1691553" cy="473591"/>
              </a:xfrm>
              <a:prstGeom prst="rect">
                <a:avLst/>
              </a:prstGeom>
              <a:blipFill>
                <a:blip r:embed="rId3"/>
                <a:stretch>
                  <a:fillRect l="-5776" t="-7692" b="-282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sp>
        <p:nvSpPr>
          <p:cNvPr id="15396" name="Text Box 7">
            <a:extLst>
              <a:ext uri="{FF2B5EF4-FFF2-40B4-BE49-F238E27FC236}">
                <a16:creationId xmlns:a16="http://schemas.microsoft.com/office/drawing/2014/main" id="{5BE4B7E7-254E-4BC8-9ED2-B83827E9F730}"/>
              </a:ext>
            </a:extLst>
          </p:cNvPr>
          <p:cNvSpPr txBox="1">
            <a:spLocks noChangeArrowheads="1"/>
          </p:cNvSpPr>
          <p:nvPr/>
        </p:nvSpPr>
        <p:spPr bwMode="auto">
          <a:xfrm>
            <a:off x="2300090" y="1340768"/>
            <a:ext cx="9779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rPr>
              <a:t>1</a:t>
            </a:r>
            <a:r>
              <a:rPr lang="zh-CN" altLang="en-US" sz="24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rPr>
              <a:t>，</a:t>
            </a:r>
          </a:p>
          <a:p>
            <a:pPr eaLnBrk="1" hangingPunct="1">
              <a:lnSpc>
                <a:spcPct val="130000"/>
              </a:lnSpc>
            </a:pPr>
            <a:r>
              <a:rPr lang="en-US" altLang="zh-CN" sz="24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rPr>
              <a:t>0</a:t>
            </a:r>
            <a:r>
              <a:rPr lang="zh-CN" altLang="en-US" sz="24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15372" name="Object 3">
                <a:extLst>
                  <a:ext uri="{FF2B5EF4-FFF2-40B4-BE49-F238E27FC236}">
                    <a16:creationId xmlns:a16="http://schemas.microsoft.com/office/drawing/2014/main" id="{078B8397-3034-4560-8BD6-D947D160DAB2}"/>
                  </a:ext>
                </a:extLst>
              </p:cNvPr>
              <p:cNvSpPr txBox="1"/>
              <p:nvPr/>
            </p:nvSpPr>
            <p:spPr bwMode="auto">
              <a:xfrm>
                <a:off x="2764015" y="1911622"/>
                <a:ext cx="1957475"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𝑊</m:t>
                      </m:r>
                      <m:r>
                        <a:rPr lang="en-US" sz="2400" b="0" i="1" smtClean="0">
                          <a:solidFill>
                            <a:srgbClr val="000000"/>
                          </a:solidFill>
                          <a:latin typeface="Cambria Math" panose="02040503050406030204" pitchFamily="18" charset="0"/>
                        </a:rPr>
                        <m:t>&lt;</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𝜔</m:t>
                          </m:r>
                        </m:e>
                      </m:d>
                      <m:r>
                        <a:rPr lang="en-US" sz="2400" i="1" smtClean="0">
                          <a:solidFill>
                            <a:srgbClr val="000000"/>
                          </a:solidFill>
                          <a:latin typeface="Cambria Math" panose="02040503050406030204" pitchFamily="18" charset="0"/>
                          <a:ea typeface="Cambria Math" panose="02040503050406030204" pitchFamily="18" charset="0"/>
                        </a:rPr>
                        <m:t>≤</m:t>
                      </m:r>
                      <m:r>
                        <a:rPr lang="en-US" sz="2400" i="1" smtClean="0">
                          <a:solidFill>
                            <a:srgbClr val="000000"/>
                          </a:solidFill>
                          <a:latin typeface="Cambria Math" panose="02040503050406030204" pitchFamily="18" charset="0"/>
                          <a:ea typeface="Cambria Math" panose="02040503050406030204" pitchFamily="18" charset="0"/>
                        </a:rPr>
                        <m:t>𝜋</m:t>
                      </m:r>
                    </m:oMath>
                  </m:oMathPara>
                </a14:m>
                <a:endParaRPr lang="en-US" sz="2400" dirty="0"/>
              </a:p>
            </p:txBody>
          </p:sp>
        </mc:Choice>
        <mc:Fallback xmlns="">
          <p:sp>
            <p:nvSpPr>
              <p:cNvPr id="15372" name="Object 3">
                <a:extLst>
                  <a:ext uri="{FF2B5EF4-FFF2-40B4-BE49-F238E27FC236}">
                    <a16:creationId xmlns:a16="http://schemas.microsoft.com/office/drawing/2014/main" id="{078B8397-3034-4560-8BD6-D947D160DAB2}"/>
                  </a:ext>
                </a:extLst>
              </p:cNvPr>
              <p:cNvSpPr txBox="1">
                <a:spLocks noRot="1" noChangeAspect="1" noMove="1" noResize="1" noEditPoints="1" noAdjustHandles="1" noChangeArrowheads="1" noChangeShapeType="1" noTextEdit="1"/>
              </p:cNvSpPr>
              <p:nvPr/>
            </p:nvSpPr>
            <p:spPr bwMode="auto">
              <a:xfrm>
                <a:off x="2764015" y="1911622"/>
                <a:ext cx="1957475" cy="461665"/>
              </a:xfrm>
              <a:prstGeom prst="rect">
                <a:avLst/>
              </a:prstGeom>
              <a:blipFill>
                <a:blip r:embed="rId4"/>
                <a:stretch>
                  <a:fillRect l="-621" b="-266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73" name="Object 4">
                <a:extLst>
                  <a:ext uri="{FF2B5EF4-FFF2-40B4-BE49-F238E27FC236}">
                    <a16:creationId xmlns:a16="http://schemas.microsoft.com/office/drawing/2014/main" id="{FEBC529E-A205-407A-9F9B-1FEC761AEED1}"/>
                  </a:ext>
                </a:extLst>
              </p:cNvPr>
              <p:cNvSpPr txBox="1"/>
              <p:nvPr/>
            </p:nvSpPr>
            <p:spPr bwMode="auto">
              <a:xfrm>
                <a:off x="2760080" y="1400596"/>
                <a:ext cx="1330759"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𝜔</m:t>
                          </m:r>
                        </m:e>
                      </m:d>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𝑊</m:t>
                      </m:r>
                    </m:oMath>
                  </m:oMathPara>
                </a14:m>
                <a:endParaRPr lang="en-US" sz="2400" dirty="0"/>
              </a:p>
            </p:txBody>
          </p:sp>
        </mc:Choice>
        <mc:Fallback xmlns="">
          <p:sp>
            <p:nvSpPr>
              <p:cNvPr id="15373" name="Object 4">
                <a:extLst>
                  <a:ext uri="{FF2B5EF4-FFF2-40B4-BE49-F238E27FC236}">
                    <a16:creationId xmlns:a16="http://schemas.microsoft.com/office/drawing/2014/main" id="{FEBC529E-A205-407A-9F9B-1FEC761AEED1}"/>
                  </a:ext>
                </a:extLst>
              </p:cNvPr>
              <p:cNvSpPr txBox="1">
                <a:spLocks noRot="1" noChangeAspect="1" noMove="1" noResize="1" noEditPoints="1" noAdjustHandles="1" noChangeArrowheads="1" noChangeShapeType="1" noTextEdit="1"/>
              </p:cNvSpPr>
              <p:nvPr/>
            </p:nvSpPr>
            <p:spPr bwMode="auto">
              <a:xfrm>
                <a:off x="2760080" y="1400596"/>
                <a:ext cx="1330759" cy="461665"/>
              </a:xfrm>
              <a:prstGeom prst="rect">
                <a:avLst/>
              </a:prstGeom>
              <a:blipFill>
                <a:blip r:embed="rId5"/>
                <a:stretch>
                  <a:fillRect/>
                </a:stretch>
              </a:blipFill>
              <a:ln>
                <a:noFill/>
              </a:ln>
              <a:effectLst/>
            </p:spPr>
            <p:txBody>
              <a:bodyPr/>
              <a:lstStyle/>
              <a:p>
                <a:r>
                  <a:rPr lang="en-US">
                    <a:noFill/>
                  </a:rPr>
                  <a:t> </a:t>
                </a:r>
              </a:p>
            </p:txBody>
          </p:sp>
        </mc:Fallback>
      </mc:AlternateContent>
      <p:graphicFrame>
        <p:nvGraphicFramePr>
          <p:cNvPr id="15374" name="Object 5">
            <a:extLst>
              <a:ext uri="{FF2B5EF4-FFF2-40B4-BE49-F238E27FC236}">
                <a16:creationId xmlns:a16="http://schemas.microsoft.com/office/drawing/2014/main" id="{0AD055F6-6209-46D8-BC76-A400AC1026BF}"/>
              </a:ext>
            </a:extLst>
          </p:cNvPr>
          <p:cNvGraphicFramePr>
            <a:graphicFrameLocks noChangeAspect="1"/>
          </p:cNvGraphicFramePr>
          <p:nvPr>
            <p:extLst>
              <p:ext uri="{D42A27DB-BD31-4B8C-83A1-F6EECF244321}">
                <p14:modId xmlns:p14="http://schemas.microsoft.com/office/powerpoint/2010/main" val="524012133"/>
              </p:ext>
            </p:extLst>
          </p:nvPr>
        </p:nvGraphicFramePr>
        <p:xfrm>
          <a:off x="2141244" y="1367755"/>
          <a:ext cx="347903" cy="1017588"/>
        </p:xfrm>
        <a:graphic>
          <a:graphicData uri="http://schemas.openxmlformats.org/presentationml/2006/ole">
            <mc:AlternateContent xmlns:mc="http://schemas.openxmlformats.org/markup-compatibility/2006">
              <mc:Choice xmlns:v="urn:schemas-microsoft-com:vml" Requires="v">
                <p:oleObj spid="_x0000_s4152" name="Equation" r:id="rId6" imgW="177480" imgH="253800" progId="Equation.DSMT4">
                  <p:embed/>
                </p:oleObj>
              </mc:Choice>
              <mc:Fallback>
                <p:oleObj name="Equation" r:id="rId6" imgW="177480" imgH="2538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41244" y="1367755"/>
                        <a:ext cx="347903" cy="101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6" name="Object 6">
                <a:extLst>
                  <a:ext uri="{FF2B5EF4-FFF2-40B4-BE49-F238E27FC236}">
                    <a16:creationId xmlns:a16="http://schemas.microsoft.com/office/drawing/2014/main" id="{D7F9E90B-90E3-45F8-9805-FFC5CEAE809B}"/>
                  </a:ext>
                </a:extLst>
              </p:cNvPr>
              <p:cNvSpPr txBox="1"/>
              <p:nvPr/>
            </p:nvSpPr>
            <p:spPr bwMode="auto">
              <a:xfrm>
                <a:off x="539552" y="2599027"/>
                <a:ext cx="8202612" cy="92230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𝑊</m:t>
                          </m:r>
                        </m:sub>
                        <m:sup>
                          <m:r>
                            <a:rPr lang="en-US" sz="2400" i="1">
                              <a:solidFill>
                                <a:srgbClr val="000000"/>
                              </a:solidFill>
                              <a:latin typeface="Cambria Math" panose="02040503050406030204" pitchFamily="18" charset="0"/>
                            </a:rPr>
                            <m:t>𝑊</m:t>
                          </m:r>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b="0" i="1" smtClean="0">
                                  <a:solidFill>
                                    <a:srgbClr val="000000"/>
                                  </a:solidFill>
                                  <a:latin typeface="Cambria Math" panose="02040503050406030204" pitchFamily="18" charset="0"/>
                                </a:rPr>
                                <m:t>𝑛</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𝑊</m:t>
                              </m:r>
                              <m:r>
                                <a:rPr lang="en-US" sz="2400" b="0" i="1" smtClean="0">
                                  <a:solidFill>
                                    <a:srgbClr val="000000"/>
                                  </a:solidFill>
                                  <a:latin typeface="Cambria Math" panose="02040503050406030204" pitchFamily="18" charset="0"/>
                                </a:rPr>
                                <m:t>𝑛</m:t>
                              </m:r>
                            </m:e>
                          </m:func>
                        </m:num>
                        <m:den>
                          <m:r>
                            <a:rPr lang="en-US" sz="2400" i="1">
                              <a:solidFill>
                                <a:srgbClr val="000000"/>
                              </a:solidFill>
                              <a:latin typeface="Cambria Math" panose="02040503050406030204" pitchFamily="18" charset="0"/>
                            </a:rPr>
                            <m:t>𝜋</m:t>
                          </m:r>
                          <m:r>
                            <a:rPr lang="en-US" sz="2400" b="0" i="1" smtClean="0">
                              <a:solidFill>
                                <a:srgbClr val="000000"/>
                              </a:solidFill>
                              <a:latin typeface="Cambria Math" panose="02040503050406030204" pitchFamily="18" charset="0"/>
                            </a:rPr>
                            <m:t>𝑛</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𝑊</m:t>
                          </m:r>
                        </m:num>
                        <m:den>
                          <m:r>
                            <a:rPr lang="en-US" sz="2400" i="1">
                              <a:solidFill>
                                <a:srgbClr val="000000"/>
                              </a:solidFill>
                              <a:latin typeface="Cambria Math" panose="02040503050406030204" pitchFamily="18" charset="0"/>
                            </a:rPr>
                            <m:t>𝜋</m:t>
                          </m:r>
                        </m:den>
                      </m:f>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Sa</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𝑊</m:t>
                      </m:r>
                      <m:r>
                        <a:rPr lang="en-US" sz="2400" b="0" i="1" smtClean="0">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𝑊</m:t>
                          </m:r>
                        </m:num>
                        <m:den>
                          <m:r>
                            <a:rPr lang="en-US" sz="2400" i="1">
                              <a:solidFill>
                                <a:srgbClr val="000000"/>
                              </a:solidFill>
                              <a:latin typeface="Cambria Math" panose="02040503050406030204" pitchFamily="18" charset="0"/>
                            </a:rPr>
                            <m:t>𝜋</m:t>
                          </m:r>
                        </m:den>
                      </m:f>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sinc</m:t>
                          </m:r>
                        </m:fName>
                        <m:e>
                          <m:r>
                            <a:rPr lang="en-US" sz="2400" i="1">
                              <a:solidFill>
                                <a:srgbClr val="000000"/>
                              </a:solidFill>
                              <a:latin typeface="Cambria Math" panose="02040503050406030204" pitchFamily="18" charset="0"/>
                            </a:rPr>
                            <m:t>(</m:t>
                          </m:r>
                        </m:e>
                      </m:func>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𝑊</m:t>
                          </m:r>
                          <m:r>
                            <a:rPr lang="en-US" sz="2400" b="0" i="1" smtClean="0">
                              <a:solidFill>
                                <a:srgbClr val="000000"/>
                              </a:solidFill>
                              <a:latin typeface="Cambria Math" panose="02040503050406030204" pitchFamily="18" charset="0"/>
                            </a:rPr>
                            <m:t>𝑛</m:t>
                          </m:r>
                        </m:num>
                        <m:den>
                          <m:r>
                            <a:rPr lang="en-US" sz="2400" i="1">
                              <a:solidFill>
                                <a:srgbClr val="000000"/>
                              </a:solidFill>
                              <a:latin typeface="Cambria Math" panose="02040503050406030204" pitchFamily="18" charset="0"/>
                            </a:rPr>
                            <m:t>𝜋</m:t>
                          </m:r>
                        </m:den>
                      </m:f>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6" name="Object 6">
                <a:extLst>
                  <a:ext uri="{FF2B5EF4-FFF2-40B4-BE49-F238E27FC236}">
                    <a16:creationId xmlns:a16="http://schemas.microsoft.com/office/drawing/2014/main" id="{D7F9E90B-90E3-45F8-9805-FFC5CEAE809B}"/>
                  </a:ext>
                </a:extLst>
              </p:cNvPr>
              <p:cNvSpPr txBox="1">
                <a:spLocks noRot="1" noChangeAspect="1" noMove="1" noResize="1" noEditPoints="1" noAdjustHandles="1" noChangeArrowheads="1" noChangeShapeType="1" noTextEdit="1"/>
              </p:cNvSpPr>
              <p:nvPr/>
            </p:nvSpPr>
            <p:spPr bwMode="auto">
              <a:xfrm>
                <a:off x="539552" y="2599027"/>
                <a:ext cx="8202612" cy="922304"/>
              </a:xfrm>
              <a:prstGeom prst="rect">
                <a:avLst/>
              </a:prstGeom>
              <a:blipFill>
                <a:blip r:embed="rId8"/>
                <a:stretch>
                  <a:fillRect/>
                </a:stretch>
              </a:blipFill>
              <a:ln>
                <a:noFill/>
              </a:ln>
              <a:effectLst/>
            </p:spPr>
            <p:txBody>
              <a:bodyPr/>
              <a:lstStyle/>
              <a:p>
                <a:r>
                  <a:rPr lang="en-US">
                    <a:noFill/>
                  </a:rPr>
                  <a:t> </a:t>
                </a:r>
              </a:p>
            </p:txBody>
          </p:sp>
        </mc:Fallback>
      </mc:AlternateContent>
      <p:sp>
        <p:nvSpPr>
          <p:cNvPr id="39" name="标题 1">
            <a:extLst>
              <a:ext uri="{FF2B5EF4-FFF2-40B4-BE49-F238E27FC236}">
                <a16:creationId xmlns:a16="http://schemas.microsoft.com/office/drawing/2014/main" id="{4AB0E248-57B0-47EF-BCDD-75107E9F6645}"/>
              </a:ext>
            </a:extLst>
          </p:cNvPr>
          <p:cNvSpPr>
            <a:spLocks noGrp="1"/>
          </p:cNvSpPr>
          <p:nvPr>
            <p:ph type="title"/>
          </p:nvPr>
        </p:nvSpPr>
        <p:spPr>
          <a:xfrm>
            <a:off x="457200" y="274638"/>
            <a:ext cx="8229600" cy="725487"/>
          </a:xfrm>
        </p:spPr>
        <p:txBody>
          <a:bodyPr/>
          <a:lstStyle/>
          <a:p>
            <a:r>
              <a:rPr lang="en-US" altLang="zh-CN" sz="3200" dirty="0"/>
              <a:t>5.1 </a:t>
            </a:r>
            <a:r>
              <a:rPr lang="zh-CN" altLang="en-US" sz="3200" dirty="0"/>
              <a:t>非周期信号的表示</a:t>
            </a:r>
            <a:r>
              <a:rPr lang="en-US" altLang="zh-CN" sz="3200" dirty="0"/>
              <a:t>—</a:t>
            </a:r>
            <a:r>
              <a:rPr lang="zh-CN" altLang="en-US" sz="3200" dirty="0"/>
              <a:t>离散时间傅里叶变换</a:t>
            </a:r>
          </a:p>
        </p:txBody>
      </p:sp>
      <p:grpSp>
        <p:nvGrpSpPr>
          <p:cNvPr id="48" name="Group 6">
            <a:extLst>
              <a:ext uri="{FF2B5EF4-FFF2-40B4-BE49-F238E27FC236}">
                <a16:creationId xmlns:a16="http://schemas.microsoft.com/office/drawing/2014/main" id="{F902F11A-3B8F-412A-9E78-A7528755D631}"/>
              </a:ext>
            </a:extLst>
          </p:cNvPr>
          <p:cNvGrpSpPr>
            <a:grpSpLocks/>
          </p:cNvGrpSpPr>
          <p:nvPr/>
        </p:nvGrpSpPr>
        <p:grpSpPr bwMode="auto">
          <a:xfrm>
            <a:off x="535252" y="4049303"/>
            <a:ext cx="6989764" cy="1098551"/>
            <a:chOff x="432" y="2596"/>
            <a:chExt cx="4403" cy="692"/>
          </a:xfrm>
        </p:grpSpPr>
        <mc:AlternateContent xmlns:mc="http://schemas.openxmlformats.org/markup-compatibility/2006" xmlns:a14="http://schemas.microsoft.com/office/drawing/2010/main">
          <mc:Choice Requires="a14">
            <p:sp>
              <p:nvSpPr>
                <p:cNvPr id="49" name="Rectangle 7">
                  <a:extLst>
                    <a:ext uri="{FF2B5EF4-FFF2-40B4-BE49-F238E27FC236}">
                      <a16:creationId xmlns:a16="http://schemas.microsoft.com/office/drawing/2014/main" id="{EDB986CE-FFE6-4089-8E0B-2220D6FAE8F8}"/>
                    </a:ext>
                  </a:extLst>
                </p:cNvPr>
                <p:cNvSpPr>
                  <a:spLocks noChangeArrowheads="1"/>
                </p:cNvSpPr>
                <p:nvPr/>
              </p:nvSpPr>
              <p:spPr bwMode="auto">
                <a:xfrm>
                  <a:off x="432" y="2781"/>
                  <a:ext cx="1852" cy="291"/>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rPr>
                    <a:t>6.  </a:t>
                  </a:r>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40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]=1</m:t>
                      </m:r>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，则有</a:t>
                  </a:r>
                  <a:endParaRPr lang="zh-CN" altLang="en-US" sz="2400" dirty="0">
                    <a:solidFill>
                      <a:srgbClr val="000099"/>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49" name="Rectangle 7">
                  <a:extLst>
                    <a:ext uri="{FF2B5EF4-FFF2-40B4-BE49-F238E27FC236}">
                      <a16:creationId xmlns:a16="http://schemas.microsoft.com/office/drawing/2014/main" id="{EDB986CE-FFE6-4089-8E0B-2220D6FAE8F8}"/>
                    </a:ext>
                  </a:extLst>
                </p:cNvPr>
                <p:cNvSpPr>
                  <a:spLocks noRot="1" noChangeAspect="1" noMove="1" noResize="1" noEditPoints="1" noAdjustHandles="1" noChangeArrowheads="1" noChangeShapeType="1" noTextEdit="1"/>
                </p:cNvSpPr>
                <p:nvPr/>
              </p:nvSpPr>
              <p:spPr bwMode="auto">
                <a:xfrm>
                  <a:off x="432" y="2781"/>
                  <a:ext cx="1852" cy="291"/>
                </a:xfrm>
                <a:prstGeom prst="rect">
                  <a:avLst/>
                </a:prstGeom>
                <a:blipFill>
                  <a:blip r:embed="rId9"/>
                  <a:stretch>
                    <a:fillRect l="-3320" t="-11842" r="-2282"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Object 5">
                  <a:extLst>
                    <a:ext uri="{FF2B5EF4-FFF2-40B4-BE49-F238E27FC236}">
                      <a16:creationId xmlns:a16="http://schemas.microsoft.com/office/drawing/2014/main" id="{FAF11BAD-5DA8-4B0B-A4D0-DCC9BF0DA3B7}"/>
                    </a:ext>
                  </a:extLst>
                </p:cNvPr>
                <p:cNvSpPr txBox="1"/>
                <p:nvPr/>
              </p:nvSpPr>
              <p:spPr bwMode="auto">
                <a:xfrm>
                  <a:off x="2272" y="2596"/>
                  <a:ext cx="2563" cy="692"/>
                </a:xfrm>
                <a:prstGeom prst="rect">
                  <a:avLst/>
                </a:prstGeom>
                <a:solidFill>
                  <a:srgbClr val="CCFFFF"/>
                </a:solid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𝑋</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nary>
                          <m:naryPr>
                            <m:chr m:val="∑"/>
                            <m:ctrlPr>
                              <a:rPr lang="en-US" sz="2400" i="1" smtClean="0">
                                <a:solidFill>
                                  <a:srgbClr val="000000"/>
                                </a:solidFill>
                                <a:latin typeface="Cambria Math" panose="02040503050406030204" pitchFamily="18" charset="0"/>
                              </a:rPr>
                            </m:ctrlPr>
                          </m:naryPr>
                          <m:sub>
                            <m:r>
                              <m:rPr>
                                <m:brk m:alnAt="23"/>
                              </m:rPr>
                              <a:rPr lang="en-US" sz="2400" b="0" i="1" smtClean="0">
                                <a:solidFill>
                                  <a:srgbClr val="000000"/>
                                </a:solidFill>
                                <a:latin typeface="Cambria Math" panose="02040503050406030204" pitchFamily="18" charset="0"/>
                              </a:rPr>
                              <m:t>𝑙</m:t>
                            </m:r>
                            <m:r>
                              <a:rPr lang="en-US" sz="2400" b="0" i="1" smtClean="0">
                                <a:solidFill>
                                  <a:srgbClr val="000000"/>
                                </a:solidFill>
                                <a:latin typeface="Cambria Math" panose="02040503050406030204" pitchFamily="18" charset="0"/>
                              </a:rPr>
                              <m:t>=−∞</m:t>
                            </m:r>
                          </m:sub>
                          <m:sup>
                            <m:r>
                              <a:rPr lang="en-US" sz="2400" i="1" smtClean="0">
                                <a:solidFill>
                                  <a:srgbClr val="000000"/>
                                </a:solidFill>
                                <a:latin typeface="Cambria Math" panose="02040503050406030204" pitchFamily="18" charset="0"/>
                                <a:ea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a:rPr lang="en-US" sz="2400" b="0" i="1" smtClean="0">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e>
                        </m:nary>
                      </m:oMath>
                    </m:oMathPara>
                  </a14:m>
                  <a:endParaRPr lang="en-US" sz="2400" dirty="0"/>
                </a:p>
              </p:txBody>
            </p:sp>
          </mc:Choice>
          <mc:Fallback xmlns="">
            <p:sp>
              <p:nvSpPr>
                <p:cNvPr id="51" name="Object 5">
                  <a:extLst>
                    <a:ext uri="{FF2B5EF4-FFF2-40B4-BE49-F238E27FC236}">
                      <a16:creationId xmlns:a16="http://schemas.microsoft.com/office/drawing/2014/main" id="{FAF11BAD-5DA8-4B0B-A4D0-DCC9BF0DA3B7}"/>
                    </a:ext>
                  </a:extLst>
                </p:cNvPr>
                <p:cNvSpPr txBox="1">
                  <a:spLocks noRot="1" noChangeAspect="1" noMove="1" noResize="1" noEditPoints="1" noAdjustHandles="1" noChangeArrowheads="1" noChangeShapeType="1" noTextEdit="1"/>
                </p:cNvSpPr>
                <p:nvPr/>
              </p:nvSpPr>
              <p:spPr bwMode="auto">
                <a:xfrm>
                  <a:off x="2272" y="2596"/>
                  <a:ext cx="2563" cy="692"/>
                </a:xfrm>
                <a:prstGeom prst="rect">
                  <a:avLst/>
                </a:prstGeom>
                <a:blipFill>
                  <a:blip r:embed="rId10"/>
                  <a:stretch>
                    <a:fillRect/>
                  </a:stretch>
                </a:blipFill>
                <a:ln>
                  <a:noFill/>
                </a:ln>
                <a:effectLst/>
              </p:spPr>
              <p:txBody>
                <a:bodyPr/>
                <a:lstStyle/>
                <a:p>
                  <a:r>
                    <a:rPr lang="en-US">
                      <a:noFill/>
                    </a:rPr>
                    <a:t> </a:t>
                  </a:r>
                </a:p>
              </p:txBody>
            </p:sp>
          </mc:Fallback>
        </mc:AlternateContent>
      </p:grpSp>
      <p:sp>
        <p:nvSpPr>
          <p:cNvPr id="53" name="Text Box 11">
            <a:extLst>
              <a:ext uri="{FF2B5EF4-FFF2-40B4-BE49-F238E27FC236}">
                <a16:creationId xmlns:a16="http://schemas.microsoft.com/office/drawing/2014/main" id="{3208195C-203B-4B77-998D-7E9D4B866AE4}"/>
              </a:ext>
            </a:extLst>
          </p:cNvPr>
          <p:cNvSpPr txBox="1">
            <a:spLocks noChangeArrowheads="1"/>
          </p:cNvSpPr>
          <p:nvPr/>
        </p:nvSpPr>
        <p:spPr bwMode="auto">
          <a:xfrm>
            <a:off x="938477" y="5149715"/>
            <a:ext cx="106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因为</a:t>
            </a:r>
          </a:p>
        </p:txBody>
      </p:sp>
      <mc:AlternateContent xmlns:mc="http://schemas.openxmlformats.org/markup-compatibility/2006" xmlns:a14="http://schemas.microsoft.com/office/drawing/2010/main">
        <mc:Choice Requires="a14">
          <p:sp>
            <p:nvSpPr>
              <p:cNvPr id="65" name="Object 6">
                <a:extLst>
                  <a:ext uri="{FF2B5EF4-FFF2-40B4-BE49-F238E27FC236}">
                    <a16:creationId xmlns:a16="http://schemas.microsoft.com/office/drawing/2014/main" id="{7D9DE0A3-3F22-42B5-95DA-87CBF6DDF24E}"/>
                  </a:ext>
                </a:extLst>
              </p:cNvPr>
              <p:cNvSpPr txBox="1"/>
              <p:nvPr/>
            </p:nvSpPr>
            <p:spPr bwMode="auto">
              <a:xfrm>
                <a:off x="1307753" y="5509790"/>
                <a:ext cx="6666210" cy="8715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en-US" sz="2400" i="1" smtClean="0">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ea typeface="Cambria Math" panose="02040503050406030204" pitchFamily="18" charset="0"/>
                            </a:rPr>
                            <m:t>𝜋</m:t>
                          </m:r>
                        </m:sub>
                        <m:sup>
                          <m:r>
                            <a:rPr lang="en-US" sz="2400" i="1" smtClean="0">
                              <a:solidFill>
                                <a:srgbClr val="000000"/>
                              </a:solidFill>
                              <a:latin typeface="Cambria Math" panose="02040503050406030204" pitchFamily="18" charset="0"/>
                              <a:ea typeface="Cambria Math" panose="02040503050406030204" pitchFamily="18" charset="0"/>
                            </a:rPr>
                            <m:t>𝜋</m:t>
                          </m:r>
                        </m:sup>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b="0" i="1" smtClean="0">
                                  <a:solidFill>
                                    <a:srgbClr val="000000"/>
                                  </a:solidFill>
                                  <a:latin typeface="Cambria Math" panose="02040503050406030204" pitchFamily="18" charset="0"/>
                                </a:rPr>
                                <m:t>𝑛</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ea typeface="Cambria Math" panose="02040503050406030204" pitchFamily="18" charset="0"/>
                            </a:rPr>
                            <m:t>𝜋</m:t>
                          </m:r>
                        </m:sub>
                        <m:sup>
                          <m:r>
                            <a:rPr lang="en-US" sz="2400" i="1">
                              <a:solidFill>
                                <a:srgbClr val="000000"/>
                              </a:solidFill>
                              <a:latin typeface="Cambria Math" panose="02040503050406030204" pitchFamily="18" charset="0"/>
                              <a:ea typeface="Cambria Math" panose="02040503050406030204" pitchFamily="18" charset="0"/>
                            </a:rPr>
                            <m:t>𝜋</m:t>
                          </m:r>
                        </m:sup>
                        <m:e>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r>
                            <m:rPr>
                              <m:sty m:val="p"/>
                            </m:rPr>
                            <a:rPr lang="en-US" sz="240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r>
                        <a:rPr lang="en-US" sz="2400" b="0" i="1" smtClean="0">
                          <a:solidFill>
                            <a:srgbClr val="000000"/>
                          </a:solidFill>
                          <a:latin typeface="Cambria Math" panose="02040503050406030204" pitchFamily="18" charset="0"/>
                        </a:rPr>
                        <m:t>=1</m:t>
                      </m:r>
                    </m:oMath>
                  </m:oMathPara>
                </a14:m>
                <a:endParaRPr lang="en-US" sz="2400" dirty="0"/>
              </a:p>
            </p:txBody>
          </p:sp>
        </mc:Choice>
        <mc:Fallback xmlns="">
          <p:sp>
            <p:nvSpPr>
              <p:cNvPr id="65" name="Object 6">
                <a:extLst>
                  <a:ext uri="{FF2B5EF4-FFF2-40B4-BE49-F238E27FC236}">
                    <a16:creationId xmlns:a16="http://schemas.microsoft.com/office/drawing/2014/main" id="{7D9DE0A3-3F22-42B5-95DA-87CBF6DDF24E}"/>
                  </a:ext>
                </a:extLst>
              </p:cNvPr>
              <p:cNvSpPr txBox="1">
                <a:spLocks noRot="1" noChangeAspect="1" noMove="1" noResize="1" noEditPoints="1" noAdjustHandles="1" noChangeArrowheads="1" noChangeShapeType="1" noTextEdit="1"/>
              </p:cNvSpPr>
              <p:nvPr/>
            </p:nvSpPr>
            <p:spPr bwMode="auto">
              <a:xfrm>
                <a:off x="1307753" y="5509790"/>
                <a:ext cx="6666210" cy="871538"/>
              </a:xfrm>
              <a:prstGeom prst="rect">
                <a:avLst/>
              </a:prstGeom>
              <a:blipFill>
                <a:blip r:embed="rId11"/>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down)">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down)">
                                      <p:cBhvr>
                                        <p:cTn id="17" dur="500"/>
                                        <p:tgtEl>
                                          <p:spTgt spid="53"/>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wipe(down)">
                                      <p:cBhvr>
                                        <p:cTn id="2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3" grpId="0"/>
      <p:bldP spid="6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608885"/>
          </a:xfrm>
        </p:spPr>
        <p:txBody>
          <a:bodyPr>
            <a:spAutoFit/>
          </a:bodyPr>
          <a:lstStyle/>
          <a:p>
            <a:pPr algn="just">
              <a:lnSpc>
                <a:spcPct val="130000"/>
              </a:lnSpc>
              <a:spcBef>
                <a:spcPts val="0"/>
              </a:spcBef>
              <a:spcAft>
                <a:spcPts val="600"/>
              </a:spcAft>
            </a:pPr>
            <a:r>
              <a:rPr lang="en-US" altLang="zh-CN" sz="2800" b="0" dirty="0"/>
              <a:t>5.21(e)</a:t>
            </a:r>
            <a:r>
              <a:rPr lang="zh-CN" altLang="en-US" sz="2800" b="0" dirty="0"/>
              <a:t>、</a:t>
            </a:r>
            <a:r>
              <a:rPr lang="en-US" altLang="zh-CN" sz="2800" b="0" dirty="0"/>
              <a:t>5.22(a)</a:t>
            </a:r>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26543880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标题 1">
            <a:extLst>
              <a:ext uri="{FF2B5EF4-FFF2-40B4-BE49-F238E27FC236}">
                <a16:creationId xmlns:a16="http://schemas.microsoft.com/office/drawing/2014/main" id="{85564466-5A90-478F-B6D6-5C87D14CAB8E}"/>
              </a:ext>
            </a:extLst>
          </p:cNvPr>
          <p:cNvSpPr>
            <a:spLocks noGrp="1"/>
          </p:cNvSpPr>
          <p:nvPr>
            <p:ph type="title"/>
          </p:nvPr>
        </p:nvSpPr>
        <p:spPr/>
        <p:txBody>
          <a:bodyPr/>
          <a:lstStyle/>
          <a:p>
            <a:r>
              <a:rPr lang="en-US" altLang="zh-CN" dirty="0"/>
              <a:t>5.2  </a:t>
            </a:r>
            <a:r>
              <a:rPr lang="zh-CN" altLang="en-US" dirty="0"/>
              <a:t>周期信号的傅里叶变换</a:t>
            </a:r>
            <a:endParaRPr lang="zh-CN" altLang="en-US" sz="54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FF059FF-B5D1-44C7-A82C-F317A7AAA1B0}"/>
                  </a:ext>
                </a:extLst>
              </p:cNvPr>
              <p:cNvSpPr>
                <a:spLocks noGrp="1"/>
              </p:cNvSpPr>
              <p:nvPr>
                <p:ph idx="1"/>
              </p:nvPr>
            </p:nvSpPr>
            <p:spPr/>
            <p:txBody>
              <a:bodyPr/>
              <a:lstStyle/>
              <a:p>
                <a:pPr algn="just">
                  <a:spcBef>
                    <a:spcPts val="0"/>
                  </a:spcBef>
                  <a:spcAft>
                    <a:spcPts val="600"/>
                  </a:spcAft>
                </a:pPr>
                <a:r>
                  <a:rPr lang="zh-CN" altLang="en-US" sz="2400" b="0" dirty="0"/>
                  <a:t>对连续时间信号，有</a:t>
                </a:r>
                <a14:m>
                  <m:oMath xmlns:m="http://schemas.openxmlformats.org/officeDocument/2006/math">
                    <m:sSup>
                      <m:sSupPr>
                        <m:ctrlPr>
                          <a:rPr lang="en-US" sz="2400" b="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m:rPr>
                            <m:sty m:val="p"/>
                          </m:rPr>
                          <a:rPr lang="en-US" sz="2400" b="0" i="0">
                            <a:solidFill>
                              <a:srgbClr val="000000"/>
                            </a:solidFill>
                            <a:latin typeface="Cambria Math" panose="02040503050406030204" pitchFamily="18" charset="0"/>
                          </a:rPr>
                          <m:t>j</m:t>
                        </m:r>
                        <m:sSub>
                          <m:sSubPr>
                            <m:ctrlPr>
                              <a:rPr lang="en-US" sz="2400" b="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sup>
                    </m:sSup>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2</m:t>
                    </m:r>
                    <m:r>
                      <a:rPr lang="en-US" sz="2400" b="0" i="1">
                        <a:solidFill>
                          <a:srgbClr val="000000"/>
                        </a:solidFill>
                        <a:latin typeface="Cambria Math" panose="02040503050406030204" pitchFamily="18" charset="0"/>
                      </a:rPr>
                      <m:t>𝜋𝛿</m:t>
                    </m:r>
                    <m:r>
                      <a:rPr lang="en-US" altLang="zh-CN"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𝜔</m:t>
                    </m:r>
                    <m:r>
                      <a:rPr lang="en-US" sz="2400" b="0" i="1">
                        <a:solidFill>
                          <a:srgbClr val="000000"/>
                        </a:solidFill>
                        <a:latin typeface="Cambria Math" panose="02040503050406030204" pitchFamily="18" charset="0"/>
                      </a:rPr>
                      <m:t>−</m:t>
                    </m:r>
                    <m:sSub>
                      <m:sSubPr>
                        <m:ctrlPr>
                          <a:rPr lang="en-US" sz="2400" b="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smtClean="0">
                        <a:solidFill>
                          <a:srgbClr val="000000"/>
                        </a:solidFill>
                        <a:latin typeface="Cambria Math" panose="02040503050406030204" pitchFamily="18" charset="0"/>
                      </a:rPr>
                      <m:t>)</m:t>
                    </m:r>
                  </m:oMath>
                </a14:m>
                <a:r>
                  <a:rPr lang="zh-CN" altLang="en-US" sz="2400" b="0" dirty="0"/>
                  <a:t>，由此推断，对离散时间信号或许有相似的情况。</a:t>
                </a:r>
                <a:endParaRPr lang="en-US" altLang="zh-CN" sz="2400" b="0" dirty="0"/>
              </a:p>
              <a:p>
                <a:pPr algn="just">
                  <a:spcBef>
                    <a:spcPts val="0"/>
                  </a:spcBef>
                  <a:spcAft>
                    <a:spcPts val="600"/>
                  </a:spcAft>
                </a:pPr>
                <a:r>
                  <a:rPr lang="zh-CN" altLang="en-US" sz="2400" b="0" dirty="0"/>
                  <a:t>但对于</a:t>
                </a:r>
                <a14:m>
                  <m:oMath xmlns:m="http://schemas.openxmlformats.org/officeDocument/2006/math">
                    <m:sSup>
                      <m:sSupPr>
                        <m:ctrlPr>
                          <a:rPr lang="en-US" sz="2400" b="0" i="1">
                            <a:solidFill>
                              <a:srgbClr val="000000"/>
                            </a:solidFill>
                            <a:latin typeface="Cambria Math" panose="02040503050406030204" pitchFamily="18" charset="0"/>
                          </a:rPr>
                        </m:ctrlPr>
                      </m:sSupPr>
                      <m:e>
                        <m:r>
                          <m:rPr>
                            <m:sty m:val="p"/>
                          </m:rPr>
                          <a:rPr lang="en-US" sz="2400" b="0">
                            <a:solidFill>
                              <a:srgbClr val="000000"/>
                            </a:solidFill>
                            <a:latin typeface="Cambria Math" panose="02040503050406030204" pitchFamily="18" charset="0"/>
                          </a:rPr>
                          <m:t>e</m:t>
                        </m:r>
                      </m:e>
                      <m:sup>
                        <m:r>
                          <m:rPr>
                            <m:sty m:val="p"/>
                          </m:rPr>
                          <a:rPr lang="en-US" sz="2400" b="0">
                            <a:solidFill>
                              <a:srgbClr val="000000"/>
                            </a:solidFill>
                            <a:latin typeface="Cambria Math" panose="02040503050406030204" pitchFamily="18" charset="0"/>
                          </a:rPr>
                          <m:t>j</m:t>
                        </m:r>
                        <m:sSub>
                          <m:sSubPr>
                            <m:ctrlPr>
                              <a:rPr lang="en-US" sz="2400" b="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smtClean="0">
                            <a:solidFill>
                              <a:srgbClr val="000000"/>
                            </a:solidFill>
                            <a:latin typeface="Cambria Math" panose="02040503050406030204" pitchFamily="18" charset="0"/>
                          </a:rPr>
                          <m:t>𝑛</m:t>
                        </m:r>
                      </m:sup>
                    </m:sSup>
                  </m:oMath>
                </a14:m>
                <a:r>
                  <a:rPr lang="zh-CN" altLang="en-US" sz="2400" b="0" dirty="0"/>
                  <a:t>，由于离散时间傅里叶变换是以</a:t>
                </a:r>
                <a14:m>
                  <m:oMath xmlns:m="http://schemas.openxmlformats.org/officeDocument/2006/math">
                    <m:r>
                      <a:rPr lang="en-US" sz="2400" b="0" i="1">
                        <a:solidFill>
                          <a:srgbClr val="000000"/>
                        </a:solidFill>
                        <a:latin typeface="Cambria Math" panose="02040503050406030204" pitchFamily="18" charset="0"/>
                      </a:rPr>
                      <m:t>2</m:t>
                    </m:r>
                    <m:r>
                      <a:rPr lang="en-US" sz="2400" b="0" i="1">
                        <a:solidFill>
                          <a:srgbClr val="000000"/>
                        </a:solidFill>
                        <a:latin typeface="Cambria Math" panose="02040503050406030204" pitchFamily="18" charset="0"/>
                      </a:rPr>
                      <m:t>𝜋</m:t>
                    </m:r>
                  </m:oMath>
                </a14:m>
                <a:r>
                  <a:rPr lang="zh-CN" altLang="en-US" sz="2400" b="0" dirty="0"/>
                  <a:t>为周期的，因此，频域的冲激应该是周期性的冲激串，即</a:t>
                </a:r>
                <a:endParaRPr lang="en-US" altLang="zh-CN" sz="2400" b="0" dirty="0"/>
              </a:p>
              <a:p>
                <a:pPr marL="0" indent="0" algn="just">
                  <a:spcBef>
                    <a:spcPts val="0"/>
                  </a:spcBef>
                  <a:spcAft>
                    <a:spcPts val="600"/>
                  </a:spcAft>
                  <a:buNone/>
                </a:pPr>
                <a14:m>
                  <m:oMathPara xmlns:m="http://schemas.openxmlformats.org/officeDocument/2006/math">
                    <m:oMathParaPr>
                      <m:jc m:val="centerGroup"/>
                    </m:oMathParaPr>
                    <m:oMath xmlns:m="http://schemas.openxmlformats.org/officeDocument/2006/math">
                      <m:nary>
                        <m:naryPr>
                          <m:chr m:val="∑"/>
                          <m:ctrlPr>
                            <a:rPr lang="en-US" sz="2400" b="0" i="1" smtClean="0">
                              <a:solidFill>
                                <a:srgbClr val="FF0000"/>
                              </a:solidFill>
                              <a:latin typeface="Cambria Math" panose="02040503050406030204" pitchFamily="18" charset="0"/>
                            </a:rPr>
                          </m:ctrlPr>
                        </m:naryPr>
                        <m:sub>
                          <m:r>
                            <a:rPr lang="en-US" sz="2400" b="0" i="1" smtClean="0">
                              <a:solidFill>
                                <a:srgbClr val="FF0000"/>
                              </a:solidFill>
                              <a:latin typeface="Cambria Math" panose="02040503050406030204" pitchFamily="18" charset="0"/>
                            </a:rPr>
                            <m:t>𝑙</m:t>
                          </m:r>
                          <m:r>
                            <a:rPr lang="en-US" sz="2400" b="0" i="1">
                              <a:solidFill>
                                <a:srgbClr val="FF0000"/>
                              </a:solidFill>
                              <a:latin typeface="Cambria Math" panose="02040503050406030204" pitchFamily="18" charset="0"/>
                            </a:rPr>
                            <m:t>=−∞</m:t>
                          </m:r>
                        </m:sub>
                        <m:sup>
                          <m:r>
                            <a:rPr lang="en-US" sz="2400" b="0" i="1">
                              <a:solidFill>
                                <a:srgbClr val="FF0000"/>
                              </a:solidFill>
                              <a:latin typeface="Cambria Math" panose="02040503050406030204" pitchFamily="18" charset="0"/>
                            </a:rPr>
                            <m:t>∞</m:t>
                          </m:r>
                        </m:sup>
                        <m:e>
                          <m:r>
                            <a:rPr lang="en-US" sz="2400" b="0" i="1">
                              <a:solidFill>
                                <a:srgbClr val="FF0000"/>
                              </a:solidFill>
                              <a:latin typeface="Cambria Math" panose="02040503050406030204" pitchFamily="18" charset="0"/>
                            </a:rPr>
                            <m:t>2</m:t>
                          </m:r>
                          <m:r>
                            <a:rPr lang="en-US" sz="2400" b="0" i="1">
                              <a:solidFill>
                                <a:srgbClr val="FF0000"/>
                              </a:solidFill>
                              <a:latin typeface="Cambria Math" panose="02040503050406030204" pitchFamily="18" charset="0"/>
                            </a:rPr>
                            <m:t>𝜋𝛿</m:t>
                          </m:r>
                          <m:r>
                            <a:rPr lang="en-US" sz="2400" b="0" i="1" smtClean="0">
                              <a:solidFill>
                                <a:srgbClr val="FF0000"/>
                              </a:solidFill>
                              <a:latin typeface="Cambria Math" panose="02040503050406030204" pitchFamily="18" charset="0"/>
                            </a:rPr>
                            <m:t>(</m:t>
                          </m:r>
                          <m:r>
                            <a:rPr lang="en-US" sz="2400" b="0" i="1">
                              <a:solidFill>
                                <a:srgbClr val="FF0000"/>
                              </a:solidFill>
                              <a:latin typeface="Cambria Math" panose="02040503050406030204" pitchFamily="18" charset="0"/>
                            </a:rPr>
                            <m:t>𝜔</m:t>
                          </m:r>
                          <m:r>
                            <a:rPr lang="en-US" sz="2400" b="0" i="1">
                              <a:solidFill>
                                <a:srgbClr val="FF0000"/>
                              </a:solidFill>
                              <a:latin typeface="Cambria Math" panose="02040503050406030204" pitchFamily="18" charset="0"/>
                            </a:rPr>
                            <m:t>−</m:t>
                          </m:r>
                          <m:sSub>
                            <m:sSubPr>
                              <m:ctrlPr>
                                <a:rPr lang="en-US" sz="2400" b="0" i="1">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𝜔</m:t>
                              </m:r>
                            </m:e>
                            <m:sub>
                              <m:r>
                                <a:rPr lang="en-US" sz="2400" b="0" i="1">
                                  <a:solidFill>
                                    <a:srgbClr val="FF0000"/>
                                  </a:solidFill>
                                  <a:latin typeface="Cambria Math" panose="02040503050406030204" pitchFamily="18" charset="0"/>
                                </a:rPr>
                                <m:t>0</m:t>
                              </m:r>
                            </m:sub>
                          </m:sSub>
                          <m:r>
                            <a:rPr lang="en-US" sz="2400" b="0" i="1">
                              <a:solidFill>
                                <a:srgbClr val="FF0000"/>
                              </a:solidFill>
                              <a:latin typeface="Cambria Math" panose="02040503050406030204" pitchFamily="18" charset="0"/>
                            </a:rPr>
                            <m:t>−2</m:t>
                          </m:r>
                          <m:r>
                            <a:rPr lang="en-US" sz="2400" b="0" i="1">
                              <a:solidFill>
                                <a:srgbClr val="FF0000"/>
                              </a:solidFill>
                              <a:latin typeface="Cambria Math" panose="02040503050406030204" pitchFamily="18" charset="0"/>
                            </a:rPr>
                            <m:t>𝜋</m:t>
                          </m:r>
                          <m:r>
                            <a:rPr lang="en-US" sz="2400" b="0" i="1" smtClean="0">
                              <a:solidFill>
                                <a:srgbClr val="FF0000"/>
                              </a:solidFill>
                              <a:latin typeface="Cambria Math" panose="02040503050406030204" pitchFamily="18" charset="0"/>
                            </a:rPr>
                            <m:t>𝑙</m:t>
                          </m:r>
                          <m:r>
                            <a:rPr lang="en-US" sz="2400" b="0" i="1" smtClean="0">
                              <a:solidFill>
                                <a:srgbClr val="FF0000"/>
                              </a:solidFill>
                              <a:latin typeface="Cambria Math" panose="02040503050406030204" pitchFamily="18" charset="0"/>
                            </a:rPr>
                            <m:t>)</m:t>
                          </m:r>
                        </m:e>
                      </m:nary>
                    </m:oMath>
                  </m:oMathPara>
                </a14:m>
                <a:endParaRPr lang="en-US" altLang="zh-CN" sz="2400" b="0" dirty="0"/>
              </a:p>
              <a:p>
                <a:pPr algn="just">
                  <a:spcBef>
                    <a:spcPts val="0"/>
                  </a:spcBef>
                  <a:spcAft>
                    <a:spcPts val="600"/>
                  </a:spcAft>
                </a:pPr>
                <a:r>
                  <a:rPr lang="zh-CN" altLang="en-US" sz="2400" b="0" dirty="0"/>
                  <a:t>将反变换积分范围包含</a:t>
                </a:r>
                <a14:m>
                  <m:oMath xmlns:m="http://schemas.openxmlformats.org/officeDocument/2006/math">
                    <m:sSub>
                      <m:sSubPr>
                        <m:ctrlPr>
                          <a:rPr lang="en-US" sz="2400" b="0" i="1" smtClean="0">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oMath>
                </a14:m>
                <a:r>
                  <a:rPr lang="zh-CN" altLang="en-US" sz="2400" b="0" dirty="0"/>
                  <a:t>，有：</a:t>
                </a:r>
              </a:p>
              <a:p>
                <a:pPr marL="0" indent="0" algn="just">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b="0" i="1">
                          <a:solidFill>
                            <a:srgbClr val="000000"/>
                          </a:solidFill>
                          <a:latin typeface="Cambria Math" panose="02040503050406030204" pitchFamily="18" charset="0"/>
                        </a:rPr>
                        <m:t>𝑥</m:t>
                      </m:r>
                      <m:d>
                        <m:dPr>
                          <m:begChr m:val="["/>
                          <m:endChr m:val="]"/>
                          <m:ctrlPr>
                            <a:rPr lang="en-US" sz="2400" b="0" i="1" smtClean="0">
                              <a:solidFill>
                                <a:srgbClr val="000000"/>
                              </a:solidFill>
                              <a:latin typeface="Cambria Math" panose="02040503050406030204" pitchFamily="18" charset="0"/>
                            </a:rPr>
                          </m:ctrlPr>
                        </m:dPr>
                        <m:e>
                          <m:r>
                            <a:rPr lang="en-US" sz="2400" b="0" i="1">
                              <a:solidFill>
                                <a:srgbClr val="000000"/>
                              </a:solidFill>
                              <a:latin typeface="Cambria Math" panose="02040503050406030204" pitchFamily="18" charset="0"/>
                            </a:rPr>
                            <m:t>𝑛</m:t>
                          </m:r>
                        </m:e>
                      </m:d>
                      <m:r>
                        <m:rPr>
                          <m:aln/>
                        </m:rPr>
                        <a:rPr lang="en-US" sz="2400" b="0" i="1">
                          <a:solidFill>
                            <a:srgbClr val="000000"/>
                          </a:solidFill>
                          <a:latin typeface="Cambria Math" panose="02040503050406030204" pitchFamily="18" charset="0"/>
                        </a:rPr>
                        <m:t>=</m:t>
                      </m:r>
                      <m:f>
                        <m:fPr>
                          <m:ctrlPr>
                            <a:rPr lang="en-US" sz="2400" b="0" i="1">
                              <a:solidFill>
                                <a:srgbClr val="000000"/>
                              </a:solidFill>
                              <a:latin typeface="Cambria Math" panose="02040503050406030204" pitchFamily="18" charset="0"/>
                            </a:rPr>
                          </m:ctrlPr>
                        </m:fPr>
                        <m:num>
                          <m:r>
                            <a:rPr lang="en-US" sz="2400" b="0" i="1">
                              <a:solidFill>
                                <a:srgbClr val="000000"/>
                              </a:solidFill>
                              <a:latin typeface="Cambria Math" panose="02040503050406030204" pitchFamily="18" charset="0"/>
                            </a:rPr>
                            <m:t>1</m:t>
                          </m:r>
                        </m:num>
                        <m:den>
                          <m:r>
                            <a:rPr lang="en-US" sz="2400" b="0" i="1">
                              <a:solidFill>
                                <a:srgbClr val="000000"/>
                              </a:solidFill>
                              <a:latin typeface="Cambria Math" panose="02040503050406030204" pitchFamily="18" charset="0"/>
                            </a:rPr>
                            <m:t>2</m:t>
                          </m:r>
                          <m:r>
                            <a:rPr lang="en-US" sz="2400" b="0" i="1">
                              <a:solidFill>
                                <a:srgbClr val="000000"/>
                              </a:solidFill>
                              <a:latin typeface="Cambria Math" panose="02040503050406030204" pitchFamily="18" charset="0"/>
                            </a:rPr>
                            <m:t>𝜋</m:t>
                          </m:r>
                        </m:den>
                      </m:f>
                      <m:nary>
                        <m:naryPr>
                          <m:supHide m:val="on"/>
                          <m:ctrlPr>
                            <a:rPr lang="en-US" sz="2400" b="0" i="1">
                              <a:solidFill>
                                <a:srgbClr val="000000"/>
                              </a:solidFill>
                              <a:latin typeface="Cambria Math" panose="02040503050406030204" pitchFamily="18" charset="0"/>
                            </a:rPr>
                          </m:ctrlPr>
                        </m:naryPr>
                        <m:sub>
                          <m:r>
                            <a:rPr lang="en-US" sz="2400" b="0" i="1">
                              <a:solidFill>
                                <a:srgbClr val="000000"/>
                              </a:solidFill>
                              <a:latin typeface="Cambria Math" panose="02040503050406030204" pitchFamily="18" charset="0"/>
                            </a:rPr>
                            <m:t>2</m:t>
                          </m:r>
                          <m:r>
                            <a:rPr lang="en-US" sz="2400" b="0" i="1">
                              <a:solidFill>
                                <a:srgbClr val="000000"/>
                              </a:solidFill>
                              <a:latin typeface="Cambria Math" panose="02040503050406030204" pitchFamily="18" charset="0"/>
                            </a:rPr>
                            <m:t>𝜋</m:t>
                          </m:r>
                        </m:sub>
                        <m:sup/>
                        <m:e>
                          <m:r>
                            <a:rPr lang="en-US" sz="2400" b="0" i="1">
                              <a:solidFill>
                                <a:srgbClr val="000000"/>
                              </a:solidFill>
                              <a:latin typeface="Cambria Math" panose="02040503050406030204" pitchFamily="18" charset="0"/>
                            </a:rPr>
                            <m:t>𝑋</m:t>
                          </m:r>
                          <m:d>
                            <m:dPr>
                              <m:ctrlPr>
                                <a:rPr lang="en-US" sz="2400" b="0" i="1">
                                  <a:solidFill>
                                    <a:srgbClr val="000000"/>
                                  </a:solidFill>
                                  <a:latin typeface="Cambria Math" panose="02040503050406030204" pitchFamily="18" charset="0"/>
                                </a:rPr>
                              </m:ctrlPr>
                            </m:dPr>
                            <m:e>
                              <m:sSup>
                                <m:sSupPr>
                                  <m:ctrlPr>
                                    <a:rPr lang="en-US" sz="2400" b="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m:rPr>
                                      <m:sty m:val="p"/>
                                    </m:rPr>
                                    <a:rPr lang="en-US" sz="2400" b="0" i="0">
                                      <a:solidFill>
                                        <a:srgbClr val="000000"/>
                                      </a:solidFill>
                                      <a:latin typeface="Cambria Math" panose="02040503050406030204" pitchFamily="18" charset="0"/>
                                    </a:rPr>
                                    <m:t>j</m:t>
                                  </m:r>
                                  <m:r>
                                    <a:rPr lang="en-US" sz="2400" b="0" i="1">
                                      <a:solidFill>
                                        <a:srgbClr val="000000"/>
                                      </a:solidFill>
                                      <a:latin typeface="Cambria Math" panose="02040503050406030204" pitchFamily="18" charset="0"/>
                                    </a:rPr>
                                    <m:t>𝜔</m:t>
                                  </m:r>
                                </m:sup>
                              </m:sSup>
                            </m:e>
                          </m:d>
                          <m:sSup>
                            <m:sSupPr>
                              <m:ctrlPr>
                                <a:rPr lang="en-US" sz="2400" b="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m:rPr>
                                  <m:sty m:val="p"/>
                                </m:rPr>
                                <a:rPr lang="en-US" sz="2400" b="0" i="0">
                                  <a:solidFill>
                                    <a:srgbClr val="000000"/>
                                  </a:solidFill>
                                  <a:latin typeface="Cambria Math" panose="02040503050406030204" pitchFamily="18" charset="0"/>
                                </a:rPr>
                                <m:t>j</m:t>
                              </m:r>
                              <m:r>
                                <a:rPr lang="en-US" sz="2400" b="0" i="1">
                                  <a:solidFill>
                                    <a:srgbClr val="000000"/>
                                  </a:solidFill>
                                  <a:latin typeface="Cambria Math" panose="02040503050406030204" pitchFamily="18" charset="0"/>
                                </a:rPr>
                                <m:t>𝜔</m:t>
                              </m:r>
                              <m:r>
                                <a:rPr lang="en-US" sz="2400" b="0" i="1">
                                  <a:solidFill>
                                    <a:srgbClr val="000000"/>
                                  </a:solidFill>
                                  <a:latin typeface="Cambria Math" panose="02040503050406030204" pitchFamily="18" charset="0"/>
                                </a:rPr>
                                <m:t>𝑛</m:t>
                              </m:r>
                            </m:sup>
                          </m:sSup>
                          <m:r>
                            <m:rPr>
                              <m:sty m:val="p"/>
                            </m:rPr>
                            <a:rPr lang="en-US" sz="2400" b="0" i="0">
                              <a:solidFill>
                                <a:srgbClr val="000000"/>
                              </a:solidFill>
                              <a:latin typeface="Cambria Math" panose="02040503050406030204" pitchFamily="18" charset="0"/>
                            </a:rPr>
                            <m:t>d</m:t>
                          </m:r>
                          <m:r>
                            <a:rPr lang="en-US" sz="2400" b="0" i="1">
                              <a:solidFill>
                                <a:srgbClr val="000000"/>
                              </a:solidFill>
                              <a:latin typeface="Cambria Math" panose="02040503050406030204" pitchFamily="18" charset="0"/>
                            </a:rPr>
                            <m:t>𝜔</m:t>
                          </m:r>
                        </m:e>
                      </m:nary>
                    </m:oMath>
                  </m:oMathPara>
                </a14:m>
                <a:endParaRPr lang="en-US" sz="2400" b="0" i="1" dirty="0">
                  <a:solidFill>
                    <a:srgbClr val="000000"/>
                  </a:solidFill>
                  <a:latin typeface="Cambria Math" panose="02040503050406030204" pitchFamily="18" charset="0"/>
                </a:endParaRPr>
              </a:p>
              <a:p>
                <a:pPr marL="0" indent="0" algn="just">
                  <a:spcBef>
                    <a:spcPts val="0"/>
                  </a:spcBef>
                  <a:spcAft>
                    <a:spcPts val="600"/>
                  </a:spcAft>
                  <a:buNone/>
                </a:pPr>
                <a14:m>
                  <m:oMathPara xmlns:m="http://schemas.openxmlformats.org/officeDocument/2006/math">
                    <m:oMathParaPr>
                      <m:jc m:val="centerGroup"/>
                    </m:oMathParaPr>
                    <m:oMath xmlns:m="http://schemas.openxmlformats.org/officeDocument/2006/math">
                      <m:r>
                        <m:rPr>
                          <m:aln/>
                        </m:rPr>
                        <a:rPr lang="en-US" sz="2400" b="0" i="1">
                          <a:solidFill>
                            <a:srgbClr val="000000"/>
                          </a:solidFill>
                          <a:latin typeface="Cambria Math" panose="02040503050406030204" pitchFamily="18" charset="0"/>
                        </a:rPr>
                        <m:t>=</m:t>
                      </m:r>
                      <m:nary>
                        <m:naryPr>
                          <m:ctrlPr>
                            <a:rPr lang="en-US" sz="2400" b="0" i="1">
                              <a:solidFill>
                                <a:srgbClr val="000000"/>
                              </a:solidFill>
                              <a:latin typeface="Cambria Math" panose="02040503050406030204" pitchFamily="18" charset="0"/>
                            </a:rPr>
                          </m:ctrlPr>
                        </m:naryPr>
                        <m:sub>
                          <m:sSub>
                            <m:sSubPr>
                              <m:ctrlPr>
                                <a:rPr lang="en-US" sz="2400" b="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𝜋</m:t>
                          </m:r>
                        </m:sub>
                        <m:sup>
                          <m:sSub>
                            <m:sSubPr>
                              <m:ctrlPr>
                                <a:rPr lang="en-US" sz="2400" b="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𝜋</m:t>
                          </m:r>
                        </m:sup>
                        <m:e>
                          <m:r>
                            <a:rPr lang="en-US" sz="2400" b="0" i="1">
                              <a:solidFill>
                                <a:srgbClr val="000000"/>
                              </a:solidFill>
                              <a:latin typeface="Cambria Math" panose="02040503050406030204" pitchFamily="18" charset="0"/>
                            </a:rPr>
                            <m:t>𝛿</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𝜔</m:t>
                          </m:r>
                          <m:r>
                            <a:rPr lang="en-US" sz="2400" b="0" i="1">
                              <a:solidFill>
                                <a:srgbClr val="000000"/>
                              </a:solidFill>
                              <a:latin typeface="Cambria Math" panose="02040503050406030204" pitchFamily="18" charset="0"/>
                            </a:rPr>
                            <m:t>−</m:t>
                          </m:r>
                          <m:sSub>
                            <m:sSubPr>
                              <m:ctrlPr>
                                <a:rPr lang="en-US" sz="2400" b="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m:t>
                          </m:r>
                        </m:e>
                      </m:nary>
                      <m:sSup>
                        <m:sSupPr>
                          <m:ctrlPr>
                            <a:rPr lang="en-US" sz="2400" b="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m:rPr>
                              <m:sty m:val="p"/>
                            </m:rPr>
                            <a:rPr lang="en-US" sz="2400" b="0" i="0">
                              <a:solidFill>
                                <a:srgbClr val="000000"/>
                              </a:solidFill>
                              <a:latin typeface="Cambria Math" panose="02040503050406030204" pitchFamily="18" charset="0"/>
                            </a:rPr>
                            <m:t>j</m:t>
                          </m:r>
                          <m:r>
                            <a:rPr lang="en-US" sz="2400" b="0" i="1">
                              <a:solidFill>
                                <a:srgbClr val="000000"/>
                              </a:solidFill>
                              <a:latin typeface="Cambria Math" panose="02040503050406030204" pitchFamily="18" charset="0"/>
                            </a:rPr>
                            <m:t>𝜔</m:t>
                          </m:r>
                          <m:r>
                            <a:rPr lang="en-US" sz="2400" b="0" i="1">
                              <a:solidFill>
                                <a:srgbClr val="000000"/>
                              </a:solidFill>
                              <a:latin typeface="Cambria Math" panose="02040503050406030204" pitchFamily="18" charset="0"/>
                            </a:rPr>
                            <m:t>𝑛</m:t>
                          </m:r>
                        </m:sup>
                      </m:sSup>
                      <m:r>
                        <m:rPr>
                          <m:sty m:val="p"/>
                        </m:rPr>
                        <a:rPr lang="en-US" sz="2400" b="0" i="0">
                          <a:solidFill>
                            <a:srgbClr val="000000"/>
                          </a:solidFill>
                          <a:latin typeface="Cambria Math" panose="02040503050406030204" pitchFamily="18" charset="0"/>
                        </a:rPr>
                        <m:t>d</m:t>
                      </m:r>
                      <m:r>
                        <a:rPr lang="en-US" sz="2400" b="0" i="1">
                          <a:solidFill>
                            <a:srgbClr val="000000"/>
                          </a:solidFill>
                          <a:latin typeface="Cambria Math" panose="02040503050406030204" pitchFamily="18" charset="0"/>
                        </a:rPr>
                        <m:t>𝜔</m:t>
                      </m:r>
                      <m:r>
                        <a:rPr lang="en-US" sz="2400" b="0" i="1">
                          <a:solidFill>
                            <a:srgbClr val="000000"/>
                          </a:solidFill>
                          <a:latin typeface="Cambria Math" panose="02040503050406030204" pitchFamily="18" charset="0"/>
                        </a:rPr>
                        <m:t>=</m:t>
                      </m:r>
                      <m:sSup>
                        <m:sSupPr>
                          <m:ctrlPr>
                            <a:rPr lang="en-US" sz="2400" b="0" i="1" smtClean="0">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m:rPr>
                              <m:sty m:val="p"/>
                            </m:rPr>
                            <a:rPr lang="en-US" sz="2400" b="0" i="0">
                              <a:solidFill>
                                <a:srgbClr val="FF0000"/>
                              </a:solidFill>
                              <a:latin typeface="Cambria Math" panose="02040503050406030204" pitchFamily="18" charset="0"/>
                            </a:rPr>
                            <m:t>j</m:t>
                          </m:r>
                          <m:sSub>
                            <m:sSubPr>
                              <m:ctrlPr>
                                <a:rPr lang="en-US" sz="2400" b="0" i="1">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𝜔</m:t>
                              </m:r>
                            </m:e>
                            <m:sub>
                              <m:r>
                                <a:rPr lang="en-US" sz="2400" b="0" i="1">
                                  <a:solidFill>
                                    <a:srgbClr val="FF0000"/>
                                  </a:solidFill>
                                  <a:latin typeface="Cambria Math" panose="02040503050406030204" pitchFamily="18" charset="0"/>
                                </a:rPr>
                                <m:t>0</m:t>
                              </m:r>
                            </m:sub>
                          </m:sSub>
                          <m:r>
                            <a:rPr lang="en-US" sz="2400" b="0" i="1">
                              <a:solidFill>
                                <a:srgbClr val="FF0000"/>
                              </a:solidFill>
                              <a:latin typeface="Cambria Math" panose="02040503050406030204" pitchFamily="18" charset="0"/>
                            </a:rPr>
                            <m:t>𝑛</m:t>
                          </m:r>
                        </m:sup>
                      </m:sSup>
                    </m:oMath>
                  </m:oMathPara>
                </a14:m>
                <a:endParaRPr lang="en-US" altLang="zh-CN" sz="2400" b="0" dirty="0"/>
              </a:p>
            </p:txBody>
          </p:sp>
        </mc:Choice>
        <mc:Fallback xmlns="">
          <p:sp>
            <p:nvSpPr>
              <p:cNvPr id="3" name="内容占位符 2">
                <a:extLst>
                  <a:ext uri="{FF2B5EF4-FFF2-40B4-BE49-F238E27FC236}">
                    <a16:creationId xmlns:a16="http://schemas.microsoft.com/office/drawing/2014/main" id="{6FF059FF-B5D1-44C7-A82C-F317A7AAA1B0}"/>
                  </a:ext>
                </a:extLst>
              </p:cNvPr>
              <p:cNvSpPr>
                <a:spLocks noGrp="1" noRot="1" noChangeAspect="1" noMove="1" noResize="1" noEditPoints="1" noAdjustHandles="1" noChangeArrowheads="1" noChangeShapeType="1" noTextEdit="1"/>
              </p:cNvSpPr>
              <p:nvPr>
                <p:ph idx="1"/>
              </p:nvPr>
            </p:nvSpPr>
            <p:spPr>
              <a:blipFill>
                <a:blip r:embed="rId2"/>
                <a:stretch>
                  <a:fillRect l="-963" t="-630" r="-1111" b="-1259"/>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08C6E750-6F94-4F73-B462-6C3D6AA6631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0FBCD6-DD58-4065-A22F-877961453C24}" type="slidenum">
              <a:rPr lang="zh-CN" altLang="en-US">
                <a:solidFill>
                  <a:srgbClr val="898989"/>
                </a:solidFill>
                <a:latin typeface="Calibri" panose="020F0502020204030204" pitchFamily="34" charset="0"/>
              </a:rPr>
              <a:pPr eaLnBrk="1" hangingPunct="1"/>
              <a:t>16</a:t>
            </a:fld>
            <a:endParaRPr lang="zh-CN" altLang="en-US">
              <a:solidFill>
                <a:srgbClr val="898989"/>
              </a:solidFill>
              <a:latin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标题 1">
            <a:extLst>
              <a:ext uri="{FF2B5EF4-FFF2-40B4-BE49-F238E27FC236}">
                <a16:creationId xmlns:a16="http://schemas.microsoft.com/office/drawing/2014/main" id="{FD2D0135-D6F2-4815-A348-5FFE33176919}"/>
              </a:ext>
            </a:extLst>
          </p:cNvPr>
          <p:cNvSpPr>
            <a:spLocks noGrp="1"/>
          </p:cNvSpPr>
          <p:nvPr>
            <p:ph type="title"/>
          </p:nvPr>
        </p:nvSpPr>
        <p:spPr/>
        <p:txBody>
          <a:bodyPr/>
          <a:lstStyle/>
          <a:p>
            <a:r>
              <a:rPr lang="en-US" altLang="zh-CN" dirty="0"/>
              <a:t>5.2  </a:t>
            </a:r>
            <a:r>
              <a:rPr lang="zh-CN" altLang="en-US" dirty="0"/>
              <a:t>周期信号的傅里叶变换</a:t>
            </a:r>
          </a:p>
        </p:txBody>
      </p:sp>
      <p:sp>
        <p:nvSpPr>
          <p:cNvPr id="4" name="灯片编号占位符 3">
            <a:extLst>
              <a:ext uri="{FF2B5EF4-FFF2-40B4-BE49-F238E27FC236}">
                <a16:creationId xmlns:a16="http://schemas.microsoft.com/office/drawing/2014/main" id="{D1B15977-7535-43BB-9A66-0C2FDD2BC2D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9BB7BAA-4BC2-4303-916E-8C5A13D31DD6}" type="slidenum">
              <a:rPr lang="zh-CN" altLang="en-US">
                <a:solidFill>
                  <a:srgbClr val="898989"/>
                </a:solidFill>
                <a:latin typeface="Calibri" panose="020F0502020204030204" pitchFamily="34" charset="0"/>
              </a:rPr>
              <a:pPr eaLnBrk="1" hangingPunct="1"/>
              <a:t>17</a:t>
            </a:fld>
            <a:endParaRPr lang="zh-CN" altLang="en-US" dirty="0">
              <a:solidFill>
                <a:srgbClr val="898989"/>
              </a:solidFill>
              <a:latin typeface="Calibri" panose="020F0502020204030204" pitchFamily="34" charset="0"/>
            </a:endParaRPr>
          </a:p>
        </p:txBody>
      </p:sp>
      <p:sp>
        <p:nvSpPr>
          <p:cNvPr id="19475" name="Text Box 4">
            <a:extLst>
              <a:ext uri="{FF2B5EF4-FFF2-40B4-BE49-F238E27FC236}">
                <a16:creationId xmlns:a16="http://schemas.microsoft.com/office/drawing/2014/main" id="{E167DC55-E42C-40D1-9559-404CFDDAB123}"/>
              </a:ext>
            </a:extLst>
          </p:cNvPr>
          <p:cNvSpPr txBox="1">
            <a:spLocks noChangeArrowheads="1"/>
          </p:cNvSpPr>
          <p:nvPr/>
        </p:nvSpPr>
        <p:spPr bwMode="auto">
          <a:xfrm>
            <a:off x="642938" y="1931462"/>
            <a:ext cx="5416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于是对于表示为傅里叶级数的周期信号</a:t>
            </a:r>
          </a:p>
        </p:txBody>
      </p:sp>
      <p:sp>
        <p:nvSpPr>
          <p:cNvPr id="19474" name="Text Box 7">
            <a:extLst>
              <a:ext uri="{FF2B5EF4-FFF2-40B4-BE49-F238E27FC236}">
                <a16:creationId xmlns:a16="http://schemas.microsoft.com/office/drawing/2014/main" id="{9AFA644E-F41F-4366-842F-99182F41EA32}"/>
              </a:ext>
            </a:extLst>
          </p:cNvPr>
          <p:cNvSpPr txBox="1">
            <a:spLocks noChangeArrowheads="1"/>
          </p:cNvSpPr>
          <p:nvPr/>
        </p:nvSpPr>
        <p:spPr bwMode="auto">
          <a:xfrm>
            <a:off x="642938" y="3509383"/>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ea typeface="华文楷体" panose="02010600040101010101" pitchFamily="2" charset="-122"/>
                <a:cs typeface="楷体_GB2312" panose="02010609030101010101" pitchFamily="49" charset="-122"/>
              </a:rPr>
              <a:t>就有</a:t>
            </a:r>
          </a:p>
        </p:txBody>
      </p:sp>
      <mc:AlternateContent xmlns:mc="http://schemas.openxmlformats.org/markup-compatibility/2006" xmlns:a14="http://schemas.microsoft.com/office/drawing/2010/main">
        <mc:Choice Requires="a14">
          <p:sp>
            <p:nvSpPr>
              <p:cNvPr id="19471" name="Rectangle 15">
                <a:extLst>
                  <a:ext uri="{FF2B5EF4-FFF2-40B4-BE49-F238E27FC236}">
                    <a16:creationId xmlns:a16="http://schemas.microsoft.com/office/drawing/2014/main" id="{5F874E73-B6A6-4BD6-B55A-5080B7BF5F73}"/>
                  </a:ext>
                </a:extLst>
              </p:cNvPr>
              <p:cNvSpPr>
                <a:spLocks noChangeArrowheads="1"/>
              </p:cNvSpPr>
              <p:nvPr/>
            </p:nvSpPr>
            <p:spPr bwMode="auto">
              <a:xfrm>
                <a:off x="642938" y="1281951"/>
                <a:ext cx="7858124" cy="509178"/>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b="0" i="1" smtClean="0">
                            <a:solidFill>
                              <a:srgbClr val="000000"/>
                            </a:solidFill>
                            <a:latin typeface="Cambria Math" panose="02040503050406030204" pitchFamily="18" charset="0"/>
                          </a:rPr>
                          <m:t>𝑛</m:t>
                        </m:r>
                      </m:sup>
                    </m:sSup>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，则</a:t>
                </a:r>
                <a14:m>
                  <m:oMath xmlns:m="http://schemas.openxmlformats.org/officeDocument/2006/math">
                    <m:r>
                      <a:rPr lang="en-US" sz="2400" i="1">
                        <a:solidFill>
                          <a:srgbClr val="000000"/>
                        </a:solidFill>
                        <a:latin typeface="Cambria Math" panose="02040503050406030204" pitchFamily="18" charset="0"/>
                      </a:rPr>
                      <m:t>𝑋</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r>
                      <a:rPr lang="en-US" sz="2400" i="1">
                        <a:solidFill>
                          <a:srgbClr val="000000"/>
                        </a:solidFill>
                        <a:latin typeface="Cambria Math" panose="02040503050406030204" pitchFamily="18" charset="0"/>
                      </a:rPr>
                      <m:t>=</m:t>
                    </m:r>
                    <m:nary>
                      <m:naryPr>
                        <m:chr m:val="∑"/>
                        <m:ctrlPr>
                          <a:rPr lang="en-US" sz="2400" i="1" smtClean="0">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𝑙</m:t>
                        </m:r>
                        <m:r>
                          <a:rPr lang="en-US" sz="2400" i="1">
                            <a:solidFill>
                              <a:schemeClr val="tx1"/>
                            </a:solidFill>
                            <a:latin typeface="Cambria Math" panose="02040503050406030204" pitchFamily="18" charset="0"/>
                          </a:rPr>
                          <m:t>=−∞</m:t>
                        </m:r>
                      </m:sub>
                      <m:sup>
                        <m:r>
                          <a:rPr lang="en-US" sz="2400" i="1">
                            <a:solidFill>
                              <a:schemeClr val="tx1"/>
                            </a:solidFill>
                            <a:latin typeface="Cambria Math" panose="02040503050406030204" pitchFamily="18" charset="0"/>
                          </a:rPr>
                          <m:t>∞</m:t>
                        </m:r>
                      </m:sup>
                      <m:e>
                        <m:r>
                          <a:rPr lang="en-US" sz="2400" i="1">
                            <a:solidFill>
                              <a:schemeClr val="tx1"/>
                            </a:solidFill>
                            <a:latin typeface="Cambria Math" panose="02040503050406030204" pitchFamily="18" charset="0"/>
                          </a:rPr>
                          <m:t>2</m:t>
                        </m:r>
                        <m:r>
                          <a:rPr lang="en-US" sz="2400" i="1">
                            <a:solidFill>
                              <a:schemeClr val="tx1"/>
                            </a:solidFill>
                            <a:latin typeface="Cambria Math" panose="02040503050406030204" pitchFamily="18" charset="0"/>
                          </a:rPr>
                          <m:t>𝜋𝛿</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𝜔</m:t>
                        </m:r>
                        <m:r>
                          <a:rPr lang="en-US" sz="240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𝑘</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−2</m:t>
                        </m:r>
                        <m:r>
                          <a:rPr lang="en-US" sz="2400" i="1">
                            <a:solidFill>
                              <a:schemeClr val="tx1"/>
                            </a:solidFill>
                            <a:latin typeface="Cambria Math" panose="02040503050406030204" pitchFamily="18" charset="0"/>
                          </a:rPr>
                          <m:t>𝜋</m:t>
                        </m:r>
                        <m:r>
                          <a:rPr lang="en-US" sz="2400" i="1">
                            <a:solidFill>
                              <a:schemeClr val="tx1"/>
                            </a:solidFill>
                            <a:latin typeface="Cambria Math" panose="02040503050406030204" pitchFamily="18" charset="0"/>
                          </a:rPr>
                          <m:t>𝑙</m:t>
                        </m:r>
                        <m:r>
                          <a:rPr lang="en-US" sz="2400" i="1">
                            <a:solidFill>
                              <a:schemeClr val="tx1"/>
                            </a:solidFill>
                            <a:latin typeface="Cambria Math" panose="02040503050406030204" pitchFamily="18" charset="0"/>
                          </a:rPr>
                          <m:t>)</m:t>
                        </m:r>
                      </m:e>
                    </m:nary>
                  </m:oMath>
                </a14:m>
                <a:endParaRPr lang="zh-CN" altLang="en-US" sz="2400" dirty="0">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9471" name="Rectangle 15">
                <a:extLst>
                  <a:ext uri="{FF2B5EF4-FFF2-40B4-BE49-F238E27FC236}">
                    <a16:creationId xmlns:a16="http://schemas.microsoft.com/office/drawing/2014/main" id="{5F874E73-B6A6-4BD6-B55A-5080B7BF5F73}"/>
                  </a:ext>
                </a:extLst>
              </p:cNvPr>
              <p:cNvSpPr>
                <a:spLocks noRot="1" noChangeAspect="1" noMove="1" noResize="1" noEditPoints="1" noAdjustHandles="1" noChangeArrowheads="1" noChangeShapeType="1" noTextEdit="1"/>
              </p:cNvSpPr>
              <p:nvPr/>
            </p:nvSpPr>
            <p:spPr bwMode="auto">
              <a:xfrm>
                <a:off x="642938" y="1281951"/>
                <a:ext cx="7858124" cy="509178"/>
              </a:xfrm>
              <a:prstGeom prst="rect">
                <a:avLst/>
              </a:prstGeom>
              <a:blipFill>
                <a:blip r:embed="rId2"/>
                <a:stretch>
                  <a:fillRect l="-1163" t="-2381" b="-2381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3">
                <a:extLst>
                  <a:ext uri="{FF2B5EF4-FFF2-40B4-BE49-F238E27FC236}">
                    <a16:creationId xmlns:a16="http://schemas.microsoft.com/office/drawing/2014/main" id="{0FDB34F8-A1BF-433F-9637-8993901C769A}"/>
                  </a:ext>
                </a:extLst>
              </p:cNvPr>
              <p:cNvSpPr txBox="1"/>
              <p:nvPr/>
            </p:nvSpPr>
            <p:spPr bwMode="auto">
              <a:xfrm>
                <a:off x="1934989" y="2533757"/>
                <a:ext cx="5161383" cy="83529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nary>
                        <m:naryPr>
                          <m:chr m:val="∑"/>
                          <m:limLoc m:val="subSup"/>
                          <m:supHide m:val="on"/>
                          <m:ctrlPr>
                            <a:rPr lang="en-US" sz="2400" i="1">
                              <a:solidFill>
                                <a:srgbClr val="000000"/>
                              </a:solidFill>
                              <a:latin typeface="Cambria Math" panose="02040503050406030204" pitchFamily="18" charset="0"/>
                            </a:rPr>
                          </m:ctrlPr>
                        </m:naryPr>
                        <m:sub>
                          <m:r>
                            <m:rPr>
                              <m:brk m:alnAt="7"/>
                            </m:rP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e>
                      </m:nary>
                      <m:r>
                        <a:rPr lang="en-US" sz="2400" i="1">
                          <a:solidFill>
                            <a:srgbClr val="000000"/>
                          </a:solidFill>
                          <a:latin typeface="Cambria Math" panose="02040503050406030204" pitchFamily="18" charset="0"/>
                        </a:rPr>
                        <m:t>, </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num>
                        <m:den>
                          <m:r>
                            <a:rPr lang="en-US" sz="2400" i="1">
                              <a:solidFill>
                                <a:srgbClr val="000000"/>
                              </a:solidFill>
                              <a:latin typeface="Cambria Math" panose="02040503050406030204" pitchFamily="18" charset="0"/>
                            </a:rPr>
                            <m:t>𝑁</m:t>
                          </m:r>
                        </m:den>
                      </m:f>
                    </m:oMath>
                  </m:oMathPara>
                </a14:m>
                <a:endParaRPr lang="en-US" sz="2400" dirty="0"/>
              </a:p>
            </p:txBody>
          </p:sp>
        </mc:Choice>
        <mc:Fallback xmlns="">
          <p:sp>
            <p:nvSpPr>
              <p:cNvPr id="22" name="Object 3">
                <a:extLst>
                  <a:ext uri="{FF2B5EF4-FFF2-40B4-BE49-F238E27FC236}">
                    <a16:creationId xmlns:a16="http://schemas.microsoft.com/office/drawing/2014/main" id="{0FDB34F8-A1BF-433F-9637-8993901C769A}"/>
                  </a:ext>
                </a:extLst>
              </p:cNvPr>
              <p:cNvSpPr txBox="1">
                <a:spLocks noRot="1" noChangeAspect="1" noMove="1" noResize="1" noEditPoints="1" noAdjustHandles="1" noChangeArrowheads="1" noChangeShapeType="1" noTextEdit="1"/>
              </p:cNvSpPr>
              <p:nvPr/>
            </p:nvSpPr>
            <p:spPr bwMode="auto">
              <a:xfrm>
                <a:off x="1934989" y="2533757"/>
                <a:ext cx="5161383" cy="835293"/>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5">
                <a:extLst>
                  <a:ext uri="{FF2B5EF4-FFF2-40B4-BE49-F238E27FC236}">
                    <a16:creationId xmlns:a16="http://schemas.microsoft.com/office/drawing/2014/main" id="{59F0C195-420F-4686-BDE0-1F0DB315B2EE}"/>
                  </a:ext>
                </a:extLst>
              </p:cNvPr>
              <p:cNvSpPr txBox="1"/>
              <p:nvPr/>
            </p:nvSpPr>
            <p:spPr bwMode="auto">
              <a:xfrm>
                <a:off x="1059296" y="4111678"/>
                <a:ext cx="6912768" cy="8181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1" smtClean="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nary>
                        <m:naryPr>
                          <m:chr m:val="∑"/>
                          <m:limLoc m:val="subSup"/>
                          <m:supHide m:val="on"/>
                          <m:ctrlPr>
                            <a:rPr lang="en-US" sz="2400" i="1">
                              <a:solidFill>
                                <a:srgbClr val="000000"/>
                              </a:solidFill>
                              <a:latin typeface="Cambria Math" panose="02040503050406030204" pitchFamily="18" charset="0"/>
                            </a:rPr>
                          </m:ctrlPr>
                        </m:naryPr>
                        <m:sub>
                          <m:r>
                            <m:rPr>
                              <m:brk m:alnAt="7"/>
                            </m:rP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e>
                          </m:nary>
                        </m:e>
                      </m:nary>
                    </m:oMath>
                  </m:oMathPara>
                </a14:m>
                <a:endParaRPr lang="en-US" sz="2400" dirty="0"/>
              </a:p>
            </p:txBody>
          </p:sp>
        </mc:Choice>
        <mc:Fallback xmlns="">
          <p:sp>
            <p:nvSpPr>
              <p:cNvPr id="27" name="Object 5">
                <a:extLst>
                  <a:ext uri="{FF2B5EF4-FFF2-40B4-BE49-F238E27FC236}">
                    <a16:creationId xmlns:a16="http://schemas.microsoft.com/office/drawing/2014/main" id="{59F0C195-420F-4686-BDE0-1F0DB315B2EE}"/>
                  </a:ext>
                </a:extLst>
              </p:cNvPr>
              <p:cNvSpPr txBox="1">
                <a:spLocks noRot="1" noChangeAspect="1" noMove="1" noResize="1" noEditPoints="1" noAdjustHandles="1" noChangeArrowheads="1" noChangeShapeType="1" noTextEdit="1"/>
              </p:cNvSpPr>
              <p:nvPr/>
            </p:nvSpPr>
            <p:spPr bwMode="auto">
              <a:xfrm>
                <a:off x="1059296" y="4111678"/>
                <a:ext cx="6912768" cy="818173"/>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825BBA00-15CC-443D-BE45-810C8176E569}"/>
                  </a:ext>
                </a:extLst>
              </p:cNvPr>
              <p:cNvSpPr txBox="1"/>
              <p:nvPr/>
            </p:nvSpPr>
            <p:spPr>
              <a:xfrm>
                <a:off x="2002458" y="5087304"/>
                <a:ext cx="5881910" cy="8181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ary>
                        <m:naryPr>
                          <m:chr m:val="∑"/>
                          <m:limLoc m:val="subSup"/>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nary>
                            <m:naryPr>
                              <m:chr m:val="∑"/>
                              <m:limLoc m:val="subSup"/>
                              <m:supHide m:val="on"/>
                              <m:ctrlPr>
                                <a:rPr lang="en-US" sz="2400" i="1">
                                  <a:solidFill>
                                    <a:srgbClr val="000000"/>
                                  </a:solidFill>
                                  <a:latin typeface="Cambria Math" panose="02040503050406030204" pitchFamily="18" charset="0"/>
                                </a:rPr>
                              </m:ctrlPr>
                            </m:naryPr>
                            <m:sub>
                              <m:r>
                                <m:rPr>
                                  <m:brk m:alnAt="7"/>
                                </m:rP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e>
                          </m:nary>
                        </m:e>
                      </m:nary>
                    </m:oMath>
                  </m:oMathPara>
                </a14:m>
                <a:endParaRPr lang="en-US" dirty="0"/>
              </a:p>
            </p:txBody>
          </p:sp>
        </mc:Choice>
        <mc:Fallback xmlns="">
          <p:sp>
            <p:nvSpPr>
              <p:cNvPr id="33" name="文本框 32">
                <a:extLst>
                  <a:ext uri="{FF2B5EF4-FFF2-40B4-BE49-F238E27FC236}">
                    <a16:creationId xmlns:a16="http://schemas.microsoft.com/office/drawing/2014/main" id="{825BBA00-15CC-443D-BE45-810C8176E569}"/>
                  </a:ext>
                </a:extLst>
              </p:cNvPr>
              <p:cNvSpPr txBox="1">
                <a:spLocks noRot="1" noChangeAspect="1" noMove="1" noResize="1" noEditPoints="1" noAdjustHandles="1" noChangeArrowheads="1" noChangeShapeType="1" noTextEdit="1"/>
              </p:cNvSpPr>
              <p:nvPr/>
            </p:nvSpPr>
            <p:spPr>
              <a:xfrm>
                <a:off x="2002458" y="5087304"/>
                <a:ext cx="5881910" cy="818173"/>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475"/>
                                        </p:tgtEl>
                                        <p:attrNameLst>
                                          <p:attrName>style.visibility</p:attrName>
                                        </p:attrNameLst>
                                      </p:cBhvr>
                                      <p:to>
                                        <p:strVal val="visible"/>
                                      </p:to>
                                    </p:set>
                                    <p:animEffect transition="in" filter="wipe(down)">
                                      <p:cBhvr>
                                        <p:cTn id="7" dur="500"/>
                                        <p:tgtEl>
                                          <p:spTgt spid="1947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down)">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9474"/>
                                        </p:tgtEl>
                                        <p:attrNameLst>
                                          <p:attrName>style.visibility</p:attrName>
                                        </p:attrNameLst>
                                      </p:cBhvr>
                                      <p:to>
                                        <p:strVal val="visible"/>
                                      </p:to>
                                    </p:set>
                                    <p:animEffect transition="in" filter="wipe(down)">
                                      <p:cBhvr>
                                        <p:cTn id="15" dur="500"/>
                                        <p:tgtEl>
                                          <p:spTgt spid="1947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down)">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ppt_x"/>
                                          </p:val>
                                        </p:tav>
                                        <p:tav tm="100000">
                                          <p:val>
                                            <p:strVal val="#ppt_x"/>
                                          </p:val>
                                        </p:tav>
                                      </p:tavLst>
                                    </p:anim>
                                    <p:anim calcmode="lin" valueType="num">
                                      <p:cBhvr additive="base">
                                        <p:cTn id="2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5" grpId="0"/>
      <p:bldP spid="19474" grpId="0"/>
      <p:bldP spid="22" grpId="0"/>
      <p:bldP spid="27"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标题 1">
            <a:extLst>
              <a:ext uri="{FF2B5EF4-FFF2-40B4-BE49-F238E27FC236}">
                <a16:creationId xmlns:a16="http://schemas.microsoft.com/office/drawing/2014/main" id="{FD2D0135-D6F2-4815-A348-5FFE33176919}"/>
              </a:ext>
            </a:extLst>
          </p:cNvPr>
          <p:cNvSpPr>
            <a:spLocks noGrp="1"/>
          </p:cNvSpPr>
          <p:nvPr>
            <p:ph type="title"/>
          </p:nvPr>
        </p:nvSpPr>
        <p:spPr/>
        <p:txBody>
          <a:bodyPr/>
          <a:lstStyle/>
          <a:p>
            <a:r>
              <a:rPr lang="en-US" altLang="zh-CN" dirty="0"/>
              <a:t>5.2  </a:t>
            </a:r>
            <a:r>
              <a:rPr lang="zh-CN" altLang="en-US" dirty="0"/>
              <a:t>周期信号的傅里叶变换</a:t>
            </a:r>
          </a:p>
        </p:txBody>
      </p:sp>
      <p:sp>
        <p:nvSpPr>
          <p:cNvPr id="4" name="灯片编号占位符 3">
            <a:extLst>
              <a:ext uri="{FF2B5EF4-FFF2-40B4-BE49-F238E27FC236}">
                <a16:creationId xmlns:a16="http://schemas.microsoft.com/office/drawing/2014/main" id="{D1B15977-7535-43BB-9A66-0C2FDD2BC2D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9BB7BAA-4BC2-4303-916E-8C5A13D31DD6}" type="slidenum">
              <a:rPr lang="zh-CN" altLang="en-US">
                <a:solidFill>
                  <a:srgbClr val="898989"/>
                </a:solidFill>
                <a:latin typeface="Calibri" panose="020F0502020204030204" pitchFamily="34" charset="0"/>
              </a:rPr>
              <a:pPr eaLnBrk="1" hangingPunct="1"/>
              <a:t>18</a:t>
            </a:fld>
            <a:endParaRPr lang="zh-CN" altLang="en-US">
              <a:solidFill>
                <a:srgbClr val="898989"/>
              </a:solidFill>
              <a:latin typeface="Calibri" panose="020F0502020204030204" pitchFamily="34" charset="0"/>
            </a:endParaRPr>
          </a:p>
        </p:txBody>
      </p:sp>
      <p:sp>
        <p:nvSpPr>
          <p:cNvPr id="19472" name="Text Box 10">
            <a:extLst>
              <a:ext uri="{FF2B5EF4-FFF2-40B4-BE49-F238E27FC236}">
                <a16:creationId xmlns:a16="http://schemas.microsoft.com/office/drawing/2014/main" id="{99195261-859F-4717-92FC-8F396BEDB28A}"/>
              </a:ext>
            </a:extLst>
          </p:cNvPr>
          <p:cNvSpPr txBox="1">
            <a:spLocks noChangeArrowheads="1"/>
          </p:cNvSpPr>
          <p:nvPr/>
        </p:nvSpPr>
        <p:spPr bwMode="auto">
          <a:xfrm>
            <a:off x="683568" y="5733256"/>
            <a:ext cx="77768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离散时间周期信号的傅里叶变换</a:t>
            </a:r>
            <a:r>
              <a:rPr lang="zh-CN" altLang="en-US" sz="2400" dirty="0">
                <a:latin typeface="楷体_GB2312" panose="02010609030101010101" pitchFamily="49" charset="-122"/>
                <a:ea typeface="楷体_GB2312" panose="02010609030101010101" pitchFamily="49" charset="-122"/>
              </a:rPr>
              <a:t>与连续时间周期信号的傅里叶变换形式一致。</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B3FF43E-825E-4E92-8AB7-BBDDA341D118}"/>
                  </a:ext>
                </a:extLst>
              </p:cNvPr>
              <p:cNvSpPr txBox="1"/>
              <p:nvPr/>
            </p:nvSpPr>
            <p:spPr>
              <a:xfrm>
                <a:off x="971600" y="1333079"/>
                <a:ext cx="5881910" cy="8181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ary>
                        <m:naryPr>
                          <m:chr m:val="∑"/>
                          <m:limLoc m:val="subSup"/>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nary>
                            <m:naryPr>
                              <m:chr m:val="∑"/>
                              <m:limLoc m:val="subSup"/>
                              <m:supHide m:val="on"/>
                              <m:ctrlPr>
                                <a:rPr lang="en-US" sz="2400" i="1">
                                  <a:solidFill>
                                    <a:srgbClr val="000000"/>
                                  </a:solidFill>
                                  <a:latin typeface="Cambria Math" panose="02040503050406030204" pitchFamily="18" charset="0"/>
                                </a:rPr>
                              </m:ctrlPr>
                            </m:naryPr>
                            <m:sub>
                              <m:r>
                                <m:rPr>
                                  <m:brk m:alnAt="7"/>
                                </m:rP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e>
                          </m:nary>
                        </m:e>
                      </m:nary>
                    </m:oMath>
                  </m:oMathPara>
                </a14:m>
                <a:endParaRPr lang="en-US" dirty="0"/>
              </a:p>
            </p:txBody>
          </p:sp>
        </mc:Choice>
        <mc:Fallback xmlns="">
          <p:sp>
            <p:nvSpPr>
              <p:cNvPr id="12" name="文本框 11">
                <a:extLst>
                  <a:ext uri="{FF2B5EF4-FFF2-40B4-BE49-F238E27FC236}">
                    <a16:creationId xmlns:a16="http://schemas.microsoft.com/office/drawing/2014/main" id="{AB3FF43E-825E-4E92-8AB7-BBDDA341D118}"/>
                  </a:ext>
                </a:extLst>
              </p:cNvPr>
              <p:cNvSpPr txBox="1">
                <a:spLocks noRot="1" noChangeAspect="1" noMove="1" noResize="1" noEditPoints="1" noAdjustHandles="1" noChangeArrowheads="1" noChangeShapeType="1" noTextEdit="1"/>
              </p:cNvSpPr>
              <p:nvPr/>
            </p:nvSpPr>
            <p:spPr>
              <a:xfrm>
                <a:off x="971600" y="1333079"/>
                <a:ext cx="5881910" cy="81817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81EABE8-F4F4-42DF-94CC-0E139EB93917}"/>
                  </a:ext>
                </a:extLst>
              </p:cNvPr>
              <p:cNvSpPr txBox="1"/>
              <p:nvPr/>
            </p:nvSpPr>
            <p:spPr>
              <a:xfrm>
                <a:off x="971600" y="2427708"/>
                <a:ext cx="5760640" cy="882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ary>
                        <m:naryPr>
                          <m:chr m:val="∑"/>
                          <m:limLoc m:val="subSup"/>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nary>
                            <m:naryPr>
                              <m:chr m:val="∑"/>
                              <m:limLoc m:val="subSup"/>
                              <m:ctrlPr>
                                <a:rPr lang="en-US" sz="2400" i="1" smtClean="0">
                                  <a:solidFill>
                                    <a:srgbClr val="000000"/>
                                  </a:solidFill>
                                  <a:latin typeface="Cambria Math" panose="02040503050406030204" pitchFamily="18" charset="0"/>
                                </a:rPr>
                              </m:ctrlPr>
                            </m:naryPr>
                            <m:sub>
                              <m:r>
                                <m:rPr>
                                  <m:brk m:alnAt="25"/>
                                </m:rP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=0</m:t>
                              </m:r>
                            </m:sub>
                            <m:sup>
                              <m:r>
                                <a:rPr lang="en-US" sz="2400" b="0" i="1" smtClean="0">
                                  <a:solidFill>
                                    <a:srgbClr val="000000"/>
                                  </a:solidFill>
                                  <a:latin typeface="Cambria Math" panose="02040503050406030204" pitchFamily="18" charset="0"/>
                                </a:rPr>
                                <m:t>𝑁</m:t>
                              </m:r>
                              <m:r>
                                <a:rPr lang="en-US" sz="2400" b="0" i="1" smtClean="0">
                                  <a:solidFill>
                                    <a:srgbClr val="000000"/>
                                  </a:solidFill>
                                  <a:latin typeface="Cambria Math" panose="02040503050406030204" pitchFamily="18" charset="0"/>
                                </a:rPr>
                                <m:t>−1</m:t>
                              </m:r>
                            </m:sup>
                            <m:e>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𝑙𝑁</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e>
                          </m:nary>
                        </m:e>
                      </m:nary>
                    </m:oMath>
                  </m:oMathPara>
                </a14:m>
                <a:endParaRPr lang="en-US" dirty="0"/>
              </a:p>
            </p:txBody>
          </p:sp>
        </mc:Choice>
        <mc:Fallback xmlns="">
          <p:sp>
            <p:nvSpPr>
              <p:cNvPr id="13" name="文本框 12">
                <a:extLst>
                  <a:ext uri="{FF2B5EF4-FFF2-40B4-BE49-F238E27FC236}">
                    <a16:creationId xmlns:a16="http://schemas.microsoft.com/office/drawing/2014/main" id="{581EABE8-F4F4-42DF-94CC-0E139EB93917}"/>
                  </a:ext>
                </a:extLst>
              </p:cNvPr>
              <p:cNvSpPr txBox="1">
                <a:spLocks noRot="1" noChangeAspect="1" noMove="1" noResize="1" noEditPoints="1" noAdjustHandles="1" noChangeArrowheads="1" noChangeShapeType="1" noTextEdit="1"/>
              </p:cNvSpPr>
              <p:nvPr/>
            </p:nvSpPr>
            <p:spPr>
              <a:xfrm>
                <a:off x="971600" y="2427708"/>
                <a:ext cx="5760640" cy="8821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767BE97-1CC5-4B84-8B38-4F4DFBEE47D4}"/>
                  </a:ext>
                </a:extLst>
              </p:cNvPr>
              <p:cNvSpPr txBox="1"/>
              <p:nvPr/>
            </p:nvSpPr>
            <p:spPr>
              <a:xfrm>
                <a:off x="971600" y="3639399"/>
                <a:ext cx="6048672" cy="882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ary>
                        <m:naryPr>
                          <m:chr m:val="∑"/>
                          <m:limLoc m:val="subSup"/>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𝑙</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nary>
                            <m:naryPr>
                              <m:chr m:val="∑"/>
                              <m:limLoc m:val="subSup"/>
                              <m:ctrlPr>
                                <a:rPr lang="en-US" sz="2400" i="1" smtClean="0">
                                  <a:solidFill>
                                    <a:srgbClr val="000000"/>
                                  </a:solidFill>
                                  <a:latin typeface="Cambria Math" panose="02040503050406030204" pitchFamily="18" charset="0"/>
                                </a:rPr>
                              </m:ctrlPr>
                            </m:naryPr>
                            <m:sub>
                              <m:r>
                                <m:rPr>
                                  <m:brk m:alnAt="25"/>
                                </m:rP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=0</m:t>
                              </m:r>
                            </m:sub>
                            <m:sup>
                              <m:r>
                                <a:rPr lang="en-US" sz="2400" b="0" i="1" smtClean="0">
                                  <a:solidFill>
                                    <a:srgbClr val="000000"/>
                                  </a:solidFill>
                                  <a:latin typeface="Cambria Math" panose="02040503050406030204" pitchFamily="18" charset="0"/>
                                </a:rPr>
                                <m:t>𝑁</m:t>
                              </m:r>
                              <m:r>
                                <a:rPr lang="en-US" sz="2400" b="0" i="1" smtClean="0">
                                  <a:solidFill>
                                    <a:srgbClr val="000000"/>
                                  </a:solidFill>
                                  <a:latin typeface="Cambria Math" panose="02040503050406030204" pitchFamily="18" charset="0"/>
                                </a:rPr>
                                <m:t>−1</m:t>
                              </m:r>
                            </m:sup>
                            <m:e>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𝑙𝑁</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𝑙𝑁</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e>
                          </m:nary>
                        </m:e>
                      </m:nary>
                    </m:oMath>
                  </m:oMathPara>
                </a14:m>
                <a:endParaRPr lang="en-US" dirty="0"/>
              </a:p>
            </p:txBody>
          </p:sp>
        </mc:Choice>
        <mc:Fallback xmlns="">
          <p:sp>
            <p:nvSpPr>
              <p:cNvPr id="14" name="文本框 13">
                <a:extLst>
                  <a:ext uri="{FF2B5EF4-FFF2-40B4-BE49-F238E27FC236}">
                    <a16:creationId xmlns:a16="http://schemas.microsoft.com/office/drawing/2014/main" id="{B767BE97-1CC5-4B84-8B38-4F4DFBEE47D4}"/>
                  </a:ext>
                </a:extLst>
              </p:cNvPr>
              <p:cNvSpPr txBox="1">
                <a:spLocks noRot="1" noChangeAspect="1" noMove="1" noResize="1" noEditPoints="1" noAdjustHandles="1" noChangeArrowheads="1" noChangeShapeType="1" noTextEdit="1"/>
              </p:cNvSpPr>
              <p:nvPr/>
            </p:nvSpPr>
            <p:spPr>
              <a:xfrm>
                <a:off x="971600" y="3639399"/>
                <a:ext cx="6048672" cy="8821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2185923-A3B5-4697-B19D-B8A6910C693F}"/>
                  </a:ext>
                </a:extLst>
              </p:cNvPr>
              <p:cNvSpPr txBox="1"/>
              <p:nvPr/>
            </p:nvSpPr>
            <p:spPr>
              <a:xfrm>
                <a:off x="971600" y="4738225"/>
                <a:ext cx="7848872" cy="8338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=2</m:t>
                      </m:r>
                      <m:r>
                        <a:rPr lang="en-US" sz="2400" i="1">
                          <a:solidFill>
                            <a:srgbClr val="FF0000"/>
                          </a:solidFill>
                          <a:latin typeface="Cambria Math" panose="02040503050406030204" pitchFamily="18" charset="0"/>
                        </a:rPr>
                        <m:t>𝜋</m:t>
                      </m:r>
                      <m:nary>
                        <m:naryPr>
                          <m:chr m:val="∑"/>
                          <m:limLoc m:val="subSup"/>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𝑎</m:t>
                              </m:r>
                            </m:e>
                            <m:sub>
                              <m:r>
                                <a:rPr lang="en-US" sz="2400" i="1">
                                  <a:solidFill>
                                    <a:srgbClr val="FF0000"/>
                                  </a:solidFill>
                                  <a:latin typeface="Cambria Math" panose="02040503050406030204" pitchFamily="18" charset="0"/>
                                </a:rPr>
                                <m:t>𝑘</m:t>
                              </m:r>
                            </m:sub>
                          </m:sSub>
                          <m:r>
                            <a:rPr lang="en-US" sz="2400" i="1">
                              <a:solidFill>
                                <a:srgbClr val="FF0000"/>
                              </a:solidFill>
                              <a:latin typeface="Cambria Math" panose="02040503050406030204" pitchFamily="18" charset="0"/>
                            </a:rPr>
                            <m:t>𝛿</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𝜔</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m:t>
                          </m:r>
                        </m:e>
                      </m:nary>
                      <m:r>
                        <a:rPr lang="en-US" altLang="zh-CN" sz="2400" i="1">
                          <a:solidFill>
                            <a:srgbClr val="FF0000"/>
                          </a:solidFill>
                          <a:latin typeface="Cambria Math" panose="02040503050406030204" pitchFamily="18" charset="0"/>
                        </a:rPr>
                        <m:t>=2</m:t>
                      </m:r>
                      <m:r>
                        <a:rPr lang="en-US" altLang="zh-CN" sz="2400" i="1">
                          <a:solidFill>
                            <a:srgbClr val="FF0000"/>
                          </a:solidFill>
                          <a:latin typeface="Cambria Math" panose="02040503050406030204" pitchFamily="18" charset="0"/>
                        </a:rPr>
                        <m:t>𝜋</m:t>
                      </m:r>
                      <m:nary>
                        <m:naryPr>
                          <m:chr m:val="∑"/>
                          <m:limLoc m:val="subSup"/>
                          <m:ctrlPr>
                            <a:rPr lang="en-US" altLang="zh-CN" sz="2400" i="1">
                              <a:solidFill>
                                <a:srgbClr val="FF0000"/>
                              </a:solidFill>
                              <a:latin typeface="Cambria Math" panose="02040503050406030204" pitchFamily="18" charset="0"/>
                            </a:rPr>
                          </m:ctrlPr>
                        </m:naryPr>
                        <m:sub>
                          <m:r>
                            <a:rPr lang="en-US" altLang="zh-CN" sz="2400" i="1">
                              <a:solidFill>
                                <a:srgbClr val="FF0000"/>
                              </a:solidFill>
                              <a:latin typeface="Cambria Math" panose="02040503050406030204" pitchFamily="18" charset="0"/>
                            </a:rPr>
                            <m:t>𝑘</m:t>
                          </m:r>
                          <m:r>
                            <a:rPr lang="en-US" altLang="zh-CN" sz="2400" i="1">
                              <a:solidFill>
                                <a:srgbClr val="FF0000"/>
                              </a:solidFill>
                              <a:latin typeface="Cambria Math" panose="02040503050406030204" pitchFamily="18" charset="0"/>
                            </a:rPr>
                            <m:t>=−∞</m:t>
                          </m:r>
                        </m:sub>
                        <m:sup>
                          <m:r>
                            <a:rPr lang="en-US" altLang="zh-CN" sz="2400" i="1">
                              <a:solidFill>
                                <a:srgbClr val="FF0000"/>
                              </a:solidFill>
                              <a:latin typeface="Cambria Math" panose="02040503050406030204" pitchFamily="18" charset="0"/>
                            </a:rPr>
                            <m:t>∞</m:t>
                          </m:r>
                        </m:sup>
                        <m:e>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𝑎</m:t>
                              </m:r>
                            </m:e>
                            <m:sub>
                              <m:r>
                                <a:rPr lang="en-US" altLang="zh-CN" sz="2400" i="1">
                                  <a:solidFill>
                                    <a:srgbClr val="FF0000"/>
                                  </a:solidFill>
                                  <a:latin typeface="Cambria Math" panose="02040503050406030204" pitchFamily="18" charset="0"/>
                                </a:rPr>
                                <m:t>𝑘</m:t>
                              </m:r>
                            </m:sub>
                          </m:sSub>
                          <m:r>
                            <a:rPr lang="en-US" altLang="zh-CN" sz="2400" i="1">
                              <a:solidFill>
                                <a:srgbClr val="FF0000"/>
                              </a:solidFill>
                              <a:latin typeface="Cambria Math" panose="02040503050406030204" pitchFamily="18" charset="0"/>
                            </a:rPr>
                            <m:t>𝛿</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𝜔</m:t>
                          </m:r>
                          <m:r>
                            <a:rPr lang="en-US" altLang="zh-CN" sz="2400" i="1" smtClean="0">
                              <a:solidFill>
                                <a:srgbClr val="FF0000"/>
                              </a:solidFill>
                              <a:latin typeface="Cambria Math" panose="02040503050406030204" pitchFamily="18" charset="0"/>
                            </a:rPr>
                            <m:t>−</m:t>
                          </m:r>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2</m:t>
                              </m:r>
                              <m:r>
                                <a:rPr lang="en-US" altLang="zh-CN" sz="2400" i="1">
                                  <a:solidFill>
                                    <a:srgbClr val="FF0000"/>
                                  </a:solidFill>
                                  <a:latin typeface="Cambria Math" panose="02040503050406030204" pitchFamily="18" charset="0"/>
                                </a:rPr>
                                <m:t>𝜋</m:t>
                              </m:r>
                            </m:num>
                            <m:den>
                              <m:r>
                                <a:rPr lang="en-US" altLang="zh-CN" sz="2400" i="1">
                                  <a:solidFill>
                                    <a:srgbClr val="FF0000"/>
                                  </a:solidFill>
                                  <a:latin typeface="Cambria Math" panose="02040503050406030204" pitchFamily="18" charset="0"/>
                                </a:rPr>
                                <m:t>𝑁</m:t>
                              </m:r>
                            </m:den>
                          </m:f>
                          <m:r>
                            <a:rPr lang="en-US" altLang="zh-CN" sz="2400" i="1">
                              <a:solidFill>
                                <a:srgbClr val="FF0000"/>
                              </a:solidFill>
                              <a:latin typeface="Cambria Math" panose="02040503050406030204" pitchFamily="18" charset="0"/>
                            </a:rPr>
                            <m:t>𝑘</m:t>
                          </m:r>
                          <m:r>
                            <a:rPr lang="en-US" altLang="zh-CN" sz="2400" i="1">
                              <a:solidFill>
                                <a:srgbClr val="FF0000"/>
                              </a:solidFill>
                              <a:latin typeface="Cambria Math" panose="02040503050406030204" pitchFamily="18" charset="0"/>
                            </a:rPr>
                            <m:t>)</m:t>
                          </m:r>
                        </m:e>
                      </m:nary>
                    </m:oMath>
                  </m:oMathPara>
                </a14:m>
                <a:endParaRPr lang="en-US" sz="2400" i="1" dirty="0">
                  <a:solidFill>
                    <a:srgbClr val="FF0000"/>
                  </a:solidFill>
                  <a:latin typeface="Cambria Math" panose="02040503050406030204" pitchFamily="18" charset="0"/>
                </a:endParaRPr>
              </a:p>
            </p:txBody>
          </p:sp>
        </mc:Choice>
        <mc:Fallback xmlns="">
          <p:sp>
            <p:nvSpPr>
              <p:cNvPr id="15" name="文本框 14">
                <a:extLst>
                  <a:ext uri="{FF2B5EF4-FFF2-40B4-BE49-F238E27FC236}">
                    <a16:creationId xmlns:a16="http://schemas.microsoft.com/office/drawing/2014/main" id="{62185923-A3B5-4697-B19D-B8A6910C693F}"/>
                  </a:ext>
                </a:extLst>
              </p:cNvPr>
              <p:cNvSpPr txBox="1">
                <a:spLocks noRot="1" noChangeAspect="1" noMove="1" noResize="1" noEditPoints="1" noAdjustHandles="1" noChangeArrowheads="1" noChangeShapeType="1" noTextEdit="1"/>
              </p:cNvSpPr>
              <p:nvPr/>
            </p:nvSpPr>
            <p:spPr>
              <a:xfrm>
                <a:off x="971600" y="4738225"/>
                <a:ext cx="7848872" cy="83388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49445163-25FC-45B6-8BD8-86973F7E5BB5}"/>
                  </a:ext>
                </a:extLst>
              </p:cNvPr>
              <p:cNvSpPr txBox="1"/>
              <p:nvPr/>
            </p:nvSpPr>
            <p:spPr>
              <a:xfrm>
                <a:off x="6300192" y="2534917"/>
                <a:ext cx="2232248" cy="6685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𝜔</m:t>
                          </m:r>
                        </m:e>
                        <m:sub>
                          <m:r>
                            <a:rPr lang="en-US" altLang="zh-CN" sz="2000" i="1">
                              <a:solidFill>
                                <a:srgbClr val="000000"/>
                              </a:solidFill>
                              <a:latin typeface="Cambria Math" panose="02040503050406030204" pitchFamily="18" charset="0"/>
                            </a:rPr>
                            <m:t>0</m:t>
                          </m:r>
                        </m:sub>
                      </m:sSub>
                      <m:r>
                        <a:rPr lang="en-US" altLang="zh-CN" sz="2000" i="1">
                          <a:solidFill>
                            <a:srgbClr val="000000"/>
                          </a:solidFill>
                          <a:latin typeface="Cambria Math" panose="02040503050406030204" pitchFamily="18" charset="0"/>
                        </a:rPr>
                        <m:t>=</m:t>
                      </m:r>
                      <m:f>
                        <m:fPr>
                          <m:ctrlPr>
                            <a:rPr lang="en-US" altLang="zh-CN"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num>
                        <m:den>
                          <m:r>
                            <a:rPr lang="en-US" altLang="zh-CN" sz="2000" i="1">
                              <a:solidFill>
                                <a:srgbClr val="000000"/>
                              </a:solidFill>
                              <a:latin typeface="Cambria Math" panose="02040503050406030204" pitchFamily="18" charset="0"/>
                            </a:rPr>
                            <m:t>𝑁</m:t>
                          </m:r>
                        </m:den>
                      </m:f>
                    </m:oMath>
                  </m:oMathPara>
                </a14:m>
                <a:endParaRPr lang="zh-CN" altLang="en-US" sz="2000" dirty="0"/>
              </a:p>
            </p:txBody>
          </p:sp>
        </mc:Choice>
        <mc:Fallback>
          <p:sp>
            <p:nvSpPr>
              <p:cNvPr id="10" name="文本框 9">
                <a:extLst>
                  <a:ext uri="{FF2B5EF4-FFF2-40B4-BE49-F238E27FC236}">
                    <a16:creationId xmlns:a16="http://schemas.microsoft.com/office/drawing/2014/main" id="{49445163-25FC-45B6-8BD8-86973F7E5BB5}"/>
                  </a:ext>
                </a:extLst>
              </p:cNvPr>
              <p:cNvSpPr txBox="1">
                <a:spLocks noRot="1" noChangeAspect="1" noMove="1" noResize="1" noEditPoints="1" noAdjustHandles="1" noChangeArrowheads="1" noChangeShapeType="1" noTextEdit="1"/>
              </p:cNvSpPr>
              <p:nvPr/>
            </p:nvSpPr>
            <p:spPr>
              <a:xfrm>
                <a:off x="6300192" y="2534917"/>
                <a:ext cx="2232248" cy="668516"/>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1901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9472"/>
                                        </p:tgtEl>
                                        <p:attrNameLst>
                                          <p:attrName>style.visibility</p:attrName>
                                        </p:attrNameLst>
                                      </p:cBhvr>
                                      <p:to>
                                        <p:strVal val="visible"/>
                                      </p:to>
                                    </p:set>
                                    <p:anim calcmode="lin" valueType="num">
                                      <p:cBhvr additive="base">
                                        <p:cTn id="22" dur="500" fill="hold"/>
                                        <p:tgtEl>
                                          <p:spTgt spid="19472"/>
                                        </p:tgtEl>
                                        <p:attrNameLst>
                                          <p:attrName>ppt_x</p:attrName>
                                        </p:attrNameLst>
                                      </p:cBhvr>
                                      <p:tavLst>
                                        <p:tav tm="0">
                                          <p:val>
                                            <p:strVal val="#ppt_x"/>
                                          </p:val>
                                        </p:tav>
                                        <p:tav tm="100000">
                                          <p:val>
                                            <p:strVal val="#ppt_x"/>
                                          </p:val>
                                        </p:tav>
                                      </p:tavLst>
                                    </p:anim>
                                    <p:anim calcmode="lin" valueType="num">
                                      <p:cBhvr additive="base">
                                        <p:cTn id="23" dur="500" fill="hold"/>
                                        <p:tgtEl>
                                          <p:spTgt spid="194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2"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5" name="标题 1">
            <a:extLst>
              <a:ext uri="{FF2B5EF4-FFF2-40B4-BE49-F238E27FC236}">
                <a16:creationId xmlns:a16="http://schemas.microsoft.com/office/drawing/2014/main" id="{EF90E750-C771-4473-A05C-14CC2DFDBB0C}"/>
              </a:ext>
            </a:extLst>
          </p:cNvPr>
          <p:cNvSpPr>
            <a:spLocks noGrp="1"/>
          </p:cNvSpPr>
          <p:nvPr>
            <p:ph type="title"/>
          </p:nvPr>
        </p:nvSpPr>
        <p:spPr/>
        <p:txBody>
          <a:bodyPr/>
          <a:lstStyle/>
          <a:p>
            <a:r>
              <a:rPr lang="en-US" altLang="zh-CN" dirty="0"/>
              <a:t>5.2  </a:t>
            </a:r>
            <a:r>
              <a:rPr lang="zh-CN" altLang="en-US" dirty="0"/>
              <a:t>周期信号的傅里叶变换</a:t>
            </a:r>
          </a:p>
        </p:txBody>
      </p:sp>
      <p:sp>
        <p:nvSpPr>
          <p:cNvPr id="4" name="灯片编号占位符 3">
            <a:extLst>
              <a:ext uri="{FF2B5EF4-FFF2-40B4-BE49-F238E27FC236}">
                <a16:creationId xmlns:a16="http://schemas.microsoft.com/office/drawing/2014/main" id="{73A962B0-6093-497C-84BE-E4E9047BA6F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27568C-50C2-496E-9EB9-51BF5795AA66}" type="slidenum">
              <a:rPr lang="zh-CN" altLang="en-US">
                <a:solidFill>
                  <a:srgbClr val="898989"/>
                </a:solidFill>
                <a:latin typeface="Calibri" panose="020F0502020204030204" pitchFamily="34" charset="0"/>
              </a:rPr>
              <a:pPr eaLnBrk="1" hangingPunct="1"/>
              <a:t>19</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21519" name="Text Box 18">
                <a:extLst>
                  <a:ext uri="{FF2B5EF4-FFF2-40B4-BE49-F238E27FC236}">
                    <a16:creationId xmlns:a16="http://schemas.microsoft.com/office/drawing/2014/main" id="{1667F384-D031-4752-97D7-54D69E2B92BD}"/>
                  </a:ext>
                </a:extLst>
              </p:cNvPr>
              <p:cNvSpPr txBox="1">
                <a:spLocks noChangeArrowheads="1"/>
              </p:cNvSpPr>
              <p:nvPr/>
            </p:nvSpPr>
            <p:spPr bwMode="auto">
              <a:xfrm>
                <a:off x="971600" y="1422816"/>
                <a:ext cx="3389264"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1</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a:t>
                </a:r>
                <a14:m>
                  <m:oMath xmlns:m="http://schemas.openxmlformats.org/officeDocument/2006/math">
                    <m:r>
                      <a:rPr lang="en-US" sz="2800" i="1" smtClean="0">
                        <a:solidFill>
                          <a:srgbClr val="0000FF"/>
                        </a:solidFill>
                        <a:latin typeface="Cambria Math" panose="02040503050406030204" pitchFamily="18" charset="0"/>
                      </a:rPr>
                      <m:t>𝑥</m:t>
                    </m:r>
                    <m:r>
                      <a:rPr lang="en-US" sz="2800" b="0" i="1" smtClean="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𝑛</m:t>
                    </m:r>
                    <m:r>
                      <a:rPr lang="en-US" sz="2800" b="0" i="1" smtClean="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m:t>
                    </m:r>
                    <m:func>
                      <m:funcPr>
                        <m:ctrlPr>
                          <a:rPr lang="en-US" sz="2800" i="1">
                            <a:solidFill>
                              <a:srgbClr val="0000FF"/>
                            </a:solidFill>
                            <a:latin typeface="Cambria Math" panose="02040503050406030204" pitchFamily="18" charset="0"/>
                          </a:rPr>
                        </m:ctrlPr>
                      </m:funcPr>
                      <m:fName>
                        <m:r>
                          <m:rPr>
                            <m:sty m:val="p"/>
                          </m:rPr>
                          <a:rPr lang="en-US" sz="2800" i="0">
                            <a:solidFill>
                              <a:srgbClr val="0000FF"/>
                            </a:solidFill>
                            <a:latin typeface="Cambria Math" panose="02040503050406030204" pitchFamily="18" charset="0"/>
                          </a:rPr>
                          <m:t>cos</m:t>
                        </m:r>
                      </m:fName>
                      <m:e>
                        <m:sSub>
                          <m:sSubPr>
                            <m:ctrlPr>
                              <a:rPr lang="en-US"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𝜔</m:t>
                            </m:r>
                          </m:e>
                          <m:sub>
                            <m:r>
                              <a:rPr lang="en-US" sz="2800" i="1">
                                <a:solidFill>
                                  <a:srgbClr val="0000FF"/>
                                </a:solidFill>
                                <a:latin typeface="Cambria Math" panose="02040503050406030204" pitchFamily="18" charset="0"/>
                              </a:rPr>
                              <m:t>0</m:t>
                            </m:r>
                          </m:sub>
                        </m:sSub>
                        <m:r>
                          <a:rPr lang="en-US" sz="2800" i="1">
                            <a:solidFill>
                              <a:srgbClr val="0000FF"/>
                            </a:solidFill>
                            <a:latin typeface="Cambria Math" panose="02040503050406030204" pitchFamily="18" charset="0"/>
                          </a:rPr>
                          <m:t>𝑛</m:t>
                        </m:r>
                      </m:e>
                    </m:func>
                  </m:oMath>
                </a14:m>
                <a:endPar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21519" name="Text Box 18">
                <a:extLst>
                  <a:ext uri="{FF2B5EF4-FFF2-40B4-BE49-F238E27FC236}">
                    <a16:creationId xmlns:a16="http://schemas.microsoft.com/office/drawing/2014/main" id="{1667F384-D031-4752-97D7-54D69E2B92BD}"/>
                  </a:ext>
                </a:extLst>
              </p:cNvPr>
              <p:cNvSpPr txBox="1">
                <a:spLocks noRot="1" noChangeAspect="1" noMove="1" noResize="1" noEditPoints="1" noAdjustHandles="1" noChangeArrowheads="1" noChangeShapeType="1" noTextEdit="1"/>
              </p:cNvSpPr>
              <p:nvPr/>
            </p:nvSpPr>
            <p:spPr bwMode="auto">
              <a:xfrm>
                <a:off x="971600" y="1422816"/>
                <a:ext cx="3389264" cy="523220"/>
              </a:xfrm>
              <a:prstGeom prst="rect">
                <a:avLst/>
              </a:prstGeom>
              <a:blipFill>
                <a:blip r:embed="rId3"/>
                <a:stretch>
                  <a:fillRect l="-3597" t="-13953"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3">
                <a:extLst>
                  <a:ext uri="{FF2B5EF4-FFF2-40B4-BE49-F238E27FC236}">
                    <a16:creationId xmlns:a16="http://schemas.microsoft.com/office/drawing/2014/main" id="{C5E1660A-7D28-4358-A42E-101EBB8854C6}"/>
                  </a:ext>
                </a:extLst>
              </p:cNvPr>
              <p:cNvSpPr txBox="1"/>
              <p:nvPr/>
            </p:nvSpPr>
            <p:spPr bwMode="auto">
              <a:xfrm>
                <a:off x="683568" y="2315500"/>
                <a:ext cx="8153721" cy="1183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600" i="1">
                          <a:solidFill>
                            <a:srgbClr val="000000"/>
                          </a:solidFill>
                          <a:latin typeface="Cambria Math" panose="02040503050406030204" pitchFamily="18" charset="0"/>
                        </a:rPr>
                        <m:t>𝑋</m:t>
                      </m:r>
                      <m:r>
                        <a:rPr lang="en-US" sz="2600" i="1">
                          <a:solidFill>
                            <a:srgbClr val="000000"/>
                          </a:solidFill>
                          <a:latin typeface="Cambria Math" panose="02040503050406030204" pitchFamily="18" charset="0"/>
                        </a:rPr>
                        <m:t>(</m:t>
                      </m:r>
                      <m:sSup>
                        <m:sSupPr>
                          <m:ctrlPr>
                            <a:rPr lang="en-US" sz="2600" i="1">
                              <a:solidFill>
                                <a:srgbClr val="000000"/>
                              </a:solidFill>
                              <a:latin typeface="Cambria Math" panose="02040503050406030204" pitchFamily="18" charset="0"/>
                            </a:rPr>
                          </m:ctrlPr>
                        </m:sSupPr>
                        <m:e>
                          <m:r>
                            <m:rPr>
                              <m:sty m:val="p"/>
                            </m:rPr>
                            <a:rPr lang="en-US" sz="2600" i="0">
                              <a:solidFill>
                                <a:srgbClr val="000000"/>
                              </a:solidFill>
                              <a:latin typeface="Cambria Math" panose="02040503050406030204" pitchFamily="18" charset="0"/>
                            </a:rPr>
                            <m:t>e</m:t>
                          </m:r>
                        </m:e>
                        <m:sup>
                          <m:r>
                            <m:rPr>
                              <m:sty m:val="p"/>
                            </m:rPr>
                            <a:rPr lang="en-US" sz="2600" i="0">
                              <a:solidFill>
                                <a:srgbClr val="000000"/>
                              </a:solidFill>
                              <a:latin typeface="Cambria Math" panose="02040503050406030204" pitchFamily="18" charset="0"/>
                            </a:rPr>
                            <m:t>j</m:t>
                          </m:r>
                          <m:r>
                            <a:rPr lang="en-US" sz="2600" i="1">
                              <a:solidFill>
                                <a:srgbClr val="000000"/>
                              </a:solidFill>
                              <a:latin typeface="Cambria Math" panose="02040503050406030204" pitchFamily="18" charset="0"/>
                            </a:rPr>
                            <m:t>𝜔</m:t>
                          </m:r>
                        </m:sup>
                      </m:sSup>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𝜋</m:t>
                      </m:r>
                      <m:nary>
                        <m:naryPr>
                          <m:chr m:val="∑"/>
                          <m:ctrlPr>
                            <a:rPr lang="en-US" sz="2600" i="1">
                              <a:solidFill>
                                <a:srgbClr val="000000"/>
                              </a:solidFill>
                              <a:latin typeface="Cambria Math" panose="02040503050406030204" pitchFamily="18" charset="0"/>
                            </a:rPr>
                          </m:ctrlPr>
                        </m:naryPr>
                        <m:sub>
                          <m:r>
                            <a:rPr lang="en-US" sz="2600" i="1">
                              <a:solidFill>
                                <a:srgbClr val="000000"/>
                              </a:solidFill>
                              <a:latin typeface="Cambria Math" panose="02040503050406030204" pitchFamily="18" charset="0"/>
                            </a:rPr>
                            <m:t>𝑘</m:t>
                          </m:r>
                          <m:r>
                            <a:rPr lang="en-US" sz="2600" i="1">
                              <a:solidFill>
                                <a:srgbClr val="000000"/>
                              </a:solidFill>
                              <a:latin typeface="Cambria Math" panose="02040503050406030204" pitchFamily="18" charset="0"/>
                            </a:rPr>
                            <m:t>=−∞</m:t>
                          </m:r>
                        </m:sub>
                        <m:sup>
                          <m:r>
                            <a:rPr lang="en-US" sz="2600" i="1">
                              <a:solidFill>
                                <a:srgbClr val="000000"/>
                              </a:solidFill>
                              <a:latin typeface="Cambria Math" panose="02040503050406030204" pitchFamily="18" charset="0"/>
                            </a:rPr>
                            <m:t>∞</m:t>
                          </m:r>
                        </m:sup>
                        <m:e>
                          <m:d>
                            <m:dPr>
                              <m:begChr m:val="["/>
                              <m:endChr m:val="]"/>
                              <m:ctrlPr>
                                <a:rPr lang="en-US" sz="2600" i="1">
                                  <a:solidFill>
                                    <a:srgbClr val="000000"/>
                                  </a:solidFill>
                                  <a:latin typeface="Cambria Math" panose="02040503050406030204" pitchFamily="18" charset="0"/>
                                </a:rPr>
                              </m:ctrlPr>
                            </m:dPr>
                            <m:e>
                              <m:r>
                                <a:rPr lang="en-US" sz="2600" i="1">
                                  <a:solidFill>
                                    <a:srgbClr val="000000"/>
                                  </a:solidFill>
                                  <a:latin typeface="Cambria Math" panose="02040503050406030204" pitchFamily="18" charset="0"/>
                                </a:rPr>
                                <m:t>𝛿</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𝜔</m:t>
                              </m:r>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𝜔</m:t>
                                  </m:r>
                                </m:e>
                                <m:sub>
                                  <m:r>
                                    <a:rPr lang="en-US" sz="2600" i="1">
                                      <a:solidFill>
                                        <a:srgbClr val="000000"/>
                                      </a:solidFill>
                                      <a:latin typeface="Cambria Math" panose="02040503050406030204" pitchFamily="18" charset="0"/>
                                    </a:rPr>
                                    <m:t>0</m:t>
                                  </m:r>
                                </m:sub>
                              </m:sSub>
                              <m:r>
                                <a:rPr lang="en-US" sz="2600" i="1">
                                  <a:solidFill>
                                    <a:srgbClr val="000000"/>
                                  </a:solidFill>
                                  <a:latin typeface="Cambria Math" panose="02040503050406030204" pitchFamily="18" charset="0"/>
                                </a:rPr>
                                <m:t>−2</m:t>
                              </m:r>
                              <m:r>
                                <a:rPr lang="en-US" sz="2600" i="1">
                                  <a:solidFill>
                                    <a:srgbClr val="000000"/>
                                  </a:solidFill>
                                  <a:latin typeface="Cambria Math" panose="02040503050406030204" pitchFamily="18" charset="0"/>
                                </a:rPr>
                                <m:t>𝜋</m:t>
                              </m:r>
                              <m:r>
                                <a:rPr lang="en-US" sz="2600" i="1">
                                  <a:solidFill>
                                    <a:srgbClr val="000000"/>
                                  </a:solidFill>
                                  <a:latin typeface="Cambria Math" panose="02040503050406030204" pitchFamily="18" charset="0"/>
                                </a:rPr>
                                <m:t>𝑘</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𝛿</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𝜔</m:t>
                              </m:r>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𝜔</m:t>
                                  </m:r>
                                </m:e>
                                <m:sub>
                                  <m:r>
                                    <a:rPr lang="en-US" sz="2600" i="1">
                                      <a:solidFill>
                                        <a:srgbClr val="000000"/>
                                      </a:solidFill>
                                      <a:latin typeface="Cambria Math" panose="02040503050406030204" pitchFamily="18" charset="0"/>
                                    </a:rPr>
                                    <m:t>0</m:t>
                                  </m:r>
                                </m:sub>
                              </m:sSub>
                              <m:r>
                                <a:rPr lang="en-US" sz="2600" i="1">
                                  <a:solidFill>
                                    <a:srgbClr val="000000"/>
                                  </a:solidFill>
                                  <a:latin typeface="Cambria Math" panose="02040503050406030204" pitchFamily="18" charset="0"/>
                                </a:rPr>
                                <m:t>−2</m:t>
                              </m:r>
                              <m:r>
                                <a:rPr lang="en-US" sz="2600" i="1">
                                  <a:solidFill>
                                    <a:srgbClr val="000000"/>
                                  </a:solidFill>
                                  <a:latin typeface="Cambria Math" panose="02040503050406030204" pitchFamily="18" charset="0"/>
                                </a:rPr>
                                <m:t>𝜋</m:t>
                              </m:r>
                              <m:r>
                                <a:rPr lang="en-US" sz="2600" i="1">
                                  <a:solidFill>
                                    <a:srgbClr val="000000"/>
                                  </a:solidFill>
                                  <a:latin typeface="Cambria Math" panose="02040503050406030204" pitchFamily="18" charset="0"/>
                                </a:rPr>
                                <m:t>𝑘</m:t>
                              </m:r>
                              <m:r>
                                <a:rPr lang="en-US" sz="2600" i="1">
                                  <a:solidFill>
                                    <a:srgbClr val="000000"/>
                                  </a:solidFill>
                                  <a:latin typeface="Cambria Math" panose="02040503050406030204" pitchFamily="18" charset="0"/>
                                </a:rPr>
                                <m:t>)</m:t>
                              </m:r>
                            </m:e>
                          </m:d>
                        </m:e>
                      </m:nary>
                    </m:oMath>
                  </m:oMathPara>
                </a14:m>
                <a:endParaRPr lang="en-US" sz="2600" dirty="0"/>
              </a:p>
            </p:txBody>
          </p:sp>
        </mc:Choice>
        <mc:Fallback xmlns="">
          <p:sp>
            <p:nvSpPr>
              <p:cNvPr id="23" name="Object 3">
                <a:extLst>
                  <a:ext uri="{FF2B5EF4-FFF2-40B4-BE49-F238E27FC236}">
                    <a16:creationId xmlns:a16="http://schemas.microsoft.com/office/drawing/2014/main" id="{C5E1660A-7D28-4358-A42E-101EBB8854C6}"/>
                  </a:ext>
                </a:extLst>
              </p:cNvPr>
              <p:cNvSpPr txBox="1">
                <a:spLocks noRot="1" noChangeAspect="1" noMove="1" noResize="1" noEditPoints="1" noAdjustHandles="1" noChangeArrowheads="1" noChangeShapeType="1" noTextEdit="1"/>
              </p:cNvSpPr>
              <p:nvPr/>
            </p:nvSpPr>
            <p:spPr bwMode="auto">
              <a:xfrm>
                <a:off x="683568" y="2315500"/>
                <a:ext cx="8153721" cy="1183273"/>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BDA20A40-9B5D-4FD7-9D21-4FCDEFFD284C}"/>
                  </a:ext>
                </a:extLst>
              </p:cNvPr>
              <p:cNvSpPr txBox="1"/>
              <p:nvPr/>
            </p:nvSpPr>
            <p:spPr>
              <a:xfrm>
                <a:off x="4227471" y="1213288"/>
                <a:ext cx="3294106" cy="898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0</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0</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lang="en-US" dirty="0"/>
              </a:p>
            </p:txBody>
          </p:sp>
        </mc:Choice>
        <mc:Fallback xmlns="">
          <p:sp>
            <p:nvSpPr>
              <p:cNvPr id="58" name="文本框 57">
                <a:extLst>
                  <a:ext uri="{FF2B5EF4-FFF2-40B4-BE49-F238E27FC236}">
                    <a16:creationId xmlns:a16="http://schemas.microsoft.com/office/drawing/2014/main" id="{BDA20A40-9B5D-4FD7-9D21-4FCDEFFD284C}"/>
                  </a:ext>
                </a:extLst>
              </p:cNvPr>
              <p:cNvSpPr txBox="1">
                <a:spLocks noRot="1" noChangeAspect="1" noMove="1" noResize="1" noEditPoints="1" noAdjustHandles="1" noChangeArrowheads="1" noChangeShapeType="1" noTextEdit="1"/>
              </p:cNvSpPr>
              <p:nvPr/>
            </p:nvSpPr>
            <p:spPr>
              <a:xfrm>
                <a:off x="4227471" y="1213288"/>
                <a:ext cx="3294106" cy="898964"/>
              </a:xfrm>
              <a:prstGeom prst="rect">
                <a:avLst/>
              </a:prstGeom>
              <a:blipFill>
                <a:blip r:embed="rId58"/>
                <a:stretch>
                  <a:fillRect/>
                </a:stretch>
              </a:blipFill>
            </p:spPr>
            <p:txBody>
              <a:bodyPr/>
              <a:lstStyle/>
              <a:p>
                <a:r>
                  <a:rPr lang="en-US">
                    <a:noFill/>
                  </a:rPr>
                  <a:t> </a:t>
                </a:r>
              </a:p>
            </p:txBody>
          </p:sp>
        </mc:Fallback>
      </mc:AlternateContent>
      <p:grpSp>
        <p:nvGrpSpPr>
          <p:cNvPr id="53" name="Group 36">
            <a:extLst>
              <a:ext uri="{FF2B5EF4-FFF2-40B4-BE49-F238E27FC236}">
                <a16:creationId xmlns:a16="http://schemas.microsoft.com/office/drawing/2014/main" id="{C77EE2F3-63E2-4AFE-8021-F9FED4BDA6E7}"/>
              </a:ext>
            </a:extLst>
          </p:cNvPr>
          <p:cNvGrpSpPr>
            <a:grpSpLocks/>
          </p:cNvGrpSpPr>
          <p:nvPr/>
        </p:nvGrpSpPr>
        <p:grpSpPr bwMode="auto">
          <a:xfrm>
            <a:off x="1568301" y="4149080"/>
            <a:ext cx="6216650" cy="2105025"/>
            <a:chOff x="997" y="2649"/>
            <a:chExt cx="3916" cy="1326"/>
          </a:xfrm>
        </p:grpSpPr>
        <mc:AlternateContent xmlns:mc="http://schemas.openxmlformats.org/markup-compatibility/2006" xmlns:a14="http://schemas.microsoft.com/office/drawing/2010/main">
          <mc:Choice Requires="a14">
            <p:graphicFrame>
              <p:nvGraphicFramePr>
                <p:cNvPr id="54" name="Object 4">
                  <a:extLst>
                    <a:ext uri="{FF2B5EF4-FFF2-40B4-BE49-F238E27FC236}">
                      <a16:creationId xmlns:a16="http://schemas.microsoft.com/office/drawing/2014/main" id="{F7852D84-A614-428A-86D6-EBC1D20C1128}"/>
                    </a:ext>
                  </a:extLst>
                </p:cNvPr>
                <p:cNvGraphicFramePr>
                  <a:graphicFrameLocks noChangeAspect="1"/>
                </p:cNvGraphicFramePr>
                <p:nvPr/>
              </p:nvGraphicFramePr>
              <p:xfrm>
                <a:off x="2938" y="2649"/>
                <a:ext cx="592" cy="298"/>
              </p:xfrm>
              <a:graphic>
                <a:graphicData uri="http://schemas.openxmlformats.org/presentationml/2006/ole">
                  <mc:AlternateContent>
                    <mc:Choice xmlns:v="urn:schemas-microsoft-com:vml" Requires="v">
                      <p:oleObj spid="_x0000_s15388" name="Equation" r:id="rId59" imgW="469800" imgH="228600" progId="Equation.DSMT4">
                        <p:embed/>
                      </p:oleObj>
                    </mc:Choice>
                    <mc:Fallback>
                      <p:oleObj name="Equation" r:id="rId59" imgW="469800" imgH="228600" progId="Equation.DSMT4">
                        <p:embed/>
                        <p:pic>
                          <p:nvPicPr>
                            <p:cNvPr id="54" name="Object 4">
                              <a:extLst>
                                <a:ext uri="{FF2B5EF4-FFF2-40B4-BE49-F238E27FC236}">
                                  <a16:creationId xmlns:a16="http://schemas.microsoft.com/office/drawing/2014/main" id="{F7852D84-A614-428A-86D6-EBC1D20C1128}"/>
                                </a:ext>
                              </a:extLst>
                            </p:cNvPr>
                            <p:cNvPicPr>
                              <a:picLocks noChangeAspect="1" noChangeArrowheads="1"/>
                            </p:cNvPicPr>
                            <p:nvPr/>
                          </p:nvPicPr>
                          <p:blipFill>
                            <a:blip r:embed="rId60"/>
                            <a:srcRect/>
                            <a:stretch>
                              <a:fillRect/>
                            </a:stretch>
                          </p:blipFill>
                          <p:spPr bwMode="auto">
                            <a:xfrm>
                              <a:off x="2938" y="2649"/>
                              <a:ext cx="592" cy="29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29" name="Object 4">
                  <a:extLst>
                    <a:ext uri="{FF2B5EF4-FFF2-40B4-BE49-F238E27FC236}">
                      <a16:creationId xmlns:a16="http://schemas.microsoft.com/office/drawing/2014/main" id="{ECD5E4DF-35F0-4596-ABB3-B836408A2727}"/>
                    </a:ext>
                  </a:extLst>
                </p:cNvPr>
                <p:cNvGraphicFramePr>
                  <a:graphicFrameLocks noChangeAspect="1"/>
                </p:cNvGraphicFramePr>
                <p:nvPr/>
              </p:nvGraphicFramePr>
              <p:xfrm>
                <a:off x="2930" y="2649"/>
                <a:ext cx="608" cy="298"/>
              </p:xfrm>
              <a:graphic>
                <a:graphicData uri="http://schemas.openxmlformats.org/presentationml/2006/ole">
                  <mc:AlternateContent>
                    <mc:Choice xmlns:v="urn:schemas-microsoft-com:vml" Requires="v">
                      <p:oleObj name="公式" r:id="rId7" imgW="482400" imgH="228600" progId="Equation.3">
                        <p:embed/>
                      </p:oleObj>
                    </mc:Choice>
                    <mc:Fallback>
                      <p:oleObj name="公式" r:id="rId7" imgW="482400" imgH="228600" progId="Equation.3">
                        <p:embed/>
                        <p:pic>
                          <p:nvPicPr>
                            <p:cNvPr id="686084" name="Object 4">
                              <a:extLst>
                                <a:ext uri="{FF2B5EF4-FFF2-40B4-BE49-F238E27FC236}">
                                  <a16:creationId xmlns:a16="http://schemas.microsoft.com/office/drawing/2014/main" id="{C9656479-C05C-4842-BAD2-E96423CB4F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0" y="2649"/>
                              <a:ext cx="608"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5" name="Object 5">
                  <a:extLst>
                    <a:ext uri="{FF2B5EF4-FFF2-40B4-BE49-F238E27FC236}">
                      <a16:creationId xmlns:a16="http://schemas.microsoft.com/office/drawing/2014/main" id="{8B5F0D17-2AC0-4CB4-80A0-A00D1BA8E2DD}"/>
                    </a:ext>
                  </a:extLst>
                </p:cNvPr>
                <p:cNvGraphicFramePr>
                  <a:graphicFrameLocks noChangeAspect="1"/>
                </p:cNvGraphicFramePr>
                <p:nvPr/>
              </p:nvGraphicFramePr>
              <p:xfrm>
                <a:off x="997" y="3711"/>
                <a:ext cx="621" cy="252"/>
              </p:xfrm>
              <a:graphic>
                <a:graphicData uri="http://schemas.openxmlformats.org/presentationml/2006/ole">
                  <mc:AlternateContent>
                    <mc:Choice xmlns:v="urn:schemas-microsoft-com:vml" Requires="v">
                      <p:oleObj spid="_x0000_s15389" name="Equation" r:id="rId61" imgW="583920" imgH="228600" progId="Equation.DSMT4">
                        <p:embed/>
                      </p:oleObj>
                    </mc:Choice>
                    <mc:Fallback>
                      <p:oleObj name="Equation" r:id="rId61" imgW="583920" imgH="228600" progId="Equation.DSMT4">
                        <p:embed/>
                        <p:pic>
                          <p:nvPicPr>
                            <p:cNvPr id="55" name="Object 5">
                              <a:extLst>
                                <a:ext uri="{FF2B5EF4-FFF2-40B4-BE49-F238E27FC236}">
                                  <a16:creationId xmlns:a16="http://schemas.microsoft.com/office/drawing/2014/main" id="{8B5F0D17-2AC0-4CB4-80A0-A00D1BA8E2DD}"/>
                                </a:ext>
                              </a:extLst>
                            </p:cNvPr>
                            <p:cNvPicPr>
                              <a:picLocks noChangeAspect="1" noChangeArrowheads="1"/>
                            </p:cNvPicPr>
                            <p:nvPr/>
                          </p:nvPicPr>
                          <p:blipFill>
                            <a:blip r:embed="rId62"/>
                            <a:srcRect/>
                            <a:stretch>
                              <a:fillRect/>
                            </a:stretch>
                          </p:blipFill>
                          <p:spPr bwMode="auto">
                            <a:xfrm>
                              <a:off x="997" y="3711"/>
                              <a:ext cx="621" cy="25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0" name="Object 5">
                  <a:extLst>
                    <a:ext uri="{FF2B5EF4-FFF2-40B4-BE49-F238E27FC236}">
                      <a16:creationId xmlns:a16="http://schemas.microsoft.com/office/drawing/2014/main" id="{D533BCED-B480-4AAB-A567-D391784A4263}"/>
                    </a:ext>
                  </a:extLst>
                </p:cNvPr>
                <p:cNvGraphicFramePr>
                  <a:graphicFrameLocks noChangeAspect="1"/>
                </p:cNvGraphicFramePr>
                <p:nvPr/>
              </p:nvGraphicFramePr>
              <p:xfrm>
                <a:off x="984" y="3711"/>
                <a:ext cx="648" cy="252"/>
              </p:xfrm>
              <a:graphic>
                <a:graphicData uri="http://schemas.openxmlformats.org/presentationml/2006/ole">
                  <mc:AlternateContent>
                    <mc:Choice xmlns:v="urn:schemas-microsoft-com:vml" Requires="v">
                      <p:oleObj name="公式" r:id="rId11" imgW="609480" imgH="228600" progId="Equation.3">
                        <p:embed/>
                      </p:oleObj>
                    </mc:Choice>
                    <mc:Fallback>
                      <p:oleObj name="公式" r:id="rId11" imgW="609480" imgH="228600" progId="Equation.3">
                        <p:embed/>
                        <p:pic>
                          <p:nvPicPr>
                            <p:cNvPr id="686085" name="Object 5">
                              <a:extLst>
                                <a:ext uri="{FF2B5EF4-FFF2-40B4-BE49-F238E27FC236}">
                                  <a16:creationId xmlns:a16="http://schemas.microsoft.com/office/drawing/2014/main" id="{E2442A08-2276-4A36-A9E6-17C19E08211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84" y="3711"/>
                              <a:ext cx="648"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6" name="Object 6">
                  <a:extLst>
                    <a:ext uri="{FF2B5EF4-FFF2-40B4-BE49-F238E27FC236}">
                      <a16:creationId xmlns:a16="http://schemas.microsoft.com/office/drawing/2014/main" id="{789B2B22-031E-40BD-A8D9-A20063E16C55}"/>
                    </a:ext>
                  </a:extLst>
                </p:cNvPr>
                <p:cNvGraphicFramePr>
                  <a:graphicFrameLocks noChangeAspect="1"/>
                </p:cNvGraphicFramePr>
                <p:nvPr/>
              </p:nvGraphicFramePr>
              <p:xfrm>
                <a:off x="1519" y="3467"/>
                <a:ext cx="321" cy="194"/>
              </p:xfrm>
              <a:graphic>
                <a:graphicData uri="http://schemas.openxmlformats.org/presentationml/2006/ole">
                  <mc:AlternateContent>
                    <mc:Choice xmlns:v="urn:schemas-microsoft-com:vml" Requires="v">
                      <p:oleObj spid="_x0000_s15390" name="Equation" r:id="rId63" imgW="304560" imgH="177480" progId="Equation.DSMT4">
                        <p:embed/>
                      </p:oleObj>
                    </mc:Choice>
                    <mc:Fallback>
                      <p:oleObj name="Equation" r:id="rId63" imgW="304560" imgH="177480" progId="Equation.DSMT4">
                        <p:embed/>
                        <p:pic>
                          <p:nvPicPr>
                            <p:cNvPr id="56" name="Object 6">
                              <a:extLst>
                                <a:ext uri="{FF2B5EF4-FFF2-40B4-BE49-F238E27FC236}">
                                  <a16:creationId xmlns:a16="http://schemas.microsoft.com/office/drawing/2014/main" id="{789B2B22-031E-40BD-A8D9-A20063E16C55}"/>
                                </a:ext>
                              </a:extLst>
                            </p:cNvPr>
                            <p:cNvPicPr>
                              <a:picLocks noChangeAspect="1" noChangeArrowheads="1"/>
                            </p:cNvPicPr>
                            <p:nvPr/>
                          </p:nvPicPr>
                          <p:blipFill>
                            <a:blip r:embed="rId64"/>
                            <a:srcRect/>
                            <a:stretch>
                              <a:fillRect/>
                            </a:stretch>
                          </p:blipFill>
                          <p:spPr bwMode="auto">
                            <a:xfrm>
                              <a:off x="1519" y="3467"/>
                              <a:ext cx="321" cy="19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1" name="Object 6">
                  <a:extLst>
                    <a:ext uri="{FF2B5EF4-FFF2-40B4-BE49-F238E27FC236}">
                      <a16:creationId xmlns:a16="http://schemas.microsoft.com/office/drawing/2014/main" id="{30671878-F17E-476C-A96A-DD04F2361454}"/>
                    </a:ext>
                  </a:extLst>
                </p:cNvPr>
                <p:cNvGraphicFramePr>
                  <a:graphicFrameLocks noChangeAspect="1"/>
                </p:cNvGraphicFramePr>
                <p:nvPr/>
              </p:nvGraphicFramePr>
              <p:xfrm>
                <a:off x="1506" y="3467"/>
                <a:ext cx="348" cy="194"/>
              </p:xfrm>
              <a:graphic>
                <a:graphicData uri="http://schemas.openxmlformats.org/presentationml/2006/ole">
                  <mc:AlternateContent>
                    <mc:Choice xmlns:v="urn:schemas-microsoft-com:vml" Requires="v">
                      <p:oleObj name="公式" r:id="rId15" imgW="330120" imgH="177480" progId="Equation.3">
                        <p:embed/>
                      </p:oleObj>
                    </mc:Choice>
                    <mc:Fallback>
                      <p:oleObj name="公式" r:id="rId15" imgW="330120" imgH="177480" progId="Equation.3">
                        <p:embed/>
                        <p:pic>
                          <p:nvPicPr>
                            <p:cNvPr id="686086" name="Object 6">
                              <a:extLst>
                                <a:ext uri="{FF2B5EF4-FFF2-40B4-BE49-F238E27FC236}">
                                  <a16:creationId xmlns:a16="http://schemas.microsoft.com/office/drawing/2014/main" id="{E2D59413-C9CC-4209-A3B6-3F5DFB1E840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6" y="3467"/>
                              <a:ext cx="348"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7" name="Object 7">
                  <a:extLst>
                    <a:ext uri="{FF2B5EF4-FFF2-40B4-BE49-F238E27FC236}">
                      <a16:creationId xmlns:a16="http://schemas.microsoft.com/office/drawing/2014/main" id="{BD0010D7-2A0E-4A0F-86EF-9F51F64849F0}"/>
                    </a:ext>
                  </a:extLst>
                </p:cNvPr>
                <p:cNvGraphicFramePr>
                  <a:graphicFrameLocks noChangeAspect="1"/>
                </p:cNvGraphicFramePr>
                <p:nvPr/>
              </p:nvGraphicFramePr>
              <p:xfrm>
                <a:off x="1706" y="3720"/>
                <a:ext cx="625" cy="243"/>
              </p:xfrm>
              <a:graphic>
                <a:graphicData uri="http://schemas.openxmlformats.org/presentationml/2006/ole">
                  <mc:AlternateContent>
                    <mc:Choice xmlns:v="urn:schemas-microsoft-com:vml" Requires="v">
                      <p:oleObj spid="_x0000_s15391" name="公式" r:id="rId65" imgW="609480" imgH="228600" progId="Equation.3">
                        <p:embed/>
                      </p:oleObj>
                    </mc:Choice>
                    <mc:Fallback>
                      <p:oleObj name="公式" r:id="rId65" imgW="609480" imgH="228600" progId="Equation.3">
                        <p:embed/>
                        <p:pic>
                          <p:nvPicPr>
                            <p:cNvPr id="57" name="Object 7">
                              <a:extLst>
                                <a:ext uri="{FF2B5EF4-FFF2-40B4-BE49-F238E27FC236}">
                                  <a16:creationId xmlns:a16="http://schemas.microsoft.com/office/drawing/2014/main" id="{BD0010D7-2A0E-4A0F-86EF-9F51F64849F0}"/>
                                </a:ext>
                              </a:extLst>
                            </p:cNvPr>
                            <p:cNvPicPr>
                              <a:picLocks noChangeAspect="1" noChangeArrowheads="1"/>
                            </p:cNvPicPr>
                            <p:nvPr/>
                          </p:nvPicPr>
                          <p:blipFill>
                            <a:blip r:embed="rId66">
                              <a:extLst>
                                <a:ext uri="{28A0092B-C50C-407E-A947-70E740481C1C}">
                                  <a14:useLocalDpi val="0"/>
                                </a:ext>
                              </a:extLst>
                            </a:blip>
                            <a:srcRect/>
                            <a:stretch>
                              <a:fillRect/>
                            </a:stretch>
                          </p:blipFill>
                          <p:spPr bwMode="auto">
                            <a:xfrm>
                              <a:off x="1706" y="3720"/>
                              <a:ext cx="625" cy="243"/>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2" name="Object 7">
                  <a:extLst>
                    <a:ext uri="{FF2B5EF4-FFF2-40B4-BE49-F238E27FC236}">
                      <a16:creationId xmlns:a16="http://schemas.microsoft.com/office/drawing/2014/main" id="{49FD8615-6B4E-4ED4-AB84-B9A9B6240ACC}"/>
                    </a:ext>
                  </a:extLst>
                </p:cNvPr>
                <p:cNvGraphicFramePr>
                  <a:graphicFrameLocks noChangeAspect="1"/>
                </p:cNvGraphicFramePr>
                <p:nvPr/>
              </p:nvGraphicFramePr>
              <p:xfrm>
                <a:off x="1706" y="3720"/>
                <a:ext cx="625" cy="243"/>
              </p:xfrm>
              <a:graphic>
                <a:graphicData uri="http://schemas.openxmlformats.org/presentationml/2006/ole">
                  <mc:AlternateContent>
                    <mc:Choice xmlns:v="urn:schemas-microsoft-com:vml" Requires="v">
                      <p:oleObj name="公式" r:id="rId19" imgW="609480" imgH="228600" progId="Equation.3">
                        <p:embed/>
                      </p:oleObj>
                    </mc:Choice>
                    <mc:Fallback>
                      <p:oleObj name="公式" r:id="rId19" imgW="609480" imgH="228600" progId="Equation.3">
                        <p:embed/>
                        <p:pic>
                          <p:nvPicPr>
                            <p:cNvPr id="686087" name="Object 7">
                              <a:extLst>
                                <a:ext uri="{FF2B5EF4-FFF2-40B4-BE49-F238E27FC236}">
                                  <a16:creationId xmlns:a16="http://schemas.microsoft.com/office/drawing/2014/main" id="{CDD2B798-99B8-4CFF-9F72-A47B66B7050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06" y="3720"/>
                              <a:ext cx="625"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9" name="Object 8">
                  <a:extLst>
                    <a:ext uri="{FF2B5EF4-FFF2-40B4-BE49-F238E27FC236}">
                      <a16:creationId xmlns:a16="http://schemas.microsoft.com/office/drawing/2014/main" id="{2D897288-00CE-4FCC-AC7E-918D23D956C0}"/>
                    </a:ext>
                  </a:extLst>
                </p:cNvPr>
                <p:cNvGraphicFramePr>
                  <a:graphicFrameLocks noChangeAspect="1"/>
                </p:cNvGraphicFramePr>
                <p:nvPr/>
              </p:nvGraphicFramePr>
              <p:xfrm>
                <a:off x="2435" y="3666"/>
                <a:ext cx="312" cy="264"/>
              </p:xfrm>
              <a:graphic>
                <a:graphicData uri="http://schemas.openxmlformats.org/presentationml/2006/ole">
                  <mc:AlternateContent>
                    <mc:Choice xmlns:v="urn:schemas-microsoft-com:vml" Requires="v">
                      <p:oleObj spid="_x0000_s15392" name="公式" r:id="rId67" imgW="304560" imgH="228600" progId="Equation.3">
                        <p:embed/>
                      </p:oleObj>
                    </mc:Choice>
                    <mc:Fallback>
                      <p:oleObj name="公式" r:id="rId67" imgW="304560" imgH="228600" progId="Equation.3">
                        <p:embed/>
                        <p:pic>
                          <p:nvPicPr>
                            <p:cNvPr id="59" name="Object 8">
                              <a:extLst>
                                <a:ext uri="{FF2B5EF4-FFF2-40B4-BE49-F238E27FC236}">
                                  <a16:creationId xmlns:a16="http://schemas.microsoft.com/office/drawing/2014/main" id="{2D897288-00CE-4FCC-AC7E-918D23D956C0}"/>
                                </a:ext>
                              </a:extLst>
                            </p:cNvPr>
                            <p:cNvPicPr>
                              <a:picLocks noChangeAspect="1" noChangeArrowheads="1"/>
                            </p:cNvPicPr>
                            <p:nvPr/>
                          </p:nvPicPr>
                          <p:blipFill>
                            <a:blip r:embed="rId68">
                              <a:extLst>
                                <a:ext uri="{28A0092B-C50C-407E-A947-70E740481C1C}">
                                  <a14:useLocalDpi val="0"/>
                                </a:ext>
                              </a:extLst>
                            </a:blip>
                            <a:srcRect/>
                            <a:stretch>
                              <a:fillRect/>
                            </a:stretch>
                          </p:blipFill>
                          <p:spPr bwMode="auto">
                            <a:xfrm>
                              <a:off x="2435" y="3666"/>
                              <a:ext cx="312" cy="26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3" name="Object 8">
                  <a:extLst>
                    <a:ext uri="{FF2B5EF4-FFF2-40B4-BE49-F238E27FC236}">
                      <a16:creationId xmlns:a16="http://schemas.microsoft.com/office/drawing/2014/main" id="{7EBFDAC9-2A19-4B4D-BF01-CDC895D7DA55}"/>
                    </a:ext>
                  </a:extLst>
                </p:cNvPr>
                <p:cNvGraphicFramePr>
                  <a:graphicFrameLocks noChangeAspect="1"/>
                </p:cNvGraphicFramePr>
                <p:nvPr/>
              </p:nvGraphicFramePr>
              <p:xfrm>
                <a:off x="2435" y="3666"/>
                <a:ext cx="312" cy="264"/>
              </p:xfrm>
              <a:graphic>
                <a:graphicData uri="http://schemas.openxmlformats.org/presentationml/2006/ole">
                  <mc:AlternateContent>
                    <mc:Choice xmlns:v="urn:schemas-microsoft-com:vml" Requires="v">
                      <p:oleObj name="公式" r:id="rId23" imgW="304560" imgH="228600" progId="Equation.3">
                        <p:embed/>
                      </p:oleObj>
                    </mc:Choice>
                    <mc:Fallback>
                      <p:oleObj name="公式" r:id="rId23" imgW="304560" imgH="228600" progId="Equation.3">
                        <p:embed/>
                        <p:pic>
                          <p:nvPicPr>
                            <p:cNvPr id="686088" name="Object 8">
                              <a:extLst>
                                <a:ext uri="{FF2B5EF4-FFF2-40B4-BE49-F238E27FC236}">
                                  <a16:creationId xmlns:a16="http://schemas.microsoft.com/office/drawing/2014/main" id="{3EFE4557-8173-4313-A5B3-820B7F67C11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35" y="3666"/>
                              <a:ext cx="312"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0" name="Object 9">
                  <a:extLst>
                    <a:ext uri="{FF2B5EF4-FFF2-40B4-BE49-F238E27FC236}">
                      <a16:creationId xmlns:a16="http://schemas.microsoft.com/office/drawing/2014/main" id="{DF210BB2-67F9-45F2-B670-3294941DF52B}"/>
                    </a:ext>
                  </a:extLst>
                </p:cNvPr>
                <p:cNvGraphicFramePr>
                  <a:graphicFrameLocks noChangeAspect="1"/>
                </p:cNvGraphicFramePr>
                <p:nvPr/>
              </p:nvGraphicFramePr>
              <p:xfrm>
                <a:off x="2784" y="3744"/>
                <a:ext cx="159" cy="231"/>
              </p:xfrm>
              <a:graphic>
                <a:graphicData uri="http://schemas.openxmlformats.org/presentationml/2006/ole">
                  <mc:AlternateContent>
                    <mc:Choice xmlns:v="urn:schemas-microsoft-com:vml" Requires="v">
                      <p:oleObj spid="_x0000_s15393" name="公式" r:id="rId69" imgW="126720" imgH="177480" progId="Equation.3">
                        <p:embed/>
                      </p:oleObj>
                    </mc:Choice>
                    <mc:Fallback>
                      <p:oleObj name="公式" r:id="rId69" imgW="126720" imgH="177480" progId="Equation.3">
                        <p:embed/>
                        <p:pic>
                          <p:nvPicPr>
                            <p:cNvPr id="60" name="Object 9">
                              <a:extLst>
                                <a:ext uri="{FF2B5EF4-FFF2-40B4-BE49-F238E27FC236}">
                                  <a16:creationId xmlns:a16="http://schemas.microsoft.com/office/drawing/2014/main" id="{DF210BB2-67F9-45F2-B670-3294941DF52B}"/>
                                </a:ext>
                              </a:extLst>
                            </p:cNvPr>
                            <p:cNvPicPr>
                              <a:picLocks noChangeAspect="1" noChangeArrowheads="1"/>
                            </p:cNvPicPr>
                            <p:nvPr/>
                          </p:nvPicPr>
                          <p:blipFill>
                            <a:blip r:embed="rId70">
                              <a:extLst>
                                <a:ext uri="{28A0092B-C50C-407E-A947-70E740481C1C}">
                                  <a14:useLocalDpi val="0"/>
                                </a:ext>
                              </a:extLst>
                            </a:blip>
                            <a:srcRect/>
                            <a:stretch>
                              <a:fillRect/>
                            </a:stretch>
                          </p:blipFill>
                          <p:spPr bwMode="auto">
                            <a:xfrm>
                              <a:off x="2784" y="3744"/>
                              <a:ext cx="159" cy="23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4" name="Object 9">
                  <a:extLst>
                    <a:ext uri="{FF2B5EF4-FFF2-40B4-BE49-F238E27FC236}">
                      <a16:creationId xmlns:a16="http://schemas.microsoft.com/office/drawing/2014/main" id="{7C2E3C9B-28DA-4E7F-A4A1-C942EFB135BC}"/>
                    </a:ext>
                  </a:extLst>
                </p:cNvPr>
                <p:cNvGraphicFramePr>
                  <a:graphicFrameLocks noChangeAspect="1"/>
                </p:cNvGraphicFramePr>
                <p:nvPr/>
              </p:nvGraphicFramePr>
              <p:xfrm>
                <a:off x="2784" y="3744"/>
                <a:ext cx="159" cy="231"/>
              </p:xfrm>
              <a:graphic>
                <a:graphicData uri="http://schemas.openxmlformats.org/presentationml/2006/ole">
                  <mc:AlternateContent>
                    <mc:Choice xmlns:v="urn:schemas-microsoft-com:vml" Requires="v">
                      <p:oleObj name="公式" r:id="rId27" imgW="126720" imgH="177480" progId="Equation.3">
                        <p:embed/>
                      </p:oleObj>
                    </mc:Choice>
                    <mc:Fallback>
                      <p:oleObj name="公式" r:id="rId27" imgW="126720" imgH="177480" progId="Equation.3">
                        <p:embed/>
                        <p:pic>
                          <p:nvPicPr>
                            <p:cNvPr id="686089" name="Object 9">
                              <a:extLst>
                                <a:ext uri="{FF2B5EF4-FFF2-40B4-BE49-F238E27FC236}">
                                  <a16:creationId xmlns:a16="http://schemas.microsoft.com/office/drawing/2014/main" id="{8E22B477-53AB-400B-B2A2-6996A7F57959}"/>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784" y="3744"/>
                              <a:ext cx="159"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1" name="Object 10">
                  <a:extLst>
                    <a:ext uri="{FF2B5EF4-FFF2-40B4-BE49-F238E27FC236}">
                      <a16:creationId xmlns:a16="http://schemas.microsoft.com/office/drawing/2014/main" id="{C2E5EAA5-7F81-4FCF-BC78-6B3DAE371A2A}"/>
                    </a:ext>
                  </a:extLst>
                </p:cNvPr>
                <p:cNvGraphicFramePr>
                  <a:graphicFrameLocks noChangeAspect="1"/>
                </p:cNvGraphicFramePr>
                <p:nvPr/>
              </p:nvGraphicFramePr>
              <p:xfrm>
                <a:off x="3036" y="3669"/>
                <a:ext cx="256" cy="280"/>
              </p:xfrm>
              <a:graphic>
                <a:graphicData uri="http://schemas.openxmlformats.org/presentationml/2006/ole">
                  <mc:AlternateContent>
                    <mc:Choice xmlns:v="urn:schemas-microsoft-com:vml" Requires="v">
                      <p:oleObj spid="_x0000_s15394" name="公式" r:id="rId71" imgW="190440" imgH="228600" progId="Equation.3">
                        <p:embed/>
                      </p:oleObj>
                    </mc:Choice>
                    <mc:Fallback>
                      <p:oleObj name="公式" r:id="rId71" imgW="190440" imgH="228600" progId="Equation.3">
                        <p:embed/>
                        <p:pic>
                          <p:nvPicPr>
                            <p:cNvPr id="61" name="Object 10">
                              <a:extLst>
                                <a:ext uri="{FF2B5EF4-FFF2-40B4-BE49-F238E27FC236}">
                                  <a16:creationId xmlns:a16="http://schemas.microsoft.com/office/drawing/2014/main" id="{C2E5EAA5-7F81-4FCF-BC78-6B3DAE371A2A}"/>
                                </a:ext>
                              </a:extLst>
                            </p:cNvPr>
                            <p:cNvPicPr>
                              <a:picLocks noChangeAspect="1" noChangeArrowheads="1"/>
                            </p:cNvPicPr>
                            <p:nvPr/>
                          </p:nvPicPr>
                          <p:blipFill>
                            <a:blip r:embed="rId72">
                              <a:extLst>
                                <a:ext uri="{28A0092B-C50C-407E-A947-70E740481C1C}">
                                  <a14:useLocalDpi val="0"/>
                                </a:ext>
                              </a:extLst>
                            </a:blip>
                            <a:srcRect/>
                            <a:stretch>
                              <a:fillRect/>
                            </a:stretch>
                          </p:blipFill>
                          <p:spPr bwMode="auto">
                            <a:xfrm>
                              <a:off x="3036" y="3669"/>
                              <a:ext cx="256" cy="28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5" name="Object 10">
                  <a:extLst>
                    <a:ext uri="{FF2B5EF4-FFF2-40B4-BE49-F238E27FC236}">
                      <a16:creationId xmlns:a16="http://schemas.microsoft.com/office/drawing/2014/main" id="{C6E8946E-DF7E-4FA6-9FFE-16B7C3CB037B}"/>
                    </a:ext>
                  </a:extLst>
                </p:cNvPr>
                <p:cNvGraphicFramePr>
                  <a:graphicFrameLocks noChangeAspect="1"/>
                </p:cNvGraphicFramePr>
                <p:nvPr/>
              </p:nvGraphicFramePr>
              <p:xfrm>
                <a:off x="3036" y="3669"/>
                <a:ext cx="256" cy="280"/>
              </p:xfrm>
              <a:graphic>
                <a:graphicData uri="http://schemas.openxmlformats.org/presentationml/2006/ole">
                  <mc:AlternateContent>
                    <mc:Choice xmlns:v="urn:schemas-microsoft-com:vml" Requires="v">
                      <p:oleObj name="公式" r:id="rId31" imgW="190440" imgH="228600" progId="Equation.3">
                        <p:embed/>
                      </p:oleObj>
                    </mc:Choice>
                    <mc:Fallback>
                      <p:oleObj name="公式" r:id="rId31" imgW="190440" imgH="228600" progId="Equation.3">
                        <p:embed/>
                        <p:pic>
                          <p:nvPicPr>
                            <p:cNvPr id="686090" name="Object 10">
                              <a:extLst>
                                <a:ext uri="{FF2B5EF4-FFF2-40B4-BE49-F238E27FC236}">
                                  <a16:creationId xmlns:a16="http://schemas.microsoft.com/office/drawing/2014/main" id="{2E943778-31E0-42BF-A559-10AA060FB6BB}"/>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036" y="3669"/>
                              <a:ext cx="25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2" name="Object 11">
                  <a:extLst>
                    <a:ext uri="{FF2B5EF4-FFF2-40B4-BE49-F238E27FC236}">
                      <a16:creationId xmlns:a16="http://schemas.microsoft.com/office/drawing/2014/main" id="{4057F54F-F20D-4B4D-8620-CB869F3A3073}"/>
                    </a:ext>
                  </a:extLst>
                </p:cNvPr>
                <p:cNvGraphicFramePr>
                  <a:graphicFrameLocks noChangeAspect="1"/>
                </p:cNvGraphicFramePr>
                <p:nvPr/>
              </p:nvGraphicFramePr>
              <p:xfrm>
                <a:off x="3478" y="3701"/>
                <a:ext cx="547" cy="262"/>
              </p:xfrm>
              <a:graphic>
                <a:graphicData uri="http://schemas.openxmlformats.org/presentationml/2006/ole">
                  <mc:AlternateContent>
                    <mc:Choice xmlns:v="urn:schemas-microsoft-com:vml" Requires="v">
                      <p:oleObj spid="_x0000_s15395" name="公式" r:id="rId73" imgW="495000" imgH="228600" progId="Equation.3">
                        <p:embed/>
                      </p:oleObj>
                    </mc:Choice>
                    <mc:Fallback>
                      <p:oleObj name="公式" r:id="rId73" imgW="495000" imgH="228600" progId="Equation.3">
                        <p:embed/>
                        <p:pic>
                          <p:nvPicPr>
                            <p:cNvPr id="62" name="Object 11">
                              <a:extLst>
                                <a:ext uri="{FF2B5EF4-FFF2-40B4-BE49-F238E27FC236}">
                                  <a16:creationId xmlns:a16="http://schemas.microsoft.com/office/drawing/2014/main" id="{4057F54F-F20D-4B4D-8620-CB869F3A3073}"/>
                                </a:ext>
                              </a:extLst>
                            </p:cNvPr>
                            <p:cNvPicPr>
                              <a:picLocks noChangeAspect="1" noChangeArrowheads="1"/>
                            </p:cNvPicPr>
                            <p:nvPr/>
                          </p:nvPicPr>
                          <p:blipFill>
                            <a:blip r:embed="rId74">
                              <a:extLst>
                                <a:ext uri="{28A0092B-C50C-407E-A947-70E740481C1C}">
                                  <a14:useLocalDpi val="0"/>
                                </a:ext>
                              </a:extLst>
                            </a:blip>
                            <a:srcRect/>
                            <a:stretch>
                              <a:fillRect/>
                            </a:stretch>
                          </p:blipFill>
                          <p:spPr bwMode="auto">
                            <a:xfrm>
                              <a:off x="3478" y="3701"/>
                              <a:ext cx="547" cy="26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6" name="Object 11">
                  <a:extLst>
                    <a:ext uri="{FF2B5EF4-FFF2-40B4-BE49-F238E27FC236}">
                      <a16:creationId xmlns:a16="http://schemas.microsoft.com/office/drawing/2014/main" id="{149F5AD5-6372-4E1F-B135-DF8F32495B7A}"/>
                    </a:ext>
                  </a:extLst>
                </p:cNvPr>
                <p:cNvGraphicFramePr>
                  <a:graphicFrameLocks noChangeAspect="1"/>
                </p:cNvGraphicFramePr>
                <p:nvPr/>
              </p:nvGraphicFramePr>
              <p:xfrm>
                <a:off x="3478" y="3701"/>
                <a:ext cx="547" cy="262"/>
              </p:xfrm>
              <a:graphic>
                <a:graphicData uri="http://schemas.openxmlformats.org/presentationml/2006/ole">
                  <mc:AlternateContent>
                    <mc:Choice xmlns:v="urn:schemas-microsoft-com:vml" Requires="v">
                      <p:oleObj name="公式" r:id="rId35" imgW="495000" imgH="228600" progId="Equation.3">
                        <p:embed/>
                      </p:oleObj>
                    </mc:Choice>
                    <mc:Fallback>
                      <p:oleObj name="公式" r:id="rId35" imgW="495000" imgH="228600" progId="Equation.3">
                        <p:embed/>
                        <p:pic>
                          <p:nvPicPr>
                            <p:cNvPr id="686091" name="Object 11">
                              <a:extLst>
                                <a:ext uri="{FF2B5EF4-FFF2-40B4-BE49-F238E27FC236}">
                                  <a16:creationId xmlns:a16="http://schemas.microsoft.com/office/drawing/2014/main" id="{23F66E6C-5EA4-4C21-A61F-C650139F7E6F}"/>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478" y="3701"/>
                              <a:ext cx="547"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3" name="Object 12">
                  <a:extLst>
                    <a:ext uri="{FF2B5EF4-FFF2-40B4-BE49-F238E27FC236}">
                      <a16:creationId xmlns:a16="http://schemas.microsoft.com/office/drawing/2014/main" id="{E9E2B954-D4B7-4E38-9D44-B72CF15B59AD}"/>
                    </a:ext>
                  </a:extLst>
                </p:cNvPr>
                <p:cNvGraphicFramePr>
                  <a:graphicFrameLocks noChangeAspect="1"/>
                </p:cNvGraphicFramePr>
                <p:nvPr/>
              </p:nvGraphicFramePr>
              <p:xfrm>
                <a:off x="3959" y="3485"/>
                <a:ext cx="255" cy="205"/>
              </p:xfrm>
              <a:graphic>
                <a:graphicData uri="http://schemas.openxmlformats.org/presentationml/2006/ole">
                  <mc:AlternateContent>
                    <mc:Choice xmlns:v="urn:schemas-microsoft-com:vml" Requires="v">
                      <p:oleObj spid="_x0000_s15396" name="公式" r:id="rId75" imgW="228600" imgH="177480" progId="Equation.3">
                        <p:embed/>
                      </p:oleObj>
                    </mc:Choice>
                    <mc:Fallback>
                      <p:oleObj name="公式" r:id="rId75" imgW="228600" imgH="177480" progId="Equation.3">
                        <p:embed/>
                        <p:pic>
                          <p:nvPicPr>
                            <p:cNvPr id="63" name="Object 12">
                              <a:extLst>
                                <a:ext uri="{FF2B5EF4-FFF2-40B4-BE49-F238E27FC236}">
                                  <a16:creationId xmlns:a16="http://schemas.microsoft.com/office/drawing/2014/main" id="{E9E2B954-D4B7-4E38-9D44-B72CF15B59AD}"/>
                                </a:ext>
                              </a:extLst>
                            </p:cNvPr>
                            <p:cNvPicPr>
                              <a:picLocks noChangeAspect="1" noChangeArrowheads="1"/>
                            </p:cNvPicPr>
                            <p:nvPr/>
                          </p:nvPicPr>
                          <p:blipFill>
                            <a:blip r:embed="rId76">
                              <a:extLst>
                                <a:ext uri="{28A0092B-C50C-407E-A947-70E740481C1C}">
                                  <a14:useLocalDpi val="0"/>
                                </a:ext>
                              </a:extLst>
                            </a:blip>
                            <a:srcRect/>
                            <a:stretch>
                              <a:fillRect/>
                            </a:stretch>
                          </p:blipFill>
                          <p:spPr bwMode="auto">
                            <a:xfrm>
                              <a:off x="3959" y="3485"/>
                              <a:ext cx="255" cy="205"/>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7" name="Object 12">
                  <a:extLst>
                    <a:ext uri="{FF2B5EF4-FFF2-40B4-BE49-F238E27FC236}">
                      <a16:creationId xmlns:a16="http://schemas.microsoft.com/office/drawing/2014/main" id="{541C0326-EC76-4F8A-AA2B-7466C8D50FC2}"/>
                    </a:ext>
                  </a:extLst>
                </p:cNvPr>
                <p:cNvGraphicFramePr>
                  <a:graphicFrameLocks noChangeAspect="1"/>
                </p:cNvGraphicFramePr>
                <p:nvPr/>
              </p:nvGraphicFramePr>
              <p:xfrm>
                <a:off x="3959" y="3485"/>
                <a:ext cx="255" cy="205"/>
              </p:xfrm>
              <a:graphic>
                <a:graphicData uri="http://schemas.openxmlformats.org/presentationml/2006/ole">
                  <mc:AlternateContent>
                    <mc:Choice xmlns:v="urn:schemas-microsoft-com:vml" Requires="v">
                      <p:oleObj name="公式" r:id="rId39" imgW="228600" imgH="177480" progId="Equation.3">
                        <p:embed/>
                      </p:oleObj>
                    </mc:Choice>
                    <mc:Fallback>
                      <p:oleObj name="公式" r:id="rId39" imgW="228600" imgH="177480" progId="Equation.3">
                        <p:embed/>
                        <p:pic>
                          <p:nvPicPr>
                            <p:cNvPr id="686092" name="Object 12">
                              <a:extLst>
                                <a:ext uri="{FF2B5EF4-FFF2-40B4-BE49-F238E27FC236}">
                                  <a16:creationId xmlns:a16="http://schemas.microsoft.com/office/drawing/2014/main" id="{776C2115-2496-4FBD-804F-F3E96DCEAACD}"/>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959" y="3485"/>
                              <a:ext cx="255"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4" name="Object 13">
                  <a:extLst>
                    <a:ext uri="{FF2B5EF4-FFF2-40B4-BE49-F238E27FC236}">
                      <a16:creationId xmlns:a16="http://schemas.microsoft.com/office/drawing/2014/main" id="{0E861A99-D4D6-491B-9B87-CE0EAA80A334}"/>
                    </a:ext>
                  </a:extLst>
                </p:cNvPr>
                <p:cNvGraphicFramePr>
                  <a:graphicFrameLocks noChangeAspect="1"/>
                </p:cNvGraphicFramePr>
                <p:nvPr/>
              </p:nvGraphicFramePr>
              <p:xfrm>
                <a:off x="4132" y="3709"/>
                <a:ext cx="540" cy="252"/>
              </p:xfrm>
              <a:graphic>
                <a:graphicData uri="http://schemas.openxmlformats.org/presentationml/2006/ole">
                  <mc:AlternateContent>
                    <mc:Choice xmlns:v="urn:schemas-microsoft-com:vml" Requires="v">
                      <p:oleObj spid="_x0000_s15397" name="公式" r:id="rId77" imgW="507960" imgH="228600" progId="Equation.3">
                        <p:embed/>
                      </p:oleObj>
                    </mc:Choice>
                    <mc:Fallback>
                      <p:oleObj name="公式" r:id="rId77" imgW="507960" imgH="228600" progId="Equation.3">
                        <p:embed/>
                        <p:pic>
                          <p:nvPicPr>
                            <p:cNvPr id="64" name="Object 13">
                              <a:extLst>
                                <a:ext uri="{FF2B5EF4-FFF2-40B4-BE49-F238E27FC236}">
                                  <a16:creationId xmlns:a16="http://schemas.microsoft.com/office/drawing/2014/main" id="{0E861A99-D4D6-491B-9B87-CE0EAA80A334}"/>
                                </a:ext>
                              </a:extLst>
                            </p:cNvPr>
                            <p:cNvPicPr>
                              <a:picLocks noChangeAspect="1" noChangeArrowheads="1"/>
                            </p:cNvPicPr>
                            <p:nvPr/>
                          </p:nvPicPr>
                          <p:blipFill>
                            <a:blip r:embed="rId78">
                              <a:extLst>
                                <a:ext uri="{28A0092B-C50C-407E-A947-70E740481C1C}">
                                  <a14:useLocalDpi val="0"/>
                                </a:ext>
                              </a:extLst>
                            </a:blip>
                            <a:srcRect/>
                            <a:stretch>
                              <a:fillRect/>
                            </a:stretch>
                          </p:blipFill>
                          <p:spPr bwMode="auto">
                            <a:xfrm>
                              <a:off x="4132" y="3709"/>
                              <a:ext cx="540" cy="25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8" name="Object 13">
                  <a:extLst>
                    <a:ext uri="{FF2B5EF4-FFF2-40B4-BE49-F238E27FC236}">
                      <a16:creationId xmlns:a16="http://schemas.microsoft.com/office/drawing/2014/main" id="{28D8D62A-7809-479C-9B70-B946CF330A15}"/>
                    </a:ext>
                  </a:extLst>
                </p:cNvPr>
                <p:cNvGraphicFramePr>
                  <a:graphicFrameLocks noChangeAspect="1"/>
                </p:cNvGraphicFramePr>
                <p:nvPr/>
              </p:nvGraphicFramePr>
              <p:xfrm>
                <a:off x="4132" y="3709"/>
                <a:ext cx="540" cy="252"/>
              </p:xfrm>
              <a:graphic>
                <a:graphicData uri="http://schemas.openxmlformats.org/presentationml/2006/ole">
                  <mc:AlternateContent>
                    <mc:Choice xmlns:v="urn:schemas-microsoft-com:vml" Requires="v">
                      <p:oleObj name="公式" r:id="rId43" imgW="507960" imgH="228600" progId="Equation.3">
                        <p:embed/>
                      </p:oleObj>
                    </mc:Choice>
                    <mc:Fallback>
                      <p:oleObj name="公式" r:id="rId43" imgW="507960" imgH="228600" progId="Equation.3">
                        <p:embed/>
                        <p:pic>
                          <p:nvPicPr>
                            <p:cNvPr id="686093" name="Object 13">
                              <a:extLst>
                                <a:ext uri="{FF2B5EF4-FFF2-40B4-BE49-F238E27FC236}">
                                  <a16:creationId xmlns:a16="http://schemas.microsoft.com/office/drawing/2014/main" id="{2EA6D018-1363-4314-810A-4B47CAE2ACEF}"/>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4132" y="3709"/>
                              <a:ext cx="540"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5" name="Object 14">
                  <a:extLst>
                    <a:ext uri="{FF2B5EF4-FFF2-40B4-BE49-F238E27FC236}">
                      <a16:creationId xmlns:a16="http://schemas.microsoft.com/office/drawing/2014/main" id="{72C0B3BC-E5BB-4B42-8F34-CCCC9F73226A}"/>
                    </a:ext>
                  </a:extLst>
                </p:cNvPr>
                <p:cNvGraphicFramePr>
                  <a:graphicFrameLocks noChangeAspect="1"/>
                </p:cNvGraphicFramePr>
                <p:nvPr/>
              </p:nvGraphicFramePr>
              <p:xfrm>
                <a:off x="4720" y="3618"/>
                <a:ext cx="193" cy="183"/>
              </p:xfrm>
              <a:graphic>
                <a:graphicData uri="http://schemas.openxmlformats.org/presentationml/2006/ole">
                  <mc:AlternateContent>
                    <mc:Choice xmlns:v="urn:schemas-microsoft-com:vml" Requires="v">
                      <p:oleObj spid="_x0000_s15398" name="公式" r:id="rId79" imgW="152280" imgH="139680" progId="Equation.3">
                        <p:embed/>
                      </p:oleObj>
                    </mc:Choice>
                    <mc:Fallback>
                      <p:oleObj name="公式" r:id="rId79" imgW="152280" imgH="139680" progId="Equation.3">
                        <p:embed/>
                        <p:pic>
                          <p:nvPicPr>
                            <p:cNvPr id="65" name="Object 14">
                              <a:extLst>
                                <a:ext uri="{FF2B5EF4-FFF2-40B4-BE49-F238E27FC236}">
                                  <a16:creationId xmlns:a16="http://schemas.microsoft.com/office/drawing/2014/main" id="{72C0B3BC-E5BB-4B42-8F34-CCCC9F73226A}"/>
                                </a:ext>
                              </a:extLst>
                            </p:cNvPr>
                            <p:cNvPicPr>
                              <a:picLocks noChangeAspect="1" noChangeArrowheads="1"/>
                            </p:cNvPicPr>
                            <p:nvPr/>
                          </p:nvPicPr>
                          <p:blipFill>
                            <a:blip r:embed="rId80">
                              <a:extLst>
                                <a:ext uri="{28A0092B-C50C-407E-A947-70E740481C1C}">
                                  <a14:useLocalDpi val="0"/>
                                </a:ext>
                              </a:extLst>
                            </a:blip>
                            <a:srcRect/>
                            <a:stretch>
                              <a:fillRect/>
                            </a:stretch>
                          </p:blipFill>
                          <p:spPr bwMode="auto">
                            <a:xfrm>
                              <a:off x="4720" y="3618"/>
                              <a:ext cx="193" cy="183"/>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9" name="Object 14">
                  <a:extLst>
                    <a:ext uri="{FF2B5EF4-FFF2-40B4-BE49-F238E27FC236}">
                      <a16:creationId xmlns:a16="http://schemas.microsoft.com/office/drawing/2014/main" id="{7F00D7F5-494A-4905-8D69-67737F645606}"/>
                    </a:ext>
                  </a:extLst>
                </p:cNvPr>
                <p:cNvGraphicFramePr>
                  <a:graphicFrameLocks noChangeAspect="1"/>
                </p:cNvGraphicFramePr>
                <p:nvPr/>
              </p:nvGraphicFramePr>
              <p:xfrm>
                <a:off x="4720" y="3618"/>
                <a:ext cx="193" cy="183"/>
              </p:xfrm>
              <a:graphic>
                <a:graphicData uri="http://schemas.openxmlformats.org/presentationml/2006/ole">
                  <mc:AlternateContent>
                    <mc:Choice xmlns:v="urn:schemas-microsoft-com:vml" Requires="v">
                      <p:oleObj name="公式" r:id="rId47" imgW="152280" imgH="139680" progId="Equation.3">
                        <p:embed/>
                      </p:oleObj>
                    </mc:Choice>
                    <mc:Fallback>
                      <p:oleObj name="公式" r:id="rId47" imgW="152280" imgH="139680" progId="Equation.3">
                        <p:embed/>
                        <p:pic>
                          <p:nvPicPr>
                            <p:cNvPr id="686094" name="Object 14">
                              <a:extLst>
                                <a:ext uri="{FF2B5EF4-FFF2-40B4-BE49-F238E27FC236}">
                                  <a16:creationId xmlns:a16="http://schemas.microsoft.com/office/drawing/2014/main" id="{A0D1A6A4-C873-40E8-9EE9-13628E1B2561}"/>
                                </a:ext>
                              </a:extLst>
                            </p:cNvPr>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720" y="3618"/>
                              <a:ext cx="193"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66" name="Object 15">
                  <a:extLst>
                    <a:ext uri="{FF2B5EF4-FFF2-40B4-BE49-F238E27FC236}">
                      <a16:creationId xmlns:a16="http://schemas.microsoft.com/office/drawing/2014/main" id="{99FB8BE4-1574-404D-8B56-A63FE00A391E}"/>
                    </a:ext>
                  </a:extLst>
                </p:cNvPr>
                <p:cNvSpPr txBox="1"/>
                <p:nvPr/>
              </p:nvSpPr>
              <p:spPr bwMode="auto">
                <a:xfrm>
                  <a:off x="3164" y="2924"/>
                  <a:ext cx="237" cy="26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200" i="1">
                            <a:solidFill>
                              <a:srgbClr val="000000"/>
                            </a:solidFill>
                            <a:latin typeface="Cambria Math" panose="02040503050406030204" pitchFamily="18" charset="0"/>
                          </a:rPr>
                          <m:t>𝜋</m:t>
                        </m:r>
                      </m:oMath>
                    </m:oMathPara>
                  </a14:m>
                  <a:endParaRPr lang="en-US" sz="2200" dirty="0"/>
                </a:p>
              </p:txBody>
            </p:sp>
          </mc:Choice>
          <mc:Fallback xmlns="">
            <p:sp>
              <p:nvSpPr>
                <p:cNvPr id="40" name="Object 15">
                  <a:extLst>
                    <a:ext uri="{FF2B5EF4-FFF2-40B4-BE49-F238E27FC236}">
                      <a16:creationId xmlns:a16="http://schemas.microsoft.com/office/drawing/2014/main" id="{24E2C74F-F622-409F-8068-0BA6C1CCAEF7}"/>
                    </a:ext>
                  </a:extLst>
                </p:cNvPr>
                <p:cNvSpPr txBox="1">
                  <a:spLocks noRot="1" noChangeAspect="1" noMove="1" noResize="1" noEditPoints="1" noAdjustHandles="1" noChangeArrowheads="1" noChangeShapeType="1" noTextEdit="1"/>
                </p:cNvSpPr>
                <p:nvPr/>
              </p:nvSpPr>
              <p:spPr bwMode="auto">
                <a:xfrm>
                  <a:off x="3164" y="2924"/>
                  <a:ext cx="237" cy="267"/>
                </a:xfrm>
                <a:prstGeom prst="rect">
                  <a:avLst/>
                </a:prstGeom>
                <a:blipFill>
                  <a:blip r:embed="rId49"/>
                  <a:stretch>
                    <a:fillRect/>
                  </a:stretch>
                </a:blipFill>
                <a:ln>
                  <a:noFill/>
                </a:ln>
                <a:effectLst/>
              </p:spPr>
              <p:txBody>
                <a:bodyPr/>
                <a:lstStyle/>
                <a:p>
                  <a:r>
                    <a:rPr lang="en-US">
                      <a:noFill/>
                    </a:rPr>
                    <a:t> </a:t>
                  </a:r>
                </a:p>
              </p:txBody>
            </p:sp>
          </mc:Fallback>
        </mc:AlternateContent>
        <p:sp>
          <p:nvSpPr>
            <p:cNvPr id="67" name="Line 16">
              <a:extLst>
                <a:ext uri="{FF2B5EF4-FFF2-40B4-BE49-F238E27FC236}">
                  <a16:creationId xmlns:a16="http://schemas.microsoft.com/office/drawing/2014/main" id="{796F9A8D-9391-40AE-9900-61FFDC844DD8}"/>
                </a:ext>
              </a:extLst>
            </p:cNvPr>
            <p:cNvSpPr>
              <a:spLocks noChangeShapeType="1"/>
            </p:cNvSpPr>
            <p:nvPr/>
          </p:nvSpPr>
          <p:spPr bwMode="auto">
            <a:xfrm flipV="1">
              <a:off x="2871" y="2697"/>
              <a:ext cx="0" cy="10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17">
              <a:extLst>
                <a:ext uri="{FF2B5EF4-FFF2-40B4-BE49-F238E27FC236}">
                  <a16:creationId xmlns:a16="http://schemas.microsoft.com/office/drawing/2014/main" id="{F62FDC8D-F8F7-4FDD-8D48-B37108EFAFA4}"/>
                </a:ext>
              </a:extLst>
            </p:cNvPr>
            <p:cNvSpPr>
              <a:spLocks noChangeShapeType="1"/>
            </p:cNvSpPr>
            <p:nvPr/>
          </p:nvSpPr>
          <p:spPr bwMode="auto">
            <a:xfrm flipV="1">
              <a:off x="2592" y="3042"/>
              <a:ext cx="0" cy="67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Line 18">
              <a:extLst>
                <a:ext uri="{FF2B5EF4-FFF2-40B4-BE49-F238E27FC236}">
                  <a16:creationId xmlns:a16="http://schemas.microsoft.com/office/drawing/2014/main" id="{DAF7F014-75C5-465F-8A28-D7FA4C4692CA}"/>
                </a:ext>
              </a:extLst>
            </p:cNvPr>
            <p:cNvSpPr>
              <a:spLocks noChangeShapeType="1"/>
            </p:cNvSpPr>
            <p:nvPr/>
          </p:nvSpPr>
          <p:spPr bwMode="auto">
            <a:xfrm flipV="1">
              <a:off x="3142" y="3042"/>
              <a:ext cx="0" cy="67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Line 19">
              <a:extLst>
                <a:ext uri="{FF2B5EF4-FFF2-40B4-BE49-F238E27FC236}">
                  <a16:creationId xmlns:a16="http://schemas.microsoft.com/office/drawing/2014/main" id="{E0BE1477-EFA2-4096-BB04-075C4978B731}"/>
                </a:ext>
              </a:extLst>
            </p:cNvPr>
            <p:cNvSpPr>
              <a:spLocks noChangeShapeType="1"/>
            </p:cNvSpPr>
            <p:nvPr/>
          </p:nvSpPr>
          <p:spPr bwMode="auto">
            <a:xfrm flipV="1">
              <a:off x="1964" y="3032"/>
              <a:ext cx="0" cy="67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20">
              <a:extLst>
                <a:ext uri="{FF2B5EF4-FFF2-40B4-BE49-F238E27FC236}">
                  <a16:creationId xmlns:a16="http://schemas.microsoft.com/office/drawing/2014/main" id="{C8D8CCB2-EDDC-48EB-B130-A2DF7472FC99}"/>
                </a:ext>
              </a:extLst>
            </p:cNvPr>
            <p:cNvSpPr>
              <a:spLocks noChangeShapeType="1"/>
            </p:cNvSpPr>
            <p:nvPr/>
          </p:nvSpPr>
          <p:spPr bwMode="auto">
            <a:xfrm flipV="1">
              <a:off x="1396" y="3032"/>
              <a:ext cx="0" cy="67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21">
              <a:extLst>
                <a:ext uri="{FF2B5EF4-FFF2-40B4-BE49-F238E27FC236}">
                  <a16:creationId xmlns:a16="http://schemas.microsoft.com/office/drawing/2014/main" id="{659877B4-67CA-40B7-9EC2-DB797E624389}"/>
                </a:ext>
              </a:extLst>
            </p:cNvPr>
            <p:cNvSpPr>
              <a:spLocks noChangeShapeType="1"/>
            </p:cNvSpPr>
            <p:nvPr/>
          </p:nvSpPr>
          <p:spPr bwMode="auto">
            <a:xfrm flipV="1">
              <a:off x="3779" y="3032"/>
              <a:ext cx="0" cy="68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22">
              <a:extLst>
                <a:ext uri="{FF2B5EF4-FFF2-40B4-BE49-F238E27FC236}">
                  <a16:creationId xmlns:a16="http://schemas.microsoft.com/office/drawing/2014/main" id="{76D9A76C-AFD4-4FDE-83E9-46FE67D51CB2}"/>
                </a:ext>
              </a:extLst>
            </p:cNvPr>
            <p:cNvSpPr>
              <a:spLocks noChangeShapeType="1"/>
            </p:cNvSpPr>
            <p:nvPr/>
          </p:nvSpPr>
          <p:spPr bwMode="auto">
            <a:xfrm flipV="1">
              <a:off x="4346" y="3032"/>
              <a:ext cx="0" cy="67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23">
              <a:extLst>
                <a:ext uri="{FF2B5EF4-FFF2-40B4-BE49-F238E27FC236}">
                  <a16:creationId xmlns:a16="http://schemas.microsoft.com/office/drawing/2014/main" id="{14870C79-559C-4FAA-9ED6-6E1D407FC453}"/>
                </a:ext>
              </a:extLst>
            </p:cNvPr>
            <p:cNvSpPr>
              <a:spLocks noChangeShapeType="1"/>
            </p:cNvSpPr>
            <p:nvPr/>
          </p:nvSpPr>
          <p:spPr bwMode="auto">
            <a:xfrm>
              <a:off x="1056" y="3709"/>
              <a:ext cx="3631"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graphicFrame>
              <p:nvGraphicFramePr>
                <p:cNvPr id="75" name="Object 24">
                  <a:extLst>
                    <a:ext uri="{FF2B5EF4-FFF2-40B4-BE49-F238E27FC236}">
                      <a16:creationId xmlns:a16="http://schemas.microsoft.com/office/drawing/2014/main" id="{96695521-5093-43DC-B68F-1CE49DD0DD60}"/>
                    </a:ext>
                  </a:extLst>
                </p:cNvPr>
                <p:cNvGraphicFramePr>
                  <a:graphicFrameLocks noChangeAspect="1"/>
                </p:cNvGraphicFramePr>
                <p:nvPr/>
              </p:nvGraphicFramePr>
              <p:xfrm>
                <a:off x="1017" y="3328"/>
                <a:ext cx="277" cy="146"/>
              </p:xfrm>
              <a:graphic>
                <a:graphicData uri="http://schemas.openxmlformats.org/presentationml/2006/ole">
                  <mc:AlternateContent>
                    <mc:Choice xmlns:v="urn:schemas-microsoft-com:vml" Requires="v">
                      <p:oleObj spid="_x0000_s15399" name="公式" r:id="rId81" imgW="177480" imgH="75960" progId="Equation.3">
                        <p:embed/>
                      </p:oleObj>
                    </mc:Choice>
                    <mc:Fallback>
                      <p:oleObj name="公式" r:id="rId81" imgW="177480" imgH="75960" progId="Equation.3">
                        <p:embed/>
                        <p:pic>
                          <p:nvPicPr>
                            <p:cNvPr id="75" name="Object 24">
                              <a:extLst>
                                <a:ext uri="{FF2B5EF4-FFF2-40B4-BE49-F238E27FC236}">
                                  <a16:creationId xmlns:a16="http://schemas.microsoft.com/office/drawing/2014/main" id="{96695521-5093-43DC-B68F-1CE49DD0DD60}"/>
                                </a:ext>
                              </a:extLst>
                            </p:cNvPr>
                            <p:cNvPicPr>
                              <a:picLocks noChangeAspect="1" noChangeArrowheads="1"/>
                            </p:cNvPicPr>
                            <p:nvPr/>
                          </p:nvPicPr>
                          <p:blipFill>
                            <a:blip r:embed="rId82">
                              <a:extLst>
                                <a:ext uri="{28A0092B-C50C-407E-A947-70E740481C1C}">
                                  <a14:useLocalDpi val="0"/>
                                </a:ext>
                              </a:extLst>
                            </a:blip>
                            <a:srcRect/>
                            <a:stretch>
                              <a:fillRect/>
                            </a:stretch>
                          </p:blipFill>
                          <p:spPr bwMode="auto">
                            <a:xfrm>
                              <a:off x="1017" y="3328"/>
                              <a:ext cx="277" cy="146"/>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49" name="Object 24">
                  <a:extLst>
                    <a:ext uri="{FF2B5EF4-FFF2-40B4-BE49-F238E27FC236}">
                      <a16:creationId xmlns:a16="http://schemas.microsoft.com/office/drawing/2014/main" id="{E87385FC-3369-4832-BC65-1E711D0F16AD}"/>
                    </a:ext>
                  </a:extLst>
                </p:cNvPr>
                <p:cNvGraphicFramePr>
                  <a:graphicFrameLocks noChangeAspect="1"/>
                </p:cNvGraphicFramePr>
                <p:nvPr/>
              </p:nvGraphicFramePr>
              <p:xfrm>
                <a:off x="1017" y="3328"/>
                <a:ext cx="277" cy="146"/>
              </p:xfrm>
              <a:graphic>
                <a:graphicData uri="http://schemas.openxmlformats.org/presentationml/2006/ole">
                  <mc:AlternateContent>
                    <mc:Choice xmlns:v="urn:schemas-microsoft-com:vml" Requires="v">
                      <p:oleObj name="公式" r:id="rId52" imgW="177480" imgH="75960" progId="Equation.3">
                        <p:embed/>
                      </p:oleObj>
                    </mc:Choice>
                    <mc:Fallback>
                      <p:oleObj name="公式" r:id="rId52" imgW="177480" imgH="75960" progId="Equation.3">
                        <p:embed/>
                        <p:pic>
                          <p:nvPicPr>
                            <p:cNvPr id="686104" name="Object 24">
                              <a:extLst>
                                <a:ext uri="{FF2B5EF4-FFF2-40B4-BE49-F238E27FC236}">
                                  <a16:creationId xmlns:a16="http://schemas.microsoft.com/office/drawing/2014/main" id="{3FACF88C-E8BD-4600-AB0C-EE77C1A1F167}"/>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1017" y="3328"/>
                              <a:ext cx="277" cy="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6" name="Object 25">
                  <a:extLst>
                    <a:ext uri="{FF2B5EF4-FFF2-40B4-BE49-F238E27FC236}">
                      <a16:creationId xmlns:a16="http://schemas.microsoft.com/office/drawing/2014/main" id="{B67794F1-6187-40A8-A24A-30B5C1B12AC7}"/>
                    </a:ext>
                  </a:extLst>
                </p:cNvPr>
                <p:cNvGraphicFramePr>
                  <a:graphicFrameLocks noChangeAspect="1"/>
                </p:cNvGraphicFramePr>
                <p:nvPr/>
              </p:nvGraphicFramePr>
              <p:xfrm>
                <a:off x="4431" y="3318"/>
                <a:ext cx="307" cy="137"/>
              </p:xfrm>
              <a:graphic>
                <a:graphicData uri="http://schemas.openxmlformats.org/presentationml/2006/ole">
                  <mc:AlternateContent>
                    <mc:Choice xmlns:v="urn:schemas-microsoft-com:vml" Requires="v">
                      <p:oleObj spid="_x0000_s15400" name="公式" r:id="rId83" imgW="177480" imgH="75960" progId="Equation.3">
                        <p:embed/>
                      </p:oleObj>
                    </mc:Choice>
                    <mc:Fallback>
                      <p:oleObj name="公式" r:id="rId83" imgW="177480" imgH="75960" progId="Equation.3">
                        <p:embed/>
                        <p:pic>
                          <p:nvPicPr>
                            <p:cNvPr id="76" name="Object 25">
                              <a:extLst>
                                <a:ext uri="{FF2B5EF4-FFF2-40B4-BE49-F238E27FC236}">
                                  <a16:creationId xmlns:a16="http://schemas.microsoft.com/office/drawing/2014/main" id="{B67794F1-6187-40A8-A24A-30B5C1B12AC7}"/>
                                </a:ext>
                              </a:extLst>
                            </p:cNvPr>
                            <p:cNvPicPr>
                              <a:picLocks noChangeAspect="1" noChangeArrowheads="1"/>
                            </p:cNvPicPr>
                            <p:nvPr/>
                          </p:nvPicPr>
                          <p:blipFill>
                            <a:blip r:embed="rId84">
                              <a:extLst>
                                <a:ext uri="{28A0092B-C50C-407E-A947-70E740481C1C}">
                                  <a14:useLocalDpi val="0"/>
                                </a:ext>
                              </a:extLst>
                            </a:blip>
                            <a:srcRect/>
                            <a:stretch>
                              <a:fillRect/>
                            </a:stretch>
                          </p:blipFill>
                          <p:spPr bwMode="auto">
                            <a:xfrm>
                              <a:off x="4431" y="3318"/>
                              <a:ext cx="307" cy="13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50" name="Object 25">
                  <a:extLst>
                    <a:ext uri="{FF2B5EF4-FFF2-40B4-BE49-F238E27FC236}">
                      <a16:creationId xmlns:a16="http://schemas.microsoft.com/office/drawing/2014/main" id="{66DE57F2-D18D-4A44-9C93-60EAAE2D0EE5}"/>
                    </a:ext>
                  </a:extLst>
                </p:cNvPr>
                <p:cNvGraphicFramePr>
                  <a:graphicFrameLocks noChangeAspect="1"/>
                </p:cNvGraphicFramePr>
                <p:nvPr/>
              </p:nvGraphicFramePr>
              <p:xfrm>
                <a:off x="4431" y="3318"/>
                <a:ext cx="307" cy="137"/>
              </p:xfrm>
              <a:graphic>
                <a:graphicData uri="http://schemas.openxmlformats.org/presentationml/2006/ole">
                  <mc:AlternateContent>
                    <mc:Choice xmlns:v="urn:schemas-microsoft-com:vml" Requires="v">
                      <p:oleObj name="公式" r:id="rId56" imgW="177480" imgH="75960" progId="Equation.3">
                        <p:embed/>
                      </p:oleObj>
                    </mc:Choice>
                    <mc:Fallback>
                      <p:oleObj name="公式" r:id="rId56" imgW="177480" imgH="75960" progId="Equation.3">
                        <p:embed/>
                        <p:pic>
                          <p:nvPicPr>
                            <p:cNvPr id="686105" name="Object 25">
                              <a:extLst>
                                <a:ext uri="{FF2B5EF4-FFF2-40B4-BE49-F238E27FC236}">
                                  <a16:creationId xmlns:a16="http://schemas.microsoft.com/office/drawing/2014/main" id="{3D4ABCED-45A6-4C7E-9452-A4309A225A90}"/>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4431" y="3318"/>
                              <a:ext cx="307"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77" name="Line 26">
              <a:extLst>
                <a:ext uri="{FF2B5EF4-FFF2-40B4-BE49-F238E27FC236}">
                  <a16:creationId xmlns:a16="http://schemas.microsoft.com/office/drawing/2014/main" id="{63E58834-803C-46EE-B108-E20AD554E054}"/>
                </a:ext>
              </a:extLst>
            </p:cNvPr>
            <p:cNvSpPr>
              <a:spLocks noChangeShapeType="1"/>
            </p:cNvSpPr>
            <p:nvPr/>
          </p:nvSpPr>
          <p:spPr bwMode="auto">
            <a:xfrm flipV="1">
              <a:off x="1681" y="3693"/>
              <a:ext cx="0" cy="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 name="Line 27">
              <a:extLst>
                <a:ext uri="{FF2B5EF4-FFF2-40B4-BE49-F238E27FC236}">
                  <a16:creationId xmlns:a16="http://schemas.microsoft.com/office/drawing/2014/main" id="{9AA65C6B-840D-4DF8-A332-2702E50B2180}"/>
                </a:ext>
              </a:extLst>
            </p:cNvPr>
            <p:cNvSpPr>
              <a:spLocks noChangeShapeType="1"/>
            </p:cNvSpPr>
            <p:nvPr/>
          </p:nvSpPr>
          <p:spPr bwMode="auto">
            <a:xfrm flipV="1">
              <a:off x="4060" y="3693"/>
              <a:ext cx="0" cy="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827246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down)">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down)">
                                      <p:cBhvr>
                                        <p:cTn id="1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6" name="标题 1">
            <a:extLst>
              <a:ext uri="{FF2B5EF4-FFF2-40B4-BE49-F238E27FC236}">
                <a16:creationId xmlns:a16="http://schemas.microsoft.com/office/drawing/2014/main" id="{15E7EE94-4C51-49E1-976A-B1F90C5D9C54}"/>
              </a:ext>
            </a:extLst>
          </p:cNvPr>
          <p:cNvSpPr>
            <a:spLocks noGrp="1"/>
          </p:cNvSpPr>
          <p:nvPr>
            <p:ph type="title"/>
          </p:nvPr>
        </p:nvSpPr>
        <p:spPr/>
        <p:txBody>
          <a:bodyPr/>
          <a:lstStyle/>
          <a:p>
            <a:r>
              <a:rPr lang="en-US" altLang="zh-CN" dirty="0"/>
              <a:t>5.2  </a:t>
            </a:r>
            <a:r>
              <a:rPr lang="zh-CN" altLang="en-US" dirty="0"/>
              <a:t>周期信号的傅里叶变换</a:t>
            </a:r>
          </a:p>
        </p:txBody>
      </p:sp>
      <p:sp>
        <p:nvSpPr>
          <p:cNvPr id="4" name="灯片编号占位符 3">
            <a:extLst>
              <a:ext uri="{FF2B5EF4-FFF2-40B4-BE49-F238E27FC236}">
                <a16:creationId xmlns:a16="http://schemas.microsoft.com/office/drawing/2014/main" id="{32A33B80-DBE3-46DA-89C7-13D06BB6827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FD76BC-E831-428A-9205-75330C011C6B}" type="slidenum">
              <a:rPr lang="zh-CN" altLang="en-US">
                <a:solidFill>
                  <a:srgbClr val="898989"/>
                </a:solidFill>
                <a:latin typeface="Calibri" panose="020F0502020204030204" pitchFamily="34" charset="0"/>
              </a:rPr>
              <a:pPr eaLnBrk="1" hangingPunct="1"/>
              <a:t>20</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22576" name="Text Box 21">
                <a:extLst>
                  <a:ext uri="{FF2B5EF4-FFF2-40B4-BE49-F238E27FC236}">
                    <a16:creationId xmlns:a16="http://schemas.microsoft.com/office/drawing/2014/main" id="{5552728A-C61E-45BB-9212-95A76407EE2F}"/>
                  </a:ext>
                </a:extLst>
              </p:cNvPr>
              <p:cNvSpPr txBox="1">
                <a:spLocks noChangeArrowheads="1"/>
              </p:cNvSpPr>
              <p:nvPr/>
            </p:nvSpPr>
            <p:spPr bwMode="auto">
              <a:xfrm>
                <a:off x="572673" y="1339970"/>
                <a:ext cx="5170903"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2</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a:t>
                </a:r>
                <a:r>
                  <a:rPr lang="en-US" sz="2800" dirty="0">
                    <a:solidFill>
                      <a:srgbClr val="000000"/>
                    </a:solidFill>
                  </a:rPr>
                  <a:t> </a:t>
                </a:r>
                <a14:m>
                  <m:oMath xmlns:m="http://schemas.openxmlformats.org/officeDocument/2006/math">
                    <m:r>
                      <a:rPr lang="en-US" sz="2800" i="1" smtClean="0">
                        <a:solidFill>
                          <a:srgbClr val="0000FF"/>
                        </a:solidFill>
                        <a:latin typeface="Cambria Math" panose="02040503050406030204" pitchFamily="18" charset="0"/>
                      </a:rPr>
                      <m:t>𝑥</m:t>
                    </m:r>
                    <m:r>
                      <a:rPr lang="en-US" sz="2800" b="0" i="1" smtClean="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𝑛</m:t>
                    </m:r>
                    <m:r>
                      <a:rPr lang="en-US" sz="2800" b="0" i="1" smtClean="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m:t>
                    </m:r>
                    <m:nary>
                      <m:naryPr>
                        <m:chr m:val="∑"/>
                        <m:ctrlPr>
                          <a:rPr lang="en-US" sz="2800" i="1">
                            <a:solidFill>
                              <a:srgbClr val="0000FF"/>
                            </a:solidFill>
                            <a:latin typeface="Cambria Math" panose="02040503050406030204" pitchFamily="18" charset="0"/>
                          </a:rPr>
                        </m:ctrlPr>
                      </m:naryPr>
                      <m:sub>
                        <m:r>
                          <a:rPr lang="en-US" sz="2800" i="1">
                            <a:solidFill>
                              <a:srgbClr val="0000FF"/>
                            </a:solidFill>
                            <a:latin typeface="Cambria Math" panose="02040503050406030204" pitchFamily="18" charset="0"/>
                          </a:rPr>
                          <m:t>𝑘</m:t>
                        </m:r>
                        <m:r>
                          <a:rPr lang="en-US" sz="2800" i="1">
                            <a:solidFill>
                              <a:srgbClr val="0000FF"/>
                            </a:solidFill>
                            <a:latin typeface="Cambria Math" panose="02040503050406030204" pitchFamily="18" charset="0"/>
                          </a:rPr>
                          <m:t>=−∞</m:t>
                        </m:r>
                      </m:sub>
                      <m:sup>
                        <m:r>
                          <a:rPr lang="en-US" sz="2800" i="1">
                            <a:solidFill>
                              <a:srgbClr val="0000FF"/>
                            </a:solidFill>
                            <a:latin typeface="Cambria Math" panose="02040503050406030204" pitchFamily="18" charset="0"/>
                          </a:rPr>
                          <m:t>∞</m:t>
                        </m:r>
                      </m:sup>
                      <m:e>
                        <m:r>
                          <a:rPr lang="en-US" sz="2800" i="1">
                            <a:solidFill>
                              <a:srgbClr val="0000FF"/>
                            </a:solidFill>
                            <a:latin typeface="Cambria Math" panose="02040503050406030204" pitchFamily="18" charset="0"/>
                          </a:rPr>
                          <m:t>𝛿</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𝑘𝑁</m:t>
                        </m:r>
                        <m:r>
                          <a:rPr lang="en-US" sz="2800" i="1">
                            <a:solidFill>
                              <a:srgbClr val="0000FF"/>
                            </a:solidFill>
                            <a:latin typeface="Cambria Math" panose="02040503050406030204" pitchFamily="18" charset="0"/>
                          </a:rPr>
                          <m:t>)</m:t>
                        </m:r>
                      </m:e>
                    </m:nary>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 </a:t>
                </a:r>
              </a:p>
            </p:txBody>
          </p:sp>
        </mc:Choice>
        <mc:Fallback xmlns="">
          <p:sp>
            <p:nvSpPr>
              <p:cNvPr id="22576" name="Text Box 21">
                <a:extLst>
                  <a:ext uri="{FF2B5EF4-FFF2-40B4-BE49-F238E27FC236}">
                    <a16:creationId xmlns:a16="http://schemas.microsoft.com/office/drawing/2014/main" id="{5552728A-C61E-45BB-9212-95A76407EE2F}"/>
                  </a:ext>
                </a:extLst>
              </p:cNvPr>
              <p:cNvSpPr txBox="1">
                <a:spLocks noRot="1" noChangeAspect="1" noMove="1" noResize="1" noEditPoints="1" noAdjustHandles="1" noChangeArrowheads="1" noChangeShapeType="1" noTextEdit="1"/>
              </p:cNvSpPr>
              <p:nvPr/>
            </p:nvSpPr>
            <p:spPr bwMode="auto">
              <a:xfrm>
                <a:off x="572673" y="1339970"/>
                <a:ext cx="5170903" cy="523220"/>
              </a:xfrm>
              <a:prstGeom prst="rect">
                <a:avLst/>
              </a:prstGeom>
              <a:blipFill>
                <a:blip r:embed="rId3"/>
                <a:stretch>
                  <a:fillRect l="-2476" t="-15116"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grpSp>
        <p:nvGrpSpPr>
          <p:cNvPr id="22549" name="Group 22">
            <a:extLst>
              <a:ext uri="{FF2B5EF4-FFF2-40B4-BE49-F238E27FC236}">
                <a16:creationId xmlns:a16="http://schemas.microsoft.com/office/drawing/2014/main" id="{2CA4C3B2-F60D-4C97-A2AF-6E0F2F04238F}"/>
              </a:ext>
            </a:extLst>
          </p:cNvPr>
          <p:cNvGrpSpPr>
            <a:grpSpLocks/>
          </p:cNvGrpSpPr>
          <p:nvPr/>
        </p:nvGrpSpPr>
        <p:grpSpPr bwMode="auto">
          <a:xfrm>
            <a:off x="5660219" y="1335207"/>
            <a:ext cx="2928937" cy="519113"/>
            <a:chOff x="2880" y="2748"/>
            <a:chExt cx="1845" cy="327"/>
          </a:xfrm>
        </p:grpSpPr>
        <p:sp>
          <p:nvSpPr>
            <p:cNvPr id="22574" name="Text Box 23">
              <a:extLst>
                <a:ext uri="{FF2B5EF4-FFF2-40B4-BE49-F238E27FC236}">
                  <a16:creationId xmlns:a16="http://schemas.microsoft.com/office/drawing/2014/main" id="{A3C13E6D-11A3-473B-9876-B0F4C89ABCD8}"/>
                </a:ext>
              </a:extLst>
            </p:cNvPr>
            <p:cNvSpPr txBox="1">
              <a:spLocks noChangeArrowheads="1"/>
            </p:cNvSpPr>
            <p:nvPr/>
          </p:nvSpPr>
          <p:spPr bwMode="auto">
            <a:xfrm>
              <a:off x="3484" y="2748"/>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均匀脉冲串</a:t>
              </a:r>
            </a:p>
          </p:txBody>
        </p:sp>
        <p:sp>
          <p:nvSpPr>
            <p:cNvPr id="22575" name="Line 24">
              <a:extLst>
                <a:ext uri="{FF2B5EF4-FFF2-40B4-BE49-F238E27FC236}">
                  <a16:creationId xmlns:a16="http://schemas.microsoft.com/office/drawing/2014/main" id="{EA20D5D0-8DE3-4AF2-91C5-7C4F6D9CC7E2}"/>
                </a:ext>
              </a:extLst>
            </p:cNvPr>
            <p:cNvSpPr>
              <a:spLocks noChangeShapeType="1"/>
            </p:cNvSpPr>
            <p:nvPr/>
          </p:nvSpPr>
          <p:spPr bwMode="auto">
            <a:xfrm>
              <a:off x="2880" y="2940"/>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7" name="Line 41">
            <a:extLst>
              <a:ext uri="{FF2B5EF4-FFF2-40B4-BE49-F238E27FC236}">
                <a16:creationId xmlns:a16="http://schemas.microsoft.com/office/drawing/2014/main" id="{F4220E12-D7F9-47B7-A8A5-18A86197E582}"/>
              </a:ext>
            </a:extLst>
          </p:cNvPr>
          <p:cNvSpPr>
            <a:spLocks noChangeShapeType="1"/>
          </p:cNvSpPr>
          <p:nvPr/>
        </p:nvSpPr>
        <p:spPr bwMode="auto">
          <a:xfrm>
            <a:off x="4407942" y="5085184"/>
            <a:ext cx="540000" cy="0"/>
          </a:xfrm>
          <a:prstGeom prst="line">
            <a:avLst/>
          </a:prstGeom>
          <a:noFill/>
          <a:ln w="38100">
            <a:solidFill>
              <a:schemeClr val="tx1"/>
            </a:solidFill>
            <a:round/>
            <a:headEnd type="triangle"/>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52" name="Object 1027">
                <a:extLst>
                  <a:ext uri="{FF2B5EF4-FFF2-40B4-BE49-F238E27FC236}">
                    <a16:creationId xmlns:a16="http://schemas.microsoft.com/office/drawing/2014/main" id="{F368DB8A-C85E-4EBF-858A-51B0DA6A34EE}"/>
                  </a:ext>
                </a:extLst>
              </p:cNvPr>
              <p:cNvSpPr txBox="1"/>
              <p:nvPr/>
            </p:nvSpPr>
            <p:spPr bwMode="auto">
              <a:xfrm>
                <a:off x="468803" y="2104975"/>
                <a:ext cx="8459335" cy="700705"/>
              </a:xfrm>
              <a:prstGeom prst="rect">
                <a:avLst/>
              </a:prstGeom>
              <a:noFill/>
              <a:ln>
                <a:noFill/>
              </a:ln>
              <a:effectLst/>
            </p:spPr>
            <p:txBody>
              <a:bodyPr wrap="square">
                <a:spAutoFit/>
              </a:bodyPr>
              <a:lstStyle/>
              <a:p>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𝑁</m:t>
                        </m:r>
                      </m:den>
                    </m:f>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=&lt;</m:t>
                        </m:r>
                        <m:r>
                          <a:rPr lang="en-US" sz="2800" i="1">
                            <a:solidFill>
                              <a:srgbClr val="000000"/>
                            </a:solidFill>
                            <a:latin typeface="Cambria Math" panose="02040503050406030204" pitchFamily="18" charset="0"/>
                          </a:rPr>
                          <m:t>𝑁</m:t>
                        </m:r>
                        <m:r>
                          <a:rPr lang="en-US" sz="2800" i="1">
                            <a:solidFill>
                              <a:srgbClr val="000000"/>
                            </a:solidFill>
                            <a:latin typeface="Cambria Math" panose="02040503050406030204" pitchFamily="18" charset="0"/>
                          </a:rPr>
                          <m:t>&gt;</m:t>
                        </m:r>
                      </m:sub>
                      <m:sup/>
                      <m:e>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𝑘</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𝑛</m:t>
                            </m:r>
                          </m:sup>
                        </m:sSup>
                      </m:e>
                    </m:nary>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𝑁</m:t>
                        </m:r>
                      </m:den>
                    </m:f>
                    <m:nary>
                      <m:naryPr>
                        <m:chr m:val="∑"/>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=0</m:t>
                        </m:r>
                      </m:sub>
                      <m:sup>
                        <m:r>
                          <a:rPr lang="en-US" sz="2800" i="1">
                            <a:solidFill>
                              <a:srgbClr val="000000"/>
                            </a:solidFill>
                            <a:latin typeface="Cambria Math" panose="02040503050406030204" pitchFamily="18" charset="0"/>
                          </a:rPr>
                          <m:t>𝑁</m:t>
                        </m:r>
                        <m:r>
                          <a:rPr lang="en-US" sz="2800" i="1">
                            <a:solidFill>
                              <a:srgbClr val="000000"/>
                            </a:solidFill>
                            <a:latin typeface="Cambria Math" panose="02040503050406030204" pitchFamily="18" charset="0"/>
                          </a:rPr>
                          <m:t>−1</m:t>
                        </m:r>
                      </m:sup>
                      <m:e>
                        <m:r>
                          <a:rPr lang="en-US" sz="2800" i="1">
                            <a:solidFill>
                              <a:srgbClr val="000000"/>
                            </a:solidFill>
                            <a:latin typeface="Cambria Math" panose="02040503050406030204" pitchFamily="18" charset="0"/>
                          </a:rPr>
                          <m:t>𝛿</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e>
                    </m:nary>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𝑘</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𝑛</m:t>
                        </m:r>
                      </m:sup>
                    </m:sSup>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𝑁</m:t>
                        </m:r>
                      </m:den>
                    </m:f>
                  </m:oMath>
                </a14:m>
                <a:r>
                  <a:rPr lang="en-US" sz="2800" dirty="0"/>
                  <a:t> </a:t>
                </a:r>
              </a:p>
            </p:txBody>
          </p:sp>
        </mc:Choice>
        <mc:Fallback xmlns="">
          <p:sp>
            <p:nvSpPr>
              <p:cNvPr id="52" name="Object 1027">
                <a:extLst>
                  <a:ext uri="{FF2B5EF4-FFF2-40B4-BE49-F238E27FC236}">
                    <a16:creationId xmlns:a16="http://schemas.microsoft.com/office/drawing/2014/main" id="{F368DB8A-C85E-4EBF-858A-51B0DA6A34EE}"/>
                  </a:ext>
                </a:extLst>
              </p:cNvPr>
              <p:cNvSpPr txBox="1">
                <a:spLocks noRot="1" noChangeAspect="1" noMove="1" noResize="1" noEditPoints="1" noAdjustHandles="1" noChangeArrowheads="1" noChangeShapeType="1" noTextEdit="1"/>
              </p:cNvSpPr>
              <p:nvPr/>
            </p:nvSpPr>
            <p:spPr bwMode="auto">
              <a:xfrm>
                <a:off x="468803" y="2104975"/>
                <a:ext cx="8459335" cy="700705"/>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Object 1028">
                <a:extLst>
                  <a:ext uri="{FF2B5EF4-FFF2-40B4-BE49-F238E27FC236}">
                    <a16:creationId xmlns:a16="http://schemas.microsoft.com/office/drawing/2014/main" id="{954C18CD-F845-44B8-88E2-DB443B466CED}"/>
                  </a:ext>
                </a:extLst>
              </p:cNvPr>
              <p:cNvSpPr txBox="1"/>
              <p:nvPr/>
            </p:nvSpPr>
            <p:spPr bwMode="auto">
              <a:xfrm>
                <a:off x="2244031" y="2961096"/>
                <a:ext cx="4908877" cy="126714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𝜋</m:t>
                          </m:r>
                        </m:num>
                        <m:den>
                          <m:r>
                            <a:rPr lang="en-US" sz="2800" i="1">
                              <a:solidFill>
                                <a:srgbClr val="000000"/>
                              </a:solidFill>
                              <a:latin typeface="Cambria Math" panose="02040503050406030204" pitchFamily="18" charset="0"/>
                            </a:rPr>
                            <m:t>𝑁</m:t>
                          </m:r>
                        </m:den>
                      </m:f>
                      <m:nary>
                        <m:naryPr>
                          <m:chr m:val="∑"/>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𝜋</m:t>
                              </m:r>
                            </m:num>
                            <m:den>
                              <m:r>
                                <a:rPr lang="en-US" sz="2800" i="1">
                                  <a:solidFill>
                                    <a:srgbClr val="000000"/>
                                  </a:solidFill>
                                  <a:latin typeface="Cambria Math" panose="02040503050406030204" pitchFamily="18" charset="0"/>
                                </a:rPr>
                                <m:t>𝑁</m:t>
                              </m:r>
                            </m:den>
                          </m:f>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m:t>
                          </m:r>
                        </m:e>
                      </m:nary>
                    </m:oMath>
                  </m:oMathPara>
                </a14:m>
                <a:endParaRPr lang="en-US" sz="2800" dirty="0"/>
              </a:p>
            </p:txBody>
          </p:sp>
        </mc:Choice>
        <mc:Fallback xmlns="">
          <p:sp>
            <p:nvSpPr>
              <p:cNvPr id="55" name="Object 1028">
                <a:extLst>
                  <a:ext uri="{FF2B5EF4-FFF2-40B4-BE49-F238E27FC236}">
                    <a16:creationId xmlns:a16="http://schemas.microsoft.com/office/drawing/2014/main" id="{954C18CD-F845-44B8-88E2-DB443B466CED}"/>
                  </a:ext>
                </a:extLst>
              </p:cNvPr>
              <p:cNvSpPr txBox="1">
                <a:spLocks noRot="1" noChangeAspect="1" noMove="1" noResize="1" noEditPoints="1" noAdjustHandles="1" noChangeArrowheads="1" noChangeShapeType="1" noTextEdit="1"/>
              </p:cNvSpPr>
              <p:nvPr/>
            </p:nvSpPr>
            <p:spPr bwMode="auto">
              <a:xfrm>
                <a:off x="2244031" y="2961096"/>
                <a:ext cx="4908877" cy="1267142"/>
              </a:xfrm>
              <a:prstGeom prst="rect">
                <a:avLst/>
              </a:prstGeom>
              <a:blipFill>
                <a:blip r:embed="rId5"/>
                <a:stretch>
                  <a:fillRect/>
                </a:stretch>
              </a:blipFill>
              <a:ln>
                <a:noFill/>
              </a:ln>
              <a:effectLst/>
            </p:spPr>
            <p:txBody>
              <a:bodyPr/>
              <a:lstStyle/>
              <a:p>
                <a:r>
                  <a:rPr lang="en-US">
                    <a:noFill/>
                  </a:rPr>
                  <a:t> </a:t>
                </a:r>
              </a:p>
            </p:txBody>
          </p:sp>
        </mc:Fallback>
      </mc:AlternateContent>
      <p:grpSp>
        <p:nvGrpSpPr>
          <p:cNvPr id="58" name="Group 1077">
            <a:extLst>
              <a:ext uri="{FF2B5EF4-FFF2-40B4-BE49-F238E27FC236}">
                <a16:creationId xmlns:a16="http://schemas.microsoft.com/office/drawing/2014/main" id="{4BE1C6A5-452C-43F5-81DB-837476ACDE06}"/>
              </a:ext>
            </a:extLst>
          </p:cNvPr>
          <p:cNvGrpSpPr>
            <a:grpSpLocks/>
          </p:cNvGrpSpPr>
          <p:nvPr/>
        </p:nvGrpSpPr>
        <p:grpSpPr bwMode="auto">
          <a:xfrm>
            <a:off x="4856056" y="4238627"/>
            <a:ext cx="4025900" cy="1936750"/>
            <a:chOff x="3088" y="2883"/>
            <a:chExt cx="2536" cy="1220"/>
          </a:xfrm>
        </p:grpSpPr>
        <p:graphicFrame>
          <p:nvGraphicFramePr>
            <p:cNvPr id="59" name="Object 1053">
              <a:extLst>
                <a:ext uri="{FF2B5EF4-FFF2-40B4-BE49-F238E27FC236}">
                  <a16:creationId xmlns:a16="http://schemas.microsoft.com/office/drawing/2014/main" id="{BAB00044-71E7-45CE-844A-5847B5A9DCC5}"/>
                </a:ext>
              </a:extLst>
            </p:cNvPr>
            <p:cNvGraphicFramePr>
              <a:graphicFrameLocks noChangeAspect="1"/>
            </p:cNvGraphicFramePr>
            <p:nvPr/>
          </p:nvGraphicFramePr>
          <p:xfrm>
            <a:off x="3762" y="3762"/>
            <a:ext cx="308" cy="340"/>
          </p:xfrm>
          <a:graphic>
            <a:graphicData uri="http://schemas.openxmlformats.org/presentationml/2006/ole">
              <mc:AlternateContent xmlns:mc="http://schemas.openxmlformats.org/markup-compatibility/2006">
                <mc:Choice xmlns:v="urn:schemas-microsoft-com:vml" Requires="v">
                  <p:oleObj spid="_x0000_s16388" name="公式" r:id="rId6" imgW="355320" imgH="393480" progId="Equation.3">
                    <p:embed/>
                  </p:oleObj>
                </mc:Choice>
                <mc:Fallback>
                  <p:oleObj name="公式" r:id="rId6" imgW="355320" imgH="393480" progId="Equation.3">
                    <p:embed/>
                    <p:pic>
                      <p:nvPicPr>
                        <p:cNvPr id="687133" name="Object 1053">
                          <a:extLst>
                            <a:ext uri="{FF2B5EF4-FFF2-40B4-BE49-F238E27FC236}">
                              <a16:creationId xmlns:a16="http://schemas.microsoft.com/office/drawing/2014/main" id="{ADE4CC83-8D80-4EF6-B61A-3B793ABAB4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62" y="3762"/>
                          <a:ext cx="308"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1054">
              <a:extLst>
                <a:ext uri="{FF2B5EF4-FFF2-40B4-BE49-F238E27FC236}">
                  <a16:creationId xmlns:a16="http://schemas.microsoft.com/office/drawing/2014/main" id="{8EC5754A-1C46-4C03-8FCC-005F437FED67}"/>
                </a:ext>
              </a:extLst>
            </p:cNvPr>
            <p:cNvGraphicFramePr>
              <a:graphicFrameLocks noChangeAspect="1"/>
            </p:cNvGraphicFramePr>
            <p:nvPr/>
          </p:nvGraphicFramePr>
          <p:xfrm>
            <a:off x="4647" y="3763"/>
            <a:ext cx="220" cy="340"/>
          </p:xfrm>
          <a:graphic>
            <a:graphicData uri="http://schemas.openxmlformats.org/presentationml/2006/ole">
              <mc:AlternateContent xmlns:mc="http://schemas.openxmlformats.org/markup-compatibility/2006">
                <mc:Choice xmlns:v="urn:schemas-microsoft-com:vml" Requires="v">
                  <p:oleObj spid="_x0000_s16389" name="公式" r:id="rId8" imgW="253800" imgH="393480" progId="Equation.3">
                    <p:embed/>
                  </p:oleObj>
                </mc:Choice>
                <mc:Fallback>
                  <p:oleObj name="公式" r:id="rId8" imgW="253800" imgH="393480" progId="Equation.3">
                    <p:embed/>
                    <p:pic>
                      <p:nvPicPr>
                        <p:cNvPr id="687134" name="Object 1054">
                          <a:extLst>
                            <a:ext uri="{FF2B5EF4-FFF2-40B4-BE49-F238E27FC236}">
                              <a16:creationId xmlns:a16="http://schemas.microsoft.com/office/drawing/2014/main" id="{1103DC81-5A85-483A-8E39-7E96D9AD47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7" y="3763"/>
                          <a:ext cx="220"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 name="Line 1055">
              <a:extLst>
                <a:ext uri="{FF2B5EF4-FFF2-40B4-BE49-F238E27FC236}">
                  <a16:creationId xmlns:a16="http://schemas.microsoft.com/office/drawing/2014/main" id="{CD9B8E1B-C4C7-4E44-A331-521C7F7A8804}"/>
                </a:ext>
              </a:extLst>
            </p:cNvPr>
            <p:cNvSpPr>
              <a:spLocks noChangeShapeType="1"/>
            </p:cNvSpPr>
            <p:nvPr/>
          </p:nvSpPr>
          <p:spPr bwMode="auto">
            <a:xfrm>
              <a:off x="3088" y="3765"/>
              <a:ext cx="2497"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1056">
              <a:extLst>
                <a:ext uri="{FF2B5EF4-FFF2-40B4-BE49-F238E27FC236}">
                  <a16:creationId xmlns:a16="http://schemas.microsoft.com/office/drawing/2014/main" id="{880C0E6A-5118-43C9-87F1-98197AF0A79E}"/>
                </a:ext>
              </a:extLst>
            </p:cNvPr>
            <p:cNvSpPr>
              <a:spLocks noChangeShapeType="1"/>
            </p:cNvSpPr>
            <p:nvPr/>
          </p:nvSpPr>
          <p:spPr bwMode="auto">
            <a:xfrm flipV="1">
              <a:off x="4314" y="3006"/>
              <a:ext cx="0" cy="28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Line 1057">
              <a:extLst>
                <a:ext uri="{FF2B5EF4-FFF2-40B4-BE49-F238E27FC236}">
                  <a16:creationId xmlns:a16="http://schemas.microsoft.com/office/drawing/2014/main" id="{BC6829EF-C472-42B4-A92D-6047B114CAB2}"/>
                </a:ext>
              </a:extLst>
            </p:cNvPr>
            <p:cNvSpPr>
              <a:spLocks noChangeShapeType="1"/>
            </p:cNvSpPr>
            <p:nvPr/>
          </p:nvSpPr>
          <p:spPr bwMode="auto">
            <a:xfrm flipV="1">
              <a:off x="3917" y="3246"/>
              <a:ext cx="0" cy="51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1058">
              <a:extLst>
                <a:ext uri="{FF2B5EF4-FFF2-40B4-BE49-F238E27FC236}">
                  <a16:creationId xmlns:a16="http://schemas.microsoft.com/office/drawing/2014/main" id="{604BF4CB-2318-4EEA-AADC-0F2CE0989909}"/>
                </a:ext>
              </a:extLst>
            </p:cNvPr>
            <p:cNvSpPr>
              <a:spLocks noChangeShapeType="1"/>
            </p:cNvSpPr>
            <p:nvPr/>
          </p:nvSpPr>
          <p:spPr bwMode="auto">
            <a:xfrm flipV="1">
              <a:off x="4755" y="3255"/>
              <a:ext cx="0" cy="51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1059">
              <a:extLst>
                <a:ext uri="{FF2B5EF4-FFF2-40B4-BE49-F238E27FC236}">
                  <a16:creationId xmlns:a16="http://schemas.microsoft.com/office/drawing/2014/main" id="{82F18192-F342-4AEF-882A-9964E3E6D28E}"/>
                </a:ext>
              </a:extLst>
            </p:cNvPr>
            <p:cNvSpPr>
              <a:spLocks noChangeShapeType="1"/>
            </p:cNvSpPr>
            <p:nvPr/>
          </p:nvSpPr>
          <p:spPr bwMode="auto">
            <a:xfrm flipV="1">
              <a:off x="3503" y="3255"/>
              <a:ext cx="0" cy="51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1060">
              <a:extLst>
                <a:ext uri="{FF2B5EF4-FFF2-40B4-BE49-F238E27FC236}">
                  <a16:creationId xmlns:a16="http://schemas.microsoft.com/office/drawing/2014/main" id="{D3170E1A-B7F1-46E4-9FFF-1BDE4BE74D2F}"/>
                </a:ext>
              </a:extLst>
            </p:cNvPr>
            <p:cNvSpPr>
              <a:spLocks noChangeShapeType="1"/>
            </p:cNvSpPr>
            <p:nvPr/>
          </p:nvSpPr>
          <p:spPr bwMode="auto">
            <a:xfrm flipV="1">
              <a:off x="5162" y="3264"/>
              <a:ext cx="0" cy="50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67" name="Object 1061">
              <a:extLst>
                <a:ext uri="{FF2B5EF4-FFF2-40B4-BE49-F238E27FC236}">
                  <a16:creationId xmlns:a16="http://schemas.microsoft.com/office/drawing/2014/main" id="{88FF1979-2629-4CD3-B2C0-685217DF58C7}"/>
                </a:ext>
              </a:extLst>
            </p:cNvPr>
            <p:cNvGraphicFramePr>
              <a:graphicFrameLocks noChangeAspect="1"/>
            </p:cNvGraphicFramePr>
            <p:nvPr>
              <p:extLst>
                <p:ext uri="{D42A27DB-BD31-4B8C-83A1-F6EECF244321}">
                  <p14:modId xmlns:p14="http://schemas.microsoft.com/office/powerpoint/2010/main" val="2118548846"/>
                </p:ext>
              </p:extLst>
            </p:nvPr>
          </p:nvGraphicFramePr>
          <p:xfrm>
            <a:off x="3774" y="2883"/>
            <a:ext cx="501" cy="275"/>
          </p:xfrm>
          <a:graphic>
            <a:graphicData uri="http://schemas.openxmlformats.org/presentationml/2006/ole">
              <mc:AlternateContent xmlns:mc="http://schemas.openxmlformats.org/markup-compatibility/2006">
                <mc:Choice xmlns:v="urn:schemas-microsoft-com:vml" Requires="v">
                  <p:oleObj spid="_x0000_s16390" name="公式" r:id="rId10" imgW="482400" imgH="228600" progId="Equation.3">
                    <p:embed/>
                  </p:oleObj>
                </mc:Choice>
                <mc:Fallback>
                  <p:oleObj name="公式" r:id="rId10" imgW="482400" imgH="228600" progId="Equation.3">
                    <p:embed/>
                    <p:pic>
                      <p:nvPicPr>
                        <p:cNvPr id="687141" name="Object 1061">
                          <a:extLst>
                            <a:ext uri="{FF2B5EF4-FFF2-40B4-BE49-F238E27FC236}">
                              <a16:creationId xmlns:a16="http://schemas.microsoft.com/office/drawing/2014/main" id="{12EB42C3-A916-45F0-9C5F-8192F49E70D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74" y="2883"/>
                          <a:ext cx="501"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 name="Object 1062">
              <a:extLst>
                <a:ext uri="{FF2B5EF4-FFF2-40B4-BE49-F238E27FC236}">
                  <a16:creationId xmlns:a16="http://schemas.microsoft.com/office/drawing/2014/main" id="{F714173D-5E78-4DDE-9627-242D44473D6D}"/>
                </a:ext>
              </a:extLst>
            </p:cNvPr>
            <p:cNvGraphicFramePr>
              <a:graphicFrameLocks noChangeAspect="1"/>
            </p:cNvGraphicFramePr>
            <p:nvPr/>
          </p:nvGraphicFramePr>
          <p:xfrm>
            <a:off x="4371" y="3114"/>
            <a:ext cx="220" cy="340"/>
          </p:xfrm>
          <a:graphic>
            <a:graphicData uri="http://schemas.openxmlformats.org/presentationml/2006/ole">
              <mc:AlternateContent xmlns:mc="http://schemas.openxmlformats.org/markup-compatibility/2006">
                <mc:Choice xmlns:v="urn:schemas-microsoft-com:vml" Requires="v">
                  <p:oleObj spid="_x0000_s16391" name="公式" r:id="rId12" imgW="253800" imgH="393480" progId="Equation.3">
                    <p:embed/>
                  </p:oleObj>
                </mc:Choice>
                <mc:Fallback>
                  <p:oleObj name="公式" r:id="rId12" imgW="253800" imgH="393480" progId="Equation.3">
                    <p:embed/>
                    <p:pic>
                      <p:nvPicPr>
                        <p:cNvPr id="687142" name="Object 1062">
                          <a:extLst>
                            <a:ext uri="{FF2B5EF4-FFF2-40B4-BE49-F238E27FC236}">
                              <a16:creationId xmlns:a16="http://schemas.microsoft.com/office/drawing/2014/main" id="{6EF51896-54FC-4DC9-99BE-F8C8ECA1E29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71" y="3114"/>
                          <a:ext cx="220"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 name="Object 1063">
              <a:extLst>
                <a:ext uri="{FF2B5EF4-FFF2-40B4-BE49-F238E27FC236}">
                  <a16:creationId xmlns:a16="http://schemas.microsoft.com/office/drawing/2014/main" id="{3FEEAF01-7B22-4127-820C-C2F6109F2D40}"/>
                </a:ext>
              </a:extLst>
            </p:cNvPr>
            <p:cNvGraphicFramePr>
              <a:graphicFrameLocks noChangeAspect="1"/>
            </p:cNvGraphicFramePr>
            <p:nvPr/>
          </p:nvGraphicFramePr>
          <p:xfrm>
            <a:off x="4257" y="3784"/>
            <a:ext cx="130" cy="182"/>
          </p:xfrm>
          <a:graphic>
            <a:graphicData uri="http://schemas.openxmlformats.org/presentationml/2006/ole">
              <mc:AlternateContent xmlns:mc="http://schemas.openxmlformats.org/markup-compatibility/2006">
                <mc:Choice xmlns:v="urn:schemas-microsoft-com:vml" Requires="v">
                  <p:oleObj spid="_x0000_s16392" name="公式" r:id="rId14" imgW="126720" imgH="177480" progId="Equation.3">
                    <p:embed/>
                  </p:oleObj>
                </mc:Choice>
                <mc:Fallback>
                  <p:oleObj name="公式" r:id="rId14" imgW="126720" imgH="177480" progId="Equation.3">
                    <p:embed/>
                    <p:pic>
                      <p:nvPicPr>
                        <p:cNvPr id="687143" name="Object 1063">
                          <a:extLst>
                            <a:ext uri="{FF2B5EF4-FFF2-40B4-BE49-F238E27FC236}">
                              <a16:creationId xmlns:a16="http://schemas.microsoft.com/office/drawing/2014/main" id="{4B59FF21-4537-4CB5-A189-87EB4852868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57" y="3784"/>
                          <a:ext cx="13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 name="Object 1064">
              <a:extLst>
                <a:ext uri="{FF2B5EF4-FFF2-40B4-BE49-F238E27FC236}">
                  <a16:creationId xmlns:a16="http://schemas.microsoft.com/office/drawing/2014/main" id="{0FE07D4F-DF70-4121-9ECF-3621794EB34F}"/>
                </a:ext>
              </a:extLst>
            </p:cNvPr>
            <p:cNvGraphicFramePr>
              <a:graphicFrameLocks noChangeAspect="1"/>
            </p:cNvGraphicFramePr>
            <p:nvPr/>
          </p:nvGraphicFramePr>
          <p:xfrm>
            <a:off x="3322" y="3753"/>
            <a:ext cx="308" cy="341"/>
          </p:xfrm>
          <a:graphic>
            <a:graphicData uri="http://schemas.openxmlformats.org/presentationml/2006/ole">
              <mc:AlternateContent xmlns:mc="http://schemas.openxmlformats.org/markup-compatibility/2006">
                <mc:Choice xmlns:v="urn:schemas-microsoft-com:vml" Requires="v">
                  <p:oleObj spid="_x0000_s16393" name="公式" r:id="rId16" imgW="355320" imgH="393480" progId="Equation.3">
                    <p:embed/>
                  </p:oleObj>
                </mc:Choice>
                <mc:Fallback>
                  <p:oleObj name="公式" r:id="rId16" imgW="355320" imgH="393480" progId="Equation.3">
                    <p:embed/>
                    <p:pic>
                      <p:nvPicPr>
                        <p:cNvPr id="687144" name="Object 1064">
                          <a:extLst>
                            <a:ext uri="{FF2B5EF4-FFF2-40B4-BE49-F238E27FC236}">
                              <a16:creationId xmlns:a16="http://schemas.microsoft.com/office/drawing/2014/main" id="{A755E64A-5BA0-462F-918B-00141AF922C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22" y="3753"/>
                          <a:ext cx="308"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 name="Object 1065">
              <a:extLst>
                <a:ext uri="{FF2B5EF4-FFF2-40B4-BE49-F238E27FC236}">
                  <a16:creationId xmlns:a16="http://schemas.microsoft.com/office/drawing/2014/main" id="{08AC2A4B-7A76-4D40-BED3-F6A382BFD151}"/>
                </a:ext>
              </a:extLst>
            </p:cNvPr>
            <p:cNvGraphicFramePr>
              <a:graphicFrameLocks noChangeAspect="1"/>
            </p:cNvGraphicFramePr>
            <p:nvPr/>
          </p:nvGraphicFramePr>
          <p:xfrm>
            <a:off x="5062" y="3755"/>
            <a:ext cx="220" cy="341"/>
          </p:xfrm>
          <a:graphic>
            <a:graphicData uri="http://schemas.openxmlformats.org/presentationml/2006/ole">
              <mc:AlternateContent xmlns:mc="http://schemas.openxmlformats.org/markup-compatibility/2006">
                <mc:Choice xmlns:v="urn:schemas-microsoft-com:vml" Requires="v">
                  <p:oleObj spid="_x0000_s16394" name="公式" r:id="rId18" imgW="253800" imgH="393480" progId="Equation.3">
                    <p:embed/>
                  </p:oleObj>
                </mc:Choice>
                <mc:Fallback>
                  <p:oleObj name="公式" r:id="rId18" imgW="253800" imgH="393480" progId="Equation.3">
                    <p:embed/>
                    <p:pic>
                      <p:nvPicPr>
                        <p:cNvPr id="687145" name="Object 1065">
                          <a:extLst>
                            <a:ext uri="{FF2B5EF4-FFF2-40B4-BE49-F238E27FC236}">
                              <a16:creationId xmlns:a16="http://schemas.microsoft.com/office/drawing/2014/main" id="{4A6AD19C-7DCA-4BE6-A4C1-FA7CA9E2981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62" y="3755"/>
                          <a:ext cx="220"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 name="Object 1066">
              <a:extLst>
                <a:ext uri="{FF2B5EF4-FFF2-40B4-BE49-F238E27FC236}">
                  <a16:creationId xmlns:a16="http://schemas.microsoft.com/office/drawing/2014/main" id="{08CAAE0D-4D9A-4A61-BF37-DAE6CB2DB2D1}"/>
                </a:ext>
              </a:extLst>
            </p:cNvPr>
            <p:cNvGraphicFramePr>
              <a:graphicFrameLocks noChangeAspect="1"/>
            </p:cNvGraphicFramePr>
            <p:nvPr/>
          </p:nvGraphicFramePr>
          <p:xfrm>
            <a:off x="5426" y="3807"/>
            <a:ext cx="198" cy="181"/>
          </p:xfrm>
          <a:graphic>
            <a:graphicData uri="http://schemas.openxmlformats.org/presentationml/2006/ole">
              <mc:AlternateContent xmlns:mc="http://schemas.openxmlformats.org/markup-compatibility/2006">
                <mc:Choice xmlns:v="urn:schemas-microsoft-com:vml" Requires="v">
                  <p:oleObj spid="_x0000_s16395" name="公式" r:id="rId20" imgW="152280" imgH="139680" progId="Equation.3">
                    <p:embed/>
                  </p:oleObj>
                </mc:Choice>
                <mc:Fallback>
                  <p:oleObj name="公式" r:id="rId20" imgW="152280" imgH="139680" progId="Equation.3">
                    <p:embed/>
                    <p:pic>
                      <p:nvPicPr>
                        <p:cNvPr id="687146" name="Object 1066">
                          <a:extLst>
                            <a:ext uri="{FF2B5EF4-FFF2-40B4-BE49-F238E27FC236}">
                              <a16:creationId xmlns:a16="http://schemas.microsoft.com/office/drawing/2014/main" id="{BA139D16-0111-4A04-9CD3-5B6EF11940F4}"/>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426" y="3807"/>
                          <a:ext cx="198"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 name="Object 1067">
              <a:extLst>
                <a:ext uri="{FF2B5EF4-FFF2-40B4-BE49-F238E27FC236}">
                  <a16:creationId xmlns:a16="http://schemas.microsoft.com/office/drawing/2014/main" id="{DAFAAD63-414C-4CED-9879-12942148D0A0}"/>
                </a:ext>
              </a:extLst>
            </p:cNvPr>
            <p:cNvGraphicFramePr>
              <a:graphicFrameLocks noChangeAspect="1"/>
            </p:cNvGraphicFramePr>
            <p:nvPr/>
          </p:nvGraphicFramePr>
          <p:xfrm>
            <a:off x="3295" y="3482"/>
            <a:ext cx="184" cy="78"/>
          </p:xfrm>
          <a:graphic>
            <a:graphicData uri="http://schemas.openxmlformats.org/presentationml/2006/ole">
              <mc:AlternateContent xmlns:mc="http://schemas.openxmlformats.org/markup-compatibility/2006">
                <mc:Choice xmlns:v="urn:schemas-microsoft-com:vml" Requires="v">
                  <p:oleObj spid="_x0000_s16396" name="公式" r:id="rId22" imgW="177480" imgH="75960" progId="Equation.3">
                    <p:embed/>
                  </p:oleObj>
                </mc:Choice>
                <mc:Fallback>
                  <p:oleObj name="公式" r:id="rId22" imgW="177480" imgH="75960" progId="Equation.3">
                    <p:embed/>
                    <p:pic>
                      <p:nvPicPr>
                        <p:cNvPr id="687147" name="Object 1067">
                          <a:extLst>
                            <a:ext uri="{FF2B5EF4-FFF2-40B4-BE49-F238E27FC236}">
                              <a16:creationId xmlns:a16="http://schemas.microsoft.com/office/drawing/2014/main" id="{1EC51D89-BCC4-47F8-9647-9784CEB06CC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95" y="3482"/>
                          <a:ext cx="184" cy="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 name="Object 1068">
              <a:extLst>
                <a:ext uri="{FF2B5EF4-FFF2-40B4-BE49-F238E27FC236}">
                  <a16:creationId xmlns:a16="http://schemas.microsoft.com/office/drawing/2014/main" id="{1BB1BACE-6FE8-469A-B240-970C92199934}"/>
                </a:ext>
              </a:extLst>
            </p:cNvPr>
            <p:cNvGraphicFramePr>
              <a:graphicFrameLocks noChangeAspect="1"/>
            </p:cNvGraphicFramePr>
            <p:nvPr/>
          </p:nvGraphicFramePr>
          <p:xfrm>
            <a:off x="5291" y="3490"/>
            <a:ext cx="184" cy="78"/>
          </p:xfrm>
          <a:graphic>
            <a:graphicData uri="http://schemas.openxmlformats.org/presentationml/2006/ole">
              <mc:AlternateContent xmlns:mc="http://schemas.openxmlformats.org/markup-compatibility/2006">
                <mc:Choice xmlns:v="urn:schemas-microsoft-com:vml" Requires="v">
                  <p:oleObj spid="_x0000_s16397" name="公式" r:id="rId24" imgW="177480" imgH="75960" progId="Equation.3">
                    <p:embed/>
                  </p:oleObj>
                </mc:Choice>
                <mc:Fallback>
                  <p:oleObj name="公式" r:id="rId24" imgW="177480" imgH="75960" progId="Equation.3">
                    <p:embed/>
                    <p:pic>
                      <p:nvPicPr>
                        <p:cNvPr id="687148" name="Object 1068">
                          <a:extLst>
                            <a:ext uri="{FF2B5EF4-FFF2-40B4-BE49-F238E27FC236}">
                              <a16:creationId xmlns:a16="http://schemas.microsoft.com/office/drawing/2014/main" id="{EC48D480-EAD1-4D9D-9438-3A39B7164AD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91" y="3490"/>
                          <a:ext cx="184" cy="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 name="Line 1069">
              <a:extLst>
                <a:ext uri="{FF2B5EF4-FFF2-40B4-BE49-F238E27FC236}">
                  <a16:creationId xmlns:a16="http://schemas.microsoft.com/office/drawing/2014/main" id="{97E860DC-BE82-4714-AAB2-B0982E5FD1AC}"/>
                </a:ext>
              </a:extLst>
            </p:cNvPr>
            <p:cNvSpPr>
              <a:spLocks noChangeShapeType="1"/>
            </p:cNvSpPr>
            <p:nvPr/>
          </p:nvSpPr>
          <p:spPr bwMode="auto">
            <a:xfrm flipV="1">
              <a:off x="4313" y="3267"/>
              <a:ext cx="0" cy="49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6" name="Group 1076">
            <a:extLst>
              <a:ext uri="{FF2B5EF4-FFF2-40B4-BE49-F238E27FC236}">
                <a16:creationId xmlns:a16="http://schemas.microsoft.com/office/drawing/2014/main" id="{A39B0FBF-9847-4057-AB7F-0C7AA34C1639}"/>
              </a:ext>
            </a:extLst>
          </p:cNvPr>
          <p:cNvGrpSpPr>
            <a:grpSpLocks/>
          </p:cNvGrpSpPr>
          <p:nvPr/>
        </p:nvGrpSpPr>
        <p:grpSpPr bwMode="auto">
          <a:xfrm>
            <a:off x="447569" y="4248152"/>
            <a:ext cx="4052887" cy="1722438"/>
            <a:chOff x="353" y="2892"/>
            <a:chExt cx="2553" cy="1085"/>
          </a:xfrm>
        </p:grpSpPr>
        <mc:AlternateContent xmlns:mc="http://schemas.openxmlformats.org/markup-compatibility/2006" xmlns:a14="http://schemas.microsoft.com/office/drawing/2010/main">
          <mc:Choice Requires="a14">
            <p:sp>
              <p:nvSpPr>
                <p:cNvPr id="77" name="Object 1030">
                  <a:extLst>
                    <a:ext uri="{FF2B5EF4-FFF2-40B4-BE49-F238E27FC236}">
                      <a16:creationId xmlns:a16="http://schemas.microsoft.com/office/drawing/2014/main" id="{2AC8778C-13C1-4925-944A-C1E000AED5AB}"/>
                    </a:ext>
                  </a:extLst>
                </p:cNvPr>
                <p:cNvSpPr txBox="1"/>
                <p:nvPr/>
              </p:nvSpPr>
              <p:spPr bwMode="auto">
                <a:xfrm>
                  <a:off x="1590" y="2892"/>
                  <a:ext cx="469" cy="3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77" name="Object 1030">
                  <a:extLst>
                    <a:ext uri="{FF2B5EF4-FFF2-40B4-BE49-F238E27FC236}">
                      <a16:creationId xmlns:a16="http://schemas.microsoft.com/office/drawing/2014/main" id="{2AC8778C-13C1-4925-944A-C1E000AED5AB}"/>
                    </a:ext>
                  </a:extLst>
                </p:cNvPr>
                <p:cNvSpPr txBox="1">
                  <a:spLocks noRot="1" noChangeAspect="1" noMove="1" noResize="1" noEditPoints="1" noAdjustHandles="1" noChangeArrowheads="1" noChangeShapeType="1" noTextEdit="1"/>
                </p:cNvSpPr>
                <p:nvPr/>
              </p:nvSpPr>
              <p:spPr bwMode="auto">
                <a:xfrm>
                  <a:off x="1590" y="2892"/>
                  <a:ext cx="469" cy="300"/>
                </a:xfrm>
                <a:prstGeom prst="rect">
                  <a:avLst/>
                </a:prstGeom>
                <a:blipFill>
                  <a:blip r:embed="rId25"/>
                  <a:stretch>
                    <a:fillRect r="-7377" b="-16667"/>
                  </a:stretch>
                </a:blipFill>
                <a:ln>
                  <a:noFill/>
                </a:ln>
                <a:effectLst/>
              </p:spPr>
              <p:txBody>
                <a:bodyPr/>
                <a:lstStyle/>
                <a:p>
                  <a:r>
                    <a:rPr lang="en-US">
                      <a:noFill/>
                    </a:rPr>
                    <a:t> </a:t>
                  </a:r>
                </a:p>
              </p:txBody>
            </p:sp>
          </mc:Fallback>
        </mc:AlternateContent>
        <p:sp>
          <p:nvSpPr>
            <p:cNvPr id="78" name="Line 1032">
              <a:extLst>
                <a:ext uri="{FF2B5EF4-FFF2-40B4-BE49-F238E27FC236}">
                  <a16:creationId xmlns:a16="http://schemas.microsoft.com/office/drawing/2014/main" id="{AD947ED4-D834-4F4B-86DD-DAE9E1388AF1}"/>
                </a:ext>
              </a:extLst>
            </p:cNvPr>
            <p:cNvSpPr>
              <a:spLocks noChangeShapeType="1"/>
            </p:cNvSpPr>
            <p:nvPr/>
          </p:nvSpPr>
          <p:spPr bwMode="auto">
            <a:xfrm>
              <a:off x="353" y="3767"/>
              <a:ext cx="249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 name="Line 1033">
              <a:extLst>
                <a:ext uri="{FF2B5EF4-FFF2-40B4-BE49-F238E27FC236}">
                  <a16:creationId xmlns:a16="http://schemas.microsoft.com/office/drawing/2014/main" id="{7F6515CF-4863-494A-A73B-0FB6EF48EE9F}"/>
                </a:ext>
              </a:extLst>
            </p:cNvPr>
            <p:cNvSpPr>
              <a:spLocks noChangeShapeType="1"/>
            </p:cNvSpPr>
            <p:nvPr/>
          </p:nvSpPr>
          <p:spPr bwMode="auto">
            <a:xfrm flipV="1">
              <a:off x="1598" y="3000"/>
              <a:ext cx="0" cy="76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graphicFrame>
              <p:nvGraphicFramePr>
                <p:cNvPr id="80" name="Object 1034">
                  <a:extLst>
                    <a:ext uri="{FF2B5EF4-FFF2-40B4-BE49-F238E27FC236}">
                      <a16:creationId xmlns:a16="http://schemas.microsoft.com/office/drawing/2014/main" id="{AEDBF181-66BB-4CF6-9FB6-02B47B699878}"/>
                    </a:ext>
                  </a:extLst>
                </p:cNvPr>
                <p:cNvGraphicFramePr>
                  <a:graphicFrameLocks noChangeAspect="1"/>
                </p:cNvGraphicFramePr>
                <p:nvPr/>
              </p:nvGraphicFramePr>
              <p:xfrm>
                <a:off x="1669" y="3203"/>
                <a:ext cx="102" cy="191"/>
              </p:xfrm>
              <a:graphic>
                <a:graphicData uri="http://schemas.openxmlformats.org/presentationml/2006/ole">
                  <mc:AlternateContent>
                    <mc:Choice xmlns:v="urn:schemas-microsoft-com:vml" Requires="v">
                      <p:oleObj spid="_x0000_s16398" name="公式" r:id="rId26" imgW="88560" imgH="164880" progId="Equation.3">
                        <p:embed/>
                      </p:oleObj>
                    </mc:Choice>
                    <mc:Fallback>
                      <p:oleObj name="公式" r:id="rId26" imgW="88560" imgH="164880" progId="Equation.3">
                        <p:embed/>
                        <p:pic>
                          <p:nvPicPr>
                            <p:cNvPr id="687114" name="Object 1034">
                              <a:extLst>
                                <a:ext uri="{FF2B5EF4-FFF2-40B4-BE49-F238E27FC236}">
                                  <a16:creationId xmlns:a16="http://schemas.microsoft.com/office/drawing/2014/main" id="{893E71A6-060A-4F25-89DF-9B8E97910C9D}"/>
                                </a:ext>
                              </a:extLst>
                            </p:cNvPr>
                            <p:cNvPicPr>
                              <a:picLocks noChangeAspect="1" noChangeArrowheads="1"/>
                            </p:cNvPicPr>
                            <p:nvPr/>
                          </p:nvPicPr>
                          <p:blipFill>
                            <a:blip r:embed="rId27">
                              <a:extLst>
                                <a:ext uri="{28A0092B-C50C-407E-A947-70E740481C1C}">
                                  <a14:useLocalDpi val="0"/>
                                </a:ext>
                              </a:extLst>
                            </a:blip>
                            <a:srcRect/>
                            <a:stretch>
                              <a:fillRect/>
                            </a:stretch>
                          </p:blipFill>
                          <p:spPr bwMode="auto">
                            <a:xfrm>
                              <a:off x="1669" y="3203"/>
                              <a:ext cx="102" cy="19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0" name="Object 1034">
                  <a:extLst>
                    <a:ext uri="{FF2B5EF4-FFF2-40B4-BE49-F238E27FC236}">
                      <a16:creationId xmlns:a16="http://schemas.microsoft.com/office/drawing/2014/main" id="{AEDBF181-66BB-4CF6-9FB6-02B47B699878}"/>
                    </a:ext>
                  </a:extLst>
                </p:cNvPr>
                <p:cNvGraphicFramePr>
                  <a:graphicFrameLocks noChangeAspect="1"/>
                </p:cNvGraphicFramePr>
                <p:nvPr/>
              </p:nvGraphicFramePr>
              <p:xfrm>
                <a:off x="1669" y="3203"/>
                <a:ext cx="102" cy="191"/>
              </p:xfrm>
              <a:graphic>
                <a:graphicData uri="http://schemas.openxmlformats.org/presentationml/2006/ole">
                  <mc:AlternateContent>
                    <mc:Choice xmlns:v="urn:schemas-microsoft-com:vml" Requires="v">
                      <p:oleObj name="公式" r:id="rId28" imgW="88560" imgH="164880" progId="Equation.3">
                        <p:embed/>
                      </p:oleObj>
                    </mc:Choice>
                    <mc:Fallback>
                      <p:oleObj name="公式" r:id="rId28" imgW="88560" imgH="164880" progId="Equation.3">
                        <p:embed/>
                        <p:pic>
                          <p:nvPicPr>
                            <p:cNvPr id="687114" name="Object 1034">
                              <a:extLst>
                                <a:ext uri="{FF2B5EF4-FFF2-40B4-BE49-F238E27FC236}">
                                  <a16:creationId xmlns:a16="http://schemas.microsoft.com/office/drawing/2014/main" id="{893E71A6-060A-4F25-89DF-9B8E97910C9D}"/>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669" y="3203"/>
                              <a:ext cx="102"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1" name="Object 1035">
                  <a:extLst>
                    <a:ext uri="{FF2B5EF4-FFF2-40B4-BE49-F238E27FC236}">
                      <a16:creationId xmlns:a16="http://schemas.microsoft.com/office/drawing/2014/main" id="{730EADCC-45D1-4E00-B728-8A3F4559FFDA}"/>
                    </a:ext>
                  </a:extLst>
                </p:cNvPr>
                <p:cNvGraphicFramePr>
                  <a:graphicFrameLocks noChangeAspect="1"/>
                </p:cNvGraphicFramePr>
                <p:nvPr/>
              </p:nvGraphicFramePr>
              <p:xfrm>
                <a:off x="1058" y="3793"/>
                <a:ext cx="241" cy="154"/>
              </p:xfrm>
              <a:graphic>
                <a:graphicData uri="http://schemas.openxmlformats.org/presentationml/2006/ole">
                  <mc:AlternateContent>
                    <mc:Choice xmlns:v="urn:schemas-microsoft-com:vml" Requires="v">
                      <p:oleObj spid="_x0000_s16399" name="公式" r:id="rId30" imgW="279360" imgH="177480" progId="Equation.3">
                        <p:embed/>
                      </p:oleObj>
                    </mc:Choice>
                    <mc:Fallback>
                      <p:oleObj name="公式" r:id="rId30" imgW="279360" imgH="177480" progId="Equation.3">
                        <p:embed/>
                        <p:pic>
                          <p:nvPicPr>
                            <p:cNvPr id="687115" name="Object 1035">
                              <a:extLst>
                                <a:ext uri="{FF2B5EF4-FFF2-40B4-BE49-F238E27FC236}">
                                  <a16:creationId xmlns:a16="http://schemas.microsoft.com/office/drawing/2014/main" id="{3795EF43-0F9A-4347-BD3C-69336A87414C}"/>
                                </a:ext>
                              </a:extLst>
                            </p:cNvPr>
                            <p:cNvPicPr>
                              <a:picLocks noChangeAspect="1" noChangeArrowheads="1"/>
                            </p:cNvPicPr>
                            <p:nvPr/>
                          </p:nvPicPr>
                          <p:blipFill>
                            <a:blip r:embed="rId27">
                              <a:extLst>
                                <a:ext uri="{28A0092B-C50C-407E-A947-70E740481C1C}">
                                  <a14:useLocalDpi val="0"/>
                                </a:ext>
                              </a:extLst>
                            </a:blip>
                            <a:srcRect/>
                            <a:stretch>
                              <a:fillRect/>
                            </a:stretch>
                          </p:blipFill>
                          <p:spPr bwMode="auto">
                            <a:xfrm>
                              <a:off x="1058" y="3793"/>
                              <a:ext cx="241" cy="15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1" name="Object 1035">
                  <a:extLst>
                    <a:ext uri="{FF2B5EF4-FFF2-40B4-BE49-F238E27FC236}">
                      <a16:creationId xmlns:a16="http://schemas.microsoft.com/office/drawing/2014/main" id="{730EADCC-45D1-4E00-B728-8A3F4559FFDA}"/>
                    </a:ext>
                  </a:extLst>
                </p:cNvPr>
                <p:cNvGraphicFramePr>
                  <a:graphicFrameLocks noChangeAspect="1"/>
                </p:cNvGraphicFramePr>
                <p:nvPr/>
              </p:nvGraphicFramePr>
              <p:xfrm>
                <a:off x="1058" y="3793"/>
                <a:ext cx="241" cy="154"/>
              </p:xfrm>
              <a:graphic>
                <a:graphicData uri="http://schemas.openxmlformats.org/presentationml/2006/ole">
                  <mc:AlternateContent>
                    <mc:Choice xmlns:v="urn:schemas-microsoft-com:vml" Requires="v">
                      <p:oleObj name="公式" r:id="rId32" imgW="279360" imgH="177480" progId="Equation.3">
                        <p:embed/>
                      </p:oleObj>
                    </mc:Choice>
                    <mc:Fallback>
                      <p:oleObj name="公式" r:id="rId32" imgW="279360" imgH="177480" progId="Equation.3">
                        <p:embed/>
                        <p:pic>
                          <p:nvPicPr>
                            <p:cNvPr id="687115" name="Object 1035">
                              <a:extLst>
                                <a:ext uri="{FF2B5EF4-FFF2-40B4-BE49-F238E27FC236}">
                                  <a16:creationId xmlns:a16="http://schemas.microsoft.com/office/drawing/2014/main" id="{3795EF43-0F9A-4347-BD3C-69336A87414C}"/>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058" y="3793"/>
                              <a:ext cx="241"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2" name="Object 1036">
                  <a:extLst>
                    <a:ext uri="{FF2B5EF4-FFF2-40B4-BE49-F238E27FC236}">
                      <a16:creationId xmlns:a16="http://schemas.microsoft.com/office/drawing/2014/main" id="{54459E0F-5305-480D-8570-B72220E3DE5A}"/>
                    </a:ext>
                  </a:extLst>
                </p:cNvPr>
                <p:cNvGraphicFramePr>
                  <a:graphicFrameLocks noChangeAspect="1"/>
                </p:cNvGraphicFramePr>
                <p:nvPr/>
              </p:nvGraphicFramePr>
              <p:xfrm>
                <a:off x="1522" y="3766"/>
                <a:ext cx="148" cy="207"/>
              </p:xfrm>
              <a:graphic>
                <a:graphicData uri="http://schemas.openxmlformats.org/presentationml/2006/ole">
                  <mc:AlternateContent>
                    <mc:Choice xmlns:v="urn:schemas-microsoft-com:vml" Requires="v">
                      <p:oleObj spid="_x0000_s16400" name="公式" r:id="rId34" imgW="126720" imgH="177480" progId="Equation.3">
                        <p:embed/>
                      </p:oleObj>
                    </mc:Choice>
                    <mc:Fallback>
                      <p:oleObj name="公式" r:id="rId34" imgW="126720" imgH="177480" progId="Equation.3">
                        <p:embed/>
                        <p:pic>
                          <p:nvPicPr>
                            <p:cNvPr id="687116" name="Object 1036">
                              <a:extLst>
                                <a:ext uri="{FF2B5EF4-FFF2-40B4-BE49-F238E27FC236}">
                                  <a16:creationId xmlns:a16="http://schemas.microsoft.com/office/drawing/2014/main" id="{F82733F4-4360-40C1-90DB-8CCCA7EA5416}"/>
                                </a:ext>
                              </a:extLst>
                            </p:cNvPr>
                            <p:cNvPicPr>
                              <a:picLocks noChangeAspect="1" noChangeArrowheads="1"/>
                            </p:cNvPicPr>
                            <p:nvPr/>
                          </p:nvPicPr>
                          <p:blipFill>
                            <a:blip r:embed="rId35">
                              <a:extLst>
                                <a:ext uri="{28A0092B-C50C-407E-A947-70E740481C1C}">
                                  <a14:useLocalDpi val="0"/>
                                </a:ext>
                              </a:extLst>
                            </a:blip>
                            <a:srcRect/>
                            <a:stretch>
                              <a:fillRect/>
                            </a:stretch>
                          </p:blipFill>
                          <p:spPr bwMode="auto">
                            <a:xfrm>
                              <a:off x="1522" y="3766"/>
                              <a:ext cx="148" cy="20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2" name="Object 1036">
                  <a:extLst>
                    <a:ext uri="{FF2B5EF4-FFF2-40B4-BE49-F238E27FC236}">
                      <a16:creationId xmlns:a16="http://schemas.microsoft.com/office/drawing/2014/main" id="{54459E0F-5305-480D-8570-B72220E3DE5A}"/>
                    </a:ext>
                  </a:extLst>
                </p:cNvPr>
                <p:cNvGraphicFramePr>
                  <a:graphicFrameLocks noChangeAspect="1"/>
                </p:cNvGraphicFramePr>
                <p:nvPr/>
              </p:nvGraphicFramePr>
              <p:xfrm>
                <a:off x="1522" y="3766"/>
                <a:ext cx="148" cy="207"/>
              </p:xfrm>
              <a:graphic>
                <a:graphicData uri="http://schemas.openxmlformats.org/presentationml/2006/ole">
                  <mc:AlternateContent>
                    <mc:Choice xmlns:v="urn:schemas-microsoft-com:vml" Requires="v">
                      <p:oleObj name="公式" r:id="rId36" imgW="126720" imgH="177480" progId="Equation.3">
                        <p:embed/>
                      </p:oleObj>
                    </mc:Choice>
                    <mc:Fallback>
                      <p:oleObj name="公式" r:id="rId36" imgW="126720" imgH="177480" progId="Equation.3">
                        <p:embed/>
                        <p:pic>
                          <p:nvPicPr>
                            <p:cNvPr id="687116" name="Object 1036">
                              <a:extLst>
                                <a:ext uri="{FF2B5EF4-FFF2-40B4-BE49-F238E27FC236}">
                                  <a16:creationId xmlns:a16="http://schemas.microsoft.com/office/drawing/2014/main" id="{F82733F4-4360-40C1-90DB-8CCCA7EA5416}"/>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22" y="3766"/>
                              <a:ext cx="148"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3" name="Object 1037">
                  <a:extLst>
                    <a:ext uri="{FF2B5EF4-FFF2-40B4-BE49-F238E27FC236}">
                      <a16:creationId xmlns:a16="http://schemas.microsoft.com/office/drawing/2014/main" id="{9A981144-3942-44B2-B77F-FE070CC507F0}"/>
                    </a:ext>
                  </a:extLst>
                </p:cNvPr>
                <p:cNvGraphicFramePr>
                  <a:graphicFrameLocks noChangeAspect="1"/>
                </p:cNvGraphicFramePr>
                <p:nvPr/>
              </p:nvGraphicFramePr>
              <p:xfrm>
                <a:off x="1920" y="3765"/>
                <a:ext cx="183" cy="183"/>
              </p:xfrm>
              <a:graphic>
                <a:graphicData uri="http://schemas.openxmlformats.org/presentationml/2006/ole">
                  <mc:AlternateContent>
                    <mc:Choice xmlns:v="urn:schemas-microsoft-com:vml" Requires="v">
                      <p:oleObj spid="_x0000_s16401" name="公式" r:id="rId38" imgW="177480" imgH="177480" progId="Equation.3">
                        <p:embed/>
                      </p:oleObj>
                    </mc:Choice>
                    <mc:Fallback>
                      <p:oleObj name="公式" r:id="rId38" imgW="177480" imgH="177480" progId="Equation.3">
                        <p:embed/>
                        <p:pic>
                          <p:nvPicPr>
                            <p:cNvPr id="687117" name="Object 1037">
                              <a:extLst>
                                <a:ext uri="{FF2B5EF4-FFF2-40B4-BE49-F238E27FC236}">
                                  <a16:creationId xmlns:a16="http://schemas.microsoft.com/office/drawing/2014/main" id="{59514B81-7329-4C34-88FA-2D299250850C}"/>
                                </a:ext>
                              </a:extLst>
                            </p:cNvPr>
                            <p:cNvPicPr>
                              <a:picLocks noChangeAspect="1" noChangeArrowheads="1"/>
                            </p:cNvPicPr>
                            <p:nvPr/>
                          </p:nvPicPr>
                          <p:blipFill>
                            <a:blip r:embed="rId27">
                              <a:extLst>
                                <a:ext uri="{28A0092B-C50C-407E-A947-70E740481C1C}">
                                  <a14:useLocalDpi val="0"/>
                                </a:ext>
                              </a:extLst>
                            </a:blip>
                            <a:srcRect/>
                            <a:stretch>
                              <a:fillRect/>
                            </a:stretch>
                          </p:blipFill>
                          <p:spPr bwMode="auto">
                            <a:xfrm>
                              <a:off x="1920" y="3765"/>
                              <a:ext cx="183" cy="183"/>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3" name="Object 1037">
                  <a:extLst>
                    <a:ext uri="{FF2B5EF4-FFF2-40B4-BE49-F238E27FC236}">
                      <a16:creationId xmlns:a16="http://schemas.microsoft.com/office/drawing/2014/main" id="{9A981144-3942-44B2-B77F-FE070CC507F0}"/>
                    </a:ext>
                  </a:extLst>
                </p:cNvPr>
                <p:cNvGraphicFramePr>
                  <a:graphicFrameLocks noChangeAspect="1"/>
                </p:cNvGraphicFramePr>
                <p:nvPr/>
              </p:nvGraphicFramePr>
              <p:xfrm>
                <a:off x="1920" y="3765"/>
                <a:ext cx="183" cy="183"/>
              </p:xfrm>
              <a:graphic>
                <a:graphicData uri="http://schemas.openxmlformats.org/presentationml/2006/ole">
                  <mc:AlternateContent>
                    <mc:Choice xmlns:v="urn:schemas-microsoft-com:vml" Requires="v">
                      <p:oleObj name="公式" r:id="rId40" imgW="177480" imgH="177480" progId="Equation.3">
                        <p:embed/>
                      </p:oleObj>
                    </mc:Choice>
                    <mc:Fallback>
                      <p:oleObj name="公式" r:id="rId40" imgW="177480" imgH="177480" progId="Equation.3">
                        <p:embed/>
                        <p:pic>
                          <p:nvPicPr>
                            <p:cNvPr id="687117" name="Object 1037">
                              <a:extLst>
                                <a:ext uri="{FF2B5EF4-FFF2-40B4-BE49-F238E27FC236}">
                                  <a16:creationId xmlns:a16="http://schemas.microsoft.com/office/drawing/2014/main" id="{59514B81-7329-4C34-88FA-2D299250850C}"/>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920" y="3765"/>
                              <a:ext cx="183"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4" name="Object 1038">
                  <a:extLst>
                    <a:ext uri="{FF2B5EF4-FFF2-40B4-BE49-F238E27FC236}">
                      <a16:creationId xmlns:a16="http://schemas.microsoft.com/office/drawing/2014/main" id="{54D9916F-C801-41E2-B2C4-0E1B52A8230A}"/>
                    </a:ext>
                  </a:extLst>
                </p:cNvPr>
                <p:cNvGraphicFramePr>
                  <a:graphicFrameLocks noChangeAspect="1"/>
                </p:cNvGraphicFramePr>
                <p:nvPr/>
              </p:nvGraphicFramePr>
              <p:xfrm>
                <a:off x="596" y="3786"/>
                <a:ext cx="307" cy="154"/>
              </p:xfrm>
              <a:graphic>
                <a:graphicData uri="http://schemas.openxmlformats.org/presentationml/2006/ole">
                  <mc:AlternateContent>
                    <mc:Choice xmlns:v="urn:schemas-microsoft-com:vml" Requires="v">
                      <p:oleObj spid="_x0000_s16402" name="公式" r:id="rId42" imgW="355320" imgH="177480" progId="Equation.3">
                        <p:embed/>
                      </p:oleObj>
                    </mc:Choice>
                    <mc:Fallback>
                      <p:oleObj name="公式" r:id="rId42" imgW="355320" imgH="177480" progId="Equation.3">
                        <p:embed/>
                        <p:pic>
                          <p:nvPicPr>
                            <p:cNvPr id="687118" name="Object 1038">
                              <a:extLst>
                                <a:ext uri="{FF2B5EF4-FFF2-40B4-BE49-F238E27FC236}">
                                  <a16:creationId xmlns:a16="http://schemas.microsoft.com/office/drawing/2014/main" id="{5E1A43D3-F49C-47F3-9A54-EC0F18A92882}"/>
                                </a:ext>
                              </a:extLst>
                            </p:cNvPr>
                            <p:cNvPicPr>
                              <a:picLocks noChangeAspect="1" noChangeArrowheads="1"/>
                            </p:cNvPicPr>
                            <p:nvPr/>
                          </p:nvPicPr>
                          <p:blipFill>
                            <a:blip r:embed="rId43">
                              <a:extLst>
                                <a:ext uri="{28A0092B-C50C-407E-A947-70E740481C1C}">
                                  <a14:useLocalDpi val="0"/>
                                </a:ext>
                              </a:extLst>
                            </a:blip>
                            <a:srcRect/>
                            <a:stretch>
                              <a:fillRect/>
                            </a:stretch>
                          </p:blipFill>
                          <p:spPr bwMode="auto">
                            <a:xfrm>
                              <a:off x="596" y="3786"/>
                              <a:ext cx="307" cy="15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4" name="Object 1038">
                  <a:extLst>
                    <a:ext uri="{FF2B5EF4-FFF2-40B4-BE49-F238E27FC236}">
                      <a16:creationId xmlns:a16="http://schemas.microsoft.com/office/drawing/2014/main" id="{54D9916F-C801-41E2-B2C4-0E1B52A8230A}"/>
                    </a:ext>
                  </a:extLst>
                </p:cNvPr>
                <p:cNvGraphicFramePr>
                  <a:graphicFrameLocks noChangeAspect="1"/>
                </p:cNvGraphicFramePr>
                <p:nvPr/>
              </p:nvGraphicFramePr>
              <p:xfrm>
                <a:off x="596" y="3786"/>
                <a:ext cx="307" cy="154"/>
              </p:xfrm>
              <a:graphic>
                <a:graphicData uri="http://schemas.openxmlformats.org/presentationml/2006/ole">
                  <mc:AlternateContent>
                    <mc:Choice xmlns:v="urn:schemas-microsoft-com:vml" Requires="v">
                      <p:oleObj name="公式" r:id="rId44" imgW="355320" imgH="177480" progId="Equation.3">
                        <p:embed/>
                      </p:oleObj>
                    </mc:Choice>
                    <mc:Fallback>
                      <p:oleObj name="公式" r:id="rId44" imgW="355320" imgH="177480" progId="Equation.3">
                        <p:embed/>
                        <p:pic>
                          <p:nvPicPr>
                            <p:cNvPr id="687118" name="Object 1038">
                              <a:extLst>
                                <a:ext uri="{FF2B5EF4-FFF2-40B4-BE49-F238E27FC236}">
                                  <a16:creationId xmlns:a16="http://schemas.microsoft.com/office/drawing/2014/main" id="{5E1A43D3-F49C-47F3-9A54-EC0F18A92882}"/>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596" y="3786"/>
                              <a:ext cx="30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5" name="Object 1039">
                  <a:extLst>
                    <a:ext uri="{FF2B5EF4-FFF2-40B4-BE49-F238E27FC236}">
                      <a16:creationId xmlns:a16="http://schemas.microsoft.com/office/drawing/2014/main" id="{A9CB79FA-2BAA-4AB7-B449-90777D4AFD53}"/>
                    </a:ext>
                  </a:extLst>
                </p:cNvPr>
                <p:cNvGraphicFramePr>
                  <a:graphicFrameLocks noChangeAspect="1"/>
                </p:cNvGraphicFramePr>
                <p:nvPr/>
              </p:nvGraphicFramePr>
              <p:xfrm>
                <a:off x="2336" y="3796"/>
                <a:ext cx="220" cy="154"/>
              </p:xfrm>
              <a:graphic>
                <a:graphicData uri="http://schemas.openxmlformats.org/presentationml/2006/ole">
                  <mc:AlternateContent>
                    <mc:Choice xmlns:v="urn:schemas-microsoft-com:vml" Requires="v">
                      <p:oleObj spid="_x0000_s16403" name="公式" r:id="rId46" imgW="253800" imgH="177480" progId="Equation.3">
                        <p:embed/>
                      </p:oleObj>
                    </mc:Choice>
                    <mc:Fallback>
                      <p:oleObj name="公式" r:id="rId46" imgW="253800" imgH="177480" progId="Equation.3">
                        <p:embed/>
                        <p:pic>
                          <p:nvPicPr>
                            <p:cNvPr id="687119" name="Object 1039">
                              <a:extLst>
                                <a:ext uri="{FF2B5EF4-FFF2-40B4-BE49-F238E27FC236}">
                                  <a16:creationId xmlns:a16="http://schemas.microsoft.com/office/drawing/2014/main" id="{5A903BE5-BBA9-4B04-882A-00768E4C4326}"/>
                                </a:ext>
                              </a:extLst>
                            </p:cNvPr>
                            <p:cNvPicPr>
                              <a:picLocks noChangeAspect="1" noChangeArrowheads="1"/>
                            </p:cNvPicPr>
                            <p:nvPr/>
                          </p:nvPicPr>
                          <p:blipFill>
                            <a:blip r:embed="rId47">
                              <a:extLst>
                                <a:ext uri="{28A0092B-C50C-407E-A947-70E740481C1C}">
                                  <a14:useLocalDpi val="0"/>
                                </a:ext>
                              </a:extLst>
                            </a:blip>
                            <a:srcRect/>
                            <a:stretch>
                              <a:fillRect/>
                            </a:stretch>
                          </p:blipFill>
                          <p:spPr bwMode="auto">
                            <a:xfrm>
                              <a:off x="2336" y="3796"/>
                              <a:ext cx="220" cy="15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5" name="Object 1039">
                  <a:extLst>
                    <a:ext uri="{FF2B5EF4-FFF2-40B4-BE49-F238E27FC236}">
                      <a16:creationId xmlns:a16="http://schemas.microsoft.com/office/drawing/2014/main" id="{A9CB79FA-2BAA-4AB7-B449-90777D4AFD53}"/>
                    </a:ext>
                  </a:extLst>
                </p:cNvPr>
                <p:cNvGraphicFramePr>
                  <a:graphicFrameLocks noChangeAspect="1"/>
                </p:cNvGraphicFramePr>
                <p:nvPr/>
              </p:nvGraphicFramePr>
              <p:xfrm>
                <a:off x="2336" y="3796"/>
                <a:ext cx="220" cy="154"/>
              </p:xfrm>
              <a:graphic>
                <a:graphicData uri="http://schemas.openxmlformats.org/presentationml/2006/ole">
                  <mc:AlternateContent>
                    <mc:Choice xmlns:v="urn:schemas-microsoft-com:vml" Requires="v">
                      <p:oleObj name="公式" r:id="rId48" imgW="253800" imgH="177480" progId="Equation.3">
                        <p:embed/>
                      </p:oleObj>
                    </mc:Choice>
                    <mc:Fallback>
                      <p:oleObj name="公式" r:id="rId48" imgW="253800" imgH="177480" progId="Equation.3">
                        <p:embed/>
                        <p:pic>
                          <p:nvPicPr>
                            <p:cNvPr id="687119" name="Object 1039">
                              <a:extLst>
                                <a:ext uri="{FF2B5EF4-FFF2-40B4-BE49-F238E27FC236}">
                                  <a16:creationId xmlns:a16="http://schemas.microsoft.com/office/drawing/2014/main" id="{5A903BE5-BBA9-4B04-882A-00768E4C4326}"/>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2336" y="3796"/>
                              <a:ext cx="22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6" name="Object 1040">
                  <a:extLst>
                    <a:ext uri="{FF2B5EF4-FFF2-40B4-BE49-F238E27FC236}">
                      <a16:creationId xmlns:a16="http://schemas.microsoft.com/office/drawing/2014/main" id="{E1C89E5E-5A21-43E6-95DB-9C776BA66255}"/>
                    </a:ext>
                  </a:extLst>
                </p:cNvPr>
                <p:cNvGraphicFramePr>
                  <a:graphicFrameLocks noChangeAspect="1"/>
                </p:cNvGraphicFramePr>
                <p:nvPr/>
              </p:nvGraphicFramePr>
              <p:xfrm>
                <a:off x="2741" y="3795"/>
                <a:ext cx="165" cy="182"/>
              </p:xfrm>
              <a:graphic>
                <a:graphicData uri="http://schemas.openxmlformats.org/presentationml/2006/ole">
                  <mc:AlternateContent>
                    <mc:Choice xmlns:v="urn:schemas-microsoft-com:vml" Requires="v">
                      <p:oleObj spid="_x0000_s16404" name="公式" r:id="rId50" imgW="126720" imgH="139680" progId="Equation.3">
                        <p:embed/>
                      </p:oleObj>
                    </mc:Choice>
                    <mc:Fallback>
                      <p:oleObj name="公式" r:id="rId50" imgW="126720" imgH="139680" progId="Equation.3">
                        <p:embed/>
                        <p:pic>
                          <p:nvPicPr>
                            <p:cNvPr id="687120" name="Object 1040">
                              <a:extLst>
                                <a:ext uri="{FF2B5EF4-FFF2-40B4-BE49-F238E27FC236}">
                                  <a16:creationId xmlns:a16="http://schemas.microsoft.com/office/drawing/2014/main" id="{84604FA9-E72A-47C3-80EF-5B77FA647871}"/>
                                </a:ext>
                              </a:extLst>
                            </p:cNvPr>
                            <p:cNvPicPr>
                              <a:picLocks noChangeAspect="1" noChangeArrowheads="1"/>
                            </p:cNvPicPr>
                            <p:nvPr/>
                          </p:nvPicPr>
                          <p:blipFill>
                            <a:blip r:embed="rId51">
                              <a:extLst>
                                <a:ext uri="{28A0092B-C50C-407E-A947-70E740481C1C}">
                                  <a14:useLocalDpi val="0"/>
                                </a:ext>
                              </a:extLst>
                            </a:blip>
                            <a:srcRect/>
                            <a:stretch>
                              <a:fillRect/>
                            </a:stretch>
                          </p:blipFill>
                          <p:spPr bwMode="auto">
                            <a:xfrm>
                              <a:off x="2741" y="3795"/>
                              <a:ext cx="165" cy="18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6" name="Object 1040">
                  <a:extLst>
                    <a:ext uri="{FF2B5EF4-FFF2-40B4-BE49-F238E27FC236}">
                      <a16:creationId xmlns:a16="http://schemas.microsoft.com/office/drawing/2014/main" id="{E1C89E5E-5A21-43E6-95DB-9C776BA66255}"/>
                    </a:ext>
                  </a:extLst>
                </p:cNvPr>
                <p:cNvGraphicFramePr>
                  <a:graphicFrameLocks noChangeAspect="1"/>
                </p:cNvGraphicFramePr>
                <p:nvPr/>
              </p:nvGraphicFramePr>
              <p:xfrm>
                <a:off x="2741" y="3795"/>
                <a:ext cx="165" cy="182"/>
              </p:xfrm>
              <a:graphic>
                <a:graphicData uri="http://schemas.openxmlformats.org/presentationml/2006/ole">
                  <mc:AlternateContent>
                    <mc:Choice xmlns:v="urn:schemas-microsoft-com:vml" Requires="v">
                      <p:oleObj name="公式" r:id="rId52" imgW="126720" imgH="139680" progId="Equation.3">
                        <p:embed/>
                      </p:oleObj>
                    </mc:Choice>
                    <mc:Fallback>
                      <p:oleObj name="公式" r:id="rId52" imgW="126720" imgH="139680" progId="Equation.3">
                        <p:embed/>
                        <p:pic>
                          <p:nvPicPr>
                            <p:cNvPr id="687120" name="Object 1040">
                              <a:extLst>
                                <a:ext uri="{FF2B5EF4-FFF2-40B4-BE49-F238E27FC236}">
                                  <a16:creationId xmlns:a16="http://schemas.microsoft.com/office/drawing/2014/main" id="{84604FA9-E72A-47C3-80EF-5B77FA647871}"/>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741" y="3795"/>
                              <a:ext cx="165"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7" name="Object 1041">
                  <a:extLst>
                    <a:ext uri="{FF2B5EF4-FFF2-40B4-BE49-F238E27FC236}">
                      <a16:creationId xmlns:a16="http://schemas.microsoft.com/office/drawing/2014/main" id="{36456890-D89A-4714-8EC6-55BB7DAA2343}"/>
                    </a:ext>
                  </a:extLst>
                </p:cNvPr>
                <p:cNvGraphicFramePr>
                  <a:graphicFrameLocks noChangeAspect="1"/>
                </p:cNvGraphicFramePr>
                <p:nvPr/>
              </p:nvGraphicFramePr>
              <p:xfrm>
                <a:off x="443" y="3430"/>
                <a:ext cx="246" cy="145"/>
              </p:xfrm>
              <a:graphic>
                <a:graphicData uri="http://schemas.openxmlformats.org/presentationml/2006/ole">
                  <mc:AlternateContent>
                    <mc:Choice xmlns:v="urn:schemas-microsoft-com:vml" Requires="v">
                      <p:oleObj spid="_x0000_s16405" name="公式" r:id="rId54" imgW="177480" imgH="75960" progId="Equation.3">
                        <p:embed/>
                      </p:oleObj>
                    </mc:Choice>
                    <mc:Fallback>
                      <p:oleObj name="公式" r:id="rId54" imgW="177480" imgH="75960" progId="Equation.3">
                        <p:embed/>
                        <p:pic>
                          <p:nvPicPr>
                            <p:cNvPr id="687121" name="Object 1041">
                              <a:extLst>
                                <a:ext uri="{FF2B5EF4-FFF2-40B4-BE49-F238E27FC236}">
                                  <a16:creationId xmlns:a16="http://schemas.microsoft.com/office/drawing/2014/main" id="{5F09D11E-F568-4A5C-8861-1ACA9480A28F}"/>
                                </a:ext>
                              </a:extLst>
                            </p:cNvPr>
                            <p:cNvPicPr>
                              <a:picLocks noChangeAspect="1" noChangeArrowheads="1"/>
                            </p:cNvPicPr>
                            <p:nvPr/>
                          </p:nvPicPr>
                          <p:blipFill>
                            <a:blip r:embed="rId55">
                              <a:extLst>
                                <a:ext uri="{28A0092B-C50C-407E-A947-70E740481C1C}">
                                  <a14:useLocalDpi val="0"/>
                                </a:ext>
                              </a:extLst>
                            </a:blip>
                            <a:srcRect/>
                            <a:stretch>
                              <a:fillRect/>
                            </a:stretch>
                          </p:blipFill>
                          <p:spPr bwMode="auto">
                            <a:xfrm>
                              <a:off x="443" y="3430"/>
                              <a:ext cx="246" cy="145"/>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7" name="Object 1041">
                  <a:extLst>
                    <a:ext uri="{FF2B5EF4-FFF2-40B4-BE49-F238E27FC236}">
                      <a16:creationId xmlns:a16="http://schemas.microsoft.com/office/drawing/2014/main" id="{36456890-D89A-4714-8EC6-55BB7DAA2343}"/>
                    </a:ext>
                  </a:extLst>
                </p:cNvPr>
                <p:cNvGraphicFramePr>
                  <a:graphicFrameLocks noChangeAspect="1"/>
                </p:cNvGraphicFramePr>
                <p:nvPr/>
              </p:nvGraphicFramePr>
              <p:xfrm>
                <a:off x="443" y="3430"/>
                <a:ext cx="246" cy="145"/>
              </p:xfrm>
              <a:graphic>
                <a:graphicData uri="http://schemas.openxmlformats.org/presentationml/2006/ole">
                  <mc:AlternateContent>
                    <mc:Choice xmlns:v="urn:schemas-microsoft-com:vml" Requires="v">
                      <p:oleObj name="公式" r:id="rId56" imgW="177480" imgH="75960" progId="Equation.3">
                        <p:embed/>
                      </p:oleObj>
                    </mc:Choice>
                    <mc:Fallback>
                      <p:oleObj name="公式" r:id="rId56" imgW="177480" imgH="75960" progId="Equation.3">
                        <p:embed/>
                        <p:pic>
                          <p:nvPicPr>
                            <p:cNvPr id="687121" name="Object 1041">
                              <a:extLst>
                                <a:ext uri="{FF2B5EF4-FFF2-40B4-BE49-F238E27FC236}">
                                  <a16:creationId xmlns:a16="http://schemas.microsoft.com/office/drawing/2014/main" id="{5F09D11E-F568-4A5C-8861-1ACA9480A28F}"/>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443" y="3430"/>
                              <a:ext cx="246"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8" name="Object 1042">
                  <a:extLst>
                    <a:ext uri="{FF2B5EF4-FFF2-40B4-BE49-F238E27FC236}">
                      <a16:creationId xmlns:a16="http://schemas.microsoft.com/office/drawing/2014/main" id="{00BE85DC-A213-4624-B817-7270F6A9B922}"/>
                    </a:ext>
                  </a:extLst>
                </p:cNvPr>
                <p:cNvGraphicFramePr>
                  <a:graphicFrameLocks noChangeAspect="1"/>
                </p:cNvGraphicFramePr>
                <p:nvPr/>
              </p:nvGraphicFramePr>
              <p:xfrm>
                <a:off x="2457" y="3404"/>
                <a:ext cx="282" cy="170"/>
              </p:xfrm>
              <a:graphic>
                <a:graphicData uri="http://schemas.openxmlformats.org/presentationml/2006/ole">
                  <mc:AlternateContent>
                    <mc:Choice xmlns:v="urn:schemas-microsoft-com:vml" Requires="v">
                      <p:oleObj spid="_x0000_s16406" name="公式" r:id="rId58" imgW="177480" imgH="75960" progId="Equation.3">
                        <p:embed/>
                      </p:oleObj>
                    </mc:Choice>
                    <mc:Fallback>
                      <p:oleObj name="公式" r:id="rId58" imgW="177480" imgH="75960" progId="Equation.3">
                        <p:embed/>
                        <p:pic>
                          <p:nvPicPr>
                            <p:cNvPr id="687122" name="Object 1042">
                              <a:extLst>
                                <a:ext uri="{FF2B5EF4-FFF2-40B4-BE49-F238E27FC236}">
                                  <a16:creationId xmlns:a16="http://schemas.microsoft.com/office/drawing/2014/main" id="{2A8BF87E-ED42-4026-A039-93D2CEC94EC9}"/>
                                </a:ext>
                              </a:extLst>
                            </p:cNvPr>
                            <p:cNvPicPr>
                              <a:picLocks noChangeAspect="1" noChangeArrowheads="1"/>
                            </p:cNvPicPr>
                            <p:nvPr/>
                          </p:nvPicPr>
                          <p:blipFill>
                            <a:blip r:embed="rId59">
                              <a:extLst>
                                <a:ext uri="{28A0092B-C50C-407E-A947-70E740481C1C}">
                                  <a14:useLocalDpi val="0"/>
                                </a:ext>
                              </a:extLst>
                            </a:blip>
                            <a:srcRect/>
                            <a:stretch>
                              <a:fillRect/>
                            </a:stretch>
                          </p:blipFill>
                          <p:spPr bwMode="auto">
                            <a:xfrm>
                              <a:off x="2457" y="3404"/>
                              <a:ext cx="282" cy="17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8" name="Object 1042">
                  <a:extLst>
                    <a:ext uri="{FF2B5EF4-FFF2-40B4-BE49-F238E27FC236}">
                      <a16:creationId xmlns:a16="http://schemas.microsoft.com/office/drawing/2014/main" id="{00BE85DC-A213-4624-B817-7270F6A9B922}"/>
                    </a:ext>
                  </a:extLst>
                </p:cNvPr>
                <p:cNvGraphicFramePr>
                  <a:graphicFrameLocks noChangeAspect="1"/>
                </p:cNvGraphicFramePr>
                <p:nvPr/>
              </p:nvGraphicFramePr>
              <p:xfrm>
                <a:off x="2457" y="3404"/>
                <a:ext cx="282" cy="170"/>
              </p:xfrm>
              <a:graphic>
                <a:graphicData uri="http://schemas.openxmlformats.org/presentationml/2006/ole">
                  <mc:AlternateContent>
                    <mc:Choice xmlns:v="urn:schemas-microsoft-com:vml" Requires="v">
                      <p:oleObj name="公式" r:id="rId60" imgW="177480" imgH="75960" progId="Equation.3">
                        <p:embed/>
                      </p:oleObj>
                    </mc:Choice>
                    <mc:Fallback>
                      <p:oleObj name="公式" r:id="rId60" imgW="177480" imgH="75960" progId="Equation.3">
                        <p:embed/>
                        <p:pic>
                          <p:nvPicPr>
                            <p:cNvPr id="687122" name="Object 1042">
                              <a:extLst>
                                <a:ext uri="{FF2B5EF4-FFF2-40B4-BE49-F238E27FC236}">
                                  <a16:creationId xmlns:a16="http://schemas.microsoft.com/office/drawing/2014/main" id="{2A8BF87E-ED42-4026-A039-93D2CEC94EC9}"/>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457" y="3404"/>
                              <a:ext cx="282"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89" name="Line 1043">
              <a:extLst>
                <a:ext uri="{FF2B5EF4-FFF2-40B4-BE49-F238E27FC236}">
                  <a16:creationId xmlns:a16="http://schemas.microsoft.com/office/drawing/2014/main" id="{F08E6E4C-5A56-4FA1-9344-6E0475F56A4A}"/>
                </a:ext>
              </a:extLst>
            </p:cNvPr>
            <p:cNvSpPr>
              <a:spLocks noChangeShapeType="1"/>
            </p:cNvSpPr>
            <p:nvPr/>
          </p:nvSpPr>
          <p:spPr bwMode="auto">
            <a:xfrm flipV="1">
              <a:off x="1184" y="3272"/>
              <a:ext cx="1" cy="493"/>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 name="Line 1044">
              <a:extLst>
                <a:ext uri="{FF2B5EF4-FFF2-40B4-BE49-F238E27FC236}">
                  <a16:creationId xmlns:a16="http://schemas.microsoft.com/office/drawing/2014/main" id="{A33C5B82-8C62-4058-AD57-16F6109B3218}"/>
                </a:ext>
              </a:extLst>
            </p:cNvPr>
            <p:cNvSpPr>
              <a:spLocks noChangeShapeType="1"/>
            </p:cNvSpPr>
            <p:nvPr/>
          </p:nvSpPr>
          <p:spPr bwMode="auto">
            <a:xfrm flipV="1">
              <a:off x="769" y="3281"/>
              <a:ext cx="0" cy="484"/>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1" name="Line 1045">
              <a:extLst>
                <a:ext uri="{FF2B5EF4-FFF2-40B4-BE49-F238E27FC236}">
                  <a16:creationId xmlns:a16="http://schemas.microsoft.com/office/drawing/2014/main" id="{ED46C0E0-04EE-4D6F-B0A9-1849BBF7839F}"/>
                </a:ext>
              </a:extLst>
            </p:cNvPr>
            <p:cNvSpPr>
              <a:spLocks noChangeShapeType="1"/>
            </p:cNvSpPr>
            <p:nvPr/>
          </p:nvSpPr>
          <p:spPr bwMode="auto">
            <a:xfrm flipV="1">
              <a:off x="2014" y="3264"/>
              <a:ext cx="0" cy="501"/>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 name="Line 1046">
              <a:extLst>
                <a:ext uri="{FF2B5EF4-FFF2-40B4-BE49-F238E27FC236}">
                  <a16:creationId xmlns:a16="http://schemas.microsoft.com/office/drawing/2014/main" id="{A24D88E9-6E2B-4AFA-9020-C3075153AAAD}"/>
                </a:ext>
              </a:extLst>
            </p:cNvPr>
            <p:cNvSpPr>
              <a:spLocks noChangeShapeType="1"/>
            </p:cNvSpPr>
            <p:nvPr/>
          </p:nvSpPr>
          <p:spPr bwMode="auto">
            <a:xfrm flipV="1">
              <a:off x="2428" y="3272"/>
              <a:ext cx="0" cy="493"/>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 name="Line 1075">
              <a:extLst>
                <a:ext uri="{FF2B5EF4-FFF2-40B4-BE49-F238E27FC236}">
                  <a16:creationId xmlns:a16="http://schemas.microsoft.com/office/drawing/2014/main" id="{7C76FB71-AD0C-4652-8C57-8F875EB66BF2}"/>
                </a:ext>
              </a:extLst>
            </p:cNvPr>
            <p:cNvSpPr>
              <a:spLocks noChangeShapeType="1"/>
            </p:cNvSpPr>
            <p:nvPr/>
          </p:nvSpPr>
          <p:spPr bwMode="auto">
            <a:xfrm flipV="1">
              <a:off x="1597" y="3272"/>
              <a:ext cx="1" cy="493"/>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down)">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down)">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additive="base">
                                        <p:cTn id="17" dur="500" fill="hold"/>
                                        <p:tgtEl>
                                          <p:spTgt spid="47"/>
                                        </p:tgtEl>
                                        <p:attrNameLst>
                                          <p:attrName>ppt_x</p:attrName>
                                        </p:attrNameLst>
                                      </p:cBhvr>
                                      <p:tavLst>
                                        <p:tav tm="0">
                                          <p:val>
                                            <p:strVal val="#ppt_x"/>
                                          </p:val>
                                        </p:tav>
                                        <p:tav tm="100000">
                                          <p:val>
                                            <p:strVal val="#ppt_x"/>
                                          </p:val>
                                        </p:tav>
                                      </p:tavLst>
                                    </p:anim>
                                    <p:anim calcmode="lin" valueType="num">
                                      <p:cBhvr additive="base">
                                        <p:cTn id="18" dur="500" fill="hold"/>
                                        <p:tgtEl>
                                          <p:spTgt spid="4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anim calcmode="lin" valueType="num">
                                      <p:cBhvr additive="base">
                                        <p:cTn id="21" dur="500" fill="hold"/>
                                        <p:tgtEl>
                                          <p:spTgt spid="58"/>
                                        </p:tgtEl>
                                        <p:attrNameLst>
                                          <p:attrName>ppt_x</p:attrName>
                                        </p:attrNameLst>
                                      </p:cBhvr>
                                      <p:tavLst>
                                        <p:tav tm="0">
                                          <p:val>
                                            <p:strVal val="#ppt_x"/>
                                          </p:val>
                                        </p:tav>
                                        <p:tav tm="100000">
                                          <p:val>
                                            <p:strVal val="#ppt_x"/>
                                          </p:val>
                                        </p:tav>
                                      </p:tavLst>
                                    </p:anim>
                                    <p:anim calcmode="lin" valueType="num">
                                      <p:cBhvr additive="base">
                                        <p:cTn id="22" dur="500" fill="hold"/>
                                        <p:tgtEl>
                                          <p:spTgt spid="5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6"/>
                                        </p:tgtEl>
                                        <p:attrNameLst>
                                          <p:attrName>style.visibility</p:attrName>
                                        </p:attrNameLst>
                                      </p:cBhvr>
                                      <p:to>
                                        <p:strVal val="visible"/>
                                      </p:to>
                                    </p:set>
                                    <p:anim calcmode="lin" valueType="num">
                                      <p:cBhvr additive="base">
                                        <p:cTn id="25" dur="500" fill="hold"/>
                                        <p:tgtEl>
                                          <p:spTgt spid="76"/>
                                        </p:tgtEl>
                                        <p:attrNameLst>
                                          <p:attrName>ppt_x</p:attrName>
                                        </p:attrNameLst>
                                      </p:cBhvr>
                                      <p:tavLst>
                                        <p:tav tm="0">
                                          <p:val>
                                            <p:strVal val="#ppt_x"/>
                                          </p:val>
                                        </p:tav>
                                        <p:tav tm="100000">
                                          <p:val>
                                            <p:strVal val="#ppt_x"/>
                                          </p:val>
                                        </p:tav>
                                      </p:tavLst>
                                    </p:anim>
                                    <p:anim calcmode="lin" valueType="num">
                                      <p:cBhvr additive="base">
                                        <p:cTn id="26"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2" grpId="0"/>
      <p:bldP spid="5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标题 1">
            <a:extLst>
              <a:ext uri="{FF2B5EF4-FFF2-40B4-BE49-F238E27FC236}">
                <a16:creationId xmlns:a16="http://schemas.microsoft.com/office/drawing/2014/main" id="{D56E9ABC-3B7D-4FD4-B901-13090798BE1D}"/>
              </a:ext>
            </a:extLst>
          </p:cNvPr>
          <p:cNvSpPr>
            <a:spLocks noGrp="1"/>
          </p:cNvSpPr>
          <p:nvPr>
            <p:ph type="title"/>
          </p:nvPr>
        </p:nvSpPr>
        <p:spPr/>
        <p:txBody>
          <a:bodyPr/>
          <a:lstStyle/>
          <a:p>
            <a:r>
              <a:rPr lang="en-US" altLang="zh-CN" dirty="0"/>
              <a:t>5.3 </a:t>
            </a:r>
            <a:r>
              <a:rPr lang="zh-CN" altLang="en-US" dirty="0"/>
              <a:t>离散时间傅里叶变换的性质</a:t>
            </a:r>
            <a:endParaRPr lang="zh-CN" altLang="en-US" sz="4800" dirty="0"/>
          </a:p>
        </p:txBody>
      </p:sp>
      <p:sp>
        <p:nvSpPr>
          <p:cNvPr id="24581" name="内容占位符 2">
            <a:extLst>
              <a:ext uri="{FF2B5EF4-FFF2-40B4-BE49-F238E27FC236}">
                <a16:creationId xmlns:a16="http://schemas.microsoft.com/office/drawing/2014/main" id="{3B8222AC-ACB7-457D-8B9E-CD7B29992469}"/>
              </a:ext>
            </a:extLst>
          </p:cNvPr>
          <p:cNvSpPr>
            <a:spLocks noGrp="1"/>
          </p:cNvSpPr>
          <p:nvPr>
            <p:ph idx="1"/>
          </p:nvPr>
        </p:nvSpPr>
        <p:spPr>
          <a:xfrm>
            <a:off x="457200" y="1285875"/>
            <a:ext cx="8229600" cy="954107"/>
          </a:xfrm>
        </p:spPr>
        <p:txBody>
          <a:bodyPr>
            <a:spAutoFit/>
          </a:bodyPr>
          <a:lstStyle/>
          <a:p>
            <a:pPr algn="just"/>
            <a:r>
              <a:rPr lang="zh-CN" altLang="en-US" sz="2800" b="0" dirty="0"/>
              <a:t>离散时间傅里叶变换也有很多与连续时间傅里叶变换类似的性质，当然也有某些明显的差别。</a:t>
            </a:r>
          </a:p>
        </p:txBody>
      </p:sp>
      <p:sp>
        <p:nvSpPr>
          <p:cNvPr id="4" name="灯片编号占位符 3">
            <a:extLst>
              <a:ext uri="{FF2B5EF4-FFF2-40B4-BE49-F238E27FC236}">
                <a16:creationId xmlns:a16="http://schemas.microsoft.com/office/drawing/2014/main" id="{E0DBAEBE-F1BF-491B-BDE6-EA8CFD75F5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585AAB-BECA-4075-99E2-3FA54E0E3A6D}" type="slidenum">
              <a:rPr lang="zh-CN" altLang="en-US">
                <a:solidFill>
                  <a:srgbClr val="898989"/>
                </a:solidFill>
                <a:latin typeface="Calibri" panose="020F0502020204030204" pitchFamily="34" charset="0"/>
              </a:rPr>
              <a:pPr eaLnBrk="1" hangingPunct="1"/>
              <a:t>21</a:t>
            </a:fld>
            <a:endParaRPr lang="zh-CN" altLang="en-US">
              <a:solidFill>
                <a:srgbClr val="898989"/>
              </a:solidFill>
              <a:latin typeface="Calibri" panose="020F0502020204030204" pitchFamily="34" charset="0"/>
            </a:endParaRPr>
          </a:p>
        </p:txBody>
      </p:sp>
      <p:sp>
        <p:nvSpPr>
          <p:cNvPr id="5" name="Text Box 4">
            <a:extLst>
              <a:ext uri="{FF2B5EF4-FFF2-40B4-BE49-F238E27FC236}">
                <a16:creationId xmlns:a16="http://schemas.microsoft.com/office/drawing/2014/main" id="{A2455DD6-02EB-4CB9-9E8E-2BD8ABD50582}"/>
              </a:ext>
            </a:extLst>
          </p:cNvPr>
          <p:cNvSpPr txBox="1">
            <a:spLocks noChangeArrowheads="1"/>
          </p:cNvSpPr>
          <p:nvPr/>
        </p:nvSpPr>
        <p:spPr bwMode="auto">
          <a:xfrm>
            <a:off x="928688" y="4221088"/>
            <a:ext cx="365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2.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线性</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24587" name="Text Box 6">
            <a:extLst>
              <a:ext uri="{FF2B5EF4-FFF2-40B4-BE49-F238E27FC236}">
                <a16:creationId xmlns:a16="http://schemas.microsoft.com/office/drawing/2014/main" id="{461501A3-C592-4F0E-8D8C-4417B16E96BB}"/>
              </a:ext>
            </a:extLst>
          </p:cNvPr>
          <p:cNvSpPr txBox="1">
            <a:spLocks noChangeArrowheads="1"/>
          </p:cNvSpPr>
          <p:nvPr/>
        </p:nvSpPr>
        <p:spPr bwMode="auto">
          <a:xfrm>
            <a:off x="1331640" y="5710749"/>
            <a:ext cx="638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anose="02010600040101010101" pitchFamily="2" charset="-122"/>
                <a:cs typeface="楷体_GB2312" panose="02010609030101010101" pitchFamily="49" charset="-122"/>
              </a:rPr>
              <a:t>则</a:t>
            </a:r>
          </a:p>
        </p:txBody>
      </p:sp>
      <mc:AlternateContent xmlns:mc="http://schemas.openxmlformats.org/markup-compatibility/2006" xmlns:a14="http://schemas.microsoft.com/office/drawing/2010/main">
        <mc:Choice Requires="a14">
          <p:sp>
            <p:nvSpPr>
              <p:cNvPr id="24579" name="Object 2">
                <a:extLst>
                  <a:ext uri="{FF2B5EF4-FFF2-40B4-BE49-F238E27FC236}">
                    <a16:creationId xmlns:a16="http://schemas.microsoft.com/office/drawing/2014/main" id="{438A88C3-85B7-46CC-9E36-2AE8A0B0AF7F}"/>
                  </a:ext>
                </a:extLst>
              </p:cNvPr>
              <p:cNvSpPr txBox="1"/>
              <p:nvPr/>
            </p:nvSpPr>
            <p:spPr bwMode="auto">
              <a:xfrm>
                <a:off x="1942442" y="5710749"/>
                <a:ext cx="5797909" cy="533400"/>
              </a:xfrm>
              <a:prstGeom prst="rect">
                <a:avLst/>
              </a:prstGeom>
              <a:solidFill>
                <a:schemeClr val="accent5">
                  <a:lumMod val="20000"/>
                  <a:lumOff val="80000"/>
                </a:schemeClr>
              </a:solidFill>
              <a:ln w="25400">
                <a:solidFill>
                  <a:srgbClr val="0000FF"/>
                </a:solid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𝑎𝑥</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𝑏𝑦</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𝑎𝑋</m:t>
                      </m:r>
                      <m:r>
                        <a:rPr lang="en-US" sz="2800" i="1">
                          <a:solidFill>
                            <a:srgbClr val="000000"/>
                          </a:solidFill>
                          <a:latin typeface="Cambria Math" panose="02040503050406030204" pitchFamily="18" charset="0"/>
                        </a:rPr>
                        <m:t>(</m:t>
                      </m:r>
                      <m:sSup>
                        <m:sSupPr>
                          <m:ctrlPr>
                            <a:rPr lang="en-US" sz="2800" i="1">
                              <a:latin typeface="Cambria Math" panose="02040503050406030204" pitchFamily="18" charset="0"/>
                            </a:rPr>
                          </m:ctrlPr>
                        </m:sSupPr>
                        <m:e>
                          <m:r>
                            <m:rPr>
                              <m:sty m:val="p"/>
                            </m:rPr>
                            <a:rPr lang="en-US" sz="2800">
                              <a:latin typeface="Cambria Math" panose="02040503050406030204" pitchFamily="18" charset="0"/>
                            </a:rPr>
                            <m:t>e</m:t>
                          </m:r>
                        </m:e>
                        <m:sup>
                          <m:r>
                            <m:rPr>
                              <m:sty m:val="p"/>
                            </m:rPr>
                            <a:rPr lang="en-US" sz="2800">
                              <a:latin typeface="Cambria Math" panose="02040503050406030204" pitchFamily="18" charset="0"/>
                            </a:rPr>
                            <m:t>j</m:t>
                          </m:r>
                          <m:r>
                            <a:rPr lang="en-US" sz="2800" i="1">
                              <a:latin typeface="Cambria Math" panose="02040503050406030204" pitchFamily="18" charset="0"/>
                            </a:rPr>
                            <m:t>𝜔</m:t>
                          </m:r>
                        </m:sup>
                      </m:sSup>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𝑏𝑌</m:t>
                      </m:r>
                      <m:r>
                        <a:rPr lang="en-US" sz="2800" i="1">
                          <a:solidFill>
                            <a:srgbClr val="000000"/>
                          </a:solidFill>
                          <a:latin typeface="Cambria Math" panose="02040503050406030204" pitchFamily="18" charset="0"/>
                        </a:rPr>
                        <m:t>(</m:t>
                      </m:r>
                      <m:sSup>
                        <m:sSupPr>
                          <m:ctrlPr>
                            <a:rPr lang="en-US" sz="2800" i="1">
                              <a:latin typeface="Cambria Math" panose="02040503050406030204" pitchFamily="18" charset="0"/>
                            </a:rPr>
                          </m:ctrlPr>
                        </m:sSupPr>
                        <m:e>
                          <m:r>
                            <m:rPr>
                              <m:sty m:val="p"/>
                            </m:rPr>
                            <a:rPr lang="en-US" sz="2800">
                              <a:latin typeface="Cambria Math" panose="02040503050406030204" pitchFamily="18" charset="0"/>
                            </a:rPr>
                            <m:t>e</m:t>
                          </m:r>
                        </m:e>
                        <m:sup>
                          <m:r>
                            <m:rPr>
                              <m:sty m:val="p"/>
                            </m:rPr>
                            <a:rPr lang="en-US" sz="2800">
                              <a:latin typeface="Cambria Math" panose="02040503050406030204" pitchFamily="18" charset="0"/>
                            </a:rPr>
                            <m:t>j</m:t>
                          </m:r>
                          <m:r>
                            <a:rPr lang="en-US" sz="2800" i="1">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4579" name="Object 2">
                <a:extLst>
                  <a:ext uri="{FF2B5EF4-FFF2-40B4-BE49-F238E27FC236}">
                    <a16:creationId xmlns:a16="http://schemas.microsoft.com/office/drawing/2014/main" id="{438A88C3-85B7-46CC-9E36-2AE8A0B0AF7F}"/>
                  </a:ext>
                </a:extLst>
              </p:cNvPr>
              <p:cNvSpPr txBox="1">
                <a:spLocks noRot="1" noChangeAspect="1" noMove="1" noResize="1" noEditPoints="1" noAdjustHandles="1" noChangeArrowheads="1" noChangeShapeType="1" noTextEdit="1"/>
              </p:cNvSpPr>
              <p:nvPr/>
            </p:nvSpPr>
            <p:spPr bwMode="auto">
              <a:xfrm>
                <a:off x="1942442" y="5710749"/>
                <a:ext cx="5797909" cy="533400"/>
              </a:xfrm>
              <a:prstGeom prst="rect">
                <a:avLst/>
              </a:prstGeom>
              <a:blipFill>
                <a:blip r:embed="rId2"/>
                <a:stretch>
                  <a:fillRect/>
                </a:stretch>
              </a:blipFill>
              <a:ln w="25400">
                <a:solidFill>
                  <a:srgbClr val="0000FF"/>
                </a:solidFill>
              </a:ln>
              <a:effectLst/>
            </p:spPr>
            <p:txBody>
              <a:bodyPr/>
              <a:lstStyle/>
              <a:p>
                <a:r>
                  <a:rPr lang="en-US">
                    <a:noFill/>
                  </a:rPr>
                  <a:t> </a:t>
                </a:r>
              </a:p>
            </p:txBody>
          </p:sp>
        </mc:Fallback>
      </mc:AlternateContent>
      <p:sp>
        <p:nvSpPr>
          <p:cNvPr id="12" name="Text Box 4">
            <a:extLst>
              <a:ext uri="{FF2B5EF4-FFF2-40B4-BE49-F238E27FC236}">
                <a16:creationId xmlns:a16="http://schemas.microsoft.com/office/drawing/2014/main" id="{1F0BC846-3C48-4EEE-AA61-EB91A9B4E897}"/>
              </a:ext>
            </a:extLst>
          </p:cNvPr>
          <p:cNvSpPr txBox="1">
            <a:spLocks noChangeArrowheads="1"/>
          </p:cNvSpPr>
          <p:nvPr/>
        </p:nvSpPr>
        <p:spPr bwMode="auto">
          <a:xfrm>
            <a:off x="898302" y="2395187"/>
            <a:ext cx="365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1.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周期性</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13" name="Text Box 10">
            <a:extLst>
              <a:ext uri="{FF2B5EF4-FFF2-40B4-BE49-F238E27FC236}">
                <a16:creationId xmlns:a16="http://schemas.microsoft.com/office/drawing/2014/main" id="{8B151D0A-83BD-4D20-8AA7-F199F2B0E8BE}"/>
              </a:ext>
            </a:extLst>
          </p:cNvPr>
          <p:cNvSpPr txBox="1">
            <a:spLocks noChangeArrowheads="1"/>
          </p:cNvSpPr>
          <p:nvPr/>
        </p:nvSpPr>
        <p:spPr bwMode="auto">
          <a:xfrm>
            <a:off x="1331640" y="3575487"/>
            <a:ext cx="5929828" cy="60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lnSpc>
                <a:spcPct val="135000"/>
              </a:lnSpc>
            </a:pPr>
            <a:r>
              <a:rPr lang="zh-CN" altLang="en-US" sz="2800" dirty="0">
                <a:latin typeface="Times New Roman" panose="02020603050405020304" pitchFamily="18" charset="0"/>
                <a:ea typeface="楷体_GB2312" panose="02010609030101010101" pitchFamily="49" charset="-122"/>
              </a:rPr>
              <a:t>比较：</a:t>
            </a:r>
            <a:r>
              <a:rPr lang="zh-CN" altLang="en-US" sz="2800" dirty="0">
                <a:solidFill>
                  <a:srgbClr val="0000FF"/>
                </a:solidFill>
                <a:latin typeface="Times New Roman" panose="02020603050405020304" pitchFamily="18" charset="0"/>
                <a:ea typeface="楷体_GB2312" panose="02010609030101010101" pitchFamily="49" charset="-122"/>
              </a:rPr>
              <a:t>与连续时间傅里叶变换不同</a:t>
            </a:r>
            <a:r>
              <a:rPr lang="zh-CN" altLang="en-US" sz="2800" dirty="0">
                <a:latin typeface="Times New Roman" panose="02020603050405020304" pitchFamily="18" charset="0"/>
                <a:ea typeface="楷体_GB2312" panose="02010609030101010101" pitchFamily="49" charset="-122"/>
              </a:rPr>
              <a:t>。</a:t>
            </a:r>
          </a:p>
        </p:txBody>
      </p:sp>
      <mc:AlternateContent xmlns:mc="http://schemas.openxmlformats.org/markup-compatibility/2006" xmlns:a14="http://schemas.microsoft.com/office/drawing/2010/main">
        <mc:Choice Requires="a14">
          <p:sp>
            <p:nvSpPr>
              <p:cNvPr id="17" name="Text Box 8">
                <a:extLst>
                  <a:ext uri="{FF2B5EF4-FFF2-40B4-BE49-F238E27FC236}">
                    <a16:creationId xmlns:a16="http://schemas.microsoft.com/office/drawing/2014/main" id="{6471D555-4A64-44E2-8745-055F922E2423}"/>
                  </a:ext>
                </a:extLst>
              </p:cNvPr>
              <p:cNvSpPr txBox="1">
                <a:spLocks noChangeArrowheads="1"/>
              </p:cNvSpPr>
              <p:nvPr/>
            </p:nvSpPr>
            <p:spPr bwMode="auto">
              <a:xfrm>
                <a:off x="1331640" y="2997148"/>
                <a:ext cx="3600400" cy="53764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eaLnBrk="0" hangingPunct="0"/>
                <a:r>
                  <a:rPr lang="zh-CN" altLang="en-US" sz="2800" dirty="0">
                    <a:solidFill>
                      <a:schemeClr val="tx1"/>
                    </a:solidFill>
                    <a:latin typeface="楷体_GB2312" panose="02010609030101010101" pitchFamily="49" charset="-122"/>
                    <a:ea typeface="楷体_GB2312" panose="02010609030101010101" pitchFamily="49" charset="-122"/>
                  </a:rPr>
                  <a:t>若</a:t>
                </a:r>
                <a14:m>
                  <m:oMath xmlns:m="http://schemas.openxmlformats.org/officeDocument/2006/math">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p>
                      <m:sSupPr>
                        <m:ctrlPr>
                          <a:rPr lang="en-US" sz="2800" i="1">
                            <a:solidFill>
                              <a:schemeClr val="tx1"/>
                            </a:solidFill>
                            <a:latin typeface="Cambria Math" panose="02040503050406030204" pitchFamily="18" charset="0"/>
                          </a:rPr>
                        </m:ctrlPr>
                      </m:sSupPr>
                      <m:e>
                        <m:r>
                          <m:rPr>
                            <m:sty m:val="p"/>
                          </m:rPr>
                          <a:rPr lang="en-US" sz="2800" b="0" i="0">
                            <a:solidFill>
                              <a:schemeClr val="tx1"/>
                            </a:solidFill>
                            <a:latin typeface="Cambria Math" panose="02040503050406030204" pitchFamily="18" charset="0"/>
                          </a:rPr>
                          <m:t>e</m:t>
                        </m:r>
                      </m:e>
                      <m:sup>
                        <m:r>
                          <m:rPr>
                            <m:sty m:val="p"/>
                          </m:rPr>
                          <a:rPr lang="en-US" sz="2800" b="0" i="0">
                            <a:solidFill>
                              <a:schemeClr val="tx1"/>
                            </a:solidFill>
                            <a:latin typeface="Cambria Math" panose="02040503050406030204" pitchFamily="18" charset="0"/>
                          </a:rPr>
                          <m:t>j</m:t>
                        </m:r>
                        <m:r>
                          <a:rPr lang="en-US" sz="2800" b="0" i="1">
                            <a:solidFill>
                              <a:schemeClr val="tx1"/>
                            </a:solidFill>
                            <a:latin typeface="Cambria Math" panose="02040503050406030204" pitchFamily="18" charset="0"/>
                          </a:rPr>
                          <m:t>𝜔</m:t>
                        </m:r>
                      </m:sup>
                    </m:sSup>
                    <m:r>
                      <a:rPr lang="en-US" sz="2800" b="0" i="1" smtClean="0">
                        <a:solidFill>
                          <a:schemeClr val="tx1"/>
                        </a:solidFill>
                        <a:latin typeface="Cambria Math" panose="02040503050406030204" pitchFamily="18" charset="0"/>
                      </a:rPr>
                      <m:t>)</m:t>
                    </m:r>
                  </m:oMath>
                </a14:m>
                <a:r>
                  <a:rPr lang="zh-CN" altLang="en-US" sz="2800" dirty="0">
                    <a:solidFill>
                      <a:schemeClr val="tx1"/>
                    </a:solidFill>
                    <a:latin typeface="楷体_GB2312" panose="02010609030101010101" pitchFamily="49" charset="-122"/>
                    <a:ea typeface="楷体_GB2312" panose="02010609030101010101" pitchFamily="49" charset="-122"/>
                  </a:rPr>
                  <a:t>，则</a:t>
                </a:r>
              </a:p>
            </p:txBody>
          </p:sp>
        </mc:Choice>
        <mc:Fallback xmlns="">
          <p:sp>
            <p:nvSpPr>
              <p:cNvPr id="17" name="Text Box 8">
                <a:extLst>
                  <a:ext uri="{FF2B5EF4-FFF2-40B4-BE49-F238E27FC236}">
                    <a16:creationId xmlns:a16="http://schemas.microsoft.com/office/drawing/2014/main" id="{6471D555-4A64-44E2-8745-055F922E2423}"/>
                  </a:ext>
                </a:extLst>
              </p:cNvPr>
              <p:cNvSpPr txBox="1">
                <a:spLocks noRot="1" noChangeAspect="1" noMove="1" noResize="1" noEditPoints="1" noAdjustHandles="1" noChangeArrowheads="1" noChangeShapeType="1" noTextEdit="1"/>
              </p:cNvSpPr>
              <p:nvPr/>
            </p:nvSpPr>
            <p:spPr bwMode="auto">
              <a:xfrm>
                <a:off x="1331640" y="2997148"/>
                <a:ext cx="3600400" cy="537648"/>
              </a:xfrm>
              <a:prstGeom prst="rect">
                <a:avLst/>
              </a:prstGeom>
              <a:blipFill>
                <a:blip r:embed="rId3"/>
                <a:stretch>
                  <a:fillRect l="-3384" t="-13636" r="-1861" b="-272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 Box 8">
                <a:extLst>
                  <a:ext uri="{FF2B5EF4-FFF2-40B4-BE49-F238E27FC236}">
                    <a16:creationId xmlns:a16="http://schemas.microsoft.com/office/drawing/2014/main" id="{20A43DC9-E184-4FD4-848C-F5A86590B5D2}"/>
                  </a:ext>
                </a:extLst>
              </p:cNvPr>
              <p:cNvSpPr txBox="1">
                <a:spLocks noChangeArrowheads="1"/>
              </p:cNvSpPr>
              <p:nvPr/>
            </p:nvSpPr>
            <p:spPr bwMode="auto">
              <a:xfrm>
                <a:off x="1331640" y="4827107"/>
                <a:ext cx="5616624" cy="53764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eaLnBrk="0" hangingPunct="0"/>
                <a:r>
                  <a:rPr lang="zh-CN" altLang="en-US" sz="2800" dirty="0">
                    <a:solidFill>
                      <a:schemeClr val="tx1"/>
                    </a:solidFill>
                    <a:latin typeface="楷体_GB2312" panose="02010609030101010101" pitchFamily="49" charset="-122"/>
                    <a:ea typeface="楷体_GB2312" panose="02010609030101010101" pitchFamily="49" charset="-122"/>
                  </a:rPr>
                  <a:t>若</a:t>
                </a:r>
                <a14:m>
                  <m:oMath xmlns:m="http://schemas.openxmlformats.org/officeDocument/2006/math">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p>
                      <m:sSupPr>
                        <m:ctrlPr>
                          <a:rPr lang="en-US" sz="2800" i="1">
                            <a:solidFill>
                              <a:schemeClr val="tx1"/>
                            </a:solidFill>
                            <a:latin typeface="Cambria Math" panose="02040503050406030204" pitchFamily="18" charset="0"/>
                          </a:rPr>
                        </m:ctrlPr>
                      </m:sSupPr>
                      <m:e>
                        <m:r>
                          <m:rPr>
                            <m:sty m:val="p"/>
                          </m:rPr>
                          <a:rPr lang="en-US" sz="2800" b="0" i="0">
                            <a:solidFill>
                              <a:schemeClr val="tx1"/>
                            </a:solidFill>
                            <a:latin typeface="Cambria Math" panose="02040503050406030204" pitchFamily="18" charset="0"/>
                          </a:rPr>
                          <m:t>e</m:t>
                        </m:r>
                      </m:e>
                      <m:sup>
                        <m:r>
                          <m:rPr>
                            <m:sty m:val="p"/>
                          </m:rPr>
                          <a:rPr lang="en-US" sz="2800" b="0" i="0">
                            <a:solidFill>
                              <a:schemeClr val="tx1"/>
                            </a:solidFill>
                            <a:latin typeface="Cambria Math" panose="02040503050406030204" pitchFamily="18" charset="0"/>
                          </a:rPr>
                          <m:t>j</m:t>
                        </m:r>
                        <m:r>
                          <a:rPr lang="en-US" sz="2800" b="0" i="1">
                            <a:solidFill>
                              <a:schemeClr val="tx1"/>
                            </a:solidFill>
                            <a:latin typeface="Cambria Math" panose="02040503050406030204" pitchFamily="18" charset="0"/>
                          </a:rPr>
                          <m:t>𝜔</m:t>
                        </m:r>
                      </m:sup>
                    </m:sSup>
                    <m:r>
                      <a:rPr lang="en-US" sz="2800" b="0" i="1" smtClean="0">
                        <a:solidFill>
                          <a:schemeClr val="tx1"/>
                        </a:solidFill>
                        <a:latin typeface="Cambria Math" panose="02040503050406030204" pitchFamily="18" charset="0"/>
                      </a:rPr>
                      <m:t>)</m:t>
                    </m:r>
                  </m:oMath>
                </a14:m>
                <a:r>
                  <a:rPr lang="zh-CN" altLang="en-US" sz="2800" dirty="0">
                    <a:solidFill>
                      <a:schemeClr val="tx1"/>
                    </a:solidFill>
                    <a:latin typeface="楷体_GB2312" panose="02010609030101010101" pitchFamily="49" charset="-122"/>
                    <a:ea typeface="楷体_GB2312" panose="02010609030101010101" pitchFamily="49" charset="-122"/>
                  </a:rPr>
                  <a:t>，</a:t>
                </a:r>
                <a:r>
                  <a:rPr lang="en-US" sz="2800" dirty="0"/>
                  <a:t> </a:t>
                </a:r>
                <a14:m>
                  <m:oMath xmlns:m="http://schemas.openxmlformats.org/officeDocument/2006/math">
                    <m:r>
                      <a:rPr lang="en-US" sz="2800" b="0" i="1" smtClean="0">
                        <a:latin typeface="Cambria Math" panose="02040503050406030204" pitchFamily="18" charset="0"/>
                      </a:rPr>
                      <m:t>𝑦</m:t>
                    </m:r>
                    <m:r>
                      <a:rPr lang="en-US" sz="2800" i="1">
                        <a:latin typeface="Cambria Math" panose="02040503050406030204" pitchFamily="18" charset="0"/>
                      </a:rPr>
                      <m:t>[</m:t>
                    </m:r>
                    <m:r>
                      <a:rPr lang="en-US" sz="2800" i="1">
                        <a:latin typeface="Cambria Math" panose="02040503050406030204" pitchFamily="18" charset="0"/>
                      </a:rPr>
                      <m:t>𝑛</m:t>
                    </m:r>
                    <m:r>
                      <a:rPr lang="en-US" sz="2800" i="1">
                        <a:latin typeface="Cambria Math" panose="02040503050406030204" pitchFamily="18" charset="0"/>
                      </a:rPr>
                      <m:t>]⟷</m:t>
                    </m:r>
                    <m:r>
                      <a:rPr lang="en-US" sz="2800" b="0" i="1" smtClean="0">
                        <a:latin typeface="Cambria Math" panose="02040503050406030204" pitchFamily="18" charset="0"/>
                      </a:rPr>
                      <m:t>𝑌</m:t>
                    </m:r>
                    <m:r>
                      <a:rPr lang="en-US" sz="2800" i="1">
                        <a:latin typeface="Cambria Math" panose="02040503050406030204" pitchFamily="18" charset="0"/>
                      </a:rPr>
                      <m:t>(</m:t>
                    </m:r>
                    <m:sSup>
                      <m:sSupPr>
                        <m:ctrlPr>
                          <a:rPr lang="en-US" sz="2800" i="1">
                            <a:latin typeface="Cambria Math" panose="02040503050406030204" pitchFamily="18" charset="0"/>
                          </a:rPr>
                        </m:ctrlPr>
                      </m:sSupPr>
                      <m:e>
                        <m:r>
                          <m:rPr>
                            <m:sty m:val="p"/>
                          </m:rPr>
                          <a:rPr lang="en-US" sz="2800">
                            <a:latin typeface="Cambria Math" panose="02040503050406030204" pitchFamily="18" charset="0"/>
                          </a:rPr>
                          <m:t>e</m:t>
                        </m:r>
                      </m:e>
                      <m:sup>
                        <m:r>
                          <m:rPr>
                            <m:sty m:val="p"/>
                          </m:rPr>
                          <a:rPr lang="en-US" sz="2800">
                            <a:latin typeface="Cambria Math" panose="02040503050406030204" pitchFamily="18" charset="0"/>
                          </a:rPr>
                          <m:t>j</m:t>
                        </m:r>
                        <m:r>
                          <a:rPr lang="en-US" sz="2800" i="1">
                            <a:latin typeface="Cambria Math" panose="02040503050406030204" pitchFamily="18" charset="0"/>
                          </a:rPr>
                          <m:t>𝜔</m:t>
                        </m:r>
                      </m:sup>
                    </m:sSup>
                    <m:r>
                      <a:rPr lang="en-US" sz="2800" i="1">
                        <a:latin typeface="Cambria Math" panose="02040503050406030204" pitchFamily="18" charset="0"/>
                      </a:rPr>
                      <m:t>)</m:t>
                    </m:r>
                  </m:oMath>
                </a14:m>
                <a:endParaRPr lang="zh-CN" altLang="en-US" sz="2800" dirty="0">
                  <a:solidFill>
                    <a:schemeClr val="tx1"/>
                  </a:solidFill>
                  <a:latin typeface="楷体_GB2312" panose="02010609030101010101" pitchFamily="49" charset="-122"/>
                  <a:ea typeface="楷体_GB2312" panose="02010609030101010101" pitchFamily="49" charset="-122"/>
                </a:endParaRPr>
              </a:p>
            </p:txBody>
          </p:sp>
        </mc:Choice>
        <mc:Fallback xmlns="">
          <p:sp>
            <p:nvSpPr>
              <p:cNvPr id="25" name="Text Box 8">
                <a:extLst>
                  <a:ext uri="{FF2B5EF4-FFF2-40B4-BE49-F238E27FC236}">
                    <a16:creationId xmlns:a16="http://schemas.microsoft.com/office/drawing/2014/main" id="{20A43DC9-E184-4FD4-848C-F5A86590B5D2}"/>
                  </a:ext>
                </a:extLst>
              </p:cNvPr>
              <p:cNvSpPr txBox="1">
                <a:spLocks noRot="1" noChangeAspect="1" noMove="1" noResize="1" noEditPoints="1" noAdjustHandles="1" noChangeArrowheads="1" noChangeShapeType="1" noTextEdit="1"/>
              </p:cNvSpPr>
              <p:nvPr/>
            </p:nvSpPr>
            <p:spPr bwMode="auto">
              <a:xfrm>
                <a:off x="1331640" y="4827107"/>
                <a:ext cx="5616624" cy="537648"/>
              </a:xfrm>
              <a:prstGeom prst="rect">
                <a:avLst/>
              </a:prstGeom>
              <a:blipFill>
                <a:blip r:embed="rId4"/>
                <a:stretch>
                  <a:fillRect l="-2169" t="-13636" b="-272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C8BAD4F3-C42E-4662-89B9-08DC40E438EE}"/>
                  </a:ext>
                </a:extLst>
              </p:cNvPr>
              <p:cNvSpPr txBox="1"/>
              <p:nvPr/>
            </p:nvSpPr>
            <p:spPr>
              <a:xfrm>
                <a:off x="4860032" y="3011958"/>
                <a:ext cx="3528392" cy="541110"/>
              </a:xfrm>
              <a:prstGeom prst="rect">
                <a:avLst/>
              </a:prstGeom>
              <a:solidFill>
                <a:schemeClr val="accent5">
                  <a:lumMod val="20000"/>
                  <a:lumOff val="80000"/>
                </a:schemeClr>
              </a:solidFill>
              <a:ln w="25400">
                <a:solidFill>
                  <a:srgbClr val="0000FF"/>
                </a:solid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𝑋</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chemeClr val="tx1"/>
                              </a:solidFill>
                              <a:effectLst/>
                              <a:uLnTx/>
                              <a:uFillTx/>
                              <a:latin typeface="Cambria Math" panose="02040503050406030204" pitchFamily="18" charset="0"/>
                              <a:cs typeface="+mn-cs"/>
                            </a:rPr>
                            <m:t>e</m:t>
                          </m:r>
                        </m:e>
                        <m:sup>
                          <m:r>
                            <m:rPr>
                              <m:sty m:val="p"/>
                            </m:rPr>
                            <a:rPr kumimoji="0" lang="en-US" sz="2800" b="0" i="0" u="none" strike="noStrike" kern="1200" cap="none" spc="0" normalizeH="0" baseline="0" noProof="0">
                              <a:ln>
                                <a:noFill/>
                              </a:ln>
                              <a:solidFill>
                                <a:schemeClr val="tx1"/>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𝜔</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𝜋</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chemeClr val="tx1"/>
                              </a:solidFill>
                              <a:effectLst/>
                              <a:uLnTx/>
                              <a:uFillTx/>
                              <a:latin typeface="Cambria Math" panose="02040503050406030204" pitchFamily="18" charset="0"/>
                              <a:cs typeface="+mn-cs"/>
                            </a:rPr>
                            <m:t>e</m:t>
                          </m:r>
                        </m:e>
                        <m:sup>
                          <m:r>
                            <m:rPr>
                              <m:sty m:val="p"/>
                            </m:rPr>
                            <a:rPr kumimoji="0" lang="en-US" sz="2800" b="0" i="0" u="none" strike="noStrike" kern="1200" cap="none" spc="0" normalizeH="0" baseline="0" noProof="0">
                              <a:ln>
                                <a:noFill/>
                              </a:ln>
                              <a:solidFill>
                                <a:schemeClr val="tx1"/>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𝜔</m:t>
                          </m:r>
                        </m:sup>
                      </m:sSup>
                      <m:r>
                        <a:rPr kumimoji="0" lang="en-US" sz="2800" b="0" i="1" u="none" strike="noStrike" kern="1200" cap="none" spc="0" normalizeH="0" baseline="0" noProof="0">
                          <a:ln>
                            <a:noFill/>
                          </a:ln>
                          <a:solidFill>
                            <a:schemeClr val="tx1"/>
                          </a:solidFill>
                          <a:effectLst/>
                          <a:uLnTx/>
                          <a:uFillTx/>
                          <a:latin typeface="Cambria Math" panose="02040503050406030204" pitchFamily="18" charset="0"/>
                          <a:cs typeface="+mn-cs"/>
                        </a:rPr>
                        <m:t>)</m:t>
                      </m:r>
                    </m:oMath>
                  </m:oMathPara>
                </a14:m>
                <a:endParaRPr lang="en-US" dirty="0">
                  <a:solidFill>
                    <a:schemeClr val="tx1"/>
                  </a:solidFill>
                </a:endParaRPr>
              </a:p>
            </p:txBody>
          </p:sp>
        </mc:Choice>
        <mc:Fallback xmlns="">
          <p:sp>
            <p:nvSpPr>
              <p:cNvPr id="29" name="文本框 28">
                <a:extLst>
                  <a:ext uri="{FF2B5EF4-FFF2-40B4-BE49-F238E27FC236}">
                    <a16:creationId xmlns:a16="http://schemas.microsoft.com/office/drawing/2014/main" id="{C8BAD4F3-C42E-4662-89B9-08DC40E438EE}"/>
                  </a:ext>
                </a:extLst>
              </p:cNvPr>
              <p:cNvSpPr txBox="1">
                <a:spLocks noRot="1" noChangeAspect="1" noMove="1" noResize="1" noEditPoints="1" noAdjustHandles="1" noChangeArrowheads="1" noChangeShapeType="1" noTextEdit="1"/>
              </p:cNvSpPr>
              <p:nvPr/>
            </p:nvSpPr>
            <p:spPr>
              <a:xfrm>
                <a:off x="4860032" y="3011958"/>
                <a:ext cx="3528392" cy="541110"/>
              </a:xfrm>
              <a:prstGeom prst="rect">
                <a:avLst/>
              </a:prstGeom>
              <a:blipFill>
                <a:blip r:embed="rId5"/>
                <a:stretch>
                  <a:fillRect/>
                </a:stretch>
              </a:blipFill>
              <a:ln w="25400">
                <a:solidFill>
                  <a:srgbClr val="0000FF"/>
                </a:solid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587"/>
                                        </p:tgtEl>
                                        <p:attrNameLst>
                                          <p:attrName>style.visibility</p:attrName>
                                        </p:attrNameLst>
                                      </p:cBhvr>
                                      <p:to>
                                        <p:strVal val="visible"/>
                                      </p:to>
                                    </p:set>
                                    <p:anim calcmode="lin" valueType="num">
                                      <p:cBhvr additive="base">
                                        <p:cTn id="11" dur="500" fill="hold"/>
                                        <p:tgtEl>
                                          <p:spTgt spid="24587"/>
                                        </p:tgtEl>
                                        <p:attrNameLst>
                                          <p:attrName>ppt_x</p:attrName>
                                        </p:attrNameLst>
                                      </p:cBhvr>
                                      <p:tavLst>
                                        <p:tav tm="0">
                                          <p:val>
                                            <p:strVal val="#ppt_x"/>
                                          </p:val>
                                        </p:tav>
                                        <p:tav tm="100000">
                                          <p:val>
                                            <p:strVal val="#ppt_x"/>
                                          </p:val>
                                        </p:tav>
                                      </p:tavLst>
                                    </p:anim>
                                    <p:anim calcmode="lin" valueType="num">
                                      <p:cBhvr additive="base">
                                        <p:cTn id="12" dur="500" fill="hold"/>
                                        <p:tgtEl>
                                          <p:spTgt spid="2458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579"/>
                                        </p:tgtEl>
                                        <p:attrNameLst>
                                          <p:attrName>style.visibility</p:attrName>
                                        </p:attrNameLst>
                                      </p:cBhvr>
                                      <p:to>
                                        <p:strVal val="visible"/>
                                      </p:to>
                                    </p:set>
                                    <p:anim calcmode="lin" valueType="num">
                                      <p:cBhvr additive="base">
                                        <p:cTn id="15" dur="500" fill="hold"/>
                                        <p:tgtEl>
                                          <p:spTgt spid="24579"/>
                                        </p:tgtEl>
                                        <p:attrNameLst>
                                          <p:attrName>ppt_x</p:attrName>
                                        </p:attrNameLst>
                                      </p:cBhvr>
                                      <p:tavLst>
                                        <p:tav tm="0">
                                          <p:val>
                                            <p:strVal val="#ppt_x"/>
                                          </p:val>
                                        </p:tav>
                                        <p:tav tm="100000">
                                          <p:val>
                                            <p:strVal val="#ppt_x"/>
                                          </p:val>
                                        </p:tav>
                                      </p:tavLst>
                                    </p:anim>
                                    <p:anim calcmode="lin" valueType="num">
                                      <p:cBhvr additive="base">
                                        <p:cTn id="16" dur="500" fill="hold"/>
                                        <p:tgtEl>
                                          <p:spTgt spid="2457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4587" grpId="0"/>
      <p:bldP spid="24579" grpId="0" animBg="1"/>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8" name="标题 1">
            <a:extLst>
              <a:ext uri="{FF2B5EF4-FFF2-40B4-BE49-F238E27FC236}">
                <a16:creationId xmlns:a16="http://schemas.microsoft.com/office/drawing/2014/main" id="{FC97B637-BADD-476C-AEDF-5E51E72DAFFB}"/>
              </a:ext>
            </a:extLst>
          </p:cNvPr>
          <p:cNvSpPr>
            <a:spLocks noGrp="1"/>
          </p:cNvSpPr>
          <p:nvPr>
            <p:ph type="title"/>
          </p:nvPr>
        </p:nvSpPr>
        <p:spPr/>
        <p:txBody>
          <a:bodyPr/>
          <a:lstStyle/>
          <a:p>
            <a:r>
              <a:rPr lang="en-US" altLang="zh-CN" dirty="0"/>
              <a:t>5.3 </a:t>
            </a:r>
            <a:r>
              <a:rPr lang="zh-CN" altLang="en-US" dirty="0"/>
              <a:t>离散时间傅里叶变换的性质</a:t>
            </a:r>
          </a:p>
        </p:txBody>
      </p:sp>
      <p:sp>
        <p:nvSpPr>
          <p:cNvPr id="4" name="灯片编号占位符 3">
            <a:extLst>
              <a:ext uri="{FF2B5EF4-FFF2-40B4-BE49-F238E27FC236}">
                <a16:creationId xmlns:a16="http://schemas.microsoft.com/office/drawing/2014/main" id="{08990B82-9039-43CB-899A-142B4791A9B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FEC51BD-D0E4-4200-9552-A8D2E05C3189}" type="slidenum">
              <a:rPr lang="zh-CN" altLang="en-US">
                <a:solidFill>
                  <a:srgbClr val="898989"/>
                </a:solidFill>
                <a:latin typeface="Calibri" panose="020F0502020204030204" pitchFamily="34" charset="0"/>
              </a:rPr>
              <a:pPr eaLnBrk="1" hangingPunct="1"/>
              <a:t>22</a:t>
            </a:fld>
            <a:endParaRPr lang="zh-CN" altLang="en-US">
              <a:solidFill>
                <a:srgbClr val="898989"/>
              </a:solidFill>
              <a:latin typeface="Calibri" panose="020F0502020204030204" pitchFamily="34" charset="0"/>
            </a:endParaRPr>
          </a:p>
        </p:txBody>
      </p:sp>
      <p:sp>
        <p:nvSpPr>
          <p:cNvPr id="25610" name="Text Box 2">
            <a:extLst>
              <a:ext uri="{FF2B5EF4-FFF2-40B4-BE49-F238E27FC236}">
                <a16:creationId xmlns:a16="http://schemas.microsoft.com/office/drawing/2014/main" id="{C6A2CCB8-2B9D-41F6-890E-3A30D4A31226}"/>
              </a:ext>
            </a:extLst>
          </p:cNvPr>
          <p:cNvSpPr txBox="1">
            <a:spLocks noChangeArrowheads="1"/>
          </p:cNvSpPr>
          <p:nvPr/>
        </p:nvSpPr>
        <p:spPr bwMode="auto">
          <a:xfrm>
            <a:off x="871538" y="1303338"/>
            <a:ext cx="26116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3.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时移与频移</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25615" name="Rectangle 8">
                <a:extLst>
                  <a:ext uri="{FF2B5EF4-FFF2-40B4-BE49-F238E27FC236}">
                    <a16:creationId xmlns:a16="http://schemas.microsoft.com/office/drawing/2014/main" id="{50AA7DFA-8D55-4590-BEDB-DF731EBC49DE}"/>
                  </a:ext>
                </a:extLst>
              </p:cNvPr>
              <p:cNvSpPr>
                <a:spLocks noChangeArrowheads="1"/>
              </p:cNvSpPr>
              <p:nvPr/>
            </p:nvSpPr>
            <p:spPr bwMode="auto">
              <a:xfrm>
                <a:off x="1285875" y="2035254"/>
                <a:ext cx="3502149" cy="53713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ea typeface="Cambria Math" panose="02040503050406030204" pitchFamily="18" charset="0"/>
                      </a:rPr>
                      <m:t>↔</m:t>
                    </m:r>
                    <m:r>
                      <a:rPr lang="en-US" sz="2800" i="1" smtClean="0">
                        <a:solidFill>
                          <a:srgbClr val="000000"/>
                        </a:solidFill>
                        <a:latin typeface="Cambria Math" panose="02040503050406030204" pitchFamily="18" charset="0"/>
                      </a:rPr>
                      <m:t>𝑋</m:t>
                    </m:r>
                    <m:r>
                      <a:rPr lang="en-US" sz="280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，则</a:t>
                </a:r>
              </a:p>
            </p:txBody>
          </p:sp>
        </mc:Choice>
        <mc:Fallback xmlns="">
          <p:sp>
            <p:nvSpPr>
              <p:cNvPr id="25615" name="Rectangle 8">
                <a:extLst>
                  <a:ext uri="{FF2B5EF4-FFF2-40B4-BE49-F238E27FC236}">
                    <a16:creationId xmlns:a16="http://schemas.microsoft.com/office/drawing/2014/main" id="{50AA7DFA-8D55-4590-BEDB-DF731EBC49DE}"/>
                  </a:ext>
                </a:extLst>
              </p:cNvPr>
              <p:cNvSpPr>
                <a:spLocks noRot="1" noChangeAspect="1" noMove="1" noResize="1" noEditPoints="1" noAdjustHandles="1" noChangeArrowheads="1" noChangeShapeType="1" noTextEdit="1"/>
              </p:cNvSpPr>
              <p:nvPr/>
            </p:nvSpPr>
            <p:spPr bwMode="auto">
              <a:xfrm>
                <a:off x="1285875" y="2035254"/>
                <a:ext cx="3502149" cy="537135"/>
              </a:xfrm>
              <a:prstGeom prst="rect">
                <a:avLst/>
              </a:prstGeom>
              <a:blipFill>
                <a:blip r:embed="rId2"/>
                <a:stretch>
                  <a:fillRect l="-3659" t="-9091" r="-1916" b="-318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Object 2057">
                <a:extLst>
                  <a:ext uri="{FF2B5EF4-FFF2-40B4-BE49-F238E27FC236}">
                    <a16:creationId xmlns:a16="http://schemas.microsoft.com/office/drawing/2014/main" id="{98247636-CF59-43D3-B3E7-F05B925F4685}"/>
                  </a:ext>
                </a:extLst>
              </p:cNvPr>
              <p:cNvSpPr txBox="1"/>
              <p:nvPr/>
            </p:nvSpPr>
            <p:spPr bwMode="auto">
              <a:xfrm>
                <a:off x="1403648" y="2819851"/>
                <a:ext cx="4176464" cy="552395"/>
              </a:xfrm>
              <a:prstGeom prst="rect">
                <a:avLst/>
              </a:prstGeom>
              <a:solidFill>
                <a:schemeClr val="accent5">
                  <a:lumMod val="20000"/>
                  <a:lumOff val="80000"/>
                </a:schemeClr>
              </a:solidFill>
              <a:ln w="25400">
                <a:solidFill>
                  <a:srgbClr val="0000FF"/>
                </a:solid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𝑛</m:t>
                          </m:r>
                        </m:e>
                        <m:sub>
                          <m:r>
                            <a:rPr lang="en-US" sz="2800" i="1">
                              <a:solidFill>
                                <a:srgbClr val="000000"/>
                              </a:solidFill>
                              <a:latin typeface="Cambria Math" panose="02040503050406030204" pitchFamily="18" charset="0"/>
                            </a:rPr>
                            <m:t>0</m:t>
                          </m:r>
                        </m:sub>
                      </m:sSub>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ea typeface="Cambria Math" panose="02040503050406030204" pitchFamily="18" charset="0"/>
                        </a:rPr>
                        <m:t>↔</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𝑛</m:t>
                              </m:r>
                            </m:e>
                            <m:sub>
                              <m:r>
                                <a:rPr lang="en-US" sz="2800" i="1">
                                  <a:solidFill>
                                    <a:srgbClr val="000000"/>
                                  </a:solidFill>
                                  <a:latin typeface="Cambria Math" panose="02040503050406030204" pitchFamily="18" charset="0"/>
                                </a:rPr>
                                <m:t>0</m:t>
                              </m:r>
                            </m:sub>
                          </m:sSub>
                        </m:sup>
                      </m:sSup>
                    </m:oMath>
                  </m:oMathPara>
                </a14:m>
                <a:endParaRPr lang="en-US" sz="2800" dirty="0"/>
              </a:p>
            </p:txBody>
          </p:sp>
        </mc:Choice>
        <mc:Fallback xmlns="">
          <p:sp>
            <p:nvSpPr>
              <p:cNvPr id="19" name="Object 2057">
                <a:extLst>
                  <a:ext uri="{FF2B5EF4-FFF2-40B4-BE49-F238E27FC236}">
                    <a16:creationId xmlns:a16="http://schemas.microsoft.com/office/drawing/2014/main" id="{98247636-CF59-43D3-B3E7-F05B925F4685}"/>
                  </a:ext>
                </a:extLst>
              </p:cNvPr>
              <p:cNvSpPr txBox="1">
                <a:spLocks noRot="1" noChangeAspect="1" noMove="1" noResize="1" noEditPoints="1" noAdjustHandles="1" noChangeArrowheads="1" noChangeShapeType="1" noTextEdit="1"/>
              </p:cNvSpPr>
              <p:nvPr/>
            </p:nvSpPr>
            <p:spPr bwMode="auto">
              <a:xfrm>
                <a:off x="1403648" y="2819851"/>
                <a:ext cx="4176464" cy="552395"/>
              </a:xfrm>
              <a:prstGeom prst="rect">
                <a:avLst/>
              </a:prstGeom>
              <a:blipFill>
                <a:blip r:embed="rId3"/>
                <a:stretch>
                  <a:fillRect/>
                </a:stretch>
              </a:blipFill>
              <a:ln w="25400">
                <a:solidFill>
                  <a:srgbClr val="0000FF"/>
                </a:solidFill>
              </a:ln>
              <a:effectLst/>
            </p:spPr>
            <p:txBody>
              <a:bodyPr/>
              <a:lstStyle/>
              <a:p>
                <a:r>
                  <a:rPr lang="en-US">
                    <a:noFill/>
                  </a:rPr>
                  <a:t> </a:t>
                </a:r>
              </a:p>
            </p:txBody>
          </p:sp>
        </mc:Fallback>
      </mc:AlternateContent>
      <p:grpSp>
        <p:nvGrpSpPr>
          <p:cNvPr id="22" name="Group 2068">
            <a:extLst>
              <a:ext uri="{FF2B5EF4-FFF2-40B4-BE49-F238E27FC236}">
                <a16:creationId xmlns:a16="http://schemas.microsoft.com/office/drawing/2014/main" id="{646BC85F-4144-49B8-A877-824C77D492FF}"/>
              </a:ext>
            </a:extLst>
          </p:cNvPr>
          <p:cNvGrpSpPr>
            <a:grpSpLocks/>
          </p:cNvGrpSpPr>
          <p:nvPr/>
        </p:nvGrpSpPr>
        <p:grpSpPr bwMode="auto">
          <a:xfrm>
            <a:off x="5724128" y="2819851"/>
            <a:ext cx="2511425" cy="519113"/>
            <a:chOff x="3293" y="2342"/>
            <a:chExt cx="1582" cy="327"/>
          </a:xfrm>
        </p:grpSpPr>
        <p:sp>
          <p:nvSpPr>
            <p:cNvPr id="23" name="Text Box 2058">
              <a:extLst>
                <a:ext uri="{FF2B5EF4-FFF2-40B4-BE49-F238E27FC236}">
                  <a16:creationId xmlns:a16="http://schemas.microsoft.com/office/drawing/2014/main" id="{77FEBBC9-6DE3-4F42-9140-40222759EC71}"/>
                </a:ext>
              </a:extLst>
            </p:cNvPr>
            <p:cNvSpPr txBox="1">
              <a:spLocks noChangeArrowheads="1"/>
            </p:cNvSpPr>
            <p:nvPr/>
          </p:nvSpPr>
          <p:spPr bwMode="auto">
            <a:xfrm>
              <a:off x="3859" y="2342"/>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solidFill>
                    <a:srgbClr val="0000FF"/>
                  </a:solidFill>
                  <a:ea typeface="楷体_GB2312" panose="02010609030101010101" pitchFamily="49" charset="-122"/>
                </a:rPr>
                <a:t>时移特性</a:t>
              </a:r>
            </a:p>
          </p:txBody>
        </p:sp>
        <p:sp>
          <p:nvSpPr>
            <p:cNvPr id="24" name="Line 2059">
              <a:extLst>
                <a:ext uri="{FF2B5EF4-FFF2-40B4-BE49-F238E27FC236}">
                  <a16:creationId xmlns:a16="http://schemas.microsoft.com/office/drawing/2014/main" id="{8385E345-1D84-483D-8F89-8E33637A7CC6}"/>
                </a:ext>
              </a:extLst>
            </p:cNvPr>
            <p:cNvSpPr>
              <a:spLocks noChangeShapeType="1"/>
            </p:cNvSpPr>
            <p:nvPr/>
          </p:nvSpPr>
          <p:spPr bwMode="auto">
            <a:xfrm>
              <a:off x="3293" y="2515"/>
              <a:ext cx="60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FF"/>
                </a:solidFill>
              </a:endParaRPr>
            </a:p>
          </p:txBody>
        </p:sp>
      </p:grpSp>
      <mc:AlternateContent xmlns:mc="http://schemas.openxmlformats.org/markup-compatibility/2006" xmlns:a14="http://schemas.microsoft.com/office/drawing/2010/main">
        <mc:Choice Requires="a14">
          <p:sp>
            <p:nvSpPr>
              <p:cNvPr id="25" name="Object 2056">
                <a:extLst>
                  <a:ext uri="{FF2B5EF4-FFF2-40B4-BE49-F238E27FC236}">
                    <a16:creationId xmlns:a16="http://schemas.microsoft.com/office/drawing/2014/main" id="{0C6ADFE5-7A2F-48DF-A4CE-5432E9E146F1}"/>
                  </a:ext>
                </a:extLst>
              </p:cNvPr>
              <p:cNvSpPr txBox="1"/>
              <p:nvPr/>
            </p:nvSpPr>
            <p:spPr bwMode="auto">
              <a:xfrm>
                <a:off x="1403648" y="3650585"/>
                <a:ext cx="3981946" cy="552395"/>
              </a:xfrm>
              <a:prstGeom prst="rect">
                <a:avLst/>
              </a:prstGeom>
              <a:solidFill>
                <a:schemeClr val="accent5">
                  <a:lumMod val="20000"/>
                  <a:lumOff val="80000"/>
                </a:schemeClr>
              </a:solidFill>
              <a:ln w="25400">
                <a:solidFill>
                  <a:srgbClr val="0000FF"/>
                </a:solid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𝑛</m:t>
                          </m:r>
                        </m:sup>
                      </m:sSup>
                      <m:r>
                        <a:rPr lang="en-US" sz="2800" i="1" smtClean="0">
                          <a:solidFill>
                            <a:srgbClr val="000000"/>
                          </a:solidFill>
                          <a:latin typeface="Cambria Math" panose="02040503050406030204" pitchFamily="18" charset="0"/>
                          <a:ea typeface="Cambria Math" panose="02040503050406030204" pitchFamily="18" charset="0"/>
                        </a:rPr>
                        <m:t>↔</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5" name="Object 2056">
                <a:extLst>
                  <a:ext uri="{FF2B5EF4-FFF2-40B4-BE49-F238E27FC236}">
                    <a16:creationId xmlns:a16="http://schemas.microsoft.com/office/drawing/2014/main" id="{0C6ADFE5-7A2F-48DF-A4CE-5432E9E146F1}"/>
                  </a:ext>
                </a:extLst>
              </p:cNvPr>
              <p:cNvSpPr txBox="1">
                <a:spLocks noRot="1" noChangeAspect="1" noMove="1" noResize="1" noEditPoints="1" noAdjustHandles="1" noChangeArrowheads="1" noChangeShapeType="1" noTextEdit="1"/>
              </p:cNvSpPr>
              <p:nvPr/>
            </p:nvSpPr>
            <p:spPr bwMode="auto">
              <a:xfrm>
                <a:off x="1403648" y="3650585"/>
                <a:ext cx="3981946" cy="552395"/>
              </a:xfrm>
              <a:prstGeom prst="rect">
                <a:avLst/>
              </a:prstGeom>
              <a:blipFill>
                <a:blip r:embed="rId4"/>
                <a:stretch>
                  <a:fillRect/>
                </a:stretch>
              </a:blipFill>
              <a:ln w="25400">
                <a:solidFill>
                  <a:srgbClr val="0000FF"/>
                </a:solidFill>
              </a:ln>
              <a:effectLst/>
            </p:spPr>
            <p:txBody>
              <a:bodyPr/>
              <a:lstStyle/>
              <a:p>
                <a:r>
                  <a:rPr lang="en-US">
                    <a:noFill/>
                  </a:rPr>
                  <a:t> </a:t>
                </a:r>
              </a:p>
            </p:txBody>
          </p:sp>
        </mc:Fallback>
      </mc:AlternateContent>
      <p:grpSp>
        <p:nvGrpSpPr>
          <p:cNvPr id="28" name="Group 2069">
            <a:extLst>
              <a:ext uri="{FF2B5EF4-FFF2-40B4-BE49-F238E27FC236}">
                <a16:creationId xmlns:a16="http://schemas.microsoft.com/office/drawing/2014/main" id="{8859DCE1-F82E-478A-A3A7-1C44A19EB582}"/>
              </a:ext>
            </a:extLst>
          </p:cNvPr>
          <p:cNvGrpSpPr>
            <a:grpSpLocks/>
          </p:cNvGrpSpPr>
          <p:nvPr/>
        </p:nvGrpSpPr>
        <p:grpSpPr bwMode="auto">
          <a:xfrm>
            <a:off x="5724128" y="3667225"/>
            <a:ext cx="2525713" cy="519113"/>
            <a:chOff x="3274" y="2774"/>
            <a:chExt cx="1591" cy="327"/>
          </a:xfrm>
        </p:grpSpPr>
        <p:sp>
          <p:nvSpPr>
            <p:cNvPr id="29" name="Text Box 2060">
              <a:extLst>
                <a:ext uri="{FF2B5EF4-FFF2-40B4-BE49-F238E27FC236}">
                  <a16:creationId xmlns:a16="http://schemas.microsoft.com/office/drawing/2014/main" id="{0953445A-B98F-41EE-82A6-D8FD74A2BD4C}"/>
                </a:ext>
              </a:extLst>
            </p:cNvPr>
            <p:cNvSpPr txBox="1">
              <a:spLocks noChangeArrowheads="1"/>
            </p:cNvSpPr>
            <p:nvPr/>
          </p:nvSpPr>
          <p:spPr bwMode="auto">
            <a:xfrm>
              <a:off x="3849" y="2774"/>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solidFill>
                    <a:srgbClr val="0000FF"/>
                  </a:solidFill>
                  <a:ea typeface="楷体_GB2312" panose="02010609030101010101" pitchFamily="49" charset="-122"/>
                </a:rPr>
                <a:t>频移特性</a:t>
              </a:r>
            </a:p>
          </p:txBody>
        </p:sp>
        <p:sp>
          <p:nvSpPr>
            <p:cNvPr id="30" name="Line 2061">
              <a:extLst>
                <a:ext uri="{FF2B5EF4-FFF2-40B4-BE49-F238E27FC236}">
                  <a16:creationId xmlns:a16="http://schemas.microsoft.com/office/drawing/2014/main" id="{8127CE91-94F2-4ACE-9636-484A61FF9460}"/>
                </a:ext>
              </a:extLst>
            </p:cNvPr>
            <p:cNvSpPr>
              <a:spLocks noChangeShapeType="1"/>
            </p:cNvSpPr>
            <p:nvPr/>
          </p:nvSpPr>
          <p:spPr bwMode="auto">
            <a:xfrm>
              <a:off x="3274" y="2956"/>
              <a:ext cx="60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FF"/>
                </a:solidFill>
              </a:endParaRPr>
            </a:p>
          </p:txBody>
        </p:sp>
      </p:grpSp>
      <p:sp>
        <p:nvSpPr>
          <p:cNvPr id="31" name="Text Box 2">
            <a:extLst>
              <a:ext uri="{FF2B5EF4-FFF2-40B4-BE49-F238E27FC236}">
                <a16:creationId xmlns:a16="http://schemas.microsoft.com/office/drawing/2014/main" id="{7D6AFC17-FFC7-41DC-AA2B-0093742B11B0}"/>
              </a:ext>
            </a:extLst>
          </p:cNvPr>
          <p:cNvSpPr txBox="1">
            <a:spLocks noChangeArrowheads="1"/>
          </p:cNvSpPr>
          <p:nvPr/>
        </p:nvSpPr>
        <p:spPr bwMode="auto">
          <a:xfrm>
            <a:off x="871538" y="4653136"/>
            <a:ext cx="20794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4.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时域反转</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33" name="Object 2062">
                <a:extLst>
                  <a:ext uri="{FF2B5EF4-FFF2-40B4-BE49-F238E27FC236}">
                    <a16:creationId xmlns:a16="http://schemas.microsoft.com/office/drawing/2014/main" id="{5E9695E8-5152-423E-AF91-512AC36138AC}"/>
                  </a:ext>
                </a:extLst>
              </p:cNvPr>
              <p:cNvSpPr txBox="1"/>
              <p:nvPr/>
            </p:nvSpPr>
            <p:spPr bwMode="auto">
              <a:xfrm>
                <a:off x="4803205" y="5422479"/>
                <a:ext cx="2865139" cy="552395"/>
              </a:xfrm>
              <a:prstGeom prst="rect">
                <a:avLst/>
              </a:prstGeom>
              <a:solidFill>
                <a:schemeClr val="accent5">
                  <a:lumMod val="20000"/>
                  <a:lumOff val="80000"/>
                </a:schemeClr>
              </a:solidFill>
              <a:ln w="25400">
                <a:solidFill>
                  <a:srgbClr val="0000FF"/>
                </a:solid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ea typeface="Cambria Math" panose="02040503050406030204" pitchFamily="18" charset="0"/>
                        </a:rPr>
                        <m:t>↔</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3" name="Object 2062">
                <a:extLst>
                  <a:ext uri="{FF2B5EF4-FFF2-40B4-BE49-F238E27FC236}">
                    <a16:creationId xmlns:a16="http://schemas.microsoft.com/office/drawing/2014/main" id="{5E9695E8-5152-423E-AF91-512AC36138AC}"/>
                  </a:ext>
                </a:extLst>
              </p:cNvPr>
              <p:cNvSpPr txBox="1">
                <a:spLocks noRot="1" noChangeAspect="1" noMove="1" noResize="1" noEditPoints="1" noAdjustHandles="1" noChangeArrowheads="1" noChangeShapeType="1" noTextEdit="1"/>
              </p:cNvSpPr>
              <p:nvPr/>
            </p:nvSpPr>
            <p:spPr bwMode="auto">
              <a:xfrm>
                <a:off x="4803205" y="5422479"/>
                <a:ext cx="2865139" cy="552395"/>
              </a:xfrm>
              <a:prstGeom prst="rect">
                <a:avLst/>
              </a:prstGeom>
              <a:blipFill>
                <a:blip r:embed="rId5"/>
                <a:stretch>
                  <a:fillRect/>
                </a:stretch>
              </a:blipFill>
              <a:ln w="25400">
                <a:solidFill>
                  <a:srgbClr val="0000FF"/>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 Box 2063">
                <a:extLst>
                  <a:ext uri="{FF2B5EF4-FFF2-40B4-BE49-F238E27FC236}">
                    <a16:creationId xmlns:a16="http://schemas.microsoft.com/office/drawing/2014/main" id="{77EE74E8-A515-4418-A083-4BCBDAEF2F32}"/>
                  </a:ext>
                </a:extLst>
              </p:cNvPr>
              <p:cNvSpPr txBox="1">
                <a:spLocks noChangeArrowheads="1"/>
              </p:cNvSpPr>
              <p:nvPr/>
            </p:nvSpPr>
            <p:spPr bwMode="auto">
              <a:xfrm>
                <a:off x="1285875" y="5430110"/>
                <a:ext cx="3574157" cy="53764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eaLnBrk="0" hangingPunct="0"/>
                <a:r>
                  <a:rPr lang="zh-CN" altLang="en-US" sz="2800" dirty="0">
                    <a:solidFill>
                      <a:schemeClr val="tx1"/>
                    </a:solidFill>
                    <a:latin typeface="楷体_GB2312" panose="02010609030101010101" pitchFamily="49" charset="-122"/>
                    <a:ea typeface="楷体_GB2312" panose="02010609030101010101" pitchFamily="49" charset="-122"/>
                  </a:rPr>
                  <a:t>若</a:t>
                </a:r>
                <a14:m>
                  <m:oMath xmlns:m="http://schemas.openxmlformats.org/officeDocument/2006/math">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p>
                      <m:sSupPr>
                        <m:ctrlPr>
                          <a:rPr lang="en-US" sz="2800" i="1">
                            <a:solidFill>
                              <a:schemeClr val="tx1"/>
                            </a:solidFill>
                            <a:latin typeface="Cambria Math" panose="02040503050406030204" pitchFamily="18" charset="0"/>
                          </a:rPr>
                        </m:ctrlPr>
                      </m:sSupPr>
                      <m:e>
                        <m:r>
                          <m:rPr>
                            <m:sty m:val="p"/>
                          </m:rPr>
                          <a:rPr lang="en-US" sz="2800" b="0" i="0">
                            <a:solidFill>
                              <a:schemeClr val="tx1"/>
                            </a:solidFill>
                            <a:latin typeface="Cambria Math" panose="02040503050406030204" pitchFamily="18" charset="0"/>
                          </a:rPr>
                          <m:t>e</m:t>
                        </m:r>
                      </m:e>
                      <m:sup>
                        <m:r>
                          <m:rPr>
                            <m:sty m:val="p"/>
                          </m:rPr>
                          <a:rPr lang="en-US" sz="2800" b="0" i="0">
                            <a:solidFill>
                              <a:schemeClr val="tx1"/>
                            </a:solidFill>
                            <a:latin typeface="Cambria Math" panose="02040503050406030204" pitchFamily="18" charset="0"/>
                          </a:rPr>
                          <m:t>j</m:t>
                        </m:r>
                        <m:r>
                          <a:rPr lang="en-US" sz="2800" b="0" i="1">
                            <a:solidFill>
                              <a:schemeClr val="tx1"/>
                            </a:solidFill>
                            <a:latin typeface="Cambria Math" panose="02040503050406030204" pitchFamily="18" charset="0"/>
                          </a:rPr>
                          <m:t>𝜔</m:t>
                        </m:r>
                      </m:sup>
                    </m:sSup>
                    <m:r>
                      <a:rPr lang="en-US" sz="2800" b="0" i="1">
                        <a:solidFill>
                          <a:schemeClr val="tx1"/>
                        </a:solidFill>
                        <a:latin typeface="Cambria Math" panose="02040503050406030204" pitchFamily="18" charset="0"/>
                      </a:rPr>
                      <m:t>)</m:t>
                    </m:r>
                  </m:oMath>
                </a14:m>
                <a:r>
                  <a:rPr lang="zh-CN" altLang="en-US" sz="2800" dirty="0">
                    <a:solidFill>
                      <a:schemeClr val="tx1"/>
                    </a:solidFill>
                    <a:latin typeface="楷体_GB2312" panose="02010609030101010101" pitchFamily="49" charset="-122"/>
                    <a:ea typeface="楷体_GB2312" panose="02010609030101010101" pitchFamily="49" charset="-122"/>
                  </a:rPr>
                  <a:t>，则</a:t>
                </a:r>
              </a:p>
            </p:txBody>
          </p:sp>
        </mc:Choice>
        <mc:Fallback xmlns="">
          <p:sp>
            <p:nvSpPr>
              <p:cNvPr id="34" name="Text Box 2063">
                <a:extLst>
                  <a:ext uri="{FF2B5EF4-FFF2-40B4-BE49-F238E27FC236}">
                    <a16:creationId xmlns:a16="http://schemas.microsoft.com/office/drawing/2014/main" id="{77EE74E8-A515-4418-A083-4BCBDAEF2F32}"/>
                  </a:ext>
                </a:extLst>
              </p:cNvPr>
              <p:cNvSpPr txBox="1">
                <a:spLocks noRot="1" noChangeAspect="1" noMove="1" noResize="1" noEditPoints="1" noAdjustHandles="1" noChangeArrowheads="1" noChangeShapeType="1" noTextEdit="1"/>
              </p:cNvSpPr>
              <p:nvPr/>
            </p:nvSpPr>
            <p:spPr bwMode="auto">
              <a:xfrm>
                <a:off x="1285875" y="5430110"/>
                <a:ext cx="3574157" cy="537648"/>
              </a:xfrm>
              <a:prstGeom prst="rect">
                <a:avLst/>
              </a:prstGeom>
              <a:blipFill>
                <a:blip r:embed="rId6"/>
                <a:stretch>
                  <a:fillRect l="-3584" t="-13636" r="-2560" b="-272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ppt_x"/>
                                          </p:val>
                                        </p:tav>
                                        <p:tav tm="100000">
                                          <p:val>
                                            <p:strVal val="#ppt_x"/>
                                          </p:val>
                                        </p:tav>
                                      </p:tavLst>
                                    </p:anim>
                                    <p:anim calcmode="lin" valueType="num">
                                      <p:cBhvr additive="base">
                                        <p:cTn id="1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animBg="1"/>
      <p:bldP spid="3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2" name="标题 1">
            <a:extLst>
              <a:ext uri="{FF2B5EF4-FFF2-40B4-BE49-F238E27FC236}">
                <a16:creationId xmlns:a16="http://schemas.microsoft.com/office/drawing/2014/main" id="{E6BAF172-B7A1-4AE0-8258-B6F8CB035DE9}"/>
              </a:ext>
            </a:extLst>
          </p:cNvPr>
          <p:cNvSpPr>
            <a:spLocks noGrp="1"/>
          </p:cNvSpPr>
          <p:nvPr>
            <p:ph type="title"/>
          </p:nvPr>
        </p:nvSpPr>
        <p:spPr/>
        <p:txBody>
          <a:bodyPr/>
          <a:lstStyle/>
          <a:p>
            <a:r>
              <a:rPr lang="en-US" altLang="zh-CN" dirty="0"/>
              <a:t>5.3 </a:t>
            </a:r>
            <a:r>
              <a:rPr lang="zh-CN" altLang="en-US" dirty="0"/>
              <a:t>离散时间傅里叶变换的性质</a:t>
            </a:r>
          </a:p>
        </p:txBody>
      </p:sp>
      <p:sp>
        <p:nvSpPr>
          <p:cNvPr id="4" name="灯片编号占位符 3">
            <a:extLst>
              <a:ext uri="{FF2B5EF4-FFF2-40B4-BE49-F238E27FC236}">
                <a16:creationId xmlns:a16="http://schemas.microsoft.com/office/drawing/2014/main" id="{54FC2A6D-FC3C-4D35-B5D8-516DE8E41ED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DF1D7D-B163-4D68-A7B2-56B5D69D1FE9}" type="slidenum">
              <a:rPr lang="zh-CN" altLang="en-US">
                <a:solidFill>
                  <a:srgbClr val="898989"/>
                </a:solidFill>
                <a:latin typeface="Calibri" panose="020F0502020204030204" pitchFamily="34" charset="0"/>
              </a:rPr>
              <a:pPr eaLnBrk="1" hangingPunct="1"/>
              <a:t>23</a:t>
            </a:fld>
            <a:endParaRPr lang="zh-CN" altLang="en-US">
              <a:solidFill>
                <a:srgbClr val="898989"/>
              </a:solidFill>
              <a:latin typeface="Calibri" panose="020F0502020204030204" pitchFamily="34" charset="0"/>
            </a:endParaRPr>
          </a:p>
        </p:txBody>
      </p:sp>
      <p:sp>
        <p:nvSpPr>
          <p:cNvPr id="26634" name="Text Box 9">
            <a:extLst>
              <a:ext uri="{FF2B5EF4-FFF2-40B4-BE49-F238E27FC236}">
                <a16:creationId xmlns:a16="http://schemas.microsoft.com/office/drawing/2014/main" id="{DE8419B5-09EF-4489-9F05-9F7307DE0E51}"/>
              </a:ext>
            </a:extLst>
          </p:cNvPr>
          <p:cNvSpPr txBox="1">
            <a:spLocks noChangeArrowheads="1"/>
          </p:cNvSpPr>
          <p:nvPr/>
        </p:nvSpPr>
        <p:spPr bwMode="auto">
          <a:xfrm>
            <a:off x="642938" y="1318271"/>
            <a:ext cx="35157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5.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共轭及共轭对称性</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a:t>
            </a:r>
            <a:endParaRPr lang="en-US" altLang="zh-CN"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endParaRPr>
          </a:p>
        </p:txBody>
      </p:sp>
      <mc:AlternateContent xmlns:mc="http://schemas.openxmlformats.org/markup-compatibility/2006" xmlns:a14="http://schemas.microsoft.com/office/drawing/2010/main">
        <mc:Choice Requires="a14">
          <p:sp>
            <p:nvSpPr>
              <p:cNvPr id="24" name="Text Box 12">
                <a:extLst>
                  <a:ext uri="{FF2B5EF4-FFF2-40B4-BE49-F238E27FC236}">
                    <a16:creationId xmlns:a16="http://schemas.microsoft.com/office/drawing/2014/main" id="{47912B81-AA64-46A8-85DC-C4018E775690}"/>
                  </a:ext>
                </a:extLst>
              </p:cNvPr>
              <p:cNvSpPr txBox="1">
                <a:spLocks noChangeArrowheads="1"/>
              </p:cNvSpPr>
              <p:nvPr/>
            </p:nvSpPr>
            <p:spPr bwMode="auto">
              <a:xfrm>
                <a:off x="1331640" y="1883240"/>
                <a:ext cx="3577390" cy="53764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r>
                  <a:rPr lang="zh-CN" altLang="en-US" sz="2800" dirty="0">
                    <a:solidFill>
                      <a:schemeClr val="tx1"/>
                    </a:solidFill>
                    <a:latin typeface="楷体_GB2312" panose="02010609030101010101" pitchFamily="49" charset="-122"/>
                    <a:ea typeface="楷体_GB2312" panose="02010609030101010101" pitchFamily="49" charset="-122"/>
                  </a:rPr>
                  <a:t>若</a:t>
                </a:r>
                <a14:m>
                  <m:oMath xmlns:m="http://schemas.openxmlformats.org/officeDocument/2006/math">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𝑋</m:t>
                    </m:r>
                    <m:r>
                      <a:rPr lang="en-US" sz="2800" b="0" i="1" smtClean="0">
                        <a:solidFill>
                          <a:schemeClr val="tx1"/>
                        </a:solidFill>
                        <a:latin typeface="Cambria Math" panose="02040503050406030204" pitchFamily="18" charset="0"/>
                      </a:rPr>
                      <m:t>(</m:t>
                    </m:r>
                    <m:sSup>
                      <m:sSupPr>
                        <m:ctrlPr>
                          <a:rPr lang="en-US" sz="2800" i="1">
                            <a:solidFill>
                              <a:schemeClr val="tx1"/>
                            </a:solidFill>
                            <a:latin typeface="Cambria Math" panose="02040503050406030204" pitchFamily="18" charset="0"/>
                          </a:rPr>
                        </m:ctrlPr>
                      </m:sSupPr>
                      <m:e>
                        <m:r>
                          <m:rPr>
                            <m:sty m:val="p"/>
                          </m:rPr>
                          <a:rPr lang="en-US" sz="2800" b="0" i="0">
                            <a:solidFill>
                              <a:schemeClr val="tx1"/>
                            </a:solidFill>
                            <a:latin typeface="Cambria Math" panose="02040503050406030204" pitchFamily="18" charset="0"/>
                          </a:rPr>
                          <m:t>e</m:t>
                        </m:r>
                      </m:e>
                      <m:sup>
                        <m:r>
                          <m:rPr>
                            <m:sty m:val="p"/>
                          </m:rPr>
                          <a:rPr lang="en-US" sz="2800" b="0" i="0">
                            <a:solidFill>
                              <a:schemeClr val="tx1"/>
                            </a:solidFill>
                            <a:latin typeface="Cambria Math" panose="02040503050406030204" pitchFamily="18" charset="0"/>
                          </a:rPr>
                          <m:t>j</m:t>
                        </m:r>
                        <m:r>
                          <a:rPr lang="en-US" sz="2800" b="0" i="1">
                            <a:solidFill>
                              <a:schemeClr val="tx1"/>
                            </a:solidFill>
                            <a:latin typeface="Cambria Math" panose="02040503050406030204" pitchFamily="18" charset="0"/>
                          </a:rPr>
                          <m:t>𝜔</m:t>
                        </m:r>
                      </m:sup>
                    </m:sSup>
                    <m:r>
                      <a:rPr lang="en-US" sz="2800" b="0" i="1">
                        <a:solidFill>
                          <a:schemeClr val="tx1"/>
                        </a:solidFill>
                        <a:latin typeface="Cambria Math" panose="02040503050406030204" pitchFamily="18" charset="0"/>
                      </a:rPr>
                      <m:t>)</m:t>
                    </m:r>
                  </m:oMath>
                </a14:m>
                <a:r>
                  <a:rPr lang="zh-CN" altLang="en-US" sz="2800" dirty="0">
                    <a:solidFill>
                      <a:schemeClr val="tx1"/>
                    </a:solidFill>
                    <a:latin typeface="楷体_GB2312" panose="02010609030101010101" pitchFamily="49" charset="-122"/>
                    <a:ea typeface="楷体_GB2312" panose="02010609030101010101" pitchFamily="49" charset="-122"/>
                  </a:rPr>
                  <a:t>，则</a:t>
                </a:r>
              </a:p>
            </p:txBody>
          </p:sp>
        </mc:Choice>
        <mc:Fallback xmlns="">
          <p:sp>
            <p:nvSpPr>
              <p:cNvPr id="24" name="Text Box 12">
                <a:extLst>
                  <a:ext uri="{FF2B5EF4-FFF2-40B4-BE49-F238E27FC236}">
                    <a16:creationId xmlns:a16="http://schemas.microsoft.com/office/drawing/2014/main" id="{47912B81-AA64-46A8-85DC-C4018E775690}"/>
                  </a:ext>
                </a:extLst>
              </p:cNvPr>
              <p:cNvSpPr txBox="1">
                <a:spLocks noRot="1" noChangeAspect="1" noMove="1" noResize="1" noEditPoints="1" noAdjustHandles="1" noChangeArrowheads="1" noChangeShapeType="1" noTextEdit="1"/>
              </p:cNvSpPr>
              <p:nvPr/>
            </p:nvSpPr>
            <p:spPr bwMode="auto">
              <a:xfrm>
                <a:off x="1331640" y="1883240"/>
                <a:ext cx="3577390" cy="537648"/>
              </a:xfrm>
              <a:prstGeom prst="rect">
                <a:avLst/>
              </a:prstGeom>
              <a:blipFill>
                <a:blip r:embed="rId2"/>
                <a:stretch>
                  <a:fillRect l="-3407" t="-13636" r="-2555" b="-272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4E34232-C6B7-4DC7-8553-1ED6B7B225CF}"/>
                  </a:ext>
                </a:extLst>
              </p:cNvPr>
              <p:cNvSpPr txBox="1"/>
              <p:nvPr/>
            </p:nvSpPr>
            <p:spPr>
              <a:xfrm>
                <a:off x="4878288" y="1883240"/>
                <a:ext cx="2934072" cy="537648"/>
              </a:xfrm>
              <a:prstGeom prst="rect">
                <a:avLst/>
              </a:prstGeom>
              <a:solidFill>
                <a:schemeClr val="accent5">
                  <a:lumMod val="20000"/>
                  <a:lumOff val="80000"/>
                </a:schemeClr>
              </a:solidFill>
              <a:ln w="25400">
                <a:solidFill>
                  <a:srgbClr val="0000FF"/>
                </a:solidFill>
              </a:ln>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p>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𝑛</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𝜔</m:t>
                          </m:r>
                        </m:sup>
                      </m:s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lang="en-US" dirty="0"/>
              </a:p>
            </p:txBody>
          </p:sp>
        </mc:Choice>
        <mc:Fallback xmlns="">
          <p:sp>
            <p:nvSpPr>
              <p:cNvPr id="31" name="文本框 30">
                <a:extLst>
                  <a:ext uri="{FF2B5EF4-FFF2-40B4-BE49-F238E27FC236}">
                    <a16:creationId xmlns:a16="http://schemas.microsoft.com/office/drawing/2014/main" id="{D4E34232-C6B7-4DC7-8553-1ED6B7B225CF}"/>
                  </a:ext>
                </a:extLst>
              </p:cNvPr>
              <p:cNvSpPr txBox="1">
                <a:spLocks noRot="1" noChangeAspect="1" noMove="1" noResize="1" noEditPoints="1" noAdjustHandles="1" noChangeArrowheads="1" noChangeShapeType="1" noTextEdit="1"/>
              </p:cNvSpPr>
              <p:nvPr/>
            </p:nvSpPr>
            <p:spPr>
              <a:xfrm>
                <a:off x="4878288" y="1883240"/>
                <a:ext cx="2934072" cy="537648"/>
              </a:xfrm>
              <a:prstGeom prst="rect">
                <a:avLst/>
              </a:prstGeom>
              <a:blipFill>
                <a:blip r:embed="rId3"/>
                <a:stretch>
                  <a:fillRect/>
                </a:stretch>
              </a:blipFill>
              <a:ln w="25400">
                <a:solidFill>
                  <a:srgbClr val="0000FF"/>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 Box 10">
                <a:extLst>
                  <a:ext uri="{FF2B5EF4-FFF2-40B4-BE49-F238E27FC236}">
                    <a16:creationId xmlns:a16="http://schemas.microsoft.com/office/drawing/2014/main" id="{D3341574-B85E-4E42-81F7-A6DD3468ECFE}"/>
                  </a:ext>
                </a:extLst>
              </p:cNvPr>
              <p:cNvSpPr txBox="1">
                <a:spLocks noChangeArrowheads="1"/>
              </p:cNvSpPr>
              <p:nvPr/>
            </p:nvSpPr>
            <p:spPr bwMode="auto">
              <a:xfrm>
                <a:off x="842963" y="2599628"/>
                <a:ext cx="5525936"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是</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实信号</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，则</a:t>
                </a:r>
                <a14:m>
                  <m:oMath xmlns:m="http://schemas.openxmlformats.org/officeDocument/2006/math">
                    <m:r>
                      <a:rPr lang="en-US" sz="2800" i="1">
                        <a:latin typeface="Cambria Math" panose="02040503050406030204" pitchFamily="18" charset="0"/>
                      </a:rPr>
                      <m:t>𝑥</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𝑛</m:t>
                        </m:r>
                      </m:e>
                    </m:d>
                    <m:r>
                      <a:rPr lang="en-US" sz="2800" b="0" i="1" smtClean="0">
                        <a:latin typeface="Cambria Math" panose="02040503050406030204" pitchFamily="18" charset="0"/>
                      </a:rPr>
                      <m:t>=</m:t>
                    </m:r>
                    <m:sSup>
                      <m:sSupPr>
                        <m:ctrlPr>
                          <a:rPr lang="en-US" sz="2800" i="1">
                            <a:solidFill>
                              <a:prstClr val="black"/>
                            </a:solidFill>
                            <a:latin typeface="Cambria Math" panose="02040503050406030204" pitchFamily="18" charset="0"/>
                          </a:rPr>
                        </m:ctrlPr>
                      </m:sSupPr>
                      <m:e>
                        <m:r>
                          <a:rPr lang="en-US" sz="2800" i="1">
                            <a:solidFill>
                              <a:prstClr val="black"/>
                            </a:solidFill>
                            <a:latin typeface="Cambria Math" panose="02040503050406030204" pitchFamily="18" charset="0"/>
                          </a:rPr>
                          <m:t>𝑥</m:t>
                        </m:r>
                      </m:e>
                      <m:sup>
                        <m:r>
                          <a:rPr lang="en-US" sz="2800" i="1">
                            <a:solidFill>
                              <a:prstClr val="black"/>
                            </a:solidFill>
                            <a:latin typeface="Cambria Math" panose="02040503050406030204" pitchFamily="18" charset="0"/>
                          </a:rPr>
                          <m:t>∗</m:t>
                        </m:r>
                      </m:sup>
                    </m:sSup>
                    <m:r>
                      <a:rPr lang="en-US" sz="2800" i="1">
                        <a:solidFill>
                          <a:prstClr val="black"/>
                        </a:solidFill>
                        <a:latin typeface="Cambria Math" panose="02040503050406030204" pitchFamily="18" charset="0"/>
                      </a:rPr>
                      <m:t>[</m:t>
                    </m:r>
                    <m:r>
                      <a:rPr lang="en-US" sz="2800" i="1">
                        <a:solidFill>
                          <a:prstClr val="black"/>
                        </a:solidFill>
                        <a:latin typeface="Cambria Math" panose="02040503050406030204" pitchFamily="18" charset="0"/>
                      </a:rPr>
                      <m:t>𝑛</m:t>
                    </m:r>
                    <m:r>
                      <a:rPr lang="en-US" sz="2800" i="1">
                        <a:solidFill>
                          <a:prstClr val="black"/>
                        </a:solidFill>
                        <a:latin typeface="Cambria Math" panose="02040503050406030204" pitchFamily="18" charset="0"/>
                      </a:rPr>
                      <m:t>]</m:t>
                    </m:r>
                  </m:oMath>
                </a14:m>
                <a:endParaRPr lang="zh-CN" altLang="en-US" sz="2800" dirty="0">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33" name="Text Box 10">
                <a:extLst>
                  <a:ext uri="{FF2B5EF4-FFF2-40B4-BE49-F238E27FC236}">
                    <a16:creationId xmlns:a16="http://schemas.microsoft.com/office/drawing/2014/main" id="{D3341574-B85E-4E42-81F7-A6DD3468ECFE}"/>
                  </a:ext>
                </a:extLst>
              </p:cNvPr>
              <p:cNvSpPr txBox="1">
                <a:spLocks noRot="1" noChangeAspect="1" noMove="1" noResize="1" noEditPoints="1" noAdjustHandles="1" noChangeArrowheads="1" noChangeShapeType="1" noTextEdit="1"/>
              </p:cNvSpPr>
              <p:nvPr/>
            </p:nvSpPr>
            <p:spPr bwMode="auto">
              <a:xfrm>
                <a:off x="842963" y="2599628"/>
                <a:ext cx="5525936" cy="523220"/>
              </a:xfrm>
              <a:prstGeom prst="rect">
                <a:avLst/>
              </a:prstGeom>
              <a:blipFill>
                <a:blip r:embed="rId4"/>
                <a:stretch>
                  <a:fillRect l="-1985" t="-1162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sp>
        <p:nvSpPr>
          <p:cNvPr id="37" name="Text Box 14">
            <a:extLst>
              <a:ext uri="{FF2B5EF4-FFF2-40B4-BE49-F238E27FC236}">
                <a16:creationId xmlns:a16="http://schemas.microsoft.com/office/drawing/2014/main" id="{0A7CBE61-9069-45FD-9786-6F0B2675D327}"/>
              </a:ext>
            </a:extLst>
          </p:cNvPr>
          <p:cNvSpPr txBox="1">
            <a:spLocks noChangeArrowheads="1"/>
          </p:cNvSpPr>
          <p:nvPr/>
        </p:nvSpPr>
        <p:spPr bwMode="auto">
          <a:xfrm>
            <a:off x="1027113" y="3182240"/>
            <a:ext cx="13612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于是有</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39" name="Object 5">
                <a:extLst>
                  <a:ext uri="{FF2B5EF4-FFF2-40B4-BE49-F238E27FC236}">
                    <a16:creationId xmlns:a16="http://schemas.microsoft.com/office/drawing/2014/main" id="{B7580084-D886-4096-AFFA-4D1FBC99B8CC}"/>
                  </a:ext>
                </a:extLst>
              </p:cNvPr>
              <p:cNvSpPr txBox="1"/>
              <p:nvPr/>
            </p:nvSpPr>
            <p:spPr bwMode="auto">
              <a:xfrm>
                <a:off x="1259632" y="3878440"/>
                <a:ext cx="4339651" cy="57868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unc>
                        <m:funcPr>
                          <m:ctrlPr>
                            <a:rPr lang="en-US" sz="2800" i="1" smtClean="0">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Re</m:t>
                          </m:r>
                        </m:fName>
                        <m:e>
                          <m:r>
                            <a:rPr lang="en-US" sz="2800" i="1">
                              <a:solidFill>
                                <a:srgbClr val="000000"/>
                              </a:solidFill>
                              <a:latin typeface="Cambria Math" panose="02040503050406030204" pitchFamily="18" charset="0"/>
                            </a:rPr>
                            <m:t>[</m:t>
                          </m:r>
                        </m:e>
                      </m:func>
                      <m:r>
                        <a:rPr lang="en-US" sz="2800" i="1">
                          <a:latin typeface="Cambria Math" panose="02040503050406030204" pitchFamily="18" charset="0"/>
                        </a:rPr>
                        <m:t>𝑋</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m:rPr>
                                  <m:sty m:val="p"/>
                                </m:rPr>
                                <a:rPr lang="en-US" sz="2800">
                                  <a:latin typeface="Cambria Math" panose="02040503050406030204" pitchFamily="18" charset="0"/>
                                </a:rPr>
                                <m:t>e</m:t>
                              </m:r>
                            </m:e>
                            <m:sup>
                              <m:r>
                                <m:rPr>
                                  <m:sty m:val="p"/>
                                </m:rPr>
                                <a:rPr lang="en-US" sz="2800">
                                  <a:latin typeface="Cambria Math" panose="02040503050406030204" pitchFamily="18" charset="0"/>
                                </a:rPr>
                                <m:t>j</m:t>
                              </m:r>
                              <m:r>
                                <a:rPr lang="en-US" sz="2800" i="1">
                                  <a:latin typeface="Cambria Math" panose="02040503050406030204" pitchFamily="18" charset="0"/>
                                </a:rPr>
                                <m:t>𝜔</m:t>
                              </m:r>
                            </m:sup>
                          </m:sSup>
                        </m:e>
                      </m:d>
                      <m:r>
                        <a:rPr lang="en-US" sz="2800" i="1">
                          <a:solidFill>
                            <a:srgbClr val="000000"/>
                          </a:solidFill>
                          <a:latin typeface="Cambria Math" panose="02040503050406030204" pitchFamily="18" charset="0"/>
                        </a:rPr>
                        <m:t>]=</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Re</m:t>
                          </m:r>
                        </m:fName>
                        <m:e>
                          <m:r>
                            <a:rPr lang="en-US" sz="2800" i="1">
                              <a:solidFill>
                                <a:srgbClr val="000000"/>
                              </a:solidFill>
                              <a:latin typeface="Cambria Math" panose="02040503050406030204" pitchFamily="18" charset="0"/>
                            </a:rPr>
                            <m:t>[</m:t>
                          </m:r>
                        </m:e>
                      </m:func>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latin typeface="Cambria Math" panose="02040503050406030204" pitchFamily="18" charset="0"/>
                            </a:rPr>
                          </m:ctrlPr>
                        </m:sSupPr>
                        <m:e>
                          <m:r>
                            <m:rPr>
                              <m:sty m:val="p"/>
                            </m:rPr>
                            <a:rPr lang="en-US" sz="2800">
                              <a:latin typeface="Cambria Math" panose="02040503050406030204" pitchFamily="18" charset="0"/>
                            </a:rPr>
                            <m:t>e</m:t>
                          </m:r>
                        </m:e>
                        <m:sup>
                          <m:r>
                            <a:rPr lang="en-US" sz="2800" b="0" i="1" smtClean="0">
                              <a:latin typeface="Cambria Math" panose="02040503050406030204" pitchFamily="18" charset="0"/>
                            </a:rPr>
                            <m:t>−</m:t>
                          </m:r>
                          <m:r>
                            <m:rPr>
                              <m:sty m:val="p"/>
                            </m:rPr>
                            <a:rPr lang="en-US" sz="2800">
                              <a:latin typeface="Cambria Math" panose="02040503050406030204" pitchFamily="18" charset="0"/>
                            </a:rPr>
                            <m:t>j</m:t>
                          </m:r>
                          <m:r>
                            <a:rPr lang="en-US" sz="2800" i="1">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9" name="Object 5">
                <a:extLst>
                  <a:ext uri="{FF2B5EF4-FFF2-40B4-BE49-F238E27FC236}">
                    <a16:creationId xmlns:a16="http://schemas.microsoft.com/office/drawing/2014/main" id="{B7580084-D886-4096-AFFA-4D1FBC99B8CC}"/>
                  </a:ext>
                </a:extLst>
              </p:cNvPr>
              <p:cNvSpPr txBox="1">
                <a:spLocks noRot="1" noChangeAspect="1" noMove="1" noResize="1" noEditPoints="1" noAdjustHandles="1" noChangeArrowheads="1" noChangeShapeType="1" noTextEdit="1"/>
              </p:cNvSpPr>
              <p:nvPr/>
            </p:nvSpPr>
            <p:spPr bwMode="auto">
              <a:xfrm>
                <a:off x="1259632" y="3878440"/>
                <a:ext cx="4339651" cy="578685"/>
              </a:xfrm>
              <a:prstGeom prst="rect">
                <a:avLst/>
              </a:prstGeom>
              <a:blipFill>
                <a:blip r:embed="rId5"/>
                <a:stretch>
                  <a:fillRect/>
                </a:stretch>
              </a:blipFill>
              <a:ln>
                <a:noFill/>
              </a:ln>
              <a:effectLst/>
            </p:spPr>
            <p:txBody>
              <a:bodyPr/>
              <a:lstStyle/>
              <a:p>
                <a:r>
                  <a:rPr lang="en-US">
                    <a:noFill/>
                  </a:rPr>
                  <a:t> </a:t>
                </a:r>
              </a:p>
            </p:txBody>
          </p:sp>
        </mc:Fallback>
      </mc:AlternateContent>
      <p:sp>
        <p:nvSpPr>
          <p:cNvPr id="40" name="Text Box 4">
            <a:extLst>
              <a:ext uri="{FF2B5EF4-FFF2-40B4-BE49-F238E27FC236}">
                <a16:creationId xmlns:a16="http://schemas.microsoft.com/office/drawing/2014/main" id="{C5674715-4F43-4F47-9252-384B9A381336}"/>
              </a:ext>
            </a:extLst>
          </p:cNvPr>
          <p:cNvSpPr txBox="1">
            <a:spLocks noChangeArrowheads="1"/>
          </p:cNvSpPr>
          <p:nvPr/>
        </p:nvSpPr>
        <p:spPr bwMode="auto">
          <a:xfrm>
            <a:off x="5960579" y="3905845"/>
            <a:ext cx="2338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实部是偶函数</a:t>
            </a:r>
          </a:p>
        </p:txBody>
      </p:sp>
      <p:sp>
        <p:nvSpPr>
          <p:cNvPr id="41" name="Text Box 5">
            <a:extLst>
              <a:ext uri="{FF2B5EF4-FFF2-40B4-BE49-F238E27FC236}">
                <a16:creationId xmlns:a16="http://schemas.microsoft.com/office/drawing/2014/main" id="{38DA57D0-E846-4237-BBD5-4963AAD29E8A}"/>
              </a:ext>
            </a:extLst>
          </p:cNvPr>
          <p:cNvSpPr txBox="1">
            <a:spLocks noChangeArrowheads="1"/>
          </p:cNvSpPr>
          <p:nvPr/>
        </p:nvSpPr>
        <p:spPr bwMode="auto">
          <a:xfrm>
            <a:off x="5960579" y="4530645"/>
            <a:ext cx="2327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虚部是奇函数</a:t>
            </a:r>
          </a:p>
        </p:txBody>
      </p:sp>
      <p:sp>
        <p:nvSpPr>
          <p:cNvPr id="49" name="Text Box 13">
            <a:extLst>
              <a:ext uri="{FF2B5EF4-FFF2-40B4-BE49-F238E27FC236}">
                <a16:creationId xmlns:a16="http://schemas.microsoft.com/office/drawing/2014/main" id="{ACBE0410-C334-4198-A46B-6587D69EAB3F}"/>
              </a:ext>
            </a:extLst>
          </p:cNvPr>
          <p:cNvSpPr txBox="1">
            <a:spLocks noChangeArrowheads="1"/>
          </p:cNvSpPr>
          <p:nvPr/>
        </p:nvSpPr>
        <p:spPr bwMode="auto">
          <a:xfrm>
            <a:off x="5960579" y="5851150"/>
            <a:ext cx="2339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相位是奇函数</a:t>
            </a:r>
          </a:p>
        </p:txBody>
      </p:sp>
      <mc:AlternateContent xmlns:mc="http://schemas.openxmlformats.org/markup-compatibility/2006" xmlns:a14="http://schemas.microsoft.com/office/drawing/2010/main">
        <mc:Choice Requires="a14">
          <p:sp>
            <p:nvSpPr>
              <p:cNvPr id="54" name="Object 10">
                <a:extLst>
                  <a:ext uri="{FF2B5EF4-FFF2-40B4-BE49-F238E27FC236}">
                    <a16:creationId xmlns:a16="http://schemas.microsoft.com/office/drawing/2014/main" id="{73E4452A-E75F-428D-9E43-085A5531A91C}"/>
                  </a:ext>
                </a:extLst>
              </p:cNvPr>
              <p:cNvSpPr txBox="1"/>
              <p:nvPr/>
            </p:nvSpPr>
            <p:spPr bwMode="auto">
              <a:xfrm>
                <a:off x="1259632" y="4521377"/>
                <a:ext cx="4641254" cy="53764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Im</m:t>
                          </m:r>
                        </m:fName>
                        <m:e>
                          <m:r>
                            <a:rPr lang="en-US" sz="2800" i="1">
                              <a:solidFill>
                                <a:srgbClr val="000000"/>
                              </a:solidFill>
                              <a:latin typeface="Cambria Math" panose="02040503050406030204" pitchFamily="18" charset="0"/>
                            </a:rPr>
                            <m:t>[</m:t>
                          </m:r>
                        </m:e>
                      </m:func>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latin typeface="Cambria Math" panose="02040503050406030204" pitchFamily="18" charset="0"/>
                            </a:rPr>
                          </m:ctrlPr>
                        </m:sSupPr>
                        <m:e>
                          <m:r>
                            <m:rPr>
                              <m:sty m:val="p"/>
                            </m:rPr>
                            <a:rPr lang="en-US" sz="2800">
                              <a:latin typeface="Cambria Math" panose="02040503050406030204" pitchFamily="18" charset="0"/>
                            </a:rPr>
                            <m:t>e</m:t>
                          </m:r>
                        </m:e>
                        <m:sup>
                          <m:r>
                            <m:rPr>
                              <m:sty m:val="p"/>
                            </m:rPr>
                            <a:rPr lang="en-US" sz="2800">
                              <a:latin typeface="Cambria Math" panose="02040503050406030204" pitchFamily="18" charset="0"/>
                            </a:rPr>
                            <m:t>j</m:t>
                          </m:r>
                          <m:r>
                            <a:rPr lang="en-US" sz="2800" i="1">
                              <a:latin typeface="Cambria Math" panose="02040503050406030204" pitchFamily="18" charset="0"/>
                            </a:rPr>
                            <m:t>𝜔</m:t>
                          </m:r>
                        </m:sup>
                      </m:sSup>
                      <m:r>
                        <a:rPr lang="en-US" sz="2800" i="1">
                          <a:solidFill>
                            <a:srgbClr val="000000"/>
                          </a:solidFill>
                          <a:latin typeface="Cambria Math" panose="02040503050406030204" pitchFamily="18" charset="0"/>
                        </a:rPr>
                        <m:t>)]=−</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Im</m:t>
                          </m:r>
                        </m:fName>
                        <m:e>
                          <m:r>
                            <a:rPr lang="en-US" sz="2800" i="1">
                              <a:solidFill>
                                <a:srgbClr val="000000"/>
                              </a:solidFill>
                              <a:latin typeface="Cambria Math" panose="02040503050406030204" pitchFamily="18" charset="0"/>
                            </a:rPr>
                            <m:t>[</m:t>
                          </m:r>
                        </m:e>
                      </m:func>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latin typeface="Cambria Math" panose="02040503050406030204" pitchFamily="18" charset="0"/>
                            </a:rPr>
                          </m:ctrlPr>
                        </m:sSupPr>
                        <m:e>
                          <m:r>
                            <m:rPr>
                              <m:sty m:val="p"/>
                            </m:rPr>
                            <a:rPr lang="en-US" sz="2800">
                              <a:latin typeface="Cambria Math" panose="02040503050406030204" pitchFamily="18" charset="0"/>
                            </a:rPr>
                            <m:t>e</m:t>
                          </m:r>
                        </m:e>
                        <m:sup>
                          <m:r>
                            <a:rPr lang="en-US" sz="2800" i="1">
                              <a:latin typeface="Cambria Math" panose="02040503050406030204" pitchFamily="18" charset="0"/>
                            </a:rPr>
                            <m:t>−</m:t>
                          </m:r>
                          <m:r>
                            <m:rPr>
                              <m:sty m:val="p"/>
                            </m:rPr>
                            <a:rPr lang="en-US" sz="2800">
                              <a:latin typeface="Cambria Math" panose="02040503050406030204" pitchFamily="18" charset="0"/>
                            </a:rPr>
                            <m:t>j</m:t>
                          </m:r>
                          <m:r>
                            <a:rPr lang="en-US" sz="2800" i="1">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54" name="Object 10">
                <a:extLst>
                  <a:ext uri="{FF2B5EF4-FFF2-40B4-BE49-F238E27FC236}">
                    <a16:creationId xmlns:a16="http://schemas.microsoft.com/office/drawing/2014/main" id="{73E4452A-E75F-428D-9E43-085A5531A91C}"/>
                  </a:ext>
                </a:extLst>
              </p:cNvPr>
              <p:cNvSpPr txBox="1">
                <a:spLocks noRot="1" noChangeAspect="1" noMove="1" noResize="1" noEditPoints="1" noAdjustHandles="1" noChangeArrowheads="1" noChangeShapeType="1" noTextEdit="1"/>
              </p:cNvSpPr>
              <p:nvPr/>
            </p:nvSpPr>
            <p:spPr bwMode="auto">
              <a:xfrm>
                <a:off x="1259632" y="4521377"/>
                <a:ext cx="4641254" cy="537648"/>
              </a:xfrm>
              <a:prstGeom prst="rect">
                <a:avLst/>
              </a:prstGeom>
              <a:blipFill>
                <a:blip r:embed="rId6"/>
                <a:stretch>
                  <a:fillRect/>
                </a:stretch>
              </a:blipFill>
              <a:ln>
                <a:noFill/>
              </a:ln>
              <a:effectLst/>
            </p:spPr>
            <p:txBody>
              <a:bodyPr/>
              <a:lstStyle/>
              <a:p>
                <a:r>
                  <a:rPr lang="en-US">
                    <a:noFill/>
                  </a:rPr>
                  <a:t> </a:t>
                </a:r>
              </a:p>
            </p:txBody>
          </p:sp>
        </mc:Fallback>
      </mc:AlternateContent>
      <p:sp>
        <p:nvSpPr>
          <p:cNvPr id="55" name="Text Box 5">
            <a:extLst>
              <a:ext uri="{FF2B5EF4-FFF2-40B4-BE49-F238E27FC236}">
                <a16:creationId xmlns:a16="http://schemas.microsoft.com/office/drawing/2014/main" id="{7EE14759-9E06-429E-9CDD-A53A1FA2B540}"/>
              </a:ext>
            </a:extLst>
          </p:cNvPr>
          <p:cNvSpPr txBox="1">
            <a:spLocks noChangeArrowheads="1"/>
          </p:cNvSpPr>
          <p:nvPr/>
        </p:nvSpPr>
        <p:spPr bwMode="auto">
          <a:xfrm>
            <a:off x="5629275" y="3194940"/>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频谱为共轭偶函数</a:t>
            </a:r>
          </a:p>
        </p:txBody>
      </p: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B63C0F3C-3631-491C-A75A-A3415781DE7B}"/>
                  </a:ext>
                </a:extLst>
              </p:cNvPr>
              <p:cNvSpPr txBox="1"/>
              <p:nvPr/>
            </p:nvSpPr>
            <p:spPr>
              <a:xfrm>
                <a:off x="1259632" y="5206499"/>
                <a:ext cx="3380635" cy="5786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e>
                      </m:d>
                      <m:r>
                        <a:rPr lang="en-US" sz="2800" i="1">
                          <a:solidFill>
                            <a:srgbClr val="000000"/>
                          </a:solidFill>
                          <a:latin typeface="Cambria Math" panose="02040503050406030204" pitchFamily="18" charset="0"/>
                        </a:rPr>
                        <m:t>=</m:t>
                      </m:r>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e>
                      </m:d>
                    </m:oMath>
                  </m:oMathPara>
                </a14:m>
                <a:endParaRPr lang="en-US" sz="2800" dirty="0"/>
              </a:p>
            </p:txBody>
          </p:sp>
        </mc:Choice>
        <mc:Fallback xmlns="">
          <p:sp>
            <p:nvSpPr>
              <p:cNvPr id="66" name="文本框 65">
                <a:extLst>
                  <a:ext uri="{FF2B5EF4-FFF2-40B4-BE49-F238E27FC236}">
                    <a16:creationId xmlns:a16="http://schemas.microsoft.com/office/drawing/2014/main" id="{B63C0F3C-3631-491C-A75A-A3415781DE7B}"/>
                  </a:ext>
                </a:extLst>
              </p:cNvPr>
              <p:cNvSpPr txBox="1">
                <a:spLocks noRot="1" noChangeAspect="1" noMove="1" noResize="1" noEditPoints="1" noAdjustHandles="1" noChangeArrowheads="1" noChangeShapeType="1" noTextEdit="1"/>
              </p:cNvSpPr>
              <p:nvPr/>
            </p:nvSpPr>
            <p:spPr>
              <a:xfrm>
                <a:off x="1259632" y="5206499"/>
                <a:ext cx="3380635" cy="578685"/>
              </a:xfrm>
              <a:prstGeom prst="rect">
                <a:avLst/>
              </a:prstGeom>
              <a:blipFill>
                <a:blip r:embed="rId7"/>
                <a:stretch>
                  <a:fillRect/>
                </a:stretch>
              </a:blipFill>
            </p:spPr>
            <p:txBody>
              <a:bodyPr/>
              <a:lstStyle/>
              <a:p>
                <a:r>
                  <a:rPr lang="en-US">
                    <a:noFill/>
                  </a:rPr>
                  <a:t> </a:t>
                </a:r>
              </a:p>
            </p:txBody>
          </p:sp>
        </mc:Fallback>
      </mc:AlternateContent>
      <p:sp>
        <p:nvSpPr>
          <p:cNvPr id="67" name="Text Box 13">
            <a:extLst>
              <a:ext uri="{FF2B5EF4-FFF2-40B4-BE49-F238E27FC236}">
                <a16:creationId xmlns:a16="http://schemas.microsoft.com/office/drawing/2014/main" id="{C924DEC9-FF9C-4EB4-AD9B-A6F822F0237F}"/>
              </a:ext>
            </a:extLst>
          </p:cNvPr>
          <p:cNvSpPr txBox="1">
            <a:spLocks noChangeArrowheads="1"/>
          </p:cNvSpPr>
          <p:nvPr/>
        </p:nvSpPr>
        <p:spPr bwMode="auto">
          <a:xfrm>
            <a:off x="5960579" y="5234231"/>
            <a:ext cx="2339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幅度是偶函数</a:t>
            </a:r>
          </a:p>
        </p:txBody>
      </p:sp>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8CB71246-FCC2-499E-9AA8-9636DA23BD93}"/>
                  </a:ext>
                </a:extLst>
              </p:cNvPr>
              <p:cNvSpPr txBox="1"/>
              <p:nvPr/>
            </p:nvSpPr>
            <p:spPr>
              <a:xfrm>
                <a:off x="1259632" y="5844193"/>
                <a:ext cx="3608477" cy="5371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𝑋</m:t>
                      </m:r>
                      <m:r>
                        <a:rPr lang="en-US" sz="280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71" name="文本框 70">
                <a:extLst>
                  <a:ext uri="{FF2B5EF4-FFF2-40B4-BE49-F238E27FC236}">
                    <a16:creationId xmlns:a16="http://schemas.microsoft.com/office/drawing/2014/main" id="{8CB71246-FCC2-499E-9AA8-9636DA23BD93}"/>
                  </a:ext>
                </a:extLst>
              </p:cNvPr>
              <p:cNvSpPr txBox="1">
                <a:spLocks noRot="1" noChangeAspect="1" noMove="1" noResize="1" noEditPoints="1" noAdjustHandles="1" noChangeArrowheads="1" noChangeShapeType="1" noTextEdit="1"/>
              </p:cNvSpPr>
              <p:nvPr/>
            </p:nvSpPr>
            <p:spPr>
              <a:xfrm>
                <a:off x="1259632" y="5844193"/>
                <a:ext cx="3608477" cy="53713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BEDA9333-CCC6-46BE-9475-D2353A423716}"/>
                  </a:ext>
                </a:extLst>
              </p:cNvPr>
              <p:cNvSpPr txBox="1"/>
              <p:nvPr/>
            </p:nvSpPr>
            <p:spPr>
              <a:xfrm>
                <a:off x="2388383" y="3169237"/>
                <a:ext cx="3057525" cy="578685"/>
              </a:xfrm>
              <a:prstGeom prst="rect">
                <a:avLst/>
              </a:prstGeom>
              <a:solidFill>
                <a:schemeClr val="accent5">
                  <a:lumMod val="20000"/>
                  <a:lumOff val="80000"/>
                </a:schemeClr>
              </a:solidFill>
              <a:ln w="25400">
                <a:solidFill>
                  <a:srgbClr val="0000FF"/>
                </a:solid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𝑋</m:t>
                      </m:r>
                      <m:d>
                        <m:d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p>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𝜔</m:t>
                              </m:r>
                            </m:sup>
                          </m:sSup>
                        </m:e>
                      </m:d>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𝑋</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𝜔</m:t>
                          </m:r>
                        </m:sup>
                      </m:s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lang="en-US" dirty="0"/>
              </a:p>
            </p:txBody>
          </p:sp>
        </mc:Choice>
        <mc:Fallback xmlns="">
          <p:sp>
            <p:nvSpPr>
              <p:cNvPr id="75" name="文本框 74">
                <a:extLst>
                  <a:ext uri="{FF2B5EF4-FFF2-40B4-BE49-F238E27FC236}">
                    <a16:creationId xmlns:a16="http://schemas.microsoft.com/office/drawing/2014/main" id="{BEDA9333-CCC6-46BE-9475-D2353A423716}"/>
                  </a:ext>
                </a:extLst>
              </p:cNvPr>
              <p:cNvSpPr txBox="1">
                <a:spLocks noRot="1" noChangeAspect="1" noMove="1" noResize="1" noEditPoints="1" noAdjustHandles="1" noChangeArrowheads="1" noChangeShapeType="1" noTextEdit="1"/>
              </p:cNvSpPr>
              <p:nvPr/>
            </p:nvSpPr>
            <p:spPr>
              <a:xfrm>
                <a:off x="2388383" y="3169237"/>
                <a:ext cx="3057525" cy="578685"/>
              </a:xfrm>
              <a:prstGeom prst="rect">
                <a:avLst/>
              </a:prstGeom>
              <a:blipFill>
                <a:blip r:embed="rId9"/>
                <a:stretch>
                  <a:fillRect/>
                </a:stretch>
              </a:blipFill>
              <a:ln w="25400">
                <a:solidFill>
                  <a:srgbClr val="0000FF"/>
                </a:solid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wipe(down)">
                                      <p:cBhvr>
                                        <p:cTn id="13" dur="500"/>
                                        <p:tgtEl>
                                          <p:spTgt spid="5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wipe(down)">
                                      <p:cBhvr>
                                        <p:cTn id="16" dur="500"/>
                                        <p:tgtEl>
                                          <p:spTgt spid="7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down)">
                                      <p:cBhvr>
                                        <p:cTn id="21" dur="500"/>
                                        <p:tgtEl>
                                          <p:spTgt spid="3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down)">
                                      <p:cBhvr>
                                        <p:cTn id="24" dur="500"/>
                                        <p:tgtEl>
                                          <p:spTgt spid="4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down)">
                                      <p:cBhvr>
                                        <p:cTn id="27" dur="500"/>
                                        <p:tgtEl>
                                          <p:spTgt spid="41"/>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wipe(down)">
                                      <p:cBhvr>
                                        <p:cTn id="30" dur="500"/>
                                        <p:tgtEl>
                                          <p:spTgt spid="54"/>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additive="base">
                                        <p:cTn id="35" dur="500" fill="hold"/>
                                        <p:tgtEl>
                                          <p:spTgt spid="49"/>
                                        </p:tgtEl>
                                        <p:attrNameLst>
                                          <p:attrName>ppt_x</p:attrName>
                                        </p:attrNameLst>
                                      </p:cBhvr>
                                      <p:tavLst>
                                        <p:tav tm="0">
                                          <p:val>
                                            <p:strVal val="#ppt_x"/>
                                          </p:val>
                                        </p:tav>
                                        <p:tav tm="100000">
                                          <p:val>
                                            <p:strVal val="#ppt_x"/>
                                          </p:val>
                                        </p:tav>
                                      </p:tavLst>
                                    </p:anim>
                                    <p:anim calcmode="lin" valueType="num">
                                      <p:cBhvr additive="base">
                                        <p:cTn id="36" dur="500" fill="hold"/>
                                        <p:tgtEl>
                                          <p:spTgt spid="4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6"/>
                                        </p:tgtEl>
                                        <p:attrNameLst>
                                          <p:attrName>style.visibility</p:attrName>
                                        </p:attrNameLst>
                                      </p:cBhvr>
                                      <p:to>
                                        <p:strVal val="visible"/>
                                      </p:to>
                                    </p:set>
                                    <p:anim calcmode="lin" valueType="num">
                                      <p:cBhvr additive="base">
                                        <p:cTn id="39" dur="500" fill="hold"/>
                                        <p:tgtEl>
                                          <p:spTgt spid="66"/>
                                        </p:tgtEl>
                                        <p:attrNameLst>
                                          <p:attrName>ppt_x</p:attrName>
                                        </p:attrNameLst>
                                      </p:cBhvr>
                                      <p:tavLst>
                                        <p:tav tm="0">
                                          <p:val>
                                            <p:strVal val="#ppt_x"/>
                                          </p:val>
                                        </p:tav>
                                        <p:tav tm="100000">
                                          <p:val>
                                            <p:strVal val="#ppt_x"/>
                                          </p:val>
                                        </p:tav>
                                      </p:tavLst>
                                    </p:anim>
                                    <p:anim calcmode="lin" valueType="num">
                                      <p:cBhvr additive="base">
                                        <p:cTn id="40" dur="500" fill="hold"/>
                                        <p:tgtEl>
                                          <p:spTgt spid="6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7"/>
                                        </p:tgtEl>
                                        <p:attrNameLst>
                                          <p:attrName>style.visibility</p:attrName>
                                        </p:attrNameLst>
                                      </p:cBhvr>
                                      <p:to>
                                        <p:strVal val="visible"/>
                                      </p:to>
                                    </p:set>
                                    <p:anim calcmode="lin" valueType="num">
                                      <p:cBhvr additive="base">
                                        <p:cTn id="43" dur="500" fill="hold"/>
                                        <p:tgtEl>
                                          <p:spTgt spid="67"/>
                                        </p:tgtEl>
                                        <p:attrNameLst>
                                          <p:attrName>ppt_x</p:attrName>
                                        </p:attrNameLst>
                                      </p:cBhvr>
                                      <p:tavLst>
                                        <p:tav tm="0">
                                          <p:val>
                                            <p:strVal val="#ppt_x"/>
                                          </p:val>
                                        </p:tav>
                                        <p:tav tm="100000">
                                          <p:val>
                                            <p:strVal val="#ppt_x"/>
                                          </p:val>
                                        </p:tav>
                                      </p:tavLst>
                                    </p:anim>
                                    <p:anim calcmode="lin" valueType="num">
                                      <p:cBhvr additive="base">
                                        <p:cTn id="44" dur="500" fill="hold"/>
                                        <p:tgtEl>
                                          <p:spTgt spid="6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71"/>
                                        </p:tgtEl>
                                        <p:attrNameLst>
                                          <p:attrName>style.visibility</p:attrName>
                                        </p:attrNameLst>
                                      </p:cBhvr>
                                      <p:to>
                                        <p:strVal val="visible"/>
                                      </p:to>
                                    </p:set>
                                    <p:anim calcmode="lin" valueType="num">
                                      <p:cBhvr additive="base">
                                        <p:cTn id="47" dur="500" fill="hold"/>
                                        <p:tgtEl>
                                          <p:spTgt spid="71"/>
                                        </p:tgtEl>
                                        <p:attrNameLst>
                                          <p:attrName>ppt_x</p:attrName>
                                        </p:attrNameLst>
                                      </p:cBhvr>
                                      <p:tavLst>
                                        <p:tav tm="0">
                                          <p:val>
                                            <p:strVal val="#ppt_x"/>
                                          </p:val>
                                        </p:tav>
                                        <p:tav tm="100000">
                                          <p:val>
                                            <p:strVal val="#ppt_x"/>
                                          </p:val>
                                        </p:tav>
                                      </p:tavLst>
                                    </p:anim>
                                    <p:anim calcmode="lin" valueType="num">
                                      <p:cBhvr additive="base">
                                        <p:cTn id="48"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7" grpId="0"/>
      <p:bldP spid="39" grpId="0"/>
      <p:bldP spid="40" grpId="0"/>
      <p:bldP spid="41" grpId="0"/>
      <p:bldP spid="49" grpId="0"/>
      <p:bldP spid="54" grpId="0"/>
      <p:bldP spid="55" grpId="0"/>
      <p:bldP spid="66" grpId="0"/>
      <p:bldP spid="67" grpId="0"/>
      <p:bldP spid="71" grpId="0"/>
      <p:bldP spid="7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2" name="标题 1">
            <a:extLst>
              <a:ext uri="{FF2B5EF4-FFF2-40B4-BE49-F238E27FC236}">
                <a16:creationId xmlns:a16="http://schemas.microsoft.com/office/drawing/2014/main" id="{15A1CBD9-DB7E-4449-BE7E-1098C78AE05A}"/>
              </a:ext>
            </a:extLst>
          </p:cNvPr>
          <p:cNvSpPr>
            <a:spLocks noGrp="1"/>
          </p:cNvSpPr>
          <p:nvPr>
            <p:ph type="title"/>
          </p:nvPr>
        </p:nvSpPr>
        <p:spPr/>
        <p:txBody>
          <a:bodyPr/>
          <a:lstStyle/>
          <a:p>
            <a:r>
              <a:rPr lang="en-US" altLang="zh-CN" dirty="0"/>
              <a:t>5.3 </a:t>
            </a:r>
            <a:r>
              <a:rPr lang="zh-CN" altLang="en-US" dirty="0"/>
              <a:t>离散时间傅里叶变换的性质</a:t>
            </a:r>
          </a:p>
        </p:txBody>
      </p:sp>
      <p:sp>
        <p:nvSpPr>
          <p:cNvPr id="4" name="灯片编号占位符 3">
            <a:extLst>
              <a:ext uri="{FF2B5EF4-FFF2-40B4-BE49-F238E27FC236}">
                <a16:creationId xmlns:a16="http://schemas.microsoft.com/office/drawing/2014/main" id="{332BD5E7-DD04-469E-ACAD-31E44798B79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3F72829-DEE7-47BC-B48C-52FD589F33B7}" type="slidenum">
              <a:rPr lang="zh-CN" altLang="en-US">
                <a:solidFill>
                  <a:srgbClr val="898989"/>
                </a:solidFill>
                <a:latin typeface="Calibri" panose="020F0502020204030204" pitchFamily="34" charset="0"/>
              </a:rPr>
              <a:pPr eaLnBrk="1" hangingPunct="1"/>
              <a:t>24</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28692" name="Text Box 3">
                <a:extLst>
                  <a:ext uri="{FF2B5EF4-FFF2-40B4-BE49-F238E27FC236}">
                    <a16:creationId xmlns:a16="http://schemas.microsoft.com/office/drawing/2014/main" id="{FF893892-214C-480A-9851-FE6F3EB74522}"/>
                  </a:ext>
                </a:extLst>
              </p:cNvPr>
              <p:cNvSpPr txBox="1">
                <a:spLocks noChangeArrowheads="1"/>
              </p:cNvSpPr>
              <p:nvPr/>
            </p:nvSpPr>
            <p:spPr bwMode="auto">
              <a:xfrm>
                <a:off x="620322" y="1268760"/>
                <a:ext cx="7894637"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875" indent="-269875" algn="just" eaLnBrk="1" hangingPunct="1">
                  <a:buFontTx/>
                  <a:buChar cha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对于偶信号</a:t>
                </a:r>
                <a14:m>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，有</a:t>
                </a:r>
              </a:p>
            </p:txBody>
          </p:sp>
        </mc:Choice>
        <mc:Fallback xmlns="">
          <p:sp>
            <p:nvSpPr>
              <p:cNvPr id="28692" name="Text Box 3">
                <a:extLst>
                  <a:ext uri="{FF2B5EF4-FFF2-40B4-BE49-F238E27FC236}">
                    <a16:creationId xmlns:a16="http://schemas.microsoft.com/office/drawing/2014/main" id="{FF893892-214C-480A-9851-FE6F3EB74522}"/>
                  </a:ext>
                </a:extLst>
              </p:cNvPr>
              <p:cNvSpPr txBox="1">
                <a:spLocks noRot="1" noChangeAspect="1" noMove="1" noResize="1" noEditPoints="1" noAdjustHandles="1" noChangeArrowheads="1" noChangeShapeType="1" noTextEdit="1"/>
              </p:cNvSpPr>
              <p:nvPr/>
            </p:nvSpPr>
            <p:spPr bwMode="auto">
              <a:xfrm>
                <a:off x="620322" y="1268760"/>
                <a:ext cx="7894637" cy="523220"/>
              </a:xfrm>
              <a:prstGeom prst="rect">
                <a:avLst/>
              </a:prstGeom>
              <a:blipFill>
                <a:blip r:embed="rId2"/>
                <a:stretch>
                  <a:fillRect l="-1390" t="-1162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690" name="Rectangle 19">
                <a:extLst>
                  <a:ext uri="{FF2B5EF4-FFF2-40B4-BE49-F238E27FC236}">
                    <a16:creationId xmlns:a16="http://schemas.microsoft.com/office/drawing/2014/main" id="{1C505A0C-66BE-45BA-84DD-CA4785D43128}"/>
                  </a:ext>
                </a:extLst>
              </p:cNvPr>
              <p:cNvSpPr>
                <a:spLocks noChangeArrowheads="1"/>
              </p:cNvSpPr>
              <p:nvPr/>
            </p:nvSpPr>
            <p:spPr bwMode="auto">
              <a:xfrm>
                <a:off x="620322" y="2995330"/>
                <a:ext cx="4712572"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875" indent="-269875" algn="just" eaLnBrk="1" hangingPunct="1">
                  <a:buFontTx/>
                  <a:buChar cha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对于实偶信号</a:t>
                </a:r>
                <a14:m>
                  <m:oMath xmlns:m="http://schemas.openxmlformats.org/officeDocument/2006/math">
                    <m:r>
                      <a:rPr lang="en-US" sz="2800">
                        <a:latin typeface="Cambria Math" panose="02040503050406030204" pitchFamily="18" charset="0"/>
                        <a:ea typeface="华文楷体" panose="02010600040101010101" pitchFamily="2" charset="-122"/>
                        <a:cs typeface="楷体_GB2312" panose="02010609030101010101" pitchFamily="49" charset="-122"/>
                      </a:rPr>
                      <m:t>𝑥</m:t>
                    </m:r>
                    <m:r>
                      <a:rPr lang="en-US" sz="2800">
                        <a:latin typeface="Cambria Math" panose="02040503050406030204" pitchFamily="18" charset="0"/>
                        <a:ea typeface="华文楷体" panose="02010600040101010101" pitchFamily="2" charset="-122"/>
                        <a:cs typeface="楷体_GB2312" panose="02010609030101010101" pitchFamily="49" charset="-122"/>
                      </a:rPr>
                      <m:t>[</m:t>
                    </m:r>
                    <m:r>
                      <a:rPr lang="en-US" sz="2800">
                        <a:latin typeface="Cambria Math" panose="02040503050406030204" pitchFamily="18" charset="0"/>
                        <a:ea typeface="华文楷体" panose="02010600040101010101" pitchFamily="2" charset="-122"/>
                        <a:cs typeface="楷体_GB2312" panose="02010609030101010101" pitchFamily="49" charset="-122"/>
                      </a:rPr>
                      <m:t>𝑛</m:t>
                    </m:r>
                    <m:r>
                      <a:rPr lang="en-US" sz="2800">
                        <a:latin typeface="Cambria Math" panose="02040503050406030204" pitchFamily="18" charset="0"/>
                        <a:ea typeface="华文楷体" panose="02010600040101010101" pitchFamily="2" charset="-122"/>
                        <a:cs typeface="楷体_GB2312" panose="02010609030101010101" pitchFamily="49" charset="-122"/>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，又因为</a:t>
                </a:r>
              </a:p>
            </p:txBody>
          </p:sp>
        </mc:Choice>
        <mc:Fallback xmlns="">
          <p:sp>
            <p:nvSpPr>
              <p:cNvPr id="28690" name="Rectangle 19">
                <a:extLst>
                  <a:ext uri="{FF2B5EF4-FFF2-40B4-BE49-F238E27FC236}">
                    <a16:creationId xmlns:a16="http://schemas.microsoft.com/office/drawing/2014/main" id="{1C505A0C-66BE-45BA-84DD-CA4785D43128}"/>
                  </a:ext>
                </a:extLst>
              </p:cNvPr>
              <p:cNvSpPr>
                <a:spLocks noRot="1" noChangeAspect="1" noMove="1" noResize="1" noEditPoints="1" noAdjustHandles="1" noChangeArrowheads="1" noChangeShapeType="1" noTextEdit="1"/>
              </p:cNvSpPr>
              <p:nvPr/>
            </p:nvSpPr>
            <p:spPr bwMode="auto">
              <a:xfrm>
                <a:off x="620322" y="2995330"/>
                <a:ext cx="4712572" cy="523220"/>
              </a:xfrm>
              <a:prstGeom prst="rect">
                <a:avLst/>
              </a:prstGeom>
              <a:blipFill>
                <a:blip r:embed="rId3"/>
                <a:stretch>
                  <a:fillRect l="-2329" t="-11628" r="-1164"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0D526047-4D83-4550-9803-F2940F7440DD}"/>
                  </a:ext>
                </a:extLst>
              </p:cNvPr>
              <p:cNvSpPr txBox="1"/>
              <p:nvPr/>
            </p:nvSpPr>
            <p:spPr>
              <a:xfrm>
                <a:off x="3072053" y="1839645"/>
                <a:ext cx="2991174" cy="5371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lang="en-US" dirty="0"/>
              </a:p>
            </p:txBody>
          </p:sp>
        </mc:Choice>
        <mc:Fallback xmlns="">
          <p:sp>
            <p:nvSpPr>
              <p:cNvPr id="30" name="文本框 29">
                <a:extLst>
                  <a:ext uri="{FF2B5EF4-FFF2-40B4-BE49-F238E27FC236}">
                    <a16:creationId xmlns:a16="http://schemas.microsoft.com/office/drawing/2014/main" id="{0D526047-4D83-4550-9803-F2940F7440DD}"/>
                  </a:ext>
                </a:extLst>
              </p:cNvPr>
              <p:cNvSpPr txBox="1">
                <a:spLocks noRot="1" noChangeAspect="1" noMove="1" noResize="1" noEditPoints="1" noAdjustHandles="1" noChangeArrowheads="1" noChangeShapeType="1" noTextEdit="1"/>
              </p:cNvSpPr>
              <p:nvPr/>
            </p:nvSpPr>
            <p:spPr>
              <a:xfrm>
                <a:off x="3072053" y="1839645"/>
                <a:ext cx="2991174" cy="537135"/>
              </a:xfrm>
              <a:prstGeom prst="rect">
                <a:avLst/>
              </a:prstGeom>
              <a:blipFill>
                <a:blip r:embed="rId4"/>
                <a:stretch>
                  <a:fillRect/>
                </a:stretch>
              </a:blipFill>
            </p:spPr>
            <p:txBody>
              <a:bodyPr/>
              <a:lstStyle/>
              <a:p>
                <a:r>
                  <a:rPr lang="en-US">
                    <a:noFill/>
                  </a:rPr>
                  <a:t> </a:t>
                </a:r>
              </a:p>
            </p:txBody>
          </p:sp>
        </mc:Fallback>
      </mc:AlternateContent>
      <p:sp>
        <p:nvSpPr>
          <p:cNvPr id="34" name="文本框 33">
            <a:extLst>
              <a:ext uri="{FF2B5EF4-FFF2-40B4-BE49-F238E27FC236}">
                <a16:creationId xmlns:a16="http://schemas.microsoft.com/office/drawing/2014/main" id="{FB6A487A-C90E-41C4-AD66-188B64977B1E}"/>
              </a:ext>
            </a:extLst>
          </p:cNvPr>
          <p:cNvSpPr txBox="1"/>
          <p:nvPr/>
        </p:nvSpPr>
        <p:spPr>
          <a:xfrm>
            <a:off x="836346" y="2424445"/>
            <a:ext cx="6102424" cy="523220"/>
          </a:xfrm>
          <a:prstGeom prst="rect">
            <a:avLst/>
          </a:prstGeom>
          <a:noFill/>
        </p:spPr>
        <p:txBody>
          <a:bodyPr wrap="square">
            <a:spAutoFit/>
          </a:bodyPr>
          <a:lstStyle/>
          <a:p>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表明：</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偶信号的傅里叶变换是偶函数</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lang="en-US" dirty="0"/>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8584771A-9287-4694-8885-76AE7BCAE594}"/>
                  </a:ext>
                </a:extLst>
              </p:cNvPr>
              <p:cNvSpPr txBox="1"/>
              <p:nvPr/>
            </p:nvSpPr>
            <p:spPr>
              <a:xfrm>
                <a:off x="2314724" y="3566215"/>
                <a:ext cx="4505832" cy="5371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𝑋</m:t>
                      </m:r>
                      <m:r>
                        <a:rPr lang="en-US" sz="280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𝑋</m:t>
                          </m:r>
                        </m:e>
                        <m:sup>
                          <m:r>
                            <a:rPr lang="en-US" sz="2800" i="1">
                              <a:solidFill>
                                <a:srgbClr val="000000"/>
                              </a:solidFill>
                              <a:latin typeface="Cambria Math" panose="02040503050406030204" pitchFamily="18" charset="0"/>
                            </a:rPr>
                            <m:t>∗</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9" name="文本框 38">
                <a:extLst>
                  <a:ext uri="{FF2B5EF4-FFF2-40B4-BE49-F238E27FC236}">
                    <a16:creationId xmlns:a16="http://schemas.microsoft.com/office/drawing/2014/main" id="{8584771A-9287-4694-8885-76AE7BCAE594}"/>
                  </a:ext>
                </a:extLst>
              </p:cNvPr>
              <p:cNvSpPr txBox="1">
                <a:spLocks noRot="1" noChangeAspect="1" noMove="1" noResize="1" noEditPoints="1" noAdjustHandles="1" noChangeArrowheads="1" noChangeShapeType="1" noTextEdit="1"/>
              </p:cNvSpPr>
              <p:nvPr/>
            </p:nvSpPr>
            <p:spPr>
              <a:xfrm>
                <a:off x="2314724" y="3566215"/>
                <a:ext cx="4505832" cy="537135"/>
              </a:xfrm>
              <a:prstGeom prst="rect">
                <a:avLst/>
              </a:prstGeom>
              <a:blipFill>
                <a:blip r:embed="rId5"/>
                <a:stretch>
                  <a:fillRect/>
                </a:stretch>
              </a:blipFill>
            </p:spPr>
            <p:txBody>
              <a:bodyPr/>
              <a:lstStyle/>
              <a:p>
                <a:r>
                  <a:rPr lang="en-US">
                    <a:noFill/>
                  </a:rPr>
                  <a:t> </a:t>
                </a:r>
              </a:p>
            </p:txBody>
          </p:sp>
        </mc:Fallback>
      </mc:AlternateContent>
      <p:sp>
        <p:nvSpPr>
          <p:cNvPr id="40" name="文本框 39">
            <a:extLst>
              <a:ext uri="{FF2B5EF4-FFF2-40B4-BE49-F238E27FC236}">
                <a16:creationId xmlns:a16="http://schemas.microsoft.com/office/drawing/2014/main" id="{D277FFFC-A812-4975-89EB-BE429AAFD2D3}"/>
              </a:ext>
            </a:extLst>
          </p:cNvPr>
          <p:cNvSpPr txBox="1"/>
          <p:nvPr/>
        </p:nvSpPr>
        <p:spPr>
          <a:xfrm>
            <a:off x="827584" y="4151015"/>
            <a:ext cx="7065546" cy="523220"/>
          </a:xfrm>
          <a:prstGeom prst="rect">
            <a:avLst/>
          </a:prstGeom>
          <a:noFill/>
        </p:spPr>
        <p:txBody>
          <a:bodyPr wrap="square">
            <a:spAutoFit/>
          </a:bodyPr>
          <a:lstStyle/>
          <a:p>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表明：</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实偶信号的傅里叶变换是</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实</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偶函数</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lang="en-US" dirty="0"/>
          </a:p>
        </p:txBody>
      </p:sp>
      <mc:AlternateContent xmlns:mc="http://schemas.openxmlformats.org/markup-compatibility/2006" xmlns:a14="http://schemas.microsoft.com/office/drawing/2010/main">
        <mc:Choice Requires="a14">
          <p:sp>
            <p:nvSpPr>
              <p:cNvPr id="41" name="Text Box 3">
                <a:extLst>
                  <a:ext uri="{FF2B5EF4-FFF2-40B4-BE49-F238E27FC236}">
                    <a16:creationId xmlns:a16="http://schemas.microsoft.com/office/drawing/2014/main" id="{AFC08097-2164-4B15-8522-6A7F84B59200}"/>
                  </a:ext>
                </a:extLst>
              </p:cNvPr>
              <p:cNvSpPr txBox="1">
                <a:spLocks noChangeArrowheads="1"/>
              </p:cNvSpPr>
              <p:nvPr/>
            </p:nvSpPr>
            <p:spPr bwMode="auto">
              <a:xfrm>
                <a:off x="620322" y="4721900"/>
                <a:ext cx="7894637"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875" indent="-269875" algn="just" eaLnBrk="1" hangingPunct="1">
                  <a:buFontTx/>
                  <a:buChar cha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对于奇信号</a:t>
                </a:r>
                <a14:m>
                  <m:oMath xmlns:m="http://schemas.openxmlformats.org/officeDocument/2006/math">
                    <m:r>
                      <a:rPr lang="en-US" sz="2800" i="1" smtClean="0">
                        <a:solidFill>
                          <a:srgbClr val="000000"/>
                        </a:solidFill>
                        <a:latin typeface="Cambria Math" panose="02040503050406030204" pitchFamily="18" charset="0"/>
                      </a:rPr>
                      <m:t>𝑥</m:t>
                    </m:r>
                    <m:d>
                      <m:dPr>
                        <m:begChr m:val="["/>
                        <m:endChr m:val="]"/>
                        <m:ctrlPr>
                          <a:rPr lang="en-US" sz="2800" b="0" i="1" smtClean="0">
                            <a:solidFill>
                              <a:srgbClr val="000000"/>
                            </a:solidFill>
                            <a:latin typeface="Cambria Math" panose="02040503050406030204" pitchFamily="18" charset="0"/>
                          </a:rPr>
                        </m:ctrlPr>
                      </m:dPr>
                      <m:e>
                        <m:r>
                          <a:rPr lang="en-US" sz="2800" b="0" i="1" smtClean="0">
                            <a:solidFill>
                              <a:srgbClr val="000000"/>
                            </a:solidFill>
                            <a:latin typeface="Cambria Math" panose="02040503050406030204" pitchFamily="18" charset="0"/>
                          </a:rPr>
                          <m:t>𝑛</m:t>
                        </m:r>
                      </m:e>
                    </m:d>
                    <m:r>
                      <a:rPr lang="en-US" sz="280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，有</a:t>
                </a:r>
              </a:p>
            </p:txBody>
          </p:sp>
        </mc:Choice>
        <mc:Fallback xmlns="">
          <p:sp>
            <p:nvSpPr>
              <p:cNvPr id="41" name="Text Box 3">
                <a:extLst>
                  <a:ext uri="{FF2B5EF4-FFF2-40B4-BE49-F238E27FC236}">
                    <a16:creationId xmlns:a16="http://schemas.microsoft.com/office/drawing/2014/main" id="{AFC08097-2164-4B15-8522-6A7F84B59200}"/>
                  </a:ext>
                </a:extLst>
              </p:cNvPr>
              <p:cNvSpPr txBox="1">
                <a:spLocks noRot="1" noChangeAspect="1" noMove="1" noResize="1" noEditPoints="1" noAdjustHandles="1" noChangeArrowheads="1" noChangeShapeType="1" noTextEdit="1"/>
              </p:cNvSpPr>
              <p:nvPr/>
            </p:nvSpPr>
            <p:spPr bwMode="auto">
              <a:xfrm>
                <a:off x="620322" y="4721900"/>
                <a:ext cx="7894637" cy="523220"/>
              </a:xfrm>
              <a:prstGeom prst="rect">
                <a:avLst/>
              </a:prstGeom>
              <a:blipFill>
                <a:blip r:embed="rId6"/>
                <a:stretch>
                  <a:fillRect l="-1390" t="-12941" b="-32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431FBAD1-94D6-4B79-A231-26E4E938ED65}"/>
                  </a:ext>
                </a:extLst>
              </p:cNvPr>
              <p:cNvSpPr txBox="1"/>
              <p:nvPr/>
            </p:nvSpPr>
            <p:spPr>
              <a:xfrm>
                <a:off x="3072052" y="5292785"/>
                <a:ext cx="3204695" cy="5786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𝑋</m:t>
                      </m:r>
                      <m:d>
                        <m:d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sup>
                          </m:sSup>
                        </m:e>
                      </m:d>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lang="en-US" dirty="0"/>
              </a:p>
            </p:txBody>
          </p:sp>
        </mc:Choice>
        <mc:Fallback xmlns="">
          <p:sp>
            <p:nvSpPr>
              <p:cNvPr id="42" name="文本框 41">
                <a:extLst>
                  <a:ext uri="{FF2B5EF4-FFF2-40B4-BE49-F238E27FC236}">
                    <a16:creationId xmlns:a16="http://schemas.microsoft.com/office/drawing/2014/main" id="{431FBAD1-94D6-4B79-A231-26E4E938ED65}"/>
                  </a:ext>
                </a:extLst>
              </p:cNvPr>
              <p:cNvSpPr txBox="1">
                <a:spLocks noRot="1" noChangeAspect="1" noMove="1" noResize="1" noEditPoints="1" noAdjustHandles="1" noChangeArrowheads="1" noChangeShapeType="1" noTextEdit="1"/>
              </p:cNvSpPr>
              <p:nvPr/>
            </p:nvSpPr>
            <p:spPr>
              <a:xfrm>
                <a:off x="3072052" y="5292785"/>
                <a:ext cx="3204695" cy="578685"/>
              </a:xfrm>
              <a:prstGeom prst="rect">
                <a:avLst/>
              </a:prstGeom>
              <a:blipFill>
                <a:blip r:embed="rId7"/>
                <a:stretch>
                  <a:fillRect/>
                </a:stretch>
              </a:blipFill>
            </p:spPr>
            <p:txBody>
              <a:bodyPr/>
              <a:lstStyle/>
              <a:p>
                <a:r>
                  <a:rPr lang="en-US">
                    <a:noFill/>
                  </a:rPr>
                  <a:t> </a:t>
                </a:r>
              </a:p>
            </p:txBody>
          </p:sp>
        </mc:Fallback>
      </mc:AlternateContent>
      <p:sp>
        <p:nvSpPr>
          <p:cNvPr id="43" name="文本框 42">
            <a:extLst>
              <a:ext uri="{FF2B5EF4-FFF2-40B4-BE49-F238E27FC236}">
                <a16:creationId xmlns:a16="http://schemas.microsoft.com/office/drawing/2014/main" id="{265CD09E-FC9B-4860-ABCF-105961B73D32}"/>
              </a:ext>
            </a:extLst>
          </p:cNvPr>
          <p:cNvSpPr txBox="1"/>
          <p:nvPr/>
        </p:nvSpPr>
        <p:spPr>
          <a:xfrm>
            <a:off x="836346" y="5919139"/>
            <a:ext cx="6102424" cy="523220"/>
          </a:xfrm>
          <a:prstGeom prst="rect">
            <a:avLst/>
          </a:prstGeom>
          <a:noFill/>
        </p:spPr>
        <p:txBody>
          <a:bodyPr wrap="square">
            <a:spAutoFit/>
          </a:bodyPr>
          <a:lstStyle/>
          <a:p>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表明：</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奇信号的傅里叶变换是奇函数</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8690"/>
                                        </p:tgtEl>
                                        <p:attrNameLst>
                                          <p:attrName>style.visibility</p:attrName>
                                        </p:attrNameLst>
                                      </p:cBhvr>
                                      <p:to>
                                        <p:strVal val="visible"/>
                                      </p:to>
                                    </p:set>
                                    <p:animEffect transition="in" filter="wipe(down)">
                                      <p:cBhvr>
                                        <p:cTn id="7" dur="500"/>
                                        <p:tgtEl>
                                          <p:spTgt spid="2869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down)">
                                      <p:cBhvr>
                                        <p:cTn id="10" dur="500"/>
                                        <p:tgtEl>
                                          <p:spTgt spid="3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ipe(down)">
                                      <p:cBhvr>
                                        <p:cTn id="13" dur="500"/>
                                        <p:tgtEl>
                                          <p:spTgt spid="4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additive="base">
                                        <p:cTn id="18" dur="500" fill="hold"/>
                                        <p:tgtEl>
                                          <p:spTgt spid="41"/>
                                        </p:tgtEl>
                                        <p:attrNameLst>
                                          <p:attrName>ppt_x</p:attrName>
                                        </p:attrNameLst>
                                      </p:cBhvr>
                                      <p:tavLst>
                                        <p:tav tm="0">
                                          <p:val>
                                            <p:strVal val="#ppt_x"/>
                                          </p:val>
                                        </p:tav>
                                        <p:tav tm="100000">
                                          <p:val>
                                            <p:strVal val="#ppt_x"/>
                                          </p:val>
                                        </p:tav>
                                      </p:tavLst>
                                    </p:anim>
                                    <p:anim calcmode="lin" valueType="num">
                                      <p:cBhvr additive="base">
                                        <p:cTn id="19" dur="500" fill="hold"/>
                                        <p:tgtEl>
                                          <p:spTgt spid="41"/>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additive="base">
                                        <p:cTn id="22" dur="500" fill="hold"/>
                                        <p:tgtEl>
                                          <p:spTgt spid="42"/>
                                        </p:tgtEl>
                                        <p:attrNameLst>
                                          <p:attrName>ppt_x</p:attrName>
                                        </p:attrNameLst>
                                      </p:cBhvr>
                                      <p:tavLst>
                                        <p:tav tm="0">
                                          <p:val>
                                            <p:strVal val="#ppt_x"/>
                                          </p:val>
                                        </p:tav>
                                        <p:tav tm="100000">
                                          <p:val>
                                            <p:strVal val="#ppt_x"/>
                                          </p:val>
                                        </p:tav>
                                      </p:tavLst>
                                    </p:anim>
                                    <p:anim calcmode="lin" valueType="num">
                                      <p:cBhvr additive="base">
                                        <p:cTn id="23" dur="500" fill="hold"/>
                                        <p:tgtEl>
                                          <p:spTgt spid="42"/>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500" fill="hold"/>
                                        <p:tgtEl>
                                          <p:spTgt spid="43"/>
                                        </p:tgtEl>
                                        <p:attrNameLst>
                                          <p:attrName>ppt_x</p:attrName>
                                        </p:attrNameLst>
                                      </p:cBhvr>
                                      <p:tavLst>
                                        <p:tav tm="0">
                                          <p:val>
                                            <p:strVal val="#ppt_x"/>
                                          </p:val>
                                        </p:tav>
                                        <p:tav tm="100000">
                                          <p:val>
                                            <p:strVal val="#ppt_x"/>
                                          </p:val>
                                        </p:tav>
                                      </p:tavLst>
                                    </p:anim>
                                    <p:anim calcmode="lin" valueType="num">
                                      <p:cBhvr additive="base">
                                        <p:cTn id="27"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90" grpId="0"/>
      <p:bldP spid="39" grpId="0"/>
      <p:bldP spid="40" grpId="0"/>
      <p:bldP spid="41" grpId="0"/>
      <p:bldP spid="42" grpId="0"/>
      <p:bldP spid="4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 name="标题 1">
            <a:extLst>
              <a:ext uri="{FF2B5EF4-FFF2-40B4-BE49-F238E27FC236}">
                <a16:creationId xmlns:a16="http://schemas.microsoft.com/office/drawing/2014/main" id="{53E5251D-375B-45DB-B254-5194DBC0865C}"/>
              </a:ext>
            </a:extLst>
          </p:cNvPr>
          <p:cNvSpPr>
            <a:spLocks noGrp="1"/>
          </p:cNvSpPr>
          <p:nvPr>
            <p:ph type="title"/>
          </p:nvPr>
        </p:nvSpPr>
        <p:spPr/>
        <p:txBody>
          <a:bodyPr/>
          <a:lstStyle/>
          <a:p>
            <a:r>
              <a:rPr lang="en-US" altLang="zh-CN" dirty="0"/>
              <a:t>5.3 </a:t>
            </a:r>
            <a:r>
              <a:rPr lang="zh-CN" altLang="en-US" dirty="0"/>
              <a:t>离散时间傅里叶变换的性质</a:t>
            </a:r>
          </a:p>
        </p:txBody>
      </p:sp>
      <p:sp>
        <p:nvSpPr>
          <p:cNvPr id="4" name="灯片编号占位符 3">
            <a:extLst>
              <a:ext uri="{FF2B5EF4-FFF2-40B4-BE49-F238E27FC236}">
                <a16:creationId xmlns:a16="http://schemas.microsoft.com/office/drawing/2014/main" id="{7A301B12-01B2-4471-8793-4172EA4FB98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AE31EBF-9470-4218-8419-F81CDCFCFFF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47" name="Text Box 11">
                <a:extLst>
                  <a:ext uri="{FF2B5EF4-FFF2-40B4-BE49-F238E27FC236}">
                    <a16:creationId xmlns:a16="http://schemas.microsoft.com/office/drawing/2014/main" id="{0F107F34-7D02-4C97-9430-A764B55ABDC1}"/>
                  </a:ext>
                </a:extLst>
              </p:cNvPr>
              <p:cNvSpPr txBox="1">
                <a:spLocks noChangeArrowheads="1"/>
              </p:cNvSpPr>
              <p:nvPr/>
            </p:nvSpPr>
            <p:spPr bwMode="auto">
              <a:xfrm>
                <a:off x="765795" y="3496210"/>
                <a:ext cx="6356292"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若实信号</a:t>
                </a:r>
                <a14:m>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𝑒</m:t>
                        </m:r>
                      </m:sub>
                    </m:sSub>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𝑜</m:t>
                        </m:r>
                      </m:sub>
                    </m:sSub>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，则有</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047" name="Text Box 11">
                <a:extLst>
                  <a:ext uri="{FF2B5EF4-FFF2-40B4-BE49-F238E27FC236}">
                    <a16:creationId xmlns:a16="http://schemas.microsoft.com/office/drawing/2014/main" id="{0F107F34-7D02-4C97-9430-A764B55ABDC1}"/>
                  </a:ext>
                </a:extLst>
              </p:cNvPr>
              <p:cNvSpPr txBox="1">
                <a:spLocks noRot="1" noChangeAspect="1" noMove="1" noResize="1" noEditPoints="1" noAdjustHandles="1" noChangeArrowheads="1" noChangeShapeType="1" noTextEdit="1"/>
              </p:cNvSpPr>
              <p:nvPr/>
            </p:nvSpPr>
            <p:spPr bwMode="auto">
              <a:xfrm>
                <a:off x="765795" y="3496210"/>
                <a:ext cx="6356292" cy="523220"/>
              </a:xfrm>
              <a:prstGeom prst="rect">
                <a:avLst/>
              </a:prstGeom>
              <a:blipFill>
                <a:blip r:embed="rId2"/>
                <a:stretch>
                  <a:fillRect l="-1727" t="-15294" b="-32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bject 8">
                <a:extLst>
                  <a:ext uri="{FF2B5EF4-FFF2-40B4-BE49-F238E27FC236}">
                    <a16:creationId xmlns:a16="http://schemas.microsoft.com/office/drawing/2014/main" id="{A185A939-937E-4663-80ED-36B2253FF90C}"/>
                  </a:ext>
                </a:extLst>
              </p:cNvPr>
              <p:cNvSpPr txBox="1"/>
              <p:nvPr/>
            </p:nvSpPr>
            <p:spPr bwMode="auto">
              <a:xfrm>
                <a:off x="2411760" y="4220205"/>
                <a:ext cx="4542259" cy="53713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𝑋</m:t>
                          </m:r>
                        </m:e>
                        <m:sub>
                          <m:r>
                            <a:rPr lang="en-US" sz="2800" i="1">
                              <a:solidFill>
                                <a:srgbClr val="000000"/>
                              </a:solidFill>
                              <a:latin typeface="Cambria Math" panose="02040503050406030204" pitchFamily="18" charset="0"/>
                            </a:rPr>
                            <m:t>𝑒</m:t>
                          </m:r>
                        </m:sub>
                      </m:sSub>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𝑋</m:t>
                          </m:r>
                        </m:e>
                        <m:sub>
                          <m:r>
                            <a:rPr lang="en-US" sz="2800" i="1">
                              <a:solidFill>
                                <a:srgbClr val="000000"/>
                              </a:solidFill>
                              <a:latin typeface="Cambria Math" panose="02040503050406030204" pitchFamily="18" charset="0"/>
                            </a:rPr>
                            <m:t>𝑜</m:t>
                          </m:r>
                        </m:sub>
                      </m:sSub>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0" name="Object 8">
                <a:extLst>
                  <a:ext uri="{FF2B5EF4-FFF2-40B4-BE49-F238E27FC236}">
                    <a16:creationId xmlns:a16="http://schemas.microsoft.com/office/drawing/2014/main" id="{A185A939-937E-4663-80ED-36B2253FF90C}"/>
                  </a:ext>
                </a:extLst>
              </p:cNvPr>
              <p:cNvSpPr txBox="1">
                <a:spLocks noRot="1" noChangeAspect="1" noMove="1" noResize="1" noEditPoints="1" noAdjustHandles="1" noChangeArrowheads="1" noChangeShapeType="1" noTextEdit="1"/>
              </p:cNvSpPr>
              <p:nvPr/>
            </p:nvSpPr>
            <p:spPr bwMode="auto">
              <a:xfrm>
                <a:off x="2411760" y="4220205"/>
                <a:ext cx="4542259" cy="537135"/>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16" name="组合 15">
            <a:extLst>
              <a:ext uri="{FF2B5EF4-FFF2-40B4-BE49-F238E27FC236}">
                <a16:creationId xmlns:a16="http://schemas.microsoft.com/office/drawing/2014/main" id="{8022DBFD-3800-4648-B1F8-03A0FF930495}"/>
              </a:ext>
            </a:extLst>
          </p:cNvPr>
          <p:cNvGrpSpPr/>
          <p:nvPr/>
        </p:nvGrpSpPr>
        <p:grpSpPr>
          <a:xfrm>
            <a:off x="1726000" y="4958115"/>
            <a:ext cx="6230376" cy="537136"/>
            <a:chOff x="1726000" y="4785736"/>
            <a:chExt cx="6230376" cy="537136"/>
          </a:xfrm>
        </p:grpSpPr>
        <mc:AlternateContent xmlns:mc="http://schemas.openxmlformats.org/markup-compatibility/2006" xmlns:a14="http://schemas.microsoft.com/office/drawing/2010/main">
          <mc:Choice Requires="a14">
            <p:sp>
              <p:nvSpPr>
                <p:cNvPr id="1030" name="Object 9">
                  <a:extLst>
                    <a:ext uri="{FF2B5EF4-FFF2-40B4-BE49-F238E27FC236}">
                      <a16:creationId xmlns:a16="http://schemas.microsoft.com/office/drawing/2014/main" id="{A0EF0A25-44A9-49DF-BF5E-F13554B8BE5F}"/>
                    </a:ext>
                  </a:extLst>
                </p:cNvPr>
                <p:cNvSpPr txBox="1"/>
                <p:nvPr/>
              </p:nvSpPr>
              <p:spPr bwMode="auto">
                <a:xfrm>
                  <a:off x="1726000" y="4785737"/>
                  <a:ext cx="2773992" cy="53713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𝑒</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𝑋</m:t>
                            </m:r>
                          </m:e>
                          <m:sub>
                            <m:r>
                              <a:rPr lang="en-US" sz="2800" i="1">
                                <a:solidFill>
                                  <a:srgbClr val="000000"/>
                                </a:solidFill>
                                <a:latin typeface="Cambria Math" panose="02040503050406030204" pitchFamily="18" charset="0"/>
                              </a:rPr>
                              <m:t>𝑒</m:t>
                            </m:r>
                          </m:sub>
                        </m:sSub>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030" name="Object 9">
                  <a:extLst>
                    <a:ext uri="{FF2B5EF4-FFF2-40B4-BE49-F238E27FC236}">
                      <a16:creationId xmlns:a16="http://schemas.microsoft.com/office/drawing/2014/main" id="{A0EF0A25-44A9-49DF-BF5E-F13554B8BE5F}"/>
                    </a:ext>
                  </a:extLst>
                </p:cNvPr>
                <p:cNvSpPr txBox="1">
                  <a:spLocks noRot="1" noChangeAspect="1" noMove="1" noResize="1" noEditPoints="1" noAdjustHandles="1" noChangeArrowheads="1" noChangeShapeType="1" noTextEdit="1"/>
                </p:cNvSpPr>
                <p:nvPr/>
              </p:nvSpPr>
              <p:spPr bwMode="auto">
                <a:xfrm>
                  <a:off x="1726000" y="4785737"/>
                  <a:ext cx="2773992" cy="537135"/>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1" name="Object 11">
                  <a:extLst>
                    <a:ext uri="{FF2B5EF4-FFF2-40B4-BE49-F238E27FC236}">
                      <a16:creationId xmlns:a16="http://schemas.microsoft.com/office/drawing/2014/main" id="{4F492522-6D0C-4D3C-B077-BC8EB2F82937}"/>
                    </a:ext>
                  </a:extLst>
                </p:cNvPr>
                <p:cNvSpPr txBox="1"/>
                <p:nvPr/>
              </p:nvSpPr>
              <p:spPr bwMode="auto">
                <a:xfrm>
                  <a:off x="5039260" y="4785736"/>
                  <a:ext cx="2917116" cy="53713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𝑜</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𝑋</m:t>
                            </m:r>
                          </m:e>
                          <m:sub>
                            <m:r>
                              <a:rPr lang="en-US" sz="2800" i="1">
                                <a:solidFill>
                                  <a:srgbClr val="000000"/>
                                </a:solidFill>
                                <a:latin typeface="Cambria Math" panose="02040503050406030204" pitchFamily="18" charset="0"/>
                              </a:rPr>
                              <m:t>𝑜</m:t>
                            </m:r>
                          </m:sub>
                        </m:sSub>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031" name="Object 11">
                  <a:extLst>
                    <a:ext uri="{FF2B5EF4-FFF2-40B4-BE49-F238E27FC236}">
                      <a16:creationId xmlns:a16="http://schemas.microsoft.com/office/drawing/2014/main" id="{4F492522-6D0C-4D3C-B077-BC8EB2F82937}"/>
                    </a:ext>
                  </a:extLst>
                </p:cNvPr>
                <p:cNvSpPr txBox="1">
                  <a:spLocks noRot="1" noChangeAspect="1" noMove="1" noResize="1" noEditPoints="1" noAdjustHandles="1" noChangeArrowheads="1" noChangeShapeType="1" noTextEdit="1"/>
                </p:cNvSpPr>
                <p:nvPr/>
              </p:nvSpPr>
              <p:spPr bwMode="auto">
                <a:xfrm>
                  <a:off x="5039260" y="4785736"/>
                  <a:ext cx="2917116" cy="537135"/>
                </a:xfrm>
                <a:prstGeom prst="rect">
                  <a:avLst/>
                </a:prstGeom>
                <a:blipFill>
                  <a:blip r:embed="rId5"/>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8" name="Rectangle 19">
                <a:extLst>
                  <a:ext uri="{FF2B5EF4-FFF2-40B4-BE49-F238E27FC236}">
                    <a16:creationId xmlns:a16="http://schemas.microsoft.com/office/drawing/2014/main" id="{44DE2692-F930-4D72-9171-AC6309F84494}"/>
                  </a:ext>
                </a:extLst>
              </p:cNvPr>
              <p:cNvSpPr>
                <a:spLocks noChangeArrowheads="1"/>
              </p:cNvSpPr>
              <p:nvPr/>
            </p:nvSpPr>
            <p:spPr bwMode="auto">
              <a:xfrm>
                <a:off x="787782" y="1268760"/>
                <a:ext cx="4712572"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875" indent="-269875" algn="just" eaLnBrk="1" hangingPunct="1">
                  <a:buFontTx/>
                  <a:buChar cha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对于实奇信号</a:t>
                </a:r>
                <a14:m>
                  <m:oMath xmlns:m="http://schemas.openxmlformats.org/officeDocument/2006/math">
                    <m:r>
                      <a:rPr lang="en-US" sz="2800">
                        <a:latin typeface="Cambria Math" panose="02040503050406030204" pitchFamily="18" charset="0"/>
                        <a:ea typeface="华文楷体" panose="02010600040101010101" pitchFamily="2" charset="-122"/>
                        <a:cs typeface="楷体_GB2312" panose="02010609030101010101" pitchFamily="49" charset="-122"/>
                      </a:rPr>
                      <m:t>𝑥</m:t>
                    </m:r>
                    <m:r>
                      <a:rPr lang="en-US" sz="2800">
                        <a:latin typeface="Cambria Math" panose="02040503050406030204" pitchFamily="18" charset="0"/>
                        <a:ea typeface="华文楷体" panose="02010600040101010101" pitchFamily="2" charset="-122"/>
                        <a:cs typeface="楷体_GB2312" panose="02010609030101010101" pitchFamily="49" charset="-122"/>
                      </a:rPr>
                      <m:t>[</m:t>
                    </m:r>
                    <m:r>
                      <a:rPr lang="en-US" sz="2800">
                        <a:latin typeface="Cambria Math" panose="02040503050406030204" pitchFamily="18" charset="0"/>
                        <a:ea typeface="华文楷体" panose="02010600040101010101" pitchFamily="2" charset="-122"/>
                        <a:cs typeface="楷体_GB2312" panose="02010609030101010101" pitchFamily="49" charset="-122"/>
                      </a:rPr>
                      <m:t>𝑛</m:t>
                    </m:r>
                    <m:r>
                      <a:rPr lang="en-US" sz="2800">
                        <a:latin typeface="Cambria Math" panose="02040503050406030204" pitchFamily="18" charset="0"/>
                        <a:ea typeface="华文楷体" panose="02010600040101010101" pitchFamily="2" charset="-122"/>
                        <a:cs typeface="楷体_GB2312" panose="02010609030101010101" pitchFamily="49" charset="-122"/>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，又因为</a:t>
                </a:r>
              </a:p>
            </p:txBody>
          </p:sp>
        </mc:Choice>
        <mc:Fallback xmlns="">
          <p:sp>
            <p:nvSpPr>
              <p:cNvPr id="28" name="Rectangle 19">
                <a:extLst>
                  <a:ext uri="{FF2B5EF4-FFF2-40B4-BE49-F238E27FC236}">
                    <a16:creationId xmlns:a16="http://schemas.microsoft.com/office/drawing/2014/main" id="{44DE2692-F930-4D72-9171-AC6309F84494}"/>
                  </a:ext>
                </a:extLst>
              </p:cNvPr>
              <p:cNvSpPr>
                <a:spLocks noRot="1" noChangeAspect="1" noMove="1" noResize="1" noEditPoints="1" noAdjustHandles="1" noChangeArrowheads="1" noChangeShapeType="1" noTextEdit="1"/>
              </p:cNvSpPr>
              <p:nvPr/>
            </p:nvSpPr>
            <p:spPr bwMode="auto">
              <a:xfrm>
                <a:off x="787782" y="1268760"/>
                <a:ext cx="4712572" cy="523220"/>
              </a:xfrm>
              <a:prstGeom prst="rect">
                <a:avLst/>
              </a:prstGeom>
              <a:blipFill>
                <a:blip r:embed="rId6"/>
                <a:stretch>
                  <a:fillRect l="-2329" t="-11628" r="-1294"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C8336DCC-959B-4909-9958-F1AEB488AF5E}"/>
                  </a:ext>
                </a:extLst>
              </p:cNvPr>
              <p:cNvSpPr txBox="1"/>
              <p:nvPr/>
            </p:nvSpPr>
            <p:spPr>
              <a:xfrm>
                <a:off x="2482184" y="1992755"/>
                <a:ext cx="5114152" cy="5786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𝑋</m:t>
                      </m:r>
                      <m:d>
                        <m:dPr>
                          <m:ctrlPr>
                            <a:rPr lang="en-US" sz="2800" i="1" smtClean="0">
                              <a:solidFill>
                                <a:srgbClr val="000000"/>
                              </a:solidFill>
                              <a:latin typeface="Cambria Math" panose="02040503050406030204" pitchFamily="18" charset="0"/>
                            </a:rPr>
                          </m:ctrlPr>
                        </m:dPr>
                        <m:e>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e>
                      </m:d>
                      <m:r>
                        <a:rPr lang="en-US" sz="280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𝑋</m:t>
                      </m:r>
                      <m:d>
                        <m:dPr>
                          <m:ctrlPr>
                            <a:rPr lang="en-US" sz="2800" i="1">
                              <a:solidFill>
                                <a:srgbClr val="000000"/>
                              </a:solidFill>
                              <a:latin typeface="Cambria Math" panose="02040503050406030204" pitchFamily="18" charset="0"/>
                            </a:rPr>
                          </m:ctrlPr>
                        </m:dPr>
                        <m:e>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e>
                      </m:d>
                      <m:r>
                        <a:rPr lang="en-US" sz="280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𝑋</m:t>
                          </m:r>
                        </m:e>
                        <m:sup>
                          <m:r>
                            <a:rPr lang="en-US" sz="2800" i="1">
                              <a:solidFill>
                                <a:srgbClr val="000000"/>
                              </a:solidFill>
                              <a:latin typeface="Cambria Math" panose="02040503050406030204" pitchFamily="18" charset="0"/>
                            </a:rPr>
                            <m:t>∗</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1" name="文本框 30">
                <a:extLst>
                  <a:ext uri="{FF2B5EF4-FFF2-40B4-BE49-F238E27FC236}">
                    <a16:creationId xmlns:a16="http://schemas.microsoft.com/office/drawing/2014/main" id="{C8336DCC-959B-4909-9958-F1AEB488AF5E}"/>
                  </a:ext>
                </a:extLst>
              </p:cNvPr>
              <p:cNvSpPr txBox="1">
                <a:spLocks noRot="1" noChangeAspect="1" noMove="1" noResize="1" noEditPoints="1" noAdjustHandles="1" noChangeArrowheads="1" noChangeShapeType="1" noTextEdit="1"/>
              </p:cNvSpPr>
              <p:nvPr/>
            </p:nvSpPr>
            <p:spPr>
              <a:xfrm>
                <a:off x="2482184" y="1992755"/>
                <a:ext cx="5114152" cy="578685"/>
              </a:xfrm>
              <a:prstGeom prst="rect">
                <a:avLst/>
              </a:prstGeom>
              <a:blipFill>
                <a:blip r:embed="rId7"/>
                <a:stretch>
                  <a:fillRect/>
                </a:stretch>
              </a:blipFill>
            </p:spPr>
            <p:txBody>
              <a:bodyPr/>
              <a:lstStyle/>
              <a:p>
                <a:r>
                  <a:rPr lang="en-US">
                    <a:noFill/>
                  </a:rPr>
                  <a:t> </a:t>
                </a:r>
              </a:p>
            </p:txBody>
          </p:sp>
        </mc:Fallback>
      </mc:AlternateContent>
      <p:sp>
        <p:nvSpPr>
          <p:cNvPr id="32" name="文本框 31">
            <a:extLst>
              <a:ext uri="{FF2B5EF4-FFF2-40B4-BE49-F238E27FC236}">
                <a16:creationId xmlns:a16="http://schemas.microsoft.com/office/drawing/2014/main" id="{0962B4C4-70E4-4654-ADCA-F839C33A2A8E}"/>
              </a:ext>
            </a:extLst>
          </p:cNvPr>
          <p:cNvSpPr txBox="1"/>
          <p:nvPr/>
        </p:nvSpPr>
        <p:spPr>
          <a:xfrm>
            <a:off x="995044" y="2772215"/>
            <a:ext cx="7065546" cy="523220"/>
          </a:xfrm>
          <a:prstGeom prst="rect">
            <a:avLst/>
          </a:prstGeom>
          <a:noFill/>
        </p:spPr>
        <p:txBody>
          <a:bodyPr wrap="square">
            <a:spAutoFit/>
          </a:bodyPr>
          <a:lstStyle/>
          <a:p>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表明：</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实奇信号的傅里叶变换是</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虚奇</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函数</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lang="en-US" dirty="0"/>
          </a:p>
        </p:txBody>
      </p:sp>
      <p:sp>
        <p:nvSpPr>
          <p:cNvPr id="42" name="Text Box 10">
            <a:extLst>
              <a:ext uri="{FF2B5EF4-FFF2-40B4-BE49-F238E27FC236}">
                <a16:creationId xmlns:a16="http://schemas.microsoft.com/office/drawing/2014/main" id="{8E3B0B34-17E7-4276-97FC-1870EA61C238}"/>
              </a:ext>
            </a:extLst>
          </p:cNvPr>
          <p:cNvSpPr txBox="1">
            <a:spLocks noChangeArrowheads="1"/>
          </p:cNvSpPr>
          <p:nvPr/>
        </p:nvSpPr>
        <p:spPr bwMode="auto">
          <a:xfrm>
            <a:off x="787782" y="5696026"/>
            <a:ext cx="7428637" cy="60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lnSpc>
                <a:spcPct val="135000"/>
              </a:lnSpc>
            </a:pPr>
            <a:r>
              <a:rPr lang="zh-CN" altLang="en-US" sz="2800" dirty="0">
                <a:latin typeface="Times New Roman" panose="02020603050405020304" pitchFamily="18" charset="0"/>
                <a:ea typeface="楷体_GB2312" panose="02010609030101010101" pitchFamily="49" charset="-122"/>
              </a:rPr>
              <a:t>比较：</a:t>
            </a:r>
            <a:r>
              <a:rPr lang="zh-CN" altLang="en-US" sz="2800" dirty="0">
                <a:solidFill>
                  <a:srgbClr val="0000FF"/>
                </a:solidFill>
                <a:latin typeface="Times New Roman" panose="02020603050405020304" pitchFamily="18" charset="0"/>
                <a:ea typeface="楷体_GB2312" panose="02010609030101010101" pitchFamily="49" charset="-122"/>
              </a:rPr>
              <a:t>上述结论与连续时间傅里叶变换一致</a:t>
            </a:r>
            <a:r>
              <a:rPr lang="zh-CN" altLang="en-US" sz="2800" dirty="0">
                <a:latin typeface="Times New Roman" panose="02020603050405020304" pitchFamily="18" charset="0"/>
                <a:ea typeface="楷体_GB2312" panose="0201060903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47"/>
                                        </p:tgtEl>
                                        <p:attrNameLst>
                                          <p:attrName>style.visibility</p:attrName>
                                        </p:attrNameLst>
                                      </p:cBhvr>
                                      <p:to>
                                        <p:strVal val="visible"/>
                                      </p:to>
                                    </p:set>
                                    <p:animEffect transition="in" filter="wipe(down)">
                                      <p:cBhvr>
                                        <p:cTn id="7" dur="500"/>
                                        <p:tgtEl>
                                          <p:spTgt spid="104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par>
                                <p:cTn id="11" presetID="22" presetClass="entr" presetSubtype="4"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2"/>
                                        </p:tgtEl>
                                        <p:attrNameLst>
                                          <p:attrName>style.visibility</p:attrName>
                                        </p:attrNameLst>
                                      </p:cBhvr>
                                      <p:to>
                                        <p:strVal val="visible"/>
                                      </p:to>
                                    </p:set>
                                    <p:anim calcmode="lin" valueType="num">
                                      <p:cBhvr additive="base">
                                        <p:cTn id="18" dur="500" fill="hold"/>
                                        <p:tgtEl>
                                          <p:spTgt spid="42"/>
                                        </p:tgtEl>
                                        <p:attrNameLst>
                                          <p:attrName>ppt_x</p:attrName>
                                        </p:attrNameLst>
                                      </p:cBhvr>
                                      <p:tavLst>
                                        <p:tav tm="0">
                                          <p:val>
                                            <p:strVal val="#ppt_x"/>
                                          </p:val>
                                        </p:tav>
                                        <p:tav tm="100000">
                                          <p:val>
                                            <p:strVal val="#ppt_x"/>
                                          </p:val>
                                        </p:tav>
                                      </p:tavLst>
                                    </p:anim>
                                    <p:anim calcmode="lin" valueType="num">
                                      <p:cBhvr additive="base">
                                        <p:cTn id="19"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7" grpId="0"/>
      <p:bldP spid="20" grpId="0"/>
      <p:bldP spid="4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标题 1">
            <a:extLst>
              <a:ext uri="{FF2B5EF4-FFF2-40B4-BE49-F238E27FC236}">
                <a16:creationId xmlns:a16="http://schemas.microsoft.com/office/drawing/2014/main" id="{B4F5DD50-EA9D-4A82-922B-9E2AA8DE3706}"/>
              </a:ext>
            </a:extLst>
          </p:cNvPr>
          <p:cNvSpPr>
            <a:spLocks noGrp="1"/>
          </p:cNvSpPr>
          <p:nvPr>
            <p:ph type="title"/>
          </p:nvPr>
        </p:nvSpPr>
        <p:spPr/>
        <p:txBody>
          <a:bodyPr/>
          <a:lstStyle/>
          <a:p>
            <a:r>
              <a:rPr lang="en-US" altLang="zh-CN" dirty="0"/>
              <a:t>5.3 </a:t>
            </a:r>
            <a:r>
              <a:rPr lang="zh-CN" altLang="en-US" dirty="0"/>
              <a:t>离散时间傅里叶变换的性质</a:t>
            </a:r>
          </a:p>
        </p:txBody>
      </p:sp>
      <p:sp>
        <p:nvSpPr>
          <p:cNvPr id="4" name="灯片编号占位符 3">
            <a:extLst>
              <a:ext uri="{FF2B5EF4-FFF2-40B4-BE49-F238E27FC236}">
                <a16:creationId xmlns:a16="http://schemas.microsoft.com/office/drawing/2014/main" id="{A18F2120-028E-45DE-8AA4-B515318CEF0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6E1FBD7-0CCD-46F9-9EFF-45BE935858E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8" name="Rectangle 21">
                <a:extLst>
                  <a:ext uri="{FF2B5EF4-FFF2-40B4-BE49-F238E27FC236}">
                    <a16:creationId xmlns:a16="http://schemas.microsoft.com/office/drawing/2014/main" id="{B0CB7BCC-2DEB-46AA-BE0E-9FACEFD8F46B}"/>
                  </a:ext>
                </a:extLst>
              </p:cNvPr>
              <p:cNvSpPr>
                <a:spLocks noChangeArrowheads="1"/>
              </p:cNvSpPr>
              <p:nvPr/>
            </p:nvSpPr>
            <p:spPr bwMode="auto">
              <a:xfrm>
                <a:off x="741315" y="1850557"/>
                <a:ext cx="3094822" cy="47410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𝑋</m:t>
                    </m:r>
                    <m:r>
                      <a:rPr lang="en-US" sz="2400" i="1">
                        <a:latin typeface="Cambria Math" panose="02040503050406030204" pitchFamily="18" charset="0"/>
                      </a:rPr>
                      <m:t>(</m:t>
                    </m:r>
                    <m:sSup>
                      <m:sSupPr>
                        <m:ctrlPr>
                          <a:rPr lang="en-US" sz="2400" i="1">
                            <a:latin typeface="Cambria Math" panose="02040503050406030204" pitchFamily="18" charset="0"/>
                          </a:rPr>
                        </m:ctrlPr>
                      </m:sSupPr>
                      <m:e>
                        <m:r>
                          <m:rPr>
                            <m:sty m:val="p"/>
                          </m:rPr>
                          <a:rPr lang="en-US" sz="2400">
                            <a:latin typeface="Cambria Math" panose="02040503050406030204" pitchFamily="18" charset="0"/>
                          </a:rPr>
                          <m:t>e</m:t>
                        </m:r>
                      </m:e>
                      <m:sup>
                        <m:r>
                          <m:rPr>
                            <m:sty m:val="p"/>
                          </m:rPr>
                          <a:rPr lang="en-US" sz="2400">
                            <a:latin typeface="Cambria Math" panose="02040503050406030204" pitchFamily="18" charset="0"/>
                          </a:rPr>
                          <m:t>j</m:t>
                        </m:r>
                        <m:r>
                          <a:rPr lang="en-US" sz="2400" i="1">
                            <a:latin typeface="Cambria Math" panose="02040503050406030204" pitchFamily="18" charset="0"/>
                          </a:rPr>
                          <m:t>𝜔</m:t>
                        </m:r>
                      </m:sup>
                    </m:sSup>
                    <m:r>
                      <a:rPr lang="en-US" sz="2400" i="1">
                        <a:latin typeface="Cambria Math" panose="02040503050406030204" pitchFamily="18" charset="0"/>
                      </a:rPr>
                      <m:t>)</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，则</a:t>
                </a:r>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8" name="Rectangle 21">
                <a:extLst>
                  <a:ext uri="{FF2B5EF4-FFF2-40B4-BE49-F238E27FC236}">
                    <a16:creationId xmlns:a16="http://schemas.microsoft.com/office/drawing/2014/main" id="{B0CB7BCC-2DEB-46AA-BE0E-9FACEFD8F46B}"/>
                  </a:ext>
                </a:extLst>
              </p:cNvPr>
              <p:cNvSpPr>
                <a:spLocks noRot="1" noChangeAspect="1" noMove="1" noResize="1" noEditPoints="1" noAdjustHandles="1" noChangeArrowheads="1" noChangeShapeType="1" noTextEdit="1"/>
              </p:cNvSpPr>
              <p:nvPr/>
            </p:nvSpPr>
            <p:spPr bwMode="auto">
              <a:xfrm>
                <a:off x="741315" y="1850557"/>
                <a:ext cx="3094822" cy="474104"/>
              </a:xfrm>
              <a:prstGeom prst="rect">
                <a:avLst/>
              </a:prstGeom>
              <a:blipFill>
                <a:blip r:embed="rId2"/>
                <a:stretch>
                  <a:fillRect l="-3156" t="-6494" r="-2170" b="-311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noFill/>
                  </a:rPr>
                  <a:t> </a:t>
                </a:r>
              </a:p>
            </p:txBody>
          </p:sp>
        </mc:Fallback>
      </mc:AlternateContent>
      <p:sp>
        <p:nvSpPr>
          <p:cNvPr id="4108" name="Text Box 2">
            <a:extLst>
              <a:ext uri="{FF2B5EF4-FFF2-40B4-BE49-F238E27FC236}">
                <a16:creationId xmlns:a16="http://schemas.microsoft.com/office/drawing/2014/main" id="{149C74D6-FD46-43E3-BB8A-6080E39136D1}"/>
              </a:ext>
            </a:extLst>
          </p:cNvPr>
          <p:cNvSpPr txBox="1">
            <a:spLocks noChangeArrowheads="1"/>
          </p:cNvSpPr>
          <p:nvPr/>
        </p:nvSpPr>
        <p:spPr bwMode="auto">
          <a:xfrm>
            <a:off x="395536" y="1340768"/>
            <a:ext cx="2731838" cy="382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6. </a:t>
            </a: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时域差分与累加</a:t>
            </a:r>
            <a:r>
              <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082B85E-09F5-45AC-B2B8-5536744F2656}"/>
                  </a:ext>
                </a:extLst>
              </p:cNvPr>
              <p:cNvSpPr txBox="1"/>
              <p:nvPr/>
            </p:nvSpPr>
            <p:spPr>
              <a:xfrm>
                <a:off x="2142990" y="2451653"/>
                <a:ext cx="4995428" cy="474104"/>
              </a:xfrm>
              <a:prstGeom prst="rect">
                <a:avLst/>
              </a:prstGeom>
              <a:solidFill>
                <a:schemeClr val="accent5">
                  <a:lumMod val="20000"/>
                  <a:lumOff val="80000"/>
                </a:schemeClr>
              </a:solidFill>
              <a:ln w="25400">
                <a:solidFill>
                  <a:srgbClr val="0000FF"/>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−1]⟷(1−</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 name="文本框 19">
                <a:extLst>
                  <a:ext uri="{FF2B5EF4-FFF2-40B4-BE49-F238E27FC236}">
                    <a16:creationId xmlns:a16="http://schemas.microsoft.com/office/drawing/2014/main" id="{0082B85E-09F5-45AC-B2B8-5536744F2656}"/>
                  </a:ext>
                </a:extLst>
              </p:cNvPr>
              <p:cNvSpPr txBox="1">
                <a:spLocks noRot="1" noChangeAspect="1" noMove="1" noResize="1" noEditPoints="1" noAdjustHandles="1" noChangeArrowheads="1" noChangeShapeType="1" noTextEdit="1"/>
              </p:cNvSpPr>
              <p:nvPr/>
            </p:nvSpPr>
            <p:spPr>
              <a:xfrm>
                <a:off x="2142990" y="2451653"/>
                <a:ext cx="4995428" cy="474104"/>
              </a:xfrm>
              <a:prstGeom prst="rect">
                <a:avLst/>
              </a:prstGeom>
              <a:blipFill>
                <a:blip r:embed="rId3"/>
                <a:stretch>
                  <a:fillRect/>
                </a:stretch>
              </a:blipFill>
              <a:ln w="25400">
                <a:solidFill>
                  <a:srgbClr val="0000FF"/>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66801520-64FB-4EB2-B700-54B532A2A4F9}"/>
                  </a:ext>
                </a:extLst>
              </p:cNvPr>
              <p:cNvSpPr txBox="1"/>
              <p:nvPr/>
            </p:nvSpPr>
            <p:spPr>
              <a:xfrm>
                <a:off x="836585" y="3052749"/>
                <a:ext cx="7470830" cy="894156"/>
              </a:xfrm>
              <a:prstGeom prst="rect">
                <a:avLst/>
              </a:prstGeom>
              <a:solidFill>
                <a:schemeClr val="accent5">
                  <a:lumMod val="20000"/>
                  <a:lumOff val="80000"/>
                </a:schemeClr>
              </a:solidFill>
              <a:ln w="25400">
                <a:solidFill>
                  <a:srgbClr val="0000FF"/>
                </a:solidFill>
              </a:ln>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b="0" i="1" smtClean="0">
                              <a:solidFill>
                                <a:srgbClr val="000000"/>
                              </a:solidFill>
                              <a:latin typeface="Cambria Math" panose="02040503050406030204" pitchFamily="18" charset="0"/>
                            </a:rPr>
                            <m:t>𝑛</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r>
                        <a:rPr lang="en-US" sz="2400" i="1" smtClean="0">
                          <a:solidFill>
                            <a:srgbClr val="000000"/>
                          </a:solidFill>
                          <a:latin typeface="Cambria Math" panose="02040503050406030204" pitchFamily="18" charset="0"/>
                          <a:ea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1−</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0</m:t>
                          </m:r>
                        </m:sup>
                      </m:sSup>
                      <m:r>
                        <a:rPr lang="en-US" sz="2400" i="1">
                          <a:solidFill>
                            <a:srgbClr val="000000"/>
                          </a:solidFill>
                          <a:latin typeface="Cambria Math" panose="02040503050406030204" pitchFamily="18" charset="0"/>
                        </a:rPr>
                        <m:t>)</m:t>
                      </m:r>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oMath>
                  </m:oMathPara>
                </a14:m>
                <a:endParaRPr lang="en-US" sz="2400" dirty="0"/>
              </a:p>
            </p:txBody>
          </p:sp>
        </mc:Choice>
        <mc:Fallback xmlns="">
          <p:sp>
            <p:nvSpPr>
              <p:cNvPr id="21" name="文本框 20">
                <a:extLst>
                  <a:ext uri="{FF2B5EF4-FFF2-40B4-BE49-F238E27FC236}">
                    <a16:creationId xmlns:a16="http://schemas.microsoft.com/office/drawing/2014/main" id="{66801520-64FB-4EB2-B700-54B532A2A4F9}"/>
                  </a:ext>
                </a:extLst>
              </p:cNvPr>
              <p:cNvSpPr txBox="1">
                <a:spLocks noRot="1" noChangeAspect="1" noMove="1" noResize="1" noEditPoints="1" noAdjustHandles="1" noChangeArrowheads="1" noChangeShapeType="1" noTextEdit="1"/>
              </p:cNvSpPr>
              <p:nvPr/>
            </p:nvSpPr>
            <p:spPr>
              <a:xfrm>
                <a:off x="836585" y="3052749"/>
                <a:ext cx="7470830" cy="894156"/>
              </a:xfrm>
              <a:prstGeom prst="rect">
                <a:avLst/>
              </a:prstGeom>
              <a:blipFill>
                <a:blip r:embed="rId4"/>
                <a:stretch>
                  <a:fillRect/>
                </a:stretch>
              </a:blipFill>
              <a:ln w="25400">
                <a:solidFill>
                  <a:srgbClr val="0000FF"/>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 Box 21">
                <a:extLst>
                  <a:ext uri="{FF2B5EF4-FFF2-40B4-BE49-F238E27FC236}">
                    <a16:creationId xmlns:a16="http://schemas.microsoft.com/office/drawing/2014/main" id="{35E3DB17-8F1C-41E3-A92C-4ED58A508184}"/>
                  </a:ext>
                </a:extLst>
              </p:cNvPr>
              <p:cNvSpPr txBox="1">
                <a:spLocks noChangeArrowheads="1"/>
              </p:cNvSpPr>
              <p:nvPr/>
            </p:nvSpPr>
            <p:spPr bwMode="auto">
              <a:xfrm>
                <a:off x="457200" y="4073897"/>
                <a:ext cx="7003199" cy="47359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r>
                  <a:rPr lang="zh-CN" altLang="en-US" sz="2400" dirty="0">
                    <a:solidFill>
                      <a:schemeClr val="tx1"/>
                    </a:solidFill>
                    <a:latin typeface="楷体_GB2312" panose="02010609030101010101" pitchFamily="49" charset="-122"/>
                    <a:ea typeface="楷体_GB2312" panose="02010609030101010101" pitchFamily="49" charset="-122"/>
                  </a:rPr>
                  <a:t>说明</a:t>
                </a:r>
                <a:r>
                  <a:rPr lang="en-US" altLang="zh-CN" sz="2400" dirty="0">
                    <a:solidFill>
                      <a:schemeClr val="tx1"/>
                    </a:solidFill>
                    <a:latin typeface="楷体_GB2312" panose="02010609030101010101" pitchFamily="49" charset="-122"/>
                    <a:ea typeface="楷体_GB2312" panose="02010609030101010101" pitchFamily="49" charset="-122"/>
                  </a:rPr>
                  <a:t>:</a:t>
                </a:r>
                <a14:m>
                  <m:oMath xmlns:m="http://schemas.openxmlformats.org/officeDocument/2006/math">
                    <m:r>
                      <a:rPr lang="en-US" sz="2400" i="1" smtClean="0">
                        <a:solidFill>
                          <a:srgbClr val="FF0000"/>
                        </a:solidFill>
                        <a:latin typeface="Cambria Math" panose="02040503050406030204" pitchFamily="18" charset="0"/>
                      </a:rPr>
                      <m:t>1−</m:t>
                    </m:r>
                    <m:sSup>
                      <m:sSupPr>
                        <m:ctrlPr>
                          <a:rPr lang="en-US" sz="2400" i="1">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j</m:t>
                        </m:r>
                        <m:r>
                          <a:rPr lang="en-US" sz="2400" i="1">
                            <a:solidFill>
                              <a:srgbClr val="FF0000"/>
                            </a:solidFill>
                            <a:latin typeface="Cambria Math" panose="02040503050406030204" pitchFamily="18" charset="0"/>
                          </a:rPr>
                          <m:t>𝜔</m:t>
                        </m:r>
                      </m:sup>
                    </m:sSup>
                  </m:oMath>
                </a14:m>
                <a:r>
                  <a:rPr lang="zh-CN" altLang="en-US" sz="2400" dirty="0">
                    <a:solidFill>
                      <a:schemeClr val="tx1"/>
                    </a:solidFill>
                    <a:latin typeface="Times New Roman" panose="02020603050405020304" pitchFamily="18" charset="0"/>
                    <a:ea typeface="楷体_GB2312" panose="02010609030101010101" pitchFamily="49" charset="-122"/>
                  </a:rPr>
                  <a:t>对应于连续时间傅里叶变换中的</a:t>
                </a:r>
                <a14:m>
                  <m:oMath xmlns:m="http://schemas.openxmlformats.org/officeDocument/2006/math">
                    <m:r>
                      <m:rPr>
                        <m:sty m:val="p"/>
                      </m:rPr>
                      <a:rPr lang="en-US" sz="240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𝜔</m:t>
                    </m:r>
                  </m:oMath>
                </a14:m>
                <a:r>
                  <a:rPr lang="zh-CN" altLang="en-US" sz="2400" dirty="0">
                    <a:solidFill>
                      <a:schemeClr val="tx1"/>
                    </a:solidFill>
                    <a:latin typeface="Times New Roman" panose="02020603050405020304" pitchFamily="18" charset="0"/>
                    <a:ea typeface="楷体_GB2312" panose="02010609030101010101" pitchFamily="49" charset="-122"/>
                  </a:rPr>
                  <a:t>。</a:t>
                </a:r>
              </a:p>
            </p:txBody>
          </p:sp>
        </mc:Choice>
        <mc:Fallback xmlns="">
          <p:sp>
            <p:nvSpPr>
              <p:cNvPr id="24" name="Text Box 21">
                <a:extLst>
                  <a:ext uri="{FF2B5EF4-FFF2-40B4-BE49-F238E27FC236}">
                    <a16:creationId xmlns:a16="http://schemas.microsoft.com/office/drawing/2014/main" id="{35E3DB17-8F1C-41E3-A92C-4ED58A508184}"/>
                  </a:ext>
                </a:extLst>
              </p:cNvPr>
              <p:cNvSpPr txBox="1">
                <a:spLocks noRot="1" noChangeAspect="1" noMove="1" noResize="1" noEditPoints="1" noAdjustHandles="1" noChangeArrowheads="1" noChangeShapeType="1" noTextEdit="1"/>
              </p:cNvSpPr>
              <p:nvPr/>
            </p:nvSpPr>
            <p:spPr bwMode="auto">
              <a:xfrm>
                <a:off x="457200" y="4073897"/>
                <a:ext cx="7003199" cy="473591"/>
              </a:xfrm>
              <a:prstGeom prst="rect">
                <a:avLst/>
              </a:prstGeom>
              <a:blipFill>
                <a:blip r:embed="rId5"/>
                <a:stretch>
                  <a:fillRect l="-1305" t="-12821" r="-348" b="-2307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29" name="组合 28">
            <a:extLst>
              <a:ext uri="{FF2B5EF4-FFF2-40B4-BE49-F238E27FC236}">
                <a16:creationId xmlns:a16="http://schemas.microsoft.com/office/drawing/2014/main" id="{896536F2-DBC6-42C9-9012-DE18DB020CAF}"/>
              </a:ext>
            </a:extLst>
          </p:cNvPr>
          <p:cNvGrpSpPr/>
          <p:nvPr/>
        </p:nvGrpSpPr>
        <p:grpSpPr>
          <a:xfrm>
            <a:off x="457200" y="4674480"/>
            <a:ext cx="6203032" cy="817981"/>
            <a:chOff x="457200" y="4847252"/>
            <a:chExt cx="6203032" cy="817981"/>
          </a:xfrm>
        </p:grpSpPr>
        <p:sp>
          <p:nvSpPr>
            <p:cNvPr id="27" name="Text Box 9">
              <a:extLst>
                <a:ext uri="{FF2B5EF4-FFF2-40B4-BE49-F238E27FC236}">
                  <a16:creationId xmlns:a16="http://schemas.microsoft.com/office/drawing/2014/main" id="{251EC43B-AD66-4FE6-8522-C408E1AC027E}"/>
                </a:ext>
              </a:extLst>
            </p:cNvPr>
            <p:cNvSpPr txBox="1">
              <a:spLocks noChangeArrowheads="1"/>
            </p:cNvSpPr>
            <p:nvPr/>
          </p:nvSpPr>
          <p:spPr bwMode="auto">
            <a:xfrm>
              <a:off x="457200" y="5025410"/>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dirty="0">
                  <a:solidFill>
                    <a:srgbClr val="0000FF"/>
                  </a:solidFill>
                  <a:latin typeface="楷体_GB2312" panose="02010609030101010101" pitchFamily="49" charset="-122"/>
                  <a:ea typeface="楷体_GB2312" panose="02010609030101010101" pitchFamily="49" charset="-122"/>
                </a:rPr>
                <a:t>例</a:t>
              </a:r>
              <a:r>
                <a:rPr lang="en-US" altLang="zh-CN" sz="2400" dirty="0">
                  <a:latin typeface="楷体_GB2312" panose="02010609030101010101" pitchFamily="49" charset="-122"/>
                  <a:ea typeface="楷体_GB2312" panose="02010609030101010101" pitchFamily="49" charset="-122"/>
                </a:rPr>
                <a:t>:</a:t>
              </a:r>
            </a:p>
          </p:txBody>
        </p:sp>
        <mc:AlternateContent xmlns:mc="http://schemas.openxmlformats.org/markup-compatibility/2006" xmlns:a14="http://schemas.microsoft.com/office/drawing/2010/main">
          <mc:Choice Requires="a14">
            <p:sp>
              <p:nvSpPr>
                <p:cNvPr id="28" name="Object 10">
                  <a:extLst>
                    <a:ext uri="{FF2B5EF4-FFF2-40B4-BE49-F238E27FC236}">
                      <a16:creationId xmlns:a16="http://schemas.microsoft.com/office/drawing/2014/main" id="{BC0A7E8D-11F8-4E40-8558-FD81815671B7}"/>
                    </a:ext>
                  </a:extLst>
                </p:cNvPr>
                <p:cNvSpPr txBox="1"/>
                <p:nvPr/>
              </p:nvSpPr>
              <p:spPr bwMode="auto">
                <a:xfrm>
                  <a:off x="1177925" y="4847252"/>
                  <a:ext cx="3106043" cy="81798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𝑢</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b="0" i="1" smtClean="0">
                                <a:solidFill>
                                  <a:srgbClr val="000000"/>
                                </a:solidFill>
                                <a:latin typeface="Cambria Math" panose="02040503050406030204" pitchFamily="18" charset="0"/>
                              </a:rPr>
                              <m:t>𝑛</m:t>
                            </m:r>
                          </m:sup>
                          <m:e>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e>
                        </m:nary>
                      </m:oMath>
                    </m:oMathPara>
                  </a14:m>
                  <a:endParaRPr lang="en-US" sz="2400" dirty="0"/>
                </a:p>
              </p:txBody>
            </p:sp>
          </mc:Choice>
          <mc:Fallback xmlns="">
            <p:sp>
              <p:nvSpPr>
                <p:cNvPr id="28" name="Object 10">
                  <a:extLst>
                    <a:ext uri="{FF2B5EF4-FFF2-40B4-BE49-F238E27FC236}">
                      <a16:creationId xmlns:a16="http://schemas.microsoft.com/office/drawing/2014/main" id="{BC0A7E8D-11F8-4E40-8558-FD81815671B7}"/>
                    </a:ext>
                  </a:extLst>
                </p:cNvPr>
                <p:cNvSpPr txBox="1">
                  <a:spLocks noRot="1" noChangeAspect="1" noMove="1" noResize="1" noEditPoints="1" noAdjustHandles="1" noChangeArrowheads="1" noChangeShapeType="1" noTextEdit="1"/>
                </p:cNvSpPr>
                <p:nvPr/>
              </p:nvSpPr>
              <p:spPr bwMode="auto">
                <a:xfrm>
                  <a:off x="1177925" y="4847252"/>
                  <a:ext cx="3106043" cy="817981"/>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bject 11">
                  <a:extLst>
                    <a:ext uri="{FF2B5EF4-FFF2-40B4-BE49-F238E27FC236}">
                      <a16:creationId xmlns:a16="http://schemas.microsoft.com/office/drawing/2014/main" id="{5746A81A-B8D5-497A-ACB6-57B040B3B169}"/>
                    </a:ext>
                  </a:extLst>
                </p:cNvPr>
                <p:cNvSpPr txBox="1"/>
                <p:nvPr/>
              </p:nvSpPr>
              <p:spPr bwMode="auto">
                <a:xfrm>
                  <a:off x="5220072" y="5025410"/>
                  <a:ext cx="1440160" cy="461665"/>
                </a:xfrm>
                <a:prstGeom prst="rect">
                  <a:avLst/>
                </a:prstGeom>
                <a:noFill/>
                <a:ln>
                  <a:noFill/>
                </a:ln>
                <a:effectLst/>
              </p:spPr>
              <p:txBody>
                <a:bodyPr wrap="square">
                  <a:spAutoFit/>
                </a:bodyPr>
                <a:lstStyle/>
                <a:p>
                  <a:pPr defTabSz="1614488"/>
                  <a14:m>
                    <m:oMathPara xmlns:m="http://schemas.openxmlformats.org/officeDocument/2006/math">
                      <m:oMathParaPr>
                        <m:jc m:val="center"/>
                      </m:oMathParaPr>
                      <m:oMath xmlns:m="http://schemas.openxmlformats.org/officeDocument/2006/math">
                        <m:r>
                          <a:rPr lang="en-US" sz="2400" i="1" smtClean="0">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ea typeface="Cambria Math" panose="02040503050406030204" pitchFamily="18" charset="0"/>
                          </a:rPr>
                          <m:t>↔</m:t>
                        </m:r>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31" name="Object 11">
                  <a:extLst>
                    <a:ext uri="{FF2B5EF4-FFF2-40B4-BE49-F238E27FC236}">
                      <a16:creationId xmlns:a16="http://schemas.microsoft.com/office/drawing/2014/main" id="{5746A81A-B8D5-497A-ACB6-57B040B3B169}"/>
                    </a:ext>
                  </a:extLst>
                </p:cNvPr>
                <p:cNvSpPr txBox="1">
                  <a:spLocks noRot="1" noChangeAspect="1" noMove="1" noResize="1" noEditPoints="1" noAdjustHandles="1" noChangeArrowheads="1" noChangeShapeType="1" noTextEdit="1"/>
                </p:cNvSpPr>
                <p:nvPr/>
              </p:nvSpPr>
              <p:spPr bwMode="auto">
                <a:xfrm>
                  <a:off x="5220072" y="5025410"/>
                  <a:ext cx="1440160" cy="461665"/>
                </a:xfrm>
                <a:prstGeom prst="rect">
                  <a:avLst/>
                </a:prstGeom>
                <a:blipFill>
                  <a:blip r:embed="rId7"/>
                  <a:stretch>
                    <a:fillRect b="-19737"/>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4" name="Object 4">
                <a:extLst>
                  <a:ext uri="{FF2B5EF4-FFF2-40B4-BE49-F238E27FC236}">
                    <a16:creationId xmlns:a16="http://schemas.microsoft.com/office/drawing/2014/main" id="{E1BD5932-05A3-46E2-8F7F-C47D3F919D0A}"/>
                  </a:ext>
                </a:extLst>
              </p:cNvPr>
              <p:cNvSpPr txBox="1"/>
              <p:nvPr/>
            </p:nvSpPr>
            <p:spPr bwMode="auto">
              <a:xfrm>
                <a:off x="1685073" y="5619453"/>
                <a:ext cx="5839255" cy="833883"/>
              </a:xfrm>
              <a:prstGeom prst="rect">
                <a:avLst/>
              </a:prstGeom>
              <a:solidFill>
                <a:schemeClr val="accent5">
                  <a:lumMod val="20000"/>
                  <a:lumOff val="80000"/>
                </a:schemeClr>
              </a:solidFill>
              <a:ln w="25400">
                <a:solidFill>
                  <a:srgbClr val="0000FF"/>
                </a:solid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𝑢</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ea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1−</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𝜋</m:t>
                      </m:r>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oMath>
                  </m:oMathPara>
                </a14:m>
                <a:endParaRPr lang="en-US" sz="2400" dirty="0"/>
              </a:p>
            </p:txBody>
          </p:sp>
        </mc:Choice>
        <mc:Fallback xmlns="">
          <p:sp>
            <p:nvSpPr>
              <p:cNvPr id="34" name="Object 4">
                <a:extLst>
                  <a:ext uri="{FF2B5EF4-FFF2-40B4-BE49-F238E27FC236}">
                    <a16:creationId xmlns:a16="http://schemas.microsoft.com/office/drawing/2014/main" id="{E1BD5932-05A3-46E2-8F7F-C47D3F919D0A}"/>
                  </a:ext>
                </a:extLst>
              </p:cNvPr>
              <p:cNvSpPr txBox="1">
                <a:spLocks noRot="1" noChangeAspect="1" noMove="1" noResize="1" noEditPoints="1" noAdjustHandles="1" noChangeArrowheads="1" noChangeShapeType="1" noTextEdit="1"/>
              </p:cNvSpPr>
              <p:nvPr/>
            </p:nvSpPr>
            <p:spPr bwMode="auto">
              <a:xfrm>
                <a:off x="1685073" y="5619453"/>
                <a:ext cx="5839255" cy="833883"/>
              </a:xfrm>
              <a:prstGeom prst="rect">
                <a:avLst/>
              </a:prstGeom>
              <a:blipFill>
                <a:blip r:embed="rId8"/>
                <a:stretch>
                  <a:fillRect/>
                </a:stretch>
              </a:blipFill>
              <a:ln w="25400">
                <a:solidFill>
                  <a:srgbClr val="0000FF"/>
                </a:solid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fill="hold"/>
                                        <p:tgtEl>
                                          <p:spTgt spid="29"/>
                                        </p:tgtEl>
                                        <p:attrNameLst>
                                          <p:attrName>ppt_x</p:attrName>
                                        </p:attrNameLst>
                                      </p:cBhvr>
                                      <p:tavLst>
                                        <p:tav tm="0">
                                          <p:val>
                                            <p:strVal val="#ppt_x"/>
                                          </p:val>
                                        </p:tav>
                                        <p:tav tm="100000">
                                          <p:val>
                                            <p:strVal val="#ppt_x"/>
                                          </p:val>
                                        </p:tav>
                                      </p:tavLst>
                                    </p:anim>
                                    <p:anim calcmode="lin" valueType="num">
                                      <p:cBhvr additive="base">
                                        <p:cTn id="18" dur="500" fill="hold"/>
                                        <p:tgtEl>
                                          <p:spTgt spid="2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ppt_x"/>
                                          </p:val>
                                        </p:tav>
                                        <p:tav tm="100000">
                                          <p:val>
                                            <p:strVal val="#ppt_x"/>
                                          </p:val>
                                        </p:tav>
                                      </p:tavLst>
                                    </p:anim>
                                    <p:anim calcmode="lin" valueType="num">
                                      <p:cBhvr additive="base">
                                        <p:cTn id="2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p:bldP spid="3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9" name="标题 1">
            <a:extLst>
              <a:ext uri="{FF2B5EF4-FFF2-40B4-BE49-F238E27FC236}">
                <a16:creationId xmlns:a16="http://schemas.microsoft.com/office/drawing/2014/main" id="{3622E775-2742-424B-9C8E-529FA6659C9D}"/>
              </a:ext>
            </a:extLst>
          </p:cNvPr>
          <p:cNvSpPr>
            <a:spLocks noGrp="1"/>
          </p:cNvSpPr>
          <p:nvPr>
            <p:ph type="title"/>
          </p:nvPr>
        </p:nvSpPr>
        <p:spPr/>
        <p:txBody>
          <a:bodyPr/>
          <a:lstStyle/>
          <a:p>
            <a:r>
              <a:rPr lang="en-US" altLang="zh-CN" dirty="0"/>
              <a:t>5.3 </a:t>
            </a:r>
            <a:r>
              <a:rPr lang="zh-CN" altLang="en-US" dirty="0"/>
              <a:t>离散时间傅里叶变换的性质</a:t>
            </a:r>
          </a:p>
        </p:txBody>
      </p:sp>
      <p:sp>
        <p:nvSpPr>
          <p:cNvPr id="4" name="灯片编号占位符 3">
            <a:extLst>
              <a:ext uri="{FF2B5EF4-FFF2-40B4-BE49-F238E27FC236}">
                <a16:creationId xmlns:a16="http://schemas.microsoft.com/office/drawing/2014/main" id="{15A9BE63-F8FF-4EAF-B77E-7B286842972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57AE94B-2084-4EAF-BC7C-4CD5F2050F7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4" name="Text Box 2">
            <a:extLst>
              <a:ext uri="{FF2B5EF4-FFF2-40B4-BE49-F238E27FC236}">
                <a16:creationId xmlns:a16="http://schemas.microsoft.com/office/drawing/2014/main" id="{61096E13-AD52-46BF-94D4-A58F4957C5B7}"/>
              </a:ext>
            </a:extLst>
          </p:cNvPr>
          <p:cNvSpPr txBox="1">
            <a:spLocks noChangeArrowheads="1"/>
          </p:cNvSpPr>
          <p:nvPr/>
        </p:nvSpPr>
        <p:spPr bwMode="auto">
          <a:xfrm>
            <a:off x="395536" y="1484784"/>
            <a:ext cx="1808508" cy="382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7. </a:t>
            </a: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时域内插</a:t>
            </a:r>
            <a:r>
              <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pSp>
        <p:nvGrpSpPr>
          <p:cNvPr id="13" name="组合 12">
            <a:extLst>
              <a:ext uri="{FF2B5EF4-FFF2-40B4-BE49-F238E27FC236}">
                <a16:creationId xmlns:a16="http://schemas.microsoft.com/office/drawing/2014/main" id="{6569D659-1244-41C3-B4D2-04AA78FCE659}"/>
              </a:ext>
            </a:extLst>
          </p:cNvPr>
          <p:cNvGrpSpPr/>
          <p:nvPr/>
        </p:nvGrpSpPr>
        <p:grpSpPr>
          <a:xfrm>
            <a:off x="1007892" y="2086744"/>
            <a:ext cx="5540481" cy="916148"/>
            <a:chOff x="1007892" y="1750381"/>
            <a:chExt cx="5540481" cy="916148"/>
          </a:xfrm>
        </p:grpSpPr>
        <mc:AlternateContent xmlns:mc="http://schemas.openxmlformats.org/markup-compatibility/2006" xmlns:a14="http://schemas.microsoft.com/office/drawing/2010/main">
          <mc:Choice Requires="a14">
            <p:sp>
              <p:nvSpPr>
                <p:cNvPr id="16" name="Object 12">
                  <a:extLst>
                    <a:ext uri="{FF2B5EF4-FFF2-40B4-BE49-F238E27FC236}">
                      <a16:creationId xmlns:a16="http://schemas.microsoft.com/office/drawing/2014/main" id="{8CF8BECB-C70E-4D00-8815-BBBBB9C00B87}"/>
                    </a:ext>
                  </a:extLst>
                </p:cNvPr>
                <p:cNvSpPr txBox="1"/>
                <p:nvPr/>
              </p:nvSpPr>
              <p:spPr bwMode="auto">
                <a:xfrm>
                  <a:off x="1817848" y="1750381"/>
                  <a:ext cx="2448272" cy="91614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𝑘</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eqArr>
                              <m:eqArrPr>
                                <m:ctrlPr>
                                  <a:rPr lang="en-US" sz="2400" i="1">
                                    <a:solidFill>
                                      <a:srgbClr val="000000"/>
                                    </a:solidFill>
                                    <a:latin typeface="Cambria Math" panose="02040503050406030204" pitchFamily="18" charset="0"/>
                                  </a:rPr>
                                </m:ctrlPr>
                              </m:eqArrPr>
                              <m:e>
                                <m:r>
                                  <a:rPr lang="en-US" sz="2400" i="1">
                                    <a:solidFill>
                                      <a:srgbClr val="000000"/>
                                    </a:solidFill>
                                    <a:latin typeface="Cambria Math" panose="02040503050406030204" pitchFamily="18" charset="0"/>
                                  </a:rPr>
                                  <m:t>&amp;</m:t>
                                </m:r>
                                <m:r>
                                  <a:rPr lang="en-US" sz="240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e>
                              <m:e>
                                <m:r>
                                  <a:rPr lang="en-US" sz="2400" i="1">
                                    <a:solidFill>
                                      <a:srgbClr val="000000"/>
                                    </a:solidFill>
                                    <a:latin typeface="Cambria Math" panose="02040503050406030204" pitchFamily="18" charset="0"/>
                                  </a:rPr>
                                  <m:t>&amp;0</m:t>
                                </m:r>
                                <m:r>
                                  <a:rPr lang="en-US" sz="2400" b="0" i="1" smtClean="0">
                                    <a:solidFill>
                                      <a:srgbClr val="000000"/>
                                    </a:solidFill>
                                    <a:latin typeface="Cambria Math" panose="02040503050406030204" pitchFamily="18" charset="0"/>
                                  </a:rPr>
                                  <m:t>,</m:t>
                                </m:r>
                              </m:e>
                            </m:eqArr>
                          </m:e>
                        </m:d>
                      </m:oMath>
                    </m:oMathPara>
                  </a14:m>
                  <a:endParaRPr lang="en-US" sz="2400" dirty="0"/>
                </a:p>
              </p:txBody>
            </p:sp>
          </mc:Choice>
          <mc:Fallback xmlns="">
            <p:sp>
              <p:nvSpPr>
                <p:cNvPr id="16" name="Object 12">
                  <a:extLst>
                    <a:ext uri="{FF2B5EF4-FFF2-40B4-BE49-F238E27FC236}">
                      <a16:creationId xmlns:a16="http://schemas.microsoft.com/office/drawing/2014/main" id="{8CF8BECB-C70E-4D00-8815-BBBBB9C00B87}"/>
                    </a:ext>
                  </a:extLst>
                </p:cNvPr>
                <p:cNvSpPr txBox="1">
                  <a:spLocks noRot="1" noChangeAspect="1" noMove="1" noResize="1" noEditPoints="1" noAdjustHandles="1" noChangeArrowheads="1" noChangeShapeType="1" noTextEdit="1"/>
                </p:cNvSpPr>
                <p:nvPr/>
              </p:nvSpPr>
              <p:spPr bwMode="auto">
                <a:xfrm>
                  <a:off x="1817848" y="1750381"/>
                  <a:ext cx="2448272" cy="916148"/>
                </a:xfrm>
                <a:prstGeom prst="rect">
                  <a:avLst/>
                </a:prstGeom>
                <a:blipFill>
                  <a:blip r:embed="rId2"/>
                  <a:stretch>
                    <a:fillRect/>
                  </a:stretch>
                </a:blipFill>
                <a:ln>
                  <a:noFill/>
                </a:ln>
                <a:effectLst/>
              </p:spPr>
              <p:txBody>
                <a:bodyPr/>
                <a:lstStyle/>
                <a:p>
                  <a:r>
                    <a:rPr lang="en-US">
                      <a:noFill/>
                    </a:rPr>
                    <a:t> </a:t>
                  </a:r>
                </a:p>
              </p:txBody>
            </p:sp>
          </mc:Fallback>
        </mc:AlternateContent>
        <p:sp>
          <p:nvSpPr>
            <p:cNvPr id="17" name="Text Box 14">
              <a:extLst>
                <a:ext uri="{FF2B5EF4-FFF2-40B4-BE49-F238E27FC236}">
                  <a16:creationId xmlns:a16="http://schemas.microsoft.com/office/drawing/2014/main" id="{C87A7E89-B50D-4481-99B0-8A75ED9621F8}"/>
                </a:ext>
              </a:extLst>
            </p:cNvPr>
            <p:cNvSpPr txBox="1">
              <a:spLocks noChangeArrowheads="1"/>
            </p:cNvSpPr>
            <p:nvPr/>
          </p:nvSpPr>
          <p:spPr bwMode="auto">
            <a:xfrm>
              <a:off x="1007892" y="1977623"/>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dirty="0">
                  <a:latin typeface="楷体_GB2312" panose="02010609030101010101" pitchFamily="49" charset="-122"/>
                  <a:ea typeface="楷体_GB2312" panose="02010609030101010101" pitchFamily="49" charset="-122"/>
                </a:rPr>
                <a:t>定义</a:t>
              </a:r>
            </a:p>
          </p:txBody>
        </p:sp>
        <mc:AlternateContent xmlns:mc="http://schemas.openxmlformats.org/markup-compatibility/2006" xmlns:a14="http://schemas.microsoft.com/office/drawing/2010/main">
          <mc:Choice Requires="a14">
            <p:sp>
              <p:nvSpPr>
                <p:cNvPr id="19" name="Text Box 16">
                  <a:extLst>
                    <a:ext uri="{FF2B5EF4-FFF2-40B4-BE49-F238E27FC236}">
                      <a16:creationId xmlns:a16="http://schemas.microsoft.com/office/drawing/2014/main" id="{F57FE6A1-6FCE-49DF-9261-1D88FE836FD0}"/>
                    </a:ext>
                  </a:extLst>
                </p:cNvPr>
                <p:cNvSpPr txBox="1">
                  <a:spLocks noChangeArrowheads="1"/>
                </p:cNvSpPr>
                <p:nvPr/>
              </p:nvSpPr>
              <p:spPr bwMode="auto">
                <a:xfrm>
                  <a:off x="4464276" y="1790137"/>
                  <a:ext cx="2084097"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14:m>
                    <m:oMath xmlns:m="http://schemas.openxmlformats.org/officeDocument/2006/math">
                      <m:r>
                        <a:rPr lang="en-US" sz="2400" i="1" smtClean="0">
                          <a:solidFill>
                            <a:srgbClr val="000000"/>
                          </a:solidFill>
                          <a:latin typeface="Cambria Math" panose="02040503050406030204" pitchFamily="18" charset="0"/>
                        </a:rPr>
                        <m:t>𝑛</m:t>
                      </m:r>
                    </m:oMath>
                  </a14:m>
                  <a:r>
                    <a:rPr lang="zh-CN" altLang="en-US" sz="2400" dirty="0">
                      <a:latin typeface="楷体_GB2312" panose="02010609030101010101" pitchFamily="49" charset="-122"/>
                      <a:ea typeface="楷体_GB2312" panose="02010609030101010101" pitchFamily="49" charset="-122"/>
                    </a:rPr>
                    <a:t>为</a:t>
                  </a:r>
                  <a14:m>
                    <m:oMath xmlns:m="http://schemas.openxmlformats.org/officeDocument/2006/math">
                      <m:r>
                        <a:rPr lang="en-US" sz="2400" i="1">
                          <a:solidFill>
                            <a:srgbClr val="000000"/>
                          </a:solidFill>
                          <a:latin typeface="Cambria Math" panose="02040503050406030204" pitchFamily="18" charset="0"/>
                        </a:rPr>
                        <m:t>𝑘</m:t>
                      </m:r>
                    </m:oMath>
                  </a14:m>
                  <a:r>
                    <a:rPr lang="zh-CN" altLang="en-US" sz="2400" dirty="0">
                      <a:latin typeface="楷体_GB2312" panose="02010609030101010101" pitchFamily="49" charset="-122"/>
                      <a:ea typeface="楷体_GB2312" panose="02010609030101010101" pitchFamily="49" charset="-122"/>
                    </a:rPr>
                    <a:t>的整数倍</a:t>
                  </a:r>
                </a:p>
              </p:txBody>
            </p:sp>
          </mc:Choice>
          <mc:Fallback xmlns="">
            <p:sp>
              <p:nvSpPr>
                <p:cNvPr id="19" name="Text Box 16">
                  <a:extLst>
                    <a:ext uri="{FF2B5EF4-FFF2-40B4-BE49-F238E27FC236}">
                      <a16:creationId xmlns:a16="http://schemas.microsoft.com/office/drawing/2014/main" id="{F57FE6A1-6FCE-49DF-9261-1D88FE836FD0}"/>
                    </a:ext>
                  </a:extLst>
                </p:cNvPr>
                <p:cNvSpPr txBox="1">
                  <a:spLocks noRot="1" noChangeAspect="1" noMove="1" noResize="1" noEditPoints="1" noAdjustHandles="1" noChangeArrowheads="1" noChangeShapeType="1" noTextEdit="1"/>
                </p:cNvSpPr>
                <p:nvPr/>
              </p:nvSpPr>
              <p:spPr bwMode="auto">
                <a:xfrm>
                  <a:off x="4464276" y="1790137"/>
                  <a:ext cx="2084097" cy="461665"/>
                </a:xfrm>
                <a:prstGeom prst="rect">
                  <a:avLst/>
                </a:prstGeom>
                <a:blipFill>
                  <a:blip r:embed="rId3"/>
                  <a:stretch>
                    <a:fillRect t="-14474" r="-3801" b="-25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 Box 16">
                  <a:extLst>
                    <a:ext uri="{FF2B5EF4-FFF2-40B4-BE49-F238E27FC236}">
                      <a16:creationId xmlns:a16="http://schemas.microsoft.com/office/drawing/2014/main" id="{CE2C5C36-422C-4A89-935B-E3A94230512A}"/>
                    </a:ext>
                  </a:extLst>
                </p:cNvPr>
                <p:cNvSpPr txBox="1">
                  <a:spLocks noChangeArrowheads="1"/>
                </p:cNvSpPr>
                <p:nvPr/>
              </p:nvSpPr>
              <p:spPr bwMode="auto">
                <a:xfrm>
                  <a:off x="4464276" y="2204864"/>
                  <a:ext cx="981807"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r>
                    <a:rPr lang="zh-CN" altLang="en-US" sz="2400" dirty="0">
                      <a:latin typeface="楷体_GB2312" panose="02010609030101010101" pitchFamily="49" charset="-122"/>
                      <a:ea typeface="楷体_GB2312" panose="02010609030101010101" pitchFamily="49" charset="-122"/>
                    </a:rPr>
                    <a:t>其他</a:t>
                  </a:r>
                  <a14:m>
                    <m:oMath xmlns:m="http://schemas.openxmlformats.org/officeDocument/2006/math">
                      <m:r>
                        <a:rPr lang="en-US" sz="2400" i="1" smtClean="0">
                          <a:solidFill>
                            <a:srgbClr val="000000"/>
                          </a:solidFill>
                          <a:latin typeface="Cambria Math" panose="02040503050406030204" pitchFamily="18" charset="0"/>
                        </a:rPr>
                        <m:t>𝑛</m:t>
                      </m:r>
                    </m:oMath>
                  </a14:m>
                  <a:endParaRPr lang="zh-CN" altLang="en-US" sz="2400" dirty="0">
                    <a:latin typeface="楷体_GB2312" panose="02010609030101010101" pitchFamily="49" charset="-122"/>
                    <a:ea typeface="楷体_GB2312" panose="02010609030101010101" pitchFamily="49" charset="-122"/>
                  </a:endParaRPr>
                </a:p>
              </p:txBody>
            </p:sp>
          </mc:Choice>
          <mc:Fallback xmlns="">
            <p:sp>
              <p:nvSpPr>
                <p:cNvPr id="26" name="Text Box 16">
                  <a:extLst>
                    <a:ext uri="{FF2B5EF4-FFF2-40B4-BE49-F238E27FC236}">
                      <a16:creationId xmlns:a16="http://schemas.microsoft.com/office/drawing/2014/main" id="{CE2C5C36-422C-4A89-935B-E3A94230512A}"/>
                    </a:ext>
                  </a:extLst>
                </p:cNvPr>
                <p:cNvSpPr txBox="1">
                  <a:spLocks noRot="1" noChangeAspect="1" noMove="1" noResize="1" noEditPoints="1" noAdjustHandles="1" noChangeArrowheads="1" noChangeShapeType="1" noTextEdit="1"/>
                </p:cNvSpPr>
                <p:nvPr/>
              </p:nvSpPr>
              <p:spPr bwMode="auto">
                <a:xfrm>
                  <a:off x="4464276" y="2204864"/>
                  <a:ext cx="981807" cy="461665"/>
                </a:xfrm>
                <a:prstGeom prst="rect">
                  <a:avLst/>
                </a:prstGeom>
                <a:blipFill>
                  <a:blip r:embed="rId4"/>
                  <a:stretch>
                    <a:fillRect l="-9317" t="-14474" b="-25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7" name="Object 21">
                <a:extLst>
                  <a:ext uri="{FF2B5EF4-FFF2-40B4-BE49-F238E27FC236}">
                    <a16:creationId xmlns:a16="http://schemas.microsoft.com/office/drawing/2014/main" id="{C04B30E4-7DDC-4EC2-B60A-8E4A0EEABDF4}"/>
                  </a:ext>
                </a:extLst>
              </p:cNvPr>
              <p:cNvSpPr txBox="1"/>
              <p:nvPr/>
            </p:nvSpPr>
            <p:spPr bwMode="auto">
              <a:xfrm>
                <a:off x="1007892" y="3222055"/>
                <a:ext cx="7295208" cy="81676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𝑋</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𝑘</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e>
                      </m:nary>
                      <m:r>
                        <a:rPr lang="en-US" sz="2400" i="1">
                          <a:solidFill>
                            <a:srgbClr val="000000"/>
                          </a:solidFill>
                          <a:latin typeface="Cambria Math" panose="02040503050406030204" pitchFamily="18" charset="0"/>
                        </a:rPr>
                        <m:t>=</m:t>
                      </m:r>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𝑟</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𝑘</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𝑟𝑘</m:t>
                          </m:r>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𝑟𝑘</m:t>
                              </m:r>
                            </m:sup>
                          </m:sSup>
                        </m:e>
                      </m:nary>
                    </m:oMath>
                  </m:oMathPara>
                </a14:m>
                <a:endParaRPr lang="en-US" sz="2400" dirty="0"/>
              </a:p>
            </p:txBody>
          </p:sp>
        </mc:Choice>
        <mc:Fallback xmlns="">
          <p:sp>
            <p:nvSpPr>
              <p:cNvPr id="27" name="Object 21">
                <a:extLst>
                  <a:ext uri="{FF2B5EF4-FFF2-40B4-BE49-F238E27FC236}">
                    <a16:creationId xmlns:a16="http://schemas.microsoft.com/office/drawing/2014/main" id="{C04B30E4-7DDC-4EC2-B60A-8E4A0EEABDF4}"/>
                  </a:ext>
                </a:extLst>
              </p:cNvPr>
              <p:cNvSpPr txBox="1">
                <a:spLocks noRot="1" noChangeAspect="1" noMove="1" noResize="1" noEditPoints="1" noAdjustHandles="1" noChangeArrowheads="1" noChangeShapeType="1" noTextEdit="1"/>
              </p:cNvSpPr>
              <p:nvPr/>
            </p:nvSpPr>
            <p:spPr bwMode="auto">
              <a:xfrm>
                <a:off x="1007892" y="3222055"/>
                <a:ext cx="7295208" cy="816762"/>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bject 22">
                <a:extLst>
                  <a:ext uri="{FF2B5EF4-FFF2-40B4-BE49-F238E27FC236}">
                    <a16:creationId xmlns:a16="http://schemas.microsoft.com/office/drawing/2014/main" id="{C6A7D2E7-BFFA-45E5-BB1A-6505C947F59A}"/>
                  </a:ext>
                </a:extLst>
              </p:cNvPr>
              <p:cNvSpPr txBox="1"/>
              <p:nvPr/>
            </p:nvSpPr>
            <p:spPr bwMode="auto">
              <a:xfrm>
                <a:off x="2123728" y="4257980"/>
                <a:ext cx="4424645" cy="81477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𝑟</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𝑟</m:t>
                          </m:r>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𝑟</m:t>
                              </m:r>
                            </m:sup>
                          </m:sSup>
                        </m:e>
                      </m:nary>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0" name="Object 22">
                <a:extLst>
                  <a:ext uri="{FF2B5EF4-FFF2-40B4-BE49-F238E27FC236}">
                    <a16:creationId xmlns:a16="http://schemas.microsoft.com/office/drawing/2014/main" id="{C6A7D2E7-BFFA-45E5-BB1A-6505C947F59A}"/>
                  </a:ext>
                </a:extLst>
              </p:cNvPr>
              <p:cNvSpPr txBox="1">
                <a:spLocks noRot="1" noChangeAspect="1" noMove="1" noResize="1" noEditPoints="1" noAdjustHandles="1" noChangeArrowheads="1" noChangeShapeType="1" noTextEdit="1"/>
              </p:cNvSpPr>
              <p:nvPr/>
            </p:nvSpPr>
            <p:spPr bwMode="auto">
              <a:xfrm>
                <a:off x="2123728" y="4257980"/>
                <a:ext cx="4424645" cy="814775"/>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bject 23">
                <a:extLst>
                  <a:ext uri="{FF2B5EF4-FFF2-40B4-BE49-F238E27FC236}">
                    <a16:creationId xmlns:a16="http://schemas.microsoft.com/office/drawing/2014/main" id="{8E57D606-F3E0-450E-A2A6-F2733AF1D3C8}"/>
                  </a:ext>
                </a:extLst>
              </p:cNvPr>
              <p:cNvSpPr txBox="1"/>
              <p:nvPr/>
            </p:nvSpPr>
            <p:spPr bwMode="auto">
              <a:xfrm>
                <a:off x="3250943" y="5291918"/>
                <a:ext cx="2617201" cy="473591"/>
              </a:xfrm>
              <a:prstGeom prst="rect">
                <a:avLst/>
              </a:prstGeom>
              <a:solidFill>
                <a:schemeClr val="accent5">
                  <a:lumMod val="20000"/>
                  <a:lumOff val="80000"/>
                </a:schemeClr>
              </a:solidFill>
              <a:ln w="25400">
                <a:solidFill>
                  <a:srgbClr val="0000FF"/>
                </a:solid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𝑘</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ea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3" name="Object 23">
                <a:extLst>
                  <a:ext uri="{FF2B5EF4-FFF2-40B4-BE49-F238E27FC236}">
                    <a16:creationId xmlns:a16="http://schemas.microsoft.com/office/drawing/2014/main" id="{8E57D606-F3E0-450E-A2A6-F2733AF1D3C8}"/>
                  </a:ext>
                </a:extLst>
              </p:cNvPr>
              <p:cNvSpPr txBox="1">
                <a:spLocks noRot="1" noChangeAspect="1" noMove="1" noResize="1" noEditPoints="1" noAdjustHandles="1" noChangeArrowheads="1" noChangeShapeType="1" noTextEdit="1"/>
              </p:cNvSpPr>
              <p:nvPr/>
            </p:nvSpPr>
            <p:spPr bwMode="auto">
              <a:xfrm>
                <a:off x="3250943" y="5291918"/>
                <a:ext cx="2617201" cy="473591"/>
              </a:xfrm>
              <a:prstGeom prst="rect">
                <a:avLst/>
              </a:prstGeom>
              <a:blipFill>
                <a:blip r:embed="rId7"/>
                <a:stretch>
                  <a:fillRect/>
                </a:stretch>
              </a:blipFill>
              <a:ln w="25400">
                <a:solidFill>
                  <a:srgbClr val="0000FF"/>
                </a:solidFill>
              </a:ln>
              <a:effectLst/>
            </p:spPr>
            <p:txBody>
              <a:bodyPr/>
              <a:lstStyle/>
              <a:p>
                <a:r>
                  <a:rPr lang="en-US">
                    <a:noFill/>
                  </a:rPr>
                  <a:t> </a:t>
                </a:r>
              </a:p>
            </p:txBody>
          </p:sp>
        </mc:Fallback>
      </mc:AlternateContent>
      <p:sp>
        <p:nvSpPr>
          <p:cNvPr id="37" name="Text Box 12">
            <a:extLst>
              <a:ext uri="{FF2B5EF4-FFF2-40B4-BE49-F238E27FC236}">
                <a16:creationId xmlns:a16="http://schemas.microsoft.com/office/drawing/2014/main" id="{1D939006-CC45-42AF-85BA-67B972291B4E}"/>
              </a:ext>
            </a:extLst>
          </p:cNvPr>
          <p:cNvSpPr txBox="1">
            <a:spLocks noChangeArrowheads="1"/>
          </p:cNvSpPr>
          <p:nvPr/>
        </p:nvSpPr>
        <p:spPr bwMode="auto">
          <a:xfrm>
            <a:off x="457200" y="5984671"/>
            <a:ext cx="66350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400" dirty="0">
                <a:latin typeface="楷体_GB2312" panose="02010609030101010101" pitchFamily="49" charset="-122"/>
                <a:ea typeface="楷体_GB2312" panose="02010609030101010101" pitchFamily="49" charset="-122"/>
              </a:rPr>
              <a:t>信号的时域与频域特性之间有一种相反的关系。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additive="base">
                                        <p:cTn id="22" dur="500" fill="hold"/>
                                        <p:tgtEl>
                                          <p:spTgt spid="37"/>
                                        </p:tgtEl>
                                        <p:attrNameLst>
                                          <p:attrName>ppt_x</p:attrName>
                                        </p:attrNameLst>
                                      </p:cBhvr>
                                      <p:tavLst>
                                        <p:tav tm="0">
                                          <p:val>
                                            <p:strVal val="#ppt_x"/>
                                          </p:val>
                                        </p:tav>
                                        <p:tav tm="100000">
                                          <p:val>
                                            <p:strVal val="#ppt_x"/>
                                          </p:val>
                                        </p:tav>
                                      </p:tavLst>
                                    </p:anim>
                                    <p:anim calcmode="lin" valueType="num">
                                      <p:cBhvr additive="base">
                                        <p:cTn id="23"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33" grpId="0" animBg="1"/>
      <p:bldP spid="3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9" name="标题 1">
            <a:extLst>
              <a:ext uri="{FF2B5EF4-FFF2-40B4-BE49-F238E27FC236}">
                <a16:creationId xmlns:a16="http://schemas.microsoft.com/office/drawing/2014/main" id="{3622E775-2742-424B-9C8E-529FA6659C9D}"/>
              </a:ext>
            </a:extLst>
          </p:cNvPr>
          <p:cNvSpPr>
            <a:spLocks noGrp="1"/>
          </p:cNvSpPr>
          <p:nvPr>
            <p:ph type="title"/>
          </p:nvPr>
        </p:nvSpPr>
        <p:spPr/>
        <p:txBody>
          <a:bodyPr/>
          <a:lstStyle/>
          <a:p>
            <a:r>
              <a:rPr lang="en-US" altLang="zh-CN" dirty="0"/>
              <a:t>5.3 </a:t>
            </a:r>
            <a:r>
              <a:rPr lang="zh-CN" altLang="en-US" dirty="0"/>
              <a:t>离散时间傅里叶变换的性质</a:t>
            </a:r>
          </a:p>
        </p:txBody>
      </p:sp>
      <p:sp>
        <p:nvSpPr>
          <p:cNvPr id="4" name="灯片编号占位符 3">
            <a:extLst>
              <a:ext uri="{FF2B5EF4-FFF2-40B4-BE49-F238E27FC236}">
                <a16:creationId xmlns:a16="http://schemas.microsoft.com/office/drawing/2014/main" id="{15A9BE63-F8FF-4EAF-B77E-7B286842972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57AE94B-2084-4EAF-BC7C-4CD5F2050F7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8" name="Picture 1029">
            <a:extLst>
              <a:ext uri="{FF2B5EF4-FFF2-40B4-BE49-F238E27FC236}">
                <a16:creationId xmlns:a16="http://schemas.microsoft.com/office/drawing/2014/main" id="{3889C4B4-6540-46B5-BEF8-F470C4825A64}"/>
              </a:ext>
            </a:extLst>
          </p:cNvPr>
          <p:cNvPicPr>
            <a:picLocks noChangeAspect="1" noChangeArrowheads="1"/>
          </p:cNvPicPr>
          <p:nvPr/>
        </p:nvPicPr>
        <p:blipFill>
          <a:blip r:embed="rId2">
            <a:lum contrast="46000"/>
            <a:extLst>
              <a:ext uri="{28A0092B-C50C-407E-A947-70E740481C1C}">
                <a14:useLocalDpi xmlns:a14="http://schemas.microsoft.com/office/drawing/2010/main" val="0"/>
              </a:ext>
            </a:extLst>
          </a:blip>
          <a:srcRect/>
          <a:stretch>
            <a:fillRect/>
          </a:stretch>
        </p:blipFill>
        <p:spPr bwMode="auto">
          <a:xfrm>
            <a:off x="791580" y="1342287"/>
            <a:ext cx="3469476" cy="3318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030">
            <a:extLst>
              <a:ext uri="{FF2B5EF4-FFF2-40B4-BE49-F238E27FC236}">
                <a16:creationId xmlns:a16="http://schemas.microsoft.com/office/drawing/2014/main" id="{7E41ACF4-A8FB-4B62-A9AB-BDA846D42E0E}"/>
              </a:ext>
            </a:extLst>
          </p:cNvPr>
          <p:cNvPicPr>
            <a:picLocks noChangeAspect="1" noChangeArrowheads="1"/>
          </p:cNvPicPr>
          <p:nvPr/>
        </p:nvPicPr>
        <p:blipFill>
          <a:blip r:embed="rId3">
            <a:lum contrast="46000"/>
            <a:extLst>
              <a:ext uri="{28A0092B-C50C-407E-A947-70E740481C1C}">
                <a14:useLocalDpi xmlns:a14="http://schemas.microsoft.com/office/drawing/2010/main" val="0"/>
              </a:ext>
            </a:extLst>
          </a:blip>
          <a:srcRect/>
          <a:stretch>
            <a:fillRect/>
          </a:stretch>
        </p:blipFill>
        <p:spPr bwMode="auto">
          <a:xfrm>
            <a:off x="4569024" y="1340768"/>
            <a:ext cx="3772981" cy="3569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031">
            <a:extLst>
              <a:ext uri="{FF2B5EF4-FFF2-40B4-BE49-F238E27FC236}">
                <a16:creationId xmlns:a16="http://schemas.microsoft.com/office/drawing/2014/main" id="{DDD693B4-CB0C-40DE-BF63-A1FC27A40C8E}"/>
              </a:ext>
            </a:extLst>
          </p:cNvPr>
          <p:cNvPicPr>
            <a:picLocks noChangeAspect="1" noChangeArrowheads="1"/>
          </p:cNvPicPr>
          <p:nvPr/>
        </p:nvPicPr>
        <p:blipFill>
          <a:blip r:embed="rId4">
            <a:lum contrast="46000"/>
            <a:extLst>
              <a:ext uri="{28A0092B-C50C-407E-A947-70E740481C1C}">
                <a14:useLocalDpi xmlns:a14="http://schemas.microsoft.com/office/drawing/2010/main" val="0"/>
              </a:ext>
            </a:extLst>
          </a:blip>
          <a:srcRect/>
          <a:stretch>
            <a:fillRect/>
          </a:stretch>
        </p:blipFill>
        <p:spPr bwMode="auto">
          <a:xfrm>
            <a:off x="815384" y="4949530"/>
            <a:ext cx="3417404" cy="172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032">
            <a:extLst>
              <a:ext uri="{FF2B5EF4-FFF2-40B4-BE49-F238E27FC236}">
                <a16:creationId xmlns:a16="http://schemas.microsoft.com/office/drawing/2014/main" id="{F3DE0800-1119-45A2-8137-6D88FFBB96F4}"/>
              </a:ext>
            </a:extLst>
          </p:cNvPr>
          <p:cNvPicPr>
            <a:picLocks noChangeAspect="1" noChangeArrowheads="1"/>
          </p:cNvPicPr>
          <p:nvPr/>
        </p:nvPicPr>
        <p:blipFill>
          <a:blip r:embed="rId5">
            <a:lum contrast="46000"/>
            <a:extLst>
              <a:ext uri="{28A0092B-C50C-407E-A947-70E740481C1C}">
                <a14:useLocalDpi xmlns:a14="http://schemas.microsoft.com/office/drawing/2010/main" val="0"/>
              </a:ext>
            </a:extLst>
          </a:blip>
          <a:srcRect/>
          <a:stretch>
            <a:fillRect/>
          </a:stretch>
        </p:blipFill>
        <p:spPr bwMode="auto">
          <a:xfrm>
            <a:off x="4601755" y="5104517"/>
            <a:ext cx="3750665" cy="1551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111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 name="标题 1">
            <a:extLst>
              <a:ext uri="{FF2B5EF4-FFF2-40B4-BE49-F238E27FC236}">
                <a16:creationId xmlns:a16="http://schemas.microsoft.com/office/drawing/2014/main" id="{0409FF8A-0C42-4E30-AD0A-69B29A5F812D}"/>
              </a:ext>
            </a:extLst>
          </p:cNvPr>
          <p:cNvSpPr>
            <a:spLocks noGrp="1"/>
          </p:cNvSpPr>
          <p:nvPr>
            <p:ph type="title"/>
          </p:nvPr>
        </p:nvSpPr>
        <p:spPr/>
        <p:txBody>
          <a:bodyPr/>
          <a:lstStyle/>
          <a:p>
            <a:r>
              <a:rPr lang="en-US" altLang="zh-CN" dirty="0"/>
              <a:t>5.3 </a:t>
            </a:r>
            <a:r>
              <a:rPr lang="zh-CN" altLang="en-US" dirty="0"/>
              <a:t>离散时间傅里叶变换的性质</a:t>
            </a:r>
          </a:p>
        </p:txBody>
      </p:sp>
      <p:sp>
        <p:nvSpPr>
          <p:cNvPr id="4" name="灯片编号占位符 3">
            <a:extLst>
              <a:ext uri="{FF2B5EF4-FFF2-40B4-BE49-F238E27FC236}">
                <a16:creationId xmlns:a16="http://schemas.microsoft.com/office/drawing/2014/main" id="{22D09B80-87BE-436B-ACF4-5791D447CCD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2A8D7D5-C8A2-424F-8586-CA16305B8A4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6" name="Text Box 2">
            <a:extLst>
              <a:ext uri="{FF2B5EF4-FFF2-40B4-BE49-F238E27FC236}">
                <a16:creationId xmlns:a16="http://schemas.microsoft.com/office/drawing/2014/main" id="{E8BA172F-06A7-4AC9-88D2-10850BED9997}"/>
              </a:ext>
            </a:extLst>
          </p:cNvPr>
          <p:cNvSpPr txBox="1">
            <a:spLocks noChangeArrowheads="1"/>
          </p:cNvSpPr>
          <p:nvPr/>
        </p:nvSpPr>
        <p:spPr bwMode="auto">
          <a:xfrm>
            <a:off x="471488" y="1285875"/>
            <a:ext cx="20794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8.</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频域微分</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20" name="Object 14">
                <a:extLst>
                  <a:ext uri="{FF2B5EF4-FFF2-40B4-BE49-F238E27FC236}">
                    <a16:creationId xmlns:a16="http://schemas.microsoft.com/office/drawing/2014/main" id="{C9FEA81F-C6CA-44D4-81ED-E1A150DC0738}"/>
                  </a:ext>
                </a:extLst>
              </p:cNvPr>
              <p:cNvSpPr txBox="1"/>
              <p:nvPr/>
            </p:nvSpPr>
            <p:spPr bwMode="auto">
              <a:xfrm>
                <a:off x="3073338" y="1969249"/>
                <a:ext cx="2997324" cy="972126"/>
              </a:xfrm>
              <a:prstGeom prst="rect">
                <a:avLst/>
              </a:prstGeom>
              <a:solidFill>
                <a:schemeClr val="accent5">
                  <a:lumMod val="20000"/>
                  <a:lumOff val="80000"/>
                </a:schemeClr>
              </a:solidFill>
              <a:ln w="25400">
                <a:solidFill>
                  <a:srgbClr val="0000FF"/>
                </a:solid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𝑛𝑥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ea typeface="Cambria Math" panose="02040503050406030204" pitchFamily="18" charset="0"/>
                        </a:rPr>
                        <m:t>↔</m:t>
                      </m:r>
                      <m:r>
                        <m:rPr>
                          <m:sty m:val="p"/>
                        </m:rPr>
                        <a:rPr lang="en-US" sz="2800" i="0">
                          <a:solidFill>
                            <a:srgbClr val="000000"/>
                          </a:solidFill>
                          <a:latin typeface="Cambria Math" panose="02040503050406030204" pitchFamily="18" charset="0"/>
                        </a:rPr>
                        <m:t>j</m:t>
                      </m:r>
                      <m:f>
                        <m:fPr>
                          <m:ctrlPr>
                            <a:rPr lang="en-US" sz="2800" i="1">
                              <a:solidFill>
                                <a:srgbClr val="000000"/>
                              </a:solidFill>
                              <a:latin typeface="Cambria Math" panose="02040503050406030204" pitchFamily="18" charset="0"/>
                            </a:rPr>
                          </m:ctrlPr>
                        </m:fPr>
                        <m:num>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num>
                        <m:den>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𝜔</m:t>
                          </m:r>
                        </m:den>
                      </m:f>
                    </m:oMath>
                  </m:oMathPara>
                </a14:m>
                <a:endParaRPr lang="en-US" sz="2800" dirty="0"/>
              </a:p>
            </p:txBody>
          </p:sp>
        </mc:Choice>
        <mc:Fallback xmlns="">
          <p:sp>
            <p:nvSpPr>
              <p:cNvPr id="20" name="Object 14">
                <a:extLst>
                  <a:ext uri="{FF2B5EF4-FFF2-40B4-BE49-F238E27FC236}">
                    <a16:creationId xmlns:a16="http://schemas.microsoft.com/office/drawing/2014/main" id="{C9FEA81F-C6CA-44D4-81ED-E1A150DC0738}"/>
                  </a:ext>
                </a:extLst>
              </p:cNvPr>
              <p:cNvSpPr txBox="1">
                <a:spLocks noRot="1" noChangeAspect="1" noMove="1" noResize="1" noEditPoints="1" noAdjustHandles="1" noChangeArrowheads="1" noChangeShapeType="1" noTextEdit="1"/>
              </p:cNvSpPr>
              <p:nvPr/>
            </p:nvSpPr>
            <p:spPr bwMode="auto">
              <a:xfrm>
                <a:off x="3073338" y="1969249"/>
                <a:ext cx="2997324" cy="972126"/>
              </a:xfrm>
              <a:prstGeom prst="rect">
                <a:avLst/>
              </a:prstGeom>
              <a:blipFill>
                <a:blip r:embed="rId2"/>
                <a:stretch>
                  <a:fillRect/>
                </a:stretch>
              </a:blipFill>
              <a:ln w="25400">
                <a:solidFill>
                  <a:srgbClr val="0000FF"/>
                </a:solidFill>
              </a:ln>
              <a:effectLst/>
            </p:spPr>
            <p:txBody>
              <a:bodyPr/>
              <a:lstStyle/>
              <a:p>
                <a:r>
                  <a:rPr lang="en-US">
                    <a:noFill/>
                  </a:rPr>
                  <a:t> </a:t>
                </a:r>
              </a:p>
            </p:txBody>
          </p:sp>
        </mc:Fallback>
      </mc:AlternateContent>
      <p:sp>
        <p:nvSpPr>
          <p:cNvPr id="23" name="Text Box 2">
            <a:extLst>
              <a:ext uri="{FF2B5EF4-FFF2-40B4-BE49-F238E27FC236}">
                <a16:creationId xmlns:a16="http://schemas.microsoft.com/office/drawing/2014/main" id="{2B0D74E1-24CB-4850-9FC8-7F741CF6D5B3}"/>
              </a:ext>
            </a:extLst>
          </p:cNvPr>
          <p:cNvSpPr txBox="1">
            <a:spLocks noChangeArrowheads="1"/>
          </p:cNvSpPr>
          <p:nvPr/>
        </p:nvSpPr>
        <p:spPr bwMode="auto">
          <a:xfrm>
            <a:off x="471487" y="3275445"/>
            <a:ext cx="25763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9.</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Parseval</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定理</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24" name="Object 16">
                <a:extLst>
                  <a:ext uri="{FF2B5EF4-FFF2-40B4-BE49-F238E27FC236}">
                    <a16:creationId xmlns:a16="http://schemas.microsoft.com/office/drawing/2014/main" id="{BBD66D97-9555-4E12-A394-D7852A27EF2B}"/>
                  </a:ext>
                </a:extLst>
              </p:cNvPr>
              <p:cNvSpPr txBox="1"/>
              <p:nvPr/>
            </p:nvSpPr>
            <p:spPr bwMode="auto">
              <a:xfrm>
                <a:off x="1943708" y="3958819"/>
                <a:ext cx="5256584" cy="1310552"/>
              </a:xfrm>
              <a:prstGeom prst="rect">
                <a:avLst/>
              </a:prstGeom>
              <a:solidFill>
                <a:schemeClr val="accent5">
                  <a:lumMod val="20000"/>
                  <a:lumOff val="80000"/>
                </a:schemeClr>
              </a:solidFill>
              <a:ln w="25400">
                <a:solidFill>
                  <a:srgbClr val="0000FF"/>
                </a:solid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hr m:val="∑"/>
                          <m:ctrlPr>
                            <a:rPr lang="en-US" sz="2800" i="1" smtClean="0">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sSup>
                            <m:sSupPr>
                              <m:ctrlPr>
                                <a:rPr lang="en-US" sz="2800" i="1">
                                  <a:solidFill>
                                    <a:srgbClr val="000000"/>
                                  </a:solidFill>
                                  <a:latin typeface="Cambria Math" panose="02040503050406030204" pitchFamily="18" charset="0"/>
                                </a:rPr>
                              </m:ctrlPr>
                            </m:sSupPr>
                            <m:e>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e>
                              </m:d>
                            </m:e>
                            <m:sup>
                              <m:r>
                                <a:rPr lang="en-US" sz="2800" i="1">
                                  <a:solidFill>
                                    <a:srgbClr val="000000"/>
                                  </a:solidFill>
                                  <a:latin typeface="Cambria Math" panose="02040503050406030204" pitchFamily="18" charset="0"/>
                                </a:rPr>
                                <m:t>2</m:t>
                              </m:r>
                            </m:sup>
                          </m:sSup>
                        </m:e>
                      </m:nary>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𝜋</m:t>
                          </m:r>
                        </m:den>
                      </m:f>
                      <m:nary>
                        <m:naryPr>
                          <m:limLoc m:val="undOvr"/>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𝜋</m:t>
                          </m:r>
                        </m:sub>
                        <m:sup/>
                        <m:e>
                          <m:sSup>
                            <m:sSupPr>
                              <m:ctrlPr>
                                <a:rPr lang="en-US" sz="2800" i="1">
                                  <a:solidFill>
                                    <a:srgbClr val="000000"/>
                                  </a:solidFill>
                                  <a:latin typeface="Cambria Math" panose="02040503050406030204" pitchFamily="18" charset="0"/>
                                </a:rPr>
                              </m:ctrlPr>
                            </m:sSupPr>
                            <m:e>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e>
                              </m:d>
                            </m:e>
                            <m:sup>
                              <m:r>
                                <a:rPr lang="en-US" sz="2800" i="1">
                                  <a:solidFill>
                                    <a:srgbClr val="000000"/>
                                  </a:solidFill>
                                  <a:latin typeface="Cambria Math" panose="02040503050406030204" pitchFamily="18" charset="0"/>
                                </a:rPr>
                                <m:t>2</m:t>
                              </m:r>
                            </m:sup>
                          </m:sSup>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𝜔</m:t>
                          </m:r>
                        </m:e>
                      </m:nary>
                    </m:oMath>
                  </m:oMathPara>
                </a14:m>
                <a:endParaRPr lang="en-US" sz="2800" dirty="0"/>
              </a:p>
            </p:txBody>
          </p:sp>
        </mc:Choice>
        <mc:Fallback xmlns="">
          <p:sp>
            <p:nvSpPr>
              <p:cNvPr id="24" name="Object 16">
                <a:extLst>
                  <a:ext uri="{FF2B5EF4-FFF2-40B4-BE49-F238E27FC236}">
                    <a16:creationId xmlns:a16="http://schemas.microsoft.com/office/drawing/2014/main" id="{BBD66D97-9555-4E12-A394-D7852A27EF2B}"/>
                  </a:ext>
                </a:extLst>
              </p:cNvPr>
              <p:cNvSpPr txBox="1">
                <a:spLocks noRot="1" noChangeAspect="1" noMove="1" noResize="1" noEditPoints="1" noAdjustHandles="1" noChangeArrowheads="1" noChangeShapeType="1" noTextEdit="1"/>
              </p:cNvSpPr>
              <p:nvPr/>
            </p:nvSpPr>
            <p:spPr bwMode="auto">
              <a:xfrm>
                <a:off x="1943708" y="3958819"/>
                <a:ext cx="5256584" cy="1310552"/>
              </a:xfrm>
              <a:prstGeom prst="rect">
                <a:avLst/>
              </a:prstGeom>
              <a:blipFill>
                <a:blip r:embed="rId3"/>
                <a:stretch>
                  <a:fillRect/>
                </a:stretch>
              </a:blipFill>
              <a:ln w="25400">
                <a:solidFill>
                  <a:srgbClr val="0000FF"/>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 Box 20">
                <a:extLst>
                  <a:ext uri="{FF2B5EF4-FFF2-40B4-BE49-F238E27FC236}">
                    <a16:creationId xmlns:a16="http://schemas.microsoft.com/office/drawing/2014/main" id="{46644BAF-A7B6-4B20-9EB2-CD97D0491B48}"/>
                  </a:ext>
                </a:extLst>
              </p:cNvPr>
              <p:cNvSpPr txBox="1">
                <a:spLocks noChangeArrowheads="1"/>
              </p:cNvSpPr>
              <p:nvPr/>
            </p:nvSpPr>
            <p:spPr bwMode="auto">
              <a:xfrm>
                <a:off x="827584" y="5429525"/>
                <a:ext cx="6221640" cy="66377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14:m>
                  <m:oMath xmlns:m="http://schemas.openxmlformats.org/officeDocument/2006/math">
                    <m:sSup>
                      <m:sSupPr>
                        <m:ctrlPr>
                          <a:rPr lang="en-US" sz="2800" i="1" smtClean="0">
                            <a:solidFill>
                              <a:srgbClr val="000000"/>
                            </a:solidFill>
                            <a:latin typeface="Cambria Math" panose="02040503050406030204" pitchFamily="18" charset="0"/>
                          </a:rPr>
                        </m:ctrlPr>
                      </m:sSupPr>
                      <m:e>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e>
                        </m:d>
                      </m:e>
                      <m:sup>
                        <m:r>
                          <a:rPr lang="en-US" sz="2800" i="1">
                            <a:solidFill>
                              <a:srgbClr val="000000"/>
                            </a:solidFill>
                            <a:latin typeface="Cambria Math" panose="02040503050406030204" pitchFamily="18" charset="0"/>
                          </a:rPr>
                          <m:t>2</m:t>
                        </m:r>
                      </m:sup>
                    </m:sSup>
                  </m:oMath>
                </a14:m>
                <a:r>
                  <a:rPr lang="zh-CN" altLang="en-US" sz="2800" dirty="0">
                    <a:latin typeface="楷体_GB2312" panose="02010609030101010101" pitchFamily="49" charset="-122"/>
                    <a:ea typeface="楷体_GB2312" panose="02010609030101010101" pitchFamily="49" charset="-122"/>
                  </a:rPr>
                  <a:t>称为</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oMath>
                </a14:m>
                <a:r>
                  <a:rPr lang="zh-CN" altLang="en-US" sz="2800" dirty="0">
                    <a:latin typeface="楷体_GB2312" panose="02010609030101010101" pitchFamily="49" charset="-122"/>
                    <a:ea typeface="楷体_GB2312" panose="02010609030101010101" pitchFamily="49" charset="-122"/>
                  </a:rPr>
                  <a:t>的</a:t>
                </a:r>
                <a:r>
                  <a:rPr lang="zh-CN" altLang="en-US" sz="2800" dirty="0">
                    <a:solidFill>
                      <a:srgbClr val="FF0000"/>
                    </a:solidFill>
                    <a:latin typeface="楷体_GB2312" panose="02010609030101010101" pitchFamily="49" charset="-122"/>
                    <a:ea typeface="楷体_GB2312" panose="02010609030101010101" pitchFamily="49" charset="-122"/>
                  </a:rPr>
                  <a:t>能量谱密度</a:t>
                </a:r>
                <a:r>
                  <a:rPr lang="zh-CN" altLang="en-US" sz="2800" dirty="0">
                    <a:latin typeface="楷体_GB2312" panose="02010609030101010101" pitchFamily="49" charset="-122"/>
                    <a:ea typeface="楷体_GB2312" panose="02010609030101010101" pitchFamily="49" charset="-122"/>
                  </a:rPr>
                  <a:t>函数。</a:t>
                </a:r>
              </a:p>
            </p:txBody>
          </p:sp>
        </mc:Choice>
        <mc:Fallback xmlns="">
          <p:sp>
            <p:nvSpPr>
              <p:cNvPr id="30" name="Text Box 20">
                <a:extLst>
                  <a:ext uri="{FF2B5EF4-FFF2-40B4-BE49-F238E27FC236}">
                    <a16:creationId xmlns:a16="http://schemas.microsoft.com/office/drawing/2014/main" id="{46644BAF-A7B6-4B20-9EB2-CD97D0491B48}"/>
                  </a:ext>
                </a:extLst>
              </p:cNvPr>
              <p:cNvSpPr txBox="1">
                <a:spLocks noRot="1" noChangeAspect="1" noMove="1" noResize="1" noEditPoints="1" noAdjustHandles="1" noChangeArrowheads="1" noChangeShapeType="1" noTextEdit="1"/>
              </p:cNvSpPr>
              <p:nvPr/>
            </p:nvSpPr>
            <p:spPr bwMode="auto">
              <a:xfrm>
                <a:off x="827584" y="5429525"/>
                <a:ext cx="6221640" cy="663771"/>
              </a:xfrm>
              <a:prstGeom prst="rect">
                <a:avLst/>
              </a:prstGeom>
              <a:blipFill>
                <a:blip r:embed="rId4"/>
                <a:stretch>
                  <a:fillRect r="-1078" b="-1651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500"/>
                                        <p:tgtEl>
                                          <p:spTgt spid="2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down)">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3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标题 1">
            <a:extLst>
              <a:ext uri="{FF2B5EF4-FFF2-40B4-BE49-F238E27FC236}">
                <a16:creationId xmlns:a16="http://schemas.microsoft.com/office/drawing/2014/main" id="{C30BA2CA-3174-4E61-A112-81691513D613}"/>
              </a:ext>
            </a:extLst>
          </p:cNvPr>
          <p:cNvSpPr>
            <a:spLocks noGrp="1"/>
          </p:cNvSpPr>
          <p:nvPr>
            <p:ph type="title"/>
          </p:nvPr>
        </p:nvSpPr>
        <p:spPr/>
        <p:txBody>
          <a:bodyPr/>
          <a:lstStyle/>
          <a:p>
            <a:r>
              <a:rPr lang="en-US" altLang="zh-CN" dirty="0"/>
              <a:t>5.4 </a:t>
            </a:r>
            <a:r>
              <a:rPr lang="zh-CN" altLang="en-US" dirty="0"/>
              <a:t>卷积性质</a:t>
            </a:r>
            <a:endParaRPr lang="zh-CN" altLang="en-US" sz="32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FBB9530-BD43-42A2-94EF-4E50326421C2}"/>
                  </a:ext>
                </a:extLst>
              </p:cNvPr>
              <p:cNvSpPr>
                <a:spLocks noGrp="1"/>
              </p:cNvSpPr>
              <p:nvPr>
                <p:ph idx="1"/>
              </p:nvPr>
            </p:nvSpPr>
            <p:spPr/>
            <p:txBody>
              <a:bodyPr/>
              <a:lstStyle/>
              <a:p>
                <a:pPr marL="0" indent="0" algn="just">
                  <a:buNone/>
                </a:pPr>
                <a:r>
                  <a:rPr lang="zh-CN" altLang="en-US" sz="2800" b="0" dirty="0">
                    <a:solidFill>
                      <a:srgbClr val="0000FF"/>
                    </a:solidFill>
                  </a:rPr>
                  <a:t>一</a:t>
                </a:r>
                <a:r>
                  <a:rPr lang="en-US" altLang="zh-CN" sz="2800" b="0" dirty="0">
                    <a:solidFill>
                      <a:srgbClr val="0000FF"/>
                    </a:solidFill>
                  </a:rPr>
                  <a:t>.</a:t>
                </a:r>
                <a:r>
                  <a:rPr lang="zh-CN" altLang="en-US" sz="2800" b="0" dirty="0">
                    <a:solidFill>
                      <a:srgbClr val="0000FF"/>
                    </a:solidFill>
                  </a:rPr>
                  <a:t>卷积特性</a:t>
                </a:r>
                <a:r>
                  <a:rPr lang="zh-CN" altLang="en-US" sz="2800" b="0" dirty="0"/>
                  <a:t>：</a:t>
                </a:r>
                <a:endParaRPr lang="en-US" altLang="zh-CN" sz="2800" b="0" dirty="0"/>
              </a:p>
              <a:p>
                <a:pPr algn="just"/>
                <a:endParaRPr lang="en-US" altLang="zh-CN" sz="2800" b="0" dirty="0"/>
              </a:p>
              <a:p>
                <a:pPr algn="just"/>
                <a:endParaRPr lang="en-US" altLang="zh-CN" sz="2800" b="0" dirty="0"/>
              </a:p>
              <a:p>
                <a:pPr algn="just"/>
                <a:endParaRPr lang="en-US" altLang="zh-CN" sz="2800" b="0" dirty="0"/>
              </a:p>
              <a:p>
                <a:pPr lvl="1" algn="just"/>
                <a:r>
                  <a:rPr lang="zh-CN" altLang="en-US" b="0" dirty="0"/>
                  <a:t>由于该卷积性质的存在，使离散时间</a:t>
                </a:r>
                <a:r>
                  <a:rPr lang="en-US" altLang="zh-CN" b="0" dirty="0"/>
                  <a:t>LTI</a:t>
                </a:r>
                <a:r>
                  <a:rPr lang="zh-CN" altLang="en-US" b="0" dirty="0"/>
                  <a:t>系统的频域分析非常便利。</a:t>
                </a:r>
                <a:endParaRPr lang="en-US" altLang="zh-CN" b="0" dirty="0"/>
              </a:p>
              <a:p>
                <a:pPr lvl="1" algn="just"/>
                <a:r>
                  <a:rPr lang="zh-CN" altLang="en-US" b="0" dirty="0"/>
                  <a:t>本质上，卷积性质的成立仍是因为复指数信号</a:t>
                </a:r>
                <a14:m>
                  <m:oMath xmlns:m="http://schemas.openxmlformats.org/officeDocument/2006/math">
                    <m:sSup>
                      <m:sSupPr>
                        <m:ctrlPr>
                          <a:rPr lang="en-US" b="0" i="1">
                            <a:solidFill>
                              <a:prstClr val="black"/>
                            </a:solidFill>
                            <a:latin typeface="Cambria Math" panose="02040503050406030204" pitchFamily="18" charset="0"/>
                          </a:rPr>
                        </m:ctrlPr>
                      </m:sSupPr>
                      <m:e>
                        <m:r>
                          <m:rPr>
                            <m:sty m:val="p"/>
                          </m:rPr>
                          <a:rPr lang="en-US" b="0">
                            <a:solidFill>
                              <a:prstClr val="black"/>
                            </a:solidFill>
                            <a:latin typeface="Cambria Math" panose="02040503050406030204" pitchFamily="18" charset="0"/>
                          </a:rPr>
                          <m:t>e</m:t>
                        </m:r>
                      </m:e>
                      <m:sup>
                        <m:r>
                          <m:rPr>
                            <m:sty m:val="p"/>
                          </m:rPr>
                          <a:rPr lang="en-US" b="0">
                            <a:solidFill>
                              <a:prstClr val="black"/>
                            </a:solidFill>
                            <a:latin typeface="Cambria Math" panose="02040503050406030204" pitchFamily="18" charset="0"/>
                          </a:rPr>
                          <m:t>j</m:t>
                        </m:r>
                        <m:r>
                          <a:rPr lang="en-US" b="0" i="1">
                            <a:solidFill>
                              <a:prstClr val="black"/>
                            </a:solidFill>
                            <a:latin typeface="Cambria Math" panose="02040503050406030204" pitchFamily="18" charset="0"/>
                          </a:rPr>
                          <m:t>𝜔</m:t>
                        </m:r>
                        <m:r>
                          <a:rPr lang="en-US" b="0" i="1" smtClean="0">
                            <a:solidFill>
                              <a:prstClr val="black"/>
                            </a:solidFill>
                            <a:latin typeface="Cambria Math" panose="02040503050406030204" pitchFamily="18" charset="0"/>
                          </a:rPr>
                          <m:t>𝑛</m:t>
                        </m:r>
                      </m:sup>
                    </m:sSup>
                  </m:oMath>
                </a14:m>
                <a:r>
                  <a:rPr lang="zh-CN" altLang="en-US" b="0" dirty="0"/>
                  <a:t>是一切离散时间</a:t>
                </a:r>
                <a:r>
                  <a:rPr lang="en-US" altLang="zh-CN" b="0" dirty="0"/>
                  <a:t>LTI</a:t>
                </a:r>
                <a:r>
                  <a:rPr lang="zh-CN" altLang="en-US" b="0" dirty="0"/>
                  <a:t>系统的特征函数，</a:t>
                </a:r>
                <a14:m>
                  <m:oMath xmlns:m="http://schemas.openxmlformats.org/officeDocument/2006/math">
                    <m:r>
                      <a:rPr lang="en-US" b="0" i="1">
                        <a:solidFill>
                          <a:prstClr val="black"/>
                        </a:solidFill>
                        <a:latin typeface="Cambria Math" panose="02040503050406030204" pitchFamily="18" charset="0"/>
                      </a:rPr>
                      <m:t>𝐻</m:t>
                    </m:r>
                    <m:r>
                      <a:rPr lang="en-US" b="0" i="1">
                        <a:solidFill>
                          <a:prstClr val="black"/>
                        </a:solidFill>
                        <a:latin typeface="Cambria Math" panose="02040503050406030204" pitchFamily="18" charset="0"/>
                      </a:rPr>
                      <m:t>(</m:t>
                    </m:r>
                    <m:sSup>
                      <m:sSupPr>
                        <m:ctrlPr>
                          <a:rPr lang="en-US" b="0" i="1">
                            <a:solidFill>
                              <a:prstClr val="black"/>
                            </a:solidFill>
                            <a:latin typeface="Cambria Math" panose="02040503050406030204" pitchFamily="18" charset="0"/>
                          </a:rPr>
                        </m:ctrlPr>
                      </m:sSupPr>
                      <m:e>
                        <m:r>
                          <m:rPr>
                            <m:sty m:val="p"/>
                          </m:rPr>
                          <a:rPr lang="en-US" b="0">
                            <a:solidFill>
                              <a:prstClr val="black"/>
                            </a:solidFill>
                            <a:latin typeface="Cambria Math" panose="02040503050406030204" pitchFamily="18" charset="0"/>
                          </a:rPr>
                          <m:t>e</m:t>
                        </m:r>
                      </m:e>
                      <m:sup>
                        <m:r>
                          <m:rPr>
                            <m:sty m:val="p"/>
                          </m:rPr>
                          <a:rPr lang="en-US" b="0">
                            <a:solidFill>
                              <a:prstClr val="black"/>
                            </a:solidFill>
                            <a:latin typeface="Cambria Math" panose="02040503050406030204" pitchFamily="18" charset="0"/>
                          </a:rPr>
                          <m:t>j</m:t>
                        </m:r>
                        <m:r>
                          <a:rPr lang="en-US" b="0" i="1">
                            <a:solidFill>
                              <a:prstClr val="black"/>
                            </a:solidFill>
                            <a:latin typeface="Cambria Math" panose="02040503050406030204" pitchFamily="18" charset="0"/>
                          </a:rPr>
                          <m:t>𝜔</m:t>
                        </m:r>
                      </m:sup>
                    </m:sSup>
                    <m:r>
                      <a:rPr lang="en-US" b="0" i="1">
                        <a:solidFill>
                          <a:prstClr val="black"/>
                        </a:solidFill>
                        <a:latin typeface="Cambria Math" panose="02040503050406030204" pitchFamily="18" charset="0"/>
                      </a:rPr>
                      <m:t>)</m:t>
                    </m:r>
                  </m:oMath>
                </a14:m>
                <a:r>
                  <a:rPr lang="zh-CN" altLang="en-US" b="0" dirty="0"/>
                  <a:t>则是对应的特征值。</a:t>
                </a:r>
              </a:p>
            </p:txBody>
          </p:sp>
        </mc:Choice>
        <mc:Fallback xmlns="">
          <p:sp>
            <p:nvSpPr>
              <p:cNvPr id="3" name="内容占位符 2">
                <a:extLst>
                  <a:ext uri="{FF2B5EF4-FFF2-40B4-BE49-F238E27FC236}">
                    <a16:creationId xmlns:a16="http://schemas.microsoft.com/office/drawing/2014/main" id="{BFBB9530-BD43-42A2-94EF-4E50326421C2}"/>
                  </a:ext>
                </a:extLst>
              </p:cNvPr>
              <p:cNvSpPr>
                <a:spLocks noGrp="1" noRot="1" noChangeAspect="1" noMove="1" noResize="1" noEditPoints="1" noAdjustHandles="1" noChangeArrowheads="1" noChangeShapeType="1" noTextEdit="1"/>
              </p:cNvSpPr>
              <p:nvPr>
                <p:ph idx="1"/>
              </p:nvPr>
            </p:nvSpPr>
            <p:spPr>
              <a:blipFill>
                <a:blip r:embed="rId2"/>
                <a:stretch>
                  <a:fillRect l="-1481" t="-1637" r="-148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51CAF264-2AF2-4504-9582-A098F7034EC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E8877B6-C3DD-4B0F-A2AB-99EA45F73B6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4345" name="Text Box 11">
            <a:extLst>
              <a:ext uri="{FF2B5EF4-FFF2-40B4-BE49-F238E27FC236}">
                <a16:creationId xmlns:a16="http://schemas.microsoft.com/office/drawing/2014/main" id="{CE2B9DA0-EDD8-4DA1-B8C2-B83BAAD7032B}"/>
              </a:ext>
            </a:extLst>
          </p:cNvPr>
          <p:cNvSpPr txBox="1">
            <a:spLocks noChangeArrowheads="1"/>
          </p:cNvSpPr>
          <p:nvPr/>
        </p:nvSpPr>
        <p:spPr bwMode="auto">
          <a:xfrm>
            <a:off x="1474788" y="2674144"/>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则</a:t>
            </a:r>
          </a:p>
        </p:txBody>
      </p:sp>
      <mc:AlternateContent xmlns:mc="http://schemas.openxmlformats.org/markup-compatibility/2006" xmlns:a14="http://schemas.microsoft.com/office/drawing/2010/main">
        <mc:Choice Requires="a14">
          <p:sp>
            <p:nvSpPr>
              <p:cNvPr id="14340" name="Object 4">
                <a:extLst>
                  <a:ext uri="{FF2B5EF4-FFF2-40B4-BE49-F238E27FC236}">
                    <a16:creationId xmlns:a16="http://schemas.microsoft.com/office/drawing/2014/main" id="{48B589D4-7D58-48D9-8F72-82FE1B5327E1}"/>
                  </a:ext>
                </a:extLst>
              </p:cNvPr>
              <p:cNvSpPr txBox="1"/>
              <p:nvPr/>
            </p:nvSpPr>
            <p:spPr bwMode="auto">
              <a:xfrm>
                <a:off x="2111375" y="2683669"/>
                <a:ext cx="4548858" cy="500062"/>
              </a:xfrm>
              <a:prstGeom prst="rect">
                <a:avLst/>
              </a:prstGeom>
              <a:solidFill>
                <a:schemeClr val="accent5">
                  <a:lumMod val="20000"/>
                  <a:lumOff val="80000"/>
                </a:schemeClr>
              </a:solidFill>
              <a:ln w="25400">
                <a:solidFill>
                  <a:srgbClr val="0000FF"/>
                </a:solidFill>
              </a:ln>
              <a:effectLst/>
            </p:spPr>
            <p:txBody>
              <a:bodyPr>
                <a:noAutofit/>
              </a:bodyPr>
              <a:lstStyle/>
              <a:p>
                <a:pPr/>
                <a14:m>
                  <m:oMathPara xmlns:m="http://schemas.openxmlformats.org/officeDocument/2006/math">
                    <m:oMathParaPr>
                      <m:jc m:val="center"/>
                    </m:oMathParaPr>
                    <m:oMath xmlns:m="http://schemas.openxmlformats.org/officeDocument/2006/math">
                      <m:r>
                        <a:rPr lang="en-US" sz="2800" i="1">
                          <a:solidFill>
                            <a:prstClr val="black"/>
                          </a:solidFill>
                          <a:latin typeface="Cambria Math" panose="02040503050406030204" pitchFamily="18" charset="0"/>
                        </a:rPr>
                        <m:t>𝑥</m:t>
                      </m:r>
                      <m:r>
                        <a:rPr lang="en-US" sz="2800" i="1">
                          <a:solidFill>
                            <a:prstClr val="black"/>
                          </a:solidFill>
                          <a:latin typeface="Cambria Math" panose="02040503050406030204" pitchFamily="18" charset="0"/>
                        </a:rPr>
                        <m:t>[</m:t>
                      </m:r>
                      <m:r>
                        <a:rPr lang="en-US" sz="2800" i="1">
                          <a:solidFill>
                            <a:prstClr val="black"/>
                          </a:solidFill>
                          <a:latin typeface="Cambria Math" panose="02040503050406030204" pitchFamily="18" charset="0"/>
                        </a:rPr>
                        <m:t>𝑛</m:t>
                      </m:r>
                      <m:r>
                        <a:rPr lang="en-US" sz="2800" i="1">
                          <a:solidFill>
                            <a:prstClr val="black"/>
                          </a:solidFill>
                          <a:latin typeface="Cambria Math" panose="02040503050406030204" pitchFamily="18" charset="0"/>
                        </a:rPr>
                        <m:t>]∗</m:t>
                      </m:r>
                      <m:r>
                        <a:rPr lang="en-US" sz="2800" i="1">
                          <a:solidFill>
                            <a:prstClr val="black"/>
                          </a:solidFill>
                          <a:latin typeface="Cambria Math" panose="02040503050406030204" pitchFamily="18" charset="0"/>
                        </a:rPr>
                        <m:t>h</m:t>
                      </m:r>
                      <m:r>
                        <a:rPr lang="en-US" sz="2800" i="1">
                          <a:solidFill>
                            <a:prstClr val="black"/>
                          </a:solidFill>
                          <a:latin typeface="Cambria Math" panose="02040503050406030204" pitchFamily="18" charset="0"/>
                        </a:rPr>
                        <m:t>[</m:t>
                      </m:r>
                      <m:r>
                        <a:rPr lang="en-US" sz="2800" i="1">
                          <a:solidFill>
                            <a:prstClr val="black"/>
                          </a:solidFill>
                          <a:latin typeface="Cambria Math" panose="02040503050406030204" pitchFamily="18" charset="0"/>
                        </a:rPr>
                        <m:t>𝑛</m:t>
                      </m:r>
                      <m:r>
                        <a:rPr lang="en-US" sz="2800" i="1">
                          <a:solidFill>
                            <a:prstClr val="black"/>
                          </a:solidFill>
                          <a:latin typeface="Cambria Math" panose="02040503050406030204" pitchFamily="18" charset="0"/>
                        </a:rPr>
                        <m:t>]⟷</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prstClr val="black"/>
                              </a:solidFill>
                              <a:latin typeface="Cambria Math" panose="02040503050406030204" pitchFamily="18" charset="0"/>
                            </a:rPr>
                          </m:ctrlPr>
                        </m:sSupPr>
                        <m:e>
                          <m:r>
                            <m:rPr>
                              <m:sty m:val="p"/>
                            </m:rPr>
                            <a:rPr lang="en-US" sz="2800">
                              <a:solidFill>
                                <a:prstClr val="black"/>
                              </a:solidFill>
                              <a:latin typeface="Cambria Math" panose="02040503050406030204" pitchFamily="18" charset="0"/>
                            </a:rPr>
                            <m:t>e</m:t>
                          </m:r>
                        </m:e>
                        <m:sup>
                          <m:r>
                            <m:rPr>
                              <m:sty m:val="p"/>
                            </m:rPr>
                            <a:rPr lang="en-US" sz="2800">
                              <a:solidFill>
                                <a:prstClr val="black"/>
                              </a:solidFill>
                              <a:latin typeface="Cambria Math" panose="02040503050406030204" pitchFamily="18" charset="0"/>
                            </a:rPr>
                            <m:t>j</m:t>
                          </m:r>
                          <m:r>
                            <a:rPr lang="en-US" sz="2800" i="1">
                              <a:solidFill>
                                <a:prstClr val="black"/>
                              </a:solidFill>
                              <a:latin typeface="Cambria Math" panose="02040503050406030204" pitchFamily="18" charset="0"/>
                            </a:rPr>
                            <m:t>𝜔</m:t>
                          </m:r>
                        </m:sup>
                      </m:sSup>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sSup>
                        <m:sSupPr>
                          <m:ctrlPr>
                            <a:rPr lang="en-US" sz="2800" i="1">
                              <a:solidFill>
                                <a:prstClr val="black"/>
                              </a:solidFill>
                              <a:latin typeface="Cambria Math" panose="02040503050406030204" pitchFamily="18" charset="0"/>
                            </a:rPr>
                          </m:ctrlPr>
                        </m:sSupPr>
                        <m:e>
                          <m:r>
                            <m:rPr>
                              <m:sty m:val="p"/>
                            </m:rPr>
                            <a:rPr lang="en-US" sz="2800">
                              <a:solidFill>
                                <a:prstClr val="black"/>
                              </a:solidFill>
                              <a:latin typeface="Cambria Math" panose="02040503050406030204" pitchFamily="18" charset="0"/>
                            </a:rPr>
                            <m:t>e</m:t>
                          </m:r>
                        </m:e>
                        <m:sup>
                          <m:r>
                            <m:rPr>
                              <m:sty m:val="p"/>
                            </m:rPr>
                            <a:rPr lang="en-US" sz="2800">
                              <a:solidFill>
                                <a:prstClr val="black"/>
                              </a:solidFill>
                              <a:latin typeface="Cambria Math" panose="02040503050406030204" pitchFamily="18" charset="0"/>
                            </a:rPr>
                            <m:t>j</m:t>
                          </m:r>
                          <m:r>
                            <a:rPr lang="en-US" sz="2800" i="1">
                              <a:solidFill>
                                <a:prstClr val="black"/>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4340" name="Object 4">
                <a:extLst>
                  <a:ext uri="{FF2B5EF4-FFF2-40B4-BE49-F238E27FC236}">
                    <a16:creationId xmlns:a16="http://schemas.microsoft.com/office/drawing/2014/main" id="{48B589D4-7D58-48D9-8F72-82FE1B5327E1}"/>
                  </a:ext>
                </a:extLst>
              </p:cNvPr>
              <p:cNvSpPr txBox="1">
                <a:spLocks noRot="1" noChangeAspect="1" noMove="1" noResize="1" noEditPoints="1" noAdjustHandles="1" noChangeArrowheads="1" noChangeShapeType="1" noTextEdit="1"/>
              </p:cNvSpPr>
              <p:nvPr/>
            </p:nvSpPr>
            <p:spPr bwMode="auto">
              <a:xfrm>
                <a:off x="2111375" y="2683669"/>
                <a:ext cx="4548858" cy="500062"/>
              </a:xfrm>
              <a:prstGeom prst="rect">
                <a:avLst/>
              </a:prstGeom>
              <a:blipFill>
                <a:blip r:embed="rId3"/>
                <a:stretch>
                  <a:fillRect/>
                </a:stretch>
              </a:blipFill>
              <a:ln w="25400">
                <a:solidFill>
                  <a:srgbClr val="0000FF"/>
                </a:solidFill>
              </a:ln>
              <a:effectLst/>
            </p:spPr>
            <p:txBody>
              <a:bodyPr/>
              <a:lstStyle/>
              <a:p>
                <a:r>
                  <a:rPr lang="en-US">
                    <a:noFill/>
                  </a:rPr>
                  <a:t> </a:t>
                </a:r>
              </a:p>
            </p:txBody>
          </p:sp>
        </mc:Fallback>
      </mc:AlternateContent>
      <p:sp>
        <p:nvSpPr>
          <p:cNvPr id="14346" name="Rectangle 13">
            <a:extLst>
              <a:ext uri="{FF2B5EF4-FFF2-40B4-BE49-F238E27FC236}">
                <a16:creationId xmlns:a16="http://schemas.microsoft.com/office/drawing/2014/main" id="{AFC7B1EE-A296-4D51-A283-410A6AD1ADC7}"/>
              </a:ext>
            </a:extLst>
          </p:cNvPr>
          <p:cNvSpPr>
            <a:spLocks noChangeArrowheads="1"/>
          </p:cNvSpPr>
          <p:nvPr/>
        </p:nvSpPr>
        <p:spPr bwMode="auto">
          <a:xfrm>
            <a:off x="1447800" y="1973070"/>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若</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2BC9A30-948C-4FDC-AB43-0E983DBF37A2}"/>
                  </a:ext>
                </a:extLst>
              </p:cNvPr>
              <p:cNvSpPr txBox="1"/>
              <p:nvPr/>
            </p:nvSpPr>
            <p:spPr>
              <a:xfrm>
                <a:off x="2014538" y="1963802"/>
                <a:ext cx="2499618" cy="5376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𝑋</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p>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𝜔</m:t>
                          </m:r>
                        </m:sup>
                      </m:s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lang="en-US" sz="2000" dirty="0"/>
              </a:p>
            </p:txBody>
          </p:sp>
        </mc:Choice>
        <mc:Fallback xmlns="">
          <p:sp>
            <p:nvSpPr>
              <p:cNvPr id="14" name="文本框 13">
                <a:extLst>
                  <a:ext uri="{FF2B5EF4-FFF2-40B4-BE49-F238E27FC236}">
                    <a16:creationId xmlns:a16="http://schemas.microsoft.com/office/drawing/2014/main" id="{42BC9A30-948C-4FDC-AB43-0E983DBF37A2}"/>
                  </a:ext>
                </a:extLst>
              </p:cNvPr>
              <p:cNvSpPr txBox="1">
                <a:spLocks noRot="1" noChangeAspect="1" noMove="1" noResize="1" noEditPoints="1" noAdjustHandles="1" noChangeArrowheads="1" noChangeShapeType="1" noTextEdit="1"/>
              </p:cNvSpPr>
              <p:nvPr/>
            </p:nvSpPr>
            <p:spPr>
              <a:xfrm>
                <a:off x="2014538" y="1963802"/>
                <a:ext cx="2499618" cy="53764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B5E6523-76F6-4C92-ABBF-DF19F86AED17}"/>
                  </a:ext>
                </a:extLst>
              </p:cNvPr>
              <p:cNvSpPr txBox="1"/>
              <p:nvPr/>
            </p:nvSpPr>
            <p:spPr>
              <a:xfrm>
                <a:off x="5076056" y="1963802"/>
                <a:ext cx="2520280" cy="5376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𝐻</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p>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𝜔</m:t>
                          </m:r>
                        </m:sup>
                      </m:s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lang="en-US" sz="2000" dirty="0"/>
              </a:p>
            </p:txBody>
          </p:sp>
        </mc:Choice>
        <mc:Fallback xmlns="">
          <p:sp>
            <p:nvSpPr>
              <p:cNvPr id="15" name="文本框 14">
                <a:extLst>
                  <a:ext uri="{FF2B5EF4-FFF2-40B4-BE49-F238E27FC236}">
                    <a16:creationId xmlns:a16="http://schemas.microsoft.com/office/drawing/2014/main" id="{AB5E6523-76F6-4C92-ABBF-DF19F86AED17}"/>
                  </a:ext>
                </a:extLst>
              </p:cNvPr>
              <p:cNvSpPr txBox="1">
                <a:spLocks noRot="1" noChangeAspect="1" noMove="1" noResize="1" noEditPoints="1" noAdjustHandles="1" noChangeArrowheads="1" noChangeShapeType="1" noTextEdit="1"/>
              </p:cNvSpPr>
              <p:nvPr/>
            </p:nvSpPr>
            <p:spPr>
              <a:xfrm>
                <a:off x="5076056" y="1963802"/>
                <a:ext cx="2520280" cy="537648"/>
              </a:xfrm>
              <a:prstGeom prst="rect">
                <a:avLst/>
              </a:prstGeom>
              <a:blipFill>
                <a:blip r:embed="rId7"/>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wipe(down)">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标题 1">
            <a:extLst>
              <a:ext uri="{FF2B5EF4-FFF2-40B4-BE49-F238E27FC236}">
                <a16:creationId xmlns:a16="http://schemas.microsoft.com/office/drawing/2014/main" id="{41FF32CD-7052-4074-9BE7-79101E84D52A}"/>
              </a:ext>
            </a:extLst>
          </p:cNvPr>
          <p:cNvSpPr>
            <a:spLocks noGrp="1"/>
          </p:cNvSpPr>
          <p:nvPr>
            <p:ph type="title"/>
          </p:nvPr>
        </p:nvSpPr>
        <p:spPr/>
        <p:txBody>
          <a:bodyPr/>
          <a:lstStyle/>
          <a:p>
            <a:r>
              <a:rPr lang="en-US" altLang="zh-CN" dirty="0"/>
              <a:t>5.4 </a:t>
            </a:r>
            <a:r>
              <a:rPr lang="zh-CN" altLang="en-US" dirty="0"/>
              <a:t>卷积性质</a:t>
            </a:r>
          </a:p>
        </p:txBody>
      </p:sp>
      <mc:AlternateContent xmlns:mc="http://schemas.openxmlformats.org/markup-compatibility/2006" xmlns:a14="http://schemas.microsoft.com/office/drawing/2010/main">
        <mc:Choice Requires="a14">
          <p:sp>
            <p:nvSpPr>
              <p:cNvPr id="16391" name="内容占位符 2">
                <a:extLst>
                  <a:ext uri="{FF2B5EF4-FFF2-40B4-BE49-F238E27FC236}">
                    <a16:creationId xmlns:a16="http://schemas.microsoft.com/office/drawing/2014/main" id="{7D5F3DC1-DC0F-46CB-BB68-3BBD53B9634C}"/>
                  </a:ext>
                </a:extLst>
              </p:cNvPr>
              <p:cNvSpPr>
                <a:spLocks noGrp="1"/>
              </p:cNvSpPr>
              <p:nvPr>
                <p:ph idx="1"/>
              </p:nvPr>
            </p:nvSpPr>
            <p:spPr>
              <a:xfrm>
                <a:off x="457200" y="1285875"/>
                <a:ext cx="8229600" cy="2707857"/>
              </a:xfrm>
            </p:spPr>
            <p:txBody>
              <a:bodyPr>
                <a:spAutoFit/>
              </a:bodyPr>
              <a:lstStyle/>
              <a:p>
                <a:pPr marL="0" indent="0">
                  <a:lnSpc>
                    <a:spcPct val="120000"/>
                  </a:lnSpc>
                  <a:spcBef>
                    <a:spcPts val="0"/>
                  </a:spcBef>
                  <a:buNone/>
                </a:pPr>
                <a:r>
                  <a:rPr lang="zh-CN" altLang="en-US" sz="2800" b="0" dirty="0">
                    <a:solidFill>
                      <a:srgbClr val="0000FF"/>
                    </a:solidFill>
                  </a:rPr>
                  <a:t>二</a:t>
                </a:r>
                <a:r>
                  <a:rPr lang="en-US" altLang="zh-CN" sz="2800" b="0" dirty="0">
                    <a:solidFill>
                      <a:srgbClr val="0000FF"/>
                    </a:solidFill>
                  </a:rPr>
                  <a:t>. </a:t>
                </a:r>
                <a:r>
                  <a:rPr lang="zh-CN" altLang="en-US" sz="2800" b="0" dirty="0">
                    <a:solidFill>
                      <a:srgbClr val="0000FF"/>
                    </a:solidFill>
                  </a:rPr>
                  <a:t>离散时间</a:t>
                </a:r>
                <a:r>
                  <a:rPr lang="en-US" altLang="zh-CN" sz="2800" b="0" dirty="0">
                    <a:solidFill>
                      <a:srgbClr val="0000FF"/>
                    </a:solidFill>
                  </a:rPr>
                  <a:t>LTI</a:t>
                </a:r>
                <a:r>
                  <a:rPr lang="zh-CN" altLang="en-US" sz="2800" b="0" dirty="0">
                    <a:solidFill>
                      <a:srgbClr val="0000FF"/>
                    </a:solidFill>
                  </a:rPr>
                  <a:t>系统的频域分析法</a:t>
                </a:r>
                <a:r>
                  <a:rPr lang="en-US" altLang="zh-CN" sz="2800" b="0" dirty="0">
                    <a:solidFill>
                      <a:srgbClr val="0000FF"/>
                    </a:solidFill>
                  </a:rPr>
                  <a:t>:</a:t>
                </a:r>
              </a:p>
              <a:p>
                <a:pPr marL="400050" lvl="1" indent="0" algn="just" eaLnBrk="1" hangingPunct="1">
                  <a:lnSpc>
                    <a:spcPct val="120000"/>
                  </a:lnSpc>
                  <a:spcBef>
                    <a:spcPts val="0"/>
                  </a:spcBef>
                  <a:buNone/>
                  <a:defRPr/>
                </a:pPr>
                <a:r>
                  <a:rPr kumimoji="0" lang="en-US" altLang="zh-CN"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1. </a:t>
                </a:r>
                <a:r>
                  <a:rPr kumimoji="0" lang="zh-CN" altLang="en-US"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由</a:t>
                </a:r>
                <a14:m>
                  <m:oMath xmlns:m="http://schemas.openxmlformats.org/officeDocument/2006/math">
                    <m:r>
                      <a:rPr lang="en-US" b="0" i="1" smtClean="0">
                        <a:solidFill>
                          <a:prstClr val="black"/>
                        </a:solidFill>
                        <a:latin typeface="Cambria Math" panose="02040503050406030204" pitchFamily="18" charset="0"/>
                      </a:rPr>
                      <m:t>𝑥</m:t>
                    </m:r>
                    <m:r>
                      <a:rPr lang="en-US" b="0" i="1"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𝑛</m:t>
                    </m:r>
                    <m:r>
                      <a:rPr lang="en-US" b="0" i="1"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𝑋</m:t>
                    </m:r>
                    <m:r>
                      <a:rPr lang="en-US" b="0" i="1" smtClean="0">
                        <a:solidFill>
                          <a:prstClr val="black"/>
                        </a:solidFill>
                        <a:latin typeface="Cambria Math" panose="02040503050406030204" pitchFamily="18" charset="0"/>
                      </a:rPr>
                      <m:t>(</m:t>
                    </m:r>
                    <m:sSup>
                      <m:sSupPr>
                        <m:ctrlPr>
                          <a:rPr lang="en-US" b="0" i="1">
                            <a:solidFill>
                              <a:prstClr val="black"/>
                            </a:solidFill>
                            <a:latin typeface="Cambria Math" panose="02040503050406030204" pitchFamily="18" charset="0"/>
                          </a:rPr>
                        </m:ctrlPr>
                      </m:sSupPr>
                      <m:e>
                        <m:r>
                          <m:rPr>
                            <m:sty m:val="p"/>
                          </m:rPr>
                          <a:rPr lang="en-US" b="0" i="0" smtClean="0">
                            <a:solidFill>
                              <a:prstClr val="black"/>
                            </a:solidFill>
                            <a:latin typeface="Cambria Math" panose="02040503050406030204" pitchFamily="18" charset="0"/>
                          </a:rPr>
                          <m:t>e</m:t>
                        </m:r>
                      </m:e>
                      <m:sup>
                        <m:r>
                          <m:rPr>
                            <m:sty m:val="p"/>
                          </m:rPr>
                          <a:rPr lang="en-US" b="0" i="0" smtClean="0">
                            <a:solidFill>
                              <a:prstClr val="black"/>
                            </a:solidFill>
                            <a:latin typeface="Cambria Math" panose="02040503050406030204" pitchFamily="18" charset="0"/>
                          </a:rPr>
                          <m:t>j</m:t>
                        </m:r>
                        <m:r>
                          <a:rPr lang="en-US" b="0" i="1" smtClean="0">
                            <a:solidFill>
                              <a:prstClr val="black"/>
                            </a:solidFill>
                            <a:latin typeface="Cambria Math" panose="02040503050406030204" pitchFamily="18" charset="0"/>
                          </a:rPr>
                          <m:t>𝜔</m:t>
                        </m:r>
                      </m:sup>
                    </m:sSup>
                    <m:r>
                      <a:rPr lang="en-US" b="0" i="1" smtClean="0">
                        <a:solidFill>
                          <a:prstClr val="black"/>
                        </a:solidFill>
                        <a:latin typeface="Cambria Math" panose="02040503050406030204" pitchFamily="18" charset="0"/>
                      </a:rPr>
                      <m:t>)</m:t>
                    </m:r>
                  </m:oMath>
                </a14:m>
                <a:endParaRPr kumimoji="0" lang="zh-CN" altLang="en-US"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a:p>
                <a:pPr marL="400050" lvl="1" indent="0" algn="just" eaLnBrk="1" hangingPunct="1">
                  <a:lnSpc>
                    <a:spcPct val="120000"/>
                  </a:lnSpc>
                  <a:spcBef>
                    <a:spcPts val="0"/>
                  </a:spcBef>
                  <a:buNone/>
                  <a:defRPr/>
                </a:pPr>
                <a:r>
                  <a:rPr kumimoji="0" lang="en-US" altLang="zh-CN"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2. </a:t>
                </a:r>
                <a:r>
                  <a:rPr kumimoji="0" lang="zh-CN" altLang="en-US"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根据系统的描述求出</a:t>
                </a:r>
                <a14:m>
                  <m:oMath xmlns:m="http://schemas.openxmlformats.org/officeDocument/2006/math">
                    <m:r>
                      <a:rPr lang="en-US" b="0" i="1" smtClean="0">
                        <a:solidFill>
                          <a:prstClr val="black"/>
                        </a:solidFill>
                        <a:latin typeface="Cambria Math" panose="02040503050406030204" pitchFamily="18" charset="0"/>
                      </a:rPr>
                      <m:t>𝐻</m:t>
                    </m:r>
                    <m:r>
                      <a:rPr lang="en-US" b="0" i="1" smtClean="0">
                        <a:solidFill>
                          <a:prstClr val="black"/>
                        </a:solidFill>
                        <a:latin typeface="Cambria Math" panose="02040503050406030204" pitchFamily="18" charset="0"/>
                      </a:rPr>
                      <m:t>(</m:t>
                    </m:r>
                    <m:sSup>
                      <m:sSupPr>
                        <m:ctrlPr>
                          <a:rPr lang="en-US" b="0" i="1">
                            <a:solidFill>
                              <a:prstClr val="black"/>
                            </a:solidFill>
                            <a:latin typeface="Cambria Math" panose="02040503050406030204" pitchFamily="18" charset="0"/>
                          </a:rPr>
                        </m:ctrlPr>
                      </m:sSupPr>
                      <m:e>
                        <m:r>
                          <m:rPr>
                            <m:sty m:val="p"/>
                          </m:rPr>
                          <a:rPr lang="en-US" b="0" i="0" smtClean="0">
                            <a:solidFill>
                              <a:prstClr val="black"/>
                            </a:solidFill>
                            <a:latin typeface="Cambria Math" panose="02040503050406030204" pitchFamily="18" charset="0"/>
                          </a:rPr>
                          <m:t>e</m:t>
                        </m:r>
                      </m:e>
                      <m:sup>
                        <m:r>
                          <m:rPr>
                            <m:sty m:val="p"/>
                          </m:rPr>
                          <a:rPr lang="en-US" b="0" i="0" smtClean="0">
                            <a:solidFill>
                              <a:prstClr val="black"/>
                            </a:solidFill>
                            <a:latin typeface="Cambria Math" panose="02040503050406030204" pitchFamily="18" charset="0"/>
                          </a:rPr>
                          <m:t>j</m:t>
                        </m:r>
                        <m:r>
                          <a:rPr lang="en-US" b="0" i="1" smtClean="0">
                            <a:solidFill>
                              <a:prstClr val="black"/>
                            </a:solidFill>
                            <a:latin typeface="Cambria Math" panose="02040503050406030204" pitchFamily="18" charset="0"/>
                          </a:rPr>
                          <m:t>𝜔</m:t>
                        </m:r>
                      </m:sup>
                    </m:sSup>
                    <m:r>
                      <a:rPr lang="en-US" b="0" i="1" smtClean="0">
                        <a:solidFill>
                          <a:prstClr val="black"/>
                        </a:solidFill>
                        <a:latin typeface="Cambria Math" panose="02040503050406030204" pitchFamily="18" charset="0"/>
                      </a:rPr>
                      <m:t>)</m:t>
                    </m:r>
                  </m:oMath>
                </a14:m>
                <a:endParaRPr kumimoji="0" lang="zh-CN" altLang="en-US"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a:p>
                <a:pPr marL="400050" lvl="1" indent="0" algn="just" eaLnBrk="1" hangingPunct="1">
                  <a:lnSpc>
                    <a:spcPct val="120000"/>
                  </a:lnSpc>
                  <a:spcBef>
                    <a:spcPts val="0"/>
                  </a:spcBef>
                  <a:buNone/>
                  <a:defRPr/>
                </a:pPr>
                <a:r>
                  <a:rPr kumimoji="0" lang="en-US" altLang="zh-CN"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3. </a:t>
                </a:r>
                <a14:m>
                  <m:oMath xmlns:m="http://schemas.openxmlformats.org/officeDocument/2006/math">
                    <m:r>
                      <a:rPr lang="en-US" b="0" i="1" smtClean="0">
                        <a:solidFill>
                          <a:srgbClr val="000000"/>
                        </a:solidFill>
                        <a:latin typeface="Cambria Math" panose="02040503050406030204" pitchFamily="18" charset="0"/>
                      </a:rPr>
                      <m:t>𝑌</m:t>
                    </m:r>
                    <m:r>
                      <a:rPr lang="en-US" b="0" i="1" smtClean="0">
                        <a:solidFill>
                          <a:srgbClr val="000000"/>
                        </a:solidFill>
                        <a:latin typeface="Cambria Math" panose="02040503050406030204" pitchFamily="18" charset="0"/>
                      </a:rPr>
                      <m:t>(</m:t>
                    </m:r>
                    <m:sSup>
                      <m:sSupPr>
                        <m:ctrlPr>
                          <a:rPr lang="en-US" b="0" i="1">
                            <a:solidFill>
                              <a:prstClr val="black"/>
                            </a:solidFill>
                            <a:latin typeface="Cambria Math" panose="02040503050406030204" pitchFamily="18" charset="0"/>
                          </a:rPr>
                        </m:ctrlPr>
                      </m:sSupPr>
                      <m:e>
                        <m:r>
                          <m:rPr>
                            <m:sty m:val="p"/>
                          </m:rPr>
                          <a:rPr lang="en-US" b="0" i="0" smtClean="0">
                            <a:solidFill>
                              <a:prstClr val="black"/>
                            </a:solidFill>
                            <a:latin typeface="Cambria Math" panose="02040503050406030204" pitchFamily="18" charset="0"/>
                          </a:rPr>
                          <m:t>e</m:t>
                        </m:r>
                      </m:e>
                      <m:sup>
                        <m:r>
                          <m:rPr>
                            <m:sty m:val="p"/>
                          </m:rPr>
                          <a:rPr lang="en-US" b="0" i="0" smtClean="0">
                            <a:solidFill>
                              <a:prstClr val="black"/>
                            </a:solidFill>
                            <a:latin typeface="Cambria Math" panose="02040503050406030204" pitchFamily="18" charset="0"/>
                          </a:rPr>
                          <m:t>j</m:t>
                        </m:r>
                        <m:r>
                          <a:rPr lang="en-US" b="0" i="1" smtClean="0">
                            <a:solidFill>
                              <a:prstClr val="black"/>
                            </a:solidFill>
                            <a:latin typeface="Cambria Math" panose="02040503050406030204" pitchFamily="18" charset="0"/>
                          </a:rPr>
                          <m:t>𝜔</m:t>
                        </m:r>
                      </m:sup>
                    </m:sSup>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𝑋</m:t>
                    </m:r>
                    <m:r>
                      <a:rPr lang="en-US" b="0" i="1" smtClean="0">
                        <a:solidFill>
                          <a:srgbClr val="000000"/>
                        </a:solidFill>
                        <a:latin typeface="Cambria Math" panose="02040503050406030204" pitchFamily="18" charset="0"/>
                      </a:rPr>
                      <m:t>(</m:t>
                    </m:r>
                    <m:sSup>
                      <m:sSupPr>
                        <m:ctrlPr>
                          <a:rPr lang="en-US" b="0" i="1">
                            <a:solidFill>
                              <a:prstClr val="black"/>
                            </a:solidFill>
                            <a:latin typeface="Cambria Math" panose="02040503050406030204" pitchFamily="18" charset="0"/>
                          </a:rPr>
                        </m:ctrlPr>
                      </m:sSupPr>
                      <m:e>
                        <m:r>
                          <m:rPr>
                            <m:sty m:val="p"/>
                          </m:rPr>
                          <a:rPr lang="en-US" b="0" i="0" smtClean="0">
                            <a:solidFill>
                              <a:prstClr val="black"/>
                            </a:solidFill>
                            <a:latin typeface="Cambria Math" panose="02040503050406030204" pitchFamily="18" charset="0"/>
                          </a:rPr>
                          <m:t>e</m:t>
                        </m:r>
                      </m:e>
                      <m:sup>
                        <m:r>
                          <m:rPr>
                            <m:sty m:val="p"/>
                          </m:rPr>
                          <a:rPr lang="en-US" b="0" i="0" smtClean="0">
                            <a:solidFill>
                              <a:prstClr val="black"/>
                            </a:solidFill>
                            <a:latin typeface="Cambria Math" panose="02040503050406030204" pitchFamily="18" charset="0"/>
                          </a:rPr>
                          <m:t>j</m:t>
                        </m:r>
                        <m:r>
                          <a:rPr lang="en-US" b="0" i="1" smtClean="0">
                            <a:solidFill>
                              <a:prstClr val="black"/>
                            </a:solidFill>
                            <a:latin typeface="Cambria Math" panose="02040503050406030204" pitchFamily="18" charset="0"/>
                          </a:rPr>
                          <m:t>𝜔</m:t>
                        </m:r>
                      </m:sup>
                    </m:sSup>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𝐻</m:t>
                    </m:r>
                    <m:r>
                      <a:rPr lang="en-US" b="0" i="1" smtClean="0">
                        <a:solidFill>
                          <a:srgbClr val="000000"/>
                        </a:solidFill>
                        <a:latin typeface="Cambria Math" panose="02040503050406030204" pitchFamily="18" charset="0"/>
                      </a:rPr>
                      <m:t>(</m:t>
                    </m:r>
                    <m:sSup>
                      <m:sSupPr>
                        <m:ctrlPr>
                          <a:rPr lang="en-US" b="0" i="1">
                            <a:solidFill>
                              <a:prstClr val="black"/>
                            </a:solidFill>
                            <a:latin typeface="Cambria Math" panose="02040503050406030204" pitchFamily="18" charset="0"/>
                          </a:rPr>
                        </m:ctrlPr>
                      </m:sSupPr>
                      <m:e>
                        <m:r>
                          <m:rPr>
                            <m:sty m:val="p"/>
                          </m:rPr>
                          <a:rPr lang="en-US" b="0" i="0" smtClean="0">
                            <a:solidFill>
                              <a:prstClr val="black"/>
                            </a:solidFill>
                            <a:latin typeface="Cambria Math" panose="02040503050406030204" pitchFamily="18" charset="0"/>
                          </a:rPr>
                          <m:t>e</m:t>
                        </m:r>
                      </m:e>
                      <m:sup>
                        <m:r>
                          <m:rPr>
                            <m:sty m:val="p"/>
                          </m:rPr>
                          <a:rPr lang="en-US" b="0" i="0" smtClean="0">
                            <a:solidFill>
                              <a:prstClr val="black"/>
                            </a:solidFill>
                            <a:latin typeface="Cambria Math" panose="02040503050406030204" pitchFamily="18" charset="0"/>
                          </a:rPr>
                          <m:t>j</m:t>
                        </m:r>
                        <m:r>
                          <a:rPr lang="en-US" b="0" i="1" smtClean="0">
                            <a:solidFill>
                              <a:prstClr val="black"/>
                            </a:solidFill>
                            <a:latin typeface="Cambria Math" panose="02040503050406030204" pitchFamily="18" charset="0"/>
                          </a:rPr>
                          <m:t>𝜔</m:t>
                        </m:r>
                      </m:sup>
                    </m:sSup>
                    <m:r>
                      <a:rPr lang="en-US" b="0" i="1" smtClean="0">
                        <a:solidFill>
                          <a:srgbClr val="000000"/>
                        </a:solidFill>
                        <a:latin typeface="Cambria Math" panose="02040503050406030204" pitchFamily="18" charset="0"/>
                      </a:rPr>
                      <m:t>)</m:t>
                    </m:r>
                  </m:oMath>
                </a14:m>
                <a:endParaRPr kumimoji="0" lang="en-US" altLang="zh-CN"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a:p>
                <a:pPr marL="400050" lvl="1" indent="0" algn="just" eaLnBrk="1" hangingPunct="1">
                  <a:lnSpc>
                    <a:spcPct val="120000"/>
                  </a:lnSpc>
                  <a:spcBef>
                    <a:spcPts val="0"/>
                  </a:spcBef>
                  <a:buNone/>
                  <a:defRPr/>
                </a:pPr>
                <a:r>
                  <a:rPr kumimoji="0" lang="en-US" altLang="zh-CN"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4. </a:t>
                </a:r>
                <a14:m>
                  <m:oMath xmlns:m="http://schemas.openxmlformats.org/officeDocument/2006/math">
                    <m:r>
                      <a:rPr lang="en-US" b="0" i="1" smtClean="0">
                        <a:solidFill>
                          <a:srgbClr val="000000"/>
                        </a:solidFill>
                        <a:latin typeface="Cambria Math" panose="02040503050406030204" pitchFamily="18" charset="0"/>
                      </a:rPr>
                      <m:t>𝑦</m:t>
                    </m:r>
                    <m:r>
                      <a:rPr lang="en-US" b="0" i="1"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𝑛</m:t>
                    </m:r>
                    <m:r>
                      <a:rPr lang="en-US" b="0" i="1" smtClean="0">
                        <a:solidFill>
                          <a:prstClr val="black"/>
                        </a:solidFill>
                        <a:latin typeface="Cambria Math" panose="02040503050406030204" pitchFamily="18" charset="0"/>
                      </a:rPr>
                      <m:t>]=</m:t>
                    </m:r>
                    <m:sSup>
                      <m:sSupPr>
                        <m:ctrlPr>
                          <a:rPr lang="en-US" b="0" i="1">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ℱ</m:t>
                        </m:r>
                      </m:e>
                      <m:sup>
                        <m:r>
                          <a:rPr lang="en-US" b="0" i="1" smtClean="0">
                            <a:solidFill>
                              <a:srgbClr val="000000"/>
                            </a:solidFill>
                            <a:latin typeface="Cambria Math" panose="02040503050406030204" pitchFamily="18" charset="0"/>
                          </a:rPr>
                          <m:t>−1</m:t>
                        </m:r>
                      </m:sup>
                    </m:sSup>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𝑌</m:t>
                    </m:r>
                    <m:r>
                      <a:rPr lang="en-US" b="0" i="1" smtClean="0">
                        <a:solidFill>
                          <a:srgbClr val="000000"/>
                        </a:solidFill>
                        <a:latin typeface="Cambria Math" panose="02040503050406030204" pitchFamily="18" charset="0"/>
                      </a:rPr>
                      <m:t>(</m:t>
                    </m:r>
                    <m:sSup>
                      <m:sSupPr>
                        <m:ctrlPr>
                          <a:rPr lang="en-US" b="0" i="1">
                            <a:solidFill>
                              <a:prstClr val="black"/>
                            </a:solidFill>
                            <a:latin typeface="Cambria Math" panose="02040503050406030204" pitchFamily="18" charset="0"/>
                          </a:rPr>
                        </m:ctrlPr>
                      </m:sSupPr>
                      <m:e>
                        <m:r>
                          <m:rPr>
                            <m:sty m:val="p"/>
                          </m:rPr>
                          <a:rPr lang="en-US" b="0" i="0" smtClean="0">
                            <a:solidFill>
                              <a:prstClr val="black"/>
                            </a:solidFill>
                            <a:latin typeface="Cambria Math" panose="02040503050406030204" pitchFamily="18" charset="0"/>
                          </a:rPr>
                          <m:t>e</m:t>
                        </m:r>
                      </m:e>
                      <m:sup>
                        <m:r>
                          <m:rPr>
                            <m:sty m:val="p"/>
                          </m:rPr>
                          <a:rPr lang="en-US" b="0" i="0" smtClean="0">
                            <a:solidFill>
                              <a:prstClr val="black"/>
                            </a:solidFill>
                            <a:latin typeface="Cambria Math" panose="02040503050406030204" pitchFamily="18" charset="0"/>
                          </a:rPr>
                          <m:t>j</m:t>
                        </m:r>
                        <m:r>
                          <a:rPr lang="en-US" b="0" i="1" smtClean="0">
                            <a:solidFill>
                              <a:prstClr val="black"/>
                            </a:solidFill>
                            <a:latin typeface="Cambria Math" panose="02040503050406030204" pitchFamily="18" charset="0"/>
                          </a:rPr>
                          <m:t>𝜔</m:t>
                        </m:r>
                      </m:sup>
                    </m:sSup>
                    <m:r>
                      <a:rPr lang="en-US" b="0" i="1" smtClean="0">
                        <a:solidFill>
                          <a:srgbClr val="000000"/>
                        </a:solidFill>
                        <a:latin typeface="Cambria Math" panose="02040503050406030204" pitchFamily="18" charset="0"/>
                      </a:rPr>
                      <m:t>)]</m:t>
                    </m:r>
                  </m:oMath>
                </a14:m>
                <a:endParaRPr lang="zh-CN" altLang="en-US" b="0" dirty="0"/>
              </a:p>
            </p:txBody>
          </p:sp>
        </mc:Choice>
        <mc:Fallback xmlns="">
          <p:sp>
            <p:nvSpPr>
              <p:cNvPr id="16391" name="内容占位符 2">
                <a:extLst>
                  <a:ext uri="{FF2B5EF4-FFF2-40B4-BE49-F238E27FC236}">
                    <a16:creationId xmlns:a16="http://schemas.microsoft.com/office/drawing/2014/main" id="{7D5F3DC1-DC0F-46CB-BB68-3BBD53B9634C}"/>
                  </a:ext>
                </a:extLst>
              </p:cNvPr>
              <p:cNvSpPr>
                <a:spLocks noGrp="1" noRot="1" noChangeAspect="1" noMove="1" noResize="1" noEditPoints="1" noAdjustHandles="1" noChangeArrowheads="1" noChangeShapeType="1" noTextEdit="1"/>
              </p:cNvSpPr>
              <p:nvPr>
                <p:ph idx="1"/>
              </p:nvPr>
            </p:nvSpPr>
            <p:spPr>
              <a:xfrm>
                <a:off x="457200" y="1285875"/>
                <a:ext cx="8229600" cy="2707857"/>
              </a:xfrm>
              <a:blipFill>
                <a:blip r:embed="rId2"/>
                <a:stretch>
                  <a:fillRect l="-1481" t="-901" b="-540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8672487E-1077-400D-8F33-30858267183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5FF52EB-B33A-46D2-AA0A-0FF6ECACBD7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5" name="Rectangle 61">
                <a:extLst>
                  <a:ext uri="{FF2B5EF4-FFF2-40B4-BE49-F238E27FC236}">
                    <a16:creationId xmlns:a16="http://schemas.microsoft.com/office/drawing/2014/main" id="{25BEDF89-579D-46BE-BAFB-2F3BD38682A1}"/>
                  </a:ext>
                </a:extLst>
              </p:cNvPr>
              <p:cNvSpPr>
                <a:spLocks noChangeArrowheads="1"/>
              </p:cNvSpPr>
              <p:nvPr/>
            </p:nvSpPr>
            <p:spPr bwMode="auto">
              <a:xfrm>
                <a:off x="539553" y="4149080"/>
                <a:ext cx="8147248" cy="212615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marL="457200" indent="-457200" algn="just">
                  <a:lnSpc>
                    <a:spcPct val="120000"/>
                  </a:lnSpc>
                  <a:buFont typeface="Arial" panose="020B0604020202020204" pitchFamily="34" charset="0"/>
                  <a:buChar char="•"/>
                </a:pPr>
                <a:r>
                  <a:rPr kumimoji="1" lang="zh-CN" altLang="en-US" sz="2800" dirty="0">
                    <a:latin typeface="Times New Roman" panose="02020603050405020304" pitchFamily="18" charset="0"/>
                    <a:ea typeface="楷体_GB2312" panose="02010609030101010101" pitchFamily="49" charset="-122"/>
                  </a:rPr>
                  <a:t>并非所有的</a:t>
                </a:r>
                <a:r>
                  <a:rPr kumimoji="1" lang="en-US" altLang="zh-CN" sz="2800" dirty="0">
                    <a:latin typeface="Times New Roman" panose="02020603050405020304" pitchFamily="18" charset="0"/>
                    <a:ea typeface="楷体_GB2312" panose="02010609030101010101" pitchFamily="49" charset="-122"/>
                  </a:rPr>
                  <a:t>LTI</a:t>
                </a:r>
                <a:r>
                  <a:rPr kumimoji="1" lang="zh-CN" altLang="en-US" sz="2800" dirty="0">
                    <a:latin typeface="Times New Roman" panose="02020603050405020304" pitchFamily="18" charset="0"/>
                    <a:ea typeface="楷体_GB2312" panose="02010609030101010101" pitchFamily="49" charset="-122"/>
                  </a:rPr>
                  <a:t>系统都存在频率响应。</a:t>
                </a:r>
                <a:endParaRPr kumimoji="1" lang="en-US" altLang="zh-CN" sz="2800" dirty="0">
                  <a:latin typeface="Times New Roman" panose="02020603050405020304" pitchFamily="18" charset="0"/>
                  <a:ea typeface="楷体_GB2312" panose="02010609030101010101" pitchFamily="49" charset="-122"/>
                </a:endParaRPr>
              </a:p>
              <a:p>
                <a:pPr marL="457200" indent="-457200" algn="just">
                  <a:lnSpc>
                    <a:spcPct val="120000"/>
                  </a:lnSpc>
                  <a:buFont typeface="Arial" panose="020B0604020202020204" pitchFamily="34" charset="0"/>
                  <a:buChar char="•"/>
                </a:pPr>
                <a:r>
                  <a:rPr kumimoji="1" lang="zh-CN" altLang="en-US" sz="2800" dirty="0">
                    <a:latin typeface="Times New Roman" panose="02020603050405020304" pitchFamily="18" charset="0"/>
                    <a:ea typeface="楷体_GB2312" panose="02010609030101010101" pitchFamily="49" charset="-122"/>
                  </a:rPr>
                  <a:t>一般只考虑</a:t>
                </a:r>
                <a:r>
                  <a:rPr kumimoji="1" lang="zh-CN" altLang="en-US" sz="2800" dirty="0">
                    <a:solidFill>
                      <a:srgbClr val="FF0000"/>
                    </a:solidFill>
                    <a:latin typeface="Times New Roman" panose="02020603050405020304" pitchFamily="18" charset="0"/>
                    <a:ea typeface="楷体_GB2312" panose="02010609030101010101" pitchFamily="49" charset="-122"/>
                  </a:rPr>
                  <a:t>稳定的</a:t>
                </a:r>
                <a:r>
                  <a:rPr kumimoji="1" lang="en-US" altLang="zh-CN" sz="2800" dirty="0">
                    <a:solidFill>
                      <a:srgbClr val="FF0000"/>
                    </a:solidFill>
                    <a:latin typeface="Times New Roman" panose="02020603050405020304" pitchFamily="18" charset="0"/>
                    <a:ea typeface="楷体_GB2312" panose="02010609030101010101" pitchFamily="49" charset="-122"/>
                  </a:rPr>
                  <a:t>LTI</a:t>
                </a:r>
                <a:r>
                  <a:rPr kumimoji="1" lang="zh-CN" altLang="en-US" sz="2800" dirty="0">
                    <a:solidFill>
                      <a:srgbClr val="FF0000"/>
                    </a:solidFill>
                    <a:latin typeface="Times New Roman" panose="02020603050405020304" pitchFamily="18" charset="0"/>
                    <a:ea typeface="楷体_GB2312" panose="02010609030101010101" pitchFamily="49" charset="-122"/>
                  </a:rPr>
                  <a:t>系统的频率响应</a:t>
                </a:r>
                <a:endParaRPr kumimoji="1" lang="en-US" altLang="zh-CN" sz="2800" dirty="0">
                  <a:solidFill>
                    <a:srgbClr val="FF0000"/>
                  </a:solidFill>
                  <a:latin typeface="Times New Roman" panose="02020603050405020304" pitchFamily="18" charset="0"/>
                  <a:ea typeface="楷体_GB2312" panose="02010609030101010101" pitchFamily="49" charset="-122"/>
                </a:endParaRPr>
              </a:p>
              <a:p>
                <a:pPr marL="914400" lvl="1" indent="-457200" algn="just">
                  <a:lnSpc>
                    <a:spcPct val="120000"/>
                  </a:lnSpc>
                  <a:buFont typeface="Wingdings" panose="05000000000000000000" pitchFamily="2" charset="2"/>
                  <a:buChar char="ü"/>
                </a:pPr>
                <a:r>
                  <a:rPr kumimoji="1" lang="zh-CN" altLang="en-US" sz="2800" dirty="0">
                    <a:latin typeface="Times New Roman" panose="02020603050405020304" pitchFamily="18" charset="0"/>
                    <a:ea typeface="楷体_GB2312" panose="02010609030101010101" pitchFamily="49" charset="-122"/>
                  </a:rPr>
                  <a:t>此时</a:t>
                </a: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rPr>
                      <m:t>h</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rPr>
                      <m:t>𝑛</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1" lang="zh-CN" altLang="en-US" sz="2800" dirty="0">
                    <a:latin typeface="Times New Roman" panose="02020603050405020304" pitchFamily="18" charset="0"/>
                    <a:ea typeface="楷体_GB2312" panose="02010609030101010101" pitchFamily="49" charset="-122"/>
                  </a:rPr>
                  <a:t>绝对可和，离散时间傅里叶变换（即频率响应）</a:t>
                </a:r>
                <a14:m>
                  <m:oMath xmlns:m="http://schemas.openxmlformats.org/officeDocument/2006/math">
                    <m:r>
                      <a:rPr lang="en-US" sz="2800" i="1">
                        <a:solidFill>
                          <a:prstClr val="black"/>
                        </a:solidFill>
                        <a:latin typeface="Cambria Math" panose="02040503050406030204" pitchFamily="18" charset="0"/>
                      </a:rPr>
                      <m:t>𝐻</m:t>
                    </m:r>
                    <m:r>
                      <a:rPr lang="en-US" sz="2800" i="1">
                        <a:solidFill>
                          <a:prstClr val="black"/>
                        </a:solidFill>
                        <a:latin typeface="Cambria Math" panose="02040503050406030204" pitchFamily="18" charset="0"/>
                      </a:rPr>
                      <m:t>(</m:t>
                    </m:r>
                    <m:sSup>
                      <m:sSupPr>
                        <m:ctrlPr>
                          <a:rPr lang="en-US" sz="2800" i="1">
                            <a:solidFill>
                              <a:prstClr val="black"/>
                            </a:solidFill>
                            <a:latin typeface="Cambria Math" panose="02040503050406030204" pitchFamily="18" charset="0"/>
                          </a:rPr>
                        </m:ctrlPr>
                      </m:sSupPr>
                      <m:e>
                        <m:r>
                          <m:rPr>
                            <m:sty m:val="p"/>
                          </m:rPr>
                          <a:rPr lang="en-US" sz="2800">
                            <a:solidFill>
                              <a:prstClr val="black"/>
                            </a:solidFill>
                            <a:latin typeface="Cambria Math" panose="02040503050406030204" pitchFamily="18" charset="0"/>
                          </a:rPr>
                          <m:t>e</m:t>
                        </m:r>
                      </m:e>
                      <m:sup>
                        <m:r>
                          <m:rPr>
                            <m:sty m:val="p"/>
                          </m:rPr>
                          <a:rPr lang="en-US" sz="2800">
                            <a:solidFill>
                              <a:prstClr val="black"/>
                            </a:solidFill>
                            <a:latin typeface="Cambria Math" panose="02040503050406030204" pitchFamily="18" charset="0"/>
                          </a:rPr>
                          <m:t>j</m:t>
                        </m:r>
                        <m:r>
                          <a:rPr lang="en-US" sz="2800" i="1">
                            <a:solidFill>
                              <a:prstClr val="black"/>
                            </a:solidFill>
                            <a:latin typeface="Cambria Math" panose="02040503050406030204" pitchFamily="18" charset="0"/>
                          </a:rPr>
                          <m:t>𝜔</m:t>
                        </m:r>
                      </m:sup>
                    </m:sSup>
                    <m:r>
                      <a:rPr lang="en-US" sz="2800" i="1">
                        <a:solidFill>
                          <a:prstClr val="black"/>
                        </a:solidFill>
                        <a:latin typeface="Cambria Math" panose="02040503050406030204" pitchFamily="18" charset="0"/>
                      </a:rPr>
                      <m:t>)</m:t>
                    </m:r>
                  </m:oMath>
                </a14:m>
                <a:r>
                  <a:rPr kumimoji="1" lang="zh-CN" altLang="en-US" sz="2800" dirty="0">
                    <a:latin typeface="Times New Roman" panose="02020603050405020304" pitchFamily="18" charset="0"/>
                    <a:ea typeface="楷体_GB2312" panose="02010609030101010101" pitchFamily="49" charset="-122"/>
                  </a:rPr>
                  <a:t>存在。</a:t>
                </a:r>
              </a:p>
            </p:txBody>
          </p:sp>
        </mc:Choice>
        <mc:Fallback xmlns="">
          <p:sp>
            <p:nvSpPr>
              <p:cNvPr id="5" name="Rectangle 61">
                <a:extLst>
                  <a:ext uri="{FF2B5EF4-FFF2-40B4-BE49-F238E27FC236}">
                    <a16:creationId xmlns:a16="http://schemas.microsoft.com/office/drawing/2014/main" id="{25BEDF89-579D-46BE-BAFB-2F3BD38682A1}"/>
                  </a:ext>
                </a:extLst>
              </p:cNvPr>
              <p:cNvSpPr>
                <a:spLocks noRot="1" noChangeAspect="1" noMove="1" noResize="1" noEditPoints="1" noAdjustHandles="1" noChangeArrowheads="1" noChangeShapeType="1" noTextEdit="1"/>
              </p:cNvSpPr>
              <p:nvPr/>
            </p:nvSpPr>
            <p:spPr bwMode="auto">
              <a:xfrm>
                <a:off x="539553" y="4149080"/>
                <a:ext cx="8147248" cy="2126159"/>
              </a:xfrm>
              <a:prstGeom prst="rect">
                <a:avLst/>
              </a:prstGeom>
              <a:blipFill>
                <a:blip r:embed="rId3"/>
                <a:stretch>
                  <a:fillRect l="-1347" t="-2299" r="-1497" b="-63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608885"/>
          </a:xfrm>
        </p:spPr>
        <p:txBody>
          <a:bodyPr>
            <a:spAutoFit/>
          </a:bodyPr>
          <a:lstStyle/>
          <a:p>
            <a:pPr algn="just">
              <a:lnSpc>
                <a:spcPct val="130000"/>
              </a:lnSpc>
              <a:spcBef>
                <a:spcPts val="0"/>
              </a:spcBef>
              <a:spcAft>
                <a:spcPts val="600"/>
              </a:spcAft>
            </a:pPr>
            <a:r>
              <a:rPr lang="en-US" altLang="zh-CN" sz="2800" b="0" dirty="0"/>
              <a:t>5.21(j)</a:t>
            </a:r>
            <a:r>
              <a:rPr lang="zh-CN" altLang="en-US" sz="2800" b="0" dirty="0"/>
              <a:t>、</a:t>
            </a:r>
            <a:r>
              <a:rPr lang="en-US" altLang="zh-CN" sz="2800" b="0" dirty="0"/>
              <a:t>5.26(a, d)</a:t>
            </a:r>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24807371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0" name="标题 1">
            <a:extLst>
              <a:ext uri="{FF2B5EF4-FFF2-40B4-BE49-F238E27FC236}">
                <a16:creationId xmlns:a16="http://schemas.microsoft.com/office/drawing/2014/main" id="{9C277DE9-7A67-4A67-8552-B3803EA62C4F}"/>
              </a:ext>
            </a:extLst>
          </p:cNvPr>
          <p:cNvSpPr>
            <a:spLocks noGrp="1"/>
          </p:cNvSpPr>
          <p:nvPr>
            <p:ph type="title"/>
          </p:nvPr>
        </p:nvSpPr>
        <p:spPr/>
        <p:txBody>
          <a:bodyPr/>
          <a:lstStyle/>
          <a:p>
            <a:r>
              <a:rPr lang="en-US" altLang="zh-CN" dirty="0"/>
              <a:t>5.5 </a:t>
            </a:r>
            <a:r>
              <a:rPr lang="zh-CN" altLang="en-US" dirty="0"/>
              <a:t>相乘性质</a:t>
            </a:r>
            <a:endParaRPr lang="zh-CN" altLang="en-US" sz="3200" dirty="0"/>
          </a:p>
        </p:txBody>
      </p:sp>
      <p:sp>
        <p:nvSpPr>
          <p:cNvPr id="4" name="灯片编号占位符 3">
            <a:extLst>
              <a:ext uri="{FF2B5EF4-FFF2-40B4-BE49-F238E27FC236}">
                <a16:creationId xmlns:a16="http://schemas.microsoft.com/office/drawing/2014/main" id="{09D76D28-1EB7-440F-B7F3-5485E3B4A9B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DBED6D7-7624-4A3B-B685-AC5323D4A5B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1" name="Text Box 5">
                <a:extLst>
                  <a:ext uri="{FF2B5EF4-FFF2-40B4-BE49-F238E27FC236}">
                    <a16:creationId xmlns:a16="http://schemas.microsoft.com/office/drawing/2014/main" id="{F52FAC57-3694-4DA2-8ABC-902D1642A134}"/>
                  </a:ext>
                </a:extLst>
              </p:cNvPr>
              <p:cNvSpPr txBox="1">
                <a:spLocks noChangeArrowheads="1"/>
              </p:cNvSpPr>
              <p:nvPr/>
            </p:nvSpPr>
            <p:spPr bwMode="auto">
              <a:xfrm>
                <a:off x="833934" y="1524874"/>
                <a:ext cx="3666058"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eaLnBrk="0" hangingPunct="0"/>
                <a:r>
                  <a:rPr lang="zh-CN" altLang="en-US" sz="2800" dirty="0">
                    <a:solidFill>
                      <a:schemeClr val="tx1"/>
                    </a:solidFill>
                    <a:latin typeface="楷体_GB2312" panose="02010609030101010101" pitchFamily="49" charset="-122"/>
                    <a:ea typeface="楷体_GB2312" panose="02010609030101010101" pitchFamily="49" charset="-122"/>
                  </a:rPr>
                  <a:t>如果</a:t>
                </a:r>
                <a14:m>
                  <m:oMath xmlns:m="http://schemas.openxmlformats.org/officeDocument/2006/math">
                    <m:r>
                      <a:rPr lang="en-US" sz="2800" b="0" i="1" smtClean="0">
                        <a:solidFill>
                          <a:schemeClr val="tx1"/>
                        </a:solidFill>
                        <a:latin typeface="Cambria Math" panose="02040503050406030204" pitchFamily="18" charset="0"/>
                      </a:rPr>
                      <m:t>𝑦</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m:rPr>
                        <m:aln/>
                      </m:rPr>
                      <a:rPr lang="en-US" sz="2800" b="0" i="1">
                        <a:solidFill>
                          <a:schemeClr val="tx1"/>
                        </a:solidFill>
                        <a:latin typeface="Cambria Math" panose="02040503050406030204" pitchFamily="18" charset="0"/>
                      </a:rPr>
                      <m:t>=</m:t>
                    </m:r>
                    <m:sSub>
                      <m:sSubPr>
                        <m:ctrlPr>
                          <a:rPr lang="en-US" sz="2800" i="1" smtClean="0">
                            <a:solidFill>
                              <a:srgbClr val="FF0000"/>
                            </a:solidFill>
                            <a:latin typeface="Cambria Math" panose="02040503050406030204" pitchFamily="18" charset="0"/>
                          </a:rPr>
                        </m:ctrlPr>
                      </m:sSubPr>
                      <m:e>
                        <m:r>
                          <a:rPr lang="en-US" sz="2800" b="0" i="1">
                            <a:solidFill>
                              <a:srgbClr val="FF0000"/>
                            </a:solidFill>
                            <a:latin typeface="Cambria Math" panose="02040503050406030204" pitchFamily="18" charset="0"/>
                          </a:rPr>
                          <m:t>𝑥</m:t>
                        </m:r>
                      </m:e>
                      <m:sub>
                        <m:r>
                          <a:rPr lang="en-US" sz="2800" b="0" i="1">
                            <a:solidFill>
                              <a:srgbClr val="FF0000"/>
                            </a:solidFill>
                            <a:latin typeface="Cambria Math" panose="02040503050406030204" pitchFamily="18" charset="0"/>
                          </a:rPr>
                          <m:t>1</m:t>
                        </m:r>
                      </m:sub>
                    </m:sSub>
                    <m:r>
                      <a:rPr lang="en-US" sz="2800" b="0" i="1" smtClean="0">
                        <a:solidFill>
                          <a:srgbClr val="FF0000"/>
                        </a:solidFill>
                        <a:latin typeface="Cambria Math" panose="02040503050406030204" pitchFamily="18" charset="0"/>
                      </a:rPr>
                      <m:t>[</m:t>
                    </m:r>
                    <m:r>
                      <a:rPr lang="en-US" sz="2800" b="0" i="1">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b="0" i="1">
                            <a:solidFill>
                              <a:srgbClr val="FF0000"/>
                            </a:solidFill>
                            <a:latin typeface="Cambria Math" panose="02040503050406030204" pitchFamily="18" charset="0"/>
                          </a:rPr>
                          <m:t>𝑥</m:t>
                        </m:r>
                      </m:e>
                      <m:sub>
                        <m:r>
                          <a:rPr lang="en-US" sz="2800" b="0" i="1">
                            <a:solidFill>
                              <a:srgbClr val="FF0000"/>
                            </a:solidFill>
                            <a:latin typeface="Cambria Math" panose="02040503050406030204" pitchFamily="18" charset="0"/>
                          </a:rPr>
                          <m:t>2</m:t>
                        </m:r>
                      </m:sub>
                    </m:sSub>
                    <m:r>
                      <a:rPr lang="en-US" sz="2800" b="0" i="1" smtClean="0">
                        <a:solidFill>
                          <a:srgbClr val="FF0000"/>
                        </a:solidFill>
                        <a:latin typeface="Cambria Math" panose="02040503050406030204" pitchFamily="18" charset="0"/>
                      </a:rPr>
                      <m:t>[</m:t>
                    </m:r>
                    <m:r>
                      <a:rPr lang="en-US" sz="2800" b="0" i="1">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oMath>
                </a14:m>
                <a:endParaRPr lang="zh-CN" altLang="en-US" sz="2800" dirty="0">
                  <a:solidFill>
                    <a:schemeClr val="tx1"/>
                  </a:solidFill>
                  <a:latin typeface="楷体_GB2312" panose="02010609030101010101" pitchFamily="49" charset="-122"/>
                  <a:ea typeface="楷体_GB2312" panose="02010609030101010101" pitchFamily="49" charset="-122"/>
                </a:endParaRPr>
              </a:p>
            </p:txBody>
          </p:sp>
        </mc:Choice>
        <mc:Fallback xmlns="">
          <p:sp>
            <p:nvSpPr>
              <p:cNvPr id="21" name="Text Box 5">
                <a:extLst>
                  <a:ext uri="{FF2B5EF4-FFF2-40B4-BE49-F238E27FC236}">
                    <a16:creationId xmlns:a16="http://schemas.microsoft.com/office/drawing/2014/main" id="{F52FAC57-3694-4DA2-8ABC-902D1642A134}"/>
                  </a:ext>
                </a:extLst>
              </p:cNvPr>
              <p:cNvSpPr txBox="1">
                <a:spLocks noRot="1" noChangeAspect="1" noMove="1" noResize="1" noEditPoints="1" noAdjustHandles="1" noChangeArrowheads="1" noChangeShapeType="1" noTextEdit="1"/>
              </p:cNvSpPr>
              <p:nvPr/>
            </p:nvSpPr>
            <p:spPr bwMode="auto">
              <a:xfrm>
                <a:off x="833934" y="1524874"/>
                <a:ext cx="3666058" cy="523220"/>
              </a:xfrm>
              <a:prstGeom prst="rect">
                <a:avLst/>
              </a:prstGeom>
              <a:blipFill>
                <a:blip r:embed="rId2"/>
                <a:stretch>
                  <a:fillRect l="-3494" t="-13953" b="-2907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2" name="Text Box 6">
            <a:extLst>
              <a:ext uri="{FF2B5EF4-FFF2-40B4-BE49-F238E27FC236}">
                <a16:creationId xmlns:a16="http://schemas.microsoft.com/office/drawing/2014/main" id="{C197C713-6CB7-4733-AD94-630B2F37E90B}"/>
              </a:ext>
            </a:extLst>
          </p:cNvPr>
          <p:cNvSpPr txBox="1">
            <a:spLocks noChangeArrowheads="1"/>
          </p:cNvSpPr>
          <p:nvPr/>
        </p:nvSpPr>
        <p:spPr bwMode="auto">
          <a:xfrm>
            <a:off x="845046" y="2226549"/>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dirty="0">
                <a:latin typeface="楷体_GB2312" panose="02010609030101010101" pitchFamily="49" charset="-122"/>
                <a:ea typeface="楷体_GB2312" panose="02010609030101010101" pitchFamily="49" charset="-122"/>
              </a:rPr>
              <a:t>则</a:t>
            </a:r>
          </a:p>
        </p:txBody>
      </p:sp>
      <mc:AlternateContent xmlns:mc="http://schemas.openxmlformats.org/markup-compatibility/2006" xmlns:a14="http://schemas.microsoft.com/office/drawing/2010/main">
        <mc:Choice Requires="a14">
          <p:sp>
            <p:nvSpPr>
              <p:cNvPr id="24" name="Text Box 7">
                <a:extLst>
                  <a:ext uri="{FF2B5EF4-FFF2-40B4-BE49-F238E27FC236}">
                    <a16:creationId xmlns:a16="http://schemas.microsoft.com/office/drawing/2014/main" id="{2B802348-994A-4540-A615-181BDCF7482D}"/>
                  </a:ext>
                </a:extLst>
              </p:cNvPr>
              <p:cNvSpPr txBox="1">
                <a:spLocks noChangeArrowheads="1"/>
              </p:cNvSpPr>
              <p:nvPr/>
            </p:nvSpPr>
            <p:spPr bwMode="auto">
              <a:xfrm>
                <a:off x="827584" y="5053266"/>
                <a:ext cx="7626350" cy="96802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gn="just" eaLnBrk="0" hangingPunct="0"/>
                <a:r>
                  <a:rPr lang="zh-CN" altLang="en-US" sz="2800" dirty="0">
                    <a:latin typeface="楷体_GB2312" panose="02010609030101010101" pitchFamily="49" charset="-122"/>
                    <a:ea typeface="楷体_GB2312" panose="02010609030101010101" pitchFamily="49" charset="-122"/>
                  </a:rPr>
                  <a:t>由于</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𝑋</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a14:m>
                <a:r>
                  <a:rPr lang="zh-CN" altLang="en-US" sz="2800" dirty="0">
                    <a:latin typeface="楷体_GB2312" panose="02010609030101010101" pitchFamily="49" charset="-122"/>
                    <a:ea typeface="楷体_GB2312" panose="02010609030101010101" pitchFamily="49" charset="-122"/>
                  </a:rPr>
                  <a:t>和</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𝑋</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a14:m>
                <a:r>
                  <a:rPr lang="zh-CN" altLang="en-US" sz="2800" dirty="0">
                    <a:latin typeface="楷体_GB2312" panose="02010609030101010101" pitchFamily="49" charset="-122"/>
                    <a:ea typeface="楷体_GB2312" panose="02010609030101010101" pitchFamily="49" charset="-122"/>
                  </a:rPr>
                  <a:t>都是以</a:t>
                </a:r>
                <a14:m>
                  <m:oMath xmlns:m="http://schemas.openxmlformats.org/officeDocument/2006/math">
                    <m:r>
                      <a:rPr lang="en-US" sz="2800" i="1">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𝜋</m:t>
                    </m:r>
                  </m:oMath>
                </a14:m>
                <a:r>
                  <a:rPr lang="zh-CN" altLang="en-US" sz="2800" dirty="0">
                    <a:latin typeface="楷体_GB2312" panose="02010609030101010101" pitchFamily="49" charset="-122"/>
                    <a:ea typeface="楷体_GB2312" panose="02010609030101010101" pitchFamily="49" charset="-122"/>
                  </a:rPr>
                  <a:t>为周期的，因此上述卷积称为</a:t>
                </a:r>
                <a:r>
                  <a:rPr lang="zh-CN" altLang="en-US" sz="2800" dirty="0">
                    <a:solidFill>
                      <a:srgbClr val="FF0000"/>
                    </a:solidFill>
                    <a:latin typeface="楷体_GB2312" panose="02010609030101010101" pitchFamily="49" charset="-122"/>
                    <a:ea typeface="楷体_GB2312" panose="02010609030101010101" pitchFamily="49" charset="-122"/>
                  </a:rPr>
                  <a:t>周期卷积</a:t>
                </a:r>
                <a:r>
                  <a:rPr lang="zh-CN" altLang="en-US" sz="2800" dirty="0">
                    <a:latin typeface="楷体_GB2312" panose="02010609030101010101" pitchFamily="49" charset="-122"/>
                    <a:ea typeface="楷体_GB2312" panose="02010609030101010101" pitchFamily="49" charset="-122"/>
                  </a:rPr>
                  <a:t>。</a:t>
                </a:r>
              </a:p>
            </p:txBody>
          </p:sp>
        </mc:Choice>
        <mc:Fallback xmlns="">
          <p:sp>
            <p:nvSpPr>
              <p:cNvPr id="24" name="Text Box 7">
                <a:extLst>
                  <a:ext uri="{FF2B5EF4-FFF2-40B4-BE49-F238E27FC236}">
                    <a16:creationId xmlns:a16="http://schemas.microsoft.com/office/drawing/2014/main" id="{2B802348-994A-4540-A615-181BDCF7482D}"/>
                  </a:ext>
                </a:extLst>
              </p:cNvPr>
              <p:cNvSpPr txBox="1">
                <a:spLocks noRot="1" noChangeAspect="1" noMove="1" noResize="1" noEditPoints="1" noAdjustHandles="1" noChangeArrowheads="1" noChangeShapeType="1" noTextEdit="1"/>
              </p:cNvSpPr>
              <p:nvPr/>
            </p:nvSpPr>
            <p:spPr bwMode="auto">
              <a:xfrm>
                <a:off x="827584" y="5053266"/>
                <a:ext cx="7626350" cy="968022"/>
              </a:xfrm>
              <a:prstGeom prst="rect">
                <a:avLst/>
              </a:prstGeom>
              <a:blipFill>
                <a:blip r:embed="rId3"/>
                <a:stretch>
                  <a:fillRect l="-1679" t="-7547" r="-1599" b="-1635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66E187E4-6A17-43DC-8465-8F7DF246D3A3}"/>
                  </a:ext>
                </a:extLst>
              </p:cNvPr>
              <p:cNvSpPr txBox="1"/>
              <p:nvPr/>
            </p:nvSpPr>
            <p:spPr>
              <a:xfrm>
                <a:off x="1386805" y="2739740"/>
                <a:ext cx="5904656" cy="10007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𝑌</m:t>
                      </m:r>
                      <m:r>
                        <a:rPr lang="en-US" sz="280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r>
                        <m:rPr>
                          <m:aln/>
                        </m:rPr>
                        <a:rPr lang="en-US" sz="2800" i="1" smtClean="0">
                          <a:solidFill>
                            <a:srgbClr val="000000"/>
                          </a:solidFill>
                          <a:latin typeface="Cambria Math" panose="02040503050406030204" pitchFamily="18" charset="0"/>
                        </a:rPr>
                        <m:t>=</m:t>
                      </m:r>
                      <m:f>
                        <m:fPr>
                          <m:ctrlPr>
                            <a:rPr lang="en-US" sz="2800" i="1" smtClean="0">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1</m:t>
                          </m:r>
                        </m:num>
                        <m:den>
                          <m:r>
                            <a:rPr lang="en-US" sz="2800" i="1">
                              <a:solidFill>
                                <a:srgbClr val="FF0000"/>
                              </a:solidFill>
                              <a:latin typeface="Cambria Math" panose="02040503050406030204" pitchFamily="18" charset="0"/>
                            </a:rPr>
                            <m:t>2</m:t>
                          </m:r>
                          <m:r>
                            <a:rPr lang="en-US" sz="2800" i="1">
                              <a:solidFill>
                                <a:srgbClr val="FF0000"/>
                              </a:solidFill>
                              <a:latin typeface="Cambria Math" panose="02040503050406030204" pitchFamily="18" charset="0"/>
                            </a:rPr>
                            <m:t>𝜋</m:t>
                          </m:r>
                        </m:den>
                      </m:f>
                      <m:nary>
                        <m:naryPr>
                          <m:supHide m:val="on"/>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2</m:t>
                          </m:r>
                          <m:r>
                            <a:rPr lang="en-US" sz="2800" i="1">
                              <a:solidFill>
                                <a:srgbClr val="FF0000"/>
                              </a:solidFill>
                              <a:latin typeface="Cambria Math" panose="02040503050406030204" pitchFamily="18" charset="0"/>
                            </a:rPr>
                            <m:t>𝜋</m:t>
                          </m:r>
                        </m:sub>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𝑋</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𝜃</m:t>
                              </m:r>
                            </m:sup>
                          </m:sSup>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𝑋</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𝜔</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𝜃</m:t>
                              </m:r>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d</m:t>
                          </m:r>
                          <m:r>
                            <a:rPr lang="en-US" sz="2800" i="1">
                              <a:solidFill>
                                <a:srgbClr val="FF0000"/>
                              </a:solidFill>
                              <a:latin typeface="Cambria Math" panose="02040503050406030204" pitchFamily="18" charset="0"/>
                            </a:rPr>
                            <m:t>𝜃</m:t>
                          </m:r>
                        </m:e>
                      </m:nary>
                    </m:oMath>
                  </m:oMathPara>
                </a14:m>
                <a:endParaRPr lang="en-US" sz="2800" dirty="0"/>
              </a:p>
            </p:txBody>
          </p:sp>
        </mc:Choice>
        <mc:Fallback xmlns="">
          <p:sp>
            <p:nvSpPr>
              <p:cNvPr id="32" name="文本框 31">
                <a:extLst>
                  <a:ext uri="{FF2B5EF4-FFF2-40B4-BE49-F238E27FC236}">
                    <a16:creationId xmlns:a16="http://schemas.microsoft.com/office/drawing/2014/main" id="{66E187E4-6A17-43DC-8465-8F7DF246D3A3}"/>
                  </a:ext>
                </a:extLst>
              </p:cNvPr>
              <p:cNvSpPr txBox="1">
                <a:spLocks noRot="1" noChangeAspect="1" noMove="1" noResize="1" noEditPoints="1" noAdjustHandles="1" noChangeArrowheads="1" noChangeShapeType="1" noTextEdit="1"/>
              </p:cNvSpPr>
              <p:nvPr/>
            </p:nvSpPr>
            <p:spPr>
              <a:xfrm>
                <a:off x="1386805" y="2739740"/>
                <a:ext cx="5904656" cy="10007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7E8D9FD9-39F2-47DD-9E12-5093669F6288}"/>
                  </a:ext>
                </a:extLst>
              </p:cNvPr>
              <p:cNvSpPr txBox="1"/>
              <p:nvPr/>
            </p:nvSpPr>
            <p:spPr>
              <a:xfrm>
                <a:off x="2483859" y="3884930"/>
                <a:ext cx="3905275"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aln/>
                        </m:rPr>
                        <a:rPr lang="en-US" sz="2800" i="1" smtClean="0">
                          <a:solidFill>
                            <a:srgbClr val="000000"/>
                          </a:solidFill>
                          <a:latin typeface="Cambria Math" panose="02040503050406030204" pitchFamily="18" charset="0"/>
                        </a:rPr>
                        <m:t>=</m:t>
                      </m:r>
                      <m:f>
                        <m:fPr>
                          <m:ctrlPr>
                            <a:rPr lang="en-US" sz="2800" i="1" smtClean="0">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1</m:t>
                          </m:r>
                        </m:num>
                        <m:den>
                          <m:r>
                            <a:rPr lang="en-US" sz="2800" i="1">
                              <a:solidFill>
                                <a:srgbClr val="FF0000"/>
                              </a:solidFill>
                              <a:latin typeface="Cambria Math" panose="02040503050406030204" pitchFamily="18" charset="0"/>
                            </a:rPr>
                            <m:t>2</m:t>
                          </m:r>
                          <m:r>
                            <a:rPr lang="en-US" sz="2800" i="1">
                              <a:solidFill>
                                <a:srgbClr val="FF0000"/>
                              </a:solidFill>
                              <a:latin typeface="Cambria Math" panose="02040503050406030204" pitchFamily="18" charset="0"/>
                            </a:rPr>
                            <m:t>𝜋</m:t>
                          </m:r>
                        </m:den>
                      </m:f>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𝑋</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𝜔</m:t>
                          </m:r>
                        </m:sup>
                      </m:sSup>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𝑋</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𝜔</m:t>
                          </m:r>
                        </m:sup>
                      </m:sSup>
                      <m:r>
                        <a:rPr lang="en-US" sz="2800" i="1">
                          <a:solidFill>
                            <a:srgbClr val="FF0000"/>
                          </a:solidFill>
                          <a:latin typeface="Cambria Math" panose="02040503050406030204" pitchFamily="18" charset="0"/>
                        </a:rPr>
                        <m:t>)</m:t>
                      </m:r>
                    </m:oMath>
                  </m:oMathPara>
                </a14:m>
                <a:endParaRPr lang="en-US" sz="2800" dirty="0"/>
              </a:p>
            </p:txBody>
          </p:sp>
        </mc:Choice>
        <mc:Fallback xmlns="">
          <p:sp>
            <p:nvSpPr>
              <p:cNvPr id="34" name="文本框 33">
                <a:extLst>
                  <a:ext uri="{FF2B5EF4-FFF2-40B4-BE49-F238E27FC236}">
                    <a16:creationId xmlns:a16="http://schemas.microsoft.com/office/drawing/2014/main" id="{7E8D9FD9-39F2-47DD-9E12-5093669F6288}"/>
                  </a:ext>
                </a:extLst>
              </p:cNvPr>
              <p:cNvSpPr txBox="1">
                <a:spLocks noRot="1" noChangeAspect="1" noMove="1" noResize="1" noEditPoints="1" noAdjustHandles="1" noChangeArrowheads="1" noChangeShapeType="1" noTextEdit="1"/>
              </p:cNvSpPr>
              <p:nvPr/>
            </p:nvSpPr>
            <p:spPr>
              <a:xfrm>
                <a:off x="2483859" y="3884930"/>
                <a:ext cx="3905275" cy="901785"/>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标题 1">
            <a:extLst>
              <a:ext uri="{FF2B5EF4-FFF2-40B4-BE49-F238E27FC236}">
                <a16:creationId xmlns:a16="http://schemas.microsoft.com/office/drawing/2014/main" id="{013C4403-D511-4ED9-A995-6674D13E5B9C}"/>
              </a:ext>
            </a:extLst>
          </p:cNvPr>
          <p:cNvSpPr>
            <a:spLocks noGrp="1"/>
          </p:cNvSpPr>
          <p:nvPr>
            <p:ph type="title"/>
          </p:nvPr>
        </p:nvSpPr>
        <p:spPr/>
        <p:txBody>
          <a:bodyPr/>
          <a:lstStyle/>
          <a:p>
            <a:r>
              <a:rPr lang="en-US" altLang="zh-CN" dirty="0"/>
              <a:t>5.5 </a:t>
            </a:r>
            <a:r>
              <a:rPr lang="zh-CN" altLang="en-US" dirty="0"/>
              <a:t>相乘性质</a:t>
            </a:r>
          </a:p>
        </p:txBody>
      </p:sp>
      <p:sp>
        <p:nvSpPr>
          <p:cNvPr id="4" name="灯片编号占位符 3">
            <a:extLst>
              <a:ext uri="{FF2B5EF4-FFF2-40B4-BE49-F238E27FC236}">
                <a16:creationId xmlns:a16="http://schemas.microsoft.com/office/drawing/2014/main" id="{7624C265-448A-4492-B15F-9E90977CBA3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346DE5D-C037-4FFB-8C47-E00433442E0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1" name="Group 16">
            <a:extLst>
              <a:ext uri="{FF2B5EF4-FFF2-40B4-BE49-F238E27FC236}">
                <a16:creationId xmlns:a16="http://schemas.microsoft.com/office/drawing/2014/main" id="{E369A6FB-67E4-4103-96E7-E2F1B9245072}"/>
              </a:ext>
            </a:extLst>
          </p:cNvPr>
          <p:cNvGrpSpPr>
            <a:grpSpLocks/>
          </p:cNvGrpSpPr>
          <p:nvPr/>
        </p:nvGrpSpPr>
        <p:grpSpPr bwMode="auto">
          <a:xfrm>
            <a:off x="2782027" y="1180405"/>
            <a:ext cx="4924427" cy="1277938"/>
            <a:chOff x="2404" y="750"/>
            <a:chExt cx="3102" cy="805"/>
          </a:xfrm>
        </p:grpSpPr>
        <mc:AlternateContent xmlns:mc="http://schemas.openxmlformats.org/markup-compatibility/2006" xmlns:a14="http://schemas.microsoft.com/office/drawing/2010/main">
          <mc:Choice Requires="a14">
            <p:sp>
              <p:nvSpPr>
                <p:cNvPr id="22" name="Object 3">
                  <a:extLst>
                    <a:ext uri="{FF2B5EF4-FFF2-40B4-BE49-F238E27FC236}">
                      <a16:creationId xmlns:a16="http://schemas.microsoft.com/office/drawing/2014/main" id="{03CB2CEF-A2E0-493F-B1BC-A210F73146A3}"/>
                    </a:ext>
                  </a:extLst>
                </p:cNvPr>
                <p:cNvSpPr txBox="1"/>
                <p:nvPr/>
              </p:nvSpPr>
              <p:spPr bwMode="auto">
                <a:xfrm>
                  <a:off x="3919" y="750"/>
                  <a:ext cx="1587" cy="29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𝑦</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𝑛</m:t>
                        </m:r>
                        <m:r>
                          <a:rPr lang="en-US" sz="2400" i="1" smtClean="0">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𝑥</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𝑛</m:t>
                        </m:r>
                        <m:r>
                          <a:rPr lang="en-US" sz="2400" i="1" smtClean="0">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𝑐</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𝑛</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22" name="Object 3">
                  <a:extLst>
                    <a:ext uri="{FF2B5EF4-FFF2-40B4-BE49-F238E27FC236}">
                      <a16:creationId xmlns:a16="http://schemas.microsoft.com/office/drawing/2014/main" id="{03CB2CEF-A2E0-493F-B1BC-A210F73146A3}"/>
                    </a:ext>
                  </a:extLst>
                </p:cNvPr>
                <p:cNvSpPr txBox="1">
                  <a:spLocks noRot="1" noChangeAspect="1" noMove="1" noResize="1" noEditPoints="1" noAdjustHandles="1" noChangeArrowheads="1" noChangeShapeType="1" noTextEdit="1"/>
                </p:cNvSpPr>
                <p:nvPr/>
              </p:nvSpPr>
              <p:spPr bwMode="auto">
                <a:xfrm>
                  <a:off x="3919" y="750"/>
                  <a:ext cx="1587" cy="291"/>
                </a:xfrm>
                <a:prstGeom prst="rect">
                  <a:avLst/>
                </a:prstGeom>
                <a:blipFill>
                  <a:blip r:embed="rId2"/>
                  <a:stretch>
                    <a:fillRect l="-726" r="-242"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4">
                  <a:extLst>
                    <a:ext uri="{FF2B5EF4-FFF2-40B4-BE49-F238E27FC236}">
                      <a16:creationId xmlns:a16="http://schemas.microsoft.com/office/drawing/2014/main" id="{2CA15D23-17AF-468A-9CBE-FF8FB2B336AA}"/>
                    </a:ext>
                  </a:extLst>
                </p:cNvPr>
                <p:cNvSpPr txBox="1"/>
                <p:nvPr/>
              </p:nvSpPr>
              <p:spPr bwMode="auto">
                <a:xfrm>
                  <a:off x="3249" y="752"/>
                  <a:ext cx="276" cy="31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23" name="Object 4">
                  <a:extLst>
                    <a:ext uri="{FF2B5EF4-FFF2-40B4-BE49-F238E27FC236}">
                      <a16:creationId xmlns:a16="http://schemas.microsoft.com/office/drawing/2014/main" id="{2CA15D23-17AF-468A-9CBE-FF8FB2B336AA}"/>
                    </a:ext>
                  </a:extLst>
                </p:cNvPr>
                <p:cNvSpPr txBox="1">
                  <a:spLocks noRot="1" noChangeAspect="1" noMove="1" noResize="1" noEditPoints="1" noAdjustHandles="1" noChangeArrowheads="1" noChangeShapeType="1" noTextEdit="1"/>
                </p:cNvSpPr>
                <p:nvPr/>
              </p:nvSpPr>
              <p:spPr bwMode="auto">
                <a:xfrm>
                  <a:off x="3249" y="752"/>
                  <a:ext cx="276" cy="312"/>
                </a:xfrm>
                <a:prstGeom prst="rect">
                  <a:avLst/>
                </a:prstGeom>
                <a:blipFill>
                  <a:blip r:embed="rId3"/>
                  <a:stretch>
                    <a:fillRect l="-8333" r="-20833" b="-4938"/>
                  </a:stretch>
                </a:blipFill>
                <a:ln>
                  <a:noFill/>
                </a:ln>
                <a:effectLst/>
              </p:spPr>
              <p:txBody>
                <a:bodyPr/>
                <a:lstStyle/>
                <a:p>
                  <a:r>
                    <a:rPr lang="en-US">
                      <a:noFill/>
                    </a:rPr>
                    <a:t> </a:t>
                  </a:r>
                </a:p>
              </p:txBody>
            </p:sp>
          </mc:Fallback>
        </mc:AlternateContent>
        <p:sp>
          <p:nvSpPr>
            <p:cNvPr id="24" name="Line 5">
              <a:extLst>
                <a:ext uri="{FF2B5EF4-FFF2-40B4-BE49-F238E27FC236}">
                  <a16:creationId xmlns:a16="http://schemas.microsoft.com/office/drawing/2014/main" id="{D8637E44-5A35-459A-BB7E-760B5648A5A4}"/>
                </a:ext>
              </a:extLst>
            </p:cNvPr>
            <p:cNvSpPr>
              <a:spLocks noChangeShapeType="1"/>
            </p:cNvSpPr>
            <p:nvPr/>
          </p:nvSpPr>
          <p:spPr bwMode="auto">
            <a:xfrm>
              <a:off x="3480" y="912"/>
              <a:ext cx="420" cy="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sz="2400">
                <a:solidFill>
                  <a:srgbClr val="0000FF"/>
                </a:solidFill>
              </a:endParaRPr>
            </a:p>
          </p:txBody>
        </p:sp>
        <mc:AlternateContent xmlns:mc="http://schemas.openxmlformats.org/markup-compatibility/2006" xmlns:a14="http://schemas.microsoft.com/office/drawing/2010/main">
          <mc:Choice Requires="a14">
            <p:sp>
              <p:nvSpPr>
                <p:cNvPr id="25" name="Object 6">
                  <a:extLst>
                    <a:ext uri="{FF2B5EF4-FFF2-40B4-BE49-F238E27FC236}">
                      <a16:creationId xmlns:a16="http://schemas.microsoft.com/office/drawing/2014/main" id="{02F0DF49-1867-44B2-B9F1-2653CE2EF070}"/>
                    </a:ext>
                  </a:extLst>
                </p:cNvPr>
                <p:cNvSpPr txBox="1"/>
                <p:nvPr/>
              </p:nvSpPr>
              <p:spPr bwMode="auto">
                <a:xfrm>
                  <a:off x="3407" y="1264"/>
                  <a:ext cx="1252" cy="29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𝑐</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𝑛</m:t>
                        </m:r>
                        <m:r>
                          <a:rPr lang="en-US" sz="2400" i="1" smtClean="0">
                            <a:solidFill>
                              <a:srgbClr val="0000FF"/>
                            </a:solidFill>
                            <a:latin typeface="Cambria Math" panose="02040503050406030204" pitchFamily="18" charset="0"/>
                          </a:rPr>
                          <m:t>]=(−1</m:t>
                        </m:r>
                        <m:sSup>
                          <m:sSupPr>
                            <m:ctrlPr>
                              <a:rPr lang="en-US" sz="2400" i="1">
                                <a:solidFill>
                                  <a:srgbClr val="0000FF"/>
                                </a:solidFill>
                                <a:latin typeface="Cambria Math" panose="02040503050406030204" pitchFamily="18" charset="0"/>
                              </a:rPr>
                            </m:ctrlPr>
                          </m:sSupPr>
                          <m:e>
                            <m:r>
                              <a:rPr lang="en-US" sz="2400" i="1">
                                <a:solidFill>
                                  <a:srgbClr val="0000FF"/>
                                </a:solidFill>
                                <a:latin typeface="Cambria Math" panose="02040503050406030204" pitchFamily="18" charset="0"/>
                              </a:rPr>
                              <m:t>)</m:t>
                            </m:r>
                          </m:e>
                          <m:sup>
                            <m:r>
                              <a:rPr lang="en-US" sz="2400" i="1">
                                <a:solidFill>
                                  <a:srgbClr val="0000FF"/>
                                </a:solidFill>
                                <a:latin typeface="Cambria Math" panose="02040503050406030204" pitchFamily="18" charset="0"/>
                              </a:rPr>
                              <m:t>𝑛</m:t>
                            </m:r>
                          </m:sup>
                        </m:sSup>
                      </m:oMath>
                    </m:oMathPara>
                  </a14:m>
                  <a:endParaRPr lang="en-US" sz="2400" dirty="0">
                    <a:solidFill>
                      <a:srgbClr val="0000FF"/>
                    </a:solidFill>
                  </a:endParaRPr>
                </a:p>
              </p:txBody>
            </p:sp>
          </mc:Choice>
          <mc:Fallback xmlns="">
            <p:sp>
              <p:nvSpPr>
                <p:cNvPr id="25" name="Object 6">
                  <a:extLst>
                    <a:ext uri="{FF2B5EF4-FFF2-40B4-BE49-F238E27FC236}">
                      <a16:creationId xmlns:a16="http://schemas.microsoft.com/office/drawing/2014/main" id="{02F0DF49-1867-44B2-B9F1-2653CE2EF070}"/>
                    </a:ext>
                  </a:extLst>
                </p:cNvPr>
                <p:cNvSpPr txBox="1">
                  <a:spLocks noRot="1" noChangeAspect="1" noMove="1" noResize="1" noEditPoints="1" noAdjustHandles="1" noChangeArrowheads="1" noChangeShapeType="1" noTextEdit="1"/>
                </p:cNvSpPr>
                <p:nvPr/>
              </p:nvSpPr>
              <p:spPr bwMode="auto">
                <a:xfrm>
                  <a:off x="3407" y="1264"/>
                  <a:ext cx="1252" cy="291"/>
                </a:xfrm>
                <a:prstGeom prst="rect">
                  <a:avLst/>
                </a:prstGeom>
                <a:blipFill>
                  <a:blip r:embed="rId4"/>
                  <a:stretch>
                    <a:fillRect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7">
                  <a:extLst>
                    <a:ext uri="{FF2B5EF4-FFF2-40B4-BE49-F238E27FC236}">
                      <a16:creationId xmlns:a16="http://schemas.microsoft.com/office/drawing/2014/main" id="{E93576CC-85E3-4015-9C42-ACA68773D711}"/>
                    </a:ext>
                  </a:extLst>
                </p:cNvPr>
                <p:cNvSpPr txBox="1"/>
                <p:nvPr/>
              </p:nvSpPr>
              <p:spPr bwMode="auto">
                <a:xfrm>
                  <a:off x="2404" y="750"/>
                  <a:ext cx="435" cy="29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𝑥</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𝑛</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26" name="Object 7">
                  <a:extLst>
                    <a:ext uri="{FF2B5EF4-FFF2-40B4-BE49-F238E27FC236}">
                      <a16:creationId xmlns:a16="http://schemas.microsoft.com/office/drawing/2014/main" id="{E93576CC-85E3-4015-9C42-ACA68773D711}"/>
                    </a:ext>
                  </a:extLst>
                </p:cNvPr>
                <p:cNvSpPr txBox="1">
                  <a:spLocks noRot="1" noChangeAspect="1" noMove="1" noResize="1" noEditPoints="1" noAdjustHandles="1" noChangeArrowheads="1" noChangeShapeType="1" noTextEdit="1"/>
                </p:cNvSpPr>
                <p:nvPr/>
              </p:nvSpPr>
              <p:spPr bwMode="auto">
                <a:xfrm>
                  <a:off x="2404" y="750"/>
                  <a:ext cx="435" cy="291"/>
                </a:xfrm>
                <a:prstGeom prst="rect">
                  <a:avLst/>
                </a:prstGeom>
                <a:blipFill>
                  <a:blip r:embed="rId5"/>
                  <a:stretch>
                    <a:fillRect r="-15789" b="-21333"/>
                  </a:stretch>
                </a:blipFill>
                <a:ln>
                  <a:noFill/>
                </a:ln>
                <a:effectLst/>
              </p:spPr>
              <p:txBody>
                <a:bodyPr/>
                <a:lstStyle/>
                <a:p>
                  <a:r>
                    <a:rPr lang="en-US">
                      <a:noFill/>
                    </a:rPr>
                    <a:t> </a:t>
                  </a:r>
                </a:p>
              </p:txBody>
            </p:sp>
          </mc:Fallback>
        </mc:AlternateContent>
        <p:sp>
          <p:nvSpPr>
            <p:cNvPr id="27" name="Line 8">
              <a:extLst>
                <a:ext uri="{FF2B5EF4-FFF2-40B4-BE49-F238E27FC236}">
                  <a16:creationId xmlns:a16="http://schemas.microsoft.com/office/drawing/2014/main" id="{7355280E-17BA-48EA-87A4-1F603D69D111}"/>
                </a:ext>
              </a:extLst>
            </p:cNvPr>
            <p:cNvSpPr>
              <a:spLocks noChangeShapeType="1"/>
            </p:cNvSpPr>
            <p:nvPr/>
          </p:nvSpPr>
          <p:spPr bwMode="auto">
            <a:xfrm>
              <a:off x="2887" y="913"/>
              <a:ext cx="437" cy="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sz="2400">
                <a:solidFill>
                  <a:srgbClr val="0000FF"/>
                </a:solidFill>
              </a:endParaRPr>
            </a:p>
          </p:txBody>
        </p:sp>
        <p:sp>
          <p:nvSpPr>
            <p:cNvPr id="28" name="Line 9">
              <a:extLst>
                <a:ext uri="{FF2B5EF4-FFF2-40B4-BE49-F238E27FC236}">
                  <a16:creationId xmlns:a16="http://schemas.microsoft.com/office/drawing/2014/main" id="{18BF45E6-3DFD-4E42-907F-007453D34119}"/>
                </a:ext>
              </a:extLst>
            </p:cNvPr>
            <p:cNvSpPr>
              <a:spLocks noChangeShapeType="1"/>
            </p:cNvSpPr>
            <p:nvPr/>
          </p:nvSpPr>
          <p:spPr bwMode="auto">
            <a:xfrm flipV="1">
              <a:off x="3402" y="984"/>
              <a:ext cx="0" cy="47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sz="2400">
                <a:solidFill>
                  <a:srgbClr val="0000FF"/>
                </a:solidFill>
              </a:endParaRPr>
            </a:p>
          </p:txBody>
        </p:sp>
      </p:grpSp>
      <mc:AlternateContent xmlns:mc="http://schemas.openxmlformats.org/markup-compatibility/2006" xmlns:a14="http://schemas.microsoft.com/office/drawing/2010/main">
        <mc:Choice Requires="a14">
          <p:sp>
            <p:nvSpPr>
              <p:cNvPr id="30" name="Object 11">
                <a:extLst>
                  <a:ext uri="{FF2B5EF4-FFF2-40B4-BE49-F238E27FC236}">
                    <a16:creationId xmlns:a16="http://schemas.microsoft.com/office/drawing/2014/main" id="{72F26B8D-BE45-439A-92C3-853806F27A08}"/>
                  </a:ext>
                </a:extLst>
              </p:cNvPr>
              <p:cNvSpPr txBox="1"/>
              <p:nvPr/>
            </p:nvSpPr>
            <p:spPr bwMode="auto">
              <a:xfrm>
                <a:off x="1029534" y="3367989"/>
                <a:ext cx="4262541" cy="69608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𝐶</m:t>
                      </m:r>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𝜔</m:t>
                          </m:r>
                        </m:sup>
                      </m:sSup>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nary>
                        <m:naryPr>
                          <m:chr m:val="∑"/>
                          <m:limLoc m:val="subSup"/>
                          <m:ctrlPr>
                            <a:rPr lang="en-US" sz="2000" i="1" smtClean="0">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sub>
                        <m:sup>
                          <m:r>
                            <a:rPr lang="en-US" sz="2000" i="1">
                              <a:solidFill>
                                <a:srgbClr val="000000"/>
                              </a:solidFill>
                              <a:latin typeface="Cambria Math" panose="02040503050406030204" pitchFamily="18" charset="0"/>
                            </a:rPr>
                            <m:t>∞</m:t>
                          </m:r>
                        </m:sup>
                        <m:e>
                          <m:r>
                            <a:rPr lang="en-US" sz="2000" i="1">
                              <a:solidFill>
                                <a:srgbClr val="000000"/>
                              </a:solidFill>
                              <a:latin typeface="Cambria Math" panose="02040503050406030204" pitchFamily="18" charset="0"/>
                            </a:rPr>
                            <m:t>𝛿</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𝜔</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m:t>
                          </m:r>
                        </m:e>
                      </m:nary>
                    </m:oMath>
                  </m:oMathPara>
                </a14:m>
                <a:endParaRPr lang="en-US" sz="2000" dirty="0"/>
              </a:p>
            </p:txBody>
          </p:sp>
        </mc:Choice>
        <mc:Fallback xmlns="">
          <p:sp>
            <p:nvSpPr>
              <p:cNvPr id="30" name="Object 11">
                <a:extLst>
                  <a:ext uri="{FF2B5EF4-FFF2-40B4-BE49-F238E27FC236}">
                    <a16:creationId xmlns:a16="http://schemas.microsoft.com/office/drawing/2014/main" id="{72F26B8D-BE45-439A-92C3-853806F27A08}"/>
                  </a:ext>
                </a:extLst>
              </p:cNvPr>
              <p:cNvSpPr txBox="1">
                <a:spLocks noRot="1" noChangeAspect="1" noMove="1" noResize="1" noEditPoints="1" noAdjustHandles="1" noChangeArrowheads="1" noChangeShapeType="1" noTextEdit="1"/>
              </p:cNvSpPr>
              <p:nvPr/>
            </p:nvSpPr>
            <p:spPr bwMode="auto">
              <a:xfrm>
                <a:off x="1029534" y="3367989"/>
                <a:ext cx="4262541" cy="696088"/>
              </a:xfrm>
              <a:prstGeom prst="rect">
                <a:avLst/>
              </a:prstGeom>
              <a:blipFill>
                <a:blip r:embed="rId6"/>
                <a:stretch>
                  <a:fillRect/>
                </a:stretch>
              </a:blipFill>
              <a:ln>
                <a:noFill/>
              </a:ln>
              <a:effectLst/>
            </p:spPr>
            <p:txBody>
              <a:bodyPr/>
              <a:lstStyle/>
              <a:p>
                <a:r>
                  <a:rPr lang="en-US">
                    <a:noFill/>
                  </a:rPr>
                  <a:t> </a:t>
                </a:r>
              </a:p>
            </p:txBody>
          </p:sp>
        </mc:Fallback>
      </mc:AlternateContent>
      <p:sp>
        <p:nvSpPr>
          <p:cNvPr id="32" name="Text Box 13">
            <a:extLst>
              <a:ext uri="{FF2B5EF4-FFF2-40B4-BE49-F238E27FC236}">
                <a16:creationId xmlns:a16="http://schemas.microsoft.com/office/drawing/2014/main" id="{32ECA7A8-2695-4D5E-B27D-BC7D7490054A}"/>
              </a:ext>
            </a:extLst>
          </p:cNvPr>
          <p:cNvSpPr txBox="1">
            <a:spLocks noChangeArrowheads="1"/>
          </p:cNvSpPr>
          <p:nvPr/>
        </p:nvSpPr>
        <p:spPr bwMode="auto">
          <a:xfrm>
            <a:off x="488197" y="1200397"/>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dirty="0">
                <a:solidFill>
                  <a:srgbClr val="0000FF"/>
                </a:solidFill>
                <a:latin typeface="楷体_GB2312" panose="02010609030101010101" pitchFamily="49" charset="-122"/>
                <a:ea typeface="楷体_GB2312" panose="02010609030101010101" pitchFamily="49" charset="-122"/>
              </a:rPr>
              <a:t>例</a:t>
            </a:r>
            <a:r>
              <a:rPr lang="en-US" altLang="zh-CN" sz="2400" dirty="0">
                <a:latin typeface="楷体_GB2312" panose="02010609030101010101" pitchFamily="49" charset="-122"/>
                <a:ea typeface="楷体_GB2312" panose="02010609030101010101" pitchFamily="49" charset="-122"/>
              </a:rPr>
              <a:t>:</a:t>
            </a:r>
          </a:p>
        </p:txBody>
      </p:sp>
      <mc:AlternateContent xmlns:mc="http://schemas.openxmlformats.org/markup-compatibility/2006" xmlns:a14="http://schemas.microsoft.com/office/drawing/2010/main">
        <mc:Choice Requires="a14">
          <p:sp>
            <p:nvSpPr>
              <p:cNvPr id="33" name="Object 17">
                <a:extLst>
                  <a:ext uri="{FF2B5EF4-FFF2-40B4-BE49-F238E27FC236}">
                    <a16:creationId xmlns:a16="http://schemas.microsoft.com/office/drawing/2014/main" id="{790DC08C-5E48-4B1D-BEE6-999F7EEC2942}"/>
                  </a:ext>
                </a:extLst>
              </p:cNvPr>
              <p:cNvSpPr txBox="1"/>
              <p:nvPr/>
            </p:nvSpPr>
            <p:spPr bwMode="auto">
              <a:xfrm>
                <a:off x="1029534" y="2889245"/>
                <a:ext cx="2443056" cy="41049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𝑐</m:t>
                      </m:r>
                      <m:r>
                        <a:rPr lang="en-US" sz="200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𝑛</m:t>
                      </m:r>
                      <m:r>
                        <a:rPr lang="en-US" sz="2000" i="1" smtClean="0">
                          <a:solidFill>
                            <a:srgbClr val="000000"/>
                          </a:solidFill>
                          <a:latin typeface="Cambria Math" panose="02040503050406030204" pitchFamily="18" charset="0"/>
                        </a:rPr>
                        <m:t>]=(−1</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𝑛</m:t>
                          </m:r>
                        </m:sup>
                      </m:sSup>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𝑛</m:t>
                          </m:r>
                        </m:sup>
                      </m:sSup>
                    </m:oMath>
                  </m:oMathPara>
                </a14:m>
                <a:endParaRPr lang="en-US" sz="2000" dirty="0"/>
              </a:p>
            </p:txBody>
          </p:sp>
        </mc:Choice>
        <mc:Fallback xmlns="">
          <p:sp>
            <p:nvSpPr>
              <p:cNvPr id="33" name="Object 17">
                <a:extLst>
                  <a:ext uri="{FF2B5EF4-FFF2-40B4-BE49-F238E27FC236}">
                    <a16:creationId xmlns:a16="http://schemas.microsoft.com/office/drawing/2014/main" id="{790DC08C-5E48-4B1D-BEE6-999F7EEC2942}"/>
                  </a:ext>
                </a:extLst>
              </p:cNvPr>
              <p:cNvSpPr txBox="1">
                <a:spLocks noRot="1" noChangeAspect="1" noMove="1" noResize="1" noEditPoints="1" noAdjustHandles="1" noChangeArrowheads="1" noChangeShapeType="1" noTextEdit="1"/>
              </p:cNvSpPr>
              <p:nvPr/>
            </p:nvSpPr>
            <p:spPr bwMode="auto">
              <a:xfrm>
                <a:off x="1029534" y="2889245"/>
                <a:ext cx="2443056" cy="410497"/>
              </a:xfrm>
              <a:prstGeom prst="rect">
                <a:avLst/>
              </a:prstGeom>
              <a:blipFill>
                <a:blip r:embed="rId7"/>
                <a:stretch>
                  <a:fillRect b="-1641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bject 18">
                <a:extLst>
                  <a:ext uri="{FF2B5EF4-FFF2-40B4-BE49-F238E27FC236}">
                    <a16:creationId xmlns:a16="http://schemas.microsoft.com/office/drawing/2014/main" id="{4B825D1B-2672-4B3B-A3BA-1012C9EA95E3}"/>
                  </a:ext>
                </a:extLst>
              </p:cNvPr>
              <p:cNvSpPr txBox="1"/>
              <p:nvPr/>
            </p:nvSpPr>
            <p:spPr bwMode="auto">
              <a:xfrm>
                <a:off x="1029534" y="4132324"/>
                <a:ext cx="6566802" cy="7411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𝑌</m:t>
                      </m:r>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a:solidFill>
                                <a:srgbClr val="000000"/>
                              </a:solidFill>
                              <a:latin typeface="Cambria Math" panose="02040503050406030204" pitchFamily="18" charset="0"/>
                            </a:rPr>
                            <m:t>e</m:t>
                          </m:r>
                        </m:e>
                        <m:sup>
                          <m:r>
                            <m:rPr>
                              <m:sty m:val="p"/>
                            </m:rPr>
                            <a:rPr lang="en-US" sz="200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𝜔</m:t>
                          </m:r>
                        </m:sup>
                      </m:sSup>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den>
                      </m:f>
                      <m:r>
                        <a:rPr lang="en-US" sz="2000" i="1">
                          <a:solidFill>
                            <a:srgbClr val="000000"/>
                          </a:solidFill>
                          <a:latin typeface="Cambria Math" panose="02040503050406030204" pitchFamily="18" charset="0"/>
                        </a:rPr>
                        <m:t>𝑋</m:t>
                      </m:r>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𝜔</m:t>
                          </m:r>
                        </m:sup>
                      </m:sSup>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𝐶</m:t>
                      </m:r>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a:solidFill>
                                <a:srgbClr val="000000"/>
                              </a:solidFill>
                              <a:latin typeface="Cambria Math" panose="02040503050406030204" pitchFamily="18" charset="0"/>
                            </a:rPr>
                            <m:t>e</m:t>
                          </m:r>
                        </m:e>
                        <m:sup>
                          <m:r>
                            <m:rPr>
                              <m:sty m:val="p"/>
                            </m:rPr>
                            <a:rPr lang="en-US" sz="200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𝜔</m:t>
                          </m:r>
                        </m:sup>
                      </m:sSup>
                      <m:r>
                        <a:rPr lang="en-US" sz="2000" i="1">
                          <a:solidFill>
                            <a:srgbClr val="000000"/>
                          </a:solidFill>
                          <a:latin typeface="Cambria Math" panose="02040503050406030204" pitchFamily="18" charset="0"/>
                        </a:rPr>
                        <m:t>)</m:t>
                      </m:r>
                      <m:r>
                        <m:rPr>
                          <m:aln/>
                        </m:rP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den>
                      </m:f>
                      <m:nary>
                        <m:naryPr>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sub>
                        <m:sup/>
                        <m:e>
                          <m:r>
                            <a:rPr lang="en-US" sz="2000" i="1">
                              <a:solidFill>
                                <a:srgbClr val="000000"/>
                              </a:solidFill>
                              <a:latin typeface="Cambria Math" panose="02040503050406030204" pitchFamily="18" charset="0"/>
                            </a:rPr>
                            <m:t>𝑋</m:t>
                          </m:r>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a:solidFill>
                                    <a:srgbClr val="000000"/>
                                  </a:solidFill>
                                  <a:latin typeface="Cambria Math" panose="02040503050406030204" pitchFamily="18" charset="0"/>
                                </a:rPr>
                                <m:t>e</m:t>
                              </m:r>
                            </m:e>
                            <m:sup>
                              <m:r>
                                <m:rPr>
                                  <m:sty m:val="p"/>
                                </m:rPr>
                                <a:rPr lang="en-US" sz="200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𝜃</m:t>
                              </m:r>
                            </m:sup>
                          </m:sSup>
                          <m:r>
                            <a:rPr lang="en-US" sz="2000" i="1">
                              <a:solidFill>
                                <a:srgbClr val="000000"/>
                              </a:solidFill>
                              <a:latin typeface="Cambria Math" panose="02040503050406030204" pitchFamily="18" charset="0"/>
                            </a:rPr>
                            <m:t>)</m:t>
                          </m:r>
                        </m:e>
                      </m:nary>
                      <m:r>
                        <a:rPr lang="en-US" sz="2000" i="1">
                          <a:solidFill>
                            <a:srgbClr val="000000"/>
                          </a:solidFill>
                          <a:latin typeface="Cambria Math" panose="02040503050406030204" pitchFamily="18" charset="0"/>
                        </a:rPr>
                        <m:t>𝐶</m:t>
                      </m:r>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a:solidFill>
                                <a:srgbClr val="000000"/>
                              </a:solidFill>
                              <a:latin typeface="Cambria Math" panose="02040503050406030204" pitchFamily="18" charset="0"/>
                            </a:rPr>
                            <m:t>e</m:t>
                          </m:r>
                        </m:e>
                        <m:sup>
                          <m:r>
                            <m:rPr>
                              <m:sty m:val="p"/>
                            </m:rPr>
                            <a:rPr lang="en-US" sz="200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𝜔</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𝜃</m:t>
                          </m:r>
                          <m:r>
                            <a:rPr lang="en-US" sz="2000" i="1">
                              <a:solidFill>
                                <a:srgbClr val="000000"/>
                              </a:solidFill>
                              <a:latin typeface="Cambria Math" panose="02040503050406030204" pitchFamily="18" charset="0"/>
                            </a:rPr>
                            <m:t>)</m:t>
                          </m:r>
                        </m:sup>
                      </m:sSup>
                      <m:r>
                        <a:rPr lang="en-US" sz="2000" i="1">
                          <a:solidFill>
                            <a:srgbClr val="000000"/>
                          </a:solidFill>
                          <a:latin typeface="Cambria Math" panose="02040503050406030204" pitchFamily="18" charset="0"/>
                        </a:rPr>
                        <m:t>)</m:t>
                      </m:r>
                      <m:r>
                        <m:rPr>
                          <m:sty m:val="p"/>
                        </m:rPr>
                        <a:rPr lang="en-US" sz="2000" i="0">
                          <a:solidFill>
                            <a:srgbClr val="000000"/>
                          </a:solidFill>
                          <a:latin typeface="Cambria Math" panose="02040503050406030204" pitchFamily="18" charset="0"/>
                        </a:rPr>
                        <m:t>d</m:t>
                      </m:r>
                      <m:r>
                        <a:rPr lang="en-US" sz="2000" i="1">
                          <a:solidFill>
                            <a:srgbClr val="000000"/>
                          </a:solidFill>
                          <a:latin typeface="Cambria Math" panose="02040503050406030204" pitchFamily="18" charset="0"/>
                        </a:rPr>
                        <m:t>𝜃</m:t>
                      </m:r>
                    </m:oMath>
                  </m:oMathPara>
                </a14:m>
                <a:endParaRPr lang="en-US" sz="2000" dirty="0"/>
              </a:p>
            </p:txBody>
          </p:sp>
        </mc:Choice>
        <mc:Fallback xmlns="">
          <p:sp>
            <p:nvSpPr>
              <p:cNvPr id="34" name="Object 18">
                <a:extLst>
                  <a:ext uri="{FF2B5EF4-FFF2-40B4-BE49-F238E27FC236}">
                    <a16:creationId xmlns:a16="http://schemas.microsoft.com/office/drawing/2014/main" id="{4B825D1B-2672-4B3B-A3BA-1012C9EA95E3}"/>
                  </a:ext>
                </a:extLst>
              </p:cNvPr>
              <p:cNvSpPr txBox="1">
                <a:spLocks noRot="1" noChangeAspect="1" noMove="1" noResize="1" noEditPoints="1" noAdjustHandles="1" noChangeArrowheads="1" noChangeShapeType="1" noTextEdit="1"/>
              </p:cNvSpPr>
              <p:nvPr/>
            </p:nvSpPr>
            <p:spPr bwMode="auto">
              <a:xfrm>
                <a:off x="1029534" y="4132324"/>
                <a:ext cx="6566802" cy="741165"/>
              </a:xfrm>
              <a:prstGeom prst="rect">
                <a:avLst/>
              </a:prstGeom>
              <a:blipFill>
                <a:blip r:embed="rId8"/>
                <a:stretch>
                  <a:fillRect/>
                </a:stretch>
              </a:blipFill>
              <a:ln>
                <a:noFill/>
              </a:ln>
              <a:effectLst/>
            </p:spPr>
            <p:txBody>
              <a:bodyPr/>
              <a:lstStyle/>
              <a:p>
                <a:r>
                  <a:rPr lang="en-US">
                    <a:noFill/>
                  </a:rPr>
                  <a:t> </a:t>
                </a:r>
              </a:p>
            </p:txBody>
          </p:sp>
        </mc:Fallback>
      </mc:AlternateContent>
      <p:sp>
        <p:nvSpPr>
          <p:cNvPr id="51" name="Text Box 13">
            <a:extLst>
              <a:ext uri="{FF2B5EF4-FFF2-40B4-BE49-F238E27FC236}">
                <a16:creationId xmlns:a16="http://schemas.microsoft.com/office/drawing/2014/main" id="{2D1E6F01-C4A4-4035-89EF-6193AD8BD774}"/>
              </a:ext>
            </a:extLst>
          </p:cNvPr>
          <p:cNvSpPr txBox="1">
            <a:spLocks noChangeArrowheads="1"/>
          </p:cNvSpPr>
          <p:nvPr/>
        </p:nvSpPr>
        <p:spPr bwMode="auto">
          <a:xfrm>
            <a:off x="488197" y="2420888"/>
            <a:ext cx="8258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dirty="0">
                <a:solidFill>
                  <a:srgbClr val="0000FF"/>
                </a:solidFill>
                <a:latin typeface="楷体_GB2312" panose="02010609030101010101" pitchFamily="49" charset="-122"/>
                <a:ea typeface="楷体_GB2312" panose="02010609030101010101" pitchFamily="49" charset="-122"/>
              </a:rPr>
              <a:t>分析</a:t>
            </a:r>
            <a:r>
              <a:rPr lang="en-US" altLang="zh-CN" sz="2000" dirty="0">
                <a:latin typeface="楷体_GB2312" panose="02010609030101010101" pitchFamily="49" charset="-122"/>
                <a:ea typeface="楷体_GB2312" panose="02010609030101010101" pitchFamily="49" charset="-122"/>
              </a:rPr>
              <a:t>:</a:t>
            </a:r>
          </a:p>
        </p:txBody>
      </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53437BA4-60B5-4106-B5FD-9E25347754EA}"/>
                  </a:ext>
                </a:extLst>
              </p:cNvPr>
              <p:cNvSpPr txBox="1"/>
              <p:nvPr/>
            </p:nvSpPr>
            <p:spPr>
              <a:xfrm>
                <a:off x="1786256" y="4941736"/>
                <a:ext cx="5017992" cy="7232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aln/>
                        </m:r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ary>
                        <m:naryPr>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sub>
                        <m:sup/>
                        <m:e>
                          <m:r>
                            <a:rPr lang="en-US" sz="2000" i="1">
                              <a:solidFill>
                                <a:srgbClr val="000000"/>
                              </a:solidFill>
                              <a:latin typeface="Cambria Math" panose="02040503050406030204" pitchFamily="18" charset="0"/>
                            </a:rPr>
                            <m:t>𝑋</m:t>
                          </m:r>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a:solidFill>
                                    <a:srgbClr val="000000"/>
                                  </a:solidFill>
                                  <a:latin typeface="Cambria Math" panose="02040503050406030204" pitchFamily="18" charset="0"/>
                                </a:rPr>
                                <m:t>e</m:t>
                              </m:r>
                            </m:e>
                            <m:sup>
                              <m:r>
                                <m:rPr>
                                  <m:sty m:val="p"/>
                                </m:rPr>
                                <a:rPr lang="en-US" sz="200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𝜃</m:t>
                              </m:r>
                            </m:sup>
                          </m:sSup>
                          <m:r>
                            <a:rPr lang="en-US" sz="2000" i="1">
                              <a:solidFill>
                                <a:srgbClr val="000000"/>
                              </a:solidFill>
                              <a:latin typeface="Cambria Math" panose="02040503050406030204" pitchFamily="18" charset="0"/>
                            </a:rPr>
                            <m:t>)</m:t>
                          </m:r>
                        </m:e>
                      </m:nary>
                      <m:nary>
                        <m:naryPr>
                          <m:chr m:val="∑"/>
                          <m:limLoc m:val="subSup"/>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sub>
                        <m:sup>
                          <m:r>
                            <a:rPr lang="en-US" sz="2000" i="1">
                              <a:solidFill>
                                <a:srgbClr val="000000"/>
                              </a:solidFill>
                              <a:latin typeface="Cambria Math" panose="02040503050406030204" pitchFamily="18" charset="0"/>
                            </a:rPr>
                            <m:t>∞</m:t>
                          </m:r>
                        </m:sup>
                        <m:e>
                          <m:r>
                            <a:rPr lang="en-US" sz="2000" i="1">
                              <a:solidFill>
                                <a:srgbClr val="000000"/>
                              </a:solidFill>
                              <a:latin typeface="Cambria Math" panose="02040503050406030204" pitchFamily="18" charset="0"/>
                            </a:rPr>
                            <m:t>𝛿</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𝜔</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m:t>
                          </m:r>
                        </m:e>
                      </m:nary>
                      <m:r>
                        <m:rPr>
                          <m:sty m:val="p"/>
                        </m:rPr>
                        <a:rPr lang="en-US" sz="2000" i="0">
                          <a:solidFill>
                            <a:srgbClr val="000000"/>
                          </a:solidFill>
                          <a:latin typeface="Cambria Math" panose="02040503050406030204" pitchFamily="18" charset="0"/>
                        </a:rPr>
                        <m:t>d</m:t>
                      </m:r>
                      <m:r>
                        <a:rPr lang="en-US" sz="2000" i="1">
                          <a:solidFill>
                            <a:srgbClr val="000000"/>
                          </a:solidFill>
                          <a:latin typeface="Cambria Math" panose="02040503050406030204" pitchFamily="18" charset="0"/>
                        </a:rPr>
                        <m:t>𝜃</m:t>
                      </m:r>
                    </m:oMath>
                  </m:oMathPara>
                </a14:m>
                <a:endParaRPr lang="en-US" sz="1600" dirty="0"/>
              </a:p>
            </p:txBody>
          </p:sp>
        </mc:Choice>
        <mc:Fallback xmlns="">
          <p:sp>
            <p:nvSpPr>
              <p:cNvPr id="55" name="文本框 54">
                <a:extLst>
                  <a:ext uri="{FF2B5EF4-FFF2-40B4-BE49-F238E27FC236}">
                    <a16:creationId xmlns:a16="http://schemas.microsoft.com/office/drawing/2014/main" id="{53437BA4-60B5-4106-B5FD-9E25347754EA}"/>
                  </a:ext>
                </a:extLst>
              </p:cNvPr>
              <p:cNvSpPr txBox="1">
                <a:spLocks noRot="1" noChangeAspect="1" noMove="1" noResize="1" noEditPoints="1" noAdjustHandles="1" noChangeArrowheads="1" noChangeShapeType="1" noTextEdit="1"/>
              </p:cNvSpPr>
              <p:nvPr/>
            </p:nvSpPr>
            <p:spPr>
              <a:xfrm>
                <a:off x="1786256" y="4941736"/>
                <a:ext cx="5017992" cy="72327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97D0030-4C21-402D-9F22-8B4480CC814D}"/>
                  </a:ext>
                </a:extLst>
              </p:cNvPr>
              <p:cNvSpPr txBox="1"/>
              <p:nvPr/>
            </p:nvSpPr>
            <p:spPr>
              <a:xfrm>
                <a:off x="1786256" y="5733256"/>
                <a:ext cx="5112568" cy="759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aln/>
                        </m:r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ary>
                        <m:nary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𝜋</m:t>
                          </m:r>
                        </m:sub>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sup>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𝜃</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𝛿</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𝜃</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𝜋</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e>
                      </m:nary>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𝜃</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𝜋</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lang="en-US" sz="1600" dirty="0"/>
              </a:p>
            </p:txBody>
          </p:sp>
        </mc:Choice>
        <mc:Fallback xmlns="">
          <p:sp>
            <p:nvSpPr>
              <p:cNvPr id="18" name="文本框 17">
                <a:extLst>
                  <a:ext uri="{FF2B5EF4-FFF2-40B4-BE49-F238E27FC236}">
                    <a16:creationId xmlns:a16="http://schemas.microsoft.com/office/drawing/2014/main" id="{497D0030-4C21-402D-9F22-8B4480CC814D}"/>
                  </a:ext>
                </a:extLst>
              </p:cNvPr>
              <p:cNvSpPr txBox="1">
                <a:spLocks noRot="1" noChangeAspect="1" noMove="1" noResize="1" noEditPoints="1" noAdjustHandles="1" noChangeArrowheads="1" noChangeShapeType="1" noTextEdit="1"/>
              </p:cNvSpPr>
              <p:nvPr/>
            </p:nvSpPr>
            <p:spPr>
              <a:xfrm>
                <a:off x="1786256" y="5733256"/>
                <a:ext cx="5112568" cy="759054"/>
              </a:xfrm>
              <a:prstGeom prst="rect">
                <a:avLst/>
              </a:prstGeom>
              <a:blipFill>
                <a:blip r:embed="rId10"/>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down)">
                                      <p:cBhvr>
                                        <p:cTn id="7" dur="500"/>
                                        <p:tgtEl>
                                          <p:spTgt spid="5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wipe(down)">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down)">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down)">
                                      <p:cBhvr>
                                        <p:cTn id="20" dur="500"/>
                                        <p:tgtEl>
                                          <p:spTgt spid="3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wipe(down)">
                                      <p:cBhvr>
                                        <p:cTn id="25" dur="500"/>
                                        <p:tgtEl>
                                          <p:spTgt spid="5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down)">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3" grpId="0"/>
      <p:bldP spid="34" grpId="0"/>
      <p:bldP spid="51" grpId="0"/>
      <p:bldP spid="55" grpId="0"/>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 name="标题 1">
            <a:extLst>
              <a:ext uri="{FF2B5EF4-FFF2-40B4-BE49-F238E27FC236}">
                <a16:creationId xmlns:a16="http://schemas.microsoft.com/office/drawing/2014/main" id="{19B3F2CB-F9F4-438D-BD6B-8223B3D0805D}"/>
              </a:ext>
            </a:extLst>
          </p:cNvPr>
          <p:cNvSpPr>
            <a:spLocks noGrp="1"/>
          </p:cNvSpPr>
          <p:nvPr>
            <p:ph type="title"/>
          </p:nvPr>
        </p:nvSpPr>
        <p:spPr/>
        <p:txBody>
          <a:bodyPr/>
          <a:lstStyle/>
          <a:p>
            <a:r>
              <a:rPr lang="en-US" altLang="zh-CN" dirty="0"/>
              <a:t>5.5 </a:t>
            </a:r>
            <a:r>
              <a:rPr lang="zh-CN" altLang="en-US" dirty="0"/>
              <a:t>相乘性质</a:t>
            </a:r>
          </a:p>
        </p:txBody>
      </p:sp>
      <p:sp>
        <p:nvSpPr>
          <p:cNvPr id="4" name="灯片编号占位符 3">
            <a:extLst>
              <a:ext uri="{FF2B5EF4-FFF2-40B4-BE49-F238E27FC236}">
                <a16:creationId xmlns:a16="http://schemas.microsoft.com/office/drawing/2014/main" id="{2D1749F4-0968-45DA-9D36-60F9039F46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2D0D8F-A3E1-4249-B84D-2B8D31B9C06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40" name="Group 82">
            <a:extLst>
              <a:ext uri="{FF2B5EF4-FFF2-40B4-BE49-F238E27FC236}">
                <a16:creationId xmlns:a16="http://schemas.microsoft.com/office/drawing/2014/main" id="{C75713FB-9977-4458-B7E1-B8326C4C31D8}"/>
              </a:ext>
            </a:extLst>
          </p:cNvPr>
          <p:cNvGrpSpPr>
            <a:grpSpLocks/>
          </p:cNvGrpSpPr>
          <p:nvPr/>
        </p:nvGrpSpPr>
        <p:grpSpPr bwMode="auto">
          <a:xfrm>
            <a:off x="5141193" y="1438374"/>
            <a:ext cx="3463925" cy="1976437"/>
            <a:chOff x="3487" y="749"/>
            <a:chExt cx="2114" cy="1168"/>
          </a:xfrm>
        </p:grpSpPr>
        <p:graphicFrame>
          <p:nvGraphicFramePr>
            <p:cNvPr id="41" name="Object 50">
              <a:extLst>
                <a:ext uri="{FF2B5EF4-FFF2-40B4-BE49-F238E27FC236}">
                  <a16:creationId xmlns:a16="http://schemas.microsoft.com/office/drawing/2014/main" id="{A099ED9A-0E0F-4E73-8965-7F4943011155}"/>
                </a:ext>
              </a:extLst>
            </p:cNvPr>
            <p:cNvGraphicFramePr>
              <a:graphicFrameLocks noChangeAspect="1"/>
            </p:cNvGraphicFramePr>
            <p:nvPr/>
          </p:nvGraphicFramePr>
          <p:xfrm>
            <a:off x="4810" y="1221"/>
            <a:ext cx="275" cy="230"/>
          </p:xfrm>
          <a:graphic>
            <a:graphicData uri="http://schemas.openxmlformats.org/presentationml/2006/ole">
              <mc:AlternateContent xmlns:mc="http://schemas.openxmlformats.org/markup-compatibility/2006">
                <mc:Choice xmlns:v="urn:schemas-microsoft-com:vml" Requires="v">
                  <p:oleObj spid="_x0000_s14880" name="公式" r:id="rId3" imgW="228600" imgH="177480" progId="Equation.3">
                    <p:embed/>
                  </p:oleObj>
                </mc:Choice>
                <mc:Fallback>
                  <p:oleObj name="公式" r:id="rId3" imgW="228600" imgH="177480" progId="Equation.3">
                    <p:embed/>
                    <p:pic>
                      <p:nvPicPr>
                        <p:cNvPr id="650290" name="Object 50">
                          <a:extLst>
                            <a:ext uri="{FF2B5EF4-FFF2-40B4-BE49-F238E27FC236}">
                              <a16:creationId xmlns:a16="http://schemas.microsoft.com/office/drawing/2014/main" id="{496259BE-332E-4D64-AF0E-F191505838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 y="1221"/>
                          <a:ext cx="275"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51">
              <a:extLst>
                <a:ext uri="{FF2B5EF4-FFF2-40B4-BE49-F238E27FC236}">
                  <a16:creationId xmlns:a16="http://schemas.microsoft.com/office/drawing/2014/main" id="{08371DDC-36FF-4ACC-872D-26F641776FC0}"/>
                </a:ext>
              </a:extLst>
            </p:cNvPr>
            <p:cNvGraphicFramePr>
              <a:graphicFrameLocks noChangeAspect="1"/>
            </p:cNvGraphicFramePr>
            <p:nvPr/>
          </p:nvGraphicFramePr>
          <p:xfrm>
            <a:off x="3898" y="1220"/>
            <a:ext cx="276" cy="230"/>
          </p:xfrm>
          <a:graphic>
            <a:graphicData uri="http://schemas.openxmlformats.org/presentationml/2006/ole">
              <mc:AlternateContent xmlns:mc="http://schemas.openxmlformats.org/markup-compatibility/2006">
                <mc:Choice xmlns:v="urn:schemas-microsoft-com:vml" Requires="v">
                  <p:oleObj spid="_x0000_s14881" name="公式" r:id="rId5" imgW="228600" imgH="177480" progId="Equation.3">
                    <p:embed/>
                  </p:oleObj>
                </mc:Choice>
                <mc:Fallback>
                  <p:oleObj name="公式" r:id="rId5" imgW="228600" imgH="177480" progId="Equation.3">
                    <p:embed/>
                    <p:pic>
                      <p:nvPicPr>
                        <p:cNvPr id="650291" name="Object 51">
                          <a:extLst>
                            <a:ext uri="{FF2B5EF4-FFF2-40B4-BE49-F238E27FC236}">
                              <a16:creationId xmlns:a16="http://schemas.microsoft.com/office/drawing/2014/main" id="{C844603F-0C9D-4C9F-90DE-2024A83E41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8" y="1220"/>
                          <a:ext cx="276"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73">
              <a:extLst>
                <a:ext uri="{FF2B5EF4-FFF2-40B4-BE49-F238E27FC236}">
                  <a16:creationId xmlns:a16="http://schemas.microsoft.com/office/drawing/2014/main" id="{52C763EF-617B-4CCD-AFD9-6AEE02DA02EB}"/>
                </a:ext>
              </a:extLst>
            </p:cNvPr>
            <p:cNvGraphicFramePr>
              <a:graphicFrameLocks noChangeAspect="1"/>
            </p:cNvGraphicFramePr>
            <p:nvPr/>
          </p:nvGraphicFramePr>
          <p:xfrm>
            <a:off x="4520" y="749"/>
            <a:ext cx="607" cy="326"/>
          </p:xfrm>
          <a:graphic>
            <a:graphicData uri="http://schemas.openxmlformats.org/presentationml/2006/ole">
              <mc:AlternateContent xmlns:mc="http://schemas.openxmlformats.org/markup-compatibility/2006">
                <mc:Choice xmlns:v="urn:schemas-microsoft-com:vml" Requires="v">
                  <p:oleObj spid="_x0000_s14882" name="公式" r:id="rId6" imgW="457200" imgH="228600" progId="Equation.3">
                    <p:embed/>
                  </p:oleObj>
                </mc:Choice>
                <mc:Fallback>
                  <p:oleObj name="公式" r:id="rId6" imgW="457200" imgH="228600" progId="Equation.3">
                    <p:embed/>
                    <p:pic>
                      <p:nvPicPr>
                        <p:cNvPr id="650313" name="Object 73">
                          <a:extLst>
                            <a:ext uri="{FF2B5EF4-FFF2-40B4-BE49-F238E27FC236}">
                              <a16:creationId xmlns:a16="http://schemas.microsoft.com/office/drawing/2014/main" id="{9AC2331E-69BC-49CB-8546-3E650A1270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20" y="749"/>
                          <a:ext cx="607"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74">
              <a:extLst>
                <a:ext uri="{FF2B5EF4-FFF2-40B4-BE49-F238E27FC236}">
                  <a16:creationId xmlns:a16="http://schemas.microsoft.com/office/drawing/2014/main" id="{47680001-890E-476B-8391-4974E4BC241B}"/>
                </a:ext>
              </a:extLst>
            </p:cNvPr>
            <p:cNvGraphicFramePr>
              <a:graphicFrameLocks noChangeAspect="1"/>
            </p:cNvGraphicFramePr>
            <p:nvPr/>
          </p:nvGraphicFramePr>
          <p:xfrm>
            <a:off x="3645" y="1652"/>
            <a:ext cx="338" cy="200"/>
          </p:xfrm>
          <a:graphic>
            <a:graphicData uri="http://schemas.openxmlformats.org/presentationml/2006/ole">
              <mc:AlternateContent xmlns:mc="http://schemas.openxmlformats.org/markup-compatibility/2006">
                <mc:Choice xmlns:v="urn:schemas-microsoft-com:vml" Requires="v">
                  <p:oleObj spid="_x0000_s14883" name="公式" r:id="rId8" imgW="253800" imgH="139680" progId="Equation.3">
                    <p:embed/>
                  </p:oleObj>
                </mc:Choice>
                <mc:Fallback>
                  <p:oleObj name="公式" r:id="rId8" imgW="253800" imgH="139680" progId="Equation.3">
                    <p:embed/>
                    <p:pic>
                      <p:nvPicPr>
                        <p:cNvPr id="650314" name="Object 74">
                          <a:extLst>
                            <a:ext uri="{FF2B5EF4-FFF2-40B4-BE49-F238E27FC236}">
                              <a16:creationId xmlns:a16="http://schemas.microsoft.com/office/drawing/2014/main" id="{CCFB0092-276C-4F6C-8CB7-7FC59E3E5C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5" y="1652"/>
                          <a:ext cx="33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75">
              <a:extLst>
                <a:ext uri="{FF2B5EF4-FFF2-40B4-BE49-F238E27FC236}">
                  <a16:creationId xmlns:a16="http://schemas.microsoft.com/office/drawing/2014/main" id="{379B1642-BD5E-4378-9876-25980F832DF3}"/>
                </a:ext>
              </a:extLst>
            </p:cNvPr>
            <p:cNvGraphicFramePr>
              <a:graphicFrameLocks noChangeAspect="1"/>
            </p:cNvGraphicFramePr>
            <p:nvPr/>
          </p:nvGraphicFramePr>
          <p:xfrm>
            <a:off x="5049" y="1660"/>
            <a:ext cx="185" cy="199"/>
          </p:xfrm>
          <a:graphic>
            <a:graphicData uri="http://schemas.openxmlformats.org/presentationml/2006/ole">
              <mc:AlternateContent xmlns:mc="http://schemas.openxmlformats.org/markup-compatibility/2006">
                <mc:Choice xmlns:v="urn:schemas-microsoft-com:vml" Requires="v">
                  <p:oleObj spid="_x0000_s14884" name="公式" r:id="rId10" imgW="139680" imgH="139680" progId="Equation.3">
                    <p:embed/>
                  </p:oleObj>
                </mc:Choice>
                <mc:Fallback>
                  <p:oleObj name="公式" r:id="rId10" imgW="139680" imgH="139680" progId="Equation.3">
                    <p:embed/>
                    <p:pic>
                      <p:nvPicPr>
                        <p:cNvPr id="650315" name="Object 75">
                          <a:extLst>
                            <a:ext uri="{FF2B5EF4-FFF2-40B4-BE49-F238E27FC236}">
                              <a16:creationId xmlns:a16="http://schemas.microsoft.com/office/drawing/2014/main" id="{739A2C7A-7A75-409B-9D3A-23080B1C0C9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49" y="1660"/>
                          <a:ext cx="185"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76">
              <a:extLst>
                <a:ext uri="{FF2B5EF4-FFF2-40B4-BE49-F238E27FC236}">
                  <a16:creationId xmlns:a16="http://schemas.microsoft.com/office/drawing/2014/main" id="{9F725964-213F-47DB-BE1A-AD5C22F23B23}"/>
                </a:ext>
              </a:extLst>
            </p:cNvPr>
            <p:cNvGraphicFramePr>
              <a:graphicFrameLocks noChangeAspect="1"/>
            </p:cNvGraphicFramePr>
            <p:nvPr/>
          </p:nvGraphicFramePr>
          <p:xfrm>
            <a:off x="4401" y="1663"/>
            <a:ext cx="169" cy="254"/>
          </p:xfrm>
          <a:graphic>
            <a:graphicData uri="http://schemas.openxmlformats.org/presentationml/2006/ole">
              <mc:AlternateContent xmlns:mc="http://schemas.openxmlformats.org/markup-compatibility/2006">
                <mc:Choice xmlns:v="urn:schemas-microsoft-com:vml" Requires="v">
                  <p:oleObj spid="_x0000_s14885" name="公式" r:id="rId12" imgW="126720" imgH="177480" progId="Equation.3">
                    <p:embed/>
                  </p:oleObj>
                </mc:Choice>
                <mc:Fallback>
                  <p:oleObj name="公式" r:id="rId12" imgW="126720" imgH="177480" progId="Equation.3">
                    <p:embed/>
                    <p:pic>
                      <p:nvPicPr>
                        <p:cNvPr id="650316" name="Object 76">
                          <a:extLst>
                            <a:ext uri="{FF2B5EF4-FFF2-40B4-BE49-F238E27FC236}">
                              <a16:creationId xmlns:a16="http://schemas.microsoft.com/office/drawing/2014/main" id="{DDB6DED2-1055-4246-8F33-99E0117BA08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01" y="1663"/>
                          <a:ext cx="169"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77">
              <a:extLst>
                <a:ext uri="{FF2B5EF4-FFF2-40B4-BE49-F238E27FC236}">
                  <a16:creationId xmlns:a16="http://schemas.microsoft.com/office/drawing/2014/main" id="{992CD0F8-E7F5-444C-9C2C-7BBADFC5C6F2}"/>
                </a:ext>
              </a:extLst>
            </p:cNvPr>
            <p:cNvGraphicFramePr>
              <a:graphicFrameLocks noChangeAspect="1"/>
            </p:cNvGraphicFramePr>
            <p:nvPr/>
          </p:nvGraphicFramePr>
          <p:xfrm>
            <a:off x="5398" y="1496"/>
            <a:ext cx="203" cy="199"/>
          </p:xfrm>
          <a:graphic>
            <a:graphicData uri="http://schemas.openxmlformats.org/presentationml/2006/ole">
              <mc:AlternateContent xmlns:mc="http://schemas.openxmlformats.org/markup-compatibility/2006">
                <mc:Choice xmlns:v="urn:schemas-microsoft-com:vml" Requires="v">
                  <p:oleObj spid="_x0000_s14886" name="公式" r:id="rId14" imgW="152280" imgH="139680" progId="Equation.3">
                    <p:embed/>
                  </p:oleObj>
                </mc:Choice>
                <mc:Fallback>
                  <p:oleObj name="公式" r:id="rId14" imgW="152280" imgH="139680" progId="Equation.3">
                    <p:embed/>
                    <p:pic>
                      <p:nvPicPr>
                        <p:cNvPr id="650317" name="Object 77">
                          <a:extLst>
                            <a:ext uri="{FF2B5EF4-FFF2-40B4-BE49-F238E27FC236}">
                              <a16:creationId xmlns:a16="http://schemas.microsoft.com/office/drawing/2014/main" id="{98C9DB24-F0AE-4287-B2F8-7DEEB33909C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98" y="1496"/>
                          <a:ext cx="203"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 name="Line 69">
              <a:extLst>
                <a:ext uri="{FF2B5EF4-FFF2-40B4-BE49-F238E27FC236}">
                  <a16:creationId xmlns:a16="http://schemas.microsoft.com/office/drawing/2014/main" id="{47E5BE4F-B333-49EC-9E7A-E4AE1E5105C7}"/>
                </a:ext>
              </a:extLst>
            </p:cNvPr>
            <p:cNvSpPr>
              <a:spLocks noChangeShapeType="1"/>
            </p:cNvSpPr>
            <p:nvPr/>
          </p:nvSpPr>
          <p:spPr bwMode="auto">
            <a:xfrm>
              <a:off x="3546" y="1648"/>
              <a:ext cx="1873"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70">
              <a:extLst>
                <a:ext uri="{FF2B5EF4-FFF2-40B4-BE49-F238E27FC236}">
                  <a16:creationId xmlns:a16="http://schemas.microsoft.com/office/drawing/2014/main" id="{4F25F876-95BB-4311-87BF-B1F9A12213D1}"/>
                </a:ext>
              </a:extLst>
            </p:cNvPr>
            <p:cNvSpPr>
              <a:spLocks noChangeShapeType="1"/>
            </p:cNvSpPr>
            <p:nvPr/>
          </p:nvSpPr>
          <p:spPr bwMode="auto">
            <a:xfrm flipV="1">
              <a:off x="4478" y="895"/>
              <a:ext cx="0"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71">
              <a:extLst>
                <a:ext uri="{FF2B5EF4-FFF2-40B4-BE49-F238E27FC236}">
                  <a16:creationId xmlns:a16="http://schemas.microsoft.com/office/drawing/2014/main" id="{93BD8CEF-C59A-43F5-834E-0B613611C49E}"/>
                </a:ext>
              </a:extLst>
            </p:cNvPr>
            <p:cNvSpPr>
              <a:spLocks noChangeShapeType="1"/>
            </p:cNvSpPr>
            <p:nvPr/>
          </p:nvSpPr>
          <p:spPr bwMode="auto">
            <a:xfrm flipV="1">
              <a:off x="3835" y="1279"/>
              <a:ext cx="0" cy="3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72">
              <a:extLst>
                <a:ext uri="{FF2B5EF4-FFF2-40B4-BE49-F238E27FC236}">
                  <a16:creationId xmlns:a16="http://schemas.microsoft.com/office/drawing/2014/main" id="{5E6F918A-4CD4-4831-839F-774CE6582AD3}"/>
                </a:ext>
              </a:extLst>
            </p:cNvPr>
            <p:cNvSpPr>
              <a:spLocks noChangeShapeType="1"/>
            </p:cNvSpPr>
            <p:nvPr/>
          </p:nvSpPr>
          <p:spPr bwMode="auto">
            <a:xfrm flipV="1">
              <a:off x="5139" y="1279"/>
              <a:ext cx="0" cy="3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53" name="Object 78">
              <a:extLst>
                <a:ext uri="{FF2B5EF4-FFF2-40B4-BE49-F238E27FC236}">
                  <a16:creationId xmlns:a16="http://schemas.microsoft.com/office/drawing/2014/main" id="{758E7A2F-21CC-444F-BB68-9E7E94C8373C}"/>
                </a:ext>
              </a:extLst>
            </p:cNvPr>
            <p:cNvGraphicFramePr>
              <a:graphicFrameLocks noChangeAspect="1"/>
            </p:cNvGraphicFramePr>
            <p:nvPr/>
          </p:nvGraphicFramePr>
          <p:xfrm>
            <a:off x="3487" y="1399"/>
            <a:ext cx="292" cy="167"/>
          </p:xfrm>
          <a:graphic>
            <a:graphicData uri="http://schemas.openxmlformats.org/presentationml/2006/ole">
              <mc:AlternateContent xmlns:mc="http://schemas.openxmlformats.org/markup-compatibility/2006">
                <mc:Choice xmlns:v="urn:schemas-microsoft-com:vml" Requires="v">
                  <p:oleObj spid="_x0000_s14887" name="公式" r:id="rId16" imgW="177480" imgH="75960" progId="Equation.3">
                    <p:embed/>
                  </p:oleObj>
                </mc:Choice>
                <mc:Fallback>
                  <p:oleObj name="公式" r:id="rId16" imgW="177480" imgH="75960" progId="Equation.3">
                    <p:embed/>
                    <p:pic>
                      <p:nvPicPr>
                        <p:cNvPr id="650318" name="Object 78">
                          <a:extLst>
                            <a:ext uri="{FF2B5EF4-FFF2-40B4-BE49-F238E27FC236}">
                              <a16:creationId xmlns:a16="http://schemas.microsoft.com/office/drawing/2014/main" id="{52306C0A-FE7A-419F-B339-A6FE31FAE35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87" y="1399"/>
                          <a:ext cx="292"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79">
              <a:extLst>
                <a:ext uri="{FF2B5EF4-FFF2-40B4-BE49-F238E27FC236}">
                  <a16:creationId xmlns:a16="http://schemas.microsoft.com/office/drawing/2014/main" id="{23229C88-3BC5-45B1-AA11-2D1781B3A20E}"/>
                </a:ext>
              </a:extLst>
            </p:cNvPr>
            <p:cNvGraphicFramePr>
              <a:graphicFrameLocks noChangeAspect="1"/>
            </p:cNvGraphicFramePr>
            <p:nvPr/>
          </p:nvGraphicFramePr>
          <p:xfrm>
            <a:off x="5162" y="1398"/>
            <a:ext cx="271" cy="164"/>
          </p:xfrm>
          <a:graphic>
            <a:graphicData uri="http://schemas.openxmlformats.org/presentationml/2006/ole">
              <mc:AlternateContent xmlns:mc="http://schemas.openxmlformats.org/markup-compatibility/2006">
                <mc:Choice xmlns:v="urn:schemas-microsoft-com:vml" Requires="v">
                  <p:oleObj spid="_x0000_s14888" name="公式" r:id="rId18" imgW="177480" imgH="75960" progId="Equation.3">
                    <p:embed/>
                  </p:oleObj>
                </mc:Choice>
                <mc:Fallback>
                  <p:oleObj name="公式" r:id="rId18" imgW="177480" imgH="75960" progId="Equation.3">
                    <p:embed/>
                    <p:pic>
                      <p:nvPicPr>
                        <p:cNvPr id="650319" name="Object 79">
                          <a:extLst>
                            <a:ext uri="{FF2B5EF4-FFF2-40B4-BE49-F238E27FC236}">
                              <a16:creationId xmlns:a16="http://schemas.microsoft.com/office/drawing/2014/main" id="{C3BEA79D-883F-42DD-8697-49C38395B1C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62" y="1398"/>
                          <a:ext cx="271"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5" name="Group 84">
            <a:extLst>
              <a:ext uri="{FF2B5EF4-FFF2-40B4-BE49-F238E27FC236}">
                <a16:creationId xmlns:a16="http://schemas.microsoft.com/office/drawing/2014/main" id="{575640CB-BE7D-48E9-A828-FC96EEA909DB}"/>
              </a:ext>
            </a:extLst>
          </p:cNvPr>
          <p:cNvGrpSpPr>
            <a:grpSpLocks/>
          </p:cNvGrpSpPr>
          <p:nvPr/>
        </p:nvGrpSpPr>
        <p:grpSpPr bwMode="auto">
          <a:xfrm>
            <a:off x="743818" y="1416149"/>
            <a:ext cx="3810000" cy="1946275"/>
            <a:chOff x="725" y="581"/>
            <a:chExt cx="2304" cy="1178"/>
          </a:xfrm>
        </p:grpSpPr>
        <p:graphicFrame>
          <p:nvGraphicFramePr>
            <p:cNvPr id="56" name="Object 53">
              <a:extLst>
                <a:ext uri="{FF2B5EF4-FFF2-40B4-BE49-F238E27FC236}">
                  <a16:creationId xmlns:a16="http://schemas.microsoft.com/office/drawing/2014/main" id="{3153DD50-99D5-4DEB-AA47-7D6294D4E6F1}"/>
                </a:ext>
              </a:extLst>
            </p:cNvPr>
            <p:cNvGraphicFramePr>
              <a:graphicFrameLocks noChangeAspect="1"/>
            </p:cNvGraphicFramePr>
            <p:nvPr/>
          </p:nvGraphicFramePr>
          <p:xfrm>
            <a:off x="1923" y="581"/>
            <a:ext cx="641" cy="326"/>
          </p:xfrm>
          <a:graphic>
            <a:graphicData uri="http://schemas.openxmlformats.org/presentationml/2006/ole">
              <mc:AlternateContent xmlns:mc="http://schemas.openxmlformats.org/markup-compatibility/2006">
                <mc:Choice xmlns:v="urn:schemas-microsoft-com:vml" Requires="v">
                  <p:oleObj spid="_x0000_s14889" name="公式" r:id="rId20" imgW="482400" imgH="228600" progId="Equation.3">
                    <p:embed/>
                  </p:oleObj>
                </mc:Choice>
                <mc:Fallback>
                  <p:oleObj name="公式" r:id="rId20" imgW="482400" imgH="228600" progId="Equation.3">
                    <p:embed/>
                    <p:pic>
                      <p:nvPicPr>
                        <p:cNvPr id="650293" name="Object 53">
                          <a:extLst>
                            <a:ext uri="{FF2B5EF4-FFF2-40B4-BE49-F238E27FC236}">
                              <a16:creationId xmlns:a16="http://schemas.microsoft.com/office/drawing/2014/main" id="{2AF7067C-59D0-48CD-AAD9-FA495EED4AC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23" y="581"/>
                          <a:ext cx="641"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 name="Object 54">
              <a:extLst>
                <a:ext uri="{FF2B5EF4-FFF2-40B4-BE49-F238E27FC236}">
                  <a16:creationId xmlns:a16="http://schemas.microsoft.com/office/drawing/2014/main" id="{7BEEE285-33AF-474B-808F-51FD9D3FCF76}"/>
                </a:ext>
              </a:extLst>
            </p:cNvPr>
            <p:cNvGraphicFramePr>
              <a:graphicFrameLocks noChangeAspect="1"/>
            </p:cNvGraphicFramePr>
            <p:nvPr/>
          </p:nvGraphicFramePr>
          <p:xfrm>
            <a:off x="889" y="1518"/>
            <a:ext cx="338" cy="199"/>
          </p:xfrm>
          <a:graphic>
            <a:graphicData uri="http://schemas.openxmlformats.org/presentationml/2006/ole">
              <mc:AlternateContent xmlns:mc="http://schemas.openxmlformats.org/markup-compatibility/2006">
                <mc:Choice xmlns:v="urn:schemas-microsoft-com:vml" Requires="v">
                  <p:oleObj spid="_x0000_s14890" name="公式" r:id="rId22" imgW="253800" imgH="139680" progId="Equation.3">
                    <p:embed/>
                  </p:oleObj>
                </mc:Choice>
                <mc:Fallback>
                  <p:oleObj name="公式" r:id="rId22" imgW="253800" imgH="139680" progId="Equation.3">
                    <p:embed/>
                    <p:pic>
                      <p:nvPicPr>
                        <p:cNvPr id="650294" name="Object 54">
                          <a:extLst>
                            <a:ext uri="{FF2B5EF4-FFF2-40B4-BE49-F238E27FC236}">
                              <a16:creationId xmlns:a16="http://schemas.microsoft.com/office/drawing/2014/main" id="{C10E7AB0-76AE-40DA-A913-4477E8B6E08F}"/>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89" y="1518"/>
                          <a:ext cx="338"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 name="Object 55">
              <a:extLst>
                <a:ext uri="{FF2B5EF4-FFF2-40B4-BE49-F238E27FC236}">
                  <a16:creationId xmlns:a16="http://schemas.microsoft.com/office/drawing/2014/main" id="{F008CBAE-3F93-46C4-9D36-7ACFA802FE1C}"/>
                </a:ext>
              </a:extLst>
            </p:cNvPr>
            <p:cNvGraphicFramePr>
              <a:graphicFrameLocks noChangeAspect="1"/>
            </p:cNvGraphicFramePr>
            <p:nvPr/>
          </p:nvGraphicFramePr>
          <p:xfrm>
            <a:off x="2497" y="1514"/>
            <a:ext cx="186" cy="200"/>
          </p:xfrm>
          <a:graphic>
            <a:graphicData uri="http://schemas.openxmlformats.org/presentationml/2006/ole">
              <mc:AlternateContent xmlns:mc="http://schemas.openxmlformats.org/markup-compatibility/2006">
                <mc:Choice xmlns:v="urn:schemas-microsoft-com:vml" Requires="v">
                  <p:oleObj spid="_x0000_s14891" name="公式" r:id="rId24" imgW="139680" imgH="139680" progId="Equation.3">
                    <p:embed/>
                  </p:oleObj>
                </mc:Choice>
                <mc:Fallback>
                  <p:oleObj name="公式" r:id="rId24" imgW="139680" imgH="139680" progId="Equation.3">
                    <p:embed/>
                    <p:pic>
                      <p:nvPicPr>
                        <p:cNvPr id="650295" name="Object 55">
                          <a:extLst>
                            <a:ext uri="{FF2B5EF4-FFF2-40B4-BE49-F238E27FC236}">
                              <a16:creationId xmlns:a16="http://schemas.microsoft.com/office/drawing/2014/main" id="{B378097F-97AC-4FBE-9880-E82DA48F2550}"/>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497" y="1514"/>
                          <a:ext cx="186"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 name="Object 61">
              <a:extLst>
                <a:ext uri="{FF2B5EF4-FFF2-40B4-BE49-F238E27FC236}">
                  <a16:creationId xmlns:a16="http://schemas.microsoft.com/office/drawing/2014/main" id="{8A92AF50-A865-4D2C-859F-35D11816B2FA}"/>
                </a:ext>
              </a:extLst>
            </p:cNvPr>
            <p:cNvGraphicFramePr>
              <a:graphicFrameLocks noChangeAspect="1"/>
            </p:cNvGraphicFramePr>
            <p:nvPr/>
          </p:nvGraphicFramePr>
          <p:xfrm>
            <a:off x="1243" y="1444"/>
            <a:ext cx="409" cy="309"/>
          </p:xfrm>
          <a:graphic>
            <a:graphicData uri="http://schemas.openxmlformats.org/presentationml/2006/ole">
              <mc:AlternateContent xmlns:mc="http://schemas.openxmlformats.org/markup-compatibility/2006">
                <mc:Choice xmlns:v="urn:schemas-microsoft-com:vml" Requires="v">
                  <p:oleObj spid="_x0000_s14892" name="公式" r:id="rId26" imgW="342720" imgH="215640" progId="Equation.3">
                    <p:embed/>
                  </p:oleObj>
                </mc:Choice>
                <mc:Fallback>
                  <p:oleObj name="公式" r:id="rId26" imgW="342720" imgH="215640" progId="Equation.3">
                    <p:embed/>
                    <p:pic>
                      <p:nvPicPr>
                        <p:cNvPr id="650301" name="Object 61">
                          <a:extLst>
                            <a:ext uri="{FF2B5EF4-FFF2-40B4-BE49-F238E27FC236}">
                              <a16:creationId xmlns:a16="http://schemas.microsoft.com/office/drawing/2014/main" id="{AFC0A878-EF00-4D1C-8E5E-C97232B6AA04}"/>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243" y="1444"/>
                          <a:ext cx="409"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62">
              <a:extLst>
                <a:ext uri="{FF2B5EF4-FFF2-40B4-BE49-F238E27FC236}">
                  <a16:creationId xmlns:a16="http://schemas.microsoft.com/office/drawing/2014/main" id="{67008B29-153C-420B-9845-84A8BCE8BE61}"/>
                </a:ext>
              </a:extLst>
            </p:cNvPr>
            <p:cNvGraphicFramePr>
              <a:graphicFrameLocks noChangeAspect="1"/>
            </p:cNvGraphicFramePr>
            <p:nvPr/>
          </p:nvGraphicFramePr>
          <p:xfrm>
            <a:off x="2114" y="1435"/>
            <a:ext cx="320" cy="308"/>
          </p:xfrm>
          <a:graphic>
            <a:graphicData uri="http://schemas.openxmlformats.org/presentationml/2006/ole">
              <mc:AlternateContent xmlns:mc="http://schemas.openxmlformats.org/markup-compatibility/2006">
                <mc:Choice xmlns:v="urn:schemas-microsoft-com:vml" Requires="v">
                  <p:oleObj spid="_x0000_s14893" name="公式" r:id="rId28" imgW="241200" imgH="215640" progId="Equation.3">
                    <p:embed/>
                  </p:oleObj>
                </mc:Choice>
                <mc:Fallback>
                  <p:oleObj name="公式" r:id="rId28" imgW="241200" imgH="215640" progId="Equation.3">
                    <p:embed/>
                    <p:pic>
                      <p:nvPicPr>
                        <p:cNvPr id="650302" name="Object 62">
                          <a:extLst>
                            <a:ext uri="{FF2B5EF4-FFF2-40B4-BE49-F238E27FC236}">
                              <a16:creationId xmlns:a16="http://schemas.microsoft.com/office/drawing/2014/main" id="{59145303-0CB5-4CE9-BED3-FF6192C3AAA5}"/>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114" y="1435"/>
                          <a:ext cx="320"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 name="Object 63">
              <a:extLst>
                <a:ext uri="{FF2B5EF4-FFF2-40B4-BE49-F238E27FC236}">
                  <a16:creationId xmlns:a16="http://schemas.microsoft.com/office/drawing/2014/main" id="{2597C870-C2D0-4579-9D65-6EAC37591E5B}"/>
                </a:ext>
              </a:extLst>
            </p:cNvPr>
            <p:cNvGraphicFramePr>
              <a:graphicFrameLocks noChangeAspect="1"/>
            </p:cNvGraphicFramePr>
            <p:nvPr/>
          </p:nvGraphicFramePr>
          <p:xfrm>
            <a:off x="2799" y="1295"/>
            <a:ext cx="202" cy="199"/>
          </p:xfrm>
          <a:graphic>
            <a:graphicData uri="http://schemas.openxmlformats.org/presentationml/2006/ole">
              <mc:AlternateContent xmlns:mc="http://schemas.openxmlformats.org/markup-compatibility/2006">
                <mc:Choice xmlns:v="urn:schemas-microsoft-com:vml" Requires="v">
                  <p:oleObj spid="_x0000_s14894" name="公式" r:id="rId30" imgW="152280" imgH="139680" progId="Equation.3">
                    <p:embed/>
                  </p:oleObj>
                </mc:Choice>
                <mc:Fallback>
                  <p:oleObj name="公式" r:id="rId30" imgW="152280" imgH="139680" progId="Equation.3">
                    <p:embed/>
                    <p:pic>
                      <p:nvPicPr>
                        <p:cNvPr id="650303" name="Object 63">
                          <a:extLst>
                            <a:ext uri="{FF2B5EF4-FFF2-40B4-BE49-F238E27FC236}">
                              <a16:creationId xmlns:a16="http://schemas.microsoft.com/office/drawing/2014/main" id="{B8FDDA1B-2F3E-4F89-8FBD-B11F4591C3FB}"/>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799" y="1295"/>
                          <a:ext cx="202"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64">
              <a:extLst>
                <a:ext uri="{FF2B5EF4-FFF2-40B4-BE49-F238E27FC236}">
                  <a16:creationId xmlns:a16="http://schemas.microsoft.com/office/drawing/2014/main" id="{C6945569-6CE4-4FC1-8BBB-D2E240F4F211}"/>
                </a:ext>
              </a:extLst>
            </p:cNvPr>
            <p:cNvGraphicFramePr>
              <a:graphicFrameLocks noChangeAspect="1"/>
            </p:cNvGraphicFramePr>
            <p:nvPr/>
          </p:nvGraphicFramePr>
          <p:xfrm>
            <a:off x="1790" y="1505"/>
            <a:ext cx="169" cy="254"/>
          </p:xfrm>
          <a:graphic>
            <a:graphicData uri="http://schemas.openxmlformats.org/presentationml/2006/ole">
              <mc:AlternateContent xmlns:mc="http://schemas.openxmlformats.org/markup-compatibility/2006">
                <mc:Choice xmlns:v="urn:schemas-microsoft-com:vml" Requires="v">
                  <p:oleObj spid="_x0000_s14895" name="公式" r:id="rId32" imgW="126720" imgH="177480" progId="Equation.3">
                    <p:embed/>
                  </p:oleObj>
                </mc:Choice>
                <mc:Fallback>
                  <p:oleObj name="公式" r:id="rId32" imgW="126720" imgH="177480" progId="Equation.3">
                    <p:embed/>
                    <p:pic>
                      <p:nvPicPr>
                        <p:cNvPr id="650304" name="Object 64">
                          <a:extLst>
                            <a:ext uri="{FF2B5EF4-FFF2-40B4-BE49-F238E27FC236}">
                              <a16:creationId xmlns:a16="http://schemas.microsoft.com/office/drawing/2014/main" id="{107325D8-01F4-4841-A697-67F3B2EDC59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0" y="1505"/>
                          <a:ext cx="169"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 name="Line 57">
              <a:extLst>
                <a:ext uri="{FF2B5EF4-FFF2-40B4-BE49-F238E27FC236}">
                  <a16:creationId xmlns:a16="http://schemas.microsoft.com/office/drawing/2014/main" id="{012DBB69-2084-439F-B3D6-EC0FAFF31A41}"/>
                </a:ext>
              </a:extLst>
            </p:cNvPr>
            <p:cNvSpPr>
              <a:spLocks noChangeShapeType="1"/>
            </p:cNvSpPr>
            <p:nvPr/>
          </p:nvSpPr>
          <p:spPr bwMode="auto">
            <a:xfrm>
              <a:off x="725" y="1509"/>
              <a:ext cx="230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58">
              <a:extLst>
                <a:ext uri="{FF2B5EF4-FFF2-40B4-BE49-F238E27FC236}">
                  <a16:creationId xmlns:a16="http://schemas.microsoft.com/office/drawing/2014/main" id="{FF25C842-DE7C-44CA-8E89-F7C68321DD03}"/>
                </a:ext>
              </a:extLst>
            </p:cNvPr>
            <p:cNvSpPr>
              <a:spLocks noChangeShapeType="1"/>
            </p:cNvSpPr>
            <p:nvPr/>
          </p:nvSpPr>
          <p:spPr bwMode="auto">
            <a:xfrm flipV="1">
              <a:off x="1868" y="664"/>
              <a:ext cx="0" cy="84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59">
              <a:extLst>
                <a:ext uri="{FF2B5EF4-FFF2-40B4-BE49-F238E27FC236}">
                  <a16:creationId xmlns:a16="http://schemas.microsoft.com/office/drawing/2014/main" id="{EE29CB42-DF55-4BF6-BC8D-54DE3499421D}"/>
                </a:ext>
              </a:extLst>
            </p:cNvPr>
            <p:cNvSpPr>
              <a:spLocks noChangeShapeType="1"/>
            </p:cNvSpPr>
            <p:nvPr/>
          </p:nvSpPr>
          <p:spPr bwMode="auto">
            <a:xfrm flipV="1">
              <a:off x="1408" y="1091"/>
              <a:ext cx="460" cy="4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60">
              <a:extLst>
                <a:ext uri="{FF2B5EF4-FFF2-40B4-BE49-F238E27FC236}">
                  <a16:creationId xmlns:a16="http://schemas.microsoft.com/office/drawing/2014/main" id="{C421C684-EA89-4185-9AE0-E1E3ED2F8E06}"/>
                </a:ext>
              </a:extLst>
            </p:cNvPr>
            <p:cNvSpPr>
              <a:spLocks noChangeShapeType="1"/>
            </p:cNvSpPr>
            <p:nvPr/>
          </p:nvSpPr>
          <p:spPr bwMode="auto">
            <a:xfrm flipH="1" flipV="1">
              <a:off x="1868" y="1091"/>
              <a:ext cx="460" cy="4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67" name="Object 65">
              <a:extLst>
                <a:ext uri="{FF2B5EF4-FFF2-40B4-BE49-F238E27FC236}">
                  <a16:creationId xmlns:a16="http://schemas.microsoft.com/office/drawing/2014/main" id="{952EAF1A-9D7C-46DC-881B-C9C48F29F69B}"/>
                </a:ext>
              </a:extLst>
            </p:cNvPr>
            <p:cNvGraphicFramePr>
              <a:graphicFrameLocks noChangeAspect="1"/>
            </p:cNvGraphicFramePr>
            <p:nvPr/>
          </p:nvGraphicFramePr>
          <p:xfrm>
            <a:off x="1072" y="1200"/>
            <a:ext cx="309" cy="150"/>
          </p:xfrm>
          <a:graphic>
            <a:graphicData uri="http://schemas.openxmlformats.org/presentationml/2006/ole">
              <mc:AlternateContent xmlns:mc="http://schemas.openxmlformats.org/markup-compatibility/2006">
                <mc:Choice xmlns:v="urn:schemas-microsoft-com:vml" Requires="v">
                  <p:oleObj spid="_x0000_s14896" name="公式" r:id="rId33" imgW="177480" imgH="75960" progId="Equation.3">
                    <p:embed/>
                  </p:oleObj>
                </mc:Choice>
                <mc:Fallback>
                  <p:oleObj name="公式" r:id="rId33" imgW="177480" imgH="75960" progId="Equation.3">
                    <p:embed/>
                    <p:pic>
                      <p:nvPicPr>
                        <p:cNvPr id="650305" name="Object 65">
                          <a:extLst>
                            <a:ext uri="{FF2B5EF4-FFF2-40B4-BE49-F238E27FC236}">
                              <a16:creationId xmlns:a16="http://schemas.microsoft.com/office/drawing/2014/main" id="{98A37339-9D57-44CE-93CF-540FCCA56660}"/>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072" y="1200"/>
                          <a:ext cx="309"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 name="Object 66">
              <a:extLst>
                <a:ext uri="{FF2B5EF4-FFF2-40B4-BE49-F238E27FC236}">
                  <a16:creationId xmlns:a16="http://schemas.microsoft.com/office/drawing/2014/main" id="{8CC09E16-E2C1-4582-A35E-AF30E2B36316}"/>
                </a:ext>
              </a:extLst>
            </p:cNvPr>
            <p:cNvGraphicFramePr>
              <a:graphicFrameLocks noChangeAspect="1"/>
            </p:cNvGraphicFramePr>
            <p:nvPr/>
          </p:nvGraphicFramePr>
          <p:xfrm>
            <a:off x="2402" y="1232"/>
            <a:ext cx="339" cy="132"/>
          </p:xfrm>
          <a:graphic>
            <a:graphicData uri="http://schemas.openxmlformats.org/presentationml/2006/ole">
              <mc:AlternateContent xmlns:mc="http://schemas.openxmlformats.org/markup-compatibility/2006">
                <mc:Choice xmlns:v="urn:schemas-microsoft-com:vml" Requires="v">
                  <p:oleObj spid="_x0000_s14897" name="公式" r:id="rId35" imgW="177480" imgH="75960" progId="Equation.3">
                    <p:embed/>
                  </p:oleObj>
                </mc:Choice>
                <mc:Fallback>
                  <p:oleObj name="公式" r:id="rId35" imgW="177480" imgH="75960" progId="Equation.3">
                    <p:embed/>
                    <p:pic>
                      <p:nvPicPr>
                        <p:cNvPr id="650306" name="Object 66">
                          <a:extLst>
                            <a:ext uri="{FF2B5EF4-FFF2-40B4-BE49-F238E27FC236}">
                              <a16:creationId xmlns:a16="http://schemas.microsoft.com/office/drawing/2014/main" id="{C5A2A87C-44BA-4C0A-B9A1-23FE4B2837F5}"/>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402" y="1232"/>
                          <a:ext cx="339" cy="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 name="Line 67">
              <a:extLst>
                <a:ext uri="{FF2B5EF4-FFF2-40B4-BE49-F238E27FC236}">
                  <a16:creationId xmlns:a16="http://schemas.microsoft.com/office/drawing/2014/main" id="{2B5DC3B7-8F46-435C-A86E-32B677730A7D}"/>
                </a:ext>
              </a:extLst>
            </p:cNvPr>
            <p:cNvSpPr>
              <a:spLocks noChangeShapeType="1"/>
            </p:cNvSpPr>
            <p:nvPr/>
          </p:nvSpPr>
          <p:spPr bwMode="auto">
            <a:xfrm flipV="1">
              <a:off x="1145" y="1455"/>
              <a:ext cx="0" cy="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Line 68">
              <a:extLst>
                <a:ext uri="{FF2B5EF4-FFF2-40B4-BE49-F238E27FC236}">
                  <a16:creationId xmlns:a16="http://schemas.microsoft.com/office/drawing/2014/main" id="{C98007B8-052B-4801-9C6A-0838A605561B}"/>
                </a:ext>
              </a:extLst>
            </p:cNvPr>
            <p:cNvSpPr>
              <a:spLocks noChangeShapeType="1"/>
            </p:cNvSpPr>
            <p:nvPr/>
          </p:nvSpPr>
          <p:spPr bwMode="auto">
            <a:xfrm flipV="1">
              <a:off x="2591" y="1456"/>
              <a:ext cx="0" cy="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71" name="Object 80">
              <a:extLst>
                <a:ext uri="{FF2B5EF4-FFF2-40B4-BE49-F238E27FC236}">
                  <a16:creationId xmlns:a16="http://schemas.microsoft.com/office/drawing/2014/main" id="{00D6A3E6-4599-4C96-97CB-1AD307C6545E}"/>
                </a:ext>
              </a:extLst>
            </p:cNvPr>
            <p:cNvGraphicFramePr>
              <a:graphicFrameLocks noChangeAspect="1"/>
            </p:cNvGraphicFramePr>
            <p:nvPr/>
          </p:nvGraphicFramePr>
          <p:xfrm>
            <a:off x="1694" y="912"/>
            <a:ext cx="119" cy="237"/>
          </p:xfrm>
          <a:graphic>
            <a:graphicData uri="http://schemas.openxmlformats.org/presentationml/2006/ole">
              <mc:AlternateContent xmlns:mc="http://schemas.openxmlformats.org/markup-compatibility/2006">
                <mc:Choice xmlns:v="urn:schemas-microsoft-com:vml" Requires="v">
                  <p:oleObj spid="_x0000_s14898" name="公式" r:id="rId37" imgW="88560" imgH="164880" progId="Equation.3">
                    <p:embed/>
                  </p:oleObj>
                </mc:Choice>
                <mc:Fallback>
                  <p:oleObj name="公式" r:id="rId37" imgW="88560" imgH="164880" progId="Equation.3">
                    <p:embed/>
                    <p:pic>
                      <p:nvPicPr>
                        <p:cNvPr id="650320" name="Object 80">
                          <a:extLst>
                            <a:ext uri="{FF2B5EF4-FFF2-40B4-BE49-F238E27FC236}">
                              <a16:creationId xmlns:a16="http://schemas.microsoft.com/office/drawing/2014/main" id="{296AB3AD-D8DC-48DE-B02D-BD01A9D6C0CD}"/>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694" y="912"/>
                          <a:ext cx="119"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 name="Rectangle 86">
            <a:extLst>
              <a:ext uri="{FF2B5EF4-FFF2-40B4-BE49-F238E27FC236}">
                <a16:creationId xmlns:a16="http://schemas.microsoft.com/office/drawing/2014/main" id="{2BDEC665-CF17-4F15-B37D-938AC9C55966}"/>
              </a:ext>
            </a:extLst>
          </p:cNvPr>
          <p:cNvSpPr>
            <a:spLocks noRot="1" noChangeArrowheads="1"/>
          </p:cNvSpPr>
          <p:nvPr/>
        </p:nvSpPr>
        <p:spPr bwMode="auto">
          <a:xfrm>
            <a:off x="557439" y="5937523"/>
            <a:ext cx="777240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dirty="0">
                <a:solidFill>
                  <a:srgbClr val="0000FF"/>
                </a:solidFill>
                <a:latin typeface="Times New Roman" panose="02020603050405020304" pitchFamily="18" charset="0"/>
                <a:ea typeface="楷体_GB2312" panose="02010609030101010101" pitchFamily="49" charset="-122"/>
              </a:rPr>
              <a:t>5.6 </a:t>
            </a:r>
            <a:r>
              <a:rPr lang="zh-CN" altLang="en-US" sz="2800" dirty="0">
                <a:solidFill>
                  <a:srgbClr val="0000FF"/>
                </a:solidFill>
                <a:latin typeface="Times New Roman" panose="02020603050405020304" pitchFamily="18" charset="0"/>
                <a:ea typeface="楷体_GB2312" panose="02010609030101010101" pitchFamily="49" charset="-122"/>
              </a:rPr>
              <a:t>傅里叶变换性质和基本变换对列表</a:t>
            </a:r>
            <a:r>
              <a:rPr lang="zh-CN" altLang="en-US" sz="2800" dirty="0">
                <a:solidFill>
                  <a:srgbClr val="0000FF"/>
                </a:solidFill>
                <a:latin typeface="楷体_GB2312" panose="02010609030101010101" pitchFamily="49" charset="-122"/>
                <a:ea typeface="楷体_GB2312" panose="02010609030101010101" pitchFamily="49" charset="-122"/>
              </a:rPr>
              <a:t>（自学）</a:t>
            </a:r>
            <a:endParaRPr lang="zh-CN" altLang="en-US" sz="2800" dirty="0">
              <a:solidFill>
                <a:srgbClr val="0000FF"/>
              </a:solidFill>
              <a:latin typeface="Times New Roman" panose="02020603050405020304" pitchFamily="18" charset="0"/>
              <a:ea typeface="楷体_GB2312" panose="02010609030101010101" pitchFamily="49" charset="-122"/>
            </a:endParaRPr>
          </a:p>
        </p:txBody>
      </p:sp>
      <p:grpSp>
        <p:nvGrpSpPr>
          <p:cNvPr id="76" name="Group 91">
            <a:extLst>
              <a:ext uri="{FF2B5EF4-FFF2-40B4-BE49-F238E27FC236}">
                <a16:creationId xmlns:a16="http://schemas.microsoft.com/office/drawing/2014/main" id="{077A3840-0728-4DD6-9A60-5F910AEF67D6}"/>
              </a:ext>
            </a:extLst>
          </p:cNvPr>
          <p:cNvGrpSpPr>
            <a:grpSpLocks/>
          </p:cNvGrpSpPr>
          <p:nvPr/>
        </p:nvGrpSpPr>
        <p:grpSpPr bwMode="auto">
          <a:xfrm>
            <a:off x="1475656" y="3656235"/>
            <a:ext cx="5862637" cy="2005013"/>
            <a:chOff x="1033" y="1846"/>
            <a:chExt cx="3693" cy="1263"/>
          </a:xfrm>
        </p:grpSpPr>
        <p:grpSp>
          <p:nvGrpSpPr>
            <p:cNvPr id="77" name="Group 85">
              <a:extLst>
                <a:ext uri="{FF2B5EF4-FFF2-40B4-BE49-F238E27FC236}">
                  <a16:creationId xmlns:a16="http://schemas.microsoft.com/office/drawing/2014/main" id="{A77B9C77-41BA-4097-9891-5D53B9A02773}"/>
                </a:ext>
              </a:extLst>
            </p:cNvPr>
            <p:cNvGrpSpPr>
              <a:grpSpLocks/>
            </p:cNvGrpSpPr>
            <p:nvPr/>
          </p:nvGrpSpPr>
          <p:grpSpPr bwMode="auto">
            <a:xfrm>
              <a:off x="1033" y="1846"/>
              <a:ext cx="3693" cy="1263"/>
              <a:chOff x="1014" y="2229"/>
              <a:chExt cx="3798" cy="1407"/>
            </a:xfrm>
          </p:grpSpPr>
          <p:graphicFrame>
            <p:nvGraphicFramePr>
              <p:cNvPr id="80" name="Object 32">
                <a:extLst>
                  <a:ext uri="{FF2B5EF4-FFF2-40B4-BE49-F238E27FC236}">
                    <a16:creationId xmlns:a16="http://schemas.microsoft.com/office/drawing/2014/main" id="{37ADBFB2-8E9B-44F3-B7A2-2F6E14237589}"/>
                  </a:ext>
                </a:extLst>
              </p:cNvPr>
              <p:cNvGraphicFramePr>
                <a:graphicFrameLocks noChangeAspect="1"/>
              </p:cNvGraphicFramePr>
              <p:nvPr/>
            </p:nvGraphicFramePr>
            <p:xfrm>
              <a:off x="2859" y="2229"/>
              <a:ext cx="590" cy="326"/>
            </p:xfrm>
            <a:graphic>
              <a:graphicData uri="http://schemas.openxmlformats.org/presentationml/2006/ole">
                <mc:AlternateContent xmlns:mc="http://schemas.openxmlformats.org/markup-compatibility/2006">
                  <mc:Choice xmlns:v="urn:schemas-microsoft-com:vml" Requires="v">
                    <p:oleObj spid="_x0000_s14899" name="公式" r:id="rId39" imgW="444240" imgH="228600" progId="Equation.3">
                      <p:embed/>
                    </p:oleObj>
                  </mc:Choice>
                  <mc:Fallback>
                    <p:oleObj name="公式" r:id="rId39" imgW="444240" imgH="228600" progId="Equation.3">
                      <p:embed/>
                      <p:pic>
                        <p:nvPicPr>
                          <p:cNvPr id="650272" name="Object 32">
                            <a:extLst>
                              <a:ext uri="{FF2B5EF4-FFF2-40B4-BE49-F238E27FC236}">
                                <a16:creationId xmlns:a16="http://schemas.microsoft.com/office/drawing/2014/main" id="{B8A201F3-E131-4498-B5F6-881036B386DB}"/>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859" y="2229"/>
                            <a:ext cx="590"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 name="Line 34">
                <a:extLst>
                  <a:ext uri="{FF2B5EF4-FFF2-40B4-BE49-F238E27FC236}">
                    <a16:creationId xmlns:a16="http://schemas.microsoft.com/office/drawing/2014/main" id="{6F01FE40-1AEC-4502-AB1A-F8336E7921E6}"/>
                  </a:ext>
                </a:extLst>
              </p:cNvPr>
              <p:cNvSpPr>
                <a:spLocks noChangeShapeType="1"/>
              </p:cNvSpPr>
              <p:nvPr/>
            </p:nvSpPr>
            <p:spPr bwMode="auto">
              <a:xfrm>
                <a:off x="1014" y="3320"/>
                <a:ext cx="357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 name="Line 35">
                <a:extLst>
                  <a:ext uri="{FF2B5EF4-FFF2-40B4-BE49-F238E27FC236}">
                    <a16:creationId xmlns:a16="http://schemas.microsoft.com/office/drawing/2014/main" id="{6DFE8028-B93D-4C79-822C-E1B11CB7D4E5}"/>
                  </a:ext>
                </a:extLst>
              </p:cNvPr>
              <p:cNvSpPr>
                <a:spLocks noChangeShapeType="1"/>
              </p:cNvSpPr>
              <p:nvPr/>
            </p:nvSpPr>
            <p:spPr bwMode="auto">
              <a:xfrm flipV="1">
                <a:off x="2798" y="2293"/>
                <a:ext cx="0" cy="102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 name="Line 36">
                <a:extLst>
                  <a:ext uri="{FF2B5EF4-FFF2-40B4-BE49-F238E27FC236}">
                    <a16:creationId xmlns:a16="http://schemas.microsoft.com/office/drawing/2014/main" id="{AFAD3E6F-DA07-46CB-90FF-1397E4F29CAB}"/>
                  </a:ext>
                </a:extLst>
              </p:cNvPr>
              <p:cNvSpPr>
                <a:spLocks noChangeShapeType="1"/>
              </p:cNvSpPr>
              <p:nvPr/>
            </p:nvSpPr>
            <p:spPr bwMode="auto">
              <a:xfrm flipV="1">
                <a:off x="1960" y="3256"/>
                <a:ext cx="0" cy="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4" name="Line 37">
                <a:extLst>
                  <a:ext uri="{FF2B5EF4-FFF2-40B4-BE49-F238E27FC236}">
                    <a16:creationId xmlns:a16="http://schemas.microsoft.com/office/drawing/2014/main" id="{06F0BCA8-7E62-40A9-9DFC-5E6BD39894CD}"/>
                  </a:ext>
                </a:extLst>
              </p:cNvPr>
              <p:cNvSpPr>
                <a:spLocks noChangeShapeType="1"/>
              </p:cNvSpPr>
              <p:nvPr/>
            </p:nvSpPr>
            <p:spPr bwMode="auto">
              <a:xfrm flipV="1">
                <a:off x="3635" y="3256"/>
                <a:ext cx="0" cy="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 name="Line 38">
                <a:extLst>
                  <a:ext uri="{FF2B5EF4-FFF2-40B4-BE49-F238E27FC236}">
                    <a16:creationId xmlns:a16="http://schemas.microsoft.com/office/drawing/2014/main" id="{A4C0015A-7F59-49C6-A673-630DB61FB095}"/>
                  </a:ext>
                </a:extLst>
              </p:cNvPr>
              <p:cNvSpPr>
                <a:spLocks noChangeShapeType="1"/>
              </p:cNvSpPr>
              <p:nvPr/>
            </p:nvSpPr>
            <p:spPr bwMode="auto">
              <a:xfrm flipV="1">
                <a:off x="1482" y="2807"/>
                <a:ext cx="478" cy="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 name="Line 39">
                <a:extLst>
                  <a:ext uri="{FF2B5EF4-FFF2-40B4-BE49-F238E27FC236}">
                    <a16:creationId xmlns:a16="http://schemas.microsoft.com/office/drawing/2014/main" id="{ED861E92-66D0-400A-9A1B-5796D0174EAD}"/>
                  </a:ext>
                </a:extLst>
              </p:cNvPr>
              <p:cNvSpPr>
                <a:spLocks noChangeShapeType="1"/>
              </p:cNvSpPr>
              <p:nvPr/>
            </p:nvSpPr>
            <p:spPr bwMode="auto">
              <a:xfrm flipH="1" flipV="1">
                <a:off x="1960" y="2817"/>
                <a:ext cx="469" cy="5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 name="Line 40">
                <a:extLst>
                  <a:ext uri="{FF2B5EF4-FFF2-40B4-BE49-F238E27FC236}">
                    <a16:creationId xmlns:a16="http://schemas.microsoft.com/office/drawing/2014/main" id="{FF538E35-BE7E-402C-B2BC-3A3ED8B5DF79}"/>
                  </a:ext>
                </a:extLst>
              </p:cNvPr>
              <p:cNvSpPr>
                <a:spLocks noChangeShapeType="1"/>
              </p:cNvSpPr>
              <p:nvPr/>
            </p:nvSpPr>
            <p:spPr bwMode="auto">
              <a:xfrm flipH="1">
                <a:off x="3166" y="2806"/>
                <a:ext cx="469" cy="51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 name="Line 41">
                <a:extLst>
                  <a:ext uri="{FF2B5EF4-FFF2-40B4-BE49-F238E27FC236}">
                    <a16:creationId xmlns:a16="http://schemas.microsoft.com/office/drawing/2014/main" id="{A00214E5-359A-487A-8EDB-C389E1A94110}"/>
                  </a:ext>
                </a:extLst>
              </p:cNvPr>
              <p:cNvSpPr>
                <a:spLocks noChangeShapeType="1"/>
              </p:cNvSpPr>
              <p:nvPr/>
            </p:nvSpPr>
            <p:spPr bwMode="auto">
              <a:xfrm flipH="1" flipV="1">
                <a:off x="3635" y="2806"/>
                <a:ext cx="487" cy="51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 name="Line 42">
                <a:extLst>
                  <a:ext uri="{FF2B5EF4-FFF2-40B4-BE49-F238E27FC236}">
                    <a16:creationId xmlns:a16="http://schemas.microsoft.com/office/drawing/2014/main" id="{AE59339F-2056-49B1-85C3-2BD0809C0421}"/>
                  </a:ext>
                </a:extLst>
              </p:cNvPr>
              <p:cNvSpPr>
                <a:spLocks noChangeShapeType="1"/>
              </p:cNvSpPr>
              <p:nvPr/>
            </p:nvSpPr>
            <p:spPr bwMode="auto">
              <a:xfrm>
                <a:off x="2778" y="2806"/>
                <a:ext cx="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90" name="Object 43">
                <a:extLst>
                  <a:ext uri="{FF2B5EF4-FFF2-40B4-BE49-F238E27FC236}">
                    <a16:creationId xmlns:a16="http://schemas.microsoft.com/office/drawing/2014/main" id="{7B7C7465-9A96-4B26-BDF8-2A52469C4C8B}"/>
                  </a:ext>
                </a:extLst>
              </p:cNvPr>
              <p:cNvGraphicFramePr>
                <a:graphicFrameLocks noChangeAspect="1"/>
              </p:cNvGraphicFramePr>
              <p:nvPr/>
            </p:nvGraphicFramePr>
            <p:xfrm>
              <a:off x="2909" y="2617"/>
              <a:ext cx="118" cy="235"/>
            </p:xfrm>
            <a:graphic>
              <a:graphicData uri="http://schemas.openxmlformats.org/presentationml/2006/ole">
                <mc:AlternateContent xmlns:mc="http://schemas.openxmlformats.org/markup-compatibility/2006">
                  <mc:Choice xmlns:v="urn:schemas-microsoft-com:vml" Requires="v">
                    <p:oleObj spid="_x0000_s14900" name="公式" r:id="rId41" imgW="88560" imgH="164880" progId="Equation.3">
                      <p:embed/>
                    </p:oleObj>
                  </mc:Choice>
                  <mc:Fallback>
                    <p:oleObj name="公式" r:id="rId41" imgW="88560" imgH="164880" progId="Equation.3">
                      <p:embed/>
                      <p:pic>
                        <p:nvPicPr>
                          <p:cNvPr id="650283" name="Object 43">
                            <a:extLst>
                              <a:ext uri="{FF2B5EF4-FFF2-40B4-BE49-F238E27FC236}">
                                <a16:creationId xmlns:a16="http://schemas.microsoft.com/office/drawing/2014/main" id="{9488E510-07D5-4C80-AB55-58509AF723D5}"/>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909" y="2617"/>
                            <a:ext cx="11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 name="Object 44">
                <a:extLst>
                  <a:ext uri="{FF2B5EF4-FFF2-40B4-BE49-F238E27FC236}">
                    <a16:creationId xmlns:a16="http://schemas.microsoft.com/office/drawing/2014/main" id="{03049B9B-02FF-43BA-9EC5-786615E72B86}"/>
                  </a:ext>
                </a:extLst>
              </p:cNvPr>
              <p:cNvGraphicFramePr>
                <a:graphicFrameLocks noChangeAspect="1"/>
              </p:cNvGraphicFramePr>
              <p:nvPr/>
            </p:nvGraphicFramePr>
            <p:xfrm>
              <a:off x="1757" y="3405"/>
              <a:ext cx="337" cy="199"/>
            </p:xfrm>
            <a:graphic>
              <a:graphicData uri="http://schemas.openxmlformats.org/presentationml/2006/ole">
                <mc:AlternateContent xmlns:mc="http://schemas.openxmlformats.org/markup-compatibility/2006">
                  <mc:Choice xmlns:v="urn:schemas-microsoft-com:vml" Requires="v">
                    <p:oleObj spid="_x0000_s14901" name="公式" r:id="rId42" imgW="253800" imgH="139680" progId="Equation.3">
                      <p:embed/>
                    </p:oleObj>
                  </mc:Choice>
                  <mc:Fallback>
                    <p:oleObj name="公式" r:id="rId42" imgW="253800" imgH="139680" progId="Equation.3">
                      <p:embed/>
                      <p:pic>
                        <p:nvPicPr>
                          <p:cNvPr id="650284" name="Object 44">
                            <a:extLst>
                              <a:ext uri="{FF2B5EF4-FFF2-40B4-BE49-F238E27FC236}">
                                <a16:creationId xmlns:a16="http://schemas.microsoft.com/office/drawing/2014/main" id="{2928610B-67D5-43BC-B47C-5D6F24A5E926}"/>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757" y="3405"/>
                            <a:ext cx="337"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 name="Object 45">
                <a:extLst>
                  <a:ext uri="{FF2B5EF4-FFF2-40B4-BE49-F238E27FC236}">
                    <a16:creationId xmlns:a16="http://schemas.microsoft.com/office/drawing/2014/main" id="{A27FC5BC-EEA2-43AA-9AD6-6E7073159849}"/>
                  </a:ext>
                </a:extLst>
              </p:cNvPr>
              <p:cNvGraphicFramePr>
                <a:graphicFrameLocks noChangeAspect="1"/>
              </p:cNvGraphicFramePr>
              <p:nvPr/>
            </p:nvGraphicFramePr>
            <p:xfrm>
              <a:off x="3549" y="3419"/>
              <a:ext cx="186" cy="199"/>
            </p:xfrm>
            <a:graphic>
              <a:graphicData uri="http://schemas.openxmlformats.org/presentationml/2006/ole">
                <mc:AlternateContent xmlns:mc="http://schemas.openxmlformats.org/markup-compatibility/2006">
                  <mc:Choice xmlns:v="urn:schemas-microsoft-com:vml" Requires="v">
                    <p:oleObj spid="_x0000_s14902" name="公式" r:id="rId44" imgW="139680" imgH="139680" progId="Equation.3">
                      <p:embed/>
                    </p:oleObj>
                  </mc:Choice>
                  <mc:Fallback>
                    <p:oleObj name="公式" r:id="rId44" imgW="139680" imgH="139680" progId="Equation.3">
                      <p:embed/>
                      <p:pic>
                        <p:nvPicPr>
                          <p:cNvPr id="650285" name="Object 45">
                            <a:extLst>
                              <a:ext uri="{FF2B5EF4-FFF2-40B4-BE49-F238E27FC236}">
                                <a16:creationId xmlns:a16="http://schemas.microsoft.com/office/drawing/2014/main" id="{0EDC96E0-AD42-40DC-B4DD-88C365B10D65}"/>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549" y="3419"/>
                            <a:ext cx="186"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 name="Object 46">
                <a:extLst>
                  <a:ext uri="{FF2B5EF4-FFF2-40B4-BE49-F238E27FC236}">
                    <a16:creationId xmlns:a16="http://schemas.microsoft.com/office/drawing/2014/main" id="{70D29916-D70C-4579-9C09-8A698D83D217}"/>
                  </a:ext>
                </a:extLst>
              </p:cNvPr>
              <p:cNvGraphicFramePr>
                <a:graphicFrameLocks noChangeAspect="1"/>
              </p:cNvGraphicFramePr>
              <p:nvPr/>
            </p:nvGraphicFramePr>
            <p:xfrm>
              <a:off x="4609" y="3277"/>
              <a:ext cx="203" cy="199"/>
            </p:xfrm>
            <a:graphic>
              <a:graphicData uri="http://schemas.openxmlformats.org/presentationml/2006/ole">
                <mc:AlternateContent xmlns:mc="http://schemas.openxmlformats.org/markup-compatibility/2006">
                  <mc:Choice xmlns:v="urn:schemas-microsoft-com:vml" Requires="v">
                    <p:oleObj spid="_x0000_s14903" name="公式" r:id="rId46" imgW="152280" imgH="139680" progId="Equation.3">
                      <p:embed/>
                    </p:oleObj>
                  </mc:Choice>
                  <mc:Fallback>
                    <p:oleObj name="公式" r:id="rId46" imgW="152280" imgH="139680" progId="Equation.3">
                      <p:embed/>
                      <p:pic>
                        <p:nvPicPr>
                          <p:cNvPr id="650286" name="Object 46">
                            <a:extLst>
                              <a:ext uri="{FF2B5EF4-FFF2-40B4-BE49-F238E27FC236}">
                                <a16:creationId xmlns:a16="http://schemas.microsoft.com/office/drawing/2014/main" id="{5C3F9648-67ED-4C1A-8C45-866864798141}"/>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4609" y="3277"/>
                            <a:ext cx="203"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 name="Object 47">
                <a:extLst>
                  <a:ext uri="{FF2B5EF4-FFF2-40B4-BE49-F238E27FC236}">
                    <a16:creationId xmlns:a16="http://schemas.microsoft.com/office/drawing/2014/main" id="{0DAE4991-B549-45AB-A8C4-1429AD2A42F4}"/>
                  </a:ext>
                </a:extLst>
              </p:cNvPr>
              <p:cNvGraphicFramePr>
                <a:graphicFrameLocks noChangeAspect="1"/>
              </p:cNvGraphicFramePr>
              <p:nvPr/>
            </p:nvGraphicFramePr>
            <p:xfrm>
              <a:off x="2725" y="3382"/>
              <a:ext cx="169" cy="254"/>
            </p:xfrm>
            <a:graphic>
              <a:graphicData uri="http://schemas.openxmlformats.org/presentationml/2006/ole">
                <mc:AlternateContent xmlns:mc="http://schemas.openxmlformats.org/markup-compatibility/2006">
                  <mc:Choice xmlns:v="urn:schemas-microsoft-com:vml" Requires="v">
                    <p:oleObj spid="_x0000_s14904" name="公式" r:id="rId48" imgW="126720" imgH="177480" progId="Equation.3">
                      <p:embed/>
                    </p:oleObj>
                  </mc:Choice>
                  <mc:Fallback>
                    <p:oleObj name="公式" r:id="rId48" imgW="126720" imgH="177480" progId="Equation.3">
                      <p:embed/>
                      <p:pic>
                        <p:nvPicPr>
                          <p:cNvPr id="650287" name="Object 47">
                            <a:extLst>
                              <a:ext uri="{FF2B5EF4-FFF2-40B4-BE49-F238E27FC236}">
                                <a16:creationId xmlns:a16="http://schemas.microsoft.com/office/drawing/2014/main" id="{B36ED87D-3882-4BAE-AFB7-18B50EE823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25" y="3382"/>
                            <a:ext cx="169"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 name="Object 48">
                <a:extLst>
                  <a:ext uri="{FF2B5EF4-FFF2-40B4-BE49-F238E27FC236}">
                    <a16:creationId xmlns:a16="http://schemas.microsoft.com/office/drawing/2014/main" id="{090EA911-88DA-4CA9-BC1F-B88352B1AAC8}"/>
                  </a:ext>
                </a:extLst>
              </p:cNvPr>
              <p:cNvGraphicFramePr>
                <a:graphicFrameLocks noChangeAspect="1"/>
              </p:cNvGraphicFramePr>
              <p:nvPr/>
            </p:nvGraphicFramePr>
            <p:xfrm>
              <a:off x="1200" y="2930"/>
              <a:ext cx="320" cy="148"/>
            </p:xfrm>
            <a:graphic>
              <a:graphicData uri="http://schemas.openxmlformats.org/presentationml/2006/ole">
                <mc:AlternateContent xmlns:mc="http://schemas.openxmlformats.org/markup-compatibility/2006">
                  <mc:Choice xmlns:v="urn:schemas-microsoft-com:vml" Requires="v">
                    <p:oleObj spid="_x0000_s14905" name="公式" r:id="rId49" imgW="177480" imgH="75960" progId="Equation.3">
                      <p:embed/>
                    </p:oleObj>
                  </mc:Choice>
                  <mc:Fallback>
                    <p:oleObj name="公式" r:id="rId49" imgW="177480" imgH="75960" progId="Equation.3">
                      <p:embed/>
                      <p:pic>
                        <p:nvPicPr>
                          <p:cNvPr id="650288" name="Object 48">
                            <a:extLst>
                              <a:ext uri="{FF2B5EF4-FFF2-40B4-BE49-F238E27FC236}">
                                <a16:creationId xmlns:a16="http://schemas.microsoft.com/office/drawing/2014/main" id="{3F821059-E743-4555-BB95-4708C1091B91}"/>
                              </a:ext>
                            </a:extLst>
                          </p:cNvPr>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1200" y="2930"/>
                            <a:ext cx="320" cy="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 name="Object 49">
                <a:extLst>
                  <a:ext uri="{FF2B5EF4-FFF2-40B4-BE49-F238E27FC236}">
                    <a16:creationId xmlns:a16="http://schemas.microsoft.com/office/drawing/2014/main" id="{20FE3154-F026-4BA9-9ED7-559D597753D0}"/>
                  </a:ext>
                </a:extLst>
              </p:cNvPr>
              <p:cNvGraphicFramePr>
                <a:graphicFrameLocks noChangeAspect="1"/>
              </p:cNvGraphicFramePr>
              <p:nvPr/>
            </p:nvGraphicFramePr>
            <p:xfrm>
              <a:off x="4042" y="2941"/>
              <a:ext cx="297" cy="137"/>
            </p:xfrm>
            <a:graphic>
              <a:graphicData uri="http://schemas.openxmlformats.org/presentationml/2006/ole">
                <mc:AlternateContent xmlns:mc="http://schemas.openxmlformats.org/markup-compatibility/2006">
                  <mc:Choice xmlns:v="urn:schemas-microsoft-com:vml" Requires="v">
                    <p:oleObj spid="_x0000_s14906" name="公式" r:id="rId51" imgW="177480" imgH="75960" progId="Equation.3">
                      <p:embed/>
                    </p:oleObj>
                  </mc:Choice>
                  <mc:Fallback>
                    <p:oleObj name="公式" r:id="rId51" imgW="177480" imgH="75960" progId="Equation.3">
                      <p:embed/>
                      <p:pic>
                        <p:nvPicPr>
                          <p:cNvPr id="650289" name="Object 49">
                            <a:extLst>
                              <a:ext uri="{FF2B5EF4-FFF2-40B4-BE49-F238E27FC236}">
                                <a16:creationId xmlns:a16="http://schemas.microsoft.com/office/drawing/2014/main" id="{7CFA06C5-3EA8-4999-A2CF-0EC2A9C4786C}"/>
                              </a:ext>
                            </a:extLst>
                          </p:cNvPr>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4042" y="2941"/>
                            <a:ext cx="297"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8" name="Object 89">
              <a:extLst>
                <a:ext uri="{FF2B5EF4-FFF2-40B4-BE49-F238E27FC236}">
                  <a16:creationId xmlns:a16="http://schemas.microsoft.com/office/drawing/2014/main" id="{8906D84D-152E-437B-A129-0D12157DDE41}"/>
                </a:ext>
              </a:extLst>
            </p:cNvPr>
            <p:cNvGraphicFramePr>
              <a:graphicFrameLocks noChangeAspect="1"/>
            </p:cNvGraphicFramePr>
            <p:nvPr/>
          </p:nvGraphicFramePr>
          <p:xfrm>
            <a:off x="2875" y="2792"/>
            <a:ext cx="546" cy="251"/>
          </p:xfrm>
          <a:graphic>
            <a:graphicData uri="http://schemas.openxmlformats.org/presentationml/2006/ole">
              <mc:AlternateContent xmlns:mc="http://schemas.openxmlformats.org/markup-compatibility/2006">
                <mc:Choice xmlns:v="urn:schemas-microsoft-com:vml" Requires="v">
                  <p:oleObj spid="_x0000_s14907" name="Equation" r:id="rId53" imgW="469800" imgH="215640" progId="Equation.DSMT4">
                    <p:embed/>
                  </p:oleObj>
                </mc:Choice>
                <mc:Fallback>
                  <p:oleObj name="Equation" r:id="rId53" imgW="469800" imgH="215640" progId="Equation.DSMT4">
                    <p:embed/>
                    <p:pic>
                      <p:nvPicPr>
                        <p:cNvPr id="650329" name="Object 89">
                          <a:extLst>
                            <a:ext uri="{FF2B5EF4-FFF2-40B4-BE49-F238E27FC236}">
                              <a16:creationId xmlns:a16="http://schemas.microsoft.com/office/drawing/2014/main" id="{AA431087-930D-42F8-B0F8-F0B29AAD64DD}"/>
                            </a:ext>
                          </a:extLst>
                        </p:cNvPr>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2875" y="2792"/>
                          <a:ext cx="546"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 name="Object 90">
              <a:extLst>
                <a:ext uri="{FF2B5EF4-FFF2-40B4-BE49-F238E27FC236}">
                  <a16:creationId xmlns:a16="http://schemas.microsoft.com/office/drawing/2014/main" id="{300DEAA2-4392-4109-B563-B50B10E9D616}"/>
                </a:ext>
              </a:extLst>
            </p:cNvPr>
            <p:cNvGraphicFramePr>
              <a:graphicFrameLocks noChangeAspect="1"/>
            </p:cNvGraphicFramePr>
            <p:nvPr/>
          </p:nvGraphicFramePr>
          <p:xfrm>
            <a:off x="3835" y="2783"/>
            <a:ext cx="546" cy="251"/>
          </p:xfrm>
          <a:graphic>
            <a:graphicData uri="http://schemas.openxmlformats.org/presentationml/2006/ole">
              <mc:AlternateContent xmlns:mc="http://schemas.openxmlformats.org/markup-compatibility/2006">
                <mc:Choice xmlns:v="urn:schemas-microsoft-com:vml" Requires="v">
                  <p:oleObj spid="_x0000_s14908" name="Equation" r:id="rId55" imgW="469800" imgH="215640" progId="Equation.DSMT4">
                    <p:embed/>
                  </p:oleObj>
                </mc:Choice>
                <mc:Fallback>
                  <p:oleObj name="Equation" r:id="rId55" imgW="469800" imgH="215640" progId="Equation.DSMT4">
                    <p:embed/>
                    <p:pic>
                      <p:nvPicPr>
                        <p:cNvPr id="650330" name="Object 90">
                          <a:extLst>
                            <a:ext uri="{FF2B5EF4-FFF2-40B4-BE49-F238E27FC236}">
                              <a16:creationId xmlns:a16="http://schemas.microsoft.com/office/drawing/2014/main" id="{25485A48-DC53-46CA-A4F0-3F072C701420}"/>
                            </a:ext>
                          </a:extLst>
                        </p:cNvPr>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3835" y="2783"/>
                          <a:ext cx="546"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wipe(down)">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3"/>
                                        </p:tgtEl>
                                        <p:attrNameLst>
                                          <p:attrName>style.visibility</p:attrName>
                                        </p:attrNameLst>
                                      </p:cBhvr>
                                      <p:to>
                                        <p:strVal val="visible"/>
                                      </p:to>
                                    </p:set>
                                    <p:anim calcmode="lin" valueType="num">
                                      <p:cBhvr additive="base">
                                        <p:cTn id="12" dur="500" fill="hold"/>
                                        <p:tgtEl>
                                          <p:spTgt spid="73"/>
                                        </p:tgtEl>
                                        <p:attrNameLst>
                                          <p:attrName>ppt_x</p:attrName>
                                        </p:attrNameLst>
                                      </p:cBhvr>
                                      <p:tavLst>
                                        <p:tav tm="0">
                                          <p:val>
                                            <p:strVal val="#ppt_x"/>
                                          </p:val>
                                        </p:tav>
                                        <p:tav tm="100000">
                                          <p:val>
                                            <p:strVal val="#ppt_x"/>
                                          </p:val>
                                        </p:tav>
                                      </p:tavLst>
                                    </p:anim>
                                    <p:anim calcmode="lin" valueType="num">
                                      <p:cBhvr additive="base">
                                        <p:cTn id="13"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 name="标题 1">
            <a:extLst>
              <a:ext uri="{FF2B5EF4-FFF2-40B4-BE49-F238E27FC236}">
                <a16:creationId xmlns:a16="http://schemas.microsoft.com/office/drawing/2014/main" id="{19B3F2CB-F9F4-438D-BD6B-8223B3D0805D}"/>
              </a:ext>
            </a:extLst>
          </p:cNvPr>
          <p:cNvSpPr>
            <a:spLocks noGrp="1"/>
          </p:cNvSpPr>
          <p:nvPr>
            <p:ph type="title"/>
          </p:nvPr>
        </p:nvSpPr>
        <p:spPr/>
        <p:txBody>
          <a:bodyPr/>
          <a:lstStyle/>
          <a:p>
            <a:r>
              <a:rPr lang="en-US" altLang="zh-CN" dirty="0"/>
              <a:t>5.7 </a:t>
            </a:r>
            <a:r>
              <a:rPr lang="zh-CN" altLang="en-US" dirty="0"/>
              <a:t>对偶性质</a:t>
            </a:r>
          </a:p>
        </p:txBody>
      </p:sp>
      <p:sp>
        <p:nvSpPr>
          <p:cNvPr id="4" name="灯片编号占位符 3">
            <a:extLst>
              <a:ext uri="{FF2B5EF4-FFF2-40B4-BE49-F238E27FC236}">
                <a16:creationId xmlns:a16="http://schemas.microsoft.com/office/drawing/2014/main" id="{2D1749F4-0968-45DA-9D36-60F9039F46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2D0D8F-A3E1-4249-B84D-2B8D31B9C06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2" name="Object 3">
                <a:extLst>
                  <a:ext uri="{FF2B5EF4-FFF2-40B4-BE49-F238E27FC236}">
                    <a16:creationId xmlns:a16="http://schemas.microsoft.com/office/drawing/2014/main" id="{6E152BBF-88F3-4B55-99A3-DACE0F2DD852}"/>
                  </a:ext>
                </a:extLst>
              </p:cNvPr>
              <p:cNvSpPr txBox="1"/>
              <p:nvPr/>
            </p:nvSpPr>
            <p:spPr bwMode="auto">
              <a:xfrm>
                <a:off x="977336" y="2014063"/>
                <a:ext cx="7189328" cy="98995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num>
                                <m:den>
                                  <m:r>
                                    <a:rPr lang="en-US" sz="2400" i="1">
                                      <a:solidFill>
                                        <a:srgbClr val="000000"/>
                                      </a:solidFill>
                                      <a:latin typeface="Cambria Math" panose="02040503050406030204" pitchFamily="18" charset="0"/>
                                    </a:rPr>
                                    <m:t>𝑁</m:t>
                                  </m:r>
                                </m:den>
                              </m:f>
                              <m:r>
                                <a:rPr lang="en-US" sz="2400" i="1">
                                  <a:solidFill>
                                    <a:srgbClr val="000000"/>
                                  </a:solidFill>
                                  <a:latin typeface="Cambria Math" panose="02040503050406030204" pitchFamily="18" charset="0"/>
                                </a:rPr>
                                <m:t>𝑛</m:t>
                              </m:r>
                            </m:sup>
                          </m:sSup>
                        </m:e>
                      </m:nary>
                      <m:r>
                        <a:rPr lang="en-US" sz="2400" i="1">
                          <a:solidFill>
                            <a:srgbClr val="000000"/>
                          </a:solidFill>
                          <a:latin typeface="Cambria Math" panose="02040503050406030204" pitchFamily="18" charset="0"/>
                        </a:rPr>
                        <m:t>,</m:t>
                      </m:r>
                      <m:m>
                        <m:mPr>
                          <m:plcHide m:val="on"/>
                          <m:mcs>
                            <m:mc>
                              <m:mcPr>
                                <m:count m:val="2"/>
                                <m:mcJc m:val="center"/>
                              </m:mcPr>
                            </m:mc>
                          </m:mcs>
                          <m:ctrlPr>
                            <a:rPr lang="en-US" sz="2400" i="1">
                              <a:solidFill>
                                <a:srgbClr val="000000"/>
                              </a:solidFill>
                              <a:latin typeface="Cambria Math" panose="02040503050406030204" pitchFamily="18" charset="0"/>
                            </a:rPr>
                          </m:ctrlPr>
                        </m:mPr>
                        <m:mr>
                          <m:e/>
                          <m:e/>
                        </m:mr>
                      </m:m>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𝑁</m:t>
                          </m:r>
                        </m:den>
                      </m:f>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r>
                            <a:rPr lang="en-US" sz="240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num>
                                <m:den>
                                  <m:r>
                                    <a:rPr lang="en-US" sz="2400" i="1">
                                      <a:solidFill>
                                        <a:srgbClr val="000000"/>
                                      </a:solidFill>
                                      <a:latin typeface="Cambria Math" panose="02040503050406030204" pitchFamily="18" charset="0"/>
                                    </a:rPr>
                                    <m:t>𝑁</m:t>
                                  </m:r>
                                </m:den>
                              </m:f>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72" name="Object 3">
                <a:extLst>
                  <a:ext uri="{FF2B5EF4-FFF2-40B4-BE49-F238E27FC236}">
                    <a16:creationId xmlns:a16="http://schemas.microsoft.com/office/drawing/2014/main" id="{6E152BBF-88F3-4B55-99A3-DACE0F2DD852}"/>
                  </a:ext>
                </a:extLst>
              </p:cNvPr>
              <p:cNvSpPr txBox="1">
                <a:spLocks noRot="1" noChangeAspect="1" noMove="1" noResize="1" noEditPoints="1" noAdjustHandles="1" noChangeArrowheads="1" noChangeShapeType="1" noTextEdit="1"/>
              </p:cNvSpPr>
              <p:nvPr/>
            </p:nvSpPr>
            <p:spPr bwMode="auto">
              <a:xfrm>
                <a:off x="977336" y="2014063"/>
                <a:ext cx="7189328" cy="989951"/>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 Box 7">
                <a:extLst>
                  <a:ext uri="{FF2B5EF4-FFF2-40B4-BE49-F238E27FC236}">
                    <a16:creationId xmlns:a16="http://schemas.microsoft.com/office/drawing/2014/main" id="{3A17A124-CCAA-4D27-ABCC-1FEBD7B451CC}"/>
                  </a:ext>
                </a:extLst>
              </p:cNvPr>
              <p:cNvSpPr txBox="1">
                <a:spLocks noChangeArrowheads="1"/>
              </p:cNvSpPr>
              <p:nvPr/>
            </p:nvSpPr>
            <p:spPr bwMode="auto">
              <a:xfrm>
                <a:off x="782638" y="3131362"/>
                <a:ext cx="8015287" cy="111376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eaLnBrk="0" hangingPunct="0">
                  <a:lnSpc>
                    <a:spcPct val="150000"/>
                  </a:lnSpc>
                </a:pPr>
                <a:r>
                  <a:rPr lang="zh-CN" altLang="en-US" sz="2400" dirty="0">
                    <a:solidFill>
                      <a:schemeClr val="tx1"/>
                    </a:solidFill>
                    <a:latin typeface="楷体_GB2312" panose="02010609030101010101" pitchFamily="49" charset="-122"/>
                    <a:ea typeface="楷体_GB2312" panose="02010609030101010101" pitchFamily="49" charset="-122"/>
                  </a:rPr>
                  <a:t>由于</a:t>
                </a:r>
                <a14:m>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𝑘</m:t>
                        </m:r>
                      </m:sub>
                    </m:sSub>
                  </m:oMath>
                </a14:m>
                <a:r>
                  <a:rPr lang="zh-CN" altLang="en-US" sz="2400" dirty="0">
                    <a:solidFill>
                      <a:schemeClr val="tx1"/>
                    </a:solidFill>
                    <a:latin typeface="楷体_GB2312" panose="02010609030101010101" pitchFamily="49" charset="-122"/>
                    <a:ea typeface="楷体_GB2312" panose="02010609030101010101" pitchFamily="49" charset="-122"/>
                  </a:rPr>
                  <a:t>本身也是以</a:t>
                </a:r>
                <a14:m>
                  <m:oMath xmlns:m="http://schemas.openxmlformats.org/officeDocument/2006/math">
                    <m:r>
                      <a:rPr lang="en-US" altLang="zh-CN" sz="2400" i="1" dirty="0" smtClean="0">
                        <a:solidFill>
                          <a:schemeClr val="tx1"/>
                        </a:solidFill>
                        <a:latin typeface="Cambria Math" panose="02040503050406030204" pitchFamily="18" charset="0"/>
                        <a:ea typeface="楷体_GB2312" panose="02010609030101010101" pitchFamily="49" charset="-122"/>
                      </a:rPr>
                      <m:t>𝑁</m:t>
                    </m:r>
                  </m:oMath>
                </a14:m>
                <a:r>
                  <a:rPr lang="zh-CN" altLang="en-US" sz="2400" dirty="0">
                    <a:solidFill>
                      <a:schemeClr val="tx1"/>
                    </a:solidFill>
                    <a:latin typeface="楷体_GB2312" panose="02010609030101010101" pitchFamily="49" charset="-122"/>
                    <a:ea typeface="楷体_GB2312" panose="02010609030101010101" pitchFamily="49" charset="-122"/>
                  </a:rPr>
                  <a:t>为周期的序列，当然也可以将其展开成</a:t>
                </a:r>
                <a:r>
                  <a:rPr lang="zh-CN" altLang="en-US" sz="2400" dirty="0">
                    <a:latin typeface="Times New Roman" panose="02020603050405020304" pitchFamily="18" charset="0"/>
                    <a:ea typeface="楷体_GB2312" panose="02010609030101010101" pitchFamily="49" charset="-122"/>
                  </a:rPr>
                  <a:t>离散时间傅里叶级数</a:t>
                </a:r>
                <a:r>
                  <a:rPr lang="zh-CN" altLang="en-US" sz="2400" dirty="0">
                    <a:solidFill>
                      <a:schemeClr val="tx1"/>
                    </a:solidFill>
                    <a:latin typeface="楷体_GB2312" panose="02010609030101010101" pitchFamily="49" charset="-122"/>
                    <a:ea typeface="楷体_GB2312" panose="02010609030101010101" pitchFamily="49" charset="-122"/>
                  </a:rPr>
                  <a:t>形式。</a:t>
                </a:r>
                <a:endParaRPr lang="zh-CN" altLang="en-US" sz="2400" dirty="0">
                  <a:solidFill>
                    <a:srgbClr val="000099"/>
                  </a:solidFill>
                  <a:latin typeface="楷体_GB2312" panose="02010609030101010101" pitchFamily="49" charset="-122"/>
                  <a:ea typeface="楷体_GB2312" panose="02010609030101010101" pitchFamily="49" charset="-122"/>
                </a:endParaRPr>
              </a:p>
            </p:txBody>
          </p:sp>
        </mc:Choice>
        <mc:Fallback xmlns="">
          <p:sp>
            <p:nvSpPr>
              <p:cNvPr id="75" name="Text Box 7">
                <a:extLst>
                  <a:ext uri="{FF2B5EF4-FFF2-40B4-BE49-F238E27FC236}">
                    <a16:creationId xmlns:a16="http://schemas.microsoft.com/office/drawing/2014/main" id="{3A17A124-CCAA-4D27-ABCC-1FEBD7B451CC}"/>
                  </a:ext>
                </a:extLst>
              </p:cNvPr>
              <p:cNvSpPr txBox="1">
                <a:spLocks noRot="1" noChangeAspect="1" noMove="1" noResize="1" noEditPoints="1" noAdjustHandles="1" noChangeArrowheads="1" noChangeShapeType="1" noTextEdit="1"/>
              </p:cNvSpPr>
              <p:nvPr/>
            </p:nvSpPr>
            <p:spPr bwMode="auto">
              <a:xfrm>
                <a:off x="782638" y="3131362"/>
                <a:ext cx="8015287" cy="1113766"/>
              </a:xfrm>
              <a:prstGeom prst="rect">
                <a:avLst/>
              </a:prstGeom>
              <a:blipFill>
                <a:blip r:embed="rId3"/>
                <a:stretch>
                  <a:fillRect l="-1141" b="-1208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98" name="Text Box 6">
            <a:extLst>
              <a:ext uri="{FF2B5EF4-FFF2-40B4-BE49-F238E27FC236}">
                <a16:creationId xmlns:a16="http://schemas.microsoft.com/office/drawing/2014/main" id="{29A006BC-C402-4D63-A057-AAD1FC5AC8D9}"/>
              </a:ext>
            </a:extLst>
          </p:cNvPr>
          <p:cNvSpPr txBox="1">
            <a:spLocks noChangeArrowheads="1"/>
          </p:cNvSpPr>
          <p:nvPr/>
        </p:nvSpPr>
        <p:spPr bwMode="auto">
          <a:xfrm>
            <a:off x="323528" y="1326429"/>
            <a:ext cx="54085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400" dirty="0">
                <a:solidFill>
                  <a:srgbClr val="0000FF"/>
                </a:solidFill>
                <a:latin typeface="楷体_GB2312" panose="02010609030101010101" pitchFamily="49" charset="-122"/>
                <a:ea typeface="楷体_GB2312" panose="02010609030101010101" pitchFamily="49" charset="-122"/>
              </a:rPr>
              <a:t>一</a:t>
            </a:r>
            <a:r>
              <a:rPr lang="en-US" altLang="zh-CN" sz="2400" dirty="0">
                <a:solidFill>
                  <a:srgbClr val="0000FF"/>
                </a:solidFill>
                <a:latin typeface="楷体_GB2312" panose="02010609030101010101" pitchFamily="49" charset="-122"/>
                <a:ea typeface="楷体_GB2312" panose="02010609030101010101" pitchFamily="49" charset="-122"/>
              </a:rPr>
              <a:t>.</a:t>
            </a:r>
            <a:r>
              <a:rPr lang="zh-CN" altLang="en-US" sz="2400" dirty="0">
                <a:solidFill>
                  <a:srgbClr val="0000FF"/>
                </a:solidFill>
                <a:latin typeface="Times New Roman" panose="02020603050405020304" pitchFamily="18" charset="0"/>
                <a:ea typeface="楷体_GB2312" panose="02010609030101010101" pitchFamily="49" charset="-122"/>
              </a:rPr>
              <a:t>离散时间傅里叶级数</a:t>
            </a:r>
            <a:r>
              <a:rPr lang="zh-CN" altLang="en-US" sz="2400" dirty="0">
                <a:solidFill>
                  <a:srgbClr val="0000FF"/>
                </a:solidFill>
                <a:latin typeface="楷体_GB2312" panose="02010609030101010101" pitchFamily="49" charset="-122"/>
                <a:ea typeface="楷体_GB2312" panose="02010609030101010101" pitchFamily="49" charset="-122"/>
              </a:rPr>
              <a:t>的对偶</a:t>
            </a:r>
          </a:p>
        </p:txBody>
      </p:sp>
      <mc:AlternateContent xmlns:mc="http://schemas.openxmlformats.org/markup-compatibility/2006" xmlns:a14="http://schemas.microsoft.com/office/drawing/2010/main">
        <mc:Choice Requires="a14">
          <p:sp>
            <p:nvSpPr>
              <p:cNvPr id="100" name="Object 5">
                <a:extLst>
                  <a:ext uri="{FF2B5EF4-FFF2-40B4-BE49-F238E27FC236}">
                    <a16:creationId xmlns:a16="http://schemas.microsoft.com/office/drawing/2014/main" id="{9EC3A2B0-81BF-4E20-A438-5CFD7F0D6C2B}"/>
                  </a:ext>
                </a:extLst>
              </p:cNvPr>
              <p:cNvSpPr txBox="1"/>
              <p:nvPr/>
            </p:nvSpPr>
            <p:spPr bwMode="auto">
              <a:xfrm>
                <a:off x="2771800" y="4310787"/>
                <a:ext cx="3704009" cy="98995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𝑁</m:t>
                              </m:r>
                            </m:den>
                          </m:f>
                          <m:r>
                            <a:rPr lang="en-US" sz="240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𝑛</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num>
                                <m:den>
                                  <m:r>
                                    <a:rPr lang="en-US" sz="2400" i="1">
                                      <a:solidFill>
                                        <a:srgbClr val="000000"/>
                                      </a:solidFill>
                                      <a:latin typeface="Cambria Math" panose="02040503050406030204" pitchFamily="18" charset="0"/>
                                    </a:rPr>
                                    <m:t>𝑁</m:t>
                                  </m:r>
                                </m:den>
                              </m:f>
                              <m:r>
                                <a:rPr lang="en-US" sz="2400" i="1">
                                  <a:solidFill>
                                    <a:srgbClr val="000000"/>
                                  </a:solidFill>
                                  <a:latin typeface="Cambria Math" panose="02040503050406030204" pitchFamily="18" charset="0"/>
                                </a:rPr>
                                <m:t>𝑘</m:t>
                              </m:r>
                            </m:sup>
                          </m:sSup>
                        </m:e>
                      </m:nary>
                    </m:oMath>
                  </m:oMathPara>
                </a14:m>
                <a:endParaRPr lang="en-US" sz="2400" dirty="0"/>
              </a:p>
            </p:txBody>
          </p:sp>
        </mc:Choice>
        <mc:Fallback xmlns="">
          <p:sp>
            <p:nvSpPr>
              <p:cNvPr id="100" name="Object 5">
                <a:extLst>
                  <a:ext uri="{FF2B5EF4-FFF2-40B4-BE49-F238E27FC236}">
                    <a16:creationId xmlns:a16="http://schemas.microsoft.com/office/drawing/2014/main" id="{9EC3A2B0-81BF-4E20-A438-5CFD7F0D6C2B}"/>
                  </a:ext>
                </a:extLst>
              </p:cNvPr>
              <p:cNvSpPr txBox="1">
                <a:spLocks noRot="1" noChangeAspect="1" noMove="1" noResize="1" noEditPoints="1" noAdjustHandles="1" noChangeArrowheads="1" noChangeShapeType="1" noTextEdit="1"/>
              </p:cNvSpPr>
              <p:nvPr/>
            </p:nvSpPr>
            <p:spPr bwMode="auto">
              <a:xfrm>
                <a:off x="2771800" y="4310787"/>
                <a:ext cx="3704009" cy="989951"/>
              </a:xfrm>
              <a:prstGeom prst="rect">
                <a:avLst/>
              </a:prstGeom>
              <a:blipFill>
                <a:blip r:embed="rId4"/>
                <a:stretch>
                  <a:fillRect/>
                </a:stretch>
              </a:blipFill>
              <a:ln>
                <a:noFill/>
              </a:ln>
              <a:effectLst/>
            </p:spPr>
            <p:txBody>
              <a:bodyPr/>
              <a:lstStyle/>
              <a:p>
                <a:r>
                  <a:rPr lang="en-US">
                    <a:noFill/>
                  </a:rPr>
                  <a:t> </a:t>
                </a:r>
              </a:p>
            </p:txBody>
          </p:sp>
        </mc:Fallback>
      </mc:AlternateContent>
      <p:sp>
        <p:nvSpPr>
          <p:cNvPr id="104" name="Text Box 11">
            <a:extLst>
              <a:ext uri="{FF2B5EF4-FFF2-40B4-BE49-F238E27FC236}">
                <a16:creationId xmlns:a16="http://schemas.microsoft.com/office/drawing/2014/main" id="{7ECABEA0-4D08-4D45-AB44-CE68FC56B804}"/>
              </a:ext>
            </a:extLst>
          </p:cNvPr>
          <p:cNvSpPr txBox="1">
            <a:spLocks noChangeArrowheads="1"/>
          </p:cNvSpPr>
          <p:nvPr/>
        </p:nvSpPr>
        <p:spPr bwMode="auto">
          <a:xfrm>
            <a:off x="1907704" y="5691299"/>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dirty="0">
                <a:solidFill>
                  <a:srgbClr val="000099"/>
                </a:solidFill>
                <a:latin typeface="楷体_GB2312" panose="02010609030101010101" pitchFamily="49" charset="-122"/>
                <a:ea typeface="楷体_GB2312" panose="02010609030101010101" pitchFamily="49" charset="-122"/>
              </a:rPr>
              <a:t>从而</a:t>
            </a:r>
          </a:p>
        </p:txBody>
      </p:sp>
      <mc:AlternateContent xmlns:mc="http://schemas.openxmlformats.org/markup-compatibility/2006" xmlns:a14="http://schemas.microsoft.com/office/drawing/2010/main">
        <mc:Choice Requires="a14">
          <p:sp>
            <p:nvSpPr>
              <p:cNvPr id="105" name="Object 17">
                <a:extLst>
                  <a:ext uri="{FF2B5EF4-FFF2-40B4-BE49-F238E27FC236}">
                    <a16:creationId xmlns:a16="http://schemas.microsoft.com/office/drawing/2014/main" id="{B74BF13C-559A-4E6B-809A-5E7B39E77123}"/>
                  </a:ext>
                </a:extLst>
              </p:cNvPr>
              <p:cNvSpPr txBox="1"/>
              <p:nvPr/>
            </p:nvSpPr>
            <p:spPr bwMode="auto">
              <a:xfrm>
                <a:off x="2771800" y="5445224"/>
                <a:ext cx="3790257" cy="9921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𝑛</m:t>
                          </m:r>
                        </m:sub>
                      </m:sSub>
                      <m:r>
                        <a:rPr lang="en-US" sz="2400" i="1">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&gt;</m:t>
                          </m:r>
                        </m:sub>
                        <m:sup/>
                        <m:e>
                          <m:f>
                            <m:fPr>
                              <m:ctrlPr>
                                <a:rPr lang="en-US" sz="2400" i="1" smtClean="0">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𝑁</m:t>
                              </m:r>
                            </m:den>
                          </m:f>
                          <m:r>
                            <a:rPr lang="en-US" sz="2400" i="1">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num>
                                <m:den>
                                  <m:r>
                                    <a:rPr lang="en-US" sz="2400" i="1">
                                      <a:solidFill>
                                        <a:srgbClr val="000000"/>
                                      </a:solidFill>
                                      <a:latin typeface="Cambria Math" panose="02040503050406030204" pitchFamily="18" charset="0"/>
                                    </a:rPr>
                                    <m:t>𝑁</m:t>
                                  </m:r>
                                </m:den>
                              </m:f>
                              <m:r>
                                <a:rPr lang="en-US" sz="2400" i="1">
                                  <a:solidFill>
                                    <a:srgbClr val="000000"/>
                                  </a:solidFill>
                                  <a:latin typeface="Cambria Math" panose="02040503050406030204" pitchFamily="18" charset="0"/>
                                </a:rPr>
                                <m:t>𝑛</m:t>
                              </m:r>
                            </m:sup>
                          </m:sSup>
                        </m:e>
                      </m:nary>
                    </m:oMath>
                  </m:oMathPara>
                </a14:m>
                <a:endParaRPr lang="en-US" sz="2400" dirty="0"/>
              </a:p>
            </p:txBody>
          </p:sp>
        </mc:Choice>
        <mc:Fallback xmlns="">
          <p:sp>
            <p:nvSpPr>
              <p:cNvPr id="105" name="Object 17">
                <a:extLst>
                  <a:ext uri="{FF2B5EF4-FFF2-40B4-BE49-F238E27FC236}">
                    <a16:creationId xmlns:a16="http://schemas.microsoft.com/office/drawing/2014/main" id="{B74BF13C-559A-4E6B-809A-5E7B39E77123}"/>
                  </a:ext>
                </a:extLst>
              </p:cNvPr>
              <p:cNvSpPr txBox="1">
                <a:spLocks noRot="1" noChangeAspect="1" noMove="1" noResize="1" noEditPoints="1" noAdjustHandles="1" noChangeArrowheads="1" noChangeShapeType="1" noTextEdit="1"/>
              </p:cNvSpPr>
              <p:nvPr/>
            </p:nvSpPr>
            <p:spPr bwMode="auto">
              <a:xfrm>
                <a:off x="2771800" y="5445224"/>
                <a:ext cx="3790257" cy="992187"/>
              </a:xfrm>
              <a:prstGeom prst="rect">
                <a:avLst/>
              </a:prstGeom>
              <a:blipFill>
                <a:blip r:embed="rId5"/>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2374032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 name="标题 1">
            <a:extLst>
              <a:ext uri="{FF2B5EF4-FFF2-40B4-BE49-F238E27FC236}">
                <a16:creationId xmlns:a16="http://schemas.microsoft.com/office/drawing/2014/main" id="{19B3F2CB-F9F4-438D-BD6B-8223B3D0805D}"/>
              </a:ext>
            </a:extLst>
          </p:cNvPr>
          <p:cNvSpPr>
            <a:spLocks noGrp="1"/>
          </p:cNvSpPr>
          <p:nvPr>
            <p:ph type="title"/>
          </p:nvPr>
        </p:nvSpPr>
        <p:spPr/>
        <p:txBody>
          <a:bodyPr/>
          <a:lstStyle/>
          <a:p>
            <a:r>
              <a:rPr lang="en-US" altLang="zh-CN" dirty="0"/>
              <a:t>5.7 </a:t>
            </a:r>
            <a:r>
              <a:rPr lang="zh-CN" altLang="en-US" dirty="0"/>
              <a:t>对偶性质</a:t>
            </a:r>
          </a:p>
        </p:txBody>
      </p:sp>
      <p:sp>
        <p:nvSpPr>
          <p:cNvPr id="4" name="灯片编号占位符 3">
            <a:extLst>
              <a:ext uri="{FF2B5EF4-FFF2-40B4-BE49-F238E27FC236}">
                <a16:creationId xmlns:a16="http://schemas.microsoft.com/office/drawing/2014/main" id="{2D1749F4-0968-45DA-9D36-60F9039F46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2D0D8F-A3E1-4249-B84D-2B8D31B9C06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5" name="Object 5">
                <a:extLst>
                  <a:ext uri="{FF2B5EF4-FFF2-40B4-BE49-F238E27FC236}">
                    <a16:creationId xmlns:a16="http://schemas.microsoft.com/office/drawing/2014/main" id="{895E73C0-C67A-4675-8C42-7DABABAD5CD0}"/>
                  </a:ext>
                </a:extLst>
              </p:cNvPr>
              <p:cNvSpPr txBox="1"/>
              <p:nvPr/>
            </p:nvSpPr>
            <p:spPr bwMode="auto">
              <a:xfrm>
                <a:off x="2969330" y="2204864"/>
                <a:ext cx="3205336" cy="691279"/>
              </a:xfrm>
              <a:prstGeom prst="rect">
                <a:avLst/>
              </a:prstGeom>
              <a:noFill/>
              <a:ln>
                <a:noFill/>
              </a:ln>
              <a:effectLst/>
            </p:spPr>
            <p:txBody>
              <a:bodyPr wrap="square">
                <a:spAutoFit/>
              </a:bodyPr>
              <a:lstStyle/>
              <a:p>
                <a:pPr algn="ctr"/>
                <a14:m>
                  <m:oMathPara xmlns:m="http://schemas.openxmlformats.org/officeDocument/2006/math">
                    <m:oMathParaPr>
                      <m:jc m:val="center"/>
                    </m:oMathParaPr>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groupChr>
                        <m:groupChrPr>
                          <m:chr m:val="↔"/>
                          <m:vertJc m:val="bot"/>
                          <m:ctrlPr>
                            <a:rPr lang="en-US" sz="2800" i="1">
                              <a:solidFill>
                                <a:srgbClr val="000000"/>
                              </a:solidFill>
                              <a:latin typeface="Cambria Math" panose="02040503050406030204" pitchFamily="18" charset="0"/>
                            </a:rPr>
                          </m:ctrlPr>
                        </m:groupChrPr>
                        <m:e>
                          <m:r>
                            <a:rPr lang="en-US" sz="2800" i="1">
                              <a:solidFill>
                                <a:srgbClr val="000000"/>
                              </a:solidFill>
                              <a:latin typeface="Cambria Math" panose="02040503050406030204" pitchFamily="18" charset="0"/>
                            </a:rPr>
                            <m:t> </m:t>
                          </m:r>
                          <m:r>
                            <m:rPr>
                              <m:sty m:val="p"/>
                            </m:rPr>
                            <a:rPr lang="en-US" sz="2800" i="0">
                              <a:solidFill>
                                <a:srgbClr val="000000"/>
                              </a:solidFill>
                              <a:latin typeface="Cambria Math" panose="02040503050406030204" pitchFamily="18" charset="0"/>
                            </a:rPr>
                            <m:t>DFS</m:t>
                          </m:r>
                          <m:r>
                            <a:rPr lang="en-US" sz="2800" i="1">
                              <a:solidFill>
                                <a:srgbClr val="000000"/>
                              </a:solidFill>
                              <a:latin typeface="Cambria Math" panose="02040503050406030204" pitchFamily="18" charset="0"/>
                            </a:rPr>
                            <m:t> </m:t>
                          </m:r>
                        </m:e>
                      </m:groupCh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oMath>
                  </m:oMathPara>
                </a14:m>
                <a:endParaRPr lang="en-US" sz="2800" dirty="0"/>
              </a:p>
            </p:txBody>
          </p:sp>
        </mc:Choice>
        <mc:Fallback xmlns="">
          <p:sp>
            <p:nvSpPr>
              <p:cNvPr id="15" name="Object 5">
                <a:extLst>
                  <a:ext uri="{FF2B5EF4-FFF2-40B4-BE49-F238E27FC236}">
                    <a16:creationId xmlns:a16="http://schemas.microsoft.com/office/drawing/2014/main" id="{895E73C0-C67A-4675-8C42-7DABABAD5CD0}"/>
                  </a:ext>
                </a:extLst>
              </p:cNvPr>
              <p:cNvSpPr txBox="1">
                <a:spLocks noRot="1" noChangeAspect="1" noMove="1" noResize="1" noEditPoints="1" noAdjustHandles="1" noChangeArrowheads="1" noChangeShapeType="1" noTextEdit="1"/>
              </p:cNvSpPr>
              <p:nvPr/>
            </p:nvSpPr>
            <p:spPr bwMode="auto">
              <a:xfrm>
                <a:off x="2969330" y="2204864"/>
                <a:ext cx="3205336" cy="691279"/>
              </a:xfrm>
              <a:prstGeom prst="rect">
                <a:avLst/>
              </a:prstGeom>
              <a:blipFill>
                <a:blip r:embed="rId2"/>
                <a:stretch>
                  <a:fillRect/>
                </a:stretch>
              </a:blipFill>
              <a:ln>
                <a:noFill/>
              </a:ln>
              <a:effectLst/>
            </p:spPr>
            <p:txBody>
              <a:bodyPr/>
              <a:lstStyle/>
              <a:p>
                <a:r>
                  <a:rPr lang="en-US">
                    <a:noFill/>
                  </a:rPr>
                  <a:t> </a:t>
                </a:r>
              </a:p>
            </p:txBody>
          </p:sp>
        </mc:Fallback>
      </mc:AlternateContent>
      <p:sp>
        <p:nvSpPr>
          <p:cNvPr id="16" name="Text Box 9">
            <a:extLst>
              <a:ext uri="{FF2B5EF4-FFF2-40B4-BE49-F238E27FC236}">
                <a16:creationId xmlns:a16="http://schemas.microsoft.com/office/drawing/2014/main" id="{48561652-260C-427D-B704-F7254C6D0803}"/>
              </a:ext>
            </a:extLst>
          </p:cNvPr>
          <p:cNvSpPr txBox="1">
            <a:spLocks noChangeArrowheads="1"/>
          </p:cNvSpPr>
          <p:nvPr/>
        </p:nvSpPr>
        <p:spPr bwMode="auto">
          <a:xfrm>
            <a:off x="457199" y="5185090"/>
            <a:ext cx="822959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r>
              <a:rPr lang="zh-CN" altLang="en-US" sz="2800" dirty="0">
                <a:latin typeface="Cambria Math" panose="02040503050406030204" pitchFamily="18" charset="0"/>
                <a:ea typeface="楷体" panose="02010609060101010101" pitchFamily="49" charset="-122"/>
              </a:rPr>
              <a:t>利用对偶性可以方便地将离散时间傅里叶级数在时域的性质推广至频域。</a:t>
            </a:r>
          </a:p>
        </p:txBody>
      </p:sp>
      <mc:AlternateContent xmlns:mc="http://schemas.openxmlformats.org/markup-compatibility/2006" xmlns:a14="http://schemas.microsoft.com/office/drawing/2010/main">
        <mc:Choice Requires="a14">
          <p:sp>
            <p:nvSpPr>
              <p:cNvPr id="19" name="Text Box 6">
                <a:extLst>
                  <a:ext uri="{FF2B5EF4-FFF2-40B4-BE49-F238E27FC236}">
                    <a16:creationId xmlns:a16="http://schemas.microsoft.com/office/drawing/2014/main" id="{94323C9E-1736-4CE4-8F1E-4EE359FD17C9}"/>
                  </a:ext>
                </a:extLst>
              </p:cNvPr>
              <p:cNvSpPr txBox="1">
                <a:spLocks noChangeArrowheads="1"/>
              </p:cNvSpPr>
              <p:nvPr/>
            </p:nvSpPr>
            <p:spPr bwMode="auto">
              <a:xfrm>
                <a:off x="457199" y="1268760"/>
                <a:ext cx="8229599" cy="70070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gn="just" eaLnBrk="0" hangingPunct="0"/>
                <a:r>
                  <a:rPr lang="zh-CN" altLang="en-US" sz="2800" dirty="0">
                    <a:latin typeface="楷体_GB2312" panose="02010609030101010101" pitchFamily="49" charset="-122"/>
                    <a:ea typeface="楷体_GB2312" panose="02010609030101010101" pitchFamily="49" charset="-122"/>
                  </a:rPr>
                  <a:t>即</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𝑛</m:t>
                        </m:r>
                      </m:sub>
                    </m:sSub>
                  </m:oMath>
                </a14:m>
                <a:r>
                  <a:rPr lang="zh-CN" altLang="en-US" sz="2800" dirty="0">
                    <a:latin typeface="Times New Roman" panose="02020603050405020304" pitchFamily="18" charset="0"/>
                    <a:ea typeface="楷体_GB2312" panose="02010609030101010101" pitchFamily="49" charset="-122"/>
                  </a:rPr>
                  <a:t>的离散时间傅里叶级数系数就是</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𝑁</m:t>
                        </m:r>
                      </m:den>
                    </m:f>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𝑘</m:t>
                    </m:r>
                    <m:r>
                      <a:rPr lang="en-US" sz="2800" b="0" i="1" smtClean="0">
                        <a:solidFill>
                          <a:srgbClr val="000000"/>
                        </a:solidFill>
                        <a:latin typeface="Cambria Math" panose="02040503050406030204" pitchFamily="18" charset="0"/>
                      </a:rPr>
                      <m:t>]</m:t>
                    </m:r>
                  </m:oMath>
                </a14:m>
                <a:r>
                  <a:rPr lang="en-US" altLang="zh-CN" sz="2800" dirty="0">
                    <a:latin typeface="楷体_GB2312" panose="02010609030101010101" pitchFamily="49" charset="-122"/>
                    <a:ea typeface="楷体_GB2312" panose="02010609030101010101" pitchFamily="49" charset="-122"/>
                  </a:rPr>
                  <a:t>:</a:t>
                </a:r>
                <a:endParaRPr lang="zh-CN" altLang="en-US" sz="2800" dirty="0">
                  <a:latin typeface="楷体_GB2312" panose="02010609030101010101" pitchFamily="49" charset="-122"/>
                  <a:ea typeface="楷体_GB2312" panose="02010609030101010101" pitchFamily="49" charset="-122"/>
                </a:endParaRPr>
              </a:p>
            </p:txBody>
          </p:sp>
        </mc:Choice>
        <mc:Fallback xmlns="">
          <p:sp>
            <p:nvSpPr>
              <p:cNvPr id="19" name="Text Box 6">
                <a:extLst>
                  <a:ext uri="{FF2B5EF4-FFF2-40B4-BE49-F238E27FC236}">
                    <a16:creationId xmlns:a16="http://schemas.microsoft.com/office/drawing/2014/main" id="{94323C9E-1736-4CE4-8F1E-4EE359FD17C9}"/>
                  </a:ext>
                </a:extLst>
              </p:cNvPr>
              <p:cNvSpPr txBox="1">
                <a:spLocks noRot="1" noChangeAspect="1" noMove="1" noResize="1" noEditPoints="1" noAdjustHandles="1" noChangeArrowheads="1" noChangeShapeType="1" noTextEdit="1"/>
              </p:cNvSpPr>
              <p:nvPr/>
            </p:nvSpPr>
            <p:spPr bwMode="auto">
              <a:xfrm>
                <a:off x="457199" y="1268760"/>
                <a:ext cx="8229599" cy="700705"/>
              </a:xfrm>
              <a:prstGeom prst="rect">
                <a:avLst/>
              </a:prstGeom>
              <a:blipFill>
                <a:blip r:embed="rId3"/>
                <a:stretch>
                  <a:fillRect l="-1481" b="-695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38EF399F-C2EE-452A-821A-B626464D224F}"/>
                  </a:ext>
                </a:extLst>
              </p:cNvPr>
              <p:cNvSpPr txBox="1"/>
              <p:nvPr/>
            </p:nvSpPr>
            <p:spPr>
              <a:xfrm>
                <a:off x="3503329" y="3145010"/>
                <a:ext cx="3205336" cy="898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𝑛</m:t>
                          </m:r>
                        </m:sub>
                      </m:sSub>
                      <m:groupChr>
                        <m:groupChrPr>
                          <m:chr m:val="↔"/>
                          <m:vertJc m:val="bot"/>
                          <m:ctrlPr>
                            <a:rPr lang="en-US" sz="2800" i="1">
                              <a:solidFill>
                                <a:srgbClr val="000000"/>
                              </a:solidFill>
                              <a:latin typeface="Cambria Math" panose="02040503050406030204" pitchFamily="18" charset="0"/>
                            </a:rPr>
                          </m:ctrlPr>
                        </m:groupChrPr>
                        <m:e>
                          <m:r>
                            <a:rPr lang="en-US" sz="2800" i="1">
                              <a:solidFill>
                                <a:srgbClr val="000000"/>
                              </a:solidFill>
                              <a:latin typeface="Cambria Math" panose="02040503050406030204" pitchFamily="18" charset="0"/>
                            </a:rPr>
                            <m:t> </m:t>
                          </m:r>
                          <m:r>
                            <m:rPr>
                              <m:sty m:val="p"/>
                            </m:rPr>
                            <a:rPr lang="en-US" sz="2800" i="0">
                              <a:solidFill>
                                <a:srgbClr val="000000"/>
                              </a:solidFill>
                              <a:latin typeface="Cambria Math" panose="02040503050406030204" pitchFamily="18" charset="0"/>
                            </a:rPr>
                            <m:t>DFS</m:t>
                          </m:r>
                          <m:r>
                            <a:rPr lang="en-US" sz="2800" i="1">
                              <a:solidFill>
                                <a:srgbClr val="000000"/>
                              </a:solidFill>
                              <a:latin typeface="Cambria Math" panose="02040503050406030204" pitchFamily="18" charset="0"/>
                            </a:rPr>
                            <m:t> </m:t>
                          </m:r>
                        </m:e>
                      </m:groupCh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𝑁</m:t>
                          </m:r>
                        </m:den>
                      </m:f>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𝑘</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29" name="文本框 28">
                <a:extLst>
                  <a:ext uri="{FF2B5EF4-FFF2-40B4-BE49-F238E27FC236}">
                    <a16:creationId xmlns:a16="http://schemas.microsoft.com/office/drawing/2014/main" id="{38EF399F-C2EE-452A-821A-B626464D224F}"/>
                  </a:ext>
                </a:extLst>
              </p:cNvPr>
              <p:cNvSpPr txBox="1">
                <a:spLocks noRot="1" noChangeAspect="1" noMove="1" noResize="1" noEditPoints="1" noAdjustHandles="1" noChangeArrowheads="1" noChangeShapeType="1" noTextEdit="1"/>
              </p:cNvSpPr>
              <p:nvPr/>
            </p:nvSpPr>
            <p:spPr>
              <a:xfrm>
                <a:off x="3503329" y="3145010"/>
                <a:ext cx="3205336" cy="898964"/>
              </a:xfrm>
              <a:prstGeom prst="rect">
                <a:avLst/>
              </a:prstGeom>
              <a:blipFill>
                <a:blip r:embed="rId4"/>
                <a:stretch>
                  <a:fillRect/>
                </a:stretch>
              </a:blipFill>
            </p:spPr>
            <p:txBody>
              <a:bodyPr/>
              <a:lstStyle/>
              <a:p>
                <a:r>
                  <a:rPr lang="en-US">
                    <a:noFill/>
                  </a:rPr>
                  <a:t> </a:t>
                </a:r>
              </a:p>
            </p:txBody>
          </p:sp>
        </mc:Fallback>
      </mc:AlternateContent>
      <p:sp>
        <p:nvSpPr>
          <p:cNvPr id="31" name="文本框 30">
            <a:extLst>
              <a:ext uri="{FF2B5EF4-FFF2-40B4-BE49-F238E27FC236}">
                <a16:creationId xmlns:a16="http://schemas.microsoft.com/office/drawing/2014/main" id="{3DC8D484-4221-493F-B010-59993A4EB33D}"/>
              </a:ext>
            </a:extLst>
          </p:cNvPr>
          <p:cNvSpPr txBox="1"/>
          <p:nvPr/>
        </p:nvSpPr>
        <p:spPr>
          <a:xfrm>
            <a:off x="4906886" y="4403591"/>
            <a:ext cx="3779912" cy="461665"/>
          </a:xfrm>
          <a:prstGeom prst="rect">
            <a:avLst/>
          </a:prstGeom>
          <a:noFill/>
        </p:spPr>
        <p:txBody>
          <a:bodyPr wrap="square">
            <a:spAutoFit/>
          </a:bodyPr>
          <a:lstStyle/>
          <a:p>
            <a:pPr algn="just"/>
            <a:r>
              <a:rPr lang="en-US" sz="2400" i="0" dirty="0">
                <a:solidFill>
                  <a:srgbClr val="000000"/>
                </a:solidFill>
                <a:latin typeface="Cambria Math" panose="02040503050406030204" pitchFamily="18" charset="0"/>
                <a:ea typeface="楷体" panose="02010609060101010101" pitchFamily="49" charset="-122"/>
              </a:rPr>
              <a:t>DFS</a:t>
            </a:r>
            <a:r>
              <a:rPr lang="zh-CN" altLang="en-US" sz="2400" dirty="0">
                <a:latin typeface="Cambria Math" panose="02040503050406030204" pitchFamily="18" charset="0"/>
                <a:ea typeface="楷体" panose="02010609060101010101" pitchFamily="49" charset="-122"/>
              </a:rPr>
              <a:t>：离散时间傅里叶级数</a:t>
            </a:r>
            <a:endParaRPr lang="en-US" sz="2400" dirty="0">
              <a:latin typeface="Cambria Math" panose="02040503050406030204" pitchFamily="18" charset="0"/>
              <a:ea typeface="楷体" panose="02010609060101010101" pitchFamily="49" charset="-122"/>
            </a:endParaRPr>
          </a:p>
        </p:txBody>
      </p:sp>
    </p:spTree>
    <p:extLst>
      <p:ext uri="{BB962C8B-B14F-4D97-AF65-F5344CB8AC3E}">
        <p14:creationId xmlns:p14="http://schemas.microsoft.com/office/powerpoint/2010/main" val="1301932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 name="标题 1">
            <a:extLst>
              <a:ext uri="{FF2B5EF4-FFF2-40B4-BE49-F238E27FC236}">
                <a16:creationId xmlns:a16="http://schemas.microsoft.com/office/drawing/2014/main" id="{19B3F2CB-F9F4-438D-BD6B-8223B3D0805D}"/>
              </a:ext>
            </a:extLst>
          </p:cNvPr>
          <p:cNvSpPr>
            <a:spLocks noGrp="1"/>
          </p:cNvSpPr>
          <p:nvPr>
            <p:ph type="title"/>
          </p:nvPr>
        </p:nvSpPr>
        <p:spPr/>
        <p:txBody>
          <a:bodyPr/>
          <a:lstStyle/>
          <a:p>
            <a:r>
              <a:rPr lang="en-US" altLang="zh-CN" dirty="0"/>
              <a:t>5.7 </a:t>
            </a:r>
            <a:r>
              <a:rPr lang="zh-CN" altLang="en-US" dirty="0"/>
              <a:t>对偶性质</a:t>
            </a:r>
          </a:p>
        </p:txBody>
      </p:sp>
      <p:sp>
        <p:nvSpPr>
          <p:cNvPr id="4" name="灯片编号占位符 3">
            <a:extLst>
              <a:ext uri="{FF2B5EF4-FFF2-40B4-BE49-F238E27FC236}">
                <a16:creationId xmlns:a16="http://schemas.microsoft.com/office/drawing/2014/main" id="{2D1749F4-0968-45DA-9D36-60F9039F46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2D0D8F-A3E1-4249-B84D-2B8D31B9C06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 name="Object 4">
                <a:extLst>
                  <a:ext uri="{FF2B5EF4-FFF2-40B4-BE49-F238E27FC236}">
                    <a16:creationId xmlns:a16="http://schemas.microsoft.com/office/drawing/2014/main" id="{6D0F5E7D-3904-43AA-9F81-5BEE728818E5}"/>
                  </a:ext>
                </a:extLst>
              </p:cNvPr>
              <p:cNvSpPr txBox="1"/>
              <p:nvPr/>
            </p:nvSpPr>
            <p:spPr bwMode="auto">
              <a:xfrm>
                <a:off x="1168422" y="4179368"/>
                <a:ext cx="6807154" cy="111601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𝑘𝑡</m:t>
                              </m:r>
                            </m:sup>
                          </m:sSup>
                        </m:e>
                      </m:nary>
                      <m:r>
                        <a:rPr lang="en-US" sz="2400" i="1">
                          <a:solidFill>
                            <a:srgbClr val="000000"/>
                          </a:solidFill>
                          <a:latin typeface="Cambria Math" panose="02040503050406030204" pitchFamily="18" charset="0"/>
                        </a:rPr>
                        <m:t>,</m:t>
                      </m:r>
                      <m:m>
                        <m:mPr>
                          <m:plcHide m:val="on"/>
                          <m:mcs>
                            <m:mc>
                              <m:mcPr>
                                <m:count m:val="2"/>
                                <m:mcJc m:val="center"/>
                              </m:mcPr>
                            </m:mc>
                          </m:mcs>
                          <m:ctrlPr>
                            <a:rPr lang="en-US" sz="2400" i="1">
                              <a:solidFill>
                                <a:srgbClr val="000000"/>
                              </a:solidFill>
                              <a:latin typeface="Cambria Math" panose="02040503050406030204" pitchFamily="18" charset="0"/>
                            </a:rPr>
                          </m:ctrlPr>
                        </m:mPr>
                        <m:mr>
                          <m:e/>
                          <m:e/>
                        </m:mr>
                      </m:m>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sub>
                        <m:sup/>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𝑘𝑡</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oMath>
                  </m:oMathPara>
                </a14:m>
                <a:endParaRPr lang="en-US" sz="2400" dirty="0"/>
              </a:p>
            </p:txBody>
          </p:sp>
        </mc:Choice>
        <mc:Fallback xmlns="">
          <p:sp>
            <p:nvSpPr>
              <p:cNvPr id="11" name="Object 4">
                <a:extLst>
                  <a:ext uri="{FF2B5EF4-FFF2-40B4-BE49-F238E27FC236}">
                    <a16:creationId xmlns:a16="http://schemas.microsoft.com/office/drawing/2014/main" id="{6D0F5E7D-3904-43AA-9F81-5BEE728818E5}"/>
                  </a:ext>
                </a:extLst>
              </p:cNvPr>
              <p:cNvSpPr txBox="1">
                <a:spLocks noRot="1" noChangeAspect="1" noMove="1" noResize="1" noEditPoints="1" noAdjustHandles="1" noChangeArrowheads="1" noChangeShapeType="1" noTextEdit="1"/>
              </p:cNvSpPr>
              <p:nvPr/>
            </p:nvSpPr>
            <p:spPr bwMode="auto">
              <a:xfrm>
                <a:off x="1168422" y="4179368"/>
                <a:ext cx="6807154" cy="1116013"/>
              </a:xfrm>
              <a:prstGeom prst="rect">
                <a:avLst/>
              </a:prstGeom>
              <a:blipFill>
                <a:blip r:embed="rId2"/>
                <a:stretch>
                  <a:fillRect/>
                </a:stretch>
              </a:blipFill>
              <a:ln>
                <a:noFill/>
              </a:ln>
              <a:effectLst/>
            </p:spPr>
            <p:txBody>
              <a:bodyPr/>
              <a:lstStyle/>
              <a:p>
                <a:r>
                  <a:rPr lang="en-US">
                    <a:noFill/>
                  </a:rPr>
                  <a:t> </a:t>
                </a:r>
              </a:p>
            </p:txBody>
          </p:sp>
        </mc:Fallback>
      </mc:AlternateContent>
      <p:sp>
        <p:nvSpPr>
          <p:cNvPr id="12" name="Text Box 5">
            <a:extLst>
              <a:ext uri="{FF2B5EF4-FFF2-40B4-BE49-F238E27FC236}">
                <a16:creationId xmlns:a16="http://schemas.microsoft.com/office/drawing/2014/main" id="{A780F35B-EF25-460C-879B-3BF6B0166AFC}"/>
              </a:ext>
            </a:extLst>
          </p:cNvPr>
          <p:cNvSpPr txBox="1">
            <a:spLocks noChangeArrowheads="1"/>
          </p:cNvSpPr>
          <p:nvPr/>
        </p:nvSpPr>
        <p:spPr bwMode="auto">
          <a:xfrm>
            <a:off x="457200" y="1289041"/>
            <a:ext cx="822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r>
              <a:rPr lang="zh-CN" altLang="en-US" sz="2400" dirty="0">
                <a:solidFill>
                  <a:srgbClr val="0000FF"/>
                </a:solidFill>
                <a:latin typeface="Times New Roman" panose="02020603050405020304" pitchFamily="18" charset="0"/>
                <a:ea typeface="楷体_GB2312" panose="02010609030101010101" pitchFamily="49" charset="-122"/>
              </a:rPr>
              <a:t>二</a:t>
            </a:r>
            <a:r>
              <a:rPr lang="en-US" altLang="zh-CN" sz="2400" dirty="0">
                <a:solidFill>
                  <a:srgbClr val="0000FF"/>
                </a:solidFill>
                <a:latin typeface="Times New Roman" panose="02020603050405020304" pitchFamily="18" charset="0"/>
                <a:ea typeface="楷体_GB2312" panose="02010609030101010101" pitchFamily="49" charset="-122"/>
              </a:rPr>
              <a:t>. </a:t>
            </a:r>
            <a:r>
              <a:rPr lang="zh-CN" altLang="en-US" sz="2400" dirty="0">
                <a:solidFill>
                  <a:srgbClr val="0000FF"/>
                </a:solidFill>
                <a:latin typeface="Times New Roman" panose="02020603050405020304" pitchFamily="18" charset="0"/>
                <a:ea typeface="楷体_GB2312" panose="02010609030101010101" pitchFamily="49" charset="-122"/>
              </a:rPr>
              <a:t>离散时间傅里叶变换与连续时间傅里叶级数间的对偶</a:t>
            </a:r>
          </a:p>
        </p:txBody>
      </p:sp>
      <mc:AlternateContent xmlns:mc="http://schemas.openxmlformats.org/markup-compatibility/2006" xmlns:a14="http://schemas.microsoft.com/office/drawing/2010/main">
        <mc:Choice Requires="a14">
          <p:sp>
            <p:nvSpPr>
              <p:cNvPr id="22" name="Text Box 10">
                <a:extLst>
                  <a:ext uri="{FF2B5EF4-FFF2-40B4-BE49-F238E27FC236}">
                    <a16:creationId xmlns:a16="http://schemas.microsoft.com/office/drawing/2014/main" id="{2D219B67-055C-44A1-8F38-6E54E472C3F8}"/>
                  </a:ext>
                </a:extLst>
              </p:cNvPr>
              <p:cNvSpPr txBox="1">
                <a:spLocks noChangeArrowheads="1"/>
              </p:cNvSpPr>
              <p:nvPr/>
            </p:nvSpPr>
            <p:spPr bwMode="auto">
              <a:xfrm>
                <a:off x="923817" y="1755097"/>
                <a:ext cx="7464608" cy="229620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gn="just" eaLnBrk="0" hangingPunct="0"/>
                <a:r>
                  <a:rPr lang="zh-CN" altLang="en-US" sz="2400" dirty="0">
                    <a:latin typeface="楷体_GB2312" panose="02010609030101010101" pitchFamily="49" charset="-122"/>
                    <a:ea typeface="楷体_GB2312" panose="02010609030101010101" pitchFamily="49" charset="-122"/>
                  </a:rPr>
                  <a:t>离散时间傅里叶变换</a:t>
                </a:r>
                <a:endParaRPr lang="en-US" sz="2400" i="1" dirty="0">
                  <a:solidFill>
                    <a:srgbClr val="000000"/>
                  </a:solidFill>
                  <a:latin typeface="Cambria Math" panose="02040503050406030204" pitchFamily="18" charset="0"/>
                </a:endParaRPr>
              </a:p>
              <a:p>
                <a:pPr algn="just" eaLnBrk="0" hangingPunct="0">
                  <a:spcAft>
                    <a:spcPts val="600"/>
                  </a:spcAft>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𝑋</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e>
                      </m:nary>
                    </m:oMath>
                  </m:oMathPara>
                </a14:m>
                <a:endParaRPr lang="en-US" altLang="zh-CN" sz="2400" i="0" dirty="0">
                  <a:latin typeface="+mj-lt"/>
                  <a:ea typeface="楷体_GB2312" panose="02010609030101010101" pitchFamily="49" charset="-122"/>
                </a:endParaRPr>
              </a:p>
              <a:p>
                <a:pPr algn="just" eaLnBrk="0" hangingPunct="0"/>
                <a:r>
                  <a:rPr lang="zh-CN" altLang="en-US" sz="2400" dirty="0">
                    <a:latin typeface="楷体_GB2312" panose="02010609030101010101" pitchFamily="49" charset="-122"/>
                    <a:ea typeface="楷体_GB2312" panose="02010609030101010101" pitchFamily="49" charset="-122"/>
                  </a:rPr>
                  <a:t>是周期为</a:t>
                </a:r>
                <a14:m>
                  <m:oMath xmlns:m="http://schemas.openxmlformats.org/officeDocument/2006/math">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oMath>
                </a14:m>
                <a:r>
                  <a:rPr lang="zh-CN" altLang="en-US" sz="2400" dirty="0">
                    <a:latin typeface="楷体_GB2312" panose="02010609030101010101" pitchFamily="49" charset="-122"/>
                    <a:ea typeface="楷体_GB2312" panose="02010609030101010101" pitchFamily="49" charset="-122"/>
                  </a:rPr>
                  <a:t>的连续函数。</a:t>
                </a:r>
                <a:r>
                  <a:rPr lang="zh-CN" altLang="en-US" sz="2400" dirty="0">
                    <a:ea typeface="楷体_GB2312" panose="02010609030101010101" pitchFamily="49" charset="-122"/>
                  </a:rPr>
                  <a:t>如果将其视为连续时间信号</a:t>
                </a:r>
                <a14:m>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oMath>
                </a14:m>
                <a:r>
                  <a:rPr lang="zh-CN" altLang="en-US" sz="2400" dirty="0">
                    <a:latin typeface="Times New Roman" panose="02020603050405020304" pitchFamily="18" charset="0"/>
                    <a:ea typeface="楷体_GB2312" panose="02010609030101010101" pitchFamily="49" charset="-122"/>
                  </a:rPr>
                  <a:t>，则可以表示为连续时间傅里叶级数：</a:t>
                </a:r>
                <a:endParaRPr lang="en-US" altLang="zh-CN" sz="2400" dirty="0">
                  <a:latin typeface="Times New Roman" panose="02020603050405020304" pitchFamily="18" charset="0"/>
                  <a:ea typeface="楷体_GB2312" panose="02010609030101010101" pitchFamily="49" charset="-122"/>
                </a:endParaRPr>
              </a:p>
            </p:txBody>
          </p:sp>
        </mc:Choice>
        <mc:Fallback xmlns="">
          <p:sp>
            <p:nvSpPr>
              <p:cNvPr id="22" name="Text Box 10">
                <a:extLst>
                  <a:ext uri="{FF2B5EF4-FFF2-40B4-BE49-F238E27FC236}">
                    <a16:creationId xmlns:a16="http://schemas.microsoft.com/office/drawing/2014/main" id="{2D219B67-055C-44A1-8F38-6E54E472C3F8}"/>
                  </a:ext>
                </a:extLst>
              </p:cNvPr>
              <p:cNvSpPr txBox="1">
                <a:spLocks noRot="1" noChangeAspect="1" noMove="1" noResize="1" noEditPoints="1" noAdjustHandles="1" noChangeArrowheads="1" noChangeShapeType="1" noTextEdit="1"/>
              </p:cNvSpPr>
              <p:nvPr/>
            </p:nvSpPr>
            <p:spPr bwMode="auto">
              <a:xfrm>
                <a:off x="923817" y="1755097"/>
                <a:ext cx="7464608" cy="2296206"/>
              </a:xfrm>
              <a:prstGeom prst="rect">
                <a:avLst/>
              </a:prstGeom>
              <a:blipFill>
                <a:blip r:embed="rId3"/>
                <a:stretch>
                  <a:fillRect l="-1307" t="-2918" r="-1225" b="-42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11">
                <a:extLst>
                  <a:ext uri="{FF2B5EF4-FFF2-40B4-BE49-F238E27FC236}">
                    <a16:creationId xmlns:a16="http://schemas.microsoft.com/office/drawing/2014/main" id="{B31DA6F4-8264-4DCD-90D9-EF15D0338C6D}"/>
                  </a:ext>
                </a:extLst>
              </p:cNvPr>
              <p:cNvSpPr txBox="1"/>
              <p:nvPr/>
            </p:nvSpPr>
            <p:spPr bwMode="auto">
              <a:xfrm>
                <a:off x="2621483" y="5568959"/>
                <a:ext cx="3901033" cy="87107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sub>
                        <m:sup/>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e>
                      </m:nary>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𝑛</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oMath>
                  </m:oMathPara>
                </a14:m>
                <a:endParaRPr lang="en-US" sz="2400" dirty="0"/>
              </a:p>
            </p:txBody>
          </p:sp>
        </mc:Choice>
        <mc:Fallback xmlns="">
          <p:sp>
            <p:nvSpPr>
              <p:cNvPr id="26" name="Object 11">
                <a:extLst>
                  <a:ext uri="{FF2B5EF4-FFF2-40B4-BE49-F238E27FC236}">
                    <a16:creationId xmlns:a16="http://schemas.microsoft.com/office/drawing/2014/main" id="{B31DA6F4-8264-4DCD-90D9-EF15D0338C6D}"/>
                  </a:ext>
                </a:extLst>
              </p:cNvPr>
              <p:cNvSpPr txBox="1">
                <a:spLocks noRot="1" noChangeAspect="1" noMove="1" noResize="1" noEditPoints="1" noAdjustHandles="1" noChangeArrowheads="1" noChangeShapeType="1" noTextEdit="1"/>
              </p:cNvSpPr>
              <p:nvPr/>
            </p:nvSpPr>
            <p:spPr bwMode="auto">
              <a:xfrm>
                <a:off x="2621483" y="5568959"/>
                <a:ext cx="3901033" cy="871072"/>
              </a:xfrm>
              <a:prstGeom prst="rect">
                <a:avLst/>
              </a:prstGeom>
              <a:blipFill>
                <a:blip r:embed="rId4"/>
                <a:stretch>
                  <a:fillRect/>
                </a:stretch>
              </a:blipFill>
              <a:ln>
                <a:noFill/>
              </a:ln>
              <a:effectLst/>
            </p:spPr>
            <p:txBody>
              <a:bodyPr/>
              <a:lstStyle/>
              <a:p>
                <a:r>
                  <a:rPr lang="en-US">
                    <a:noFill/>
                  </a:rPr>
                  <a:t> </a:t>
                </a:r>
              </a:p>
            </p:txBody>
          </p:sp>
        </mc:Fallback>
      </mc:AlternateContent>
      <p:sp>
        <p:nvSpPr>
          <p:cNvPr id="27" name="Text Box 25">
            <a:extLst>
              <a:ext uri="{FF2B5EF4-FFF2-40B4-BE49-F238E27FC236}">
                <a16:creationId xmlns:a16="http://schemas.microsoft.com/office/drawing/2014/main" id="{661144E4-267C-43F0-AF3C-2AC8A159C6A9}"/>
              </a:ext>
            </a:extLst>
          </p:cNvPr>
          <p:cNvSpPr txBox="1">
            <a:spLocks noChangeArrowheads="1"/>
          </p:cNvSpPr>
          <p:nvPr/>
        </p:nvSpPr>
        <p:spPr bwMode="auto">
          <a:xfrm>
            <a:off x="1259632" y="5423447"/>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Times New Roman" panose="02020603050405020304" pitchFamily="18" charset="0"/>
                <a:ea typeface="楷体_GB2312" panose="02010609030101010101" pitchFamily="49" charset="-122"/>
              </a:rPr>
              <a:t>而：</a:t>
            </a:r>
          </a:p>
        </p:txBody>
      </p:sp>
    </p:spTree>
    <p:extLst>
      <p:ext uri="{BB962C8B-B14F-4D97-AF65-F5344CB8AC3E}">
        <p14:creationId xmlns:p14="http://schemas.microsoft.com/office/powerpoint/2010/main" val="2220966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 name="标题 1">
            <a:extLst>
              <a:ext uri="{FF2B5EF4-FFF2-40B4-BE49-F238E27FC236}">
                <a16:creationId xmlns:a16="http://schemas.microsoft.com/office/drawing/2014/main" id="{19B3F2CB-F9F4-438D-BD6B-8223B3D0805D}"/>
              </a:ext>
            </a:extLst>
          </p:cNvPr>
          <p:cNvSpPr>
            <a:spLocks noGrp="1"/>
          </p:cNvSpPr>
          <p:nvPr>
            <p:ph type="title"/>
          </p:nvPr>
        </p:nvSpPr>
        <p:spPr/>
        <p:txBody>
          <a:bodyPr/>
          <a:lstStyle/>
          <a:p>
            <a:r>
              <a:rPr lang="en-US" altLang="zh-CN" dirty="0"/>
              <a:t>5.7 </a:t>
            </a:r>
            <a:r>
              <a:rPr lang="zh-CN" altLang="en-US" dirty="0"/>
              <a:t>对偶性质</a:t>
            </a:r>
          </a:p>
        </p:txBody>
      </p:sp>
      <p:sp>
        <p:nvSpPr>
          <p:cNvPr id="4" name="灯片编号占位符 3">
            <a:extLst>
              <a:ext uri="{FF2B5EF4-FFF2-40B4-BE49-F238E27FC236}">
                <a16:creationId xmlns:a16="http://schemas.microsoft.com/office/drawing/2014/main" id="{2D1749F4-0968-45DA-9D36-60F9039F46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2D0D8F-A3E1-4249-B84D-2B8D31B9C06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Text Box 10">
            <a:extLst>
              <a:ext uri="{FF2B5EF4-FFF2-40B4-BE49-F238E27FC236}">
                <a16:creationId xmlns:a16="http://schemas.microsoft.com/office/drawing/2014/main" id="{D42C2019-948E-4643-A82C-7547BA9E0606}"/>
              </a:ext>
            </a:extLst>
          </p:cNvPr>
          <p:cNvSpPr txBox="1">
            <a:spLocks noChangeArrowheads="1"/>
          </p:cNvSpPr>
          <p:nvPr/>
        </p:nvSpPr>
        <p:spPr bwMode="auto">
          <a:xfrm>
            <a:off x="457200" y="5499229"/>
            <a:ext cx="8229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800" dirty="0">
                <a:latin typeface="Cambria Math" panose="02040503050406030204" pitchFamily="18" charset="0"/>
                <a:ea typeface="楷体" panose="02010609060101010101" pitchFamily="49" charset="-122"/>
              </a:rPr>
              <a:t>利用这一对偶关系，可以将</a:t>
            </a:r>
            <a:r>
              <a:rPr lang="en-US" altLang="zh-CN" sz="2800" dirty="0">
                <a:latin typeface="Cambria Math" panose="02040503050406030204" pitchFamily="18" charset="0"/>
                <a:ea typeface="楷体" panose="02010609060101010101" pitchFamily="49" charset="-122"/>
              </a:rPr>
              <a:t>DTFT</a:t>
            </a:r>
            <a:r>
              <a:rPr lang="zh-CN" altLang="en-US" sz="2800" dirty="0">
                <a:latin typeface="Cambria Math" panose="02040503050406030204" pitchFamily="18" charset="0"/>
                <a:ea typeface="楷体" panose="02010609060101010101" pitchFamily="49" charset="-122"/>
              </a:rPr>
              <a:t>的若干特性对偶到</a:t>
            </a:r>
            <a:r>
              <a:rPr lang="en-US" altLang="zh-CN" sz="2800" dirty="0">
                <a:latin typeface="Cambria Math" panose="02040503050406030204" pitchFamily="18" charset="0"/>
                <a:ea typeface="楷体" panose="02010609060101010101" pitchFamily="49" charset="-122"/>
              </a:rPr>
              <a:t>CFS</a:t>
            </a:r>
            <a:r>
              <a:rPr lang="zh-CN" altLang="en-US" sz="2800" dirty="0">
                <a:latin typeface="Cambria Math" panose="02040503050406030204" pitchFamily="18" charset="0"/>
                <a:ea typeface="楷体" panose="02010609060101010101" pitchFamily="49" charset="-122"/>
              </a:rPr>
              <a:t>中去；或者反之。</a:t>
            </a:r>
          </a:p>
        </p:txBody>
      </p:sp>
      <mc:AlternateContent xmlns:mc="http://schemas.openxmlformats.org/markup-compatibility/2006" xmlns:a14="http://schemas.microsoft.com/office/drawing/2010/main">
        <mc:Choice Requires="a14">
          <p:sp>
            <p:nvSpPr>
              <p:cNvPr id="13" name="Object 3">
                <a:extLst>
                  <a:ext uri="{FF2B5EF4-FFF2-40B4-BE49-F238E27FC236}">
                    <a16:creationId xmlns:a16="http://schemas.microsoft.com/office/drawing/2014/main" id="{83E3D44A-6C54-4CD8-8AF7-C67C5EEDD399}"/>
                  </a:ext>
                </a:extLst>
              </p:cNvPr>
              <p:cNvSpPr txBox="1"/>
              <p:nvPr/>
            </p:nvSpPr>
            <p:spPr bwMode="auto">
              <a:xfrm>
                <a:off x="3599892" y="1983313"/>
                <a:ext cx="1944216" cy="523220"/>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𝑘</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13" name="Object 3">
                <a:extLst>
                  <a:ext uri="{FF2B5EF4-FFF2-40B4-BE49-F238E27FC236}">
                    <a16:creationId xmlns:a16="http://schemas.microsoft.com/office/drawing/2014/main" id="{83E3D44A-6C54-4CD8-8AF7-C67C5EEDD399}"/>
                  </a:ext>
                </a:extLst>
              </p:cNvPr>
              <p:cNvSpPr txBox="1">
                <a:spLocks noRot="1" noChangeAspect="1" noMove="1" noResize="1" noEditPoints="1" noAdjustHandles="1" noChangeArrowheads="1" noChangeShapeType="1" noTextEdit="1"/>
              </p:cNvSpPr>
              <p:nvPr/>
            </p:nvSpPr>
            <p:spPr bwMode="auto">
              <a:xfrm>
                <a:off x="3599892" y="1983313"/>
                <a:ext cx="1944216" cy="523220"/>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 Box 8">
                <a:extLst>
                  <a:ext uri="{FF2B5EF4-FFF2-40B4-BE49-F238E27FC236}">
                    <a16:creationId xmlns:a16="http://schemas.microsoft.com/office/drawing/2014/main" id="{96FCD383-3A32-4AFF-BAEF-ADED6FD1B2CE}"/>
                  </a:ext>
                </a:extLst>
              </p:cNvPr>
              <p:cNvSpPr txBox="1">
                <a:spLocks noChangeArrowheads="1"/>
              </p:cNvSpPr>
              <p:nvPr/>
            </p:nvSpPr>
            <p:spPr bwMode="auto">
              <a:xfrm>
                <a:off x="478125" y="1283225"/>
                <a:ext cx="5329857"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r>
                  <a:rPr lang="zh-CN" altLang="en-US" sz="2800" dirty="0">
                    <a:latin typeface="楷体_GB2312" panose="02010609030101010101" pitchFamily="49" charset="-122"/>
                    <a:ea typeface="楷体_GB2312" panose="02010609030101010101" pitchFamily="49" charset="-122"/>
                  </a:rPr>
                  <a:t>比较</a:t>
                </a:r>
                <a14:m>
                  <m:oMath xmlns:m="http://schemas.openxmlformats.org/officeDocument/2006/math">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a14:m>
                <a:r>
                  <a:rPr lang="zh-CN" altLang="en-US" sz="2800" dirty="0">
                    <a:latin typeface="楷体_GB2312" panose="02010609030101010101" pitchFamily="49" charset="-122"/>
                    <a:ea typeface="楷体_GB2312" panose="02010609030101010101" pitchFamily="49" charset="-122"/>
                  </a:rPr>
                  <a:t>和</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oMath>
                </a14:m>
                <a:r>
                  <a:rPr lang="zh-CN" altLang="en-US" sz="2800" dirty="0">
                    <a:latin typeface="楷体_GB2312" panose="02010609030101010101" pitchFamily="49" charset="-122"/>
                    <a:ea typeface="楷体_GB2312" panose="02010609030101010101" pitchFamily="49" charset="-122"/>
                  </a:rPr>
                  <a:t>的表达式可以看出</a:t>
                </a:r>
              </a:p>
            </p:txBody>
          </p:sp>
        </mc:Choice>
        <mc:Fallback xmlns="">
          <p:sp>
            <p:nvSpPr>
              <p:cNvPr id="17" name="Text Box 8">
                <a:extLst>
                  <a:ext uri="{FF2B5EF4-FFF2-40B4-BE49-F238E27FC236}">
                    <a16:creationId xmlns:a16="http://schemas.microsoft.com/office/drawing/2014/main" id="{96FCD383-3A32-4AFF-BAEF-ADED6FD1B2CE}"/>
                  </a:ext>
                </a:extLst>
              </p:cNvPr>
              <p:cNvSpPr txBox="1">
                <a:spLocks noRot="1" noChangeAspect="1" noMove="1" noResize="1" noEditPoints="1" noAdjustHandles="1" noChangeArrowheads="1" noChangeShapeType="1" noTextEdit="1"/>
              </p:cNvSpPr>
              <p:nvPr/>
            </p:nvSpPr>
            <p:spPr bwMode="auto">
              <a:xfrm>
                <a:off x="478125" y="1283225"/>
                <a:ext cx="5329857" cy="523220"/>
              </a:xfrm>
              <a:prstGeom prst="rect">
                <a:avLst/>
              </a:prstGeom>
              <a:blipFill>
                <a:blip r:embed="rId3"/>
                <a:stretch>
                  <a:fillRect l="-2286" t="-15294" b="-3058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0" name="Text Box 9">
            <a:extLst>
              <a:ext uri="{FF2B5EF4-FFF2-40B4-BE49-F238E27FC236}">
                <a16:creationId xmlns:a16="http://schemas.microsoft.com/office/drawing/2014/main" id="{64AC0837-5467-45E4-BF7E-E6FBDED6851B}"/>
              </a:ext>
            </a:extLst>
          </p:cNvPr>
          <p:cNvSpPr txBox="1">
            <a:spLocks noChangeArrowheads="1"/>
          </p:cNvSpPr>
          <p:nvPr/>
        </p:nvSpPr>
        <p:spPr bwMode="auto">
          <a:xfrm>
            <a:off x="478125" y="2496907"/>
            <a:ext cx="167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800" dirty="0">
                <a:latin typeface="楷体_GB2312" panose="02010609030101010101" pitchFamily="49" charset="-122"/>
                <a:ea typeface="楷体_GB2312" panose="02010609030101010101" pitchFamily="49" charset="-122"/>
              </a:rPr>
              <a:t>这表明：</a:t>
            </a: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FB1C9EB8-3517-496C-973C-276464F98E70}"/>
                  </a:ext>
                </a:extLst>
              </p:cNvPr>
              <p:cNvSpPr txBox="1"/>
              <p:nvPr/>
            </p:nvSpPr>
            <p:spPr>
              <a:xfrm>
                <a:off x="3158701" y="3012211"/>
                <a:ext cx="3555811" cy="6912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groupChr>
                        <m:groupChrPr>
                          <m:chr m:val="↔"/>
                          <m:vertJc m:val="bot"/>
                          <m:ctrlPr>
                            <a:rPr lang="en-US" sz="2800" i="1">
                              <a:solidFill>
                                <a:srgbClr val="000000"/>
                              </a:solidFill>
                              <a:latin typeface="Cambria Math" panose="02040503050406030204" pitchFamily="18" charset="0"/>
                            </a:rPr>
                          </m:ctrlPr>
                        </m:groupChrPr>
                        <m:e>
                          <m:r>
                            <a:rPr lang="en-US" sz="2800" i="1">
                              <a:solidFill>
                                <a:srgbClr val="000000"/>
                              </a:solidFill>
                              <a:latin typeface="Cambria Math" panose="02040503050406030204" pitchFamily="18" charset="0"/>
                            </a:rPr>
                            <m:t> </m:t>
                          </m:r>
                          <m:r>
                            <m:rPr>
                              <m:sty m:val="p"/>
                            </m:rPr>
                            <a:rPr lang="en-US" sz="2800" i="0">
                              <a:solidFill>
                                <a:srgbClr val="000000"/>
                              </a:solidFill>
                              <a:latin typeface="Cambria Math" panose="02040503050406030204" pitchFamily="18" charset="0"/>
                            </a:rPr>
                            <m:t>DTFT</m:t>
                          </m:r>
                          <m:r>
                            <a:rPr lang="en-US" sz="2800" i="1">
                              <a:solidFill>
                                <a:srgbClr val="000000"/>
                              </a:solidFill>
                              <a:latin typeface="Cambria Math" panose="02040503050406030204" pitchFamily="18" charset="0"/>
                            </a:rPr>
                            <m:t> </m:t>
                          </m:r>
                        </m:e>
                      </m:groupCh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4" name="文本框 33">
                <a:extLst>
                  <a:ext uri="{FF2B5EF4-FFF2-40B4-BE49-F238E27FC236}">
                    <a16:creationId xmlns:a16="http://schemas.microsoft.com/office/drawing/2014/main" id="{FB1C9EB8-3517-496C-973C-276464F98E70}"/>
                  </a:ext>
                </a:extLst>
              </p:cNvPr>
              <p:cNvSpPr txBox="1">
                <a:spLocks noRot="1" noChangeAspect="1" noMove="1" noResize="1" noEditPoints="1" noAdjustHandles="1" noChangeArrowheads="1" noChangeShapeType="1" noTextEdit="1"/>
              </p:cNvSpPr>
              <p:nvPr/>
            </p:nvSpPr>
            <p:spPr>
              <a:xfrm>
                <a:off x="3158701" y="3012211"/>
                <a:ext cx="3555811" cy="691279"/>
              </a:xfrm>
              <a:prstGeom prst="rect">
                <a:avLst/>
              </a:prstGeom>
              <a:blipFill>
                <a:blip r:embed="rId4"/>
                <a:stretch>
                  <a:fillRect/>
                </a:stretch>
              </a:blipFill>
            </p:spPr>
            <p:txBody>
              <a:bodyPr/>
              <a:lstStyle/>
              <a:p>
                <a:r>
                  <a:rPr lang="en-US">
                    <a:noFill/>
                  </a:rPr>
                  <a:t> </a:t>
                </a:r>
              </a:p>
            </p:txBody>
          </p:sp>
        </mc:Fallback>
      </mc:AlternateContent>
      <p:sp>
        <p:nvSpPr>
          <p:cNvPr id="35" name="文本框 34">
            <a:extLst>
              <a:ext uri="{FF2B5EF4-FFF2-40B4-BE49-F238E27FC236}">
                <a16:creationId xmlns:a16="http://schemas.microsoft.com/office/drawing/2014/main" id="{F55B6B74-A9AF-4BEC-B01E-F59364AA584F}"/>
              </a:ext>
            </a:extLst>
          </p:cNvPr>
          <p:cNvSpPr txBox="1"/>
          <p:nvPr/>
        </p:nvSpPr>
        <p:spPr>
          <a:xfrm>
            <a:off x="4474335" y="4534969"/>
            <a:ext cx="4114800" cy="830997"/>
          </a:xfrm>
          <a:prstGeom prst="rect">
            <a:avLst/>
          </a:prstGeom>
          <a:noFill/>
        </p:spPr>
        <p:txBody>
          <a:bodyPr wrap="square">
            <a:spAutoFit/>
          </a:bodyPr>
          <a:lstStyle/>
          <a:p>
            <a:pPr algn="just"/>
            <a:r>
              <a:rPr lang="en-US" sz="2400" i="0" dirty="0">
                <a:solidFill>
                  <a:srgbClr val="000000"/>
                </a:solidFill>
                <a:latin typeface="Cambria Math" panose="02040503050406030204" pitchFamily="18" charset="0"/>
                <a:ea typeface="楷体" panose="02010609060101010101" pitchFamily="49" charset="-122"/>
              </a:rPr>
              <a:t>DTFT</a:t>
            </a:r>
            <a:r>
              <a:rPr lang="zh-CN" altLang="en-US" sz="2400" dirty="0">
                <a:latin typeface="Cambria Math" panose="02040503050406030204" pitchFamily="18" charset="0"/>
                <a:ea typeface="楷体" panose="02010609060101010101" pitchFamily="49" charset="-122"/>
              </a:rPr>
              <a:t>：离散时间傅里叶变换</a:t>
            </a:r>
            <a:endParaRPr lang="en-US" altLang="zh-CN" sz="2400" dirty="0">
              <a:latin typeface="Cambria Math" panose="02040503050406030204" pitchFamily="18" charset="0"/>
              <a:ea typeface="楷体" panose="02010609060101010101" pitchFamily="49" charset="-122"/>
            </a:endParaRPr>
          </a:p>
          <a:p>
            <a:pPr algn="just"/>
            <a:r>
              <a:rPr lang="en-US" sz="2400" dirty="0">
                <a:latin typeface="Cambria Math" panose="02040503050406030204" pitchFamily="18" charset="0"/>
                <a:ea typeface="楷体" panose="02010609060101010101" pitchFamily="49" charset="-122"/>
              </a:rPr>
              <a:t>CFS</a:t>
            </a:r>
            <a:r>
              <a:rPr lang="zh-CN" altLang="en-US" sz="2400" dirty="0">
                <a:latin typeface="Cambria Math" panose="02040503050406030204" pitchFamily="18" charset="0"/>
                <a:ea typeface="楷体" panose="02010609060101010101" pitchFamily="49" charset="-122"/>
              </a:rPr>
              <a:t>：连续时间傅里叶级数</a:t>
            </a:r>
            <a:endParaRPr lang="en-US" sz="2400" dirty="0">
              <a:latin typeface="Cambria Math" panose="02040503050406030204" pitchFamily="18" charset="0"/>
              <a:ea typeface="楷体" panose="02010609060101010101" pitchFamily="49" charset="-122"/>
            </a:endParaRPr>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80EF5FB7-F4E2-428D-8329-F07DEBCE25EE}"/>
                  </a:ext>
                </a:extLst>
              </p:cNvPr>
              <p:cNvSpPr txBox="1"/>
              <p:nvPr/>
            </p:nvSpPr>
            <p:spPr>
              <a:xfrm>
                <a:off x="2975924" y="3759573"/>
                <a:ext cx="3555811" cy="725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𝑋</m:t>
                      </m:r>
                      <m:d>
                        <m:dPr>
                          <m:ctrlPr>
                            <a:rPr lang="en-US" sz="2800" i="1" smtClean="0">
                              <a:solidFill>
                                <a:srgbClr val="000000"/>
                              </a:solidFill>
                              <a:latin typeface="Cambria Math" panose="02040503050406030204" pitchFamily="18" charset="0"/>
                            </a:rPr>
                          </m:ctrlPr>
                        </m:dPr>
                        <m:e>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𝑡</m:t>
                              </m:r>
                            </m:sup>
                          </m:sSup>
                        </m:e>
                      </m:d>
                      <m:groupChr>
                        <m:groupChrPr>
                          <m:chr m:val="↔"/>
                          <m:vertJc m:val="bot"/>
                          <m:ctrlPr>
                            <a:rPr lang="en-US" sz="2800" i="1">
                              <a:solidFill>
                                <a:srgbClr val="000000"/>
                              </a:solidFill>
                              <a:latin typeface="Cambria Math" panose="02040503050406030204" pitchFamily="18" charset="0"/>
                            </a:rPr>
                          </m:ctrlPr>
                        </m:groupChrPr>
                        <m:e>
                          <m:r>
                            <a:rPr lang="en-US" sz="2800" i="1">
                              <a:solidFill>
                                <a:srgbClr val="000000"/>
                              </a:solidFill>
                              <a:latin typeface="Cambria Math" panose="02040503050406030204" pitchFamily="18" charset="0"/>
                            </a:rPr>
                            <m:t> </m:t>
                          </m:r>
                          <m:r>
                            <m:rPr>
                              <m:sty m:val="p"/>
                            </m:rPr>
                            <a:rPr lang="en-US" sz="2800" i="0">
                              <a:solidFill>
                                <a:srgbClr val="000000"/>
                              </a:solidFill>
                              <a:latin typeface="Cambria Math" panose="02040503050406030204" pitchFamily="18" charset="0"/>
                            </a:rPr>
                            <m:t>CFS</m:t>
                          </m:r>
                          <m:r>
                            <a:rPr lang="en-US" sz="2800" i="1">
                              <a:solidFill>
                                <a:srgbClr val="000000"/>
                              </a:solidFill>
                              <a:latin typeface="Cambria Math" panose="02040503050406030204" pitchFamily="18" charset="0"/>
                            </a:rPr>
                            <m:t> </m:t>
                          </m:r>
                        </m:e>
                      </m:groupChr>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𝑘</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39" name="文本框 38">
                <a:extLst>
                  <a:ext uri="{FF2B5EF4-FFF2-40B4-BE49-F238E27FC236}">
                    <a16:creationId xmlns:a16="http://schemas.microsoft.com/office/drawing/2014/main" id="{80EF5FB7-F4E2-428D-8329-F07DEBCE25EE}"/>
                  </a:ext>
                </a:extLst>
              </p:cNvPr>
              <p:cNvSpPr txBox="1">
                <a:spLocks noRot="1" noChangeAspect="1" noMove="1" noResize="1" noEditPoints="1" noAdjustHandles="1" noChangeArrowheads="1" noChangeShapeType="1" noTextEdit="1"/>
              </p:cNvSpPr>
              <p:nvPr/>
            </p:nvSpPr>
            <p:spPr>
              <a:xfrm>
                <a:off x="2975924" y="3759573"/>
                <a:ext cx="3555811" cy="72584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5780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D1749F4-0968-45DA-9D36-60F9039F46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2D0D8F-A3E1-4249-B84D-2B8D31B9C06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Text Box 2">
            <a:extLst>
              <a:ext uri="{FF2B5EF4-FFF2-40B4-BE49-F238E27FC236}">
                <a16:creationId xmlns:a16="http://schemas.microsoft.com/office/drawing/2014/main" id="{AD1EEFC5-2FD8-4CE1-B8E2-1E85F51869BB}"/>
              </a:ext>
            </a:extLst>
          </p:cNvPr>
          <p:cNvSpPr txBox="1">
            <a:spLocks noChangeArrowheads="1"/>
          </p:cNvSpPr>
          <p:nvPr/>
        </p:nvSpPr>
        <p:spPr bwMode="auto">
          <a:xfrm>
            <a:off x="278954" y="404664"/>
            <a:ext cx="3888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400" dirty="0">
                <a:latin typeface="楷体_GB2312" panose="02010609030101010101" pitchFamily="49" charset="-122"/>
                <a:ea typeface="楷体_GB2312" panose="02010609030101010101" pitchFamily="49" charset="-122"/>
              </a:rPr>
              <a:t>可以将对偶关系归纳如下：</a:t>
            </a:r>
            <a:endParaRPr lang="en-US" altLang="zh-CN" sz="2400" dirty="0">
              <a:latin typeface="楷体_GB2312" panose="02010609030101010101" pitchFamily="49" charset="-122"/>
              <a:ea typeface="楷体_GB2312" panose="02010609030101010101" pitchFamily="49" charset="-122"/>
            </a:endParaRPr>
          </a:p>
        </p:txBody>
      </p:sp>
      <p:grpSp>
        <p:nvGrpSpPr>
          <p:cNvPr id="12" name="Group 55">
            <a:extLst>
              <a:ext uri="{FF2B5EF4-FFF2-40B4-BE49-F238E27FC236}">
                <a16:creationId xmlns:a16="http://schemas.microsoft.com/office/drawing/2014/main" id="{DD0D070A-17CA-4B7C-BC24-F10EAEF15769}"/>
              </a:ext>
            </a:extLst>
          </p:cNvPr>
          <p:cNvGrpSpPr>
            <a:grpSpLocks/>
          </p:cNvGrpSpPr>
          <p:nvPr/>
        </p:nvGrpSpPr>
        <p:grpSpPr bwMode="auto">
          <a:xfrm>
            <a:off x="431676" y="1052736"/>
            <a:ext cx="3582988" cy="2035175"/>
            <a:chOff x="408" y="833"/>
            <a:chExt cx="2257" cy="1282"/>
          </a:xfrm>
        </p:grpSpPr>
        <p:sp>
          <p:nvSpPr>
            <p:cNvPr id="14" name="Rectangle 5">
              <a:extLst>
                <a:ext uri="{FF2B5EF4-FFF2-40B4-BE49-F238E27FC236}">
                  <a16:creationId xmlns:a16="http://schemas.microsoft.com/office/drawing/2014/main" id="{CD86EB51-6BD7-4CC1-8D03-A1E87359637D}"/>
                </a:ext>
              </a:extLst>
            </p:cNvPr>
            <p:cNvSpPr>
              <a:spLocks noChangeArrowheads="1"/>
            </p:cNvSpPr>
            <p:nvPr/>
          </p:nvSpPr>
          <p:spPr bwMode="auto">
            <a:xfrm>
              <a:off x="408" y="833"/>
              <a:ext cx="2257" cy="1282"/>
            </a:xfrm>
            <a:prstGeom prst="rect">
              <a:avLst/>
            </a:prstGeom>
            <a:solidFill>
              <a:srgbClr val="91D2FF"/>
            </a:solidFill>
            <a:ln>
              <a:noFill/>
            </a:ln>
            <a:effectLst>
              <a:prstShdw prst="shdw17" dist="17961" dir="2700000">
                <a:srgbClr val="91D2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graphicFrame>
          <p:nvGraphicFramePr>
            <p:cNvPr id="15" name="Object 7">
              <a:extLst>
                <a:ext uri="{FF2B5EF4-FFF2-40B4-BE49-F238E27FC236}">
                  <a16:creationId xmlns:a16="http://schemas.microsoft.com/office/drawing/2014/main" id="{A71A4550-2684-4657-9E35-B1DCFDEB6485}"/>
                </a:ext>
              </a:extLst>
            </p:cNvPr>
            <p:cNvGraphicFramePr>
              <a:graphicFrameLocks noChangeAspect="1"/>
            </p:cNvGraphicFramePr>
            <p:nvPr/>
          </p:nvGraphicFramePr>
          <p:xfrm>
            <a:off x="639" y="925"/>
            <a:ext cx="1887" cy="272"/>
          </p:xfrm>
          <a:graphic>
            <a:graphicData uri="http://schemas.openxmlformats.org/presentationml/2006/ole">
              <mc:AlternateContent xmlns:mc="http://schemas.openxmlformats.org/markup-compatibility/2006">
                <mc:Choice xmlns:v="urn:schemas-microsoft-com:vml" Requires="v">
                  <p:oleObj spid="_x0000_s13728" name="Equation" r:id="rId3" imgW="1409400" imgH="203040" progId="Equation.DSMT4">
                    <p:embed/>
                  </p:oleObj>
                </mc:Choice>
                <mc:Fallback>
                  <p:oleObj name="Equation" r:id="rId3" imgW="1409400" imgH="203040" progId="Equation.DSMT4">
                    <p:embed/>
                    <p:pic>
                      <p:nvPicPr>
                        <p:cNvPr id="659463" name="Object 7">
                          <a:extLst>
                            <a:ext uri="{FF2B5EF4-FFF2-40B4-BE49-F238E27FC236}">
                              <a16:creationId xmlns:a16="http://schemas.microsoft.com/office/drawing/2014/main" id="{CA9A220C-189C-4F06-88D5-6155C9FA44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 y="925"/>
                          <a:ext cx="1887" cy="272"/>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8">
              <a:extLst>
                <a:ext uri="{FF2B5EF4-FFF2-40B4-BE49-F238E27FC236}">
                  <a16:creationId xmlns:a16="http://schemas.microsoft.com/office/drawing/2014/main" id="{C24606D2-B17D-4D9E-B7B1-E76268E3C384}"/>
                </a:ext>
              </a:extLst>
            </p:cNvPr>
            <p:cNvGraphicFramePr>
              <a:graphicFrameLocks noChangeAspect="1"/>
            </p:cNvGraphicFramePr>
            <p:nvPr/>
          </p:nvGraphicFramePr>
          <p:xfrm>
            <a:off x="902" y="1227"/>
            <a:ext cx="982" cy="338"/>
          </p:xfrm>
          <a:graphic>
            <a:graphicData uri="http://schemas.openxmlformats.org/presentationml/2006/ole">
              <mc:AlternateContent xmlns:mc="http://schemas.openxmlformats.org/markup-compatibility/2006">
                <mc:Choice xmlns:v="urn:schemas-microsoft-com:vml" Requires="v">
                  <p:oleObj spid="_x0000_s13729" name="公式" r:id="rId5" imgW="634680" imgH="228600" progId="Equation.3">
                    <p:embed/>
                  </p:oleObj>
                </mc:Choice>
                <mc:Fallback>
                  <p:oleObj name="公式" r:id="rId5" imgW="634680" imgH="228600" progId="Equation.3">
                    <p:embed/>
                    <p:pic>
                      <p:nvPicPr>
                        <p:cNvPr id="659464" name="Object 8">
                          <a:extLst>
                            <a:ext uri="{FF2B5EF4-FFF2-40B4-BE49-F238E27FC236}">
                              <a16:creationId xmlns:a16="http://schemas.microsoft.com/office/drawing/2014/main" id="{7D4F73CD-A293-4230-A0F2-552174644D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2" y="1227"/>
                          <a:ext cx="982" cy="338"/>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9">
              <a:extLst>
                <a:ext uri="{FF2B5EF4-FFF2-40B4-BE49-F238E27FC236}">
                  <a16:creationId xmlns:a16="http://schemas.microsoft.com/office/drawing/2014/main" id="{C300EC74-50FC-48D5-8404-D05A60E4813E}"/>
                </a:ext>
              </a:extLst>
            </p:cNvPr>
            <p:cNvGraphicFramePr>
              <a:graphicFrameLocks noChangeAspect="1"/>
            </p:cNvGraphicFramePr>
            <p:nvPr/>
          </p:nvGraphicFramePr>
          <p:xfrm>
            <a:off x="463" y="1558"/>
            <a:ext cx="2133" cy="518"/>
          </p:xfrm>
          <a:graphic>
            <a:graphicData uri="http://schemas.openxmlformats.org/presentationml/2006/ole">
              <mc:AlternateContent xmlns:mc="http://schemas.openxmlformats.org/markup-compatibility/2006">
                <mc:Choice xmlns:v="urn:schemas-microsoft-com:vml" Requires="v">
                  <p:oleObj spid="_x0000_s13730" name="Equation" r:id="rId7" imgW="1777680" imgH="431640" progId="Equation.DSMT4">
                    <p:embed/>
                  </p:oleObj>
                </mc:Choice>
                <mc:Fallback>
                  <p:oleObj name="Equation" r:id="rId7" imgW="1777680" imgH="431640" progId="Equation.DSMT4">
                    <p:embed/>
                    <p:pic>
                      <p:nvPicPr>
                        <p:cNvPr id="659465" name="Object 9">
                          <a:extLst>
                            <a:ext uri="{FF2B5EF4-FFF2-40B4-BE49-F238E27FC236}">
                              <a16:creationId xmlns:a16="http://schemas.microsoft.com/office/drawing/2014/main" id="{3D1D3D0C-CD4F-4405-AC9F-1363FC0CC5B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 y="1558"/>
                          <a:ext cx="2133" cy="518"/>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9" name="Group 56">
            <a:extLst>
              <a:ext uri="{FF2B5EF4-FFF2-40B4-BE49-F238E27FC236}">
                <a16:creationId xmlns:a16="http://schemas.microsoft.com/office/drawing/2014/main" id="{6738FCC0-09DC-4A1A-B434-B49EABBD11C5}"/>
              </a:ext>
            </a:extLst>
          </p:cNvPr>
          <p:cNvGrpSpPr>
            <a:grpSpLocks/>
          </p:cNvGrpSpPr>
          <p:nvPr/>
        </p:nvGrpSpPr>
        <p:grpSpPr bwMode="auto">
          <a:xfrm>
            <a:off x="412626" y="4187332"/>
            <a:ext cx="3582988" cy="2060575"/>
            <a:chOff x="396" y="2757"/>
            <a:chExt cx="2257" cy="1298"/>
          </a:xfrm>
        </p:grpSpPr>
        <p:sp>
          <p:nvSpPr>
            <p:cNvPr id="21" name="Rectangle 44">
              <a:extLst>
                <a:ext uri="{FF2B5EF4-FFF2-40B4-BE49-F238E27FC236}">
                  <a16:creationId xmlns:a16="http://schemas.microsoft.com/office/drawing/2014/main" id="{21FB1147-6F25-4AF5-B661-3CBF5A5BD7EB}"/>
                </a:ext>
              </a:extLst>
            </p:cNvPr>
            <p:cNvSpPr>
              <a:spLocks noChangeArrowheads="1"/>
            </p:cNvSpPr>
            <p:nvPr/>
          </p:nvSpPr>
          <p:spPr bwMode="auto">
            <a:xfrm>
              <a:off x="396" y="2757"/>
              <a:ext cx="2257" cy="1283"/>
            </a:xfrm>
            <a:prstGeom prst="rect">
              <a:avLst/>
            </a:prstGeom>
            <a:solidFill>
              <a:srgbClr val="4BF578"/>
            </a:solidFill>
            <a:ln>
              <a:noFill/>
            </a:ln>
            <a:effectLst>
              <a:prstShdw prst="shdw17" dist="17961" dir="2700000">
                <a:srgbClr val="4BF578">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graphicFrame>
          <p:nvGraphicFramePr>
            <p:cNvPr id="22" name="Object 17">
              <a:extLst>
                <a:ext uri="{FF2B5EF4-FFF2-40B4-BE49-F238E27FC236}">
                  <a16:creationId xmlns:a16="http://schemas.microsoft.com/office/drawing/2014/main" id="{70CC0BC4-4ECC-4497-9AE1-D7723F8B5192}"/>
                </a:ext>
              </a:extLst>
            </p:cNvPr>
            <p:cNvGraphicFramePr>
              <a:graphicFrameLocks noChangeAspect="1"/>
            </p:cNvGraphicFramePr>
            <p:nvPr/>
          </p:nvGraphicFramePr>
          <p:xfrm>
            <a:off x="408" y="3529"/>
            <a:ext cx="2240" cy="526"/>
          </p:xfrm>
          <a:graphic>
            <a:graphicData uri="http://schemas.openxmlformats.org/presentationml/2006/ole">
              <mc:AlternateContent xmlns:mc="http://schemas.openxmlformats.org/markup-compatibility/2006">
                <mc:Choice xmlns:v="urn:schemas-microsoft-com:vml" Requires="v">
                  <p:oleObj spid="_x0000_s13731" name="Equation" r:id="rId9" imgW="1930320" imgH="431640" progId="Equation.DSMT4">
                    <p:embed/>
                  </p:oleObj>
                </mc:Choice>
                <mc:Fallback>
                  <p:oleObj name="Equation" r:id="rId9" imgW="1930320" imgH="431640" progId="Equation.DSMT4">
                    <p:embed/>
                    <p:pic>
                      <p:nvPicPr>
                        <p:cNvPr id="659473" name="Object 17">
                          <a:extLst>
                            <a:ext uri="{FF2B5EF4-FFF2-40B4-BE49-F238E27FC236}">
                              <a16:creationId xmlns:a16="http://schemas.microsoft.com/office/drawing/2014/main" id="{24C6C0D2-F185-4BB3-AA6B-AC7A3DEDEAE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 y="3529"/>
                          <a:ext cx="2240" cy="526"/>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8">
              <a:extLst>
                <a:ext uri="{FF2B5EF4-FFF2-40B4-BE49-F238E27FC236}">
                  <a16:creationId xmlns:a16="http://schemas.microsoft.com/office/drawing/2014/main" id="{53B9A3F0-A3FC-4F48-AF83-ECF317BA9CC9}"/>
                </a:ext>
              </a:extLst>
            </p:cNvPr>
            <p:cNvGraphicFramePr>
              <a:graphicFrameLocks noChangeAspect="1"/>
            </p:cNvGraphicFramePr>
            <p:nvPr/>
          </p:nvGraphicFramePr>
          <p:xfrm>
            <a:off x="690" y="2764"/>
            <a:ext cx="1558" cy="252"/>
          </p:xfrm>
          <a:graphic>
            <a:graphicData uri="http://schemas.openxmlformats.org/presentationml/2006/ole">
              <mc:AlternateContent xmlns:mc="http://schemas.openxmlformats.org/markup-compatibility/2006">
                <mc:Choice xmlns:v="urn:schemas-microsoft-com:vml" Requires="v">
                  <p:oleObj spid="_x0000_s13732" name="Equation" r:id="rId11" imgW="1409400" imgH="203040" progId="Equation.DSMT4">
                    <p:embed/>
                  </p:oleObj>
                </mc:Choice>
                <mc:Fallback>
                  <p:oleObj name="Equation" r:id="rId11" imgW="1409400" imgH="203040" progId="Equation.DSMT4">
                    <p:embed/>
                    <p:pic>
                      <p:nvPicPr>
                        <p:cNvPr id="659474" name="Object 18">
                          <a:extLst>
                            <a:ext uri="{FF2B5EF4-FFF2-40B4-BE49-F238E27FC236}">
                              <a16:creationId xmlns:a16="http://schemas.microsoft.com/office/drawing/2014/main" id="{9DCFDE40-D7F8-4A6A-8791-0C0D9691A46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0" y="2764"/>
                          <a:ext cx="1558" cy="252"/>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9">
              <a:extLst>
                <a:ext uri="{FF2B5EF4-FFF2-40B4-BE49-F238E27FC236}">
                  <a16:creationId xmlns:a16="http://schemas.microsoft.com/office/drawing/2014/main" id="{49167769-3E59-4001-AA74-03F3534785AE}"/>
                </a:ext>
              </a:extLst>
            </p:cNvPr>
            <p:cNvGraphicFramePr>
              <a:graphicFrameLocks noChangeAspect="1"/>
            </p:cNvGraphicFramePr>
            <p:nvPr/>
          </p:nvGraphicFramePr>
          <p:xfrm>
            <a:off x="618" y="3035"/>
            <a:ext cx="1560" cy="571"/>
          </p:xfrm>
          <a:graphic>
            <a:graphicData uri="http://schemas.openxmlformats.org/presentationml/2006/ole">
              <mc:AlternateContent xmlns:mc="http://schemas.openxmlformats.org/markup-compatibility/2006">
                <mc:Choice xmlns:v="urn:schemas-microsoft-com:vml" Requires="v">
                  <p:oleObj spid="_x0000_s13733" name="公式" r:id="rId13" imgW="1155600" imgH="431640" progId="Equation.3">
                    <p:embed/>
                  </p:oleObj>
                </mc:Choice>
                <mc:Fallback>
                  <p:oleObj name="公式" r:id="rId13" imgW="1155600" imgH="431640" progId="Equation.3">
                    <p:embed/>
                    <p:pic>
                      <p:nvPicPr>
                        <p:cNvPr id="659475" name="Object 19">
                          <a:extLst>
                            <a:ext uri="{FF2B5EF4-FFF2-40B4-BE49-F238E27FC236}">
                              <a16:creationId xmlns:a16="http://schemas.microsoft.com/office/drawing/2014/main" id="{F0A74997-C3A7-4BED-8E57-54A093795AE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8" y="3035"/>
                          <a:ext cx="1560" cy="571"/>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 name="Group 58">
            <a:extLst>
              <a:ext uri="{FF2B5EF4-FFF2-40B4-BE49-F238E27FC236}">
                <a16:creationId xmlns:a16="http://schemas.microsoft.com/office/drawing/2014/main" id="{1AC34B39-B82B-4964-BA0B-3E602674BF8B}"/>
              </a:ext>
            </a:extLst>
          </p:cNvPr>
          <p:cNvGrpSpPr>
            <a:grpSpLocks/>
          </p:cNvGrpSpPr>
          <p:nvPr/>
        </p:nvGrpSpPr>
        <p:grpSpPr bwMode="auto">
          <a:xfrm>
            <a:off x="5205289" y="4187332"/>
            <a:ext cx="3582987" cy="2036762"/>
            <a:chOff x="3415" y="2757"/>
            <a:chExt cx="2257" cy="1283"/>
          </a:xfrm>
        </p:grpSpPr>
        <p:sp>
          <p:nvSpPr>
            <p:cNvPr id="26" name="Rectangle 45">
              <a:extLst>
                <a:ext uri="{FF2B5EF4-FFF2-40B4-BE49-F238E27FC236}">
                  <a16:creationId xmlns:a16="http://schemas.microsoft.com/office/drawing/2014/main" id="{F3B4637B-5C87-423A-8D0E-FDBC0DC5AB9C}"/>
                </a:ext>
              </a:extLst>
            </p:cNvPr>
            <p:cNvSpPr>
              <a:spLocks noChangeArrowheads="1"/>
            </p:cNvSpPr>
            <p:nvPr/>
          </p:nvSpPr>
          <p:spPr bwMode="auto">
            <a:xfrm>
              <a:off x="3415" y="2757"/>
              <a:ext cx="2257" cy="1283"/>
            </a:xfrm>
            <a:prstGeom prst="rect">
              <a:avLst/>
            </a:prstGeom>
            <a:solidFill>
              <a:srgbClr val="91D2FF"/>
            </a:solidFill>
            <a:ln>
              <a:noFill/>
            </a:ln>
            <a:effectLst>
              <a:prstShdw prst="shdw17" dist="17961" dir="2700000">
                <a:srgbClr val="91D2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graphicFrame>
          <p:nvGraphicFramePr>
            <p:cNvPr id="27" name="Object 22">
              <a:extLst>
                <a:ext uri="{FF2B5EF4-FFF2-40B4-BE49-F238E27FC236}">
                  <a16:creationId xmlns:a16="http://schemas.microsoft.com/office/drawing/2014/main" id="{5936ED61-04A1-44ED-B89A-21776DAD545B}"/>
                </a:ext>
              </a:extLst>
            </p:cNvPr>
            <p:cNvGraphicFramePr>
              <a:graphicFrameLocks noChangeAspect="1"/>
            </p:cNvGraphicFramePr>
            <p:nvPr/>
          </p:nvGraphicFramePr>
          <p:xfrm>
            <a:off x="3712" y="2832"/>
            <a:ext cx="1644" cy="260"/>
          </p:xfrm>
          <a:graphic>
            <a:graphicData uri="http://schemas.openxmlformats.org/presentationml/2006/ole">
              <mc:AlternateContent xmlns:mc="http://schemas.openxmlformats.org/markup-compatibility/2006">
                <mc:Choice xmlns:v="urn:schemas-microsoft-com:vml" Requires="v">
                  <p:oleObj spid="_x0000_s13734" name="Equation" r:id="rId15" imgW="1409400" imgH="203040" progId="Equation.DSMT4">
                    <p:embed/>
                  </p:oleObj>
                </mc:Choice>
                <mc:Fallback>
                  <p:oleObj name="Equation" r:id="rId15" imgW="1409400" imgH="203040" progId="Equation.DSMT4">
                    <p:embed/>
                    <p:pic>
                      <p:nvPicPr>
                        <p:cNvPr id="659478" name="Object 22">
                          <a:extLst>
                            <a:ext uri="{FF2B5EF4-FFF2-40B4-BE49-F238E27FC236}">
                              <a16:creationId xmlns:a16="http://schemas.microsoft.com/office/drawing/2014/main" id="{6856D02F-9C90-4786-BCB3-DD0A2E19D2F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12" y="2832"/>
                          <a:ext cx="1644" cy="260"/>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20014F1D-6E5F-4E5F-9128-97F2564C6A0D}"/>
                </a:ext>
              </a:extLst>
            </p:cNvPr>
            <p:cNvGraphicFramePr>
              <a:graphicFrameLocks noChangeAspect="1"/>
            </p:cNvGraphicFramePr>
            <p:nvPr>
              <p:extLst>
                <p:ext uri="{D42A27DB-BD31-4B8C-83A1-F6EECF244321}">
                  <p14:modId xmlns:p14="http://schemas.microsoft.com/office/powerpoint/2010/main" val="951780043"/>
                </p:ext>
              </p:extLst>
            </p:nvPr>
          </p:nvGraphicFramePr>
          <p:xfrm>
            <a:off x="3897" y="3130"/>
            <a:ext cx="1284" cy="353"/>
          </p:xfrm>
          <a:graphic>
            <a:graphicData uri="http://schemas.openxmlformats.org/presentationml/2006/ole">
              <mc:AlternateContent xmlns:mc="http://schemas.openxmlformats.org/markup-compatibility/2006">
                <mc:Choice xmlns:v="urn:schemas-microsoft-com:vml" Requires="v">
                  <p:oleObj spid="_x0000_s13735" name="Equation" r:id="rId17" imgW="952200" imgH="228600" progId="Equation.DSMT4">
                    <p:embed/>
                  </p:oleObj>
                </mc:Choice>
                <mc:Fallback>
                  <p:oleObj name="Equation" r:id="rId17" imgW="952200" imgH="228600" progId="Equation.DSMT4">
                    <p:embed/>
                    <p:pic>
                      <p:nvPicPr>
                        <p:cNvPr id="659479" name="Object 23">
                          <a:extLst>
                            <a:ext uri="{FF2B5EF4-FFF2-40B4-BE49-F238E27FC236}">
                              <a16:creationId xmlns:a16="http://schemas.microsoft.com/office/drawing/2014/main" id="{A4AD77DC-1A45-4F12-A93A-CD6B3D6FE480}"/>
                            </a:ext>
                          </a:extLst>
                        </p:cNvPr>
                        <p:cNvPicPr>
                          <a:picLocks noChangeAspect="1" noChangeArrowheads="1"/>
                        </p:cNvPicPr>
                        <p:nvPr/>
                      </p:nvPicPr>
                      <p:blipFill>
                        <a:blip r:embed="rId18"/>
                        <a:srcRect/>
                        <a:stretch>
                          <a:fillRect/>
                        </a:stretch>
                      </p:blipFill>
                      <p:spPr bwMode="auto">
                        <a:xfrm>
                          <a:off x="3897" y="3130"/>
                          <a:ext cx="1284" cy="353"/>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4">
              <a:extLst>
                <a:ext uri="{FF2B5EF4-FFF2-40B4-BE49-F238E27FC236}">
                  <a16:creationId xmlns:a16="http://schemas.microsoft.com/office/drawing/2014/main" id="{37424E32-284F-4A5F-B17A-C28781D5A8E1}"/>
                </a:ext>
              </a:extLst>
            </p:cNvPr>
            <p:cNvGraphicFramePr>
              <a:graphicFrameLocks noChangeAspect="1"/>
            </p:cNvGraphicFramePr>
            <p:nvPr/>
          </p:nvGraphicFramePr>
          <p:xfrm>
            <a:off x="3438" y="3477"/>
            <a:ext cx="2153" cy="543"/>
          </p:xfrm>
          <a:graphic>
            <a:graphicData uri="http://schemas.openxmlformats.org/presentationml/2006/ole">
              <mc:AlternateContent xmlns:mc="http://schemas.openxmlformats.org/markup-compatibility/2006">
                <mc:Choice xmlns:v="urn:schemas-microsoft-com:vml" Requires="v">
                  <p:oleObj spid="_x0000_s13736" name="Equation" r:id="rId19" imgW="1777680" imgH="431640" progId="Equation.DSMT4">
                    <p:embed/>
                  </p:oleObj>
                </mc:Choice>
                <mc:Fallback>
                  <p:oleObj name="Equation" r:id="rId19" imgW="1777680" imgH="431640" progId="Equation.DSMT4">
                    <p:embed/>
                    <p:pic>
                      <p:nvPicPr>
                        <p:cNvPr id="659480" name="Object 24">
                          <a:extLst>
                            <a:ext uri="{FF2B5EF4-FFF2-40B4-BE49-F238E27FC236}">
                              <a16:creationId xmlns:a16="http://schemas.microsoft.com/office/drawing/2014/main" id="{28489918-0310-40DE-983D-73DED936A2E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38" y="3477"/>
                          <a:ext cx="2153" cy="543"/>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 name="Line 25">
            <a:extLst>
              <a:ext uri="{FF2B5EF4-FFF2-40B4-BE49-F238E27FC236}">
                <a16:creationId xmlns:a16="http://schemas.microsoft.com/office/drawing/2014/main" id="{F25008E8-3D0E-4BE9-AECA-155D935A70CE}"/>
              </a:ext>
            </a:extLst>
          </p:cNvPr>
          <p:cNvSpPr>
            <a:spLocks noChangeShapeType="1"/>
          </p:cNvSpPr>
          <p:nvPr/>
        </p:nvSpPr>
        <p:spPr bwMode="auto">
          <a:xfrm>
            <a:off x="2699792" y="3118073"/>
            <a:ext cx="422" cy="1077196"/>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31" name="Object 26">
            <a:extLst>
              <a:ext uri="{FF2B5EF4-FFF2-40B4-BE49-F238E27FC236}">
                <a16:creationId xmlns:a16="http://schemas.microsoft.com/office/drawing/2014/main" id="{7527E0FB-6A21-4490-929D-150E5867B54C}"/>
              </a:ext>
            </a:extLst>
          </p:cNvPr>
          <p:cNvGraphicFramePr>
            <a:graphicFrameLocks noChangeAspect="1"/>
          </p:cNvGraphicFramePr>
          <p:nvPr>
            <p:extLst>
              <p:ext uri="{D42A27DB-BD31-4B8C-83A1-F6EECF244321}">
                <p14:modId xmlns:p14="http://schemas.microsoft.com/office/powerpoint/2010/main" val="3524141433"/>
              </p:ext>
            </p:extLst>
          </p:nvPr>
        </p:nvGraphicFramePr>
        <p:xfrm>
          <a:off x="850776" y="3293569"/>
          <a:ext cx="1649413" cy="800100"/>
        </p:xfrm>
        <a:graphic>
          <a:graphicData uri="http://schemas.openxmlformats.org/presentationml/2006/ole">
            <mc:AlternateContent xmlns:mc="http://schemas.openxmlformats.org/markup-compatibility/2006">
              <mc:Choice xmlns:v="urn:schemas-microsoft-com:vml" Requires="v">
                <p:oleObj spid="_x0000_s13737" name="公式" r:id="rId21" imgW="1117440" imgH="393480" progId="Equation.3">
                  <p:embed/>
                </p:oleObj>
              </mc:Choice>
              <mc:Fallback>
                <p:oleObj name="公式" r:id="rId21" imgW="1117440" imgH="393480" progId="Equation.3">
                  <p:embed/>
                  <p:pic>
                    <p:nvPicPr>
                      <p:cNvPr id="659482" name="Object 26">
                        <a:extLst>
                          <a:ext uri="{FF2B5EF4-FFF2-40B4-BE49-F238E27FC236}">
                            <a16:creationId xmlns:a16="http://schemas.microsoft.com/office/drawing/2014/main" id="{5582BBDF-4E52-419C-8EDC-8C5AFAA828C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50776" y="3293569"/>
                        <a:ext cx="1649413"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27">
            <a:extLst>
              <a:ext uri="{FF2B5EF4-FFF2-40B4-BE49-F238E27FC236}">
                <a16:creationId xmlns:a16="http://schemas.microsoft.com/office/drawing/2014/main" id="{BE975EB8-6B0D-45CE-99A8-A252FAFD978D}"/>
              </a:ext>
            </a:extLst>
          </p:cNvPr>
          <p:cNvGraphicFramePr>
            <a:graphicFrameLocks noChangeAspect="1"/>
          </p:cNvGraphicFramePr>
          <p:nvPr>
            <p:extLst>
              <p:ext uri="{D42A27DB-BD31-4B8C-83A1-F6EECF244321}">
                <p14:modId xmlns:p14="http://schemas.microsoft.com/office/powerpoint/2010/main" val="2713109712"/>
              </p:ext>
            </p:extLst>
          </p:nvPr>
        </p:nvGraphicFramePr>
        <p:xfrm>
          <a:off x="6259389" y="3218957"/>
          <a:ext cx="1565275" cy="846137"/>
        </p:xfrm>
        <a:graphic>
          <a:graphicData uri="http://schemas.openxmlformats.org/presentationml/2006/ole">
            <mc:AlternateContent xmlns:mc="http://schemas.openxmlformats.org/markup-compatibility/2006">
              <mc:Choice xmlns:v="urn:schemas-microsoft-com:vml" Requires="v">
                <p:oleObj spid="_x0000_s13738" name="公式" r:id="rId23" imgW="1066680" imgH="419040" progId="Equation.3">
                  <p:embed/>
                </p:oleObj>
              </mc:Choice>
              <mc:Fallback>
                <p:oleObj name="公式" r:id="rId23" imgW="1066680" imgH="419040" progId="Equation.3">
                  <p:embed/>
                  <p:pic>
                    <p:nvPicPr>
                      <p:cNvPr id="659483" name="Object 27">
                        <a:extLst>
                          <a:ext uri="{FF2B5EF4-FFF2-40B4-BE49-F238E27FC236}">
                            <a16:creationId xmlns:a16="http://schemas.microsoft.com/office/drawing/2014/main" id="{B83B7CF0-E7D6-448E-8676-531F492AD00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259389" y="3218957"/>
                        <a:ext cx="1565275" cy="846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Line 34">
            <a:extLst>
              <a:ext uri="{FF2B5EF4-FFF2-40B4-BE49-F238E27FC236}">
                <a16:creationId xmlns:a16="http://schemas.microsoft.com/office/drawing/2014/main" id="{2F58230B-C363-4EE7-9D78-A48A91817F23}"/>
              </a:ext>
            </a:extLst>
          </p:cNvPr>
          <p:cNvSpPr>
            <a:spLocks noChangeShapeType="1"/>
          </p:cNvSpPr>
          <p:nvPr/>
        </p:nvSpPr>
        <p:spPr bwMode="auto">
          <a:xfrm flipH="1">
            <a:off x="6162551" y="3134819"/>
            <a:ext cx="0" cy="103663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6" name="Group 60">
            <a:extLst>
              <a:ext uri="{FF2B5EF4-FFF2-40B4-BE49-F238E27FC236}">
                <a16:creationId xmlns:a16="http://schemas.microsoft.com/office/drawing/2014/main" id="{316AA4D9-86D2-4302-BBDF-95595BE56AC5}"/>
              </a:ext>
            </a:extLst>
          </p:cNvPr>
          <p:cNvGrpSpPr>
            <a:grpSpLocks/>
          </p:cNvGrpSpPr>
          <p:nvPr/>
        </p:nvGrpSpPr>
        <p:grpSpPr bwMode="auto">
          <a:xfrm>
            <a:off x="3401889" y="2069607"/>
            <a:ext cx="2374900" cy="3136901"/>
            <a:chOff x="2279" y="1423"/>
            <a:chExt cx="1496" cy="1976"/>
          </a:xfrm>
        </p:grpSpPr>
        <p:grpSp>
          <p:nvGrpSpPr>
            <p:cNvPr id="37" name="Group 59">
              <a:extLst>
                <a:ext uri="{FF2B5EF4-FFF2-40B4-BE49-F238E27FC236}">
                  <a16:creationId xmlns:a16="http://schemas.microsoft.com/office/drawing/2014/main" id="{032BE31D-0ABC-4275-AC53-EDEABA0F5610}"/>
                </a:ext>
              </a:extLst>
            </p:cNvPr>
            <p:cNvGrpSpPr>
              <a:grpSpLocks/>
            </p:cNvGrpSpPr>
            <p:nvPr/>
          </p:nvGrpSpPr>
          <p:grpSpPr bwMode="auto">
            <a:xfrm>
              <a:off x="2279" y="1901"/>
              <a:ext cx="1496" cy="894"/>
              <a:chOff x="2239" y="1931"/>
              <a:chExt cx="1496" cy="894"/>
            </a:xfrm>
          </p:grpSpPr>
          <p:sp>
            <p:nvSpPr>
              <p:cNvPr id="41" name="Oval 29">
                <a:extLst>
                  <a:ext uri="{FF2B5EF4-FFF2-40B4-BE49-F238E27FC236}">
                    <a16:creationId xmlns:a16="http://schemas.microsoft.com/office/drawing/2014/main" id="{33D16F80-19ED-4EA5-B922-E5DC4159D17D}"/>
                  </a:ext>
                </a:extLst>
              </p:cNvPr>
              <p:cNvSpPr>
                <a:spLocks noChangeArrowheads="1"/>
              </p:cNvSpPr>
              <p:nvPr/>
            </p:nvSpPr>
            <p:spPr bwMode="auto">
              <a:xfrm>
                <a:off x="2239" y="2074"/>
                <a:ext cx="1496" cy="751"/>
              </a:xfrm>
              <a:prstGeom prst="ellipse">
                <a:avLst/>
              </a:prstGeom>
              <a:solidFill>
                <a:srgbClr val="4BF578"/>
              </a:solidFill>
              <a:ln>
                <a:noFill/>
              </a:ln>
              <a:effectLst>
                <a:prstShdw prst="shdw17" dist="17961" dir="2700000">
                  <a:srgbClr val="4BF578">
                    <a:gamma/>
                    <a:shade val="60000"/>
                    <a:invGamma/>
                  </a:srgbClr>
                </a:prstShdw>
              </a:effectLst>
              <a:extLst>
                <a:ext uri="{91240B29-F687-4F45-9708-019B960494DF}">
                  <a14:hiddenLine xmlns:a14="http://schemas.microsoft.com/office/drawing/2010/main" w="9525">
                    <a:solidFill>
                      <a:schemeClr val="bg1"/>
                    </a:solidFill>
                    <a:round/>
                    <a:headEnd/>
                    <a:tailEnd/>
                  </a14:hiddenLine>
                </a:ext>
              </a:extLst>
            </p:spPr>
            <p:txBody>
              <a:bodyPr wrap="none" anchor="ctr"/>
              <a:lstStyle/>
              <a:p>
                <a:endParaRPr lang="en-US"/>
              </a:p>
            </p:txBody>
          </p:sp>
          <p:grpSp>
            <p:nvGrpSpPr>
              <p:cNvPr id="42" name="Group 30">
                <a:extLst>
                  <a:ext uri="{FF2B5EF4-FFF2-40B4-BE49-F238E27FC236}">
                    <a16:creationId xmlns:a16="http://schemas.microsoft.com/office/drawing/2014/main" id="{D072E5E2-362F-4659-972C-35D41E9D991E}"/>
                  </a:ext>
                </a:extLst>
              </p:cNvPr>
              <p:cNvGrpSpPr>
                <a:grpSpLocks/>
              </p:cNvGrpSpPr>
              <p:nvPr/>
            </p:nvGrpSpPr>
            <p:grpSpPr bwMode="auto">
              <a:xfrm>
                <a:off x="2374" y="2151"/>
                <a:ext cx="1237" cy="562"/>
                <a:chOff x="2523" y="2205"/>
                <a:chExt cx="1229" cy="442"/>
              </a:xfrm>
            </p:grpSpPr>
            <p:graphicFrame>
              <p:nvGraphicFramePr>
                <p:cNvPr id="44" name="Object 31">
                  <a:extLst>
                    <a:ext uri="{FF2B5EF4-FFF2-40B4-BE49-F238E27FC236}">
                      <a16:creationId xmlns:a16="http://schemas.microsoft.com/office/drawing/2014/main" id="{594B3082-7E84-47DB-9805-AFF3B62863D1}"/>
                    </a:ext>
                  </a:extLst>
                </p:cNvPr>
                <p:cNvGraphicFramePr>
                  <a:graphicFrameLocks noChangeAspect="1"/>
                </p:cNvGraphicFramePr>
                <p:nvPr>
                  <p:extLst>
                    <p:ext uri="{D42A27DB-BD31-4B8C-83A1-F6EECF244321}">
                      <p14:modId xmlns:p14="http://schemas.microsoft.com/office/powerpoint/2010/main" val="785504038"/>
                    </p:ext>
                  </p:extLst>
                </p:nvPr>
              </p:nvGraphicFramePr>
              <p:xfrm>
                <a:off x="2529" y="2205"/>
                <a:ext cx="1223" cy="215"/>
              </p:xfrm>
              <a:graphic>
                <a:graphicData uri="http://schemas.openxmlformats.org/presentationml/2006/ole">
                  <mc:AlternateContent xmlns:mc="http://schemas.openxmlformats.org/markup-compatibility/2006">
                    <mc:Choice xmlns:v="urn:schemas-microsoft-com:vml" Requires="v">
                      <p:oleObj spid="_x0000_s13739" name="Equation" r:id="rId25" imgW="1295280" imgH="228600" progId="Equation.DSMT4">
                        <p:embed/>
                      </p:oleObj>
                    </mc:Choice>
                    <mc:Fallback>
                      <p:oleObj name="Equation" r:id="rId25" imgW="1295280" imgH="228600" progId="Equation.DSMT4">
                        <p:embed/>
                        <p:pic>
                          <p:nvPicPr>
                            <p:cNvPr id="659487" name="Object 31">
                              <a:extLst>
                                <a:ext uri="{FF2B5EF4-FFF2-40B4-BE49-F238E27FC236}">
                                  <a16:creationId xmlns:a16="http://schemas.microsoft.com/office/drawing/2014/main" id="{66D11859-49A0-424D-8D3A-2038001ECEBD}"/>
                                </a:ext>
                              </a:extLst>
                            </p:cNvPr>
                            <p:cNvPicPr>
                              <a:picLocks noChangeAspect="1" noChangeArrowheads="1"/>
                            </p:cNvPicPr>
                            <p:nvPr/>
                          </p:nvPicPr>
                          <p:blipFill>
                            <a:blip r:embed="rId26"/>
                            <a:srcRect/>
                            <a:stretch>
                              <a:fillRect/>
                            </a:stretch>
                          </p:blipFill>
                          <p:spPr bwMode="auto">
                            <a:xfrm>
                              <a:off x="2529" y="2205"/>
                              <a:ext cx="1223" cy="215"/>
                            </a:xfrm>
                            <a:prstGeom prst="rect">
                              <a:avLst/>
                            </a:prstGeom>
                            <a:noFill/>
                            <a:ln>
                              <a:noFill/>
                            </a:ln>
                            <a:effectLst/>
                            <a:extLst>
                              <a:ext uri="{909E8E84-426E-40DD-AFC4-6F175D3DCCD1}">
                                <a14:hiddenFill xmlns:a14="http://schemas.microsoft.com/office/drawing/2010/main">
                                  <a:solidFill>
                                    <a:srgbClr val="A49FE3">
                                      <a:alpha val="6100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32">
                  <a:extLst>
                    <a:ext uri="{FF2B5EF4-FFF2-40B4-BE49-F238E27FC236}">
                      <a16:creationId xmlns:a16="http://schemas.microsoft.com/office/drawing/2014/main" id="{45FE6203-F315-4149-B533-69EE8ABA0273}"/>
                    </a:ext>
                  </a:extLst>
                </p:cNvPr>
                <p:cNvGraphicFramePr>
                  <a:graphicFrameLocks noChangeAspect="1"/>
                </p:cNvGraphicFramePr>
                <p:nvPr>
                  <p:extLst>
                    <p:ext uri="{D42A27DB-BD31-4B8C-83A1-F6EECF244321}">
                      <p14:modId xmlns:p14="http://schemas.microsoft.com/office/powerpoint/2010/main" val="3041839439"/>
                    </p:ext>
                  </p:extLst>
                </p:nvPr>
              </p:nvGraphicFramePr>
              <p:xfrm>
                <a:off x="2523" y="2432"/>
                <a:ext cx="1223" cy="215"/>
              </p:xfrm>
              <a:graphic>
                <a:graphicData uri="http://schemas.openxmlformats.org/presentationml/2006/ole">
                  <mc:AlternateContent xmlns:mc="http://schemas.openxmlformats.org/markup-compatibility/2006">
                    <mc:Choice xmlns:v="urn:schemas-microsoft-com:vml" Requires="v">
                      <p:oleObj spid="_x0000_s13740" name="Equation" r:id="rId27" imgW="1295280" imgH="228600" progId="Equation.DSMT4">
                        <p:embed/>
                      </p:oleObj>
                    </mc:Choice>
                    <mc:Fallback>
                      <p:oleObj name="Equation" r:id="rId27" imgW="1295280" imgH="228600" progId="Equation.DSMT4">
                        <p:embed/>
                        <p:pic>
                          <p:nvPicPr>
                            <p:cNvPr id="659488" name="Object 32">
                              <a:extLst>
                                <a:ext uri="{FF2B5EF4-FFF2-40B4-BE49-F238E27FC236}">
                                  <a16:creationId xmlns:a16="http://schemas.microsoft.com/office/drawing/2014/main" id="{01F1DA42-2601-46B0-BAC5-D7C799D3AC66}"/>
                                </a:ext>
                              </a:extLst>
                            </p:cNvPr>
                            <p:cNvPicPr>
                              <a:picLocks noChangeAspect="1" noChangeArrowheads="1"/>
                            </p:cNvPicPr>
                            <p:nvPr/>
                          </p:nvPicPr>
                          <p:blipFill>
                            <a:blip r:embed="rId28"/>
                            <a:srcRect/>
                            <a:stretch>
                              <a:fillRect/>
                            </a:stretch>
                          </p:blipFill>
                          <p:spPr bwMode="auto">
                            <a:xfrm>
                              <a:off x="2523" y="2432"/>
                              <a:ext cx="1223" cy="215"/>
                            </a:xfrm>
                            <a:prstGeom prst="rect">
                              <a:avLst/>
                            </a:prstGeom>
                            <a:noFill/>
                            <a:ln>
                              <a:noFill/>
                            </a:ln>
                            <a:effectLst/>
                            <a:extLst>
                              <a:ext uri="{909E8E84-426E-40DD-AFC4-6F175D3DCCD1}">
                                <a14:hiddenFill xmlns:a14="http://schemas.microsoft.com/office/drawing/2010/main">
                                  <a:solidFill>
                                    <a:srgbClr val="A49FE3">
                                      <a:alpha val="6100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3" name="Object 33">
                <a:extLst>
                  <a:ext uri="{FF2B5EF4-FFF2-40B4-BE49-F238E27FC236}">
                    <a16:creationId xmlns:a16="http://schemas.microsoft.com/office/drawing/2014/main" id="{663924AB-8D56-420C-B1A8-0F6FA56EB9F1}"/>
                  </a:ext>
                </a:extLst>
              </p:cNvPr>
              <p:cNvGraphicFramePr>
                <a:graphicFrameLocks noChangeAspect="1"/>
              </p:cNvGraphicFramePr>
              <p:nvPr/>
            </p:nvGraphicFramePr>
            <p:xfrm>
              <a:off x="2903" y="1931"/>
              <a:ext cx="61" cy="156"/>
            </p:xfrm>
            <a:graphic>
              <a:graphicData uri="http://schemas.openxmlformats.org/presentationml/2006/ole">
                <mc:AlternateContent xmlns:mc="http://schemas.openxmlformats.org/markup-compatibility/2006">
                  <mc:Choice xmlns:v="urn:schemas-microsoft-com:vml" Requires="v">
                    <p:oleObj spid="_x0000_s13741" name="公式" r:id="rId29" imgW="114120" imgH="215640" progId="Equation.3">
                      <p:embed/>
                    </p:oleObj>
                  </mc:Choice>
                  <mc:Fallback>
                    <p:oleObj name="公式" r:id="rId29" imgW="114120" imgH="215640" progId="Equation.3">
                      <p:embed/>
                      <p:pic>
                        <p:nvPicPr>
                          <p:cNvPr id="659489" name="Object 33">
                            <a:extLst>
                              <a:ext uri="{FF2B5EF4-FFF2-40B4-BE49-F238E27FC236}">
                                <a16:creationId xmlns:a16="http://schemas.microsoft.com/office/drawing/2014/main" id="{5BA631AA-1C7B-45DF-B8AF-32B3A93B3F41}"/>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903" y="1931"/>
                            <a:ext cx="61"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38" name="AutoShape 35">
              <a:extLst>
                <a:ext uri="{FF2B5EF4-FFF2-40B4-BE49-F238E27FC236}">
                  <a16:creationId xmlns:a16="http://schemas.microsoft.com/office/drawing/2014/main" id="{D48669AE-34D4-4FF4-BFDF-0C9CD4EC4429}"/>
                </a:ext>
              </a:extLst>
            </p:cNvPr>
            <p:cNvCxnSpPr>
              <a:cxnSpLocks noChangeShapeType="1"/>
              <a:stCxn id="14" idx="3"/>
              <a:endCxn id="41" idx="0"/>
            </p:cNvCxnSpPr>
            <p:nvPr/>
          </p:nvCxnSpPr>
          <p:spPr bwMode="auto">
            <a:xfrm>
              <a:off x="2665" y="1423"/>
              <a:ext cx="362" cy="621"/>
            </a:xfrm>
            <a:prstGeom prst="bentConnector2">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36">
              <a:extLst>
                <a:ext uri="{FF2B5EF4-FFF2-40B4-BE49-F238E27FC236}">
                  <a16:creationId xmlns:a16="http://schemas.microsoft.com/office/drawing/2014/main" id="{2AEB4E0B-3ACD-4C78-9B2A-E55F3F5B2FD7}"/>
                </a:ext>
              </a:extLst>
            </p:cNvPr>
            <p:cNvCxnSpPr>
              <a:cxnSpLocks noChangeShapeType="1"/>
            </p:cNvCxnSpPr>
            <p:nvPr/>
          </p:nvCxnSpPr>
          <p:spPr bwMode="auto">
            <a:xfrm rot="16200000" flipH="1">
              <a:off x="2909" y="2903"/>
              <a:ext cx="604" cy="388"/>
            </a:xfrm>
            <a:prstGeom prst="bentConnector2">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6" name="Group 57">
            <a:extLst>
              <a:ext uri="{FF2B5EF4-FFF2-40B4-BE49-F238E27FC236}">
                <a16:creationId xmlns:a16="http://schemas.microsoft.com/office/drawing/2014/main" id="{84F4F366-5DD1-499A-B449-E421FEF422FF}"/>
              </a:ext>
            </a:extLst>
          </p:cNvPr>
          <p:cNvGrpSpPr>
            <a:grpSpLocks/>
          </p:cNvGrpSpPr>
          <p:nvPr/>
        </p:nvGrpSpPr>
        <p:grpSpPr bwMode="auto">
          <a:xfrm>
            <a:off x="5181476" y="1052736"/>
            <a:ext cx="3581400" cy="2036762"/>
            <a:chOff x="3364" y="810"/>
            <a:chExt cx="2256" cy="1283"/>
          </a:xfrm>
        </p:grpSpPr>
        <p:sp>
          <p:nvSpPr>
            <p:cNvPr id="47" name="Rectangle 42">
              <a:extLst>
                <a:ext uri="{FF2B5EF4-FFF2-40B4-BE49-F238E27FC236}">
                  <a16:creationId xmlns:a16="http://schemas.microsoft.com/office/drawing/2014/main" id="{37DE37CD-6B9E-4E3F-9F5A-F4BC80761DB7}"/>
                </a:ext>
              </a:extLst>
            </p:cNvPr>
            <p:cNvSpPr>
              <a:spLocks noChangeArrowheads="1"/>
            </p:cNvSpPr>
            <p:nvPr/>
          </p:nvSpPr>
          <p:spPr bwMode="auto">
            <a:xfrm>
              <a:off x="3364" y="810"/>
              <a:ext cx="2256" cy="1283"/>
            </a:xfrm>
            <a:prstGeom prst="rect">
              <a:avLst/>
            </a:prstGeom>
            <a:solidFill>
              <a:srgbClr val="4BF578"/>
            </a:solidFill>
            <a:ln>
              <a:noFill/>
            </a:ln>
            <a:effectLst>
              <a:prstShdw prst="shdw17" dist="17961" dir="2700000">
                <a:srgbClr val="4BF578">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graphicFrame>
          <p:nvGraphicFramePr>
            <p:cNvPr id="48" name="Object 12">
              <a:extLst>
                <a:ext uri="{FF2B5EF4-FFF2-40B4-BE49-F238E27FC236}">
                  <a16:creationId xmlns:a16="http://schemas.microsoft.com/office/drawing/2014/main" id="{70EA70C0-0E62-4799-9A75-03DC9A0B24C6}"/>
                </a:ext>
              </a:extLst>
            </p:cNvPr>
            <p:cNvGraphicFramePr>
              <a:graphicFrameLocks noChangeAspect="1"/>
            </p:cNvGraphicFramePr>
            <p:nvPr/>
          </p:nvGraphicFramePr>
          <p:xfrm>
            <a:off x="3647" y="969"/>
            <a:ext cx="1696" cy="270"/>
          </p:xfrm>
          <a:graphic>
            <a:graphicData uri="http://schemas.openxmlformats.org/presentationml/2006/ole">
              <mc:AlternateContent xmlns:mc="http://schemas.openxmlformats.org/markup-compatibility/2006">
                <mc:Choice xmlns:v="urn:schemas-microsoft-com:vml" Requires="v">
                  <p:oleObj spid="_x0000_s13742" name="Equation" r:id="rId31" imgW="1409400" imgH="203040" progId="Equation.DSMT4">
                    <p:embed/>
                  </p:oleObj>
                </mc:Choice>
                <mc:Fallback>
                  <p:oleObj name="Equation" r:id="rId31" imgW="1409400" imgH="203040" progId="Equation.DSMT4">
                    <p:embed/>
                    <p:pic>
                      <p:nvPicPr>
                        <p:cNvPr id="659468" name="Object 12">
                          <a:extLst>
                            <a:ext uri="{FF2B5EF4-FFF2-40B4-BE49-F238E27FC236}">
                              <a16:creationId xmlns:a16="http://schemas.microsoft.com/office/drawing/2014/main" id="{332C01F9-F390-4C4D-932B-EA5D56EB9B51}"/>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647" y="969"/>
                          <a:ext cx="1696" cy="270"/>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 name="Object 13">
              <a:extLst>
                <a:ext uri="{FF2B5EF4-FFF2-40B4-BE49-F238E27FC236}">
                  <a16:creationId xmlns:a16="http://schemas.microsoft.com/office/drawing/2014/main" id="{348375CB-D034-425D-97FB-C464B16740C1}"/>
                </a:ext>
              </a:extLst>
            </p:cNvPr>
            <p:cNvGraphicFramePr>
              <a:graphicFrameLocks noChangeAspect="1"/>
            </p:cNvGraphicFramePr>
            <p:nvPr>
              <p:extLst>
                <p:ext uri="{D42A27DB-BD31-4B8C-83A1-F6EECF244321}">
                  <p14:modId xmlns:p14="http://schemas.microsoft.com/office/powerpoint/2010/main" val="3924342282"/>
                </p:ext>
              </p:extLst>
            </p:nvPr>
          </p:nvGraphicFramePr>
          <p:xfrm>
            <a:off x="3617" y="1301"/>
            <a:ext cx="753" cy="295"/>
          </p:xfrm>
          <a:graphic>
            <a:graphicData uri="http://schemas.openxmlformats.org/presentationml/2006/ole">
              <mc:AlternateContent xmlns:mc="http://schemas.openxmlformats.org/markup-compatibility/2006">
                <mc:Choice xmlns:v="urn:schemas-microsoft-com:vml" Requires="v">
                  <p:oleObj spid="_x0000_s13743" name="Equation" r:id="rId33" imgW="647640" imgH="228600" progId="Equation.DSMT4">
                    <p:embed/>
                  </p:oleObj>
                </mc:Choice>
                <mc:Fallback>
                  <p:oleObj name="Equation" r:id="rId33" imgW="647640" imgH="228600" progId="Equation.DSMT4">
                    <p:embed/>
                    <p:pic>
                      <p:nvPicPr>
                        <p:cNvPr id="659469" name="Object 13">
                          <a:extLst>
                            <a:ext uri="{FF2B5EF4-FFF2-40B4-BE49-F238E27FC236}">
                              <a16:creationId xmlns:a16="http://schemas.microsoft.com/office/drawing/2014/main" id="{ED43D00B-E7DF-4522-A7F4-B1889F5DEBC5}"/>
                            </a:ext>
                          </a:extLst>
                        </p:cNvPr>
                        <p:cNvPicPr>
                          <a:picLocks noChangeAspect="1" noChangeArrowheads="1"/>
                        </p:cNvPicPr>
                        <p:nvPr/>
                      </p:nvPicPr>
                      <p:blipFill>
                        <a:blip r:embed="rId34"/>
                        <a:srcRect/>
                        <a:stretch>
                          <a:fillRect/>
                        </a:stretch>
                      </p:blipFill>
                      <p:spPr bwMode="auto">
                        <a:xfrm>
                          <a:off x="3617" y="1301"/>
                          <a:ext cx="753" cy="295"/>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14">
              <a:extLst>
                <a:ext uri="{FF2B5EF4-FFF2-40B4-BE49-F238E27FC236}">
                  <a16:creationId xmlns:a16="http://schemas.microsoft.com/office/drawing/2014/main" id="{BC90E03D-7DB1-4CD7-AF71-AA12C23D1DA7}"/>
                </a:ext>
              </a:extLst>
            </p:cNvPr>
            <p:cNvGraphicFramePr>
              <a:graphicFrameLocks noChangeAspect="1"/>
            </p:cNvGraphicFramePr>
            <p:nvPr/>
          </p:nvGraphicFramePr>
          <p:xfrm>
            <a:off x="3429" y="1614"/>
            <a:ext cx="2148" cy="463"/>
          </p:xfrm>
          <a:graphic>
            <a:graphicData uri="http://schemas.openxmlformats.org/presentationml/2006/ole">
              <mc:AlternateContent xmlns:mc="http://schemas.openxmlformats.org/markup-compatibility/2006">
                <mc:Choice xmlns:v="urn:schemas-microsoft-com:vml" Requires="v">
                  <p:oleObj spid="_x0000_s13744" name="Equation" r:id="rId35" imgW="1701720" imgH="431640" progId="Equation.DSMT4">
                    <p:embed/>
                  </p:oleObj>
                </mc:Choice>
                <mc:Fallback>
                  <p:oleObj name="Equation" r:id="rId35" imgW="1701720" imgH="431640" progId="Equation.DSMT4">
                    <p:embed/>
                    <p:pic>
                      <p:nvPicPr>
                        <p:cNvPr id="659470" name="Object 14">
                          <a:extLst>
                            <a:ext uri="{FF2B5EF4-FFF2-40B4-BE49-F238E27FC236}">
                              <a16:creationId xmlns:a16="http://schemas.microsoft.com/office/drawing/2014/main" id="{928F21D2-6DBC-407D-816C-3E31FD1483D9}"/>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429" y="1614"/>
                          <a:ext cx="2148" cy="463"/>
                        </a:xfrm>
                        <a:prstGeom prst="rect">
                          <a:avLst/>
                        </a:prstGeom>
                        <a:noFill/>
                        <a:ln>
                          <a:noFill/>
                        </a:ln>
                        <a:effectLst/>
                        <a:extLst>
                          <a:ext uri="{909E8E84-426E-40DD-AFC4-6F175D3DCCD1}">
                            <a14:hiddenFill xmlns:a14="http://schemas.microsoft.com/office/drawing/2010/main">
                              <a:solidFill>
                                <a:srgbClr val="9597E5">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37">
              <a:extLst>
                <a:ext uri="{FF2B5EF4-FFF2-40B4-BE49-F238E27FC236}">
                  <a16:creationId xmlns:a16="http://schemas.microsoft.com/office/drawing/2014/main" id="{461FA28B-A384-494C-91E2-7A30B9FF4039}"/>
                </a:ext>
              </a:extLst>
            </p:cNvPr>
            <p:cNvGraphicFramePr>
              <a:graphicFrameLocks noChangeAspect="1"/>
            </p:cNvGraphicFramePr>
            <p:nvPr>
              <p:extLst>
                <p:ext uri="{D42A27DB-BD31-4B8C-83A1-F6EECF244321}">
                  <p14:modId xmlns:p14="http://schemas.microsoft.com/office/powerpoint/2010/main" val="3446133598"/>
                </p:ext>
              </p:extLst>
            </p:nvPr>
          </p:nvGraphicFramePr>
          <p:xfrm>
            <a:off x="4557" y="1169"/>
            <a:ext cx="979" cy="500"/>
          </p:xfrm>
          <a:graphic>
            <a:graphicData uri="http://schemas.openxmlformats.org/presentationml/2006/ole">
              <mc:AlternateContent xmlns:mc="http://schemas.openxmlformats.org/markup-compatibility/2006">
                <mc:Choice xmlns:v="urn:schemas-microsoft-com:vml" Requires="v">
                  <p:oleObj spid="_x0000_s13745" name="Equation" r:id="rId37" imgW="927000" imgH="393480" progId="Equation.DSMT4">
                    <p:embed/>
                  </p:oleObj>
                </mc:Choice>
                <mc:Fallback>
                  <p:oleObj name="Equation" r:id="rId37" imgW="927000" imgH="393480" progId="Equation.DSMT4">
                    <p:embed/>
                    <p:pic>
                      <p:nvPicPr>
                        <p:cNvPr id="659493" name="Object 37">
                          <a:extLst>
                            <a:ext uri="{FF2B5EF4-FFF2-40B4-BE49-F238E27FC236}">
                              <a16:creationId xmlns:a16="http://schemas.microsoft.com/office/drawing/2014/main" id="{EFB5A534-76C7-4794-A628-4D5BD7F43A41}"/>
                            </a:ext>
                          </a:extLst>
                        </p:cNvPr>
                        <p:cNvPicPr>
                          <a:picLocks noChangeAspect="1" noChangeArrowheads="1"/>
                        </p:cNvPicPr>
                        <p:nvPr/>
                      </p:nvPicPr>
                      <p:blipFill>
                        <a:blip r:embed="rId38"/>
                        <a:srcRect/>
                        <a:stretch>
                          <a:fillRect/>
                        </a:stretch>
                      </p:blipFill>
                      <p:spPr bwMode="auto">
                        <a:xfrm>
                          <a:off x="4557" y="1169"/>
                          <a:ext cx="979" cy="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7177271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 name="标题 1">
            <a:extLst>
              <a:ext uri="{FF2B5EF4-FFF2-40B4-BE49-F238E27FC236}">
                <a16:creationId xmlns:a16="http://schemas.microsoft.com/office/drawing/2014/main" id="{19B3F2CB-F9F4-438D-BD6B-8223B3D0805D}"/>
              </a:ext>
            </a:extLst>
          </p:cNvPr>
          <p:cNvSpPr>
            <a:spLocks noGrp="1"/>
          </p:cNvSpPr>
          <p:nvPr>
            <p:ph type="title"/>
          </p:nvPr>
        </p:nvSpPr>
        <p:spPr/>
        <p:txBody>
          <a:bodyPr/>
          <a:lstStyle/>
          <a:p>
            <a:r>
              <a:rPr lang="en-US" altLang="zh-CN" dirty="0"/>
              <a:t>5.7 </a:t>
            </a:r>
            <a:r>
              <a:rPr lang="zh-CN" altLang="en-US" dirty="0"/>
              <a:t>对偶性质</a:t>
            </a:r>
          </a:p>
        </p:txBody>
      </p:sp>
      <p:sp>
        <p:nvSpPr>
          <p:cNvPr id="4" name="灯片编号占位符 3">
            <a:extLst>
              <a:ext uri="{FF2B5EF4-FFF2-40B4-BE49-F238E27FC236}">
                <a16:creationId xmlns:a16="http://schemas.microsoft.com/office/drawing/2014/main" id="{2D1749F4-0968-45DA-9D36-60F9039F46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2D0D8F-A3E1-4249-B84D-2B8D31B9C06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Text Box 12">
            <a:extLst>
              <a:ext uri="{FF2B5EF4-FFF2-40B4-BE49-F238E27FC236}">
                <a16:creationId xmlns:a16="http://schemas.microsoft.com/office/drawing/2014/main" id="{4E3A7B15-3C06-4926-A6E0-9DBA85085E86}"/>
              </a:ext>
            </a:extLst>
          </p:cNvPr>
          <p:cNvSpPr txBox="1">
            <a:spLocks noChangeArrowheads="1"/>
          </p:cNvSpPr>
          <p:nvPr/>
        </p:nvSpPr>
        <p:spPr bwMode="auto">
          <a:xfrm>
            <a:off x="976029" y="5465124"/>
            <a:ext cx="271462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ts val="0"/>
              </a:spcBef>
            </a:pPr>
            <a:r>
              <a:rPr kumimoji="1" lang="zh-CN" altLang="en-US" sz="2800" dirty="0">
                <a:latin typeface="楷体_GB2312" panose="02010609030101010101" pitchFamily="49" charset="-122"/>
                <a:ea typeface="楷体_GB2312" panose="02010609030101010101" pitchFamily="49" charset="-122"/>
              </a:rPr>
              <a:t>时域的连续性</a:t>
            </a:r>
          </a:p>
        </p:txBody>
      </p:sp>
      <p:sp>
        <p:nvSpPr>
          <p:cNvPr id="12" name="Line 13">
            <a:extLst>
              <a:ext uri="{FF2B5EF4-FFF2-40B4-BE49-F238E27FC236}">
                <a16:creationId xmlns:a16="http://schemas.microsoft.com/office/drawing/2014/main" id="{C3DEA3E6-B809-4273-A38D-FF08CF98529E}"/>
              </a:ext>
            </a:extLst>
          </p:cNvPr>
          <p:cNvSpPr>
            <a:spLocks noChangeShapeType="1"/>
          </p:cNvSpPr>
          <p:nvPr/>
        </p:nvSpPr>
        <p:spPr bwMode="auto">
          <a:xfrm>
            <a:off x="3985185" y="3174828"/>
            <a:ext cx="1325562" cy="0"/>
          </a:xfrm>
          <a:prstGeom prst="line">
            <a:avLst/>
          </a:prstGeom>
          <a:noFill/>
          <a:ln w="381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en-US" sz="2800"/>
          </a:p>
        </p:txBody>
      </p:sp>
      <p:sp>
        <p:nvSpPr>
          <p:cNvPr id="14" name="Line 14">
            <a:extLst>
              <a:ext uri="{FF2B5EF4-FFF2-40B4-BE49-F238E27FC236}">
                <a16:creationId xmlns:a16="http://schemas.microsoft.com/office/drawing/2014/main" id="{C8D1510C-1DD1-4410-8B78-52B6CED4C155}"/>
              </a:ext>
            </a:extLst>
          </p:cNvPr>
          <p:cNvSpPr>
            <a:spLocks noChangeShapeType="1"/>
          </p:cNvSpPr>
          <p:nvPr/>
        </p:nvSpPr>
        <p:spPr bwMode="auto">
          <a:xfrm>
            <a:off x="3985185" y="4080496"/>
            <a:ext cx="1387475" cy="0"/>
          </a:xfrm>
          <a:prstGeom prst="line">
            <a:avLst/>
          </a:prstGeom>
          <a:noFill/>
          <a:ln w="381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en-US" sz="2800"/>
          </a:p>
        </p:txBody>
      </p:sp>
      <p:sp>
        <p:nvSpPr>
          <p:cNvPr id="15" name="Line 15">
            <a:extLst>
              <a:ext uri="{FF2B5EF4-FFF2-40B4-BE49-F238E27FC236}">
                <a16:creationId xmlns:a16="http://schemas.microsoft.com/office/drawing/2014/main" id="{CCDBEA2C-0219-43B4-9DA3-C7B83DA6D57B}"/>
              </a:ext>
            </a:extLst>
          </p:cNvPr>
          <p:cNvSpPr>
            <a:spLocks noChangeShapeType="1"/>
          </p:cNvSpPr>
          <p:nvPr/>
        </p:nvSpPr>
        <p:spPr bwMode="auto">
          <a:xfrm>
            <a:off x="4020110" y="4866309"/>
            <a:ext cx="1357312" cy="0"/>
          </a:xfrm>
          <a:prstGeom prst="line">
            <a:avLst/>
          </a:prstGeom>
          <a:noFill/>
          <a:ln w="381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en-US" sz="2800"/>
          </a:p>
        </p:txBody>
      </p:sp>
      <p:sp>
        <p:nvSpPr>
          <p:cNvPr id="16" name="Line 16">
            <a:extLst>
              <a:ext uri="{FF2B5EF4-FFF2-40B4-BE49-F238E27FC236}">
                <a16:creationId xmlns:a16="http://schemas.microsoft.com/office/drawing/2014/main" id="{C72C42C1-3305-42BB-8AF8-4B587B80219C}"/>
              </a:ext>
            </a:extLst>
          </p:cNvPr>
          <p:cNvSpPr>
            <a:spLocks noChangeShapeType="1"/>
          </p:cNvSpPr>
          <p:nvPr/>
        </p:nvSpPr>
        <p:spPr bwMode="auto">
          <a:xfrm>
            <a:off x="3967722" y="5726734"/>
            <a:ext cx="1433513" cy="0"/>
          </a:xfrm>
          <a:prstGeom prst="line">
            <a:avLst/>
          </a:prstGeom>
          <a:noFill/>
          <a:ln w="381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en-US" sz="2800"/>
          </a:p>
        </p:txBody>
      </p:sp>
      <p:sp>
        <p:nvSpPr>
          <p:cNvPr id="18" name="Text Box 24">
            <a:extLst>
              <a:ext uri="{FF2B5EF4-FFF2-40B4-BE49-F238E27FC236}">
                <a16:creationId xmlns:a16="http://schemas.microsoft.com/office/drawing/2014/main" id="{5AB48971-5E2A-4BD9-9AEF-8661A2997C75}"/>
              </a:ext>
            </a:extLst>
          </p:cNvPr>
          <p:cNvSpPr txBox="1">
            <a:spLocks noChangeArrowheads="1"/>
          </p:cNvSpPr>
          <p:nvPr/>
        </p:nvSpPr>
        <p:spPr bwMode="auto">
          <a:xfrm>
            <a:off x="698102" y="1589758"/>
            <a:ext cx="774779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2800" dirty="0">
                <a:ea typeface="楷体_GB2312" panose="02010609030101010101" pitchFamily="49" charset="-122"/>
              </a:rPr>
              <a:t>可以看出：信号在时域的特性和在频域的特性之间存在以下对应关系：</a:t>
            </a:r>
          </a:p>
        </p:txBody>
      </p:sp>
      <p:sp>
        <p:nvSpPr>
          <p:cNvPr id="19" name="Rectangle 28">
            <a:extLst>
              <a:ext uri="{FF2B5EF4-FFF2-40B4-BE49-F238E27FC236}">
                <a16:creationId xmlns:a16="http://schemas.microsoft.com/office/drawing/2014/main" id="{B6DFB97B-4082-47E7-822E-04921DE603C4}"/>
              </a:ext>
            </a:extLst>
          </p:cNvPr>
          <p:cNvSpPr>
            <a:spLocks noChangeArrowheads="1"/>
          </p:cNvSpPr>
          <p:nvPr/>
        </p:nvSpPr>
        <p:spPr bwMode="auto">
          <a:xfrm>
            <a:off x="976029" y="2913218"/>
            <a:ext cx="27146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ts val="0"/>
              </a:spcBef>
            </a:pPr>
            <a:r>
              <a:rPr kumimoji="1" lang="zh-CN" altLang="en-US" sz="2800" dirty="0">
                <a:latin typeface="楷体_GB2312" panose="02010609030101010101" pitchFamily="49" charset="-122"/>
                <a:ea typeface="楷体_GB2312" panose="02010609030101010101" pitchFamily="49" charset="-122"/>
              </a:rPr>
              <a:t>时域的周期性</a:t>
            </a:r>
          </a:p>
        </p:txBody>
      </p:sp>
      <p:sp>
        <p:nvSpPr>
          <p:cNvPr id="21" name="Rectangle 29">
            <a:extLst>
              <a:ext uri="{FF2B5EF4-FFF2-40B4-BE49-F238E27FC236}">
                <a16:creationId xmlns:a16="http://schemas.microsoft.com/office/drawing/2014/main" id="{5ACC8BA1-433C-4D09-80EF-72A8F3E50509}"/>
              </a:ext>
            </a:extLst>
          </p:cNvPr>
          <p:cNvSpPr>
            <a:spLocks noChangeArrowheads="1"/>
          </p:cNvSpPr>
          <p:nvPr/>
        </p:nvSpPr>
        <p:spPr bwMode="auto">
          <a:xfrm>
            <a:off x="976028" y="4604699"/>
            <a:ext cx="271462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ts val="0"/>
              </a:spcBef>
            </a:pPr>
            <a:r>
              <a:rPr kumimoji="1" lang="zh-CN" altLang="en-US" sz="2800" dirty="0">
                <a:latin typeface="楷体_GB2312" panose="02010609030101010101" pitchFamily="49" charset="-122"/>
                <a:ea typeface="楷体_GB2312" panose="02010609030101010101" pitchFamily="49" charset="-122"/>
              </a:rPr>
              <a:t>时域的离散性</a:t>
            </a:r>
          </a:p>
        </p:txBody>
      </p:sp>
      <p:sp>
        <p:nvSpPr>
          <p:cNvPr id="22" name="Rectangle 30">
            <a:extLst>
              <a:ext uri="{FF2B5EF4-FFF2-40B4-BE49-F238E27FC236}">
                <a16:creationId xmlns:a16="http://schemas.microsoft.com/office/drawing/2014/main" id="{6418D460-5D64-46EA-8FDC-9BEFABF55A61}"/>
              </a:ext>
            </a:extLst>
          </p:cNvPr>
          <p:cNvSpPr>
            <a:spLocks noChangeArrowheads="1"/>
          </p:cNvSpPr>
          <p:nvPr/>
        </p:nvSpPr>
        <p:spPr bwMode="auto">
          <a:xfrm>
            <a:off x="922054" y="3818886"/>
            <a:ext cx="2768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ts val="0"/>
              </a:spcBef>
            </a:pPr>
            <a:r>
              <a:rPr kumimoji="1" lang="zh-CN" altLang="en-US" sz="2800" dirty="0">
                <a:latin typeface="楷体_GB2312" panose="02010609030101010101" pitchFamily="49" charset="-122"/>
                <a:ea typeface="楷体_GB2312" panose="02010609030101010101" pitchFamily="49" charset="-122"/>
              </a:rPr>
              <a:t>时域的非周期性</a:t>
            </a:r>
          </a:p>
        </p:txBody>
      </p:sp>
      <p:sp>
        <p:nvSpPr>
          <p:cNvPr id="23" name="Rectangle 31">
            <a:extLst>
              <a:ext uri="{FF2B5EF4-FFF2-40B4-BE49-F238E27FC236}">
                <a16:creationId xmlns:a16="http://schemas.microsoft.com/office/drawing/2014/main" id="{FA80AF05-0A04-41AD-BF87-C9F07CEE4155}"/>
              </a:ext>
            </a:extLst>
          </p:cNvPr>
          <p:cNvSpPr>
            <a:spLocks noChangeArrowheads="1"/>
          </p:cNvSpPr>
          <p:nvPr/>
        </p:nvSpPr>
        <p:spPr bwMode="auto">
          <a:xfrm>
            <a:off x="5616539" y="2915272"/>
            <a:ext cx="2784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kumimoji="1" lang="zh-CN" altLang="en-US" sz="2800" dirty="0">
                <a:ea typeface="楷体_GB2312" panose="02010609030101010101" pitchFamily="49" charset="-122"/>
              </a:rPr>
              <a:t>频域的离散性</a:t>
            </a:r>
          </a:p>
        </p:txBody>
      </p:sp>
      <p:sp>
        <p:nvSpPr>
          <p:cNvPr id="24" name="Rectangle 32">
            <a:extLst>
              <a:ext uri="{FF2B5EF4-FFF2-40B4-BE49-F238E27FC236}">
                <a16:creationId xmlns:a16="http://schemas.microsoft.com/office/drawing/2014/main" id="{8DFAE133-E9F3-40C0-B9BD-7C956BEAF4B9}"/>
              </a:ext>
            </a:extLst>
          </p:cNvPr>
          <p:cNvSpPr>
            <a:spLocks noChangeArrowheads="1"/>
          </p:cNvSpPr>
          <p:nvPr/>
        </p:nvSpPr>
        <p:spPr bwMode="auto">
          <a:xfrm>
            <a:off x="5616539" y="3820940"/>
            <a:ext cx="2784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kumimoji="1" lang="zh-CN" altLang="en-US" sz="2800" dirty="0">
                <a:ea typeface="楷体_GB2312" panose="02010609030101010101" pitchFamily="49" charset="-122"/>
              </a:rPr>
              <a:t>频域的连续性</a:t>
            </a:r>
          </a:p>
        </p:txBody>
      </p:sp>
      <p:sp>
        <p:nvSpPr>
          <p:cNvPr id="25" name="Rectangle 33">
            <a:extLst>
              <a:ext uri="{FF2B5EF4-FFF2-40B4-BE49-F238E27FC236}">
                <a16:creationId xmlns:a16="http://schemas.microsoft.com/office/drawing/2014/main" id="{D19B5EFD-4DE8-4FE4-A625-84235C602F2E}"/>
              </a:ext>
            </a:extLst>
          </p:cNvPr>
          <p:cNvSpPr>
            <a:spLocks noChangeArrowheads="1"/>
          </p:cNvSpPr>
          <p:nvPr/>
        </p:nvSpPr>
        <p:spPr bwMode="auto">
          <a:xfrm>
            <a:off x="5616539" y="4606753"/>
            <a:ext cx="2784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kumimoji="1" lang="zh-CN" altLang="en-US" sz="2800" dirty="0">
                <a:ea typeface="楷体_GB2312" panose="02010609030101010101" pitchFamily="49" charset="-122"/>
              </a:rPr>
              <a:t>频域的周期性</a:t>
            </a:r>
          </a:p>
        </p:txBody>
      </p:sp>
      <p:sp>
        <p:nvSpPr>
          <p:cNvPr id="26" name="Rectangle 34">
            <a:extLst>
              <a:ext uri="{FF2B5EF4-FFF2-40B4-BE49-F238E27FC236}">
                <a16:creationId xmlns:a16="http://schemas.microsoft.com/office/drawing/2014/main" id="{95EFED86-B540-469D-A6F6-F5E2ED991DC1}"/>
              </a:ext>
            </a:extLst>
          </p:cNvPr>
          <p:cNvSpPr>
            <a:spLocks noChangeArrowheads="1"/>
          </p:cNvSpPr>
          <p:nvPr/>
        </p:nvSpPr>
        <p:spPr bwMode="auto">
          <a:xfrm>
            <a:off x="5616539" y="5467178"/>
            <a:ext cx="2784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kumimoji="1" lang="zh-CN" altLang="en-US" sz="2800" dirty="0">
                <a:ea typeface="楷体_GB2312" panose="02010609030101010101" pitchFamily="49" charset="-122"/>
              </a:rPr>
              <a:t>频域的非周期性</a:t>
            </a:r>
          </a:p>
        </p:txBody>
      </p:sp>
    </p:spTree>
    <p:extLst>
      <p:ext uri="{BB962C8B-B14F-4D97-AF65-F5344CB8AC3E}">
        <p14:creationId xmlns:p14="http://schemas.microsoft.com/office/powerpoint/2010/main" val="2985688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标题 1">
            <a:extLst>
              <a:ext uri="{FF2B5EF4-FFF2-40B4-BE49-F238E27FC236}">
                <a16:creationId xmlns:a16="http://schemas.microsoft.com/office/drawing/2014/main" id="{A7CC1FCE-4FD4-4CC8-8113-F943676A1C52}"/>
              </a:ext>
            </a:extLst>
          </p:cNvPr>
          <p:cNvSpPr>
            <a:spLocks noGrp="1"/>
          </p:cNvSpPr>
          <p:nvPr>
            <p:ph type="title"/>
          </p:nvPr>
        </p:nvSpPr>
        <p:spPr/>
        <p:txBody>
          <a:bodyPr/>
          <a:lstStyle/>
          <a:p>
            <a:r>
              <a:rPr lang="en-US" altLang="zh-CN" sz="3600" dirty="0"/>
              <a:t>5.8 </a:t>
            </a:r>
            <a:r>
              <a:rPr lang="zh-CN" altLang="en-US" sz="3600" dirty="0"/>
              <a:t>由线性常系数差分方程表征的系统</a:t>
            </a:r>
            <a:endParaRPr lang="zh-CN" altLang="en-US" sz="1600" dirty="0"/>
          </a:p>
        </p:txBody>
      </p:sp>
      <p:sp>
        <p:nvSpPr>
          <p:cNvPr id="26630" name="内容占位符 2">
            <a:extLst>
              <a:ext uri="{FF2B5EF4-FFF2-40B4-BE49-F238E27FC236}">
                <a16:creationId xmlns:a16="http://schemas.microsoft.com/office/drawing/2014/main" id="{457605F1-BC18-472E-8A47-CBB2DEC26AEC}"/>
              </a:ext>
            </a:extLst>
          </p:cNvPr>
          <p:cNvSpPr>
            <a:spLocks noGrp="1"/>
          </p:cNvSpPr>
          <p:nvPr>
            <p:ph idx="1"/>
          </p:nvPr>
        </p:nvSpPr>
        <p:spPr/>
        <p:txBody>
          <a:bodyPr/>
          <a:lstStyle/>
          <a:p>
            <a:r>
              <a:rPr lang="zh-CN" altLang="en-US" sz="2800" b="0" dirty="0"/>
              <a:t>对于由线性常系数差分方程描述的</a:t>
            </a:r>
            <a:r>
              <a:rPr lang="en-US" altLang="zh-CN" sz="2800" b="0" dirty="0"/>
              <a:t>LTI</a:t>
            </a:r>
            <a:r>
              <a:rPr lang="zh-CN" altLang="en-US" sz="2800" b="0" dirty="0"/>
              <a:t>系统：</a:t>
            </a:r>
          </a:p>
        </p:txBody>
      </p:sp>
      <p:sp>
        <p:nvSpPr>
          <p:cNvPr id="4" name="灯片编号占位符 3">
            <a:extLst>
              <a:ext uri="{FF2B5EF4-FFF2-40B4-BE49-F238E27FC236}">
                <a16:creationId xmlns:a16="http://schemas.microsoft.com/office/drawing/2014/main" id="{6B4FEAA8-9F9C-4528-89D5-37B7CE16A4B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9860A83-362A-4547-BE7E-F3F0130E5B8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6632" name="Rectangle 20">
            <a:extLst>
              <a:ext uri="{FF2B5EF4-FFF2-40B4-BE49-F238E27FC236}">
                <a16:creationId xmlns:a16="http://schemas.microsoft.com/office/drawing/2014/main" id="{BE2049FC-F481-4BFA-92C2-7C0BD2DE99C0}"/>
              </a:ext>
            </a:extLst>
          </p:cNvPr>
          <p:cNvSpPr>
            <a:spLocks noChangeArrowheads="1"/>
          </p:cNvSpPr>
          <p:nvPr/>
        </p:nvSpPr>
        <p:spPr bwMode="auto">
          <a:xfrm>
            <a:off x="796925" y="3105150"/>
            <a:ext cx="52863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如何计算其频率响应</a:t>
            </a:r>
            <a:r>
              <a:rPr kumimoji="0" lang="en-US" altLang="zh-CN" sz="2800"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H</a:t>
            </a:r>
            <a:r>
              <a:rPr kumimoji="0" lang="en-US" altLang="zh-CN"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0" u="none" strike="noStrike" kern="1200" cap="none" spc="0" normalizeH="0" baseline="0" noProof="0" dirty="0" err="1">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e</a:t>
            </a:r>
            <a:r>
              <a:rPr kumimoji="0" lang="en-US" altLang="zh-CN" sz="2800" i="0" u="none" strike="noStrike" kern="1200" cap="none" spc="0" normalizeH="0" baseline="30000" noProof="0" dirty="0" err="1">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j</a:t>
            </a:r>
            <a:r>
              <a:rPr kumimoji="0" lang="el-GR" altLang="zh-CN" sz="2800" i="1" u="none" strike="noStrike" kern="1200" cap="none" spc="0" normalizeH="0" baseline="3000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0" lang="zh-CN" altLang="en-US"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7" name="Text Box 9">
            <a:extLst>
              <a:ext uri="{FF2B5EF4-FFF2-40B4-BE49-F238E27FC236}">
                <a16:creationId xmlns:a16="http://schemas.microsoft.com/office/drawing/2014/main" id="{A49D9BD0-4F9A-4963-9541-C6F3054FEDFD}"/>
              </a:ext>
            </a:extLst>
          </p:cNvPr>
          <p:cNvSpPr txBox="1">
            <a:spLocks noChangeArrowheads="1"/>
          </p:cNvSpPr>
          <p:nvPr/>
        </p:nvSpPr>
        <p:spPr bwMode="auto">
          <a:xfrm>
            <a:off x="815975" y="3843338"/>
            <a:ext cx="55707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对方程两边进行傅里叶变换</a:t>
            </a:r>
            <a:r>
              <a:rPr lang="zh-CN" altLang="en-US" sz="2800" noProof="0" dirty="0">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有：</a:t>
            </a:r>
          </a:p>
        </p:txBody>
      </p:sp>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EF05373C-61AC-4556-B504-D4FB244031FA}"/>
                  </a:ext>
                </a:extLst>
              </p:cNvPr>
              <p:cNvSpPr txBox="1"/>
              <p:nvPr/>
            </p:nvSpPr>
            <p:spPr bwMode="auto">
              <a:xfrm>
                <a:off x="1043607" y="4433120"/>
                <a:ext cx="7056784" cy="97456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hr m:val="∑"/>
                          <m:limLoc m:val="subSup"/>
                          <m:ctrlPr>
                            <a:rPr lang="en-US" sz="2800" i="1" smtClean="0">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m:t>
                          </m:r>
                        </m:sub>
                        <m:sup>
                          <m:r>
                            <a:rPr lang="en-US" sz="2800" i="1">
                              <a:solidFill>
                                <a:srgbClr val="000000"/>
                              </a:solidFill>
                              <a:latin typeface="Cambria Math" panose="02040503050406030204" pitchFamily="18" charset="0"/>
                            </a:rPr>
                            <m:t>𝑁</m:t>
                          </m:r>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sSup>
                            <m:sSupPr>
                              <m:ctrlPr>
                                <a:rPr lang="en-US" sz="2800" i="1">
                                  <a:solidFill>
                                    <a:srgbClr val="000000"/>
                                  </a:solidFill>
                                  <a:latin typeface="Cambria Math" panose="02040503050406030204" pitchFamily="18" charset="0"/>
                                </a:rPr>
                              </m:ctrlPr>
                            </m:sSupPr>
                            <m:e>
                              <m:r>
                                <m:rPr>
                                  <m:sty m:val="p"/>
                                </m:rPr>
                                <a:rPr lang="en-US" sz="2800" b="0" i="0" smtClean="0">
                                  <a:solidFill>
                                    <a:srgbClr val="000000"/>
                                  </a:solidFill>
                                  <a:latin typeface="Cambria Math" panose="02040503050406030204" pitchFamily="18" charset="0"/>
                                </a:rPr>
                                <m:t>e</m:t>
                              </m:r>
                            </m:e>
                            <m:sup>
                              <m:r>
                                <a:rPr lang="en-US" sz="2800" b="0" i="0" smtClean="0">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𝜔</m:t>
                              </m:r>
                            </m:sup>
                          </m:sSup>
                          <m:r>
                            <a:rPr lang="en-US" sz="2800" b="0" i="1" smtClean="0">
                              <a:solidFill>
                                <a:srgbClr val="000000"/>
                              </a:solidFill>
                              <a:latin typeface="Cambria Math" panose="02040503050406030204" pitchFamily="18" charset="0"/>
                            </a:rPr>
                            <m:t>𝑌</m:t>
                          </m:r>
                          <m:r>
                            <a:rPr lang="en-US" sz="2800" b="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b="0" i="1" smtClean="0">
                              <a:solidFill>
                                <a:srgbClr val="000000"/>
                              </a:solidFill>
                              <a:latin typeface="Cambria Math" panose="02040503050406030204" pitchFamily="18" charset="0"/>
                            </a:rPr>
                            <m:t>)</m:t>
                          </m:r>
                        </m:e>
                      </m:nary>
                      <m:r>
                        <a:rPr lang="en-US" sz="2800" i="1">
                          <a:solidFill>
                            <a:srgbClr val="000000"/>
                          </a:solidFill>
                          <a:latin typeface="Cambria Math" panose="02040503050406030204" pitchFamily="18" charset="0"/>
                        </a:rPr>
                        <m:t>=</m:t>
                      </m:r>
                      <m:nary>
                        <m:naryPr>
                          <m:chr m:val="∑"/>
                          <m:limLoc m:val="subSup"/>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m:t>
                          </m:r>
                        </m:sub>
                        <m:sup>
                          <m:r>
                            <a:rPr lang="en-US" sz="2800" b="0" i="1" smtClean="0">
                              <a:solidFill>
                                <a:srgbClr val="000000"/>
                              </a:solidFill>
                              <a:latin typeface="Cambria Math" panose="02040503050406030204" pitchFamily="18" charset="0"/>
                            </a:rPr>
                            <m:t>𝑀</m:t>
                          </m:r>
                        </m:sup>
                        <m:e>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𝑏</m:t>
                              </m:r>
                            </m:e>
                            <m:sub>
                              <m:r>
                                <a:rPr lang="en-US" sz="2800" i="1">
                                  <a:solidFill>
                                    <a:srgbClr val="000000"/>
                                  </a:solidFill>
                                  <a:latin typeface="Cambria Math" panose="02040503050406030204" pitchFamily="18" charset="0"/>
                                </a:rPr>
                                <m:t>𝑘</m:t>
                              </m:r>
                            </m:sub>
                          </m:sSub>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a:rPr lang="en-US" sz="2800">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𝜔</m:t>
                              </m:r>
                            </m:sup>
                          </m:sSup>
                          <m:r>
                            <a:rPr lang="en-US" sz="2800" b="0" i="1" smtClean="0">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e>
                      </m:nary>
                    </m:oMath>
                  </m:oMathPara>
                </a14:m>
                <a:endParaRPr lang="en-US" sz="2800" dirty="0"/>
              </a:p>
            </p:txBody>
          </p:sp>
        </mc:Choice>
        <mc:Fallback xmlns="">
          <p:sp>
            <p:nvSpPr>
              <p:cNvPr id="8" name="Object 3">
                <a:extLst>
                  <a:ext uri="{FF2B5EF4-FFF2-40B4-BE49-F238E27FC236}">
                    <a16:creationId xmlns:a16="http://schemas.microsoft.com/office/drawing/2014/main" id="{EF05373C-61AC-4556-B504-D4FB244031FA}"/>
                  </a:ext>
                </a:extLst>
              </p:cNvPr>
              <p:cNvSpPr txBox="1">
                <a:spLocks noRot="1" noChangeAspect="1" noMove="1" noResize="1" noEditPoints="1" noAdjustHandles="1" noChangeArrowheads="1" noChangeShapeType="1" noTextEdit="1"/>
              </p:cNvSpPr>
              <p:nvPr/>
            </p:nvSpPr>
            <p:spPr bwMode="auto">
              <a:xfrm>
                <a:off x="1043607" y="4433120"/>
                <a:ext cx="7056784" cy="974562"/>
              </a:xfrm>
              <a:prstGeom prst="rect">
                <a:avLst/>
              </a:prstGeom>
              <a:blipFill>
                <a:blip r:embed="rId2"/>
                <a:stretch>
                  <a:fillRect/>
                </a:stretch>
              </a:blipFill>
              <a:ln>
                <a:noFill/>
              </a:ln>
              <a:effectLst/>
            </p:spPr>
            <p:txBody>
              <a:bodyPr/>
              <a:lstStyle/>
              <a:p>
                <a:r>
                  <a:rPr lang="en-US">
                    <a:noFill/>
                  </a:rPr>
                  <a:t> </a:t>
                </a:r>
              </a:p>
            </p:txBody>
          </p:sp>
        </mc:Fallback>
      </mc:AlternateContent>
      <p:sp>
        <p:nvSpPr>
          <p:cNvPr id="26635" name="Text Box 12">
            <a:extLst>
              <a:ext uri="{FF2B5EF4-FFF2-40B4-BE49-F238E27FC236}">
                <a16:creationId xmlns:a16="http://schemas.microsoft.com/office/drawing/2014/main" id="{14C4BC3D-D60C-421C-ABDD-874A10B90626}"/>
              </a:ext>
            </a:extLst>
          </p:cNvPr>
          <p:cNvSpPr txBox="1">
            <a:spLocks noChangeArrowheads="1"/>
          </p:cNvSpPr>
          <p:nvPr/>
        </p:nvSpPr>
        <p:spPr bwMode="auto">
          <a:xfrm>
            <a:off x="819150" y="5580063"/>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由于</a:t>
            </a:r>
          </a:p>
        </p:txBody>
      </p:sp>
      <mc:AlternateContent xmlns:mc="http://schemas.openxmlformats.org/markup-compatibility/2006" xmlns:a14="http://schemas.microsoft.com/office/drawing/2010/main">
        <mc:Choice Requires="a14">
          <p:sp>
            <p:nvSpPr>
              <p:cNvPr id="26628" name="Object 4">
                <a:extLst>
                  <a:ext uri="{FF2B5EF4-FFF2-40B4-BE49-F238E27FC236}">
                    <a16:creationId xmlns:a16="http://schemas.microsoft.com/office/drawing/2014/main" id="{F94A1CEA-5392-4C07-9398-E2D65072D7CE}"/>
                  </a:ext>
                </a:extLst>
              </p:cNvPr>
              <p:cNvSpPr txBox="1"/>
              <p:nvPr/>
            </p:nvSpPr>
            <p:spPr bwMode="auto">
              <a:xfrm>
                <a:off x="2659746" y="5750055"/>
                <a:ext cx="3824506" cy="57868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𝑌</m:t>
                      </m:r>
                      <m:r>
                        <a:rPr lang="en-US" sz="280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𝑋</m:t>
                      </m:r>
                      <m:d>
                        <m:dPr>
                          <m:ctrlPr>
                            <a:rPr lang="en-US" sz="2800" b="0" i="1" smtClean="0">
                              <a:solidFill>
                                <a:srgbClr val="000000"/>
                              </a:solidFill>
                              <a:latin typeface="Cambria Math" panose="02040503050406030204" pitchFamily="18" charset="0"/>
                            </a:rPr>
                          </m:ctrlPr>
                        </m:dPr>
                        <m:e>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e>
                      </m:d>
                      <m:r>
                        <a:rPr lang="en-US" sz="2800" b="0" i="1" smtClean="0">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6628" name="Object 4">
                <a:extLst>
                  <a:ext uri="{FF2B5EF4-FFF2-40B4-BE49-F238E27FC236}">
                    <a16:creationId xmlns:a16="http://schemas.microsoft.com/office/drawing/2014/main" id="{F94A1CEA-5392-4C07-9398-E2D65072D7CE}"/>
                  </a:ext>
                </a:extLst>
              </p:cNvPr>
              <p:cNvSpPr txBox="1">
                <a:spLocks noRot="1" noChangeAspect="1" noMove="1" noResize="1" noEditPoints="1" noAdjustHandles="1" noChangeArrowheads="1" noChangeShapeType="1" noTextEdit="1"/>
              </p:cNvSpPr>
              <p:nvPr/>
            </p:nvSpPr>
            <p:spPr bwMode="auto">
              <a:xfrm>
                <a:off x="2659746" y="5750055"/>
                <a:ext cx="3824506" cy="578685"/>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010197F5-A7A4-435D-9CF3-7F4F2388097C}"/>
                  </a:ext>
                </a:extLst>
              </p:cNvPr>
              <p:cNvSpPr txBox="1"/>
              <p:nvPr/>
            </p:nvSpPr>
            <p:spPr bwMode="auto">
              <a:xfrm>
                <a:off x="1580034" y="1884936"/>
                <a:ext cx="5983930" cy="97456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hr m:val="∑"/>
                          <m:limLoc m:val="subSup"/>
                          <m:ctrlPr>
                            <a:rPr lang="en-US" sz="2800" i="1" smtClean="0">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m:t>
                          </m:r>
                        </m:sub>
                        <m:sup>
                          <m:r>
                            <a:rPr lang="en-US" sz="2800" i="1">
                              <a:solidFill>
                                <a:srgbClr val="000000"/>
                              </a:solidFill>
                              <a:latin typeface="Cambria Math" panose="02040503050406030204" pitchFamily="18" charset="0"/>
                            </a:rPr>
                            <m:t>𝑁</m:t>
                          </m:r>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r>
                            <a:rPr lang="en-US" sz="2800" i="1">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𝑘</m:t>
                          </m:r>
                          <m:r>
                            <a:rPr lang="en-US" sz="2800" b="0" i="1" smtClean="0">
                              <a:solidFill>
                                <a:srgbClr val="000000"/>
                              </a:solidFill>
                              <a:latin typeface="Cambria Math" panose="02040503050406030204" pitchFamily="18" charset="0"/>
                            </a:rPr>
                            <m:t>]</m:t>
                          </m:r>
                        </m:e>
                      </m:nary>
                      <m:r>
                        <a:rPr lang="en-US" sz="2800" i="1">
                          <a:solidFill>
                            <a:srgbClr val="000000"/>
                          </a:solidFill>
                          <a:latin typeface="Cambria Math" panose="02040503050406030204" pitchFamily="18" charset="0"/>
                        </a:rPr>
                        <m:t>=</m:t>
                      </m:r>
                      <m:nary>
                        <m:naryPr>
                          <m:chr m:val="∑"/>
                          <m:limLoc m:val="subSup"/>
                          <m:ctrlPr>
                            <a:rPr lang="en-US" sz="2800" i="1" smtClean="0">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m:t>
                          </m:r>
                        </m:sub>
                        <m:sup>
                          <m:r>
                            <a:rPr lang="en-US" sz="2800" b="0" i="1" smtClean="0">
                              <a:solidFill>
                                <a:srgbClr val="000000"/>
                              </a:solidFill>
                              <a:latin typeface="Cambria Math" panose="02040503050406030204" pitchFamily="18" charset="0"/>
                            </a:rPr>
                            <m:t>𝑀</m:t>
                          </m:r>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𝑏</m:t>
                              </m:r>
                            </m:e>
                            <m:sub>
                              <m:r>
                                <a:rPr lang="en-US" sz="2800" i="1">
                                  <a:solidFill>
                                    <a:srgbClr val="000000"/>
                                  </a:solidFill>
                                  <a:latin typeface="Cambria Math" panose="02040503050406030204" pitchFamily="18" charset="0"/>
                                </a:rPr>
                                <m:t>𝑘</m:t>
                              </m:r>
                            </m:sub>
                          </m:sSub>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𝑘</m:t>
                          </m:r>
                          <m:r>
                            <a:rPr lang="en-US" sz="2800" b="0" i="1" smtClean="0">
                              <a:solidFill>
                                <a:srgbClr val="000000"/>
                              </a:solidFill>
                              <a:latin typeface="Cambria Math" panose="02040503050406030204" pitchFamily="18" charset="0"/>
                            </a:rPr>
                            <m:t>]</m:t>
                          </m:r>
                        </m:e>
                      </m:nary>
                    </m:oMath>
                  </m:oMathPara>
                </a14:m>
                <a:endParaRPr lang="en-US" sz="2800" dirty="0"/>
              </a:p>
            </p:txBody>
          </p:sp>
        </mc:Choice>
        <mc:Fallback xmlns="">
          <p:sp>
            <p:nvSpPr>
              <p:cNvPr id="12" name="Object 4">
                <a:extLst>
                  <a:ext uri="{FF2B5EF4-FFF2-40B4-BE49-F238E27FC236}">
                    <a16:creationId xmlns:a16="http://schemas.microsoft.com/office/drawing/2014/main" id="{010197F5-A7A4-435D-9CF3-7F4F2388097C}"/>
                  </a:ext>
                </a:extLst>
              </p:cNvPr>
              <p:cNvSpPr txBox="1">
                <a:spLocks noRot="1" noChangeAspect="1" noMove="1" noResize="1" noEditPoints="1" noAdjustHandles="1" noChangeArrowheads="1" noChangeShapeType="1" noTextEdit="1"/>
              </p:cNvSpPr>
              <p:nvPr/>
            </p:nvSpPr>
            <p:spPr bwMode="auto">
              <a:xfrm>
                <a:off x="1580034" y="1884936"/>
                <a:ext cx="5983930" cy="974562"/>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6635"/>
                                        </p:tgtEl>
                                        <p:attrNameLst>
                                          <p:attrName>style.visibility</p:attrName>
                                        </p:attrNameLst>
                                      </p:cBhvr>
                                      <p:to>
                                        <p:strVal val="visible"/>
                                      </p:to>
                                    </p:set>
                                    <p:anim calcmode="lin" valueType="num">
                                      <p:cBhvr additive="base">
                                        <p:cTn id="17" dur="500" fill="hold"/>
                                        <p:tgtEl>
                                          <p:spTgt spid="26635"/>
                                        </p:tgtEl>
                                        <p:attrNameLst>
                                          <p:attrName>ppt_x</p:attrName>
                                        </p:attrNameLst>
                                      </p:cBhvr>
                                      <p:tavLst>
                                        <p:tav tm="0">
                                          <p:val>
                                            <p:strVal val="#ppt_x"/>
                                          </p:val>
                                        </p:tav>
                                        <p:tav tm="100000">
                                          <p:val>
                                            <p:strVal val="#ppt_x"/>
                                          </p:val>
                                        </p:tav>
                                      </p:tavLst>
                                    </p:anim>
                                    <p:anim calcmode="lin" valueType="num">
                                      <p:cBhvr additive="base">
                                        <p:cTn id="18" dur="500" fill="hold"/>
                                        <p:tgtEl>
                                          <p:spTgt spid="2663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6628"/>
                                        </p:tgtEl>
                                        <p:attrNameLst>
                                          <p:attrName>style.visibility</p:attrName>
                                        </p:attrNameLst>
                                      </p:cBhvr>
                                      <p:to>
                                        <p:strVal val="visible"/>
                                      </p:to>
                                    </p:set>
                                    <p:anim calcmode="lin" valueType="num">
                                      <p:cBhvr additive="base">
                                        <p:cTn id="21" dur="500" fill="hold"/>
                                        <p:tgtEl>
                                          <p:spTgt spid="26628"/>
                                        </p:tgtEl>
                                        <p:attrNameLst>
                                          <p:attrName>ppt_x</p:attrName>
                                        </p:attrNameLst>
                                      </p:cBhvr>
                                      <p:tavLst>
                                        <p:tav tm="0">
                                          <p:val>
                                            <p:strVal val="#ppt_x"/>
                                          </p:val>
                                        </p:tav>
                                        <p:tav tm="100000">
                                          <p:val>
                                            <p:strVal val="#ppt_x"/>
                                          </p:val>
                                        </p:tav>
                                      </p:tavLst>
                                    </p:anim>
                                    <p:anim calcmode="lin" valueType="num">
                                      <p:cBhvr additive="base">
                                        <p:cTn id="22"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6635" grpId="0"/>
      <p:bldP spid="2662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标题 1">
            <a:extLst>
              <a:ext uri="{FF2B5EF4-FFF2-40B4-BE49-F238E27FC236}">
                <a16:creationId xmlns:a16="http://schemas.microsoft.com/office/drawing/2014/main" id="{C0CD90A8-4754-43BF-8541-080B0740CC5F}"/>
              </a:ext>
            </a:extLst>
          </p:cNvPr>
          <p:cNvSpPr>
            <a:spLocks noGrp="1"/>
          </p:cNvSpPr>
          <p:nvPr>
            <p:ph type="title"/>
          </p:nvPr>
        </p:nvSpPr>
        <p:spPr/>
        <p:txBody>
          <a:bodyPr/>
          <a:lstStyle/>
          <a:p>
            <a:r>
              <a:rPr lang="en-US" altLang="zh-CN" sz="3600" dirty="0"/>
              <a:t>5.8 </a:t>
            </a:r>
            <a:r>
              <a:rPr lang="zh-CN" altLang="en-US" sz="3600" dirty="0"/>
              <a:t>由线性常系数差分方程表征的系统</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A739D2B-FB25-43B8-84BA-DA6A457FDD36}"/>
                  </a:ext>
                </a:extLst>
              </p:cNvPr>
              <p:cNvSpPr>
                <a:spLocks noGrp="1"/>
              </p:cNvSpPr>
              <p:nvPr>
                <p:ph idx="1"/>
              </p:nvPr>
            </p:nvSpPr>
            <p:spPr>
              <a:xfrm>
                <a:off x="457200" y="3643591"/>
                <a:ext cx="8229600" cy="2737737"/>
              </a:xfrm>
            </p:spPr>
            <p:txBody>
              <a:bodyPr>
                <a:spAutoFit/>
              </a:bodyPr>
              <a:lstStyle/>
              <a:p>
                <a:pPr>
                  <a:lnSpc>
                    <a:spcPct val="120000"/>
                  </a:lnSpc>
                  <a:spcBef>
                    <a:spcPts val="0"/>
                  </a:spcBef>
                </a:pPr>
                <a:r>
                  <a:rPr lang="zh-CN" altLang="en-US" sz="2400" b="0" dirty="0"/>
                  <a:t>可见对于由线性常系数差分方程描述的</a:t>
                </a:r>
                <a:r>
                  <a:rPr lang="en-US" altLang="zh-CN" sz="2400" b="0" dirty="0"/>
                  <a:t>LTI </a:t>
                </a:r>
                <a:r>
                  <a:rPr lang="zh-CN" altLang="en-US" sz="2400" b="0" dirty="0"/>
                  <a:t>系统，其频率特性是一个有理函数。</a:t>
                </a:r>
                <a:endParaRPr lang="en-US" altLang="zh-CN" sz="2400" b="0" dirty="0"/>
              </a:p>
              <a:p>
                <a:pPr>
                  <a:lnSpc>
                    <a:spcPct val="120000"/>
                  </a:lnSpc>
                  <a:spcBef>
                    <a:spcPts val="0"/>
                  </a:spcBef>
                </a:pPr>
                <a:r>
                  <a:rPr lang="zh-CN" altLang="en-US" sz="2400" b="0" dirty="0"/>
                  <a:t>当需要求得线性常系数差分方程描述的</a:t>
                </a:r>
                <a:r>
                  <a:rPr lang="en-US" altLang="zh-CN" sz="2400" b="0" dirty="0"/>
                  <a:t>LTI</a:t>
                </a:r>
                <a:r>
                  <a:rPr lang="zh-CN" altLang="en-US" sz="2400" b="0" dirty="0"/>
                  <a:t>系统的</a:t>
                </a:r>
                <a14:m>
                  <m:oMath xmlns:m="http://schemas.openxmlformats.org/officeDocument/2006/math">
                    <m:r>
                      <a:rPr lang="en-US" sz="2400" b="0" i="1" smtClean="0">
                        <a:solidFill>
                          <a:srgbClr val="000000"/>
                        </a:solidFill>
                        <a:latin typeface="Cambria Math" panose="02040503050406030204" pitchFamily="18" charset="0"/>
                      </a:rPr>
                      <m:t>h</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b="0" dirty="0"/>
                  <a:t>时，往往是由</a:t>
                </a:r>
                <a14:m>
                  <m:oMath xmlns:m="http://schemas.openxmlformats.org/officeDocument/2006/math">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oMath>
                </a14:m>
                <a:r>
                  <a:rPr lang="zh-CN" altLang="en-US" sz="2400" b="0" dirty="0"/>
                  <a:t>做反变换得到。</a:t>
                </a:r>
                <a:endParaRPr lang="en-US" altLang="zh-CN" sz="2400" b="0" dirty="0"/>
              </a:p>
              <a:p>
                <a:pPr>
                  <a:lnSpc>
                    <a:spcPct val="120000"/>
                  </a:lnSpc>
                  <a:spcBef>
                    <a:spcPts val="0"/>
                  </a:spcBef>
                </a:pPr>
                <a:r>
                  <a:rPr lang="zh-CN" altLang="en-US" sz="2400" b="0" dirty="0"/>
                  <a:t>对有理函数求傅里叶反变换通常采用</a:t>
                </a:r>
                <a:r>
                  <a:rPr lang="zh-CN" altLang="en-US" sz="2400" b="0" dirty="0">
                    <a:solidFill>
                      <a:srgbClr val="FF0000"/>
                    </a:solidFill>
                  </a:rPr>
                  <a:t>部分分式展开</a:t>
                </a:r>
                <a:r>
                  <a:rPr lang="zh-CN" altLang="en-US" sz="2400" b="0" dirty="0"/>
                  <a:t>和利用</a:t>
                </a:r>
                <a:r>
                  <a:rPr lang="zh-CN" altLang="en-US" sz="2400" b="0" dirty="0">
                    <a:solidFill>
                      <a:srgbClr val="FF0000"/>
                    </a:solidFill>
                  </a:rPr>
                  <a:t>常用变换对</a:t>
                </a:r>
                <a:r>
                  <a:rPr lang="zh-CN" altLang="en-US" sz="2400" b="0" dirty="0"/>
                  <a:t>进行。</a:t>
                </a:r>
              </a:p>
            </p:txBody>
          </p:sp>
        </mc:Choice>
        <mc:Fallback xmlns="">
          <p:sp>
            <p:nvSpPr>
              <p:cNvPr id="3" name="内容占位符 2">
                <a:extLst>
                  <a:ext uri="{FF2B5EF4-FFF2-40B4-BE49-F238E27FC236}">
                    <a16:creationId xmlns:a16="http://schemas.microsoft.com/office/drawing/2014/main" id="{FA739D2B-FB25-43B8-84BA-DA6A457FDD36}"/>
                  </a:ext>
                </a:extLst>
              </p:cNvPr>
              <p:cNvSpPr>
                <a:spLocks noGrp="1" noRot="1" noChangeAspect="1" noMove="1" noResize="1" noEditPoints="1" noAdjustHandles="1" noChangeArrowheads="1" noChangeShapeType="1" noTextEdit="1"/>
              </p:cNvSpPr>
              <p:nvPr>
                <p:ph idx="1"/>
              </p:nvPr>
            </p:nvSpPr>
            <p:spPr>
              <a:xfrm>
                <a:off x="457200" y="3643591"/>
                <a:ext cx="8229600" cy="2737737"/>
              </a:xfrm>
              <a:blipFill>
                <a:blip r:embed="rId2"/>
                <a:stretch>
                  <a:fillRect l="-963" t="-445" r="-74" b="-4232"/>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78D313DC-4223-423F-9323-06BC2CD336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7D435C-EEB2-4494-BC55-97F08FB1AB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 name="Object 4">
                <a:extLst>
                  <a:ext uri="{FF2B5EF4-FFF2-40B4-BE49-F238E27FC236}">
                    <a16:creationId xmlns:a16="http://schemas.microsoft.com/office/drawing/2014/main" id="{ED535208-B98E-4155-B13C-AA838298442B}"/>
                  </a:ext>
                </a:extLst>
              </p:cNvPr>
              <p:cNvSpPr txBox="1"/>
              <p:nvPr/>
            </p:nvSpPr>
            <p:spPr bwMode="auto">
              <a:xfrm>
                <a:off x="2694292" y="2309415"/>
                <a:ext cx="3755415" cy="1082989"/>
              </a:xfrm>
              <a:prstGeom prst="rect">
                <a:avLst/>
              </a:prstGeom>
              <a:solidFill>
                <a:schemeClr val="accent5">
                  <a:lumMod val="20000"/>
                  <a:lumOff val="80000"/>
                </a:schemeClr>
              </a:solidFill>
              <a:ln w="25400">
                <a:solidFill>
                  <a:srgbClr val="0000FF"/>
                </a:solid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sup>
                      </m:sSup>
                      <m:r>
                        <a:rPr lang="en-US" sz="2800" i="1">
                          <a:solidFill>
                            <a:srgbClr val="000000"/>
                          </a:solidFill>
                          <a:latin typeface="Cambria Math" panose="02040503050406030204" pitchFamily="18" charset="0"/>
                        </a:rPr>
                        <m:t>)=</m:t>
                      </m:r>
                      <m:f>
                        <m:fPr>
                          <m:ctrlPr>
                            <a:rPr lang="en-US" sz="2800" i="1" smtClean="0">
                              <a:solidFill>
                                <a:srgbClr val="000000"/>
                              </a:solidFill>
                              <a:latin typeface="Cambria Math" panose="02040503050406030204" pitchFamily="18" charset="0"/>
                            </a:rPr>
                          </m:ctrlPr>
                        </m:fPr>
                        <m:num>
                          <m:nary>
                            <m:naryPr>
                              <m:chr m:val="∑"/>
                              <m:limLoc m:val="subSup"/>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m:t>
                              </m:r>
                            </m:sub>
                            <m:sup>
                              <m:r>
                                <a:rPr lang="en-US" sz="2800" i="1">
                                  <a:solidFill>
                                    <a:srgbClr val="000000"/>
                                  </a:solidFill>
                                  <a:latin typeface="Cambria Math" panose="02040503050406030204" pitchFamily="18" charset="0"/>
                                </a:rPr>
                                <m:t>𝑀</m:t>
                              </m:r>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𝑏</m:t>
                                  </m:r>
                                </m:e>
                                <m:sub>
                                  <m:r>
                                    <a:rPr lang="en-US" sz="2800" i="1">
                                      <a:solidFill>
                                        <a:srgbClr val="000000"/>
                                      </a:solidFill>
                                      <a:latin typeface="Cambria Math" panose="02040503050406030204" pitchFamily="18" charset="0"/>
                                    </a:rPr>
                                    <m:t>𝑘</m:t>
                                  </m:r>
                                </m:sub>
                              </m:sSub>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a:rPr lang="en-US" sz="2800">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𝜔</m:t>
                                  </m:r>
                                </m:sup>
                              </m:sSup>
                            </m:e>
                          </m:nary>
                        </m:num>
                        <m:den>
                          <m:nary>
                            <m:naryPr>
                              <m:chr m:val="∑"/>
                              <m:limLoc m:val="subSup"/>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m:t>
                              </m:r>
                            </m:sub>
                            <m:sup>
                              <m:r>
                                <a:rPr lang="en-US" sz="2800" i="1">
                                  <a:solidFill>
                                    <a:srgbClr val="000000"/>
                                  </a:solidFill>
                                  <a:latin typeface="Cambria Math" panose="02040503050406030204" pitchFamily="18" charset="0"/>
                                </a:rPr>
                                <m:t>𝑁</m:t>
                              </m:r>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a:rPr lang="en-US" sz="2800">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𝜔</m:t>
                                  </m:r>
                                </m:sup>
                              </m:sSup>
                            </m:e>
                          </m:nary>
                        </m:den>
                      </m:f>
                    </m:oMath>
                  </m:oMathPara>
                </a14:m>
                <a:endParaRPr lang="en-US" sz="2800" dirty="0"/>
              </a:p>
            </p:txBody>
          </p:sp>
        </mc:Choice>
        <mc:Fallback xmlns="">
          <p:sp>
            <p:nvSpPr>
              <p:cNvPr id="10" name="Object 4">
                <a:extLst>
                  <a:ext uri="{FF2B5EF4-FFF2-40B4-BE49-F238E27FC236}">
                    <a16:creationId xmlns:a16="http://schemas.microsoft.com/office/drawing/2014/main" id="{ED535208-B98E-4155-B13C-AA838298442B}"/>
                  </a:ext>
                </a:extLst>
              </p:cNvPr>
              <p:cNvSpPr txBox="1">
                <a:spLocks noRot="1" noChangeAspect="1" noMove="1" noResize="1" noEditPoints="1" noAdjustHandles="1" noChangeArrowheads="1" noChangeShapeType="1" noTextEdit="1"/>
              </p:cNvSpPr>
              <p:nvPr/>
            </p:nvSpPr>
            <p:spPr bwMode="auto">
              <a:xfrm>
                <a:off x="2694292" y="2309415"/>
                <a:ext cx="3755415" cy="1082989"/>
              </a:xfrm>
              <a:prstGeom prst="rect">
                <a:avLst/>
              </a:prstGeom>
              <a:blipFill>
                <a:blip r:embed="rId3"/>
                <a:stretch>
                  <a:fillRect/>
                </a:stretch>
              </a:blipFill>
              <a:ln w="25400">
                <a:solidFill>
                  <a:srgbClr val="0000FF"/>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4">
                <a:extLst>
                  <a:ext uri="{FF2B5EF4-FFF2-40B4-BE49-F238E27FC236}">
                    <a16:creationId xmlns:a16="http://schemas.microsoft.com/office/drawing/2014/main" id="{2B74551F-9A0C-483C-B408-1FBDC0894B4A}"/>
                  </a:ext>
                </a:extLst>
              </p:cNvPr>
              <p:cNvSpPr txBox="1"/>
              <p:nvPr/>
            </p:nvSpPr>
            <p:spPr bwMode="auto">
              <a:xfrm>
                <a:off x="827584" y="1412776"/>
                <a:ext cx="3928070" cy="659476"/>
              </a:xfrm>
              <a:prstGeom prst="rect">
                <a:avLst/>
              </a:prstGeom>
              <a:solidFill>
                <a:schemeClr val="bg1">
                  <a:lumMod val="85000"/>
                </a:schemeClr>
              </a:solid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hr m:val="∑"/>
                          <m:limLoc m:val="subSup"/>
                          <m:ctrlPr>
                            <a:rPr lang="en-US" i="1" smtClean="0">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=0</m:t>
                          </m:r>
                        </m:sub>
                        <m:sup>
                          <m:r>
                            <a:rPr lang="en-US" i="1">
                              <a:solidFill>
                                <a:srgbClr val="000000"/>
                              </a:solidFill>
                              <a:latin typeface="Cambria Math" panose="02040503050406030204" pitchFamily="18" charset="0"/>
                            </a:rPr>
                            <m:t>𝑁</m:t>
                          </m:r>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𝑘</m:t>
                              </m:r>
                            </m:sub>
                          </m:sSub>
                          <m:r>
                            <a:rPr lang="en-US" i="1">
                              <a:solidFill>
                                <a:srgbClr val="000000"/>
                              </a:solidFill>
                              <a:latin typeface="Cambria Math" panose="02040503050406030204" pitchFamily="18" charset="0"/>
                            </a:rPr>
                            <m:t>𝑦</m:t>
                          </m:r>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𝑘</m:t>
                          </m:r>
                          <m:r>
                            <a:rPr lang="en-US" b="0" i="1" smtClean="0">
                              <a:solidFill>
                                <a:srgbClr val="000000"/>
                              </a:solidFill>
                              <a:latin typeface="Cambria Math" panose="02040503050406030204" pitchFamily="18" charset="0"/>
                            </a:rPr>
                            <m:t>]</m:t>
                          </m:r>
                        </m:e>
                      </m:nary>
                      <m:r>
                        <a:rPr lang="en-US" i="1">
                          <a:solidFill>
                            <a:srgbClr val="000000"/>
                          </a:solidFill>
                          <a:latin typeface="Cambria Math" panose="02040503050406030204" pitchFamily="18" charset="0"/>
                        </a:rPr>
                        <m:t>=</m:t>
                      </m:r>
                      <m:nary>
                        <m:naryPr>
                          <m:chr m:val="∑"/>
                          <m:limLoc m:val="subSup"/>
                          <m:ctrlPr>
                            <a:rPr lang="en-US" i="1" smtClean="0">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=0</m:t>
                          </m:r>
                        </m:sub>
                        <m:sup>
                          <m:r>
                            <a:rPr lang="en-US" b="0" i="1" smtClean="0">
                              <a:solidFill>
                                <a:srgbClr val="000000"/>
                              </a:solidFill>
                              <a:latin typeface="Cambria Math" panose="02040503050406030204" pitchFamily="18" charset="0"/>
                            </a:rPr>
                            <m:t>𝑀</m:t>
                          </m:r>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𝑘</m:t>
                              </m:r>
                            </m:sub>
                          </m:sSub>
                          <m:r>
                            <a:rPr lang="en-US" i="1">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𝑘</m:t>
                          </m:r>
                          <m:r>
                            <a:rPr lang="en-US" b="0" i="1" smtClean="0">
                              <a:solidFill>
                                <a:srgbClr val="000000"/>
                              </a:solidFill>
                              <a:latin typeface="Cambria Math" panose="02040503050406030204" pitchFamily="18" charset="0"/>
                            </a:rPr>
                            <m:t>]</m:t>
                          </m:r>
                        </m:e>
                      </m:nary>
                    </m:oMath>
                  </m:oMathPara>
                </a14:m>
                <a:endParaRPr lang="en-US" dirty="0"/>
              </a:p>
            </p:txBody>
          </p:sp>
        </mc:Choice>
        <mc:Fallback xmlns="">
          <p:sp>
            <p:nvSpPr>
              <p:cNvPr id="7" name="Object 4">
                <a:extLst>
                  <a:ext uri="{FF2B5EF4-FFF2-40B4-BE49-F238E27FC236}">
                    <a16:creationId xmlns:a16="http://schemas.microsoft.com/office/drawing/2014/main" id="{2B74551F-9A0C-483C-B408-1FBDC0894B4A}"/>
                  </a:ext>
                </a:extLst>
              </p:cNvPr>
              <p:cNvSpPr txBox="1">
                <a:spLocks noRot="1" noChangeAspect="1" noMove="1" noResize="1" noEditPoints="1" noAdjustHandles="1" noChangeArrowheads="1" noChangeShapeType="1" noTextEdit="1"/>
              </p:cNvSpPr>
              <p:nvPr/>
            </p:nvSpPr>
            <p:spPr bwMode="auto">
              <a:xfrm>
                <a:off x="827584" y="1412776"/>
                <a:ext cx="3928070" cy="659476"/>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标题 1">
            <a:extLst>
              <a:ext uri="{FF2B5EF4-FFF2-40B4-BE49-F238E27FC236}">
                <a16:creationId xmlns:a16="http://schemas.microsoft.com/office/drawing/2014/main" id="{C0CD90A8-4754-43BF-8541-080B0740CC5F}"/>
              </a:ext>
            </a:extLst>
          </p:cNvPr>
          <p:cNvSpPr>
            <a:spLocks noGrp="1"/>
          </p:cNvSpPr>
          <p:nvPr>
            <p:ph type="title"/>
          </p:nvPr>
        </p:nvSpPr>
        <p:spPr/>
        <p:txBody>
          <a:bodyPr/>
          <a:lstStyle/>
          <a:p>
            <a:r>
              <a:rPr lang="en-US" altLang="zh-CN" sz="3600" dirty="0"/>
              <a:t>5.8 </a:t>
            </a:r>
            <a:r>
              <a:rPr lang="zh-CN" altLang="en-US" sz="3600" dirty="0"/>
              <a:t>由线性常系数差分方程表征的系统</a:t>
            </a:r>
          </a:p>
        </p:txBody>
      </p:sp>
      <p:sp>
        <p:nvSpPr>
          <p:cNvPr id="3" name="内容占位符 2">
            <a:extLst>
              <a:ext uri="{FF2B5EF4-FFF2-40B4-BE49-F238E27FC236}">
                <a16:creationId xmlns:a16="http://schemas.microsoft.com/office/drawing/2014/main" id="{FA739D2B-FB25-43B8-84BA-DA6A457FDD36}"/>
              </a:ext>
            </a:extLst>
          </p:cNvPr>
          <p:cNvSpPr>
            <a:spLocks noGrp="1"/>
          </p:cNvSpPr>
          <p:nvPr>
            <p:ph idx="1"/>
          </p:nvPr>
        </p:nvSpPr>
        <p:spPr>
          <a:xfrm>
            <a:off x="457200" y="1268760"/>
            <a:ext cx="8229600" cy="507447"/>
          </a:xfrm>
        </p:spPr>
        <p:txBody>
          <a:bodyPr>
            <a:spAutoFit/>
          </a:bodyPr>
          <a:lstStyle/>
          <a:p>
            <a:pPr>
              <a:lnSpc>
                <a:spcPct val="120000"/>
              </a:lnSpc>
              <a:spcBef>
                <a:spcPts val="0"/>
              </a:spcBef>
            </a:pPr>
            <a:r>
              <a:rPr lang="zh-CN" altLang="en-US" sz="2400" b="0" dirty="0">
                <a:solidFill>
                  <a:srgbClr val="0000FF"/>
                </a:solidFill>
              </a:rPr>
              <a:t>例</a:t>
            </a:r>
            <a:r>
              <a:rPr lang="zh-CN" altLang="en-US" sz="2400" b="0" dirty="0"/>
              <a:t>：某因果线性时不变系统由以下差分方程描述</a:t>
            </a:r>
          </a:p>
        </p:txBody>
      </p:sp>
      <p:sp>
        <p:nvSpPr>
          <p:cNvPr id="4" name="灯片编号占位符 3">
            <a:extLst>
              <a:ext uri="{FF2B5EF4-FFF2-40B4-BE49-F238E27FC236}">
                <a16:creationId xmlns:a16="http://schemas.microsoft.com/office/drawing/2014/main" id="{78D313DC-4223-423F-9323-06BC2CD336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7D435C-EEB2-4494-BC55-97F08FB1AB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3C5C28C-5E91-4716-9A09-E33B19A63178}"/>
                  </a:ext>
                </a:extLst>
              </p:cNvPr>
              <p:cNvSpPr txBox="1"/>
              <p:nvPr/>
            </p:nvSpPr>
            <p:spPr>
              <a:xfrm>
                <a:off x="1916832" y="1919570"/>
                <a:ext cx="5310336" cy="786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𝑛</m:t>
                          </m:r>
                        </m:e>
                      </m:d>
                      <m:r>
                        <a:rPr lang="en-US" sz="2400" i="1" smtClean="0">
                          <a:solidFill>
                            <a:srgbClr val="000000"/>
                          </a:solidFill>
                          <a:latin typeface="Cambria Math" panose="02040503050406030204" pitchFamily="18" charset="0"/>
                        </a:rPr>
                        <m:t>−</m:t>
                      </m:r>
                      <m:f>
                        <m:fPr>
                          <m:ctrlPr>
                            <a:rPr lang="en-US" sz="240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3</m:t>
                          </m:r>
                        </m:num>
                        <m:den>
                          <m:r>
                            <a:rPr lang="en-US" sz="2400" b="0" i="1" smtClean="0">
                              <a:solidFill>
                                <a:srgbClr val="000000"/>
                              </a:solidFill>
                              <a:latin typeface="Cambria Math" panose="02040503050406030204" pitchFamily="18" charset="0"/>
                            </a:rPr>
                            <m:t>4</m:t>
                          </m:r>
                        </m:den>
                      </m:f>
                      <m:r>
                        <a:rPr lang="en-US" sz="2400" i="1" smtClean="0">
                          <a:solidFill>
                            <a:srgbClr val="000000"/>
                          </a:solidFill>
                          <a:latin typeface="Cambria Math" panose="02040503050406030204" pitchFamily="18" charset="0"/>
                        </a:rPr>
                        <m:t>𝑦</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−1</m:t>
                          </m:r>
                        </m:e>
                      </m:d>
                      <m:r>
                        <a:rPr lang="en-US" sz="2400" b="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8</m:t>
                          </m:r>
                        </m:den>
                      </m:f>
                      <m:r>
                        <a:rPr lang="en-US" sz="2400" i="1">
                          <a:solidFill>
                            <a:srgbClr val="000000"/>
                          </a:solidFill>
                          <a:latin typeface="Cambria Math" panose="02040503050406030204" pitchFamily="18" charset="0"/>
                        </a:rPr>
                        <m:t>𝑦</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−2</m:t>
                          </m:r>
                        </m:e>
                      </m:d>
                      <m:r>
                        <a:rPr lang="en-US" sz="240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2</m:t>
                      </m:r>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m:oMathPara>
                </a14:m>
                <a:endParaRPr lang="en-US" sz="2400" dirty="0"/>
              </a:p>
            </p:txBody>
          </p:sp>
        </mc:Choice>
        <mc:Fallback xmlns="">
          <p:sp>
            <p:nvSpPr>
              <p:cNvPr id="11" name="文本框 10">
                <a:extLst>
                  <a:ext uri="{FF2B5EF4-FFF2-40B4-BE49-F238E27FC236}">
                    <a16:creationId xmlns:a16="http://schemas.microsoft.com/office/drawing/2014/main" id="{C3C5C28C-5E91-4716-9A09-E33B19A63178}"/>
                  </a:ext>
                </a:extLst>
              </p:cNvPr>
              <p:cNvSpPr txBox="1">
                <a:spLocks noRot="1" noChangeAspect="1" noMove="1" noResize="1" noEditPoints="1" noAdjustHandles="1" noChangeArrowheads="1" noChangeShapeType="1" noTextEdit="1"/>
              </p:cNvSpPr>
              <p:nvPr/>
            </p:nvSpPr>
            <p:spPr>
              <a:xfrm>
                <a:off x="1916832" y="1919570"/>
                <a:ext cx="5310336" cy="78617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A64B485F-907E-4B1A-8CE9-AD2F3DB46950}"/>
                  </a:ext>
                </a:extLst>
              </p:cNvPr>
              <p:cNvSpPr txBox="1">
                <a:spLocks/>
              </p:cNvSpPr>
              <p:nvPr/>
            </p:nvSpPr>
            <p:spPr bwMode="auto">
              <a:xfrm>
                <a:off x="1403648" y="2849110"/>
                <a:ext cx="5454534" cy="50744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2400" b="0" dirty="0"/>
                  <a:t>试确定该系统的单位脉冲响应</a:t>
                </a:r>
                <a14:m>
                  <m:oMath xmlns:m="http://schemas.openxmlformats.org/officeDocument/2006/math">
                    <m:r>
                      <a:rPr lang="en-US" sz="2400" b="0" i="1" smtClean="0">
                        <a:solidFill>
                          <a:srgbClr val="000000"/>
                        </a:solidFill>
                        <a:latin typeface="Cambria Math" panose="02040503050406030204" pitchFamily="18" charset="0"/>
                      </a:rPr>
                      <m:t>h</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a14:m>
                <a:r>
                  <a:rPr lang="zh-CN" altLang="en-US" sz="2400" b="0" dirty="0"/>
                  <a:t>。</a:t>
                </a:r>
              </a:p>
            </p:txBody>
          </p:sp>
        </mc:Choice>
        <mc:Fallback xmlns="">
          <p:sp>
            <p:nvSpPr>
              <p:cNvPr id="12" name="内容占位符 2">
                <a:extLst>
                  <a:ext uri="{FF2B5EF4-FFF2-40B4-BE49-F238E27FC236}">
                    <a16:creationId xmlns:a16="http://schemas.microsoft.com/office/drawing/2014/main" id="{A64B485F-907E-4B1A-8CE9-AD2F3DB46950}"/>
                  </a:ext>
                </a:extLst>
              </p:cNvPr>
              <p:cNvSpPr txBox="1">
                <a:spLocks noRot="1" noChangeAspect="1" noMove="1" noResize="1" noEditPoints="1" noAdjustHandles="1" noChangeArrowheads="1" noChangeShapeType="1" noTextEdit="1"/>
              </p:cNvSpPr>
              <p:nvPr/>
            </p:nvSpPr>
            <p:spPr bwMode="auto">
              <a:xfrm>
                <a:off x="1403648" y="2849110"/>
                <a:ext cx="5454534" cy="507447"/>
              </a:xfrm>
              <a:prstGeom prst="rect">
                <a:avLst/>
              </a:prstGeom>
              <a:blipFill>
                <a:blip r:embed="rId3"/>
                <a:stretch>
                  <a:fillRect l="-1676" b="-261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 name="内容占位符 2">
            <a:extLst>
              <a:ext uri="{FF2B5EF4-FFF2-40B4-BE49-F238E27FC236}">
                <a16:creationId xmlns:a16="http://schemas.microsoft.com/office/drawing/2014/main" id="{AD70370A-ED20-499F-A476-5CC4F09BDD22}"/>
              </a:ext>
            </a:extLst>
          </p:cNvPr>
          <p:cNvSpPr txBox="1">
            <a:spLocks/>
          </p:cNvSpPr>
          <p:nvPr/>
        </p:nvSpPr>
        <p:spPr bwMode="auto">
          <a:xfrm>
            <a:off x="827584" y="3499920"/>
            <a:ext cx="5454534" cy="50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2400" b="0" dirty="0">
                <a:solidFill>
                  <a:srgbClr val="0000FF"/>
                </a:solidFill>
              </a:rPr>
              <a:t>解</a:t>
            </a:r>
            <a:r>
              <a:rPr lang="zh-CN" altLang="en-US" sz="2400" b="0" dirty="0"/>
              <a:t>：该系统的频率响应为</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A11F061-A3A1-4672-9787-893B1946C790}"/>
                  </a:ext>
                </a:extLst>
              </p:cNvPr>
              <p:cNvSpPr txBox="1"/>
              <p:nvPr/>
            </p:nvSpPr>
            <p:spPr>
              <a:xfrm>
                <a:off x="2519772" y="4150730"/>
                <a:ext cx="4104456" cy="1084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𝐻</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2</m:t>
                          </m:r>
                        </m:num>
                        <m:den>
                          <m:r>
                            <a:rPr lang="en-US" sz="2400" b="0" i="1" smtClean="0">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3</m:t>
                              </m:r>
                            </m:num>
                            <m:den>
                              <m:r>
                                <a:rPr lang="en-US" sz="2400" i="1">
                                  <a:solidFill>
                                    <a:srgbClr val="000000"/>
                                  </a:solidFill>
                                  <a:latin typeface="Cambria Math" panose="02040503050406030204" pitchFamily="18" charset="0"/>
                                </a:rPr>
                                <m:t>4</m:t>
                              </m:r>
                            </m:den>
                          </m:f>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8</m:t>
                              </m:r>
                            </m:den>
                          </m:f>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b="0" i="0" smtClean="0">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𝜔</m:t>
                              </m:r>
                            </m:sup>
                          </m:sSup>
                        </m:den>
                      </m:f>
                    </m:oMath>
                  </m:oMathPara>
                </a14:m>
                <a:endParaRPr lang="en-US" sz="2400" dirty="0"/>
              </a:p>
            </p:txBody>
          </p:sp>
        </mc:Choice>
        <mc:Fallback xmlns="">
          <p:sp>
            <p:nvSpPr>
              <p:cNvPr id="14" name="文本框 13">
                <a:extLst>
                  <a:ext uri="{FF2B5EF4-FFF2-40B4-BE49-F238E27FC236}">
                    <a16:creationId xmlns:a16="http://schemas.microsoft.com/office/drawing/2014/main" id="{6A11F061-A3A1-4672-9787-893B1946C790}"/>
                  </a:ext>
                </a:extLst>
              </p:cNvPr>
              <p:cNvSpPr txBox="1">
                <a:spLocks noRot="1" noChangeAspect="1" noMove="1" noResize="1" noEditPoints="1" noAdjustHandles="1" noChangeArrowheads="1" noChangeShapeType="1" noTextEdit="1"/>
              </p:cNvSpPr>
              <p:nvPr/>
            </p:nvSpPr>
            <p:spPr>
              <a:xfrm>
                <a:off x="2519772" y="4150730"/>
                <a:ext cx="4104456" cy="108414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DBEABD0-5222-4E7E-9539-142AC818F341}"/>
                  </a:ext>
                </a:extLst>
              </p:cNvPr>
              <p:cNvSpPr txBox="1"/>
              <p:nvPr/>
            </p:nvSpPr>
            <p:spPr>
              <a:xfrm>
                <a:off x="3419872" y="5378235"/>
                <a:ext cx="3951312" cy="11471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m:t>
                      </m:r>
                      <m:f>
                        <m:fPr>
                          <m:ctrlPr>
                            <a:rPr lang="en-US" sz="240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2</m:t>
                          </m:r>
                        </m:num>
                        <m:den>
                          <m:d>
                            <m:dPr>
                              <m:ctrlPr>
                                <a:rPr lang="en-US" sz="240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d>
                            <m:dPr>
                              <m:ctrlPr>
                                <a:rPr lang="en-US" sz="240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4</m:t>
                                  </m:r>
                                </m:den>
                              </m:f>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den>
                      </m:f>
                    </m:oMath>
                  </m:oMathPara>
                </a14:m>
                <a:endParaRPr lang="en-US" sz="2400" dirty="0"/>
              </a:p>
            </p:txBody>
          </p:sp>
        </mc:Choice>
        <mc:Fallback xmlns="">
          <p:sp>
            <p:nvSpPr>
              <p:cNvPr id="15" name="文本框 14">
                <a:extLst>
                  <a:ext uri="{FF2B5EF4-FFF2-40B4-BE49-F238E27FC236}">
                    <a16:creationId xmlns:a16="http://schemas.microsoft.com/office/drawing/2014/main" id="{EDBEABD0-5222-4E7E-9539-142AC818F341}"/>
                  </a:ext>
                </a:extLst>
              </p:cNvPr>
              <p:cNvSpPr txBox="1">
                <a:spLocks noRot="1" noChangeAspect="1" noMove="1" noResize="1" noEditPoints="1" noAdjustHandles="1" noChangeArrowheads="1" noChangeShapeType="1" noTextEdit="1"/>
              </p:cNvSpPr>
              <p:nvPr/>
            </p:nvSpPr>
            <p:spPr>
              <a:xfrm>
                <a:off x="3419872" y="5378235"/>
                <a:ext cx="3951312" cy="114710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8791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标题 1">
            <a:extLst>
              <a:ext uri="{FF2B5EF4-FFF2-40B4-BE49-F238E27FC236}">
                <a16:creationId xmlns:a16="http://schemas.microsoft.com/office/drawing/2014/main" id="{C0CD90A8-4754-43BF-8541-080B0740CC5F}"/>
              </a:ext>
            </a:extLst>
          </p:cNvPr>
          <p:cNvSpPr>
            <a:spLocks noGrp="1"/>
          </p:cNvSpPr>
          <p:nvPr>
            <p:ph type="title"/>
          </p:nvPr>
        </p:nvSpPr>
        <p:spPr/>
        <p:txBody>
          <a:bodyPr/>
          <a:lstStyle/>
          <a:p>
            <a:r>
              <a:rPr lang="en-US" altLang="zh-CN" sz="3600" dirty="0"/>
              <a:t>5.8 </a:t>
            </a:r>
            <a:r>
              <a:rPr lang="zh-CN" altLang="en-US" sz="3600" dirty="0"/>
              <a:t>由线性常系数差分方程表征的系统</a:t>
            </a:r>
          </a:p>
        </p:txBody>
      </p:sp>
      <p:sp>
        <p:nvSpPr>
          <p:cNvPr id="4" name="灯片编号占位符 3">
            <a:extLst>
              <a:ext uri="{FF2B5EF4-FFF2-40B4-BE49-F238E27FC236}">
                <a16:creationId xmlns:a16="http://schemas.microsoft.com/office/drawing/2014/main" id="{78D313DC-4223-423F-9323-06BC2CD336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7D435C-EEB2-4494-BC55-97F08FB1AB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A11F061-A3A1-4672-9787-893B1946C790}"/>
                  </a:ext>
                </a:extLst>
              </p:cNvPr>
              <p:cNvSpPr txBox="1"/>
              <p:nvPr/>
            </p:nvSpPr>
            <p:spPr>
              <a:xfrm>
                <a:off x="4211960" y="1506455"/>
                <a:ext cx="4104456" cy="971228"/>
              </a:xfrm>
              <a:prstGeom prst="rect">
                <a:avLst/>
              </a:prstGeom>
              <a:solidFill>
                <a:schemeClr val="accent1">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000000"/>
                          </a:solidFill>
                          <a:latin typeface="Cambria Math" panose="02040503050406030204" pitchFamily="18" charset="0"/>
                        </a:rPr>
                        <m:t>𝐻</m:t>
                      </m:r>
                      <m:r>
                        <a:rPr lang="en-US" sz="2000" i="1" smtClean="0">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a:solidFill>
                                <a:srgbClr val="000000"/>
                              </a:solidFill>
                              <a:latin typeface="Cambria Math" panose="02040503050406030204" pitchFamily="18" charset="0"/>
                            </a:rPr>
                            <m:t>e</m:t>
                          </m:r>
                        </m:e>
                        <m:sup>
                          <m:r>
                            <m:rPr>
                              <m:sty m:val="p"/>
                            </m:rPr>
                            <a:rPr lang="en-US" sz="200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𝜔</m:t>
                          </m:r>
                        </m:sup>
                      </m:sSup>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m:t>
                          </m:r>
                        </m:num>
                        <m:den>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1−</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den>
                              </m:f>
                              <m:sSup>
                                <m:sSupPr>
                                  <m:ctrlPr>
                                    <a:rPr lang="en-US" sz="2000" i="1">
                                      <a:solidFill>
                                        <a:srgbClr val="000000"/>
                                      </a:solidFill>
                                      <a:latin typeface="Cambria Math" panose="02040503050406030204" pitchFamily="18" charset="0"/>
                                    </a:rPr>
                                  </m:ctrlPr>
                                </m:sSupPr>
                                <m:e>
                                  <m:r>
                                    <m:rPr>
                                      <m:sty m:val="p"/>
                                    </m:rPr>
                                    <a:rPr lang="en-US" sz="2000">
                                      <a:solidFill>
                                        <a:srgbClr val="000000"/>
                                      </a:solidFill>
                                      <a:latin typeface="Cambria Math" panose="02040503050406030204" pitchFamily="18" charset="0"/>
                                    </a:rPr>
                                    <m:t>e</m:t>
                                  </m:r>
                                </m:e>
                                <m:sup>
                                  <m:r>
                                    <a:rPr lang="en-US" sz="2000">
                                      <a:solidFill>
                                        <a:srgbClr val="000000"/>
                                      </a:solidFill>
                                      <a:latin typeface="Cambria Math" panose="02040503050406030204" pitchFamily="18" charset="0"/>
                                    </a:rPr>
                                    <m:t>−</m:t>
                                  </m:r>
                                  <m:r>
                                    <m:rPr>
                                      <m:sty m:val="p"/>
                                    </m:rPr>
                                    <a:rPr lang="en-US" sz="200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𝜔</m:t>
                                  </m:r>
                                </m:sup>
                              </m:sSup>
                            </m:e>
                          </m:d>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1−</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4</m:t>
                                  </m:r>
                                </m:den>
                              </m:f>
                              <m:sSup>
                                <m:sSupPr>
                                  <m:ctrlPr>
                                    <a:rPr lang="en-US" sz="2000" i="1">
                                      <a:solidFill>
                                        <a:srgbClr val="000000"/>
                                      </a:solidFill>
                                      <a:latin typeface="Cambria Math" panose="02040503050406030204" pitchFamily="18" charset="0"/>
                                    </a:rPr>
                                  </m:ctrlPr>
                                </m:sSupPr>
                                <m:e>
                                  <m:r>
                                    <m:rPr>
                                      <m:sty m:val="p"/>
                                    </m:rPr>
                                    <a:rPr lang="en-US" sz="2000">
                                      <a:solidFill>
                                        <a:srgbClr val="000000"/>
                                      </a:solidFill>
                                      <a:latin typeface="Cambria Math" panose="02040503050406030204" pitchFamily="18" charset="0"/>
                                    </a:rPr>
                                    <m:t>e</m:t>
                                  </m:r>
                                </m:e>
                                <m:sup>
                                  <m:r>
                                    <a:rPr lang="en-US" sz="2000">
                                      <a:solidFill>
                                        <a:srgbClr val="000000"/>
                                      </a:solidFill>
                                      <a:latin typeface="Cambria Math" panose="02040503050406030204" pitchFamily="18" charset="0"/>
                                    </a:rPr>
                                    <m:t>−</m:t>
                                  </m:r>
                                  <m:r>
                                    <m:rPr>
                                      <m:sty m:val="p"/>
                                    </m:rPr>
                                    <a:rPr lang="en-US" sz="200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𝜔</m:t>
                                  </m:r>
                                </m:sup>
                              </m:sSup>
                            </m:e>
                          </m:d>
                        </m:den>
                      </m:f>
                    </m:oMath>
                  </m:oMathPara>
                </a14:m>
                <a:endParaRPr lang="en-US" sz="2000" dirty="0"/>
              </a:p>
            </p:txBody>
          </p:sp>
        </mc:Choice>
        <mc:Fallback xmlns="">
          <p:sp>
            <p:nvSpPr>
              <p:cNvPr id="14" name="文本框 13">
                <a:extLst>
                  <a:ext uri="{FF2B5EF4-FFF2-40B4-BE49-F238E27FC236}">
                    <a16:creationId xmlns:a16="http://schemas.microsoft.com/office/drawing/2014/main" id="{6A11F061-A3A1-4672-9787-893B1946C790}"/>
                  </a:ext>
                </a:extLst>
              </p:cNvPr>
              <p:cNvSpPr txBox="1">
                <a:spLocks noRot="1" noChangeAspect="1" noMove="1" noResize="1" noEditPoints="1" noAdjustHandles="1" noChangeArrowheads="1" noChangeShapeType="1" noTextEdit="1"/>
              </p:cNvSpPr>
              <p:nvPr/>
            </p:nvSpPr>
            <p:spPr>
              <a:xfrm>
                <a:off x="4211960" y="1506455"/>
                <a:ext cx="4104456" cy="97122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1128151-E480-40FF-934B-7200A0FF29D1}"/>
                  </a:ext>
                </a:extLst>
              </p:cNvPr>
              <p:cNvSpPr txBox="1"/>
              <p:nvPr/>
            </p:nvSpPr>
            <p:spPr>
              <a:xfrm>
                <a:off x="2807803" y="2861760"/>
                <a:ext cx="3528392" cy="10817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4</m:t>
                          </m:r>
                        </m:num>
                        <m:den>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r>
                        <a:rPr lang="en-US" sz="2400" b="0" i="0"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2</m:t>
                          </m:r>
                        </m:num>
                        <m:den>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4</m:t>
                              </m:r>
                            </m:den>
                          </m:f>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oMath>
                  </m:oMathPara>
                </a14:m>
                <a:endParaRPr lang="en-US" sz="2400" dirty="0"/>
              </a:p>
            </p:txBody>
          </p:sp>
        </mc:Choice>
        <mc:Fallback xmlns="">
          <p:sp>
            <p:nvSpPr>
              <p:cNvPr id="16" name="文本框 15">
                <a:extLst>
                  <a:ext uri="{FF2B5EF4-FFF2-40B4-BE49-F238E27FC236}">
                    <a16:creationId xmlns:a16="http://schemas.microsoft.com/office/drawing/2014/main" id="{E1128151-E480-40FF-934B-7200A0FF29D1}"/>
                  </a:ext>
                </a:extLst>
              </p:cNvPr>
              <p:cNvSpPr txBox="1">
                <a:spLocks noRot="1" noChangeAspect="1" noMove="1" noResize="1" noEditPoints="1" noAdjustHandles="1" noChangeArrowheads="1" noChangeShapeType="1" noTextEdit="1"/>
              </p:cNvSpPr>
              <p:nvPr/>
            </p:nvSpPr>
            <p:spPr>
              <a:xfrm>
                <a:off x="2807803" y="2861760"/>
                <a:ext cx="3528392" cy="108177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内容占位符 2">
                <a:extLst>
                  <a:ext uri="{FF2B5EF4-FFF2-40B4-BE49-F238E27FC236}">
                    <a16:creationId xmlns:a16="http://schemas.microsoft.com/office/drawing/2014/main" id="{5CC9991A-E5D3-476D-BA35-D249EF7A40C8}"/>
                  </a:ext>
                </a:extLst>
              </p:cNvPr>
              <p:cNvSpPr txBox="1">
                <a:spLocks/>
              </p:cNvSpPr>
              <p:nvPr/>
            </p:nvSpPr>
            <p:spPr bwMode="auto">
              <a:xfrm>
                <a:off x="969163" y="4327608"/>
                <a:ext cx="6624736" cy="51751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14:m>
                  <m:oMath xmlns:m="http://schemas.openxmlformats.org/officeDocument/2006/math">
                    <m:r>
                      <a:rPr lang="en-US" sz="2400" b="0" i="1" smtClean="0">
                        <a:solidFill>
                          <a:srgbClr val="000000"/>
                        </a:solidFill>
                        <a:latin typeface="Cambria Math" panose="02040503050406030204" pitchFamily="18" charset="0"/>
                      </a:rPr>
                      <m:t>h</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a14:m>
                <a:r>
                  <a:rPr lang="zh-CN" altLang="en-US" sz="2400" b="0" dirty="0"/>
                  <a:t>为</a:t>
                </a:r>
                <a14:m>
                  <m:oMath xmlns:m="http://schemas.openxmlformats.org/officeDocument/2006/math">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oMath>
                </a14:m>
                <a:r>
                  <a:rPr lang="zh-CN" altLang="en-US" sz="2400" b="0" dirty="0"/>
                  <a:t>的反变换。可由常用变换对获得：</a:t>
                </a:r>
              </a:p>
            </p:txBody>
          </p:sp>
        </mc:Choice>
        <mc:Fallback xmlns="">
          <p:sp>
            <p:nvSpPr>
              <p:cNvPr id="17" name="内容占位符 2">
                <a:extLst>
                  <a:ext uri="{FF2B5EF4-FFF2-40B4-BE49-F238E27FC236}">
                    <a16:creationId xmlns:a16="http://schemas.microsoft.com/office/drawing/2014/main" id="{5CC9991A-E5D3-476D-BA35-D249EF7A40C8}"/>
                  </a:ext>
                </a:extLst>
              </p:cNvPr>
              <p:cNvSpPr txBox="1">
                <a:spLocks noRot="1" noChangeAspect="1" noMove="1" noResize="1" noEditPoints="1" noAdjustHandles="1" noChangeArrowheads="1" noChangeShapeType="1" noTextEdit="1"/>
              </p:cNvSpPr>
              <p:nvPr/>
            </p:nvSpPr>
            <p:spPr bwMode="auto">
              <a:xfrm>
                <a:off x="969163" y="4327608"/>
                <a:ext cx="6624736" cy="517514"/>
              </a:xfrm>
              <a:prstGeom prst="rect">
                <a:avLst/>
              </a:prstGeom>
              <a:blipFill>
                <a:blip r:embed="rId4"/>
                <a:stretch>
                  <a:fillRect l="-276" b="-270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91672E7-0029-4BE8-B93E-FA1AAED9913D}"/>
                  </a:ext>
                </a:extLst>
              </p:cNvPr>
              <p:cNvSpPr txBox="1"/>
              <p:nvPr/>
            </p:nvSpPr>
            <p:spPr>
              <a:xfrm>
                <a:off x="2290114" y="5229200"/>
                <a:ext cx="4563771" cy="9650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h</m:t>
                      </m:r>
                      <m:d>
                        <m:dPr>
                          <m:begChr m:val="["/>
                          <m:endChr m:val="]"/>
                          <m:ctrlPr>
                            <a:rPr lang="en-US" sz="2400" b="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𝑛</m:t>
                          </m:r>
                        </m:e>
                      </m:d>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4</m:t>
                      </m:r>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e>
                          </m:d>
                        </m:e>
                        <m:sup>
                          <m:r>
                            <a:rPr lang="en-US" sz="2400" i="1">
                              <a:solidFill>
                                <a:srgbClr val="000000"/>
                              </a:solidFill>
                              <a:latin typeface="Cambria Math" panose="02040503050406030204" pitchFamily="18" charset="0"/>
                            </a:rPr>
                            <m:t>𝑛</m:t>
                          </m:r>
                        </m:sup>
                      </m:sSup>
                      <m:r>
                        <a:rPr lang="en-US" sz="2400" b="0" i="1" smtClean="0">
                          <a:solidFill>
                            <a:srgbClr val="000000"/>
                          </a:solidFill>
                          <a:latin typeface="Cambria Math" panose="02040503050406030204" pitchFamily="18" charset="0"/>
                        </a:rPr>
                        <m:t>𝑢</m:t>
                      </m:r>
                      <m:d>
                        <m:dPr>
                          <m:begChr m:val="["/>
                          <m:endChr m:val="]"/>
                          <m:ctrlPr>
                            <a:rPr lang="en-US" sz="2400" b="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𝑛</m:t>
                          </m:r>
                        </m:e>
                      </m:d>
                      <m:r>
                        <a:rPr lang="en-US" sz="2400" b="0" i="0"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2</m:t>
                      </m:r>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4</m:t>
                                  </m:r>
                                </m:den>
                              </m:f>
                            </m:e>
                          </m:d>
                        </m:e>
                        <m:sup>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8" name="文本框 17">
                <a:extLst>
                  <a:ext uri="{FF2B5EF4-FFF2-40B4-BE49-F238E27FC236}">
                    <a16:creationId xmlns:a16="http://schemas.microsoft.com/office/drawing/2014/main" id="{C91672E7-0029-4BE8-B93E-FA1AAED9913D}"/>
                  </a:ext>
                </a:extLst>
              </p:cNvPr>
              <p:cNvSpPr txBox="1">
                <a:spLocks noRot="1" noChangeAspect="1" noMove="1" noResize="1" noEditPoints="1" noAdjustHandles="1" noChangeArrowheads="1" noChangeShapeType="1" noTextEdit="1"/>
              </p:cNvSpPr>
              <p:nvPr/>
            </p:nvSpPr>
            <p:spPr>
              <a:xfrm>
                <a:off x="2290114" y="5229200"/>
                <a:ext cx="4563771" cy="96507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85249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1000"/>
                                        <p:tgtEl>
                                          <p:spTgt spid="18"/>
                                        </p:tgtEl>
                                      </p:cBhvr>
                                    </p:animEffect>
                                    <p:anim calcmode="lin" valueType="num">
                                      <p:cBhvr>
                                        <p:cTn id="22" dur="1000" fill="hold"/>
                                        <p:tgtEl>
                                          <p:spTgt spid="18"/>
                                        </p:tgtEl>
                                        <p:attrNameLst>
                                          <p:attrName>ppt_x</p:attrName>
                                        </p:attrNameLst>
                                      </p:cBhvr>
                                      <p:tavLst>
                                        <p:tav tm="0">
                                          <p:val>
                                            <p:strVal val="#ppt_x"/>
                                          </p:val>
                                        </p:tav>
                                        <p:tav tm="100000">
                                          <p:val>
                                            <p:strVal val="#ppt_x"/>
                                          </p:val>
                                        </p:tav>
                                      </p:tavLst>
                                    </p:anim>
                                    <p:anim calcmode="lin" valueType="num">
                                      <p:cBhvr>
                                        <p:cTn id="2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标题 1">
            <a:extLst>
              <a:ext uri="{FF2B5EF4-FFF2-40B4-BE49-F238E27FC236}">
                <a16:creationId xmlns:a16="http://schemas.microsoft.com/office/drawing/2014/main" id="{C0CD90A8-4754-43BF-8541-080B0740CC5F}"/>
              </a:ext>
            </a:extLst>
          </p:cNvPr>
          <p:cNvSpPr>
            <a:spLocks noGrp="1"/>
          </p:cNvSpPr>
          <p:nvPr>
            <p:ph type="title"/>
          </p:nvPr>
        </p:nvSpPr>
        <p:spPr/>
        <p:txBody>
          <a:bodyPr/>
          <a:lstStyle/>
          <a:p>
            <a:r>
              <a:rPr lang="en-US" altLang="zh-CN" sz="3600" dirty="0"/>
              <a:t>5.8 </a:t>
            </a:r>
            <a:r>
              <a:rPr lang="zh-CN" altLang="en-US" sz="3600" dirty="0"/>
              <a:t>由线性常系数差分方程表征的系统</a:t>
            </a:r>
          </a:p>
        </p:txBody>
      </p:sp>
      <p:sp>
        <p:nvSpPr>
          <p:cNvPr id="3" name="内容占位符 2">
            <a:extLst>
              <a:ext uri="{FF2B5EF4-FFF2-40B4-BE49-F238E27FC236}">
                <a16:creationId xmlns:a16="http://schemas.microsoft.com/office/drawing/2014/main" id="{FA739D2B-FB25-43B8-84BA-DA6A457FDD36}"/>
              </a:ext>
            </a:extLst>
          </p:cNvPr>
          <p:cNvSpPr>
            <a:spLocks noGrp="1"/>
          </p:cNvSpPr>
          <p:nvPr>
            <p:ph idx="1"/>
          </p:nvPr>
        </p:nvSpPr>
        <p:spPr>
          <a:xfrm>
            <a:off x="457200" y="1268760"/>
            <a:ext cx="8229600" cy="507447"/>
          </a:xfrm>
        </p:spPr>
        <p:txBody>
          <a:bodyPr>
            <a:spAutoFit/>
          </a:bodyPr>
          <a:lstStyle/>
          <a:p>
            <a:pPr marL="0" indent="0">
              <a:lnSpc>
                <a:spcPct val="120000"/>
              </a:lnSpc>
              <a:spcBef>
                <a:spcPts val="0"/>
              </a:spcBef>
              <a:buNone/>
            </a:pPr>
            <a:r>
              <a:rPr lang="zh-CN" altLang="en-US" sz="2400" b="0" dirty="0">
                <a:solidFill>
                  <a:srgbClr val="0000FF"/>
                </a:solidFill>
              </a:rPr>
              <a:t>练习</a:t>
            </a:r>
            <a:r>
              <a:rPr lang="zh-CN" altLang="en-US" sz="2400" b="0" dirty="0"/>
              <a:t>：考虑一个因果线性时不变系统，其差分方程为</a:t>
            </a:r>
          </a:p>
        </p:txBody>
      </p:sp>
      <p:sp>
        <p:nvSpPr>
          <p:cNvPr id="4" name="灯片编号占位符 3">
            <a:extLst>
              <a:ext uri="{FF2B5EF4-FFF2-40B4-BE49-F238E27FC236}">
                <a16:creationId xmlns:a16="http://schemas.microsoft.com/office/drawing/2014/main" id="{78D313DC-4223-423F-9323-06BC2CD336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7D435C-EEB2-4494-BC55-97F08FB1AB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3C5C28C-5E91-4716-9A09-E33B19A63178}"/>
                  </a:ext>
                </a:extLst>
              </p:cNvPr>
              <p:cNvSpPr txBox="1"/>
              <p:nvPr/>
            </p:nvSpPr>
            <p:spPr>
              <a:xfrm>
                <a:off x="2848372" y="1806507"/>
                <a:ext cx="3447256" cy="786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𝑛</m:t>
                          </m:r>
                        </m:e>
                      </m:d>
                      <m:r>
                        <a:rPr lang="en-US" sz="2400" b="0" i="1" smtClean="0">
                          <a:solidFill>
                            <a:srgbClr val="000000"/>
                          </a:solidFill>
                          <a:latin typeface="Cambria Math" panose="02040503050406030204" pitchFamily="18" charset="0"/>
                        </a:rPr>
                        <m:t>+</m:t>
                      </m:r>
                      <m:f>
                        <m:fPr>
                          <m:ctrlPr>
                            <a:rPr lang="en-US" sz="240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2</m:t>
                          </m:r>
                        </m:den>
                      </m:f>
                      <m:r>
                        <a:rPr lang="en-US" sz="2400" i="1" smtClean="0">
                          <a:solidFill>
                            <a:srgbClr val="000000"/>
                          </a:solidFill>
                          <a:latin typeface="Cambria Math" panose="02040503050406030204" pitchFamily="18" charset="0"/>
                        </a:rPr>
                        <m:t>𝑦</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−1</m:t>
                          </m:r>
                        </m:e>
                      </m:d>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m:oMathPara>
                </a14:m>
                <a:endParaRPr lang="en-US" sz="2400" dirty="0"/>
              </a:p>
            </p:txBody>
          </p:sp>
        </mc:Choice>
        <mc:Fallback xmlns="">
          <p:sp>
            <p:nvSpPr>
              <p:cNvPr id="11" name="文本框 10">
                <a:extLst>
                  <a:ext uri="{FF2B5EF4-FFF2-40B4-BE49-F238E27FC236}">
                    <a16:creationId xmlns:a16="http://schemas.microsoft.com/office/drawing/2014/main" id="{C3C5C28C-5E91-4716-9A09-E33B19A63178}"/>
                  </a:ext>
                </a:extLst>
              </p:cNvPr>
              <p:cNvSpPr txBox="1">
                <a:spLocks noRot="1" noChangeAspect="1" noMove="1" noResize="1" noEditPoints="1" noAdjustHandles="1" noChangeArrowheads="1" noChangeShapeType="1" noTextEdit="1"/>
              </p:cNvSpPr>
              <p:nvPr/>
            </p:nvSpPr>
            <p:spPr>
              <a:xfrm>
                <a:off x="2848372" y="1806507"/>
                <a:ext cx="3447256" cy="78617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A64B485F-907E-4B1A-8CE9-AD2F3DB46950}"/>
                  </a:ext>
                </a:extLst>
              </p:cNvPr>
              <p:cNvSpPr txBox="1">
                <a:spLocks/>
              </p:cNvSpPr>
              <p:nvPr/>
            </p:nvSpPr>
            <p:spPr bwMode="auto">
              <a:xfrm>
                <a:off x="1403648" y="2622984"/>
                <a:ext cx="7200800" cy="16796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en-US" altLang="zh-CN" sz="2400" b="0" dirty="0"/>
                  <a:t>(a) </a:t>
                </a:r>
                <a:r>
                  <a:rPr lang="zh-CN" altLang="en-US" sz="2400" b="0" dirty="0"/>
                  <a:t>求该系统的频率响应</a:t>
                </a:r>
                <a14:m>
                  <m:oMath xmlns:m="http://schemas.openxmlformats.org/officeDocument/2006/math">
                    <m:r>
                      <a:rPr lang="en-US" sz="2400" i="1" smtClean="0">
                        <a:solidFill>
                          <a:srgbClr val="000000"/>
                        </a:solidFill>
                        <a:latin typeface="Cambria Math" panose="02040503050406030204" pitchFamily="18" charset="0"/>
                      </a:rPr>
                      <m:t>𝐻</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oMath>
                </a14:m>
                <a:r>
                  <a:rPr lang="zh-CN" altLang="en-US" sz="2400" b="0" dirty="0"/>
                  <a:t>。</a:t>
                </a:r>
                <a:endParaRPr lang="en-US" altLang="zh-CN" sz="2400" b="0" dirty="0"/>
              </a:p>
              <a:p>
                <a:pPr marL="0" indent="0">
                  <a:lnSpc>
                    <a:spcPct val="120000"/>
                  </a:lnSpc>
                  <a:spcBef>
                    <a:spcPts val="0"/>
                  </a:spcBef>
                  <a:buNone/>
                </a:pPr>
                <a:r>
                  <a:rPr lang="en-US" altLang="zh-CN" sz="2400" b="0" dirty="0"/>
                  <a:t>(b) </a:t>
                </a:r>
                <a:r>
                  <a:rPr lang="zh-CN" altLang="en-US" sz="2400" b="0" dirty="0"/>
                  <a:t>当输入为</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e>
                        </m:d>
                      </m:e>
                      <m:sup>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a14:m>
                <a:r>
                  <a:rPr lang="zh-CN" altLang="en-US" sz="2400" b="0" dirty="0"/>
                  <a:t>时，求系统响应</a:t>
                </a:r>
                <a14:m>
                  <m:oMath xmlns:m="http://schemas.openxmlformats.org/officeDocument/2006/math">
                    <m:r>
                      <a:rPr lang="en-US" sz="2400" i="1">
                        <a:solidFill>
                          <a:srgbClr val="000000"/>
                        </a:solidFill>
                        <a:latin typeface="Cambria Math" panose="02040503050406030204" pitchFamily="18" charset="0"/>
                      </a:rPr>
                      <m:t>𝑦</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oMath>
                </a14:m>
                <a:r>
                  <a:rPr lang="zh-CN" altLang="en-US" sz="2400" b="0" dirty="0"/>
                  <a:t>。</a:t>
                </a:r>
                <a:endParaRPr lang="en-US" altLang="zh-CN" sz="2400" b="0" dirty="0"/>
              </a:p>
              <a:p>
                <a:pPr marL="0" indent="0">
                  <a:lnSpc>
                    <a:spcPct val="120000"/>
                  </a:lnSpc>
                  <a:spcBef>
                    <a:spcPts val="0"/>
                  </a:spcBef>
                  <a:buNone/>
                </a:pPr>
                <a:r>
                  <a:rPr lang="zh-CN" altLang="en-US" sz="2400" b="0" dirty="0"/>
                  <a:t>（教材习题</a:t>
                </a:r>
                <a:r>
                  <a:rPr lang="en-US" altLang="zh-CN" sz="2400" b="0" dirty="0"/>
                  <a:t>5.33(a, </a:t>
                </a:r>
                <a:r>
                  <a:rPr lang="en-US" altLang="zh-CN" sz="2400" b="0" dirty="0" err="1"/>
                  <a:t>b.i</a:t>
                </a:r>
                <a:r>
                  <a:rPr lang="en-US" altLang="zh-CN" sz="2400" b="0" dirty="0"/>
                  <a:t>)</a:t>
                </a:r>
                <a:r>
                  <a:rPr lang="zh-CN" altLang="en-US" sz="2400" b="0" dirty="0"/>
                  <a:t>）</a:t>
                </a:r>
              </a:p>
            </p:txBody>
          </p:sp>
        </mc:Choice>
        <mc:Fallback xmlns="">
          <p:sp>
            <p:nvSpPr>
              <p:cNvPr id="12" name="内容占位符 2">
                <a:extLst>
                  <a:ext uri="{FF2B5EF4-FFF2-40B4-BE49-F238E27FC236}">
                    <a16:creationId xmlns:a16="http://schemas.microsoft.com/office/drawing/2014/main" id="{A64B485F-907E-4B1A-8CE9-AD2F3DB46950}"/>
                  </a:ext>
                </a:extLst>
              </p:cNvPr>
              <p:cNvSpPr txBox="1">
                <a:spLocks noRot="1" noChangeAspect="1" noMove="1" noResize="1" noEditPoints="1" noAdjustHandles="1" noChangeArrowheads="1" noChangeShapeType="1" noTextEdit="1"/>
              </p:cNvSpPr>
              <p:nvPr/>
            </p:nvSpPr>
            <p:spPr bwMode="auto">
              <a:xfrm>
                <a:off x="1403648" y="2622984"/>
                <a:ext cx="7200800" cy="1679691"/>
              </a:xfrm>
              <a:prstGeom prst="rect">
                <a:avLst/>
              </a:prstGeom>
              <a:blipFill>
                <a:blip r:embed="rId3"/>
                <a:stretch>
                  <a:fillRect l="-1270" b="-72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 name="内容占位符 2">
            <a:extLst>
              <a:ext uri="{FF2B5EF4-FFF2-40B4-BE49-F238E27FC236}">
                <a16:creationId xmlns:a16="http://schemas.microsoft.com/office/drawing/2014/main" id="{AD70370A-ED20-499F-A476-5CC4F09BDD22}"/>
              </a:ext>
            </a:extLst>
          </p:cNvPr>
          <p:cNvSpPr txBox="1">
            <a:spLocks/>
          </p:cNvSpPr>
          <p:nvPr/>
        </p:nvSpPr>
        <p:spPr bwMode="auto">
          <a:xfrm>
            <a:off x="457200" y="4322395"/>
            <a:ext cx="5454534" cy="950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2400" b="0" dirty="0">
                <a:solidFill>
                  <a:srgbClr val="0000FF"/>
                </a:solidFill>
              </a:rPr>
              <a:t>解</a:t>
            </a:r>
            <a:r>
              <a:rPr lang="zh-CN" altLang="en-US" sz="2400" b="0" dirty="0"/>
              <a:t>：</a:t>
            </a:r>
            <a:endParaRPr lang="en-US" altLang="zh-CN" sz="2400" b="0" dirty="0"/>
          </a:p>
          <a:p>
            <a:pPr marL="0" indent="0">
              <a:lnSpc>
                <a:spcPct val="120000"/>
              </a:lnSpc>
              <a:spcBef>
                <a:spcPts val="0"/>
              </a:spcBef>
              <a:buNone/>
            </a:pPr>
            <a:r>
              <a:rPr lang="en-US" altLang="zh-CN" sz="2400" b="0" dirty="0"/>
              <a:t>(a) </a:t>
            </a:r>
            <a:r>
              <a:rPr lang="zh-CN" altLang="en-US" sz="2400" b="0" dirty="0"/>
              <a:t>该系统的频率响应为</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A11F061-A3A1-4672-9787-893B1946C790}"/>
                  </a:ext>
                </a:extLst>
              </p:cNvPr>
              <p:cNvSpPr txBox="1"/>
              <p:nvPr/>
            </p:nvSpPr>
            <p:spPr>
              <a:xfrm>
                <a:off x="2501770" y="5303341"/>
                <a:ext cx="4140460" cy="11499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𝐻</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𝑌</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num>
                        <m:den>
                          <m:r>
                            <a:rPr lang="en-US" sz="2400" i="1">
                              <a:solidFill>
                                <a:srgbClr val="000000"/>
                              </a:solidFill>
                              <a:latin typeface="Cambria Math" panose="02040503050406030204" pitchFamily="18" charset="0"/>
                            </a:rPr>
                            <m:t>𝑋</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oMath>
                  </m:oMathPara>
                </a14:m>
                <a:endParaRPr lang="en-US" sz="2400" dirty="0"/>
              </a:p>
            </p:txBody>
          </p:sp>
        </mc:Choice>
        <mc:Fallback xmlns="">
          <p:sp>
            <p:nvSpPr>
              <p:cNvPr id="14" name="文本框 13">
                <a:extLst>
                  <a:ext uri="{FF2B5EF4-FFF2-40B4-BE49-F238E27FC236}">
                    <a16:creationId xmlns:a16="http://schemas.microsoft.com/office/drawing/2014/main" id="{6A11F061-A3A1-4672-9787-893B1946C790}"/>
                  </a:ext>
                </a:extLst>
              </p:cNvPr>
              <p:cNvSpPr txBox="1">
                <a:spLocks noRot="1" noChangeAspect="1" noMove="1" noResize="1" noEditPoints="1" noAdjustHandles="1" noChangeArrowheads="1" noChangeShapeType="1" noTextEdit="1"/>
              </p:cNvSpPr>
              <p:nvPr/>
            </p:nvSpPr>
            <p:spPr>
              <a:xfrm>
                <a:off x="2501770" y="5303341"/>
                <a:ext cx="4140460" cy="114999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1825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8D313DC-4223-423F-9323-06BC2CD336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7D435C-EEB2-4494-BC55-97F08FB1AB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3" name="内容占位符 2">
            <a:extLst>
              <a:ext uri="{FF2B5EF4-FFF2-40B4-BE49-F238E27FC236}">
                <a16:creationId xmlns:a16="http://schemas.microsoft.com/office/drawing/2014/main" id="{AD70370A-ED20-499F-A476-5CC4F09BDD22}"/>
              </a:ext>
            </a:extLst>
          </p:cNvPr>
          <p:cNvSpPr txBox="1">
            <a:spLocks/>
          </p:cNvSpPr>
          <p:nvPr/>
        </p:nvSpPr>
        <p:spPr bwMode="auto">
          <a:xfrm>
            <a:off x="215516" y="192430"/>
            <a:ext cx="648072" cy="50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en-US" altLang="zh-CN" sz="2400" b="0" dirty="0"/>
              <a:t>(b)</a:t>
            </a:r>
            <a:endParaRPr lang="zh-CN" altLang="en-US" sz="2400" b="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A18F222-6EA0-4E16-AC6F-9A6A13B1FDAB}"/>
                  </a:ext>
                </a:extLst>
              </p:cNvPr>
              <p:cNvSpPr txBox="1"/>
              <p:nvPr/>
            </p:nvSpPr>
            <p:spPr>
              <a:xfrm>
                <a:off x="2924943" y="476672"/>
                <a:ext cx="3294112"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𝑌</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r>
                        <a:rPr lang="en-US" sz="2400" i="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r>
                        <a:rPr lang="en-US" sz="2400" i="1">
                          <a:solidFill>
                            <a:srgbClr val="000000"/>
                          </a:solidFill>
                          <a:latin typeface="Cambria Math" panose="02040503050406030204" pitchFamily="18" charset="0"/>
                        </a:rPr>
                        <m:t>𝐻</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oMath>
                  </m:oMathPara>
                </a14:m>
                <a:endParaRPr lang="en-US" sz="2400" dirty="0"/>
              </a:p>
            </p:txBody>
          </p:sp>
        </mc:Choice>
        <mc:Fallback xmlns="">
          <p:sp>
            <p:nvSpPr>
              <p:cNvPr id="16" name="文本框 15">
                <a:extLst>
                  <a:ext uri="{FF2B5EF4-FFF2-40B4-BE49-F238E27FC236}">
                    <a16:creationId xmlns:a16="http://schemas.microsoft.com/office/drawing/2014/main" id="{7A18F222-6EA0-4E16-AC6F-9A6A13B1FDAB}"/>
                  </a:ext>
                </a:extLst>
              </p:cNvPr>
              <p:cNvSpPr txBox="1">
                <a:spLocks noRot="1" noChangeAspect="1" noMove="1" noResize="1" noEditPoints="1" noAdjustHandles="1" noChangeArrowheads="1" noChangeShapeType="1" noTextEdit="1"/>
              </p:cNvSpPr>
              <p:nvPr/>
            </p:nvSpPr>
            <p:spPr>
              <a:xfrm>
                <a:off x="2924943" y="476672"/>
                <a:ext cx="3294112" cy="50917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3E025625-5DA8-4377-A402-A0032F6045D4}"/>
                  </a:ext>
                </a:extLst>
              </p:cNvPr>
              <p:cNvSpPr txBox="1"/>
              <p:nvPr/>
            </p:nvSpPr>
            <p:spPr>
              <a:xfrm>
                <a:off x="1616074" y="1095249"/>
                <a:ext cx="5911849" cy="11644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e>
                          </m:d>
                        </m:e>
                        <m:sup>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groupChr>
                        <m:groupChrPr>
                          <m:chr m:val="↔"/>
                          <m:vertJc m:val="bot"/>
                          <m:ctrlPr>
                            <a:rPr lang="en-US" sz="2400" i="1">
                              <a:solidFill>
                                <a:srgbClr val="000000"/>
                              </a:solidFill>
                              <a:latin typeface="Cambria Math" panose="02040503050406030204" pitchFamily="18" charset="0"/>
                            </a:rPr>
                          </m:ctrlPr>
                        </m:groupChrPr>
                        <m:e>
                          <m:r>
                            <a:rPr lang="en-US" sz="2400" i="1">
                              <a:solidFill>
                                <a:srgbClr val="000000"/>
                              </a:solidFill>
                              <a:latin typeface="Cambria Math" panose="02040503050406030204" pitchFamily="18" charset="0"/>
                            </a:rPr>
                            <m:t> </m:t>
                          </m:r>
                          <m:r>
                            <m:rPr>
                              <m:sty m:val="p"/>
                            </m:rPr>
                            <a:rPr lang="en-US" sz="2400" i="0">
                              <a:solidFill>
                                <a:srgbClr val="000000"/>
                              </a:solidFill>
                              <a:latin typeface="Cambria Math" panose="02040503050406030204" pitchFamily="18" charset="0"/>
                            </a:rPr>
                            <m:t>FT</m:t>
                          </m:r>
                          <m:r>
                            <a:rPr lang="en-US" sz="2400" i="1">
                              <a:solidFill>
                                <a:srgbClr val="000000"/>
                              </a:solidFill>
                              <a:latin typeface="Cambria Math" panose="02040503050406030204" pitchFamily="18" charset="0"/>
                            </a:rPr>
                            <m:t> </m:t>
                          </m:r>
                        </m:e>
                      </m:groupChr>
                      <m:r>
                        <a:rPr lang="en-US" sz="2400" i="1">
                          <a:solidFill>
                            <a:srgbClr val="000000"/>
                          </a:solidFill>
                          <a:latin typeface="Cambria Math" panose="02040503050406030204" pitchFamily="18" charset="0"/>
                        </a:rPr>
                        <m:t>𝑋</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oMath>
                  </m:oMathPara>
                </a14:m>
                <a:endParaRPr lang="en-US" sz="2400" dirty="0"/>
              </a:p>
            </p:txBody>
          </p:sp>
        </mc:Choice>
        <mc:Fallback xmlns="">
          <p:sp>
            <p:nvSpPr>
              <p:cNvPr id="17" name="文本框 16">
                <a:extLst>
                  <a:ext uri="{FF2B5EF4-FFF2-40B4-BE49-F238E27FC236}">
                    <a16:creationId xmlns:a16="http://schemas.microsoft.com/office/drawing/2014/main" id="{3E025625-5DA8-4377-A402-A0032F6045D4}"/>
                  </a:ext>
                </a:extLst>
              </p:cNvPr>
              <p:cNvSpPr txBox="1">
                <a:spLocks noRot="1" noChangeAspect="1" noMove="1" noResize="1" noEditPoints="1" noAdjustHandles="1" noChangeArrowheads="1" noChangeShapeType="1" noTextEdit="1"/>
              </p:cNvSpPr>
              <p:nvPr/>
            </p:nvSpPr>
            <p:spPr>
              <a:xfrm>
                <a:off x="1616074" y="1095249"/>
                <a:ext cx="5911849" cy="1164421"/>
              </a:xfrm>
              <a:prstGeom prst="rect">
                <a:avLst/>
              </a:prstGeom>
              <a:blipFill>
                <a:blip r:embed="rId3"/>
                <a:stretch>
                  <a:fillRect/>
                </a:stretch>
              </a:blipFill>
            </p:spPr>
            <p:txBody>
              <a:bodyPr/>
              <a:lstStyle/>
              <a:p>
                <a:r>
                  <a:rPr lang="en-US">
                    <a:noFill/>
                  </a:rPr>
                  <a:t> </a:t>
                </a:r>
              </a:p>
            </p:txBody>
          </p:sp>
        </mc:Fallback>
      </mc:AlternateContent>
      <p:sp>
        <p:nvSpPr>
          <p:cNvPr id="18" name="内容占位符 2">
            <a:extLst>
              <a:ext uri="{FF2B5EF4-FFF2-40B4-BE49-F238E27FC236}">
                <a16:creationId xmlns:a16="http://schemas.microsoft.com/office/drawing/2014/main" id="{4B42B54A-7011-4365-8C07-417C0D6B4DD7}"/>
              </a:ext>
            </a:extLst>
          </p:cNvPr>
          <p:cNvSpPr txBox="1">
            <a:spLocks/>
          </p:cNvSpPr>
          <p:nvPr/>
        </p:nvSpPr>
        <p:spPr bwMode="auto">
          <a:xfrm>
            <a:off x="361328" y="1331071"/>
            <a:ext cx="648072" cy="50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2400" b="0" dirty="0"/>
              <a:t>而</a:t>
            </a:r>
          </a:p>
        </p:txBody>
      </p:sp>
      <p:sp>
        <p:nvSpPr>
          <p:cNvPr id="21" name="内容占位符 2">
            <a:extLst>
              <a:ext uri="{FF2B5EF4-FFF2-40B4-BE49-F238E27FC236}">
                <a16:creationId xmlns:a16="http://schemas.microsoft.com/office/drawing/2014/main" id="{D17536E4-EEDF-41B2-A1D3-883AA52C6206}"/>
              </a:ext>
            </a:extLst>
          </p:cNvPr>
          <p:cNvSpPr txBox="1">
            <a:spLocks/>
          </p:cNvSpPr>
          <p:nvPr/>
        </p:nvSpPr>
        <p:spPr bwMode="auto">
          <a:xfrm>
            <a:off x="361328" y="2005946"/>
            <a:ext cx="936104" cy="50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2400" b="0" dirty="0"/>
              <a:t>因此</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E9C5C651-59AC-4EA1-883C-575976167152}"/>
                  </a:ext>
                </a:extLst>
              </p:cNvPr>
              <p:cNvSpPr txBox="1"/>
              <p:nvPr/>
            </p:nvSpPr>
            <p:spPr>
              <a:xfrm>
                <a:off x="685364" y="2375787"/>
                <a:ext cx="7773267" cy="10892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𝑌</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1/2</m:t>
                          </m:r>
                        </m:num>
                        <m:den>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1/2</m:t>
                          </m:r>
                        </m:num>
                        <m:den>
                          <m:r>
                            <a:rPr lang="en-US" sz="2400" i="1">
                              <a:solidFill>
                                <a:srgbClr val="000000"/>
                              </a:solidFill>
                              <a:latin typeface="Cambria Math" panose="02040503050406030204" pitchFamily="18" charset="0"/>
                            </a:rPr>
                            <m:t>1+</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den>
                      </m:f>
                    </m:oMath>
                  </m:oMathPara>
                </a14:m>
                <a:endParaRPr lang="en-US" sz="2400" dirty="0"/>
              </a:p>
            </p:txBody>
          </p:sp>
        </mc:Choice>
        <mc:Fallback xmlns="">
          <p:sp>
            <p:nvSpPr>
              <p:cNvPr id="23" name="文本框 22">
                <a:extLst>
                  <a:ext uri="{FF2B5EF4-FFF2-40B4-BE49-F238E27FC236}">
                    <a16:creationId xmlns:a16="http://schemas.microsoft.com/office/drawing/2014/main" id="{E9C5C651-59AC-4EA1-883C-575976167152}"/>
                  </a:ext>
                </a:extLst>
              </p:cNvPr>
              <p:cNvSpPr txBox="1">
                <a:spLocks noRot="1" noChangeAspect="1" noMove="1" noResize="1" noEditPoints="1" noAdjustHandles="1" noChangeArrowheads="1" noChangeShapeType="1" noTextEdit="1"/>
              </p:cNvSpPr>
              <p:nvPr/>
            </p:nvSpPr>
            <p:spPr>
              <a:xfrm>
                <a:off x="685364" y="2375787"/>
                <a:ext cx="7773267" cy="108927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内容占位符 2">
                <a:extLst>
                  <a:ext uri="{FF2B5EF4-FFF2-40B4-BE49-F238E27FC236}">
                    <a16:creationId xmlns:a16="http://schemas.microsoft.com/office/drawing/2014/main" id="{E6786E21-BF2B-46DE-9982-495997536808}"/>
                  </a:ext>
                </a:extLst>
              </p:cNvPr>
              <p:cNvSpPr txBox="1">
                <a:spLocks/>
              </p:cNvSpPr>
              <p:nvPr/>
            </p:nvSpPr>
            <p:spPr bwMode="auto">
              <a:xfrm>
                <a:off x="361329" y="3567741"/>
                <a:ext cx="4786736" cy="56547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2400" b="0" dirty="0"/>
                  <a:t>系统响应为</a:t>
                </a:r>
                <a14:m>
                  <m:oMath xmlns:m="http://schemas.openxmlformats.org/officeDocument/2006/math">
                    <m:r>
                      <a:rPr lang="en-US" sz="2400" i="1" smtClean="0">
                        <a:solidFill>
                          <a:srgbClr val="000000"/>
                        </a:solidFill>
                        <a:latin typeface="Cambria Math" panose="02040503050406030204" pitchFamily="18" charset="0"/>
                      </a:rPr>
                      <m:t>𝑌</m:t>
                    </m:r>
                    <m:d>
                      <m:dPr>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e>
                    </m:d>
                  </m:oMath>
                </a14:m>
                <a:r>
                  <a:rPr lang="zh-CN" altLang="en-US" sz="2400" b="0" dirty="0"/>
                  <a:t>的逆变换，即</a:t>
                </a:r>
              </a:p>
            </p:txBody>
          </p:sp>
        </mc:Choice>
        <mc:Fallback xmlns="">
          <p:sp>
            <p:nvSpPr>
              <p:cNvPr id="24" name="内容占位符 2">
                <a:extLst>
                  <a:ext uri="{FF2B5EF4-FFF2-40B4-BE49-F238E27FC236}">
                    <a16:creationId xmlns:a16="http://schemas.microsoft.com/office/drawing/2014/main" id="{E6786E21-BF2B-46DE-9982-495997536808}"/>
                  </a:ext>
                </a:extLst>
              </p:cNvPr>
              <p:cNvSpPr txBox="1">
                <a:spLocks noRot="1" noChangeAspect="1" noMove="1" noResize="1" noEditPoints="1" noAdjustHandles="1" noChangeArrowheads="1" noChangeShapeType="1" noTextEdit="1"/>
              </p:cNvSpPr>
              <p:nvPr/>
            </p:nvSpPr>
            <p:spPr bwMode="auto">
              <a:xfrm>
                <a:off x="361329" y="3567741"/>
                <a:ext cx="4786736" cy="565476"/>
              </a:xfrm>
              <a:prstGeom prst="rect">
                <a:avLst/>
              </a:prstGeom>
              <a:blipFill>
                <a:blip r:embed="rId5"/>
                <a:stretch>
                  <a:fillRect l="-1911" b="-215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D4F21938-1572-4D85-8B80-8C95EF5C8AA4}"/>
                  </a:ext>
                </a:extLst>
              </p:cNvPr>
              <p:cNvSpPr txBox="1"/>
              <p:nvPr/>
            </p:nvSpPr>
            <p:spPr>
              <a:xfrm>
                <a:off x="2123724" y="4242616"/>
                <a:ext cx="4896545" cy="9650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e>
                          </m:d>
                        </m:e>
                        <m:sup>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e>
                          </m:d>
                        </m:e>
                        <m:sup>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6" name="文本框 25">
                <a:extLst>
                  <a:ext uri="{FF2B5EF4-FFF2-40B4-BE49-F238E27FC236}">
                    <a16:creationId xmlns:a16="http://schemas.microsoft.com/office/drawing/2014/main" id="{D4F21938-1572-4D85-8B80-8C95EF5C8AA4}"/>
                  </a:ext>
                </a:extLst>
              </p:cNvPr>
              <p:cNvSpPr txBox="1">
                <a:spLocks noRot="1" noChangeAspect="1" noMove="1" noResize="1" noEditPoints="1" noAdjustHandles="1" noChangeArrowheads="1" noChangeShapeType="1" noTextEdit="1"/>
              </p:cNvSpPr>
              <p:nvPr/>
            </p:nvSpPr>
            <p:spPr>
              <a:xfrm>
                <a:off x="2123724" y="4242616"/>
                <a:ext cx="4896545" cy="96507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A531702-FFAA-4CEE-A3D2-9F87B79D0BEE}"/>
                  </a:ext>
                </a:extLst>
              </p:cNvPr>
              <p:cNvSpPr txBox="1"/>
              <p:nvPr/>
            </p:nvSpPr>
            <p:spPr>
              <a:xfrm>
                <a:off x="2768354" y="5317087"/>
                <a:ext cx="4079043" cy="10583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e>
                              </m:d>
                            </m:e>
                            <m:sup>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e>
                              </m:d>
                            </m:e>
                            <m:sup>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sup>
                          </m:sSup>
                        </m:e>
                      </m:d>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8" name="文本框 27">
                <a:extLst>
                  <a:ext uri="{FF2B5EF4-FFF2-40B4-BE49-F238E27FC236}">
                    <a16:creationId xmlns:a16="http://schemas.microsoft.com/office/drawing/2014/main" id="{DA531702-FFAA-4CEE-A3D2-9F87B79D0BEE}"/>
                  </a:ext>
                </a:extLst>
              </p:cNvPr>
              <p:cNvSpPr txBox="1">
                <a:spLocks noRot="1" noChangeAspect="1" noMove="1" noResize="1" noEditPoints="1" noAdjustHandles="1" noChangeArrowheads="1" noChangeShapeType="1" noTextEdit="1"/>
              </p:cNvSpPr>
              <p:nvPr/>
            </p:nvSpPr>
            <p:spPr>
              <a:xfrm>
                <a:off x="2768354" y="5317087"/>
                <a:ext cx="4079043" cy="1058367"/>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857596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608885"/>
          </a:xfrm>
        </p:spPr>
        <p:txBody>
          <a:bodyPr>
            <a:spAutoFit/>
          </a:bodyPr>
          <a:lstStyle/>
          <a:p>
            <a:pPr algn="just">
              <a:lnSpc>
                <a:spcPct val="130000"/>
              </a:lnSpc>
              <a:spcBef>
                <a:spcPts val="0"/>
              </a:spcBef>
              <a:spcAft>
                <a:spcPts val="600"/>
              </a:spcAft>
            </a:pPr>
            <a:r>
              <a:rPr lang="en-US" altLang="zh-CN" sz="2800" b="0" dirty="0"/>
              <a:t>5.21(k)</a:t>
            </a:r>
            <a:r>
              <a:rPr lang="zh-CN" altLang="en-US" sz="2800" b="0" dirty="0"/>
              <a:t>、</a:t>
            </a:r>
            <a:r>
              <a:rPr lang="en-US" altLang="zh-CN" sz="2800" b="0" dirty="0"/>
              <a:t>5.33(</a:t>
            </a:r>
            <a:r>
              <a:rPr lang="en-US" altLang="zh-CN" sz="2800" b="0" dirty="0" err="1"/>
              <a:t>b.iv</a:t>
            </a:r>
            <a:r>
              <a:rPr lang="en-US" altLang="zh-CN" sz="2800" b="0" dirty="0"/>
              <a:t>, </a:t>
            </a:r>
            <a:r>
              <a:rPr lang="en-US" altLang="zh-CN" sz="2800" b="0" dirty="0" err="1"/>
              <a:t>c.i</a:t>
            </a:r>
            <a:r>
              <a:rPr lang="en-US" altLang="zh-CN" sz="2800" b="0" dirty="0"/>
              <a:t>)</a:t>
            </a:r>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1616040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332BA180-9E4B-422D-84D8-8C9910C15162}"/>
              </a:ext>
            </a:extLst>
          </p:cNvPr>
          <p:cNvSpPr>
            <a:spLocks noGrp="1"/>
          </p:cNvSpPr>
          <p:nvPr>
            <p:ph type="title"/>
          </p:nvPr>
        </p:nvSpPr>
        <p:spPr/>
        <p:txBody>
          <a:bodyPr/>
          <a:lstStyle/>
          <a:p>
            <a:r>
              <a:rPr lang="zh-CN" altLang="en-US"/>
              <a:t>本章小结</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7F8FA84-F683-46B1-8432-ED439E3551BA}"/>
                  </a:ext>
                </a:extLst>
              </p:cNvPr>
              <p:cNvSpPr>
                <a:spLocks noGrp="1"/>
              </p:cNvSpPr>
              <p:nvPr>
                <p:ph idx="1"/>
              </p:nvPr>
            </p:nvSpPr>
            <p:spPr>
              <a:xfrm>
                <a:off x="457200" y="1285875"/>
                <a:ext cx="8229600" cy="5216428"/>
              </a:xfrm>
            </p:spPr>
            <p:txBody>
              <a:bodyPr>
                <a:spAutoFit/>
              </a:bodyPr>
              <a:lstStyle/>
              <a:p>
                <a:pPr>
                  <a:lnSpc>
                    <a:spcPct val="140000"/>
                  </a:lnSpc>
                  <a:spcBef>
                    <a:spcPts val="0"/>
                  </a:spcBef>
                </a:pPr>
                <a:r>
                  <a:rPr lang="zh-CN" altLang="en-US" sz="2400" b="0" dirty="0"/>
                  <a:t>本章</a:t>
                </a:r>
                <a:r>
                  <a:rPr lang="zh-CN" altLang="en-US" sz="2400" b="0" dirty="0">
                    <a:solidFill>
                      <a:srgbClr val="FF0000"/>
                    </a:solidFill>
                  </a:rPr>
                  <a:t>与第</a:t>
                </a:r>
                <a:r>
                  <a:rPr lang="en-US" altLang="zh-CN" sz="2400" b="0" dirty="0">
                    <a:solidFill>
                      <a:srgbClr val="FF0000"/>
                    </a:solidFill>
                  </a:rPr>
                  <a:t>4</a:t>
                </a:r>
                <a:r>
                  <a:rPr lang="zh-CN" altLang="en-US" sz="2400" b="0" dirty="0">
                    <a:solidFill>
                      <a:srgbClr val="FF0000"/>
                    </a:solidFill>
                  </a:rPr>
                  <a:t>章基本平行</a:t>
                </a:r>
                <a:r>
                  <a:rPr lang="zh-CN" altLang="en-US" sz="2400" b="0" dirty="0"/>
                  <a:t>地讨论了离散时间傅里叶变换，得到许多相似结论，也发现一些重要区别，主要是离散时间傅里叶变换频谱</a:t>
                </a:r>
                <a:r>
                  <a:rPr lang="zh-CN" altLang="en-US" sz="2400" b="0" dirty="0">
                    <a:solidFill>
                      <a:srgbClr val="FF0000"/>
                    </a:solidFill>
                  </a:rPr>
                  <a:t>以</a:t>
                </a:r>
                <a14:m>
                  <m:oMath xmlns:m="http://schemas.openxmlformats.org/officeDocument/2006/math">
                    <m:r>
                      <a:rPr lang="en-US" altLang="zh-CN" sz="2400" b="0" i="1" smtClean="0">
                        <a:solidFill>
                          <a:srgbClr val="FF0000"/>
                        </a:solidFill>
                        <a:latin typeface="Cambria Math" panose="02040503050406030204" pitchFamily="18" charset="0"/>
                      </a:rPr>
                      <m:t>2</m:t>
                    </m:r>
                    <m:r>
                      <a:rPr lang="en-US" altLang="zh-CN" sz="2400" b="0" i="1">
                        <a:solidFill>
                          <a:srgbClr val="FF0000"/>
                        </a:solidFill>
                        <a:latin typeface="Cambria Math" panose="02040503050406030204" pitchFamily="18" charset="0"/>
                        <a:ea typeface="Cambria Math" panose="02040503050406030204" pitchFamily="18" charset="0"/>
                      </a:rPr>
                      <m:t>𝜋</m:t>
                    </m:r>
                  </m:oMath>
                </a14:m>
                <a:r>
                  <a:rPr lang="zh-CN" altLang="en-US" sz="2400" b="0" dirty="0">
                    <a:solidFill>
                      <a:srgbClr val="FF0000"/>
                    </a:solidFill>
                  </a:rPr>
                  <a:t>为周期</a:t>
                </a:r>
                <a:r>
                  <a:rPr lang="zh-CN" altLang="en-US" sz="2400" b="0" dirty="0"/>
                  <a:t>。</a:t>
                </a:r>
                <a:endParaRPr lang="en-US" altLang="zh-CN" sz="2400" b="0" dirty="0"/>
              </a:p>
              <a:p>
                <a:pPr>
                  <a:lnSpc>
                    <a:spcPct val="140000"/>
                  </a:lnSpc>
                  <a:spcBef>
                    <a:spcPts val="0"/>
                  </a:spcBef>
                </a:pPr>
                <a:r>
                  <a:rPr lang="zh-CN" altLang="en-US" sz="2400" b="0" dirty="0"/>
                  <a:t>离散时间傅里叶变换建立了将离散时间信号</a:t>
                </a:r>
                <a:r>
                  <a:rPr lang="en-US" altLang="zh-CN" sz="2400" b="0" dirty="0"/>
                  <a:t>(</a:t>
                </a:r>
                <a:r>
                  <a:rPr lang="zh-CN" altLang="en-US" sz="2400" b="0" dirty="0"/>
                  <a:t>包括周期、非周期信号</a:t>
                </a:r>
                <a:r>
                  <a:rPr lang="en-US" altLang="zh-CN" sz="2400" b="0" dirty="0"/>
                  <a:t>)</a:t>
                </a:r>
                <a:r>
                  <a:rPr lang="zh-CN" altLang="en-US" sz="2400" b="0" dirty="0"/>
                  <a:t>分解为</a:t>
                </a:r>
                <a:r>
                  <a:rPr lang="zh-CN" altLang="en-US" sz="2400" b="0" dirty="0">
                    <a:solidFill>
                      <a:srgbClr val="FF0000"/>
                    </a:solidFill>
                  </a:rPr>
                  <a:t>复指数信号的线性组合</a:t>
                </a:r>
                <a:r>
                  <a:rPr lang="zh-CN" altLang="en-US" sz="2400" b="0" dirty="0"/>
                  <a:t>的方法。</a:t>
                </a:r>
                <a:endParaRPr lang="en-US" altLang="zh-CN" sz="2400" b="0" dirty="0"/>
              </a:p>
              <a:p>
                <a:pPr>
                  <a:lnSpc>
                    <a:spcPct val="140000"/>
                  </a:lnSpc>
                  <a:spcBef>
                    <a:spcPts val="0"/>
                  </a:spcBef>
                </a:pPr>
                <a:r>
                  <a:rPr lang="zh-CN" altLang="en-US" sz="2400" b="0" dirty="0">
                    <a:solidFill>
                      <a:srgbClr val="FF0000"/>
                    </a:solidFill>
                  </a:rPr>
                  <a:t>卷积特性</a:t>
                </a:r>
                <a:r>
                  <a:rPr lang="zh-CN" altLang="en-US" sz="2400" b="0" dirty="0"/>
                  <a:t>也是离散时间</a:t>
                </a:r>
                <a:r>
                  <a:rPr lang="en-US" altLang="zh-CN" sz="2400" b="0" dirty="0"/>
                  <a:t>LTI</a:t>
                </a:r>
                <a:r>
                  <a:rPr lang="zh-CN" altLang="en-US" sz="2400" b="0" dirty="0"/>
                  <a:t>系统频域分析的理论基础，稳定</a:t>
                </a:r>
                <a:r>
                  <a:rPr lang="zh-CN" altLang="en-US" sz="2400" b="0"/>
                  <a:t>的离散时间</a:t>
                </a:r>
                <a:r>
                  <a:rPr lang="en-US" altLang="zh-CN" sz="2400" b="0"/>
                  <a:t>LTI</a:t>
                </a:r>
                <a:r>
                  <a:rPr lang="zh-CN" altLang="en-US" sz="2400" b="0" dirty="0"/>
                  <a:t>系统可以通过其频率响应来描述。</a:t>
                </a:r>
              </a:p>
              <a:p>
                <a:pPr>
                  <a:lnSpc>
                    <a:spcPct val="140000"/>
                  </a:lnSpc>
                  <a:spcBef>
                    <a:spcPts val="0"/>
                  </a:spcBef>
                </a:pPr>
                <a:r>
                  <a:rPr lang="zh-CN" altLang="en-US" sz="2400" b="0" dirty="0">
                    <a:solidFill>
                      <a:srgbClr val="FF0000"/>
                    </a:solidFill>
                  </a:rPr>
                  <a:t>相乘特性</a:t>
                </a:r>
                <a:r>
                  <a:rPr lang="zh-CN" altLang="en-US" sz="2400" b="0" dirty="0"/>
                  <a:t>则为离散时间信号传输提供了理论基础。</a:t>
                </a:r>
                <a:endParaRPr lang="en-US" altLang="zh-CN" sz="2400" b="0" dirty="0"/>
              </a:p>
              <a:p>
                <a:pPr>
                  <a:lnSpc>
                    <a:spcPct val="140000"/>
                  </a:lnSpc>
                  <a:spcBef>
                    <a:spcPts val="0"/>
                  </a:spcBef>
                </a:pPr>
                <a:r>
                  <a:rPr lang="zh-CN" altLang="en-US" sz="2400" b="0" dirty="0">
                    <a:solidFill>
                      <a:srgbClr val="FF0000"/>
                    </a:solidFill>
                  </a:rPr>
                  <a:t>线性常系数差分方程</a:t>
                </a:r>
                <a:r>
                  <a:rPr lang="zh-CN" altLang="en-US" sz="2400" b="0" dirty="0"/>
                  <a:t>描述的</a:t>
                </a:r>
                <a:r>
                  <a:rPr lang="en-US" altLang="zh-CN" sz="2400" b="0" dirty="0"/>
                  <a:t>LTI </a:t>
                </a:r>
                <a:r>
                  <a:rPr lang="zh-CN" altLang="en-US" sz="2400" b="0" dirty="0"/>
                  <a:t>系统频率响应是一个有理函数，并且计算方便。</a:t>
                </a:r>
                <a:endParaRPr lang="en-US" altLang="zh-CN" sz="2400" b="0" dirty="0"/>
              </a:p>
            </p:txBody>
          </p:sp>
        </mc:Choice>
        <mc:Fallback xmlns="">
          <p:sp>
            <p:nvSpPr>
              <p:cNvPr id="3" name="内容占位符 2">
                <a:extLst>
                  <a:ext uri="{FF2B5EF4-FFF2-40B4-BE49-F238E27FC236}">
                    <a16:creationId xmlns:a16="http://schemas.microsoft.com/office/drawing/2014/main" id="{37F8FA84-F683-46B1-8432-ED439E3551BA}"/>
                  </a:ext>
                </a:extLst>
              </p:cNvPr>
              <p:cNvSpPr>
                <a:spLocks noGrp="1" noRot="1" noChangeAspect="1" noMove="1" noResize="1" noEditPoints="1" noAdjustHandles="1" noChangeArrowheads="1" noChangeShapeType="1" noTextEdit="1"/>
              </p:cNvSpPr>
              <p:nvPr>
                <p:ph idx="1"/>
              </p:nvPr>
            </p:nvSpPr>
            <p:spPr>
              <a:xfrm>
                <a:off x="457200" y="1285875"/>
                <a:ext cx="8229600" cy="5216428"/>
              </a:xfrm>
              <a:blipFill>
                <a:blip r:embed="rId2"/>
                <a:stretch>
                  <a:fillRect l="-963" r="-74" b="-1752"/>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1B8994C6-5113-452D-AF30-40D25051924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138ED5-6E33-49EA-A215-8B634B72AE6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8386</TotalTime>
  <Words>3116</Words>
  <Application>Microsoft Office PowerPoint</Application>
  <PresentationFormat>全屏显示(4:3)</PresentationFormat>
  <Paragraphs>390</Paragraphs>
  <Slides>49</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61" baseType="lpstr">
      <vt:lpstr>华文楷体</vt:lpstr>
      <vt:lpstr>楷体_GB2312</vt:lpstr>
      <vt:lpstr>Arial</vt:lpstr>
      <vt:lpstr>Arial Black</vt:lpstr>
      <vt:lpstr>Calibri</vt:lpstr>
      <vt:lpstr>Cambria Math</vt:lpstr>
      <vt:lpstr>Georgia</vt:lpstr>
      <vt:lpstr>Times New Roman</vt:lpstr>
      <vt:lpstr>Wingdings</vt:lpstr>
      <vt:lpstr>Office 主题</vt:lpstr>
      <vt:lpstr>Equation</vt:lpstr>
      <vt:lpstr>公式</vt:lpstr>
      <vt:lpstr>第五章   离散时间傅里叶变换</vt:lpstr>
      <vt:lpstr>5.0  引言</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5.1 非周期信号的表示—离散时间傅里叶变换</vt:lpstr>
      <vt:lpstr>课后作业</vt:lpstr>
      <vt:lpstr>5.2  周期信号的傅里叶变换</vt:lpstr>
      <vt:lpstr>5.2  周期信号的傅里叶变换</vt:lpstr>
      <vt:lpstr>5.2  周期信号的傅里叶变换</vt:lpstr>
      <vt:lpstr>5.2  周期信号的傅里叶变换</vt:lpstr>
      <vt:lpstr>5.2  周期信号的傅里叶变换</vt:lpstr>
      <vt:lpstr>5.3 离散时间傅里叶变换的性质</vt:lpstr>
      <vt:lpstr>5.3 离散时间傅里叶变换的性质</vt:lpstr>
      <vt:lpstr>5.3 离散时间傅里叶变换的性质</vt:lpstr>
      <vt:lpstr>5.3 离散时间傅里叶变换的性质</vt:lpstr>
      <vt:lpstr>5.3 离散时间傅里叶变换的性质</vt:lpstr>
      <vt:lpstr>5.3 离散时间傅里叶变换的性质</vt:lpstr>
      <vt:lpstr>5.3 离散时间傅里叶变换的性质</vt:lpstr>
      <vt:lpstr>5.3 离散时间傅里叶变换的性质</vt:lpstr>
      <vt:lpstr>5.3 离散时间傅里叶变换的性质</vt:lpstr>
      <vt:lpstr>5.4 卷积性质</vt:lpstr>
      <vt:lpstr>5.4 卷积性质</vt:lpstr>
      <vt:lpstr>课后作业</vt:lpstr>
      <vt:lpstr>5.5 相乘性质</vt:lpstr>
      <vt:lpstr>5.5 相乘性质</vt:lpstr>
      <vt:lpstr>5.5 相乘性质</vt:lpstr>
      <vt:lpstr>5.7 对偶性质</vt:lpstr>
      <vt:lpstr>5.7 对偶性质</vt:lpstr>
      <vt:lpstr>5.7 对偶性质</vt:lpstr>
      <vt:lpstr>5.7 对偶性质</vt:lpstr>
      <vt:lpstr>PowerPoint 演示文稿</vt:lpstr>
      <vt:lpstr>5.7 对偶性质</vt:lpstr>
      <vt:lpstr>5.8 由线性常系数差分方程表征的系统</vt:lpstr>
      <vt:lpstr>5.8 由线性常系数差分方程表征的系统</vt:lpstr>
      <vt:lpstr>5.8 由线性常系数差分方程表征的系统</vt:lpstr>
      <vt:lpstr>5.8 由线性常系数差分方程表征的系统</vt:lpstr>
      <vt:lpstr>5.8 由线性常系数差分方程表征的系统</vt:lpstr>
      <vt:lpstr>PowerPoint 演示文稿</vt:lpstr>
      <vt:lpstr>课后作业</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Dell</cp:lastModifiedBy>
  <cp:revision>981</cp:revision>
  <dcterms:created xsi:type="dcterms:W3CDTF">2009-02-26T06:47:18Z</dcterms:created>
  <dcterms:modified xsi:type="dcterms:W3CDTF">2025-03-26T04:20:22Z</dcterms:modified>
</cp:coreProperties>
</file>