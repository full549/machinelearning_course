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7" r:id="rId3"/>
    <p:sldId id="258" r:id="rId4"/>
    <p:sldId id="259" r:id="rId5"/>
    <p:sldId id="260" r:id="rId6"/>
    <p:sldId id="261" r:id="rId7"/>
    <p:sldId id="262" r:id="rId8"/>
    <p:sldId id="263" r:id="rId9"/>
    <p:sldId id="264" r:id="rId10"/>
    <p:sldId id="265" r:id="rId11"/>
    <p:sldId id="266" r:id="rId12"/>
    <p:sldId id="267" r:id="rId14"/>
    <p:sldId id="268" r:id="rId15"/>
    <p:sldId id="269" r:id="rId16"/>
    <p:sldId id="270"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33.wmf"/><Relationship Id="rId8" Type="http://schemas.openxmlformats.org/officeDocument/2006/relationships/image" Target="../media/image32.wmf"/><Relationship Id="rId7" Type="http://schemas.openxmlformats.org/officeDocument/2006/relationships/image" Target="../media/image31.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3" Type="http://schemas.openxmlformats.org/officeDocument/2006/relationships/image" Target="../media/image37.wmf"/><Relationship Id="rId12" Type="http://schemas.openxmlformats.org/officeDocument/2006/relationships/image" Target="../media/image36.wmf"/><Relationship Id="rId11" Type="http://schemas.openxmlformats.org/officeDocument/2006/relationships/image" Target="../media/image35.wmf"/><Relationship Id="rId10" Type="http://schemas.openxmlformats.org/officeDocument/2006/relationships/image" Target="../media/image34.wmf"/><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46.wmf"/><Relationship Id="rId8" Type="http://schemas.openxmlformats.org/officeDocument/2006/relationships/image" Target="../media/image45.wmf"/><Relationship Id="rId7" Type="http://schemas.openxmlformats.org/officeDocument/2006/relationships/image" Target="../media/image44.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 Id="rId3" Type="http://schemas.openxmlformats.org/officeDocument/2006/relationships/image" Target="../media/image40.wmf"/><Relationship Id="rId2" Type="http://schemas.openxmlformats.org/officeDocument/2006/relationships/image" Target="../media/image39.wmf"/><Relationship Id="rId11" Type="http://schemas.openxmlformats.org/officeDocument/2006/relationships/image" Target="../media/image48.wmf"/><Relationship Id="rId10" Type="http://schemas.openxmlformats.org/officeDocument/2006/relationships/image" Target="../media/image47.wmf"/><Relationship Id="rId1" Type="http://schemas.openxmlformats.org/officeDocument/2006/relationships/image" Target="../media/image3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DB36C313-05DB-402A-A591-52895689965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3" descr="C:\Program Files\Microsoft Office\MEDIA\OFFICE12\Lines\BD15035_.gi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2867" y="1993900"/>
            <a:ext cx="10382251"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15035_.gi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22867" y="3429000"/>
            <a:ext cx="10382251"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ctrTitle"/>
          </p:nvPr>
        </p:nvSpPr>
        <p:spPr>
          <a:xfrm>
            <a:off x="914400" y="2130425"/>
            <a:ext cx="10363200" cy="1470025"/>
          </a:xfrm>
        </p:spPr>
        <p:txBody>
          <a:bodyPr/>
          <a:lstStyle>
            <a:lvl1pPr>
              <a:defRPr b="1" i="0" baseline="0">
                <a:latin typeface="Arial Black" panose="020B0A04020102020204" pitchFamily="34" charset="0"/>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p:spPr>
        <p:txBody>
          <a:bodyPr/>
          <a:lstStyle>
            <a:lvl1pPr marL="0" indent="0" algn="ctr">
              <a:buNone/>
              <a:defRPr baseline="0">
                <a:solidFill>
                  <a:schemeClr val="tx1">
                    <a:tint val="75000"/>
                  </a:schemeClr>
                </a:solidFill>
                <a:latin typeface="Arial" panose="020B0604020202020204" pitchFamily="34" charset="0"/>
                <a:ea typeface="黑体" panose="0201060906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6" name="日期占位符 3"/>
          <p:cNvSpPr>
            <a:spLocks noGrp="1"/>
          </p:cNvSpPr>
          <p:nvPr>
            <p:ph type="dt" sz="half" idx="10"/>
          </p:nvPr>
        </p:nvSpPr>
        <p:spPr/>
        <p:txBody>
          <a:bodyPr/>
          <a:lstStyle>
            <a:lvl1pPr>
              <a:defRPr/>
            </a:lvl1pPr>
          </a:lstStyle>
          <a:p>
            <a:pPr>
              <a:defRPr/>
            </a:pPr>
            <a:fld id="{B678740A-DB83-420D-BE41-3CF54A6B800B}"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D7C74716-3800-4523-86B2-B878F0C42495}"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baseline="0">
                <a:latin typeface="Georgia" panose="02040502050405020303" pitchFamily="18" charset="0"/>
                <a:ea typeface="华文行楷" panose="0201080004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b="1" i="0" baseline="0">
                <a:latin typeface="Times New Roman" panose="02020603050405020304" pitchFamily="18" charset="0"/>
                <a:ea typeface="华文楷体" panose="02010600040101010101" pitchFamily="2" charset="-122"/>
              </a:defRPr>
            </a:lvl1pPr>
            <a:lvl2pPr>
              <a:defRPr b="1" i="0" baseline="0">
                <a:latin typeface="Times New Roman" panose="02020603050405020304" pitchFamily="18" charset="0"/>
                <a:ea typeface="华文楷体" panose="02010600040101010101" pitchFamily="2" charset="-122"/>
              </a:defRPr>
            </a:lvl2pPr>
            <a:lvl3pPr>
              <a:defRPr b="1" i="0" baseline="0">
                <a:latin typeface="Times New Roman" panose="02020603050405020304" pitchFamily="18" charset="0"/>
                <a:ea typeface="华文楷体" panose="02010600040101010101" pitchFamily="2" charset="-122"/>
              </a:defRPr>
            </a:lvl3pPr>
            <a:lvl4pPr>
              <a:defRPr b="1" i="0" baseline="0">
                <a:latin typeface="Times New Roman" panose="02020603050405020304" pitchFamily="18" charset="0"/>
                <a:ea typeface="华文楷体" panose="02010600040101010101" pitchFamily="2" charset="-122"/>
              </a:defRPr>
            </a:lvl4pPr>
            <a:lvl5pPr>
              <a:defRPr b="1" i="0" baseline="0">
                <a:latin typeface="Times New Roman" panose="02020603050405020304" pitchFamily="18" charset="0"/>
                <a:ea typeface="华文楷体" panose="0201060004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日期占位符 3"/>
          <p:cNvSpPr>
            <a:spLocks noGrp="1"/>
          </p:cNvSpPr>
          <p:nvPr>
            <p:ph type="dt" sz="half" idx="10"/>
          </p:nvPr>
        </p:nvSpPr>
        <p:spPr/>
        <p:txBody>
          <a:bodyPr/>
          <a:lstStyle>
            <a:lvl1pPr>
              <a:defRPr/>
            </a:lvl1pPr>
          </a:lstStyle>
          <a:p>
            <a:pPr>
              <a:defRPr/>
            </a:pPr>
            <a:fld id="{836FA201-B126-4A7B-8480-3AF9A44A8350}"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1C93D48C-E1B3-484C-859B-CFC490B7DD53}"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286E413A-D0FC-436F-AB94-DD59D9E721A7}" type="datetime1">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C2DA5B01-1428-4C9D-84CE-71CFDA0D38D6}"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5"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23938"/>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b="1" i="0" baseline="0">
                <a:latin typeface="Georgia" panose="02040502050405020303" pitchFamily="18" charset="0"/>
                <a:ea typeface="华文行楷" panose="0201080004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09600" y="1142984"/>
            <a:ext cx="5384800" cy="4983179"/>
          </a:xfrm>
        </p:spPr>
        <p:txBody>
          <a:bodyPr/>
          <a:lstStyle>
            <a:lvl1pPr>
              <a:defRPr sz="2800" b="1" i="0" baseline="0">
                <a:latin typeface="Times New Roman" panose="02020603050405020304" pitchFamily="18" charset="0"/>
                <a:ea typeface="华文楷体" panose="02010600040101010101" pitchFamily="2" charset="-122"/>
              </a:defRPr>
            </a:lvl1pPr>
            <a:lvl2pPr>
              <a:defRPr sz="2400" b="1" i="0" baseline="0">
                <a:latin typeface="Times New Roman" panose="02020603050405020304" pitchFamily="18" charset="0"/>
                <a:ea typeface="华文楷体" panose="02010600040101010101" pitchFamily="2" charset="-122"/>
              </a:defRPr>
            </a:lvl2pPr>
            <a:lvl3pPr>
              <a:defRPr sz="2000" b="1" i="0" baseline="0">
                <a:latin typeface="Times New Roman" panose="02020603050405020304" pitchFamily="18" charset="0"/>
                <a:ea typeface="华文楷体" panose="02010600040101010101" pitchFamily="2" charset="-122"/>
              </a:defRPr>
            </a:lvl3pPr>
            <a:lvl4pPr>
              <a:defRPr sz="1800" b="1" i="0" baseline="0">
                <a:latin typeface="Times New Roman" panose="02020603050405020304" pitchFamily="18" charset="0"/>
                <a:ea typeface="华文楷体" panose="02010600040101010101" pitchFamily="2" charset="-122"/>
              </a:defRPr>
            </a:lvl4pPr>
            <a:lvl5pPr>
              <a:defRPr sz="1800" b="1" i="0" baseline="0">
                <a:latin typeface="Times New Roman" panose="02020603050405020304" pitchFamily="18" charset="0"/>
                <a:ea typeface="华文楷体"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6197600" y="1142984"/>
            <a:ext cx="5384800" cy="4983179"/>
          </a:xfrm>
        </p:spPr>
        <p:txBody>
          <a:bodyPr/>
          <a:lstStyle>
            <a:lvl1pPr>
              <a:defRPr sz="2800" b="1" i="0" baseline="0">
                <a:latin typeface="Times New Roman" panose="02020603050405020304" pitchFamily="18" charset="0"/>
                <a:ea typeface="华文楷体" panose="02010600040101010101" pitchFamily="2" charset="-122"/>
              </a:defRPr>
            </a:lvl1pPr>
            <a:lvl2pPr>
              <a:defRPr sz="2400" b="1" i="0" baseline="0">
                <a:latin typeface="Times New Roman" panose="02020603050405020304" pitchFamily="18" charset="0"/>
                <a:ea typeface="华文楷体" panose="02010600040101010101" pitchFamily="2" charset="-122"/>
              </a:defRPr>
            </a:lvl2pPr>
            <a:lvl3pPr>
              <a:defRPr sz="2000" b="1" i="0" baseline="0">
                <a:latin typeface="Times New Roman" panose="02020603050405020304" pitchFamily="18" charset="0"/>
                <a:ea typeface="华文楷体" panose="02010600040101010101" pitchFamily="2" charset="-122"/>
              </a:defRPr>
            </a:lvl3pPr>
            <a:lvl4pPr>
              <a:defRPr sz="1800" b="1" i="0" baseline="0">
                <a:latin typeface="Times New Roman" panose="02020603050405020304" pitchFamily="18" charset="0"/>
                <a:ea typeface="华文楷体" panose="02010600040101010101" pitchFamily="2" charset="-122"/>
              </a:defRPr>
            </a:lvl4pPr>
            <a:lvl5pPr>
              <a:defRPr sz="1800" b="1" i="0" baseline="0">
                <a:latin typeface="Times New Roman" panose="02020603050405020304" pitchFamily="18" charset="0"/>
                <a:ea typeface="华文楷体"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4"/>
          <p:cNvSpPr>
            <a:spLocks noGrp="1"/>
          </p:cNvSpPr>
          <p:nvPr>
            <p:ph type="dt" sz="half" idx="10"/>
          </p:nvPr>
        </p:nvSpPr>
        <p:spPr/>
        <p:txBody>
          <a:bodyPr/>
          <a:lstStyle>
            <a:lvl1pPr>
              <a:defRPr/>
            </a:lvl1pPr>
          </a:lstStyle>
          <a:p>
            <a:pPr>
              <a:defRPr/>
            </a:pPr>
            <a:fld id="{EA2C74D9-28A4-48EB-A37F-ECAA20A29F77}" type="datetime1">
              <a:rPr lang="zh-CN" altLang="en-US"/>
            </a:fld>
            <a:endParaRPr lang="zh-CN" altLang="en-US"/>
          </a:p>
        </p:txBody>
      </p:sp>
      <p:sp>
        <p:nvSpPr>
          <p:cNvPr id="8" name="页脚占位符 5"/>
          <p:cNvSpPr>
            <a:spLocks noGrp="1"/>
          </p:cNvSpPr>
          <p:nvPr>
            <p:ph type="ftr" sz="quarter" idx="11"/>
          </p:nvPr>
        </p:nvSpPr>
        <p:spPr/>
        <p:txBody>
          <a:bodyPr/>
          <a:lstStyle>
            <a:lvl1pPr>
              <a:defRPr/>
            </a:lvl1pPr>
          </a:lstStyle>
          <a:p>
            <a:pPr>
              <a:defRPr/>
            </a:pPr>
            <a:endParaRPr lang="zh-CN" altLang="en-US"/>
          </a:p>
        </p:txBody>
      </p:sp>
      <p:sp>
        <p:nvSpPr>
          <p:cNvPr id="9" name="灯片编号占位符 6"/>
          <p:cNvSpPr>
            <a:spLocks noGrp="1"/>
          </p:cNvSpPr>
          <p:nvPr>
            <p:ph type="sldNum" sz="quarter" idx="12"/>
          </p:nvPr>
        </p:nvSpPr>
        <p:spPr/>
        <p:txBody>
          <a:bodyPr/>
          <a:lstStyle>
            <a:lvl1pPr>
              <a:defRPr/>
            </a:lvl1pPr>
          </a:lstStyle>
          <a:p>
            <a:fld id="{704A95EC-A6F9-496F-AB53-154B240B8E41}"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7"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142984"/>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09600" y="1785926"/>
            <a:ext cx="5386917"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93367" y="1142984"/>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93367" y="1785926"/>
            <a:ext cx="5389033" cy="43402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日期占位符 6"/>
          <p:cNvSpPr>
            <a:spLocks noGrp="1"/>
          </p:cNvSpPr>
          <p:nvPr>
            <p:ph type="dt" sz="half" idx="10"/>
          </p:nvPr>
        </p:nvSpPr>
        <p:spPr/>
        <p:txBody>
          <a:bodyPr/>
          <a:lstStyle>
            <a:lvl1pPr>
              <a:defRPr/>
            </a:lvl1pPr>
          </a:lstStyle>
          <a:p>
            <a:pPr>
              <a:defRPr/>
            </a:pPr>
            <a:fld id="{75E274D3-2958-499F-A4AB-C2B91D4003FE}" type="datetime1">
              <a:rPr lang="zh-CN" altLang="en-US"/>
            </a:fld>
            <a:endParaRPr lang="zh-CN" altLang="en-US"/>
          </a:p>
        </p:txBody>
      </p:sp>
      <p:sp>
        <p:nvSpPr>
          <p:cNvPr id="10" name="页脚占位符 7"/>
          <p:cNvSpPr>
            <a:spLocks noGrp="1"/>
          </p:cNvSpPr>
          <p:nvPr>
            <p:ph type="ftr" sz="quarter" idx="11"/>
          </p:nvPr>
        </p:nvSpPr>
        <p:spPr/>
        <p:txBody>
          <a:bodyPr/>
          <a:lstStyle>
            <a:lvl1pPr>
              <a:defRPr/>
            </a:lvl1pPr>
          </a:lstStyle>
          <a:p>
            <a:pPr>
              <a:defRPr/>
            </a:pPr>
            <a:endParaRPr lang="zh-CN" altLang="en-US"/>
          </a:p>
        </p:txBody>
      </p:sp>
      <p:sp>
        <p:nvSpPr>
          <p:cNvPr id="11" name="灯片编号占位符 8"/>
          <p:cNvSpPr>
            <a:spLocks noGrp="1"/>
          </p:cNvSpPr>
          <p:nvPr>
            <p:ph type="sldNum" sz="quarter" idx="12"/>
          </p:nvPr>
        </p:nvSpPr>
        <p:spPr/>
        <p:txBody>
          <a:bodyPr/>
          <a:lstStyle>
            <a:lvl1pPr>
              <a:defRPr/>
            </a:lvl1pPr>
          </a:lstStyle>
          <a:p>
            <a:fld id="{71BB9303-FFFB-48EF-9A53-871DA720B2CD}"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3"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5" name="日期占位符 2"/>
          <p:cNvSpPr>
            <a:spLocks noGrp="1"/>
          </p:cNvSpPr>
          <p:nvPr>
            <p:ph type="dt" sz="half" idx="10"/>
          </p:nvPr>
        </p:nvSpPr>
        <p:spPr/>
        <p:txBody>
          <a:bodyPr/>
          <a:lstStyle>
            <a:lvl1pPr>
              <a:defRPr/>
            </a:lvl1pPr>
          </a:lstStyle>
          <a:p>
            <a:pPr>
              <a:defRPr/>
            </a:pPr>
            <a:fld id="{FBA7078A-00B8-4CAA-BCDB-1E0BC0296479}" type="datetime1">
              <a:rPr lang="zh-CN" altLang="en-US"/>
            </a:fld>
            <a:endParaRPr lang="zh-CN" altLang="en-US"/>
          </a:p>
        </p:txBody>
      </p:sp>
      <p:sp>
        <p:nvSpPr>
          <p:cNvPr id="6" name="页脚占位符 3"/>
          <p:cNvSpPr>
            <a:spLocks noGrp="1"/>
          </p:cNvSpPr>
          <p:nvPr>
            <p:ph type="ftr" sz="quarter" idx="11"/>
          </p:nvPr>
        </p:nvSpPr>
        <p:spPr/>
        <p:txBody>
          <a:bodyPr/>
          <a:lstStyle>
            <a:lvl1pPr>
              <a:defRPr/>
            </a:lvl1pPr>
          </a:lstStyle>
          <a:p>
            <a:pPr>
              <a:defRPr/>
            </a:pPr>
            <a:endParaRPr lang="zh-CN" altLang="en-US"/>
          </a:p>
        </p:txBody>
      </p:sp>
      <p:sp>
        <p:nvSpPr>
          <p:cNvPr id="7" name="灯片编号占位符 4"/>
          <p:cNvSpPr>
            <a:spLocks noGrp="1"/>
          </p:cNvSpPr>
          <p:nvPr>
            <p:ph type="sldNum" sz="quarter" idx="12"/>
          </p:nvPr>
        </p:nvSpPr>
        <p:spPr/>
        <p:txBody>
          <a:bodyPr/>
          <a:lstStyle>
            <a:lvl1pPr>
              <a:defRPr/>
            </a:lvl1pPr>
          </a:lstStyle>
          <a:p>
            <a:fld id="{A44C0A27-F063-45A4-BFF0-B0A65DA3FFC3}"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CB9C36EA-092E-4399-8E7D-3C6520068C27}" type="datetime1">
              <a:rPr lang="zh-CN" altLang="en-US"/>
            </a:fld>
            <a:endParaRPr lang="zh-CN" altLang="en-US" dirty="0"/>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43675A2F-E655-453F-86D1-95856707754F}"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2120F865-CCEC-468A-830F-7DEFD5917920}" type="datetime1">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ED4ED381-002D-4D17-B8F1-023F01374ABA}"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172F774F-B800-48F6-8E60-55CFC8D2C9B3}" type="datetime1">
              <a:rPr lang="zh-CN" altLang="en-US"/>
            </a:fld>
            <a:endParaRPr lang="zh-CN" altLang="en-US" dirty="0"/>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9D036BD5-C772-4A7C-9DA0-01A79F4CD24C}"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4" name="Picture 5" descr="C:\Program Files\Microsoft Office\MEDIA\OFFICE12\Lines\BD21427_.gif"/>
          <p:cNvPicPr>
            <a:picLocks noChangeAspect="1" noChangeArrowheads="1"/>
          </p:cNvPicPr>
          <p:nvPr userDrawn="1"/>
        </p:nvPicPr>
        <p:blipFill>
          <a:blip r:embed="rId2">
            <a:lum bright="24000"/>
            <a:extLst>
              <a:ext uri="{28A0092B-C50C-407E-A947-70E740481C1C}">
                <a14:useLocalDpi xmlns:a14="http://schemas.microsoft.com/office/drawing/2010/main" val="0"/>
              </a:ext>
            </a:extLst>
          </a:blip>
          <a:srcRect/>
          <a:stretch>
            <a:fillRect/>
          </a:stretch>
        </p:blipFill>
        <p:spPr bwMode="auto">
          <a:xfrm>
            <a:off x="190500" y="1071563"/>
            <a:ext cx="11430000"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C:\Program Files\Microsoft Office\MEDIA\OFFICE12\Lines\BD21390_.gif"/>
          <p:cNvPicPr>
            <a:picLocks noChangeAspect="1" noChangeArrowheads="1"/>
          </p:cNvPicPr>
          <p:nvPr userDrawn="1"/>
        </p:nvPicPr>
        <p:blipFill>
          <a:blip r:embed="rId3">
            <a:lum bright="54000"/>
            <a:extLst>
              <a:ext uri="{28A0092B-C50C-407E-A947-70E740481C1C}">
                <a14:useLocalDpi xmlns:a14="http://schemas.microsoft.com/office/drawing/2010/main" val="0"/>
              </a:ext>
            </a:extLst>
          </a:blip>
          <a:srcRect/>
          <a:stretch>
            <a:fillRect/>
          </a:stretch>
        </p:blipFill>
        <p:spPr bwMode="auto">
          <a:xfrm>
            <a:off x="0" y="428625"/>
            <a:ext cx="423333" cy="621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214422"/>
            <a:ext cx="10972800" cy="4911741"/>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3"/>
          <p:cNvSpPr>
            <a:spLocks noGrp="1"/>
          </p:cNvSpPr>
          <p:nvPr>
            <p:ph type="dt" sz="half" idx="10"/>
          </p:nvPr>
        </p:nvSpPr>
        <p:spPr/>
        <p:txBody>
          <a:bodyPr/>
          <a:lstStyle>
            <a:lvl1pPr>
              <a:defRPr/>
            </a:lvl1pPr>
          </a:lstStyle>
          <a:p>
            <a:pPr>
              <a:defRPr/>
            </a:pPr>
            <a:fld id="{8B5941F7-A8E6-404E-849F-D628FCD12136}" type="datetime1">
              <a:rPr lang="zh-CN" altLang="en-US"/>
            </a:fld>
            <a:endParaRPr lang="zh-CN" altLang="en-US"/>
          </a:p>
        </p:txBody>
      </p:sp>
      <p:sp>
        <p:nvSpPr>
          <p:cNvPr id="7" name="页脚占位符 4"/>
          <p:cNvSpPr>
            <a:spLocks noGrp="1"/>
          </p:cNvSpPr>
          <p:nvPr>
            <p:ph type="ftr" sz="quarter" idx="11"/>
          </p:nvPr>
        </p:nvSpPr>
        <p:spPr/>
        <p:txBody>
          <a:bodyPr/>
          <a:lstStyle>
            <a:lvl1pPr>
              <a:defRPr/>
            </a:lvl1pPr>
          </a:lstStyle>
          <a:p>
            <a:pPr>
              <a:defRPr/>
            </a:pPr>
            <a:endParaRPr lang="zh-CN" altLang="en-US"/>
          </a:p>
        </p:txBody>
      </p:sp>
      <p:sp>
        <p:nvSpPr>
          <p:cNvPr id="8" name="灯片编号占位符 5"/>
          <p:cNvSpPr>
            <a:spLocks noGrp="1"/>
          </p:cNvSpPr>
          <p:nvPr>
            <p:ph type="sldNum" sz="quarter" idx="12"/>
          </p:nvPr>
        </p:nvSpPr>
        <p:spPr/>
        <p:txBody>
          <a:bodyPr/>
          <a:lstStyle>
            <a:lvl1pPr>
              <a:defRPr/>
            </a:lvl1pPr>
          </a:lstStyle>
          <a:p>
            <a:fld id="{2F19BCD2-B18E-46A8-AEC3-1273B39FA08C}"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274638"/>
            <a:ext cx="80264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22D493DA-BA6A-49A9-BF79-6F1D9E0B17F4}" type="datetime1">
              <a:rPr lang="zh-CN" altLang="en-US"/>
            </a:fld>
            <a:endParaRPr lang="zh-CN" altLang="en-US" dirty="0"/>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8D4CDB82-444F-4B69-B313-D92E7CFB5AE8}"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标题占位符 1"/>
          <p:cNvSpPr>
            <a:spLocks noGrp="1"/>
          </p:cNvSpPr>
          <p:nvPr>
            <p:ph type="title"/>
          </p:nvPr>
        </p:nvSpPr>
        <p:spPr bwMode="auto">
          <a:xfrm>
            <a:off x="609600" y="274638"/>
            <a:ext cx="10972800"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8675" name="文本占位符 2"/>
          <p:cNvSpPr>
            <a:spLocks noGrp="1"/>
          </p:cNvSpPr>
          <p:nvPr>
            <p:ph type="body" idx="1"/>
          </p:nvPr>
        </p:nvSpPr>
        <p:spPr bwMode="auto">
          <a:xfrm>
            <a:off x="609600" y="1285875"/>
            <a:ext cx="1097280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FCD16CD5-1A11-4953-A038-5E7ED2FD8AB8}" type="datetime1">
              <a:rPr lang="zh-CN" altLang="en-US"/>
            </a:fld>
            <a:endParaRPr lang="zh-CN" altLang="en-US" dirty="0"/>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charset="0"/>
              </a:defRPr>
            </a:lvl1pPr>
          </a:lstStyle>
          <a:p>
            <a:fld id="{DA3EB07D-900B-4A21-BBD2-D9DCAA2D37AA}"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6.wmf"/><Relationship Id="rId3" Type="http://schemas.openxmlformats.org/officeDocument/2006/relationships/oleObject" Target="../embeddings/oleObject2.bin"/><Relationship Id="rId2" Type="http://schemas.openxmlformats.org/officeDocument/2006/relationships/image" Target="../media/image5.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5.bin"/><Relationship Id="rId4" Type="http://schemas.openxmlformats.org/officeDocument/2006/relationships/image" Target="../media/image12.wmf"/><Relationship Id="rId3" Type="http://schemas.openxmlformats.org/officeDocument/2006/relationships/oleObject" Target="../embeddings/oleObject4.bin"/><Relationship Id="rId2" Type="http://schemas.openxmlformats.org/officeDocument/2006/relationships/image" Target="../media/image11.wmf"/><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5.wmf"/><Relationship Id="rId3" Type="http://schemas.openxmlformats.org/officeDocument/2006/relationships/oleObject" Target="../embeddings/oleObject7.bin"/><Relationship Id="rId2" Type="http://schemas.openxmlformats.org/officeDocument/2006/relationships/image" Target="../media/image14.wmf"/><Relationship Id="rId1"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10.bin"/><Relationship Id="rId4" Type="http://schemas.openxmlformats.org/officeDocument/2006/relationships/image" Target="../media/image23.wmf"/><Relationship Id="rId3" Type="http://schemas.openxmlformats.org/officeDocument/2006/relationships/oleObject" Target="../embeddings/oleObject9.bin"/><Relationship Id="rId2" Type="http://schemas.openxmlformats.org/officeDocument/2006/relationships/image" Target="../media/image22.wmf"/><Relationship Id="rId1"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28.wmf"/><Relationship Id="rId7" Type="http://schemas.openxmlformats.org/officeDocument/2006/relationships/oleObject" Target="../embeddings/oleObject14.bin"/><Relationship Id="rId6" Type="http://schemas.openxmlformats.org/officeDocument/2006/relationships/image" Target="../media/image27.wmf"/><Relationship Id="rId5" Type="http://schemas.openxmlformats.org/officeDocument/2006/relationships/oleObject" Target="../embeddings/oleObject13.bin"/><Relationship Id="rId41" Type="http://schemas.openxmlformats.org/officeDocument/2006/relationships/notesSlide" Target="../notesSlides/notesSlide1.xml"/><Relationship Id="rId40" Type="http://schemas.openxmlformats.org/officeDocument/2006/relationships/vmlDrawing" Target="../drawings/vmlDrawing5.vml"/><Relationship Id="rId4" Type="http://schemas.openxmlformats.org/officeDocument/2006/relationships/image" Target="../media/image26.wmf"/><Relationship Id="rId39" Type="http://schemas.openxmlformats.org/officeDocument/2006/relationships/slideLayout" Target="../slideLayouts/slideLayout2.xml"/><Relationship Id="rId38" Type="http://schemas.openxmlformats.org/officeDocument/2006/relationships/oleObject" Target="../embeddings/oleObject35.bin"/><Relationship Id="rId37" Type="http://schemas.openxmlformats.org/officeDocument/2006/relationships/image" Target="../media/image37.wmf"/><Relationship Id="rId36" Type="http://schemas.openxmlformats.org/officeDocument/2006/relationships/oleObject" Target="../embeddings/oleObject34.bin"/><Relationship Id="rId35" Type="http://schemas.openxmlformats.org/officeDocument/2006/relationships/oleObject" Target="../embeddings/oleObject33.bin"/><Relationship Id="rId34" Type="http://schemas.openxmlformats.org/officeDocument/2006/relationships/image" Target="../media/image36.wmf"/><Relationship Id="rId33" Type="http://schemas.openxmlformats.org/officeDocument/2006/relationships/oleObject" Target="../embeddings/oleObject32.bin"/><Relationship Id="rId32" Type="http://schemas.openxmlformats.org/officeDocument/2006/relationships/oleObject" Target="../embeddings/oleObject31.bin"/><Relationship Id="rId31" Type="http://schemas.openxmlformats.org/officeDocument/2006/relationships/oleObject" Target="../embeddings/oleObject30.bin"/><Relationship Id="rId30" Type="http://schemas.openxmlformats.org/officeDocument/2006/relationships/oleObject" Target="../embeddings/oleObject29.bin"/><Relationship Id="rId3" Type="http://schemas.openxmlformats.org/officeDocument/2006/relationships/oleObject" Target="../embeddings/oleObject12.bin"/><Relationship Id="rId29" Type="http://schemas.openxmlformats.org/officeDocument/2006/relationships/image" Target="../media/image35.wmf"/><Relationship Id="rId28" Type="http://schemas.openxmlformats.org/officeDocument/2006/relationships/oleObject" Target="../embeddings/oleObject28.bin"/><Relationship Id="rId27" Type="http://schemas.openxmlformats.org/officeDocument/2006/relationships/image" Target="../media/image34.wmf"/><Relationship Id="rId26" Type="http://schemas.openxmlformats.org/officeDocument/2006/relationships/oleObject" Target="../embeddings/oleObject27.bin"/><Relationship Id="rId25" Type="http://schemas.openxmlformats.org/officeDocument/2006/relationships/image" Target="../media/image33.wmf"/><Relationship Id="rId24" Type="http://schemas.openxmlformats.org/officeDocument/2006/relationships/oleObject" Target="../embeddings/oleObject26.bin"/><Relationship Id="rId23" Type="http://schemas.openxmlformats.org/officeDocument/2006/relationships/image" Target="../media/image32.wmf"/><Relationship Id="rId22" Type="http://schemas.openxmlformats.org/officeDocument/2006/relationships/oleObject" Target="../embeddings/oleObject25.bin"/><Relationship Id="rId21" Type="http://schemas.openxmlformats.org/officeDocument/2006/relationships/image" Target="../media/image31.wmf"/><Relationship Id="rId20" Type="http://schemas.openxmlformats.org/officeDocument/2006/relationships/oleObject" Target="../embeddings/oleObject24.bin"/><Relationship Id="rId2" Type="http://schemas.openxmlformats.org/officeDocument/2006/relationships/image" Target="../media/image25.wmf"/><Relationship Id="rId19" Type="http://schemas.openxmlformats.org/officeDocument/2006/relationships/oleObject" Target="../embeddings/oleObject23.bin"/><Relationship Id="rId18" Type="http://schemas.openxmlformats.org/officeDocument/2006/relationships/oleObject" Target="../embeddings/oleObject22.bin"/><Relationship Id="rId17" Type="http://schemas.openxmlformats.org/officeDocument/2006/relationships/oleObject" Target="../embeddings/oleObject21.bin"/><Relationship Id="rId16" Type="http://schemas.openxmlformats.org/officeDocument/2006/relationships/oleObject" Target="../embeddings/oleObject20.bin"/><Relationship Id="rId15" Type="http://schemas.openxmlformats.org/officeDocument/2006/relationships/oleObject" Target="../embeddings/oleObject19.bin"/><Relationship Id="rId14" Type="http://schemas.openxmlformats.org/officeDocument/2006/relationships/oleObject" Target="../embeddings/oleObject18.bin"/><Relationship Id="rId13" Type="http://schemas.openxmlformats.org/officeDocument/2006/relationships/oleObject" Target="../embeddings/oleObject17.bin"/><Relationship Id="rId12" Type="http://schemas.openxmlformats.org/officeDocument/2006/relationships/image" Target="../media/image30.wmf"/><Relationship Id="rId11" Type="http://schemas.openxmlformats.org/officeDocument/2006/relationships/oleObject" Target="../embeddings/oleObject16.bin"/><Relationship Id="rId10" Type="http://schemas.openxmlformats.org/officeDocument/2006/relationships/image" Target="../media/image29.wmf"/><Relationship Id="rId1"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40.bin"/><Relationship Id="rId8" Type="http://schemas.openxmlformats.org/officeDocument/2006/relationships/image" Target="../media/image41.wmf"/><Relationship Id="rId7" Type="http://schemas.openxmlformats.org/officeDocument/2006/relationships/oleObject" Target="../embeddings/oleObject39.bin"/><Relationship Id="rId6" Type="http://schemas.openxmlformats.org/officeDocument/2006/relationships/image" Target="../media/image40.wmf"/><Relationship Id="rId5" Type="http://schemas.openxmlformats.org/officeDocument/2006/relationships/oleObject" Target="../embeddings/oleObject38.bin"/><Relationship Id="rId4" Type="http://schemas.openxmlformats.org/officeDocument/2006/relationships/image" Target="../media/image39.wmf"/><Relationship Id="rId3" Type="http://schemas.openxmlformats.org/officeDocument/2006/relationships/oleObject" Target="../embeddings/oleObject37.bin"/><Relationship Id="rId25" Type="http://schemas.openxmlformats.org/officeDocument/2006/relationships/vmlDrawing" Target="../drawings/vmlDrawing6.vml"/><Relationship Id="rId24" Type="http://schemas.openxmlformats.org/officeDocument/2006/relationships/slideLayout" Target="../slideLayouts/slideLayout2.xml"/><Relationship Id="rId23" Type="http://schemas.openxmlformats.org/officeDocument/2006/relationships/image" Target="../media/image49.png"/><Relationship Id="rId22" Type="http://schemas.openxmlformats.org/officeDocument/2006/relationships/image" Target="../media/image48.wmf"/><Relationship Id="rId21" Type="http://schemas.openxmlformats.org/officeDocument/2006/relationships/oleObject" Target="../embeddings/oleObject46.bin"/><Relationship Id="rId20" Type="http://schemas.openxmlformats.org/officeDocument/2006/relationships/image" Target="../media/image47.wmf"/><Relationship Id="rId2" Type="http://schemas.openxmlformats.org/officeDocument/2006/relationships/image" Target="../media/image38.wmf"/><Relationship Id="rId19" Type="http://schemas.openxmlformats.org/officeDocument/2006/relationships/oleObject" Target="../embeddings/oleObject45.bin"/><Relationship Id="rId18" Type="http://schemas.openxmlformats.org/officeDocument/2006/relationships/image" Target="../media/image46.wmf"/><Relationship Id="rId17" Type="http://schemas.openxmlformats.org/officeDocument/2006/relationships/oleObject" Target="../embeddings/oleObject44.bin"/><Relationship Id="rId16" Type="http://schemas.openxmlformats.org/officeDocument/2006/relationships/image" Target="../media/image45.wmf"/><Relationship Id="rId15" Type="http://schemas.openxmlformats.org/officeDocument/2006/relationships/oleObject" Target="../embeddings/oleObject43.bin"/><Relationship Id="rId14" Type="http://schemas.openxmlformats.org/officeDocument/2006/relationships/image" Target="../media/image44.wmf"/><Relationship Id="rId13" Type="http://schemas.openxmlformats.org/officeDocument/2006/relationships/oleObject" Target="../embeddings/oleObject42.bin"/><Relationship Id="rId12" Type="http://schemas.openxmlformats.org/officeDocument/2006/relationships/image" Target="../media/image43.wmf"/><Relationship Id="rId11" Type="http://schemas.openxmlformats.org/officeDocument/2006/relationships/oleObject" Target="../embeddings/oleObject41.bin"/><Relationship Id="rId10" Type="http://schemas.openxmlformats.org/officeDocument/2006/relationships/image" Target="../media/image42.wmf"/><Relationship Id="rId1" Type="http://schemas.openxmlformats.org/officeDocument/2006/relationships/oleObject" Target="../embeddings/oleObject36.bin"/></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2.xml"/><Relationship Id="rId3" Type="http://schemas.openxmlformats.org/officeDocument/2006/relationships/image" Target="../media/image52.png"/><Relationship Id="rId2" Type="http://schemas.openxmlformats.org/officeDocument/2006/relationships/image" Target="../media/image51.wmf"/><Relationship Id="rId1" Type="http://schemas.openxmlformats.org/officeDocument/2006/relationships/oleObject" Target="../embeddings/oleObject47.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ctrTitle"/>
          </p:nvPr>
        </p:nvSpPr>
        <p:spPr/>
        <p:txBody>
          <a:bodyPr/>
          <a:lstStyle/>
          <a:p>
            <a:r>
              <a:rPr lang="zh-CN" altLang="en-US"/>
              <a:t>第</a:t>
            </a:r>
            <a:r>
              <a:rPr lang="en-US" altLang="zh-CN"/>
              <a:t>6</a:t>
            </a:r>
            <a:r>
              <a:rPr lang="zh-CN" altLang="en-US"/>
              <a:t>章  信号与系统的时域和频域特性</a:t>
            </a:r>
            <a:endParaRPr lang="zh-CN" altLang="en-US"/>
          </a:p>
        </p:txBody>
      </p:sp>
      <p:sp>
        <p:nvSpPr>
          <p:cNvPr id="3" name="副标题 2"/>
          <p:cNvSpPr>
            <a:spLocks noGrp="1"/>
          </p:cNvSpPr>
          <p:nvPr>
            <p:ph type="subTitle" idx="1"/>
          </p:nvPr>
        </p:nvSpPr>
        <p:spPr/>
        <p:txBody>
          <a:bodyPr/>
          <a:lstStyle/>
          <a:p>
            <a:pPr>
              <a:defRPr/>
            </a:pPr>
            <a:r>
              <a:rPr lang="en-US" altLang="zh-CN" dirty="0"/>
              <a:t>Time and Frequency Characterization of Signals and Systems</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C2C678-2452-4279-A5F6-CB0ED6E3AFC6}"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标题 1"/>
          <p:cNvSpPr>
            <a:spLocks noGrp="1"/>
          </p:cNvSpPr>
          <p:nvPr>
            <p:ph type="title"/>
          </p:nvPr>
        </p:nvSpPr>
        <p:spPr/>
        <p:txBody>
          <a:bodyPr/>
          <a:lstStyle/>
          <a:p>
            <a:r>
              <a:rPr lang="en-US" altLang="zh-CN"/>
              <a:t>6.0 </a:t>
            </a:r>
            <a:r>
              <a:rPr lang="zh-CN" altLang="en-US"/>
              <a:t>引言</a:t>
            </a:r>
            <a:endParaRPr lang="zh-CN" altLang="en-US" sz="320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981200" y="1285875"/>
                <a:ext cx="8229600" cy="5214938"/>
              </a:xfrm>
            </p:spPr>
            <p:txBody>
              <a:bodyPr/>
              <a:lstStyle/>
              <a:p>
                <a:pPr algn="just"/>
                <a:r>
                  <a:rPr lang="zh-CN" altLang="en-US" sz="2800" b="0" dirty="0"/>
                  <a:t>在前面的讨论中，我们看到</a:t>
                </a:r>
                <a:endParaRPr lang="en-US" altLang="zh-CN" sz="2800" b="0" dirty="0"/>
              </a:p>
              <a:p>
                <a:pPr lvl="1" algn="just"/>
                <a:r>
                  <a:rPr lang="zh-CN" altLang="en-US" b="0" dirty="0"/>
                  <a:t>在时域，系统的特性由</a:t>
                </a:r>
                <a14:m>
                  <m:oMath xmlns:m="http://schemas.openxmlformats.org/officeDocument/2006/math">
                    <m:r>
                      <a:rPr lang="en-US" i="1">
                        <a:solidFill>
                          <a:srgbClr val="000000"/>
                        </a:solidFill>
                        <a:latin typeface="Cambria Math" panose="02040503050406030204" pitchFamily="18" charset="0"/>
                      </a:rPr>
                      <m:t>ℎ</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𝑡</m:t>
                    </m:r>
                    <m:r>
                      <a:rPr lang="en-US" i="1">
                        <a:solidFill>
                          <a:srgbClr val="000000"/>
                        </a:solidFill>
                        <a:latin typeface="Cambria Math" panose="02040503050406030204" pitchFamily="18" charset="0"/>
                      </a:rPr>
                      <m:t>)</m:t>
                    </m:r>
                  </m:oMath>
                </a14:m>
                <a:r>
                  <a:rPr lang="zh-CN" altLang="en-US" b="0" dirty="0"/>
                  <a:t>或</a:t>
                </a:r>
                <a14:m>
                  <m:oMath xmlns:m="http://schemas.openxmlformats.org/officeDocument/2006/math">
                    <m:r>
                      <a:rPr lang="en-US" i="1">
                        <a:solidFill>
                          <a:srgbClr val="000000"/>
                        </a:solidFill>
                        <a:latin typeface="Cambria Math" panose="02040503050406030204" pitchFamily="18" charset="0"/>
                      </a:rPr>
                      <m:t>ℎ</m:t>
                    </m:r>
                    <m:r>
                      <a:rPr lang="en-US" b="1" i="1" smtClean="0">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𝑛</m:t>
                    </m:r>
                    <m:r>
                      <a:rPr lang="en-US" b="1" i="1" smtClean="0">
                        <a:solidFill>
                          <a:srgbClr val="000000"/>
                        </a:solidFill>
                        <a:latin typeface="Cambria Math" panose="02040503050406030204" pitchFamily="18" charset="0"/>
                      </a:rPr>
                      <m:t>]</m:t>
                    </m:r>
                  </m:oMath>
                </a14:m>
                <a:r>
                  <a:rPr lang="zh-CN" altLang="en-US" b="0" dirty="0"/>
                  <a:t>描述</a:t>
                </a:r>
                <a:endParaRPr lang="en-US" altLang="zh-CN" b="0" dirty="0"/>
              </a:p>
              <a:p>
                <a:pPr lvl="1" algn="just"/>
                <a:r>
                  <a:rPr lang="zh-CN" altLang="en-US" b="0" dirty="0"/>
                  <a:t>在频域，系统的特性由</a:t>
                </a:r>
                <a14:m>
                  <m:oMath xmlns:m="http://schemas.openxmlformats.org/officeDocument/2006/math">
                    <m:r>
                      <a:rPr lang="en-US" i="1">
                        <a:solidFill>
                          <a:srgbClr val="000000"/>
                        </a:solidFill>
                        <a:latin typeface="Cambria Math" panose="02040503050406030204" pitchFamily="18" charset="0"/>
                      </a:rPr>
                      <m:t>𝐻</m:t>
                    </m:r>
                    <m:r>
                      <a:rPr lang="en-US" i="1">
                        <a:solidFill>
                          <a:srgbClr val="000000"/>
                        </a:solidFill>
                        <a:latin typeface="Cambria Math" panose="02040503050406030204" pitchFamily="18" charset="0"/>
                      </a:rPr>
                      <m:t>(</m:t>
                    </m:r>
                    <m:r>
                      <m:rPr>
                        <m:sty m:val="p"/>
                      </m:rPr>
                      <a:rPr lang="en-US">
                        <a:solidFill>
                          <a:srgbClr val="000000"/>
                        </a:solidFill>
                        <a:latin typeface="Cambria Math" panose="02040503050406030204" pitchFamily="18" charset="0"/>
                      </a:rPr>
                      <m:t>j</m:t>
                    </m:r>
                    <m:r>
                      <a:rPr lang="en-US" i="1">
                        <a:solidFill>
                          <a:srgbClr val="000000"/>
                        </a:solidFill>
                        <a:latin typeface="Cambria Math" panose="02040503050406030204" pitchFamily="18" charset="0"/>
                      </a:rPr>
                      <m:t>𝜔</m:t>
                    </m:r>
                    <m:r>
                      <a:rPr lang="en-US" i="1">
                        <a:solidFill>
                          <a:srgbClr val="000000"/>
                        </a:solidFill>
                        <a:latin typeface="Cambria Math" panose="02040503050406030204" pitchFamily="18" charset="0"/>
                      </a:rPr>
                      <m:t>)</m:t>
                    </m:r>
                  </m:oMath>
                </a14:m>
                <a:r>
                  <a:rPr lang="zh-CN" altLang="en-US" b="0" dirty="0"/>
                  <a:t>或</a:t>
                </a:r>
                <a14:m>
                  <m:oMath xmlns:m="http://schemas.openxmlformats.org/officeDocument/2006/math">
                    <m:r>
                      <a:rPr lang="en-US" i="1">
                        <a:solidFill>
                          <a:srgbClr val="000000"/>
                        </a:solidFill>
                        <a:latin typeface="Cambria Math" panose="02040503050406030204" pitchFamily="18" charset="0"/>
                      </a:rPr>
                      <m:t>𝐻</m:t>
                    </m:r>
                    <m:r>
                      <a:rPr lang="en-US" i="1">
                        <a:solidFill>
                          <a:srgbClr val="000000"/>
                        </a:solidFill>
                        <a:latin typeface="Cambria Math" panose="02040503050406030204" pitchFamily="18" charset="0"/>
                      </a:rPr>
                      <m:t>(</m:t>
                    </m:r>
                    <m:sSup>
                      <m:sSupPr>
                        <m:ctrlPr>
                          <a:rPr lang="en-US" i="1">
                            <a:solidFill>
                              <a:srgbClr val="000000"/>
                            </a:solidFill>
                            <a:latin typeface="Cambria Math" panose="02040503050406030204" pitchFamily="18" charset="0"/>
                          </a:rPr>
                        </m:ctrlPr>
                      </m:sSupPr>
                      <m:e>
                        <m:r>
                          <m:rPr>
                            <m:sty m:val="p"/>
                          </m:rPr>
                          <a:rPr lang="en-US">
                            <a:solidFill>
                              <a:srgbClr val="000000"/>
                            </a:solidFill>
                            <a:latin typeface="Cambria Math" panose="02040503050406030204" pitchFamily="18" charset="0"/>
                          </a:rPr>
                          <m:t>e</m:t>
                        </m:r>
                      </m:e>
                      <m:sup>
                        <m:r>
                          <m:rPr>
                            <m:sty m:val="p"/>
                          </m:rPr>
                          <a:rPr lang="en-US">
                            <a:solidFill>
                              <a:srgbClr val="000000"/>
                            </a:solidFill>
                            <a:latin typeface="Cambria Math" panose="02040503050406030204" pitchFamily="18" charset="0"/>
                          </a:rPr>
                          <m:t>j</m:t>
                        </m:r>
                        <m:r>
                          <a:rPr lang="en-US" i="1">
                            <a:solidFill>
                              <a:srgbClr val="000000"/>
                            </a:solidFill>
                            <a:latin typeface="Cambria Math" panose="02040503050406030204" pitchFamily="18" charset="0"/>
                          </a:rPr>
                          <m:t>𝜔</m:t>
                        </m:r>
                      </m:sup>
                    </m:sSup>
                    <m:r>
                      <a:rPr lang="en-US" i="1">
                        <a:solidFill>
                          <a:srgbClr val="000000"/>
                        </a:solidFill>
                        <a:latin typeface="Cambria Math" panose="02040503050406030204" pitchFamily="18" charset="0"/>
                      </a:rPr>
                      <m:t>)</m:t>
                    </m:r>
                  </m:oMath>
                </a14:m>
                <a:r>
                  <a:rPr lang="zh-CN" altLang="en-US" b="0" dirty="0"/>
                  <a:t>描述</a:t>
                </a:r>
                <a:endParaRPr lang="en-US" altLang="zh-CN" b="0" dirty="0"/>
              </a:p>
              <a:p>
                <a:pPr algn="just"/>
                <a:r>
                  <a:rPr lang="zh-CN" altLang="en-US" sz="2800" b="0" dirty="0"/>
                  <a:t>在</a:t>
                </a:r>
                <a:r>
                  <a:rPr lang="en-US" altLang="zh-CN" sz="2800" b="0" dirty="0"/>
                  <a:t>LTI </a:t>
                </a:r>
                <a:r>
                  <a:rPr lang="zh-CN" altLang="en-US" sz="2800" b="0" dirty="0"/>
                  <a:t>系统分析中，由于时域中的卷积运算和微分（差分）方程在频域都变成了代数运算，所以利用频域分析往往特别方便。</a:t>
                </a:r>
                <a:endParaRPr lang="en-US" altLang="zh-CN" sz="2800" b="0" dirty="0"/>
              </a:p>
              <a:p>
                <a:pPr algn="just"/>
                <a:r>
                  <a:rPr lang="zh-CN" altLang="en-US" sz="2800" b="0" dirty="0"/>
                  <a:t>系统的时域特性与频域特性是相互制约的。在进行系统的分析与设计时，要权衡考虑系统的时域与频域特性。</a:t>
                </a:r>
                <a:endParaRPr lang="en-US" altLang="zh-CN" sz="2800" b="0" dirty="0"/>
              </a:p>
              <a:p>
                <a:pPr algn="just"/>
                <a:r>
                  <a:rPr lang="zh-CN" altLang="en-US" sz="2800" b="0" dirty="0"/>
                  <a:t>本章的基本内容旨在建立对系统的时域和频域特性进行综合分析的思想和方法。</a:t>
                </a:r>
                <a:endParaRPr lang="zh-CN" altLang="en-US" sz="2800" b="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981200" y="1285875"/>
                <a:ext cx="8229600" cy="5214938"/>
              </a:xfrm>
              <a:blipFill rotWithShape="1">
                <a:blip r:embed="rId1"/>
                <a:stretch>
                  <a:fillRect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055186-DE2C-45F0-B8B2-135A707E7DB7}"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标题 1"/>
          <p:cNvSpPr>
            <a:spLocks noGrp="1"/>
          </p:cNvSpPr>
          <p:nvPr>
            <p:ph type="title"/>
          </p:nvPr>
        </p:nvSpPr>
        <p:spPr/>
        <p:txBody>
          <a:bodyPr/>
          <a:lstStyle/>
          <a:p>
            <a:r>
              <a:rPr lang="en-US" altLang="zh-CN" sz="4000" dirty="0"/>
              <a:t>6.1 </a:t>
            </a:r>
            <a:r>
              <a:rPr lang="zh-CN" altLang="en-US" sz="4000" dirty="0"/>
              <a:t>傅里叶变换的模和相位表示</a:t>
            </a:r>
            <a:endParaRPr lang="zh-CN" altLang="en-US" dirty="0"/>
          </a:p>
        </p:txBody>
      </p:sp>
      <p:sp>
        <p:nvSpPr>
          <p:cNvPr id="3" name="内容占位符 2"/>
          <p:cNvSpPr>
            <a:spLocks noGrp="1"/>
          </p:cNvSpPr>
          <p:nvPr>
            <p:ph idx="1"/>
          </p:nvPr>
        </p:nvSpPr>
        <p:spPr/>
        <p:txBody>
          <a:bodyPr/>
          <a:lstStyle/>
          <a:p>
            <a:pPr algn="just"/>
            <a:r>
              <a:rPr lang="zh-CN" altLang="en-US" sz="2800" b="0" dirty="0"/>
              <a:t>连续时间傅里叶变换的模</a:t>
            </a:r>
            <a:r>
              <a:rPr lang="en-US" altLang="zh-CN" sz="2800" b="0" dirty="0"/>
              <a:t>-</a:t>
            </a:r>
            <a:r>
              <a:rPr lang="zh-CN" altLang="en-US" sz="2800" b="0" dirty="0"/>
              <a:t>相位表示：</a:t>
            </a:r>
            <a:endParaRPr lang="en-US" altLang="zh-CN" sz="2800" b="0" dirty="0"/>
          </a:p>
          <a:p>
            <a:pPr algn="just"/>
            <a:endParaRPr lang="en-US" altLang="zh-CN" sz="2800" b="0" dirty="0"/>
          </a:p>
          <a:p>
            <a:pPr algn="just"/>
            <a:r>
              <a:rPr lang="zh-CN" altLang="en-US" sz="2800" b="0" dirty="0"/>
              <a:t>离散时间傅里叶变换的模</a:t>
            </a:r>
            <a:r>
              <a:rPr lang="en-US" altLang="zh-CN" sz="2800" b="0" dirty="0"/>
              <a:t>-</a:t>
            </a:r>
            <a:r>
              <a:rPr lang="zh-CN" altLang="en-US" sz="2800" b="0" dirty="0"/>
              <a:t>相位表示：</a:t>
            </a:r>
            <a:endParaRPr lang="en-US" altLang="zh-CN" sz="2800" b="0" dirty="0"/>
          </a:p>
          <a:p>
            <a:pPr algn="just"/>
            <a:endParaRPr lang="en-US" altLang="zh-CN" sz="2800" b="0" dirty="0"/>
          </a:p>
          <a:p>
            <a:pPr algn="just"/>
            <a:r>
              <a:rPr lang="zh-CN" altLang="en-US" sz="2800" b="0" dirty="0"/>
              <a:t>因此，导致信号失真的原因有两种：</a:t>
            </a:r>
            <a:endParaRPr lang="en-US" altLang="zh-CN" sz="2800" b="0" dirty="0"/>
          </a:p>
          <a:p>
            <a:pPr lvl="1" algn="just"/>
            <a:r>
              <a:rPr lang="zh-CN" altLang="en-US" b="0" dirty="0">
                <a:solidFill>
                  <a:srgbClr val="FF0000"/>
                </a:solidFill>
              </a:rPr>
              <a:t>幅度失真</a:t>
            </a:r>
            <a:r>
              <a:rPr lang="zh-CN" altLang="en-US" b="0" dirty="0"/>
              <a:t>：频谱的模改变引起的失真。</a:t>
            </a:r>
            <a:endParaRPr lang="en-US" altLang="zh-CN" b="0" dirty="0"/>
          </a:p>
          <a:p>
            <a:pPr lvl="1" algn="just"/>
            <a:r>
              <a:rPr lang="zh-CN" altLang="en-US" b="0" dirty="0">
                <a:solidFill>
                  <a:srgbClr val="FF0000"/>
                </a:solidFill>
              </a:rPr>
              <a:t>相位失真</a:t>
            </a:r>
            <a:r>
              <a:rPr lang="zh-CN" altLang="en-US" b="0" dirty="0"/>
              <a:t>：频谱的相位改变引起的失真。</a:t>
            </a:r>
            <a:endParaRPr lang="en-US" altLang="zh-CN" b="0" dirty="0"/>
          </a:p>
          <a:p>
            <a:pPr algn="just"/>
            <a:r>
              <a:rPr lang="zh-CN" altLang="en-US" sz="2800" b="0" dirty="0"/>
              <a:t>在工程实际中，不同的应用场合，对幅度失真和相位失真有不同的敏感程度，也会有不同的技术指标要求。</a:t>
            </a:r>
            <a:endParaRPr lang="zh-CN" altLang="en-US" sz="28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8D18CD3-904D-41AD-A111-4DBD6CB58497}"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graphicFrame>
        <p:nvGraphicFramePr>
          <p:cNvPr id="2050" name="Object 3"/>
          <p:cNvGraphicFramePr>
            <a:graphicFrameLocks noChangeAspect="1"/>
          </p:cNvGraphicFramePr>
          <p:nvPr/>
        </p:nvGraphicFramePr>
        <p:xfrm>
          <a:off x="4124325" y="2786063"/>
          <a:ext cx="3630613" cy="701675"/>
        </p:xfrm>
        <a:graphic>
          <a:graphicData uri="http://schemas.openxmlformats.org/presentationml/2006/ole">
            <mc:AlternateContent xmlns:mc="http://schemas.openxmlformats.org/markup-compatibility/2006">
              <mc:Choice xmlns:v="urn:schemas-microsoft-com:vml" Requires="v">
                <p:oleObj spid="_x0000_s1230" name="Equation" r:id="rId1" imgW="1562100" imgH="292100" progId="Equation.DSMT4">
                  <p:embed/>
                </p:oleObj>
              </mc:Choice>
              <mc:Fallback>
                <p:oleObj name="Equation" r:id="rId1" imgW="1562100" imgH="292100"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4325" y="2786063"/>
                        <a:ext cx="36306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 name="Object 4"/>
          <p:cNvGraphicFramePr>
            <a:graphicFrameLocks noChangeAspect="1"/>
          </p:cNvGraphicFramePr>
          <p:nvPr/>
        </p:nvGraphicFramePr>
        <p:xfrm>
          <a:off x="4198938" y="1762125"/>
          <a:ext cx="3482975" cy="609600"/>
        </p:xfrm>
        <a:graphic>
          <a:graphicData uri="http://schemas.openxmlformats.org/presentationml/2006/ole">
            <mc:AlternateContent xmlns:mc="http://schemas.openxmlformats.org/markup-compatibility/2006">
              <mc:Choice xmlns:v="urn:schemas-microsoft-com:vml" Requires="v">
                <p:oleObj spid="_x0000_s1231" name="Equation" r:id="rId3" imgW="1497965" imgH="254000" progId="Equation.DSMT4">
                  <p:embed/>
                </p:oleObj>
              </mc:Choice>
              <mc:Fallback>
                <p:oleObj name="Equation" r:id="rId3" imgW="1497965" imgH="2540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8938" y="1762125"/>
                        <a:ext cx="348297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组合 6"/>
          <p:cNvGrpSpPr/>
          <p:nvPr/>
        </p:nvGrpSpPr>
        <p:grpSpPr>
          <a:xfrm>
            <a:off x="6960096" y="1857254"/>
            <a:ext cx="144016" cy="131585"/>
            <a:chOff x="8172400" y="2090738"/>
            <a:chExt cx="144016" cy="114126"/>
          </a:xfrm>
        </p:grpSpPr>
        <p:cxnSp>
          <p:nvCxnSpPr>
            <p:cNvPr id="8" name="直接连接符 7"/>
            <p:cNvCxnSpPr/>
            <p:nvPr/>
          </p:nvCxnSpPr>
          <p:spPr>
            <a:xfrm flipH="1">
              <a:off x="8172400" y="2090738"/>
              <a:ext cx="72008" cy="114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8172400" y="2204864"/>
              <a:ext cx="144016"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6924092" y="2924944"/>
            <a:ext cx="144016" cy="131585"/>
            <a:chOff x="8172400" y="2090738"/>
            <a:chExt cx="144016" cy="114126"/>
          </a:xfrm>
        </p:grpSpPr>
        <p:cxnSp>
          <p:nvCxnSpPr>
            <p:cNvPr id="11" name="直接连接符 10"/>
            <p:cNvCxnSpPr/>
            <p:nvPr/>
          </p:nvCxnSpPr>
          <p:spPr>
            <a:xfrm flipH="1">
              <a:off x="8172400" y="2090738"/>
              <a:ext cx="72008" cy="114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8172400" y="2204864"/>
              <a:ext cx="144016" cy="0"/>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blinds(horizontal)">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blinds(horizontal)">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blinds(horizontal)">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EC27379-6898-4C75-8C34-5C0CD53CAEFA}"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pic>
        <p:nvPicPr>
          <p:cNvPr id="3789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8538" y="1335088"/>
            <a:ext cx="7685087" cy="523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Text Box 4"/>
          <p:cNvSpPr txBox="1">
            <a:spLocks noChangeArrowheads="1"/>
          </p:cNvSpPr>
          <p:nvPr/>
        </p:nvSpPr>
        <p:spPr bwMode="auto">
          <a:xfrm>
            <a:off x="3430588" y="3670300"/>
            <a:ext cx="145097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99"/>
                </a:solidFill>
                <a:latin typeface="Times New Roman" panose="02020603050405020304" pitchFamily="18" charset="0"/>
                <a:ea typeface="华文楷体" panose="02010600040101010101" pitchFamily="2" charset="-122"/>
              </a:rPr>
              <a:t>(a)</a:t>
            </a:r>
            <a:r>
              <a:rPr lang="zh-CN" altLang="en-US">
                <a:solidFill>
                  <a:srgbClr val="000099"/>
                </a:solidFill>
                <a:latin typeface="Times New Roman" panose="02020603050405020304" pitchFamily="18" charset="0"/>
                <a:ea typeface="华文楷体" panose="02010600040101010101" pitchFamily="2" charset="-122"/>
              </a:rPr>
              <a:t>原图像</a:t>
            </a:r>
            <a:endParaRPr lang="zh-CN" altLang="en-US">
              <a:solidFill>
                <a:srgbClr val="000099"/>
              </a:solidFill>
              <a:latin typeface="Times New Roman" panose="02020603050405020304" pitchFamily="18" charset="0"/>
              <a:ea typeface="华文楷体" panose="02010600040101010101" pitchFamily="2" charset="-122"/>
            </a:endParaRPr>
          </a:p>
        </p:txBody>
      </p:sp>
      <p:sp>
        <p:nvSpPr>
          <p:cNvPr id="37894" name="Text Box 5"/>
          <p:cNvSpPr txBox="1">
            <a:spLocks noChangeArrowheads="1"/>
          </p:cNvSpPr>
          <p:nvPr/>
        </p:nvSpPr>
        <p:spPr bwMode="auto">
          <a:xfrm>
            <a:off x="6384032" y="3670300"/>
            <a:ext cx="3476624"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99"/>
                </a:solidFill>
                <a:latin typeface="Times New Roman" panose="02020603050405020304" pitchFamily="18" charset="0"/>
                <a:ea typeface="华文楷体" panose="02010600040101010101" pitchFamily="2" charset="-122"/>
              </a:rPr>
              <a:t>(b)</a:t>
            </a:r>
            <a:r>
              <a:rPr lang="zh-CN" altLang="en-US" dirty="0">
                <a:solidFill>
                  <a:srgbClr val="000099"/>
                </a:solidFill>
                <a:latin typeface="Times New Roman" panose="02020603050405020304" pitchFamily="18" charset="0"/>
                <a:ea typeface="华文楷体" panose="02010600040101010101" pitchFamily="2" charset="-122"/>
              </a:rPr>
              <a:t>图</a:t>
            </a:r>
            <a:r>
              <a:rPr lang="en-US" altLang="zh-CN" dirty="0">
                <a:solidFill>
                  <a:srgbClr val="000099"/>
                </a:solidFill>
                <a:latin typeface="Times New Roman" panose="02020603050405020304" pitchFamily="18" charset="0"/>
                <a:ea typeface="华文楷体" panose="02010600040101010101" pitchFamily="2" charset="-122"/>
              </a:rPr>
              <a:t>(a)</a:t>
            </a:r>
            <a:r>
              <a:rPr lang="zh-CN" altLang="en-US" dirty="0">
                <a:solidFill>
                  <a:srgbClr val="000099"/>
                </a:solidFill>
                <a:latin typeface="Times New Roman" panose="02020603050405020304" pitchFamily="18" charset="0"/>
                <a:ea typeface="华文楷体" panose="02010600040101010101" pitchFamily="2" charset="-122"/>
              </a:rPr>
              <a:t>的二维傅里叶变换的模</a:t>
            </a:r>
            <a:endParaRPr lang="zh-CN" altLang="en-US" dirty="0">
              <a:solidFill>
                <a:srgbClr val="000099"/>
              </a:solidFill>
              <a:latin typeface="Times New Roman" panose="02020603050405020304" pitchFamily="18" charset="0"/>
              <a:ea typeface="华文楷体" panose="02010600040101010101" pitchFamily="2" charset="-122"/>
            </a:endParaRPr>
          </a:p>
        </p:txBody>
      </p:sp>
      <p:sp>
        <p:nvSpPr>
          <p:cNvPr id="37895" name="Text Box 6"/>
          <p:cNvSpPr txBox="1">
            <a:spLocks noChangeArrowheads="1"/>
          </p:cNvSpPr>
          <p:nvPr/>
        </p:nvSpPr>
        <p:spPr bwMode="auto">
          <a:xfrm>
            <a:off x="2324100" y="6403975"/>
            <a:ext cx="360362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99"/>
                </a:solidFill>
                <a:latin typeface="Times New Roman" panose="02020603050405020304" pitchFamily="18" charset="0"/>
                <a:ea typeface="华文楷体" panose="02010600040101010101" pitchFamily="2" charset="-122"/>
              </a:rPr>
              <a:t>(c)</a:t>
            </a:r>
            <a:r>
              <a:rPr lang="zh-CN" altLang="en-US" dirty="0">
                <a:solidFill>
                  <a:srgbClr val="000099"/>
                </a:solidFill>
                <a:latin typeface="Times New Roman" panose="02020603050405020304" pitchFamily="18" charset="0"/>
                <a:ea typeface="华文楷体" panose="02010600040101010101" pitchFamily="2" charset="-122"/>
              </a:rPr>
              <a:t>图</a:t>
            </a:r>
            <a:r>
              <a:rPr lang="en-US" altLang="zh-CN" dirty="0">
                <a:solidFill>
                  <a:srgbClr val="000099"/>
                </a:solidFill>
                <a:latin typeface="Times New Roman" panose="02020603050405020304" pitchFamily="18" charset="0"/>
                <a:ea typeface="华文楷体" panose="02010600040101010101" pitchFamily="2" charset="-122"/>
              </a:rPr>
              <a:t>(a)</a:t>
            </a:r>
            <a:r>
              <a:rPr lang="zh-CN" altLang="en-US" dirty="0">
                <a:solidFill>
                  <a:srgbClr val="000099"/>
                </a:solidFill>
                <a:latin typeface="Times New Roman" panose="02020603050405020304" pitchFamily="18" charset="0"/>
                <a:ea typeface="华文楷体" panose="02010600040101010101" pitchFamily="2" charset="-122"/>
              </a:rPr>
              <a:t>的二维傅里叶变换的相位</a:t>
            </a:r>
            <a:endParaRPr lang="zh-CN" altLang="en-US" dirty="0">
              <a:solidFill>
                <a:srgbClr val="000099"/>
              </a:solidFill>
              <a:latin typeface="Times New Roman" panose="02020603050405020304" pitchFamily="18" charset="0"/>
              <a:ea typeface="华文楷体" panose="02010600040101010101" pitchFamily="2" charset="-122"/>
            </a:endParaRPr>
          </a:p>
        </p:txBody>
      </p:sp>
      <p:sp>
        <p:nvSpPr>
          <p:cNvPr id="37896" name="Text Box 7"/>
          <p:cNvSpPr txBox="1">
            <a:spLocks noChangeArrowheads="1"/>
          </p:cNvSpPr>
          <p:nvPr/>
        </p:nvSpPr>
        <p:spPr bwMode="auto">
          <a:xfrm>
            <a:off x="5956614" y="6398696"/>
            <a:ext cx="428307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99"/>
                </a:solidFill>
                <a:latin typeface="Times New Roman" panose="02020603050405020304" pitchFamily="18" charset="0"/>
                <a:ea typeface="华文楷体" panose="02010600040101010101" pitchFamily="2" charset="-122"/>
              </a:rPr>
              <a:t>(d)</a:t>
            </a:r>
            <a:r>
              <a:rPr lang="zh-CN" altLang="en-US" dirty="0">
                <a:solidFill>
                  <a:srgbClr val="000099"/>
                </a:solidFill>
                <a:latin typeface="Times New Roman" panose="02020603050405020304" pitchFamily="18" charset="0"/>
                <a:ea typeface="华文楷体" panose="02010600040101010101" pitchFamily="2" charset="-122"/>
              </a:rPr>
              <a:t>傅里叶变换的模与</a:t>
            </a:r>
            <a:r>
              <a:rPr lang="en-US" altLang="zh-CN" dirty="0">
                <a:solidFill>
                  <a:srgbClr val="000099"/>
                </a:solidFill>
                <a:latin typeface="Times New Roman" panose="02020603050405020304" pitchFamily="18" charset="0"/>
                <a:ea typeface="华文楷体" panose="02010600040101010101" pitchFamily="2" charset="-122"/>
              </a:rPr>
              <a:t>(b)</a:t>
            </a:r>
            <a:r>
              <a:rPr lang="zh-CN" altLang="en-US" dirty="0">
                <a:solidFill>
                  <a:srgbClr val="000099"/>
                </a:solidFill>
                <a:latin typeface="Times New Roman" panose="02020603050405020304" pitchFamily="18" charset="0"/>
                <a:ea typeface="华文楷体" panose="02010600040101010101" pitchFamily="2" charset="-122"/>
              </a:rPr>
              <a:t>相同</a:t>
            </a:r>
            <a:r>
              <a:rPr lang="en-US" altLang="zh-CN" dirty="0">
                <a:solidFill>
                  <a:srgbClr val="000099"/>
                </a:solidFill>
                <a:latin typeface="Times New Roman" panose="02020603050405020304" pitchFamily="18" charset="0"/>
                <a:ea typeface="华文楷体" panose="02010600040101010101" pitchFamily="2" charset="-122"/>
              </a:rPr>
              <a:t>,</a:t>
            </a:r>
            <a:r>
              <a:rPr lang="zh-CN" altLang="en-US" dirty="0">
                <a:solidFill>
                  <a:srgbClr val="000099"/>
                </a:solidFill>
                <a:latin typeface="Times New Roman" panose="02020603050405020304" pitchFamily="18" charset="0"/>
                <a:ea typeface="华文楷体" panose="02010600040101010101" pitchFamily="2" charset="-122"/>
              </a:rPr>
              <a:t>而相位为零</a:t>
            </a:r>
            <a:endParaRPr lang="zh-CN" altLang="en-US" dirty="0">
              <a:solidFill>
                <a:srgbClr val="000099"/>
              </a:solidFill>
              <a:latin typeface="Times New Roman" panose="02020603050405020304" pitchFamily="18" charset="0"/>
              <a:ea typeface="华文楷体" panose="02010600040101010101" pitchFamily="2" charset="-122"/>
            </a:endParaRPr>
          </a:p>
        </p:txBody>
      </p:sp>
      <p:sp>
        <p:nvSpPr>
          <p:cNvPr id="12" name="标题 1"/>
          <p:cNvSpPr>
            <a:spLocks noGrp="1"/>
          </p:cNvSpPr>
          <p:nvPr>
            <p:ph type="title"/>
          </p:nvPr>
        </p:nvSpPr>
        <p:spPr>
          <a:xfrm>
            <a:off x="1981200" y="274638"/>
            <a:ext cx="8229600" cy="725487"/>
          </a:xfrm>
        </p:spPr>
        <p:txBody>
          <a:bodyPr/>
          <a:lstStyle/>
          <a:p>
            <a:r>
              <a:rPr lang="en-US" altLang="zh-CN" sz="4000" dirty="0"/>
              <a:t>6.1 </a:t>
            </a:r>
            <a:r>
              <a:rPr lang="zh-CN" altLang="en-US" sz="4000" dirty="0"/>
              <a:t>傅里叶变换的模和相位表示</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9408" y="1205302"/>
            <a:ext cx="3933825"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8008" y="1205302"/>
            <a:ext cx="388620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F95637C-E9F7-464A-9523-1F45A9AF64C9}"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pic>
        <p:nvPicPr>
          <p:cNvPr id="3891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7188" y="4027264"/>
            <a:ext cx="4119562" cy="262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8" name="Text Box 4"/>
          <p:cNvSpPr txBox="1">
            <a:spLocks noChangeArrowheads="1"/>
          </p:cNvSpPr>
          <p:nvPr/>
        </p:nvSpPr>
        <p:spPr bwMode="auto">
          <a:xfrm>
            <a:off x="2243138" y="3708525"/>
            <a:ext cx="3602360" cy="3371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99"/>
                </a:solidFill>
                <a:latin typeface="Times New Roman" panose="02020603050405020304" pitchFamily="18" charset="0"/>
                <a:ea typeface="华文楷体" panose="02010600040101010101" pitchFamily="2" charset="-122"/>
              </a:rPr>
              <a:t>(e)</a:t>
            </a:r>
            <a:r>
              <a:rPr lang="zh-CN" altLang="en-US" sz="1600" dirty="0">
                <a:solidFill>
                  <a:srgbClr val="000099"/>
                </a:solidFill>
                <a:latin typeface="Times New Roman" panose="02020603050405020304" pitchFamily="18" charset="0"/>
                <a:ea typeface="华文楷体" panose="02010600040101010101" pitchFamily="2" charset="-122"/>
              </a:rPr>
              <a:t>傅里叶变换的模为</a:t>
            </a:r>
            <a:r>
              <a:rPr lang="en-US" altLang="zh-CN" sz="1600" dirty="0">
                <a:solidFill>
                  <a:srgbClr val="000099"/>
                </a:solidFill>
                <a:latin typeface="Times New Roman" panose="02020603050405020304" pitchFamily="18" charset="0"/>
                <a:ea typeface="华文楷体" panose="02010600040101010101" pitchFamily="2" charset="-122"/>
              </a:rPr>
              <a:t>1</a:t>
            </a:r>
            <a:r>
              <a:rPr lang="zh-CN" altLang="en-US" sz="1600" dirty="0">
                <a:solidFill>
                  <a:srgbClr val="000099"/>
                </a:solidFill>
                <a:latin typeface="Times New Roman" panose="02020603050405020304" pitchFamily="18" charset="0"/>
                <a:ea typeface="华文楷体" panose="02010600040101010101" pitchFamily="2" charset="-122"/>
              </a:rPr>
              <a:t>，相位与</a:t>
            </a:r>
            <a:r>
              <a:rPr lang="en-US" altLang="zh-CN" sz="1600" dirty="0">
                <a:solidFill>
                  <a:srgbClr val="000099"/>
                </a:solidFill>
                <a:latin typeface="Times New Roman" panose="02020603050405020304" pitchFamily="18" charset="0"/>
                <a:ea typeface="华文楷体" panose="02010600040101010101" pitchFamily="2" charset="-122"/>
              </a:rPr>
              <a:t>(c)</a:t>
            </a:r>
            <a:r>
              <a:rPr lang="zh-CN" altLang="en-US" sz="1600" dirty="0">
                <a:solidFill>
                  <a:srgbClr val="000099"/>
                </a:solidFill>
                <a:latin typeface="Times New Roman" panose="02020603050405020304" pitchFamily="18" charset="0"/>
                <a:ea typeface="华文楷体" panose="02010600040101010101" pitchFamily="2" charset="-122"/>
              </a:rPr>
              <a:t>相同</a:t>
            </a:r>
            <a:endParaRPr lang="zh-CN" altLang="en-US" sz="1600" dirty="0">
              <a:solidFill>
                <a:srgbClr val="000099"/>
              </a:solidFill>
              <a:latin typeface="Times New Roman" panose="02020603050405020304" pitchFamily="18" charset="0"/>
              <a:ea typeface="华文楷体" panose="02010600040101010101" pitchFamily="2" charset="-122"/>
            </a:endParaRPr>
          </a:p>
        </p:txBody>
      </p:sp>
      <p:sp>
        <p:nvSpPr>
          <p:cNvPr id="38919" name="Text Box 5"/>
          <p:cNvSpPr txBox="1">
            <a:spLocks noChangeArrowheads="1"/>
          </p:cNvSpPr>
          <p:nvPr/>
        </p:nvSpPr>
        <p:spPr bwMode="auto">
          <a:xfrm>
            <a:off x="6044127" y="3707175"/>
            <a:ext cx="4145087" cy="3371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99"/>
                </a:solidFill>
                <a:latin typeface="Times New Roman" panose="02020603050405020304" pitchFamily="18" charset="0"/>
                <a:ea typeface="华文楷体" panose="02010600040101010101" pitchFamily="2" charset="-122"/>
              </a:rPr>
              <a:t>(f)</a:t>
            </a:r>
            <a:r>
              <a:rPr lang="zh-CN" altLang="en-US" sz="1600" dirty="0">
                <a:solidFill>
                  <a:srgbClr val="000099"/>
                </a:solidFill>
                <a:latin typeface="Times New Roman" panose="02020603050405020304" pitchFamily="18" charset="0"/>
                <a:ea typeface="华文楷体" panose="02010600040101010101" pitchFamily="2" charset="-122"/>
              </a:rPr>
              <a:t>相位与</a:t>
            </a:r>
            <a:r>
              <a:rPr lang="en-US" altLang="zh-CN" sz="1600" dirty="0">
                <a:solidFill>
                  <a:srgbClr val="000099"/>
                </a:solidFill>
                <a:latin typeface="Times New Roman" panose="02020603050405020304" pitchFamily="18" charset="0"/>
                <a:ea typeface="华文楷体" panose="02010600040101010101" pitchFamily="2" charset="-122"/>
              </a:rPr>
              <a:t>(c)</a:t>
            </a:r>
            <a:r>
              <a:rPr lang="zh-CN" altLang="en-US" sz="1600" dirty="0">
                <a:solidFill>
                  <a:srgbClr val="000099"/>
                </a:solidFill>
                <a:latin typeface="Times New Roman" panose="02020603050405020304" pitchFamily="18" charset="0"/>
                <a:ea typeface="华文楷体" panose="02010600040101010101" pitchFamily="2" charset="-122"/>
              </a:rPr>
              <a:t>同，模为图</a:t>
            </a:r>
            <a:r>
              <a:rPr lang="en-US" altLang="zh-CN" sz="1600" dirty="0">
                <a:solidFill>
                  <a:srgbClr val="000099"/>
                </a:solidFill>
                <a:latin typeface="Times New Roman" panose="02020603050405020304" pitchFamily="18" charset="0"/>
                <a:ea typeface="华文楷体" panose="02010600040101010101" pitchFamily="2" charset="-122"/>
              </a:rPr>
              <a:t>(g)</a:t>
            </a:r>
            <a:r>
              <a:rPr lang="zh-CN" altLang="en-US" sz="1600" dirty="0">
                <a:solidFill>
                  <a:srgbClr val="000099"/>
                </a:solidFill>
                <a:latin typeface="Times New Roman" panose="02020603050405020304" pitchFamily="18" charset="0"/>
                <a:ea typeface="华文楷体" panose="02010600040101010101" pitchFamily="2" charset="-122"/>
              </a:rPr>
              <a:t>的傅里叶变换的模</a:t>
            </a:r>
            <a:endParaRPr lang="zh-CN" altLang="en-US" sz="1600" dirty="0">
              <a:solidFill>
                <a:srgbClr val="000099"/>
              </a:solidFill>
              <a:latin typeface="Times New Roman" panose="02020603050405020304" pitchFamily="18" charset="0"/>
              <a:ea typeface="华文楷体" panose="02010600040101010101" pitchFamily="2" charset="-122"/>
            </a:endParaRPr>
          </a:p>
        </p:txBody>
      </p:sp>
      <p:sp>
        <p:nvSpPr>
          <p:cNvPr id="38920" name="Text Box 6"/>
          <p:cNvSpPr txBox="1">
            <a:spLocks noChangeArrowheads="1"/>
          </p:cNvSpPr>
          <p:nvPr/>
        </p:nvSpPr>
        <p:spPr bwMode="auto">
          <a:xfrm>
            <a:off x="5281588" y="6429152"/>
            <a:ext cx="1890762" cy="33718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99"/>
                </a:solidFill>
                <a:latin typeface="Times New Roman" panose="02020603050405020304" pitchFamily="18" charset="0"/>
                <a:ea typeface="华文楷体" panose="02010600040101010101" pitchFamily="2" charset="-122"/>
              </a:rPr>
              <a:t>(g)</a:t>
            </a:r>
            <a:r>
              <a:rPr lang="zh-CN" altLang="en-US" sz="1600" dirty="0">
                <a:solidFill>
                  <a:srgbClr val="000099"/>
                </a:solidFill>
                <a:latin typeface="Times New Roman" panose="02020603050405020304" pitchFamily="18" charset="0"/>
                <a:ea typeface="华文楷体" panose="02010600040101010101" pitchFamily="2" charset="-122"/>
              </a:rPr>
              <a:t>另一幅灰度图像</a:t>
            </a:r>
            <a:endParaRPr lang="zh-CN" altLang="en-US" sz="1600" dirty="0">
              <a:solidFill>
                <a:srgbClr val="000099"/>
              </a:solidFill>
              <a:latin typeface="Times New Roman" panose="02020603050405020304" pitchFamily="18" charset="0"/>
              <a:ea typeface="华文楷体" panose="02010600040101010101" pitchFamily="2" charset="-122"/>
            </a:endParaRPr>
          </a:p>
        </p:txBody>
      </p:sp>
      <p:sp>
        <p:nvSpPr>
          <p:cNvPr id="12" name="标题 1"/>
          <p:cNvSpPr>
            <a:spLocks noGrp="1"/>
          </p:cNvSpPr>
          <p:nvPr>
            <p:ph type="title"/>
          </p:nvPr>
        </p:nvSpPr>
        <p:spPr>
          <a:xfrm>
            <a:off x="1981200" y="274638"/>
            <a:ext cx="8229600" cy="725487"/>
          </a:xfrm>
        </p:spPr>
        <p:txBody>
          <a:bodyPr/>
          <a:lstStyle/>
          <a:p>
            <a:r>
              <a:rPr lang="en-US" altLang="zh-CN" sz="4000" dirty="0"/>
              <a:t>6.1 </a:t>
            </a:r>
            <a:r>
              <a:rPr lang="zh-CN" altLang="en-US" sz="4000" dirty="0"/>
              <a:t>傅里叶变换的模和相位表示</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8919"/>
                                        </p:tgtEl>
                                        <p:attrNameLst>
                                          <p:attrName>style.visibility</p:attrName>
                                        </p:attrNameLst>
                                      </p:cBhvr>
                                      <p:to>
                                        <p:strVal val="visible"/>
                                      </p:to>
                                    </p:set>
                                    <p:animEffect transition="in" filter="wipe(down)">
                                      <p:cBhvr>
                                        <p:cTn id="12" dur="500"/>
                                        <p:tgtEl>
                                          <p:spTgt spid="38919"/>
                                        </p:tgtEl>
                                      </p:cBhvr>
                                    </p:animEffect>
                                  </p:childTnLst>
                                </p:cTn>
                              </p:par>
                              <p:par>
                                <p:cTn id="13" presetID="22" presetClass="entr" presetSubtype="4" fill="hold" nodeType="withEffect">
                                  <p:stCondLst>
                                    <p:cond delay="0"/>
                                  </p:stCondLst>
                                  <p:childTnLst>
                                    <p:set>
                                      <p:cBhvr>
                                        <p:cTn id="14" dur="1" fill="hold">
                                          <p:stCondLst>
                                            <p:cond delay="0"/>
                                          </p:stCondLst>
                                        </p:cTn>
                                        <p:tgtEl>
                                          <p:spTgt spid="38917"/>
                                        </p:tgtEl>
                                        <p:attrNameLst>
                                          <p:attrName>style.visibility</p:attrName>
                                        </p:attrNameLst>
                                      </p:cBhvr>
                                      <p:to>
                                        <p:strVal val="visible"/>
                                      </p:to>
                                    </p:set>
                                    <p:animEffect transition="in" filter="wipe(down)">
                                      <p:cBhvr>
                                        <p:cTn id="15" dur="500"/>
                                        <p:tgtEl>
                                          <p:spTgt spid="38917"/>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8920"/>
                                        </p:tgtEl>
                                        <p:attrNameLst>
                                          <p:attrName>style.visibility</p:attrName>
                                        </p:attrNameLst>
                                      </p:cBhvr>
                                      <p:to>
                                        <p:strVal val="visible"/>
                                      </p:to>
                                    </p:set>
                                    <p:animEffect transition="in" filter="wipe(down)">
                                      <p:cBhvr>
                                        <p:cTn id="18" dur="500"/>
                                        <p:tgtEl>
                                          <p:spTgt spid="3892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down)">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9" grpId="0" bldLvl="0" animBg="1"/>
      <p:bldP spid="38920"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标题 1"/>
          <p:cNvSpPr>
            <a:spLocks noGrp="1"/>
          </p:cNvSpPr>
          <p:nvPr>
            <p:ph type="title"/>
          </p:nvPr>
        </p:nvSpPr>
        <p:spPr/>
        <p:txBody>
          <a:bodyPr/>
          <a:lstStyle/>
          <a:p>
            <a:r>
              <a:rPr lang="en-US" altLang="zh-CN" sz="3200" dirty="0"/>
              <a:t>6.2  LTI</a:t>
            </a:r>
            <a:r>
              <a:rPr lang="zh-CN" altLang="en-US" sz="3200" dirty="0"/>
              <a:t>系统频率响应的模和相位表示</a:t>
            </a:r>
            <a:endParaRPr lang="zh-CN" altLang="en-US" sz="4000" dirty="0"/>
          </a:p>
        </p:txBody>
      </p:sp>
      <p:sp>
        <p:nvSpPr>
          <p:cNvPr id="3" name="内容占位符 2"/>
          <p:cNvSpPr>
            <a:spLocks noGrp="1"/>
          </p:cNvSpPr>
          <p:nvPr>
            <p:ph idx="1"/>
          </p:nvPr>
        </p:nvSpPr>
        <p:spPr/>
        <p:txBody>
          <a:bodyPr/>
          <a:lstStyle/>
          <a:p>
            <a:r>
              <a:rPr lang="en-US" altLang="zh-CN" sz="2800" b="0" dirty="0"/>
              <a:t>LTI</a:t>
            </a:r>
            <a:r>
              <a:rPr lang="zh-CN" altLang="en-US" sz="2800" b="0" dirty="0"/>
              <a:t>系统对输入信号所起的作用包括两个方面</a:t>
            </a:r>
            <a:r>
              <a:rPr lang="en-US" altLang="zh-CN" sz="2800" b="0" dirty="0"/>
              <a:t>: </a:t>
            </a:r>
            <a:endParaRPr lang="en-US" altLang="zh-CN" sz="2800" b="0" dirty="0"/>
          </a:p>
          <a:p>
            <a:pPr lvl="1"/>
            <a:r>
              <a:rPr lang="zh-CN" altLang="en-US" b="0" dirty="0"/>
              <a:t>改变输入信号各频率分量的模；</a:t>
            </a:r>
            <a:endParaRPr lang="zh-CN" altLang="en-US" b="0" dirty="0"/>
          </a:p>
          <a:p>
            <a:pPr lvl="1"/>
            <a:r>
              <a:rPr lang="zh-CN" altLang="en-US" b="0" dirty="0"/>
              <a:t>改变输入信号各频率分量的相对相位。</a:t>
            </a:r>
            <a:endParaRPr lang="zh-CN" altLang="en-US"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283F0B1-F6FF-4738-8B8D-3AA605C1805C}"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graphicFrame>
        <p:nvGraphicFramePr>
          <p:cNvPr id="61442" name="Object 2"/>
          <p:cNvGraphicFramePr>
            <a:graphicFrameLocks noChangeAspect="1"/>
          </p:cNvGraphicFramePr>
          <p:nvPr/>
        </p:nvGraphicFramePr>
        <p:xfrm>
          <a:off x="4584700" y="3286125"/>
          <a:ext cx="2874963" cy="485775"/>
        </p:xfrm>
        <a:graphic>
          <a:graphicData uri="http://schemas.openxmlformats.org/presentationml/2006/ole">
            <mc:AlternateContent xmlns:mc="http://schemas.openxmlformats.org/markup-compatibility/2006">
              <mc:Choice xmlns:v="urn:schemas-microsoft-com:vml" Requires="v">
                <p:oleObj spid="_x0000_s2356" name="Equation" r:id="rId1" imgW="1447165" imgH="203200" progId="Equation.DSMT4">
                  <p:embed/>
                </p:oleObj>
              </mc:Choice>
              <mc:Fallback>
                <p:oleObj name="Equation" r:id="rId1" imgW="1447165"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4700" y="3286125"/>
                        <a:ext cx="2874963"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3" name="Object 3"/>
          <p:cNvGraphicFramePr>
            <a:graphicFrameLocks noChangeAspect="1"/>
          </p:cNvGraphicFramePr>
          <p:nvPr/>
        </p:nvGraphicFramePr>
        <p:xfrm>
          <a:off x="4362450" y="3868738"/>
          <a:ext cx="3317875" cy="608012"/>
        </p:xfrm>
        <a:graphic>
          <a:graphicData uri="http://schemas.openxmlformats.org/presentationml/2006/ole">
            <mc:AlternateContent xmlns:mc="http://schemas.openxmlformats.org/markup-compatibility/2006">
              <mc:Choice xmlns:v="urn:schemas-microsoft-com:vml" Requires="v">
                <p:oleObj spid="_x0000_s2357" name="Equation" r:id="rId3" imgW="1663700" imgH="254000" progId="Equation.DSMT4">
                  <p:embed/>
                </p:oleObj>
              </mc:Choice>
              <mc:Fallback>
                <p:oleObj name="Equation" r:id="rId3" imgW="1663700" imgH="2540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2450" y="3868738"/>
                        <a:ext cx="3317875" cy="60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4" name="Object 4"/>
          <p:cNvGraphicFramePr>
            <a:graphicFrameLocks noChangeAspect="1"/>
          </p:cNvGraphicFramePr>
          <p:nvPr/>
        </p:nvGraphicFramePr>
        <p:xfrm>
          <a:off x="3732213" y="4575175"/>
          <a:ext cx="4578350" cy="485775"/>
        </p:xfrm>
        <a:graphic>
          <a:graphicData uri="http://schemas.openxmlformats.org/presentationml/2006/ole">
            <mc:AlternateContent xmlns:mc="http://schemas.openxmlformats.org/markup-compatibility/2006">
              <mc:Choice xmlns:v="urn:schemas-microsoft-com:vml" Requires="v">
                <p:oleObj spid="_x0000_s2358" name="公式" r:id="rId5" imgW="1917065" imgH="203200" progId="Equation.3">
                  <p:embed/>
                </p:oleObj>
              </mc:Choice>
              <mc:Fallback>
                <p:oleObj name="公式" r:id="rId5" imgW="1917065" imgH="203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2213" y="4575175"/>
                        <a:ext cx="4578350"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61442"/>
                                        </p:tgtEl>
                                        <p:attrNameLst>
                                          <p:attrName>style.visibility</p:attrName>
                                        </p:attrNameLst>
                                      </p:cBhvr>
                                      <p:to>
                                        <p:strVal val="visible"/>
                                      </p:to>
                                    </p:set>
                                    <p:animEffect transition="in" filter="blinds(horizontal)">
                                      <p:cBhvr>
                                        <p:cTn id="14" dur="500"/>
                                        <p:tgtEl>
                                          <p:spTgt spid="61442"/>
                                        </p:tgtEl>
                                      </p:cBhvr>
                                    </p:animEffect>
                                  </p:childTnLst>
                                </p:cTn>
                              </p:par>
                              <p:par>
                                <p:cTn id="15" presetID="3" presetClass="entr" presetSubtype="10" fill="hold" nodeType="withEffect">
                                  <p:stCondLst>
                                    <p:cond delay="0"/>
                                  </p:stCondLst>
                                  <p:childTnLst>
                                    <p:set>
                                      <p:cBhvr>
                                        <p:cTn id="16" dur="1" fill="hold">
                                          <p:stCondLst>
                                            <p:cond delay="0"/>
                                          </p:stCondLst>
                                        </p:cTn>
                                        <p:tgtEl>
                                          <p:spTgt spid="61443"/>
                                        </p:tgtEl>
                                        <p:attrNameLst>
                                          <p:attrName>style.visibility</p:attrName>
                                        </p:attrNameLst>
                                      </p:cBhvr>
                                      <p:to>
                                        <p:strVal val="visible"/>
                                      </p:to>
                                    </p:set>
                                    <p:animEffect transition="in" filter="blinds(horizontal)">
                                      <p:cBhvr>
                                        <p:cTn id="17" dur="500"/>
                                        <p:tgtEl>
                                          <p:spTgt spid="61443"/>
                                        </p:tgtEl>
                                      </p:cBhvr>
                                    </p:animEffect>
                                  </p:childTnLst>
                                </p:cTn>
                              </p:par>
                              <p:par>
                                <p:cTn id="18" presetID="3" presetClass="entr" presetSubtype="10" fill="hold" nodeType="withEffect">
                                  <p:stCondLst>
                                    <p:cond delay="0"/>
                                  </p:stCondLst>
                                  <p:childTnLst>
                                    <p:set>
                                      <p:cBhvr>
                                        <p:cTn id="19" dur="1" fill="hold">
                                          <p:stCondLst>
                                            <p:cond delay="0"/>
                                          </p:stCondLst>
                                        </p:cTn>
                                        <p:tgtEl>
                                          <p:spTgt spid="61444"/>
                                        </p:tgtEl>
                                        <p:attrNameLst>
                                          <p:attrName>style.visibility</p:attrName>
                                        </p:attrNameLst>
                                      </p:cBhvr>
                                      <p:to>
                                        <p:strVal val="visible"/>
                                      </p:to>
                                    </p:set>
                                    <p:animEffect transition="in" filter="blinds(horizontal)">
                                      <p:cBhvr>
                                        <p:cTn id="20" dur="500"/>
                                        <p:tgtEl>
                                          <p:spTgt spid="61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81200" y="1285875"/>
            <a:ext cx="8229600" cy="5286375"/>
          </a:xfrm>
        </p:spPr>
        <p:txBody>
          <a:bodyPr/>
          <a:lstStyle/>
          <a:p>
            <a:pPr marL="0" indent="0">
              <a:buNone/>
            </a:pPr>
            <a:r>
              <a:rPr lang="zh-CN" altLang="en-US" sz="2800" b="0" dirty="0">
                <a:solidFill>
                  <a:srgbClr val="0000FF"/>
                </a:solidFill>
              </a:rPr>
              <a:t>一</a:t>
            </a:r>
            <a:r>
              <a:rPr lang="en-US" altLang="zh-CN" sz="2800" b="0" dirty="0">
                <a:solidFill>
                  <a:srgbClr val="0000FF"/>
                </a:solidFill>
              </a:rPr>
              <a:t>. </a:t>
            </a:r>
            <a:r>
              <a:rPr lang="zh-CN" altLang="en-US" sz="2800" b="0" dirty="0">
                <a:solidFill>
                  <a:srgbClr val="0000FF"/>
                </a:solidFill>
              </a:rPr>
              <a:t>线性与非线性相位</a:t>
            </a:r>
            <a:endParaRPr lang="en-US" altLang="zh-CN" sz="2800" b="0" dirty="0">
              <a:solidFill>
                <a:srgbClr val="0000FF"/>
              </a:solidFill>
            </a:endParaRPr>
          </a:p>
          <a:p>
            <a:r>
              <a:rPr lang="zh-CN" altLang="en-US" sz="2800" b="0" dirty="0"/>
              <a:t>信号在传输过程中，相位特性或模特性发生改变都可能引起信号波形的改变，即发生</a:t>
            </a:r>
            <a:r>
              <a:rPr lang="zh-CN" altLang="en-US" sz="2800" b="0" dirty="0">
                <a:solidFill>
                  <a:srgbClr val="FF0000"/>
                </a:solidFill>
              </a:rPr>
              <a:t>失真</a:t>
            </a:r>
            <a:r>
              <a:rPr lang="zh-CN" altLang="en-US" sz="2800" b="0" dirty="0"/>
              <a:t>。</a:t>
            </a:r>
            <a:endParaRPr lang="en-US" altLang="zh-CN" sz="2800" b="0" dirty="0"/>
          </a:p>
          <a:p>
            <a:r>
              <a:rPr lang="zh-CN" altLang="en-US" sz="2800" b="0" dirty="0"/>
              <a:t>当相位特性仅仅是产生一个线性相移时，只引起信号在时间上的平移。如连续时间</a:t>
            </a:r>
            <a:r>
              <a:rPr lang="en-US" altLang="zh-CN" sz="2800" b="0" dirty="0"/>
              <a:t>LTI</a:t>
            </a:r>
            <a:r>
              <a:rPr lang="zh-CN" altLang="en-US" sz="2800" b="0" dirty="0"/>
              <a:t>系统：</a:t>
            </a:r>
            <a:endParaRPr lang="en-US" altLang="zh-CN" sz="2800" b="0" dirty="0"/>
          </a:p>
          <a:p>
            <a:endParaRPr lang="en-US" altLang="zh-CN" sz="2800" b="0" dirty="0"/>
          </a:p>
          <a:p>
            <a:pPr lvl="1"/>
            <a:r>
              <a:rPr lang="zh-CN" altLang="en-US" b="0" dirty="0"/>
              <a:t>此时信号波形不改变，只是发生时间上的延迟，因此未丢失信号所携带的任何信息。</a:t>
            </a:r>
            <a:endParaRPr lang="en-US" altLang="zh-CN" b="0" dirty="0"/>
          </a:p>
          <a:p>
            <a:r>
              <a:rPr lang="zh-CN" altLang="en-US" sz="2800" b="0" dirty="0"/>
              <a:t>如果系统的相位特性是非线性的，由于不同频率分量所产生的时移不同，叠加起来会变成一个与原来信号很不相同的信号波形。</a:t>
            </a:r>
            <a:endParaRPr lang="zh-CN" altLang="en-US" sz="2800"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BD379B7-F1B6-4937-A4A1-3B97B40C2AE2}"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graphicFrame>
        <p:nvGraphicFramePr>
          <p:cNvPr id="5" name="Object 2"/>
          <p:cNvGraphicFramePr>
            <a:graphicFrameLocks noChangeAspect="1"/>
          </p:cNvGraphicFramePr>
          <p:nvPr/>
        </p:nvGraphicFramePr>
        <p:xfrm>
          <a:off x="3595688" y="3668713"/>
          <a:ext cx="2133600" cy="549275"/>
        </p:xfrm>
        <a:graphic>
          <a:graphicData uri="http://schemas.openxmlformats.org/presentationml/2006/ole">
            <mc:AlternateContent xmlns:mc="http://schemas.openxmlformats.org/markup-compatibility/2006">
              <mc:Choice xmlns:v="urn:schemas-microsoft-com:vml" Requires="v">
                <p:oleObj spid="_x0000_s3278" name="Equation" r:id="rId1" imgW="901065" imgH="228600" progId="Equation.DSMT4">
                  <p:embed/>
                </p:oleObj>
              </mc:Choice>
              <mc:Fallback>
                <p:oleObj name="Equation" r:id="rId1" imgW="901065"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5688" y="3668713"/>
                        <a:ext cx="21336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3"/>
          <p:cNvGraphicFramePr>
            <a:graphicFrameLocks noChangeAspect="1"/>
          </p:cNvGraphicFramePr>
          <p:nvPr/>
        </p:nvGraphicFramePr>
        <p:xfrm>
          <a:off x="6462713" y="3643313"/>
          <a:ext cx="1951037" cy="547687"/>
        </p:xfrm>
        <a:graphic>
          <a:graphicData uri="http://schemas.openxmlformats.org/presentationml/2006/ole">
            <mc:AlternateContent xmlns:mc="http://schemas.openxmlformats.org/markup-compatibility/2006">
              <mc:Choice xmlns:v="urn:schemas-microsoft-com:vml" Requires="v">
                <p:oleObj spid="_x0000_s3279" name="Equation" r:id="rId3" imgW="914400" imgH="228600" progId="Equation.DSMT4">
                  <p:embed/>
                </p:oleObj>
              </mc:Choice>
              <mc:Fallback>
                <p:oleObj name="Equation" r:id="rId3" imgW="9144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2713" y="3643313"/>
                        <a:ext cx="1951037"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ext Box 18"/>
          <p:cNvSpPr txBox="1">
            <a:spLocks noChangeArrowheads="1"/>
          </p:cNvSpPr>
          <p:nvPr/>
        </p:nvSpPr>
        <p:spPr bwMode="auto">
          <a:xfrm>
            <a:off x="5821363" y="3668713"/>
            <a:ext cx="5492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000066"/>
                </a:solidFill>
                <a:latin typeface="华文楷体" panose="02010600040101010101" pitchFamily="2" charset="-122"/>
                <a:ea typeface="华文楷体" panose="02010600040101010101" pitchFamily="2" charset="-122"/>
                <a:cs typeface="楷体_GB2312" panose="02010609030101010101" pitchFamily="49" charset="-122"/>
              </a:rPr>
              <a:t>则</a:t>
            </a:r>
            <a:endParaRPr lang="zh-CN" altLang="en-US" sz="2800">
              <a:solidFill>
                <a:srgbClr val="000066"/>
              </a:solidFill>
              <a:latin typeface="华文楷体" panose="02010600040101010101" pitchFamily="2" charset="-122"/>
              <a:ea typeface="华文楷体" panose="02010600040101010101" pitchFamily="2" charset="-122"/>
              <a:cs typeface="楷体_GB2312" panose="02010609030101010101" pitchFamily="49" charset="-122"/>
            </a:endParaRPr>
          </a:p>
        </p:txBody>
      </p:sp>
      <p:sp>
        <p:nvSpPr>
          <p:cNvPr id="13" name="标题 1"/>
          <p:cNvSpPr>
            <a:spLocks noGrp="1"/>
          </p:cNvSpPr>
          <p:nvPr>
            <p:ph type="title"/>
          </p:nvPr>
        </p:nvSpPr>
        <p:spPr>
          <a:xfrm>
            <a:off x="1981200" y="274638"/>
            <a:ext cx="8229600" cy="725487"/>
          </a:xfrm>
        </p:spPr>
        <p:txBody>
          <a:bodyPr/>
          <a:lstStyle/>
          <a:p>
            <a:r>
              <a:rPr lang="en-US" altLang="zh-CN" sz="3200" dirty="0"/>
              <a:t>6.2  LTI</a:t>
            </a:r>
            <a:r>
              <a:rPr lang="zh-CN" altLang="en-US" sz="3200" dirty="0"/>
              <a:t>系统频率响应的模和相位表示</a:t>
            </a:r>
            <a:endParaRPr lang="zh-CN" alt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linds(horizontal)">
                                      <p:cBhvr>
                                        <p:cTn id="18" dur="500"/>
                                        <p:tgtEl>
                                          <p:spTgt spid="6"/>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blinds(horizontal)">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blinds(horizontal)">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81200" y="1196752"/>
            <a:ext cx="8229600" cy="2847340"/>
          </a:xfrm>
        </p:spPr>
        <p:txBody>
          <a:bodyPr>
            <a:spAutoFit/>
          </a:bodyPr>
          <a:lstStyle/>
          <a:p>
            <a:pPr marL="0" indent="0">
              <a:buNone/>
            </a:pPr>
            <a:r>
              <a:rPr lang="zh-CN" altLang="en-US" sz="2800" b="0" dirty="0">
                <a:solidFill>
                  <a:srgbClr val="0000FF"/>
                </a:solidFill>
              </a:rPr>
              <a:t>二</a:t>
            </a:r>
            <a:r>
              <a:rPr lang="en-US" altLang="zh-CN" sz="2800" b="0" dirty="0">
                <a:solidFill>
                  <a:srgbClr val="0000FF"/>
                </a:solidFill>
              </a:rPr>
              <a:t>. </a:t>
            </a:r>
            <a:r>
              <a:rPr lang="zh-CN" altLang="en-US" sz="2800" b="0" dirty="0">
                <a:solidFill>
                  <a:srgbClr val="0000FF"/>
                </a:solidFill>
              </a:rPr>
              <a:t>信号的无失真传输条件</a:t>
            </a:r>
            <a:endParaRPr lang="en-US" altLang="zh-CN" sz="2800" b="0" dirty="0">
              <a:solidFill>
                <a:srgbClr val="0000FF"/>
              </a:solidFill>
            </a:endParaRPr>
          </a:p>
          <a:p>
            <a:pPr lvl="1">
              <a:lnSpc>
                <a:spcPct val="120000"/>
              </a:lnSpc>
            </a:pPr>
            <a:r>
              <a:rPr lang="zh-CN" altLang="en-US" b="0" dirty="0"/>
              <a:t>如果系统响应与输入信号满足下列条件，可视为在传输中未发生失真：</a:t>
            </a:r>
            <a:endParaRPr lang="en-US" altLang="zh-CN" b="0" dirty="0"/>
          </a:p>
          <a:p>
            <a:pPr lvl="1">
              <a:lnSpc>
                <a:spcPct val="120000"/>
              </a:lnSpc>
            </a:pPr>
            <a:endParaRPr lang="en-US" altLang="zh-CN" b="0" dirty="0"/>
          </a:p>
          <a:p>
            <a:pPr lvl="1">
              <a:lnSpc>
                <a:spcPct val="120000"/>
              </a:lnSpc>
            </a:pPr>
            <a:r>
              <a:rPr lang="zh-CN" altLang="en-US" b="0" dirty="0"/>
              <a:t>这就要求：</a:t>
            </a:r>
            <a:endParaRPr lang="en-US" altLang="zh-CN" b="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90B05E7-AA61-4E18-8E2E-E39F6570973A}"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mc:AlternateContent xmlns:mc="http://schemas.openxmlformats.org/markup-compatibility/2006">
        <mc:Choice xmlns:a14="http://schemas.microsoft.com/office/drawing/2010/main" Requires="a14">
          <p:sp>
            <p:nvSpPr>
              <p:cNvPr id="5122" name="Object 2"/>
              <p:cNvSpPr txBox="1"/>
              <p:nvPr/>
            </p:nvSpPr>
            <p:spPr bwMode="auto">
              <a:xfrm>
                <a:off x="3201988" y="2838654"/>
                <a:ext cx="2894012" cy="550863"/>
              </a:xfrm>
              <a:prstGeom prst="rect">
                <a:avLst/>
              </a:prstGeom>
              <a:noFill/>
            </p:spPr>
            <p:txBody>
              <a:bodyPr>
                <a:noAutofit/>
              </a:bodyPr>
              <a:lstStyle/>
              <a:p>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𝑦</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𝑘𝑥</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p:sp>
            <p:nvSpPr>
              <p:cNvPr id="5122" name="Object 2"/>
              <p:cNvSpPr txBox="1">
                <a:spLocks noRot="1" noChangeAspect="1" noMove="1" noResize="1" noEditPoints="1" noAdjustHandles="1" noChangeArrowheads="1" noChangeShapeType="1" noTextEdit="1"/>
              </p:cNvSpPr>
              <p:nvPr/>
            </p:nvSpPr>
            <p:spPr bwMode="auto">
              <a:xfrm>
                <a:off x="3201988" y="2838654"/>
                <a:ext cx="2894012" cy="550863"/>
              </a:xfrm>
              <a:prstGeom prst="rect">
                <a:avLst/>
              </a:prstGeom>
              <a:blipFill rotWithShape="1">
                <a:blip r:embed="rId1"/>
                <a:stretch>
                  <a:fillRect l="-11" t="-37" b="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123" name="Object 3"/>
              <p:cNvSpPr txBox="1"/>
              <p:nvPr/>
            </p:nvSpPr>
            <p:spPr bwMode="auto">
              <a:xfrm>
                <a:off x="6400890" y="2835821"/>
                <a:ext cx="3012330" cy="5476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𝑦</m:t>
                      </m:r>
                      <m:r>
                        <a:rPr lang="en-US" sz="2800" b="0" i="1" smtClean="0">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𝑛</m:t>
                      </m:r>
                      <m:r>
                        <a:rPr lang="en-US" sz="2800" b="0" i="1" smtClean="0">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𝑘𝑥</m:t>
                      </m:r>
                      <m:r>
                        <a:rPr lang="en-US" sz="2800" b="0" i="1" smtClean="0">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𝑛</m:t>
                      </m:r>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0</m:t>
                          </m:r>
                        </m:sub>
                      </m:sSub>
                      <m:r>
                        <a:rPr lang="en-US" sz="2800" b="0" i="1" smtClean="0">
                          <a:solidFill>
                            <a:srgbClr val="FF0000"/>
                          </a:solidFill>
                          <a:latin typeface="Cambria Math" panose="02040503050406030204" pitchFamily="18" charset="0"/>
                        </a:rPr>
                        <m:t>]</m:t>
                      </m:r>
                    </m:oMath>
                  </m:oMathPara>
                </a14:m>
                <a:endParaRPr lang="en-US" sz="2800" dirty="0">
                  <a:solidFill>
                    <a:srgbClr val="FF0000"/>
                  </a:solidFill>
                </a:endParaRPr>
              </a:p>
            </p:txBody>
          </p:sp>
        </mc:Choice>
        <mc:Fallback>
          <p:sp>
            <p:nvSpPr>
              <p:cNvPr id="5123" name="Object 3"/>
              <p:cNvSpPr txBox="1">
                <a:spLocks noRot="1" noChangeAspect="1" noMove="1" noResize="1" noEditPoints="1" noAdjustHandles="1" noChangeArrowheads="1" noChangeShapeType="1" noTextEdit="1"/>
              </p:cNvSpPr>
              <p:nvPr/>
            </p:nvSpPr>
            <p:spPr bwMode="auto">
              <a:xfrm>
                <a:off x="6400890" y="2835821"/>
                <a:ext cx="3012330" cy="547688"/>
              </a:xfrm>
              <a:prstGeom prst="rect">
                <a:avLst/>
              </a:prstGeom>
              <a:blipFill rotWithShape="1">
                <a:blip r:embed="rId2"/>
                <a:stretch>
                  <a:fillRect l="-3" t="-100" r="20" b="42"/>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3492" name="Object 4"/>
              <p:cNvSpPr txBox="1"/>
              <p:nvPr/>
            </p:nvSpPr>
            <p:spPr bwMode="auto">
              <a:xfrm>
                <a:off x="3167063" y="4035629"/>
                <a:ext cx="2712913" cy="5476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𝐻</m:t>
                      </m:r>
                      <m:r>
                        <a:rPr lang="en-US" sz="2800" i="1" smtClean="0">
                          <a:solidFill>
                            <a:srgbClr val="FF0000"/>
                          </a:solidFill>
                          <a:latin typeface="Cambria Math" panose="02040503050406030204" pitchFamily="18" charset="0"/>
                        </a:rPr>
                        <m:t>(</m:t>
                      </m:r>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𝜔</m:t>
                      </m:r>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𝑘</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a:rPr lang="en-US" sz="2800" i="1">
                              <a:solidFill>
                                <a:srgbClr val="FF0000"/>
                              </a:solidFill>
                              <a:latin typeface="Cambria Math" panose="02040503050406030204" pitchFamily="18" charset="0"/>
                            </a:rPr>
                            <m:t>−</m:t>
                          </m:r>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𝜔</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0</m:t>
                              </m:r>
                            </m:sub>
                          </m:sSub>
                        </m:sup>
                      </m:sSup>
                    </m:oMath>
                  </m:oMathPara>
                </a14:m>
                <a:endParaRPr lang="en-US" sz="2800" dirty="0">
                  <a:solidFill>
                    <a:srgbClr val="FF0000"/>
                  </a:solidFill>
                </a:endParaRPr>
              </a:p>
            </p:txBody>
          </p:sp>
        </mc:Choice>
        <mc:Fallback>
          <p:sp>
            <p:nvSpPr>
              <p:cNvPr id="63492" name="Object 4"/>
              <p:cNvSpPr txBox="1">
                <a:spLocks noRot="1" noChangeAspect="1" noMove="1" noResize="1" noEditPoints="1" noAdjustHandles="1" noChangeArrowheads="1" noChangeShapeType="1" noTextEdit="1"/>
              </p:cNvSpPr>
              <p:nvPr/>
            </p:nvSpPr>
            <p:spPr bwMode="auto">
              <a:xfrm>
                <a:off x="3167063" y="4035629"/>
                <a:ext cx="2712913" cy="547688"/>
              </a:xfrm>
              <a:prstGeom prst="rect">
                <a:avLst/>
              </a:prstGeom>
              <a:blipFill rotWithShape="1">
                <a:blip r:embed="rId3"/>
                <a:stretch>
                  <a:fillRect l="-12" t="-37" r="19" b="95"/>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3493" name="Object 5"/>
              <p:cNvSpPr txBox="1"/>
              <p:nvPr/>
            </p:nvSpPr>
            <p:spPr bwMode="auto">
              <a:xfrm>
                <a:off x="6400890" y="4029743"/>
                <a:ext cx="2887364" cy="55086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𝐻</m:t>
                      </m:r>
                      <m:r>
                        <a:rPr lang="en-US" sz="2800" i="1" smtClean="0">
                          <a:solidFill>
                            <a:srgbClr val="FF0000"/>
                          </a:solidFill>
                          <a:latin typeface="Cambria Math" panose="02040503050406030204" pitchFamily="18" charset="0"/>
                        </a:rPr>
                        <m:t>(</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𝜔</m:t>
                          </m:r>
                        </m:sup>
                      </m:sSup>
                      <m:r>
                        <a:rPr lang="en-US" sz="2800" i="1">
                          <a:solidFill>
                            <a:srgbClr val="FF0000"/>
                          </a:solidFill>
                          <a:latin typeface="Cambria Math" panose="02040503050406030204" pitchFamily="18" charset="0"/>
                        </a:rPr>
                        <m:t>)=</m:t>
                      </m:r>
                      <m:r>
                        <a:rPr lang="en-US" sz="2800" i="1">
                          <a:solidFill>
                            <a:srgbClr val="FF0000"/>
                          </a:solidFill>
                          <a:latin typeface="Cambria Math" panose="02040503050406030204" pitchFamily="18" charset="0"/>
                        </a:rPr>
                        <m:t>𝑘</m:t>
                      </m:r>
                      <m:sSup>
                        <m:sSupPr>
                          <m:ctrlPr>
                            <a:rPr lang="en-US" sz="2800" i="1">
                              <a:solidFill>
                                <a:srgbClr val="FF0000"/>
                              </a:solidFill>
                              <a:latin typeface="Cambria Math" panose="02040503050406030204" pitchFamily="18" charset="0"/>
                            </a:rPr>
                          </m:ctrlPr>
                        </m:sSupPr>
                        <m:e>
                          <m:r>
                            <m:rPr>
                              <m:sty m:val="p"/>
                            </m:rPr>
                            <a:rPr lang="en-US" sz="2800" i="0">
                              <a:solidFill>
                                <a:srgbClr val="FF0000"/>
                              </a:solidFill>
                              <a:latin typeface="Cambria Math" panose="02040503050406030204" pitchFamily="18" charset="0"/>
                            </a:rPr>
                            <m:t>e</m:t>
                          </m:r>
                        </m:e>
                        <m:sup>
                          <m:r>
                            <a:rPr lang="en-US" sz="2800" i="1">
                              <a:solidFill>
                                <a:srgbClr val="FF0000"/>
                              </a:solidFill>
                              <a:latin typeface="Cambria Math" panose="02040503050406030204" pitchFamily="18" charset="0"/>
                            </a:rPr>
                            <m:t>−</m:t>
                          </m:r>
                          <m:r>
                            <m:rPr>
                              <m:sty m:val="p"/>
                            </m:rPr>
                            <a:rPr lang="en-US" sz="2800" i="0">
                              <a:solidFill>
                                <a:srgbClr val="FF0000"/>
                              </a:solidFill>
                              <a:latin typeface="Cambria Math" panose="02040503050406030204" pitchFamily="18" charset="0"/>
                            </a:rPr>
                            <m:t>j</m:t>
                          </m:r>
                          <m:r>
                            <a:rPr lang="en-US" sz="2800" i="1">
                              <a:solidFill>
                                <a:srgbClr val="FF0000"/>
                              </a:solidFill>
                              <a:latin typeface="Cambria Math" panose="02040503050406030204" pitchFamily="18" charset="0"/>
                            </a:rPr>
                            <m:t>𝜔</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𝑛</m:t>
                              </m:r>
                            </m:e>
                            <m:sub>
                              <m:r>
                                <a:rPr lang="en-US" sz="2800" i="1">
                                  <a:solidFill>
                                    <a:srgbClr val="FF0000"/>
                                  </a:solidFill>
                                  <a:latin typeface="Cambria Math" panose="02040503050406030204" pitchFamily="18" charset="0"/>
                                </a:rPr>
                                <m:t>0</m:t>
                              </m:r>
                            </m:sub>
                          </m:sSub>
                        </m:sup>
                      </m:sSup>
                    </m:oMath>
                  </m:oMathPara>
                </a14:m>
                <a:endParaRPr lang="en-US" sz="2800" dirty="0">
                  <a:solidFill>
                    <a:srgbClr val="FF0000"/>
                  </a:solidFill>
                </a:endParaRPr>
              </a:p>
            </p:txBody>
          </p:sp>
        </mc:Choice>
        <mc:Fallback>
          <p:sp>
            <p:nvSpPr>
              <p:cNvPr id="63493" name="Object 5"/>
              <p:cNvSpPr txBox="1">
                <a:spLocks noRot="1" noChangeAspect="1" noMove="1" noResize="1" noEditPoints="1" noAdjustHandles="1" noChangeArrowheads="1" noChangeShapeType="1" noTextEdit="1"/>
              </p:cNvSpPr>
              <p:nvPr/>
            </p:nvSpPr>
            <p:spPr bwMode="auto">
              <a:xfrm>
                <a:off x="6400890" y="4029743"/>
                <a:ext cx="2887364" cy="550863"/>
              </a:xfrm>
              <a:prstGeom prst="rect">
                <a:avLst/>
              </a:prstGeom>
              <a:blipFill rotWithShape="1">
                <a:blip r:embed="rId4"/>
                <a:stretch>
                  <a:fillRect l="-3" t="-6" r="4" b="64"/>
                </a:stretch>
              </a:blipFill>
              <a:ln>
                <a:noFill/>
              </a:ln>
              <a:effectLst/>
            </p:spPr>
            <p:txBody>
              <a:bodyPr/>
              <a:lstStyle/>
              <a:p>
                <a:r>
                  <a:rPr lang="zh-CN" altLang="en-US">
                    <a:noFill/>
                  </a:rPr>
                  <a:t> </a:t>
                </a:r>
              </a:p>
            </p:txBody>
          </p:sp>
        </mc:Fallback>
      </mc:AlternateContent>
      <p:sp>
        <p:nvSpPr>
          <p:cNvPr id="9" name="Text Box 3"/>
          <p:cNvSpPr txBox="1">
            <a:spLocks noChangeArrowheads="1"/>
          </p:cNvSpPr>
          <p:nvPr/>
        </p:nvSpPr>
        <p:spPr bwMode="auto">
          <a:xfrm>
            <a:off x="7512050" y="5790208"/>
            <a:ext cx="23907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a:t>
            </a:r>
            <a:r>
              <a:rPr kumimoji="1" lang="zh-CN" altLang="en-US" sz="280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时域表征</a:t>
            </a:r>
            <a:endParaRPr kumimoji="1" lang="zh-CN" altLang="en-US" sz="2800">
              <a:solidFill>
                <a:srgbClr val="000066"/>
              </a:solidFill>
              <a:latin typeface="Times New Roman" panose="02020603050405020304" pitchFamily="18" charset="0"/>
              <a:ea typeface="华文楷体" panose="02010600040101010101" pitchFamily="2" charset="-122"/>
              <a:cs typeface="楷体_GB2312" panose="02010609030101010101" pitchFamily="49" charset="-122"/>
            </a:endParaRPr>
          </a:p>
        </p:txBody>
      </p:sp>
      <p:sp>
        <p:nvSpPr>
          <p:cNvPr id="11" name="Text Box 23"/>
          <p:cNvSpPr txBox="1">
            <a:spLocks noChangeArrowheads="1"/>
          </p:cNvSpPr>
          <p:nvPr/>
        </p:nvSpPr>
        <p:spPr bwMode="auto">
          <a:xfrm>
            <a:off x="7505700" y="4653136"/>
            <a:ext cx="237648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a:t>
            </a:r>
            <a:r>
              <a:rPr kumimoji="1" lang="zh-CN" altLang="en-US" sz="280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频域表征</a:t>
            </a:r>
            <a:endParaRPr kumimoji="1" lang="zh-CN" altLang="en-US" sz="2800">
              <a:solidFill>
                <a:srgbClr val="000066"/>
              </a:solidFill>
              <a:latin typeface="Times New Roman" panose="02020603050405020304" pitchFamily="18" charset="0"/>
              <a:ea typeface="华文楷体" panose="02010600040101010101" pitchFamily="2" charset="-122"/>
              <a:cs typeface="楷体_GB2312" panose="02010609030101010101" pitchFamily="49" charset="-122"/>
            </a:endParaRPr>
          </a:p>
        </p:txBody>
      </p:sp>
      <mc:AlternateContent xmlns:mc="http://schemas.openxmlformats.org/markup-compatibility/2006">
        <mc:Choice xmlns:a14="http://schemas.microsoft.com/office/drawing/2010/main" Requires="a14">
          <p:sp>
            <p:nvSpPr>
              <p:cNvPr id="12" name="Object 7"/>
              <p:cNvSpPr txBox="1"/>
              <p:nvPr/>
            </p:nvSpPr>
            <p:spPr bwMode="auto">
              <a:xfrm>
                <a:off x="3167063" y="5194520"/>
                <a:ext cx="2894012" cy="550862"/>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en-US" sz="2800" i="1" smtClean="0">
                          <a:solidFill>
                            <a:srgbClr val="FF0000"/>
                          </a:solidFill>
                          <a:latin typeface="Cambria Math" panose="02040503050406030204" pitchFamily="18" charset="0"/>
                        </a:rPr>
                        <m:t>ℎ</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𝑘</m:t>
                      </m:r>
                      <m:r>
                        <a:rPr lang="en-US" sz="2800" i="1" smtClean="0">
                          <a:solidFill>
                            <a:srgbClr val="FF0000"/>
                          </a:solidFill>
                          <a:latin typeface="Cambria Math" panose="02040503050406030204" pitchFamily="18" charset="0"/>
                        </a:rPr>
                        <m:t>𝛿</m:t>
                      </m:r>
                      <m:r>
                        <a:rPr lang="en-US" sz="2800" i="1" smtClean="0">
                          <a:solidFill>
                            <a:srgbClr val="FF0000"/>
                          </a:solidFill>
                          <a:latin typeface="Cambria Math" panose="02040503050406030204" pitchFamily="18" charset="0"/>
                        </a:rPr>
                        <m:t>(</m:t>
                      </m:r>
                      <m:r>
                        <a:rPr lang="en-US" sz="2800" i="1" smtClean="0">
                          <a:solidFill>
                            <a:srgbClr val="FF0000"/>
                          </a:solidFill>
                          <a:latin typeface="Cambria Math" panose="02040503050406030204" pitchFamily="18" charset="0"/>
                        </a:rPr>
                        <m:t>𝑡</m:t>
                      </m:r>
                      <m:r>
                        <a:rPr lang="en-US" sz="2800" i="1" smtClean="0">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𝑡</m:t>
                          </m:r>
                        </m:e>
                        <m:sub>
                          <m:r>
                            <a:rPr lang="en-US" sz="2800" i="1">
                              <a:solidFill>
                                <a:srgbClr val="FF0000"/>
                              </a:solidFill>
                              <a:latin typeface="Cambria Math" panose="02040503050406030204" pitchFamily="18" charset="0"/>
                            </a:rPr>
                            <m:t>0</m:t>
                          </m:r>
                        </m:sub>
                      </m:sSub>
                      <m:r>
                        <a:rPr lang="en-US" sz="2800" i="1">
                          <a:solidFill>
                            <a:srgbClr val="FF0000"/>
                          </a:solidFill>
                          <a:latin typeface="Cambria Math" panose="02040503050406030204" pitchFamily="18" charset="0"/>
                        </a:rPr>
                        <m:t>)</m:t>
                      </m:r>
                    </m:oMath>
                  </m:oMathPara>
                </a14:m>
                <a:endParaRPr lang="en-US" sz="2800" dirty="0">
                  <a:solidFill>
                    <a:srgbClr val="FF0000"/>
                  </a:solidFill>
                </a:endParaRPr>
              </a:p>
            </p:txBody>
          </p:sp>
        </mc:Choice>
        <mc:Fallback>
          <p:sp>
            <p:nvSpPr>
              <p:cNvPr id="12" name="Object 7"/>
              <p:cNvSpPr txBox="1">
                <a:spLocks noRot="1" noChangeAspect="1" noMove="1" noResize="1" noEditPoints="1" noAdjustHandles="1" noChangeArrowheads="1" noChangeShapeType="1" noTextEdit="1"/>
              </p:cNvSpPr>
              <p:nvPr/>
            </p:nvSpPr>
            <p:spPr bwMode="auto">
              <a:xfrm>
                <a:off x="3167063" y="5194520"/>
                <a:ext cx="2894012" cy="550862"/>
              </a:xfrm>
              <a:prstGeom prst="rect">
                <a:avLst/>
              </a:prstGeom>
              <a:blipFill rotWithShape="1">
                <a:blip r:embed="rId5"/>
                <a:stretch>
                  <a:fillRect l="-11" t="-40" b="97"/>
                </a:stretch>
              </a:blipFill>
              <a:ln>
                <a:noFill/>
              </a:ln>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6400890" y="5208341"/>
                <a:ext cx="3012330" cy="522605"/>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ℎ</m:t>
                      </m:r>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𝑘</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𝛿</m:t>
                      </m:r>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m:t>
                      </m:r>
                      <m:sSub>
                        <m:sSubPr>
                          <m:ctrlP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ctrlPr>
                        </m:sSubPr>
                        <m:e>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𝑛</m:t>
                          </m:r>
                        </m:e>
                        <m:sub>
                          <m:r>
                            <a:rPr kumimoji="0" lang="en-US" sz="2800" b="0" i="1" u="none" strike="noStrike" kern="1200" cap="none" spc="0" normalizeH="0" baseline="0" noProof="0">
                              <a:ln>
                                <a:noFill/>
                              </a:ln>
                              <a:solidFill>
                                <a:srgbClr val="FF0000"/>
                              </a:solidFill>
                              <a:effectLst/>
                              <a:uLnTx/>
                              <a:uFillTx/>
                              <a:latin typeface="Cambria Math" panose="02040503050406030204" pitchFamily="18" charset="0"/>
                              <a:cs typeface="+mn-cs"/>
                            </a:rPr>
                            <m:t>0</m:t>
                          </m:r>
                        </m:sub>
                      </m:sSub>
                      <m:r>
                        <a:rPr kumimoji="0" lang="en-US" sz="2800" b="0" i="1" u="none" strike="noStrike" kern="1200" cap="none" spc="0" normalizeH="0" baseline="0" noProof="0" smtClean="0">
                          <a:ln>
                            <a:noFill/>
                          </a:ln>
                          <a:solidFill>
                            <a:srgbClr val="FF0000"/>
                          </a:solidFill>
                          <a:effectLst/>
                          <a:uLnTx/>
                          <a:uFillTx/>
                          <a:latin typeface="Cambria Math" panose="02040503050406030204" pitchFamily="18" charset="0"/>
                          <a:cs typeface="+mn-cs"/>
                        </a:rPr>
                        <m:t>]</m:t>
                      </m:r>
                    </m:oMath>
                  </m:oMathPara>
                </a14:m>
                <a:endParaRPr lang="en-US" dirty="0">
                  <a:solidFill>
                    <a:srgbClr val="FF0000"/>
                  </a:solidFill>
                </a:endParaRPr>
              </a:p>
            </p:txBody>
          </p:sp>
        </mc:Choice>
        <mc:Fallback>
          <p:sp>
            <p:nvSpPr>
              <p:cNvPr id="32" name="文本框 31"/>
              <p:cNvSpPr txBox="1">
                <a:spLocks noRot="1" noChangeAspect="1" noMove="1" noResize="1" noEditPoints="1" noAdjustHandles="1" noChangeArrowheads="1" noChangeShapeType="1" noTextEdit="1"/>
              </p:cNvSpPr>
              <p:nvPr/>
            </p:nvSpPr>
            <p:spPr>
              <a:xfrm>
                <a:off x="6400890" y="5208341"/>
                <a:ext cx="3012330" cy="522605"/>
              </a:xfrm>
              <a:prstGeom prst="rect">
                <a:avLst/>
              </a:prstGeom>
              <a:blipFill rotWithShape="1">
                <a:blip r:embed="rId6"/>
                <a:stretch>
                  <a:fillRect l="-3" t="-14" r="20" b="14"/>
                </a:stretch>
              </a:blipFill>
            </p:spPr>
            <p:txBody>
              <a:bodyPr/>
              <a:lstStyle/>
              <a:p>
                <a:r>
                  <a:rPr lang="zh-CN" altLang="en-US">
                    <a:noFill/>
                  </a:rPr>
                  <a:t> </a:t>
                </a:r>
              </a:p>
            </p:txBody>
          </p:sp>
        </mc:Fallback>
      </mc:AlternateContent>
      <p:sp>
        <p:nvSpPr>
          <p:cNvPr id="34" name="标题 1"/>
          <p:cNvSpPr>
            <a:spLocks noGrp="1"/>
          </p:cNvSpPr>
          <p:nvPr>
            <p:ph type="title"/>
          </p:nvPr>
        </p:nvSpPr>
        <p:spPr>
          <a:xfrm>
            <a:off x="1981200" y="274638"/>
            <a:ext cx="8229600" cy="725487"/>
          </a:xfrm>
        </p:spPr>
        <p:txBody>
          <a:bodyPr/>
          <a:lstStyle/>
          <a:p>
            <a:r>
              <a:rPr lang="en-US" altLang="zh-CN" sz="3200" dirty="0"/>
              <a:t>6.2  LTI</a:t>
            </a:r>
            <a:r>
              <a:rPr lang="zh-CN" altLang="en-US" sz="3200" dirty="0"/>
              <a:t>系统频率响应的模和相位表示</a:t>
            </a:r>
            <a:endParaRPr lang="zh-CN" alt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3492"/>
                                        </p:tgtEl>
                                        <p:attrNameLst>
                                          <p:attrName>style.visibility</p:attrName>
                                        </p:attrNameLst>
                                      </p:cBhvr>
                                      <p:to>
                                        <p:strVal val="visible"/>
                                      </p:to>
                                    </p:set>
                                    <p:animEffect transition="in" filter="wipe(down)">
                                      <p:cBhvr>
                                        <p:cTn id="10" dur="500"/>
                                        <p:tgtEl>
                                          <p:spTgt spid="6349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3493"/>
                                        </p:tgtEl>
                                        <p:attrNameLst>
                                          <p:attrName>style.visibility</p:attrName>
                                        </p:attrNameLst>
                                      </p:cBhvr>
                                      <p:to>
                                        <p:strVal val="visible"/>
                                      </p:to>
                                    </p:set>
                                    <p:animEffect transition="in" filter="wipe(down)">
                                      <p:cBhvr>
                                        <p:cTn id="13" dur="500"/>
                                        <p:tgtEl>
                                          <p:spTgt spid="63493"/>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down)">
                                      <p:cBhvr>
                                        <p:cTn id="21" dur="500"/>
                                        <p:tgtEl>
                                          <p:spTgt spid="12"/>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wipe(down)">
                                      <p:cBhvr>
                                        <p:cTn id="24" dur="500"/>
                                        <p:tgtEl>
                                          <p:spTgt spid="32"/>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2" grpId="0" bldLvl="0" animBg="1"/>
      <p:bldP spid="63493" grpId="0" bldLvl="0" animBg="1"/>
      <p:bldP spid="9" grpId="0"/>
      <p:bldP spid="11" grpId="0"/>
      <p:bldP spid="12" grpId="0" bldLvl="0" animBg="1"/>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81200" y="3929063"/>
            <a:ext cx="8229600" cy="2000250"/>
          </a:xfrm>
        </p:spPr>
        <p:txBody>
          <a:bodyPr/>
          <a:lstStyle/>
          <a:p>
            <a:pPr marL="342900" lvl="1" indent="-342900">
              <a:buFont typeface="Arial" panose="020B0604020202020204" pitchFamily="34" charset="0"/>
              <a:buChar char="•"/>
              <a:defRPr/>
            </a:pPr>
            <a:r>
              <a:rPr lang="zh-CN" altLang="en-US" b="0" dirty="0"/>
              <a:t>如果一个系统的幅频特性是一个常数，称这种系统为</a:t>
            </a:r>
            <a:r>
              <a:rPr lang="zh-CN" altLang="en-US" b="0" dirty="0">
                <a:solidFill>
                  <a:srgbClr val="FF0000"/>
                </a:solidFill>
              </a:rPr>
              <a:t>全通系统</a:t>
            </a:r>
            <a:r>
              <a:rPr lang="zh-CN" altLang="en-US" b="0" dirty="0"/>
              <a:t>。</a:t>
            </a:r>
            <a:endParaRPr lang="zh-CN" altLang="en-US" b="0" dirty="0"/>
          </a:p>
          <a:p>
            <a:pPr>
              <a:defRPr/>
            </a:pPr>
            <a:r>
              <a:rPr lang="zh-CN" altLang="en-US" sz="2800" b="0" spc="-50" dirty="0"/>
              <a:t>通常，系统若在被传输信号的带宽范围内满足不失真条件，则认为该系统</a:t>
            </a:r>
            <a:r>
              <a:rPr lang="zh-CN" altLang="en-US" sz="2800" b="0" spc="-50" dirty="0">
                <a:solidFill>
                  <a:srgbClr val="FF0000"/>
                </a:solidFill>
              </a:rPr>
              <a:t>对此信号是不失真系统</a:t>
            </a:r>
            <a:r>
              <a:rPr lang="zh-CN" altLang="en-US" sz="2800" b="0" spc="-50" dirty="0"/>
              <a:t>。</a:t>
            </a:r>
            <a:endParaRPr lang="zh-CN" altLang="en-US" sz="2800" b="0" spc="-50"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C4B33FA-A7FC-4DCB-90A7-F2AA64DC7643}"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grpSp>
        <p:nvGrpSpPr>
          <p:cNvPr id="6152" name="Group 29"/>
          <p:cNvGrpSpPr/>
          <p:nvPr/>
        </p:nvGrpSpPr>
        <p:grpSpPr bwMode="auto">
          <a:xfrm>
            <a:off x="3048000" y="2360613"/>
            <a:ext cx="2298700" cy="1357312"/>
            <a:chOff x="960" y="2226"/>
            <a:chExt cx="1448" cy="855"/>
          </a:xfrm>
        </p:grpSpPr>
        <p:sp>
          <p:nvSpPr>
            <p:cNvPr id="6159" name="Line 7"/>
            <p:cNvSpPr>
              <a:spLocks noChangeShapeType="1"/>
            </p:cNvSpPr>
            <p:nvPr/>
          </p:nvSpPr>
          <p:spPr bwMode="auto">
            <a:xfrm>
              <a:off x="960" y="2846"/>
              <a:ext cx="144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0" name="Line 8"/>
            <p:cNvSpPr>
              <a:spLocks noChangeShapeType="1"/>
            </p:cNvSpPr>
            <p:nvPr/>
          </p:nvSpPr>
          <p:spPr bwMode="auto">
            <a:xfrm flipV="1">
              <a:off x="1600" y="2256"/>
              <a:ext cx="0" cy="672"/>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61" name="Line 9"/>
            <p:cNvSpPr>
              <a:spLocks noChangeShapeType="1"/>
            </p:cNvSpPr>
            <p:nvPr/>
          </p:nvSpPr>
          <p:spPr bwMode="auto">
            <a:xfrm>
              <a:off x="1056" y="2558"/>
              <a:ext cx="1184"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6162" name="Rectangle 14"/>
            <p:cNvSpPr>
              <a:spLocks noChangeArrowheads="1"/>
            </p:cNvSpPr>
            <p:nvPr/>
          </p:nvSpPr>
          <p:spPr bwMode="auto">
            <a:xfrm>
              <a:off x="1306" y="2752"/>
              <a:ext cx="43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solidFill>
                    <a:srgbClr val="000000"/>
                  </a:solidFill>
                  <a:latin typeface="Times New Roman" panose="02020603050405020304" pitchFamily="18" charset="0"/>
                  <a:ea typeface="华文楷体" panose="02010600040101010101" pitchFamily="2" charset="-122"/>
                  <a:cs typeface="楷体_GB2312" panose="02010609030101010101" pitchFamily="49" charset="-122"/>
                </a:rPr>
                <a:t> </a:t>
              </a:r>
              <a:r>
                <a:rPr kumimoji="1" lang="en-US" altLang="zh-CN" sz="2400">
                  <a:solidFill>
                    <a:srgbClr val="000000"/>
                  </a:solidFill>
                  <a:latin typeface="Times New Roman" panose="02020603050405020304" pitchFamily="18" charset="0"/>
                  <a:ea typeface="华文楷体" panose="02010600040101010101" pitchFamily="2" charset="-122"/>
                  <a:cs typeface="楷体_GB2312" panose="02010609030101010101" pitchFamily="49" charset="-122"/>
                </a:rPr>
                <a:t>0</a:t>
              </a:r>
              <a:endParaRPr kumimoji="1" lang="en-US" altLang="zh-CN" sz="2400">
                <a:solidFill>
                  <a:srgbClr val="000000"/>
                </a:solidFill>
                <a:latin typeface="Times New Roman" panose="02020603050405020304" pitchFamily="18" charset="0"/>
                <a:ea typeface="华文楷体" panose="02010600040101010101" pitchFamily="2" charset="-122"/>
                <a:cs typeface="楷体_GB2312" panose="02010609030101010101" pitchFamily="49" charset="-122"/>
                <a:sym typeface="Symbol" panose="05050102010706020507" pitchFamily="18" charset="2"/>
              </a:endParaRPr>
            </a:p>
          </p:txBody>
        </p:sp>
        <p:sp>
          <p:nvSpPr>
            <p:cNvPr id="6163" name="Rectangle 15"/>
            <p:cNvSpPr>
              <a:spLocks noChangeArrowheads="1"/>
            </p:cNvSpPr>
            <p:nvPr/>
          </p:nvSpPr>
          <p:spPr bwMode="auto">
            <a:xfrm>
              <a:off x="2161" y="2574"/>
              <a:ext cx="24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i="1" dirty="0">
                  <a:solidFill>
                    <a:srgbClr val="000000"/>
                  </a:solidFill>
                  <a:latin typeface="Times New Roman" panose="02020603050405020304" pitchFamily="18" charset="0"/>
                  <a:ea typeface="华文楷体" panose="02010600040101010101" pitchFamily="2" charset="-122"/>
                  <a:cs typeface="楷体_GB2312" panose="02010609030101010101" pitchFamily="49" charset="-122"/>
                  <a:sym typeface="Symbol" panose="05050102010706020507" pitchFamily="18" charset="2"/>
                </a:rPr>
                <a:t></a:t>
              </a:r>
              <a:endParaRPr kumimoji="1" lang="en-US" altLang="zh-CN" sz="2400" i="1" dirty="0">
                <a:solidFill>
                  <a:srgbClr val="000000"/>
                </a:solidFill>
                <a:latin typeface="Times New Roman" panose="02020603050405020304" pitchFamily="18" charset="0"/>
                <a:ea typeface="华文楷体" panose="02010600040101010101" pitchFamily="2" charset="-122"/>
                <a:cs typeface="楷体_GB2312" panose="02010609030101010101" pitchFamily="49" charset="-122"/>
                <a:sym typeface="Symbol" panose="05050102010706020507" pitchFamily="18" charset="2"/>
              </a:endParaRPr>
            </a:p>
          </p:txBody>
        </p:sp>
        <p:graphicFrame>
          <p:nvGraphicFramePr>
            <p:cNvPr id="6148" name="Object 3"/>
            <p:cNvGraphicFramePr>
              <a:graphicFrameLocks noChangeAspect="1"/>
            </p:cNvGraphicFramePr>
            <p:nvPr/>
          </p:nvGraphicFramePr>
          <p:xfrm>
            <a:off x="1632" y="2226"/>
            <a:ext cx="624" cy="268"/>
          </p:xfrm>
          <a:graphic>
            <a:graphicData uri="http://schemas.openxmlformats.org/presentationml/2006/ole">
              <mc:AlternateContent xmlns:mc="http://schemas.openxmlformats.org/markup-compatibility/2006">
                <mc:Choice xmlns:v="urn:schemas-microsoft-com:vml" Requires="v">
                  <p:oleObj spid="_x0000_s4404" name="Equation" r:id="rId1" imgW="584200" imgH="203200" progId="Equation.3">
                    <p:embed/>
                  </p:oleObj>
                </mc:Choice>
                <mc:Fallback>
                  <p:oleObj name="Equation" r:id="rId1" imgW="584200" imgH="2032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 y="2226"/>
                          <a:ext cx="624"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153" name="Group 33"/>
          <p:cNvGrpSpPr/>
          <p:nvPr/>
        </p:nvGrpSpPr>
        <p:grpSpPr bwMode="auto">
          <a:xfrm>
            <a:off x="6048375" y="2346325"/>
            <a:ext cx="2571750" cy="1368425"/>
            <a:chOff x="2850" y="2341"/>
            <a:chExt cx="1620" cy="862"/>
          </a:xfrm>
        </p:grpSpPr>
        <p:sp>
          <p:nvSpPr>
            <p:cNvPr id="6154" name="Line 11"/>
            <p:cNvSpPr>
              <a:spLocks noChangeShapeType="1"/>
            </p:cNvSpPr>
            <p:nvPr/>
          </p:nvSpPr>
          <p:spPr bwMode="auto">
            <a:xfrm>
              <a:off x="2850" y="2867"/>
              <a:ext cx="1584"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55" name="Line 13"/>
            <p:cNvSpPr>
              <a:spLocks noChangeShapeType="1"/>
            </p:cNvSpPr>
            <p:nvPr/>
          </p:nvSpPr>
          <p:spPr bwMode="auto">
            <a:xfrm>
              <a:off x="3052" y="2655"/>
              <a:ext cx="1008" cy="432"/>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6156" name="Rectangle 24"/>
            <p:cNvSpPr>
              <a:spLocks noChangeArrowheads="1"/>
            </p:cNvSpPr>
            <p:nvPr/>
          </p:nvSpPr>
          <p:spPr bwMode="auto">
            <a:xfrm>
              <a:off x="3264" y="2771"/>
              <a:ext cx="43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solidFill>
                    <a:srgbClr val="000000"/>
                  </a:solidFill>
                  <a:latin typeface="Times New Roman" panose="02020603050405020304" pitchFamily="18" charset="0"/>
                  <a:ea typeface="华文楷体" panose="02010600040101010101" pitchFamily="2" charset="-122"/>
                  <a:cs typeface="楷体_GB2312" panose="02010609030101010101" pitchFamily="49" charset="-122"/>
                </a:rPr>
                <a:t> </a:t>
              </a:r>
              <a:r>
                <a:rPr kumimoji="1" lang="en-US" altLang="zh-CN" sz="2400">
                  <a:solidFill>
                    <a:srgbClr val="000000"/>
                  </a:solidFill>
                  <a:latin typeface="Times New Roman" panose="02020603050405020304" pitchFamily="18" charset="0"/>
                  <a:ea typeface="华文楷体" panose="02010600040101010101" pitchFamily="2" charset="-122"/>
                  <a:cs typeface="楷体_GB2312" panose="02010609030101010101" pitchFamily="49" charset="-122"/>
                </a:rPr>
                <a:t>0</a:t>
              </a:r>
              <a:endParaRPr kumimoji="1" lang="en-US" altLang="zh-CN" sz="2400">
                <a:solidFill>
                  <a:srgbClr val="000000"/>
                </a:solidFill>
                <a:latin typeface="Times New Roman" panose="02020603050405020304" pitchFamily="18" charset="0"/>
                <a:ea typeface="华文楷体" panose="02010600040101010101" pitchFamily="2" charset="-122"/>
                <a:cs typeface="楷体_GB2312" panose="02010609030101010101" pitchFamily="49" charset="-122"/>
                <a:sym typeface="Symbol" panose="05050102010706020507" pitchFamily="18" charset="2"/>
              </a:endParaRPr>
            </a:p>
          </p:txBody>
        </p:sp>
        <p:sp>
          <p:nvSpPr>
            <p:cNvPr id="6157" name="Rectangle 25"/>
            <p:cNvSpPr>
              <a:spLocks noChangeArrowheads="1"/>
            </p:cNvSpPr>
            <p:nvPr/>
          </p:nvSpPr>
          <p:spPr bwMode="auto">
            <a:xfrm>
              <a:off x="4147" y="2617"/>
              <a:ext cx="24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sz="2400" i="1" dirty="0">
                  <a:solidFill>
                    <a:srgbClr val="000000"/>
                  </a:solidFill>
                  <a:latin typeface="Times New Roman" panose="02020603050405020304" pitchFamily="18" charset="0"/>
                  <a:ea typeface="华文楷体" panose="02010600040101010101" pitchFamily="2" charset="-122"/>
                  <a:cs typeface="楷体_GB2312" panose="02010609030101010101" pitchFamily="49" charset="-122"/>
                  <a:sym typeface="Symbol" panose="05050102010706020507" pitchFamily="18" charset="2"/>
                </a:rPr>
                <a:t></a:t>
              </a:r>
              <a:endParaRPr kumimoji="1" lang="en-US" altLang="zh-CN" sz="2400" i="1" dirty="0">
                <a:solidFill>
                  <a:srgbClr val="000000"/>
                </a:solidFill>
                <a:latin typeface="Times New Roman" panose="02020603050405020304" pitchFamily="18" charset="0"/>
                <a:ea typeface="华文楷体" panose="02010600040101010101" pitchFamily="2" charset="-122"/>
                <a:cs typeface="楷体_GB2312" panose="02010609030101010101" pitchFamily="49" charset="-122"/>
                <a:sym typeface="Symbol" panose="05050102010706020507" pitchFamily="18" charset="2"/>
              </a:endParaRPr>
            </a:p>
          </p:txBody>
        </p:sp>
        <p:sp>
          <p:nvSpPr>
            <p:cNvPr id="6158" name="Line 26"/>
            <p:cNvSpPr>
              <a:spLocks noChangeShapeType="1"/>
            </p:cNvSpPr>
            <p:nvPr/>
          </p:nvSpPr>
          <p:spPr bwMode="auto">
            <a:xfrm flipV="1">
              <a:off x="3552" y="2483"/>
              <a:ext cx="0" cy="72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6147" name="Object 5"/>
            <p:cNvGraphicFramePr>
              <a:graphicFrameLocks noChangeAspect="1"/>
            </p:cNvGraphicFramePr>
            <p:nvPr/>
          </p:nvGraphicFramePr>
          <p:xfrm>
            <a:off x="3651" y="2341"/>
            <a:ext cx="819" cy="285"/>
          </p:xfrm>
          <a:graphic>
            <a:graphicData uri="http://schemas.openxmlformats.org/presentationml/2006/ole">
              <mc:AlternateContent xmlns:mc="http://schemas.openxmlformats.org/markup-compatibility/2006">
                <mc:Choice xmlns:v="urn:schemas-microsoft-com:vml" Requires="v">
                  <p:oleObj spid="_x0000_s4405" name="公式" r:id="rId3" imgW="584200" imgH="203200" progId="Equation.3">
                    <p:embed/>
                  </p:oleObj>
                </mc:Choice>
                <mc:Fallback>
                  <p:oleObj name="公式" r:id="rId3" imgW="584200" imgH="203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1" y="2341"/>
                          <a:ext cx="819"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146" name="Object 6"/>
          <p:cNvGraphicFramePr>
            <a:graphicFrameLocks noChangeAspect="1"/>
          </p:cNvGraphicFramePr>
          <p:nvPr/>
        </p:nvGraphicFramePr>
        <p:xfrm>
          <a:off x="3365500" y="1482725"/>
          <a:ext cx="4873625" cy="608013"/>
        </p:xfrm>
        <a:graphic>
          <a:graphicData uri="http://schemas.openxmlformats.org/presentationml/2006/ole">
            <mc:AlternateContent xmlns:mc="http://schemas.openxmlformats.org/markup-compatibility/2006">
              <mc:Choice xmlns:v="urn:schemas-microsoft-com:vml" Requires="v">
                <p:oleObj spid="_x0000_s4406" name="Equation" r:id="rId5" imgW="1777365" imgH="254000" progId="Equation.DSMT4">
                  <p:embed/>
                </p:oleObj>
              </mc:Choice>
              <mc:Fallback>
                <p:oleObj name="Equation" r:id="rId5" imgW="1777365" imgH="2540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5500" y="1482725"/>
                        <a:ext cx="4873625" cy="608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 name="标题 1"/>
          <p:cNvSpPr>
            <a:spLocks noGrp="1"/>
          </p:cNvSpPr>
          <p:nvPr>
            <p:ph type="title"/>
          </p:nvPr>
        </p:nvSpPr>
        <p:spPr>
          <a:xfrm>
            <a:off x="1981200" y="274638"/>
            <a:ext cx="8229600" cy="725487"/>
          </a:xfrm>
        </p:spPr>
        <p:txBody>
          <a:bodyPr/>
          <a:lstStyle/>
          <a:p>
            <a:r>
              <a:rPr lang="en-US" altLang="zh-CN" sz="3200" dirty="0"/>
              <a:t>6.2  LTI</a:t>
            </a:r>
            <a:r>
              <a:rPr lang="zh-CN" altLang="en-US" sz="3200" dirty="0"/>
              <a:t>系统频率响应的模和相位表示</a:t>
            </a:r>
            <a:endParaRPr lang="zh-CN" altLang="en-US" sz="4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7" name="标题 1"/>
          <p:cNvSpPr>
            <a:spLocks noGrp="1"/>
          </p:cNvSpPr>
          <p:nvPr>
            <p:ph type="title"/>
          </p:nvPr>
        </p:nvSpPr>
        <p:spPr/>
        <p:txBody>
          <a:bodyPr/>
          <a:lstStyle/>
          <a:p>
            <a:r>
              <a:rPr lang="en-US" altLang="zh-CN" dirty="0"/>
              <a:t>6.3 </a:t>
            </a:r>
            <a:r>
              <a:rPr lang="zh-CN" altLang="en-US" dirty="0"/>
              <a:t>理想频率选择性滤波器</a:t>
            </a:r>
            <a:endParaRPr lang="zh-CN" altLang="en-US" dirty="0"/>
          </a:p>
        </p:txBody>
      </p:sp>
      <p:sp>
        <p:nvSpPr>
          <p:cNvPr id="10268" name="内容占位符 2"/>
          <p:cNvSpPr>
            <a:spLocks noGrp="1"/>
          </p:cNvSpPr>
          <p:nvPr>
            <p:ph idx="1"/>
          </p:nvPr>
        </p:nvSpPr>
        <p:spPr>
          <a:xfrm>
            <a:off x="1981200" y="1285875"/>
            <a:ext cx="8229600" cy="500063"/>
          </a:xfrm>
        </p:spPr>
        <p:txBody>
          <a:bodyPr/>
          <a:lstStyle/>
          <a:p>
            <a:pPr marL="0" indent="0">
              <a:buNone/>
            </a:pPr>
            <a:r>
              <a:rPr lang="zh-CN" altLang="en-US" sz="2800" b="0" dirty="0">
                <a:solidFill>
                  <a:srgbClr val="0000FF"/>
                </a:solidFill>
              </a:rPr>
              <a:t>一</a:t>
            </a:r>
            <a:r>
              <a:rPr lang="en-US" altLang="zh-CN" sz="2800" b="0" dirty="0">
                <a:solidFill>
                  <a:srgbClr val="0000FF"/>
                </a:solidFill>
              </a:rPr>
              <a:t>. </a:t>
            </a:r>
            <a:r>
              <a:rPr lang="zh-CN" altLang="en-US" sz="2800" b="0" dirty="0">
                <a:solidFill>
                  <a:srgbClr val="0000FF"/>
                </a:solidFill>
              </a:rPr>
              <a:t>理想频率选择性滤波器的频率特性</a:t>
            </a:r>
            <a:endParaRPr lang="zh-CN" altLang="en-US" sz="2800" b="0" dirty="0">
              <a:solidFill>
                <a:srgbClr val="0000FF"/>
              </a:solidFill>
            </a:endParaRPr>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49260B4-D0C7-4D16-B552-578B6599E5C5}"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grpSp>
        <p:nvGrpSpPr>
          <p:cNvPr id="2" name="Group 67"/>
          <p:cNvGrpSpPr/>
          <p:nvPr/>
        </p:nvGrpSpPr>
        <p:grpSpPr bwMode="auto">
          <a:xfrm>
            <a:off x="2562225" y="1962622"/>
            <a:ext cx="3187700" cy="1817688"/>
            <a:chOff x="816" y="1008"/>
            <a:chExt cx="2008" cy="1145"/>
          </a:xfrm>
        </p:grpSpPr>
        <p:sp>
          <p:nvSpPr>
            <p:cNvPr id="10299" name="Text Box 29"/>
            <p:cNvSpPr txBox="1">
              <a:spLocks noChangeArrowheads="1"/>
            </p:cNvSpPr>
            <p:nvPr/>
          </p:nvSpPr>
          <p:spPr bwMode="auto">
            <a:xfrm>
              <a:off x="1488" y="1824"/>
              <a:ext cx="672" cy="329"/>
            </a:xfrm>
            <a:prstGeom prst="rect">
              <a:avLst/>
            </a:prstGeom>
            <a:noFill/>
            <a:ln w="9525">
              <a:solidFill>
                <a:srgbClr val="FFFF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低通</a:t>
              </a:r>
              <a:endParaRPr kumimoji="1" lang="zh-CN" altLang="en-US" sz="2800">
                <a:solidFill>
                  <a:srgbClr val="000066"/>
                </a:solidFill>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10300" name="Group 53"/>
            <p:cNvGrpSpPr/>
            <p:nvPr/>
          </p:nvGrpSpPr>
          <p:grpSpPr bwMode="auto">
            <a:xfrm>
              <a:off x="816" y="1008"/>
              <a:ext cx="2008" cy="814"/>
              <a:chOff x="816" y="974"/>
              <a:chExt cx="2008" cy="814"/>
            </a:xfrm>
          </p:grpSpPr>
          <p:sp>
            <p:nvSpPr>
              <p:cNvPr id="10301" name="Line 6"/>
              <p:cNvSpPr>
                <a:spLocks noChangeShapeType="1"/>
              </p:cNvSpPr>
              <p:nvPr/>
            </p:nvSpPr>
            <p:spPr bwMode="auto">
              <a:xfrm>
                <a:off x="816" y="1579"/>
                <a:ext cx="2008" cy="0"/>
              </a:xfrm>
              <a:prstGeom prst="line">
                <a:avLst/>
              </a:prstGeom>
              <a:noFill/>
              <a:ln w="28575">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302" name="Line 7"/>
              <p:cNvSpPr>
                <a:spLocks noChangeShapeType="1"/>
              </p:cNvSpPr>
              <p:nvPr/>
            </p:nvSpPr>
            <p:spPr bwMode="auto">
              <a:xfrm flipV="1">
                <a:off x="1770" y="974"/>
                <a:ext cx="0" cy="691"/>
              </a:xfrm>
              <a:prstGeom prst="line">
                <a:avLst/>
              </a:prstGeom>
              <a:noFill/>
              <a:ln w="28575">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303" name="Rectangle 8"/>
              <p:cNvSpPr>
                <a:spLocks noChangeArrowheads="1"/>
              </p:cNvSpPr>
              <p:nvPr/>
            </p:nvSpPr>
            <p:spPr bwMode="auto">
              <a:xfrm>
                <a:off x="1167" y="1320"/>
                <a:ext cx="1205" cy="259"/>
              </a:xfrm>
              <a:prstGeom prst="rect">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ea typeface="华文楷体" panose="02010600040101010101" pitchFamily="2" charset="-122"/>
                </a:endParaRPr>
              </a:p>
            </p:txBody>
          </p:sp>
          <p:graphicFrame>
            <p:nvGraphicFramePr>
              <p:cNvPr id="10262" name="Object 2"/>
              <p:cNvGraphicFramePr>
                <a:graphicFrameLocks noChangeAspect="1"/>
              </p:cNvGraphicFramePr>
              <p:nvPr/>
            </p:nvGraphicFramePr>
            <p:xfrm>
              <a:off x="2256" y="1524"/>
              <a:ext cx="220" cy="264"/>
            </p:xfrm>
            <a:graphic>
              <a:graphicData uri="http://schemas.openxmlformats.org/presentationml/2006/ole">
                <mc:AlternateContent xmlns:mc="http://schemas.openxmlformats.org/markup-compatibility/2006">
                  <mc:Choice xmlns:v="urn:schemas-microsoft-com:vml" Requires="v">
                    <p:oleObj spid="_x0000_s45560" name="Equation" r:id="rId1" imgW="190500" imgH="228600" progId="Equation.DSMT4">
                      <p:embed/>
                    </p:oleObj>
                  </mc:Choice>
                  <mc:Fallback>
                    <p:oleObj name="Equation" r:id="rId1" imgW="190500"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6" y="1524"/>
                            <a:ext cx="220"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3" name="Object 3"/>
              <p:cNvGraphicFramePr>
                <a:graphicFrameLocks noChangeAspect="1"/>
              </p:cNvGraphicFramePr>
              <p:nvPr/>
            </p:nvGraphicFramePr>
            <p:xfrm>
              <a:off x="988" y="1514"/>
              <a:ext cx="323" cy="264"/>
            </p:xfrm>
            <a:graphic>
              <a:graphicData uri="http://schemas.openxmlformats.org/presentationml/2006/ole">
                <mc:AlternateContent xmlns:mc="http://schemas.openxmlformats.org/markup-compatibility/2006">
                  <mc:Choice xmlns:v="urn:schemas-microsoft-com:vml" Requires="v">
                    <p:oleObj spid="_x0000_s45561" name="Equation" r:id="rId3" imgW="279400" imgH="228600" progId="Equation.DSMT4">
                      <p:embed/>
                    </p:oleObj>
                  </mc:Choice>
                  <mc:Fallback>
                    <p:oleObj name="Equation" r:id="rId3" imgW="279400" imgH="2286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8" y="1514"/>
                            <a:ext cx="32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4" name="Object 4"/>
              <p:cNvGraphicFramePr>
                <a:graphicFrameLocks noChangeAspect="1"/>
              </p:cNvGraphicFramePr>
              <p:nvPr/>
            </p:nvGraphicFramePr>
            <p:xfrm>
              <a:off x="1776" y="1584"/>
              <a:ext cx="129" cy="200"/>
            </p:xfrm>
            <a:graphic>
              <a:graphicData uri="http://schemas.openxmlformats.org/presentationml/2006/ole">
                <mc:AlternateContent xmlns:mc="http://schemas.openxmlformats.org/markup-compatibility/2006">
                  <mc:Choice xmlns:v="urn:schemas-microsoft-com:vml" Requires="v">
                    <p:oleObj spid="_x0000_s45562" name="Equation" r:id="rId5" imgW="114300" imgH="177800" progId="Equation.DSMT4">
                      <p:embed/>
                    </p:oleObj>
                  </mc:Choice>
                  <mc:Fallback>
                    <p:oleObj name="Equation" r:id="rId5" imgW="114300" imgH="177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6" y="1584"/>
                            <a:ext cx="129"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5" name="Object 5"/>
              <p:cNvGraphicFramePr>
                <a:graphicFrameLocks noChangeAspect="1"/>
              </p:cNvGraphicFramePr>
              <p:nvPr/>
            </p:nvGraphicFramePr>
            <p:xfrm>
              <a:off x="1824" y="1152"/>
              <a:ext cx="91" cy="148"/>
            </p:xfrm>
            <a:graphic>
              <a:graphicData uri="http://schemas.openxmlformats.org/presentationml/2006/ole">
                <mc:AlternateContent xmlns:mc="http://schemas.openxmlformats.org/markup-compatibility/2006">
                  <mc:Choice xmlns:v="urn:schemas-microsoft-com:vml" Requires="v">
                    <p:oleObj spid="_x0000_s45563" name="Equation" r:id="rId7" imgW="101600" imgH="165100" progId="Equation.DSMT4">
                      <p:embed/>
                    </p:oleObj>
                  </mc:Choice>
                  <mc:Fallback>
                    <p:oleObj name="Equation" r:id="rId7" imgW="101600" imgH="1651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4" y="1152"/>
                            <a:ext cx="91" cy="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6" name="Object 6"/>
              <p:cNvGraphicFramePr>
                <a:graphicFrameLocks noChangeAspect="1"/>
              </p:cNvGraphicFramePr>
              <p:nvPr/>
            </p:nvGraphicFramePr>
            <p:xfrm>
              <a:off x="2592" y="1392"/>
              <a:ext cx="192" cy="176"/>
            </p:xfrm>
            <a:graphic>
              <a:graphicData uri="http://schemas.openxmlformats.org/presentationml/2006/ole">
                <mc:AlternateContent xmlns:mc="http://schemas.openxmlformats.org/markup-compatibility/2006">
                  <mc:Choice xmlns:v="urn:schemas-microsoft-com:vml" Requires="v">
                    <p:oleObj spid="_x0000_s45564" name="Equation" r:id="rId9" imgW="152400" imgH="139700" progId="Equation.DSMT4">
                      <p:embed/>
                    </p:oleObj>
                  </mc:Choice>
                  <mc:Fallback>
                    <p:oleObj name="Equation" r:id="rId9" imgW="152400" imgH="1397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2" y="1392"/>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6" name="Group 68"/>
          <p:cNvGrpSpPr/>
          <p:nvPr/>
        </p:nvGrpSpPr>
        <p:grpSpPr bwMode="auto">
          <a:xfrm>
            <a:off x="6829425" y="1965797"/>
            <a:ext cx="2895600" cy="1814513"/>
            <a:chOff x="3504" y="1010"/>
            <a:chExt cx="1824" cy="1143"/>
          </a:xfrm>
        </p:grpSpPr>
        <p:sp>
          <p:nvSpPr>
            <p:cNvPr id="10291" name="Text Box 31"/>
            <p:cNvSpPr txBox="1">
              <a:spLocks noChangeArrowheads="1"/>
            </p:cNvSpPr>
            <p:nvPr/>
          </p:nvSpPr>
          <p:spPr bwMode="auto">
            <a:xfrm>
              <a:off x="4128" y="1824"/>
              <a:ext cx="603" cy="329"/>
            </a:xfrm>
            <a:prstGeom prst="rect">
              <a:avLst/>
            </a:prstGeom>
            <a:noFill/>
            <a:ln w="9525">
              <a:solidFill>
                <a:srgbClr val="FFFF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高通</a:t>
              </a:r>
              <a:endParaRPr kumimoji="1" lang="zh-CN" altLang="en-US" sz="2800">
                <a:solidFill>
                  <a:srgbClr val="000066"/>
                </a:solidFill>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10292" name="Group 54"/>
            <p:cNvGrpSpPr/>
            <p:nvPr/>
          </p:nvGrpSpPr>
          <p:grpSpPr bwMode="auto">
            <a:xfrm>
              <a:off x="3504" y="1010"/>
              <a:ext cx="1824" cy="816"/>
              <a:chOff x="3552" y="984"/>
              <a:chExt cx="1824" cy="816"/>
            </a:xfrm>
          </p:grpSpPr>
          <p:sp>
            <p:nvSpPr>
              <p:cNvPr id="10293" name="Line 15"/>
              <p:cNvSpPr>
                <a:spLocks noChangeShapeType="1"/>
              </p:cNvSpPr>
              <p:nvPr/>
            </p:nvSpPr>
            <p:spPr bwMode="auto">
              <a:xfrm>
                <a:off x="3552" y="1579"/>
                <a:ext cx="1656" cy="0"/>
              </a:xfrm>
              <a:prstGeom prst="line">
                <a:avLst/>
              </a:prstGeom>
              <a:noFill/>
              <a:ln w="28575">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94" name="Line 16"/>
              <p:cNvSpPr>
                <a:spLocks noChangeShapeType="1"/>
              </p:cNvSpPr>
              <p:nvPr/>
            </p:nvSpPr>
            <p:spPr bwMode="auto">
              <a:xfrm flipV="1">
                <a:off x="4405" y="984"/>
                <a:ext cx="0" cy="691"/>
              </a:xfrm>
              <a:prstGeom prst="line">
                <a:avLst/>
              </a:prstGeom>
              <a:noFill/>
              <a:ln w="28575">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95" name="Line 17"/>
              <p:cNvSpPr>
                <a:spLocks noChangeShapeType="1"/>
              </p:cNvSpPr>
              <p:nvPr/>
            </p:nvSpPr>
            <p:spPr bwMode="auto">
              <a:xfrm>
                <a:off x="4706" y="1287"/>
                <a:ext cx="402"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0296" name="Line 18"/>
              <p:cNvSpPr>
                <a:spLocks noChangeShapeType="1"/>
              </p:cNvSpPr>
              <p:nvPr/>
            </p:nvSpPr>
            <p:spPr bwMode="auto">
              <a:xfrm>
                <a:off x="4706" y="1277"/>
                <a:ext cx="0" cy="302"/>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0297" name="Line 19"/>
              <p:cNvSpPr>
                <a:spLocks noChangeShapeType="1"/>
              </p:cNvSpPr>
              <p:nvPr/>
            </p:nvSpPr>
            <p:spPr bwMode="auto">
              <a:xfrm>
                <a:off x="4104" y="1277"/>
                <a:ext cx="0" cy="302"/>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0298" name="Line 20"/>
              <p:cNvSpPr>
                <a:spLocks noChangeShapeType="1"/>
              </p:cNvSpPr>
              <p:nvPr/>
            </p:nvSpPr>
            <p:spPr bwMode="auto">
              <a:xfrm flipH="1">
                <a:off x="3552" y="1287"/>
                <a:ext cx="552" cy="0"/>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10257" name="Object 7"/>
              <p:cNvGraphicFramePr>
                <a:graphicFrameLocks noChangeAspect="1"/>
              </p:cNvGraphicFramePr>
              <p:nvPr/>
            </p:nvGraphicFramePr>
            <p:xfrm>
              <a:off x="4608" y="1536"/>
              <a:ext cx="220" cy="264"/>
            </p:xfrm>
            <a:graphic>
              <a:graphicData uri="http://schemas.openxmlformats.org/presentationml/2006/ole">
                <mc:AlternateContent xmlns:mc="http://schemas.openxmlformats.org/markup-compatibility/2006">
                  <mc:Choice xmlns:v="urn:schemas-microsoft-com:vml" Requires="v">
                    <p:oleObj spid="_x0000_s45565" name="Equation" r:id="rId11" imgW="190500" imgH="228600" progId="Equation.DSMT4">
                      <p:embed/>
                    </p:oleObj>
                  </mc:Choice>
                  <mc:Fallback>
                    <p:oleObj name="Equation" r:id="rId11" imgW="190500" imgH="2286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8" y="1536"/>
                            <a:ext cx="220"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8" name="Object 8"/>
              <p:cNvGraphicFramePr>
                <a:graphicFrameLocks noChangeAspect="1"/>
              </p:cNvGraphicFramePr>
              <p:nvPr/>
            </p:nvGraphicFramePr>
            <p:xfrm>
              <a:off x="3896" y="1524"/>
              <a:ext cx="323" cy="264"/>
            </p:xfrm>
            <a:graphic>
              <a:graphicData uri="http://schemas.openxmlformats.org/presentationml/2006/ole">
                <mc:AlternateContent xmlns:mc="http://schemas.openxmlformats.org/markup-compatibility/2006">
                  <mc:Choice xmlns:v="urn:schemas-microsoft-com:vml" Requires="v">
                    <p:oleObj spid="_x0000_s45566" name="Equation" r:id="rId13" imgW="279400" imgH="228600" progId="Equation.DSMT4">
                      <p:embed/>
                    </p:oleObj>
                  </mc:Choice>
                  <mc:Fallback>
                    <p:oleObj name="Equation" r:id="rId13" imgW="279400" imgH="2286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6" y="1524"/>
                            <a:ext cx="32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9" name="Object 9"/>
              <p:cNvGraphicFramePr>
                <a:graphicFrameLocks noChangeAspect="1"/>
              </p:cNvGraphicFramePr>
              <p:nvPr/>
            </p:nvGraphicFramePr>
            <p:xfrm>
              <a:off x="4416" y="1564"/>
              <a:ext cx="129" cy="200"/>
            </p:xfrm>
            <a:graphic>
              <a:graphicData uri="http://schemas.openxmlformats.org/presentationml/2006/ole">
                <mc:AlternateContent xmlns:mc="http://schemas.openxmlformats.org/markup-compatibility/2006">
                  <mc:Choice xmlns:v="urn:schemas-microsoft-com:vml" Requires="v">
                    <p:oleObj spid="_x0000_s45567" name="Equation" r:id="rId14" imgW="114300" imgH="177800" progId="Equation.DSMT4">
                      <p:embed/>
                    </p:oleObj>
                  </mc:Choice>
                  <mc:Fallback>
                    <p:oleObj name="Equation" r:id="rId14" imgW="114300" imgH="1778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6" y="1564"/>
                            <a:ext cx="129"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0" name="Object 10"/>
              <p:cNvGraphicFramePr>
                <a:graphicFrameLocks noChangeAspect="1"/>
              </p:cNvGraphicFramePr>
              <p:nvPr/>
            </p:nvGraphicFramePr>
            <p:xfrm>
              <a:off x="4272" y="1114"/>
              <a:ext cx="91" cy="148"/>
            </p:xfrm>
            <a:graphic>
              <a:graphicData uri="http://schemas.openxmlformats.org/presentationml/2006/ole">
                <mc:AlternateContent xmlns:mc="http://schemas.openxmlformats.org/markup-compatibility/2006">
                  <mc:Choice xmlns:v="urn:schemas-microsoft-com:vml" Requires="v">
                    <p:oleObj spid="_x0000_s45568" name="Equation" r:id="rId15" imgW="101600" imgH="165100" progId="Equation.DSMT4">
                      <p:embed/>
                    </p:oleObj>
                  </mc:Choice>
                  <mc:Fallback>
                    <p:oleObj name="Equation" r:id="rId15" imgW="101600" imgH="1651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2" y="1114"/>
                            <a:ext cx="91" cy="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61" name="Object 11"/>
              <p:cNvGraphicFramePr>
                <a:graphicFrameLocks noChangeAspect="1"/>
              </p:cNvGraphicFramePr>
              <p:nvPr/>
            </p:nvGraphicFramePr>
            <p:xfrm>
              <a:off x="5184" y="1440"/>
              <a:ext cx="192" cy="176"/>
            </p:xfrm>
            <a:graphic>
              <a:graphicData uri="http://schemas.openxmlformats.org/presentationml/2006/ole">
                <mc:AlternateContent xmlns:mc="http://schemas.openxmlformats.org/markup-compatibility/2006">
                  <mc:Choice xmlns:v="urn:schemas-microsoft-com:vml" Requires="v">
                    <p:oleObj spid="_x0000_s45569" name="Equation" r:id="rId16" imgW="152400" imgH="139700" progId="Equation.DSMT4">
                      <p:embed/>
                    </p:oleObj>
                  </mc:Choice>
                  <mc:Fallback>
                    <p:oleObj name="Equation" r:id="rId16" imgW="152400" imgH="1397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84" y="1440"/>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8" name="Group 70"/>
          <p:cNvGrpSpPr/>
          <p:nvPr/>
        </p:nvGrpSpPr>
        <p:grpSpPr bwMode="auto">
          <a:xfrm>
            <a:off x="6594475" y="4079329"/>
            <a:ext cx="3359150" cy="2079625"/>
            <a:chOff x="3356" y="2464"/>
            <a:chExt cx="2116" cy="1310"/>
          </a:xfrm>
        </p:grpSpPr>
        <p:sp>
          <p:nvSpPr>
            <p:cNvPr id="10282" name="Text Box 33"/>
            <p:cNvSpPr txBox="1">
              <a:spLocks noChangeArrowheads="1"/>
            </p:cNvSpPr>
            <p:nvPr/>
          </p:nvSpPr>
          <p:spPr bwMode="auto">
            <a:xfrm>
              <a:off x="4078" y="3445"/>
              <a:ext cx="602" cy="329"/>
            </a:xfrm>
            <a:prstGeom prst="rect">
              <a:avLst/>
            </a:prstGeom>
            <a:noFill/>
            <a:ln w="9525">
              <a:solidFill>
                <a:srgbClr val="FFFF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带阻</a:t>
              </a:r>
              <a:endParaRPr kumimoji="1" lang="zh-CN" altLang="en-US" sz="2800" dirty="0">
                <a:solidFill>
                  <a:srgbClr val="000066"/>
                </a:solidFill>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10283" name="Group 66"/>
            <p:cNvGrpSpPr/>
            <p:nvPr/>
          </p:nvGrpSpPr>
          <p:grpSpPr bwMode="auto">
            <a:xfrm>
              <a:off x="3356" y="2464"/>
              <a:ext cx="2116" cy="944"/>
              <a:chOff x="3356" y="2334"/>
              <a:chExt cx="2116" cy="944"/>
            </a:xfrm>
          </p:grpSpPr>
          <p:sp>
            <p:nvSpPr>
              <p:cNvPr id="10284" name="Line 22"/>
              <p:cNvSpPr>
                <a:spLocks noChangeShapeType="1"/>
              </p:cNvSpPr>
              <p:nvPr/>
            </p:nvSpPr>
            <p:spPr bwMode="auto">
              <a:xfrm>
                <a:off x="3356" y="3052"/>
                <a:ext cx="1976" cy="0"/>
              </a:xfrm>
              <a:prstGeom prst="line">
                <a:avLst/>
              </a:prstGeom>
              <a:noFill/>
              <a:ln w="28575">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85" name="Line 23"/>
              <p:cNvSpPr>
                <a:spLocks noChangeShapeType="1"/>
              </p:cNvSpPr>
              <p:nvPr/>
            </p:nvSpPr>
            <p:spPr bwMode="auto">
              <a:xfrm flipV="1">
                <a:off x="4366" y="2334"/>
                <a:ext cx="0" cy="863"/>
              </a:xfrm>
              <a:prstGeom prst="line">
                <a:avLst/>
              </a:prstGeom>
              <a:noFill/>
              <a:ln w="28575">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86" name="Rectangle 24"/>
              <p:cNvSpPr>
                <a:spLocks noChangeArrowheads="1"/>
              </p:cNvSpPr>
              <p:nvPr/>
            </p:nvSpPr>
            <p:spPr bwMode="auto">
              <a:xfrm>
                <a:off x="3927" y="2707"/>
                <a:ext cx="879" cy="345"/>
              </a:xfrm>
              <a:prstGeom prst="rect">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ea typeface="华文楷体" panose="02010600040101010101" pitchFamily="2" charset="-122"/>
                </a:endParaRPr>
              </a:p>
            </p:txBody>
          </p:sp>
          <p:sp>
            <p:nvSpPr>
              <p:cNvPr id="10287" name="Line 25"/>
              <p:cNvSpPr>
                <a:spLocks noChangeShapeType="1"/>
              </p:cNvSpPr>
              <p:nvPr/>
            </p:nvSpPr>
            <p:spPr bwMode="auto">
              <a:xfrm>
                <a:off x="4997" y="2707"/>
                <a:ext cx="0" cy="345"/>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0288" name="Line 27"/>
              <p:cNvSpPr>
                <a:spLocks noChangeShapeType="1"/>
              </p:cNvSpPr>
              <p:nvPr/>
            </p:nvSpPr>
            <p:spPr bwMode="auto">
              <a:xfrm>
                <a:off x="3725" y="2707"/>
                <a:ext cx="0" cy="345"/>
              </a:xfrm>
              <a:prstGeom prst="line">
                <a:avLst/>
              </a:prstGeom>
              <a:noFill/>
              <a:ln w="28575">
                <a:solidFill>
                  <a:schemeClr val="tx2"/>
                </a:solidFill>
                <a:rou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10250" name="Object 12"/>
              <p:cNvGraphicFramePr>
                <a:graphicFrameLocks noChangeAspect="1"/>
              </p:cNvGraphicFramePr>
              <p:nvPr/>
            </p:nvGraphicFramePr>
            <p:xfrm>
              <a:off x="4388" y="3024"/>
              <a:ext cx="129" cy="200"/>
            </p:xfrm>
            <a:graphic>
              <a:graphicData uri="http://schemas.openxmlformats.org/presentationml/2006/ole">
                <mc:AlternateContent xmlns:mc="http://schemas.openxmlformats.org/markup-compatibility/2006">
                  <mc:Choice xmlns:v="urn:schemas-microsoft-com:vml" Requires="v">
                    <p:oleObj spid="_x0000_s45570" name="Equation" r:id="rId17" imgW="114300" imgH="177800" progId="Equation.DSMT4">
                      <p:embed/>
                    </p:oleObj>
                  </mc:Choice>
                  <mc:Fallback>
                    <p:oleObj name="Equation" r:id="rId17" imgW="114300" imgH="1778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8" y="3024"/>
                            <a:ext cx="129"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1" name="Object 13"/>
              <p:cNvGraphicFramePr>
                <a:graphicFrameLocks noChangeAspect="1"/>
              </p:cNvGraphicFramePr>
              <p:nvPr/>
            </p:nvGraphicFramePr>
            <p:xfrm>
              <a:off x="4272" y="2544"/>
              <a:ext cx="91" cy="148"/>
            </p:xfrm>
            <a:graphic>
              <a:graphicData uri="http://schemas.openxmlformats.org/presentationml/2006/ole">
                <mc:AlternateContent xmlns:mc="http://schemas.openxmlformats.org/markup-compatibility/2006">
                  <mc:Choice xmlns:v="urn:schemas-microsoft-com:vml" Requires="v">
                    <p:oleObj spid="_x0000_s45571" name="Equation" r:id="rId18" imgW="101600" imgH="165100" progId="Equation.DSMT4">
                      <p:embed/>
                    </p:oleObj>
                  </mc:Choice>
                  <mc:Fallback>
                    <p:oleObj name="Equation" r:id="rId18" imgW="101600" imgH="16510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2" y="2544"/>
                            <a:ext cx="91" cy="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2" name="Object 14"/>
              <p:cNvGraphicFramePr>
                <a:graphicFrameLocks noChangeAspect="1"/>
              </p:cNvGraphicFramePr>
              <p:nvPr/>
            </p:nvGraphicFramePr>
            <p:xfrm>
              <a:off x="5280" y="2880"/>
              <a:ext cx="192" cy="176"/>
            </p:xfrm>
            <a:graphic>
              <a:graphicData uri="http://schemas.openxmlformats.org/presentationml/2006/ole">
                <mc:AlternateContent xmlns:mc="http://schemas.openxmlformats.org/markup-compatibility/2006">
                  <mc:Choice xmlns:v="urn:schemas-microsoft-com:vml" Requires="v">
                    <p:oleObj spid="_x0000_s45572" name="Equation" r:id="rId19" imgW="152400" imgH="139700" progId="Equation.DSMT4">
                      <p:embed/>
                    </p:oleObj>
                  </mc:Choice>
                  <mc:Fallback>
                    <p:oleObj name="Equation" r:id="rId19" imgW="152400" imgH="139700"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80" y="2880"/>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3" name="Object 15"/>
              <p:cNvGraphicFramePr>
                <a:graphicFrameLocks noChangeAspect="1"/>
              </p:cNvGraphicFramePr>
              <p:nvPr/>
            </p:nvGraphicFramePr>
            <p:xfrm>
              <a:off x="4656" y="3004"/>
              <a:ext cx="248" cy="264"/>
            </p:xfrm>
            <a:graphic>
              <a:graphicData uri="http://schemas.openxmlformats.org/presentationml/2006/ole">
                <mc:AlternateContent xmlns:mc="http://schemas.openxmlformats.org/markup-compatibility/2006">
                  <mc:Choice xmlns:v="urn:schemas-microsoft-com:vml" Requires="v">
                    <p:oleObj spid="_x0000_s45573" name="Equation" r:id="rId20" imgW="177800" imgH="228600" progId="Equation.DSMT4">
                      <p:embed/>
                    </p:oleObj>
                  </mc:Choice>
                  <mc:Fallback>
                    <p:oleObj name="Equation" r:id="rId20" imgW="177800" imgH="228600" progId="Equation.DSMT4">
                      <p:embed/>
                      <p:pic>
                        <p:nvPicPr>
                          <p:cNvPr id="0" name="Object 1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656" y="3004"/>
                            <a:ext cx="248"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4" name="Object 16"/>
              <p:cNvGraphicFramePr>
                <a:graphicFrameLocks noChangeAspect="1"/>
              </p:cNvGraphicFramePr>
              <p:nvPr/>
            </p:nvGraphicFramePr>
            <p:xfrm>
              <a:off x="3840" y="3004"/>
              <a:ext cx="324" cy="264"/>
            </p:xfrm>
            <a:graphic>
              <a:graphicData uri="http://schemas.openxmlformats.org/presentationml/2006/ole">
                <mc:AlternateContent xmlns:mc="http://schemas.openxmlformats.org/markup-compatibility/2006">
                  <mc:Choice xmlns:v="urn:schemas-microsoft-com:vml" Requires="v">
                    <p:oleObj spid="_x0000_s45574" name="Equation" r:id="rId22" imgW="266700" imgH="228600" progId="Equation.DSMT4">
                      <p:embed/>
                    </p:oleObj>
                  </mc:Choice>
                  <mc:Fallback>
                    <p:oleObj name="Equation" r:id="rId22" imgW="266700" imgH="228600" progId="Equation.DSMT4">
                      <p:embed/>
                      <p:pic>
                        <p:nvPicPr>
                          <p:cNvPr id="0" name="Object 1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840" y="3004"/>
                            <a:ext cx="324"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55" name="Object 17"/>
              <p:cNvGraphicFramePr>
                <a:graphicFrameLocks noChangeAspect="1"/>
              </p:cNvGraphicFramePr>
              <p:nvPr/>
            </p:nvGraphicFramePr>
            <p:xfrm>
              <a:off x="4896" y="3004"/>
              <a:ext cx="220" cy="264"/>
            </p:xfrm>
            <a:graphic>
              <a:graphicData uri="http://schemas.openxmlformats.org/presentationml/2006/ole">
                <mc:AlternateContent xmlns:mc="http://schemas.openxmlformats.org/markup-compatibility/2006">
                  <mc:Choice xmlns:v="urn:schemas-microsoft-com:vml" Requires="v">
                    <p:oleObj spid="_x0000_s45575" name="Equation" r:id="rId24" imgW="190500" imgH="228600" progId="Equation.DSMT4">
                      <p:embed/>
                    </p:oleObj>
                  </mc:Choice>
                  <mc:Fallback>
                    <p:oleObj name="Equation" r:id="rId24" imgW="190500" imgH="228600" progId="Equation.DSMT4">
                      <p:embed/>
                      <p:pic>
                        <p:nvPicPr>
                          <p:cNvPr id="0" name="Object 1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896" y="3004"/>
                            <a:ext cx="220"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89" name="Line 61"/>
              <p:cNvSpPr>
                <a:spLocks noChangeShapeType="1"/>
              </p:cNvSpPr>
              <p:nvPr/>
            </p:nvSpPr>
            <p:spPr bwMode="auto">
              <a:xfrm>
                <a:off x="4992" y="2708"/>
                <a:ext cx="288" cy="0"/>
              </a:xfrm>
              <a:prstGeom prst="line">
                <a:avLst/>
              </a:prstGeom>
              <a:noFill/>
              <a:ln w="28575">
                <a:solidFill>
                  <a:srgbClr val="000099"/>
                </a:solidFill>
                <a:round/>
              </a:ln>
              <a:extLst>
                <a:ext uri="{909E8E84-426E-40DD-AFC4-6F175D3DCCD1}">
                  <a14:hiddenFill xmlns:a14="http://schemas.microsoft.com/office/drawing/2010/main">
                    <a:noFill/>
                  </a14:hiddenFill>
                </a:ext>
              </a:extLst>
            </p:spPr>
            <p:txBody>
              <a:bodyPr/>
              <a:lstStyle/>
              <a:p>
                <a:endParaRPr lang="en-US"/>
              </a:p>
            </p:txBody>
          </p:sp>
          <p:sp>
            <p:nvSpPr>
              <p:cNvPr id="10290" name="Line 62"/>
              <p:cNvSpPr>
                <a:spLocks noChangeShapeType="1"/>
              </p:cNvSpPr>
              <p:nvPr/>
            </p:nvSpPr>
            <p:spPr bwMode="auto">
              <a:xfrm>
                <a:off x="3436" y="2716"/>
                <a:ext cx="288" cy="0"/>
              </a:xfrm>
              <a:prstGeom prst="line">
                <a:avLst/>
              </a:prstGeom>
              <a:noFill/>
              <a:ln w="28575">
                <a:solidFill>
                  <a:srgbClr val="000099"/>
                </a:solidFill>
                <a:round/>
              </a:ln>
              <a:extLst>
                <a:ext uri="{909E8E84-426E-40DD-AFC4-6F175D3DCCD1}">
                  <a14:hiddenFill xmlns:a14="http://schemas.microsoft.com/office/drawing/2010/main">
                    <a:noFill/>
                  </a14:hiddenFill>
                </a:ext>
              </a:extLst>
            </p:spPr>
            <p:txBody>
              <a:bodyPr/>
              <a:lstStyle/>
              <a:p>
                <a:endParaRPr lang="en-US"/>
              </a:p>
            </p:txBody>
          </p:sp>
          <p:graphicFrame>
            <p:nvGraphicFramePr>
              <p:cNvPr id="10256" name="Object 18"/>
              <p:cNvGraphicFramePr>
                <a:graphicFrameLocks noChangeAspect="1"/>
              </p:cNvGraphicFramePr>
              <p:nvPr/>
            </p:nvGraphicFramePr>
            <p:xfrm>
              <a:off x="3504" y="3014"/>
              <a:ext cx="323" cy="264"/>
            </p:xfrm>
            <a:graphic>
              <a:graphicData uri="http://schemas.openxmlformats.org/presentationml/2006/ole">
                <mc:AlternateContent xmlns:mc="http://schemas.openxmlformats.org/markup-compatibility/2006">
                  <mc:Choice xmlns:v="urn:schemas-microsoft-com:vml" Requires="v">
                    <p:oleObj spid="_x0000_s45576" name="Equation" r:id="rId26" imgW="279400" imgH="228600" progId="Equation.DSMT4">
                      <p:embed/>
                    </p:oleObj>
                  </mc:Choice>
                  <mc:Fallback>
                    <p:oleObj name="Equation" r:id="rId26" imgW="279400" imgH="228600" progId="Equation.DSMT4">
                      <p:embed/>
                      <p:pic>
                        <p:nvPicPr>
                          <p:cNvPr id="0" name="Object 1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504" y="3014"/>
                            <a:ext cx="32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0" name="Group 69"/>
          <p:cNvGrpSpPr/>
          <p:nvPr/>
        </p:nvGrpSpPr>
        <p:grpSpPr bwMode="auto">
          <a:xfrm>
            <a:off x="2286000" y="4006304"/>
            <a:ext cx="3629025" cy="2152650"/>
            <a:chOff x="642" y="2418"/>
            <a:chExt cx="2286" cy="1356"/>
          </a:xfrm>
        </p:grpSpPr>
        <p:sp>
          <p:nvSpPr>
            <p:cNvPr id="10275" name="Text Box 32"/>
            <p:cNvSpPr txBox="1">
              <a:spLocks noChangeArrowheads="1"/>
            </p:cNvSpPr>
            <p:nvPr/>
          </p:nvSpPr>
          <p:spPr bwMode="auto">
            <a:xfrm>
              <a:off x="1422" y="3445"/>
              <a:ext cx="603" cy="329"/>
            </a:xfrm>
            <a:prstGeom prst="rect">
              <a:avLst/>
            </a:prstGeom>
            <a:noFill/>
            <a:ln w="9525">
              <a:solidFill>
                <a:srgbClr val="FFFFFF"/>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solidFill>
                    <a:srgbClr val="000066"/>
                  </a:solidFill>
                  <a:latin typeface="Times New Roman" panose="02020603050405020304" pitchFamily="18" charset="0"/>
                  <a:ea typeface="华文楷体" panose="02010600040101010101" pitchFamily="2" charset="-122"/>
                  <a:cs typeface="楷体_GB2312" panose="02010609030101010101" pitchFamily="49" charset="-122"/>
                </a:rPr>
                <a:t>带通</a:t>
              </a:r>
              <a:endParaRPr kumimoji="1" lang="zh-CN" altLang="en-US" sz="2800" dirty="0">
                <a:solidFill>
                  <a:srgbClr val="000066"/>
                </a:solidFill>
                <a:latin typeface="Times New Roman" panose="02020603050405020304" pitchFamily="18" charset="0"/>
                <a:ea typeface="华文楷体" panose="02010600040101010101" pitchFamily="2" charset="-122"/>
                <a:cs typeface="楷体_GB2312" panose="02010609030101010101" pitchFamily="49" charset="-122"/>
              </a:endParaRPr>
            </a:p>
          </p:txBody>
        </p:sp>
        <p:grpSp>
          <p:nvGrpSpPr>
            <p:cNvPr id="10276" name="Group 65"/>
            <p:cNvGrpSpPr/>
            <p:nvPr/>
          </p:nvGrpSpPr>
          <p:grpSpPr bwMode="auto">
            <a:xfrm>
              <a:off x="642" y="2418"/>
              <a:ext cx="2286" cy="988"/>
              <a:chOff x="642" y="2298"/>
              <a:chExt cx="2286" cy="988"/>
            </a:xfrm>
          </p:grpSpPr>
          <p:grpSp>
            <p:nvGrpSpPr>
              <p:cNvPr id="10277" name="Group 35"/>
              <p:cNvGrpSpPr/>
              <p:nvPr/>
            </p:nvGrpSpPr>
            <p:grpSpPr bwMode="auto">
              <a:xfrm>
                <a:off x="720" y="2298"/>
                <a:ext cx="2159" cy="950"/>
                <a:chOff x="720" y="2148"/>
                <a:chExt cx="2159" cy="950"/>
              </a:xfrm>
            </p:grpSpPr>
            <p:sp>
              <p:nvSpPr>
                <p:cNvPr id="10278" name="Line 10"/>
                <p:cNvSpPr>
                  <a:spLocks noChangeShapeType="1"/>
                </p:cNvSpPr>
                <p:nvPr/>
              </p:nvSpPr>
              <p:spPr bwMode="auto">
                <a:xfrm>
                  <a:off x="720" y="2913"/>
                  <a:ext cx="2159" cy="0"/>
                </a:xfrm>
                <a:prstGeom prst="line">
                  <a:avLst/>
                </a:prstGeom>
                <a:noFill/>
                <a:ln w="28575">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79" name="Line 11"/>
                <p:cNvSpPr>
                  <a:spLocks noChangeShapeType="1"/>
                </p:cNvSpPr>
                <p:nvPr/>
              </p:nvSpPr>
              <p:spPr bwMode="auto">
                <a:xfrm flipV="1">
                  <a:off x="1724" y="2148"/>
                  <a:ext cx="0" cy="950"/>
                </a:xfrm>
                <a:prstGeom prst="line">
                  <a:avLst/>
                </a:prstGeom>
                <a:noFill/>
                <a:ln w="28575">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80" name="Rectangle 12"/>
                <p:cNvSpPr>
                  <a:spLocks noChangeArrowheads="1"/>
                </p:cNvSpPr>
                <p:nvPr/>
              </p:nvSpPr>
              <p:spPr bwMode="auto">
                <a:xfrm>
                  <a:off x="2176" y="2567"/>
                  <a:ext cx="452" cy="346"/>
                </a:xfrm>
                <a:prstGeom prst="rect">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ea typeface="华文楷体" panose="02010600040101010101" pitchFamily="2" charset="-122"/>
                  </a:endParaRPr>
                </a:p>
              </p:txBody>
            </p:sp>
            <p:sp>
              <p:nvSpPr>
                <p:cNvPr id="10281" name="Rectangle 13"/>
                <p:cNvSpPr>
                  <a:spLocks noChangeArrowheads="1"/>
                </p:cNvSpPr>
                <p:nvPr/>
              </p:nvSpPr>
              <p:spPr bwMode="auto">
                <a:xfrm>
                  <a:off x="820" y="2567"/>
                  <a:ext cx="452" cy="346"/>
                </a:xfrm>
                <a:prstGeom prst="rect">
                  <a:avLst/>
                </a:prstGeom>
                <a:noFill/>
                <a:ln w="2857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ea typeface="华文楷体" panose="02010600040101010101" pitchFamily="2" charset="-122"/>
                  </a:endParaRPr>
                </a:p>
              </p:txBody>
            </p:sp>
            <p:graphicFrame>
              <p:nvGraphicFramePr>
                <p:cNvPr id="10249" name="Object 19"/>
                <p:cNvGraphicFramePr>
                  <a:graphicFrameLocks noChangeAspect="1"/>
                </p:cNvGraphicFramePr>
                <p:nvPr/>
              </p:nvGraphicFramePr>
              <p:xfrm>
                <a:off x="2670" y="2228"/>
                <a:ext cx="75" cy="140"/>
              </p:xfrm>
              <a:graphic>
                <a:graphicData uri="http://schemas.openxmlformats.org/presentationml/2006/ole">
                  <mc:AlternateContent xmlns:mc="http://schemas.openxmlformats.org/markup-compatibility/2006">
                    <mc:Choice xmlns:v="urn:schemas-microsoft-com:vml" Requires="v">
                      <p:oleObj spid="_x0000_s45577" name="公式" r:id="rId28" imgW="114300" imgH="215900" progId="Equation.3">
                        <p:embed/>
                      </p:oleObj>
                    </mc:Choice>
                    <mc:Fallback>
                      <p:oleObj name="公式" r:id="rId28" imgW="114300" imgH="215900" progId="Equation.3">
                        <p:embed/>
                        <p:pic>
                          <p:nvPicPr>
                            <p:cNvPr id="0" name="Object 1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670" y="2228"/>
                              <a:ext cx="75" cy="1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242" name="Object 20"/>
              <p:cNvGraphicFramePr>
                <a:graphicFrameLocks noChangeAspect="1"/>
              </p:cNvGraphicFramePr>
              <p:nvPr/>
            </p:nvGraphicFramePr>
            <p:xfrm>
              <a:off x="1748" y="3072"/>
              <a:ext cx="129" cy="200"/>
            </p:xfrm>
            <a:graphic>
              <a:graphicData uri="http://schemas.openxmlformats.org/presentationml/2006/ole">
                <mc:AlternateContent xmlns:mc="http://schemas.openxmlformats.org/markup-compatibility/2006">
                  <mc:Choice xmlns:v="urn:schemas-microsoft-com:vml" Requires="v">
                    <p:oleObj spid="_x0000_s45578" name="Equation" r:id="rId30" imgW="114300" imgH="177800" progId="Equation.DSMT4">
                      <p:embed/>
                    </p:oleObj>
                  </mc:Choice>
                  <mc:Fallback>
                    <p:oleObj name="Equation" r:id="rId30" imgW="114300" imgH="177800" progId="Equation.DSMT4">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8" y="3072"/>
                            <a:ext cx="129"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3" name="Object 21"/>
              <p:cNvGraphicFramePr>
                <a:graphicFrameLocks noChangeAspect="1"/>
              </p:cNvGraphicFramePr>
              <p:nvPr/>
            </p:nvGraphicFramePr>
            <p:xfrm>
              <a:off x="1776" y="2592"/>
              <a:ext cx="91" cy="148"/>
            </p:xfrm>
            <a:graphic>
              <a:graphicData uri="http://schemas.openxmlformats.org/presentationml/2006/ole">
                <mc:AlternateContent xmlns:mc="http://schemas.openxmlformats.org/markup-compatibility/2006">
                  <mc:Choice xmlns:v="urn:schemas-microsoft-com:vml" Requires="v">
                    <p:oleObj spid="_x0000_s45579" name="Equation" r:id="rId31" imgW="101600" imgH="165100" progId="Equation.DSMT4">
                      <p:embed/>
                    </p:oleObj>
                  </mc:Choice>
                  <mc:Fallback>
                    <p:oleObj name="Equation" r:id="rId31" imgW="101600" imgH="165100" progId="Equation.DSMT4">
                      <p:embed/>
                      <p:pic>
                        <p:nvPicPr>
                          <p:cNvPr id="0" name="Object 2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76" y="2592"/>
                            <a:ext cx="91" cy="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4" name="Object 22"/>
              <p:cNvGraphicFramePr>
                <a:graphicFrameLocks noChangeAspect="1"/>
              </p:cNvGraphicFramePr>
              <p:nvPr/>
            </p:nvGraphicFramePr>
            <p:xfrm>
              <a:off x="2736" y="2880"/>
              <a:ext cx="192" cy="176"/>
            </p:xfrm>
            <a:graphic>
              <a:graphicData uri="http://schemas.openxmlformats.org/presentationml/2006/ole">
                <mc:AlternateContent xmlns:mc="http://schemas.openxmlformats.org/markup-compatibility/2006">
                  <mc:Choice xmlns:v="urn:schemas-microsoft-com:vml" Requires="v">
                    <p:oleObj spid="_x0000_s45580" name="Equation" r:id="rId32" imgW="152400" imgH="139700" progId="Equation.DSMT4">
                      <p:embed/>
                    </p:oleObj>
                  </mc:Choice>
                  <mc:Fallback>
                    <p:oleObj name="Equation" r:id="rId32" imgW="152400" imgH="139700" progId="Equation.DSMT4">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6" y="2880"/>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Object 23"/>
              <p:cNvGraphicFramePr>
                <a:graphicFrameLocks noChangeAspect="1"/>
              </p:cNvGraphicFramePr>
              <p:nvPr/>
            </p:nvGraphicFramePr>
            <p:xfrm>
              <a:off x="2064" y="3012"/>
              <a:ext cx="248" cy="264"/>
            </p:xfrm>
            <a:graphic>
              <a:graphicData uri="http://schemas.openxmlformats.org/presentationml/2006/ole">
                <mc:AlternateContent xmlns:mc="http://schemas.openxmlformats.org/markup-compatibility/2006">
                  <mc:Choice xmlns:v="urn:schemas-microsoft-com:vml" Requires="v">
                    <p:oleObj spid="_x0000_s45581" name="Equation" r:id="rId33" imgW="177800" imgH="228600" progId="Equation.DSMT4">
                      <p:embed/>
                    </p:oleObj>
                  </mc:Choice>
                  <mc:Fallback>
                    <p:oleObj name="Equation" r:id="rId33" imgW="177800" imgH="228600" progId="Equation.DSMT4">
                      <p:embed/>
                      <p:pic>
                        <p:nvPicPr>
                          <p:cNvPr id="0" name="Object 23"/>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064" y="3012"/>
                            <a:ext cx="248"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6" name="Object 24"/>
              <p:cNvGraphicFramePr>
                <a:graphicFrameLocks noChangeAspect="1"/>
              </p:cNvGraphicFramePr>
              <p:nvPr/>
            </p:nvGraphicFramePr>
            <p:xfrm>
              <a:off x="1056" y="3012"/>
              <a:ext cx="372" cy="264"/>
            </p:xfrm>
            <a:graphic>
              <a:graphicData uri="http://schemas.openxmlformats.org/presentationml/2006/ole">
                <mc:AlternateContent xmlns:mc="http://schemas.openxmlformats.org/markup-compatibility/2006">
                  <mc:Choice xmlns:v="urn:schemas-microsoft-com:vml" Requires="v">
                    <p:oleObj spid="_x0000_s45582" name="Equation" r:id="rId35" imgW="266700" imgH="228600" progId="Equation.DSMT4">
                      <p:embed/>
                    </p:oleObj>
                  </mc:Choice>
                  <mc:Fallback>
                    <p:oleObj name="Equation" r:id="rId35" imgW="266700" imgH="228600" progId="Equation.DSMT4">
                      <p:embed/>
                      <p:pic>
                        <p:nvPicPr>
                          <p:cNvPr id="0" name="Object 2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56" y="3012"/>
                            <a:ext cx="372"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7" name="Object 25"/>
              <p:cNvGraphicFramePr>
                <a:graphicFrameLocks noChangeAspect="1"/>
              </p:cNvGraphicFramePr>
              <p:nvPr/>
            </p:nvGraphicFramePr>
            <p:xfrm>
              <a:off x="2506" y="3014"/>
              <a:ext cx="220" cy="264"/>
            </p:xfrm>
            <a:graphic>
              <a:graphicData uri="http://schemas.openxmlformats.org/presentationml/2006/ole">
                <mc:AlternateContent xmlns:mc="http://schemas.openxmlformats.org/markup-compatibility/2006">
                  <mc:Choice xmlns:v="urn:schemas-microsoft-com:vml" Requires="v">
                    <p:oleObj spid="_x0000_s45583" name="Equation" r:id="rId36" imgW="190500" imgH="228600" progId="Equation.DSMT4">
                      <p:embed/>
                    </p:oleObj>
                  </mc:Choice>
                  <mc:Fallback>
                    <p:oleObj name="Equation" r:id="rId36" imgW="190500" imgH="228600" progId="Equation.DSMT4">
                      <p:embed/>
                      <p:pic>
                        <p:nvPicPr>
                          <p:cNvPr id="0" name="Object 25"/>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2506" y="3014"/>
                            <a:ext cx="220"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8" name="Object 26"/>
              <p:cNvGraphicFramePr>
                <a:graphicFrameLocks noChangeAspect="1"/>
              </p:cNvGraphicFramePr>
              <p:nvPr/>
            </p:nvGraphicFramePr>
            <p:xfrm>
              <a:off x="642" y="3022"/>
              <a:ext cx="323" cy="264"/>
            </p:xfrm>
            <a:graphic>
              <a:graphicData uri="http://schemas.openxmlformats.org/presentationml/2006/ole">
                <mc:AlternateContent xmlns:mc="http://schemas.openxmlformats.org/markup-compatibility/2006">
                  <mc:Choice xmlns:v="urn:schemas-microsoft-com:vml" Requires="v">
                    <p:oleObj spid="_x0000_s45584" name="Equation" r:id="rId38" imgW="279400" imgH="228600" progId="Equation.DSMT4">
                      <p:embed/>
                    </p:oleObj>
                  </mc:Choice>
                  <mc:Fallback>
                    <p:oleObj name="Equation" r:id="rId38" imgW="279400" imgH="228600" progId="Equation.DSMT4">
                      <p:embed/>
                      <p:pic>
                        <p:nvPicPr>
                          <p:cNvPr id="0" name="Object 26"/>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642" y="3022"/>
                            <a:ext cx="323"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par>
                                <p:cTn id="14" presetID="3" presetClass="entr" presetSubtype="1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7" name="标题 1"/>
          <p:cNvSpPr>
            <a:spLocks noGrp="1"/>
          </p:cNvSpPr>
          <p:nvPr>
            <p:ph type="title"/>
          </p:nvPr>
        </p:nvSpPr>
        <p:spPr/>
        <p:txBody>
          <a:bodyPr/>
          <a:lstStyle/>
          <a:p>
            <a:r>
              <a:rPr lang="en-US" altLang="zh-CN" dirty="0"/>
              <a:t>6.3 </a:t>
            </a:r>
            <a:r>
              <a:rPr lang="zh-CN" altLang="en-US" dirty="0"/>
              <a:t>理想频率选择性滤波器</a:t>
            </a:r>
            <a:endParaRPr lang="zh-CN" altLang="en-US" dirty="0"/>
          </a:p>
        </p:txBody>
      </p:sp>
      <p:sp>
        <p:nvSpPr>
          <p:cNvPr id="11278" name="内容占位符 2"/>
          <p:cNvSpPr>
            <a:spLocks noGrp="1"/>
          </p:cNvSpPr>
          <p:nvPr>
            <p:ph idx="1"/>
          </p:nvPr>
        </p:nvSpPr>
        <p:spPr>
          <a:xfrm>
            <a:off x="1981200" y="1285875"/>
            <a:ext cx="8229600" cy="500063"/>
          </a:xfrm>
        </p:spPr>
        <p:txBody>
          <a:bodyPr/>
          <a:lstStyle/>
          <a:p>
            <a:pPr marL="0" indent="0">
              <a:buNone/>
            </a:pPr>
            <a:r>
              <a:rPr lang="zh-CN" altLang="en-US" sz="2800" b="0" dirty="0">
                <a:solidFill>
                  <a:srgbClr val="0000FF"/>
                </a:solidFill>
              </a:rPr>
              <a:t>二</a:t>
            </a:r>
            <a:r>
              <a:rPr lang="en-US" altLang="zh-CN" sz="2800" b="0" dirty="0">
                <a:solidFill>
                  <a:srgbClr val="0000FF"/>
                </a:solidFill>
              </a:rPr>
              <a:t>. </a:t>
            </a:r>
            <a:r>
              <a:rPr lang="zh-CN" altLang="en-US" sz="2800" b="0" dirty="0">
                <a:solidFill>
                  <a:srgbClr val="0000FF"/>
                </a:solidFill>
              </a:rPr>
              <a:t>理想滤波器的时域特性</a:t>
            </a:r>
            <a:endParaRPr lang="zh-CN" altLang="en-US" sz="2800" b="0" dirty="0">
              <a:solidFill>
                <a:srgbClr val="0000FF"/>
              </a:solidFill>
            </a:endParaRPr>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DED04BD-C5D4-4E80-8FD6-B48DE9F5C681}"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sp>
        <p:nvSpPr>
          <p:cNvPr id="11280" name="Text Box 6"/>
          <p:cNvSpPr txBox="1">
            <a:spLocks noChangeArrowheads="1"/>
          </p:cNvSpPr>
          <p:nvPr/>
        </p:nvSpPr>
        <p:spPr bwMode="auto">
          <a:xfrm>
            <a:off x="2095500" y="1989138"/>
            <a:ext cx="37388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000066"/>
                </a:solidFill>
                <a:latin typeface="华文楷体" panose="02010600040101010101" pitchFamily="2" charset="-122"/>
                <a:ea typeface="华文楷体" panose="02010600040101010101" pitchFamily="2" charset="-122"/>
                <a:cs typeface="楷体_GB2312" panose="02010609030101010101" pitchFamily="49" charset="-122"/>
              </a:rPr>
              <a:t>以理想低通滤波器为例</a:t>
            </a:r>
            <a:endParaRPr lang="zh-CN" altLang="en-US" sz="2800">
              <a:solidFill>
                <a:srgbClr val="000066"/>
              </a:solidFill>
              <a:latin typeface="华文楷体" panose="02010600040101010101" pitchFamily="2" charset="-122"/>
              <a:ea typeface="华文楷体" panose="02010600040101010101" pitchFamily="2" charset="-122"/>
              <a:cs typeface="楷体_GB2312" panose="02010609030101010101" pitchFamily="49" charset="-122"/>
            </a:endParaRPr>
          </a:p>
        </p:txBody>
      </p:sp>
      <p:grpSp>
        <p:nvGrpSpPr>
          <p:cNvPr id="11281" name="Group 26"/>
          <p:cNvGrpSpPr/>
          <p:nvPr/>
        </p:nvGrpSpPr>
        <p:grpSpPr bwMode="auto">
          <a:xfrm>
            <a:off x="2510747" y="2714625"/>
            <a:ext cx="3793215" cy="1133475"/>
            <a:chOff x="1335" y="2744"/>
            <a:chExt cx="1677" cy="668"/>
          </a:xfrm>
        </p:grpSpPr>
        <p:graphicFrame>
          <p:nvGraphicFramePr>
            <p:cNvPr id="11271" name="Object 2"/>
            <p:cNvGraphicFramePr/>
            <p:nvPr/>
          </p:nvGraphicFramePr>
          <p:xfrm>
            <a:off x="1335" y="2933"/>
            <a:ext cx="633" cy="286"/>
          </p:xfrm>
          <a:graphic>
            <a:graphicData uri="http://schemas.openxmlformats.org/presentationml/2006/ole">
              <mc:AlternateContent xmlns:mc="http://schemas.openxmlformats.org/markup-compatibility/2006">
                <mc:Choice xmlns:v="urn:schemas-microsoft-com:vml" Requires="v">
                  <p:oleObj spid="_x0000_s47204" name="Equation" r:id="rId1" imgW="596900" imgH="203200" progId="Equation.DSMT4">
                    <p:embed/>
                  </p:oleObj>
                </mc:Choice>
                <mc:Fallback>
                  <p:oleObj name="Equation" r:id="rId1" imgW="5969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5" y="2933"/>
                          <a:ext cx="633"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2" name="Object 3"/>
            <p:cNvGraphicFramePr>
              <a:graphicFrameLocks noChangeAspect="1"/>
            </p:cNvGraphicFramePr>
            <p:nvPr/>
          </p:nvGraphicFramePr>
          <p:xfrm>
            <a:off x="2303" y="2744"/>
            <a:ext cx="709" cy="300"/>
          </p:xfrm>
          <a:graphic>
            <a:graphicData uri="http://schemas.openxmlformats.org/presentationml/2006/ole">
              <mc:AlternateContent xmlns:mc="http://schemas.openxmlformats.org/markup-compatibility/2006">
                <mc:Choice xmlns:v="urn:schemas-microsoft-com:vml" Requires="v">
                  <p:oleObj spid="_x0000_s47205" name="Equation" r:id="rId3" imgW="494665" imgH="254000" progId="Equation.DSMT4">
                    <p:embed/>
                  </p:oleObj>
                </mc:Choice>
                <mc:Fallback>
                  <p:oleObj name="Equation" r:id="rId3" imgW="494665" imgH="2540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3" y="2744"/>
                          <a:ext cx="709"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3" name="Object 4"/>
            <p:cNvGraphicFramePr>
              <a:graphicFrameLocks noChangeAspect="1"/>
            </p:cNvGraphicFramePr>
            <p:nvPr/>
          </p:nvGraphicFramePr>
          <p:xfrm>
            <a:off x="2303" y="3128"/>
            <a:ext cx="709" cy="284"/>
          </p:xfrm>
          <a:graphic>
            <a:graphicData uri="http://schemas.openxmlformats.org/presentationml/2006/ole">
              <mc:AlternateContent xmlns:mc="http://schemas.openxmlformats.org/markup-compatibility/2006">
                <mc:Choice xmlns:v="urn:schemas-microsoft-com:vml" Requires="v">
                  <p:oleObj spid="_x0000_s47206" name="Equation" r:id="rId5" imgW="494665" imgH="254000" progId="Equation.DSMT4">
                    <p:embed/>
                  </p:oleObj>
                </mc:Choice>
                <mc:Fallback>
                  <p:oleObj name="Equation" r:id="rId5" imgW="494665" imgH="2540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3" y="3128"/>
                          <a:ext cx="709"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74" name="Object 5"/>
            <p:cNvGraphicFramePr>
              <a:graphicFrameLocks noChangeAspect="1"/>
            </p:cNvGraphicFramePr>
            <p:nvPr/>
          </p:nvGraphicFramePr>
          <p:xfrm>
            <a:off x="1968" y="2764"/>
            <a:ext cx="314" cy="624"/>
          </p:xfrm>
          <a:graphic>
            <a:graphicData uri="http://schemas.openxmlformats.org/presentationml/2006/ole">
              <mc:AlternateContent xmlns:mc="http://schemas.openxmlformats.org/markup-compatibility/2006">
                <mc:Choice xmlns:v="urn:schemas-microsoft-com:vml" Requires="v">
                  <p:oleObj spid="_x0000_s47207" name="Equation" r:id="rId7" imgW="177800" imgH="253365" progId="Equation.DSMT4">
                    <p:embed/>
                  </p:oleObj>
                </mc:Choice>
                <mc:Fallback>
                  <p:oleObj name="Equation" r:id="rId7" imgW="177800" imgH="253365"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8" y="2764"/>
                          <a:ext cx="314" cy="6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5" name="Object 6"/>
            <p:cNvGraphicFramePr>
              <a:graphicFrameLocks noChangeAspect="1"/>
            </p:cNvGraphicFramePr>
            <p:nvPr/>
          </p:nvGraphicFramePr>
          <p:xfrm>
            <a:off x="2100" y="2784"/>
            <a:ext cx="158" cy="216"/>
          </p:xfrm>
          <a:graphic>
            <a:graphicData uri="http://schemas.openxmlformats.org/presentationml/2006/ole">
              <mc:AlternateContent xmlns:mc="http://schemas.openxmlformats.org/markup-compatibility/2006">
                <mc:Choice xmlns:v="urn:schemas-microsoft-com:vml" Requires="v">
                  <p:oleObj spid="_x0000_s47208" name="Equation" r:id="rId9" imgW="139700" imgH="190500" progId="Equation.DSMT4">
                    <p:embed/>
                  </p:oleObj>
                </mc:Choice>
                <mc:Fallback>
                  <p:oleObj name="Equation" r:id="rId9" imgW="139700" imgH="1905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00" y="2784"/>
                          <a:ext cx="158"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6" name="Object 7"/>
            <p:cNvGraphicFramePr>
              <a:graphicFrameLocks noChangeAspect="1"/>
            </p:cNvGraphicFramePr>
            <p:nvPr/>
          </p:nvGraphicFramePr>
          <p:xfrm>
            <a:off x="2100" y="3168"/>
            <a:ext cx="173" cy="216"/>
          </p:xfrm>
          <a:graphic>
            <a:graphicData uri="http://schemas.openxmlformats.org/presentationml/2006/ole">
              <mc:AlternateContent xmlns:mc="http://schemas.openxmlformats.org/markup-compatibility/2006">
                <mc:Choice xmlns:v="urn:schemas-microsoft-com:vml" Requires="v">
                  <p:oleObj spid="_x0000_s47209" name="Equation" r:id="rId11" imgW="152400" imgH="190500" progId="Equation.DSMT4">
                    <p:embed/>
                  </p:oleObj>
                </mc:Choice>
                <mc:Fallback>
                  <p:oleObj name="Equation" r:id="rId11" imgW="152400" imgH="1905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00" y="3168"/>
                          <a:ext cx="173" cy="2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282" name="Group 33"/>
          <p:cNvGrpSpPr/>
          <p:nvPr/>
        </p:nvGrpSpPr>
        <p:grpSpPr bwMode="auto">
          <a:xfrm>
            <a:off x="2455863" y="4076700"/>
            <a:ext cx="3535362" cy="2212975"/>
            <a:chOff x="3312" y="2400"/>
            <a:chExt cx="2227" cy="1394"/>
          </a:xfrm>
        </p:grpSpPr>
        <p:sp>
          <p:nvSpPr>
            <p:cNvPr id="11289" name="Text Box 13"/>
            <p:cNvSpPr txBox="1">
              <a:spLocks noChangeArrowheads="1"/>
            </p:cNvSpPr>
            <p:nvPr/>
          </p:nvSpPr>
          <p:spPr bwMode="auto">
            <a:xfrm>
              <a:off x="3312" y="3504"/>
              <a:ext cx="222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rgbClr val="000066"/>
                  </a:solidFill>
                  <a:latin typeface="华文楷体" panose="02010600040101010101" pitchFamily="2" charset="-122"/>
                  <a:ea typeface="华文楷体" panose="02010600040101010101" pitchFamily="2" charset="-122"/>
                  <a:cs typeface="楷体_GB2312" panose="02010609030101010101" pitchFamily="49" charset="-122"/>
                </a:rPr>
                <a:t>连续时间理想低通滤波器</a:t>
              </a:r>
              <a:endParaRPr lang="zh-CN" altLang="en-US" sz="2400">
                <a:solidFill>
                  <a:srgbClr val="000066"/>
                </a:solidFill>
                <a:latin typeface="华文楷体" panose="02010600040101010101" pitchFamily="2" charset="-122"/>
                <a:ea typeface="华文楷体" panose="02010600040101010101" pitchFamily="2" charset="-122"/>
                <a:cs typeface="楷体_GB2312" panose="02010609030101010101" pitchFamily="49" charset="-122"/>
              </a:endParaRPr>
            </a:p>
          </p:txBody>
        </p:sp>
        <p:grpSp>
          <p:nvGrpSpPr>
            <p:cNvPr id="11290" name="Group 31"/>
            <p:cNvGrpSpPr/>
            <p:nvPr/>
          </p:nvGrpSpPr>
          <p:grpSpPr bwMode="auto">
            <a:xfrm>
              <a:off x="3312" y="2400"/>
              <a:ext cx="2160" cy="978"/>
              <a:chOff x="3427" y="2784"/>
              <a:chExt cx="2160" cy="978"/>
            </a:xfrm>
          </p:grpSpPr>
          <p:sp>
            <p:nvSpPr>
              <p:cNvPr id="11291" name="Line 15"/>
              <p:cNvSpPr>
                <a:spLocks noChangeShapeType="1"/>
              </p:cNvSpPr>
              <p:nvPr/>
            </p:nvSpPr>
            <p:spPr bwMode="auto">
              <a:xfrm>
                <a:off x="3427" y="3527"/>
                <a:ext cx="2160"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2" name="Line 16"/>
              <p:cNvSpPr>
                <a:spLocks noChangeShapeType="1"/>
              </p:cNvSpPr>
              <p:nvPr/>
            </p:nvSpPr>
            <p:spPr bwMode="auto">
              <a:xfrm flipV="1">
                <a:off x="4487" y="2803"/>
                <a:ext cx="0" cy="816"/>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293" name="Line 17"/>
              <p:cNvSpPr>
                <a:spLocks noChangeShapeType="1"/>
              </p:cNvSpPr>
              <p:nvPr/>
            </p:nvSpPr>
            <p:spPr bwMode="auto">
              <a:xfrm>
                <a:off x="3941" y="3201"/>
                <a:ext cx="0" cy="3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1294" name="Line 18"/>
              <p:cNvSpPr>
                <a:spLocks noChangeShapeType="1"/>
              </p:cNvSpPr>
              <p:nvPr/>
            </p:nvSpPr>
            <p:spPr bwMode="auto">
              <a:xfrm>
                <a:off x="3941" y="3211"/>
                <a:ext cx="108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1295" name="Line 19"/>
              <p:cNvSpPr>
                <a:spLocks noChangeShapeType="1"/>
              </p:cNvSpPr>
              <p:nvPr/>
            </p:nvSpPr>
            <p:spPr bwMode="auto">
              <a:xfrm>
                <a:off x="5021" y="3201"/>
                <a:ext cx="0" cy="336"/>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1296" name="Text Box 21"/>
              <p:cNvSpPr txBox="1">
                <a:spLocks noChangeArrowheads="1"/>
              </p:cNvSpPr>
              <p:nvPr/>
            </p:nvSpPr>
            <p:spPr bwMode="auto">
              <a:xfrm>
                <a:off x="4286" y="2948"/>
                <a:ext cx="240"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400">
                    <a:solidFill>
                      <a:srgbClr val="000000"/>
                    </a:solidFill>
                    <a:latin typeface="华文楷体" panose="02010600040101010101" pitchFamily="2" charset="-122"/>
                    <a:ea typeface="华文楷体" panose="02010600040101010101" pitchFamily="2" charset="-122"/>
                    <a:cs typeface="楷体_GB2312" panose="02010609030101010101" pitchFamily="49" charset="-122"/>
                  </a:rPr>
                  <a:t>1</a:t>
                </a:r>
                <a:endParaRPr kumimoji="1" lang="en-US" altLang="zh-CN" sz="2400">
                  <a:solidFill>
                    <a:srgbClr val="000000"/>
                  </a:solidFill>
                  <a:latin typeface="华文楷体" panose="02010600040101010101" pitchFamily="2" charset="-122"/>
                  <a:ea typeface="华文楷体" panose="02010600040101010101" pitchFamily="2" charset="-122"/>
                  <a:cs typeface="楷体_GB2312" panose="02010609030101010101" pitchFamily="49" charset="-122"/>
                </a:endParaRPr>
              </a:p>
            </p:txBody>
          </p:sp>
          <p:graphicFrame>
            <p:nvGraphicFramePr>
              <p:cNvPr id="11267" name="Object 8"/>
              <p:cNvGraphicFramePr>
                <a:graphicFrameLocks noChangeAspect="1"/>
              </p:cNvGraphicFramePr>
              <p:nvPr/>
            </p:nvGraphicFramePr>
            <p:xfrm>
              <a:off x="4512" y="2784"/>
              <a:ext cx="528" cy="246"/>
            </p:xfrm>
            <a:graphic>
              <a:graphicData uri="http://schemas.openxmlformats.org/presentationml/2006/ole">
                <mc:AlternateContent xmlns:mc="http://schemas.openxmlformats.org/markup-compatibility/2006">
                  <mc:Choice xmlns:v="urn:schemas-microsoft-com:vml" Requires="v">
                    <p:oleObj spid="_x0000_s47210" name="Equation" r:id="rId13" imgW="469900" imgH="203200" progId="Equation.DSMT4">
                      <p:embed/>
                    </p:oleObj>
                  </mc:Choice>
                  <mc:Fallback>
                    <p:oleObj name="Equation" r:id="rId13" imgW="469900" imgH="20320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12" y="2784"/>
                            <a:ext cx="528"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8" name="Object 9"/>
              <p:cNvGraphicFramePr>
                <a:graphicFrameLocks noChangeAspect="1"/>
              </p:cNvGraphicFramePr>
              <p:nvPr/>
            </p:nvGraphicFramePr>
            <p:xfrm>
              <a:off x="5328" y="3342"/>
              <a:ext cx="192" cy="176"/>
            </p:xfrm>
            <a:graphic>
              <a:graphicData uri="http://schemas.openxmlformats.org/presentationml/2006/ole">
                <mc:AlternateContent xmlns:mc="http://schemas.openxmlformats.org/markup-compatibility/2006">
                  <mc:Choice xmlns:v="urn:schemas-microsoft-com:vml" Requires="v">
                    <p:oleObj spid="_x0000_s47211" name="Equation" r:id="rId15" imgW="152400" imgH="139700" progId="Equation.DSMT4">
                      <p:embed/>
                    </p:oleObj>
                  </mc:Choice>
                  <mc:Fallback>
                    <p:oleObj name="Equation" r:id="rId15" imgW="152400" imgH="139700"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328" y="3342"/>
                            <a:ext cx="192" cy="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69" name="Object 10"/>
              <p:cNvGraphicFramePr>
                <a:graphicFrameLocks noChangeAspect="1"/>
              </p:cNvGraphicFramePr>
              <p:nvPr/>
            </p:nvGraphicFramePr>
            <p:xfrm>
              <a:off x="4896" y="3474"/>
              <a:ext cx="240" cy="288"/>
            </p:xfrm>
            <a:graphic>
              <a:graphicData uri="http://schemas.openxmlformats.org/presentationml/2006/ole">
                <mc:AlternateContent xmlns:mc="http://schemas.openxmlformats.org/markup-compatibility/2006">
                  <mc:Choice xmlns:v="urn:schemas-microsoft-com:vml" Requires="v">
                    <p:oleObj spid="_x0000_s47212" name="Equation" r:id="rId17" imgW="190500" imgH="228600" progId="Equation.DSMT4">
                      <p:embed/>
                    </p:oleObj>
                  </mc:Choice>
                  <mc:Fallback>
                    <p:oleObj name="Equation" r:id="rId17" imgW="190500" imgH="228600"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96" y="3474"/>
                            <a:ext cx="24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0" name="Object 11"/>
              <p:cNvGraphicFramePr>
                <a:graphicFrameLocks noChangeAspect="1"/>
              </p:cNvGraphicFramePr>
              <p:nvPr/>
            </p:nvGraphicFramePr>
            <p:xfrm>
              <a:off x="3784" y="3456"/>
              <a:ext cx="352" cy="288"/>
            </p:xfrm>
            <a:graphic>
              <a:graphicData uri="http://schemas.openxmlformats.org/presentationml/2006/ole">
                <mc:AlternateContent xmlns:mc="http://schemas.openxmlformats.org/markup-compatibility/2006">
                  <mc:Choice xmlns:v="urn:schemas-microsoft-com:vml" Requires="v">
                    <p:oleObj spid="_x0000_s47213" name="Equation" r:id="rId19" imgW="279400" imgH="228600" progId="Equation.DSMT4">
                      <p:embed/>
                    </p:oleObj>
                  </mc:Choice>
                  <mc:Fallback>
                    <p:oleObj name="Equation" r:id="rId19" imgW="279400" imgH="228600" progId="Equation.DSMT4">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84" y="3456"/>
                            <a:ext cx="35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26" name="Text Box 2"/>
          <p:cNvSpPr txBox="1">
            <a:spLocks noChangeArrowheads="1"/>
          </p:cNvSpPr>
          <p:nvPr/>
        </p:nvSpPr>
        <p:spPr bwMode="auto">
          <a:xfrm>
            <a:off x="6443663" y="1982788"/>
            <a:ext cx="35814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solidFill>
                  <a:srgbClr val="000066"/>
                </a:solidFill>
                <a:ea typeface="华文楷体" panose="02010600040101010101" pitchFamily="2" charset="-122"/>
                <a:cs typeface="楷体_GB2312" panose="02010609030101010101" pitchFamily="49" charset="-122"/>
              </a:rPr>
              <a:t>傅里叶变换反变换为</a:t>
            </a:r>
            <a:r>
              <a:rPr lang="en-US" altLang="zh-CN" sz="2800" dirty="0">
                <a:solidFill>
                  <a:srgbClr val="000066"/>
                </a:solidFill>
                <a:ea typeface="华文楷体" panose="02010600040101010101" pitchFamily="2" charset="-122"/>
                <a:cs typeface="楷体_GB2312" panose="02010609030101010101" pitchFamily="49" charset="-122"/>
              </a:rPr>
              <a:t>:</a:t>
            </a:r>
            <a:endParaRPr lang="en-US" altLang="zh-CN" sz="2800" dirty="0">
              <a:solidFill>
                <a:srgbClr val="000066"/>
              </a:solidFill>
              <a:ea typeface="华文楷体" panose="02010600040101010101" pitchFamily="2" charset="-122"/>
              <a:cs typeface="楷体_GB2312" panose="02010609030101010101" pitchFamily="49" charset="-122"/>
            </a:endParaRPr>
          </a:p>
        </p:txBody>
      </p:sp>
      <p:graphicFrame>
        <p:nvGraphicFramePr>
          <p:cNvPr id="27" name="Object 12"/>
          <p:cNvGraphicFramePr>
            <a:graphicFrameLocks noChangeAspect="1"/>
          </p:cNvGraphicFramePr>
          <p:nvPr/>
        </p:nvGraphicFramePr>
        <p:xfrm>
          <a:off x="6455267" y="2729333"/>
          <a:ext cx="3800475" cy="938213"/>
        </p:xfrm>
        <a:graphic>
          <a:graphicData uri="http://schemas.openxmlformats.org/presentationml/2006/ole">
            <mc:AlternateContent xmlns:mc="http://schemas.openxmlformats.org/markup-compatibility/2006">
              <mc:Choice xmlns:v="urn:schemas-microsoft-com:vml" Requires="v">
                <p:oleObj spid="_x0000_s47214" name="Equation" r:id="rId21" imgW="39319200" imgH="9448800" progId="Equation.DSMT4">
                  <p:embed/>
                </p:oleObj>
              </mc:Choice>
              <mc:Fallback>
                <p:oleObj name="Equation" r:id="rId21" imgW="39319200" imgH="9448800" progId="Equation.DSMT4">
                  <p:embed/>
                  <p:pic>
                    <p:nvPicPr>
                      <p:cNvPr id="0" name="Object 12"/>
                      <p:cNvPicPr>
                        <a:picLocks noChangeAspect="1" noChangeArrowheads="1"/>
                      </p:cNvPicPr>
                      <p:nvPr/>
                    </p:nvPicPr>
                    <p:blipFill>
                      <a:blip r:embed="rId22"/>
                      <a:srcRect/>
                      <a:stretch>
                        <a:fillRect/>
                      </a:stretch>
                    </p:blipFill>
                    <p:spPr bwMode="auto">
                      <a:xfrm>
                        <a:off x="6455267" y="2729333"/>
                        <a:ext cx="3800475" cy="93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 name="Group 18"/>
          <p:cNvGrpSpPr/>
          <p:nvPr/>
        </p:nvGrpSpPr>
        <p:grpSpPr bwMode="auto">
          <a:xfrm>
            <a:off x="6181725" y="4077072"/>
            <a:ext cx="4271963" cy="1828800"/>
            <a:chOff x="432" y="1536"/>
            <a:chExt cx="5184" cy="2406"/>
          </a:xfrm>
        </p:grpSpPr>
        <p:pic>
          <p:nvPicPr>
            <p:cNvPr id="11285" name="Picture 1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2" y="1536"/>
              <a:ext cx="5184" cy="2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86" name="Group 17"/>
            <p:cNvGrpSpPr/>
            <p:nvPr/>
          </p:nvGrpSpPr>
          <p:grpSpPr bwMode="auto">
            <a:xfrm>
              <a:off x="654" y="1824"/>
              <a:ext cx="4704" cy="2064"/>
              <a:chOff x="654" y="1824"/>
              <a:chExt cx="4704" cy="2064"/>
            </a:xfrm>
          </p:grpSpPr>
          <p:sp>
            <p:nvSpPr>
              <p:cNvPr id="11287" name="Line 15"/>
              <p:cNvSpPr>
                <a:spLocks noChangeShapeType="1"/>
              </p:cNvSpPr>
              <p:nvPr/>
            </p:nvSpPr>
            <p:spPr bwMode="auto">
              <a:xfrm>
                <a:off x="654" y="3312"/>
                <a:ext cx="4704"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288" name="Line 16"/>
              <p:cNvSpPr>
                <a:spLocks noChangeShapeType="1"/>
              </p:cNvSpPr>
              <p:nvPr/>
            </p:nvSpPr>
            <p:spPr bwMode="auto">
              <a:xfrm flipV="1">
                <a:off x="2928" y="1824"/>
                <a:ext cx="0" cy="2064"/>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linds(horizontal)">
                                      <p:cBhvr>
                                        <p:cTn id="7" dur="500"/>
                                        <p:tgtEl>
                                          <p:spTgt spid="26"/>
                                        </p:tgtEl>
                                      </p:cBhvr>
                                    </p:animEffect>
                                  </p:childTnLst>
                                </p:cTn>
                              </p:par>
                              <p:par>
                                <p:cTn id="8" presetID="3" presetClass="entr" presetSubtype="1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blinds(horizontal)">
                                      <p:cBhvr>
                                        <p:cTn id="10" dur="500"/>
                                        <p:tgtEl>
                                          <p:spTgt spid="2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1"/>
          <p:cNvSpPr>
            <a:spLocks noGrp="1"/>
          </p:cNvSpPr>
          <p:nvPr>
            <p:ph type="title"/>
          </p:nvPr>
        </p:nvSpPr>
        <p:spPr/>
        <p:txBody>
          <a:bodyPr/>
          <a:lstStyle/>
          <a:p>
            <a:r>
              <a:rPr lang="en-US" altLang="zh-CN"/>
              <a:t>6.3 </a:t>
            </a:r>
            <a:r>
              <a:rPr lang="zh-CN" altLang="en-US"/>
              <a:t>理想频率选择性滤波器</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981200" y="1285875"/>
                <a:ext cx="8229600" cy="2749550"/>
              </a:xfrm>
            </p:spPr>
            <p:txBody>
              <a:bodyPr>
                <a:spAutoFit/>
              </a:bodyPr>
              <a:lstStyle/>
              <a:p>
                <a:pPr algn="just">
                  <a:lnSpc>
                    <a:spcPct val="120000"/>
                  </a:lnSpc>
                  <a:spcBef>
                    <a:spcPts val="0"/>
                  </a:spcBef>
                  <a:spcAft>
                    <a:spcPts val="0"/>
                  </a:spcAft>
                </a:pPr>
                <a:r>
                  <a:rPr lang="zh-CN" altLang="en-US" sz="2400" b="0" dirty="0"/>
                  <a:t>尽管从频域滤波的角度看，理想滤波器的频率特性是最佳的，但它们的时域特性并不是最佳的</a:t>
                </a:r>
                <a:endParaRPr lang="en-US" altLang="zh-CN" sz="2400" b="0" dirty="0"/>
              </a:p>
              <a:p>
                <a:pPr lvl="1" algn="just">
                  <a:lnSpc>
                    <a:spcPct val="120000"/>
                  </a:lnSpc>
                  <a:spcBef>
                    <a:spcPts val="0"/>
                  </a:spcBef>
                  <a:spcAft>
                    <a:spcPts val="0"/>
                  </a:spcAft>
                </a:pPr>
                <a:r>
                  <a:rPr lang="zh-CN" altLang="en-US" sz="2400" b="0" dirty="0"/>
                  <a:t>理想滤波器是非因果系统，因而是物理不可实现的；</a:t>
                </a:r>
                <a:endParaRPr lang="en-US" altLang="zh-CN" sz="2400" b="0" dirty="0"/>
              </a:p>
              <a:p>
                <a:pPr lvl="1" algn="just">
                  <a:lnSpc>
                    <a:spcPct val="120000"/>
                  </a:lnSpc>
                  <a:spcBef>
                    <a:spcPts val="0"/>
                  </a:spcBef>
                  <a:spcAft>
                    <a:spcPts val="0"/>
                  </a:spcAft>
                </a:pPr>
                <a14:m>
                  <m:oMath xmlns:m="http://schemas.openxmlformats.org/officeDocument/2006/math">
                    <m:r>
                      <a:rPr lang="en-US" sz="2400" i="1">
                        <a:solidFill>
                          <a:srgbClr val="000000"/>
                        </a:solidFill>
                        <a:latin typeface="Cambria Math" panose="02040503050406030204" pitchFamily="18" charset="0"/>
                      </a:rPr>
                      <m:t>ℎ</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𝑡</m:t>
                    </m:r>
                    <m:r>
                      <a:rPr lang="en-US" sz="2400" i="1">
                        <a:solidFill>
                          <a:srgbClr val="000000"/>
                        </a:solidFill>
                        <a:latin typeface="Cambria Math" panose="02040503050406030204" pitchFamily="18" charset="0"/>
                      </a:rPr>
                      <m:t>)</m:t>
                    </m:r>
                  </m:oMath>
                </a14:m>
                <a:r>
                  <a:rPr lang="zh-CN" altLang="en-US" sz="2400" b="0" dirty="0"/>
                  <a:t>存在振荡。</a:t>
                </a:r>
                <a:endParaRPr lang="en-US" altLang="zh-CN" sz="2400" b="0" dirty="0"/>
              </a:p>
              <a:p>
                <a:pPr algn="just">
                  <a:lnSpc>
                    <a:spcPct val="120000"/>
                  </a:lnSpc>
                  <a:spcBef>
                    <a:spcPts val="0"/>
                  </a:spcBef>
                  <a:spcAft>
                    <a:spcPts val="0"/>
                  </a:spcAft>
                </a:pPr>
                <a:r>
                  <a:rPr lang="zh-CN" altLang="en-US" sz="2400" b="0" dirty="0"/>
                  <a:t>在工程应用中，当要设计一个滤波器时，必须对时域特性和频域特性作出恰当的折中。</a:t>
                </a:r>
                <a:endParaRPr lang="zh-CN" altLang="en-US" sz="2400" b="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1981200" y="1285875"/>
                <a:ext cx="8229600" cy="2749550"/>
              </a:xfrm>
              <a:blipFill rotWithShape="1">
                <a:blip r:embed="rId1"/>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1876DE-BB11-4F66-8729-8B61DB039D88}"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sp>
        <p:nvSpPr>
          <p:cNvPr id="6" name="Rectangle 25"/>
          <p:cNvSpPr>
            <a:spLocks noChangeArrowheads="1"/>
          </p:cNvSpPr>
          <p:nvPr/>
        </p:nvSpPr>
        <p:spPr bwMode="auto">
          <a:xfrm>
            <a:off x="2351584" y="4149080"/>
            <a:ext cx="5516880" cy="230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0"/>
              </a:spcBef>
              <a:spcAft>
                <a:spcPct val="0"/>
              </a:spcAft>
              <a:buClrTx/>
              <a:buSzTx/>
              <a:buFontTx/>
              <a:buNone/>
              <a:defRPr/>
            </a:pP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自学（不做要求）：</a:t>
            </a:r>
            <a:endParaRPr kumimoji="0"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6.4 </a:t>
            </a: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非理想滤波器的时域和频域特性讨论</a:t>
            </a:r>
            <a:endParaRPr kumimoji="0"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6.5 </a:t>
            </a: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一阶与二阶连续时间系统</a:t>
            </a:r>
            <a:endParaRPr kumimoji="0"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a:p>
            <a:pPr marL="0" marR="0" lvl="0" indent="0" algn="l" defTabSz="914400" rtl="0" eaLnBrk="1" fontAlgn="base" latinLnBrk="0" hangingPunct="1">
              <a:lnSpc>
                <a:spcPct val="120000"/>
              </a:lnSpc>
              <a:spcBef>
                <a:spcPct val="0"/>
              </a:spcBef>
              <a:spcAft>
                <a:spcPct val="0"/>
              </a:spcAft>
              <a:buClrTx/>
              <a:buSzTx/>
              <a:buFontTx/>
              <a:buNone/>
              <a:defRPr/>
            </a:pPr>
            <a:r>
              <a:rPr lang="en-US" altLang="zh-CN"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6.6 </a:t>
            </a:r>
            <a:r>
              <a:rPr lang="zh-CN" altLang="en-US"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rPr>
              <a:t>一阶与二阶离散时间系统</a:t>
            </a:r>
            <a:endParaRPr lang="en-US" altLang="zh-CN" sz="2400" dirty="0">
              <a:solidFill>
                <a:srgbClr val="0000FF"/>
              </a:solidFill>
              <a:latin typeface="Times New Roman" panose="02020603050405020304" pitchFamily="18" charset="0"/>
              <a:ea typeface="华文楷体" panose="02010600040101010101" pitchFamily="2" charset="-122"/>
              <a:cs typeface="楷体_GB2312" panose="02010609030101010101" pitchFamily="49" charset="-122"/>
            </a:endParaRPr>
          </a:p>
          <a:p>
            <a:pPr marL="0" marR="0" lvl="0" indent="0" algn="l" defTabSz="914400" rtl="0" eaLnBrk="1" fontAlgn="base" latinLnBrk="0" hangingPunct="1">
              <a:lnSpc>
                <a:spcPct val="120000"/>
              </a:lnSpc>
              <a:spcBef>
                <a:spcPct val="0"/>
              </a:spcBef>
              <a:spcAft>
                <a:spcPct val="0"/>
              </a:spcAft>
              <a:buClrTx/>
              <a:buSzTx/>
              <a:buFontTx/>
              <a:buNone/>
              <a:defRPr/>
            </a:pPr>
            <a:r>
              <a:rPr kumimoji="0" lang="en-US" altLang="zh-CN"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6.7 </a:t>
            </a:r>
            <a:r>
              <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rPr>
              <a:t>系统的时域分析与频域分析举例</a:t>
            </a:r>
            <a:endParaRPr kumimoji="0" lang="zh-CN" altLang="en-US" sz="2400" i="0" u="none" strike="noStrike" kern="1200" cap="none" spc="0" normalizeH="0" baseline="0" noProof="0" dirty="0">
              <a:ln>
                <a:noFill/>
              </a:ln>
              <a:solidFill>
                <a:srgbClr val="0000FF"/>
              </a:solidFill>
              <a:effectLst/>
              <a:uLnTx/>
              <a:uFillTx/>
              <a:latin typeface="Times New Roman" panose="02020603050405020304" pitchFamily="18" charset="0"/>
              <a:ea typeface="华文楷体" panose="02010600040101010101" pitchFamily="2" charset="-122"/>
              <a:cs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1"/>
          <p:cNvSpPr>
            <a:spLocks noGrp="1"/>
          </p:cNvSpPr>
          <p:nvPr>
            <p:ph type="title"/>
          </p:nvPr>
        </p:nvSpPr>
        <p:spPr/>
        <p:txBody>
          <a:bodyPr/>
          <a:lstStyle/>
          <a:p>
            <a:r>
              <a:rPr lang="en-US" altLang="zh-CN" dirty="0"/>
              <a:t>6.3 </a:t>
            </a:r>
            <a:r>
              <a:rPr lang="zh-CN" altLang="en-US" dirty="0"/>
              <a:t>理想频率选择性滤波器</a:t>
            </a:r>
            <a:endParaRPr lang="zh-CN" altLang="en-US" dirty="0"/>
          </a:p>
        </p:txBody>
      </p:sp>
      <p:sp>
        <p:nvSpPr>
          <p:cNvPr id="4" name="灯片编号占位符 3"/>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01876DE-BB11-4F66-8729-8B61DB039D88}" type="slidenum">
              <a:rPr lang="zh-CN" altLang="en-US">
                <a:solidFill>
                  <a:srgbClr val="898989"/>
                </a:solidFill>
                <a:latin typeface="Calibri" panose="020F0502020204030204" charset="0"/>
              </a:rPr>
            </a:fld>
            <a:endParaRPr lang="zh-CN" altLang="en-US">
              <a:solidFill>
                <a:srgbClr val="898989"/>
              </a:solidFill>
              <a:latin typeface="Calibri" panose="020F0502020204030204" charset="0"/>
            </a:endParaRPr>
          </a:p>
        </p:txBody>
      </p:sp>
      <p:sp>
        <p:nvSpPr>
          <p:cNvPr id="7" name="Text Box 3"/>
          <p:cNvSpPr txBox="1">
            <a:spLocks noChangeArrowheads="1"/>
          </p:cNvSpPr>
          <p:nvPr/>
        </p:nvSpPr>
        <p:spPr bwMode="auto">
          <a:xfrm>
            <a:off x="1775520" y="1124744"/>
            <a:ext cx="821055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3213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spcBef>
                <a:spcPct val="0"/>
              </a:spcBef>
              <a:buClrTx/>
              <a:buSzTx/>
              <a:buFontTx/>
              <a:buNone/>
            </a:pPr>
            <a:r>
              <a:rPr lang="zh-CN" altLang="en-US" sz="2000" b="1" dirty="0">
                <a:latin typeface="+mn-ea"/>
                <a:ea typeface="+mn-ea"/>
              </a:rPr>
              <a:t>高斯滤波器</a:t>
            </a:r>
            <a:endParaRPr lang="zh-CN" altLang="en-US" sz="2000" b="1" dirty="0">
              <a:latin typeface="+mn-ea"/>
              <a:ea typeface="+mn-ea"/>
            </a:endParaRPr>
          </a:p>
          <a:p>
            <a:pPr algn="just" eaLnBrk="1" hangingPunct="1">
              <a:lnSpc>
                <a:spcPct val="120000"/>
              </a:lnSpc>
              <a:spcBef>
                <a:spcPct val="0"/>
              </a:spcBef>
              <a:buClrTx/>
              <a:buSzTx/>
              <a:buFontTx/>
              <a:buNone/>
            </a:pPr>
            <a:r>
              <a:rPr lang="zh-CN" altLang="en-US" sz="2000" b="1" dirty="0">
                <a:latin typeface="+mn-ea"/>
                <a:ea typeface="+mn-ea"/>
              </a:rPr>
              <a:t>以一维为例</a:t>
            </a:r>
            <a:r>
              <a:rPr lang="en-US" altLang="zh-CN" sz="2000" b="1" dirty="0">
                <a:latin typeface="+mn-ea"/>
                <a:ea typeface="+mn-ea"/>
              </a:rPr>
              <a:t>, </a:t>
            </a:r>
            <a:r>
              <a:rPr lang="zh-CN" altLang="en-US" sz="2000" b="1" dirty="0">
                <a:latin typeface="+mn-ea"/>
                <a:ea typeface="+mn-ea"/>
              </a:rPr>
              <a:t>设高斯滤波器</a:t>
            </a:r>
            <a:r>
              <a:rPr lang="en-US" altLang="zh-CN" sz="2000" b="1" dirty="0">
                <a:latin typeface="+mn-ea"/>
                <a:ea typeface="+mn-ea"/>
              </a:rPr>
              <a:t>(</a:t>
            </a:r>
            <a:r>
              <a:rPr lang="zh-CN" altLang="en-US" sz="2000" b="1" dirty="0">
                <a:latin typeface="+mn-ea"/>
                <a:ea typeface="+mn-ea"/>
              </a:rPr>
              <a:t>频率域</a:t>
            </a:r>
            <a:r>
              <a:rPr lang="en-US" altLang="zh-CN" sz="2000" b="1" dirty="0">
                <a:latin typeface="+mn-ea"/>
                <a:ea typeface="+mn-ea"/>
              </a:rPr>
              <a:t>)</a:t>
            </a:r>
            <a:r>
              <a:rPr lang="zh-CN" altLang="en-US" sz="2000" b="1" dirty="0">
                <a:latin typeface="+mn-ea"/>
                <a:ea typeface="+mn-ea"/>
              </a:rPr>
              <a:t>为</a:t>
            </a:r>
            <a:r>
              <a:rPr lang="en-US" altLang="zh-CN" sz="2000" b="1" i="1" dirty="0">
                <a:latin typeface="+mn-ea"/>
                <a:ea typeface="+mn-ea"/>
              </a:rPr>
              <a:t>H</a:t>
            </a:r>
            <a:r>
              <a:rPr lang="en-US" altLang="zh-CN" sz="2000" b="1" dirty="0">
                <a:latin typeface="+mn-ea"/>
                <a:ea typeface="+mn-ea"/>
              </a:rPr>
              <a:t>(</a:t>
            </a:r>
            <a:r>
              <a:rPr lang="en-US" altLang="zh-CN" sz="2000" b="1" i="1" dirty="0">
                <a:latin typeface="+mn-ea"/>
                <a:ea typeface="+mn-ea"/>
              </a:rPr>
              <a:t>u</a:t>
            </a:r>
            <a:r>
              <a:rPr lang="en-US" altLang="zh-CN" sz="2000" b="1" dirty="0">
                <a:latin typeface="+mn-ea"/>
                <a:ea typeface="+mn-ea"/>
              </a:rPr>
              <a:t>) = </a:t>
            </a:r>
            <a:r>
              <a:rPr lang="en-US" altLang="zh-CN" sz="2000" b="1" i="1" dirty="0">
                <a:latin typeface="+mn-ea"/>
                <a:ea typeface="+mn-ea"/>
              </a:rPr>
              <a:t>Ae</a:t>
            </a:r>
            <a:r>
              <a:rPr lang="en-US" altLang="zh-CN" sz="2000" b="1" baseline="30000" dirty="0">
                <a:latin typeface="+mn-ea"/>
                <a:ea typeface="+mn-ea"/>
              </a:rPr>
              <a:t>-u</a:t>
            </a:r>
            <a:r>
              <a:rPr lang="en-US" altLang="zh-CN" sz="2000" b="1" baseline="50000" dirty="0">
                <a:latin typeface="+mn-ea"/>
                <a:ea typeface="+mn-ea"/>
              </a:rPr>
              <a:t>2</a:t>
            </a:r>
            <a:r>
              <a:rPr lang="en-US" altLang="zh-CN" sz="2000" b="1" baseline="30000" dirty="0">
                <a:latin typeface="+mn-ea"/>
                <a:ea typeface="+mn-ea"/>
              </a:rPr>
              <a:t>/2</a:t>
            </a:r>
            <a:r>
              <a:rPr lang="en-US" altLang="zh-CN" sz="2000" b="1" baseline="30000" dirty="0">
                <a:latin typeface="+mn-ea"/>
                <a:ea typeface="+mn-ea"/>
                <a:sym typeface="Symbol" panose="05050102010706020507" pitchFamily="18" charset="2"/>
              </a:rPr>
              <a:t></a:t>
            </a:r>
            <a:r>
              <a:rPr lang="en-US" altLang="zh-CN" sz="2000" b="1" baseline="50000" dirty="0">
                <a:latin typeface="+mn-ea"/>
                <a:ea typeface="+mn-ea"/>
              </a:rPr>
              <a:t>2</a:t>
            </a:r>
            <a:r>
              <a:rPr lang="en-US" altLang="zh-CN" sz="2000" b="1" dirty="0">
                <a:latin typeface="+mn-ea"/>
                <a:ea typeface="+mn-ea"/>
              </a:rPr>
              <a:t>, </a:t>
            </a:r>
            <a:r>
              <a:rPr lang="zh-CN" altLang="en-US" sz="2000" b="1" dirty="0">
                <a:latin typeface="+mn-ea"/>
                <a:ea typeface="+mn-ea"/>
              </a:rPr>
              <a:t>其中</a:t>
            </a:r>
            <a:r>
              <a:rPr lang="en-US" altLang="zh-CN" sz="2000" b="1" dirty="0">
                <a:latin typeface="+mn-ea"/>
                <a:ea typeface="+mn-ea"/>
              </a:rPr>
              <a:t>: </a:t>
            </a:r>
            <a:r>
              <a:rPr lang="en-US" altLang="zh-CN" sz="2000" b="1" dirty="0">
                <a:latin typeface="+mn-ea"/>
                <a:ea typeface="+mn-ea"/>
                <a:sym typeface="Symbol" panose="05050102010706020507" pitchFamily="18" charset="2"/>
              </a:rPr>
              <a:t></a:t>
            </a:r>
            <a:r>
              <a:rPr lang="zh-CN" altLang="en-US" sz="2000" b="1" dirty="0">
                <a:latin typeface="+mn-ea"/>
                <a:ea typeface="+mn-ea"/>
              </a:rPr>
              <a:t>为高斯曲线的标准差</a:t>
            </a:r>
            <a:r>
              <a:rPr lang="en-US" altLang="zh-CN" sz="2000" b="1" dirty="0">
                <a:latin typeface="+mn-ea"/>
                <a:ea typeface="+mn-ea"/>
              </a:rPr>
              <a:t>. </a:t>
            </a:r>
            <a:r>
              <a:rPr lang="zh-CN" altLang="en-US" sz="2000" b="1" dirty="0">
                <a:latin typeface="+mn-ea"/>
                <a:ea typeface="+mn-ea"/>
              </a:rPr>
              <a:t>而相关的空间滤波器则为</a:t>
            </a:r>
            <a:endParaRPr lang="en-US" altLang="zh-CN" sz="2000" b="1" dirty="0">
              <a:latin typeface="+mn-ea"/>
              <a:ea typeface="+mn-ea"/>
            </a:endParaRPr>
          </a:p>
        </p:txBody>
      </p:sp>
      <p:graphicFrame>
        <p:nvGraphicFramePr>
          <p:cNvPr id="8" name="Object 22"/>
          <p:cNvGraphicFramePr>
            <a:graphicFrameLocks noChangeAspect="1"/>
          </p:cNvGraphicFramePr>
          <p:nvPr/>
        </p:nvGraphicFramePr>
        <p:xfrm>
          <a:off x="3495006" y="2573359"/>
          <a:ext cx="3700463" cy="533400"/>
        </p:xfrm>
        <a:graphic>
          <a:graphicData uri="http://schemas.openxmlformats.org/presentationml/2006/ole">
            <mc:AlternateContent xmlns:mc="http://schemas.openxmlformats.org/markup-compatibility/2006">
              <mc:Choice xmlns:v="urn:schemas-microsoft-com:vml" Requires="v">
                <p:oleObj spid="_x0000_s46100" name="公式" r:id="rId1" imgW="1701800" imgH="292100" progId="Equation.3">
                  <p:embed/>
                </p:oleObj>
              </mc:Choice>
              <mc:Fallback>
                <p:oleObj name="公式" r:id="rId1" imgW="1701800" imgH="292100" progId="Equation.3">
                  <p:embed/>
                  <p:pic>
                    <p:nvPicPr>
                      <p:cNvPr id="0" name="Object 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5006" y="2573359"/>
                        <a:ext cx="37004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24"/>
          <p:cNvSpPr txBox="1">
            <a:spLocks noChangeArrowheads="1"/>
          </p:cNvSpPr>
          <p:nvPr/>
        </p:nvSpPr>
        <p:spPr bwMode="auto">
          <a:xfrm>
            <a:off x="1821558" y="3471140"/>
            <a:ext cx="5373912" cy="3046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rIns="0">
            <a:spAutoFit/>
          </a:bodyPr>
          <a:lstStyle>
            <a:lvl1pPr indent="53213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2000" b="1" dirty="0">
                <a:latin typeface="+mn-ea"/>
                <a:ea typeface="+mn-ea"/>
              </a:rPr>
              <a:t>注意高斯函数有两个重要特性</a:t>
            </a:r>
            <a:r>
              <a:rPr lang="en-US" altLang="zh-CN" sz="2000" b="1" dirty="0">
                <a:latin typeface="+mn-ea"/>
                <a:ea typeface="+mn-ea"/>
              </a:rPr>
              <a:t>:</a:t>
            </a:r>
            <a:endParaRPr lang="en-US" altLang="zh-CN" sz="2000" b="1" dirty="0">
              <a:latin typeface="+mn-ea"/>
              <a:ea typeface="+mn-ea"/>
            </a:endParaRPr>
          </a:p>
          <a:p>
            <a:pPr eaLnBrk="1" hangingPunct="1">
              <a:lnSpc>
                <a:spcPct val="120000"/>
              </a:lnSpc>
              <a:spcBef>
                <a:spcPct val="0"/>
              </a:spcBef>
              <a:buClrTx/>
              <a:buSzTx/>
              <a:buFontTx/>
              <a:buNone/>
            </a:pPr>
            <a:r>
              <a:rPr lang="en-US" altLang="zh-CN" sz="2000" b="1" dirty="0">
                <a:latin typeface="+mn-ea"/>
                <a:ea typeface="+mn-ea"/>
              </a:rPr>
              <a:t>① </a:t>
            </a:r>
            <a:r>
              <a:rPr lang="zh-CN" altLang="en-US" sz="2000" b="1" dirty="0">
                <a:latin typeface="+mn-ea"/>
                <a:ea typeface="+mn-ea"/>
              </a:rPr>
              <a:t>它本身和它的傅里叶变换都是实高斯函数</a:t>
            </a:r>
            <a:r>
              <a:rPr lang="en-US" altLang="zh-CN" sz="2000" b="1" dirty="0">
                <a:latin typeface="+mn-ea"/>
                <a:ea typeface="+mn-ea"/>
              </a:rPr>
              <a:t>;</a:t>
            </a:r>
            <a:endParaRPr lang="en-US" altLang="zh-CN" sz="2000" b="1" dirty="0">
              <a:latin typeface="+mn-ea"/>
              <a:ea typeface="+mn-ea"/>
            </a:endParaRPr>
          </a:p>
          <a:p>
            <a:pPr eaLnBrk="1" hangingPunct="1">
              <a:lnSpc>
                <a:spcPct val="120000"/>
              </a:lnSpc>
              <a:spcBef>
                <a:spcPct val="0"/>
              </a:spcBef>
              <a:buClrTx/>
              <a:buSzTx/>
              <a:buFontTx/>
              <a:buNone/>
            </a:pPr>
            <a:r>
              <a:rPr lang="zh-CN" altLang="en-US" sz="2000" b="1" dirty="0">
                <a:latin typeface="+mn-ea"/>
                <a:ea typeface="+mn-ea"/>
              </a:rPr>
              <a:t>② 这一对傅利叶变换相互间有某种反比特性</a:t>
            </a:r>
            <a:r>
              <a:rPr lang="en-US" altLang="zh-CN" sz="2000" b="1" dirty="0">
                <a:latin typeface="+mn-ea"/>
                <a:ea typeface="+mn-ea"/>
              </a:rPr>
              <a:t>, </a:t>
            </a:r>
            <a:r>
              <a:rPr lang="zh-CN" altLang="en-US" sz="2000" b="1" dirty="0">
                <a:latin typeface="+mn-ea"/>
                <a:ea typeface="+mn-ea"/>
              </a:rPr>
              <a:t>即当</a:t>
            </a:r>
            <a:r>
              <a:rPr lang="en-US" altLang="zh-CN" sz="2000" b="1" i="1" dirty="0">
                <a:latin typeface="+mn-ea"/>
                <a:ea typeface="+mn-ea"/>
              </a:rPr>
              <a:t>H</a:t>
            </a:r>
            <a:r>
              <a:rPr lang="en-US" altLang="zh-CN" sz="2000" b="1" dirty="0">
                <a:latin typeface="+mn-ea"/>
                <a:ea typeface="+mn-ea"/>
              </a:rPr>
              <a:t>(</a:t>
            </a:r>
            <a:r>
              <a:rPr lang="en-US" altLang="zh-CN" sz="2000" b="1" i="1" dirty="0">
                <a:latin typeface="+mn-ea"/>
                <a:ea typeface="+mn-ea"/>
              </a:rPr>
              <a:t>u</a:t>
            </a:r>
            <a:r>
              <a:rPr lang="en-US" altLang="zh-CN" sz="2000" b="1" dirty="0">
                <a:latin typeface="+mn-ea"/>
                <a:ea typeface="+mn-ea"/>
              </a:rPr>
              <a:t>)</a:t>
            </a:r>
            <a:r>
              <a:rPr lang="zh-CN" altLang="en-US" sz="2000" b="1" dirty="0">
                <a:latin typeface="+mn-ea"/>
                <a:ea typeface="+mn-ea"/>
              </a:rPr>
              <a:t>有较宽的轮廓</a:t>
            </a:r>
            <a:r>
              <a:rPr lang="en-US" altLang="zh-CN" sz="2000" b="1" dirty="0">
                <a:latin typeface="+mn-ea"/>
                <a:ea typeface="+mn-ea"/>
              </a:rPr>
              <a:t>(</a:t>
            </a:r>
            <a:r>
              <a:rPr lang="zh-CN" altLang="en-US" sz="2000" b="1" dirty="0">
                <a:latin typeface="+mn-ea"/>
                <a:ea typeface="+mn-ea"/>
              </a:rPr>
              <a:t>大的</a:t>
            </a:r>
            <a:r>
              <a:rPr lang="en-US" altLang="zh-CN" sz="2000" b="1" dirty="0">
                <a:latin typeface="+mn-ea"/>
                <a:ea typeface="+mn-ea"/>
                <a:sym typeface="Symbol" panose="05050102010706020507" pitchFamily="18" charset="2"/>
              </a:rPr>
              <a:t></a:t>
            </a:r>
            <a:r>
              <a:rPr lang="zh-CN" altLang="en-US" sz="2000" b="1" dirty="0">
                <a:latin typeface="+mn-ea"/>
                <a:ea typeface="+mn-ea"/>
              </a:rPr>
              <a:t>值</a:t>
            </a:r>
            <a:r>
              <a:rPr lang="en-US" altLang="zh-CN" sz="2000" b="1" dirty="0">
                <a:latin typeface="+mn-ea"/>
                <a:ea typeface="+mn-ea"/>
              </a:rPr>
              <a:t>)</a:t>
            </a:r>
            <a:r>
              <a:rPr lang="zh-CN" altLang="en-US" sz="2000" b="1" dirty="0">
                <a:latin typeface="+mn-ea"/>
                <a:ea typeface="+mn-ea"/>
              </a:rPr>
              <a:t>时</a:t>
            </a:r>
            <a:r>
              <a:rPr lang="en-US" altLang="zh-CN" sz="2000" b="1" dirty="0">
                <a:latin typeface="+mn-ea"/>
                <a:ea typeface="+mn-ea"/>
              </a:rPr>
              <a:t>, </a:t>
            </a:r>
            <a:r>
              <a:rPr lang="en-US" altLang="zh-CN" sz="2000" b="1" i="1" dirty="0">
                <a:latin typeface="+mn-ea"/>
                <a:ea typeface="+mn-ea"/>
              </a:rPr>
              <a:t>h</a:t>
            </a:r>
            <a:r>
              <a:rPr lang="en-US" altLang="zh-CN" sz="2000" b="1" dirty="0">
                <a:latin typeface="+mn-ea"/>
                <a:ea typeface="+mn-ea"/>
              </a:rPr>
              <a:t>(</a:t>
            </a:r>
            <a:r>
              <a:rPr lang="en-US" altLang="zh-CN" sz="2000" b="1" i="1" dirty="0">
                <a:latin typeface="+mn-ea"/>
                <a:ea typeface="+mn-ea"/>
              </a:rPr>
              <a:t>x</a:t>
            </a:r>
            <a:r>
              <a:rPr lang="en-US" altLang="zh-CN" sz="2000" b="1" dirty="0">
                <a:latin typeface="+mn-ea"/>
                <a:ea typeface="+mn-ea"/>
              </a:rPr>
              <a:t>)</a:t>
            </a:r>
            <a:r>
              <a:rPr lang="zh-CN" altLang="en-US" sz="2000" b="1" dirty="0">
                <a:latin typeface="+mn-ea"/>
                <a:ea typeface="+mn-ea"/>
              </a:rPr>
              <a:t>有较窄的轮廓</a:t>
            </a:r>
            <a:r>
              <a:rPr lang="en-US" altLang="zh-CN" sz="2000" b="1" dirty="0">
                <a:latin typeface="+mn-ea"/>
                <a:ea typeface="+mn-ea"/>
              </a:rPr>
              <a:t>, </a:t>
            </a:r>
            <a:r>
              <a:rPr lang="zh-CN" altLang="en-US" sz="2000" b="1" dirty="0">
                <a:latin typeface="+mn-ea"/>
                <a:ea typeface="+mn-ea"/>
              </a:rPr>
              <a:t>反之亦然</a:t>
            </a:r>
            <a:r>
              <a:rPr lang="en-US" altLang="zh-CN" sz="2000" b="1" dirty="0">
                <a:latin typeface="+mn-ea"/>
                <a:ea typeface="+mn-ea"/>
              </a:rPr>
              <a:t>.</a:t>
            </a:r>
            <a:endParaRPr lang="en-US" altLang="zh-CN" sz="2000" b="1" dirty="0">
              <a:latin typeface="+mn-ea"/>
              <a:ea typeface="+mn-ea"/>
            </a:endParaRPr>
          </a:p>
          <a:p>
            <a:pPr eaLnBrk="1" hangingPunct="1">
              <a:lnSpc>
                <a:spcPct val="120000"/>
              </a:lnSpc>
              <a:spcBef>
                <a:spcPct val="0"/>
              </a:spcBef>
              <a:buClrTx/>
              <a:buSzTx/>
              <a:buFontTx/>
              <a:buNone/>
            </a:pPr>
            <a:r>
              <a:rPr lang="zh-CN" altLang="en-US" sz="2000" b="1" dirty="0">
                <a:latin typeface="+mn-ea"/>
                <a:ea typeface="+mn-ea"/>
              </a:rPr>
              <a:t>当接近无限时</a:t>
            </a:r>
            <a:r>
              <a:rPr lang="en-US" altLang="zh-CN" sz="2000" b="1" dirty="0">
                <a:latin typeface="+mn-ea"/>
                <a:ea typeface="+mn-ea"/>
              </a:rPr>
              <a:t>, </a:t>
            </a:r>
            <a:r>
              <a:rPr lang="en-US" altLang="zh-CN" sz="2000" b="1" i="1" dirty="0">
                <a:latin typeface="+mn-ea"/>
                <a:ea typeface="+mn-ea"/>
              </a:rPr>
              <a:t>H</a:t>
            </a:r>
            <a:r>
              <a:rPr lang="en-US" altLang="zh-CN" sz="2000" b="1" dirty="0">
                <a:latin typeface="+mn-ea"/>
                <a:ea typeface="+mn-ea"/>
              </a:rPr>
              <a:t>(</a:t>
            </a:r>
            <a:r>
              <a:rPr lang="en-US" altLang="zh-CN" sz="2000" b="1" i="1" dirty="0">
                <a:latin typeface="+mn-ea"/>
                <a:ea typeface="+mn-ea"/>
              </a:rPr>
              <a:t>u</a:t>
            </a:r>
            <a:r>
              <a:rPr lang="en-US" altLang="zh-CN" sz="2000" b="1" dirty="0">
                <a:latin typeface="+mn-ea"/>
                <a:ea typeface="+mn-ea"/>
              </a:rPr>
              <a:t>)</a:t>
            </a:r>
            <a:r>
              <a:rPr lang="zh-CN" altLang="en-US" sz="2000" b="1" dirty="0">
                <a:latin typeface="+mn-ea"/>
                <a:ea typeface="+mn-ea"/>
              </a:rPr>
              <a:t>趋于常数量</a:t>
            </a:r>
            <a:r>
              <a:rPr lang="en-US" altLang="zh-CN" sz="2000" b="1" dirty="0">
                <a:latin typeface="+mn-ea"/>
                <a:ea typeface="+mn-ea"/>
              </a:rPr>
              <a:t>, </a:t>
            </a:r>
            <a:r>
              <a:rPr lang="en-US" altLang="zh-CN" sz="2000" b="1" i="1" dirty="0">
                <a:latin typeface="+mn-ea"/>
                <a:ea typeface="+mn-ea"/>
              </a:rPr>
              <a:t>h</a:t>
            </a:r>
            <a:r>
              <a:rPr lang="en-US" altLang="zh-CN" sz="2000" b="1" dirty="0">
                <a:latin typeface="+mn-ea"/>
                <a:ea typeface="+mn-ea"/>
              </a:rPr>
              <a:t>(</a:t>
            </a:r>
            <a:r>
              <a:rPr lang="en-US" altLang="zh-CN" sz="2000" b="1" i="1" dirty="0">
                <a:latin typeface="+mn-ea"/>
                <a:ea typeface="+mn-ea"/>
              </a:rPr>
              <a:t>x</a:t>
            </a:r>
            <a:r>
              <a:rPr lang="en-US" altLang="zh-CN" sz="2000" b="1" dirty="0">
                <a:latin typeface="+mn-ea"/>
                <a:ea typeface="+mn-ea"/>
              </a:rPr>
              <a:t>)</a:t>
            </a:r>
            <a:r>
              <a:rPr lang="zh-CN" altLang="en-US" sz="2000" b="1" dirty="0">
                <a:latin typeface="+mn-ea"/>
                <a:ea typeface="+mn-ea"/>
              </a:rPr>
              <a:t>则趋于冲激函数</a:t>
            </a:r>
            <a:r>
              <a:rPr lang="en-US" altLang="zh-CN" sz="2000" b="1" dirty="0">
                <a:latin typeface="+mn-ea"/>
                <a:ea typeface="+mn-ea"/>
              </a:rPr>
              <a:t>.</a:t>
            </a:r>
            <a:endParaRPr lang="en-US" altLang="zh-CN" sz="2000" b="1" dirty="0">
              <a:latin typeface="+mn-ea"/>
              <a:ea typeface="+mn-ea"/>
            </a:endParaRPr>
          </a:p>
        </p:txBody>
      </p:sp>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6146" y="2060848"/>
            <a:ext cx="6254750" cy="434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课后作业</a:t>
            </a:r>
            <a:endParaRPr lang="en-US" dirty="0"/>
          </a:p>
        </p:txBody>
      </p:sp>
      <p:sp>
        <p:nvSpPr>
          <p:cNvPr id="3" name="内容占位符 2"/>
          <p:cNvSpPr>
            <a:spLocks noGrp="1"/>
          </p:cNvSpPr>
          <p:nvPr>
            <p:ph idx="1"/>
          </p:nvPr>
        </p:nvSpPr>
        <p:spPr>
          <a:xfrm>
            <a:off x="1981200" y="1285875"/>
            <a:ext cx="8229600" cy="521970"/>
          </a:xfrm>
        </p:spPr>
        <p:txBody>
          <a:bodyPr>
            <a:spAutoFit/>
          </a:bodyPr>
          <a:lstStyle/>
          <a:p>
            <a:pPr algn="just">
              <a:spcBef>
                <a:spcPts val="0"/>
              </a:spcBef>
              <a:spcAft>
                <a:spcPts val="300"/>
              </a:spcAft>
            </a:pPr>
            <a:r>
              <a:rPr lang="en-US" altLang="zh-CN" sz="2800" b="0" dirty="0"/>
              <a:t>6.23(b, c)</a:t>
            </a:r>
            <a:endParaRPr lang="en-US" altLang="zh-CN" sz="2800" b="0" dirty="0"/>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D6CC5206-228A-4188-B6B3-2BFCD2AC1E6E}" type="slidenum">
              <a:rPr kumimoji="0" lang="zh-CN" altLang="en-US" sz="1200" b="0" i="0" u="none" strike="noStrike" kern="1200" cap="none" spc="0" normalizeH="0" baseline="0" noProof="0" smtClean="0">
                <a:ln>
                  <a:noFill/>
                </a:ln>
                <a:solidFill>
                  <a:srgbClr val="898989"/>
                </a:solidFill>
                <a:effectLst/>
                <a:uLnTx/>
                <a:uFillTx/>
                <a:latin typeface="Calibri" panose="020F0502020204030204" charset="0"/>
                <a:ea typeface="宋体" panose="02010600030101010101" pitchFamily="2" charset="-122"/>
                <a:cs typeface="+mn-cs"/>
              </a:rPr>
            </a:fld>
            <a:endParaRPr kumimoji="0" lang="zh-CN" altLang="en-US" sz="1200" b="0" i="0" u="none" strike="noStrike" kern="1200" cap="none" spc="0" normalizeH="0" baseline="0" noProof="0">
              <a:ln>
                <a:noFill/>
              </a:ln>
              <a:solidFill>
                <a:srgbClr val="898989"/>
              </a:solidFill>
              <a:effectLst/>
              <a:uLnTx/>
              <a:uFillTx/>
              <a:latin typeface="Calibri" panose="020F0502020204030204" charset="0"/>
              <a:ea typeface="宋体" panose="02010600030101010101" pitchFamily="2"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1727</Words>
  <Application>WPS 演示</Application>
  <PresentationFormat>宽屏</PresentationFormat>
  <Paragraphs>174</Paragraphs>
  <Slides>14</Slides>
  <Notes>4</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47</vt:i4>
      </vt:variant>
      <vt:variant>
        <vt:lpstr>幻灯片标题</vt:lpstr>
      </vt:variant>
      <vt:variant>
        <vt:i4>14</vt:i4>
      </vt:variant>
    </vt:vector>
  </HeadingPairs>
  <TitlesOfParts>
    <vt:vector size="79" baseType="lpstr">
      <vt:lpstr>Arial</vt:lpstr>
      <vt:lpstr>宋体</vt:lpstr>
      <vt:lpstr>Wingdings</vt:lpstr>
      <vt:lpstr>Wingdings</vt:lpstr>
      <vt:lpstr>微软雅黑</vt:lpstr>
      <vt:lpstr>Arial Unicode MS</vt:lpstr>
      <vt:lpstr>Calibri</vt:lpstr>
      <vt:lpstr>Arial Black</vt:lpstr>
      <vt:lpstr>黑体</vt:lpstr>
      <vt:lpstr>Georgia</vt:lpstr>
      <vt:lpstr>华文行楷</vt:lpstr>
      <vt:lpstr>Times New Roman</vt:lpstr>
      <vt:lpstr>华文楷体</vt:lpstr>
      <vt:lpstr>Cambria Math</vt:lpstr>
      <vt:lpstr>楷体_GB2312</vt:lpstr>
      <vt:lpstr>新宋体</vt:lpstr>
      <vt:lpstr>Symbol</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Equation.3</vt:lpstr>
      <vt:lpstr>Equation.3</vt:lpstr>
      <vt:lpstr>第6章  信号与系统的时域和频域特性</vt:lpstr>
      <vt:lpstr>6.0 引言</vt:lpstr>
      <vt:lpstr>6.1 傅里叶变换的模和相位表示</vt:lpstr>
      <vt:lpstr>6.1 傅里叶变换的模和相位表示</vt:lpstr>
      <vt:lpstr>6.1 傅里叶变换的模和相位表示</vt:lpstr>
      <vt:lpstr>6.2  LTI系统频率响应的模和相位表示</vt:lpstr>
      <vt:lpstr>6.2  LTI系统频率响应的模和相位表示</vt:lpstr>
      <vt:lpstr>6.2  LTI系统频率响应的模和相位表示</vt:lpstr>
      <vt:lpstr>6.2  LTI系统频率响应的模和相位表示</vt:lpstr>
      <vt:lpstr>6.3 理想频率选择性滤波器</vt:lpstr>
      <vt:lpstr>6.3 理想频率选择性滤波器</vt:lpstr>
      <vt:lpstr>6.3 理想频率选择性滤波器</vt:lpstr>
      <vt:lpstr>6.3 理想频率选择性滤波器</vt:lpstr>
      <vt:lpstr>课后作业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苏幕遮</cp:lastModifiedBy>
  <cp:revision>155</cp:revision>
  <dcterms:created xsi:type="dcterms:W3CDTF">2019-06-19T02:08:00Z</dcterms:created>
  <dcterms:modified xsi:type="dcterms:W3CDTF">2025-04-08T06:30:26Z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2D3DB7135F9547FCA0BB0E08711547A2_11</vt:lpwstr>
  </property>
</Properties>
</file>