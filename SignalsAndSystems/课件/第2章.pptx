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830" r:id="rId2"/>
    <p:sldMasterId id="2147483842" r:id="rId3"/>
    <p:sldMasterId id="2147483854" r:id="rId4"/>
  </p:sldMasterIdLst>
  <p:notesMasterIdLst>
    <p:notesMasterId r:id="rId97"/>
  </p:notesMasterIdLst>
  <p:handoutMasterIdLst>
    <p:handoutMasterId r:id="rId98"/>
  </p:handoutMasterIdLst>
  <p:sldIdLst>
    <p:sldId id="350" r:id="rId5"/>
    <p:sldId id="352" r:id="rId6"/>
    <p:sldId id="353" r:id="rId7"/>
    <p:sldId id="431" r:id="rId8"/>
    <p:sldId id="355" r:id="rId9"/>
    <p:sldId id="356" r:id="rId10"/>
    <p:sldId id="432" r:id="rId11"/>
    <p:sldId id="357" r:id="rId12"/>
    <p:sldId id="451" r:id="rId13"/>
    <p:sldId id="642" r:id="rId14"/>
    <p:sldId id="358" r:id="rId15"/>
    <p:sldId id="433" r:id="rId16"/>
    <p:sldId id="359" r:id="rId17"/>
    <p:sldId id="361" r:id="rId18"/>
    <p:sldId id="439" r:id="rId19"/>
    <p:sldId id="440" r:id="rId20"/>
    <p:sldId id="441" r:id="rId21"/>
    <p:sldId id="363" r:id="rId22"/>
    <p:sldId id="360" r:id="rId23"/>
    <p:sldId id="437" r:id="rId24"/>
    <p:sldId id="438" r:id="rId25"/>
    <p:sldId id="366" r:id="rId26"/>
    <p:sldId id="367" r:id="rId27"/>
    <p:sldId id="444" r:id="rId28"/>
    <p:sldId id="445" r:id="rId29"/>
    <p:sldId id="368" r:id="rId30"/>
    <p:sldId id="369" r:id="rId31"/>
    <p:sldId id="370" r:id="rId32"/>
    <p:sldId id="449" r:id="rId33"/>
    <p:sldId id="450" r:id="rId34"/>
    <p:sldId id="372" r:id="rId35"/>
    <p:sldId id="446" r:id="rId36"/>
    <p:sldId id="447" r:id="rId37"/>
    <p:sldId id="448" r:id="rId38"/>
    <p:sldId id="636" r:id="rId39"/>
    <p:sldId id="378" r:id="rId40"/>
    <p:sldId id="643" r:id="rId41"/>
    <p:sldId id="452" r:id="rId42"/>
    <p:sldId id="379" r:id="rId43"/>
    <p:sldId id="380" r:id="rId44"/>
    <p:sldId id="381" r:id="rId45"/>
    <p:sldId id="382" r:id="rId46"/>
    <p:sldId id="383" r:id="rId47"/>
    <p:sldId id="384" r:id="rId48"/>
    <p:sldId id="385" r:id="rId49"/>
    <p:sldId id="386" r:id="rId50"/>
    <p:sldId id="387" r:id="rId51"/>
    <p:sldId id="388" r:id="rId52"/>
    <p:sldId id="389" r:id="rId53"/>
    <p:sldId id="390" r:id="rId54"/>
    <p:sldId id="453" r:id="rId55"/>
    <p:sldId id="391" r:id="rId56"/>
    <p:sldId id="392" r:id="rId57"/>
    <p:sldId id="454" r:id="rId58"/>
    <p:sldId id="399" r:id="rId59"/>
    <p:sldId id="400" r:id="rId60"/>
    <p:sldId id="455" r:id="rId61"/>
    <p:sldId id="456" r:id="rId62"/>
    <p:sldId id="457" r:id="rId63"/>
    <p:sldId id="639" r:id="rId64"/>
    <p:sldId id="403" r:id="rId65"/>
    <p:sldId id="404" r:id="rId66"/>
    <p:sldId id="644" r:id="rId67"/>
    <p:sldId id="645" r:id="rId68"/>
    <p:sldId id="646" r:id="rId69"/>
    <p:sldId id="406" r:id="rId70"/>
    <p:sldId id="408" r:id="rId71"/>
    <p:sldId id="409" r:id="rId72"/>
    <p:sldId id="410" r:id="rId73"/>
    <p:sldId id="411" r:id="rId74"/>
    <p:sldId id="412" r:id="rId75"/>
    <p:sldId id="413" r:id="rId76"/>
    <p:sldId id="414" r:id="rId77"/>
    <p:sldId id="415" r:id="rId78"/>
    <p:sldId id="416" r:id="rId79"/>
    <p:sldId id="417" r:id="rId80"/>
    <p:sldId id="418" r:id="rId81"/>
    <p:sldId id="459" r:id="rId82"/>
    <p:sldId id="458" r:id="rId83"/>
    <p:sldId id="420" r:id="rId84"/>
    <p:sldId id="421" r:id="rId85"/>
    <p:sldId id="460" r:id="rId86"/>
    <p:sldId id="461" r:id="rId87"/>
    <p:sldId id="422" r:id="rId88"/>
    <p:sldId id="423" r:id="rId89"/>
    <p:sldId id="425" r:id="rId90"/>
    <p:sldId id="427" r:id="rId91"/>
    <p:sldId id="428" r:id="rId92"/>
    <p:sldId id="462" r:id="rId93"/>
    <p:sldId id="640" r:id="rId94"/>
    <p:sldId id="429" r:id="rId95"/>
    <p:sldId id="430" r:id="rId96"/>
  </p:sldIdLst>
  <p:sldSz cx="9144000" cy="6858000" type="screen4x3"/>
  <p:notesSz cx="7099300" cy="10234613"/>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915" autoAdjust="0"/>
  </p:normalViewPr>
  <p:slideViewPr>
    <p:cSldViewPr>
      <p:cViewPr varScale="1">
        <p:scale>
          <a:sx n="57" d="100"/>
          <a:sy n="57" d="100"/>
        </p:scale>
        <p:origin x="1540" y="4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tableStyles" Target="tableStyle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handoutMaster" Target="handoutMasters/handoutMaster1.xml"/><Relationship Id="rId3" Type="http://schemas.openxmlformats.org/officeDocument/2006/relationships/slideMaster" Target="slideMasters/slideMaster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87.wmf"/><Relationship Id="rId1" Type="http://schemas.openxmlformats.org/officeDocument/2006/relationships/image" Target="../media/image4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811375A2-702C-41A8-A249-DCF3BE65371D}"/>
              </a:ext>
            </a:extLst>
          </p:cNvPr>
          <p:cNvSpPr>
            <a:spLocks noGrp="1"/>
          </p:cNvSpPr>
          <p:nvPr>
            <p:ph type="hdr" sz="quarter"/>
          </p:nvPr>
        </p:nvSpPr>
        <p:spPr>
          <a:xfrm>
            <a:off x="0" y="0"/>
            <a:ext cx="3076575" cy="512763"/>
          </a:xfrm>
          <a:prstGeom prst="rect">
            <a:avLst/>
          </a:prstGeom>
        </p:spPr>
        <p:txBody>
          <a:bodyPr vert="horz" lIns="95445" tIns="47723" rIns="95445" bIns="47723" rtlCol="0"/>
          <a:lstStyle>
            <a:lvl1pPr algn="l">
              <a:defRPr sz="1300">
                <a:latin typeface="Arial" charset="0"/>
                <a:ea typeface="宋体" charset="-122"/>
              </a:defRPr>
            </a:lvl1pPr>
          </a:lstStyle>
          <a:p>
            <a:pPr>
              <a:defRPr/>
            </a:pPr>
            <a:endParaRPr lang="zh-CN" altLang="en-US"/>
          </a:p>
        </p:txBody>
      </p:sp>
      <p:sp>
        <p:nvSpPr>
          <p:cNvPr id="3" name="日期占位符 2">
            <a:extLst>
              <a:ext uri="{FF2B5EF4-FFF2-40B4-BE49-F238E27FC236}">
                <a16:creationId xmlns:a16="http://schemas.microsoft.com/office/drawing/2014/main" id="{D6D22D39-B26B-472C-9608-504AF64746F5}"/>
              </a:ext>
            </a:extLst>
          </p:cNvPr>
          <p:cNvSpPr>
            <a:spLocks noGrp="1"/>
          </p:cNvSpPr>
          <p:nvPr>
            <p:ph type="dt" sz="quarter" idx="1"/>
          </p:nvPr>
        </p:nvSpPr>
        <p:spPr>
          <a:xfrm>
            <a:off x="4021138" y="0"/>
            <a:ext cx="3076575" cy="512763"/>
          </a:xfrm>
          <a:prstGeom prst="rect">
            <a:avLst/>
          </a:prstGeom>
        </p:spPr>
        <p:txBody>
          <a:bodyPr vert="horz" lIns="95445" tIns="47723" rIns="95445" bIns="47723" rtlCol="0"/>
          <a:lstStyle>
            <a:lvl1pPr algn="r">
              <a:defRPr sz="1300">
                <a:latin typeface="Arial" charset="0"/>
                <a:ea typeface="宋体" charset="-122"/>
              </a:defRPr>
            </a:lvl1pPr>
          </a:lstStyle>
          <a:p>
            <a:pPr>
              <a:defRPr/>
            </a:pPr>
            <a:fld id="{962333FF-79F6-46E0-847C-12653BD1C880}" type="datetimeFigureOut">
              <a:rPr lang="zh-CN" altLang="en-US"/>
              <a:pPr>
                <a:defRPr/>
              </a:pPr>
              <a:t>2024/03/12</a:t>
            </a:fld>
            <a:endParaRPr lang="zh-CN" altLang="en-US"/>
          </a:p>
        </p:txBody>
      </p:sp>
      <p:sp>
        <p:nvSpPr>
          <p:cNvPr id="4" name="页脚占位符 3">
            <a:extLst>
              <a:ext uri="{FF2B5EF4-FFF2-40B4-BE49-F238E27FC236}">
                <a16:creationId xmlns:a16="http://schemas.microsoft.com/office/drawing/2014/main" id="{37314C50-1D05-459F-9433-0D614C2408B8}"/>
              </a:ext>
            </a:extLst>
          </p:cNvPr>
          <p:cNvSpPr>
            <a:spLocks noGrp="1"/>
          </p:cNvSpPr>
          <p:nvPr>
            <p:ph type="ftr" sz="quarter" idx="2"/>
          </p:nvPr>
        </p:nvSpPr>
        <p:spPr>
          <a:xfrm>
            <a:off x="0" y="9720263"/>
            <a:ext cx="3076575" cy="512762"/>
          </a:xfrm>
          <a:prstGeom prst="rect">
            <a:avLst/>
          </a:prstGeom>
        </p:spPr>
        <p:txBody>
          <a:bodyPr vert="horz" lIns="95445" tIns="47723" rIns="95445" bIns="47723" rtlCol="0" anchor="b"/>
          <a:lstStyle>
            <a:lvl1pPr algn="l">
              <a:defRPr sz="1300">
                <a:latin typeface="Arial" charset="0"/>
                <a:ea typeface="宋体" charset="-122"/>
              </a:defRPr>
            </a:lvl1pPr>
          </a:lstStyle>
          <a:p>
            <a:pPr>
              <a:defRPr/>
            </a:pPr>
            <a:endParaRPr lang="zh-CN" altLang="en-US"/>
          </a:p>
        </p:txBody>
      </p:sp>
      <p:sp>
        <p:nvSpPr>
          <p:cNvPr id="5" name="灯片编号占位符 4">
            <a:extLst>
              <a:ext uri="{FF2B5EF4-FFF2-40B4-BE49-F238E27FC236}">
                <a16:creationId xmlns:a16="http://schemas.microsoft.com/office/drawing/2014/main" id="{BACBC7E1-AFD7-4FFD-BE2D-719981E8C928}"/>
              </a:ext>
            </a:extLst>
          </p:cNvPr>
          <p:cNvSpPr>
            <a:spLocks noGrp="1"/>
          </p:cNvSpPr>
          <p:nvPr>
            <p:ph type="sldNum" sz="quarter" idx="3"/>
          </p:nvPr>
        </p:nvSpPr>
        <p:spPr>
          <a:xfrm>
            <a:off x="4021138" y="9720263"/>
            <a:ext cx="3076575" cy="512762"/>
          </a:xfrm>
          <a:prstGeom prst="rect">
            <a:avLst/>
          </a:prstGeom>
        </p:spPr>
        <p:txBody>
          <a:bodyPr vert="horz" wrap="square" lIns="95445" tIns="47723" rIns="95445" bIns="47723" numCol="1" anchor="b" anchorCtr="0" compatLnSpc="1">
            <a:prstTxWarp prst="textNoShape">
              <a:avLst/>
            </a:prstTxWarp>
          </a:bodyPr>
          <a:lstStyle>
            <a:lvl1pPr algn="r">
              <a:defRPr sz="1300"/>
            </a:lvl1pPr>
          </a:lstStyle>
          <a:p>
            <a:fld id="{16FE7D5C-AF19-4A9C-89E1-7FF6EA1C87FF}" type="slidenum">
              <a:rPr lang="zh-CN" altLang="en-US"/>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00E6A9E-1FA8-477C-AE81-829551778346}"/>
              </a:ext>
            </a:extLst>
          </p:cNvPr>
          <p:cNvSpPr>
            <a:spLocks noGrp="1"/>
          </p:cNvSpPr>
          <p:nvPr>
            <p:ph type="hdr" sz="quarter"/>
          </p:nvPr>
        </p:nvSpPr>
        <p:spPr>
          <a:xfrm>
            <a:off x="0" y="0"/>
            <a:ext cx="3076575" cy="511175"/>
          </a:xfrm>
          <a:prstGeom prst="rect">
            <a:avLst/>
          </a:prstGeom>
        </p:spPr>
        <p:txBody>
          <a:bodyPr vert="horz" lIns="95445" tIns="47723" rIns="95445" bIns="47723" rtlCol="0"/>
          <a:lstStyle>
            <a:lvl1pPr algn="l" fontAlgn="auto">
              <a:spcBef>
                <a:spcPts val="0"/>
              </a:spcBef>
              <a:spcAft>
                <a:spcPts val="0"/>
              </a:spcAft>
              <a:defRPr sz="13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3A89A436-07AA-4022-BE60-FD8FB73B8B9A}"/>
              </a:ext>
            </a:extLst>
          </p:cNvPr>
          <p:cNvSpPr>
            <a:spLocks noGrp="1"/>
          </p:cNvSpPr>
          <p:nvPr>
            <p:ph type="dt" idx="1"/>
          </p:nvPr>
        </p:nvSpPr>
        <p:spPr>
          <a:xfrm>
            <a:off x="4021138" y="0"/>
            <a:ext cx="3076575" cy="511175"/>
          </a:xfrm>
          <a:prstGeom prst="rect">
            <a:avLst/>
          </a:prstGeom>
        </p:spPr>
        <p:txBody>
          <a:bodyPr vert="horz" lIns="95445" tIns="47723" rIns="95445" bIns="47723" rtlCol="0"/>
          <a:lstStyle>
            <a:lvl1pPr algn="r" fontAlgn="auto">
              <a:spcBef>
                <a:spcPts val="0"/>
              </a:spcBef>
              <a:spcAft>
                <a:spcPts val="0"/>
              </a:spcAft>
              <a:defRPr sz="1300">
                <a:latin typeface="+mn-lt"/>
                <a:ea typeface="+mn-ea"/>
              </a:defRPr>
            </a:lvl1pPr>
          </a:lstStyle>
          <a:p>
            <a:pPr>
              <a:defRPr/>
            </a:pPr>
            <a:fld id="{6D0F4DDF-C1EF-4F07-909D-B6A3D0A1DD12}" type="datetimeFigureOut">
              <a:rPr lang="zh-CN" altLang="en-US"/>
              <a:pPr>
                <a:defRPr/>
              </a:pPr>
              <a:t>2024/03/12</a:t>
            </a:fld>
            <a:endParaRPr lang="zh-CN" altLang="en-US"/>
          </a:p>
        </p:txBody>
      </p:sp>
      <p:sp>
        <p:nvSpPr>
          <p:cNvPr id="4" name="幻灯片图像占位符 3">
            <a:extLst>
              <a:ext uri="{FF2B5EF4-FFF2-40B4-BE49-F238E27FC236}">
                <a16:creationId xmlns:a16="http://schemas.microsoft.com/office/drawing/2014/main" id="{952B8744-80BE-4548-9EE6-69205A2CDCD7}"/>
              </a:ext>
            </a:extLst>
          </p:cNvPr>
          <p:cNvSpPr>
            <a:spLocks noGrp="1" noRot="1" noChangeAspect="1"/>
          </p:cNvSpPr>
          <p:nvPr>
            <p:ph type="sldImg" idx="2"/>
          </p:nvPr>
        </p:nvSpPr>
        <p:spPr>
          <a:xfrm>
            <a:off x="989013" y="766763"/>
            <a:ext cx="5121275" cy="3840162"/>
          </a:xfrm>
          <a:prstGeom prst="rect">
            <a:avLst/>
          </a:prstGeom>
          <a:noFill/>
          <a:ln w="12700">
            <a:solidFill>
              <a:prstClr val="black"/>
            </a:solidFill>
          </a:ln>
        </p:spPr>
        <p:txBody>
          <a:bodyPr vert="horz" lIns="95445" tIns="47723" rIns="95445" bIns="47723" rtlCol="0" anchor="ctr"/>
          <a:lstStyle/>
          <a:p>
            <a:pPr lvl="0"/>
            <a:endParaRPr lang="zh-CN" altLang="en-US" noProof="0"/>
          </a:p>
        </p:txBody>
      </p:sp>
      <p:sp>
        <p:nvSpPr>
          <p:cNvPr id="5" name="备注占位符 4">
            <a:extLst>
              <a:ext uri="{FF2B5EF4-FFF2-40B4-BE49-F238E27FC236}">
                <a16:creationId xmlns:a16="http://schemas.microsoft.com/office/drawing/2014/main" id="{0D151AD7-5382-4C45-9F56-FB90ECD0315F}"/>
              </a:ext>
            </a:extLst>
          </p:cNvPr>
          <p:cNvSpPr>
            <a:spLocks noGrp="1"/>
          </p:cNvSpPr>
          <p:nvPr>
            <p:ph type="body" sz="quarter" idx="3"/>
          </p:nvPr>
        </p:nvSpPr>
        <p:spPr>
          <a:xfrm>
            <a:off x="709613" y="4860925"/>
            <a:ext cx="5680075" cy="4605338"/>
          </a:xfrm>
          <a:prstGeom prst="rect">
            <a:avLst/>
          </a:prstGeom>
        </p:spPr>
        <p:txBody>
          <a:bodyPr vert="horz" lIns="95445" tIns="47723" rIns="95445" bIns="47723"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EB4E14DD-B672-41C9-A89D-253884BA64A1}"/>
              </a:ext>
            </a:extLst>
          </p:cNvPr>
          <p:cNvSpPr>
            <a:spLocks noGrp="1"/>
          </p:cNvSpPr>
          <p:nvPr>
            <p:ph type="ftr" sz="quarter" idx="4"/>
          </p:nvPr>
        </p:nvSpPr>
        <p:spPr>
          <a:xfrm>
            <a:off x="0" y="9721850"/>
            <a:ext cx="3076575" cy="511175"/>
          </a:xfrm>
          <a:prstGeom prst="rect">
            <a:avLst/>
          </a:prstGeom>
        </p:spPr>
        <p:txBody>
          <a:bodyPr vert="horz" lIns="95445" tIns="47723" rIns="95445" bIns="47723" rtlCol="0" anchor="b"/>
          <a:lstStyle>
            <a:lvl1pPr algn="l" fontAlgn="auto">
              <a:spcBef>
                <a:spcPts val="0"/>
              </a:spcBef>
              <a:spcAft>
                <a:spcPts val="0"/>
              </a:spcAft>
              <a:defRPr sz="13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37287098-E0B5-4E6B-8558-29161A438940}"/>
              </a:ext>
            </a:extLst>
          </p:cNvPr>
          <p:cNvSpPr>
            <a:spLocks noGrp="1"/>
          </p:cNvSpPr>
          <p:nvPr>
            <p:ph type="sldNum" sz="quarter" idx="5"/>
          </p:nvPr>
        </p:nvSpPr>
        <p:spPr>
          <a:xfrm>
            <a:off x="4021138" y="9721850"/>
            <a:ext cx="3076575" cy="511175"/>
          </a:xfrm>
          <a:prstGeom prst="rect">
            <a:avLst/>
          </a:prstGeom>
        </p:spPr>
        <p:txBody>
          <a:bodyPr vert="horz" wrap="square" lIns="95445" tIns="47723" rIns="95445" bIns="47723" numCol="1" anchor="b" anchorCtr="0" compatLnSpc="1">
            <a:prstTxWarp prst="textNoShape">
              <a:avLst/>
            </a:prstTxWarp>
          </a:bodyPr>
          <a:lstStyle>
            <a:lvl1pPr algn="r">
              <a:defRPr sz="1300">
                <a:latin typeface="Calibri" panose="020F0502020204030204" pitchFamily="34" charset="0"/>
              </a:defRPr>
            </a:lvl1pPr>
          </a:lstStyle>
          <a:p>
            <a:fld id="{818CF5E8-B237-44FC-96D0-8F52143EAE8F}" type="slidenum">
              <a:rPr lang="zh-CN" altLang="en-US"/>
              <a:pPr/>
              <a:t>‹#›</a:t>
            </a:fld>
            <a:endParaRPr lang="zh-CN" altLang="en-US"/>
          </a:p>
        </p:txBody>
      </p:sp>
    </p:spTree>
    <p:extLst>
      <p:ext uri="{BB962C8B-B14F-4D97-AF65-F5344CB8AC3E}">
        <p14:creationId xmlns:p14="http://schemas.microsoft.com/office/powerpoint/2010/main" val="34638410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a:extLst>
              <a:ext uri="{FF2B5EF4-FFF2-40B4-BE49-F238E27FC236}">
                <a16:creationId xmlns:a16="http://schemas.microsoft.com/office/drawing/2014/main" id="{45030551-041D-44C2-B21D-74E98F5C2B7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备注占位符 2">
            <a:extLst>
              <a:ext uri="{FF2B5EF4-FFF2-40B4-BE49-F238E27FC236}">
                <a16:creationId xmlns:a16="http://schemas.microsoft.com/office/drawing/2014/main" id="{2E54A623-D276-40C9-9B73-7F5A452EF28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a:t>离散时间单位脉冲序列的筛选性质</a:t>
            </a:r>
          </a:p>
        </p:txBody>
      </p:sp>
      <p:sp>
        <p:nvSpPr>
          <p:cNvPr id="4" name="灯片编号占位符 3">
            <a:extLst>
              <a:ext uri="{FF2B5EF4-FFF2-40B4-BE49-F238E27FC236}">
                <a16:creationId xmlns:a16="http://schemas.microsoft.com/office/drawing/2014/main" id="{D387DC6C-6B14-4716-BBE0-3D22E4D3F1FE}"/>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D54806B-0472-47C0-8B54-899CA7E3AFAA}" type="slidenum">
              <a:rPr lang="zh-CN" altLang="en-US">
                <a:latin typeface="Calibri" panose="020F0502020204030204" pitchFamily="34" charset="0"/>
              </a:rPr>
              <a:pPr eaLnBrk="1" hangingPunct="1"/>
              <a:t>5</a:t>
            </a:fld>
            <a:endParaRPr lang="zh-CN"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a:extLst>
              <a:ext uri="{FF2B5EF4-FFF2-40B4-BE49-F238E27FC236}">
                <a16:creationId xmlns:a16="http://schemas.microsoft.com/office/drawing/2014/main" id="{21270530-2DAD-4B2C-8329-A5CF1C8C65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备注占位符 2">
            <a:extLst>
              <a:ext uri="{FF2B5EF4-FFF2-40B4-BE49-F238E27FC236}">
                <a16:creationId xmlns:a16="http://schemas.microsoft.com/office/drawing/2014/main" id="{38778CB3-21F8-417C-90FC-D3B89095310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a:t>前一页说明任何信号与单位脉冲序列的卷积就是该信号本身。</a:t>
            </a:r>
          </a:p>
        </p:txBody>
      </p:sp>
      <p:sp>
        <p:nvSpPr>
          <p:cNvPr id="4" name="灯片编号占位符 3">
            <a:extLst>
              <a:ext uri="{FF2B5EF4-FFF2-40B4-BE49-F238E27FC236}">
                <a16:creationId xmlns:a16="http://schemas.microsoft.com/office/drawing/2014/main" id="{5AE15DB2-794A-4BD5-B460-31FADD158B99}"/>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5A36E2B-C70D-4C70-A6E9-D7DF1B842F2B}" type="slidenum">
              <a:rPr lang="zh-CN" altLang="en-US">
                <a:latin typeface="Calibri" panose="020F0502020204030204" pitchFamily="34" charset="0"/>
              </a:rPr>
              <a:pPr eaLnBrk="1" hangingPunct="1"/>
              <a:t>6</a:t>
            </a:fld>
            <a:endParaRPr lang="zh-CN" altLang="en-US">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a:extLst>
              <a:ext uri="{FF2B5EF4-FFF2-40B4-BE49-F238E27FC236}">
                <a16:creationId xmlns:a16="http://schemas.microsoft.com/office/drawing/2014/main" id="{21270530-2DAD-4B2C-8329-A5CF1C8C65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备注占位符 2">
            <a:extLst>
              <a:ext uri="{FF2B5EF4-FFF2-40B4-BE49-F238E27FC236}">
                <a16:creationId xmlns:a16="http://schemas.microsoft.com/office/drawing/2014/main" id="{38778CB3-21F8-417C-90FC-D3B89095310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a:t>前一页说明任何信号与单位脉冲序列的卷积就是该信号本身。</a:t>
            </a:r>
          </a:p>
        </p:txBody>
      </p:sp>
      <p:sp>
        <p:nvSpPr>
          <p:cNvPr id="4" name="灯片编号占位符 3">
            <a:extLst>
              <a:ext uri="{FF2B5EF4-FFF2-40B4-BE49-F238E27FC236}">
                <a16:creationId xmlns:a16="http://schemas.microsoft.com/office/drawing/2014/main" id="{5AE15DB2-794A-4BD5-B460-31FADD158B99}"/>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5A36E2B-C70D-4C70-A6E9-D7DF1B842F2B}" type="slidenum">
              <a:rPr lang="zh-CN" altLang="en-US">
                <a:latin typeface="Calibri" panose="020F0502020204030204" pitchFamily="34" charset="0"/>
              </a:rPr>
              <a:pPr eaLnBrk="1" hangingPunct="1"/>
              <a:t>7</a:t>
            </a:fld>
            <a:endParaRPr lang="zh-CN" altLang="en-US">
              <a:latin typeface="Calibri" panose="020F0502020204030204" pitchFamily="34" charset="0"/>
            </a:endParaRPr>
          </a:p>
        </p:txBody>
      </p:sp>
    </p:spTree>
    <p:extLst>
      <p:ext uri="{BB962C8B-B14F-4D97-AF65-F5344CB8AC3E}">
        <p14:creationId xmlns:p14="http://schemas.microsoft.com/office/powerpoint/2010/main" val="40198822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18CF5E8-B237-44FC-96D0-8F52143EAE8F}" type="slidenum">
              <a:rPr lang="zh-CN" altLang="en-US" smtClean="0"/>
              <a:pPr/>
              <a:t>9</a:t>
            </a:fld>
            <a:endParaRPr lang="zh-CN" altLang="en-US"/>
          </a:p>
        </p:txBody>
      </p:sp>
    </p:spTree>
    <p:extLst>
      <p:ext uri="{BB962C8B-B14F-4D97-AF65-F5344CB8AC3E}">
        <p14:creationId xmlns:p14="http://schemas.microsoft.com/office/powerpoint/2010/main" val="3674931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18CF5E8-B237-44FC-96D0-8F52143EAE8F}" type="slidenum">
              <a:rPr lang="zh-CN" altLang="en-US" smtClean="0"/>
              <a:pPr/>
              <a:t>24</a:t>
            </a:fld>
            <a:endParaRPr lang="zh-CN" altLang="en-US"/>
          </a:p>
        </p:txBody>
      </p:sp>
    </p:spTree>
    <p:extLst>
      <p:ext uri="{BB962C8B-B14F-4D97-AF65-F5344CB8AC3E}">
        <p14:creationId xmlns:p14="http://schemas.microsoft.com/office/powerpoint/2010/main" val="4205840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18CF5E8-B237-44FC-96D0-8F52143EAE8F}" type="slidenum">
              <a:rPr lang="zh-CN" altLang="en-US" smtClean="0"/>
              <a:pPr/>
              <a:t>25</a:t>
            </a:fld>
            <a:endParaRPr lang="zh-CN" altLang="en-US"/>
          </a:p>
        </p:txBody>
      </p:sp>
    </p:spTree>
    <p:extLst>
      <p:ext uri="{BB962C8B-B14F-4D97-AF65-F5344CB8AC3E}">
        <p14:creationId xmlns:p14="http://schemas.microsoft.com/office/powerpoint/2010/main" val="35571313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18CF5E8-B237-44FC-96D0-8F52143EAE8F}" type="slidenum">
              <a:rPr lang="zh-CN" altLang="en-US" smtClean="0"/>
              <a:pPr/>
              <a:t>48</a:t>
            </a:fld>
            <a:endParaRPr lang="zh-CN" altLang="en-US"/>
          </a:p>
        </p:txBody>
      </p:sp>
    </p:spTree>
    <p:extLst>
      <p:ext uri="{BB962C8B-B14F-4D97-AF65-F5344CB8AC3E}">
        <p14:creationId xmlns:p14="http://schemas.microsoft.com/office/powerpoint/2010/main" val="10779400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18CF5E8-B237-44FC-96D0-8F52143EAE8F}" type="slidenum">
              <a:rPr lang="zh-CN" altLang="en-US" smtClean="0"/>
              <a:pPr/>
              <a:t>52</a:t>
            </a:fld>
            <a:endParaRPr lang="zh-CN" altLang="en-US"/>
          </a:p>
        </p:txBody>
      </p:sp>
    </p:spTree>
    <p:extLst>
      <p:ext uri="{BB962C8B-B14F-4D97-AF65-F5344CB8AC3E}">
        <p14:creationId xmlns:p14="http://schemas.microsoft.com/office/powerpoint/2010/main" val="21373219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复习因果、初始松弛条件</a:t>
            </a:r>
            <a:endParaRPr lang="en-US" altLang="zh-CN" dirty="0" smtClean="0"/>
          </a:p>
          <a:p>
            <a:r>
              <a:rPr lang="zh-CN" altLang="en-US" dirty="0" smtClean="0"/>
              <a:t>通解、特解</a:t>
            </a:r>
            <a:endParaRPr lang="zh-CN" altLang="en-US" dirty="0"/>
          </a:p>
        </p:txBody>
      </p:sp>
      <p:sp>
        <p:nvSpPr>
          <p:cNvPr id="4" name="灯片编号占位符 3"/>
          <p:cNvSpPr>
            <a:spLocks noGrp="1"/>
          </p:cNvSpPr>
          <p:nvPr>
            <p:ph type="sldNum" sz="quarter" idx="10"/>
          </p:nvPr>
        </p:nvSpPr>
        <p:spPr/>
        <p:txBody>
          <a:bodyPr/>
          <a:lstStyle/>
          <a:p>
            <a:fld id="{818CF5E8-B237-44FC-96D0-8F52143EAE8F}" type="slidenum">
              <a:rPr lang="zh-CN" altLang="en-US" smtClean="0"/>
              <a:pPr/>
              <a:t>61</a:t>
            </a:fld>
            <a:endParaRPr lang="zh-CN" altLang="en-US"/>
          </a:p>
        </p:txBody>
      </p:sp>
    </p:spTree>
    <p:extLst>
      <p:ext uri="{BB962C8B-B14F-4D97-AF65-F5344CB8AC3E}">
        <p14:creationId xmlns:p14="http://schemas.microsoft.com/office/powerpoint/2010/main" val="30601906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18CF5E8-B237-44FC-96D0-8F52143EAE8F}" type="slidenum">
              <a:rPr lang="zh-CN" altLang="en-US" smtClean="0"/>
              <a:pPr/>
              <a:t>72</a:t>
            </a:fld>
            <a:endParaRPr lang="zh-CN" altLang="en-US"/>
          </a:p>
        </p:txBody>
      </p:sp>
    </p:spTree>
    <p:extLst>
      <p:ext uri="{BB962C8B-B14F-4D97-AF65-F5344CB8AC3E}">
        <p14:creationId xmlns:p14="http://schemas.microsoft.com/office/powerpoint/2010/main" val="3463779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18CF5E8-B237-44FC-96D0-8F52143EAE8F}" type="slidenum">
              <a:rPr lang="zh-CN" altLang="en-US" smtClean="0"/>
              <a:pPr/>
              <a:t>76</a:t>
            </a:fld>
            <a:endParaRPr lang="zh-CN" altLang="en-US"/>
          </a:p>
        </p:txBody>
      </p:sp>
    </p:spTree>
    <p:extLst>
      <p:ext uri="{BB962C8B-B14F-4D97-AF65-F5344CB8AC3E}">
        <p14:creationId xmlns:p14="http://schemas.microsoft.com/office/powerpoint/2010/main" val="37888554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818CF5E8-B237-44FC-96D0-8F52143EAE8F}" type="slidenum">
              <a:rPr lang="zh-CN" altLang="en-US" smtClean="0"/>
              <a:pPr/>
              <a:t>78</a:t>
            </a:fld>
            <a:endParaRPr lang="zh-CN" altLang="en-US"/>
          </a:p>
        </p:txBody>
      </p:sp>
    </p:spTree>
    <p:extLst>
      <p:ext uri="{BB962C8B-B14F-4D97-AF65-F5344CB8AC3E}">
        <p14:creationId xmlns:p14="http://schemas.microsoft.com/office/powerpoint/2010/main" val="32521384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3" descr="C:\Program Files\Microsoft Office\MEDIA\OFFICE12\Lines\BD15035_.gif">
            <a:extLst>
              <a:ext uri="{FF2B5EF4-FFF2-40B4-BE49-F238E27FC236}">
                <a16:creationId xmlns:a16="http://schemas.microsoft.com/office/drawing/2014/main" id="{27249F70-62F9-428D-9BC8-897D9EBCA88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19939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15035_.gif">
            <a:extLst>
              <a:ext uri="{FF2B5EF4-FFF2-40B4-BE49-F238E27FC236}">
                <a16:creationId xmlns:a16="http://schemas.microsoft.com/office/drawing/2014/main" id="{1DA0C85D-CF7E-44A2-8F5F-42EACF6F50C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34290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p:spPr>
        <p:txBody>
          <a:bodyPr/>
          <a:lstStyle>
            <a:lvl1pPr>
              <a:defRPr b="1" i="0" baseline="0">
                <a:latin typeface="Arial Black" pitchFamily="34" charset="0"/>
                <a:ea typeface="黑体" pitchFamily="49" charset="-122"/>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baseline="0">
                <a:solidFill>
                  <a:schemeClr val="tx1">
                    <a:tint val="75000"/>
                  </a:schemeClr>
                </a:solidFill>
                <a:latin typeface="Arial" pitchFamily="34" charset="0"/>
                <a:ea typeface="黑体"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6" name="日期占位符 3">
            <a:extLst>
              <a:ext uri="{FF2B5EF4-FFF2-40B4-BE49-F238E27FC236}">
                <a16:creationId xmlns:a16="http://schemas.microsoft.com/office/drawing/2014/main" id="{F2899882-DAF6-40DD-9701-C696457ADA44}"/>
              </a:ext>
            </a:extLst>
          </p:cNvPr>
          <p:cNvSpPr>
            <a:spLocks noGrp="1"/>
          </p:cNvSpPr>
          <p:nvPr>
            <p:ph type="dt" sz="half" idx="10"/>
          </p:nvPr>
        </p:nvSpPr>
        <p:spPr/>
        <p:txBody>
          <a:bodyPr/>
          <a:lstStyle>
            <a:lvl1pPr>
              <a:defRPr/>
            </a:lvl1pPr>
          </a:lstStyle>
          <a:p>
            <a:pPr>
              <a:defRPr/>
            </a:pPr>
            <a:fld id="{1B819544-EA46-4872-BD18-6F212B550B47}" type="datetime1">
              <a:rPr lang="zh-CN" altLang="en-US"/>
              <a:pPr>
                <a:defRPr/>
              </a:pPr>
              <a:t>2024/03/12</a:t>
            </a:fld>
            <a:endParaRPr lang="zh-CN" altLang="en-US"/>
          </a:p>
        </p:txBody>
      </p:sp>
      <p:sp>
        <p:nvSpPr>
          <p:cNvPr id="7" name="页脚占位符 4">
            <a:extLst>
              <a:ext uri="{FF2B5EF4-FFF2-40B4-BE49-F238E27FC236}">
                <a16:creationId xmlns:a16="http://schemas.microsoft.com/office/drawing/2014/main" id="{5227F44B-F259-4A80-B827-6203CF22BF2F}"/>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F14F9B6F-185F-4059-AD62-D76FF8B7B61E}"/>
              </a:ext>
            </a:extLst>
          </p:cNvPr>
          <p:cNvSpPr>
            <a:spLocks noGrp="1"/>
          </p:cNvSpPr>
          <p:nvPr>
            <p:ph type="sldNum" sz="quarter" idx="12"/>
          </p:nvPr>
        </p:nvSpPr>
        <p:spPr/>
        <p:txBody>
          <a:bodyPr/>
          <a:lstStyle>
            <a:lvl1pPr>
              <a:defRPr/>
            </a:lvl1pPr>
          </a:lstStyle>
          <a:p>
            <a:fld id="{D9D4D457-1D3F-4C76-B963-C6D8658D9E0A}" type="slidenum">
              <a:rPr lang="zh-CN" altLang="en-US"/>
              <a:pPr/>
              <a:t>‹#›</a:t>
            </a:fld>
            <a:endParaRPr lang="zh-CN" altLang="en-US"/>
          </a:p>
        </p:txBody>
      </p:sp>
    </p:spTree>
    <p:extLst>
      <p:ext uri="{BB962C8B-B14F-4D97-AF65-F5344CB8AC3E}">
        <p14:creationId xmlns:p14="http://schemas.microsoft.com/office/powerpoint/2010/main" val="33401006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BD649FDC-7634-4636-9958-F2DAB63C1C0C}"/>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7CB808CA-DB75-4655-8397-01BA2B97A179}"/>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b="1" i="0" baseline="0">
                <a:latin typeface="Times New Roman" pitchFamily="18" charset="0"/>
                <a:ea typeface="华文楷体" pitchFamily="2" charset="-122"/>
              </a:defRPr>
            </a:lvl1pPr>
            <a:lvl2pPr>
              <a:defRPr b="1" i="0" baseline="0">
                <a:latin typeface="Times New Roman" pitchFamily="18" charset="0"/>
                <a:ea typeface="华文楷体" pitchFamily="2" charset="-122"/>
              </a:defRPr>
            </a:lvl2pPr>
            <a:lvl3pPr>
              <a:defRPr b="1" i="0" baseline="0">
                <a:latin typeface="Times New Roman" pitchFamily="18" charset="0"/>
                <a:ea typeface="华文楷体" pitchFamily="2" charset="-122"/>
              </a:defRPr>
            </a:lvl3pPr>
            <a:lvl4pPr>
              <a:defRPr b="1" i="0" baseline="0">
                <a:latin typeface="Times New Roman" pitchFamily="18" charset="0"/>
                <a:ea typeface="华文楷体" pitchFamily="2" charset="-122"/>
              </a:defRPr>
            </a:lvl4pPr>
            <a:lvl5pPr>
              <a:defRPr b="1" i="0" baseline="0">
                <a:latin typeface="Times New Roman" pitchFamily="18" charset="0"/>
                <a:ea typeface="华文楷体"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日期占位符 3">
            <a:extLst>
              <a:ext uri="{FF2B5EF4-FFF2-40B4-BE49-F238E27FC236}">
                <a16:creationId xmlns:a16="http://schemas.microsoft.com/office/drawing/2014/main" id="{5D5D4FB4-A0EC-452D-8382-99DAF2AFC04D}"/>
              </a:ext>
            </a:extLst>
          </p:cNvPr>
          <p:cNvSpPr>
            <a:spLocks noGrp="1"/>
          </p:cNvSpPr>
          <p:nvPr>
            <p:ph type="dt" sz="half" idx="10"/>
          </p:nvPr>
        </p:nvSpPr>
        <p:spPr/>
        <p:txBody>
          <a:bodyPr/>
          <a:lstStyle>
            <a:lvl1pPr>
              <a:defRPr/>
            </a:lvl1pPr>
          </a:lstStyle>
          <a:p>
            <a:pPr>
              <a:defRPr/>
            </a:pPr>
            <a:fld id="{893ABC4A-D381-4AA8-8506-2B8365D1DEAA}" type="datetime1">
              <a:rPr lang="zh-CN" altLang="en-US"/>
              <a:pPr>
                <a:defRPr/>
              </a:pPr>
              <a:t>2024/03/12</a:t>
            </a:fld>
            <a:endParaRPr lang="zh-CN" altLang="en-US"/>
          </a:p>
        </p:txBody>
      </p:sp>
      <p:sp>
        <p:nvSpPr>
          <p:cNvPr id="7" name="页脚占位符 4">
            <a:extLst>
              <a:ext uri="{FF2B5EF4-FFF2-40B4-BE49-F238E27FC236}">
                <a16:creationId xmlns:a16="http://schemas.microsoft.com/office/drawing/2014/main" id="{4273A6EA-397A-4468-98DF-69C14B9A2011}"/>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95B942D2-EB5C-4761-9832-6475B8900FB0}"/>
              </a:ext>
            </a:extLst>
          </p:cNvPr>
          <p:cNvSpPr>
            <a:spLocks noGrp="1"/>
          </p:cNvSpPr>
          <p:nvPr>
            <p:ph type="sldNum" sz="quarter" idx="12"/>
          </p:nvPr>
        </p:nvSpPr>
        <p:spPr/>
        <p:txBody>
          <a:bodyPr/>
          <a:lstStyle>
            <a:lvl1pPr>
              <a:defRPr/>
            </a:lvl1pPr>
          </a:lstStyle>
          <a:p>
            <a:fld id="{090FEBD5-88BC-434B-995F-87D7B61F486F}" type="slidenum">
              <a:rPr lang="zh-CN" altLang="en-US"/>
              <a:pPr/>
              <a:t>‹#›</a:t>
            </a:fld>
            <a:endParaRPr lang="zh-CN" altLang="en-US"/>
          </a:p>
        </p:txBody>
      </p:sp>
    </p:spTree>
    <p:extLst>
      <p:ext uri="{BB962C8B-B14F-4D97-AF65-F5344CB8AC3E}">
        <p14:creationId xmlns:p14="http://schemas.microsoft.com/office/powerpoint/2010/main" val="1704734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9FDA1A0-D9B8-4974-B630-AE8284981A47}"/>
              </a:ext>
            </a:extLst>
          </p:cNvPr>
          <p:cNvSpPr>
            <a:spLocks noGrp="1"/>
          </p:cNvSpPr>
          <p:nvPr>
            <p:ph type="dt" sz="half" idx="10"/>
          </p:nvPr>
        </p:nvSpPr>
        <p:spPr/>
        <p:txBody>
          <a:bodyPr/>
          <a:lstStyle>
            <a:lvl1pPr>
              <a:defRPr/>
            </a:lvl1pPr>
          </a:lstStyle>
          <a:p>
            <a:pPr>
              <a:defRPr/>
            </a:pPr>
            <a:fld id="{7E97AB73-BFA4-4BEA-89AA-C0F552D669FD}" type="datetime1">
              <a:rPr lang="zh-CN" altLang="en-US"/>
              <a:pPr>
                <a:defRPr/>
              </a:pPr>
              <a:t>2024/03/12</a:t>
            </a:fld>
            <a:endParaRPr lang="zh-CN" altLang="en-US" dirty="0"/>
          </a:p>
        </p:txBody>
      </p:sp>
      <p:sp>
        <p:nvSpPr>
          <p:cNvPr id="5" name="页脚占位符 4">
            <a:extLst>
              <a:ext uri="{FF2B5EF4-FFF2-40B4-BE49-F238E27FC236}">
                <a16:creationId xmlns:a16="http://schemas.microsoft.com/office/drawing/2014/main" id="{B8634339-490A-4830-A59D-9AEE1FDE1E2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723421DA-44AC-498D-B4A9-446328ACAAC0}"/>
              </a:ext>
            </a:extLst>
          </p:cNvPr>
          <p:cNvSpPr>
            <a:spLocks noGrp="1"/>
          </p:cNvSpPr>
          <p:nvPr>
            <p:ph type="sldNum" sz="quarter" idx="12"/>
          </p:nvPr>
        </p:nvSpPr>
        <p:spPr/>
        <p:txBody>
          <a:bodyPr/>
          <a:lstStyle>
            <a:lvl1pPr>
              <a:defRPr/>
            </a:lvl1pPr>
          </a:lstStyle>
          <a:p>
            <a:fld id="{D86DDB32-BACB-4CD1-B888-AED0216BB871}" type="slidenum">
              <a:rPr lang="zh-CN" altLang="en-US"/>
              <a:pPr/>
              <a:t>‹#›</a:t>
            </a:fld>
            <a:endParaRPr lang="zh-CN" altLang="en-US"/>
          </a:p>
        </p:txBody>
      </p:sp>
    </p:spTree>
    <p:extLst>
      <p:ext uri="{BB962C8B-B14F-4D97-AF65-F5344CB8AC3E}">
        <p14:creationId xmlns:p14="http://schemas.microsoft.com/office/powerpoint/2010/main" val="2140206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5" name="Picture 5" descr="C:\Program Files\Microsoft Office\MEDIA\OFFICE12\Lines\BD21427_.gif">
            <a:extLst>
              <a:ext uri="{FF2B5EF4-FFF2-40B4-BE49-F238E27FC236}">
                <a16:creationId xmlns:a16="http://schemas.microsoft.com/office/drawing/2014/main" id="{1539D6C4-24E7-490F-A5FD-64617F9DB25C}"/>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23938"/>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C:\Program Files\Microsoft Office\MEDIA\OFFICE12\Lines\BD21390_.gif">
            <a:extLst>
              <a:ext uri="{FF2B5EF4-FFF2-40B4-BE49-F238E27FC236}">
                <a16:creationId xmlns:a16="http://schemas.microsoft.com/office/drawing/2014/main" id="{3A9B7DC8-72C3-4B59-8DBD-F30C01F09044}"/>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i="0"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sz="half" idx="1"/>
          </p:nvPr>
        </p:nvSpPr>
        <p:spPr>
          <a:xfrm>
            <a:off x="457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4">
            <a:extLst>
              <a:ext uri="{FF2B5EF4-FFF2-40B4-BE49-F238E27FC236}">
                <a16:creationId xmlns:a16="http://schemas.microsoft.com/office/drawing/2014/main" id="{7AF114BA-E8A8-44BF-AA8D-414E72590BFF}"/>
              </a:ext>
            </a:extLst>
          </p:cNvPr>
          <p:cNvSpPr>
            <a:spLocks noGrp="1"/>
          </p:cNvSpPr>
          <p:nvPr>
            <p:ph type="dt" sz="half" idx="10"/>
          </p:nvPr>
        </p:nvSpPr>
        <p:spPr/>
        <p:txBody>
          <a:bodyPr/>
          <a:lstStyle>
            <a:lvl1pPr>
              <a:defRPr/>
            </a:lvl1pPr>
          </a:lstStyle>
          <a:p>
            <a:pPr>
              <a:defRPr/>
            </a:pPr>
            <a:fld id="{1E37D120-58C1-4AD7-9491-F2976A6BD7A0}" type="datetime1">
              <a:rPr lang="zh-CN" altLang="en-US"/>
              <a:pPr>
                <a:defRPr/>
              </a:pPr>
              <a:t>2024/03/12</a:t>
            </a:fld>
            <a:endParaRPr lang="zh-CN" altLang="en-US"/>
          </a:p>
        </p:txBody>
      </p:sp>
      <p:sp>
        <p:nvSpPr>
          <p:cNvPr id="8" name="页脚占位符 5">
            <a:extLst>
              <a:ext uri="{FF2B5EF4-FFF2-40B4-BE49-F238E27FC236}">
                <a16:creationId xmlns:a16="http://schemas.microsoft.com/office/drawing/2014/main" id="{7AA73FAD-5130-4362-860B-8CEE4F4F19B3}"/>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6">
            <a:extLst>
              <a:ext uri="{FF2B5EF4-FFF2-40B4-BE49-F238E27FC236}">
                <a16:creationId xmlns:a16="http://schemas.microsoft.com/office/drawing/2014/main" id="{1E4C683D-45CB-4826-A809-00AA7C80CF92}"/>
              </a:ext>
            </a:extLst>
          </p:cNvPr>
          <p:cNvSpPr>
            <a:spLocks noGrp="1"/>
          </p:cNvSpPr>
          <p:nvPr>
            <p:ph type="sldNum" sz="quarter" idx="12"/>
          </p:nvPr>
        </p:nvSpPr>
        <p:spPr/>
        <p:txBody>
          <a:bodyPr/>
          <a:lstStyle>
            <a:lvl1pPr>
              <a:defRPr/>
            </a:lvl1pPr>
          </a:lstStyle>
          <a:p>
            <a:fld id="{EEA6C92A-23A3-45F0-9102-158DDE623008}" type="slidenum">
              <a:rPr lang="zh-CN" altLang="en-US"/>
              <a:pPr/>
              <a:t>‹#›</a:t>
            </a:fld>
            <a:endParaRPr lang="zh-CN" altLang="en-US"/>
          </a:p>
        </p:txBody>
      </p:sp>
    </p:spTree>
    <p:extLst>
      <p:ext uri="{BB962C8B-B14F-4D97-AF65-F5344CB8AC3E}">
        <p14:creationId xmlns:p14="http://schemas.microsoft.com/office/powerpoint/2010/main" val="1263666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7" name="Picture 5" descr="C:\Program Files\Microsoft Office\MEDIA\OFFICE12\Lines\BD21427_.gif">
            <a:extLst>
              <a:ext uri="{FF2B5EF4-FFF2-40B4-BE49-F238E27FC236}">
                <a16:creationId xmlns:a16="http://schemas.microsoft.com/office/drawing/2014/main" id="{DCB4A3D6-19A2-477F-9ECD-D6ED45DA07A0}"/>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C:\Program Files\Microsoft Office\MEDIA\OFFICE12\Lines\BD21390_.gif">
            <a:extLst>
              <a:ext uri="{FF2B5EF4-FFF2-40B4-BE49-F238E27FC236}">
                <a16:creationId xmlns:a16="http://schemas.microsoft.com/office/drawing/2014/main" id="{FAFFE528-3FC9-4C45-BF3D-50B6A1FE55CB}"/>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4298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1785926"/>
            <a:ext cx="4040188"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5" y="114298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45025" y="1785926"/>
            <a:ext cx="4041775"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日期占位符 6">
            <a:extLst>
              <a:ext uri="{FF2B5EF4-FFF2-40B4-BE49-F238E27FC236}">
                <a16:creationId xmlns:a16="http://schemas.microsoft.com/office/drawing/2014/main" id="{EA0B0AE1-BA8E-4B4A-BC12-D76FFC81FB61}"/>
              </a:ext>
            </a:extLst>
          </p:cNvPr>
          <p:cNvSpPr>
            <a:spLocks noGrp="1"/>
          </p:cNvSpPr>
          <p:nvPr>
            <p:ph type="dt" sz="half" idx="10"/>
          </p:nvPr>
        </p:nvSpPr>
        <p:spPr/>
        <p:txBody>
          <a:bodyPr/>
          <a:lstStyle>
            <a:lvl1pPr>
              <a:defRPr/>
            </a:lvl1pPr>
          </a:lstStyle>
          <a:p>
            <a:pPr>
              <a:defRPr/>
            </a:pPr>
            <a:fld id="{2030E8DD-5B4C-4F60-BF28-167F3711619E}" type="datetime1">
              <a:rPr lang="zh-CN" altLang="en-US"/>
              <a:pPr>
                <a:defRPr/>
              </a:pPr>
              <a:t>2024/03/12</a:t>
            </a:fld>
            <a:endParaRPr lang="zh-CN" altLang="en-US"/>
          </a:p>
        </p:txBody>
      </p:sp>
      <p:sp>
        <p:nvSpPr>
          <p:cNvPr id="10" name="页脚占位符 7">
            <a:extLst>
              <a:ext uri="{FF2B5EF4-FFF2-40B4-BE49-F238E27FC236}">
                <a16:creationId xmlns:a16="http://schemas.microsoft.com/office/drawing/2014/main" id="{3CCD7E0E-95B0-4470-8932-07AE6722766B}"/>
              </a:ext>
            </a:extLst>
          </p:cNvPr>
          <p:cNvSpPr>
            <a:spLocks noGrp="1"/>
          </p:cNvSpPr>
          <p:nvPr>
            <p:ph type="ftr" sz="quarter" idx="11"/>
          </p:nvPr>
        </p:nvSpPr>
        <p:spPr/>
        <p:txBody>
          <a:bodyPr/>
          <a:lstStyle>
            <a:lvl1pPr>
              <a:defRPr/>
            </a:lvl1pPr>
          </a:lstStyle>
          <a:p>
            <a:pPr>
              <a:defRPr/>
            </a:pPr>
            <a:endParaRPr lang="zh-CN" altLang="en-US"/>
          </a:p>
        </p:txBody>
      </p:sp>
      <p:sp>
        <p:nvSpPr>
          <p:cNvPr id="11" name="灯片编号占位符 8">
            <a:extLst>
              <a:ext uri="{FF2B5EF4-FFF2-40B4-BE49-F238E27FC236}">
                <a16:creationId xmlns:a16="http://schemas.microsoft.com/office/drawing/2014/main" id="{BEBDFDEB-1555-4E1E-BDE5-EAAE6FFBD2EB}"/>
              </a:ext>
            </a:extLst>
          </p:cNvPr>
          <p:cNvSpPr>
            <a:spLocks noGrp="1"/>
          </p:cNvSpPr>
          <p:nvPr>
            <p:ph type="sldNum" sz="quarter" idx="12"/>
          </p:nvPr>
        </p:nvSpPr>
        <p:spPr/>
        <p:txBody>
          <a:bodyPr/>
          <a:lstStyle>
            <a:lvl1pPr>
              <a:defRPr/>
            </a:lvl1pPr>
          </a:lstStyle>
          <a:p>
            <a:fld id="{08B1C15B-CDC3-4F85-9DBE-A1A19B54544D}" type="slidenum">
              <a:rPr lang="zh-CN" altLang="en-US"/>
              <a:pPr/>
              <a:t>‹#›</a:t>
            </a:fld>
            <a:endParaRPr lang="zh-CN" altLang="en-US"/>
          </a:p>
        </p:txBody>
      </p:sp>
    </p:spTree>
    <p:extLst>
      <p:ext uri="{BB962C8B-B14F-4D97-AF65-F5344CB8AC3E}">
        <p14:creationId xmlns:p14="http://schemas.microsoft.com/office/powerpoint/2010/main" val="2313334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3" name="Picture 5" descr="C:\Program Files\Microsoft Office\MEDIA\OFFICE12\Lines\BD21427_.gif">
            <a:extLst>
              <a:ext uri="{FF2B5EF4-FFF2-40B4-BE49-F238E27FC236}">
                <a16:creationId xmlns:a16="http://schemas.microsoft.com/office/drawing/2014/main" id="{18ADAFB8-647E-4EE7-B35C-B4E28A270E14}"/>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C:\Program Files\Microsoft Office\MEDIA\OFFICE12\Lines\BD21390_.gif">
            <a:extLst>
              <a:ext uri="{FF2B5EF4-FFF2-40B4-BE49-F238E27FC236}">
                <a16:creationId xmlns:a16="http://schemas.microsoft.com/office/drawing/2014/main" id="{6C13FFDD-B2FE-41DD-ABEE-8D91B0C0DAEE}"/>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5" name="日期占位符 2">
            <a:extLst>
              <a:ext uri="{FF2B5EF4-FFF2-40B4-BE49-F238E27FC236}">
                <a16:creationId xmlns:a16="http://schemas.microsoft.com/office/drawing/2014/main" id="{4160974A-45A7-48A5-9114-0D398A7F6CDC}"/>
              </a:ext>
            </a:extLst>
          </p:cNvPr>
          <p:cNvSpPr>
            <a:spLocks noGrp="1"/>
          </p:cNvSpPr>
          <p:nvPr>
            <p:ph type="dt" sz="half" idx="10"/>
          </p:nvPr>
        </p:nvSpPr>
        <p:spPr/>
        <p:txBody>
          <a:bodyPr/>
          <a:lstStyle>
            <a:lvl1pPr>
              <a:defRPr/>
            </a:lvl1pPr>
          </a:lstStyle>
          <a:p>
            <a:pPr>
              <a:defRPr/>
            </a:pPr>
            <a:fld id="{97BE1FD5-A03D-4740-BD46-18F1C3830475}" type="datetime1">
              <a:rPr lang="zh-CN" altLang="en-US"/>
              <a:pPr>
                <a:defRPr/>
              </a:pPr>
              <a:t>2024/03/12</a:t>
            </a:fld>
            <a:endParaRPr lang="zh-CN" altLang="en-US"/>
          </a:p>
        </p:txBody>
      </p:sp>
      <p:sp>
        <p:nvSpPr>
          <p:cNvPr id="6" name="页脚占位符 3">
            <a:extLst>
              <a:ext uri="{FF2B5EF4-FFF2-40B4-BE49-F238E27FC236}">
                <a16:creationId xmlns:a16="http://schemas.microsoft.com/office/drawing/2014/main" id="{C4F22310-81FD-448E-B69F-CEE65D7A7083}"/>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4">
            <a:extLst>
              <a:ext uri="{FF2B5EF4-FFF2-40B4-BE49-F238E27FC236}">
                <a16:creationId xmlns:a16="http://schemas.microsoft.com/office/drawing/2014/main" id="{942CA155-88A7-4F9A-B1E3-9489850410C7}"/>
              </a:ext>
            </a:extLst>
          </p:cNvPr>
          <p:cNvSpPr>
            <a:spLocks noGrp="1"/>
          </p:cNvSpPr>
          <p:nvPr>
            <p:ph type="sldNum" sz="quarter" idx="12"/>
          </p:nvPr>
        </p:nvSpPr>
        <p:spPr/>
        <p:txBody>
          <a:bodyPr/>
          <a:lstStyle>
            <a:lvl1pPr>
              <a:defRPr/>
            </a:lvl1pPr>
          </a:lstStyle>
          <a:p>
            <a:fld id="{B7FB9A15-DCA5-454E-9903-73208F95A08E}" type="slidenum">
              <a:rPr lang="zh-CN" altLang="en-US"/>
              <a:pPr/>
              <a:t>‹#›</a:t>
            </a:fld>
            <a:endParaRPr lang="zh-CN" altLang="en-US"/>
          </a:p>
        </p:txBody>
      </p:sp>
    </p:spTree>
    <p:extLst>
      <p:ext uri="{BB962C8B-B14F-4D97-AF65-F5344CB8AC3E}">
        <p14:creationId xmlns:p14="http://schemas.microsoft.com/office/powerpoint/2010/main" val="611150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3AA19DC6-F08D-4204-9882-B550053D687A}"/>
              </a:ext>
            </a:extLst>
          </p:cNvPr>
          <p:cNvSpPr>
            <a:spLocks noGrp="1"/>
          </p:cNvSpPr>
          <p:nvPr>
            <p:ph type="dt" sz="half" idx="10"/>
          </p:nvPr>
        </p:nvSpPr>
        <p:spPr/>
        <p:txBody>
          <a:bodyPr/>
          <a:lstStyle>
            <a:lvl1pPr>
              <a:defRPr/>
            </a:lvl1pPr>
          </a:lstStyle>
          <a:p>
            <a:pPr>
              <a:defRPr/>
            </a:pPr>
            <a:fld id="{9C1D4D99-C537-41D4-A5EF-EB72C44CF443}" type="datetime1">
              <a:rPr lang="zh-CN" altLang="en-US"/>
              <a:pPr>
                <a:defRPr/>
              </a:pPr>
              <a:t>2024/03/12</a:t>
            </a:fld>
            <a:endParaRPr lang="zh-CN" altLang="en-US" dirty="0"/>
          </a:p>
        </p:txBody>
      </p:sp>
      <p:sp>
        <p:nvSpPr>
          <p:cNvPr id="3" name="页脚占位符 4">
            <a:extLst>
              <a:ext uri="{FF2B5EF4-FFF2-40B4-BE49-F238E27FC236}">
                <a16:creationId xmlns:a16="http://schemas.microsoft.com/office/drawing/2014/main" id="{3BC707B9-D8C7-429A-89A1-FF3E021C56DA}"/>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6CA40FA8-169B-495D-869D-C727FC35D039}"/>
              </a:ext>
            </a:extLst>
          </p:cNvPr>
          <p:cNvSpPr>
            <a:spLocks noGrp="1"/>
          </p:cNvSpPr>
          <p:nvPr>
            <p:ph type="sldNum" sz="quarter" idx="12"/>
          </p:nvPr>
        </p:nvSpPr>
        <p:spPr/>
        <p:txBody>
          <a:bodyPr/>
          <a:lstStyle>
            <a:lvl1pPr>
              <a:defRPr/>
            </a:lvl1pPr>
          </a:lstStyle>
          <a:p>
            <a:fld id="{8AEF91A5-83CD-45D1-AC71-7F4C49023E2B}" type="slidenum">
              <a:rPr lang="zh-CN" altLang="en-US"/>
              <a:pPr/>
              <a:t>‹#›</a:t>
            </a:fld>
            <a:endParaRPr lang="zh-CN" altLang="en-US"/>
          </a:p>
        </p:txBody>
      </p:sp>
    </p:spTree>
    <p:extLst>
      <p:ext uri="{BB962C8B-B14F-4D97-AF65-F5344CB8AC3E}">
        <p14:creationId xmlns:p14="http://schemas.microsoft.com/office/powerpoint/2010/main" val="1394890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AEAE16B1-7C30-4973-B3DD-E05B87B01CEF}"/>
              </a:ext>
            </a:extLst>
          </p:cNvPr>
          <p:cNvSpPr>
            <a:spLocks noGrp="1"/>
          </p:cNvSpPr>
          <p:nvPr>
            <p:ph type="dt" sz="half" idx="10"/>
          </p:nvPr>
        </p:nvSpPr>
        <p:spPr/>
        <p:txBody>
          <a:bodyPr/>
          <a:lstStyle>
            <a:lvl1pPr>
              <a:defRPr/>
            </a:lvl1pPr>
          </a:lstStyle>
          <a:p>
            <a:pPr>
              <a:defRPr/>
            </a:pPr>
            <a:fld id="{200C0FCC-1762-403B-86FA-CB48B7C467F4}" type="datetime1">
              <a:rPr lang="zh-CN" altLang="en-US"/>
              <a:pPr>
                <a:defRPr/>
              </a:pPr>
              <a:t>2024/03/12</a:t>
            </a:fld>
            <a:endParaRPr lang="zh-CN" altLang="en-US" dirty="0"/>
          </a:p>
        </p:txBody>
      </p:sp>
      <p:sp>
        <p:nvSpPr>
          <p:cNvPr id="6" name="页脚占位符 4">
            <a:extLst>
              <a:ext uri="{FF2B5EF4-FFF2-40B4-BE49-F238E27FC236}">
                <a16:creationId xmlns:a16="http://schemas.microsoft.com/office/drawing/2014/main" id="{4196CC5C-EDF5-45E8-8075-FF983B3FC7D2}"/>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3B106EB1-8B8E-4DA4-88EF-0ADA14FA51E5}"/>
              </a:ext>
            </a:extLst>
          </p:cNvPr>
          <p:cNvSpPr>
            <a:spLocks noGrp="1"/>
          </p:cNvSpPr>
          <p:nvPr>
            <p:ph type="sldNum" sz="quarter" idx="12"/>
          </p:nvPr>
        </p:nvSpPr>
        <p:spPr/>
        <p:txBody>
          <a:bodyPr/>
          <a:lstStyle>
            <a:lvl1pPr>
              <a:defRPr/>
            </a:lvl1pPr>
          </a:lstStyle>
          <a:p>
            <a:fld id="{E95B690A-8773-4199-97F8-7467BE874FC8}" type="slidenum">
              <a:rPr lang="zh-CN" altLang="en-US"/>
              <a:pPr/>
              <a:t>‹#›</a:t>
            </a:fld>
            <a:endParaRPr lang="zh-CN" altLang="en-US"/>
          </a:p>
        </p:txBody>
      </p:sp>
    </p:spTree>
    <p:extLst>
      <p:ext uri="{BB962C8B-B14F-4D97-AF65-F5344CB8AC3E}">
        <p14:creationId xmlns:p14="http://schemas.microsoft.com/office/powerpoint/2010/main" val="3214442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CCFFE436-E2B1-403E-9516-DE72C7EB9B2E}"/>
              </a:ext>
            </a:extLst>
          </p:cNvPr>
          <p:cNvSpPr>
            <a:spLocks noGrp="1"/>
          </p:cNvSpPr>
          <p:nvPr>
            <p:ph type="dt" sz="half" idx="10"/>
          </p:nvPr>
        </p:nvSpPr>
        <p:spPr/>
        <p:txBody>
          <a:bodyPr/>
          <a:lstStyle>
            <a:lvl1pPr>
              <a:defRPr/>
            </a:lvl1pPr>
          </a:lstStyle>
          <a:p>
            <a:pPr>
              <a:defRPr/>
            </a:pPr>
            <a:fld id="{96D5967F-7F6F-4CC8-B2D3-9C28CEB4EC0C}" type="datetime1">
              <a:rPr lang="zh-CN" altLang="en-US"/>
              <a:pPr>
                <a:defRPr/>
              </a:pPr>
              <a:t>2024/03/12</a:t>
            </a:fld>
            <a:endParaRPr lang="zh-CN" altLang="en-US" dirty="0"/>
          </a:p>
        </p:txBody>
      </p:sp>
      <p:sp>
        <p:nvSpPr>
          <p:cNvPr id="6" name="页脚占位符 4">
            <a:extLst>
              <a:ext uri="{FF2B5EF4-FFF2-40B4-BE49-F238E27FC236}">
                <a16:creationId xmlns:a16="http://schemas.microsoft.com/office/drawing/2014/main" id="{22EBD710-D176-45EE-9959-58C46FBA39D2}"/>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A8C428E1-59D7-4AD6-A018-40E290F773A6}"/>
              </a:ext>
            </a:extLst>
          </p:cNvPr>
          <p:cNvSpPr>
            <a:spLocks noGrp="1"/>
          </p:cNvSpPr>
          <p:nvPr>
            <p:ph type="sldNum" sz="quarter" idx="12"/>
          </p:nvPr>
        </p:nvSpPr>
        <p:spPr/>
        <p:txBody>
          <a:bodyPr/>
          <a:lstStyle>
            <a:lvl1pPr>
              <a:defRPr/>
            </a:lvl1pPr>
          </a:lstStyle>
          <a:p>
            <a:fld id="{441E0FAC-F855-4C1A-AB4D-5D73E38193DF}" type="slidenum">
              <a:rPr lang="zh-CN" altLang="en-US"/>
              <a:pPr/>
              <a:t>‹#›</a:t>
            </a:fld>
            <a:endParaRPr lang="zh-CN" altLang="en-US"/>
          </a:p>
        </p:txBody>
      </p:sp>
    </p:spTree>
    <p:extLst>
      <p:ext uri="{BB962C8B-B14F-4D97-AF65-F5344CB8AC3E}">
        <p14:creationId xmlns:p14="http://schemas.microsoft.com/office/powerpoint/2010/main" val="3139963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E4C0D8F4-0E78-40FF-B457-754C70B5A733}"/>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665763F5-2C27-4E67-B06E-0DC59DEE332B}"/>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14422"/>
            <a:ext cx="8229600" cy="491174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3">
            <a:extLst>
              <a:ext uri="{FF2B5EF4-FFF2-40B4-BE49-F238E27FC236}">
                <a16:creationId xmlns:a16="http://schemas.microsoft.com/office/drawing/2014/main" id="{53858358-BDF1-4F30-8131-DFAB47B8CF79}"/>
              </a:ext>
            </a:extLst>
          </p:cNvPr>
          <p:cNvSpPr>
            <a:spLocks noGrp="1"/>
          </p:cNvSpPr>
          <p:nvPr>
            <p:ph type="dt" sz="half" idx="10"/>
          </p:nvPr>
        </p:nvSpPr>
        <p:spPr/>
        <p:txBody>
          <a:bodyPr/>
          <a:lstStyle>
            <a:lvl1pPr>
              <a:defRPr/>
            </a:lvl1pPr>
          </a:lstStyle>
          <a:p>
            <a:pPr>
              <a:defRPr/>
            </a:pPr>
            <a:fld id="{F937A3FB-F791-467C-87F4-930EAD983F31}" type="datetime1">
              <a:rPr lang="zh-CN" altLang="en-US"/>
              <a:pPr>
                <a:defRPr/>
              </a:pPr>
              <a:t>2024/03/12</a:t>
            </a:fld>
            <a:endParaRPr lang="zh-CN" altLang="en-US"/>
          </a:p>
        </p:txBody>
      </p:sp>
      <p:sp>
        <p:nvSpPr>
          <p:cNvPr id="7" name="页脚占位符 4">
            <a:extLst>
              <a:ext uri="{FF2B5EF4-FFF2-40B4-BE49-F238E27FC236}">
                <a16:creationId xmlns:a16="http://schemas.microsoft.com/office/drawing/2014/main" id="{49A0C3F7-9365-4275-9ABE-A82596C942CC}"/>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F50785F5-C3A5-4BCA-A0BC-9AA063160340}"/>
              </a:ext>
            </a:extLst>
          </p:cNvPr>
          <p:cNvSpPr>
            <a:spLocks noGrp="1"/>
          </p:cNvSpPr>
          <p:nvPr>
            <p:ph type="sldNum" sz="quarter" idx="12"/>
          </p:nvPr>
        </p:nvSpPr>
        <p:spPr/>
        <p:txBody>
          <a:bodyPr/>
          <a:lstStyle>
            <a:lvl1pPr>
              <a:defRPr/>
            </a:lvl1pPr>
          </a:lstStyle>
          <a:p>
            <a:fld id="{197C078B-31DF-4D91-82AF-C76911FBA05E}" type="slidenum">
              <a:rPr lang="zh-CN" altLang="en-US"/>
              <a:pPr/>
              <a:t>‹#›</a:t>
            </a:fld>
            <a:endParaRPr lang="zh-CN" altLang="en-US"/>
          </a:p>
        </p:txBody>
      </p:sp>
    </p:spTree>
    <p:extLst>
      <p:ext uri="{BB962C8B-B14F-4D97-AF65-F5344CB8AC3E}">
        <p14:creationId xmlns:p14="http://schemas.microsoft.com/office/powerpoint/2010/main" val="3740870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B9E1A98-048D-4B02-94CC-3E781BCD65B2}"/>
              </a:ext>
            </a:extLst>
          </p:cNvPr>
          <p:cNvSpPr>
            <a:spLocks noGrp="1"/>
          </p:cNvSpPr>
          <p:nvPr>
            <p:ph type="dt" sz="half" idx="10"/>
          </p:nvPr>
        </p:nvSpPr>
        <p:spPr/>
        <p:txBody>
          <a:bodyPr/>
          <a:lstStyle>
            <a:lvl1pPr>
              <a:defRPr/>
            </a:lvl1pPr>
          </a:lstStyle>
          <a:p>
            <a:pPr>
              <a:defRPr/>
            </a:pPr>
            <a:fld id="{770E0AD7-AE4B-4A4F-8AA0-62F966C4BDDF}" type="datetime1">
              <a:rPr lang="zh-CN" altLang="en-US"/>
              <a:pPr>
                <a:defRPr/>
              </a:pPr>
              <a:t>2024/03/12</a:t>
            </a:fld>
            <a:endParaRPr lang="zh-CN" altLang="en-US" dirty="0"/>
          </a:p>
        </p:txBody>
      </p:sp>
      <p:sp>
        <p:nvSpPr>
          <p:cNvPr id="5" name="页脚占位符 4">
            <a:extLst>
              <a:ext uri="{FF2B5EF4-FFF2-40B4-BE49-F238E27FC236}">
                <a16:creationId xmlns:a16="http://schemas.microsoft.com/office/drawing/2014/main" id="{D8A162BC-E2AD-4629-99A9-B4AD8C9A97DC}"/>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DAC86429-7C64-46C9-A45A-04FF19F7EB3F}"/>
              </a:ext>
            </a:extLst>
          </p:cNvPr>
          <p:cNvSpPr>
            <a:spLocks noGrp="1"/>
          </p:cNvSpPr>
          <p:nvPr>
            <p:ph type="sldNum" sz="quarter" idx="12"/>
          </p:nvPr>
        </p:nvSpPr>
        <p:spPr/>
        <p:txBody>
          <a:bodyPr/>
          <a:lstStyle>
            <a:lvl1pPr>
              <a:defRPr/>
            </a:lvl1pPr>
          </a:lstStyle>
          <a:p>
            <a:fld id="{34803AEE-DAF6-45AB-8046-D444144CBE2E}" type="slidenum">
              <a:rPr lang="zh-CN" altLang="en-US"/>
              <a:pPr/>
              <a:t>‹#›</a:t>
            </a:fld>
            <a:endParaRPr lang="zh-CN" altLang="en-US"/>
          </a:p>
        </p:txBody>
      </p:sp>
    </p:spTree>
    <p:extLst>
      <p:ext uri="{BB962C8B-B14F-4D97-AF65-F5344CB8AC3E}">
        <p14:creationId xmlns:p14="http://schemas.microsoft.com/office/powerpoint/2010/main" val="245734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3" descr="C:\Program Files\Microsoft Office\MEDIA\OFFICE12\Lines\BD15035_.gif">
            <a:extLst>
              <a:ext uri="{FF2B5EF4-FFF2-40B4-BE49-F238E27FC236}">
                <a16:creationId xmlns:a16="http://schemas.microsoft.com/office/drawing/2014/main" id="{94F60CD0-0AF0-40A6-8C2B-B44C9252AAA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19939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15035_.gif">
            <a:extLst>
              <a:ext uri="{FF2B5EF4-FFF2-40B4-BE49-F238E27FC236}">
                <a16:creationId xmlns:a16="http://schemas.microsoft.com/office/drawing/2014/main" id="{48F853EB-80D7-4067-ADD2-0EEDB1156F3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34290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p:spPr>
        <p:txBody>
          <a:bodyPr/>
          <a:lstStyle>
            <a:lvl1pPr>
              <a:defRPr b="1" i="0" baseline="0">
                <a:latin typeface="Arial Black" pitchFamily="34" charset="0"/>
                <a:ea typeface="黑体" pitchFamily="49" charset="-122"/>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baseline="0">
                <a:solidFill>
                  <a:schemeClr val="tx1">
                    <a:tint val="75000"/>
                  </a:schemeClr>
                </a:solidFill>
                <a:latin typeface="Arial" pitchFamily="34" charset="0"/>
                <a:ea typeface="黑体"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6" name="日期占位符 3">
            <a:extLst>
              <a:ext uri="{FF2B5EF4-FFF2-40B4-BE49-F238E27FC236}">
                <a16:creationId xmlns:a16="http://schemas.microsoft.com/office/drawing/2014/main" id="{21A1A9A7-005A-4204-840A-74497A6EC3E0}"/>
              </a:ext>
            </a:extLst>
          </p:cNvPr>
          <p:cNvSpPr>
            <a:spLocks noGrp="1"/>
          </p:cNvSpPr>
          <p:nvPr>
            <p:ph type="dt" sz="half" idx="10"/>
          </p:nvPr>
        </p:nvSpPr>
        <p:spPr/>
        <p:txBody>
          <a:bodyPr/>
          <a:lstStyle>
            <a:lvl1pPr>
              <a:defRPr/>
            </a:lvl1pPr>
          </a:lstStyle>
          <a:p>
            <a:pPr>
              <a:defRPr/>
            </a:pPr>
            <a:fld id="{95679E6C-582A-4765-BD37-8CE3590A8912}" type="datetime1">
              <a:rPr lang="zh-CN" altLang="en-US"/>
              <a:pPr>
                <a:defRPr/>
              </a:pPr>
              <a:t>2024/03/12</a:t>
            </a:fld>
            <a:endParaRPr lang="zh-CN" altLang="en-US"/>
          </a:p>
        </p:txBody>
      </p:sp>
      <p:sp>
        <p:nvSpPr>
          <p:cNvPr id="7" name="页脚占位符 4">
            <a:extLst>
              <a:ext uri="{FF2B5EF4-FFF2-40B4-BE49-F238E27FC236}">
                <a16:creationId xmlns:a16="http://schemas.microsoft.com/office/drawing/2014/main" id="{1512A647-518D-4163-9B61-CBFEEC96D91D}"/>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66D0A962-8E56-4C9F-A68A-A6A33F5671DC}"/>
              </a:ext>
            </a:extLst>
          </p:cNvPr>
          <p:cNvSpPr>
            <a:spLocks noGrp="1"/>
          </p:cNvSpPr>
          <p:nvPr>
            <p:ph type="sldNum" sz="quarter" idx="12"/>
          </p:nvPr>
        </p:nvSpPr>
        <p:spPr/>
        <p:txBody>
          <a:bodyPr/>
          <a:lstStyle>
            <a:lvl1pPr>
              <a:defRPr/>
            </a:lvl1pPr>
          </a:lstStyle>
          <a:p>
            <a:fld id="{4154B567-B7FF-4644-9EE4-E15EDBDB3014}" type="slidenum">
              <a:rPr lang="zh-CN" altLang="en-US"/>
              <a:pPr/>
              <a:t>‹#›</a:t>
            </a:fld>
            <a:endParaRPr lang="zh-CN" altLang="en-US"/>
          </a:p>
        </p:txBody>
      </p:sp>
    </p:spTree>
    <p:extLst>
      <p:ext uri="{BB962C8B-B14F-4D97-AF65-F5344CB8AC3E}">
        <p14:creationId xmlns:p14="http://schemas.microsoft.com/office/powerpoint/2010/main" val="39628039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D4885B67-07E6-4A56-B75E-2E675C5DE664}"/>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03FA3659-9654-4BAE-8125-44E3AA4A58E4}"/>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b="1" i="0" baseline="0">
                <a:latin typeface="Times New Roman" pitchFamily="18" charset="0"/>
                <a:ea typeface="华文楷体" pitchFamily="2" charset="-122"/>
              </a:defRPr>
            </a:lvl1pPr>
            <a:lvl2pPr>
              <a:defRPr b="1" i="0" baseline="0">
                <a:latin typeface="Times New Roman" pitchFamily="18" charset="0"/>
                <a:ea typeface="华文楷体" pitchFamily="2" charset="-122"/>
              </a:defRPr>
            </a:lvl2pPr>
            <a:lvl3pPr>
              <a:defRPr b="1" i="0" baseline="0">
                <a:latin typeface="Times New Roman" pitchFamily="18" charset="0"/>
                <a:ea typeface="华文楷体" pitchFamily="2" charset="-122"/>
              </a:defRPr>
            </a:lvl3pPr>
            <a:lvl4pPr>
              <a:defRPr b="1" i="0" baseline="0">
                <a:latin typeface="Times New Roman" pitchFamily="18" charset="0"/>
                <a:ea typeface="华文楷体" pitchFamily="2" charset="-122"/>
              </a:defRPr>
            </a:lvl4pPr>
            <a:lvl5pPr>
              <a:defRPr b="1" i="0" baseline="0">
                <a:latin typeface="Times New Roman" pitchFamily="18" charset="0"/>
                <a:ea typeface="华文楷体"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日期占位符 3">
            <a:extLst>
              <a:ext uri="{FF2B5EF4-FFF2-40B4-BE49-F238E27FC236}">
                <a16:creationId xmlns:a16="http://schemas.microsoft.com/office/drawing/2014/main" id="{5D6C78EF-9018-49B3-BF00-DE09FEAB91F0}"/>
              </a:ext>
            </a:extLst>
          </p:cNvPr>
          <p:cNvSpPr>
            <a:spLocks noGrp="1"/>
          </p:cNvSpPr>
          <p:nvPr>
            <p:ph type="dt" sz="half" idx="10"/>
          </p:nvPr>
        </p:nvSpPr>
        <p:spPr/>
        <p:txBody>
          <a:bodyPr/>
          <a:lstStyle>
            <a:lvl1pPr>
              <a:defRPr/>
            </a:lvl1pPr>
          </a:lstStyle>
          <a:p>
            <a:pPr>
              <a:defRPr/>
            </a:pPr>
            <a:fld id="{7494A5BF-14BE-4F98-B8B7-F24775FD9636}" type="datetime1">
              <a:rPr lang="zh-CN" altLang="en-US"/>
              <a:pPr>
                <a:defRPr/>
              </a:pPr>
              <a:t>2024/03/12</a:t>
            </a:fld>
            <a:endParaRPr lang="zh-CN" altLang="en-US"/>
          </a:p>
        </p:txBody>
      </p:sp>
      <p:sp>
        <p:nvSpPr>
          <p:cNvPr id="7" name="页脚占位符 4">
            <a:extLst>
              <a:ext uri="{FF2B5EF4-FFF2-40B4-BE49-F238E27FC236}">
                <a16:creationId xmlns:a16="http://schemas.microsoft.com/office/drawing/2014/main" id="{AD363115-062C-42D8-AECF-087DADE3E68B}"/>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3EB6B319-C059-4ABA-A398-53FB08D00C46}"/>
              </a:ext>
            </a:extLst>
          </p:cNvPr>
          <p:cNvSpPr>
            <a:spLocks noGrp="1"/>
          </p:cNvSpPr>
          <p:nvPr>
            <p:ph type="sldNum" sz="quarter" idx="12"/>
          </p:nvPr>
        </p:nvSpPr>
        <p:spPr/>
        <p:txBody>
          <a:bodyPr/>
          <a:lstStyle>
            <a:lvl1pPr>
              <a:defRPr/>
            </a:lvl1pPr>
          </a:lstStyle>
          <a:p>
            <a:fld id="{4AFAC2E9-6DF3-4EB2-A611-583AA9E253BB}" type="slidenum">
              <a:rPr lang="zh-CN" altLang="en-US"/>
              <a:pPr/>
              <a:t>‹#›</a:t>
            </a:fld>
            <a:endParaRPr lang="zh-CN" altLang="en-US"/>
          </a:p>
        </p:txBody>
      </p:sp>
    </p:spTree>
    <p:extLst>
      <p:ext uri="{BB962C8B-B14F-4D97-AF65-F5344CB8AC3E}">
        <p14:creationId xmlns:p14="http://schemas.microsoft.com/office/powerpoint/2010/main" val="2142188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599D62C-962F-4CBF-B5BF-D12357CED56E}"/>
              </a:ext>
            </a:extLst>
          </p:cNvPr>
          <p:cNvSpPr>
            <a:spLocks noGrp="1"/>
          </p:cNvSpPr>
          <p:nvPr>
            <p:ph type="dt" sz="half" idx="10"/>
          </p:nvPr>
        </p:nvSpPr>
        <p:spPr/>
        <p:txBody>
          <a:bodyPr/>
          <a:lstStyle>
            <a:lvl1pPr>
              <a:defRPr/>
            </a:lvl1pPr>
          </a:lstStyle>
          <a:p>
            <a:pPr>
              <a:defRPr/>
            </a:pPr>
            <a:fld id="{FF248B1C-7838-4953-9EB8-F5DA08296C7F}" type="datetime1">
              <a:rPr lang="zh-CN" altLang="en-US"/>
              <a:pPr>
                <a:defRPr/>
              </a:pPr>
              <a:t>2024/03/12</a:t>
            </a:fld>
            <a:endParaRPr lang="zh-CN" altLang="en-US" dirty="0"/>
          </a:p>
        </p:txBody>
      </p:sp>
      <p:sp>
        <p:nvSpPr>
          <p:cNvPr id="5" name="页脚占位符 4">
            <a:extLst>
              <a:ext uri="{FF2B5EF4-FFF2-40B4-BE49-F238E27FC236}">
                <a16:creationId xmlns:a16="http://schemas.microsoft.com/office/drawing/2014/main" id="{B6248EC0-D0C7-42AC-B515-AFE44A9CB34F}"/>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27E9BD66-481B-44F9-95EB-B92FB649D8AB}"/>
              </a:ext>
            </a:extLst>
          </p:cNvPr>
          <p:cNvSpPr>
            <a:spLocks noGrp="1"/>
          </p:cNvSpPr>
          <p:nvPr>
            <p:ph type="sldNum" sz="quarter" idx="12"/>
          </p:nvPr>
        </p:nvSpPr>
        <p:spPr/>
        <p:txBody>
          <a:bodyPr/>
          <a:lstStyle>
            <a:lvl1pPr>
              <a:defRPr/>
            </a:lvl1pPr>
          </a:lstStyle>
          <a:p>
            <a:fld id="{0A60E9F9-DC98-476D-8A2F-8A54513C6EE9}" type="slidenum">
              <a:rPr lang="zh-CN" altLang="en-US"/>
              <a:pPr/>
              <a:t>‹#›</a:t>
            </a:fld>
            <a:endParaRPr lang="zh-CN" altLang="en-US"/>
          </a:p>
        </p:txBody>
      </p:sp>
    </p:spTree>
    <p:extLst>
      <p:ext uri="{BB962C8B-B14F-4D97-AF65-F5344CB8AC3E}">
        <p14:creationId xmlns:p14="http://schemas.microsoft.com/office/powerpoint/2010/main" val="28311862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5" name="Picture 5" descr="C:\Program Files\Microsoft Office\MEDIA\OFFICE12\Lines\BD21427_.gif">
            <a:extLst>
              <a:ext uri="{FF2B5EF4-FFF2-40B4-BE49-F238E27FC236}">
                <a16:creationId xmlns:a16="http://schemas.microsoft.com/office/drawing/2014/main" id="{4C12F4AF-0004-4F56-9C12-EC187AE0D779}"/>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23938"/>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C:\Program Files\Microsoft Office\MEDIA\OFFICE12\Lines\BD21390_.gif">
            <a:extLst>
              <a:ext uri="{FF2B5EF4-FFF2-40B4-BE49-F238E27FC236}">
                <a16:creationId xmlns:a16="http://schemas.microsoft.com/office/drawing/2014/main" id="{6CB4A7DA-1DC2-4868-9969-A598850CFB03}"/>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i="0"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sz="half" idx="1"/>
          </p:nvPr>
        </p:nvSpPr>
        <p:spPr>
          <a:xfrm>
            <a:off x="457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4">
            <a:extLst>
              <a:ext uri="{FF2B5EF4-FFF2-40B4-BE49-F238E27FC236}">
                <a16:creationId xmlns:a16="http://schemas.microsoft.com/office/drawing/2014/main" id="{F8CA913C-B557-4C69-A224-B99C4B475998}"/>
              </a:ext>
            </a:extLst>
          </p:cNvPr>
          <p:cNvSpPr>
            <a:spLocks noGrp="1"/>
          </p:cNvSpPr>
          <p:nvPr>
            <p:ph type="dt" sz="half" idx="10"/>
          </p:nvPr>
        </p:nvSpPr>
        <p:spPr/>
        <p:txBody>
          <a:bodyPr/>
          <a:lstStyle>
            <a:lvl1pPr>
              <a:defRPr/>
            </a:lvl1pPr>
          </a:lstStyle>
          <a:p>
            <a:pPr>
              <a:defRPr/>
            </a:pPr>
            <a:fld id="{0666F03C-294F-4306-9D20-AC64B9004EE4}" type="datetime1">
              <a:rPr lang="zh-CN" altLang="en-US"/>
              <a:pPr>
                <a:defRPr/>
              </a:pPr>
              <a:t>2024/03/12</a:t>
            </a:fld>
            <a:endParaRPr lang="zh-CN" altLang="en-US"/>
          </a:p>
        </p:txBody>
      </p:sp>
      <p:sp>
        <p:nvSpPr>
          <p:cNvPr id="8" name="页脚占位符 5">
            <a:extLst>
              <a:ext uri="{FF2B5EF4-FFF2-40B4-BE49-F238E27FC236}">
                <a16:creationId xmlns:a16="http://schemas.microsoft.com/office/drawing/2014/main" id="{C290A11D-B081-480A-A246-94E05123B2DD}"/>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6">
            <a:extLst>
              <a:ext uri="{FF2B5EF4-FFF2-40B4-BE49-F238E27FC236}">
                <a16:creationId xmlns:a16="http://schemas.microsoft.com/office/drawing/2014/main" id="{FB3F1E4D-5B4E-4E61-82D3-33C7F5611585}"/>
              </a:ext>
            </a:extLst>
          </p:cNvPr>
          <p:cNvSpPr>
            <a:spLocks noGrp="1"/>
          </p:cNvSpPr>
          <p:nvPr>
            <p:ph type="sldNum" sz="quarter" idx="12"/>
          </p:nvPr>
        </p:nvSpPr>
        <p:spPr/>
        <p:txBody>
          <a:bodyPr/>
          <a:lstStyle>
            <a:lvl1pPr>
              <a:defRPr/>
            </a:lvl1pPr>
          </a:lstStyle>
          <a:p>
            <a:fld id="{23F264B5-2ABD-46C2-93AF-BBAA4A58882F}" type="slidenum">
              <a:rPr lang="zh-CN" altLang="en-US"/>
              <a:pPr/>
              <a:t>‹#›</a:t>
            </a:fld>
            <a:endParaRPr lang="zh-CN" altLang="en-US"/>
          </a:p>
        </p:txBody>
      </p:sp>
    </p:spTree>
    <p:extLst>
      <p:ext uri="{BB962C8B-B14F-4D97-AF65-F5344CB8AC3E}">
        <p14:creationId xmlns:p14="http://schemas.microsoft.com/office/powerpoint/2010/main" val="41535846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7" name="Picture 5" descr="C:\Program Files\Microsoft Office\MEDIA\OFFICE12\Lines\BD21427_.gif">
            <a:extLst>
              <a:ext uri="{FF2B5EF4-FFF2-40B4-BE49-F238E27FC236}">
                <a16:creationId xmlns:a16="http://schemas.microsoft.com/office/drawing/2014/main" id="{9BC49BBD-EE19-485A-B459-3B0A6678440A}"/>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C:\Program Files\Microsoft Office\MEDIA\OFFICE12\Lines\BD21390_.gif">
            <a:extLst>
              <a:ext uri="{FF2B5EF4-FFF2-40B4-BE49-F238E27FC236}">
                <a16:creationId xmlns:a16="http://schemas.microsoft.com/office/drawing/2014/main" id="{3771D3A9-10CF-400B-8B34-62EBAD76EAD8}"/>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4298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1785926"/>
            <a:ext cx="4040188"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5" y="114298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45025" y="1785926"/>
            <a:ext cx="4041775"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日期占位符 6">
            <a:extLst>
              <a:ext uri="{FF2B5EF4-FFF2-40B4-BE49-F238E27FC236}">
                <a16:creationId xmlns:a16="http://schemas.microsoft.com/office/drawing/2014/main" id="{4FA804C1-527D-43AD-959B-CC9370D90DE8}"/>
              </a:ext>
            </a:extLst>
          </p:cNvPr>
          <p:cNvSpPr>
            <a:spLocks noGrp="1"/>
          </p:cNvSpPr>
          <p:nvPr>
            <p:ph type="dt" sz="half" idx="10"/>
          </p:nvPr>
        </p:nvSpPr>
        <p:spPr/>
        <p:txBody>
          <a:bodyPr/>
          <a:lstStyle>
            <a:lvl1pPr>
              <a:defRPr/>
            </a:lvl1pPr>
          </a:lstStyle>
          <a:p>
            <a:pPr>
              <a:defRPr/>
            </a:pPr>
            <a:fld id="{C4080A0C-B745-4D76-AE56-B8B83ABC907B}" type="datetime1">
              <a:rPr lang="zh-CN" altLang="en-US"/>
              <a:pPr>
                <a:defRPr/>
              </a:pPr>
              <a:t>2024/03/12</a:t>
            </a:fld>
            <a:endParaRPr lang="zh-CN" altLang="en-US"/>
          </a:p>
        </p:txBody>
      </p:sp>
      <p:sp>
        <p:nvSpPr>
          <p:cNvPr id="10" name="页脚占位符 7">
            <a:extLst>
              <a:ext uri="{FF2B5EF4-FFF2-40B4-BE49-F238E27FC236}">
                <a16:creationId xmlns:a16="http://schemas.microsoft.com/office/drawing/2014/main" id="{68F40EF7-A4BF-4F94-805F-3B46E4CB2CC9}"/>
              </a:ext>
            </a:extLst>
          </p:cNvPr>
          <p:cNvSpPr>
            <a:spLocks noGrp="1"/>
          </p:cNvSpPr>
          <p:nvPr>
            <p:ph type="ftr" sz="quarter" idx="11"/>
          </p:nvPr>
        </p:nvSpPr>
        <p:spPr/>
        <p:txBody>
          <a:bodyPr/>
          <a:lstStyle>
            <a:lvl1pPr>
              <a:defRPr/>
            </a:lvl1pPr>
          </a:lstStyle>
          <a:p>
            <a:pPr>
              <a:defRPr/>
            </a:pPr>
            <a:endParaRPr lang="zh-CN" altLang="en-US"/>
          </a:p>
        </p:txBody>
      </p:sp>
      <p:sp>
        <p:nvSpPr>
          <p:cNvPr id="11" name="灯片编号占位符 8">
            <a:extLst>
              <a:ext uri="{FF2B5EF4-FFF2-40B4-BE49-F238E27FC236}">
                <a16:creationId xmlns:a16="http://schemas.microsoft.com/office/drawing/2014/main" id="{0CB5640F-812A-4E50-B3F4-40D0963E24E2}"/>
              </a:ext>
            </a:extLst>
          </p:cNvPr>
          <p:cNvSpPr>
            <a:spLocks noGrp="1"/>
          </p:cNvSpPr>
          <p:nvPr>
            <p:ph type="sldNum" sz="quarter" idx="12"/>
          </p:nvPr>
        </p:nvSpPr>
        <p:spPr/>
        <p:txBody>
          <a:bodyPr/>
          <a:lstStyle>
            <a:lvl1pPr>
              <a:defRPr/>
            </a:lvl1pPr>
          </a:lstStyle>
          <a:p>
            <a:fld id="{722B9547-AB7A-4302-88A3-635638187A4A}" type="slidenum">
              <a:rPr lang="zh-CN" altLang="en-US"/>
              <a:pPr/>
              <a:t>‹#›</a:t>
            </a:fld>
            <a:endParaRPr lang="zh-CN" altLang="en-US"/>
          </a:p>
        </p:txBody>
      </p:sp>
    </p:spTree>
    <p:extLst>
      <p:ext uri="{BB962C8B-B14F-4D97-AF65-F5344CB8AC3E}">
        <p14:creationId xmlns:p14="http://schemas.microsoft.com/office/powerpoint/2010/main" val="288044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3" name="Picture 5" descr="C:\Program Files\Microsoft Office\MEDIA\OFFICE12\Lines\BD21427_.gif">
            <a:extLst>
              <a:ext uri="{FF2B5EF4-FFF2-40B4-BE49-F238E27FC236}">
                <a16:creationId xmlns:a16="http://schemas.microsoft.com/office/drawing/2014/main" id="{5EF6CB9D-31FC-4C7D-A9A0-42A6C568891D}"/>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C:\Program Files\Microsoft Office\MEDIA\OFFICE12\Lines\BD21390_.gif">
            <a:extLst>
              <a:ext uri="{FF2B5EF4-FFF2-40B4-BE49-F238E27FC236}">
                <a16:creationId xmlns:a16="http://schemas.microsoft.com/office/drawing/2014/main" id="{3E74EBA0-73C2-4F3E-BB17-F24FB7D692AB}"/>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5" name="日期占位符 2">
            <a:extLst>
              <a:ext uri="{FF2B5EF4-FFF2-40B4-BE49-F238E27FC236}">
                <a16:creationId xmlns:a16="http://schemas.microsoft.com/office/drawing/2014/main" id="{B9CBA21F-C8DF-4960-A1F3-3BD8B6A64C0B}"/>
              </a:ext>
            </a:extLst>
          </p:cNvPr>
          <p:cNvSpPr>
            <a:spLocks noGrp="1"/>
          </p:cNvSpPr>
          <p:nvPr>
            <p:ph type="dt" sz="half" idx="10"/>
          </p:nvPr>
        </p:nvSpPr>
        <p:spPr/>
        <p:txBody>
          <a:bodyPr/>
          <a:lstStyle>
            <a:lvl1pPr>
              <a:defRPr/>
            </a:lvl1pPr>
          </a:lstStyle>
          <a:p>
            <a:pPr>
              <a:defRPr/>
            </a:pPr>
            <a:fld id="{E90165E4-1273-4DCE-8540-B26AD562B704}" type="datetime1">
              <a:rPr lang="zh-CN" altLang="en-US"/>
              <a:pPr>
                <a:defRPr/>
              </a:pPr>
              <a:t>2024/03/12</a:t>
            </a:fld>
            <a:endParaRPr lang="zh-CN" altLang="en-US"/>
          </a:p>
        </p:txBody>
      </p:sp>
      <p:sp>
        <p:nvSpPr>
          <p:cNvPr id="6" name="页脚占位符 3">
            <a:extLst>
              <a:ext uri="{FF2B5EF4-FFF2-40B4-BE49-F238E27FC236}">
                <a16:creationId xmlns:a16="http://schemas.microsoft.com/office/drawing/2014/main" id="{00FADB34-B580-41ED-972F-063C92E3E5E8}"/>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4">
            <a:extLst>
              <a:ext uri="{FF2B5EF4-FFF2-40B4-BE49-F238E27FC236}">
                <a16:creationId xmlns:a16="http://schemas.microsoft.com/office/drawing/2014/main" id="{0354C710-BAE5-4459-8270-9C9E61065A8F}"/>
              </a:ext>
            </a:extLst>
          </p:cNvPr>
          <p:cNvSpPr>
            <a:spLocks noGrp="1"/>
          </p:cNvSpPr>
          <p:nvPr>
            <p:ph type="sldNum" sz="quarter" idx="12"/>
          </p:nvPr>
        </p:nvSpPr>
        <p:spPr/>
        <p:txBody>
          <a:bodyPr/>
          <a:lstStyle>
            <a:lvl1pPr>
              <a:defRPr/>
            </a:lvl1pPr>
          </a:lstStyle>
          <a:p>
            <a:fld id="{9115F43B-9842-43D5-B2BE-AF0410A5A526}" type="slidenum">
              <a:rPr lang="zh-CN" altLang="en-US"/>
              <a:pPr/>
              <a:t>‹#›</a:t>
            </a:fld>
            <a:endParaRPr lang="zh-CN" altLang="en-US"/>
          </a:p>
        </p:txBody>
      </p:sp>
    </p:spTree>
    <p:extLst>
      <p:ext uri="{BB962C8B-B14F-4D97-AF65-F5344CB8AC3E}">
        <p14:creationId xmlns:p14="http://schemas.microsoft.com/office/powerpoint/2010/main" val="31090747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09E8FC6B-BFCD-4C77-A9E7-8D2D9F003DA7}"/>
              </a:ext>
            </a:extLst>
          </p:cNvPr>
          <p:cNvSpPr>
            <a:spLocks noGrp="1"/>
          </p:cNvSpPr>
          <p:nvPr>
            <p:ph type="dt" sz="half" idx="10"/>
          </p:nvPr>
        </p:nvSpPr>
        <p:spPr/>
        <p:txBody>
          <a:bodyPr/>
          <a:lstStyle>
            <a:lvl1pPr>
              <a:defRPr/>
            </a:lvl1pPr>
          </a:lstStyle>
          <a:p>
            <a:pPr>
              <a:defRPr/>
            </a:pPr>
            <a:fld id="{D53328F4-0DB1-4071-B8E9-77C57184A63A}" type="datetime1">
              <a:rPr lang="zh-CN" altLang="en-US"/>
              <a:pPr>
                <a:defRPr/>
              </a:pPr>
              <a:t>2024/03/12</a:t>
            </a:fld>
            <a:endParaRPr lang="zh-CN" altLang="en-US" dirty="0"/>
          </a:p>
        </p:txBody>
      </p:sp>
      <p:sp>
        <p:nvSpPr>
          <p:cNvPr id="3" name="页脚占位符 4">
            <a:extLst>
              <a:ext uri="{FF2B5EF4-FFF2-40B4-BE49-F238E27FC236}">
                <a16:creationId xmlns:a16="http://schemas.microsoft.com/office/drawing/2014/main" id="{49F25106-385F-4352-83C2-7177EC83D9C8}"/>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DFE3AB74-DDD6-486D-8828-E48E8156FE46}"/>
              </a:ext>
            </a:extLst>
          </p:cNvPr>
          <p:cNvSpPr>
            <a:spLocks noGrp="1"/>
          </p:cNvSpPr>
          <p:nvPr>
            <p:ph type="sldNum" sz="quarter" idx="12"/>
          </p:nvPr>
        </p:nvSpPr>
        <p:spPr/>
        <p:txBody>
          <a:bodyPr/>
          <a:lstStyle>
            <a:lvl1pPr>
              <a:defRPr/>
            </a:lvl1pPr>
          </a:lstStyle>
          <a:p>
            <a:fld id="{A3C8F4FC-B2CD-425E-888B-3839A5FD4BA0}" type="slidenum">
              <a:rPr lang="zh-CN" altLang="en-US"/>
              <a:pPr/>
              <a:t>‹#›</a:t>
            </a:fld>
            <a:endParaRPr lang="zh-CN" altLang="en-US"/>
          </a:p>
        </p:txBody>
      </p:sp>
    </p:spTree>
    <p:extLst>
      <p:ext uri="{BB962C8B-B14F-4D97-AF65-F5344CB8AC3E}">
        <p14:creationId xmlns:p14="http://schemas.microsoft.com/office/powerpoint/2010/main" val="13884095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8C9933E-39FB-40BC-99B8-8EE34B315212}"/>
              </a:ext>
            </a:extLst>
          </p:cNvPr>
          <p:cNvSpPr>
            <a:spLocks noGrp="1"/>
          </p:cNvSpPr>
          <p:nvPr>
            <p:ph type="dt" sz="half" idx="10"/>
          </p:nvPr>
        </p:nvSpPr>
        <p:spPr/>
        <p:txBody>
          <a:bodyPr/>
          <a:lstStyle>
            <a:lvl1pPr>
              <a:defRPr/>
            </a:lvl1pPr>
          </a:lstStyle>
          <a:p>
            <a:pPr>
              <a:defRPr/>
            </a:pPr>
            <a:fld id="{24074978-82C3-4E8A-BFC3-13FA79ACB70A}" type="datetime1">
              <a:rPr lang="zh-CN" altLang="en-US"/>
              <a:pPr>
                <a:defRPr/>
              </a:pPr>
              <a:t>2024/03/12</a:t>
            </a:fld>
            <a:endParaRPr lang="zh-CN" altLang="en-US" dirty="0"/>
          </a:p>
        </p:txBody>
      </p:sp>
      <p:sp>
        <p:nvSpPr>
          <p:cNvPr id="6" name="页脚占位符 4">
            <a:extLst>
              <a:ext uri="{FF2B5EF4-FFF2-40B4-BE49-F238E27FC236}">
                <a16:creationId xmlns:a16="http://schemas.microsoft.com/office/drawing/2014/main" id="{9033BD41-DC37-4A73-96FF-8891789F403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97FAE38E-B910-4181-9C0D-332A668CC66D}"/>
              </a:ext>
            </a:extLst>
          </p:cNvPr>
          <p:cNvSpPr>
            <a:spLocks noGrp="1"/>
          </p:cNvSpPr>
          <p:nvPr>
            <p:ph type="sldNum" sz="quarter" idx="12"/>
          </p:nvPr>
        </p:nvSpPr>
        <p:spPr/>
        <p:txBody>
          <a:bodyPr/>
          <a:lstStyle>
            <a:lvl1pPr>
              <a:defRPr/>
            </a:lvl1pPr>
          </a:lstStyle>
          <a:p>
            <a:fld id="{6085D836-FECD-48D5-93BD-3B67CA1A6465}" type="slidenum">
              <a:rPr lang="zh-CN" altLang="en-US"/>
              <a:pPr/>
              <a:t>‹#›</a:t>
            </a:fld>
            <a:endParaRPr lang="zh-CN" altLang="en-US"/>
          </a:p>
        </p:txBody>
      </p:sp>
    </p:spTree>
    <p:extLst>
      <p:ext uri="{BB962C8B-B14F-4D97-AF65-F5344CB8AC3E}">
        <p14:creationId xmlns:p14="http://schemas.microsoft.com/office/powerpoint/2010/main" val="16427505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A39EE0C7-38E9-4330-B2D3-DF23C5EC41FA}"/>
              </a:ext>
            </a:extLst>
          </p:cNvPr>
          <p:cNvSpPr>
            <a:spLocks noGrp="1"/>
          </p:cNvSpPr>
          <p:nvPr>
            <p:ph type="dt" sz="half" idx="10"/>
          </p:nvPr>
        </p:nvSpPr>
        <p:spPr/>
        <p:txBody>
          <a:bodyPr/>
          <a:lstStyle>
            <a:lvl1pPr>
              <a:defRPr/>
            </a:lvl1pPr>
          </a:lstStyle>
          <a:p>
            <a:pPr>
              <a:defRPr/>
            </a:pPr>
            <a:fld id="{75E0BD16-55E6-4BB0-990D-A875839DE3A7}" type="datetime1">
              <a:rPr lang="zh-CN" altLang="en-US"/>
              <a:pPr>
                <a:defRPr/>
              </a:pPr>
              <a:t>2024/03/12</a:t>
            </a:fld>
            <a:endParaRPr lang="zh-CN" altLang="en-US" dirty="0"/>
          </a:p>
        </p:txBody>
      </p:sp>
      <p:sp>
        <p:nvSpPr>
          <p:cNvPr id="6" name="页脚占位符 4">
            <a:extLst>
              <a:ext uri="{FF2B5EF4-FFF2-40B4-BE49-F238E27FC236}">
                <a16:creationId xmlns:a16="http://schemas.microsoft.com/office/drawing/2014/main" id="{F35F95ED-1DD7-422F-9D89-3F359055BC13}"/>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E349100A-9395-45EF-9130-25402C9CD79B}"/>
              </a:ext>
            </a:extLst>
          </p:cNvPr>
          <p:cNvSpPr>
            <a:spLocks noGrp="1"/>
          </p:cNvSpPr>
          <p:nvPr>
            <p:ph type="sldNum" sz="quarter" idx="12"/>
          </p:nvPr>
        </p:nvSpPr>
        <p:spPr/>
        <p:txBody>
          <a:bodyPr/>
          <a:lstStyle>
            <a:lvl1pPr>
              <a:defRPr/>
            </a:lvl1pPr>
          </a:lstStyle>
          <a:p>
            <a:fld id="{F5F5DB6F-AC87-4DE9-B28E-B08B66918635}" type="slidenum">
              <a:rPr lang="zh-CN" altLang="en-US"/>
              <a:pPr/>
              <a:t>‹#›</a:t>
            </a:fld>
            <a:endParaRPr lang="zh-CN" altLang="en-US"/>
          </a:p>
        </p:txBody>
      </p:sp>
    </p:spTree>
    <p:extLst>
      <p:ext uri="{BB962C8B-B14F-4D97-AF65-F5344CB8AC3E}">
        <p14:creationId xmlns:p14="http://schemas.microsoft.com/office/powerpoint/2010/main" val="17350024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18339CF7-60C5-4C28-BDAD-64E715DFF677}"/>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7A0840DA-E496-4474-A096-57666A4D21AC}"/>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14422"/>
            <a:ext cx="8229600" cy="491174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3">
            <a:extLst>
              <a:ext uri="{FF2B5EF4-FFF2-40B4-BE49-F238E27FC236}">
                <a16:creationId xmlns:a16="http://schemas.microsoft.com/office/drawing/2014/main" id="{45358ABA-4597-41E8-8639-AA47FFBC608B}"/>
              </a:ext>
            </a:extLst>
          </p:cNvPr>
          <p:cNvSpPr>
            <a:spLocks noGrp="1"/>
          </p:cNvSpPr>
          <p:nvPr>
            <p:ph type="dt" sz="half" idx="10"/>
          </p:nvPr>
        </p:nvSpPr>
        <p:spPr/>
        <p:txBody>
          <a:bodyPr/>
          <a:lstStyle>
            <a:lvl1pPr>
              <a:defRPr/>
            </a:lvl1pPr>
          </a:lstStyle>
          <a:p>
            <a:pPr>
              <a:defRPr/>
            </a:pPr>
            <a:fld id="{DFCCFDEF-A312-4233-9FB0-9DF8F39DF87B}" type="datetime1">
              <a:rPr lang="zh-CN" altLang="en-US"/>
              <a:pPr>
                <a:defRPr/>
              </a:pPr>
              <a:t>2024/03/12</a:t>
            </a:fld>
            <a:endParaRPr lang="zh-CN" altLang="en-US"/>
          </a:p>
        </p:txBody>
      </p:sp>
      <p:sp>
        <p:nvSpPr>
          <p:cNvPr id="7" name="页脚占位符 4">
            <a:extLst>
              <a:ext uri="{FF2B5EF4-FFF2-40B4-BE49-F238E27FC236}">
                <a16:creationId xmlns:a16="http://schemas.microsoft.com/office/drawing/2014/main" id="{A615AA83-62BF-4607-A3C9-1B3D98794D5C}"/>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29BB1835-AEED-45E9-A555-3644231BAD93}"/>
              </a:ext>
            </a:extLst>
          </p:cNvPr>
          <p:cNvSpPr>
            <a:spLocks noGrp="1"/>
          </p:cNvSpPr>
          <p:nvPr>
            <p:ph type="sldNum" sz="quarter" idx="12"/>
          </p:nvPr>
        </p:nvSpPr>
        <p:spPr/>
        <p:txBody>
          <a:bodyPr/>
          <a:lstStyle>
            <a:lvl1pPr>
              <a:defRPr/>
            </a:lvl1pPr>
          </a:lstStyle>
          <a:p>
            <a:fld id="{43C5CF21-C2C9-4611-BE78-FF637D157024}" type="slidenum">
              <a:rPr lang="zh-CN" altLang="en-US"/>
              <a:pPr/>
              <a:t>‹#›</a:t>
            </a:fld>
            <a:endParaRPr lang="zh-CN" altLang="en-US"/>
          </a:p>
        </p:txBody>
      </p:sp>
    </p:spTree>
    <p:extLst>
      <p:ext uri="{BB962C8B-B14F-4D97-AF65-F5344CB8AC3E}">
        <p14:creationId xmlns:p14="http://schemas.microsoft.com/office/powerpoint/2010/main" val="38208265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5145DA0-5847-4F2D-A73D-1324903C0FCF}"/>
              </a:ext>
            </a:extLst>
          </p:cNvPr>
          <p:cNvSpPr>
            <a:spLocks noGrp="1"/>
          </p:cNvSpPr>
          <p:nvPr>
            <p:ph type="dt" sz="half" idx="10"/>
          </p:nvPr>
        </p:nvSpPr>
        <p:spPr/>
        <p:txBody>
          <a:bodyPr/>
          <a:lstStyle>
            <a:lvl1pPr>
              <a:defRPr/>
            </a:lvl1pPr>
          </a:lstStyle>
          <a:p>
            <a:pPr>
              <a:defRPr/>
            </a:pPr>
            <a:fld id="{34A32C81-338E-4AF3-A8C1-29B7054647A5}" type="datetime1">
              <a:rPr lang="zh-CN" altLang="en-US"/>
              <a:pPr>
                <a:defRPr/>
              </a:pPr>
              <a:t>2024/03/12</a:t>
            </a:fld>
            <a:endParaRPr lang="zh-CN" altLang="en-US" dirty="0"/>
          </a:p>
        </p:txBody>
      </p:sp>
      <p:sp>
        <p:nvSpPr>
          <p:cNvPr id="5" name="页脚占位符 4">
            <a:extLst>
              <a:ext uri="{FF2B5EF4-FFF2-40B4-BE49-F238E27FC236}">
                <a16:creationId xmlns:a16="http://schemas.microsoft.com/office/drawing/2014/main" id="{ED3FF7BE-AFD2-4C37-BD46-586E264948CA}"/>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21CC855C-3FD5-4F2A-8687-27E19331BDC1}"/>
              </a:ext>
            </a:extLst>
          </p:cNvPr>
          <p:cNvSpPr>
            <a:spLocks noGrp="1"/>
          </p:cNvSpPr>
          <p:nvPr>
            <p:ph type="sldNum" sz="quarter" idx="12"/>
          </p:nvPr>
        </p:nvSpPr>
        <p:spPr/>
        <p:txBody>
          <a:bodyPr/>
          <a:lstStyle>
            <a:lvl1pPr>
              <a:defRPr/>
            </a:lvl1pPr>
          </a:lstStyle>
          <a:p>
            <a:fld id="{CF73B382-EAD4-4DC3-AAA4-89EAF1E3056D}" type="slidenum">
              <a:rPr lang="zh-CN" altLang="en-US"/>
              <a:pPr/>
              <a:t>‹#›</a:t>
            </a:fld>
            <a:endParaRPr lang="zh-CN" altLang="en-US"/>
          </a:p>
        </p:txBody>
      </p:sp>
    </p:spTree>
    <p:extLst>
      <p:ext uri="{BB962C8B-B14F-4D97-AF65-F5344CB8AC3E}">
        <p14:creationId xmlns:p14="http://schemas.microsoft.com/office/powerpoint/2010/main" val="33504417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3" descr="C:\Program Files\Microsoft Office\MEDIA\OFFICE12\Lines\BD15035_.gif">
            <a:extLst>
              <a:ext uri="{FF2B5EF4-FFF2-40B4-BE49-F238E27FC236}">
                <a16:creationId xmlns:a16="http://schemas.microsoft.com/office/drawing/2014/main" id="{9F4BC5C6-AE96-42AC-98C2-30C3FD0399B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19939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15035_.gif">
            <a:extLst>
              <a:ext uri="{FF2B5EF4-FFF2-40B4-BE49-F238E27FC236}">
                <a16:creationId xmlns:a16="http://schemas.microsoft.com/office/drawing/2014/main" id="{C9DD3A65-C211-4F49-8097-7AA89BAD761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34290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p:spPr>
        <p:txBody>
          <a:bodyPr/>
          <a:lstStyle>
            <a:lvl1pPr>
              <a:defRPr b="1" i="0" baseline="0">
                <a:latin typeface="Arial Black" pitchFamily="34" charset="0"/>
                <a:ea typeface="黑体" pitchFamily="49" charset="-122"/>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baseline="0">
                <a:solidFill>
                  <a:schemeClr val="tx1">
                    <a:tint val="75000"/>
                  </a:schemeClr>
                </a:solidFill>
                <a:latin typeface="Arial" pitchFamily="34" charset="0"/>
                <a:ea typeface="黑体"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6" name="日期占位符 3">
            <a:extLst>
              <a:ext uri="{FF2B5EF4-FFF2-40B4-BE49-F238E27FC236}">
                <a16:creationId xmlns:a16="http://schemas.microsoft.com/office/drawing/2014/main" id="{7C109D12-04A5-417F-B4CB-C06B1FE50234}"/>
              </a:ext>
            </a:extLst>
          </p:cNvPr>
          <p:cNvSpPr>
            <a:spLocks noGrp="1"/>
          </p:cNvSpPr>
          <p:nvPr>
            <p:ph type="dt" sz="half" idx="10"/>
          </p:nvPr>
        </p:nvSpPr>
        <p:spPr/>
        <p:txBody>
          <a:bodyPr/>
          <a:lstStyle>
            <a:lvl1pPr>
              <a:defRPr/>
            </a:lvl1pPr>
          </a:lstStyle>
          <a:p>
            <a:pPr>
              <a:defRPr/>
            </a:pPr>
            <a:fld id="{A08C742A-EF7F-44F0-9A21-D31374A368E2}" type="datetime1">
              <a:rPr lang="zh-CN" altLang="en-US"/>
              <a:pPr>
                <a:defRPr/>
              </a:pPr>
              <a:t>2024/03/12</a:t>
            </a:fld>
            <a:endParaRPr lang="zh-CN" altLang="en-US"/>
          </a:p>
        </p:txBody>
      </p:sp>
      <p:sp>
        <p:nvSpPr>
          <p:cNvPr id="7" name="页脚占位符 4">
            <a:extLst>
              <a:ext uri="{FF2B5EF4-FFF2-40B4-BE49-F238E27FC236}">
                <a16:creationId xmlns:a16="http://schemas.microsoft.com/office/drawing/2014/main" id="{21A4F76A-9B6B-42EF-B25A-835BB8C09D86}"/>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6FD4DE2E-3A86-462A-980F-EA69A814AE55}"/>
              </a:ext>
            </a:extLst>
          </p:cNvPr>
          <p:cNvSpPr>
            <a:spLocks noGrp="1"/>
          </p:cNvSpPr>
          <p:nvPr>
            <p:ph type="sldNum" sz="quarter" idx="12"/>
          </p:nvPr>
        </p:nvSpPr>
        <p:spPr/>
        <p:txBody>
          <a:bodyPr/>
          <a:lstStyle>
            <a:lvl1pPr>
              <a:defRPr/>
            </a:lvl1pPr>
          </a:lstStyle>
          <a:p>
            <a:fld id="{FA13873A-E0B5-406B-80FE-9DD89A201493}" type="slidenum">
              <a:rPr lang="zh-CN" altLang="en-US"/>
              <a:pPr/>
              <a:t>‹#›</a:t>
            </a:fld>
            <a:endParaRPr lang="zh-CN" altLang="en-US"/>
          </a:p>
        </p:txBody>
      </p:sp>
    </p:spTree>
    <p:extLst>
      <p:ext uri="{BB962C8B-B14F-4D97-AF65-F5344CB8AC3E}">
        <p14:creationId xmlns:p14="http://schemas.microsoft.com/office/powerpoint/2010/main" val="22044178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7A6F8FD2-2D8A-49BF-93B1-56F9045E20D8}"/>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50C4E0B1-B142-414F-8507-44D8C55094FC}"/>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b="1" i="0" baseline="0">
                <a:latin typeface="Times New Roman" pitchFamily="18" charset="0"/>
                <a:ea typeface="华文楷体" pitchFamily="2" charset="-122"/>
              </a:defRPr>
            </a:lvl1pPr>
            <a:lvl2pPr>
              <a:defRPr b="1" i="0" baseline="0">
                <a:latin typeface="Times New Roman" pitchFamily="18" charset="0"/>
                <a:ea typeface="华文楷体" pitchFamily="2" charset="-122"/>
              </a:defRPr>
            </a:lvl2pPr>
            <a:lvl3pPr>
              <a:defRPr b="1" i="0" baseline="0">
                <a:latin typeface="Times New Roman" pitchFamily="18" charset="0"/>
                <a:ea typeface="华文楷体" pitchFamily="2" charset="-122"/>
              </a:defRPr>
            </a:lvl3pPr>
            <a:lvl4pPr>
              <a:defRPr b="1" i="0" baseline="0">
                <a:latin typeface="Times New Roman" pitchFamily="18" charset="0"/>
                <a:ea typeface="华文楷体" pitchFamily="2" charset="-122"/>
              </a:defRPr>
            </a:lvl4pPr>
            <a:lvl5pPr>
              <a:defRPr b="1" i="0" baseline="0">
                <a:latin typeface="Times New Roman" pitchFamily="18" charset="0"/>
                <a:ea typeface="华文楷体"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日期占位符 3">
            <a:extLst>
              <a:ext uri="{FF2B5EF4-FFF2-40B4-BE49-F238E27FC236}">
                <a16:creationId xmlns:a16="http://schemas.microsoft.com/office/drawing/2014/main" id="{F386F8D4-7C16-4FF6-87B0-606923F23E18}"/>
              </a:ext>
            </a:extLst>
          </p:cNvPr>
          <p:cNvSpPr>
            <a:spLocks noGrp="1"/>
          </p:cNvSpPr>
          <p:nvPr>
            <p:ph type="dt" sz="half" idx="10"/>
          </p:nvPr>
        </p:nvSpPr>
        <p:spPr/>
        <p:txBody>
          <a:bodyPr/>
          <a:lstStyle>
            <a:lvl1pPr>
              <a:defRPr/>
            </a:lvl1pPr>
          </a:lstStyle>
          <a:p>
            <a:pPr>
              <a:defRPr/>
            </a:pPr>
            <a:fld id="{6510DFC8-0C02-42B8-9B93-8075565F4C94}" type="datetime1">
              <a:rPr lang="zh-CN" altLang="en-US"/>
              <a:pPr>
                <a:defRPr/>
              </a:pPr>
              <a:t>2024/03/12</a:t>
            </a:fld>
            <a:endParaRPr lang="zh-CN" altLang="en-US"/>
          </a:p>
        </p:txBody>
      </p:sp>
      <p:sp>
        <p:nvSpPr>
          <p:cNvPr id="7" name="页脚占位符 4">
            <a:extLst>
              <a:ext uri="{FF2B5EF4-FFF2-40B4-BE49-F238E27FC236}">
                <a16:creationId xmlns:a16="http://schemas.microsoft.com/office/drawing/2014/main" id="{DFD472B4-C824-486F-99A1-CAB90E541859}"/>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FEA7A1A3-B70C-44A1-A658-FA0EB1290C4E}"/>
              </a:ext>
            </a:extLst>
          </p:cNvPr>
          <p:cNvSpPr>
            <a:spLocks noGrp="1"/>
          </p:cNvSpPr>
          <p:nvPr>
            <p:ph type="sldNum" sz="quarter" idx="12"/>
          </p:nvPr>
        </p:nvSpPr>
        <p:spPr/>
        <p:txBody>
          <a:bodyPr/>
          <a:lstStyle>
            <a:lvl1pPr>
              <a:defRPr/>
            </a:lvl1pPr>
          </a:lstStyle>
          <a:p>
            <a:fld id="{8CAD05EC-9547-4DDC-8563-4F5C5AFE5FBA}" type="slidenum">
              <a:rPr lang="zh-CN" altLang="en-US"/>
              <a:pPr/>
              <a:t>‹#›</a:t>
            </a:fld>
            <a:endParaRPr lang="zh-CN" altLang="en-US"/>
          </a:p>
        </p:txBody>
      </p:sp>
    </p:spTree>
    <p:extLst>
      <p:ext uri="{BB962C8B-B14F-4D97-AF65-F5344CB8AC3E}">
        <p14:creationId xmlns:p14="http://schemas.microsoft.com/office/powerpoint/2010/main" val="7873812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AE1F642-0639-4E32-A64C-867233E985E7}"/>
              </a:ext>
            </a:extLst>
          </p:cNvPr>
          <p:cNvSpPr>
            <a:spLocks noGrp="1"/>
          </p:cNvSpPr>
          <p:nvPr>
            <p:ph type="dt" sz="half" idx="10"/>
          </p:nvPr>
        </p:nvSpPr>
        <p:spPr/>
        <p:txBody>
          <a:bodyPr/>
          <a:lstStyle>
            <a:lvl1pPr>
              <a:defRPr/>
            </a:lvl1pPr>
          </a:lstStyle>
          <a:p>
            <a:pPr>
              <a:defRPr/>
            </a:pPr>
            <a:fld id="{F26EA52B-1486-426F-BAB3-0C8EE9969804}" type="datetime1">
              <a:rPr lang="zh-CN" altLang="en-US"/>
              <a:pPr>
                <a:defRPr/>
              </a:pPr>
              <a:t>2024/03/12</a:t>
            </a:fld>
            <a:endParaRPr lang="zh-CN" altLang="en-US" dirty="0"/>
          </a:p>
        </p:txBody>
      </p:sp>
      <p:sp>
        <p:nvSpPr>
          <p:cNvPr id="5" name="页脚占位符 4">
            <a:extLst>
              <a:ext uri="{FF2B5EF4-FFF2-40B4-BE49-F238E27FC236}">
                <a16:creationId xmlns:a16="http://schemas.microsoft.com/office/drawing/2014/main" id="{E655378C-F70D-4668-ABD7-BE452FE9D4D5}"/>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982F21CD-16A3-4A93-AAFF-89D380194DF8}"/>
              </a:ext>
            </a:extLst>
          </p:cNvPr>
          <p:cNvSpPr>
            <a:spLocks noGrp="1"/>
          </p:cNvSpPr>
          <p:nvPr>
            <p:ph type="sldNum" sz="quarter" idx="12"/>
          </p:nvPr>
        </p:nvSpPr>
        <p:spPr/>
        <p:txBody>
          <a:bodyPr/>
          <a:lstStyle>
            <a:lvl1pPr>
              <a:defRPr/>
            </a:lvl1pPr>
          </a:lstStyle>
          <a:p>
            <a:fld id="{75A792AB-F63E-4BD0-A64B-54A5458C115A}" type="slidenum">
              <a:rPr lang="zh-CN" altLang="en-US"/>
              <a:pPr/>
              <a:t>‹#›</a:t>
            </a:fld>
            <a:endParaRPr lang="zh-CN" altLang="en-US"/>
          </a:p>
        </p:txBody>
      </p:sp>
    </p:spTree>
    <p:extLst>
      <p:ext uri="{BB962C8B-B14F-4D97-AF65-F5344CB8AC3E}">
        <p14:creationId xmlns:p14="http://schemas.microsoft.com/office/powerpoint/2010/main" val="30896445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5" name="Picture 5" descr="C:\Program Files\Microsoft Office\MEDIA\OFFICE12\Lines\BD21427_.gif">
            <a:extLst>
              <a:ext uri="{FF2B5EF4-FFF2-40B4-BE49-F238E27FC236}">
                <a16:creationId xmlns:a16="http://schemas.microsoft.com/office/drawing/2014/main" id="{3CA28AF6-FFCD-46E8-9FFB-71257A742C0E}"/>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23938"/>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C:\Program Files\Microsoft Office\MEDIA\OFFICE12\Lines\BD21390_.gif">
            <a:extLst>
              <a:ext uri="{FF2B5EF4-FFF2-40B4-BE49-F238E27FC236}">
                <a16:creationId xmlns:a16="http://schemas.microsoft.com/office/drawing/2014/main" id="{6A2F0A6A-3366-4066-8D16-50164E611B3B}"/>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i="0"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sz="half" idx="1"/>
          </p:nvPr>
        </p:nvSpPr>
        <p:spPr>
          <a:xfrm>
            <a:off x="457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4">
            <a:extLst>
              <a:ext uri="{FF2B5EF4-FFF2-40B4-BE49-F238E27FC236}">
                <a16:creationId xmlns:a16="http://schemas.microsoft.com/office/drawing/2014/main" id="{99694167-F9A2-4E92-9279-188B9444BAF0}"/>
              </a:ext>
            </a:extLst>
          </p:cNvPr>
          <p:cNvSpPr>
            <a:spLocks noGrp="1"/>
          </p:cNvSpPr>
          <p:nvPr>
            <p:ph type="dt" sz="half" idx="10"/>
          </p:nvPr>
        </p:nvSpPr>
        <p:spPr/>
        <p:txBody>
          <a:bodyPr/>
          <a:lstStyle>
            <a:lvl1pPr>
              <a:defRPr/>
            </a:lvl1pPr>
          </a:lstStyle>
          <a:p>
            <a:pPr>
              <a:defRPr/>
            </a:pPr>
            <a:fld id="{C3C6E2AC-257F-4600-B8D6-A03336B5F0B1}" type="datetime1">
              <a:rPr lang="zh-CN" altLang="en-US"/>
              <a:pPr>
                <a:defRPr/>
              </a:pPr>
              <a:t>2024/03/12</a:t>
            </a:fld>
            <a:endParaRPr lang="zh-CN" altLang="en-US"/>
          </a:p>
        </p:txBody>
      </p:sp>
      <p:sp>
        <p:nvSpPr>
          <p:cNvPr id="8" name="页脚占位符 5">
            <a:extLst>
              <a:ext uri="{FF2B5EF4-FFF2-40B4-BE49-F238E27FC236}">
                <a16:creationId xmlns:a16="http://schemas.microsoft.com/office/drawing/2014/main" id="{BC31BAA0-6A5B-49D4-ADED-2059147C3F2B}"/>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6">
            <a:extLst>
              <a:ext uri="{FF2B5EF4-FFF2-40B4-BE49-F238E27FC236}">
                <a16:creationId xmlns:a16="http://schemas.microsoft.com/office/drawing/2014/main" id="{CD6F071A-463D-471B-A385-8D253DD57887}"/>
              </a:ext>
            </a:extLst>
          </p:cNvPr>
          <p:cNvSpPr>
            <a:spLocks noGrp="1"/>
          </p:cNvSpPr>
          <p:nvPr>
            <p:ph type="sldNum" sz="quarter" idx="12"/>
          </p:nvPr>
        </p:nvSpPr>
        <p:spPr/>
        <p:txBody>
          <a:bodyPr/>
          <a:lstStyle>
            <a:lvl1pPr>
              <a:defRPr/>
            </a:lvl1pPr>
          </a:lstStyle>
          <a:p>
            <a:fld id="{567736BF-466D-472B-AFE9-80B6D2852EF0}" type="slidenum">
              <a:rPr lang="zh-CN" altLang="en-US"/>
              <a:pPr/>
              <a:t>‹#›</a:t>
            </a:fld>
            <a:endParaRPr lang="zh-CN" altLang="en-US"/>
          </a:p>
        </p:txBody>
      </p:sp>
    </p:spTree>
    <p:extLst>
      <p:ext uri="{BB962C8B-B14F-4D97-AF65-F5344CB8AC3E}">
        <p14:creationId xmlns:p14="http://schemas.microsoft.com/office/powerpoint/2010/main" val="4833116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7" name="Picture 5" descr="C:\Program Files\Microsoft Office\MEDIA\OFFICE12\Lines\BD21427_.gif">
            <a:extLst>
              <a:ext uri="{FF2B5EF4-FFF2-40B4-BE49-F238E27FC236}">
                <a16:creationId xmlns:a16="http://schemas.microsoft.com/office/drawing/2014/main" id="{011C1E84-2655-46AF-95C4-8F4BBC14BB5F}"/>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C:\Program Files\Microsoft Office\MEDIA\OFFICE12\Lines\BD21390_.gif">
            <a:extLst>
              <a:ext uri="{FF2B5EF4-FFF2-40B4-BE49-F238E27FC236}">
                <a16:creationId xmlns:a16="http://schemas.microsoft.com/office/drawing/2014/main" id="{E5DB212B-021D-4A62-984B-90C03B076571}"/>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4298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1785926"/>
            <a:ext cx="4040188"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5" y="114298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45025" y="1785926"/>
            <a:ext cx="4041775"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日期占位符 6">
            <a:extLst>
              <a:ext uri="{FF2B5EF4-FFF2-40B4-BE49-F238E27FC236}">
                <a16:creationId xmlns:a16="http://schemas.microsoft.com/office/drawing/2014/main" id="{972F64B0-A442-47AC-8FD6-A36BF69F2405}"/>
              </a:ext>
            </a:extLst>
          </p:cNvPr>
          <p:cNvSpPr>
            <a:spLocks noGrp="1"/>
          </p:cNvSpPr>
          <p:nvPr>
            <p:ph type="dt" sz="half" idx="10"/>
          </p:nvPr>
        </p:nvSpPr>
        <p:spPr/>
        <p:txBody>
          <a:bodyPr/>
          <a:lstStyle>
            <a:lvl1pPr>
              <a:defRPr/>
            </a:lvl1pPr>
          </a:lstStyle>
          <a:p>
            <a:pPr>
              <a:defRPr/>
            </a:pPr>
            <a:fld id="{4B721071-D16B-41F5-9961-6618DFC9E83F}" type="datetime1">
              <a:rPr lang="zh-CN" altLang="en-US"/>
              <a:pPr>
                <a:defRPr/>
              </a:pPr>
              <a:t>2024/03/12</a:t>
            </a:fld>
            <a:endParaRPr lang="zh-CN" altLang="en-US"/>
          </a:p>
        </p:txBody>
      </p:sp>
      <p:sp>
        <p:nvSpPr>
          <p:cNvPr id="10" name="页脚占位符 7">
            <a:extLst>
              <a:ext uri="{FF2B5EF4-FFF2-40B4-BE49-F238E27FC236}">
                <a16:creationId xmlns:a16="http://schemas.microsoft.com/office/drawing/2014/main" id="{AED0C8F0-7A39-4F94-B8A4-4BF68323E755}"/>
              </a:ext>
            </a:extLst>
          </p:cNvPr>
          <p:cNvSpPr>
            <a:spLocks noGrp="1"/>
          </p:cNvSpPr>
          <p:nvPr>
            <p:ph type="ftr" sz="quarter" idx="11"/>
          </p:nvPr>
        </p:nvSpPr>
        <p:spPr/>
        <p:txBody>
          <a:bodyPr/>
          <a:lstStyle>
            <a:lvl1pPr>
              <a:defRPr/>
            </a:lvl1pPr>
          </a:lstStyle>
          <a:p>
            <a:pPr>
              <a:defRPr/>
            </a:pPr>
            <a:endParaRPr lang="zh-CN" altLang="en-US"/>
          </a:p>
        </p:txBody>
      </p:sp>
      <p:sp>
        <p:nvSpPr>
          <p:cNvPr id="11" name="灯片编号占位符 8">
            <a:extLst>
              <a:ext uri="{FF2B5EF4-FFF2-40B4-BE49-F238E27FC236}">
                <a16:creationId xmlns:a16="http://schemas.microsoft.com/office/drawing/2014/main" id="{59C8DA22-1EAE-444D-86F9-09ED121B35BA}"/>
              </a:ext>
            </a:extLst>
          </p:cNvPr>
          <p:cNvSpPr>
            <a:spLocks noGrp="1"/>
          </p:cNvSpPr>
          <p:nvPr>
            <p:ph type="sldNum" sz="quarter" idx="12"/>
          </p:nvPr>
        </p:nvSpPr>
        <p:spPr/>
        <p:txBody>
          <a:bodyPr/>
          <a:lstStyle>
            <a:lvl1pPr>
              <a:defRPr/>
            </a:lvl1pPr>
          </a:lstStyle>
          <a:p>
            <a:fld id="{49CF45D2-D487-487F-B2A5-3456A71E4E47}" type="slidenum">
              <a:rPr lang="zh-CN" altLang="en-US"/>
              <a:pPr/>
              <a:t>‹#›</a:t>
            </a:fld>
            <a:endParaRPr lang="zh-CN" altLang="en-US"/>
          </a:p>
        </p:txBody>
      </p:sp>
    </p:spTree>
    <p:extLst>
      <p:ext uri="{BB962C8B-B14F-4D97-AF65-F5344CB8AC3E}">
        <p14:creationId xmlns:p14="http://schemas.microsoft.com/office/powerpoint/2010/main" val="32748115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3" name="Picture 5" descr="C:\Program Files\Microsoft Office\MEDIA\OFFICE12\Lines\BD21427_.gif">
            <a:extLst>
              <a:ext uri="{FF2B5EF4-FFF2-40B4-BE49-F238E27FC236}">
                <a16:creationId xmlns:a16="http://schemas.microsoft.com/office/drawing/2014/main" id="{6A7755EB-B267-42B0-87FC-09DB9354F291}"/>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C:\Program Files\Microsoft Office\MEDIA\OFFICE12\Lines\BD21390_.gif">
            <a:extLst>
              <a:ext uri="{FF2B5EF4-FFF2-40B4-BE49-F238E27FC236}">
                <a16:creationId xmlns:a16="http://schemas.microsoft.com/office/drawing/2014/main" id="{AC4964E1-80FA-4AD9-AD76-E354AC2DB662}"/>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5" name="日期占位符 2">
            <a:extLst>
              <a:ext uri="{FF2B5EF4-FFF2-40B4-BE49-F238E27FC236}">
                <a16:creationId xmlns:a16="http://schemas.microsoft.com/office/drawing/2014/main" id="{05B2423F-F843-416A-8090-2C78F502DF75}"/>
              </a:ext>
            </a:extLst>
          </p:cNvPr>
          <p:cNvSpPr>
            <a:spLocks noGrp="1"/>
          </p:cNvSpPr>
          <p:nvPr>
            <p:ph type="dt" sz="half" idx="10"/>
          </p:nvPr>
        </p:nvSpPr>
        <p:spPr/>
        <p:txBody>
          <a:bodyPr/>
          <a:lstStyle>
            <a:lvl1pPr>
              <a:defRPr/>
            </a:lvl1pPr>
          </a:lstStyle>
          <a:p>
            <a:pPr>
              <a:defRPr/>
            </a:pPr>
            <a:fld id="{BF427368-E653-4C95-9238-81C7971D49EA}" type="datetime1">
              <a:rPr lang="zh-CN" altLang="en-US"/>
              <a:pPr>
                <a:defRPr/>
              </a:pPr>
              <a:t>2024/03/12</a:t>
            </a:fld>
            <a:endParaRPr lang="zh-CN" altLang="en-US"/>
          </a:p>
        </p:txBody>
      </p:sp>
      <p:sp>
        <p:nvSpPr>
          <p:cNvPr id="6" name="页脚占位符 3">
            <a:extLst>
              <a:ext uri="{FF2B5EF4-FFF2-40B4-BE49-F238E27FC236}">
                <a16:creationId xmlns:a16="http://schemas.microsoft.com/office/drawing/2014/main" id="{83B37CD4-0D71-448D-88C3-702EE563CD4E}"/>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4">
            <a:extLst>
              <a:ext uri="{FF2B5EF4-FFF2-40B4-BE49-F238E27FC236}">
                <a16:creationId xmlns:a16="http://schemas.microsoft.com/office/drawing/2014/main" id="{7B3B5913-4640-4D40-800F-35A383637AA1}"/>
              </a:ext>
            </a:extLst>
          </p:cNvPr>
          <p:cNvSpPr>
            <a:spLocks noGrp="1"/>
          </p:cNvSpPr>
          <p:nvPr>
            <p:ph type="sldNum" sz="quarter" idx="12"/>
          </p:nvPr>
        </p:nvSpPr>
        <p:spPr/>
        <p:txBody>
          <a:bodyPr/>
          <a:lstStyle>
            <a:lvl1pPr>
              <a:defRPr/>
            </a:lvl1pPr>
          </a:lstStyle>
          <a:p>
            <a:fld id="{DA35B325-49B9-41E3-8A89-EBB14E2E96E6}" type="slidenum">
              <a:rPr lang="zh-CN" altLang="en-US"/>
              <a:pPr/>
              <a:t>‹#›</a:t>
            </a:fld>
            <a:endParaRPr lang="zh-CN" altLang="en-US"/>
          </a:p>
        </p:txBody>
      </p:sp>
    </p:spTree>
    <p:extLst>
      <p:ext uri="{BB962C8B-B14F-4D97-AF65-F5344CB8AC3E}">
        <p14:creationId xmlns:p14="http://schemas.microsoft.com/office/powerpoint/2010/main" val="28485036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BD2FD089-A1BC-4C1E-AC34-C9DFCBD6696E}"/>
              </a:ext>
            </a:extLst>
          </p:cNvPr>
          <p:cNvSpPr>
            <a:spLocks noGrp="1"/>
          </p:cNvSpPr>
          <p:nvPr>
            <p:ph type="dt" sz="half" idx="10"/>
          </p:nvPr>
        </p:nvSpPr>
        <p:spPr/>
        <p:txBody>
          <a:bodyPr/>
          <a:lstStyle>
            <a:lvl1pPr>
              <a:defRPr/>
            </a:lvl1pPr>
          </a:lstStyle>
          <a:p>
            <a:pPr>
              <a:defRPr/>
            </a:pPr>
            <a:fld id="{271B388E-3DC6-4BE7-BF8B-899D5F0A0098}" type="datetime1">
              <a:rPr lang="zh-CN" altLang="en-US"/>
              <a:pPr>
                <a:defRPr/>
              </a:pPr>
              <a:t>2024/03/12</a:t>
            </a:fld>
            <a:endParaRPr lang="zh-CN" altLang="en-US" dirty="0"/>
          </a:p>
        </p:txBody>
      </p:sp>
      <p:sp>
        <p:nvSpPr>
          <p:cNvPr id="3" name="页脚占位符 4">
            <a:extLst>
              <a:ext uri="{FF2B5EF4-FFF2-40B4-BE49-F238E27FC236}">
                <a16:creationId xmlns:a16="http://schemas.microsoft.com/office/drawing/2014/main" id="{9E2AF5D8-58BC-4FCE-9F36-F0539E13CFBC}"/>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7C588564-9BE0-4DCA-8233-02566EB7C894}"/>
              </a:ext>
            </a:extLst>
          </p:cNvPr>
          <p:cNvSpPr>
            <a:spLocks noGrp="1"/>
          </p:cNvSpPr>
          <p:nvPr>
            <p:ph type="sldNum" sz="quarter" idx="12"/>
          </p:nvPr>
        </p:nvSpPr>
        <p:spPr/>
        <p:txBody>
          <a:bodyPr/>
          <a:lstStyle>
            <a:lvl1pPr>
              <a:defRPr/>
            </a:lvl1pPr>
          </a:lstStyle>
          <a:p>
            <a:fld id="{97FC497E-AE2F-4139-8263-5F2300DC95F8}" type="slidenum">
              <a:rPr lang="zh-CN" altLang="en-US"/>
              <a:pPr/>
              <a:t>‹#›</a:t>
            </a:fld>
            <a:endParaRPr lang="zh-CN" altLang="en-US"/>
          </a:p>
        </p:txBody>
      </p:sp>
    </p:spTree>
    <p:extLst>
      <p:ext uri="{BB962C8B-B14F-4D97-AF65-F5344CB8AC3E}">
        <p14:creationId xmlns:p14="http://schemas.microsoft.com/office/powerpoint/2010/main" val="31172935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CA804883-3662-4725-B17D-C7A4D1C70FFA}"/>
              </a:ext>
            </a:extLst>
          </p:cNvPr>
          <p:cNvSpPr>
            <a:spLocks noGrp="1"/>
          </p:cNvSpPr>
          <p:nvPr>
            <p:ph type="dt" sz="half" idx="10"/>
          </p:nvPr>
        </p:nvSpPr>
        <p:spPr/>
        <p:txBody>
          <a:bodyPr/>
          <a:lstStyle>
            <a:lvl1pPr>
              <a:defRPr/>
            </a:lvl1pPr>
          </a:lstStyle>
          <a:p>
            <a:pPr>
              <a:defRPr/>
            </a:pPr>
            <a:fld id="{1325C411-1A1C-4A96-AF17-EC3DDD67D16C}" type="datetime1">
              <a:rPr lang="zh-CN" altLang="en-US"/>
              <a:pPr>
                <a:defRPr/>
              </a:pPr>
              <a:t>2024/03/12</a:t>
            </a:fld>
            <a:endParaRPr lang="zh-CN" altLang="en-US" dirty="0"/>
          </a:p>
        </p:txBody>
      </p:sp>
      <p:sp>
        <p:nvSpPr>
          <p:cNvPr id="6" name="页脚占位符 4">
            <a:extLst>
              <a:ext uri="{FF2B5EF4-FFF2-40B4-BE49-F238E27FC236}">
                <a16:creationId xmlns:a16="http://schemas.microsoft.com/office/drawing/2014/main" id="{4A63CDA5-E935-4383-8936-33B5FDB13C5F}"/>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51D00435-AAF6-45C1-B3AB-3D9455F8C32F}"/>
              </a:ext>
            </a:extLst>
          </p:cNvPr>
          <p:cNvSpPr>
            <a:spLocks noGrp="1"/>
          </p:cNvSpPr>
          <p:nvPr>
            <p:ph type="sldNum" sz="quarter" idx="12"/>
          </p:nvPr>
        </p:nvSpPr>
        <p:spPr/>
        <p:txBody>
          <a:bodyPr/>
          <a:lstStyle>
            <a:lvl1pPr>
              <a:defRPr/>
            </a:lvl1pPr>
          </a:lstStyle>
          <a:p>
            <a:fld id="{B7C2A4CB-C12D-4256-8D5A-A6C461813455}" type="slidenum">
              <a:rPr lang="zh-CN" altLang="en-US"/>
              <a:pPr/>
              <a:t>‹#›</a:t>
            </a:fld>
            <a:endParaRPr lang="zh-CN" altLang="en-US"/>
          </a:p>
        </p:txBody>
      </p:sp>
    </p:spTree>
    <p:extLst>
      <p:ext uri="{BB962C8B-B14F-4D97-AF65-F5344CB8AC3E}">
        <p14:creationId xmlns:p14="http://schemas.microsoft.com/office/powerpoint/2010/main" val="22197525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BA41ECBE-31E9-4795-AA29-79BF0E625895}"/>
              </a:ext>
            </a:extLst>
          </p:cNvPr>
          <p:cNvSpPr>
            <a:spLocks noGrp="1"/>
          </p:cNvSpPr>
          <p:nvPr>
            <p:ph type="dt" sz="half" idx="10"/>
          </p:nvPr>
        </p:nvSpPr>
        <p:spPr/>
        <p:txBody>
          <a:bodyPr/>
          <a:lstStyle>
            <a:lvl1pPr>
              <a:defRPr/>
            </a:lvl1pPr>
          </a:lstStyle>
          <a:p>
            <a:pPr>
              <a:defRPr/>
            </a:pPr>
            <a:fld id="{FADD4E09-23AC-439F-B15A-C86555913F80}" type="datetime1">
              <a:rPr lang="zh-CN" altLang="en-US"/>
              <a:pPr>
                <a:defRPr/>
              </a:pPr>
              <a:t>2024/03/12</a:t>
            </a:fld>
            <a:endParaRPr lang="zh-CN" altLang="en-US" dirty="0"/>
          </a:p>
        </p:txBody>
      </p:sp>
      <p:sp>
        <p:nvSpPr>
          <p:cNvPr id="6" name="页脚占位符 4">
            <a:extLst>
              <a:ext uri="{FF2B5EF4-FFF2-40B4-BE49-F238E27FC236}">
                <a16:creationId xmlns:a16="http://schemas.microsoft.com/office/drawing/2014/main" id="{FE40A150-83C1-4EC8-AABC-E9D967A5E10E}"/>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467A9050-D2C4-4293-8106-573C9905D7E6}"/>
              </a:ext>
            </a:extLst>
          </p:cNvPr>
          <p:cNvSpPr>
            <a:spLocks noGrp="1"/>
          </p:cNvSpPr>
          <p:nvPr>
            <p:ph type="sldNum" sz="quarter" idx="12"/>
          </p:nvPr>
        </p:nvSpPr>
        <p:spPr/>
        <p:txBody>
          <a:bodyPr/>
          <a:lstStyle>
            <a:lvl1pPr>
              <a:defRPr/>
            </a:lvl1pPr>
          </a:lstStyle>
          <a:p>
            <a:fld id="{15BE332F-5A1F-4EE6-AC49-7863B0059AE7}" type="slidenum">
              <a:rPr lang="zh-CN" altLang="en-US"/>
              <a:pPr/>
              <a:t>‹#›</a:t>
            </a:fld>
            <a:endParaRPr lang="zh-CN" altLang="en-US"/>
          </a:p>
        </p:txBody>
      </p:sp>
    </p:spTree>
    <p:extLst>
      <p:ext uri="{BB962C8B-B14F-4D97-AF65-F5344CB8AC3E}">
        <p14:creationId xmlns:p14="http://schemas.microsoft.com/office/powerpoint/2010/main" val="42709267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718E03F3-42A9-40F1-9221-DD5E5B3EBA45}"/>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6C52F959-C8F4-43D9-B7A5-5910821C144D}"/>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14422"/>
            <a:ext cx="8229600" cy="491174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3">
            <a:extLst>
              <a:ext uri="{FF2B5EF4-FFF2-40B4-BE49-F238E27FC236}">
                <a16:creationId xmlns:a16="http://schemas.microsoft.com/office/drawing/2014/main" id="{D605FE74-658C-4702-80F9-08E4645D028D}"/>
              </a:ext>
            </a:extLst>
          </p:cNvPr>
          <p:cNvSpPr>
            <a:spLocks noGrp="1"/>
          </p:cNvSpPr>
          <p:nvPr>
            <p:ph type="dt" sz="half" idx="10"/>
          </p:nvPr>
        </p:nvSpPr>
        <p:spPr/>
        <p:txBody>
          <a:bodyPr/>
          <a:lstStyle>
            <a:lvl1pPr>
              <a:defRPr/>
            </a:lvl1pPr>
          </a:lstStyle>
          <a:p>
            <a:pPr>
              <a:defRPr/>
            </a:pPr>
            <a:fld id="{F6D22800-1B02-4E68-B5DA-0F632D14C1B7}" type="datetime1">
              <a:rPr lang="zh-CN" altLang="en-US"/>
              <a:pPr>
                <a:defRPr/>
              </a:pPr>
              <a:t>2024/03/12</a:t>
            </a:fld>
            <a:endParaRPr lang="zh-CN" altLang="en-US"/>
          </a:p>
        </p:txBody>
      </p:sp>
      <p:sp>
        <p:nvSpPr>
          <p:cNvPr id="7" name="页脚占位符 4">
            <a:extLst>
              <a:ext uri="{FF2B5EF4-FFF2-40B4-BE49-F238E27FC236}">
                <a16:creationId xmlns:a16="http://schemas.microsoft.com/office/drawing/2014/main" id="{1D5514AB-95A7-43F0-8EF9-6F73862551BA}"/>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031B192E-2959-4A16-859E-9CC19796ABBC}"/>
              </a:ext>
            </a:extLst>
          </p:cNvPr>
          <p:cNvSpPr>
            <a:spLocks noGrp="1"/>
          </p:cNvSpPr>
          <p:nvPr>
            <p:ph type="sldNum" sz="quarter" idx="12"/>
          </p:nvPr>
        </p:nvSpPr>
        <p:spPr/>
        <p:txBody>
          <a:bodyPr/>
          <a:lstStyle>
            <a:lvl1pPr>
              <a:defRPr/>
            </a:lvl1pPr>
          </a:lstStyle>
          <a:p>
            <a:fld id="{85BDFCAC-8FA6-49BB-96EA-29BB013C4506}" type="slidenum">
              <a:rPr lang="zh-CN" altLang="en-US"/>
              <a:pPr/>
              <a:t>‹#›</a:t>
            </a:fld>
            <a:endParaRPr lang="zh-CN" altLang="en-US"/>
          </a:p>
        </p:txBody>
      </p:sp>
    </p:spTree>
    <p:extLst>
      <p:ext uri="{BB962C8B-B14F-4D97-AF65-F5344CB8AC3E}">
        <p14:creationId xmlns:p14="http://schemas.microsoft.com/office/powerpoint/2010/main" val="33871124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B28F594-9639-4CC7-9F75-C3FF62050279}"/>
              </a:ext>
            </a:extLst>
          </p:cNvPr>
          <p:cNvSpPr>
            <a:spLocks noGrp="1"/>
          </p:cNvSpPr>
          <p:nvPr>
            <p:ph type="dt" sz="half" idx="10"/>
          </p:nvPr>
        </p:nvSpPr>
        <p:spPr/>
        <p:txBody>
          <a:bodyPr/>
          <a:lstStyle>
            <a:lvl1pPr>
              <a:defRPr/>
            </a:lvl1pPr>
          </a:lstStyle>
          <a:p>
            <a:pPr>
              <a:defRPr/>
            </a:pPr>
            <a:fld id="{50EA52C5-BC43-468A-8AD4-63320C89A5FA}" type="datetime1">
              <a:rPr lang="zh-CN" altLang="en-US"/>
              <a:pPr>
                <a:defRPr/>
              </a:pPr>
              <a:t>2024/03/12</a:t>
            </a:fld>
            <a:endParaRPr lang="zh-CN" altLang="en-US" dirty="0"/>
          </a:p>
        </p:txBody>
      </p:sp>
      <p:sp>
        <p:nvSpPr>
          <p:cNvPr id="5" name="页脚占位符 4">
            <a:extLst>
              <a:ext uri="{FF2B5EF4-FFF2-40B4-BE49-F238E27FC236}">
                <a16:creationId xmlns:a16="http://schemas.microsoft.com/office/drawing/2014/main" id="{77A6D01B-2310-470F-B8E3-D0F1C9F5A4B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06D9F2DC-784E-4418-97E0-38C4826FDF89}"/>
              </a:ext>
            </a:extLst>
          </p:cNvPr>
          <p:cNvSpPr>
            <a:spLocks noGrp="1"/>
          </p:cNvSpPr>
          <p:nvPr>
            <p:ph type="sldNum" sz="quarter" idx="12"/>
          </p:nvPr>
        </p:nvSpPr>
        <p:spPr/>
        <p:txBody>
          <a:bodyPr/>
          <a:lstStyle>
            <a:lvl1pPr>
              <a:defRPr/>
            </a:lvl1pPr>
          </a:lstStyle>
          <a:p>
            <a:fld id="{2CD8A7BE-A353-4091-B6F9-BA1540748EE2}" type="slidenum">
              <a:rPr lang="zh-CN" altLang="en-US"/>
              <a:pPr/>
              <a:t>‹#›</a:t>
            </a:fld>
            <a:endParaRPr lang="zh-CN" altLang="en-US"/>
          </a:p>
        </p:txBody>
      </p:sp>
    </p:spTree>
    <p:extLst>
      <p:ext uri="{BB962C8B-B14F-4D97-AF65-F5344CB8AC3E}">
        <p14:creationId xmlns:p14="http://schemas.microsoft.com/office/powerpoint/2010/main" val="6075063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3" descr="C:\Program Files\Microsoft Office\MEDIA\OFFICE12\Lines\BD15035_.gif">
            <a:extLst>
              <a:ext uri="{FF2B5EF4-FFF2-40B4-BE49-F238E27FC236}">
                <a16:creationId xmlns:a16="http://schemas.microsoft.com/office/drawing/2014/main" id="{2CB8707F-66DC-4850-8C51-871B31F6894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19939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15035_.gif">
            <a:extLst>
              <a:ext uri="{FF2B5EF4-FFF2-40B4-BE49-F238E27FC236}">
                <a16:creationId xmlns:a16="http://schemas.microsoft.com/office/drawing/2014/main" id="{C037832D-2BA3-48A2-A810-EAB4AE54947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34290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p:spPr>
        <p:txBody>
          <a:bodyPr/>
          <a:lstStyle>
            <a:lvl1pPr>
              <a:defRPr b="1" i="0" baseline="0">
                <a:latin typeface="Arial Black" pitchFamily="34" charset="0"/>
                <a:ea typeface="黑体" pitchFamily="49" charset="-122"/>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baseline="0">
                <a:solidFill>
                  <a:schemeClr val="tx1">
                    <a:tint val="75000"/>
                  </a:schemeClr>
                </a:solidFill>
                <a:latin typeface="Arial" pitchFamily="34" charset="0"/>
                <a:ea typeface="黑体"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6" name="日期占位符 3">
            <a:extLst>
              <a:ext uri="{FF2B5EF4-FFF2-40B4-BE49-F238E27FC236}">
                <a16:creationId xmlns:a16="http://schemas.microsoft.com/office/drawing/2014/main" id="{95A02DBD-5649-4DFE-B2CF-75D3938950A9}"/>
              </a:ext>
            </a:extLst>
          </p:cNvPr>
          <p:cNvSpPr>
            <a:spLocks noGrp="1"/>
          </p:cNvSpPr>
          <p:nvPr>
            <p:ph type="dt" sz="half" idx="10"/>
          </p:nvPr>
        </p:nvSpPr>
        <p:spPr/>
        <p:txBody>
          <a:bodyPr/>
          <a:lstStyle>
            <a:lvl1pPr>
              <a:defRPr/>
            </a:lvl1pPr>
          </a:lstStyle>
          <a:p>
            <a:pPr>
              <a:defRPr/>
            </a:pPr>
            <a:fld id="{659A8C79-02EB-4A50-8257-FBAB74634B83}" type="datetime1">
              <a:rPr lang="zh-CN" altLang="en-US"/>
              <a:pPr>
                <a:defRPr/>
              </a:pPr>
              <a:t>2024/03/12</a:t>
            </a:fld>
            <a:endParaRPr lang="zh-CN" altLang="en-US"/>
          </a:p>
        </p:txBody>
      </p:sp>
      <p:sp>
        <p:nvSpPr>
          <p:cNvPr id="7" name="页脚占位符 4">
            <a:extLst>
              <a:ext uri="{FF2B5EF4-FFF2-40B4-BE49-F238E27FC236}">
                <a16:creationId xmlns:a16="http://schemas.microsoft.com/office/drawing/2014/main" id="{352FE3B5-D75A-41A2-8E91-3C3311FC2709}"/>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E8F32C06-F39C-4D9F-B1FC-4F014B44D932}"/>
              </a:ext>
            </a:extLst>
          </p:cNvPr>
          <p:cNvSpPr>
            <a:spLocks noGrp="1"/>
          </p:cNvSpPr>
          <p:nvPr>
            <p:ph type="sldNum" sz="quarter" idx="12"/>
          </p:nvPr>
        </p:nvSpPr>
        <p:spPr/>
        <p:txBody>
          <a:bodyPr/>
          <a:lstStyle>
            <a:lvl1pPr>
              <a:defRPr/>
            </a:lvl1pPr>
          </a:lstStyle>
          <a:p>
            <a:fld id="{F62146ED-01F5-44AA-AA17-91AD15A13069}" type="slidenum">
              <a:rPr lang="zh-CN" altLang="en-US"/>
              <a:pPr/>
              <a:t>‹#›</a:t>
            </a:fld>
            <a:endParaRPr lang="zh-CN" altLang="en-US"/>
          </a:p>
        </p:txBody>
      </p:sp>
    </p:spTree>
    <p:extLst>
      <p:ext uri="{BB962C8B-B14F-4D97-AF65-F5344CB8AC3E}">
        <p14:creationId xmlns:p14="http://schemas.microsoft.com/office/powerpoint/2010/main" val="201790442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12CB3BF4-1EB8-4C57-A6E6-CCDA367193FE}"/>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05507A8F-C5EE-4886-BF3F-07DA36AF985E}"/>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b="1" i="0" baseline="0">
                <a:latin typeface="Times New Roman" pitchFamily="18" charset="0"/>
                <a:ea typeface="华文楷体" pitchFamily="2" charset="-122"/>
              </a:defRPr>
            </a:lvl1pPr>
            <a:lvl2pPr>
              <a:defRPr b="1" i="0" baseline="0">
                <a:latin typeface="Times New Roman" pitchFamily="18" charset="0"/>
                <a:ea typeface="华文楷体" pitchFamily="2" charset="-122"/>
              </a:defRPr>
            </a:lvl2pPr>
            <a:lvl3pPr>
              <a:defRPr b="1" i="0" baseline="0">
                <a:latin typeface="Times New Roman" pitchFamily="18" charset="0"/>
                <a:ea typeface="华文楷体" pitchFamily="2" charset="-122"/>
              </a:defRPr>
            </a:lvl3pPr>
            <a:lvl4pPr>
              <a:defRPr b="1" i="0" baseline="0">
                <a:latin typeface="Times New Roman" pitchFamily="18" charset="0"/>
                <a:ea typeface="华文楷体" pitchFamily="2" charset="-122"/>
              </a:defRPr>
            </a:lvl4pPr>
            <a:lvl5pPr>
              <a:defRPr b="1" i="0" baseline="0">
                <a:latin typeface="Times New Roman" pitchFamily="18" charset="0"/>
                <a:ea typeface="华文楷体"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日期占位符 3">
            <a:extLst>
              <a:ext uri="{FF2B5EF4-FFF2-40B4-BE49-F238E27FC236}">
                <a16:creationId xmlns:a16="http://schemas.microsoft.com/office/drawing/2014/main" id="{D3649025-C8CA-40A5-B27C-A85685C87733}"/>
              </a:ext>
            </a:extLst>
          </p:cNvPr>
          <p:cNvSpPr>
            <a:spLocks noGrp="1"/>
          </p:cNvSpPr>
          <p:nvPr>
            <p:ph type="dt" sz="half" idx="10"/>
          </p:nvPr>
        </p:nvSpPr>
        <p:spPr/>
        <p:txBody>
          <a:bodyPr/>
          <a:lstStyle>
            <a:lvl1pPr>
              <a:defRPr/>
            </a:lvl1pPr>
          </a:lstStyle>
          <a:p>
            <a:pPr>
              <a:defRPr/>
            </a:pPr>
            <a:fld id="{428DF66C-3A4C-4DFC-BE52-675B2D5B015D}" type="datetime1">
              <a:rPr lang="zh-CN" altLang="en-US"/>
              <a:pPr>
                <a:defRPr/>
              </a:pPr>
              <a:t>2024/03/12</a:t>
            </a:fld>
            <a:endParaRPr lang="zh-CN" altLang="en-US"/>
          </a:p>
        </p:txBody>
      </p:sp>
      <p:sp>
        <p:nvSpPr>
          <p:cNvPr id="7" name="页脚占位符 4">
            <a:extLst>
              <a:ext uri="{FF2B5EF4-FFF2-40B4-BE49-F238E27FC236}">
                <a16:creationId xmlns:a16="http://schemas.microsoft.com/office/drawing/2014/main" id="{3B615AD3-B034-42DA-9FE9-7555468B351A}"/>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7D44D67F-5692-40CF-9720-633834236907}"/>
              </a:ext>
            </a:extLst>
          </p:cNvPr>
          <p:cNvSpPr>
            <a:spLocks noGrp="1"/>
          </p:cNvSpPr>
          <p:nvPr>
            <p:ph type="sldNum" sz="quarter" idx="12"/>
          </p:nvPr>
        </p:nvSpPr>
        <p:spPr/>
        <p:txBody>
          <a:bodyPr/>
          <a:lstStyle>
            <a:lvl1pPr>
              <a:defRPr/>
            </a:lvl1pPr>
          </a:lstStyle>
          <a:p>
            <a:fld id="{0EF26CF9-7ED7-45FC-8A2B-49D50059D23B}" type="slidenum">
              <a:rPr lang="zh-CN" altLang="en-US"/>
              <a:pPr/>
              <a:t>‹#›</a:t>
            </a:fld>
            <a:endParaRPr lang="zh-CN" altLang="en-US"/>
          </a:p>
        </p:txBody>
      </p:sp>
    </p:spTree>
    <p:extLst>
      <p:ext uri="{BB962C8B-B14F-4D97-AF65-F5344CB8AC3E}">
        <p14:creationId xmlns:p14="http://schemas.microsoft.com/office/powerpoint/2010/main" val="10209117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3EE0829-3550-4207-A602-C9D51F6005AD}"/>
              </a:ext>
            </a:extLst>
          </p:cNvPr>
          <p:cNvSpPr>
            <a:spLocks noGrp="1"/>
          </p:cNvSpPr>
          <p:nvPr>
            <p:ph type="dt" sz="half" idx="10"/>
          </p:nvPr>
        </p:nvSpPr>
        <p:spPr/>
        <p:txBody>
          <a:bodyPr/>
          <a:lstStyle>
            <a:lvl1pPr>
              <a:defRPr/>
            </a:lvl1pPr>
          </a:lstStyle>
          <a:p>
            <a:pPr>
              <a:defRPr/>
            </a:pPr>
            <a:fld id="{6A64FB0D-ED59-4BFC-83F2-654EA03EF5A8}" type="datetime1">
              <a:rPr lang="zh-CN" altLang="en-US"/>
              <a:pPr>
                <a:defRPr/>
              </a:pPr>
              <a:t>2024/03/12</a:t>
            </a:fld>
            <a:endParaRPr lang="zh-CN" altLang="en-US" dirty="0"/>
          </a:p>
        </p:txBody>
      </p:sp>
      <p:sp>
        <p:nvSpPr>
          <p:cNvPr id="5" name="页脚占位符 4">
            <a:extLst>
              <a:ext uri="{FF2B5EF4-FFF2-40B4-BE49-F238E27FC236}">
                <a16:creationId xmlns:a16="http://schemas.microsoft.com/office/drawing/2014/main" id="{981315E6-F670-4002-B789-8CC9C7E8E980}"/>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388ACD85-DD1C-4306-AB65-846FE1F017BC}"/>
              </a:ext>
            </a:extLst>
          </p:cNvPr>
          <p:cNvSpPr>
            <a:spLocks noGrp="1"/>
          </p:cNvSpPr>
          <p:nvPr>
            <p:ph type="sldNum" sz="quarter" idx="12"/>
          </p:nvPr>
        </p:nvSpPr>
        <p:spPr/>
        <p:txBody>
          <a:bodyPr/>
          <a:lstStyle>
            <a:lvl1pPr>
              <a:defRPr/>
            </a:lvl1pPr>
          </a:lstStyle>
          <a:p>
            <a:fld id="{15C00959-FE26-4094-BA8B-5571CB4C4595}" type="slidenum">
              <a:rPr lang="zh-CN" altLang="en-US"/>
              <a:pPr/>
              <a:t>‹#›</a:t>
            </a:fld>
            <a:endParaRPr lang="zh-CN" altLang="en-US"/>
          </a:p>
        </p:txBody>
      </p:sp>
    </p:spTree>
    <p:extLst>
      <p:ext uri="{BB962C8B-B14F-4D97-AF65-F5344CB8AC3E}">
        <p14:creationId xmlns:p14="http://schemas.microsoft.com/office/powerpoint/2010/main" val="59572821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5" name="Picture 5" descr="C:\Program Files\Microsoft Office\MEDIA\OFFICE12\Lines\BD21427_.gif">
            <a:extLst>
              <a:ext uri="{FF2B5EF4-FFF2-40B4-BE49-F238E27FC236}">
                <a16:creationId xmlns:a16="http://schemas.microsoft.com/office/drawing/2014/main" id="{9A85CC7F-F396-4AF4-9943-333E2AB5493C}"/>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23938"/>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C:\Program Files\Microsoft Office\MEDIA\OFFICE12\Lines\BD21390_.gif">
            <a:extLst>
              <a:ext uri="{FF2B5EF4-FFF2-40B4-BE49-F238E27FC236}">
                <a16:creationId xmlns:a16="http://schemas.microsoft.com/office/drawing/2014/main" id="{D4745DDD-BCC9-40D5-8671-96AF63615DF3}"/>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i="0"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sz="half" idx="1"/>
          </p:nvPr>
        </p:nvSpPr>
        <p:spPr>
          <a:xfrm>
            <a:off x="457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4">
            <a:extLst>
              <a:ext uri="{FF2B5EF4-FFF2-40B4-BE49-F238E27FC236}">
                <a16:creationId xmlns:a16="http://schemas.microsoft.com/office/drawing/2014/main" id="{E9BB114A-34FA-4E21-92BB-DFEDE63D4D7E}"/>
              </a:ext>
            </a:extLst>
          </p:cNvPr>
          <p:cNvSpPr>
            <a:spLocks noGrp="1"/>
          </p:cNvSpPr>
          <p:nvPr>
            <p:ph type="dt" sz="half" idx="10"/>
          </p:nvPr>
        </p:nvSpPr>
        <p:spPr/>
        <p:txBody>
          <a:bodyPr/>
          <a:lstStyle>
            <a:lvl1pPr>
              <a:defRPr/>
            </a:lvl1pPr>
          </a:lstStyle>
          <a:p>
            <a:pPr>
              <a:defRPr/>
            </a:pPr>
            <a:fld id="{AB46E9DC-51B6-4CFF-8551-75FBB492AAE8}" type="datetime1">
              <a:rPr lang="zh-CN" altLang="en-US"/>
              <a:pPr>
                <a:defRPr/>
              </a:pPr>
              <a:t>2024/03/12</a:t>
            </a:fld>
            <a:endParaRPr lang="zh-CN" altLang="en-US"/>
          </a:p>
        </p:txBody>
      </p:sp>
      <p:sp>
        <p:nvSpPr>
          <p:cNvPr id="8" name="页脚占位符 5">
            <a:extLst>
              <a:ext uri="{FF2B5EF4-FFF2-40B4-BE49-F238E27FC236}">
                <a16:creationId xmlns:a16="http://schemas.microsoft.com/office/drawing/2014/main" id="{E915C8AB-11A3-42E3-98D5-86B839FCF10C}"/>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6">
            <a:extLst>
              <a:ext uri="{FF2B5EF4-FFF2-40B4-BE49-F238E27FC236}">
                <a16:creationId xmlns:a16="http://schemas.microsoft.com/office/drawing/2014/main" id="{D9FDF1D7-6448-4E47-BA3A-ADB10090A6BC}"/>
              </a:ext>
            </a:extLst>
          </p:cNvPr>
          <p:cNvSpPr>
            <a:spLocks noGrp="1"/>
          </p:cNvSpPr>
          <p:nvPr>
            <p:ph type="sldNum" sz="quarter" idx="12"/>
          </p:nvPr>
        </p:nvSpPr>
        <p:spPr/>
        <p:txBody>
          <a:bodyPr/>
          <a:lstStyle>
            <a:lvl1pPr>
              <a:defRPr/>
            </a:lvl1pPr>
          </a:lstStyle>
          <a:p>
            <a:fld id="{F5E38C24-B15C-40D8-87C4-95137C1E5918}" type="slidenum">
              <a:rPr lang="zh-CN" altLang="en-US"/>
              <a:pPr/>
              <a:t>‹#›</a:t>
            </a:fld>
            <a:endParaRPr lang="zh-CN" altLang="en-US"/>
          </a:p>
        </p:txBody>
      </p:sp>
    </p:spTree>
    <p:extLst>
      <p:ext uri="{BB962C8B-B14F-4D97-AF65-F5344CB8AC3E}">
        <p14:creationId xmlns:p14="http://schemas.microsoft.com/office/powerpoint/2010/main" val="208941516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7" name="Picture 5" descr="C:\Program Files\Microsoft Office\MEDIA\OFFICE12\Lines\BD21427_.gif">
            <a:extLst>
              <a:ext uri="{FF2B5EF4-FFF2-40B4-BE49-F238E27FC236}">
                <a16:creationId xmlns:a16="http://schemas.microsoft.com/office/drawing/2014/main" id="{BBB3BC6C-C319-4028-863A-F98E06045941}"/>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C:\Program Files\Microsoft Office\MEDIA\OFFICE12\Lines\BD21390_.gif">
            <a:extLst>
              <a:ext uri="{FF2B5EF4-FFF2-40B4-BE49-F238E27FC236}">
                <a16:creationId xmlns:a16="http://schemas.microsoft.com/office/drawing/2014/main" id="{7538E941-2DB3-49B9-89B7-762F6A1FF1DD}"/>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4298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1785926"/>
            <a:ext cx="4040188"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5" y="114298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45025" y="1785926"/>
            <a:ext cx="4041775"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日期占位符 6">
            <a:extLst>
              <a:ext uri="{FF2B5EF4-FFF2-40B4-BE49-F238E27FC236}">
                <a16:creationId xmlns:a16="http://schemas.microsoft.com/office/drawing/2014/main" id="{D29533E9-307A-4DD1-B9CC-96C579194B07}"/>
              </a:ext>
            </a:extLst>
          </p:cNvPr>
          <p:cNvSpPr>
            <a:spLocks noGrp="1"/>
          </p:cNvSpPr>
          <p:nvPr>
            <p:ph type="dt" sz="half" idx="10"/>
          </p:nvPr>
        </p:nvSpPr>
        <p:spPr/>
        <p:txBody>
          <a:bodyPr/>
          <a:lstStyle>
            <a:lvl1pPr>
              <a:defRPr/>
            </a:lvl1pPr>
          </a:lstStyle>
          <a:p>
            <a:pPr>
              <a:defRPr/>
            </a:pPr>
            <a:fld id="{DC35A862-6C84-4BB0-82C6-4AE1D1E85477}" type="datetime1">
              <a:rPr lang="zh-CN" altLang="en-US"/>
              <a:pPr>
                <a:defRPr/>
              </a:pPr>
              <a:t>2024/03/12</a:t>
            </a:fld>
            <a:endParaRPr lang="zh-CN" altLang="en-US"/>
          </a:p>
        </p:txBody>
      </p:sp>
      <p:sp>
        <p:nvSpPr>
          <p:cNvPr id="10" name="页脚占位符 7">
            <a:extLst>
              <a:ext uri="{FF2B5EF4-FFF2-40B4-BE49-F238E27FC236}">
                <a16:creationId xmlns:a16="http://schemas.microsoft.com/office/drawing/2014/main" id="{8303F341-837E-40C2-BE40-3DB01C91DD91}"/>
              </a:ext>
            </a:extLst>
          </p:cNvPr>
          <p:cNvSpPr>
            <a:spLocks noGrp="1"/>
          </p:cNvSpPr>
          <p:nvPr>
            <p:ph type="ftr" sz="quarter" idx="11"/>
          </p:nvPr>
        </p:nvSpPr>
        <p:spPr/>
        <p:txBody>
          <a:bodyPr/>
          <a:lstStyle>
            <a:lvl1pPr>
              <a:defRPr/>
            </a:lvl1pPr>
          </a:lstStyle>
          <a:p>
            <a:pPr>
              <a:defRPr/>
            </a:pPr>
            <a:endParaRPr lang="zh-CN" altLang="en-US"/>
          </a:p>
        </p:txBody>
      </p:sp>
      <p:sp>
        <p:nvSpPr>
          <p:cNvPr id="11" name="灯片编号占位符 8">
            <a:extLst>
              <a:ext uri="{FF2B5EF4-FFF2-40B4-BE49-F238E27FC236}">
                <a16:creationId xmlns:a16="http://schemas.microsoft.com/office/drawing/2014/main" id="{A2D15100-C3D6-448E-8D56-C50740B9229E}"/>
              </a:ext>
            </a:extLst>
          </p:cNvPr>
          <p:cNvSpPr>
            <a:spLocks noGrp="1"/>
          </p:cNvSpPr>
          <p:nvPr>
            <p:ph type="sldNum" sz="quarter" idx="12"/>
          </p:nvPr>
        </p:nvSpPr>
        <p:spPr/>
        <p:txBody>
          <a:bodyPr/>
          <a:lstStyle>
            <a:lvl1pPr>
              <a:defRPr/>
            </a:lvl1pPr>
          </a:lstStyle>
          <a:p>
            <a:fld id="{B69D3E3F-C37F-4274-AACE-6B56F4433BFC}" type="slidenum">
              <a:rPr lang="zh-CN" altLang="en-US"/>
              <a:pPr/>
              <a:t>‹#›</a:t>
            </a:fld>
            <a:endParaRPr lang="zh-CN" altLang="en-US"/>
          </a:p>
        </p:txBody>
      </p:sp>
    </p:spTree>
    <p:extLst>
      <p:ext uri="{BB962C8B-B14F-4D97-AF65-F5344CB8AC3E}">
        <p14:creationId xmlns:p14="http://schemas.microsoft.com/office/powerpoint/2010/main" val="23555871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3" name="Picture 5" descr="C:\Program Files\Microsoft Office\MEDIA\OFFICE12\Lines\BD21427_.gif">
            <a:extLst>
              <a:ext uri="{FF2B5EF4-FFF2-40B4-BE49-F238E27FC236}">
                <a16:creationId xmlns:a16="http://schemas.microsoft.com/office/drawing/2014/main" id="{1A406C9E-700F-417A-B862-51526E199DE9}"/>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C:\Program Files\Microsoft Office\MEDIA\OFFICE12\Lines\BD21390_.gif">
            <a:extLst>
              <a:ext uri="{FF2B5EF4-FFF2-40B4-BE49-F238E27FC236}">
                <a16:creationId xmlns:a16="http://schemas.microsoft.com/office/drawing/2014/main" id="{3ABEC44D-1DE1-447C-B291-FB0DE6C9D6C2}"/>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5" name="日期占位符 2">
            <a:extLst>
              <a:ext uri="{FF2B5EF4-FFF2-40B4-BE49-F238E27FC236}">
                <a16:creationId xmlns:a16="http://schemas.microsoft.com/office/drawing/2014/main" id="{77CBF5F5-9104-4D56-8A93-8FDD3644FD82}"/>
              </a:ext>
            </a:extLst>
          </p:cNvPr>
          <p:cNvSpPr>
            <a:spLocks noGrp="1"/>
          </p:cNvSpPr>
          <p:nvPr>
            <p:ph type="dt" sz="half" idx="10"/>
          </p:nvPr>
        </p:nvSpPr>
        <p:spPr/>
        <p:txBody>
          <a:bodyPr/>
          <a:lstStyle>
            <a:lvl1pPr>
              <a:defRPr/>
            </a:lvl1pPr>
          </a:lstStyle>
          <a:p>
            <a:pPr>
              <a:defRPr/>
            </a:pPr>
            <a:fld id="{5EE4800F-FAC8-4C81-8F27-771D55B91C58}" type="datetime1">
              <a:rPr lang="zh-CN" altLang="en-US"/>
              <a:pPr>
                <a:defRPr/>
              </a:pPr>
              <a:t>2024/03/12</a:t>
            </a:fld>
            <a:endParaRPr lang="zh-CN" altLang="en-US"/>
          </a:p>
        </p:txBody>
      </p:sp>
      <p:sp>
        <p:nvSpPr>
          <p:cNvPr id="6" name="页脚占位符 3">
            <a:extLst>
              <a:ext uri="{FF2B5EF4-FFF2-40B4-BE49-F238E27FC236}">
                <a16:creationId xmlns:a16="http://schemas.microsoft.com/office/drawing/2014/main" id="{5B62AFB5-578C-489A-96D3-02AA1B880690}"/>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4">
            <a:extLst>
              <a:ext uri="{FF2B5EF4-FFF2-40B4-BE49-F238E27FC236}">
                <a16:creationId xmlns:a16="http://schemas.microsoft.com/office/drawing/2014/main" id="{42C160FA-BD8D-4D3B-A07F-6A056DAF9DEB}"/>
              </a:ext>
            </a:extLst>
          </p:cNvPr>
          <p:cNvSpPr>
            <a:spLocks noGrp="1"/>
          </p:cNvSpPr>
          <p:nvPr>
            <p:ph type="sldNum" sz="quarter" idx="12"/>
          </p:nvPr>
        </p:nvSpPr>
        <p:spPr/>
        <p:txBody>
          <a:bodyPr/>
          <a:lstStyle>
            <a:lvl1pPr>
              <a:defRPr/>
            </a:lvl1pPr>
          </a:lstStyle>
          <a:p>
            <a:fld id="{2C9697EA-8765-4937-BF8E-48FFD57F5A49}" type="slidenum">
              <a:rPr lang="zh-CN" altLang="en-US"/>
              <a:pPr/>
              <a:t>‹#›</a:t>
            </a:fld>
            <a:endParaRPr lang="zh-CN" altLang="en-US"/>
          </a:p>
        </p:txBody>
      </p:sp>
    </p:spTree>
    <p:extLst>
      <p:ext uri="{BB962C8B-B14F-4D97-AF65-F5344CB8AC3E}">
        <p14:creationId xmlns:p14="http://schemas.microsoft.com/office/powerpoint/2010/main" val="35806060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94FEA92F-523E-4CBF-BCC9-3DD8D42E6CE4}"/>
              </a:ext>
            </a:extLst>
          </p:cNvPr>
          <p:cNvSpPr>
            <a:spLocks noGrp="1"/>
          </p:cNvSpPr>
          <p:nvPr>
            <p:ph type="dt" sz="half" idx="10"/>
          </p:nvPr>
        </p:nvSpPr>
        <p:spPr/>
        <p:txBody>
          <a:bodyPr/>
          <a:lstStyle>
            <a:lvl1pPr>
              <a:defRPr/>
            </a:lvl1pPr>
          </a:lstStyle>
          <a:p>
            <a:pPr>
              <a:defRPr/>
            </a:pPr>
            <a:fld id="{5434019B-572D-4C01-9DBA-B4F3B3B803D3}" type="datetime1">
              <a:rPr lang="zh-CN" altLang="en-US"/>
              <a:pPr>
                <a:defRPr/>
              </a:pPr>
              <a:t>2024/03/12</a:t>
            </a:fld>
            <a:endParaRPr lang="zh-CN" altLang="en-US" dirty="0"/>
          </a:p>
        </p:txBody>
      </p:sp>
      <p:sp>
        <p:nvSpPr>
          <p:cNvPr id="3" name="页脚占位符 4">
            <a:extLst>
              <a:ext uri="{FF2B5EF4-FFF2-40B4-BE49-F238E27FC236}">
                <a16:creationId xmlns:a16="http://schemas.microsoft.com/office/drawing/2014/main" id="{7A6158E8-6672-4A43-B43F-036EBF9BA89B}"/>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86322C9D-F8BF-4DD6-9C27-C989EBFB8301}"/>
              </a:ext>
            </a:extLst>
          </p:cNvPr>
          <p:cNvSpPr>
            <a:spLocks noGrp="1"/>
          </p:cNvSpPr>
          <p:nvPr>
            <p:ph type="sldNum" sz="quarter" idx="12"/>
          </p:nvPr>
        </p:nvSpPr>
        <p:spPr/>
        <p:txBody>
          <a:bodyPr/>
          <a:lstStyle>
            <a:lvl1pPr>
              <a:defRPr/>
            </a:lvl1pPr>
          </a:lstStyle>
          <a:p>
            <a:fld id="{4B616A71-2CBB-40D8-90C9-BD028311B1B3}" type="slidenum">
              <a:rPr lang="zh-CN" altLang="en-US"/>
              <a:pPr/>
              <a:t>‹#›</a:t>
            </a:fld>
            <a:endParaRPr lang="zh-CN" altLang="en-US"/>
          </a:p>
        </p:txBody>
      </p:sp>
    </p:spTree>
    <p:extLst>
      <p:ext uri="{BB962C8B-B14F-4D97-AF65-F5344CB8AC3E}">
        <p14:creationId xmlns:p14="http://schemas.microsoft.com/office/powerpoint/2010/main" val="206280457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FF77DBA6-48FD-41EF-AE3E-FFB225A7F1D5}"/>
              </a:ext>
            </a:extLst>
          </p:cNvPr>
          <p:cNvSpPr>
            <a:spLocks noGrp="1"/>
          </p:cNvSpPr>
          <p:nvPr>
            <p:ph type="dt" sz="half" idx="10"/>
          </p:nvPr>
        </p:nvSpPr>
        <p:spPr/>
        <p:txBody>
          <a:bodyPr/>
          <a:lstStyle>
            <a:lvl1pPr>
              <a:defRPr/>
            </a:lvl1pPr>
          </a:lstStyle>
          <a:p>
            <a:pPr>
              <a:defRPr/>
            </a:pPr>
            <a:fld id="{5BE3AC3F-3278-485F-8A66-C6843D48E4BB}" type="datetime1">
              <a:rPr lang="zh-CN" altLang="en-US"/>
              <a:pPr>
                <a:defRPr/>
              </a:pPr>
              <a:t>2024/03/12</a:t>
            </a:fld>
            <a:endParaRPr lang="zh-CN" altLang="en-US" dirty="0"/>
          </a:p>
        </p:txBody>
      </p:sp>
      <p:sp>
        <p:nvSpPr>
          <p:cNvPr id="6" name="页脚占位符 4">
            <a:extLst>
              <a:ext uri="{FF2B5EF4-FFF2-40B4-BE49-F238E27FC236}">
                <a16:creationId xmlns:a16="http://schemas.microsoft.com/office/drawing/2014/main" id="{1E7D0E09-6B95-4433-B238-D681DE201B0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3B90E9B6-3008-46CF-930E-CC9507DB2C4B}"/>
              </a:ext>
            </a:extLst>
          </p:cNvPr>
          <p:cNvSpPr>
            <a:spLocks noGrp="1"/>
          </p:cNvSpPr>
          <p:nvPr>
            <p:ph type="sldNum" sz="quarter" idx="12"/>
          </p:nvPr>
        </p:nvSpPr>
        <p:spPr/>
        <p:txBody>
          <a:bodyPr/>
          <a:lstStyle>
            <a:lvl1pPr>
              <a:defRPr/>
            </a:lvl1pPr>
          </a:lstStyle>
          <a:p>
            <a:fld id="{F40C033D-3435-496D-B665-C428A8D6EF98}" type="slidenum">
              <a:rPr lang="zh-CN" altLang="en-US"/>
              <a:pPr/>
              <a:t>‹#›</a:t>
            </a:fld>
            <a:endParaRPr lang="zh-CN" altLang="en-US"/>
          </a:p>
        </p:txBody>
      </p:sp>
    </p:spTree>
    <p:extLst>
      <p:ext uri="{BB962C8B-B14F-4D97-AF65-F5344CB8AC3E}">
        <p14:creationId xmlns:p14="http://schemas.microsoft.com/office/powerpoint/2010/main" val="94219480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7B2309B8-B948-4F2C-8455-5F7E9854829F}"/>
              </a:ext>
            </a:extLst>
          </p:cNvPr>
          <p:cNvSpPr>
            <a:spLocks noGrp="1"/>
          </p:cNvSpPr>
          <p:nvPr>
            <p:ph type="dt" sz="half" idx="10"/>
          </p:nvPr>
        </p:nvSpPr>
        <p:spPr/>
        <p:txBody>
          <a:bodyPr/>
          <a:lstStyle>
            <a:lvl1pPr>
              <a:defRPr/>
            </a:lvl1pPr>
          </a:lstStyle>
          <a:p>
            <a:pPr>
              <a:defRPr/>
            </a:pPr>
            <a:fld id="{DCD9BB17-F6EC-4059-986B-6A9BED9885AF}" type="datetime1">
              <a:rPr lang="zh-CN" altLang="en-US"/>
              <a:pPr>
                <a:defRPr/>
              </a:pPr>
              <a:t>2024/03/12</a:t>
            </a:fld>
            <a:endParaRPr lang="zh-CN" altLang="en-US" dirty="0"/>
          </a:p>
        </p:txBody>
      </p:sp>
      <p:sp>
        <p:nvSpPr>
          <p:cNvPr id="6" name="页脚占位符 4">
            <a:extLst>
              <a:ext uri="{FF2B5EF4-FFF2-40B4-BE49-F238E27FC236}">
                <a16:creationId xmlns:a16="http://schemas.microsoft.com/office/drawing/2014/main" id="{C564521F-5747-4EC4-96A7-43A4FFA9239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ED68A878-FC97-4B11-9647-F0AFB302C2C6}"/>
              </a:ext>
            </a:extLst>
          </p:cNvPr>
          <p:cNvSpPr>
            <a:spLocks noGrp="1"/>
          </p:cNvSpPr>
          <p:nvPr>
            <p:ph type="sldNum" sz="quarter" idx="12"/>
          </p:nvPr>
        </p:nvSpPr>
        <p:spPr/>
        <p:txBody>
          <a:bodyPr/>
          <a:lstStyle>
            <a:lvl1pPr>
              <a:defRPr/>
            </a:lvl1pPr>
          </a:lstStyle>
          <a:p>
            <a:fld id="{F90DB877-39CB-48BD-A247-A1B54AD1B0C4}" type="slidenum">
              <a:rPr lang="zh-CN" altLang="en-US"/>
              <a:pPr/>
              <a:t>‹#›</a:t>
            </a:fld>
            <a:endParaRPr lang="zh-CN" altLang="en-US"/>
          </a:p>
        </p:txBody>
      </p:sp>
    </p:spTree>
    <p:extLst>
      <p:ext uri="{BB962C8B-B14F-4D97-AF65-F5344CB8AC3E}">
        <p14:creationId xmlns:p14="http://schemas.microsoft.com/office/powerpoint/2010/main" val="29900047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0E14721B-0028-4106-93F3-CA4F058813BD}"/>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23C7704B-3531-4596-8C75-CBD90AE4DFED}"/>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14422"/>
            <a:ext cx="8229600" cy="491174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3">
            <a:extLst>
              <a:ext uri="{FF2B5EF4-FFF2-40B4-BE49-F238E27FC236}">
                <a16:creationId xmlns:a16="http://schemas.microsoft.com/office/drawing/2014/main" id="{E1D0FD30-1B7F-433F-A1B3-0CBF6775FF27}"/>
              </a:ext>
            </a:extLst>
          </p:cNvPr>
          <p:cNvSpPr>
            <a:spLocks noGrp="1"/>
          </p:cNvSpPr>
          <p:nvPr>
            <p:ph type="dt" sz="half" idx="10"/>
          </p:nvPr>
        </p:nvSpPr>
        <p:spPr/>
        <p:txBody>
          <a:bodyPr/>
          <a:lstStyle>
            <a:lvl1pPr>
              <a:defRPr/>
            </a:lvl1pPr>
          </a:lstStyle>
          <a:p>
            <a:pPr>
              <a:defRPr/>
            </a:pPr>
            <a:fld id="{D68F40AE-FB92-4223-B957-2DF676E4A7D3}" type="datetime1">
              <a:rPr lang="zh-CN" altLang="en-US"/>
              <a:pPr>
                <a:defRPr/>
              </a:pPr>
              <a:t>2024/03/12</a:t>
            </a:fld>
            <a:endParaRPr lang="zh-CN" altLang="en-US"/>
          </a:p>
        </p:txBody>
      </p:sp>
      <p:sp>
        <p:nvSpPr>
          <p:cNvPr id="7" name="页脚占位符 4">
            <a:extLst>
              <a:ext uri="{FF2B5EF4-FFF2-40B4-BE49-F238E27FC236}">
                <a16:creationId xmlns:a16="http://schemas.microsoft.com/office/drawing/2014/main" id="{B5F30D9C-B276-4264-A383-9351A5274016}"/>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5483E329-CAC9-4C51-944D-A533FBA4D55F}"/>
              </a:ext>
            </a:extLst>
          </p:cNvPr>
          <p:cNvSpPr>
            <a:spLocks noGrp="1"/>
          </p:cNvSpPr>
          <p:nvPr>
            <p:ph type="sldNum" sz="quarter" idx="12"/>
          </p:nvPr>
        </p:nvSpPr>
        <p:spPr/>
        <p:txBody>
          <a:bodyPr/>
          <a:lstStyle>
            <a:lvl1pPr>
              <a:defRPr/>
            </a:lvl1pPr>
          </a:lstStyle>
          <a:p>
            <a:fld id="{6E48081D-7822-4E7D-81CF-81D5A31731CC}" type="slidenum">
              <a:rPr lang="zh-CN" altLang="en-US"/>
              <a:pPr/>
              <a:t>‹#›</a:t>
            </a:fld>
            <a:endParaRPr lang="zh-CN" altLang="en-US"/>
          </a:p>
        </p:txBody>
      </p:sp>
    </p:spTree>
    <p:extLst>
      <p:ext uri="{BB962C8B-B14F-4D97-AF65-F5344CB8AC3E}">
        <p14:creationId xmlns:p14="http://schemas.microsoft.com/office/powerpoint/2010/main" val="11191817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1352781-49C3-4FA6-A0DD-28885F9FE668}"/>
              </a:ext>
            </a:extLst>
          </p:cNvPr>
          <p:cNvSpPr>
            <a:spLocks noGrp="1"/>
          </p:cNvSpPr>
          <p:nvPr>
            <p:ph type="dt" sz="half" idx="10"/>
          </p:nvPr>
        </p:nvSpPr>
        <p:spPr/>
        <p:txBody>
          <a:bodyPr/>
          <a:lstStyle>
            <a:lvl1pPr>
              <a:defRPr/>
            </a:lvl1pPr>
          </a:lstStyle>
          <a:p>
            <a:pPr>
              <a:defRPr/>
            </a:pPr>
            <a:fld id="{F6D215A1-D61A-4012-BEF1-9C9056D99445}" type="datetime1">
              <a:rPr lang="zh-CN" altLang="en-US"/>
              <a:pPr>
                <a:defRPr/>
              </a:pPr>
              <a:t>2024/03/12</a:t>
            </a:fld>
            <a:endParaRPr lang="zh-CN" altLang="en-US" dirty="0"/>
          </a:p>
        </p:txBody>
      </p:sp>
      <p:sp>
        <p:nvSpPr>
          <p:cNvPr id="5" name="页脚占位符 4">
            <a:extLst>
              <a:ext uri="{FF2B5EF4-FFF2-40B4-BE49-F238E27FC236}">
                <a16:creationId xmlns:a16="http://schemas.microsoft.com/office/drawing/2014/main" id="{931C1270-8FC8-422F-A2D9-3768AE1165F5}"/>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24DC9A3B-4887-45E9-9886-F12FAA0BA8CD}"/>
              </a:ext>
            </a:extLst>
          </p:cNvPr>
          <p:cNvSpPr>
            <a:spLocks noGrp="1"/>
          </p:cNvSpPr>
          <p:nvPr>
            <p:ph type="sldNum" sz="quarter" idx="12"/>
          </p:nvPr>
        </p:nvSpPr>
        <p:spPr/>
        <p:txBody>
          <a:bodyPr/>
          <a:lstStyle>
            <a:lvl1pPr>
              <a:defRPr/>
            </a:lvl1pPr>
          </a:lstStyle>
          <a:p>
            <a:fld id="{E4B70F55-4585-488D-A8FD-04122E605B1F}" type="slidenum">
              <a:rPr lang="zh-CN" altLang="en-US"/>
              <a:pPr/>
              <a:t>‹#›</a:t>
            </a:fld>
            <a:endParaRPr lang="zh-CN" altLang="en-US"/>
          </a:p>
        </p:txBody>
      </p:sp>
    </p:spTree>
    <p:extLst>
      <p:ext uri="{BB962C8B-B14F-4D97-AF65-F5344CB8AC3E}">
        <p14:creationId xmlns:p14="http://schemas.microsoft.com/office/powerpoint/2010/main" val="3113910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标题占位符 1">
            <a:extLst>
              <a:ext uri="{FF2B5EF4-FFF2-40B4-BE49-F238E27FC236}">
                <a16:creationId xmlns:a16="http://schemas.microsoft.com/office/drawing/2014/main" id="{32824BEB-99EE-45ED-95C0-8D44D3CD11E1}"/>
              </a:ext>
            </a:extLst>
          </p:cNvPr>
          <p:cNvSpPr>
            <a:spLocks noGrp="1"/>
          </p:cNvSpPr>
          <p:nvPr>
            <p:ph type="title"/>
          </p:nvPr>
        </p:nvSpPr>
        <p:spPr bwMode="auto">
          <a:xfrm>
            <a:off x="457200" y="274638"/>
            <a:ext cx="82296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5843" name="文本占位符 2">
            <a:extLst>
              <a:ext uri="{FF2B5EF4-FFF2-40B4-BE49-F238E27FC236}">
                <a16:creationId xmlns:a16="http://schemas.microsoft.com/office/drawing/2014/main" id="{59C9CC74-8C29-4E74-B04D-2C4DEDFDAB2F}"/>
              </a:ext>
            </a:extLst>
          </p:cNvPr>
          <p:cNvSpPr>
            <a:spLocks noGrp="1"/>
          </p:cNvSpPr>
          <p:nvPr>
            <p:ph type="body" idx="1"/>
          </p:nvPr>
        </p:nvSpPr>
        <p:spPr bwMode="auto">
          <a:xfrm>
            <a:off x="457200" y="1285875"/>
            <a:ext cx="8229600" cy="484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AE009E9-8B69-40F9-AD24-FE52B55924C6}"/>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4CF82806-9760-4B07-A585-E37673F9F335}" type="datetime1">
              <a:rPr lang="zh-CN" altLang="en-US"/>
              <a:pPr>
                <a:defRPr/>
              </a:pPr>
              <a:t>2024/03/12</a:t>
            </a:fld>
            <a:endParaRPr lang="zh-CN" altLang="en-US" dirty="0"/>
          </a:p>
        </p:txBody>
      </p:sp>
      <p:sp>
        <p:nvSpPr>
          <p:cNvPr id="5" name="页脚占位符 4">
            <a:extLst>
              <a:ext uri="{FF2B5EF4-FFF2-40B4-BE49-F238E27FC236}">
                <a16:creationId xmlns:a16="http://schemas.microsoft.com/office/drawing/2014/main" id="{AA57E404-6C1C-4733-9F37-3BED92F22C43}"/>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FD3E61E7-2656-422E-9C4D-E6C75E052CE0}"/>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0018F8A4-4D41-4481-A737-804765B2EBAE}"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824" r:id="rId1"/>
    <p:sldLayoutId id="2147483825" r:id="rId2"/>
    <p:sldLayoutId id="2147483819" r:id="rId3"/>
    <p:sldLayoutId id="2147483826" r:id="rId4"/>
    <p:sldLayoutId id="2147483827" r:id="rId5"/>
    <p:sldLayoutId id="2147483828" r:id="rId6"/>
    <p:sldLayoutId id="2147483820" r:id="rId7"/>
    <p:sldLayoutId id="2147483821" r:id="rId8"/>
    <p:sldLayoutId id="2147483822" r:id="rId9"/>
    <p:sldLayoutId id="2147483829" r:id="rId10"/>
    <p:sldLayoutId id="2147483823"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标题占位符 1">
            <a:extLst>
              <a:ext uri="{FF2B5EF4-FFF2-40B4-BE49-F238E27FC236}">
                <a16:creationId xmlns:a16="http://schemas.microsoft.com/office/drawing/2014/main" id="{FD251E30-FFF3-4F0F-97B4-A86363632A0A}"/>
              </a:ext>
            </a:extLst>
          </p:cNvPr>
          <p:cNvSpPr>
            <a:spLocks noGrp="1"/>
          </p:cNvSpPr>
          <p:nvPr>
            <p:ph type="title"/>
          </p:nvPr>
        </p:nvSpPr>
        <p:spPr bwMode="auto">
          <a:xfrm>
            <a:off x="457200" y="274638"/>
            <a:ext cx="82296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5603" name="文本占位符 2">
            <a:extLst>
              <a:ext uri="{FF2B5EF4-FFF2-40B4-BE49-F238E27FC236}">
                <a16:creationId xmlns:a16="http://schemas.microsoft.com/office/drawing/2014/main" id="{99081E8B-C489-4664-85B8-DFAF3E4AD59A}"/>
              </a:ext>
            </a:extLst>
          </p:cNvPr>
          <p:cNvSpPr>
            <a:spLocks noGrp="1"/>
          </p:cNvSpPr>
          <p:nvPr>
            <p:ph type="body" idx="1"/>
          </p:nvPr>
        </p:nvSpPr>
        <p:spPr bwMode="auto">
          <a:xfrm>
            <a:off x="457200" y="1285875"/>
            <a:ext cx="8229600" cy="484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E02D629-175A-48D8-A9DB-CA9CDAA18878}"/>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D7C8107B-C9D0-4DC8-BED2-67707A9039E9}" type="datetime1">
              <a:rPr lang="zh-CN" altLang="en-US"/>
              <a:pPr>
                <a:defRPr/>
              </a:pPr>
              <a:t>2024/03/12</a:t>
            </a:fld>
            <a:endParaRPr lang="zh-CN" altLang="en-US" dirty="0"/>
          </a:p>
        </p:txBody>
      </p:sp>
      <p:sp>
        <p:nvSpPr>
          <p:cNvPr id="5" name="页脚占位符 4">
            <a:extLst>
              <a:ext uri="{FF2B5EF4-FFF2-40B4-BE49-F238E27FC236}">
                <a16:creationId xmlns:a16="http://schemas.microsoft.com/office/drawing/2014/main" id="{E5C65C1F-C893-4A38-A304-02F4AD37F5EB}"/>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5F92325B-C66F-4589-9BB6-F18076E8FBC7}"/>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DA50CCE8-661A-49C2-8BA0-377BEAB72BD0}" type="slidenum">
              <a:rPr lang="zh-CN" altLang="en-US"/>
              <a:pPr/>
              <a:t>‹#›</a:t>
            </a:fld>
            <a:endParaRPr lang="zh-CN" altLang="en-US"/>
          </a:p>
        </p:txBody>
      </p:sp>
    </p:spTree>
    <p:extLst>
      <p:ext uri="{BB962C8B-B14F-4D97-AF65-F5344CB8AC3E}">
        <p14:creationId xmlns:p14="http://schemas.microsoft.com/office/powerpoint/2010/main" val="1427017025"/>
      </p:ext>
    </p:extLst>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标题占位符 1">
            <a:extLst>
              <a:ext uri="{FF2B5EF4-FFF2-40B4-BE49-F238E27FC236}">
                <a16:creationId xmlns:a16="http://schemas.microsoft.com/office/drawing/2014/main" id="{9518F89C-B208-4CEF-8226-133D92FAC87C}"/>
              </a:ext>
            </a:extLst>
          </p:cNvPr>
          <p:cNvSpPr>
            <a:spLocks noGrp="1"/>
          </p:cNvSpPr>
          <p:nvPr>
            <p:ph type="title"/>
          </p:nvPr>
        </p:nvSpPr>
        <p:spPr bwMode="auto">
          <a:xfrm>
            <a:off x="457200" y="274638"/>
            <a:ext cx="82296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8915" name="文本占位符 2">
            <a:extLst>
              <a:ext uri="{FF2B5EF4-FFF2-40B4-BE49-F238E27FC236}">
                <a16:creationId xmlns:a16="http://schemas.microsoft.com/office/drawing/2014/main" id="{9B47C7EE-3904-4ACE-B33E-27985F1D3AA6}"/>
              </a:ext>
            </a:extLst>
          </p:cNvPr>
          <p:cNvSpPr>
            <a:spLocks noGrp="1"/>
          </p:cNvSpPr>
          <p:nvPr>
            <p:ph type="body" idx="1"/>
          </p:nvPr>
        </p:nvSpPr>
        <p:spPr bwMode="auto">
          <a:xfrm>
            <a:off x="457200" y="1285875"/>
            <a:ext cx="8229600" cy="484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E05BCF5-D53C-4DB6-83E6-ACDB9F713F8F}"/>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BDAFA423-0AF0-4096-AB52-7D48AFB5F5D7}" type="datetime1">
              <a:rPr lang="zh-CN" altLang="en-US"/>
              <a:pPr>
                <a:defRPr/>
              </a:pPr>
              <a:t>2024/03/12</a:t>
            </a:fld>
            <a:endParaRPr lang="zh-CN" altLang="en-US" dirty="0"/>
          </a:p>
        </p:txBody>
      </p:sp>
      <p:sp>
        <p:nvSpPr>
          <p:cNvPr id="5" name="页脚占位符 4">
            <a:extLst>
              <a:ext uri="{FF2B5EF4-FFF2-40B4-BE49-F238E27FC236}">
                <a16:creationId xmlns:a16="http://schemas.microsoft.com/office/drawing/2014/main" id="{5B99DE3E-D2A6-4E6A-938E-C6732748F290}"/>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72FD53B4-344B-4776-A278-69B172E5258A}"/>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8F5500F1-7CEF-42D1-A577-EC0D58D0733F}" type="slidenum">
              <a:rPr lang="zh-CN" altLang="en-US"/>
              <a:pPr/>
              <a:t>‹#›</a:t>
            </a:fld>
            <a:endParaRPr lang="zh-CN" altLang="en-US"/>
          </a:p>
        </p:txBody>
      </p:sp>
    </p:spTree>
    <p:extLst>
      <p:ext uri="{BB962C8B-B14F-4D97-AF65-F5344CB8AC3E}">
        <p14:creationId xmlns:p14="http://schemas.microsoft.com/office/powerpoint/2010/main" val="1944312534"/>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标题占位符 1">
            <a:extLst>
              <a:ext uri="{FF2B5EF4-FFF2-40B4-BE49-F238E27FC236}">
                <a16:creationId xmlns:a16="http://schemas.microsoft.com/office/drawing/2014/main" id="{3581DA0F-0F6A-4257-9D7A-AF1ABF49E724}"/>
              </a:ext>
            </a:extLst>
          </p:cNvPr>
          <p:cNvSpPr>
            <a:spLocks noGrp="1"/>
          </p:cNvSpPr>
          <p:nvPr>
            <p:ph type="title"/>
          </p:nvPr>
        </p:nvSpPr>
        <p:spPr bwMode="auto">
          <a:xfrm>
            <a:off x="457200" y="274638"/>
            <a:ext cx="82296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60419" name="文本占位符 2">
            <a:extLst>
              <a:ext uri="{FF2B5EF4-FFF2-40B4-BE49-F238E27FC236}">
                <a16:creationId xmlns:a16="http://schemas.microsoft.com/office/drawing/2014/main" id="{740B0BB4-EB4B-475B-90A8-EEEA530C7FC4}"/>
              </a:ext>
            </a:extLst>
          </p:cNvPr>
          <p:cNvSpPr>
            <a:spLocks noGrp="1"/>
          </p:cNvSpPr>
          <p:nvPr>
            <p:ph type="body" idx="1"/>
          </p:nvPr>
        </p:nvSpPr>
        <p:spPr bwMode="auto">
          <a:xfrm>
            <a:off x="457200" y="1285875"/>
            <a:ext cx="8229600" cy="484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A2E4335-3DBA-42FA-98F7-83F680F5304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DD104EFE-AA8B-4B77-B1E0-368753DDAD43}" type="datetime1">
              <a:rPr lang="zh-CN" altLang="en-US"/>
              <a:pPr>
                <a:defRPr/>
              </a:pPr>
              <a:t>2024/03/12</a:t>
            </a:fld>
            <a:endParaRPr lang="zh-CN" altLang="en-US" dirty="0"/>
          </a:p>
        </p:txBody>
      </p:sp>
      <p:sp>
        <p:nvSpPr>
          <p:cNvPr id="5" name="页脚占位符 4">
            <a:extLst>
              <a:ext uri="{FF2B5EF4-FFF2-40B4-BE49-F238E27FC236}">
                <a16:creationId xmlns:a16="http://schemas.microsoft.com/office/drawing/2014/main" id="{7024FB43-3F5D-430A-A8AF-4FBE09F9EEB5}"/>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81603105-F244-4B42-8EBD-CC095A087896}"/>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9A8374BA-2DD4-4D22-AE1E-028B9CD96B16}" type="slidenum">
              <a:rPr lang="zh-CN" altLang="en-US"/>
              <a:pPr/>
              <a:t>‹#›</a:t>
            </a:fld>
            <a:endParaRPr lang="zh-CN" altLang="en-US"/>
          </a:p>
        </p:txBody>
      </p:sp>
    </p:spTree>
    <p:extLst>
      <p:ext uri="{BB962C8B-B14F-4D97-AF65-F5344CB8AC3E}">
        <p14:creationId xmlns:p14="http://schemas.microsoft.com/office/powerpoint/2010/main" val="2137390660"/>
      </p:ext>
    </p:extLst>
  </p:cSld>
  <p:clrMap bg1="lt1" tx1="dk1" bg2="lt2" tx2="dk2" accent1="accent1" accent2="accent2" accent3="accent3" accent4="accent4" accent5="accent5" accent6="accent6" hlink="hlink" folHlink="folHlink"/>
  <p:sldLayoutIdLst>
    <p:sldLayoutId id="2147483855" r:id="rId1"/>
    <p:sldLayoutId id="2147483856" r:id="rId2"/>
    <p:sldLayoutId id="2147483857" r:id="rId3"/>
    <p:sldLayoutId id="2147483858" r:id="rId4"/>
    <p:sldLayoutId id="2147483859" r:id="rId5"/>
    <p:sldLayoutId id="2147483860" r:id="rId6"/>
    <p:sldLayoutId id="2147483861" r:id="rId7"/>
    <p:sldLayoutId id="2147483862" r:id="rId8"/>
    <p:sldLayoutId id="2147483863" r:id="rId9"/>
    <p:sldLayoutId id="2147483864" r:id="rId10"/>
    <p:sldLayoutId id="2147483865"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1.bin"/><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3.png"/><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214.png"/><Relationship Id="rId3" Type="http://schemas.openxmlformats.org/officeDocument/2006/relationships/image" Target="../media/image204.png"/><Relationship Id="rId7" Type="http://schemas.openxmlformats.org/officeDocument/2006/relationships/image" Target="../media/image208.png"/><Relationship Id="rId12" Type="http://schemas.openxmlformats.org/officeDocument/2006/relationships/image" Target="../media/image213.png"/><Relationship Id="rId2" Type="http://schemas.openxmlformats.org/officeDocument/2006/relationships/image" Target="../media/image203.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212.png"/><Relationship Id="rId5" Type="http://schemas.openxmlformats.org/officeDocument/2006/relationships/image" Target="../media/image206.png"/><Relationship Id="rId15" Type="http://schemas.openxmlformats.org/officeDocument/2006/relationships/image" Target="../media/image216.png"/><Relationship Id="rId10" Type="http://schemas.openxmlformats.org/officeDocument/2006/relationships/image" Target="../media/image211.png"/><Relationship Id="rId4" Type="http://schemas.openxmlformats.org/officeDocument/2006/relationships/image" Target="../media/image205.png"/><Relationship Id="rId9" Type="http://schemas.openxmlformats.org/officeDocument/2006/relationships/image" Target="../media/image210.png"/><Relationship Id="rId14" Type="http://schemas.openxmlformats.org/officeDocument/2006/relationships/image" Target="../media/image215.png"/></Relationships>
</file>

<file path=ppt/slides/_rels/slide11.xml.rels><?xml version="1.0" encoding="UTF-8" standalone="yes"?>
<Relationships xmlns="http://schemas.openxmlformats.org/package/2006/relationships"><Relationship Id="rId3" Type="http://schemas.openxmlformats.org/officeDocument/2006/relationships/image" Target="../media/image260.png"/><Relationship Id="rId7" Type="http://schemas.openxmlformats.org/officeDocument/2006/relationships/image" Target="../media/image35.png"/><Relationship Id="rId2" Type="http://schemas.openxmlformats.org/officeDocument/2006/relationships/image" Target="../media/image250.png"/><Relationship Id="rId1" Type="http://schemas.openxmlformats.org/officeDocument/2006/relationships/slideLayout" Target="../slideLayouts/slideLayout2.xml"/><Relationship Id="rId6" Type="http://schemas.openxmlformats.org/officeDocument/2006/relationships/image" Target="../media/image3410.png"/><Relationship Id="rId5" Type="http://schemas.openxmlformats.org/officeDocument/2006/relationships/image" Target="../media/image34.png"/><Relationship Id="rId4" Type="http://schemas.openxmlformats.org/officeDocument/2006/relationships/image" Target="../media/image270.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10.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2" Type="http://schemas.openxmlformats.org/officeDocument/2006/relationships/image" Target="../media/image39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41.jpe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1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image" Target="../media/image44.png"/><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45.png"/></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1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720.png"/><Relationship Id="rId5" Type="http://schemas.openxmlformats.org/officeDocument/2006/relationships/image" Target="../media/image710.png"/><Relationship Id="rId4" Type="http://schemas.openxmlformats.org/officeDocument/2006/relationships/image" Target="../media/image700.png"/></Relationships>
</file>

<file path=ppt/slides/_rels/slide23.xml.rels><?xml version="1.0" encoding="UTF-8" standalone="yes"?>
<Relationships xmlns="http://schemas.openxmlformats.org/package/2006/relationships"><Relationship Id="rId8" Type="http://schemas.openxmlformats.org/officeDocument/2006/relationships/image" Target="../media/image790.png"/><Relationship Id="rId3" Type="http://schemas.openxmlformats.org/officeDocument/2006/relationships/image" Target="../media/image55.wmf"/><Relationship Id="rId7" Type="http://schemas.openxmlformats.org/officeDocument/2006/relationships/image" Target="../media/image64.png"/><Relationship Id="rId2" Type="http://schemas.openxmlformats.org/officeDocument/2006/relationships/image" Target="../media/image54.wmf"/><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7.png"/></Relationships>
</file>

<file path=ppt/slides/_rels/slide2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9.png"/><Relationship Id="rId7" Type="http://schemas.openxmlformats.org/officeDocument/2006/relationships/image" Target="../media/image80.png"/><Relationship Id="rId2" Type="http://schemas.openxmlformats.org/officeDocument/2006/relationships/image" Target="../media/image780.png"/><Relationship Id="rId1" Type="http://schemas.openxmlformats.org/officeDocument/2006/relationships/slideLayout" Target="../slideLayouts/slideLayout2.xml"/><Relationship Id="rId6" Type="http://schemas.openxmlformats.org/officeDocument/2006/relationships/image" Target="../media/image820.png"/><Relationship Id="rId5" Type="http://schemas.openxmlformats.org/officeDocument/2006/relationships/image" Target="../media/image810.png"/><Relationship Id="rId4" Type="http://schemas.openxmlformats.org/officeDocument/2006/relationships/image" Target="../media/image800.png"/></Relationships>
</file>

<file path=ppt/slides/_rels/slide2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28.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70.png"/><Relationship Id="rId7" Type="http://schemas.openxmlformats.org/officeDocument/2006/relationships/image" Target="../media/image74.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73.wmf"/><Relationship Id="rId5" Type="http://schemas.openxmlformats.org/officeDocument/2006/relationships/image" Target="../media/image72.wmf"/><Relationship Id="rId4" Type="http://schemas.openxmlformats.org/officeDocument/2006/relationships/image" Target="../media/image71.wmf"/><Relationship Id="rId9" Type="http://schemas.openxmlformats.org/officeDocument/2006/relationships/image" Target="../media/image69.wmf"/></Relationships>
</file>

<file path=ppt/slides/_rels/slide30.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93.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75.wmf"/><Relationship Id="rId5" Type="http://schemas.openxmlformats.org/officeDocument/2006/relationships/oleObject" Target="../embeddings/oleObject5.bin"/><Relationship Id="rId4" Type="http://schemas.openxmlformats.org/officeDocument/2006/relationships/image" Target="../media/image990.png"/></Relationships>
</file>

<file path=ppt/slides/_rels/slide3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1040.png"/><Relationship Id="rId5" Type="http://schemas.openxmlformats.org/officeDocument/2006/relationships/image" Target="../media/image1030.png"/><Relationship Id="rId4" Type="http://schemas.openxmlformats.org/officeDocument/2006/relationships/image" Target="../media/image84.png"/></Relationships>
</file>

<file path=ppt/slides/_rels/slide32.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070.png"/><Relationship Id="rId2" Type="http://schemas.openxmlformats.org/officeDocument/2006/relationships/image" Target="../media/image1060.png"/><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image" Target="../media/image1090.png"/><Relationship Id="rId4" Type="http://schemas.openxmlformats.org/officeDocument/2006/relationships/image" Target="../media/image1001.png"/></Relationships>
</file>

<file path=ppt/slides/_rels/slide34.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23.png"/><Relationship Id="rId7" Type="http://schemas.openxmlformats.org/officeDocument/2006/relationships/image" Target="../media/image117.png"/><Relationship Id="rId12" Type="http://schemas.openxmlformats.org/officeDocument/2006/relationships/image" Target="../media/image122.png"/><Relationship Id="rId2" Type="http://schemas.openxmlformats.org/officeDocument/2006/relationships/image" Target="../media/image87.png"/><Relationship Id="rId16" Type="http://schemas.openxmlformats.org/officeDocument/2006/relationships/image" Target="../media/image126.png"/><Relationship Id="rId1" Type="http://schemas.openxmlformats.org/officeDocument/2006/relationships/slideLayout" Target="../slideLayouts/slideLayout2.xml"/><Relationship Id="rId6" Type="http://schemas.openxmlformats.org/officeDocument/2006/relationships/image" Target="../media/image116.png"/><Relationship Id="rId11" Type="http://schemas.openxmlformats.org/officeDocument/2006/relationships/image" Target="../media/image121.png"/><Relationship Id="rId5" Type="http://schemas.openxmlformats.org/officeDocument/2006/relationships/image" Target="../media/image115.png"/><Relationship Id="rId15" Type="http://schemas.openxmlformats.org/officeDocument/2006/relationships/image" Target="../media/image125.png"/><Relationship Id="rId10" Type="http://schemas.openxmlformats.org/officeDocument/2006/relationships/image" Target="../media/image120.png"/><Relationship Id="rId4" Type="http://schemas.openxmlformats.org/officeDocument/2006/relationships/image" Target="../media/image114.png"/><Relationship Id="rId9" Type="http://schemas.openxmlformats.org/officeDocument/2006/relationships/image" Target="../media/image1021.png"/><Relationship Id="rId14" Type="http://schemas.openxmlformats.org/officeDocument/2006/relationships/image" Target="../media/image1051.png"/></Relationships>
</file>

<file path=ppt/slides/_rels/slide38.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2.xml"/><Relationship Id="rId5" Type="http://schemas.openxmlformats.org/officeDocument/2006/relationships/image" Target="../media/image89.png"/><Relationship Id="rId4" Type="http://schemas.openxmlformats.org/officeDocument/2006/relationships/image" Target="../media/image88.png"/></Relationships>
</file>

<file path=ppt/slides/_rels/slide39.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oleObject" Target="../embeddings/oleObject70.bin"/><Relationship Id="rId18" Type="http://schemas.openxmlformats.org/officeDocument/2006/relationships/image" Target="../media/image87.wmf"/><Relationship Id="rId26" Type="http://schemas.openxmlformats.org/officeDocument/2006/relationships/image" Target="../media/image142.png"/><Relationship Id="rId3" Type="http://schemas.openxmlformats.org/officeDocument/2006/relationships/image" Target="../media/image1000.png"/><Relationship Id="rId21" Type="http://schemas.openxmlformats.org/officeDocument/2006/relationships/image" Target="../media/image137.png"/><Relationship Id="rId7" Type="http://schemas.openxmlformats.org/officeDocument/2006/relationships/image" Target="../media/image1110.png"/><Relationship Id="rId12" Type="http://schemas.openxmlformats.org/officeDocument/2006/relationships/image" Target="../media/image43.wmf"/><Relationship Id="rId17" Type="http://schemas.openxmlformats.org/officeDocument/2006/relationships/oleObject" Target="../embeddings/oleObject7.bin"/><Relationship Id="rId25" Type="http://schemas.openxmlformats.org/officeDocument/2006/relationships/image" Target="../media/image141.png"/><Relationship Id="rId2" Type="http://schemas.openxmlformats.org/officeDocument/2006/relationships/slideLayout" Target="../slideLayouts/slideLayout13.xml"/><Relationship Id="rId16" Type="http://schemas.openxmlformats.org/officeDocument/2006/relationships/image" Target="../media/image135.png"/><Relationship Id="rId20" Type="http://schemas.openxmlformats.org/officeDocument/2006/relationships/image" Target="../media/image87.wmf"/><Relationship Id="rId1" Type="http://schemas.openxmlformats.org/officeDocument/2006/relationships/vmlDrawing" Target="../drawings/vmlDrawing5.vml"/><Relationship Id="rId6" Type="http://schemas.openxmlformats.org/officeDocument/2006/relationships/image" Target="../media/image1050.png"/><Relationship Id="rId11" Type="http://schemas.openxmlformats.org/officeDocument/2006/relationships/oleObject" Target="../embeddings/oleObject6.bin"/><Relationship Id="rId24" Type="http://schemas.openxmlformats.org/officeDocument/2006/relationships/image" Target="../media/image140.png"/><Relationship Id="rId5" Type="http://schemas.openxmlformats.org/officeDocument/2006/relationships/image" Target="../media/image1020.png"/><Relationship Id="rId15" Type="http://schemas.openxmlformats.org/officeDocument/2006/relationships/image" Target="../media/image134.png"/><Relationship Id="rId23" Type="http://schemas.openxmlformats.org/officeDocument/2006/relationships/image" Target="../media/image139.png"/><Relationship Id="rId10" Type="http://schemas.openxmlformats.org/officeDocument/2006/relationships/image" Target="../media/image133.png"/><Relationship Id="rId19" Type="http://schemas.openxmlformats.org/officeDocument/2006/relationships/oleObject" Target="../embeddings/oleObject80.bin"/><Relationship Id="rId4" Type="http://schemas.openxmlformats.org/officeDocument/2006/relationships/image" Target="../media/image1010.png"/><Relationship Id="rId9" Type="http://schemas.openxmlformats.org/officeDocument/2006/relationships/image" Target="../media/image132.png"/><Relationship Id="rId14" Type="http://schemas.openxmlformats.org/officeDocument/2006/relationships/image" Target="../media/image43.wmf"/><Relationship Id="rId22" Type="http://schemas.openxmlformats.org/officeDocument/2006/relationships/image" Target="../media/image138.png"/></Relationships>
</file>

<file path=ppt/slides/_rels/slide40.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4.png"/><Relationship Id="rId7" Type="http://schemas.openxmlformats.org/officeDocument/2006/relationships/image" Target="../media/image124.png"/><Relationship Id="rId12" Type="http://schemas.openxmlformats.org/officeDocument/2006/relationships/image" Target="../media/image136.png"/><Relationship Id="rId17" Type="http://schemas.openxmlformats.org/officeDocument/2006/relationships/image" Target="../media/image157.png"/><Relationship Id="rId2" Type="http://schemas.openxmlformats.org/officeDocument/2006/relationships/image" Target="../media/image1080.png"/><Relationship Id="rId16" Type="http://schemas.openxmlformats.org/officeDocument/2006/relationships/image" Target="../media/image156.png"/><Relationship Id="rId1" Type="http://schemas.openxmlformats.org/officeDocument/2006/relationships/slideLayout" Target="../slideLayouts/slideLayout13.xml"/><Relationship Id="rId6" Type="http://schemas.openxmlformats.org/officeDocument/2006/relationships/image" Target="../media/image119.png"/><Relationship Id="rId11" Type="http://schemas.openxmlformats.org/officeDocument/2006/relationships/image" Target="../media/image152.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3.png"/><Relationship Id="rId9" Type="http://schemas.openxmlformats.org/officeDocument/2006/relationships/image" Target="../media/image149.png"/><Relationship Id="rId14" Type="http://schemas.openxmlformats.org/officeDocument/2006/relationships/image" Target="../media/image154.png"/></Relationships>
</file>

<file path=ppt/slides/_rels/slide41.xml.rels><?xml version="1.0" encoding="UTF-8" standalone="yes"?>
<Relationships xmlns="http://schemas.openxmlformats.org/package/2006/relationships"><Relationship Id="rId8" Type="http://schemas.openxmlformats.org/officeDocument/2006/relationships/image" Target="../media/image164.png"/><Relationship Id="rId13" Type="http://schemas.openxmlformats.org/officeDocument/2006/relationships/image" Target="../media/image169.png"/><Relationship Id="rId18" Type="http://schemas.openxmlformats.org/officeDocument/2006/relationships/image" Target="../media/image174.png"/><Relationship Id="rId3" Type="http://schemas.openxmlformats.org/officeDocument/2006/relationships/image" Target="../media/image159.png"/><Relationship Id="rId7" Type="http://schemas.openxmlformats.org/officeDocument/2006/relationships/image" Target="../media/image163.png"/><Relationship Id="rId12" Type="http://schemas.openxmlformats.org/officeDocument/2006/relationships/image" Target="../media/image168.png"/><Relationship Id="rId17" Type="http://schemas.openxmlformats.org/officeDocument/2006/relationships/image" Target="../media/image173.png"/><Relationship Id="rId2" Type="http://schemas.openxmlformats.org/officeDocument/2006/relationships/image" Target="../media/image158.png"/><Relationship Id="rId16" Type="http://schemas.openxmlformats.org/officeDocument/2006/relationships/image" Target="../media/image172.png"/><Relationship Id="rId1" Type="http://schemas.openxmlformats.org/officeDocument/2006/relationships/slideLayout" Target="../slideLayouts/slideLayout13.xml"/><Relationship Id="rId6" Type="http://schemas.openxmlformats.org/officeDocument/2006/relationships/image" Target="../media/image162.png"/><Relationship Id="rId11" Type="http://schemas.openxmlformats.org/officeDocument/2006/relationships/image" Target="../media/image167.png"/><Relationship Id="rId5" Type="http://schemas.openxmlformats.org/officeDocument/2006/relationships/image" Target="../media/image161.png"/><Relationship Id="rId15" Type="http://schemas.openxmlformats.org/officeDocument/2006/relationships/image" Target="../media/image171.png"/><Relationship Id="rId10" Type="http://schemas.openxmlformats.org/officeDocument/2006/relationships/image" Target="../media/image166.png"/><Relationship Id="rId19" Type="http://schemas.openxmlformats.org/officeDocument/2006/relationships/image" Target="../media/image175.png"/><Relationship Id="rId4" Type="http://schemas.openxmlformats.org/officeDocument/2006/relationships/image" Target="../media/image160.png"/><Relationship Id="rId9" Type="http://schemas.openxmlformats.org/officeDocument/2006/relationships/image" Target="../media/image165.png"/><Relationship Id="rId14" Type="http://schemas.openxmlformats.org/officeDocument/2006/relationships/image" Target="../media/image170.png"/></Relationships>
</file>

<file path=ppt/slides/_rels/slide42.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image" Target="../media/image176.png"/><Relationship Id="rId1" Type="http://schemas.openxmlformats.org/officeDocument/2006/relationships/slideLayout" Target="../slideLayouts/slideLayout13.xml"/><Relationship Id="rId5" Type="http://schemas.openxmlformats.org/officeDocument/2006/relationships/image" Target="../media/image179.png"/><Relationship Id="rId4" Type="http://schemas.openxmlformats.org/officeDocument/2006/relationships/image" Target="../media/image178.png"/></Relationships>
</file>

<file path=ppt/slides/_rels/slide43.xml.rels><?xml version="1.0" encoding="UTF-8" standalone="yes"?>
<Relationships xmlns="http://schemas.openxmlformats.org/package/2006/relationships"><Relationship Id="rId3" Type="http://schemas.openxmlformats.org/officeDocument/2006/relationships/image" Target="../media/image181.png"/><Relationship Id="rId7" Type="http://schemas.openxmlformats.org/officeDocument/2006/relationships/image" Target="../media/image185.png"/><Relationship Id="rId2" Type="http://schemas.openxmlformats.org/officeDocument/2006/relationships/image" Target="../media/image180.png"/><Relationship Id="rId1" Type="http://schemas.openxmlformats.org/officeDocument/2006/relationships/slideLayout" Target="../slideLayouts/slideLayout13.xml"/><Relationship Id="rId6" Type="http://schemas.openxmlformats.org/officeDocument/2006/relationships/image" Target="../media/image184.png"/><Relationship Id="rId5" Type="http://schemas.openxmlformats.org/officeDocument/2006/relationships/image" Target="../media/image183.png"/><Relationship Id="rId4" Type="http://schemas.openxmlformats.org/officeDocument/2006/relationships/image" Target="../media/image182.png"/></Relationships>
</file>

<file path=ppt/slides/_rels/slide44.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image" Target="../media/image186.png"/><Relationship Id="rId1" Type="http://schemas.openxmlformats.org/officeDocument/2006/relationships/slideLayout" Target="../slideLayouts/slideLayout13.xml"/><Relationship Id="rId6" Type="http://schemas.openxmlformats.org/officeDocument/2006/relationships/image" Target="../media/image146.png"/><Relationship Id="rId5" Type="http://schemas.openxmlformats.org/officeDocument/2006/relationships/image" Target="../media/image189.png"/><Relationship Id="rId4" Type="http://schemas.openxmlformats.org/officeDocument/2006/relationships/image" Target="../media/image188.png"/></Relationships>
</file>

<file path=ppt/slides/_rels/slide45.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47.png"/><Relationship Id="rId1" Type="http://schemas.openxmlformats.org/officeDocument/2006/relationships/slideLayout" Target="../slideLayouts/slideLayout13.xml"/><Relationship Id="rId5" Type="http://schemas.openxmlformats.org/officeDocument/2006/relationships/image" Target="../media/image191.png"/><Relationship Id="rId4" Type="http://schemas.openxmlformats.org/officeDocument/2006/relationships/image" Target="../media/image190.png"/></Relationships>
</file>

<file path=ppt/slides/_rels/slide46.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image" Target="../media/image195.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image" Target="../media/image197.png"/><Relationship Id="rId1" Type="http://schemas.openxmlformats.org/officeDocument/2006/relationships/slideLayout" Target="../slideLayouts/slideLayout13.xml"/><Relationship Id="rId5" Type="http://schemas.openxmlformats.org/officeDocument/2006/relationships/image" Target="../media/image200.png"/><Relationship Id="rId4" Type="http://schemas.openxmlformats.org/officeDocument/2006/relationships/image" Target="../media/image199.png"/></Relationships>
</file>

<file path=ppt/slides/_rels/slide48.xml.rels><?xml version="1.0" encoding="UTF-8" standalone="yes"?>
<Relationships xmlns="http://schemas.openxmlformats.org/package/2006/relationships"><Relationship Id="rId8" Type="http://schemas.openxmlformats.org/officeDocument/2006/relationships/image" Target="../media/image2060.png"/><Relationship Id="rId3" Type="http://schemas.openxmlformats.org/officeDocument/2006/relationships/image" Target="../media/image201.png"/><Relationship Id="rId7" Type="http://schemas.openxmlformats.org/officeDocument/2006/relationships/image" Target="../media/image2050.png"/><Relationship Id="rId12" Type="http://schemas.openxmlformats.org/officeDocument/2006/relationships/image" Target="../media/image2100.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2040.png"/><Relationship Id="rId11" Type="http://schemas.openxmlformats.org/officeDocument/2006/relationships/image" Target="../media/image209.png"/><Relationship Id="rId5" Type="http://schemas.openxmlformats.org/officeDocument/2006/relationships/image" Target="../media/image2030.png"/><Relationship Id="rId10" Type="http://schemas.openxmlformats.org/officeDocument/2006/relationships/image" Target="../media/image2080.png"/><Relationship Id="rId4" Type="http://schemas.openxmlformats.org/officeDocument/2006/relationships/image" Target="../media/image202.png"/><Relationship Id="rId9" Type="http://schemas.openxmlformats.org/officeDocument/2006/relationships/image" Target="../media/image207.png"/></Relationships>
</file>

<file path=ppt/slides/_rels/slide49.xml.rels><?xml version="1.0" encoding="UTF-8" standalone="yes"?>
<Relationships xmlns="http://schemas.openxmlformats.org/package/2006/relationships"><Relationship Id="rId3" Type="http://schemas.openxmlformats.org/officeDocument/2006/relationships/image" Target="../media/image2120.png"/><Relationship Id="rId2" Type="http://schemas.openxmlformats.org/officeDocument/2006/relationships/image" Target="../media/image2110.png"/><Relationship Id="rId1" Type="http://schemas.openxmlformats.org/officeDocument/2006/relationships/slideLayout" Target="../slideLayouts/slideLayout13.xml"/><Relationship Id="rId5" Type="http://schemas.openxmlformats.org/officeDocument/2006/relationships/image" Target="../media/image2140.png"/><Relationship Id="rId4" Type="http://schemas.openxmlformats.org/officeDocument/2006/relationships/image" Target="../media/image2130.png"/></Relationships>
</file>

<file path=ppt/slides/_rels/slide50.xml.rels><?xml version="1.0" encoding="UTF-8" standalone="yes"?>
<Relationships xmlns="http://schemas.openxmlformats.org/package/2006/relationships"><Relationship Id="rId3" Type="http://schemas.openxmlformats.org/officeDocument/2006/relationships/image" Target="../media/image2160.png"/><Relationship Id="rId2" Type="http://schemas.openxmlformats.org/officeDocument/2006/relationships/image" Target="../media/image2150.png"/><Relationship Id="rId1" Type="http://schemas.openxmlformats.org/officeDocument/2006/relationships/slideLayout" Target="../slideLayouts/slideLayout13.xml"/><Relationship Id="rId5" Type="http://schemas.openxmlformats.org/officeDocument/2006/relationships/image" Target="../media/image218.png"/><Relationship Id="rId4" Type="http://schemas.openxmlformats.org/officeDocument/2006/relationships/image" Target="../media/image217.png"/></Relationships>
</file>

<file path=ppt/slides/_rels/slide51.xml.rels><?xml version="1.0" encoding="UTF-8" standalone="yes"?>
<Relationships xmlns="http://schemas.openxmlformats.org/package/2006/relationships"><Relationship Id="rId2" Type="http://schemas.openxmlformats.org/officeDocument/2006/relationships/image" Target="../media/image219.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1470.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1901.png"/><Relationship Id="rId4" Type="http://schemas.openxmlformats.org/officeDocument/2006/relationships/image" Target="../media/image1511.png"/></Relationships>
</file>

<file path=ppt/slides/_rels/slide53.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image" Target="../media/image192.png"/><Relationship Id="rId1" Type="http://schemas.openxmlformats.org/officeDocument/2006/relationships/slideLayout" Target="../slideLayouts/slideLayout13.xml"/><Relationship Id="rId4" Type="http://schemas.openxmlformats.org/officeDocument/2006/relationships/image" Target="../media/image194.png"/></Relationships>
</file>

<file path=ppt/slides/_rels/slide54.xml.rels><?xml version="1.0" encoding="UTF-8" standalone="yes"?>
<Relationships xmlns="http://schemas.openxmlformats.org/package/2006/relationships"><Relationship Id="rId3" Type="http://schemas.openxmlformats.org/officeDocument/2006/relationships/image" Target="../media/image227.png"/><Relationship Id="rId2" Type="http://schemas.openxmlformats.org/officeDocument/2006/relationships/image" Target="../media/image226.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1510.png"/><Relationship Id="rId2" Type="http://schemas.openxmlformats.org/officeDocument/2006/relationships/slideLayout" Target="../slideLayouts/slideLayout13.xml"/><Relationship Id="rId1" Type="http://schemas.openxmlformats.org/officeDocument/2006/relationships/vmlDrawing" Target="../drawings/vmlDrawing6.vml"/><Relationship Id="rId5" Type="http://schemas.openxmlformats.org/officeDocument/2006/relationships/image" Target="../media/image43.wmf"/><Relationship Id="rId4" Type="http://schemas.openxmlformats.org/officeDocument/2006/relationships/oleObject" Target="../embeddings/oleObject8.bin"/></Relationships>
</file>

<file path=ppt/slides/_rels/slide56.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231.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232.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233.png"/><Relationship Id="rId2" Type="http://schemas.openxmlformats.org/officeDocument/2006/relationships/notesSlide" Target="../notesSlides/notesSlide9.xml"/><Relationship Id="rId1" Type="http://schemas.openxmlformats.org/officeDocument/2006/relationships/slideLayout" Target="../slideLayouts/slideLayout24.xml"/><Relationship Id="rId4" Type="http://schemas.openxmlformats.org/officeDocument/2006/relationships/image" Target="../media/image234.png"/></Relationships>
</file>

<file path=ppt/slides/_rels/slide62.xml.rels><?xml version="1.0" encoding="UTF-8" standalone="yes"?>
<Relationships xmlns="http://schemas.openxmlformats.org/package/2006/relationships"><Relationship Id="rId2" Type="http://schemas.openxmlformats.org/officeDocument/2006/relationships/image" Target="../media/image235.png"/><Relationship Id="rId1" Type="http://schemas.openxmlformats.org/officeDocument/2006/relationships/slideLayout" Target="../slideLayouts/slideLayout24.xml"/></Relationships>
</file>

<file path=ppt/slides/_rels/slide6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4.xml"/></Relationships>
</file>

<file path=ppt/slides/_rels/slide6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2.png"/><Relationship Id="rId1" Type="http://schemas.openxmlformats.org/officeDocument/2006/relationships/slideLayout" Target="../slideLayouts/slideLayout24.xml"/></Relationships>
</file>

<file path=ppt/slides/_rels/slide6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4.xml"/></Relationships>
</file>

<file path=ppt/slides/_rels/slide66.xml.rels><?xml version="1.0" encoding="UTF-8" standalone="yes"?>
<Relationships xmlns="http://schemas.openxmlformats.org/package/2006/relationships"><Relationship Id="rId2" Type="http://schemas.openxmlformats.org/officeDocument/2006/relationships/image" Target="../media/image236.png"/><Relationship Id="rId1" Type="http://schemas.openxmlformats.org/officeDocument/2006/relationships/slideLayout" Target="../slideLayouts/slideLayout2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9.xml.rels><?xml version="1.0" encoding="UTF-8" standalone="yes"?>
<Relationships xmlns="http://schemas.openxmlformats.org/package/2006/relationships"><Relationship Id="rId8" Type="http://schemas.openxmlformats.org/officeDocument/2006/relationships/image" Target="../media/image242.png"/><Relationship Id="rId13" Type="http://schemas.openxmlformats.org/officeDocument/2006/relationships/image" Target="../media/image244.png"/><Relationship Id="rId3" Type="http://schemas.openxmlformats.org/officeDocument/2006/relationships/image" Target="../media/image237.png"/><Relationship Id="rId7" Type="http://schemas.openxmlformats.org/officeDocument/2006/relationships/image" Target="../media/image241.png"/><Relationship Id="rId12" Type="http://schemas.openxmlformats.org/officeDocument/2006/relationships/image" Target="../media/image96.wmf"/><Relationship Id="rId2" Type="http://schemas.openxmlformats.org/officeDocument/2006/relationships/slideLayout" Target="../slideLayouts/slideLayout24.xml"/><Relationship Id="rId1" Type="http://schemas.openxmlformats.org/officeDocument/2006/relationships/vmlDrawing" Target="../drawings/vmlDrawing7.vml"/><Relationship Id="rId6" Type="http://schemas.openxmlformats.org/officeDocument/2006/relationships/image" Target="../media/image240.png"/><Relationship Id="rId11" Type="http://schemas.openxmlformats.org/officeDocument/2006/relationships/oleObject" Target="../embeddings/oleObject100.bin"/><Relationship Id="rId5" Type="http://schemas.openxmlformats.org/officeDocument/2006/relationships/image" Target="../media/image239.png"/><Relationship Id="rId15" Type="http://schemas.openxmlformats.org/officeDocument/2006/relationships/image" Target="../media/image246.png"/><Relationship Id="rId10" Type="http://schemas.openxmlformats.org/officeDocument/2006/relationships/image" Target="../media/image96.wmf"/><Relationship Id="rId4" Type="http://schemas.openxmlformats.org/officeDocument/2006/relationships/image" Target="../media/image238.png"/><Relationship Id="rId9" Type="http://schemas.openxmlformats.org/officeDocument/2006/relationships/oleObject" Target="../embeddings/oleObject9.bin"/><Relationship Id="rId14" Type="http://schemas.openxmlformats.org/officeDocument/2006/relationships/image" Target="../media/image245.png"/></Relationships>
</file>

<file path=ppt/slides/_rels/slide70.xml.rels><?xml version="1.0" encoding="UTF-8" standalone="yes"?>
<Relationships xmlns="http://schemas.openxmlformats.org/package/2006/relationships"><Relationship Id="rId8" Type="http://schemas.openxmlformats.org/officeDocument/2006/relationships/image" Target="../media/image254.png"/><Relationship Id="rId13" Type="http://schemas.openxmlformats.org/officeDocument/2006/relationships/image" Target="../media/image259.png"/><Relationship Id="rId18" Type="http://schemas.openxmlformats.org/officeDocument/2006/relationships/image" Target="../media/image265.png"/><Relationship Id="rId26" Type="http://schemas.openxmlformats.org/officeDocument/2006/relationships/image" Target="../media/image274.png"/><Relationship Id="rId3" Type="http://schemas.openxmlformats.org/officeDocument/2006/relationships/image" Target="../media/image248.png"/><Relationship Id="rId21" Type="http://schemas.openxmlformats.org/officeDocument/2006/relationships/image" Target="../media/image268.png"/><Relationship Id="rId7" Type="http://schemas.openxmlformats.org/officeDocument/2006/relationships/image" Target="../media/image253.png"/><Relationship Id="rId12" Type="http://schemas.openxmlformats.org/officeDocument/2006/relationships/image" Target="../media/image258.png"/><Relationship Id="rId17" Type="http://schemas.openxmlformats.org/officeDocument/2006/relationships/image" Target="../media/image264.png"/><Relationship Id="rId25" Type="http://schemas.openxmlformats.org/officeDocument/2006/relationships/image" Target="../media/image273.png"/><Relationship Id="rId2" Type="http://schemas.openxmlformats.org/officeDocument/2006/relationships/image" Target="../media/image247.png"/><Relationship Id="rId16" Type="http://schemas.openxmlformats.org/officeDocument/2006/relationships/image" Target="../media/image263.png"/><Relationship Id="rId20" Type="http://schemas.openxmlformats.org/officeDocument/2006/relationships/image" Target="../media/image267.png"/><Relationship Id="rId1" Type="http://schemas.openxmlformats.org/officeDocument/2006/relationships/slideLayout" Target="../slideLayouts/slideLayout24.xml"/><Relationship Id="rId6" Type="http://schemas.openxmlformats.org/officeDocument/2006/relationships/image" Target="../media/image252.png"/><Relationship Id="rId11" Type="http://schemas.openxmlformats.org/officeDocument/2006/relationships/image" Target="../media/image257.png"/><Relationship Id="rId24" Type="http://schemas.openxmlformats.org/officeDocument/2006/relationships/image" Target="../media/image272.png"/><Relationship Id="rId5" Type="http://schemas.openxmlformats.org/officeDocument/2006/relationships/image" Target="../media/image251.png"/><Relationship Id="rId15" Type="http://schemas.openxmlformats.org/officeDocument/2006/relationships/image" Target="../media/image262.png"/><Relationship Id="rId23" Type="http://schemas.openxmlformats.org/officeDocument/2006/relationships/image" Target="../media/image271.png"/><Relationship Id="rId28" Type="http://schemas.openxmlformats.org/officeDocument/2006/relationships/image" Target="../media/image276.png"/><Relationship Id="rId10" Type="http://schemas.openxmlformats.org/officeDocument/2006/relationships/image" Target="../media/image256.png"/><Relationship Id="rId19" Type="http://schemas.openxmlformats.org/officeDocument/2006/relationships/image" Target="../media/image266.png"/><Relationship Id="rId4" Type="http://schemas.openxmlformats.org/officeDocument/2006/relationships/image" Target="../media/image249.png"/><Relationship Id="rId9" Type="http://schemas.openxmlformats.org/officeDocument/2006/relationships/image" Target="../media/image255.png"/><Relationship Id="rId14" Type="http://schemas.openxmlformats.org/officeDocument/2006/relationships/image" Target="../media/image261.png"/><Relationship Id="rId22" Type="http://schemas.openxmlformats.org/officeDocument/2006/relationships/image" Target="../media/image269.png"/><Relationship Id="rId27" Type="http://schemas.openxmlformats.org/officeDocument/2006/relationships/image" Target="../media/image275.png"/></Relationships>
</file>

<file path=ppt/slides/_rels/slide71.xml.rels><?xml version="1.0" encoding="UTF-8" standalone="yes"?>
<Relationships xmlns="http://schemas.openxmlformats.org/package/2006/relationships"><Relationship Id="rId8" Type="http://schemas.openxmlformats.org/officeDocument/2006/relationships/image" Target="../media/image283.png"/><Relationship Id="rId13" Type="http://schemas.openxmlformats.org/officeDocument/2006/relationships/image" Target="../media/image288.png"/><Relationship Id="rId18" Type="http://schemas.openxmlformats.org/officeDocument/2006/relationships/image" Target="../media/image293.png"/><Relationship Id="rId3" Type="http://schemas.openxmlformats.org/officeDocument/2006/relationships/image" Target="../media/image278.png"/><Relationship Id="rId21" Type="http://schemas.openxmlformats.org/officeDocument/2006/relationships/image" Target="../media/image296.png"/><Relationship Id="rId7" Type="http://schemas.openxmlformats.org/officeDocument/2006/relationships/image" Target="../media/image282.png"/><Relationship Id="rId12" Type="http://schemas.openxmlformats.org/officeDocument/2006/relationships/image" Target="../media/image287.png"/><Relationship Id="rId17" Type="http://schemas.openxmlformats.org/officeDocument/2006/relationships/image" Target="../media/image292.png"/><Relationship Id="rId2" Type="http://schemas.openxmlformats.org/officeDocument/2006/relationships/image" Target="../media/image277.png"/><Relationship Id="rId16" Type="http://schemas.openxmlformats.org/officeDocument/2006/relationships/image" Target="../media/image291.png"/><Relationship Id="rId20" Type="http://schemas.openxmlformats.org/officeDocument/2006/relationships/image" Target="../media/image295.png"/><Relationship Id="rId1" Type="http://schemas.openxmlformats.org/officeDocument/2006/relationships/slideLayout" Target="../slideLayouts/slideLayout24.xml"/><Relationship Id="rId6" Type="http://schemas.openxmlformats.org/officeDocument/2006/relationships/image" Target="../media/image281.png"/><Relationship Id="rId11" Type="http://schemas.openxmlformats.org/officeDocument/2006/relationships/image" Target="../media/image286.png"/><Relationship Id="rId5" Type="http://schemas.openxmlformats.org/officeDocument/2006/relationships/image" Target="../media/image280.png"/><Relationship Id="rId15" Type="http://schemas.openxmlformats.org/officeDocument/2006/relationships/image" Target="../media/image290.png"/><Relationship Id="rId23" Type="http://schemas.openxmlformats.org/officeDocument/2006/relationships/image" Target="../media/image298.png"/><Relationship Id="rId10" Type="http://schemas.openxmlformats.org/officeDocument/2006/relationships/image" Target="../media/image285.png"/><Relationship Id="rId19" Type="http://schemas.openxmlformats.org/officeDocument/2006/relationships/image" Target="../media/image294.png"/><Relationship Id="rId4" Type="http://schemas.openxmlformats.org/officeDocument/2006/relationships/image" Target="../media/image279.png"/><Relationship Id="rId9" Type="http://schemas.openxmlformats.org/officeDocument/2006/relationships/image" Target="../media/image284.png"/><Relationship Id="rId14" Type="http://schemas.openxmlformats.org/officeDocument/2006/relationships/image" Target="../media/image289.png"/><Relationship Id="rId22" Type="http://schemas.openxmlformats.org/officeDocument/2006/relationships/image" Target="../media/image297.png"/></Relationships>
</file>

<file path=ppt/slides/_rels/slide72.xml.rels><?xml version="1.0" encoding="UTF-8" standalone="yes"?>
<Relationships xmlns="http://schemas.openxmlformats.org/package/2006/relationships"><Relationship Id="rId3" Type="http://schemas.openxmlformats.org/officeDocument/2006/relationships/image" Target="../media/image299.png"/><Relationship Id="rId2" Type="http://schemas.openxmlformats.org/officeDocument/2006/relationships/notesSlide" Target="../notesSlides/notesSlide10.xml"/><Relationship Id="rId1" Type="http://schemas.openxmlformats.org/officeDocument/2006/relationships/slideLayout" Target="../slideLayouts/slideLayout24.xml"/><Relationship Id="rId5" Type="http://schemas.openxmlformats.org/officeDocument/2006/relationships/image" Target="../media/image920.png"/><Relationship Id="rId4" Type="http://schemas.openxmlformats.org/officeDocument/2006/relationships/image" Target="../media/image900.png"/></Relationships>
</file>

<file path=ppt/slides/_rels/slide73.xml.rels><?xml version="1.0" encoding="UTF-8" standalone="yes"?>
<Relationships xmlns="http://schemas.openxmlformats.org/package/2006/relationships"><Relationship Id="rId13" Type="http://schemas.openxmlformats.org/officeDocument/2006/relationships/image" Target="../media/image311.png"/><Relationship Id="rId18" Type="http://schemas.openxmlformats.org/officeDocument/2006/relationships/image" Target="../media/image316.png"/><Relationship Id="rId26" Type="http://schemas.openxmlformats.org/officeDocument/2006/relationships/image" Target="../media/image320.png"/><Relationship Id="rId39" Type="http://schemas.openxmlformats.org/officeDocument/2006/relationships/image" Target="../media/image333.png"/><Relationship Id="rId21" Type="http://schemas.openxmlformats.org/officeDocument/2006/relationships/image" Target="../media/image43.wmf"/><Relationship Id="rId34" Type="http://schemas.openxmlformats.org/officeDocument/2006/relationships/image" Target="../media/image328.png"/><Relationship Id="rId7" Type="http://schemas.openxmlformats.org/officeDocument/2006/relationships/image" Target="../media/image304.png"/><Relationship Id="rId12" Type="http://schemas.openxmlformats.org/officeDocument/2006/relationships/image" Target="../media/image309.png"/><Relationship Id="rId17" Type="http://schemas.openxmlformats.org/officeDocument/2006/relationships/image" Target="../media/image315.png"/><Relationship Id="rId25" Type="http://schemas.openxmlformats.org/officeDocument/2006/relationships/image" Target="../media/image319.png"/><Relationship Id="rId33" Type="http://schemas.openxmlformats.org/officeDocument/2006/relationships/image" Target="../media/image327.png"/><Relationship Id="rId38" Type="http://schemas.openxmlformats.org/officeDocument/2006/relationships/image" Target="../media/image332.png"/><Relationship Id="rId2" Type="http://schemas.openxmlformats.org/officeDocument/2006/relationships/slideLayout" Target="../slideLayouts/slideLayout24.xml"/><Relationship Id="rId16" Type="http://schemas.openxmlformats.org/officeDocument/2006/relationships/image" Target="../media/image314.png"/><Relationship Id="rId20" Type="http://schemas.openxmlformats.org/officeDocument/2006/relationships/oleObject" Target="../embeddings/oleObject10.bin"/><Relationship Id="rId29" Type="http://schemas.openxmlformats.org/officeDocument/2006/relationships/image" Target="../media/image323.png"/><Relationship Id="rId1" Type="http://schemas.openxmlformats.org/officeDocument/2006/relationships/vmlDrawing" Target="../drawings/vmlDrawing8.vml"/><Relationship Id="rId6" Type="http://schemas.openxmlformats.org/officeDocument/2006/relationships/image" Target="../media/image303.png"/><Relationship Id="rId11" Type="http://schemas.openxmlformats.org/officeDocument/2006/relationships/image" Target="../media/image308.png"/><Relationship Id="rId24" Type="http://schemas.openxmlformats.org/officeDocument/2006/relationships/image" Target="../media/image318.png"/><Relationship Id="rId32" Type="http://schemas.openxmlformats.org/officeDocument/2006/relationships/image" Target="../media/image326.png"/><Relationship Id="rId37" Type="http://schemas.openxmlformats.org/officeDocument/2006/relationships/image" Target="../media/image331.png"/><Relationship Id="rId40" Type="http://schemas.openxmlformats.org/officeDocument/2006/relationships/image" Target="../media/image334.png"/><Relationship Id="rId5" Type="http://schemas.openxmlformats.org/officeDocument/2006/relationships/image" Target="../media/image302.png"/><Relationship Id="rId15" Type="http://schemas.openxmlformats.org/officeDocument/2006/relationships/image" Target="../media/image313.png"/><Relationship Id="rId23" Type="http://schemas.openxmlformats.org/officeDocument/2006/relationships/image" Target="../media/image43.wmf"/><Relationship Id="rId28" Type="http://schemas.openxmlformats.org/officeDocument/2006/relationships/image" Target="../media/image322.png"/><Relationship Id="rId36" Type="http://schemas.openxmlformats.org/officeDocument/2006/relationships/image" Target="../media/image330.png"/><Relationship Id="rId10" Type="http://schemas.openxmlformats.org/officeDocument/2006/relationships/image" Target="../media/image307.png"/><Relationship Id="rId19" Type="http://schemas.openxmlformats.org/officeDocument/2006/relationships/image" Target="../media/image317.png"/><Relationship Id="rId31" Type="http://schemas.openxmlformats.org/officeDocument/2006/relationships/image" Target="../media/image325.png"/><Relationship Id="rId4" Type="http://schemas.openxmlformats.org/officeDocument/2006/relationships/image" Target="../media/image301.png"/><Relationship Id="rId9" Type="http://schemas.openxmlformats.org/officeDocument/2006/relationships/image" Target="../media/image306.png"/><Relationship Id="rId14" Type="http://schemas.openxmlformats.org/officeDocument/2006/relationships/image" Target="../media/image312.png"/><Relationship Id="rId22" Type="http://schemas.openxmlformats.org/officeDocument/2006/relationships/oleObject" Target="../embeddings/oleObject110.bin"/><Relationship Id="rId27" Type="http://schemas.openxmlformats.org/officeDocument/2006/relationships/image" Target="../media/image321.png"/><Relationship Id="rId30" Type="http://schemas.openxmlformats.org/officeDocument/2006/relationships/image" Target="../media/image324.png"/><Relationship Id="rId35" Type="http://schemas.openxmlformats.org/officeDocument/2006/relationships/image" Target="../media/image329.png"/><Relationship Id="rId8" Type="http://schemas.openxmlformats.org/officeDocument/2006/relationships/image" Target="../media/image305.png"/><Relationship Id="rId3" Type="http://schemas.openxmlformats.org/officeDocument/2006/relationships/image" Target="../media/image300.png"/></Relationships>
</file>

<file path=ppt/slides/_rels/slide74.xml.rels><?xml version="1.0" encoding="UTF-8" standalone="yes"?>
<Relationships xmlns="http://schemas.openxmlformats.org/package/2006/relationships"><Relationship Id="rId8" Type="http://schemas.openxmlformats.org/officeDocument/2006/relationships/image" Target="../media/image341.png"/><Relationship Id="rId13" Type="http://schemas.openxmlformats.org/officeDocument/2006/relationships/image" Target="../media/image346.png"/><Relationship Id="rId18" Type="http://schemas.openxmlformats.org/officeDocument/2006/relationships/image" Target="../media/image351.png"/><Relationship Id="rId26" Type="http://schemas.openxmlformats.org/officeDocument/2006/relationships/image" Target="../media/image359.png"/><Relationship Id="rId3" Type="http://schemas.openxmlformats.org/officeDocument/2006/relationships/image" Target="../media/image336.png"/><Relationship Id="rId21" Type="http://schemas.openxmlformats.org/officeDocument/2006/relationships/image" Target="../media/image354.png"/><Relationship Id="rId7" Type="http://schemas.openxmlformats.org/officeDocument/2006/relationships/image" Target="../media/image340.png"/><Relationship Id="rId12" Type="http://schemas.openxmlformats.org/officeDocument/2006/relationships/image" Target="../media/image345.png"/><Relationship Id="rId17" Type="http://schemas.openxmlformats.org/officeDocument/2006/relationships/image" Target="../media/image350.png"/><Relationship Id="rId25" Type="http://schemas.openxmlformats.org/officeDocument/2006/relationships/image" Target="../media/image358.png"/><Relationship Id="rId2" Type="http://schemas.openxmlformats.org/officeDocument/2006/relationships/image" Target="../media/image335.png"/><Relationship Id="rId16" Type="http://schemas.openxmlformats.org/officeDocument/2006/relationships/image" Target="../media/image349.png"/><Relationship Id="rId20" Type="http://schemas.openxmlformats.org/officeDocument/2006/relationships/image" Target="../media/image353.png"/><Relationship Id="rId1" Type="http://schemas.openxmlformats.org/officeDocument/2006/relationships/slideLayout" Target="../slideLayouts/slideLayout24.xml"/><Relationship Id="rId6" Type="http://schemas.openxmlformats.org/officeDocument/2006/relationships/image" Target="../media/image339.png"/><Relationship Id="rId11" Type="http://schemas.openxmlformats.org/officeDocument/2006/relationships/image" Target="../media/image344.png"/><Relationship Id="rId24" Type="http://schemas.openxmlformats.org/officeDocument/2006/relationships/image" Target="../media/image357.png"/><Relationship Id="rId5" Type="http://schemas.openxmlformats.org/officeDocument/2006/relationships/image" Target="../media/image338.png"/><Relationship Id="rId15" Type="http://schemas.openxmlformats.org/officeDocument/2006/relationships/image" Target="../media/image348.png"/><Relationship Id="rId23" Type="http://schemas.openxmlformats.org/officeDocument/2006/relationships/image" Target="../media/image356.png"/><Relationship Id="rId10" Type="http://schemas.openxmlformats.org/officeDocument/2006/relationships/image" Target="../media/image343.png"/><Relationship Id="rId19" Type="http://schemas.openxmlformats.org/officeDocument/2006/relationships/image" Target="../media/image352.png"/><Relationship Id="rId4" Type="http://schemas.openxmlformats.org/officeDocument/2006/relationships/image" Target="../media/image337.png"/><Relationship Id="rId9" Type="http://schemas.openxmlformats.org/officeDocument/2006/relationships/image" Target="../media/image342.png"/><Relationship Id="rId14" Type="http://schemas.openxmlformats.org/officeDocument/2006/relationships/image" Target="../media/image347.png"/><Relationship Id="rId22" Type="http://schemas.openxmlformats.org/officeDocument/2006/relationships/image" Target="../media/image355.png"/><Relationship Id="rId27" Type="http://schemas.openxmlformats.org/officeDocument/2006/relationships/image" Target="../media/image360.png"/></Relationships>
</file>

<file path=ppt/slides/_rels/slide75.xml.rels><?xml version="1.0" encoding="UTF-8" standalone="yes"?>
<Relationships xmlns="http://schemas.openxmlformats.org/package/2006/relationships"><Relationship Id="rId2" Type="http://schemas.openxmlformats.org/officeDocument/2006/relationships/image" Target="../media/image1900.png"/><Relationship Id="rId1" Type="http://schemas.openxmlformats.org/officeDocument/2006/relationships/slideLayout" Target="../slideLayouts/slideLayout24.xml"/></Relationships>
</file>

<file path=ppt/slides/_rels/slide76.xml.rels><?xml version="1.0" encoding="UTF-8" standalone="yes"?>
<Relationships xmlns="http://schemas.openxmlformats.org/package/2006/relationships"><Relationship Id="rId3" Type="http://schemas.openxmlformats.org/officeDocument/2006/relationships/image" Target="../media/image97.jpeg"/><Relationship Id="rId7" Type="http://schemas.openxmlformats.org/officeDocument/2006/relationships/image" Target="../media/image243.png"/><Relationship Id="rId2" Type="http://schemas.openxmlformats.org/officeDocument/2006/relationships/notesSlide" Target="../notesSlides/notesSlide11.xml"/><Relationship Id="rId1" Type="http://schemas.openxmlformats.org/officeDocument/2006/relationships/slideLayout" Target="../slideLayouts/slideLayout24.xml"/><Relationship Id="rId6" Type="http://schemas.openxmlformats.org/officeDocument/2006/relationships/image" Target="../media/image2280.png"/><Relationship Id="rId5" Type="http://schemas.openxmlformats.org/officeDocument/2006/relationships/image" Target="../media/image2200.png"/><Relationship Id="rId4" Type="http://schemas.openxmlformats.org/officeDocument/2006/relationships/image" Target="../media/image98.jpeg"/></Relationships>
</file>

<file path=ppt/slides/_rels/slide77.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361.png"/><Relationship Id="rId1" Type="http://schemas.openxmlformats.org/officeDocument/2006/relationships/slideLayout" Target="../slideLayouts/slideLayout24.xml"/><Relationship Id="rId6" Type="http://schemas.openxmlformats.org/officeDocument/2006/relationships/image" Target="../media/image365.png"/><Relationship Id="rId5" Type="http://schemas.openxmlformats.org/officeDocument/2006/relationships/image" Target="../media/image364.png"/><Relationship Id="rId4" Type="http://schemas.openxmlformats.org/officeDocument/2006/relationships/image" Target="../media/image363.png"/></Relationships>
</file>

<file path=ppt/slides/_rels/slide78.xml.rels><?xml version="1.0" encoding="UTF-8" standalone="yes"?>
<Relationships xmlns="http://schemas.openxmlformats.org/package/2006/relationships"><Relationship Id="rId3" Type="http://schemas.openxmlformats.org/officeDocument/2006/relationships/image" Target="../media/image100.png"/><Relationship Id="rId7" Type="http://schemas.openxmlformats.org/officeDocument/2006/relationships/image" Target="../media/image370.png"/><Relationship Id="rId2" Type="http://schemas.openxmlformats.org/officeDocument/2006/relationships/notesSlide" Target="../notesSlides/notesSlide12.xml"/><Relationship Id="rId1" Type="http://schemas.openxmlformats.org/officeDocument/2006/relationships/slideLayout" Target="../slideLayouts/slideLayout24.xml"/><Relationship Id="rId6" Type="http://schemas.openxmlformats.org/officeDocument/2006/relationships/image" Target="../media/image101.png"/><Relationship Id="rId5" Type="http://schemas.openxmlformats.org/officeDocument/2006/relationships/image" Target="../media/image368.png"/><Relationship Id="rId4" Type="http://schemas.openxmlformats.org/officeDocument/2006/relationships/image" Target="../media/image367.png"/></Relationships>
</file>

<file path=ppt/slides/_rels/slide79.xml.rels><?xml version="1.0" encoding="UTF-8" standalone="yes"?>
<Relationships xmlns="http://schemas.openxmlformats.org/package/2006/relationships"><Relationship Id="rId3" Type="http://schemas.openxmlformats.org/officeDocument/2006/relationships/image" Target="../media/image372.png"/><Relationship Id="rId2" Type="http://schemas.openxmlformats.org/officeDocument/2006/relationships/image" Target="../media/image371.png"/><Relationship Id="rId1" Type="http://schemas.openxmlformats.org/officeDocument/2006/relationships/slideLayout" Target="../slideLayouts/slideLayout24.xml"/><Relationship Id="rId5" Type="http://schemas.openxmlformats.org/officeDocument/2006/relationships/image" Target="../media/image374.png"/><Relationship Id="rId4" Type="http://schemas.openxmlformats.org/officeDocument/2006/relationships/image" Target="../media/image373.png"/></Relationships>
</file>

<file path=ppt/slides/_rels/slide80.xml.rels><?xml version="1.0" encoding="UTF-8" standalone="yes"?>
<Relationships xmlns="http://schemas.openxmlformats.org/package/2006/relationships"><Relationship Id="rId3" Type="http://schemas.openxmlformats.org/officeDocument/2006/relationships/image" Target="../media/image376.png"/><Relationship Id="rId2" Type="http://schemas.openxmlformats.org/officeDocument/2006/relationships/image" Target="../media/image375.png"/><Relationship Id="rId1" Type="http://schemas.openxmlformats.org/officeDocument/2006/relationships/slideLayout" Target="../slideLayouts/slideLayout24.xml"/><Relationship Id="rId5" Type="http://schemas.openxmlformats.org/officeDocument/2006/relationships/image" Target="../media/image378.png"/><Relationship Id="rId4" Type="http://schemas.openxmlformats.org/officeDocument/2006/relationships/image" Target="../media/image377.png"/></Relationships>
</file>

<file path=ppt/slides/_rels/slide81.xml.rels><?xml version="1.0" encoding="UTF-8" standalone="yes"?>
<Relationships xmlns="http://schemas.openxmlformats.org/package/2006/relationships"><Relationship Id="rId3" Type="http://schemas.openxmlformats.org/officeDocument/2006/relationships/image" Target="../media/image3620.png"/><Relationship Id="rId7" Type="http://schemas.openxmlformats.org/officeDocument/2006/relationships/image" Target="../media/image384.png"/><Relationship Id="rId2" Type="http://schemas.openxmlformats.org/officeDocument/2006/relationships/image" Target="../media/image379.png"/><Relationship Id="rId1" Type="http://schemas.openxmlformats.org/officeDocument/2006/relationships/slideLayout" Target="../slideLayouts/slideLayout24.xml"/><Relationship Id="rId6" Type="http://schemas.openxmlformats.org/officeDocument/2006/relationships/image" Target="../media/image3661.png"/><Relationship Id="rId5" Type="http://schemas.openxmlformats.org/officeDocument/2006/relationships/image" Target="../media/image382.png"/><Relationship Id="rId4" Type="http://schemas.openxmlformats.org/officeDocument/2006/relationships/image" Target="../media/image381.png"/></Relationships>
</file>

<file path=ppt/slides/_rels/slide82.xml.rels><?xml version="1.0" encoding="UTF-8" standalone="yes"?>
<Relationships xmlns="http://schemas.openxmlformats.org/package/2006/relationships"><Relationship Id="rId3" Type="http://schemas.openxmlformats.org/officeDocument/2006/relationships/image" Target="../media/image386.png"/><Relationship Id="rId2" Type="http://schemas.openxmlformats.org/officeDocument/2006/relationships/image" Target="../media/image385.png"/><Relationship Id="rId1" Type="http://schemas.openxmlformats.org/officeDocument/2006/relationships/slideLayout" Target="../slideLayouts/slideLayout24.xml"/><Relationship Id="rId4" Type="http://schemas.openxmlformats.org/officeDocument/2006/relationships/image" Target="../media/image387.png"/></Relationships>
</file>

<file path=ppt/slides/_rels/slide83.xml.rels><?xml version="1.0" encoding="UTF-8" standalone="yes"?>
<Relationships xmlns="http://schemas.openxmlformats.org/package/2006/relationships"><Relationship Id="rId3" Type="http://schemas.openxmlformats.org/officeDocument/2006/relationships/image" Target="../media/image389.png"/><Relationship Id="rId2" Type="http://schemas.openxmlformats.org/officeDocument/2006/relationships/image" Target="../media/image388.png"/><Relationship Id="rId1" Type="http://schemas.openxmlformats.org/officeDocument/2006/relationships/slideLayout" Target="../slideLayouts/slideLayout24.xml"/><Relationship Id="rId4" Type="http://schemas.openxmlformats.org/officeDocument/2006/relationships/image" Target="../media/image392.png"/></Relationships>
</file>

<file path=ppt/slides/_rels/slide84.xml.rels><?xml version="1.0" encoding="UTF-8" standalone="yes"?>
<Relationships xmlns="http://schemas.openxmlformats.org/package/2006/relationships"><Relationship Id="rId3" Type="http://schemas.openxmlformats.org/officeDocument/2006/relationships/image" Target="../media/image394.png"/><Relationship Id="rId12" Type="http://schemas.openxmlformats.org/officeDocument/2006/relationships/image" Target="../media/image97.jpeg"/><Relationship Id="rId2" Type="http://schemas.openxmlformats.org/officeDocument/2006/relationships/image" Target="../media/image102.png"/><Relationship Id="rId1" Type="http://schemas.openxmlformats.org/officeDocument/2006/relationships/slideLayout" Target="../slideLayouts/slideLayout24.xml"/><Relationship Id="rId6" Type="http://schemas.openxmlformats.org/officeDocument/2006/relationships/image" Target="../media/image397.png"/><Relationship Id="rId11" Type="http://schemas.openxmlformats.org/officeDocument/2006/relationships/image" Target="../media/image402.png"/><Relationship Id="rId5" Type="http://schemas.openxmlformats.org/officeDocument/2006/relationships/image" Target="../media/image396.png"/><Relationship Id="rId10" Type="http://schemas.openxmlformats.org/officeDocument/2006/relationships/image" Target="../media/image401.png"/><Relationship Id="rId4" Type="http://schemas.openxmlformats.org/officeDocument/2006/relationships/image" Target="../media/image395.png"/><Relationship Id="rId9" Type="http://schemas.openxmlformats.org/officeDocument/2006/relationships/image" Target="../media/image400.png"/></Relationships>
</file>

<file path=ppt/slides/_rels/slide85.xml.rels><?xml version="1.0" encoding="UTF-8" standalone="yes"?>
<Relationships xmlns="http://schemas.openxmlformats.org/package/2006/relationships"><Relationship Id="rId8" Type="http://schemas.openxmlformats.org/officeDocument/2006/relationships/image" Target="../media/image409.png"/><Relationship Id="rId3" Type="http://schemas.openxmlformats.org/officeDocument/2006/relationships/image" Target="../media/image404.png"/><Relationship Id="rId7" Type="http://schemas.openxmlformats.org/officeDocument/2006/relationships/image" Target="../media/image408.png"/><Relationship Id="rId2" Type="http://schemas.openxmlformats.org/officeDocument/2006/relationships/image" Target="../media/image403.png"/><Relationship Id="rId1" Type="http://schemas.openxmlformats.org/officeDocument/2006/relationships/slideLayout" Target="../slideLayouts/slideLayout24.xml"/><Relationship Id="rId6" Type="http://schemas.openxmlformats.org/officeDocument/2006/relationships/image" Target="../media/image407.png"/><Relationship Id="rId5" Type="http://schemas.openxmlformats.org/officeDocument/2006/relationships/image" Target="../media/image406.png"/><Relationship Id="rId4" Type="http://schemas.openxmlformats.org/officeDocument/2006/relationships/image" Target="../media/image405.png"/></Relationships>
</file>

<file path=ppt/slides/_rels/slide86.xml.rels><?xml version="1.0" encoding="UTF-8" standalone="yes"?>
<Relationships xmlns="http://schemas.openxmlformats.org/package/2006/relationships"><Relationship Id="rId3" Type="http://schemas.openxmlformats.org/officeDocument/2006/relationships/image" Target="../media/image412.png"/><Relationship Id="rId2" Type="http://schemas.openxmlformats.org/officeDocument/2006/relationships/image" Target="../media/image411.png"/><Relationship Id="rId1" Type="http://schemas.openxmlformats.org/officeDocument/2006/relationships/slideLayout" Target="../slideLayouts/slideLayout24.xml"/><Relationship Id="rId5" Type="http://schemas.openxmlformats.org/officeDocument/2006/relationships/image" Target="../media/image414.png"/><Relationship Id="rId4" Type="http://schemas.openxmlformats.org/officeDocument/2006/relationships/image" Target="../media/image413.png"/></Relationships>
</file>

<file path=ppt/slides/_rels/slide87.xml.rels><?xml version="1.0" encoding="UTF-8" standalone="yes"?>
<Relationships xmlns="http://schemas.openxmlformats.org/package/2006/relationships"><Relationship Id="rId3" Type="http://schemas.openxmlformats.org/officeDocument/2006/relationships/image" Target="../media/image416.png"/><Relationship Id="rId2" Type="http://schemas.openxmlformats.org/officeDocument/2006/relationships/image" Target="../media/image3660.png"/><Relationship Id="rId1" Type="http://schemas.openxmlformats.org/officeDocument/2006/relationships/slideLayout" Target="../slideLayouts/slideLayout24.xml"/><Relationship Id="rId6" Type="http://schemas.openxmlformats.org/officeDocument/2006/relationships/image" Target="../media/image419.png"/><Relationship Id="rId5" Type="http://schemas.openxmlformats.org/officeDocument/2006/relationships/image" Target="../media/image418.png"/><Relationship Id="rId4" Type="http://schemas.openxmlformats.org/officeDocument/2006/relationships/image" Target="../media/image417.png"/></Relationships>
</file>

<file path=ppt/slides/_rels/slide8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420.png"/><Relationship Id="rId1" Type="http://schemas.openxmlformats.org/officeDocument/2006/relationships/slideLayout" Target="../slideLayouts/slideLayout24.xml"/><Relationship Id="rId4" Type="http://schemas.openxmlformats.org/officeDocument/2006/relationships/image" Target="../media/image422.png"/></Relationships>
</file>

<file path=ppt/slides/_rels/slide89.xml.rels><?xml version="1.0" encoding="UTF-8" standalone="yes"?>
<Relationships xmlns="http://schemas.openxmlformats.org/package/2006/relationships"><Relationship Id="rId3" Type="http://schemas.openxmlformats.org/officeDocument/2006/relationships/image" Target="../media/image424.png"/><Relationship Id="rId2" Type="http://schemas.openxmlformats.org/officeDocument/2006/relationships/image" Target="../media/image423.png"/><Relationship Id="rId1" Type="http://schemas.openxmlformats.org/officeDocument/2006/relationships/slideLayout" Target="../slideLayouts/slideLayout24.xml"/><Relationship Id="rId5" Type="http://schemas.openxmlformats.org/officeDocument/2006/relationships/image" Target="../media/image3900.png"/><Relationship Id="rId4" Type="http://schemas.openxmlformats.org/officeDocument/2006/relationships/image" Target="../media/image425.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1.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35.xml"/></Relationships>
</file>

<file path=ppt/slides/_rels/slide92.xml.rels><?xml version="1.0" encoding="UTF-8" standalone="yes"?>
<Relationships xmlns="http://schemas.openxmlformats.org/package/2006/relationships"><Relationship Id="rId2" Type="http://schemas.openxmlformats.org/officeDocument/2006/relationships/image" Target="../media/image3930.png"/><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a:extLst>
              <a:ext uri="{FF2B5EF4-FFF2-40B4-BE49-F238E27FC236}">
                <a16:creationId xmlns:a16="http://schemas.microsoft.com/office/drawing/2014/main" id="{5271A92D-B9DB-4D9E-9E6D-7050FBF3EDC8}"/>
              </a:ext>
            </a:extLst>
          </p:cNvPr>
          <p:cNvSpPr>
            <a:spLocks noGrp="1"/>
          </p:cNvSpPr>
          <p:nvPr>
            <p:ph type="ctrTitle"/>
          </p:nvPr>
        </p:nvSpPr>
        <p:spPr/>
        <p:txBody>
          <a:bodyPr/>
          <a:lstStyle/>
          <a:p>
            <a:r>
              <a:rPr lang="zh-CN" altLang="en-US" dirty="0"/>
              <a:t>第二章 线性时不变系统</a:t>
            </a:r>
          </a:p>
        </p:txBody>
      </p:sp>
      <p:sp>
        <p:nvSpPr>
          <p:cNvPr id="3" name="副标题 2">
            <a:extLst>
              <a:ext uri="{FF2B5EF4-FFF2-40B4-BE49-F238E27FC236}">
                <a16:creationId xmlns:a16="http://schemas.microsoft.com/office/drawing/2014/main" id="{A463A272-45F8-44B3-8C10-A4553C6EEEEB}"/>
              </a:ext>
            </a:extLst>
          </p:cNvPr>
          <p:cNvSpPr>
            <a:spLocks noGrp="1"/>
          </p:cNvSpPr>
          <p:nvPr>
            <p:ph type="subTitle" idx="1"/>
          </p:nvPr>
        </p:nvSpPr>
        <p:spPr/>
        <p:txBody>
          <a:bodyPr/>
          <a:lstStyle/>
          <a:p>
            <a:pPr>
              <a:defRPr/>
            </a:pPr>
            <a:endParaRPr lang="zh-CN" altLang="en-US"/>
          </a:p>
        </p:txBody>
      </p:sp>
      <p:sp>
        <p:nvSpPr>
          <p:cNvPr id="4" name="灯片编号占位符 3">
            <a:extLst>
              <a:ext uri="{FF2B5EF4-FFF2-40B4-BE49-F238E27FC236}">
                <a16:creationId xmlns:a16="http://schemas.microsoft.com/office/drawing/2014/main" id="{187F1E48-3385-490E-845D-0FC3A98A921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DA004AF-9F6D-4AC1-9167-AE8C6A28ED57}" type="slidenum">
              <a:rPr lang="zh-CN" altLang="en-US">
                <a:solidFill>
                  <a:srgbClr val="898989"/>
                </a:solidFill>
                <a:latin typeface="Calibri" panose="020F0502020204030204" pitchFamily="34" charset="0"/>
              </a:rPr>
              <a:pPr eaLnBrk="1" hangingPunct="1"/>
              <a:t>1</a:t>
            </a:fld>
            <a:endParaRPr lang="zh-CN" altLang="en-US">
              <a:solidFill>
                <a:srgbClr val="898989"/>
              </a:solidFill>
              <a:latin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2" name="标题 1">
            <a:extLst>
              <a:ext uri="{FF2B5EF4-FFF2-40B4-BE49-F238E27FC236}">
                <a16:creationId xmlns:a16="http://schemas.microsoft.com/office/drawing/2014/main" id="{3A537EE3-0AAD-4879-B116-50DA81FE0CC3}"/>
              </a:ext>
            </a:extLst>
          </p:cNvPr>
          <p:cNvSpPr>
            <a:spLocks noGrp="1"/>
          </p:cNvSpPr>
          <p:nvPr>
            <p:ph type="title"/>
          </p:nvPr>
        </p:nvSpPr>
        <p:spPr/>
        <p:txBody>
          <a:bodyPr/>
          <a:lstStyle/>
          <a:p>
            <a:r>
              <a:rPr lang="zh-CN" altLang="en-US"/>
              <a:t>引言</a:t>
            </a:r>
          </a:p>
        </p:txBody>
      </p:sp>
      <p:sp>
        <p:nvSpPr>
          <p:cNvPr id="14343" name="内容占位符 2">
            <a:extLst>
              <a:ext uri="{FF2B5EF4-FFF2-40B4-BE49-F238E27FC236}">
                <a16:creationId xmlns:a16="http://schemas.microsoft.com/office/drawing/2014/main" id="{557AE56A-C169-4828-A2EB-7B72A04C895A}"/>
              </a:ext>
            </a:extLst>
          </p:cNvPr>
          <p:cNvSpPr>
            <a:spLocks noGrp="1"/>
          </p:cNvSpPr>
          <p:nvPr>
            <p:ph idx="1"/>
          </p:nvPr>
        </p:nvSpPr>
        <p:spPr>
          <a:xfrm>
            <a:off x="457200" y="1285875"/>
            <a:ext cx="8229600" cy="1384995"/>
          </a:xfrm>
        </p:spPr>
        <p:txBody>
          <a:bodyPr>
            <a:spAutoFit/>
          </a:bodyPr>
          <a:lstStyle/>
          <a:p>
            <a:pPr algn="just"/>
            <a:r>
              <a:rPr lang="zh-CN" altLang="en-US" sz="2800" b="0" dirty="0"/>
              <a:t>基本思想：对于</a:t>
            </a:r>
            <a:r>
              <a:rPr lang="en-US" altLang="zh-CN" sz="2800" b="0" dirty="0"/>
              <a:t>LTI</a:t>
            </a:r>
            <a:r>
              <a:rPr lang="zh-CN" altLang="en-US" sz="2800" b="0" dirty="0"/>
              <a:t>系统，如果能把任意输入信号分解成</a:t>
            </a:r>
            <a:r>
              <a:rPr lang="zh-CN" altLang="en-US" sz="2800" b="0" dirty="0">
                <a:solidFill>
                  <a:srgbClr val="FF0000"/>
                </a:solidFill>
              </a:rPr>
              <a:t>基本信号的线性组合</a:t>
            </a:r>
            <a:r>
              <a:rPr lang="zh-CN" altLang="en-US" sz="2800" b="0" dirty="0"/>
              <a:t>，那么该系统的响应就是基本信号所对应响应的线性组合。</a:t>
            </a:r>
          </a:p>
        </p:txBody>
      </p:sp>
      <p:sp>
        <p:nvSpPr>
          <p:cNvPr id="4" name="灯片编号占位符 3">
            <a:extLst>
              <a:ext uri="{FF2B5EF4-FFF2-40B4-BE49-F238E27FC236}">
                <a16:creationId xmlns:a16="http://schemas.microsoft.com/office/drawing/2014/main" id="{4966BD3A-2983-4B7D-B226-078121166C6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B06BEF0-9C6B-4E9E-8FF6-F998556AD6E1}" type="slidenum">
              <a:rPr lang="zh-CN" altLang="en-US">
                <a:solidFill>
                  <a:srgbClr val="898989"/>
                </a:solidFill>
                <a:latin typeface="Calibri" panose="020F0502020204030204" pitchFamily="34" charset="0"/>
              </a:rPr>
              <a:pPr eaLnBrk="1" hangingPunct="1"/>
              <a:t>2</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14338" name="Object 2">
                <a:extLst>
                  <a:ext uri="{FF2B5EF4-FFF2-40B4-BE49-F238E27FC236}">
                    <a16:creationId xmlns:a16="http://schemas.microsoft.com/office/drawing/2014/main" id="{597AFB2F-79D7-4123-AF68-19EDA4853B22}"/>
                  </a:ext>
                </a:extLst>
              </p:cNvPr>
              <p:cNvSpPr txBox="1"/>
              <p:nvPr/>
            </p:nvSpPr>
            <p:spPr bwMode="auto">
              <a:xfrm>
                <a:off x="3347864" y="2858014"/>
                <a:ext cx="2892003" cy="1137876"/>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nary>
                        <m:naryPr>
                          <m:chr m:val="∑"/>
                          <m:supHide m:val="on"/>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𝑖</m:t>
                          </m:r>
                        </m:sub>
                        <m:sup/>
                        <m:e>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𝑎</m:t>
                              </m:r>
                            </m:e>
                            <m:sub>
                              <m:r>
                                <a:rPr lang="en-US" sz="2800" i="1">
                                  <a:solidFill>
                                    <a:srgbClr val="000000"/>
                                  </a:solidFill>
                                  <a:latin typeface="Cambria Math" panose="02040503050406030204" pitchFamily="18" charset="0"/>
                                </a:rPr>
                                <m:t>𝑖</m:t>
                              </m:r>
                            </m:sub>
                          </m:sSub>
                          <m:sSub>
                            <m:sSubPr>
                              <m:ctrlPr>
                                <a:rPr lang="en-US" sz="2800" i="1" smtClean="0">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𝑥</m:t>
                              </m:r>
                            </m:e>
                            <m:sub>
                              <m:r>
                                <a:rPr lang="en-US" sz="2800" i="1">
                                  <a:solidFill>
                                    <a:srgbClr val="0000FF"/>
                                  </a:solidFill>
                                  <a:latin typeface="Cambria Math" panose="02040503050406030204" pitchFamily="18" charset="0"/>
                                </a:rPr>
                                <m:t>𝑖</m:t>
                              </m:r>
                            </m:sub>
                          </m:sSub>
                          <m:r>
                            <a:rPr lang="en-US" sz="2800" i="1">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𝑡</m:t>
                          </m:r>
                          <m:r>
                            <a:rPr lang="en-US" sz="2800" i="1">
                              <a:solidFill>
                                <a:srgbClr val="0000FF"/>
                              </a:solidFill>
                              <a:latin typeface="Cambria Math" panose="02040503050406030204" pitchFamily="18" charset="0"/>
                            </a:rPr>
                            <m:t>)</m:t>
                          </m:r>
                        </m:e>
                      </m:nary>
                    </m:oMath>
                  </m:oMathPara>
                </a14:m>
                <a:endParaRPr lang="en-US" sz="2800" dirty="0"/>
              </a:p>
            </p:txBody>
          </p:sp>
        </mc:Choice>
        <mc:Fallback xmlns="">
          <p:sp>
            <p:nvSpPr>
              <p:cNvPr id="14338" name="Object 2">
                <a:extLst>
                  <a:ext uri="{FF2B5EF4-FFF2-40B4-BE49-F238E27FC236}">
                    <a16:creationId xmlns:a16="http://schemas.microsoft.com/office/drawing/2014/main" id="{597AFB2F-79D7-4123-AF68-19EDA4853B22}"/>
                  </a:ext>
                </a:extLst>
              </p:cNvPr>
              <p:cNvSpPr txBox="1">
                <a:spLocks noRot="1" noChangeAspect="1" noMove="1" noResize="1" noEditPoints="1" noAdjustHandles="1" noChangeArrowheads="1" noChangeShapeType="1" noTextEdit="1"/>
              </p:cNvSpPr>
              <p:nvPr/>
            </p:nvSpPr>
            <p:spPr bwMode="auto">
              <a:xfrm>
                <a:off x="3347864" y="2858014"/>
                <a:ext cx="2892003" cy="1137876"/>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339" name="Object 4">
                <a:extLst>
                  <a:ext uri="{FF2B5EF4-FFF2-40B4-BE49-F238E27FC236}">
                    <a16:creationId xmlns:a16="http://schemas.microsoft.com/office/drawing/2014/main" id="{6AF28C71-194F-49F2-B393-EE07A19BF1FE}"/>
                  </a:ext>
                </a:extLst>
              </p:cNvPr>
              <p:cNvSpPr txBox="1"/>
              <p:nvPr/>
            </p:nvSpPr>
            <p:spPr bwMode="auto">
              <a:xfrm>
                <a:off x="3347864" y="4581128"/>
                <a:ext cx="2892003" cy="1137876"/>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𝑦</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nary>
                        <m:naryPr>
                          <m:chr m:val="∑"/>
                          <m:supHide m:val="on"/>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𝑖</m:t>
                          </m:r>
                        </m:sub>
                        <m:sup/>
                        <m:e>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𝑎</m:t>
                              </m:r>
                            </m:e>
                            <m:sub>
                              <m:r>
                                <a:rPr lang="en-US" sz="2800" i="1">
                                  <a:solidFill>
                                    <a:srgbClr val="000000"/>
                                  </a:solidFill>
                                  <a:latin typeface="Cambria Math" panose="02040503050406030204" pitchFamily="18" charset="0"/>
                                </a:rPr>
                                <m:t>𝑖</m:t>
                              </m:r>
                            </m:sub>
                          </m:sSub>
                          <m:sSub>
                            <m:sSubPr>
                              <m:ctrlPr>
                                <a:rPr lang="en-US" sz="2800" i="1" smtClean="0">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𝑦</m:t>
                              </m:r>
                            </m:e>
                            <m:sub>
                              <m:r>
                                <a:rPr lang="en-US" sz="2800" i="1">
                                  <a:solidFill>
                                    <a:srgbClr val="0000FF"/>
                                  </a:solidFill>
                                  <a:latin typeface="Cambria Math" panose="02040503050406030204" pitchFamily="18" charset="0"/>
                                </a:rPr>
                                <m:t>𝑖</m:t>
                              </m:r>
                            </m:sub>
                          </m:sSub>
                          <m:r>
                            <a:rPr lang="en-US" sz="2800" i="1">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𝑡</m:t>
                          </m:r>
                          <m:r>
                            <a:rPr lang="en-US" sz="2800" i="1">
                              <a:solidFill>
                                <a:srgbClr val="0000FF"/>
                              </a:solidFill>
                              <a:latin typeface="Cambria Math" panose="02040503050406030204" pitchFamily="18" charset="0"/>
                            </a:rPr>
                            <m:t>)</m:t>
                          </m:r>
                        </m:e>
                      </m:nary>
                    </m:oMath>
                  </m:oMathPara>
                </a14:m>
                <a:endParaRPr lang="en-US" sz="2800" dirty="0"/>
              </a:p>
            </p:txBody>
          </p:sp>
        </mc:Choice>
        <mc:Fallback xmlns="">
          <p:sp>
            <p:nvSpPr>
              <p:cNvPr id="14339" name="Object 4">
                <a:extLst>
                  <a:ext uri="{FF2B5EF4-FFF2-40B4-BE49-F238E27FC236}">
                    <a16:creationId xmlns:a16="http://schemas.microsoft.com/office/drawing/2014/main" id="{6AF28C71-194F-49F2-B393-EE07A19BF1FE}"/>
                  </a:ext>
                </a:extLst>
              </p:cNvPr>
              <p:cNvSpPr txBox="1">
                <a:spLocks noRot="1" noChangeAspect="1" noMove="1" noResize="1" noEditPoints="1" noAdjustHandles="1" noChangeArrowheads="1" noChangeShapeType="1" noTextEdit="1"/>
              </p:cNvSpPr>
              <p:nvPr/>
            </p:nvSpPr>
            <p:spPr bwMode="auto">
              <a:xfrm>
                <a:off x="3347864" y="4581128"/>
                <a:ext cx="2892003" cy="1137876"/>
              </a:xfrm>
              <a:prstGeom prst="rect">
                <a:avLst/>
              </a:prstGeom>
              <a:blipFill>
                <a:blip r:embed="rId4"/>
                <a:stretch>
                  <a:fillRect/>
                </a:stretch>
              </a:blipFill>
              <a:ln>
                <a:noFill/>
              </a:ln>
              <a:effectLst/>
            </p:spPr>
            <p:txBody>
              <a:bodyPr/>
              <a:lstStyle/>
              <a:p>
                <a:r>
                  <a:rPr lang="en-US">
                    <a:noFill/>
                  </a:rPr>
                  <a:t> </a:t>
                </a:r>
              </a:p>
            </p:txBody>
          </p:sp>
        </mc:Fallback>
      </mc:AlternateContent>
      <p:graphicFrame>
        <p:nvGraphicFramePr>
          <p:cNvPr id="14340" name="Object 5">
            <a:extLst>
              <a:ext uri="{FF2B5EF4-FFF2-40B4-BE49-F238E27FC236}">
                <a16:creationId xmlns:a16="http://schemas.microsoft.com/office/drawing/2014/main" id="{27EFD740-D089-404A-97E6-2FB5B2D2A4B2}"/>
              </a:ext>
            </a:extLst>
          </p:cNvPr>
          <p:cNvGraphicFramePr>
            <a:graphicFrameLocks noChangeAspect="1"/>
          </p:cNvGraphicFramePr>
          <p:nvPr>
            <p:extLst>
              <p:ext uri="{D42A27DB-BD31-4B8C-83A1-F6EECF244321}">
                <p14:modId xmlns:p14="http://schemas.microsoft.com/office/powerpoint/2010/main" val="2296998362"/>
              </p:ext>
            </p:extLst>
          </p:nvPr>
        </p:nvGraphicFramePr>
        <p:xfrm>
          <a:off x="3503440" y="4018576"/>
          <a:ext cx="366713" cy="647700"/>
        </p:xfrm>
        <a:graphic>
          <a:graphicData uri="http://schemas.openxmlformats.org/presentationml/2006/ole">
            <mc:AlternateContent xmlns:mc="http://schemas.openxmlformats.org/markup-compatibility/2006">
              <mc:Choice xmlns:v="urn:schemas-microsoft-com:vml" Requires="v">
                <p:oleObj spid="_x0000_s1174" name="Equation" r:id="rId5" imgW="139680" imgH="203040" progId="Equation.DSMT4">
                  <p:embed/>
                </p:oleObj>
              </mc:Choice>
              <mc:Fallback>
                <p:oleObj name="Equation" r:id="rId5" imgW="139680" imgH="20304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3440" y="4018576"/>
                        <a:ext cx="366713"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1" name="Object 6">
            <a:extLst>
              <a:ext uri="{FF2B5EF4-FFF2-40B4-BE49-F238E27FC236}">
                <a16:creationId xmlns:a16="http://schemas.microsoft.com/office/drawing/2014/main" id="{67E19A71-2F7F-46BB-AD24-6EC78CAFEDE2}"/>
              </a:ext>
            </a:extLst>
          </p:cNvPr>
          <p:cNvGraphicFramePr>
            <a:graphicFrameLocks noChangeAspect="1"/>
          </p:cNvGraphicFramePr>
          <p:nvPr>
            <p:extLst>
              <p:ext uri="{D42A27DB-BD31-4B8C-83A1-F6EECF244321}">
                <p14:modId xmlns:p14="http://schemas.microsoft.com/office/powerpoint/2010/main" val="2130595168"/>
              </p:ext>
            </p:extLst>
          </p:nvPr>
        </p:nvGraphicFramePr>
        <p:xfrm>
          <a:off x="5513115" y="4018576"/>
          <a:ext cx="366713" cy="647700"/>
        </p:xfrm>
        <a:graphic>
          <a:graphicData uri="http://schemas.openxmlformats.org/presentationml/2006/ole">
            <mc:AlternateContent xmlns:mc="http://schemas.openxmlformats.org/markup-compatibility/2006">
              <mc:Choice xmlns:v="urn:schemas-microsoft-com:vml" Requires="v">
                <p:oleObj spid="_x0000_s1175" name="Equation" r:id="rId7" imgW="139680" imgH="203040" progId="Equation.DSMT4">
                  <p:embed/>
                </p:oleObj>
              </mc:Choice>
              <mc:Fallback>
                <p:oleObj name="Equation" r:id="rId7" imgW="139680" imgH="20304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13115" y="4018576"/>
                        <a:ext cx="366713"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a:extLst>
              <a:ext uri="{FF2B5EF4-FFF2-40B4-BE49-F238E27FC236}">
                <a16:creationId xmlns:a16="http://schemas.microsoft.com/office/drawing/2014/main" id="{18B02FCA-E154-4146-94FC-BA5794D92230}"/>
              </a:ext>
            </a:extLst>
          </p:cNvPr>
          <p:cNvSpPr>
            <a:spLocks noGrp="1"/>
          </p:cNvSpPr>
          <p:nvPr>
            <p:ph type="title"/>
          </p:nvPr>
        </p:nvSpPr>
        <p:spPr/>
        <p:txBody>
          <a:bodyPr/>
          <a:lstStyle/>
          <a:p>
            <a:r>
              <a:rPr lang="zh-CN" altLang="en-US"/>
              <a:t>引言</a:t>
            </a:r>
          </a:p>
        </p:txBody>
      </p:sp>
      <p:sp>
        <p:nvSpPr>
          <p:cNvPr id="3" name="内容占位符 2">
            <a:extLst>
              <a:ext uri="{FF2B5EF4-FFF2-40B4-BE49-F238E27FC236}">
                <a16:creationId xmlns:a16="http://schemas.microsoft.com/office/drawing/2014/main" id="{D06E656C-BCC9-4782-BDFF-98A526CA22D0}"/>
              </a:ext>
            </a:extLst>
          </p:cNvPr>
          <p:cNvSpPr>
            <a:spLocks noGrp="1"/>
          </p:cNvSpPr>
          <p:nvPr>
            <p:ph idx="1"/>
          </p:nvPr>
        </p:nvSpPr>
        <p:spPr>
          <a:xfrm>
            <a:off x="457200" y="1285875"/>
            <a:ext cx="8229600" cy="5020862"/>
          </a:xfrm>
        </p:spPr>
        <p:txBody>
          <a:bodyPr>
            <a:spAutoFit/>
          </a:bodyPr>
          <a:lstStyle/>
          <a:p>
            <a:pPr marL="571500" indent="-514350" algn="just">
              <a:lnSpc>
                <a:spcPct val="120000"/>
              </a:lnSpc>
              <a:spcBef>
                <a:spcPts val="0"/>
              </a:spcBef>
              <a:spcAft>
                <a:spcPts val="600"/>
              </a:spcAft>
              <a:defRPr/>
            </a:pPr>
            <a:r>
              <a:rPr lang="zh-CN" altLang="en-US" sz="2800" b="0" dirty="0">
                <a:solidFill>
                  <a:srgbClr val="FF0000"/>
                </a:solidFill>
              </a:rPr>
              <a:t>基本信号应具有以下特点</a:t>
            </a:r>
            <a:r>
              <a:rPr lang="zh-CN" altLang="en-US" sz="2800" b="0" dirty="0"/>
              <a:t>：</a:t>
            </a:r>
            <a:endParaRPr lang="en-US" altLang="zh-CN" sz="2800" b="0" dirty="0"/>
          </a:p>
          <a:p>
            <a:pPr marL="971550" lvl="1" indent="-514350" algn="just">
              <a:lnSpc>
                <a:spcPct val="120000"/>
              </a:lnSpc>
              <a:spcBef>
                <a:spcPts val="0"/>
              </a:spcBef>
              <a:spcAft>
                <a:spcPts val="600"/>
              </a:spcAft>
              <a:buFont typeface="+mj-lt"/>
              <a:buAutoNum type="arabicPeriod"/>
              <a:defRPr/>
            </a:pPr>
            <a:r>
              <a:rPr lang="zh-CN" altLang="en-US" b="0" dirty="0"/>
              <a:t>本身尽可能简单，并且用它们的线性组合能够表示尽可能广泛的信号；</a:t>
            </a:r>
          </a:p>
          <a:p>
            <a:pPr marL="971550" lvl="1" indent="-514350" algn="just">
              <a:lnSpc>
                <a:spcPct val="120000"/>
              </a:lnSpc>
              <a:spcBef>
                <a:spcPts val="0"/>
              </a:spcBef>
              <a:spcAft>
                <a:spcPts val="600"/>
              </a:spcAft>
              <a:buFont typeface="+mj-lt"/>
              <a:buAutoNum type="arabicPeriod"/>
              <a:defRPr/>
            </a:pPr>
            <a:r>
              <a:rPr lang="en-US" altLang="zh-CN" b="0" dirty="0"/>
              <a:t>LTI</a:t>
            </a:r>
            <a:r>
              <a:rPr lang="zh-CN" altLang="en-US" b="0" dirty="0"/>
              <a:t>系统对这种信号的响应易于计算且有利于对系统的深入理解。</a:t>
            </a:r>
            <a:endParaRPr lang="en-US" altLang="zh-CN" b="0" dirty="0"/>
          </a:p>
          <a:p>
            <a:pPr marL="571500" indent="-514350" algn="just">
              <a:lnSpc>
                <a:spcPct val="120000"/>
              </a:lnSpc>
              <a:spcBef>
                <a:spcPts val="0"/>
              </a:spcBef>
              <a:spcAft>
                <a:spcPts val="600"/>
              </a:spcAft>
              <a:defRPr/>
            </a:pPr>
            <a:r>
              <a:rPr lang="zh-CN" altLang="en-US" sz="2800" b="0" dirty="0"/>
              <a:t>两类有用的基本信号：复指数信号与单位冲激信号；</a:t>
            </a:r>
            <a:endParaRPr lang="en-US" altLang="zh-CN" sz="2800" b="0" dirty="0"/>
          </a:p>
          <a:p>
            <a:pPr marL="571500" indent="-514350" algn="just">
              <a:lnSpc>
                <a:spcPct val="120000"/>
              </a:lnSpc>
              <a:spcBef>
                <a:spcPts val="0"/>
              </a:spcBef>
              <a:spcAft>
                <a:spcPts val="600"/>
              </a:spcAft>
              <a:defRPr/>
            </a:pPr>
            <a:r>
              <a:rPr lang="zh-CN" altLang="en-US" sz="2800" b="0" dirty="0"/>
              <a:t>本章主要考虑以</a:t>
            </a:r>
            <a:r>
              <a:rPr lang="zh-CN" altLang="en-US" sz="2800" b="0" dirty="0">
                <a:solidFill>
                  <a:srgbClr val="FF0000"/>
                </a:solidFill>
              </a:rPr>
              <a:t>单位冲激信号</a:t>
            </a:r>
            <a:r>
              <a:rPr lang="zh-CN" altLang="en-US" sz="2800" b="0" dirty="0"/>
              <a:t>为基本信号进行信号与系统分析。</a:t>
            </a:r>
          </a:p>
        </p:txBody>
      </p:sp>
      <p:sp>
        <p:nvSpPr>
          <p:cNvPr id="4" name="灯片编号占位符 3">
            <a:extLst>
              <a:ext uri="{FF2B5EF4-FFF2-40B4-BE49-F238E27FC236}">
                <a16:creationId xmlns:a16="http://schemas.microsoft.com/office/drawing/2014/main" id="{45A9B086-16FB-4220-8E33-C2DCC57E213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8F3C7EF-E4A1-421D-8556-92C37FB6CE53}" type="slidenum">
              <a:rPr lang="zh-CN" altLang="en-US">
                <a:solidFill>
                  <a:srgbClr val="898989"/>
                </a:solidFill>
                <a:latin typeface="Calibri" panose="020F0502020204030204" pitchFamily="34" charset="0"/>
              </a:rPr>
              <a:pPr eaLnBrk="1" hangingPunct="1"/>
              <a:t>3</a:t>
            </a:fld>
            <a:endParaRPr lang="zh-CN" altLang="en-US">
              <a:solidFill>
                <a:srgbClr val="898989"/>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4">
            <a:extLst>
              <a:ext uri="{FF2B5EF4-FFF2-40B4-BE49-F238E27FC236}">
                <a16:creationId xmlns:a16="http://schemas.microsoft.com/office/drawing/2014/main" id="{9DE1413D-E2F3-45F7-8A79-79E725C2F94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89956" y="1769895"/>
            <a:ext cx="5564088" cy="4951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标题 1">
            <a:extLst>
              <a:ext uri="{FF2B5EF4-FFF2-40B4-BE49-F238E27FC236}">
                <a16:creationId xmlns:a16="http://schemas.microsoft.com/office/drawing/2014/main" id="{642DD35E-35EA-4A81-9582-414D60928E02}"/>
              </a:ext>
            </a:extLst>
          </p:cNvPr>
          <p:cNvSpPr>
            <a:spLocks noGrp="1"/>
          </p:cNvSpPr>
          <p:nvPr>
            <p:ph type="title"/>
          </p:nvPr>
        </p:nvSpPr>
        <p:spPr/>
        <p:txBody>
          <a:bodyPr/>
          <a:lstStyle/>
          <a:p>
            <a:r>
              <a:rPr lang="en-US" altLang="zh-CN" dirty="0"/>
              <a:t>2.1 </a:t>
            </a:r>
            <a:r>
              <a:rPr lang="zh-CN" altLang="en-US" dirty="0"/>
              <a:t>离散时间</a:t>
            </a:r>
            <a:r>
              <a:rPr lang="en-US" altLang="zh-CN" dirty="0"/>
              <a:t>LTI</a:t>
            </a:r>
            <a:r>
              <a:rPr lang="zh-CN" altLang="en-US" dirty="0"/>
              <a:t>系统：卷积和</a:t>
            </a:r>
          </a:p>
        </p:txBody>
      </p:sp>
      <p:sp>
        <p:nvSpPr>
          <p:cNvPr id="15367" name="内容占位符 2">
            <a:extLst>
              <a:ext uri="{FF2B5EF4-FFF2-40B4-BE49-F238E27FC236}">
                <a16:creationId xmlns:a16="http://schemas.microsoft.com/office/drawing/2014/main" id="{0F4BDC88-778E-454C-BAC7-51906C6C2E75}"/>
              </a:ext>
            </a:extLst>
          </p:cNvPr>
          <p:cNvSpPr>
            <a:spLocks noGrp="1"/>
          </p:cNvSpPr>
          <p:nvPr>
            <p:ph idx="1"/>
          </p:nvPr>
        </p:nvSpPr>
        <p:spPr>
          <a:xfrm>
            <a:off x="457200" y="1285875"/>
            <a:ext cx="8229600" cy="523220"/>
          </a:xfrm>
        </p:spPr>
        <p:txBody>
          <a:bodyPr>
            <a:spAutoFit/>
          </a:bodyPr>
          <a:lstStyle/>
          <a:p>
            <a:r>
              <a:rPr lang="zh-CN" altLang="en-US" sz="2800" b="0" dirty="0"/>
              <a:t>一</a:t>
            </a:r>
            <a:r>
              <a:rPr lang="en-US" altLang="zh-CN" sz="2800" b="0" dirty="0"/>
              <a:t>. </a:t>
            </a:r>
            <a:r>
              <a:rPr lang="zh-CN" altLang="en-US" sz="2800" b="0" dirty="0"/>
              <a:t>用单位脉冲表示离散时间信号：</a:t>
            </a:r>
          </a:p>
        </p:txBody>
      </p:sp>
      <p:sp>
        <p:nvSpPr>
          <p:cNvPr id="4" name="灯片编号占位符 3">
            <a:extLst>
              <a:ext uri="{FF2B5EF4-FFF2-40B4-BE49-F238E27FC236}">
                <a16:creationId xmlns:a16="http://schemas.microsoft.com/office/drawing/2014/main" id="{B87A0915-9A74-485A-B8EB-9FFAD7A87BE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B7DF353-8423-4194-8603-0076A72F65C4}" type="slidenum">
              <a:rPr lang="zh-CN" altLang="en-US">
                <a:solidFill>
                  <a:srgbClr val="898989"/>
                </a:solidFill>
                <a:latin typeface="Calibri" panose="020F0502020204030204" pitchFamily="34" charset="0"/>
              </a:rPr>
              <a:pPr eaLnBrk="1" hangingPunct="1"/>
              <a:t>4</a:t>
            </a:fld>
            <a:endParaRPr lang="zh-CN" altLang="en-US">
              <a:solidFill>
                <a:srgbClr val="898989"/>
              </a:solidFill>
              <a:latin typeface="Calibri" panose="020F0502020204030204" pitchFamily="34" charset="0"/>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9956" y="1769895"/>
            <a:ext cx="5374332" cy="1371073"/>
          </a:xfrm>
          <a:prstGeom prst="rect">
            <a:avLst/>
          </a:prstGeom>
        </p:spPr>
      </p:pic>
    </p:spTree>
    <p:extLst>
      <p:ext uri="{BB962C8B-B14F-4D97-AF65-F5344CB8AC3E}">
        <p14:creationId xmlns:p14="http://schemas.microsoft.com/office/powerpoint/2010/main" val="4250209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标题 1">
            <a:extLst>
              <a:ext uri="{FF2B5EF4-FFF2-40B4-BE49-F238E27FC236}">
                <a16:creationId xmlns:a16="http://schemas.microsoft.com/office/drawing/2014/main" id="{C37E1DDA-619A-4947-B48D-CF0A8C1C8BD3}"/>
              </a:ext>
            </a:extLst>
          </p:cNvPr>
          <p:cNvSpPr>
            <a:spLocks noGrp="1"/>
          </p:cNvSpPr>
          <p:nvPr>
            <p:ph type="title"/>
          </p:nvPr>
        </p:nvSpPr>
        <p:spPr/>
        <p:txBody>
          <a:bodyPr/>
          <a:lstStyle/>
          <a:p>
            <a:r>
              <a:rPr lang="en-US" altLang="zh-CN" dirty="0"/>
              <a:t>2.1 </a:t>
            </a:r>
            <a:r>
              <a:rPr lang="zh-CN" altLang="en-US" dirty="0"/>
              <a:t>离散时间</a:t>
            </a:r>
            <a:r>
              <a:rPr lang="en-US" altLang="zh-CN" dirty="0"/>
              <a:t>LTI</a:t>
            </a:r>
            <a:r>
              <a:rPr lang="zh-CN" altLang="en-US" dirty="0"/>
              <a:t>系统：卷积和</a:t>
            </a:r>
          </a:p>
        </p:txBody>
      </p:sp>
      <p:sp>
        <p:nvSpPr>
          <p:cNvPr id="4" name="灯片编号占位符 3">
            <a:extLst>
              <a:ext uri="{FF2B5EF4-FFF2-40B4-BE49-F238E27FC236}">
                <a16:creationId xmlns:a16="http://schemas.microsoft.com/office/drawing/2014/main" id="{2E05DC1F-B9BC-4C1F-8F54-2B4BB6ED542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15D3226-9611-46CC-A8E7-18CA92373E4B}" type="slidenum">
              <a:rPr lang="zh-CN" altLang="en-US">
                <a:solidFill>
                  <a:srgbClr val="898989"/>
                </a:solidFill>
                <a:latin typeface="Calibri" panose="020F0502020204030204" pitchFamily="34" charset="0"/>
              </a:rPr>
              <a:pPr eaLnBrk="1" hangingPunct="1"/>
              <a:t>5</a:t>
            </a:fld>
            <a:endParaRPr lang="zh-CN" altLang="en-US">
              <a:solidFill>
                <a:srgbClr val="898989"/>
              </a:solidFill>
              <a:latin typeface="Calibri" panose="020F0502020204030204" pitchFamily="34" charset="0"/>
            </a:endParaRPr>
          </a:p>
        </p:txBody>
      </p:sp>
      <p:sp>
        <p:nvSpPr>
          <p:cNvPr id="11" name="Freeform 3">
            <a:extLst>
              <a:ext uri="{FF2B5EF4-FFF2-40B4-BE49-F238E27FC236}">
                <a16:creationId xmlns:a16="http://schemas.microsoft.com/office/drawing/2014/main" id="{62376F36-E26F-4D0B-9101-8B1A5E68831C}"/>
              </a:ext>
            </a:extLst>
          </p:cNvPr>
          <p:cNvSpPr>
            <a:spLocks/>
          </p:cNvSpPr>
          <p:nvPr/>
        </p:nvSpPr>
        <p:spPr bwMode="auto">
          <a:xfrm>
            <a:off x="5594350" y="3827890"/>
            <a:ext cx="1066800" cy="533400"/>
          </a:xfrm>
          <a:custGeom>
            <a:avLst/>
            <a:gdLst>
              <a:gd name="T0" fmla="*/ 0 w 672"/>
              <a:gd name="T1" fmla="*/ 0 h 336"/>
              <a:gd name="T2" fmla="*/ 2147483647 w 672"/>
              <a:gd name="T3" fmla="*/ 2147483647 h 336"/>
              <a:gd name="T4" fmla="*/ 2147483647 w 672"/>
              <a:gd name="T5" fmla="*/ 2147483647 h 336"/>
              <a:gd name="T6" fmla="*/ 2147483647 w 672"/>
              <a:gd name="T7" fmla="*/ 2147483647 h 336"/>
              <a:gd name="T8" fmla="*/ 0 60000 65536"/>
              <a:gd name="T9" fmla="*/ 0 60000 65536"/>
              <a:gd name="T10" fmla="*/ 0 60000 65536"/>
              <a:gd name="T11" fmla="*/ 0 60000 65536"/>
              <a:gd name="T12" fmla="*/ 0 w 672"/>
              <a:gd name="T13" fmla="*/ 0 h 336"/>
              <a:gd name="T14" fmla="*/ 672 w 672"/>
              <a:gd name="T15" fmla="*/ 336 h 336"/>
            </a:gdLst>
            <a:ahLst/>
            <a:cxnLst>
              <a:cxn ang="T8">
                <a:pos x="T0" y="T1"/>
              </a:cxn>
              <a:cxn ang="T9">
                <a:pos x="T2" y="T3"/>
              </a:cxn>
              <a:cxn ang="T10">
                <a:pos x="T4" y="T5"/>
              </a:cxn>
              <a:cxn ang="T11">
                <a:pos x="T6" y="T7"/>
              </a:cxn>
            </a:cxnLst>
            <a:rect l="T12" t="T13" r="T14" b="T15"/>
            <a:pathLst>
              <a:path w="672" h="336">
                <a:moveTo>
                  <a:pt x="0" y="0"/>
                </a:moveTo>
                <a:cubicBezTo>
                  <a:pt x="0" y="56"/>
                  <a:pt x="0" y="112"/>
                  <a:pt x="96" y="144"/>
                </a:cubicBezTo>
                <a:cubicBezTo>
                  <a:pt x="192" y="176"/>
                  <a:pt x="480" y="160"/>
                  <a:pt x="576" y="192"/>
                </a:cubicBezTo>
                <a:cubicBezTo>
                  <a:pt x="672" y="224"/>
                  <a:pt x="656" y="312"/>
                  <a:pt x="672" y="33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 name="Rectangle 4">
            <a:extLst>
              <a:ext uri="{FF2B5EF4-FFF2-40B4-BE49-F238E27FC236}">
                <a16:creationId xmlns:a16="http://schemas.microsoft.com/office/drawing/2014/main" id="{09B54F03-87CB-4CA4-B3D7-A5F92DC87DD8}"/>
              </a:ext>
            </a:extLst>
          </p:cNvPr>
          <p:cNvSpPr>
            <a:spLocks noChangeArrowheads="1"/>
          </p:cNvSpPr>
          <p:nvPr/>
        </p:nvSpPr>
        <p:spPr bwMode="auto">
          <a:xfrm>
            <a:off x="3322585" y="4335493"/>
            <a:ext cx="800205" cy="461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3" tIns="45717" rIns="91433" bIns="45717">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algn="ctr" eaLnBrk="1" hangingPunct="1">
              <a:spcBef>
                <a:spcPct val="0"/>
              </a:spcBef>
              <a:buFontTx/>
              <a:buNone/>
            </a:pPr>
            <a:r>
              <a:rPr lang="zh-CN" altLang="en-US" sz="2400" dirty="0">
                <a:latin typeface="楷体" panose="02010609060101010101" pitchFamily="49" charset="-122"/>
                <a:ea typeface="楷体" panose="02010609060101010101" pitchFamily="49" charset="-122"/>
              </a:rPr>
              <a:t>系数</a:t>
            </a:r>
            <a:endParaRPr lang="en-US" altLang="zh-CN" sz="2400" dirty="0">
              <a:latin typeface="楷体" panose="02010609060101010101" pitchFamily="49" charset="-122"/>
              <a:ea typeface="楷体" panose="02010609060101010101" pitchFamily="49" charset="-122"/>
            </a:endParaRPr>
          </a:p>
        </p:txBody>
      </p:sp>
      <p:sp>
        <p:nvSpPr>
          <p:cNvPr id="14" name="Freeform 6">
            <a:extLst>
              <a:ext uri="{FF2B5EF4-FFF2-40B4-BE49-F238E27FC236}">
                <a16:creationId xmlns:a16="http://schemas.microsoft.com/office/drawing/2014/main" id="{A5905406-11E4-4CC6-BA2F-D95C3DEC65EB}"/>
              </a:ext>
            </a:extLst>
          </p:cNvPr>
          <p:cNvSpPr>
            <a:spLocks/>
          </p:cNvSpPr>
          <p:nvPr/>
        </p:nvSpPr>
        <p:spPr bwMode="auto">
          <a:xfrm>
            <a:off x="3722688" y="3827890"/>
            <a:ext cx="1168400" cy="533400"/>
          </a:xfrm>
          <a:custGeom>
            <a:avLst/>
            <a:gdLst>
              <a:gd name="T0" fmla="*/ 2147483647 w 736"/>
              <a:gd name="T1" fmla="*/ 0 h 336"/>
              <a:gd name="T2" fmla="*/ 2147483647 w 736"/>
              <a:gd name="T3" fmla="*/ 2147483647 h 336"/>
              <a:gd name="T4" fmla="*/ 2147483647 w 736"/>
              <a:gd name="T5" fmla="*/ 2147483647 h 336"/>
              <a:gd name="T6" fmla="*/ 2147483647 w 736"/>
              <a:gd name="T7" fmla="*/ 2147483647 h 336"/>
              <a:gd name="T8" fmla="*/ 0 60000 65536"/>
              <a:gd name="T9" fmla="*/ 0 60000 65536"/>
              <a:gd name="T10" fmla="*/ 0 60000 65536"/>
              <a:gd name="T11" fmla="*/ 0 60000 65536"/>
              <a:gd name="T12" fmla="*/ 0 w 736"/>
              <a:gd name="T13" fmla="*/ 0 h 336"/>
              <a:gd name="T14" fmla="*/ 736 w 736"/>
              <a:gd name="T15" fmla="*/ 336 h 336"/>
            </a:gdLst>
            <a:ahLst/>
            <a:cxnLst>
              <a:cxn ang="T8">
                <a:pos x="T0" y="T1"/>
              </a:cxn>
              <a:cxn ang="T9">
                <a:pos x="T2" y="T3"/>
              </a:cxn>
              <a:cxn ang="T10">
                <a:pos x="T4" y="T5"/>
              </a:cxn>
              <a:cxn ang="T11">
                <a:pos x="T6" y="T7"/>
              </a:cxn>
            </a:cxnLst>
            <a:rect l="T12" t="T13" r="T14" b="T15"/>
            <a:pathLst>
              <a:path w="736" h="336">
                <a:moveTo>
                  <a:pt x="728" y="0"/>
                </a:moveTo>
                <a:cubicBezTo>
                  <a:pt x="732" y="56"/>
                  <a:pt x="736" y="112"/>
                  <a:pt x="632" y="144"/>
                </a:cubicBezTo>
                <a:cubicBezTo>
                  <a:pt x="528" y="176"/>
                  <a:pt x="208" y="160"/>
                  <a:pt x="104" y="192"/>
                </a:cubicBezTo>
                <a:cubicBezTo>
                  <a:pt x="0" y="224"/>
                  <a:pt x="24" y="312"/>
                  <a:pt x="8" y="33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pic>
        <p:nvPicPr>
          <p:cNvPr id="15" name="Picture 7">
            <a:extLst>
              <a:ext uri="{FF2B5EF4-FFF2-40B4-BE49-F238E27FC236}">
                <a16:creationId xmlns:a16="http://schemas.microsoft.com/office/drawing/2014/main" id="{9DF4E218-9A13-49FD-804F-1A8836E1822D}"/>
              </a:ext>
            </a:extLst>
          </p:cNvPr>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609600" y="2116565"/>
            <a:ext cx="8001000" cy="173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8">
            <a:extLst>
              <a:ext uri="{FF2B5EF4-FFF2-40B4-BE49-F238E27FC236}">
                <a16:creationId xmlns:a16="http://schemas.microsoft.com/office/drawing/2014/main" id="{55B8B75A-10F9-4C8E-BBF9-F9F1FCA028FB}"/>
              </a:ext>
            </a:extLst>
          </p:cNvPr>
          <p:cNvSpPr>
            <a:spLocks noChangeArrowheads="1"/>
          </p:cNvSpPr>
          <p:nvPr/>
        </p:nvSpPr>
        <p:spPr bwMode="auto">
          <a:xfrm>
            <a:off x="3048000" y="3086528"/>
            <a:ext cx="3124200" cy="838200"/>
          </a:xfrm>
          <a:prstGeom prst="rect">
            <a:avLst/>
          </a:prstGeom>
          <a:noFill/>
          <a:ln w="254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91415" tIns="45706" rIns="91415" bIns="45706"/>
          <a:lstStyle>
            <a:lvl1pPr defTabSz="912813" eaLnBrk="0" hangingPunct="0">
              <a:defRPr>
                <a:solidFill>
                  <a:schemeClr val="tx1"/>
                </a:solidFill>
                <a:latin typeface="Times New Roman" panose="02020603050405020304" pitchFamily="18" charset="0"/>
              </a:defRPr>
            </a:lvl1pPr>
            <a:lvl2pPr marL="742950" indent="-285750" defTabSz="912813" eaLnBrk="0" hangingPunct="0">
              <a:defRPr>
                <a:solidFill>
                  <a:schemeClr val="tx1"/>
                </a:solidFill>
                <a:latin typeface="Times New Roman" panose="02020603050405020304" pitchFamily="18" charset="0"/>
              </a:defRPr>
            </a:lvl2pPr>
            <a:lvl3pPr marL="1143000" indent="-228600" defTabSz="912813" eaLnBrk="0" hangingPunct="0">
              <a:defRPr>
                <a:solidFill>
                  <a:schemeClr val="tx1"/>
                </a:solidFill>
                <a:latin typeface="Times New Roman" panose="02020603050405020304" pitchFamily="18" charset="0"/>
              </a:defRPr>
            </a:lvl3pPr>
            <a:lvl4pPr marL="1600200" indent="-228600" defTabSz="912813" eaLnBrk="0" hangingPunct="0">
              <a:defRPr>
                <a:solidFill>
                  <a:schemeClr val="tx1"/>
                </a:solidFill>
                <a:latin typeface="Times New Roman" panose="02020603050405020304" pitchFamily="18" charset="0"/>
              </a:defRPr>
            </a:lvl4pPr>
            <a:lvl5pPr marL="2057400" indent="-228600" defTabSz="912813" eaLnBrk="0" hangingPunct="0">
              <a:defRPr>
                <a:solidFill>
                  <a:schemeClr val="tx1"/>
                </a:solidFill>
                <a:latin typeface="Times New Roman" panose="02020603050405020304" pitchFamily="18" charset="0"/>
              </a:defRPr>
            </a:lvl5pPr>
            <a:lvl6pPr marL="2514600" indent="-228600" defTabSz="912813"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defTabSz="912813"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defTabSz="912813"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defTabSz="912813"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endParaRPr lang="zh-CN" altLang="en-US">
              <a:ea typeface="宋体" panose="02010600030101010101" pitchFamily="2" charset="-122"/>
            </a:endParaRPr>
          </a:p>
        </p:txBody>
      </p:sp>
      <p:sp>
        <p:nvSpPr>
          <p:cNvPr id="17" name="Rectangle 4">
            <a:extLst>
              <a:ext uri="{FF2B5EF4-FFF2-40B4-BE49-F238E27FC236}">
                <a16:creationId xmlns:a16="http://schemas.microsoft.com/office/drawing/2014/main" id="{A49CBC2E-04A9-4A67-A408-CEEAB43AD232}"/>
              </a:ext>
            </a:extLst>
          </p:cNvPr>
          <p:cNvSpPr>
            <a:spLocks noChangeArrowheads="1"/>
          </p:cNvSpPr>
          <p:nvPr/>
        </p:nvSpPr>
        <p:spPr bwMode="auto">
          <a:xfrm>
            <a:off x="5970439" y="4335493"/>
            <a:ext cx="1415758" cy="461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3" tIns="45717" rIns="91433" bIns="45717">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algn="ctr" eaLnBrk="1" hangingPunct="1">
              <a:spcBef>
                <a:spcPct val="0"/>
              </a:spcBef>
              <a:buFontTx/>
              <a:buNone/>
            </a:pPr>
            <a:r>
              <a:rPr lang="zh-CN" altLang="en-US" sz="2400" dirty="0">
                <a:latin typeface="楷体" panose="02010609060101010101" pitchFamily="49" charset="-122"/>
                <a:ea typeface="楷体" panose="02010609060101010101" pitchFamily="49" charset="-122"/>
              </a:rPr>
              <a:t>基本信号</a:t>
            </a:r>
            <a:endParaRPr lang="en-US" altLang="zh-CN" sz="2400" dirty="0">
              <a:latin typeface="楷体" panose="02010609060101010101" pitchFamily="49" charset="-122"/>
              <a:ea typeface="楷体" panose="02010609060101010101" pitchFamily="49" charset="-122"/>
            </a:endParaRPr>
          </a:p>
        </p:txBody>
      </p:sp>
      <p:sp>
        <p:nvSpPr>
          <p:cNvPr id="19" name="文本框 18">
            <a:extLst>
              <a:ext uri="{FF2B5EF4-FFF2-40B4-BE49-F238E27FC236}">
                <a16:creationId xmlns:a16="http://schemas.microsoft.com/office/drawing/2014/main" id="{ACC11F96-CDE6-4999-81D0-BFF64E9B0BD9}"/>
              </a:ext>
            </a:extLst>
          </p:cNvPr>
          <p:cNvSpPr txBox="1"/>
          <p:nvPr/>
        </p:nvSpPr>
        <p:spPr>
          <a:xfrm>
            <a:off x="457200" y="5373216"/>
            <a:ext cx="8229600" cy="461665"/>
          </a:xfrm>
          <a:prstGeom prst="rect">
            <a:avLst/>
          </a:prstGeom>
          <a:noFill/>
        </p:spPr>
        <p:txBody>
          <a:bodyPr wrap="square">
            <a:spAutoFit/>
          </a:bodyPr>
          <a:lstStyle/>
          <a:p>
            <a:pPr marL="457200" indent="-457200" algn="just" eaLnBrk="0" hangingPunct="0">
              <a:spcBef>
                <a:spcPts val="0"/>
              </a:spcBef>
              <a:spcAft>
                <a:spcPts val="0"/>
              </a:spcAft>
              <a:buFont typeface="Arial" panose="020B0604020202020204" pitchFamily="34" charset="0"/>
              <a:buChar char="•"/>
              <a:defRPr/>
            </a:pPr>
            <a:r>
              <a:rPr kumimoji="0" lang="zh-CN" altLang="en-US" sz="2400" b="0" i="0" u="none" strike="noStrike" kern="1200" cap="none" spc="0" normalizeH="0" baseline="0" noProof="0" dirty="0">
                <a:ln>
                  <a:noFill/>
                </a:ln>
                <a:solidFill>
                  <a:srgbClr val="FF0000"/>
                </a:solidFill>
                <a:effectLst/>
                <a:uLnTx/>
                <a:uFillTx/>
                <a:latin typeface="Times New Roman" pitchFamily="18" charset="0"/>
                <a:ea typeface="华文楷体" pitchFamily="2" charset="-122"/>
                <a:cs typeface="+mn-cs"/>
              </a:rPr>
              <a:t>用位移的单位脉冲信号表示任意的离散时间信号</a:t>
            </a:r>
            <a:r>
              <a:rPr kumimoji="0" lang="zh-CN" altLang="en-US" sz="2400" b="0" i="0" u="none" strike="noStrike" kern="1200" cap="none" spc="0" normalizeH="0" baseline="0" noProof="0" dirty="0">
                <a:ln>
                  <a:noFill/>
                </a:ln>
                <a:effectLst/>
                <a:uLnTx/>
                <a:uFillTx/>
                <a:latin typeface="Times New Roman" pitchFamily="18" charset="0"/>
                <a:ea typeface="华文楷体" pitchFamily="2" charset="-122"/>
                <a:cs typeface="+mn-cs"/>
              </a:rPr>
              <a:t>。</a:t>
            </a:r>
            <a:endParaRPr kumimoji="0" lang="en-US" sz="2400" b="0" i="0" u="none" strike="noStrike" kern="1200" cap="none" spc="0" normalizeH="0" baseline="0" noProof="0" dirty="0">
              <a:ln>
                <a:noFill/>
              </a:ln>
              <a:effectLst/>
              <a:uLnTx/>
              <a:uFillTx/>
              <a:latin typeface="Times New Roman" pitchFamily="18" charset="0"/>
              <a:ea typeface="华文楷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ppt_x"/>
                                          </p:val>
                                        </p:tav>
                                        <p:tav tm="100000">
                                          <p:val>
                                            <p:strVal val="#ppt_x"/>
                                          </p:val>
                                        </p:tav>
                                      </p:tavLst>
                                    </p:anim>
                                    <p:anim calcmode="lin" valueType="num">
                                      <p:cBhvr additive="base">
                                        <p:cTn id="2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6" name="标题 1">
            <a:extLst>
              <a:ext uri="{FF2B5EF4-FFF2-40B4-BE49-F238E27FC236}">
                <a16:creationId xmlns:a16="http://schemas.microsoft.com/office/drawing/2014/main" id="{F274D79C-D199-4AB8-AF7E-AC3925D39F49}"/>
              </a:ext>
            </a:extLst>
          </p:cNvPr>
          <p:cNvSpPr>
            <a:spLocks noGrp="1"/>
          </p:cNvSpPr>
          <p:nvPr>
            <p:ph type="title"/>
          </p:nvPr>
        </p:nvSpPr>
        <p:spPr/>
        <p:txBody>
          <a:bodyPr/>
          <a:lstStyle/>
          <a:p>
            <a:r>
              <a:rPr lang="en-US" altLang="zh-CN"/>
              <a:t>2.1 </a:t>
            </a:r>
            <a:r>
              <a:rPr lang="zh-CN" altLang="en-US"/>
              <a:t>离散时间</a:t>
            </a:r>
            <a:r>
              <a:rPr lang="en-US" altLang="zh-CN"/>
              <a:t>LTI</a:t>
            </a:r>
            <a:r>
              <a:rPr lang="zh-CN" altLang="en-US"/>
              <a:t>系统：卷积和</a:t>
            </a:r>
          </a:p>
        </p:txBody>
      </p:sp>
      <p:sp>
        <p:nvSpPr>
          <p:cNvPr id="17417" name="内容占位符 2">
            <a:extLst>
              <a:ext uri="{FF2B5EF4-FFF2-40B4-BE49-F238E27FC236}">
                <a16:creationId xmlns:a16="http://schemas.microsoft.com/office/drawing/2014/main" id="{13835189-1960-448A-AC79-A56B9A59011D}"/>
              </a:ext>
            </a:extLst>
          </p:cNvPr>
          <p:cNvSpPr>
            <a:spLocks noGrp="1"/>
          </p:cNvSpPr>
          <p:nvPr>
            <p:ph idx="1"/>
          </p:nvPr>
        </p:nvSpPr>
        <p:spPr>
          <a:xfrm>
            <a:off x="457200" y="1268760"/>
            <a:ext cx="8229600" cy="461665"/>
          </a:xfrm>
        </p:spPr>
        <p:txBody>
          <a:bodyPr>
            <a:spAutoFit/>
          </a:bodyPr>
          <a:lstStyle/>
          <a:p>
            <a:r>
              <a:rPr lang="zh-CN" altLang="en-US" sz="2400" b="0" dirty="0"/>
              <a:t>二</a:t>
            </a:r>
            <a:r>
              <a:rPr lang="en-US" altLang="zh-CN" sz="2400" b="0" dirty="0"/>
              <a:t>. </a:t>
            </a:r>
            <a:r>
              <a:rPr lang="zh-CN" altLang="en-US" sz="2400" b="0" dirty="0"/>
              <a:t>卷积和</a:t>
            </a:r>
          </a:p>
        </p:txBody>
      </p:sp>
      <p:sp>
        <p:nvSpPr>
          <p:cNvPr id="4" name="灯片编号占位符 3">
            <a:extLst>
              <a:ext uri="{FF2B5EF4-FFF2-40B4-BE49-F238E27FC236}">
                <a16:creationId xmlns:a16="http://schemas.microsoft.com/office/drawing/2014/main" id="{72A4F78E-A897-4907-A31C-3288C8D99D0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2DB2E17-5911-4A5B-857C-F546B7156BAE}" type="slidenum">
              <a:rPr lang="zh-CN" altLang="en-US">
                <a:solidFill>
                  <a:srgbClr val="898989"/>
                </a:solidFill>
                <a:latin typeface="Calibri" panose="020F0502020204030204" pitchFamily="34" charset="0"/>
              </a:rPr>
              <a:pPr eaLnBrk="1" hangingPunct="1"/>
              <a:t>6</a:t>
            </a:fld>
            <a:endParaRPr lang="zh-CN" altLang="en-US">
              <a:solidFill>
                <a:srgbClr val="898989"/>
              </a:solidFill>
              <a:latin typeface="Calibri" panose="020F0502020204030204" pitchFamily="34" charset="0"/>
            </a:endParaRPr>
          </a:p>
        </p:txBody>
      </p:sp>
      <p:grpSp>
        <p:nvGrpSpPr>
          <p:cNvPr id="14" name="组合 13">
            <a:extLst>
              <a:ext uri="{FF2B5EF4-FFF2-40B4-BE49-F238E27FC236}">
                <a16:creationId xmlns:a16="http://schemas.microsoft.com/office/drawing/2014/main" id="{F63BF5D6-61D8-4469-8CA5-87F99DF981D3}"/>
              </a:ext>
            </a:extLst>
          </p:cNvPr>
          <p:cNvGrpSpPr/>
          <p:nvPr/>
        </p:nvGrpSpPr>
        <p:grpSpPr>
          <a:xfrm>
            <a:off x="1967276" y="1772816"/>
            <a:ext cx="5200259" cy="461665"/>
            <a:chOff x="2195736" y="1870441"/>
            <a:chExt cx="5200259" cy="461665"/>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C9D85E0-DBDB-4CBF-A638-1319177632DB}"/>
                    </a:ext>
                  </a:extLst>
                </p:cNvPr>
                <p:cNvSpPr txBox="1"/>
                <p:nvPr/>
              </p:nvSpPr>
              <p:spPr>
                <a:xfrm>
                  <a:off x="2195736" y="1870441"/>
                  <a:ext cx="83881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oMath>
                    </m:oMathPara>
                  </a14:m>
                  <a:endParaRPr lang="en-US" sz="2400" dirty="0">
                    <a:latin typeface="Cambria Math" panose="02040503050406030204" pitchFamily="18" charset="0"/>
                    <a:ea typeface="楷体" panose="02010609060101010101" pitchFamily="49" charset="-122"/>
                  </a:endParaRPr>
                </a:p>
              </p:txBody>
            </p:sp>
          </mc:Choice>
          <mc:Fallback xmlns="">
            <p:sp>
              <p:nvSpPr>
                <p:cNvPr id="2" name="文本框 1">
                  <a:extLst>
                    <a:ext uri="{FF2B5EF4-FFF2-40B4-BE49-F238E27FC236}">
                      <a16:creationId xmlns:a16="http://schemas.microsoft.com/office/drawing/2014/main" id="{1C9D85E0-DBDB-4CBF-A638-1319177632DB}"/>
                    </a:ext>
                  </a:extLst>
                </p:cNvPr>
                <p:cNvSpPr txBox="1">
                  <a:spLocks noRot="1" noChangeAspect="1" noMove="1" noResize="1" noEditPoints="1" noAdjustHandles="1" noChangeArrowheads="1" noChangeShapeType="1" noTextEdit="1"/>
                </p:cNvSpPr>
                <p:nvPr/>
              </p:nvSpPr>
              <p:spPr>
                <a:xfrm>
                  <a:off x="2195736" y="1870441"/>
                  <a:ext cx="838819" cy="461665"/>
                </a:xfrm>
                <a:prstGeom prst="rect">
                  <a:avLst/>
                </a:prstGeom>
                <a:blipFill>
                  <a:blip r:embed="rId3"/>
                  <a:stretch>
                    <a:fillRect r="-1460" b="-197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F602493-0E2C-4C72-B5FD-E1C31ADB0EBF}"/>
                    </a:ext>
                  </a:extLst>
                </p:cNvPr>
                <p:cNvSpPr txBox="1"/>
                <p:nvPr/>
              </p:nvSpPr>
              <p:spPr>
                <a:xfrm>
                  <a:off x="6553200" y="1870441"/>
                  <a:ext cx="84279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oMath>
                    </m:oMathPara>
                  </a14:m>
                  <a:endParaRPr lang="en-US" sz="2400" dirty="0">
                    <a:latin typeface="Cambria Math" panose="02040503050406030204" pitchFamily="18" charset="0"/>
                    <a:ea typeface="楷体" panose="02010609060101010101" pitchFamily="49" charset="-122"/>
                  </a:endParaRPr>
                </a:p>
              </p:txBody>
            </p:sp>
          </mc:Choice>
          <mc:Fallback xmlns="">
            <p:sp>
              <p:nvSpPr>
                <p:cNvPr id="12" name="文本框 11">
                  <a:extLst>
                    <a:ext uri="{FF2B5EF4-FFF2-40B4-BE49-F238E27FC236}">
                      <a16:creationId xmlns:a16="http://schemas.microsoft.com/office/drawing/2014/main" id="{4F602493-0E2C-4C72-B5FD-E1C31ADB0EBF}"/>
                    </a:ext>
                  </a:extLst>
                </p:cNvPr>
                <p:cNvSpPr txBox="1">
                  <a:spLocks noRot="1" noChangeAspect="1" noMove="1" noResize="1" noEditPoints="1" noAdjustHandles="1" noChangeArrowheads="1" noChangeShapeType="1" noTextEdit="1"/>
                </p:cNvSpPr>
                <p:nvPr/>
              </p:nvSpPr>
              <p:spPr>
                <a:xfrm>
                  <a:off x="6553200" y="1870441"/>
                  <a:ext cx="842795" cy="461665"/>
                </a:xfrm>
                <a:prstGeom prst="rect">
                  <a:avLst/>
                </a:prstGeom>
                <a:blipFill>
                  <a:blip r:embed="rId4"/>
                  <a:stretch>
                    <a:fillRect r="-725" b="-19737"/>
                  </a:stretch>
                </a:blipFill>
              </p:spPr>
              <p:txBody>
                <a:bodyPr/>
                <a:lstStyle/>
                <a:p>
                  <a:r>
                    <a:rPr lang="en-US">
                      <a:noFill/>
                    </a:rPr>
                    <a:t> </a:t>
                  </a:r>
                </a:p>
              </p:txBody>
            </p:sp>
          </mc:Fallback>
        </mc:AlternateContent>
        <p:sp>
          <p:nvSpPr>
            <p:cNvPr id="3" name="文本框 2">
              <a:extLst>
                <a:ext uri="{FF2B5EF4-FFF2-40B4-BE49-F238E27FC236}">
                  <a16:creationId xmlns:a16="http://schemas.microsoft.com/office/drawing/2014/main" id="{8C9907B7-3032-4AFA-9CFE-174F0ACA4C51}"/>
                </a:ext>
              </a:extLst>
            </p:cNvPr>
            <p:cNvSpPr txBox="1"/>
            <p:nvPr/>
          </p:nvSpPr>
          <p:spPr>
            <a:xfrm>
              <a:off x="3779912" y="1870441"/>
              <a:ext cx="2016224" cy="461665"/>
            </a:xfrm>
            <a:prstGeom prst="rect">
              <a:avLst/>
            </a:prstGeom>
            <a:noFill/>
            <a:ln w="12700">
              <a:solidFill>
                <a:schemeClr val="tx1"/>
              </a:solidFill>
            </a:ln>
          </p:spPr>
          <p:txBody>
            <a:bodyPr wrap="square" rtlCol="0">
              <a:spAutoFit/>
            </a:bodyPr>
            <a:lstStyle/>
            <a:p>
              <a:pPr algn="ctr"/>
              <a:r>
                <a:rPr lang="zh-CN" altLang="en-US" sz="2400" dirty="0">
                  <a:latin typeface="Cambria Math" panose="02040503050406030204" pitchFamily="18" charset="0"/>
                  <a:ea typeface="楷体" panose="02010609060101010101" pitchFamily="49" charset="-122"/>
                </a:rPr>
                <a:t>离散时间系统</a:t>
              </a:r>
              <a:endParaRPr lang="en-US" sz="2400" dirty="0">
                <a:latin typeface="Cambria Math" panose="02040503050406030204" pitchFamily="18" charset="0"/>
                <a:ea typeface="楷体" panose="02010609060101010101" pitchFamily="49" charset="-122"/>
              </a:endParaRPr>
            </a:p>
          </p:txBody>
        </p:sp>
        <p:cxnSp>
          <p:nvCxnSpPr>
            <p:cNvPr id="6" name="直接箭头连接符 5">
              <a:extLst>
                <a:ext uri="{FF2B5EF4-FFF2-40B4-BE49-F238E27FC236}">
                  <a16:creationId xmlns:a16="http://schemas.microsoft.com/office/drawing/2014/main" id="{DFE81E50-ABF8-4AB5-A0FE-F22F9B0C8E00}"/>
                </a:ext>
              </a:extLst>
            </p:cNvPr>
            <p:cNvCxnSpPr>
              <a:cxnSpLocks/>
            </p:cNvCxnSpPr>
            <p:nvPr/>
          </p:nvCxnSpPr>
          <p:spPr>
            <a:xfrm>
              <a:off x="2962674" y="2101273"/>
              <a:ext cx="81723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6845F941-CE54-4F4F-96BA-059B61D2CF5F}"/>
                </a:ext>
              </a:extLst>
            </p:cNvPr>
            <p:cNvCxnSpPr>
              <a:cxnSpLocks/>
            </p:cNvCxnSpPr>
            <p:nvPr/>
          </p:nvCxnSpPr>
          <p:spPr>
            <a:xfrm>
              <a:off x="5796136" y="2101273"/>
              <a:ext cx="81723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80AD88E6-9004-49B7-9395-926F11C01C06}"/>
                  </a:ext>
                </a:extLst>
              </p:cNvPr>
              <p:cNvSpPr txBox="1"/>
              <p:nvPr/>
            </p:nvSpPr>
            <p:spPr>
              <a:xfrm>
                <a:off x="755576" y="2416328"/>
                <a:ext cx="7021281" cy="461665"/>
              </a:xfrm>
              <a:prstGeom prst="rect">
                <a:avLst/>
              </a:prstGeom>
              <a:noFill/>
            </p:spPr>
            <p:txBody>
              <a:bodyPr wrap="none" rtlCol="0">
                <a:spAutoFit/>
              </a:bodyPr>
              <a:lstStyle/>
              <a:p>
                <a:r>
                  <a:rPr lang="zh-CN" altLang="en-US" sz="2400" dirty="0">
                    <a:latin typeface="Cambria Math" panose="02040503050406030204" pitchFamily="18" charset="0"/>
                    <a:ea typeface="楷体" panose="02010609060101010101" pitchFamily="49" charset="-122"/>
                  </a:rPr>
                  <a:t>设离散时间系统为</a:t>
                </a:r>
                <a:r>
                  <a:rPr lang="en-US" altLang="zh-CN" sz="2400" dirty="0">
                    <a:latin typeface="Cambria Math" panose="02040503050406030204" pitchFamily="18" charset="0"/>
                    <a:ea typeface="楷体" panose="02010609060101010101" pitchFamily="49" charset="-122"/>
                  </a:rPr>
                  <a:t>LTI</a:t>
                </a:r>
                <a:r>
                  <a:rPr lang="zh-CN" altLang="en-US" sz="2400" dirty="0">
                    <a:latin typeface="Cambria Math" panose="02040503050406030204" pitchFamily="18" charset="0"/>
                    <a:ea typeface="楷体" panose="02010609060101010101" pitchFamily="49" charset="-122"/>
                  </a:rPr>
                  <a:t>的，定义</a:t>
                </a:r>
                <a:r>
                  <a:rPr lang="zh-CN" altLang="en-US" sz="2400" b="1" dirty="0">
                    <a:solidFill>
                      <a:srgbClr val="FF0000"/>
                    </a:solidFill>
                    <a:latin typeface="Cambria Math" panose="02040503050406030204" pitchFamily="18" charset="0"/>
                    <a:ea typeface="楷体" panose="02010609060101010101" pitchFamily="49" charset="-122"/>
                  </a:rPr>
                  <a:t>单位脉冲响应</a:t>
                </a:r>
                <a14:m>
                  <m:oMath xmlns:m="http://schemas.openxmlformats.org/officeDocument/2006/math">
                    <m:r>
                      <a:rPr lang="en-US" altLang="zh-CN" sz="2400" b="0" i="1" smtClean="0">
                        <a:solidFill>
                          <a:srgbClr val="FF0000"/>
                        </a:solidFill>
                        <a:latin typeface="Cambria Math" panose="02040503050406030204" pitchFamily="18" charset="0"/>
                      </a:rPr>
                      <m:t>h</m:t>
                    </m:r>
                    <m:r>
                      <a:rPr lang="en-US" altLang="zh-CN" sz="2400" b="0" i="1" smtClean="0">
                        <a:solidFill>
                          <a:srgbClr val="FF0000"/>
                        </a:solidFill>
                        <a:latin typeface="Cambria Math" panose="02040503050406030204" pitchFamily="18" charset="0"/>
                      </a:rPr>
                      <m:t>[</m:t>
                    </m:r>
                    <m:r>
                      <a:rPr lang="en-US" altLang="zh-CN" sz="2400" b="0" i="1" smtClean="0">
                        <a:solidFill>
                          <a:srgbClr val="FF0000"/>
                        </a:solidFill>
                        <a:latin typeface="Cambria Math" panose="02040503050406030204" pitchFamily="18" charset="0"/>
                      </a:rPr>
                      <m:t>𝑛</m:t>
                    </m:r>
                    <m:r>
                      <a:rPr lang="en-US" altLang="zh-CN" sz="2400" b="0" i="1" smtClean="0">
                        <a:solidFill>
                          <a:srgbClr val="FF0000"/>
                        </a:solidFill>
                        <a:latin typeface="Cambria Math" panose="02040503050406030204" pitchFamily="18" charset="0"/>
                      </a:rPr>
                      <m:t>]</m:t>
                    </m:r>
                    <m:r>
                      <a:rPr lang="zh-CN" altLang="en-US" sz="2400" i="1">
                        <a:latin typeface="Cambria Math" panose="02040503050406030204" pitchFamily="18" charset="0"/>
                      </a:rPr>
                      <m:t>：</m:t>
                    </m:r>
                  </m:oMath>
                </a14:m>
                <a:endParaRPr lang="en-US" sz="2400" dirty="0">
                  <a:latin typeface="Cambria Math" panose="02040503050406030204" pitchFamily="18" charset="0"/>
                  <a:ea typeface="楷体" panose="02010609060101010101" pitchFamily="49" charset="-122"/>
                </a:endParaRPr>
              </a:p>
            </p:txBody>
          </p:sp>
        </mc:Choice>
        <mc:Fallback xmlns="">
          <p:sp>
            <p:nvSpPr>
              <p:cNvPr id="13" name="文本框 12">
                <a:extLst>
                  <a:ext uri="{FF2B5EF4-FFF2-40B4-BE49-F238E27FC236}">
                    <a16:creationId xmlns:a16="http://schemas.microsoft.com/office/drawing/2014/main" id="{80AD88E6-9004-49B7-9395-926F11C01C06}"/>
                  </a:ext>
                </a:extLst>
              </p:cNvPr>
              <p:cNvSpPr txBox="1">
                <a:spLocks noRot="1" noChangeAspect="1" noMove="1" noResize="1" noEditPoints="1" noAdjustHandles="1" noChangeArrowheads="1" noChangeShapeType="1" noTextEdit="1"/>
              </p:cNvSpPr>
              <p:nvPr/>
            </p:nvSpPr>
            <p:spPr>
              <a:xfrm>
                <a:off x="755576" y="2416328"/>
                <a:ext cx="7021281" cy="461665"/>
              </a:xfrm>
              <a:prstGeom prst="rect">
                <a:avLst/>
              </a:prstGeom>
              <a:blipFill>
                <a:blip r:embed="rId5"/>
                <a:stretch>
                  <a:fillRect l="-1389" t="-14474" b="-28947"/>
                </a:stretch>
              </a:blipFill>
            </p:spPr>
            <p:txBody>
              <a:bodyPr/>
              <a:lstStyle/>
              <a:p>
                <a:r>
                  <a:rPr lang="en-US">
                    <a:noFill/>
                  </a:rPr>
                  <a:t> </a:t>
                </a:r>
              </a:p>
            </p:txBody>
          </p:sp>
        </mc:Fallback>
      </mc:AlternateContent>
      <p:pic>
        <p:nvPicPr>
          <p:cNvPr id="16" name="图片 15">
            <a:extLst>
              <a:ext uri="{FF2B5EF4-FFF2-40B4-BE49-F238E27FC236}">
                <a16:creationId xmlns:a16="http://schemas.microsoft.com/office/drawing/2014/main" id="{F367AE61-8F7E-4A1A-A449-AC06F5E39876}"/>
              </a:ext>
            </a:extLst>
          </p:cNvPr>
          <p:cNvPicPr>
            <a:picLocks noChangeAspect="1"/>
          </p:cNvPicPr>
          <p:nvPr/>
        </p:nvPicPr>
        <p:blipFill>
          <a:blip r:embed="rId6"/>
          <a:stretch>
            <a:fillRect/>
          </a:stretch>
        </p:blipFill>
        <p:spPr>
          <a:xfrm>
            <a:off x="3275856" y="2999212"/>
            <a:ext cx="2838450" cy="1895475"/>
          </a:xfrm>
          <a:prstGeom prst="rect">
            <a:avLst/>
          </a:prstGeom>
        </p:spPr>
      </p:pic>
      <p:sp>
        <p:nvSpPr>
          <p:cNvPr id="26" name="文本框 25">
            <a:extLst>
              <a:ext uri="{FF2B5EF4-FFF2-40B4-BE49-F238E27FC236}">
                <a16:creationId xmlns:a16="http://schemas.microsoft.com/office/drawing/2014/main" id="{546CD890-F116-40C3-9083-6F4B7A7A206D}"/>
              </a:ext>
            </a:extLst>
          </p:cNvPr>
          <p:cNvSpPr txBox="1"/>
          <p:nvPr/>
        </p:nvSpPr>
        <p:spPr>
          <a:xfrm>
            <a:off x="4868299" y="3613100"/>
            <a:ext cx="1107996" cy="461665"/>
          </a:xfrm>
          <a:prstGeom prst="rect">
            <a:avLst/>
          </a:prstGeom>
          <a:noFill/>
        </p:spPr>
        <p:txBody>
          <a:bodyPr wrap="none" rtlCol="0">
            <a:spAutoFit/>
          </a:bodyPr>
          <a:lstStyle/>
          <a:p>
            <a:pPr algn="ctr"/>
            <a:r>
              <a:rPr lang="zh-CN" altLang="en-US" sz="2400" dirty="0">
                <a:solidFill>
                  <a:srgbClr val="0000FF"/>
                </a:solidFill>
                <a:latin typeface="Cambria Math" panose="02040503050406030204" pitchFamily="18" charset="0"/>
                <a:ea typeface="楷体" panose="02010609060101010101" pitchFamily="49" charset="-122"/>
              </a:rPr>
              <a:t>时不变</a:t>
            </a:r>
            <a:endParaRPr lang="en-US" sz="2400" dirty="0">
              <a:solidFill>
                <a:srgbClr val="0000FF"/>
              </a:solidFill>
              <a:latin typeface="Cambria Math" panose="02040503050406030204" pitchFamily="18" charset="0"/>
              <a:ea typeface="楷体" panose="02010609060101010101" pitchFamily="49" charset="-122"/>
            </a:endParaRPr>
          </a:p>
        </p:txBody>
      </p:sp>
      <p:pic>
        <p:nvPicPr>
          <p:cNvPr id="18" name="图片 17">
            <a:extLst>
              <a:ext uri="{FF2B5EF4-FFF2-40B4-BE49-F238E27FC236}">
                <a16:creationId xmlns:a16="http://schemas.microsoft.com/office/drawing/2014/main" id="{D5E38B76-730D-472E-B3D7-403B595DD6C7}"/>
              </a:ext>
            </a:extLst>
          </p:cNvPr>
          <p:cNvPicPr>
            <a:picLocks noChangeAspect="1"/>
          </p:cNvPicPr>
          <p:nvPr/>
        </p:nvPicPr>
        <p:blipFill>
          <a:blip r:embed="rId7"/>
          <a:stretch>
            <a:fillRect/>
          </a:stretch>
        </p:blipFill>
        <p:spPr>
          <a:xfrm>
            <a:off x="975568" y="5129012"/>
            <a:ext cx="7439025" cy="1304925"/>
          </a:xfrm>
          <a:prstGeom prst="rect">
            <a:avLst/>
          </a:prstGeom>
        </p:spPr>
      </p:pic>
      <p:sp>
        <p:nvSpPr>
          <p:cNvPr id="29" name="文本框 28">
            <a:extLst>
              <a:ext uri="{FF2B5EF4-FFF2-40B4-BE49-F238E27FC236}">
                <a16:creationId xmlns:a16="http://schemas.microsoft.com/office/drawing/2014/main" id="{53B7EFE2-75E1-4F2E-8398-D72FCF918CA8}"/>
              </a:ext>
            </a:extLst>
          </p:cNvPr>
          <p:cNvSpPr txBox="1"/>
          <p:nvPr/>
        </p:nvSpPr>
        <p:spPr>
          <a:xfrm>
            <a:off x="4266216" y="4941168"/>
            <a:ext cx="800219" cy="461665"/>
          </a:xfrm>
          <a:prstGeom prst="rect">
            <a:avLst/>
          </a:prstGeom>
          <a:noFill/>
        </p:spPr>
        <p:txBody>
          <a:bodyPr wrap="none" rtlCol="0">
            <a:spAutoFit/>
          </a:bodyPr>
          <a:lstStyle/>
          <a:p>
            <a:pPr algn="ctr"/>
            <a:r>
              <a:rPr lang="zh-CN" altLang="en-US" sz="2400" dirty="0">
                <a:solidFill>
                  <a:srgbClr val="0000FF"/>
                </a:solidFill>
                <a:latin typeface="Cambria Math" panose="02040503050406030204" pitchFamily="18" charset="0"/>
                <a:ea typeface="楷体" panose="02010609060101010101" pitchFamily="49" charset="-122"/>
              </a:rPr>
              <a:t>线性</a:t>
            </a:r>
            <a:endParaRPr lang="en-US" sz="2400" dirty="0">
              <a:solidFill>
                <a:srgbClr val="0000FF"/>
              </a:solidFill>
              <a:latin typeface="Cambria Math" panose="02040503050406030204" pitchFamily="18" charset="0"/>
              <a:ea typeface="楷体" panose="02010609060101010101" pitchFamily="49" charset="-122"/>
            </a:endParaRPr>
          </a:p>
        </p:txBody>
      </p:sp>
      <p:sp>
        <p:nvSpPr>
          <p:cNvPr id="30" name="Rectangle 6">
            <a:extLst>
              <a:ext uri="{FF2B5EF4-FFF2-40B4-BE49-F238E27FC236}">
                <a16:creationId xmlns:a16="http://schemas.microsoft.com/office/drawing/2014/main" id="{F8AD8124-A791-4810-99EE-23B2D335CCE7}"/>
              </a:ext>
            </a:extLst>
          </p:cNvPr>
          <p:cNvSpPr>
            <a:spLocks noChangeArrowheads="1"/>
          </p:cNvSpPr>
          <p:nvPr/>
        </p:nvSpPr>
        <p:spPr bwMode="auto">
          <a:xfrm>
            <a:off x="6075801" y="6318985"/>
            <a:ext cx="1112755" cy="46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1415" tIns="45706" rIns="91415" bIns="45706">
            <a:spAutoFit/>
          </a:bodyPr>
          <a:lstStyle>
            <a:lvl1pPr defTabSz="912813" eaLnBrk="0" hangingPunct="0">
              <a:defRPr>
                <a:solidFill>
                  <a:schemeClr val="tx1"/>
                </a:solidFill>
                <a:latin typeface="Times New Roman" panose="02020603050405020304" pitchFamily="18" charset="0"/>
              </a:defRPr>
            </a:lvl1pPr>
            <a:lvl2pPr marL="742950" indent="-285750" defTabSz="912813" eaLnBrk="0" hangingPunct="0">
              <a:defRPr>
                <a:solidFill>
                  <a:schemeClr val="tx1"/>
                </a:solidFill>
                <a:latin typeface="Times New Roman" panose="02020603050405020304" pitchFamily="18" charset="0"/>
              </a:defRPr>
            </a:lvl2pPr>
            <a:lvl3pPr marL="1143000" indent="-228600" defTabSz="912813" eaLnBrk="0" hangingPunct="0">
              <a:defRPr>
                <a:solidFill>
                  <a:schemeClr val="tx1"/>
                </a:solidFill>
                <a:latin typeface="Times New Roman" panose="02020603050405020304" pitchFamily="18" charset="0"/>
              </a:defRPr>
            </a:lvl3pPr>
            <a:lvl4pPr marL="1600200" indent="-228600" defTabSz="912813" eaLnBrk="0" hangingPunct="0">
              <a:defRPr>
                <a:solidFill>
                  <a:schemeClr val="tx1"/>
                </a:solidFill>
                <a:latin typeface="Times New Roman" panose="02020603050405020304" pitchFamily="18" charset="0"/>
              </a:defRPr>
            </a:lvl4pPr>
            <a:lvl5pPr marL="2057400" indent="-228600" defTabSz="912813" eaLnBrk="0" hangingPunct="0">
              <a:defRPr>
                <a:solidFill>
                  <a:schemeClr val="tx1"/>
                </a:solidFill>
                <a:latin typeface="Times New Roman" panose="02020603050405020304" pitchFamily="18" charset="0"/>
              </a:defRPr>
            </a:lvl5pPr>
            <a:lvl6pPr marL="2514600" indent="-228600" defTabSz="912813"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defTabSz="912813"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defTabSz="912813"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defTabSz="912813"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buFontTx/>
              <a:buNone/>
            </a:pPr>
            <a:r>
              <a:rPr lang="zh-CN" altLang="en-US" sz="2400" b="1" dirty="0">
                <a:solidFill>
                  <a:srgbClr val="FF0000"/>
                </a:solidFill>
                <a:latin typeface="楷体" panose="02010609060101010101" pitchFamily="49" charset="-122"/>
                <a:ea typeface="楷体" panose="02010609060101010101" pitchFamily="49" charset="-122"/>
              </a:rPr>
              <a:t>叠加和</a:t>
            </a:r>
            <a:endParaRPr lang="en-US" altLang="zh-CN" sz="2400" b="1" dirty="0">
              <a:solidFill>
                <a:srgbClr val="FF0000"/>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6" name="标题 1">
            <a:extLst>
              <a:ext uri="{FF2B5EF4-FFF2-40B4-BE49-F238E27FC236}">
                <a16:creationId xmlns:a16="http://schemas.microsoft.com/office/drawing/2014/main" id="{F274D79C-D199-4AB8-AF7E-AC3925D39F49}"/>
              </a:ext>
            </a:extLst>
          </p:cNvPr>
          <p:cNvSpPr>
            <a:spLocks noGrp="1"/>
          </p:cNvSpPr>
          <p:nvPr>
            <p:ph type="title"/>
          </p:nvPr>
        </p:nvSpPr>
        <p:spPr/>
        <p:txBody>
          <a:bodyPr/>
          <a:lstStyle/>
          <a:p>
            <a:r>
              <a:rPr lang="en-US" altLang="zh-CN"/>
              <a:t>2.1 </a:t>
            </a:r>
            <a:r>
              <a:rPr lang="zh-CN" altLang="en-US"/>
              <a:t>离散时间</a:t>
            </a:r>
            <a:r>
              <a:rPr lang="en-US" altLang="zh-CN"/>
              <a:t>LTI</a:t>
            </a:r>
            <a:r>
              <a:rPr lang="zh-CN" altLang="en-US"/>
              <a:t>系统：卷积和</a:t>
            </a:r>
          </a:p>
        </p:txBody>
      </p:sp>
      <p:sp>
        <p:nvSpPr>
          <p:cNvPr id="4" name="灯片编号占位符 3">
            <a:extLst>
              <a:ext uri="{FF2B5EF4-FFF2-40B4-BE49-F238E27FC236}">
                <a16:creationId xmlns:a16="http://schemas.microsoft.com/office/drawing/2014/main" id="{72A4F78E-A897-4907-A31C-3288C8D99D0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2DB2E17-5911-4A5B-857C-F546B7156BAE}" type="slidenum">
              <a:rPr lang="zh-CN" altLang="en-US">
                <a:solidFill>
                  <a:srgbClr val="898989"/>
                </a:solidFill>
                <a:latin typeface="Calibri" panose="020F0502020204030204" pitchFamily="34" charset="0"/>
              </a:rPr>
              <a:pPr eaLnBrk="1" hangingPunct="1"/>
              <a:t>7</a:t>
            </a:fld>
            <a:endParaRPr lang="zh-CN" altLang="en-US">
              <a:solidFill>
                <a:srgbClr val="898989"/>
              </a:solidFill>
              <a:latin typeface="Calibri" panose="020F0502020204030204" pitchFamily="34" charset="0"/>
            </a:endParaRPr>
          </a:p>
        </p:txBody>
      </p:sp>
      <p:pic>
        <p:nvPicPr>
          <p:cNvPr id="8" name="图片 7">
            <a:extLst>
              <a:ext uri="{FF2B5EF4-FFF2-40B4-BE49-F238E27FC236}">
                <a16:creationId xmlns:a16="http://schemas.microsoft.com/office/drawing/2014/main" id="{2BA4D4FC-B49A-41C8-8E5D-11FD431D8611}"/>
              </a:ext>
            </a:extLst>
          </p:cNvPr>
          <p:cNvPicPr>
            <a:picLocks noChangeAspect="1"/>
          </p:cNvPicPr>
          <p:nvPr/>
        </p:nvPicPr>
        <p:blipFill>
          <a:blip r:embed="rId3"/>
          <a:stretch>
            <a:fillRect/>
          </a:stretch>
        </p:blipFill>
        <p:spPr>
          <a:xfrm>
            <a:off x="1833885" y="1450609"/>
            <a:ext cx="5553075" cy="3524250"/>
          </a:xfrm>
          <a:prstGeom prst="rect">
            <a:avLst/>
          </a:prstGeom>
        </p:spPr>
      </p:pic>
      <p:sp>
        <p:nvSpPr>
          <p:cNvPr id="22" name="文本框 21">
            <a:extLst>
              <a:ext uri="{FF2B5EF4-FFF2-40B4-BE49-F238E27FC236}">
                <a16:creationId xmlns:a16="http://schemas.microsoft.com/office/drawing/2014/main" id="{9BBD7043-3012-43FD-9136-8F21294AE03F}"/>
              </a:ext>
            </a:extLst>
          </p:cNvPr>
          <p:cNvSpPr txBox="1"/>
          <p:nvPr/>
        </p:nvSpPr>
        <p:spPr>
          <a:xfrm>
            <a:off x="2841054" y="1448068"/>
            <a:ext cx="3538736" cy="400110"/>
          </a:xfrm>
          <a:prstGeom prst="rect">
            <a:avLst/>
          </a:prstGeom>
          <a:noFill/>
        </p:spPr>
        <p:txBody>
          <a:bodyPr wrap="square" rtlCol="0">
            <a:spAutoFit/>
          </a:bodyPr>
          <a:lstStyle/>
          <a:p>
            <a:pPr algn="ctr"/>
            <a:r>
              <a:rPr lang="en-US" altLang="zh-CN" sz="2000" dirty="0">
                <a:solidFill>
                  <a:srgbClr val="0000FF"/>
                </a:solidFill>
                <a:latin typeface="Cambria Math" panose="02040503050406030204" pitchFamily="18" charset="0"/>
                <a:ea typeface="楷体" panose="02010609060101010101" pitchFamily="49" charset="-122"/>
              </a:rPr>
              <a:t>DT LTI</a:t>
            </a:r>
            <a:r>
              <a:rPr lang="zh-CN" altLang="en-US" sz="2000" dirty="0">
                <a:solidFill>
                  <a:srgbClr val="0000FF"/>
                </a:solidFill>
                <a:latin typeface="Cambria Math" panose="02040503050406030204" pitchFamily="18" charset="0"/>
                <a:ea typeface="楷体" panose="02010609060101010101" pitchFamily="49" charset="-122"/>
              </a:rPr>
              <a:t>表示离散时间</a:t>
            </a:r>
            <a:r>
              <a:rPr lang="en-US" altLang="zh-CN" sz="2000" dirty="0">
                <a:solidFill>
                  <a:srgbClr val="0000FF"/>
                </a:solidFill>
                <a:latin typeface="Cambria Math" panose="02040503050406030204" pitchFamily="18" charset="0"/>
                <a:ea typeface="楷体" panose="02010609060101010101" pitchFamily="49" charset="-122"/>
              </a:rPr>
              <a:t>LTI</a:t>
            </a:r>
            <a:r>
              <a:rPr lang="zh-CN" altLang="en-US" sz="2000" dirty="0">
                <a:solidFill>
                  <a:srgbClr val="0000FF"/>
                </a:solidFill>
                <a:latin typeface="Cambria Math" panose="02040503050406030204" pitchFamily="18" charset="0"/>
                <a:ea typeface="楷体" panose="02010609060101010101" pitchFamily="49" charset="-122"/>
              </a:rPr>
              <a:t>系统</a:t>
            </a:r>
            <a:endParaRPr lang="en-US" sz="2000" dirty="0">
              <a:solidFill>
                <a:srgbClr val="0000FF"/>
              </a:solidFill>
              <a:latin typeface="Cambria Math" panose="02040503050406030204" pitchFamily="18" charset="0"/>
              <a:ea typeface="楷体" panose="02010609060101010101" pitchFamily="49" charset="-122"/>
            </a:endParaRPr>
          </a:p>
        </p:txBody>
      </p:sp>
      <mc:AlternateContent xmlns:mc="http://schemas.openxmlformats.org/markup-compatibility/2006" xmlns:a14="http://schemas.microsoft.com/office/drawing/2010/main">
        <mc:Choice Requires="a14">
          <p:sp>
            <p:nvSpPr>
              <p:cNvPr id="28" name="Object 6">
                <a:extLst>
                  <a:ext uri="{FF2B5EF4-FFF2-40B4-BE49-F238E27FC236}">
                    <a16:creationId xmlns:a16="http://schemas.microsoft.com/office/drawing/2014/main" id="{63AFF082-95DE-45E6-8EA2-176569FBDD97}"/>
                  </a:ext>
                </a:extLst>
              </p:cNvPr>
              <p:cNvSpPr txBox="1"/>
              <p:nvPr/>
            </p:nvSpPr>
            <p:spPr bwMode="auto">
              <a:xfrm>
                <a:off x="762372" y="5084941"/>
                <a:ext cx="3331840" cy="71237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𝑥</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𝑛</m:t>
                      </m:r>
                      <m:r>
                        <a:rPr lang="en-US" sz="2000" i="1">
                          <a:solidFill>
                            <a:srgbClr val="000000"/>
                          </a:solidFill>
                          <a:latin typeface="Cambria Math" panose="02040503050406030204" pitchFamily="18" charset="0"/>
                        </a:rPr>
                        <m:t>]=</m:t>
                      </m:r>
                      <m:nary>
                        <m:naryPr>
                          <m:chr m:val="∑"/>
                          <m:limLoc m:val="subSup"/>
                          <m:ctrlPr>
                            <a:rPr lang="en-US" sz="2000" i="1">
                              <a:solidFill>
                                <a:srgbClr val="000000"/>
                              </a:solidFill>
                              <a:latin typeface="Cambria Math" panose="02040503050406030204" pitchFamily="18" charset="0"/>
                            </a:rPr>
                          </m:ctrlPr>
                        </m:naryPr>
                        <m:sub>
                          <m:r>
                            <a:rPr lang="en-US" sz="2000" i="1">
                              <a:solidFill>
                                <a:srgbClr val="000000"/>
                              </a:solidFill>
                              <a:latin typeface="Cambria Math" panose="02040503050406030204" pitchFamily="18" charset="0"/>
                            </a:rPr>
                            <m:t>𝑘</m:t>
                          </m:r>
                          <m:r>
                            <a:rPr lang="en-US" sz="2000" i="1">
                              <a:solidFill>
                                <a:srgbClr val="000000"/>
                              </a:solidFill>
                              <a:latin typeface="Cambria Math" panose="02040503050406030204" pitchFamily="18" charset="0"/>
                            </a:rPr>
                            <m:t>=−∞</m:t>
                          </m:r>
                        </m:sub>
                        <m:sup>
                          <m:r>
                            <a:rPr lang="en-US" sz="2000" i="1">
                              <a:solidFill>
                                <a:srgbClr val="000000"/>
                              </a:solidFill>
                              <a:latin typeface="Cambria Math" panose="02040503050406030204" pitchFamily="18" charset="0"/>
                            </a:rPr>
                            <m:t>+∞</m:t>
                          </m:r>
                        </m:sup>
                        <m:e>
                          <m:r>
                            <a:rPr lang="en-US" sz="2000" i="1">
                              <a:solidFill>
                                <a:srgbClr val="000000"/>
                              </a:solidFill>
                              <a:latin typeface="Cambria Math" panose="02040503050406030204" pitchFamily="18" charset="0"/>
                            </a:rPr>
                            <m:t>𝑥</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𝑘</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𝛿</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𝑛</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𝑘</m:t>
                          </m:r>
                          <m:r>
                            <a:rPr lang="en-US" sz="2000" i="1">
                              <a:solidFill>
                                <a:srgbClr val="000000"/>
                              </a:solidFill>
                              <a:latin typeface="Cambria Math" panose="02040503050406030204" pitchFamily="18" charset="0"/>
                            </a:rPr>
                            <m:t>]</m:t>
                          </m:r>
                        </m:e>
                      </m:nary>
                    </m:oMath>
                  </m:oMathPara>
                </a14:m>
                <a:endParaRPr lang="en-US" sz="2000" dirty="0"/>
              </a:p>
            </p:txBody>
          </p:sp>
        </mc:Choice>
        <mc:Fallback xmlns="">
          <p:sp>
            <p:nvSpPr>
              <p:cNvPr id="28" name="Object 6">
                <a:extLst>
                  <a:ext uri="{FF2B5EF4-FFF2-40B4-BE49-F238E27FC236}">
                    <a16:creationId xmlns:a16="http://schemas.microsoft.com/office/drawing/2014/main" id="{63AFF082-95DE-45E6-8EA2-176569FBDD97}"/>
                  </a:ext>
                </a:extLst>
              </p:cNvPr>
              <p:cNvSpPr txBox="1">
                <a:spLocks noRot="1" noChangeAspect="1" noMove="1" noResize="1" noEditPoints="1" noAdjustHandles="1" noChangeArrowheads="1" noChangeShapeType="1" noTextEdit="1"/>
              </p:cNvSpPr>
              <p:nvPr/>
            </p:nvSpPr>
            <p:spPr bwMode="auto">
              <a:xfrm>
                <a:off x="762372" y="5084941"/>
                <a:ext cx="3331840" cy="712375"/>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bject 7">
                <a:extLst>
                  <a:ext uri="{FF2B5EF4-FFF2-40B4-BE49-F238E27FC236}">
                    <a16:creationId xmlns:a16="http://schemas.microsoft.com/office/drawing/2014/main" id="{B081A74F-A084-43CB-8874-BD54FCCEBFC7}"/>
                  </a:ext>
                </a:extLst>
              </p:cNvPr>
              <p:cNvSpPr txBox="1"/>
              <p:nvPr/>
            </p:nvSpPr>
            <p:spPr bwMode="auto">
              <a:xfrm>
                <a:off x="5148064" y="5084940"/>
                <a:ext cx="3331840" cy="71237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𝑦</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𝑛</m:t>
                      </m:r>
                      <m:r>
                        <a:rPr lang="en-US" sz="2000" i="1">
                          <a:solidFill>
                            <a:srgbClr val="000000"/>
                          </a:solidFill>
                          <a:latin typeface="Cambria Math" panose="02040503050406030204" pitchFamily="18" charset="0"/>
                        </a:rPr>
                        <m:t>]=</m:t>
                      </m:r>
                      <m:nary>
                        <m:naryPr>
                          <m:chr m:val="∑"/>
                          <m:limLoc m:val="subSup"/>
                          <m:ctrlPr>
                            <a:rPr lang="en-US" sz="2000" i="1">
                              <a:solidFill>
                                <a:srgbClr val="000000"/>
                              </a:solidFill>
                              <a:latin typeface="Cambria Math" panose="02040503050406030204" pitchFamily="18" charset="0"/>
                            </a:rPr>
                          </m:ctrlPr>
                        </m:naryPr>
                        <m:sub>
                          <m:r>
                            <a:rPr lang="en-US" sz="2000" i="1">
                              <a:solidFill>
                                <a:srgbClr val="000000"/>
                              </a:solidFill>
                              <a:latin typeface="Cambria Math" panose="02040503050406030204" pitchFamily="18" charset="0"/>
                            </a:rPr>
                            <m:t>𝑘</m:t>
                          </m:r>
                          <m:r>
                            <a:rPr lang="en-US" sz="2000" i="1">
                              <a:solidFill>
                                <a:srgbClr val="000000"/>
                              </a:solidFill>
                              <a:latin typeface="Cambria Math" panose="02040503050406030204" pitchFamily="18" charset="0"/>
                            </a:rPr>
                            <m:t>=−∞</m:t>
                          </m:r>
                        </m:sub>
                        <m:sup>
                          <m:r>
                            <a:rPr lang="en-US" sz="2000" i="1">
                              <a:solidFill>
                                <a:srgbClr val="000000"/>
                              </a:solidFill>
                              <a:latin typeface="Cambria Math" panose="02040503050406030204" pitchFamily="18" charset="0"/>
                            </a:rPr>
                            <m:t>+∞</m:t>
                          </m:r>
                        </m:sup>
                        <m:e>
                          <m:r>
                            <a:rPr lang="en-US" sz="2000" i="1">
                              <a:solidFill>
                                <a:srgbClr val="000000"/>
                              </a:solidFill>
                              <a:latin typeface="Cambria Math" panose="02040503050406030204" pitchFamily="18" charset="0"/>
                            </a:rPr>
                            <m:t>𝑥</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𝑘</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h</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𝑛</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𝑘</m:t>
                          </m:r>
                          <m:r>
                            <a:rPr lang="en-US" sz="2000" i="1">
                              <a:solidFill>
                                <a:srgbClr val="000000"/>
                              </a:solidFill>
                              <a:latin typeface="Cambria Math" panose="02040503050406030204" pitchFamily="18" charset="0"/>
                            </a:rPr>
                            <m:t>]</m:t>
                          </m:r>
                        </m:e>
                      </m:nary>
                    </m:oMath>
                  </m:oMathPara>
                </a14:m>
                <a:endParaRPr lang="en-US" sz="2000" dirty="0"/>
              </a:p>
            </p:txBody>
          </p:sp>
        </mc:Choice>
        <mc:Fallback xmlns="">
          <p:sp>
            <p:nvSpPr>
              <p:cNvPr id="31" name="Object 7">
                <a:extLst>
                  <a:ext uri="{FF2B5EF4-FFF2-40B4-BE49-F238E27FC236}">
                    <a16:creationId xmlns:a16="http://schemas.microsoft.com/office/drawing/2014/main" id="{B081A74F-A084-43CB-8874-BD54FCCEBFC7}"/>
                  </a:ext>
                </a:extLst>
              </p:cNvPr>
              <p:cNvSpPr txBox="1">
                <a:spLocks noRot="1" noChangeAspect="1" noMove="1" noResize="1" noEditPoints="1" noAdjustHandles="1" noChangeArrowheads="1" noChangeShapeType="1" noTextEdit="1"/>
              </p:cNvSpPr>
              <p:nvPr/>
            </p:nvSpPr>
            <p:spPr bwMode="auto">
              <a:xfrm>
                <a:off x="5148064" y="5084940"/>
                <a:ext cx="3331840" cy="712375"/>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bject 8">
                <a:extLst>
                  <a:ext uri="{FF2B5EF4-FFF2-40B4-BE49-F238E27FC236}">
                    <a16:creationId xmlns:a16="http://schemas.microsoft.com/office/drawing/2014/main" id="{16495B18-E74F-489D-BFAF-E5C3115855A3}"/>
                  </a:ext>
                </a:extLst>
              </p:cNvPr>
              <p:cNvSpPr txBox="1"/>
              <p:nvPr/>
            </p:nvSpPr>
            <p:spPr bwMode="auto">
              <a:xfrm>
                <a:off x="7380312" y="2997697"/>
                <a:ext cx="1144588" cy="40011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h</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𝑛</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𝑘</m:t>
                      </m:r>
                      <m:r>
                        <a:rPr lang="en-US" sz="2000" i="1">
                          <a:solidFill>
                            <a:srgbClr val="000000"/>
                          </a:solidFill>
                          <a:latin typeface="Cambria Math" panose="02040503050406030204" pitchFamily="18" charset="0"/>
                        </a:rPr>
                        <m:t>]</m:t>
                      </m:r>
                    </m:oMath>
                  </m:oMathPara>
                </a14:m>
                <a:endParaRPr lang="en-US" sz="2000" dirty="0"/>
              </a:p>
            </p:txBody>
          </p:sp>
        </mc:Choice>
        <mc:Fallback xmlns="">
          <p:sp>
            <p:nvSpPr>
              <p:cNvPr id="32" name="Object 8">
                <a:extLst>
                  <a:ext uri="{FF2B5EF4-FFF2-40B4-BE49-F238E27FC236}">
                    <a16:creationId xmlns:a16="http://schemas.microsoft.com/office/drawing/2014/main" id="{16495B18-E74F-489D-BFAF-E5C3115855A3}"/>
                  </a:ext>
                </a:extLst>
              </p:cNvPr>
              <p:cNvSpPr txBox="1">
                <a:spLocks noRot="1" noChangeAspect="1" noMove="1" noResize="1" noEditPoints="1" noAdjustHandles="1" noChangeArrowheads="1" noChangeShapeType="1" noTextEdit="1"/>
              </p:cNvSpPr>
              <p:nvPr/>
            </p:nvSpPr>
            <p:spPr bwMode="auto">
              <a:xfrm>
                <a:off x="7380312" y="2997697"/>
                <a:ext cx="1144588" cy="400110"/>
              </a:xfrm>
              <a:prstGeom prst="rect">
                <a:avLst/>
              </a:prstGeom>
              <a:blipFill>
                <a:blip r:embed="rId6"/>
                <a:stretch>
                  <a:fillRect b="-1846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bject 9">
                <a:extLst>
                  <a:ext uri="{FF2B5EF4-FFF2-40B4-BE49-F238E27FC236}">
                    <a16:creationId xmlns:a16="http://schemas.microsoft.com/office/drawing/2014/main" id="{CDD79586-4CE9-4887-BD86-A61E0235DA9C}"/>
                  </a:ext>
                </a:extLst>
              </p:cNvPr>
              <p:cNvSpPr txBox="1"/>
              <p:nvPr/>
            </p:nvSpPr>
            <p:spPr bwMode="auto">
              <a:xfrm>
                <a:off x="7380312" y="2315446"/>
                <a:ext cx="631057" cy="40011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h</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𝑛</m:t>
                      </m:r>
                      <m:r>
                        <a:rPr lang="en-US" sz="2000" i="1">
                          <a:solidFill>
                            <a:srgbClr val="000000"/>
                          </a:solidFill>
                          <a:latin typeface="Cambria Math" panose="02040503050406030204" pitchFamily="18" charset="0"/>
                        </a:rPr>
                        <m:t>]</m:t>
                      </m:r>
                    </m:oMath>
                  </m:oMathPara>
                </a14:m>
                <a:endParaRPr lang="en-US" sz="2000" dirty="0"/>
              </a:p>
            </p:txBody>
          </p:sp>
        </mc:Choice>
        <mc:Fallback xmlns="">
          <p:sp>
            <p:nvSpPr>
              <p:cNvPr id="33" name="Object 9">
                <a:extLst>
                  <a:ext uri="{FF2B5EF4-FFF2-40B4-BE49-F238E27FC236}">
                    <a16:creationId xmlns:a16="http://schemas.microsoft.com/office/drawing/2014/main" id="{CDD79586-4CE9-4887-BD86-A61E0235DA9C}"/>
                  </a:ext>
                </a:extLst>
              </p:cNvPr>
              <p:cNvSpPr txBox="1">
                <a:spLocks noRot="1" noChangeAspect="1" noMove="1" noResize="1" noEditPoints="1" noAdjustHandles="1" noChangeArrowheads="1" noChangeShapeType="1" noTextEdit="1"/>
              </p:cNvSpPr>
              <p:nvPr/>
            </p:nvSpPr>
            <p:spPr bwMode="auto">
              <a:xfrm>
                <a:off x="7380312" y="2315446"/>
                <a:ext cx="631057" cy="400110"/>
              </a:xfrm>
              <a:prstGeom prst="rect">
                <a:avLst/>
              </a:prstGeom>
              <a:blipFill>
                <a:blip r:embed="rId7"/>
                <a:stretch>
                  <a:fillRect r="-9709" b="-1846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bject 10">
                <a:extLst>
                  <a:ext uri="{FF2B5EF4-FFF2-40B4-BE49-F238E27FC236}">
                    <a16:creationId xmlns:a16="http://schemas.microsoft.com/office/drawing/2014/main" id="{C1ECD11A-FFAA-4489-94F8-F5F541CF1FDB}"/>
                  </a:ext>
                </a:extLst>
              </p:cNvPr>
              <p:cNvSpPr txBox="1"/>
              <p:nvPr/>
            </p:nvSpPr>
            <p:spPr bwMode="auto">
              <a:xfrm>
                <a:off x="7380312" y="3820568"/>
                <a:ext cx="1604492" cy="40011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𝑥</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𝑘</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h</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𝑛</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𝑘</m:t>
                      </m:r>
                      <m:r>
                        <a:rPr lang="en-US" sz="2000" i="1">
                          <a:solidFill>
                            <a:srgbClr val="000000"/>
                          </a:solidFill>
                          <a:latin typeface="Cambria Math" panose="02040503050406030204" pitchFamily="18" charset="0"/>
                        </a:rPr>
                        <m:t>]</m:t>
                      </m:r>
                    </m:oMath>
                  </m:oMathPara>
                </a14:m>
                <a:endParaRPr lang="en-US" sz="2000" dirty="0"/>
              </a:p>
            </p:txBody>
          </p:sp>
        </mc:Choice>
        <mc:Fallback xmlns="">
          <p:sp>
            <p:nvSpPr>
              <p:cNvPr id="34" name="Object 10">
                <a:extLst>
                  <a:ext uri="{FF2B5EF4-FFF2-40B4-BE49-F238E27FC236}">
                    <a16:creationId xmlns:a16="http://schemas.microsoft.com/office/drawing/2014/main" id="{C1ECD11A-FFAA-4489-94F8-F5F541CF1FDB}"/>
                  </a:ext>
                </a:extLst>
              </p:cNvPr>
              <p:cNvSpPr txBox="1">
                <a:spLocks noRot="1" noChangeAspect="1" noMove="1" noResize="1" noEditPoints="1" noAdjustHandles="1" noChangeArrowheads="1" noChangeShapeType="1" noTextEdit="1"/>
              </p:cNvSpPr>
              <p:nvPr/>
            </p:nvSpPr>
            <p:spPr bwMode="auto">
              <a:xfrm>
                <a:off x="7380312" y="3820568"/>
                <a:ext cx="1604492" cy="400110"/>
              </a:xfrm>
              <a:prstGeom prst="rect">
                <a:avLst/>
              </a:prstGeom>
              <a:blipFill>
                <a:blip r:embed="rId8"/>
                <a:stretch>
                  <a:fillRect r="-380" b="-1846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bject 11">
                <a:extLst>
                  <a:ext uri="{FF2B5EF4-FFF2-40B4-BE49-F238E27FC236}">
                    <a16:creationId xmlns:a16="http://schemas.microsoft.com/office/drawing/2014/main" id="{C2124011-57BA-4686-B6D1-5C4B92253588}"/>
                  </a:ext>
                </a:extLst>
              </p:cNvPr>
              <p:cNvSpPr txBox="1"/>
              <p:nvPr/>
            </p:nvSpPr>
            <p:spPr bwMode="auto">
              <a:xfrm>
                <a:off x="797553" y="2997697"/>
                <a:ext cx="1129680" cy="40011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𝛿</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𝑛</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𝑘</m:t>
                      </m:r>
                      <m:r>
                        <a:rPr lang="en-US" sz="2000" i="1">
                          <a:solidFill>
                            <a:srgbClr val="000000"/>
                          </a:solidFill>
                          <a:latin typeface="Cambria Math" panose="02040503050406030204" pitchFamily="18" charset="0"/>
                        </a:rPr>
                        <m:t>]</m:t>
                      </m:r>
                    </m:oMath>
                  </m:oMathPara>
                </a14:m>
                <a:endParaRPr lang="en-US" sz="2000" dirty="0"/>
              </a:p>
            </p:txBody>
          </p:sp>
        </mc:Choice>
        <mc:Fallback xmlns="">
          <p:sp>
            <p:nvSpPr>
              <p:cNvPr id="35" name="Object 11">
                <a:extLst>
                  <a:ext uri="{FF2B5EF4-FFF2-40B4-BE49-F238E27FC236}">
                    <a16:creationId xmlns:a16="http://schemas.microsoft.com/office/drawing/2014/main" id="{C2124011-57BA-4686-B6D1-5C4B92253588}"/>
                  </a:ext>
                </a:extLst>
              </p:cNvPr>
              <p:cNvSpPr txBox="1">
                <a:spLocks noRot="1" noChangeAspect="1" noMove="1" noResize="1" noEditPoints="1" noAdjustHandles="1" noChangeArrowheads="1" noChangeShapeType="1" noTextEdit="1"/>
              </p:cNvSpPr>
              <p:nvPr/>
            </p:nvSpPr>
            <p:spPr bwMode="auto">
              <a:xfrm>
                <a:off x="797553" y="2997697"/>
                <a:ext cx="1129680" cy="400110"/>
              </a:xfrm>
              <a:prstGeom prst="rect">
                <a:avLst/>
              </a:prstGeom>
              <a:blipFill>
                <a:blip r:embed="rId9"/>
                <a:stretch>
                  <a:fillRect r="-1081" b="-1846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bject 12">
                <a:extLst>
                  <a:ext uri="{FF2B5EF4-FFF2-40B4-BE49-F238E27FC236}">
                    <a16:creationId xmlns:a16="http://schemas.microsoft.com/office/drawing/2014/main" id="{08620991-2A73-4687-ADD3-8CD29BE93922}"/>
                  </a:ext>
                </a:extLst>
              </p:cNvPr>
              <p:cNvSpPr txBox="1"/>
              <p:nvPr/>
            </p:nvSpPr>
            <p:spPr bwMode="auto">
              <a:xfrm>
                <a:off x="1237605" y="2315446"/>
                <a:ext cx="668288" cy="40011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𝛿</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𝑛</m:t>
                      </m:r>
                      <m:r>
                        <a:rPr lang="en-US" sz="2000" i="1">
                          <a:solidFill>
                            <a:srgbClr val="000000"/>
                          </a:solidFill>
                          <a:latin typeface="Cambria Math" panose="02040503050406030204" pitchFamily="18" charset="0"/>
                        </a:rPr>
                        <m:t>]</m:t>
                      </m:r>
                    </m:oMath>
                  </m:oMathPara>
                </a14:m>
                <a:endParaRPr lang="en-US" sz="2000" dirty="0"/>
              </a:p>
            </p:txBody>
          </p:sp>
        </mc:Choice>
        <mc:Fallback xmlns="">
          <p:sp>
            <p:nvSpPr>
              <p:cNvPr id="36" name="Object 12">
                <a:extLst>
                  <a:ext uri="{FF2B5EF4-FFF2-40B4-BE49-F238E27FC236}">
                    <a16:creationId xmlns:a16="http://schemas.microsoft.com/office/drawing/2014/main" id="{08620991-2A73-4687-ADD3-8CD29BE93922}"/>
                  </a:ext>
                </a:extLst>
              </p:cNvPr>
              <p:cNvSpPr txBox="1">
                <a:spLocks noRot="1" noChangeAspect="1" noMove="1" noResize="1" noEditPoints="1" noAdjustHandles="1" noChangeArrowheads="1" noChangeShapeType="1" noTextEdit="1"/>
              </p:cNvSpPr>
              <p:nvPr/>
            </p:nvSpPr>
            <p:spPr bwMode="auto">
              <a:xfrm>
                <a:off x="1237605" y="2315446"/>
                <a:ext cx="668288" cy="400110"/>
              </a:xfrm>
              <a:prstGeom prst="rect">
                <a:avLst/>
              </a:prstGeom>
              <a:blipFill>
                <a:blip r:embed="rId10"/>
                <a:stretch>
                  <a:fillRect r="-2727" b="-1846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bject 13">
                <a:extLst>
                  <a:ext uri="{FF2B5EF4-FFF2-40B4-BE49-F238E27FC236}">
                    <a16:creationId xmlns:a16="http://schemas.microsoft.com/office/drawing/2014/main" id="{969E5494-67B8-41BD-AB87-E91D293C40A9}"/>
                  </a:ext>
                </a:extLst>
              </p:cNvPr>
              <p:cNvSpPr txBox="1"/>
              <p:nvPr/>
            </p:nvSpPr>
            <p:spPr bwMode="auto">
              <a:xfrm>
                <a:off x="323528" y="3820568"/>
                <a:ext cx="1582365" cy="40011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𝑥</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𝑘</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𝛿</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𝑛</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𝑘</m:t>
                      </m:r>
                      <m:r>
                        <a:rPr lang="en-US" sz="2000" i="1">
                          <a:solidFill>
                            <a:srgbClr val="000000"/>
                          </a:solidFill>
                          <a:latin typeface="Cambria Math" panose="02040503050406030204" pitchFamily="18" charset="0"/>
                        </a:rPr>
                        <m:t>]</m:t>
                      </m:r>
                    </m:oMath>
                  </m:oMathPara>
                </a14:m>
                <a:endParaRPr lang="en-US" sz="2000" dirty="0"/>
              </a:p>
            </p:txBody>
          </p:sp>
        </mc:Choice>
        <mc:Fallback xmlns="">
          <p:sp>
            <p:nvSpPr>
              <p:cNvPr id="37" name="Object 13">
                <a:extLst>
                  <a:ext uri="{FF2B5EF4-FFF2-40B4-BE49-F238E27FC236}">
                    <a16:creationId xmlns:a16="http://schemas.microsoft.com/office/drawing/2014/main" id="{969E5494-67B8-41BD-AB87-E91D293C40A9}"/>
                  </a:ext>
                </a:extLst>
              </p:cNvPr>
              <p:cNvSpPr txBox="1">
                <a:spLocks noRot="1" noChangeAspect="1" noMove="1" noResize="1" noEditPoints="1" noAdjustHandles="1" noChangeArrowheads="1" noChangeShapeType="1" noTextEdit="1"/>
              </p:cNvSpPr>
              <p:nvPr/>
            </p:nvSpPr>
            <p:spPr bwMode="auto">
              <a:xfrm>
                <a:off x="323528" y="3820568"/>
                <a:ext cx="1582365" cy="400110"/>
              </a:xfrm>
              <a:prstGeom prst="rect">
                <a:avLst/>
              </a:prstGeom>
              <a:blipFill>
                <a:blip r:embed="rId11"/>
                <a:stretch>
                  <a:fillRect r="-1538" b="-18462"/>
                </a:stretch>
              </a:blipFill>
              <a:ln>
                <a:noFill/>
              </a:ln>
              <a:effectLst/>
            </p:spPr>
            <p:txBody>
              <a:bodyPr/>
              <a:lstStyle/>
              <a:p>
                <a:r>
                  <a:rPr lang="en-US">
                    <a:noFill/>
                  </a:rPr>
                  <a:t> </a:t>
                </a:r>
              </a:p>
            </p:txBody>
          </p:sp>
        </mc:Fallback>
      </mc:AlternateContent>
      <p:sp>
        <p:nvSpPr>
          <p:cNvPr id="53" name="文本框 52">
            <a:extLst>
              <a:ext uri="{FF2B5EF4-FFF2-40B4-BE49-F238E27FC236}">
                <a16:creationId xmlns:a16="http://schemas.microsoft.com/office/drawing/2014/main" id="{4B039B11-62B8-4A6F-8C5D-ABB20E861F53}"/>
              </a:ext>
            </a:extLst>
          </p:cNvPr>
          <p:cNvSpPr txBox="1"/>
          <p:nvPr/>
        </p:nvSpPr>
        <p:spPr>
          <a:xfrm>
            <a:off x="3383868" y="5991671"/>
            <a:ext cx="2376264" cy="461665"/>
          </a:xfrm>
          <a:prstGeom prst="rect">
            <a:avLst/>
          </a:prstGeom>
          <a:noFill/>
        </p:spPr>
        <p:txBody>
          <a:bodyPr wrap="square">
            <a:spAutoFit/>
          </a:bodyPr>
          <a:lstStyle/>
          <a:p>
            <a:r>
              <a:rPr kumimoji="0" lang="zh-CN" altLang="en-US" sz="2400" b="0" i="0" u="none" strike="noStrike" kern="1200" cap="none" spc="0" normalizeH="0" baseline="0" noProof="0" dirty="0">
                <a:ln>
                  <a:noFill/>
                </a:ln>
                <a:solidFill>
                  <a:prstClr val="black"/>
                </a:solidFill>
                <a:effectLst/>
                <a:uLnTx/>
                <a:uFillTx/>
                <a:latin typeface="Cambria Math" panose="02040503050406030204" pitchFamily="18" charset="0"/>
                <a:ea typeface="楷体" panose="02010609060101010101" pitchFamily="49" charset="-122"/>
                <a:cs typeface="+mn-cs"/>
              </a:rPr>
              <a:t>叠加和原理图示</a:t>
            </a:r>
            <a:endParaRPr lang="en-US" sz="2000" dirty="0"/>
          </a:p>
        </p:txBody>
      </p:sp>
      <p:cxnSp>
        <p:nvCxnSpPr>
          <p:cNvPr id="52" name="直接箭头连接符 51">
            <a:extLst>
              <a:ext uri="{FF2B5EF4-FFF2-40B4-BE49-F238E27FC236}">
                <a16:creationId xmlns:a16="http://schemas.microsoft.com/office/drawing/2014/main" id="{E4548268-44EF-4B23-A341-030D5F25B4C4}"/>
              </a:ext>
            </a:extLst>
          </p:cNvPr>
          <p:cNvCxnSpPr>
            <a:stCxn id="28" idx="3"/>
            <a:endCxn id="31" idx="1"/>
          </p:cNvCxnSpPr>
          <p:nvPr/>
        </p:nvCxnSpPr>
        <p:spPr>
          <a:xfrm flipV="1">
            <a:off x="4094212" y="5441128"/>
            <a:ext cx="1053852" cy="1"/>
          </a:xfrm>
          <a:prstGeom prst="straightConnector1">
            <a:avLst/>
          </a:prstGeom>
          <a:ln w="25400">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94765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标题 1">
            <a:extLst>
              <a:ext uri="{FF2B5EF4-FFF2-40B4-BE49-F238E27FC236}">
                <a16:creationId xmlns:a16="http://schemas.microsoft.com/office/drawing/2014/main" id="{7081DB76-1F33-4B8F-A615-37B1A02E4B4B}"/>
              </a:ext>
            </a:extLst>
          </p:cNvPr>
          <p:cNvSpPr>
            <a:spLocks noGrp="1"/>
          </p:cNvSpPr>
          <p:nvPr>
            <p:ph type="title"/>
          </p:nvPr>
        </p:nvSpPr>
        <p:spPr/>
        <p:txBody>
          <a:bodyPr/>
          <a:lstStyle/>
          <a:p>
            <a:r>
              <a:rPr lang="en-US" altLang="zh-CN"/>
              <a:t>2.1 </a:t>
            </a:r>
            <a:r>
              <a:rPr lang="zh-CN" altLang="en-US"/>
              <a:t>离散时间</a:t>
            </a:r>
            <a:r>
              <a:rPr lang="en-US" altLang="zh-CN"/>
              <a:t>LTI</a:t>
            </a:r>
            <a:r>
              <a:rPr lang="zh-CN" altLang="en-US"/>
              <a:t>系统：卷积和</a:t>
            </a:r>
          </a:p>
        </p:txBody>
      </p:sp>
      <mc:AlternateContent xmlns:mc="http://schemas.openxmlformats.org/markup-compatibility/2006" xmlns:a14="http://schemas.microsoft.com/office/drawing/2010/main">
        <mc:Choice Requires="a14">
          <p:sp>
            <p:nvSpPr>
              <p:cNvPr id="18439" name="内容占位符 2">
                <a:extLst>
                  <a:ext uri="{FF2B5EF4-FFF2-40B4-BE49-F238E27FC236}">
                    <a16:creationId xmlns:a16="http://schemas.microsoft.com/office/drawing/2014/main" id="{E72FCD56-3D5A-4C93-89E7-B56EF06AB5C3}"/>
                  </a:ext>
                </a:extLst>
              </p:cNvPr>
              <p:cNvSpPr>
                <a:spLocks noGrp="1"/>
              </p:cNvSpPr>
              <p:nvPr>
                <p:ph idx="1"/>
              </p:nvPr>
            </p:nvSpPr>
            <p:spPr>
              <a:xfrm>
                <a:off x="457200" y="1255503"/>
                <a:ext cx="8229600" cy="5090111"/>
              </a:xfrm>
            </p:spPr>
            <p:txBody>
              <a:bodyPr>
                <a:spAutoFit/>
              </a:bodyPr>
              <a:lstStyle/>
              <a:p>
                <a:pPr lvl="1" algn="just">
                  <a:lnSpc>
                    <a:spcPct val="130000"/>
                  </a:lnSpc>
                  <a:spcBef>
                    <a:spcPts val="0"/>
                  </a:spcBef>
                </a:pPr>
                <a:r>
                  <a:rPr lang="zh-CN" altLang="en-US" b="0" dirty="0"/>
                  <a:t>这种求得系统响应的运算关系称为</a:t>
                </a:r>
                <a:r>
                  <a:rPr lang="zh-CN" altLang="en-US" b="0" dirty="0">
                    <a:solidFill>
                      <a:srgbClr val="FF0000"/>
                    </a:solidFill>
                  </a:rPr>
                  <a:t>卷积和</a:t>
                </a:r>
                <a:r>
                  <a:rPr lang="zh-CN" altLang="en-US" b="0" dirty="0"/>
                  <a:t>，即</a:t>
                </a:r>
                <a:r>
                  <a:rPr lang="zh-CN" altLang="en-US" b="0" dirty="0">
                    <a:solidFill>
                      <a:srgbClr val="FF0000"/>
                    </a:solidFill>
                  </a:rPr>
                  <a:t>离散时间</a:t>
                </a:r>
                <a:r>
                  <a:rPr lang="en-US" altLang="zh-CN" b="0" dirty="0">
                    <a:solidFill>
                      <a:srgbClr val="FF0000"/>
                    </a:solidFill>
                  </a:rPr>
                  <a:t>LTI</a:t>
                </a:r>
                <a:r>
                  <a:rPr lang="zh-CN" altLang="en-US" b="0" dirty="0">
                    <a:solidFill>
                      <a:srgbClr val="FF0000"/>
                    </a:solidFill>
                  </a:rPr>
                  <a:t>系统的响应可以用卷积和表示</a:t>
                </a:r>
                <a:r>
                  <a:rPr lang="zh-CN" altLang="en-US" b="0" dirty="0"/>
                  <a:t>为：</a:t>
                </a:r>
                <a:endParaRPr lang="en-US" altLang="zh-CN" b="0" dirty="0"/>
              </a:p>
              <a:p>
                <a:pPr lvl="1" algn="just">
                  <a:lnSpc>
                    <a:spcPct val="130000"/>
                  </a:lnSpc>
                  <a:spcBef>
                    <a:spcPts val="0"/>
                  </a:spcBef>
                </a:pPr>
                <a:endParaRPr lang="en-US" altLang="zh-CN" b="0" dirty="0">
                  <a:solidFill>
                    <a:srgbClr val="FF0000"/>
                  </a:solidFill>
                </a:endParaRPr>
              </a:p>
              <a:p>
                <a:pPr lvl="1" algn="just">
                  <a:lnSpc>
                    <a:spcPct val="130000"/>
                  </a:lnSpc>
                  <a:spcBef>
                    <a:spcPts val="0"/>
                  </a:spcBef>
                </a:pPr>
                <a:endParaRPr lang="en-US" altLang="zh-CN" b="0" dirty="0"/>
              </a:p>
              <a:p>
                <a:pPr lvl="1" algn="just">
                  <a:lnSpc>
                    <a:spcPct val="130000"/>
                  </a:lnSpc>
                  <a:spcBef>
                    <a:spcPts val="0"/>
                  </a:spcBef>
                </a:pPr>
                <a:r>
                  <a:rPr lang="zh-CN" altLang="en-US" b="0" dirty="0"/>
                  <a:t>这表明：只要得到了</a:t>
                </a:r>
                <a:r>
                  <a:rPr lang="en-US" altLang="zh-CN" b="0" dirty="0"/>
                  <a:t>LTI</a:t>
                </a:r>
                <a:r>
                  <a:rPr lang="zh-CN" altLang="en-US" b="0" dirty="0"/>
                  <a:t>系统对</a:t>
                </a:r>
                <a14:m>
                  <m:oMath xmlns:m="http://schemas.openxmlformats.org/officeDocument/2006/math">
                    <m:r>
                      <a:rPr lang="en-US" b="0" i="1" smtClean="0">
                        <a:solidFill>
                          <a:srgbClr val="000000"/>
                        </a:solidFill>
                        <a:latin typeface="Cambria Math" panose="02040503050406030204" pitchFamily="18" charset="0"/>
                      </a:rPr>
                      <m:t>𝛿</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𝑛</m:t>
                    </m:r>
                    <m:r>
                      <a:rPr lang="en-US" b="0" i="1" smtClean="0">
                        <a:solidFill>
                          <a:srgbClr val="000000"/>
                        </a:solidFill>
                        <a:latin typeface="Cambria Math" panose="02040503050406030204" pitchFamily="18" charset="0"/>
                      </a:rPr>
                      <m:t>]</m:t>
                    </m:r>
                  </m:oMath>
                </a14:m>
                <a:r>
                  <a:rPr lang="zh-CN" altLang="en-US" b="0" dirty="0"/>
                  <a:t>的响应</a:t>
                </a:r>
                <a14:m>
                  <m:oMath xmlns:m="http://schemas.openxmlformats.org/officeDocument/2006/math">
                    <m:r>
                      <a:rPr lang="en-US" b="0" i="1" smtClean="0">
                        <a:solidFill>
                          <a:srgbClr val="000000"/>
                        </a:solidFill>
                        <a:latin typeface="Cambria Math" panose="02040503050406030204" pitchFamily="18" charset="0"/>
                      </a:rPr>
                      <m:t>h</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𝑛</m:t>
                    </m:r>
                    <m:r>
                      <a:rPr lang="en-US" b="0" i="1" smtClean="0">
                        <a:solidFill>
                          <a:srgbClr val="000000"/>
                        </a:solidFill>
                        <a:latin typeface="Cambria Math" panose="02040503050406030204" pitchFamily="18" charset="0"/>
                      </a:rPr>
                      <m:t>]</m:t>
                    </m:r>
                  </m:oMath>
                </a14:m>
                <a:r>
                  <a:rPr lang="en-US" altLang="zh-CN" b="0" dirty="0"/>
                  <a:t>——</a:t>
                </a:r>
                <a:r>
                  <a:rPr lang="zh-CN" altLang="en-US" dirty="0">
                    <a:solidFill>
                      <a:srgbClr val="FF0000"/>
                    </a:solidFill>
                  </a:rPr>
                  <a:t>单位脉冲响应</a:t>
                </a:r>
                <a:r>
                  <a:rPr lang="zh-CN" altLang="en-US" b="0" dirty="0"/>
                  <a:t>，就可以得到</a:t>
                </a:r>
                <a:r>
                  <a:rPr lang="en-US" altLang="zh-CN" b="0" dirty="0"/>
                  <a:t>LTI</a:t>
                </a:r>
                <a:r>
                  <a:rPr lang="zh-CN" altLang="en-US" b="0" dirty="0"/>
                  <a:t>系统对任何输入信号</a:t>
                </a:r>
                <a14:m>
                  <m:oMath xmlns:m="http://schemas.openxmlformats.org/officeDocument/2006/math">
                    <m:r>
                      <a:rPr lang="en-US" b="0" i="1" smtClean="0">
                        <a:solidFill>
                          <a:srgbClr val="000000"/>
                        </a:solidFill>
                        <a:latin typeface="Cambria Math" panose="02040503050406030204" pitchFamily="18" charset="0"/>
                      </a:rPr>
                      <m:t>𝑥</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𝑛</m:t>
                    </m:r>
                    <m:r>
                      <a:rPr lang="en-US" b="0" i="1" smtClean="0">
                        <a:solidFill>
                          <a:srgbClr val="000000"/>
                        </a:solidFill>
                        <a:latin typeface="Cambria Math" panose="02040503050406030204" pitchFamily="18" charset="0"/>
                      </a:rPr>
                      <m:t>]</m:t>
                    </m:r>
                  </m:oMath>
                </a14:m>
                <a:r>
                  <a:rPr lang="zh-CN" altLang="en-US" b="0" dirty="0"/>
                  <a:t>的响应。</a:t>
                </a:r>
                <a:endParaRPr lang="en-US" altLang="zh-CN" b="0" dirty="0"/>
              </a:p>
              <a:p>
                <a:pPr lvl="1" algn="just">
                  <a:lnSpc>
                    <a:spcPct val="130000"/>
                  </a:lnSpc>
                  <a:spcBef>
                    <a:spcPts val="0"/>
                  </a:spcBef>
                </a:pPr>
                <a:r>
                  <a:rPr lang="zh-CN" altLang="en-US" b="0" dirty="0"/>
                  <a:t>即：</a:t>
                </a:r>
                <a:r>
                  <a:rPr lang="zh-CN" altLang="en-US" b="0" dirty="0">
                    <a:solidFill>
                      <a:srgbClr val="FF0000"/>
                    </a:solidFill>
                  </a:rPr>
                  <a:t>一个</a:t>
                </a:r>
                <a:r>
                  <a:rPr lang="en-US" altLang="zh-CN" b="0" dirty="0">
                    <a:solidFill>
                      <a:srgbClr val="FF0000"/>
                    </a:solidFill>
                  </a:rPr>
                  <a:t>LTI</a:t>
                </a:r>
                <a:r>
                  <a:rPr lang="zh-CN" altLang="en-US" b="0" dirty="0">
                    <a:solidFill>
                      <a:srgbClr val="FF0000"/>
                    </a:solidFill>
                  </a:rPr>
                  <a:t>系统可以完全由它的单位脉冲响应</a:t>
                </a:r>
                <a14:m>
                  <m:oMath xmlns:m="http://schemas.openxmlformats.org/officeDocument/2006/math">
                    <m:r>
                      <a:rPr lang="en-US" i="1">
                        <a:solidFill>
                          <a:srgbClr val="FF0000"/>
                        </a:solidFill>
                        <a:latin typeface="Cambria Math" panose="02040503050406030204" pitchFamily="18" charset="0"/>
                      </a:rPr>
                      <m:t>h</m:t>
                    </m:r>
                    <m:r>
                      <a:rPr lang="en-US" b="0" i="1">
                        <a:solidFill>
                          <a:srgbClr val="FF0000"/>
                        </a:solidFill>
                        <a:latin typeface="Cambria Math" panose="02040503050406030204" pitchFamily="18" charset="0"/>
                      </a:rPr>
                      <m:t>[</m:t>
                    </m:r>
                    <m:r>
                      <a:rPr lang="en-US" b="0" i="1">
                        <a:solidFill>
                          <a:srgbClr val="FF0000"/>
                        </a:solidFill>
                        <a:latin typeface="Cambria Math" panose="02040503050406030204" pitchFamily="18" charset="0"/>
                      </a:rPr>
                      <m:t>𝑛</m:t>
                    </m:r>
                    <m:r>
                      <a:rPr lang="en-US" b="0" i="1">
                        <a:solidFill>
                          <a:srgbClr val="FF0000"/>
                        </a:solidFill>
                        <a:latin typeface="Cambria Math" panose="02040503050406030204" pitchFamily="18" charset="0"/>
                      </a:rPr>
                      <m:t>]</m:t>
                    </m:r>
                  </m:oMath>
                </a14:m>
                <a:r>
                  <a:rPr lang="zh-CN" altLang="en-US" b="0" dirty="0">
                    <a:solidFill>
                      <a:srgbClr val="FF0000"/>
                    </a:solidFill>
                  </a:rPr>
                  <a:t>来表征。</a:t>
                </a:r>
              </a:p>
            </p:txBody>
          </p:sp>
        </mc:Choice>
        <mc:Fallback xmlns="">
          <p:sp>
            <p:nvSpPr>
              <p:cNvPr id="18439" name="内容占位符 2">
                <a:extLst>
                  <a:ext uri="{FF2B5EF4-FFF2-40B4-BE49-F238E27FC236}">
                    <a16:creationId xmlns:a16="http://schemas.microsoft.com/office/drawing/2014/main" id="{E72FCD56-3D5A-4C93-89E7-B56EF06AB5C3}"/>
                  </a:ext>
                </a:extLst>
              </p:cNvPr>
              <p:cNvSpPr>
                <a:spLocks noGrp="1" noRot="1" noChangeAspect="1" noMove="1" noResize="1" noEditPoints="1" noAdjustHandles="1" noChangeArrowheads="1" noChangeShapeType="1" noTextEdit="1"/>
              </p:cNvSpPr>
              <p:nvPr>
                <p:ph idx="1"/>
              </p:nvPr>
            </p:nvSpPr>
            <p:spPr>
              <a:xfrm>
                <a:off x="457200" y="1255503"/>
                <a:ext cx="8229600" cy="5090111"/>
              </a:xfrm>
              <a:blipFill>
                <a:blip r:embed="rId2"/>
                <a:stretch>
                  <a:fillRect r="-1481" b="-2395"/>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FF841C5F-FA0A-4C3C-88AE-7EADEFA4DED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4232211-14BF-4C56-97B0-442B3E8E2D5E}" type="slidenum">
              <a:rPr lang="zh-CN" altLang="en-US">
                <a:solidFill>
                  <a:srgbClr val="898989"/>
                </a:solidFill>
                <a:latin typeface="Calibri" panose="020F0502020204030204" pitchFamily="34" charset="0"/>
              </a:rPr>
              <a:pPr eaLnBrk="1" hangingPunct="1"/>
              <a:t>8</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18437" name="Object 5">
                <a:extLst>
                  <a:ext uri="{FF2B5EF4-FFF2-40B4-BE49-F238E27FC236}">
                    <a16:creationId xmlns:a16="http://schemas.microsoft.com/office/drawing/2014/main" id="{922F5F6A-595E-4CE0-948A-30A4CEA71511}"/>
                  </a:ext>
                </a:extLst>
              </p:cNvPr>
              <p:cNvSpPr txBox="1"/>
              <p:nvPr/>
            </p:nvSpPr>
            <p:spPr bwMode="auto">
              <a:xfrm>
                <a:off x="1475656" y="2472271"/>
                <a:ext cx="6768752" cy="1008112"/>
              </a:xfrm>
              <a:prstGeom prst="rect">
                <a:avLst/>
              </a:prstGeom>
              <a:solidFill>
                <a:srgbClr val="CCFFFF"/>
              </a:solidFill>
              <a:ln w="50800">
                <a:solidFill>
                  <a:srgbClr val="FF0000"/>
                </a:solidFill>
                <a:miter lim="800000"/>
                <a:headEnd/>
                <a:tailEnd/>
              </a:ln>
              <a:effectLst/>
            </p:spPr>
            <p:txBody>
              <a:bodyPr>
                <a:noAutofit/>
              </a:bodyPr>
              <a:lstStyle/>
              <a:p>
                <a:pPr/>
                <a14:m>
                  <m:oMathPara xmlns:m="http://schemas.openxmlformats.org/officeDocument/2006/math">
                    <m:oMathParaPr>
                      <m:jc m:val="center"/>
                    </m:oMathParaPr>
                    <m:oMath xmlns:m="http://schemas.openxmlformats.org/officeDocument/2006/math">
                      <m:r>
                        <a:rPr lang="en-US" sz="2800" i="1" smtClean="0">
                          <a:solidFill>
                            <a:srgbClr val="FF0000"/>
                          </a:solidFill>
                          <a:latin typeface="Cambria Math" panose="02040503050406030204" pitchFamily="18" charset="0"/>
                        </a:rPr>
                        <m:t>𝑦</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𝑛</m:t>
                      </m:r>
                      <m:r>
                        <a:rPr lang="en-US" sz="2800" b="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𝑥</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𝑛</m:t>
                      </m:r>
                      <m:r>
                        <a:rPr lang="en-US" sz="2800" b="0" i="1" smtClean="0">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h</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𝑛</m:t>
                      </m:r>
                      <m:r>
                        <a:rPr lang="en-US" sz="2800" b="0" i="1" smtClean="0">
                          <a:solidFill>
                            <a:srgbClr val="FF0000"/>
                          </a:solidFill>
                          <a:latin typeface="Cambria Math" panose="02040503050406030204" pitchFamily="18" charset="0"/>
                        </a:rPr>
                        <m:t>]=</m:t>
                      </m:r>
                      <m:nary>
                        <m:naryPr>
                          <m:chr m:val="∑"/>
                          <m:limLoc m:val="subSup"/>
                          <m:ctrlPr>
                            <a:rPr lang="en-US" sz="2800" i="1">
                              <a:solidFill>
                                <a:srgbClr val="FF0000"/>
                              </a:solidFill>
                              <a:latin typeface="Cambria Math" panose="02040503050406030204" pitchFamily="18" charset="0"/>
                            </a:rPr>
                          </m:ctrlPr>
                        </m:naryPr>
                        <m:sub>
                          <m:r>
                            <a:rPr lang="en-US" sz="2800" i="1">
                              <a:solidFill>
                                <a:srgbClr val="FF0000"/>
                              </a:solidFill>
                              <a:latin typeface="Cambria Math" panose="02040503050406030204" pitchFamily="18" charset="0"/>
                            </a:rPr>
                            <m:t>𝑘</m:t>
                          </m:r>
                          <m:r>
                            <a:rPr lang="en-US" sz="2800" i="1">
                              <a:solidFill>
                                <a:srgbClr val="FF0000"/>
                              </a:solidFill>
                              <a:latin typeface="Cambria Math" panose="02040503050406030204" pitchFamily="18" charset="0"/>
                            </a:rPr>
                            <m:t>=−∞</m:t>
                          </m:r>
                        </m:sub>
                        <m:sup>
                          <m:r>
                            <a:rPr lang="en-US" sz="2800" i="1">
                              <a:solidFill>
                                <a:srgbClr val="FF0000"/>
                              </a:solidFill>
                              <a:latin typeface="Cambria Math" panose="02040503050406030204" pitchFamily="18" charset="0"/>
                            </a:rPr>
                            <m:t>+∞</m:t>
                          </m:r>
                        </m:sup>
                        <m:e>
                          <m:r>
                            <a:rPr lang="en-US" sz="2800" i="1">
                              <a:solidFill>
                                <a:srgbClr val="FF0000"/>
                              </a:solidFill>
                              <a:latin typeface="Cambria Math" panose="02040503050406030204" pitchFamily="18" charset="0"/>
                            </a:rPr>
                            <m:t>𝑥</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𝑘</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h</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𝑛</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𝑘</m:t>
                          </m:r>
                          <m:r>
                            <a:rPr lang="en-US" sz="2800" i="1">
                              <a:solidFill>
                                <a:srgbClr val="FF0000"/>
                              </a:solidFill>
                              <a:latin typeface="Cambria Math" panose="02040503050406030204" pitchFamily="18" charset="0"/>
                            </a:rPr>
                            <m:t>]</m:t>
                          </m:r>
                        </m:e>
                      </m:nary>
                    </m:oMath>
                  </m:oMathPara>
                </a14:m>
                <a:endParaRPr lang="en-US" sz="2800" dirty="0"/>
              </a:p>
            </p:txBody>
          </p:sp>
        </mc:Choice>
        <mc:Fallback xmlns="">
          <p:sp>
            <p:nvSpPr>
              <p:cNvPr id="18437" name="Object 5">
                <a:extLst>
                  <a:ext uri="{FF2B5EF4-FFF2-40B4-BE49-F238E27FC236}">
                    <a16:creationId xmlns:a16="http://schemas.microsoft.com/office/drawing/2014/main" id="{922F5F6A-595E-4CE0-948A-30A4CEA71511}"/>
                  </a:ext>
                </a:extLst>
              </p:cNvPr>
              <p:cNvSpPr txBox="1">
                <a:spLocks noRot="1" noChangeAspect="1" noMove="1" noResize="1" noEditPoints="1" noAdjustHandles="1" noChangeArrowheads="1" noChangeShapeType="1" noTextEdit="1"/>
              </p:cNvSpPr>
              <p:nvPr/>
            </p:nvSpPr>
            <p:spPr bwMode="auto">
              <a:xfrm>
                <a:off x="1475656" y="2472271"/>
                <a:ext cx="6768752" cy="1008112"/>
              </a:xfrm>
              <a:prstGeom prst="rect">
                <a:avLst/>
              </a:prstGeom>
              <a:blipFill>
                <a:blip r:embed="rId3"/>
                <a:stretch>
                  <a:fillRect/>
                </a:stretch>
              </a:blipFill>
              <a:ln w="50800">
                <a:solidFill>
                  <a:srgbClr val="FF0000"/>
                </a:solidFill>
                <a:miter lim="800000"/>
                <a:headEnd/>
                <a:tailEnd/>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标题 1">
            <a:extLst>
              <a:ext uri="{FF2B5EF4-FFF2-40B4-BE49-F238E27FC236}">
                <a16:creationId xmlns:a16="http://schemas.microsoft.com/office/drawing/2014/main" id="{7081DB76-1F33-4B8F-A615-37B1A02E4B4B}"/>
              </a:ext>
            </a:extLst>
          </p:cNvPr>
          <p:cNvSpPr>
            <a:spLocks noGrp="1"/>
          </p:cNvSpPr>
          <p:nvPr>
            <p:ph type="title"/>
          </p:nvPr>
        </p:nvSpPr>
        <p:spPr/>
        <p:txBody>
          <a:bodyPr/>
          <a:lstStyle/>
          <a:p>
            <a:r>
              <a:rPr lang="en-US" altLang="zh-CN"/>
              <a:t>2.1 </a:t>
            </a:r>
            <a:r>
              <a:rPr lang="zh-CN" altLang="en-US"/>
              <a:t>离散时间</a:t>
            </a:r>
            <a:r>
              <a:rPr lang="en-US" altLang="zh-CN"/>
              <a:t>LTI</a:t>
            </a:r>
            <a:r>
              <a:rPr lang="zh-CN" altLang="en-US"/>
              <a:t>系统：卷积和</a:t>
            </a:r>
          </a:p>
        </p:txBody>
      </p:sp>
      <p:sp>
        <p:nvSpPr>
          <p:cNvPr id="4" name="灯片编号占位符 3">
            <a:extLst>
              <a:ext uri="{FF2B5EF4-FFF2-40B4-BE49-F238E27FC236}">
                <a16:creationId xmlns:a16="http://schemas.microsoft.com/office/drawing/2014/main" id="{FF841C5F-FA0A-4C3C-88AE-7EADEFA4DED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4232211-14BF-4C56-97B0-442B3E8E2D5E}" type="slidenum">
              <a:rPr lang="zh-CN" altLang="en-US">
                <a:solidFill>
                  <a:srgbClr val="898989"/>
                </a:solidFill>
                <a:latin typeface="Calibri" panose="020F0502020204030204" pitchFamily="34" charset="0"/>
              </a:rPr>
              <a:pPr eaLnBrk="1" hangingPunct="1"/>
              <a:t>9</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DAD4D630-56E9-46D8-B2C3-6278E8CDF46C}"/>
                  </a:ext>
                </a:extLst>
              </p:cNvPr>
              <p:cNvSpPr txBox="1"/>
              <p:nvPr/>
            </p:nvSpPr>
            <p:spPr>
              <a:xfrm>
                <a:off x="395536" y="1322521"/>
                <a:ext cx="4126001" cy="461665"/>
              </a:xfrm>
              <a:prstGeom prst="rect">
                <a:avLst/>
              </a:prstGeom>
              <a:noFill/>
            </p:spPr>
            <p:txBody>
              <a:bodyPr wrap="none" rtlCol="0">
                <a:spAutoFit/>
              </a:bodyPr>
              <a:lstStyle/>
              <a:p>
                <a:pPr algn="just"/>
                <a:r>
                  <a:rPr lang="zh-CN" altLang="en-US" sz="2400" dirty="0">
                    <a:solidFill>
                      <a:srgbClr val="0000FF"/>
                    </a:solidFill>
                    <a:latin typeface="Cambria Math" panose="02040503050406030204" pitchFamily="18" charset="0"/>
                    <a:ea typeface="楷体" panose="02010609060101010101" pitchFamily="49" charset="-122"/>
                  </a:rPr>
                  <a:t>例</a:t>
                </a:r>
                <a:r>
                  <a:rPr lang="en-US" altLang="zh-CN" sz="2400" dirty="0">
                    <a:solidFill>
                      <a:srgbClr val="0000FF"/>
                    </a:solidFill>
                    <a:latin typeface="Cambria Math" panose="02040503050406030204" pitchFamily="18" charset="0"/>
                    <a:ea typeface="楷体" panose="02010609060101010101" pitchFamily="49" charset="-122"/>
                  </a:rPr>
                  <a:t>1</a:t>
                </a:r>
                <a:r>
                  <a:rPr lang="zh-CN" altLang="en-US" sz="2400" dirty="0">
                    <a:solidFill>
                      <a:srgbClr val="0000FF"/>
                    </a:solidFill>
                    <a:latin typeface="Cambria Math" panose="02040503050406030204" pitchFamily="18" charset="0"/>
                    <a:ea typeface="楷体" panose="02010609060101010101" pitchFamily="49" charset="-122"/>
                  </a:rPr>
                  <a:t>：延时器</a:t>
                </a:r>
                <a14:m>
                  <m:oMath xmlns:m="http://schemas.openxmlformats.org/officeDocument/2006/math">
                    <m:r>
                      <a:rPr lang="en-US" altLang="zh-CN" sz="2400" b="0" i="1" smtClean="0">
                        <a:solidFill>
                          <a:srgbClr val="0000FF"/>
                        </a:solidFill>
                        <a:latin typeface="Cambria Math" panose="02040503050406030204" pitchFamily="18" charset="0"/>
                        <a:ea typeface="楷体" panose="02010609060101010101" pitchFamily="49" charset="-122"/>
                      </a:rPr>
                      <m:t>h</m:t>
                    </m:r>
                    <m:d>
                      <m:dPr>
                        <m:begChr m:val="["/>
                        <m:endChr m:val="]"/>
                        <m:ctrlPr>
                          <a:rPr lang="en-US" altLang="zh-CN" sz="2400" b="0" i="1" smtClean="0">
                            <a:solidFill>
                              <a:srgbClr val="0000FF"/>
                            </a:solidFill>
                            <a:latin typeface="Cambria Math" panose="02040503050406030204" pitchFamily="18" charset="0"/>
                            <a:ea typeface="楷体" panose="02010609060101010101" pitchFamily="49" charset="-122"/>
                          </a:rPr>
                        </m:ctrlPr>
                      </m:dPr>
                      <m:e>
                        <m:r>
                          <a:rPr lang="en-US" altLang="zh-CN" sz="2400" b="0" i="1" smtClean="0">
                            <a:solidFill>
                              <a:srgbClr val="0000FF"/>
                            </a:solidFill>
                            <a:latin typeface="Cambria Math" panose="02040503050406030204" pitchFamily="18" charset="0"/>
                            <a:ea typeface="楷体" panose="02010609060101010101" pitchFamily="49" charset="-122"/>
                          </a:rPr>
                          <m:t>𝑛</m:t>
                        </m:r>
                      </m:e>
                    </m:d>
                    <m:r>
                      <a:rPr lang="en-US" altLang="zh-CN" sz="2400" b="0" i="1" smtClean="0">
                        <a:solidFill>
                          <a:srgbClr val="0000FF"/>
                        </a:solidFill>
                        <a:latin typeface="Cambria Math" panose="02040503050406030204" pitchFamily="18" charset="0"/>
                        <a:ea typeface="楷体" panose="02010609060101010101" pitchFamily="49" charset="-122"/>
                      </a:rPr>
                      <m:t>=</m:t>
                    </m:r>
                    <m:r>
                      <a:rPr lang="zh-CN" altLang="en-US" sz="2400" b="0" i="1" smtClean="0">
                        <a:solidFill>
                          <a:srgbClr val="0000FF"/>
                        </a:solidFill>
                        <a:latin typeface="Cambria Math" panose="02040503050406030204" pitchFamily="18" charset="0"/>
                        <a:ea typeface="楷体" panose="02010609060101010101" pitchFamily="49" charset="-122"/>
                      </a:rPr>
                      <m:t>𝛿</m:t>
                    </m:r>
                    <m:r>
                      <a:rPr lang="en-US" altLang="zh-CN" sz="2400" b="0" i="1" smtClean="0">
                        <a:solidFill>
                          <a:srgbClr val="0000FF"/>
                        </a:solidFill>
                        <a:latin typeface="Cambria Math" panose="02040503050406030204" pitchFamily="18" charset="0"/>
                        <a:ea typeface="楷体" panose="02010609060101010101" pitchFamily="49" charset="-122"/>
                      </a:rPr>
                      <m:t>[</m:t>
                    </m:r>
                    <m:r>
                      <a:rPr lang="en-US" altLang="zh-CN" sz="2400" b="0" i="1" smtClean="0">
                        <a:solidFill>
                          <a:srgbClr val="0000FF"/>
                        </a:solidFill>
                        <a:latin typeface="Cambria Math" panose="02040503050406030204" pitchFamily="18" charset="0"/>
                        <a:ea typeface="楷体" panose="02010609060101010101" pitchFamily="49" charset="-122"/>
                      </a:rPr>
                      <m:t>𝑛</m:t>
                    </m:r>
                    <m:r>
                      <a:rPr lang="en-US" altLang="zh-CN" sz="2400" b="0" i="1" smtClean="0">
                        <a:solidFill>
                          <a:srgbClr val="0000FF"/>
                        </a:solidFill>
                        <a:latin typeface="Cambria Math" panose="02040503050406030204" pitchFamily="18" charset="0"/>
                        <a:ea typeface="楷体" panose="02010609060101010101" pitchFamily="49" charset="-122"/>
                      </a:rPr>
                      <m:t>−</m:t>
                    </m:r>
                    <m:sSub>
                      <m:sSubPr>
                        <m:ctrlPr>
                          <a:rPr lang="en-US" altLang="zh-CN" sz="2400" b="0" i="1" smtClean="0">
                            <a:solidFill>
                              <a:srgbClr val="0000FF"/>
                            </a:solidFill>
                            <a:latin typeface="Cambria Math" panose="02040503050406030204" pitchFamily="18" charset="0"/>
                            <a:ea typeface="楷体" panose="02010609060101010101" pitchFamily="49" charset="-122"/>
                          </a:rPr>
                        </m:ctrlPr>
                      </m:sSubPr>
                      <m:e>
                        <m:r>
                          <a:rPr lang="en-US" altLang="zh-CN" sz="2400" b="0" i="1" smtClean="0">
                            <a:solidFill>
                              <a:srgbClr val="0000FF"/>
                            </a:solidFill>
                            <a:latin typeface="Cambria Math" panose="02040503050406030204" pitchFamily="18" charset="0"/>
                            <a:ea typeface="楷体" panose="02010609060101010101" pitchFamily="49" charset="-122"/>
                          </a:rPr>
                          <m:t>𝑛</m:t>
                        </m:r>
                      </m:e>
                      <m:sub>
                        <m:r>
                          <a:rPr lang="en-US" altLang="zh-CN" sz="2400" b="0" i="1" smtClean="0">
                            <a:solidFill>
                              <a:srgbClr val="0000FF"/>
                            </a:solidFill>
                            <a:latin typeface="Cambria Math" panose="02040503050406030204" pitchFamily="18" charset="0"/>
                            <a:ea typeface="楷体" panose="02010609060101010101" pitchFamily="49" charset="-122"/>
                          </a:rPr>
                          <m:t>0</m:t>
                        </m:r>
                      </m:sub>
                    </m:sSub>
                    <m:r>
                      <a:rPr lang="en-US" altLang="zh-CN" sz="2400" b="0" i="1" smtClean="0">
                        <a:solidFill>
                          <a:srgbClr val="0000FF"/>
                        </a:solidFill>
                        <a:latin typeface="Cambria Math" panose="02040503050406030204" pitchFamily="18" charset="0"/>
                        <a:ea typeface="楷体" panose="02010609060101010101" pitchFamily="49" charset="-122"/>
                      </a:rPr>
                      <m:t>]</m:t>
                    </m:r>
                  </m:oMath>
                </a14:m>
                <a:endParaRPr lang="en-US" sz="2400" dirty="0">
                  <a:solidFill>
                    <a:srgbClr val="0000FF"/>
                  </a:solidFill>
                  <a:latin typeface="Cambria Math" panose="02040503050406030204" pitchFamily="18" charset="0"/>
                  <a:ea typeface="楷体" panose="02010609060101010101" pitchFamily="49" charset="-122"/>
                </a:endParaRPr>
              </a:p>
            </p:txBody>
          </p:sp>
        </mc:Choice>
        <mc:Fallback xmlns="">
          <p:sp>
            <p:nvSpPr>
              <p:cNvPr id="7" name="文本框 6">
                <a:extLst>
                  <a:ext uri="{FF2B5EF4-FFF2-40B4-BE49-F238E27FC236}">
                    <a16:creationId xmlns:a16="http://schemas.microsoft.com/office/drawing/2014/main" id="{DAD4D630-56E9-46D8-B2C3-6278E8CDF46C}"/>
                  </a:ext>
                </a:extLst>
              </p:cNvPr>
              <p:cNvSpPr txBox="1">
                <a:spLocks noRot="1" noChangeAspect="1" noMove="1" noResize="1" noEditPoints="1" noAdjustHandles="1" noChangeArrowheads="1" noChangeShapeType="1" noTextEdit="1"/>
              </p:cNvSpPr>
              <p:nvPr/>
            </p:nvSpPr>
            <p:spPr>
              <a:xfrm>
                <a:off x="395536" y="1322521"/>
                <a:ext cx="4126001" cy="461665"/>
              </a:xfrm>
              <a:prstGeom prst="rect">
                <a:avLst/>
              </a:prstGeom>
              <a:blipFill>
                <a:blip r:embed="rId3"/>
                <a:stretch>
                  <a:fillRect l="-2363" t="-14474" r="-295" b="-28947"/>
                </a:stretch>
              </a:blipFill>
            </p:spPr>
            <p:txBody>
              <a:bodyPr/>
              <a:lstStyle/>
              <a:p>
                <a:r>
                  <a:rPr lang="en-US">
                    <a:noFill/>
                  </a:rPr>
                  <a:t> </a:t>
                </a:r>
              </a:p>
            </p:txBody>
          </p:sp>
        </mc:Fallback>
      </mc:AlternateContent>
      <p:sp>
        <p:nvSpPr>
          <p:cNvPr id="8" name="文本框 7">
            <a:extLst>
              <a:ext uri="{FF2B5EF4-FFF2-40B4-BE49-F238E27FC236}">
                <a16:creationId xmlns:a16="http://schemas.microsoft.com/office/drawing/2014/main" id="{591E3816-6672-429F-B236-7A5F4BD05C20}"/>
              </a:ext>
            </a:extLst>
          </p:cNvPr>
          <p:cNvSpPr txBox="1"/>
          <p:nvPr/>
        </p:nvSpPr>
        <p:spPr>
          <a:xfrm>
            <a:off x="1043608" y="1810553"/>
            <a:ext cx="7687105" cy="830997"/>
          </a:xfrm>
          <a:prstGeom prst="rect">
            <a:avLst/>
          </a:prstGeom>
          <a:noFill/>
        </p:spPr>
        <p:txBody>
          <a:bodyPr wrap="square" rtlCol="0">
            <a:spAutoFit/>
          </a:bodyPr>
          <a:lstStyle/>
          <a:p>
            <a:r>
              <a:rPr lang="zh-CN" altLang="en-US" sz="2400" dirty="0">
                <a:latin typeface="Cambria Math" panose="02040503050406030204" pitchFamily="18" charset="0"/>
                <a:ea typeface="楷体" panose="02010609060101010101" pitchFamily="49" charset="-122"/>
              </a:rPr>
              <a:t>具有该单位脉冲响应的系统一般情况下存在多种可能性，但是</a:t>
            </a:r>
            <a:r>
              <a:rPr lang="en-US" altLang="zh-CN" sz="2400" dirty="0">
                <a:latin typeface="Cambria Math" panose="02040503050406030204" pitchFamily="18" charset="0"/>
                <a:ea typeface="楷体" panose="02010609060101010101" pitchFamily="49" charset="-122"/>
              </a:rPr>
              <a:t>LTI</a:t>
            </a:r>
            <a:r>
              <a:rPr lang="zh-CN" altLang="en-US" sz="2400" dirty="0">
                <a:latin typeface="Cambria Math" panose="02040503050406030204" pitchFamily="18" charset="0"/>
                <a:ea typeface="楷体" panose="02010609060101010101" pitchFamily="49" charset="-122"/>
              </a:rPr>
              <a:t>系统只有一个：</a:t>
            </a:r>
            <a:endParaRPr lang="en-US" sz="2400" dirty="0">
              <a:latin typeface="Cambria Math" panose="02040503050406030204" pitchFamily="18" charset="0"/>
              <a:ea typeface="楷体" panose="02010609060101010101" pitchFamily="49" charset="-122"/>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DD1437E2-46D4-4985-8465-576AA5B7D865}"/>
                  </a:ext>
                </a:extLst>
              </p:cNvPr>
              <p:cNvSpPr txBox="1"/>
              <p:nvPr/>
            </p:nvSpPr>
            <p:spPr>
              <a:xfrm>
                <a:off x="3486890" y="2649670"/>
                <a:ext cx="250202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𝑦</m:t>
                      </m:r>
                      <m:d>
                        <m:dPr>
                          <m:begChr m:val="["/>
                          <m:endChr m:val="]"/>
                          <m:ctrlP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ctrlPr>
                        </m:dPr>
                        <m:e>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𝑛</m:t>
                          </m:r>
                        </m:e>
                      </m:d>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m:t>
                      </m:r>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𝑥</m:t>
                      </m:r>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m:t>
                      </m:r>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𝑛</m:t>
                      </m:r>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m:t>
                      </m:r>
                      <m:sSub>
                        <m:sSubPr>
                          <m:ctrlP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ctrlPr>
                        </m:sSubPr>
                        <m:e>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𝑛</m:t>
                          </m:r>
                        </m:e>
                        <m:sub>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0</m:t>
                          </m:r>
                        </m:sub>
                      </m:sSub>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m:t>
                      </m:r>
                    </m:oMath>
                  </m:oMathPara>
                </a14:m>
                <a:endParaRPr lang="en-US" dirty="0"/>
              </a:p>
            </p:txBody>
          </p:sp>
        </mc:Choice>
        <mc:Fallback xmlns="">
          <p:sp>
            <p:nvSpPr>
              <p:cNvPr id="12" name="文本框 11">
                <a:extLst>
                  <a:ext uri="{FF2B5EF4-FFF2-40B4-BE49-F238E27FC236}">
                    <a16:creationId xmlns:a16="http://schemas.microsoft.com/office/drawing/2014/main" id="{DD1437E2-46D4-4985-8465-576AA5B7D865}"/>
                  </a:ext>
                </a:extLst>
              </p:cNvPr>
              <p:cNvSpPr txBox="1">
                <a:spLocks noRot="1" noChangeAspect="1" noMove="1" noResize="1" noEditPoints="1" noAdjustHandles="1" noChangeArrowheads="1" noChangeShapeType="1" noTextEdit="1"/>
              </p:cNvSpPr>
              <p:nvPr/>
            </p:nvSpPr>
            <p:spPr>
              <a:xfrm>
                <a:off x="3486890" y="2649670"/>
                <a:ext cx="2502024" cy="461665"/>
              </a:xfrm>
              <a:prstGeom prst="rect">
                <a:avLst/>
              </a:prstGeom>
              <a:blipFill>
                <a:blip r:embed="rId4"/>
                <a:stretch>
                  <a:fillRect b="-2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14FEEE7-D983-47D9-AA0D-E6084B7C2212}"/>
                  </a:ext>
                </a:extLst>
              </p:cNvPr>
              <p:cNvSpPr txBox="1"/>
              <p:nvPr/>
            </p:nvSpPr>
            <p:spPr>
              <a:xfrm>
                <a:off x="4583212" y="3140968"/>
                <a:ext cx="30938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00FF"/>
                          </a:solidFill>
                          <a:latin typeface="Cambria Math" panose="02040503050406030204" pitchFamily="18" charset="0"/>
                          <a:ea typeface="Cambria Math" panose="02040503050406030204" pitchFamily="18" charset="0"/>
                        </a:rPr>
                        <m:t>⇓</m:t>
                      </m:r>
                    </m:oMath>
                  </m:oMathPara>
                </a14:m>
                <a:endParaRPr lang="en-US" sz="2800" dirty="0">
                  <a:solidFill>
                    <a:srgbClr val="0000FF"/>
                  </a:solidFill>
                </a:endParaRPr>
              </a:p>
            </p:txBody>
          </p:sp>
        </mc:Choice>
        <mc:Fallback xmlns="">
          <p:sp>
            <p:nvSpPr>
              <p:cNvPr id="6" name="文本框 5">
                <a:extLst>
                  <a:ext uri="{FF2B5EF4-FFF2-40B4-BE49-F238E27FC236}">
                    <a16:creationId xmlns:a16="http://schemas.microsoft.com/office/drawing/2014/main" id="{714FEEE7-D983-47D9-AA0D-E6084B7C2212}"/>
                  </a:ext>
                </a:extLst>
              </p:cNvPr>
              <p:cNvSpPr txBox="1">
                <a:spLocks noRot="1" noChangeAspect="1" noMove="1" noResize="1" noEditPoints="1" noAdjustHandles="1" noChangeArrowheads="1" noChangeShapeType="1" noTextEdit="1"/>
              </p:cNvSpPr>
              <p:nvPr/>
            </p:nvSpPr>
            <p:spPr>
              <a:xfrm>
                <a:off x="4583212" y="3140968"/>
                <a:ext cx="309380" cy="43088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4DC0FA6B-677F-4051-AD9F-BEC25C481B45}"/>
                  </a:ext>
                </a:extLst>
              </p:cNvPr>
              <p:cNvSpPr txBox="1"/>
              <p:nvPr/>
            </p:nvSpPr>
            <p:spPr>
              <a:xfrm>
                <a:off x="2843808" y="3501008"/>
                <a:ext cx="3969316" cy="461665"/>
              </a:xfrm>
              <a:prstGeom prst="rect">
                <a:avLst/>
              </a:prstGeom>
              <a:noFill/>
              <a:ln w="25400">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𝑥</m:t>
                      </m:r>
                      <m:d>
                        <m:dPr>
                          <m:begChr m:val="["/>
                          <m:endChr m:val="]"/>
                          <m:ctrlP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ctrlPr>
                        </m:dPr>
                        <m:e>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𝑛</m:t>
                          </m:r>
                        </m:e>
                      </m:d>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m:t>
                      </m:r>
                      <m:r>
                        <a:rPr lang="zh-CN" altLang="en-US" sz="2400" i="1" smtClean="0">
                          <a:solidFill>
                            <a:srgbClr val="FF0000"/>
                          </a:solidFill>
                          <a:latin typeface="Cambria Math" panose="02040503050406030204" pitchFamily="18" charset="0"/>
                          <a:ea typeface="楷体" panose="02010609060101010101" pitchFamily="49" charset="-122"/>
                        </a:rPr>
                        <m:t>𝛿</m:t>
                      </m:r>
                      <m:r>
                        <a:rPr lang="en-US" altLang="zh-CN" sz="2400" i="1">
                          <a:solidFill>
                            <a:srgbClr val="FF0000"/>
                          </a:solidFill>
                          <a:latin typeface="Cambria Math" panose="02040503050406030204" pitchFamily="18" charset="0"/>
                          <a:ea typeface="楷体" panose="02010609060101010101" pitchFamily="49" charset="-122"/>
                        </a:rPr>
                        <m:t>[</m:t>
                      </m:r>
                      <m:r>
                        <a:rPr lang="en-US" altLang="zh-CN" sz="2400" i="1">
                          <a:solidFill>
                            <a:srgbClr val="FF0000"/>
                          </a:solidFill>
                          <a:latin typeface="Cambria Math" panose="02040503050406030204" pitchFamily="18" charset="0"/>
                          <a:ea typeface="楷体" panose="02010609060101010101" pitchFamily="49" charset="-122"/>
                        </a:rPr>
                        <m:t>𝑛</m:t>
                      </m:r>
                      <m:r>
                        <a:rPr lang="en-US" altLang="zh-CN" sz="2400" i="1">
                          <a:solidFill>
                            <a:srgbClr val="FF0000"/>
                          </a:solidFill>
                          <a:latin typeface="Cambria Math" panose="02040503050406030204" pitchFamily="18" charset="0"/>
                          <a:ea typeface="楷体" panose="02010609060101010101" pitchFamily="49" charset="-122"/>
                        </a:rPr>
                        <m:t>−</m:t>
                      </m:r>
                      <m:sSub>
                        <m:sSubPr>
                          <m:ctrlPr>
                            <a:rPr lang="en-US" altLang="zh-CN" sz="2400" i="1">
                              <a:solidFill>
                                <a:srgbClr val="FF0000"/>
                              </a:solidFill>
                              <a:latin typeface="Cambria Math" panose="02040503050406030204" pitchFamily="18" charset="0"/>
                              <a:ea typeface="楷体" panose="02010609060101010101" pitchFamily="49" charset="-122"/>
                            </a:rPr>
                          </m:ctrlPr>
                        </m:sSubPr>
                        <m:e>
                          <m:r>
                            <a:rPr lang="en-US" altLang="zh-CN" sz="2400" i="1">
                              <a:solidFill>
                                <a:srgbClr val="FF0000"/>
                              </a:solidFill>
                              <a:latin typeface="Cambria Math" panose="02040503050406030204" pitchFamily="18" charset="0"/>
                              <a:ea typeface="楷体" panose="02010609060101010101" pitchFamily="49" charset="-122"/>
                            </a:rPr>
                            <m:t>𝑛</m:t>
                          </m:r>
                        </m:e>
                        <m:sub>
                          <m:r>
                            <a:rPr lang="en-US" altLang="zh-CN" sz="2400" i="1">
                              <a:solidFill>
                                <a:srgbClr val="FF0000"/>
                              </a:solidFill>
                              <a:latin typeface="Cambria Math" panose="02040503050406030204" pitchFamily="18" charset="0"/>
                              <a:ea typeface="楷体" panose="02010609060101010101" pitchFamily="49" charset="-122"/>
                            </a:rPr>
                            <m:t>0</m:t>
                          </m:r>
                        </m:sub>
                      </m:sSub>
                      <m:r>
                        <a:rPr lang="en-US" altLang="zh-CN" sz="2400" i="1">
                          <a:solidFill>
                            <a:srgbClr val="FF0000"/>
                          </a:solidFill>
                          <a:latin typeface="Cambria Math" panose="02040503050406030204" pitchFamily="18" charset="0"/>
                          <a:ea typeface="楷体" panose="02010609060101010101" pitchFamily="49" charset="-122"/>
                        </a:rPr>
                        <m:t>]</m:t>
                      </m:r>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m:t>
                      </m:r>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𝑥</m:t>
                      </m:r>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m:t>
                      </m:r>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𝑛</m:t>
                      </m:r>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m:t>
                      </m:r>
                      <m:sSub>
                        <m:sSubPr>
                          <m:ctrlP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ctrlPr>
                        </m:sSubPr>
                        <m:e>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𝑛</m:t>
                          </m:r>
                        </m:e>
                        <m:sub>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0</m:t>
                          </m:r>
                        </m:sub>
                      </m:sSub>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m:t>
                      </m:r>
                    </m:oMath>
                  </m:oMathPara>
                </a14:m>
                <a:endParaRPr lang="en-US" dirty="0"/>
              </a:p>
            </p:txBody>
          </p:sp>
        </mc:Choice>
        <mc:Fallback xmlns="">
          <p:sp>
            <p:nvSpPr>
              <p:cNvPr id="14" name="文本框 13">
                <a:extLst>
                  <a:ext uri="{FF2B5EF4-FFF2-40B4-BE49-F238E27FC236}">
                    <a16:creationId xmlns:a16="http://schemas.microsoft.com/office/drawing/2014/main" id="{4DC0FA6B-677F-4051-AD9F-BEC25C481B45}"/>
                  </a:ext>
                </a:extLst>
              </p:cNvPr>
              <p:cNvSpPr txBox="1">
                <a:spLocks noRot="1" noChangeAspect="1" noMove="1" noResize="1" noEditPoints="1" noAdjustHandles="1" noChangeArrowheads="1" noChangeShapeType="1" noTextEdit="1"/>
              </p:cNvSpPr>
              <p:nvPr/>
            </p:nvSpPr>
            <p:spPr>
              <a:xfrm>
                <a:off x="2843808" y="3501008"/>
                <a:ext cx="3969316" cy="461665"/>
              </a:xfrm>
              <a:prstGeom prst="rect">
                <a:avLst/>
              </a:prstGeom>
              <a:blipFill>
                <a:blip r:embed="rId6"/>
                <a:stretch>
                  <a:fillRect r="-305" b="-16250"/>
                </a:stretch>
              </a:blipFill>
              <a:ln w="25400">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09AA4D3C-1274-48B8-91B5-FFC558D83232}"/>
                  </a:ext>
                </a:extLst>
              </p:cNvPr>
              <p:cNvSpPr txBox="1"/>
              <p:nvPr/>
            </p:nvSpPr>
            <p:spPr>
              <a:xfrm>
                <a:off x="457200" y="4245563"/>
                <a:ext cx="4380045" cy="461665"/>
              </a:xfrm>
              <a:prstGeom prst="rect">
                <a:avLst/>
              </a:prstGeom>
              <a:noFill/>
            </p:spPr>
            <p:txBody>
              <a:bodyPr wrap="none" rtlCol="0">
                <a:spAutoFit/>
              </a:bodyPr>
              <a:lstStyle/>
              <a:p>
                <a:pPr algn="just"/>
                <a:r>
                  <a:rPr lang="zh-CN" altLang="en-US" sz="2400" dirty="0">
                    <a:solidFill>
                      <a:srgbClr val="0000FF"/>
                    </a:solidFill>
                    <a:latin typeface="Cambria Math" panose="02040503050406030204" pitchFamily="18" charset="0"/>
                    <a:ea typeface="楷体" panose="02010609060101010101" pitchFamily="49" charset="-122"/>
                  </a:rPr>
                  <a:t>例</a:t>
                </a:r>
                <a:r>
                  <a:rPr lang="en-US" altLang="zh-CN" sz="2400" dirty="0">
                    <a:solidFill>
                      <a:srgbClr val="0000FF"/>
                    </a:solidFill>
                    <a:latin typeface="Cambria Math" panose="02040503050406030204" pitchFamily="18" charset="0"/>
                    <a:ea typeface="楷体" panose="02010609060101010101" pitchFamily="49" charset="-122"/>
                  </a:rPr>
                  <a:t>2</a:t>
                </a:r>
                <a:r>
                  <a:rPr lang="zh-CN" altLang="en-US" sz="2400" dirty="0">
                    <a:solidFill>
                      <a:srgbClr val="0000FF"/>
                    </a:solidFill>
                    <a:latin typeface="Cambria Math" panose="02040503050406030204" pitchFamily="18" charset="0"/>
                    <a:ea typeface="楷体" panose="02010609060101010101" pitchFamily="49" charset="-122"/>
                  </a:rPr>
                  <a:t>：累加器</a:t>
                </a:r>
                <a14:m>
                  <m:oMath xmlns:m="http://schemas.openxmlformats.org/officeDocument/2006/math">
                    <m:r>
                      <a:rPr lang="en-US" altLang="zh-CN" sz="2400" b="0" i="1" smtClean="0">
                        <a:solidFill>
                          <a:srgbClr val="0000FF"/>
                        </a:solidFill>
                        <a:latin typeface="Cambria Math" panose="02040503050406030204" pitchFamily="18" charset="0"/>
                        <a:ea typeface="楷体" panose="02010609060101010101" pitchFamily="49" charset="-122"/>
                      </a:rPr>
                      <m:t>𝑦</m:t>
                    </m:r>
                    <m:d>
                      <m:dPr>
                        <m:begChr m:val="["/>
                        <m:endChr m:val="]"/>
                        <m:ctrlPr>
                          <a:rPr lang="en-US" altLang="zh-CN" sz="2400" b="0" i="1" smtClean="0">
                            <a:solidFill>
                              <a:srgbClr val="0000FF"/>
                            </a:solidFill>
                            <a:latin typeface="Cambria Math" panose="02040503050406030204" pitchFamily="18" charset="0"/>
                            <a:ea typeface="楷体" panose="02010609060101010101" pitchFamily="49" charset="-122"/>
                          </a:rPr>
                        </m:ctrlPr>
                      </m:dPr>
                      <m:e>
                        <m:r>
                          <a:rPr lang="en-US" altLang="zh-CN" sz="2400" b="0" i="1" smtClean="0">
                            <a:solidFill>
                              <a:srgbClr val="0000FF"/>
                            </a:solidFill>
                            <a:latin typeface="Cambria Math" panose="02040503050406030204" pitchFamily="18" charset="0"/>
                            <a:ea typeface="楷体" panose="02010609060101010101" pitchFamily="49" charset="-122"/>
                          </a:rPr>
                          <m:t>𝑛</m:t>
                        </m:r>
                      </m:e>
                    </m:d>
                    <m:r>
                      <a:rPr lang="en-US" altLang="zh-CN" sz="2400" b="0" i="1" smtClean="0">
                        <a:solidFill>
                          <a:srgbClr val="0000FF"/>
                        </a:solidFill>
                        <a:latin typeface="Cambria Math" panose="02040503050406030204" pitchFamily="18" charset="0"/>
                        <a:ea typeface="楷体" panose="02010609060101010101" pitchFamily="49" charset="-122"/>
                      </a:rPr>
                      <m:t>=</m:t>
                    </m:r>
                    <m:nary>
                      <m:naryPr>
                        <m:chr m:val="∑"/>
                        <m:limLoc m:val="subSup"/>
                        <m:ctrlPr>
                          <a:rPr lang="en-US" altLang="zh-CN" sz="2400" b="0" i="1" smtClean="0">
                            <a:solidFill>
                              <a:srgbClr val="0000FF"/>
                            </a:solidFill>
                            <a:latin typeface="Cambria Math" panose="02040503050406030204" pitchFamily="18" charset="0"/>
                            <a:ea typeface="楷体" panose="02010609060101010101" pitchFamily="49" charset="-122"/>
                          </a:rPr>
                        </m:ctrlPr>
                      </m:naryPr>
                      <m:sub>
                        <m:r>
                          <m:rPr>
                            <m:brk m:alnAt="25"/>
                          </m:rPr>
                          <a:rPr lang="en-US" altLang="zh-CN" sz="2400" b="0" i="1" smtClean="0">
                            <a:solidFill>
                              <a:srgbClr val="0000FF"/>
                            </a:solidFill>
                            <a:latin typeface="Cambria Math" panose="02040503050406030204" pitchFamily="18" charset="0"/>
                            <a:ea typeface="楷体" panose="02010609060101010101" pitchFamily="49" charset="-122"/>
                          </a:rPr>
                          <m:t>𝑘</m:t>
                        </m:r>
                        <m:r>
                          <a:rPr lang="en-US" altLang="zh-CN" sz="2400" b="0" i="1" smtClean="0">
                            <a:solidFill>
                              <a:srgbClr val="0000FF"/>
                            </a:solidFill>
                            <a:latin typeface="Cambria Math" panose="02040503050406030204" pitchFamily="18" charset="0"/>
                            <a:ea typeface="楷体" panose="02010609060101010101" pitchFamily="49" charset="-122"/>
                          </a:rPr>
                          <m:t>=−∞</m:t>
                        </m:r>
                      </m:sub>
                      <m:sup>
                        <m:r>
                          <a:rPr lang="en-US" altLang="zh-CN" sz="2400" b="0" i="1" smtClean="0">
                            <a:solidFill>
                              <a:srgbClr val="0000FF"/>
                            </a:solidFill>
                            <a:latin typeface="Cambria Math" panose="02040503050406030204" pitchFamily="18" charset="0"/>
                            <a:ea typeface="楷体" panose="02010609060101010101" pitchFamily="49" charset="-122"/>
                          </a:rPr>
                          <m:t>𝑛</m:t>
                        </m:r>
                      </m:sup>
                      <m:e>
                        <m:r>
                          <a:rPr lang="en-US" altLang="zh-CN" sz="2400" b="0" i="1" smtClean="0">
                            <a:solidFill>
                              <a:srgbClr val="0000FF"/>
                            </a:solidFill>
                            <a:latin typeface="Cambria Math" panose="02040503050406030204" pitchFamily="18" charset="0"/>
                            <a:ea typeface="楷体" panose="02010609060101010101" pitchFamily="49" charset="-122"/>
                          </a:rPr>
                          <m:t>𝑥</m:t>
                        </m:r>
                        <m:r>
                          <a:rPr lang="en-US" altLang="zh-CN" sz="2400" b="0" i="1" smtClean="0">
                            <a:solidFill>
                              <a:srgbClr val="0000FF"/>
                            </a:solidFill>
                            <a:latin typeface="Cambria Math" panose="02040503050406030204" pitchFamily="18" charset="0"/>
                            <a:ea typeface="楷体" panose="02010609060101010101" pitchFamily="49" charset="-122"/>
                          </a:rPr>
                          <m:t>[</m:t>
                        </m:r>
                        <m:r>
                          <a:rPr lang="en-US" altLang="zh-CN" sz="2400" b="0" i="1" smtClean="0">
                            <a:solidFill>
                              <a:srgbClr val="0000FF"/>
                            </a:solidFill>
                            <a:latin typeface="Cambria Math" panose="02040503050406030204" pitchFamily="18" charset="0"/>
                            <a:ea typeface="楷体" panose="02010609060101010101" pitchFamily="49" charset="-122"/>
                          </a:rPr>
                          <m:t>𝑘</m:t>
                        </m:r>
                        <m:r>
                          <a:rPr lang="en-US" altLang="zh-CN" sz="2400" b="0" i="1" smtClean="0">
                            <a:solidFill>
                              <a:srgbClr val="0000FF"/>
                            </a:solidFill>
                            <a:latin typeface="Cambria Math" panose="02040503050406030204" pitchFamily="18" charset="0"/>
                            <a:ea typeface="楷体" panose="02010609060101010101" pitchFamily="49" charset="-122"/>
                          </a:rPr>
                          <m:t>]</m:t>
                        </m:r>
                      </m:e>
                    </m:nary>
                  </m:oMath>
                </a14:m>
                <a:endParaRPr lang="en-US" sz="2400" dirty="0">
                  <a:solidFill>
                    <a:srgbClr val="0000FF"/>
                  </a:solidFill>
                  <a:latin typeface="Cambria Math" panose="02040503050406030204" pitchFamily="18" charset="0"/>
                  <a:ea typeface="楷体" panose="02010609060101010101" pitchFamily="49" charset="-122"/>
                </a:endParaRPr>
              </a:p>
            </p:txBody>
          </p:sp>
        </mc:Choice>
        <mc:Fallback xmlns="">
          <p:sp>
            <p:nvSpPr>
              <p:cNvPr id="15" name="文本框 14">
                <a:extLst>
                  <a:ext uri="{FF2B5EF4-FFF2-40B4-BE49-F238E27FC236}">
                    <a16:creationId xmlns:a16="http://schemas.microsoft.com/office/drawing/2014/main" id="{09AA4D3C-1274-48B8-91B5-FFC558D83232}"/>
                  </a:ext>
                </a:extLst>
              </p:cNvPr>
              <p:cNvSpPr txBox="1">
                <a:spLocks noRot="1" noChangeAspect="1" noMove="1" noResize="1" noEditPoints="1" noAdjustHandles="1" noChangeArrowheads="1" noChangeShapeType="1" noTextEdit="1"/>
              </p:cNvSpPr>
              <p:nvPr/>
            </p:nvSpPr>
            <p:spPr>
              <a:xfrm>
                <a:off x="457200" y="4245563"/>
                <a:ext cx="4380045" cy="461665"/>
              </a:xfrm>
              <a:prstGeom prst="rect">
                <a:avLst/>
              </a:prstGeom>
              <a:blipFill>
                <a:blip r:embed="rId7"/>
                <a:stretch>
                  <a:fillRect l="-2086" t="-128947" r="-139" b="-1960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ADE44C70-1844-48AB-96EC-08FC68B2E187}"/>
                  </a:ext>
                </a:extLst>
              </p:cNvPr>
              <p:cNvSpPr txBox="1"/>
              <p:nvPr/>
            </p:nvSpPr>
            <p:spPr>
              <a:xfrm>
                <a:off x="1043609" y="4797152"/>
                <a:ext cx="6506577" cy="461665"/>
              </a:xfrm>
              <a:prstGeom prst="rect">
                <a:avLst/>
              </a:prstGeom>
              <a:noFill/>
            </p:spPr>
            <p:txBody>
              <a:bodyPr wrap="square" rtlCol="0">
                <a:spAutoFit/>
              </a:bodyPr>
              <a:lstStyle/>
              <a:p>
                <a:r>
                  <a:rPr lang="zh-CN" altLang="en-US" sz="2400" dirty="0">
                    <a:latin typeface="Cambria Math" panose="02040503050406030204" pitchFamily="18" charset="0"/>
                    <a:ea typeface="楷体" panose="02010609060101010101" pitchFamily="49" charset="-122"/>
                  </a:rPr>
                  <a:t>其单位脉冲响应为：</a:t>
                </a:r>
                <a:r>
                  <a:rPr lang="en-US" altLang="zh-CN" sz="2400" b="0" dirty="0">
                    <a:solidFill>
                      <a:srgbClr val="0000FF"/>
                    </a:solidFill>
                    <a:ea typeface="楷体" panose="02010609060101010101" pitchFamily="49" charset="-122"/>
                  </a:rPr>
                  <a:t> </a:t>
                </a:r>
                <a14:m>
                  <m:oMath xmlns:m="http://schemas.openxmlformats.org/officeDocument/2006/math">
                    <m:r>
                      <a:rPr lang="en-US" altLang="zh-CN" sz="2400" b="0" i="1" smtClean="0">
                        <a:solidFill>
                          <a:srgbClr val="0000FF"/>
                        </a:solidFill>
                        <a:latin typeface="Cambria Math" panose="02040503050406030204" pitchFamily="18" charset="0"/>
                        <a:ea typeface="楷体" panose="02010609060101010101" pitchFamily="49" charset="-122"/>
                      </a:rPr>
                      <m:t>h</m:t>
                    </m:r>
                    <m:d>
                      <m:dPr>
                        <m:begChr m:val="["/>
                        <m:endChr m:val="]"/>
                        <m:ctrlPr>
                          <a:rPr lang="en-US" altLang="zh-CN" sz="2400" b="0" i="1" smtClean="0">
                            <a:solidFill>
                              <a:srgbClr val="0000FF"/>
                            </a:solidFill>
                            <a:latin typeface="Cambria Math" panose="02040503050406030204" pitchFamily="18" charset="0"/>
                            <a:ea typeface="楷体" panose="02010609060101010101" pitchFamily="49" charset="-122"/>
                          </a:rPr>
                        </m:ctrlPr>
                      </m:dPr>
                      <m:e>
                        <m:r>
                          <a:rPr lang="en-US" altLang="zh-CN" sz="2400" b="0" i="1" smtClean="0">
                            <a:solidFill>
                              <a:srgbClr val="0000FF"/>
                            </a:solidFill>
                            <a:latin typeface="Cambria Math" panose="02040503050406030204" pitchFamily="18" charset="0"/>
                            <a:ea typeface="楷体" panose="02010609060101010101" pitchFamily="49" charset="-122"/>
                          </a:rPr>
                          <m:t>𝑛</m:t>
                        </m:r>
                      </m:e>
                    </m:d>
                    <m:r>
                      <a:rPr lang="en-US" altLang="zh-CN" sz="2400" b="0" i="1" smtClean="0">
                        <a:solidFill>
                          <a:srgbClr val="0000FF"/>
                        </a:solidFill>
                        <a:latin typeface="Cambria Math" panose="02040503050406030204" pitchFamily="18" charset="0"/>
                        <a:ea typeface="楷体" panose="02010609060101010101" pitchFamily="49" charset="-122"/>
                      </a:rPr>
                      <m:t>=</m:t>
                    </m:r>
                    <m:nary>
                      <m:naryPr>
                        <m:chr m:val="∑"/>
                        <m:limLoc m:val="subSup"/>
                        <m:ctrlPr>
                          <a:rPr lang="en-US" altLang="zh-CN" sz="2400" b="0" i="1" smtClean="0">
                            <a:solidFill>
                              <a:srgbClr val="0000FF"/>
                            </a:solidFill>
                            <a:latin typeface="Cambria Math" panose="02040503050406030204" pitchFamily="18" charset="0"/>
                            <a:ea typeface="楷体" panose="02010609060101010101" pitchFamily="49" charset="-122"/>
                          </a:rPr>
                        </m:ctrlPr>
                      </m:naryPr>
                      <m:sub>
                        <m:r>
                          <m:rPr>
                            <m:brk m:alnAt="25"/>
                          </m:rPr>
                          <a:rPr lang="en-US" altLang="zh-CN" sz="2400" b="0" i="1" smtClean="0">
                            <a:solidFill>
                              <a:srgbClr val="0000FF"/>
                            </a:solidFill>
                            <a:latin typeface="Cambria Math" panose="02040503050406030204" pitchFamily="18" charset="0"/>
                            <a:ea typeface="楷体" panose="02010609060101010101" pitchFamily="49" charset="-122"/>
                          </a:rPr>
                          <m:t>𝑘</m:t>
                        </m:r>
                        <m:r>
                          <a:rPr lang="en-US" altLang="zh-CN" sz="2400" b="0" i="1" smtClean="0">
                            <a:solidFill>
                              <a:srgbClr val="0000FF"/>
                            </a:solidFill>
                            <a:latin typeface="Cambria Math" panose="02040503050406030204" pitchFamily="18" charset="0"/>
                            <a:ea typeface="楷体" panose="02010609060101010101" pitchFamily="49" charset="-122"/>
                          </a:rPr>
                          <m:t>=−∞</m:t>
                        </m:r>
                      </m:sub>
                      <m:sup>
                        <m:r>
                          <a:rPr lang="en-US" altLang="zh-CN" sz="2400" b="0" i="1" smtClean="0">
                            <a:solidFill>
                              <a:srgbClr val="0000FF"/>
                            </a:solidFill>
                            <a:latin typeface="Cambria Math" panose="02040503050406030204" pitchFamily="18" charset="0"/>
                            <a:ea typeface="楷体" panose="02010609060101010101" pitchFamily="49" charset="-122"/>
                          </a:rPr>
                          <m:t>𝑛</m:t>
                        </m:r>
                      </m:sup>
                      <m:e>
                        <m:r>
                          <a:rPr lang="zh-CN" altLang="en-US" sz="2400" b="0" i="1" smtClean="0">
                            <a:solidFill>
                              <a:srgbClr val="0000FF"/>
                            </a:solidFill>
                            <a:latin typeface="Cambria Math" panose="02040503050406030204" pitchFamily="18" charset="0"/>
                            <a:ea typeface="楷体" panose="02010609060101010101" pitchFamily="49" charset="-122"/>
                          </a:rPr>
                          <m:t>𝛿</m:t>
                        </m:r>
                        <m:r>
                          <a:rPr lang="en-US" altLang="zh-CN" sz="2400" b="0" i="1" smtClean="0">
                            <a:solidFill>
                              <a:srgbClr val="0000FF"/>
                            </a:solidFill>
                            <a:latin typeface="Cambria Math" panose="02040503050406030204" pitchFamily="18" charset="0"/>
                            <a:ea typeface="楷体" panose="02010609060101010101" pitchFamily="49" charset="-122"/>
                          </a:rPr>
                          <m:t>[</m:t>
                        </m:r>
                        <m:r>
                          <a:rPr lang="en-US" altLang="zh-CN" sz="2400" b="0" i="1" smtClean="0">
                            <a:solidFill>
                              <a:srgbClr val="0000FF"/>
                            </a:solidFill>
                            <a:latin typeface="Cambria Math" panose="02040503050406030204" pitchFamily="18" charset="0"/>
                            <a:ea typeface="楷体" panose="02010609060101010101" pitchFamily="49" charset="-122"/>
                          </a:rPr>
                          <m:t>𝑘</m:t>
                        </m:r>
                        <m:r>
                          <a:rPr lang="en-US" altLang="zh-CN" sz="2400" b="0" i="1" smtClean="0">
                            <a:solidFill>
                              <a:srgbClr val="0000FF"/>
                            </a:solidFill>
                            <a:latin typeface="Cambria Math" panose="02040503050406030204" pitchFamily="18" charset="0"/>
                            <a:ea typeface="楷体" panose="02010609060101010101" pitchFamily="49" charset="-122"/>
                          </a:rPr>
                          <m:t>]</m:t>
                        </m:r>
                      </m:e>
                    </m:nary>
                    <m:r>
                      <a:rPr lang="en-US" altLang="zh-CN" sz="2400" b="0" i="1" smtClean="0">
                        <a:solidFill>
                          <a:srgbClr val="0000FF"/>
                        </a:solidFill>
                        <a:latin typeface="Cambria Math" panose="02040503050406030204" pitchFamily="18" charset="0"/>
                        <a:ea typeface="楷体" panose="02010609060101010101" pitchFamily="49" charset="-122"/>
                      </a:rPr>
                      <m:t>=</m:t>
                    </m:r>
                    <m:r>
                      <a:rPr lang="en-US" altLang="zh-CN" sz="2400" b="0" i="1" smtClean="0">
                        <a:solidFill>
                          <a:srgbClr val="0000FF"/>
                        </a:solidFill>
                        <a:latin typeface="Cambria Math" panose="02040503050406030204" pitchFamily="18" charset="0"/>
                        <a:ea typeface="楷体" panose="02010609060101010101" pitchFamily="49" charset="-122"/>
                      </a:rPr>
                      <m:t>𝑢</m:t>
                    </m:r>
                    <m:r>
                      <a:rPr lang="en-US" altLang="zh-CN" sz="2400" b="0" i="1" smtClean="0">
                        <a:solidFill>
                          <a:srgbClr val="0000FF"/>
                        </a:solidFill>
                        <a:latin typeface="Cambria Math" panose="02040503050406030204" pitchFamily="18" charset="0"/>
                        <a:ea typeface="楷体" panose="02010609060101010101" pitchFamily="49" charset="-122"/>
                      </a:rPr>
                      <m:t>[</m:t>
                    </m:r>
                    <m:r>
                      <a:rPr lang="en-US" altLang="zh-CN" sz="2400" b="0" i="1" smtClean="0">
                        <a:solidFill>
                          <a:srgbClr val="0000FF"/>
                        </a:solidFill>
                        <a:latin typeface="Cambria Math" panose="02040503050406030204" pitchFamily="18" charset="0"/>
                        <a:ea typeface="楷体" panose="02010609060101010101" pitchFamily="49" charset="-122"/>
                      </a:rPr>
                      <m:t>𝑛</m:t>
                    </m:r>
                    <m:r>
                      <a:rPr lang="en-US" altLang="zh-CN" sz="2400" b="0" i="1" smtClean="0">
                        <a:solidFill>
                          <a:srgbClr val="0000FF"/>
                        </a:solidFill>
                        <a:latin typeface="Cambria Math" panose="02040503050406030204" pitchFamily="18" charset="0"/>
                        <a:ea typeface="楷体" panose="02010609060101010101" pitchFamily="49" charset="-122"/>
                      </a:rPr>
                      <m:t>]</m:t>
                    </m:r>
                  </m:oMath>
                </a14:m>
                <a:endParaRPr lang="en-US" sz="2400" dirty="0">
                  <a:latin typeface="Cambria Math" panose="02040503050406030204" pitchFamily="18" charset="0"/>
                  <a:ea typeface="楷体" panose="02010609060101010101" pitchFamily="49" charset="-122"/>
                </a:endParaRPr>
              </a:p>
            </p:txBody>
          </p:sp>
        </mc:Choice>
        <mc:Fallback xmlns="">
          <p:sp>
            <p:nvSpPr>
              <p:cNvPr id="16" name="文本框 15">
                <a:extLst>
                  <a:ext uri="{FF2B5EF4-FFF2-40B4-BE49-F238E27FC236}">
                    <a16:creationId xmlns:a16="http://schemas.microsoft.com/office/drawing/2014/main" id="{ADE44C70-1844-48AB-96EC-08FC68B2E187}"/>
                  </a:ext>
                </a:extLst>
              </p:cNvPr>
              <p:cNvSpPr txBox="1">
                <a:spLocks noRot="1" noChangeAspect="1" noMove="1" noResize="1" noEditPoints="1" noAdjustHandles="1" noChangeArrowheads="1" noChangeShapeType="1" noTextEdit="1"/>
              </p:cNvSpPr>
              <p:nvPr/>
            </p:nvSpPr>
            <p:spPr>
              <a:xfrm>
                <a:off x="1043609" y="4797152"/>
                <a:ext cx="6506577" cy="461665"/>
              </a:xfrm>
              <a:prstGeom prst="rect">
                <a:avLst/>
              </a:prstGeom>
              <a:blipFill>
                <a:blip r:embed="rId8"/>
                <a:stretch>
                  <a:fillRect l="-1404" t="-128947" b="-1960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FD1AD658-CA11-49D6-BFB5-DAFB67A48096}"/>
                  </a:ext>
                </a:extLst>
              </p:cNvPr>
              <p:cNvSpPr txBox="1"/>
              <p:nvPr/>
            </p:nvSpPr>
            <p:spPr>
              <a:xfrm>
                <a:off x="5508104" y="5326188"/>
                <a:ext cx="30938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00FF"/>
                          </a:solidFill>
                          <a:latin typeface="Cambria Math" panose="02040503050406030204" pitchFamily="18" charset="0"/>
                          <a:ea typeface="Cambria Math" panose="02040503050406030204" pitchFamily="18" charset="0"/>
                        </a:rPr>
                        <m:t>⇓</m:t>
                      </m:r>
                    </m:oMath>
                  </m:oMathPara>
                </a14:m>
                <a:endParaRPr lang="en-US" sz="2800" dirty="0">
                  <a:solidFill>
                    <a:srgbClr val="0000FF"/>
                  </a:solidFill>
                </a:endParaRPr>
              </a:p>
            </p:txBody>
          </p:sp>
        </mc:Choice>
        <mc:Fallback xmlns="">
          <p:sp>
            <p:nvSpPr>
              <p:cNvPr id="18" name="文本框 17">
                <a:extLst>
                  <a:ext uri="{FF2B5EF4-FFF2-40B4-BE49-F238E27FC236}">
                    <a16:creationId xmlns:a16="http://schemas.microsoft.com/office/drawing/2014/main" id="{FD1AD658-CA11-49D6-BFB5-DAFB67A48096}"/>
                  </a:ext>
                </a:extLst>
              </p:cNvPr>
              <p:cNvSpPr txBox="1">
                <a:spLocks noRot="1" noChangeAspect="1" noMove="1" noResize="1" noEditPoints="1" noAdjustHandles="1" noChangeArrowheads="1" noChangeShapeType="1" noTextEdit="1"/>
              </p:cNvSpPr>
              <p:nvPr/>
            </p:nvSpPr>
            <p:spPr>
              <a:xfrm>
                <a:off x="5508104" y="5326188"/>
                <a:ext cx="309380" cy="43088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810540C5-19FB-4DEC-B6A3-71A665251B0B}"/>
                  </a:ext>
                </a:extLst>
              </p:cNvPr>
              <p:cNvSpPr txBox="1"/>
              <p:nvPr/>
            </p:nvSpPr>
            <p:spPr>
              <a:xfrm>
                <a:off x="3869295" y="5794965"/>
                <a:ext cx="3586997" cy="460254"/>
              </a:xfrm>
              <a:prstGeom prst="rect">
                <a:avLst/>
              </a:prstGeom>
              <a:noFill/>
              <a:ln w="25400">
                <a:solidFill>
                  <a:srgbClr val="FF0000"/>
                </a:solidFill>
              </a:ln>
            </p:spPr>
            <p:txBody>
              <a:bodyPr wrap="square">
                <a:spAutoFit/>
              </a:bodyPr>
              <a:lstStyle/>
              <a:p>
                <a:pPr algn="ctr"/>
                <a14:m>
                  <m:oMath xmlns:m="http://schemas.openxmlformats.org/officeDocument/2006/math">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𝑥</m:t>
                    </m:r>
                    <m:d>
                      <m:dPr>
                        <m:begChr m:val="["/>
                        <m:endChr m:val="]"/>
                        <m:ctrlP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ctrlPr>
                      </m:dPr>
                      <m:e>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𝑛</m:t>
                        </m:r>
                      </m:e>
                    </m:d>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m:t>
                    </m:r>
                    <m:r>
                      <a:rPr lang="en-US" altLang="zh-CN" sz="2400" b="0" i="1" smtClean="0">
                        <a:solidFill>
                          <a:srgbClr val="FF0000"/>
                        </a:solidFill>
                        <a:latin typeface="Cambria Math" panose="02040503050406030204" pitchFamily="18" charset="0"/>
                        <a:ea typeface="楷体" panose="02010609060101010101" pitchFamily="49" charset="-122"/>
                      </a:rPr>
                      <m:t>𝑢</m:t>
                    </m:r>
                    <m:d>
                      <m:dPr>
                        <m:begChr m:val="["/>
                        <m:endChr m:val="]"/>
                        <m:ctrlPr>
                          <a:rPr lang="en-US" altLang="zh-CN" sz="2400" b="0" i="1" smtClean="0">
                            <a:solidFill>
                              <a:srgbClr val="FF0000"/>
                            </a:solidFill>
                            <a:latin typeface="Cambria Math" panose="02040503050406030204" pitchFamily="18" charset="0"/>
                            <a:ea typeface="楷体" panose="02010609060101010101" pitchFamily="49" charset="-122"/>
                          </a:rPr>
                        </m:ctrlPr>
                      </m:dPr>
                      <m:e>
                        <m:r>
                          <a:rPr lang="en-US" altLang="zh-CN" sz="2400" b="0" i="1" smtClean="0">
                            <a:solidFill>
                              <a:srgbClr val="FF0000"/>
                            </a:solidFill>
                            <a:latin typeface="Cambria Math" panose="02040503050406030204" pitchFamily="18" charset="0"/>
                            <a:ea typeface="楷体" panose="02010609060101010101" pitchFamily="49" charset="-122"/>
                          </a:rPr>
                          <m:t>𝑛</m:t>
                        </m:r>
                      </m:e>
                    </m:d>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m:t>
                    </m:r>
                    <m:nary>
                      <m:naryPr>
                        <m:chr m:val="∑"/>
                        <m:limLoc m:val="subSup"/>
                        <m:ctrlPr>
                          <a:rPr lang="en-US" altLang="zh-CN" sz="2400" i="1">
                            <a:solidFill>
                              <a:srgbClr val="0000FF"/>
                            </a:solidFill>
                            <a:latin typeface="Cambria Math" panose="02040503050406030204" pitchFamily="18" charset="0"/>
                            <a:ea typeface="楷体" panose="02010609060101010101" pitchFamily="49" charset="-122"/>
                          </a:rPr>
                        </m:ctrlPr>
                      </m:naryPr>
                      <m:sub>
                        <m:r>
                          <m:rPr>
                            <m:brk m:alnAt="25"/>
                          </m:rPr>
                          <a:rPr lang="en-US" altLang="zh-CN" sz="2400" i="1">
                            <a:solidFill>
                              <a:srgbClr val="0000FF"/>
                            </a:solidFill>
                            <a:latin typeface="Cambria Math" panose="02040503050406030204" pitchFamily="18" charset="0"/>
                            <a:ea typeface="楷体" panose="02010609060101010101" pitchFamily="49" charset="-122"/>
                          </a:rPr>
                          <m:t>𝑘</m:t>
                        </m:r>
                        <m:r>
                          <a:rPr lang="en-US" altLang="zh-CN" sz="2400" i="1">
                            <a:solidFill>
                              <a:srgbClr val="0000FF"/>
                            </a:solidFill>
                            <a:latin typeface="Cambria Math" panose="02040503050406030204" pitchFamily="18" charset="0"/>
                            <a:ea typeface="楷体" panose="02010609060101010101" pitchFamily="49" charset="-122"/>
                          </a:rPr>
                          <m:t>=−∞</m:t>
                        </m:r>
                      </m:sub>
                      <m:sup>
                        <m:r>
                          <a:rPr lang="en-US" altLang="zh-CN" sz="2400" i="1">
                            <a:solidFill>
                              <a:srgbClr val="0000FF"/>
                            </a:solidFill>
                            <a:latin typeface="Cambria Math" panose="02040503050406030204" pitchFamily="18" charset="0"/>
                            <a:ea typeface="楷体" panose="02010609060101010101" pitchFamily="49" charset="-122"/>
                          </a:rPr>
                          <m:t>𝑛</m:t>
                        </m:r>
                      </m:sup>
                      <m:e>
                        <m:r>
                          <a:rPr lang="en-US" altLang="zh-CN" sz="2400" i="1">
                            <a:solidFill>
                              <a:srgbClr val="0000FF"/>
                            </a:solidFill>
                            <a:latin typeface="Cambria Math" panose="02040503050406030204" pitchFamily="18" charset="0"/>
                            <a:ea typeface="楷体" panose="02010609060101010101" pitchFamily="49" charset="-122"/>
                          </a:rPr>
                          <m:t>𝑥</m:t>
                        </m:r>
                        <m:d>
                          <m:dPr>
                            <m:begChr m:val="["/>
                            <m:endChr m:val="]"/>
                            <m:ctrlPr>
                              <a:rPr lang="en-US" altLang="zh-CN" sz="2400" i="1">
                                <a:solidFill>
                                  <a:srgbClr val="0000FF"/>
                                </a:solidFill>
                                <a:latin typeface="Cambria Math" panose="02040503050406030204" pitchFamily="18" charset="0"/>
                                <a:ea typeface="楷体" panose="02010609060101010101" pitchFamily="49" charset="-122"/>
                              </a:rPr>
                            </m:ctrlPr>
                          </m:dPr>
                          <m:e>
                            <m:r>
                              <a:rPr lang="en-US" altLang="zh-CN" sz="2400" i="1">
                                <a:solidFill>
                                  <a:srgbClr val="0000FF"/>
                                </a:solidFill>
                                <a:latin typeface="Cambria Math" panose="02040503050406030204" pitchFamily="18" charset="0"/>
                                <a:ea typeface="楷体" panose="02010609060101010101" pitchFamily="49" charset="-122"/>
                              </a:rPr>
                              <m:t>𝑘</m:t>
                            </m:r>
                          </m:e>
                        </m:d>
                      </m:e>
                    </m:nary>
                  </m:oMath>
                </a14:m>
                <a:r>
                  <a:rPr lang="en-US" dirty="0"/>
                  <a:t> </a:t>
                </a:r>
              </a:p>
            </p:txBody>
          </p:sp>
        </mc:Choice>
        <mc:Fallback xmlns="">
          <p:sp>
            <p:nvSpPr>
              <p:cNvPr id="19" name="文本框 18">
                <a:extLst>
                  <a:ext uri="{FF2B5EF4-FFF2-40B4-BE49-F238E27FC236}">
                    <a16:creationId xmlns:a16="http://schemas.microsoft.com/office/drawing/2014/main" id="{810540C5-19FB-4DEC-B6A3-71A665251B0B}"/>
                  </a:ext>
                </a:extLst>
              </p:cNvPr>
              <p:cNvSpPr txBox="1">
                <a:spLocks noRot="1" noChangeAspect="1" noMove="1" noResize="1" noEditPoints="1" noAdjustHandles="1" noChangeArrowheads="1" noChangeShapeType="1" noTextEdit="1"/>
              </p:cNvSpPr>
              <p:nvPr/>
            </p:nvSpPr>
            <p:spPr>
              <a:xfrm>
                <a:off x="3869295" y="5794965"/>
                <a:ext cx="3586997" cy="460254"/>
              </a:xfrm>
              <a:prstGeom prst="rect">
                <a:avLst/>
              </a:prstGeom>
              <a:blipFill>
                <a:blip r:embed="rId10"/>
                <a:stretch>
                  <a:fillRect t="-121519" b="-187342"/>
                </a:stretch>
              </a:blipFill>
              <a:ln w="25400">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16839884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75" name="标题 1">
            <a:extLst>
              <a:ext uri="{FF2B5EF4-FFF2-40B4-BE49-F238E27FC236}">
                <a16:creationId xmlns:a16="http://schemas.microsoft.com/office/drawing/2014/main" id="{85DB0EF0-E265-410B-90FE-43AB61794387}"/>
              </a:ext>
            </a:extLst>
          </p:cNvPr>
          <p:cNvSpPr>
            <a:spLocks noGrp="1"/>
          </p:cNvSpPr>
          <p:nvPr>
            <p:ph type="title"/>
          </p:nvPr>
        </p:nvSpPr>
        <p:spPr/>
        <p:txBody>
          <a:bodyPr/>
          <a:lstStyle/>
          <a:p>
            <a:pPr eaLnBrk="1" hangingPunct="1"/>
            <a:r>
              <a:rPr lang="en-US" altLang="zh-CN"/>
              <a:t>1.4  </a:t>
            </a:r>
            <a:r>
              <a:rPr lang="zh-CN" altLang="en-US"/>
              <a:t>单位冲激与单位阶跃函数</a:t>
            </a:r>
          </a:p>
        </p:txBody>
      </p:sp>
      <p:sp>
        <p:nvSpPr>
          <p:cNvPr id="4" name="灯片编号占位符 3">
            <a:extLst>
              <a:ext uri="{FF2B5EF4-FFF2-40B4-BE49-F238E27FC236}">
                <a16:creationId xmlns:a16="http://schemas.microsoft.com/office/drawing/2014/main" id="{25596D45-C4D2-4DF5-9E4B-0B5EE2BABFD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5D8C005-C839-4F00-A4EF-2F43ADA1FC9E}"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9477" name="Text Box 15">
                <a:extLst>
                  <a:ext uri="{FF2B5EF4-FFF2-40B4-BE49-F238E27FC236}">
                    <a16:creationId xmlns:a16="http://schemas.microsoft.com/office/drawing/2014/main" id="{312A580A-7990-4E4B-B888-CFB463C7A933}"/>
                  </a:ext>
                </a:extLst>
              </p:cNvPr>
              <p:cNvSpPr txBox="1">
                <a:spLocks noChangeArrowheads="1"/>
              </p:cNvSpPr>
              <p:nvPr/>
            </p:nvSpPr>
            <p:spPr bwMode="auto">
              <a:xfrm>
                <a:off x="323528" y="1355145"/>
                <a:ext cx="3493200"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defRPr/>
                </a:pPr>
                <a14:m>
                  <m:oMath xmlns:m="http://schemas.openxmlformats.org/officeDocument/2006/math">
                    <m:r>
                      <a:rPr lang="en-US" sz="2400" b="0" i="1" smtClean="0">
                        <a:solidFill>
                          <a:schemeClr val="tx1"/>
                        </a:solidFill>
                        <a:latin typeface="Cambria Math" panose="02040503050406030204" pitchFamily="18" charset="0"/>
                      </a:rPr>
                      <m:t>𝛿</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oMath>
                </a14:m>
                <a:r>
                  <a:rPr kumimoji="0" lang="zh-CN" altLang="en-US" sz="240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rPr>
                  <a:t>与</a:t>
                </a:r>
                <a14:m>
                  <m:oMath xmlns:m="http://schemas.openxmlformats.org/officeDocument/2006/math">
                    <m:r>
                      <a:rPr lang="en-US" sz="2400" b="0" i="1">
                        <a:solidFill>
                          <a:schemeClr val="tx1"/>
                        </a:solidFill>
                        <a:latin typeface="Cambria Math" panose="02040503050406030204" pitchFamily="18" charset="0"/>
                      </a:rPr>
                      <m:t>𝑢</m:t>
                    </m:r>
                    <m:r>
                      <a:rPr lang="en-US" sz="2400" b="0" i="1" smtClean="0">
                        <a:solidFill>
                          <a:schemeClr val="tx1"/>
                        </a:solidFill>
                        <a:latin typeface="Cambria Math" panose="02040503050406030204" pitchFamily="18" charset="0"/>
                      </a:rPr>
                      <m:t>[</m:t>
                    </m:r>
                    <m:r>
                      <a:rPr lang="en-US" sz="2400" b="0" i="1">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oMath>
                </a14:m>
                <a:r>
                  <a:rPr kumimoji="0" lang="zh-CN" altLang="en-US" sz="240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rPr>
                  <a:t>之间的关系：</a:t>
                </a:r>
              </a:p>
            </p:txBody>
          </p:sp>
        </mc:Choice>
        <mc:Fallback xmlns="">
          <p:sp>
            <p:nvSpPr>
              <p:cNvPr id="19477" name="Text Box 15">
                <a:extLst>
                  <a:ext uri="{FF2B5EF4-FFF2-40B4-BE49-F238E27FC236}">
                    <a16:creationId xmlns:a16="http://schemas.microsoft.com/office/drawing/2014/main" id="{312A580A-7990-4E4B-B888-CFB463C7A933}"/>
                  </a:ext>
                </a:extLst>
              </p:cNvPr>
              <p:cNvSpPr txBox="1">
                <a:spLocks noRot="1" noChangeAspect="1" noMove="1" noResize="1" noEditPoints="1" noAdjustHandles="1" noChangeArrowheads="1" noChangeShapeType="1" noTextEdit="1"/>
              </p:cNvSpPr>
              <p:nvPr/>
            </p:nvSpPr>
            <p:spPr bwMode="auto">
              <a:xfrm>
                <a:off x="323528" y="1355145"/>
                <a:ext cx="3493200" cy="461665"/>
              </a:xfrm>
              <a:prstGeom prst="rect">
                <a:avLst/>
              </a:prstGeom>
              <a:blipFill>
                <a:blip r:embed="rId2"/>
                <a:stretch>
                  <a:fillRect l="-524" t="-10526" r="-1745" b="-2894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461" name="Object 5">
                <a:extLst>
                  <a:ext uri="{FF2B5EF4-FFF2-40B4-BE49-F238E27FC236}">
                    <a16:creationId xmlns:a16="http://schemas.microsoft.com/office/drawing/2014/main" id="{ECA16958-9E1A-4425-9491-D97503131AF0}"/>
                  </a:ext>
                </a:extLst>
              </p:cNvPr>
              <p:cNvSpPr txBox="1"/>
              <p:nvPr/>
            </p:nvSpPr>
            <p:spPr bwMode="auto">
              <a:xfrm>
                <a:off x="827169" y="2904506"/>
                <a:ext cx="2706067" cy="110055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FF0000"/>
                          </a:solidFill>
                          <a:latin typeface="Cambria Math" panose="02040503050406030204" pitchFamily="18" charset="0"/>
                        </a:rPr>
                        <m:t>𝑢</m:t>
                      </m:r>
                      <m:d>
                        <m:dPr>
                          <m:begChr m:val="["/>
                          <m:endChr m:val="]"/>
                          <m:ctrlPr>
                            <a:rPr lang="en-US" sz="2400" b="0" i="1" smtClean="0">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𝑛</m:t>
                          </m:r>
                        </m:e>
                      </m:d>
                      <m:r>
                        <a:rPr lang="en-US" sz="2400" i="1">
                          <a:solidFill>
                            <a:srgbClr val="FF0000"/>
                          </a:solidFill>
                          <a:latin typeface="Cambria Math" panose="02040503050406030204" pitchFamily="18" charset="0"/>
                        </a:rPr>
                        <m:t>=</m:t>
                      </m:r>
                      <m:nary>
                        <m:naryPr>
                          <m:chr m:val="∑"/>
                          <m:ctrlPr>
                            <a:rPr lang="en-US" sz="2400" i="1">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𝑚</m:t>
                          </m:r>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𝑛</m:t>
                          </m:r>
                        </m:sup>
                        <m:e>
                          <m:r>
                            <a:rPr lang="en-US" sz="2400" i="1">
                              <a:solidFill>
                                <a:srgbClr val="FF0000"/>
                              </a:solidFill>
                              <a:latin typeface="Cambria Math" panose="02040503050406030204" pitchFamily="18" charset="0"/>
                            </a:rPr>
                            <m:t>𝛿</m:t>
                          </m:r>
                          <m:d>
                            <m:dPr>
                              <m:begChr m:val="["/>
                              <m:endChr m:val="]"/>
                              <m:ctrlPr>
                                <a:rPr lang="en-US" sz="2400" i="1">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𝑚</m:t>
                              </m:r>
                            </m:e>
                          </m:d>
                        </m:e>
                      </m:nary>
                    </m:oMath>
                  </m:oMathPara>
                </a14:m>
                <a:endParaRPr lang="en-US" sz="2400" dirty="0">
                  <a:solidFill>
                    <a:srgbClr val="FF0000"/>
                  </a:solidFill>
                </a:endParaRPr>
              </a:p>
            </p:txBody>
          </p:sp>
        </mc:Choice>
        <mc:Fallback xmlns="">
          <p:sp>
            <p:nvSpPr>
              <p:cNvPr id="19461" name="Object 5">
                <a:extLst>
                  <a:ext uri="{FF2B5EF4-FFF2-40B4-BE49-F238E27FC236}">
                    <a16:creationId xmlns:a16="http://schemas.microsoft.com/office/drawing/2014/main" id="{ECA16958-9E1A-4425-9491-D97503131AF0}"/>
                  </a:ext>
                </a:extLst>
              </p:cNvPr>
              <p:cNvSpPr txBox="1">
                <a:spLocks noRot="1" noChangeAspect="1" noMove="1" noResize="1" noEditPoints="1" noAdjustHandles="1" noChangeArrowheads="1" noChangeShapeType="1" noTextEdit="1"/>
              </p:cNvSpPr>
              <p:nvPr/>
            </p:nvSpPr>
            <p:spPr bwMode="auto">
              <a:xfrm>
                <a:off x="827169" y="2904506"/>
                <a:ext cx="2706067" cy="1100558"/>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bject 3">
                <a:extLst>
                  <a:ext uri="{FF2B5EF4-FFF2-40B4-BE49-F238E27FC236}">
                    <a16:creationId xmlns:a16="http://schemas.microsoft.com/office/drawing/2014/main" id="{2EEE3D0E-41B2-4231-8BCE-27256FCB9C34}"/>
                  </a:ext>
                </a:extLst>
              </p:cNvPr>
              <p:cNvSpPr txBox="1"/>
              <p:nvPr/>
            </p:nvSpPr>
            <p:spPr bwMode="auto">
              <a:xfrm>
                <a:off x="808813" y="2000627"/>
                <a:ext cx="3199607" cy="48938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a:solidFill>
                            <a:srgbClr val="FF0000"/>
                          </a:solidFill>
                          <a:latin typeface="Cambria Math" panose="02040503050406030204" pitchFamily="18" charset="0"/>
                        </a:rPr>
                        <m:t>𝛿</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𝑛</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𝑢</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𝑛</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𝑢</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𝑛</m:t>
                      </m:r>
                      <m:r>
                        <a:rPr lang="en-US" sz="2400" i="1">
                          <a:solidFill>
                            <a:srgbClr val="FF0000"/>
                          </a:solidFill>
                          <a:latin typeface="Cambria Math" panose="02040503050406030204" pitchFamily="18" charset="0"/>
                        </a:rPr>
                        <m:t>−1]</m:t>
                      </m:r>
                    </m:oMath>
                  </m:oMathPara>
                </a14:m>
                <a:endParaRPr lang="en-US" sz="2400" dirty="0"/>
              </a:p>
            </p:txBody>
          </p:sp>
        </mc:Choice>
        <mc:Fallback xmlns="">
          <p:sp>
            <p:nvSpPr>
              <p:cNvPr id="35" name="Object 3">
                <a:extLst>
                  <a:ext uri="{FF2B5EF4-FFF2-40B4-BE49-F238E27FC236}">
                    <a16:creationId xmlns:a16="http://schemas.microsoft.com/office/drawing/2014/main" id="{2EEE3D0E-41B2-4231-8BCE-27256FCB9C34}"/>
                  </a:ext>
                </a:extLst>
              </p:cNvPr>
              <p:cNvSpPr txBox="1">
                <a:spLocks noRot="1" noChangeAspect="1" noMove="1" noResize="1" noEditPoints="1" noAdjustHandles="1" noChangeArrowheads="1" noChangeShapeType="1" noTextEdit="1"/>
              </p:cNvSpPr>
              <p:nvPr/>
            </p:nvSpPr>
            <p:spPr bwMode="auto">
              <a:xfrm>
                <a:off x="808813" y="2000627"/>
                <a:ext cx="3199607" cy="489382"/>
              </a:xfrm>
              <a:prstGeom prst="rect">
                <a:avLst/>
              </a:prstGeom>
              <a:blipFill>
                <a:blip r:embed="rId4"/>
                <a:stretch>
                  <a:fillRect l="-571" r="-1333" b="-1375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2DD01DC7-8F0E-4DAD-9A3A-21B7F8E12491}"/>
                  </a:ext>
                </a:extLst>
              </p:cNvPr>
              <p:cNvSpPr txBox="1"/>
              <p:nvPr/>
            </p:nvSpPr>
            <p:spPr>
              <a:xfrm>
                <a:off x="1381208" y="4705604"/>
                <a:ext cx="2444750" cy="10996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panose="02040503050406030204" pitchFamily="18" charset="0"/>
                        </a:rPr>
                        <m:t>=</m:t>
                      </m:r>
                      <m:nary>
                        <m:naryPr>
                          <m:chr m:val="∑"/>
                          <m:ctrlPr>
                            <a:rPr lang="en-US" sz="2400" i="1">
                              <a:solidFill>
                                <a:srgbClr val="FF0000"/>
                              </a:solidFill>
                              <a:latin typeface="Cambria Math" panose="02040503050406030204" pitchFamily="18" charset="0"/>
                            </a:rPr>
                          </m:ctrlPr>
                        </m:naryPr>
                        <m:sub>
                          <m:r>
                            <a:rPr lang="en-US" sz="2400" b="0" i="1" smtClean="0">
                              <a:solidFill>
                                <a:srgbClr val="FF0000"/>
                              </a:solidFill>
                              <a:latin typeface="Cambria Math" panose="02040503050406030204" pitchFamily="18" charset="0"/>
                            </a:rPr>
                            <m:t>𝑚</m:t>
                          </m:r>
                          <m:r>
                            <a:rPr lang="en-US" sz="2400" i="1">
                              <a:solidFill>
                                <a:srgbClr val="FF0000"/>
                              </a:solidFill>
                              <a:latin typeface="Cambria Math" panose="02040503050406030204" pitchFamily="18" charset="0"/>
                            </a:rPr>
                            <m:t>=0</m:t>
                          </m:r>
                        </m:sub>
                        <m:sup>
                          <m:r>
                            <a:rPr lang="en-US" sz="2400" i="1">
                              <a:solidFill>
                                <a:srgbClr val="FF0000"/>
                              </a:solidFill>
                              <a:latin typeface="Cambria Math" panose="02040503050406030204" pitchFamily="18" charset="0"/>
                            </a:rPr>
                            <m:t>∞</m:t>
                          </m:r>
                        </m:sup>
                        <m:e>
                          <m:r>
                            <a:rPr lang="en-US" sz="2400" i="1">
                              <a:solidFill>
                                <a:srgbClr val="FF0000"/>
                              </a:solidFill>
                              <a:latin typeface="Cambria Math" panose="02040503050406030204" pitchFamily="18" charset="0"/>
                            </a:rPr>
                            <m:t>𝛿</m:t>
                          </m:r>
                          <m:r>
                            <a:rPr lang="en-US" sz="2400" b="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𝑛</m:t>
                          </m:r>
                          <m:r>
                            <a:rPr lang="en-US" sz="2400" i="1">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𝑚</m:t>
                          </m:r>
                          <m:r>
                            <a:rPr lang="en-US" sz="2400" b="0" i="1" smtClean="0">
                              <a:solidFill>
                                <a:srgbClr val="FF0000"/>
                              </a:solidFill>
                              <a:latin typeface="Cambria Math" panose="02040503050406030204" pitchFamily="18" charset="0"/>
                            </a:rPr>
                            <m:t>]</m:t>
                          </m:r>
                        </m:e>
                      </m:nary>
                    </m:oMath>
                  </m:oMathPara>
                </a14:m>
                <a:endParaRPr lang="en-US" sz="2400" dirty="0"/>
              </a:p>
            </p:txBody>
          </p:sp>
        </mc:Choice>
        <mc:Fallback xmlns="">
          <p:sp>
            <p:nvSpPr>
              <p:cNvPr id="43" name="文本框 42">
                <a:extLst>
                  <a:ext uri="{FF2B5EF4-FFF2-40B4-BE49-F238E27FC236}">
                    <a16:creationId xmlns:a16="http://schemas.microsoft.com/office/drawing/2014/main" id="{2DD01DC7-8F0E-4DAD-9A3A-21B7F8E12491}"/>
                  </a:ext>
                </a:extLst>
              </p:cNvPr>
              <p:cNvSpPr txBox="1">
                <a:spLocks noRot="1" noChangeAspect="1" noMove="1" noResize="1" noEditPoints="1" noAdjustHandles="1" noChangeArrowheads="1" noChangeShapeType="1" noTextEdit="1"/>
              </p:cNvSpPr>
              <p:nvPr/>
            </p:nvSpPr>
            <p:spPr>
              <a:xfrm>
                <a:off x="1381208" y="4705604"/>
                <a:ext cx="2444750" cy="1099660"/>
              </a:xfrm>
              <a:prstGeom prst="rect">
                <a:avLst/>
              </a:prstGeom>
              <a:blipFill>
                <a:blip r:embed="rId5"/>
                <a:stretch>
                  <a:fillRect/>
                </a:stretch>
              </a:blipFill>
            </p:spPr>
            <p:txBody>
              <a:bodyPr/>
              <a:lstStyle/>
              <a:p>
                <a:r>
                  <a:rPr lang="en-US">
                    <a:noFill/>
                  </a:rPr>
                  <a:t> </a:t>
                </a:r>
              </a:p>
            </p:txBody>
          </p:sp>
        </mc:Fallback>
      </mc:AlternateContent>
      <p:pic>
        <p:nvPicPr>
          <p:cNvPr id="19" name="图片 18">
            <a:extLst>
              <a:ext uri="{FF2B5EF4-FFF2-40B4-BE49-F238E27FC236}">
                <a16:creationId xmlns:a16="http://schemas.microsoft.com/office/drawing/2014/main" id="{51F5AE5C-F002-46A7-B22C-1607AD8B2838}"/>
              </a:ext>
            </a:extLst>
          </p:cNvPr>
          <p:cNvPicPr>
            <a:picLocks noChangeAspect="1"/>
          </p:cNvPicPr>
          <p:nvPr/>
        </p:nvPicPr>
        <p:blipFill>
          <a:blip r:embed="rId6"/>
          <a:stretch>
            <a:fillRect/>
          </a:stretch>
        </p:blipFill>
        <p:spPr>
          <a:xfrm>
            <a:off x="4458900" y="5096604"/>
            <a:ext cx="4030980" cy="708660"/>
          </a:xfrm>
          <a:prstGeom prst="rect">
            <a:avLst/>
          </a:prstGeom>
        </p:spPr>
      </p:pic>
      <p:cxnSp>
        <p:nvCxnSpPr>
          <p:cNvPr id="54" name="直接箭头连接符 53">
            <a:extLst>
              <a:ext uri="{FF2B5EF4-FFF2-40B4-BE49-F238E27FC236}">
                <a16:creationId xmlns:a16="http://schemas.microsoft.com/office/drawing/2014/main" id="{11BF0593-7D65-4873-9A80-11667070B5C6}"/>
              </a:ext>
            </a:extLst>
          </p:cNvPr>
          <p:cNvCxnSpPr/>
          <p:nvPr/>
        </p:nvCxnSpPr>
        <p:spPr>
          <a:xfrm flipV="1">
            <a:off x="6488108" y="4575952"/>
            <a:ext cx="0" cy="112294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244A8A67-CB75-45A8-A059-F27A455CA14C}"/>
                  </a:ext>
                </a:extLst>
              </p:cNvPr>
              <p:cNvSpPr txBox="1"/>
              <p:nvPr/>
            </p:nvSpPr>
            <p:spPr>
              <a:xfrm>
                <a:off x="6387988" y="5693842"/>
                <a:ext cx="205460" cy="276999"/>
              </a:xfrm>
              <a:prstGeom prst="rect">
                <a:avLst/>
              </a:prstGeom>
              <a:solidFill>
                <a:schemeClr val="bg1"/>
              </a:solidFill>
            </p:spPr>
            <p:txBody>
              <a:bodyPr wrap="square" lIns="0" tIns="0" rIns="0" bIns="0">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0</m:t>
                      </m:r>
                    </m:oMath>
                  </m:oMathPara>
                </a14:m>
                <a:endParaRPr lang="en-US" dirty="0">
                  <a:solidFill>
                    <a:schemeClr val="tx1"/>
                  </a:solidFill>
                </a:endParaRPr>
              </a:p>
            </p:txBody>
          </p:sp>
        </mc:Choice>
        <mc:Fallback xmlns="">
          <p:sp>
            <p:nvSpPr>
              <p:cNvPr id="58" name="文本框 57">
                <a:extLst>
                  <a:ext uri="{FF2B5EF4-FFF2-40B4-BE49-F238E27FC236}">
                    <a16:creationId xmlns:a16="http://schemas.microsoft.com/office/drawing/2014/main" id="{244A8A67-CB75-45A8-A059-F27A455CA14C}"/>
                  </a:ext>
                </a:extLst>
              </p:cNvPr>
              <p:cNvSpPr txBox="1">
                <a:spLocks noRot="1" noChangeAspect="1" noMove="1" noResize="1" noEditPoints="1" noAdjustHandles="1" noChangeArrowheads="1" noChangeShapeType="1" noTextEdit="1"/>
              </p:cNvSpPr>
              <p:nvPr/>
            </p:nvSpPr>
            <p:spPr>
              <a:xfrm>
                <a:off x="6387988" y="5693842"/>
                <a:ext cx="205460" cy="276999"/>
              </a:xfrm>
              <a:prstGeom prst="rect">
                <a:avLst/>
              </a:prstGeom>
              <a:blipFill>
                <a:blip r:embed="rId7"/>
                <a:stretch>
                  <a:fillRect l="-23529" r="-17647" b="-11111"/>
                </a:stretch>
              </a:blipFill>
            </p:spPr>
            <p:txBody>
              <a:bodyPr/>
              <a:lstStyle/>
              <a:p>
                <a:r>
                  <a:rPr lang="en-US">
                    <a:noFill/>
                  </a:rPr>
                  <a:t> </a:t>
                </a:r>
              </a:p>
            </p:txBody>
          </p:sp>
        </mc:Fallback>
      </mc:AlternateContent>
      <p:grpSp>
        <p:nvGrpSpPr>
          <p:cNvPr id="24" name="组合 23">
            <a:extLst>
              <a:ext uri="{FF2B5EF4-FFF2-40B4-BE49-F238E27FC236}">
                <a16:creationId xmlns:a16="http://schemas.microsoft.com/office/drawing/2014/main" id="{3FC56205-D724-4EFF-94C3-7DB664944E2C}"/>
              </a:ext>
            </a:extLst>
          </p:cNvPr>
          <p:cNvGrpSpPr/>
          <p:nvPr/>
        </p:nvGrpSpPr>
        <p:grpSpPr>
          <a:xfrm>
            <a:off x="4294094" y="2492896"/>
            <a:ext cx="4157627" cy="1758603"/>
            <a:chOff x="4294094" y="2717607"/>
            <a:chExt cx="4157627" cy="1758603"/>
          </a:xfrm>
        </p:grpSpPr>
        <p:pic>
          <p:nvPicPr>
            <p:cNvPr id="17" name="图片 16">
              <a:extLst>
                <a:ext uri="{FF2B5EF4-FFF2-40B4-BE49-F238E27FC236}">
                  <a16:creationId xmlns:a16="http://schemas.microsoft.com/office/drawing/2014/main" id="{C895EFBB-0A49-4247-A3BE-E4CA5990EEE8}"/>
                </a:ext>
              </a:extLst>
            </p:cNvPr>
            <p:cNvPicPr>
              <a:picLocks noChangeAspect="1"/>
            </p:cNvPicPr>
            <p:nvPr/>
          </p:nvPicPr>
          <p:blipFill>
            <a:blip r:embed="rId8"/>
            <a:stretch>
              <a:fillRect/>
            </a:stretch>
          </p:blipFill>
          <p:spPr>
            <a:xfrm>
              <a:off x="4294094" y="3213188"/>
              <a:ext cx="4053794" cy="1134143"/>
            </a:xfrm>
            <a:prstGeom prst="rect">
              <a:avLst/>
            </a:prstGeom>
          </p:spPr>
        </p:pic>
        <p:cxnSp>
          <p:nvCxnSpPr>
            <p:cNvPr id="53" name="直接箭头连接符 52">
              <a:extLst>
                <a:ext uri="{FF2B5EF4-FFF2-40B4-BE49-F238E27FC236}">
                  <a16:creationId xmlns:a16="http://schemas.microsoft.com/office/drawing/2014/main" id="{483BB051-737D-4423-8476-D7C695F72B75}"/>
                </a:ext>
              </a:extLst>
            </p:cNvPr>
            <p:cNvCxnSpPr/>
            <p:nvPr/>
          </p:nvCxnSpPr>
          <p:spPr>
            <a:xfrm flipV="1">
              <a:off x="6479945" y="3053023"/>
              <a:ext cx="0" cy="112294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69198D69-8D22-4FAA-872E-2DD93B14BDD9}"/>
                    </a:ext>
                  </a:extLst>
                </p:cNvPr>
                <p:cNvSpPr txBox="1"/>
                <p:nvPr/>
              </p:nvSpPr>
              <p:spPr>
                <a:xfrm>
                  <a:off x="6387988" y="4195908"/>
                  <a:ext cx="205460" cy="276999"/>
                </a:xfrm>
                <a:prstGeom prst="rect">
                  <a:avLst/>
                </a:prstGeom>
                <a:solidFill>
                  <a:schemeClr val="bg1"/>
                </a:solidFill>
              </p:spPr>
              <p:txBody>
                <a:bodyPr wrap="square" lIns="0" tIns="0" rIns="0" bIns="0">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0</m:t>
                        </m:r>
                      </m:oMath>
                    </m:oMathPara>
                  </a14:m>
                  <a:endParaRPr lang="en-US" dirty="0">
                    <a:solidFill>
                      <a:schemeClr val="tx1"/>
                    </a:solidFill>
                  </a:endParaRPr>
                </a:p>
              </p:txBody>
            </p:sp>
          </mc:Choice>
          <mc:Fallback xmlns="">
            <p:sp>
              <p:nvSpPr>
                <p:cNvPr id="57" name="文本框 56">
                  <a:extLst>
                    <a:ext uri="{FF2B5EF4-FFF2-40B4-BE49-F238E27FC236}">
                      <a16:creationId xmlns:a16="http://schemas.microsoft.com/office/drawing/2014/main" id="{69198D69-8D22-4FAA-872E-2DD93B14BDD9}"/>
                    </a:ext>
                  </a:extLst>
                </p:cNvPr>
                <p:cNvSpPr txBox="1">
                  <a:spLocks noRot="1" noChangeAspect="1" noMove="1" noResize="1" noEditPoints="1" noAdjustHandles="1" noChangeArrowheads="1" noChangeShapeType="1" noTextEdit="1"/>
                </p:cNvSpPr>
                <p:nvPr/>
              </p:nvSpPr>
              <p:spPr>
                <a:xfrm>
                  <a:off x="6387988" y="4195908"/>
                  <a:ext cx="205460" cy="276999"/>
                </a:xfrm>
                <a:prstGeom prst="rect">
                  <a:avLst/>
                </a:prstGeom>
                <a:blipFill>
                  <a:blip r:embed="rId9"/>
                  <a:stretch>
                    <a:fillRect l="-23529" r="-17647" b="-86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80F7165C-6897-4CAE-8BAB-48BDDC9DE138}"/>
                    </a:ext>
                  </a:extLst>
                </p:cNvPr>
                <p:cNvSpPr txBox="1"/>
                <p:nvPr/>
              </p:nvSpPr>
              <p:spPr>
                <a:xfrm>
                  <a:off x="6128991" y="2717607"/>
                  <a:ext cx="517994" cy="276999"/>
                </a:xfrm>
                <a:prstGeom prst="rect">
                  <a:avLst/>
                </a:prstGeom>
                <a:solidFill>
                  <a:schemeClr val="bg1"/>
                </a:solidFill>
              </p:spPr>
              <p:txBody>
                <a:bodyPr wrap="square" lIns="0" tIns="0" rIns="0" bIns="0">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𝛿</m:t>
                        </m:r>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𝑚</m:t>
                        </m:r>
                        <m:r>
                          <a:rPr lang="en-US" b="0" i="1" smtClean="0">
                            <a:solidFill>
                              <a:schemeClr val="tx1"/>
                            </a:solidFill>
                            <a:latin typeface="Cambria Math" panose="02040503050406030204" pitchFamily="18" charset="0"/>
                            <a:ea typeface="Cambria Math" panose="02040503050406030204" pitchFamily="18" charset="0"/>
                          </a:rPr>
                          <m:t>]</m:t>
                        </m:r>
                      </m:oMath>
                    </m:oMathPara>
                  </a14:m>
                  <a:endParaRPr lang="en-US" dirty="0">
                    <a:solidFill>
                      <a:schemeClr val="tx1"/>
                    </a:solidFill>
                  </a:endParaRPr>
                </a:p>
              </p:txBody>
            </p:sp>
          </mc:Choice>
          <mc:Fallback xmlns="">
            <p:sp>
              <p:nvSpPr>
                <p:cNvPr id="59" name="文本框 58">
                  <a:extLst>
                    <a:ext uri="{FF2B5EF4-FFF2-40B4-BE49-F238E27FC236}">
                      <a16:creationId xmlns:a16="http://schemas.microsoft.com/office/drawing/2014/main" id="{80F7165C-6897-4CAE-8BAB-48BDDC9DE138}"/>
                    </a:ext>
                  </a:extLst>
                </p:cNvPr>
                <p:cNvSpPr txBox="1">
                  <a:spLocks noRot="1" noChangeAspect="1" noMove="1" noResize="1" noEditPoints="1" noAdjustHandles="1" noChangeArrowheads="1" noChangeShapeType="1" noTextEdit="1"/>
                </p:cNvSpPr>
                <p:nvPr/>
              </p:nvSpPr>
              <p:spPr>
                <a:xfrm>
                  <a:off x="6128991" y="2717607"/>
                  <a:ext cx="517994" cy="276999"/>
                </a:xfrm>
                <a:prstGeom prst="rect">
                  <a:avLst/>
                </a:prstGeom>
                <a:blipFill>
                  <a:blip r:embed="rId10"/>
                  <a:stretch>
                    <a:fillRect l="-12941" t="-2222" r="-18824" b="-40000"/>
                  </a:stretch>
                </a:blipFill>
              </p:spPr>
              <p:txBody>
                <a:bodyPr/>
                <a:lstStyle/>
                <a:p>
                  <a:r>
                    <a:rPr lang="en-US">
                      <a:noFill/>
                    </a:rPr>
                    <a:t> </a:t>
                  </a:r>
                </a:p>
              </p:txBody>
            </p:sp>
          </mc:Fallback>
        </mc:AlternateContent>
        <p:sp>
          <p:nvSpPr>
            <p:cNvPr id="23" name="文本框 22">
              <a:extLst>
                <a:ext uri="{FF2B5EF4-FFF2-40B4-BE49-F238E27FC236}">
                  <a16:creationId xmlns:a16="http://schemas.microsoft.com/office/drawing/2014/main" id="{00956A72-419A-49B2-9FCD-1D9386E79D70}"/>
                </a:ext>
              </a:extLst>
            </p:cNvPr>
            <p:cNvSpPr txBox="1"/>
            <p:nvPr/>
          </p:nvSpPr>
          <p:spPr>
            <a:xfrm>
              <a:off x="6474390" y="2927447"/>
              <a:ext cx="1107996" cy="369332"/>
            </a:xfrm>
            <a:prstGeom prst="rect">
              <a:avLst/>
            </a:prstGeom>
            <a:noFill/>
          </p:spPr>
          <p:txBody>
            <a:bodyPr wrap="none" rtlCol="0">
              <a:spAutoFit/>
            </a:bodyPr>
            <a:lstStyle/>
            <a:p>
              <a:r>
                <a:rPr lang="zh-CN" altLang="en-US" dirty="0">
                  <a:latin typeface="楷体" panose="02010609060101010101" pitchFamily="49" charset="-122"/>
                  <a:ea typeface="楷体" panose="02010609060101010101" pitchFamily="49" charset="-122"/>
                </a:rPr>
                <a:t>求和范围</a:t>
              </a:r>
              <a:endParaRPr lang="en-US"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5A06830E-226F-4121-9E66-81CF4DE44E49}"/>
                    </a:ext>
                  </a:extLst>
                </p:cNvPr>
                <p:cNvSpPr txBox="1"/>
                <p:nvPr/>
              </p:nvSpPr>
              <p:spPr>
                <a:xfrm>
                  <a:off x="7933727" y="4199211"/>
                  <a:ext cx="517994" cy="276999"/>
                </a:xfrm>
                <a:prstGeom prst="rect">
                  <a:avLst/>
                </a:prstGeom>
                <a:noFill/>
              </p:spPr>
              <p:txBody>
                <a:bodyPr wrap="square" lIns="0" tIns="0" rIns="0" bIns="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ea typeface="Cambria Math" panose="02040503050406030204" pitchFamily="18" charset="0"/>
                          </a:rPr>
                          <m:t>𝑚</m:t>
                        </m:r>
                      </m:oMath>
                    </m:oMathPara>
                  </a14:m>
                  <a:endParaRPr lang="en-US" dirty="0">
                    <a:solidFill>
                      <a:schemeClr val="tx1"/>
                    </a:solidFill>
                  </a:endParaRPr>
                </a:p>
              </p:txBody>
            </p:sp>
          </mc:Choice>
          <mc:Fallback xmlns="">
            <p:sp>
              <p:nvSpPr>
                <p:cNvPr id="61" name="文本框 60">
                  <a:extLst>
                    <a:ext uri="{FF2B5EF4-FFF2-40B4-BE49-F238E27FC236}">
                      <a16:creationId xmlns:a16="http://schemas.microsoft.com/office/drawing/2014/main" id="{5A06830E-226F-4121-9E66-81CF4DE44E49}"/>
                    </a:ext>
                  </a:extLst>
                </p:cNvPr>
                <p:cNvSpPr txBox="1">
                  <a:spLocks noRot="1" noChangeAspect="1" noMove="1" noResize="1" noEditPoints="1" noAdjustHandles="1" noChangeArrowheads="1" noChangeShapeType="1" noTextEdit="1"/>
                </p:cNvSpPr>
                <p:nvPr/>
              </p:nvSpPr>
              <p:spPr>
                <a:xfrm>
                  <a:off x="7933727" y="4199211"/>
                  <a:ext cx="517994" cy="276999"/>
                </a:xfrm>
                <a:prstGeom prst="rect">
                  <a:avLst/>
                </a:prstGeom>
                <a:blipFill>
                  <a:blip r:embed="rId11"/>
                  <a:stretch>
                    <a:fillRect b="-2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FF83318C-6F5B-4839-827E-691FA0ED3C40}"/>
                    </a:ext>
                  </a:extLst>
                </p:cNvPr>
                <p:cNvSpPr txBox="1"/>
                <p:nvPr/>
              </p:nvSpPr>
              <p:spPr>
                <a:xfrm>
                  <a:off x="7062653" y="4193807"/>
                  <a:ext cx="517994" cy="276999"/>
                </a:xfrm>
                <a:prstGeom prst="rect">
                  <a:avLst/>
                </a:prstGeom>
                <a:noFill/>
              </p:spPr>
              <p:txBody>
                <a:bodyPr wrap="square" lIns="0" tIns="0" rIns="0" bIns="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ea typeface="Cambria Math" panose="02040503050406030204" pitchFamily="18" charset="0"/>
                          </a:rPr>
                          <m:t>𝑛</m:t>
                        </m:r>
                      </m:oMath>
                    </m:oMathPara>
                  </a14:m>
                  <a:endParaRPr lang="en-US" dirty="0">
                    <a:solidFill>
                      <a:schemeClr val="tx1"/>
                    </a:solidFill>
                  </a:endParaRPr>
                </a:p>
              </p:txBody>
            </p:sp>
          </mc:Choice>
          <mc:Fallback xmlns="">
            <p:sp>
              <p:nvSpPr>
                <p:cNvPr id="62" name="文本框 61">
                  <a:extLst>
                    <a:ext uri="{FF2B5EF4-FFF2-40B4-BE49-F238E27FC236}">
                      <a16:creationId xmlns:a16="http://schemas.microsoft.com/office/drawing/2014/main" id="{FF83318C-6F5B-4839-827E-691FA0ED3C40}"/>
                    </a:ext>
                  </a:extLst>
                </p:cNvPr>
                <p:cNvSpPr txBox="1">
                  <a:spLocks noRot="1" noChangeAspect="1" noMove="1" noResize="1" noEditPoints="1" noAdjustHandles="1" noChangeArrowheads="1" noChangeShapeType="1" noTextEdit="1"/>
                </p:cNvSpPr>
                <p:nvPr/>
              </p:nvSpPr>
              <p:spPr>
                <a:xfrm>
                  <a:off x="7062653" y="4193807"/>
                  <a:ext cx="517994" cy="276999"/>
                </a:xfrm>
                <a:prstGeom prst="rect">
                  <a:avLst/>
                </a:prstGeom>
                <a:blipFill>
                  <a:blip r:embed="rId12"/>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2BBD016B-B27D-40A0-9A8B-F284CD8B12A5}"/>
                  </a:ext>
                </a:extLst>
              </p:cNvPr>
              <p:cNvSpPr txBox="1"/>
              <p:nvPr/>
            </p:nvSpPr>
            <p:spPr>
              <a:xfrm>
                <a:off x="6817594" y="4774679"/>
                <a:ext cx="1008112" cy="276999"/>
              </a:xfrm>
              <a:prstGeom prst="rect">
                <a:avLst/>
              </a:prstGeom>
              <a:solidFill>
                <a:schemeClr val="bg1"/>
              </a:solidFill>
            </p:spPr>
            <p:txBody>
              <a:bodyPr wrap="square" lIns="0" tIns="0" rIns="0" bIns="0">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𝛿</m:t>
                      </m:r>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𝑛</m:t>
                      </m:r>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𝑚</m:t>
                      </m:r>
                      <m:r>
                        <a:rPr lang="en-US" b="0" i="1" smtClean="0">
                          <a:solidFill>
                            <a:schemeClr val="tx1"/>
                          </a:solidFill>
                          <a:latin typeface="Cambria Math" panose="02040503050406030204" pitchFamily="18" charset="0"/>
                          <a:ea typeface="Cambria Math" panose="02040503050406030204" pitchFamily="18" charset="0"/>
                        </a:rPr>
                        <m:t>]</m:t>
                      </m:r>
                    </m:oMath>
                  </m:oMathPara>
                </a14:m>
                <a:endParaRPr lang="en-US" dirty="0">
                  <a:solidFill>
                    <a:schemeClr val="tx1"/>
                  </a:solidFill>
                </a:endParaRPr>
              </a:p>
            </p:txBody>
          </p:sp>
        </mc:Choice>
        <mc:Fallback xmlns="">
          <p:sp>
            <p:nvSpPr>
              <p:cNvPr id="64" name="文本框 63">
                <a:extLst>
                  <a:ext uri="{FF2B5EF4-FFF2-40B4-BE49-F238E27FC236}">
                    <a16:creationId xmlns:a16="http://schemas.microsoft.com/office/drawing/2014/main" id="{2BBD016B-B27D-40A0-9A8B-F284CD8B12A5}"/>
                  </a:ext>
                </a:extLst>
              </p:cNvPr>
              <p:cNvSpPr txBox="1">
                <a:spLocks noRot="1" noChangeAspect="1" noMove="1" noResize="1" noEditPoints="1" noAdjustHandles="1" noChangeArrowheads="1" noChangeShapeType="1" noTextEdit="1"/>
              </p:cNvSpPr>
              <p:nvPr/>
            </p:nvSpPr>
            <p:spPr>
              <a:xfrm>
                <a:off x="6817594" y="4774679"/>
                <a:ext cx="1008112" cy="276999"/>
              </a:xfrm>
              <a:prstGeom prst="rect">
                <a:avLst/>
              </a:prstGeom>
              <a:blipFill>
                <a:blip r:embed="rId13"/>
                <a:stretch>
                  <a:fillRect l="-3012" r="-5422" b="-391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AD25425F-1CD8-4158-972A-7F059447C872}"/>
                  </a:ext>
                </a:extLst>
              </p:cNvPr>
              <p:cNvSpPr txBox="1"/>
              <p:nvPr/>
            </p:nvSpPr>
            <p:spPr>
              <a:xfrm>
                <a:off x="6902875" y="5677513"/>
                <a:ext cx="517994" cy="276999"/>
              </a:xfrm>
              <a:prstGeom prst="rect">
                <a:avLst/>
              </a:prstGeom>
              <a:noFill/>
            </p:spPr>
            <p:txBody>
              <a:bodyPr wrap="square" lIns="0" tIns="0" rIns="0" bIns="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ea typeface="Cambria Math" panose="02040503050406030204" pitchFamily="18" charset="0"/>
                        </a:rPr>
                        <m:t>𝑛</m:t>
                      </m:r>
                    </m:oMath>
                  </m:oMathPara>
                </a14:m>
                <a:endParaRPr lang="en-US" dirty="0">
                  <a:solidFill>
                    <a:schemeClr val="tx1"/>
                  </a:solidFill>
                </a:endParaRPr>
              </a:p>
            </p:txBody>
          </p:sp>
        </mc:Choice>
        <mc:Fallback xmlns="">
          <p:sp>
            <p:nvSpPr>
              <p:cNvPr id="65" name="文本框 64">
                <a:extLst>
                  <a:ext uri="{FF2B5EF4-FFF2-40B4-BE49-F238E27FC236}">
                    <a16:creationId xmlns:a16="http://schemas.microsoft.com/office/drawing/2014/main" id="{AD25425F-1CD8-4158-972A-7F059447C872}"/>
                  </a:ext>
                </a:extLst>
              </p:cNvPr>
              <p:cNvSpPr txBox="1">
                <a:spLocks noRot="1" noChangeAspect="1" noMove="1" noResize="1" noEditPoints="1" noAdjustHandles="1" noChangeArrowheads="1" noChangeShapeType="1" noTextEdit="1"/>
              </p:cNvSpPr>
              <p:nvPr/>
            </p:nvSpPr>
            <p:spPr>
              <a:xfrm>
                <a:off x="6902875" y="5677513"/>
                <a:ext cx="517994" cy="276999"/>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C5E4216C-79C0-48A0-B726-5B81C0FB11AC}"/>
                  </a:ext>
                </a:extLst>
              </p:cNvPr>
              <p:cNvSpPr txBox="1"/>
              <p:nvPr/>
            </p:nvSpPr>
            <p:spPr>
              <a:xfrm>
                <a:off x="8100392" y="5683583"/>
                <a:ext cx="517994" cy="276999"/>
              </a:xfrm>
              <a:prstGeom prst="rect">
                <a:avLst/>
              </a:prstGeom>
              <a:noFill/>
            </p:spPr>
            <p:txBody>
              <a:bodyPr wrap="square" lIns="0" tIns="0" rIns="0" bIns="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ea typeface="Cambria Math" panose="02040503050406030204" pitchFamily="18" charset="0"/>
                        </a:rPr>
                        <m:t>𝑚</m:t>
                      </m:r>
                    </m:oMath>
                  </m:oMathPara>
                </a14:m>
                <a:endParaRPr lang="en-US" dirty="0">
                  <a:solidFill>
                    <a:schemeClr val="tx1"/>
                  </a:solidFill>
                </a:endParaRPr>
              </a:p>
            </p:txBody>
          </p:sp>
        </mc:Choice>
        <mc:Fallback xmlns="">
          <p:sp>
            <p:nvSpPr>
              <p:cNvPr id="66" name="文本框 65">
                <a:extLst>
                  <a:ext uri="{FF2B5EF4-FFF2-40B4-BE49-F238E27FC236}">
                    <a16:creationId xmlns:a16="http://schemas.microsoft.com/office/drawing/2014/main" id="{C5E4216C-79C0-48A0-B726-5B81C0FB11AC}"/>
                  </a:ext>
                </a:extLst>
              </p:cNvPr>
              <p:cNvSpPr txBox="1">
                <a:spLocks noRot="1" noChangeAspect="1" noMove="1" noResize="1" noEditPoints="1" noAdjustHandles="1" noChangeArrowheads="1" noChangeShapeType="1" noTextEdit="1"/>
              </p:cNvSpPr>
              <p:nvPr/>
            </p:nvSpPr>
            <p:spPr>
              <a:xfrm>
                <a:off x="8100392" y="5683583"/>
                <a:ext cx="517994" cy="276999"/>
              </a:xfrm>
              <a:prstGeom prst="rect">
                <a:avLst/>
              </a:prstGeom>
              <a:blipFill>
                <a:blip r:embed="rId1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1701338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4" name="标题 1">
            <a:extLst>
              <a:ext uri="{FF2B5EF4-FFF2-40B4-BE49-F238E27FC236}">
                <a16:creationId xmlns:a16="http://schemas.microsoft.com/office/drawing/2014/main" id="{E549A5F8-6708-42D2-9062-1451F14D68C6}"/>
              </a:ext>
            </a:extLst>
          </p:cNvPr>
          <p:cNvSpPr>
            <a:spLocks noGrp="1"/>
          </p:cNvSpPr>
          <p:nvPr>
            <p:ph type="title"/>
          </p:nvPr>
        </p:nvSpPr>
        <p:spPr/>
        <p:txBody>
          <a:bodyPr/>
          <a:lstStyle/>
          <a:p>
            <a:r>
              <a:rPr lang="en-US" altLang="zh-CN"/>
              <a:t>2.1 </a:t>
            </a:r>
            <a:r>
              <a:rPr lang="zh-CN" altLang="en-US"/>
              <a:t>离散时间</a:t>
            </a:r>
            <a:r>
              <a:rPr lang="en-US" altLang="zh-CN"/>
              <a:t>LTI</a:t>
            </a:r>
            <a:r>
              <a:rPr lang="zh-CN" altLang="en-US"/>
              <a:t>系统：卷积和</a:t>
            </a:r>
          </a:p>
        </p:txBody>
      </p:sp>
      <mc:AlternateContent xmlns:mc="http://schemas.openxmlformats.org/markup-compatibility/2006" xmlns:a14="http://schemas.microsoft.com/office/drawing/2010/main">
        <mc:Choice Requires="a14">
          <p:sp>
            <p:nvSpPr>
              <p:cNvPr id="19465" name="内容占位符 2">
                <a:extLst>
                  <a:ext uri="{FF2B5EF4-FFF2-40B4-BE49-F238E27FC236}">
                    <a16:creationId xmlns:a16="http://schemas.microsoft.com/office/drawing/2014/main" id="{23F8FC66-F3A7-4B42-BBB1-209C1E9185DE}"/>
                  </a:ext>
                </a:extLst>
              </p:cNvPr>
              <p:cNvSpPr>
                <a:spLocks noGrp="1"/>
              </p:cNvSpPr>
              <p:nvPr>
                <p:ph idx="1"/>
              </p:nvPr>
            </p:nvSpPr>
            <p:spPr>
              <a:xfrm>
                <a:off x="457200" y="1285875"/>
                <a:ext cx="8229600" cy="461665"/>
              </a:xfrm>
            </p:spPr>
            <p:txBody>
              <a:bodyPr>
                <a:spAutoFit/>
              </a:bodyPr>
              <a:lstStyle/>
              <a:p>
                <a:r>
                  <a:rPr lang="zh-CN" altLang="en-US" sz="2400" b="0" dirty="0"/>
                  <a:t>三</a:t>
                </a:r>
                <a:r>
                  <a:rPr lang="en-US" altLang="zh-CN" sz="2400" b="0" dirty="0"/>
                  <a:t>. </a:t>
                </a:r>
                <a:r>
                  <a:rPr lang="zh-CN" altLang="en-US" sz="2400" b="0" dirty="0"/>
                  <a:t>卷积和</a:t>
                </a:r>
                <a14:m>
                  <m:oMath xmlns:m="http://schemas.openxmlformats.org/officeDocument/2006/math">
                    <m:r>
                      <a:rPr lang="en-US" sz="2400" i="1" smtClean="0">
                        <a:solidFill>
                          <a:schemeClr val="tx1"/>
                        </a:solidFill>
                        <a:latin typeface="Cambria Math" panose="02040503050406030204" pitchFamily="18" charset="0"/>
                      </a:rPr>
                      <m:t>𝑦</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h</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oMath>
                </a14:m>
                <a:r>
                  <a:rPr lang="zh-CN" altLang="en-US" sz="2400" b="0" dirty="0"/>
                  <a:t>的计算</a:t>
                </a:r>
              </a:p>
            </p:txBody>
          </p:sp>
        </mc:Choice>
        <mc:Fallback xmlns="">
          <p:sp>
            <p:nvSpPr>
              <p:cNvPr id="19465" name="内容占位符 2">
                <a:extLst>
                  <a:ext uri="{FF2B5EF4-FFF2-40B4-BE49-F238E27FC236}">
                    <a16:creationId xmlns:a16="http://schemas.microsoft.com/office/drawing/2014/main" id="{23F8FC66-F3A7-4B42-BBB1-209C1E9185DE}"/>
                  </a:ext>
                </a:extLst>
              </p:cNvPr>
              <p:cNvSpPr>
                <a:spLocks noGrp="1" noRot="1" noChangeAspect="1" noMove="1" noResize="1" noEditPoints="1" noAdjustHandles="1" noChangeArrowheads="1" noChangeShapeType="1" noTextEdit="1"/>
              </p:cNvSpPr>
              <p:nvPr>
                <p:ph idx="1"/>
              </p:nvPr>
            </p:nvSpPr>
            <p:spPr>
              <a:xfrm>
                <a:off x="457200" y="1285875"/>
                <a:ext cx="8229600" cy="461665"/>
              </a:xfrm>
              <a:blipFill>
                <a:blip r:embed="rId2"/>
                <a:stretch>
                  <a:fillRect l="-963" t="-11842" b="-30263"/>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352D72B3-E2D4-4BC9-BCBC-89583789DA5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4D5A87A-CE9B-4FDF-A5E9-0A63CF3457B9}" type="slidenum">
              <a:rPr lang="zh-CN" altLang="en-US">
                <a:solidFill>
                  <a:srgbClr val="898989"/>
                </a:solidFill>
                <a:latin typeface="Calibri" panose="020F0502020204030204" pitchFamily="34" charset="0"/>
              </a:rPr>
              <a:pPr eaLnBrk="1" hangingPunct="1"/>
              <a:t>11</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E18D2FC2-E653-460F-8676-BDBAA488B6D7}"/>
                  </a:ext>
                </a:extLst>
              </p:cNvPr>
              <p:cNvSpPr txBox="1"/>
              <p:nvPr/>
            </p:nvSpPr>
            <p:spPr>
              <a:xfrm>
                <a:off x="651794" y="2572695"/>
                <a:ext cx="4588757" cy="400110"/>
              </a:xfrm>
              <a:prstGeom prst="rect">
                <a:avLst/>
              </a:prstGeom>
              <a:noFill/>
            </p:spPr>
            <p:txBody>
              <a:bodyPr wrap="none" rtlCol="0">
                <a:spAutoFit/>
              </a:bodyPr>
              <a:lstStyle/>
              <a:p>
                <a:r>
                  <a:rPr lang="zh-CN" altLang="en-US" sz="2000" dirty="0">
                    <a:solidFill>
                      <a:srgbClr val="0000FF"/>
                    </a:solidFill>
                    <a:latin typeface="Cambria Math" panose="02040503050406030204" pitchFamily="18" charset="0"/>
                    <a:ea typeface="楷体" panose="02010609060101010101" pitchFamily="49" charset="-122"/>
                  </a:rPr>
                  <a:t>选择</a:t>
                </a:r>
                <a14:m>
                  <m:oMath xmlns:m="http://schemas.openxmlformats.org/officeDocument/2006/math">
                    <m:r>
                      <a:rPr lang="en-US" sz="2000" b="0" i="1" smtClean="0">
                        <a:solidFill>
                          <a:srgbClr val="0000FF"/>
                        </a:solidFill>
                        <a:latin typeface="Cambria Math" panose="02040503050406030204" pitchFamily="18" charset="0"/>
                      </a:rPr>
                      <m:t>𝑛</m:t>
                    </m:r>
                  </m:oMath>
                </a14:m>
                <a:r>
                  <a:rPr lang="zh-CN" altLang="en-US" sz="2000" dirty="0">
                    <a:solidFill>
                      <a:srgbClr val="0000FF"/>
                    </a:solidFill>
                    <a:latin typeface="Cambria Math" panose="02040503050406030204" pitchFamily="18" charset="0"/>
                    <a:ea typeface="楷体" panose="02010609060101010101" pitchFamily="49" charset="-122"/>
                  </a:rPr>
                  <a:t>值并固定，求和项视为</a:t>
                </a:r>
                <a14:m>
                  <m:oMath xmlns:m="http://schemas.openxmlformats.org/officeDocument/2006/math">
                    <m:r>
                      <a:rPr lang="en-US" sz="2000" i="1">
                        <a:solidFill>
                          <a:srgbClr val="0000FF"/>
                        </a:solidFill>
                        <a:latin typeface="Cambria Math" panose="02040503050406030204" pitchFamily="18" charset="0"/>
                      </a:rPr>
                      <m:t>𝑘</m:t>
                    </m:r>
                  </m:oMath>
                </a14:m>
                <a:r>
                  <a:rPr lang="zh-CN" altLang="en-US" sz="2000" dirty="0">
                    <a:solidFill>
                      <a:srgbClr val="0000FF"/>
                    </a:solidFill>
                    <a:latin typeface="Cambria Math" panose="02040503050406030204" pitchFamily="18" charset="0"/>
                    <a:ea typeface="楷体" panose="02010609060101010101" pitchFamily="49" charset="-122"/>
                  </a:rPr>
                  <a:t>的函数</a:t>
                </a:r>
                <a:r>
                  <a:rPr lang="zh-CN" altLang="en-US" sz="2000" dirty="0">
                    <a:latin typeface="Cambria Math" panose="02040503050406030204" pitchFamily="18" charset="0"/>
                    <a:ea typeface="楷体" panose="02010609060101010101" pitchFamily="49" charset="-122"/>
                  </a:rPr>
                  <a:t>：</a:t>
                </a:r>
                <a:endParaRPr lang="en-US" sz="2000" dirty="0">
                  <a:latin typeface="Cambria Math" panose="02040503050406030204" pitchFamily="18" charset="0"/>
                  <a:ea typeface="楷体" panose="02010609060101010101" pitchFamily="49" charset="-122"/>
                </a:endParaRPr>
              </a:p>
            </p:txBody>
          </p:sp>
        </mc:Choice>
        <mc:Fallback xmlns="">
          <p:sp>
            <p:nvSpPr>
              <p:cNvPr id="11" name="文本框 10">
                <a:extLst>
                  <a:ext uri="{FF2B5EF4-FFF2-40B4-BE49-F238E27FC236}">
                    <a16:creationId xmlns:a16="http://schemas.microsoft.com/office/drawing/2014/main" id="{E18D2FC2-E653-460F-8676-BDBAA488B6D7}"/>
                  </a:ext>
                </a:extLst>
              </p:cNvPr>
              <p:cNvSpPr txBox="1">
                <a:spLocks noRot="1" noChangeAspect="1" noMove="1" noResize="1" noEditPoints="1" noAdjustHandles="1" noChangeArrowheads="1" noChangeShapeType="1" noTextEdit="1"/>
              </p:cNvSpPr>
              <p:nvPr/>
            </p:nvSpPr>
            <p:spPr>
              <a:xfrm>
                <a:off x="651794" y="2572695"/>
                <a:ext cx="4588757" cy="400110"/>
              </a:xfrm>
              <a:prstGeom prst="rect">
                <a:avLst/>
              </a:prstGeom>
              <a:blipFill>
                <a:blip r:embed="rId3"/>
                <a:stretch>
                  <a:fillRect l="-1461" t="-10606" r="-398" b="-227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bject 7">
                <a:extLst>
                  <a:ext uri="{FF2B5EF4-FFF2-40B4-BE49-F238E27FC236}">
                    <a16:creationId xmlns:a16="http://schemas.microsoft.com/office/drawing/2014/main" id="{E9470FAC-0512-4C2B-AF7A-5BE71FA56BE2}"/>
                  </a:ext>
                </a:extLst>
              </p:cNvPr>
              <p:cNvSpPr txBox="1"/>
              <p:nvPr/>
            </p:nvSpPr>
            <p:spPr bwMode="auto">
              <a:xfrm>
                <a:off x="2913287" y="1779842"/>
                <a:ext cx="3317426" cy="712375"/>
              </a:xfrm>
              <a:prstGeom prst="rect">
                <a:avLst/>
              </a:prstGeom>
              <a:no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r>
                        <a:rPr lang="en-US" sz="2000" i="1">
                          <a:solidFill>
                            <a:srgbClr val="000000"/>
                          </a:solidFill>
                          <a:latin typeface="Cambria Math" panose="02040503050406030204" pitchFamily="18" charset="0"/>
                        </a:rPr>
                        <m:t>𝑦</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𝑛</m:t>
                      </m:r>
                      <m:r>
                        <a:rPr lang="en-US" sz="2000" i="1">
                          <a:solidFill>
                            <a:srgbClr val="000000"/>
                          </a:solidFill>
                          <a:latin typeface="Cambria Math" panose="02040503050406030204" pitchFamily="18" charset="0"/>
                        </a:rPr>
                        <m:t>]=</m:t>
                      </m:r>
                      <m:nary>
                        <m:naryPr>
                          <m:chr m:val="∑"/>
                          <m:limLoc m:val="subSup"/>
                          <m:ctrlPr>
                            <a:rPr lang="en-US" sz="2000" i="1">
                              <a:solidFill>
                                <a:srgbClr val="000000"/>
                              </a:solidFill>
                              <a:latin typeface="Cambria Math" panose="02040503050406030204" pitchFamily="18" charset="0"/>
                            </a:rPr>
                          </m:ctrlPr>
                        </m:naryPr>
                        <m:sub>
                          <m:r>
                            <a:rPr lang="en-US" sz="2000" i="1">
                              <a:solidFill>
                                <a:srgbClr val="000000"/>
                              </a:solidFill>
                              <a:latin typeface="Cambria Math" panose="02040503050406030204" pitchFamily="18" charset="0"/>
                            </a:rPr>
                            <m:t>𝑘</m:t>
                          </m:r>
                          <m:r>
                            <a:rPr lang="en-US" sz="2000" i="1">
                              <a:solidFill>
                                <a:srgbClr val="000000"/>
                              </a:solidFill>
                              <a:latin typeface="Cambria Math" panose="02040503050406030204" pitchFamily="18" charset="0"/>
                            </a:rPr>
                            <m:t>=−∞</m:t>
                          </m:r>
                        </m:sub>
                        <m:sup>
                          <m:r>
                            <a:rPr lang="en-US" sz="2000" i="1">
                              <a:solidFill>
                                <a:srgbClr val="000000"/>
                              </a:solidFill>
                              <a:latin typeface="Cambria Math" panose="02040503050406030204" pitchFamily="18" charset="0"/>
                            </a:rPr>
                            <m:t>+∞</m:t>
                          </m:r>
                        </m:sup>
                        <m:e>
                          <m:r>
                            <a:rPr lang="en-US" sz="2000" i="1">
                              <a:solidFill>
                                <a:srgbClr val="000000"/>
                              </a:solidFill>
                              <a:latin typeface="Cambria Math" panose="02040503050406030204" pitchFamily="18" charset="0"/>
                            </a:rPr>
                            <m:t>𝑥</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𝑘</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h</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𝑛</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𝑘</m:t>
                          </m:r>
                          <m:r>
                            <a:rPr lang="en-US" sz="2000" i="1">
                              <a:solidFill>
                                <a:srgbClr val="000000"/>
                              </a:solidFill>
                              <a:latin typeface="Cambria Math" panose="02040503050406030204" pitchFamily="18" charset="0"/>
                            </a:rPr>
                            <m:t>]</m:t>
                          </m:r>
                        </m:e>
                      </m:nary>
                    </m:oMath>
                  </m:oMathPara>
                </a14:m>
                <a:endParaRPr lang="en-US" sz="2000" dirty="0"/>
              </a:p>
            </p:txBody>
          </p:sp>
        </mc:Choice>
        <mc:Fallback xmlns="">
          <p:sp>
            <p:nvSpPr>
              <p:cNvPr id="12" name="Object 7">
                <a:extLst>
                  <a:ext uri="{FF2B5EF4-FFF2-40B4-BE49-F238E27FC236}">
                    <a16:creationId xmlns:a16="http://schemas.microsoft.com/office/drawing/2014/main" id="{E9470FAC-0512-4C2B-AF7A-5BE71FA56BE2}"/>
                  </a:ext>
                </a:extLst>
              </p:cNvPr>
              <p:cNvSpPr txBox="1">
                <a:spLocks noRot="1" noChangeAspect="1" noMove="1" noResize="1" noEditPoints="1" noAdjustHandles="1" noChangeArrowheads="1" noChangeShapeType="1" noTextEdit="1"/>
              </p:cNvSpPr>
              <p:nvPr/>
            </p:nvSpPr>
            <p:spPr bwMode="auto">
              <a:xfrm>
                <a:off x="2913287" y="1779842"/>
                <a:ext cx="3317426" cy="712375"/>
              </a:xfrm>
              <a:prstGeom prst="rect">
                <a:avLst/>
              </a:prstGeom>
              <a:blipFill>
                <a:blip r:embed="rId4"/>
                <a:stretch>
                  <a:fillRect/>
                </a:stretch>
              </a:blipFill>
              <a:ln>
                <a:noFill/>
              </a:ln>
              <a:effectLst/>
            </p:spPr>
            <p:txBody>
              <a:bodyPr/>
              <a:lstStyle/>
              <a:p>
                <a:r>
                  <a:rPr lang="en-US">
                    <a:noFill/>
                  </a:rPr>
                  <a:t> </a:t>
                </a:r>
              </a:p>
            </p:txBody>
          </p:sp>
        </mc:Fallback>
      </mc:AlternateContent>
      <p:pic>
        <p:nvPicPr>
          <p:cNvPr id="3" name="图片 2">
            <a:extLst>
              <a:ext uri="{FF2B5EF4-FFF2-40B4-BE49-F238E27FC236}">
                <a16:creationId xmlns:a16="http://schemas.microsoft.com/office/drawing/2014/main" id="{06E313BA-C5F2-4726-A1D2-CA43195F9EF2}"/>
              </a:ext>
            </a:extLst>
          </p:cNvPr>
          <p:cNvPicPr>
            <a:picLocks noChangeAspect="1"/>
          </p:cNvPicPr>
          <p:nvPr/>
        </p:nvPicPr>
        <p:blipFill>
          <a:blip r:embed="rId5"/>
          <a:stretch>
            <a:fillRect/>
          </a:stretch>
        </p:blipFill>
        <p:spPr>
          <a:xfrm>
            <a:off x="683568" y="3053283"/>
            <a:ext cx="5610225" cy="3267075"/>
          </a:xfrm>
          <a:prstGeom prst="rect">
            <a:avLst/>
          </a:prstGeom>
        </p:spPr>
      </p:pic>
      <mc:AlternateContent xmlns:mc="http://schemas.openxmlformats.org/markup-compatibility/2006" xmlns:a14="http://schemas.microsoft.com/office/drawing/2010/main">
        <mc:Choice Requires="a14">
          <p:sp>
            <p:nvSpPr>
              <p:cNvPr id="16" name="Object 7">
                <a:extLst>
                  <a:ext uri="{FF2B5EF4-FFF2-40B4-BE49-F238E27FC236}">
                    <a16:creationId xmlns:a16="http://schemas.microsoft.com/office/drawing/2014/main" id="{5A7D2445-7658-4566-893F-E4028BA13B04}"/>
                  </a:ext>
                </a:extLst>
              </p:cNvPr>
              <p:cNvSpPr txBox="1"/>
              <p:nvPr/>
            </p:nvSpPr>
            <p:spPr bwMode="auto">
              <a:xfrm>
                <a:off x="5580112" y="4292430"/>
                <a:ext cx="3168352" cy="646331"/>
              </a:xfrm>
              <a:prstGeom prst="rect">
                <a:avLst/>
              </a:prstGeom>
              <a:noFill/>
              <a:ln>
                <a:noFill/>
              </a:ln>
              <a:effectLst/>
            </p:spPr>
            <p:txBody>
              <a:bodyPr wrap="square">
                <a:spAutoFit/>
              </a:bodyPr>
              <a:lstStyle/>
              <a:p>
                <a:pPr algn="just"/>
                <a14:m>
                  <m:oMath xmlns:m="http://schemas.openxmlformats.org/officeDocument/2006/math">
                    <m:r>
                      <a:rPr lang="en-US" i="1" smtClean="0">
                        <a:solidFill>
                          <a:srgbClr val="0000FF"/>
                        </a:solidFill>
                        <a:latin typeface="Cambria Math" panose="02040503050406030204" pitchFamily="18" charset="0"/>
                      </a:rPr>
                      <m:t>𝑦</m:t>
                    </m:r>
                    <m:r>
                      <a:rPr lang="en-US" i="1" smtClean="0">
                        <a:solidFill>
                          <a:srgbClr val="0000FF"/>
                        </a:solidFill>
                        <a:latin typeface="Cambria Math" panose="02040503050406030204" pitchFamily="18" charset="0"/>
                      </a:rPr>
                      <m:t>[0]</m:t>
                    </m:r>
                  </m:oMath>
                </a14:m>
                <a:r>
                  <a:rPr lang="zh-CN" altLang="en-US" dirty="0">
                    <a:latin typeface="Cambria Math" panose="02040503050406030204" pitchFamily="18" charset="0"/>
                    <a:ea typeface="楷体" panose="02010609060101010101" pitchFamily="49" charset="-122"/>
                  </a:rPr>
                  <a:t>：</a:t>
                </a:r>
                <a14:m>
                  <m:oMath xmlns:m="http://schemas.openxmlformats.org/officeDocument/2006/math">
                    <m:r>
                      <a:rPr lang="en-US" i="1">
                        <a:solidFill>
                          <a:srgbClr val="000000"/>
                        </a:solidFill>
                        <a:latin typeface="Cambria Math" panose="02040503050406030204" pitchFamily="18" charset="0"/>
                      </a:rPr>
                      <m:t>𝑛</m:t>
                    </m:r>
                    <m:r>
                      <a:rPr lang="en-US" b="0" i="1" smtClean="0">
                        <a:solidFill>
                          <a:srgbClr val="000000"/>
                        </a:solidFill>
                        <a:latin typeface="Cambria Math" panose="02040503050406030204" pitchFamily="18" charset="0"/>
                      </a:rPr>
                      <m:t>=0</m:t>
                    </m:r>
                  </m:oMath>
                </a14:m>
                <a:r>
                  <a:rPr lang="zh-CN" altLang="en-US" dirty="0">
                    <a:latin typeface="Cambria Math" panose="02040503050406030204" pitchFamily="18" charset="0"/>
                    <a:ea typeface="楷体" panose="02010609060101010101" pitchFamily="49" charset="-122"/>
                  </a:rPr>
                  <a:t>时</a:t>
                </a:r>
                <a14:m>
                  <m:oMath xmlns:m="http://schemas.openxmlformats.org/officeDocument/2006/math">
                    <m:r>
                      <a:rPr lang="en-US" i="1">
                        <a:solidFill>
                          <a:srgbClr val="000000"/>
                        </a:solidFill>
                        <a:latin typeface="Cambria Math" panose="02040503050406030204" pitchFamily="18" charset="0"/>
                      </a:rPr>
                      <m:t>𝑥</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𝑘</m:t>
                    </m:r>
                    <m:r>
                      <a:rPr lang="en-US" i="1">
                        <a:solidFill>
                          <a:srgbClr val="000000"/>
                        </a:solidFill>
                        <a:latin typeface="Cambria Math" panose="02040503050406030204" pitchFamily="18" charset="0"/>
                      </a:rPr>
                      <m:t>]</m:t>
                    </m:r>
                  </m:oMath>
                </a14:m>
                <a:r>
                  <a:rPr lang="zh-CN" altLang="en-US" dirty="0">
                    <a:latin typeface="Cambria Math" panose="02040503050406030204" pitchFamily="18" charset="0"/>
                    <a:ea typeface="楷体" panose="02010609060101010101" pitchFamily="49" charset="-122"/>
                  </a:rPr>
                  <a:t>与</a:t>
                </a:r>
                <a14:m>
                  <m:oMath xmlns:m="http://schemas.openxmlformats.org/officeDocument/2006/math">
                    <m:r>
                      <a:rPr lang="en-US" i="1">
                        <a:solidFill>
                          <a:srgbClr val="000000"/>
                        </a:solidFill>
                        <a:latin typeface="Cambria Math" panose="02040503050406030204" pitchFamily="18" charset="0"/>
                      </a:rPr>
                      <m:t>h</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𝑘</m:t>
                    </m:r>
                    <m:r>
                      <a:rPr lang="en-US" i="1">
                        <a:solidFill>
                          <a:srgbClr val="000000"/>
                        </a:solidFill>
                        <a:latin typeface="Cambria Math" panose="02040503050406030204" pitchFamily="18" charset="0"/>
                      </a:rPr>
                      <m:t>]</m:t>
                    </m:r>
                  </m:oMath>
                </a14:m>
                <a:r>
                  <a:rPr lang="zh-CN" altLang="en-US" dirty="0">
                    <a:latin typeface="Cambria Math" panose="02040503050406030204" pitchFamily="18" charset="0"/>
                    <a:ea typeface="楷体" panose="02010609060101010101" pitchFamily="49" charset="-122"/>
                  </a:rPr>
                  <a:t>重叠部分乘积之和</a:t>
                </a:r>
                <a14:m>
                  <m:oMath xmlns:m="http://schemas.openxmlformats.org/officeDocument/2006/math">
                    <m:r>
                      <a:rPr lang="en-US"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2</m:t>
                    </m:r>
                  </m:oMath>
                </a14:m>
                <a:endParaRPr lang="en-US" dirty="0">
                  <a:latin typeface="Cambria Math" panose="02040503050406030204" pitchFamily="18" charset="0"/>
                  <a:ea typeface="楷体" panose="02010609060101010101" pitchFamily="49" charset="-122"/>
                </a:endParaRPr>
              </a:p>
            </p:txBody>
          </p:sp>
        </mc:Choice>
        <mc:Fallback xmlns="">
          <p:sp>
            <p:nvSpPr>
              <p:cNvPr id="16" name="Object 7">
                <a:extLst>
                  <a:ext uri="{FF2B5EF4-FFF2-40B4-BE49-F238E27FC236}">
                    <a16:creationId xmlns:a16="http://schemas.microsoft.com/office/drawing/2014/main" id="{5A7D2445-7658-4566-893F-E4028BA13B04}"/>
                  </a:ext>
                </a:extLst>
              </p:cNvPr>
              <p:cNvSpPr txBox="1">
                <a:spLocks noRot="1" noChangeAspect="1" noMove="1" noResize="1" noEditPoints="1" noAdjustHandles="1" noChangeArrowheads="1" noChangeShapeType="1" noTextEdit="1"/>
              </p:cNvSpPr>
              <p:nvPr/>
            </p:nvSpPr>
            <p:spPr bwMode="auto">
              <a:xfrm>
                <a:off x="5580112" y="4292430"/>
                <a:ext cx="3168352" cy="646331"/>
              </a:xfrm>
              <a:prstGeom prst="rect">
                <a:avLst/>
              </a:prstGeom>
              <a:blipFill>
                <a:blip r:embed="rId6"/>
                <a:stretch>
                  <a:fillRect l="-1538" t="-6604" r="-769" b="-12264"/>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bject 7">
                <a:extLst>
                  <a:ext uri="{FF2B5EF4-FFF2-40B4-BE49-F238E27FC236}">
                    <a16:creationId xmlns:a16="http://schemas.microsoft.com/office/drawing/2014/main" id="{82BBE576-A0FE-4A8E-8E97-B4A90FE2A9AC}"/>
                  </a:ext>
                </a:extLst>
              </p:cNvPr>
              <p:cNvSpPr txBox="1"/>
              <p:nvPr/>
            </p:nvSpPr>
            <p:spPr bwMode="auto">
              <a:xfrm>
                <a:off x="5580112" y="5085184"/>
                <a:ext cx="3168352" cy="646331"/>
              </a:xfrm>
              <a:prstGeom prst="rect">
                <a:avLst/>
              </a:prstGeom>
              <a:noFill/>
              <a:ln>
                <a:noFill/>
              </a:ln>
              <a:effectLst/>
            </p:spPr>
            <p:txBody>
              <a:bodyPr wrap="square">
                <a:spAutoFit/>
              </a:bodyPr>
              <a:lstStyle/>
              <a:p>
                <a:pPr algn="just"/>
                <a14:m>
                  <m:oMath xmlns:m="http://schemas.openxmlformats.org/officeDocument/2006/math">
                    <m:r>
                      <a:rPr lang="en-US" i="1" smtClean="0">
                        <a:solidFill>
                          <a:srgbClr val="0000FF"/>
                        </a:solidFill>
                        <a:latin typeface="Cambria Math" panose="02040503050406030204" pitchFamily="18" charset="0"/>
                      </a:rPr>
                      <m:t>𝑦</m:t>
                    </m:r>
                    <m:r>
                      <a:rPr lang="en-US" i="1" smtClean="0">
                        <a:solidFill>
                          <a:srgbClr val="0000FF"/>
                        </a:solidFill>
                        <a:latin typeface="Cambria Math" panose="02040503050406030204" pitchFamily="18" charset="0"/>
                      </a:rPr>
                      <m:t>[1]</m:t>
                    </m:r>
                  </m:oMath>
                </a14:m>
                <a:r>
                  <a:rPr lang="zh-CN" altLang="en-US" dirty="0">
                    <a:latin typeface="Cambria Math" panose="02040503050406030204" pitchFamily="18" charset="0"/>
                    <a:ea typeface="楷体" panose="02010609060101010101" pitchFamily="49" charset="-122"/>
                  </a:rPr>
                  <a:t>：</a:t>
                </a:r>
                <a14:m>
                  <m:oMath xmlns:m="http://schemas.openxmlformats.org/officeDocument/2006/math">
                    <m:r>
                      <a:rPr lang="en-US" i="1">
                        <a:solidFill>
                          <a:srgbClr val="000000"/>
                        </a:solidFill>
                        <a:latin typeface="Cambria Math" panose="02040503050406030204" pitchFamily="18" charset="0"/>
                      </a:rPr>
                      <m:t>𝑛</m:t>
                    </m:r>
                    <m:r>
                      <a:rPr lang="en-US" b="0" i="1" smtClean="0">
                        <a:solidFill>
                          <a:srgbClr val="000000"/>
                        </a:solidFill>
                        <a:latin typeface="Cambria Math" panose="02040503050406030204" pitchFamily="18" charset="0"/>
                      </a:rPr>
                      <m:t>=1</m:t>
                    </m:r>
                  </m:oMath>
                </a14:m>
                <a:r>
                  <a:rPr lang="zh-CN" altLang="en-US" dirty="0">
                    <a:latin typeface="Cambria Math" panose="02040503050406030204" pitchFamily="18" charset="0"/>
                    <a:ea typeface="楷体" panose="02010609060101010101" pitchFamily="49" charset="-122"/>
                  </a:rPr>
                  <a:t>时</a:t>
                </a:r>
                <a14:m>
                  <m:oMath xmlns:m="http://schemas.openxmlformats.org/officeDocument/2006/math">
                    <m:r>
                      <a:rPr lang="en-US" i="1">
                        <a:solidFill>
                          <a:srgbClr val="000000"/>
                        </a:solidFill>
                        <a:latin typeface="Cambria Math" panose="02040503050406030204" pitchFamily="18" charset="0"/>
                      </a:rPr>
                      <m:t>𝑥</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𝑘</m:t>
                    </m:r>
                    <m:r>
                      <a:rPr lang="en-US" i="1">
                        <a:solidFill>
                          <a:srgbClr val="000000"/>
                        </a:solidFill>
                        <a:latin typeface="Cambria Math" panose="02040503050406030204" pitchFamily="18" charset="0"/>
                      </a:rPr>
                      <m:t>]</m:t>
                    </m:r>
                  </m:oMath>
                </a14:m>
                <a:r>
                  <a:rPr lang="zh-CN" altLang="en-US" dirty="0">
                    <a:latin typeface="Cambria Math" panose="02040503050406030204" pitchFamily="18" charset="0"/>
                    <a:ea typeface="楷体" panose="02010609060101010101" pitchFamily="49" charset="-122"/>
                  </a:rPr>
                  <a:t>与</a:t>
                </a:r>
                <a14:m>
                  <m:oMath xmlns:m="http://schemas.openxmlformats.org/officeDocument/2006/math">
                    <m:r>
                      <a:rPr lang="en-US" i="1">
                        <a:solidFill>
                          <a:srgbClr val="000000"/>
                        </a:solidFill>
                        <a:latin typeface="Cambria Math" panose="02040503050406030204" pitchFamily="18" charset="0"/>
                      </a:rPr>
                      <m:t>h</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𝑘</m:t>
                    </m:r>
                    <m:r>
                      <a:rPr lang="en-US" i="1">
                        <a:solidFill>
                          <a:srgbClr val="000000"/>
                        </a:solidFill>
                        <a:latin typeface="Cambria Math" panose="02040503050406030204" pitchFamily="18" charset="0"/>
                      </a:rPr>
                      <m:t>]</m:t>
                    </m:r>
                  </m:oMath>
                </a14:m>
                <a:r>
                  <a:rPr lang="zh-CN" altLang="en-US" dirty="0">
                    <a:latin typeface="Cambria Math" panose="02040503050406030204" pitchFamily="18" charset="0"/>
                    <a:ea typeface="楷体" panose="02010609060101010101" pitchFamily="49" charset="-122"/>
                  </a:rPr>
                  <a:t>重叠部分乘积之和</a:t>
                </a:r>
                <a14:m>
                  <m:oMath xmlns:m="http://schemas.openxmlformats.org/officeDocument/2006/math">
                    <m:r>
                      <a:rPr lang="en-US" i="1">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m:t>
                    </m:r>
                    <m:r>
                      <a:rPr lang="en-US" i="1">
                        <a:solidFill>
                          <a:srgbClr val="0000FF"/>
                        </a:solidFill>
                        <a:latin typeface="Cambria Math" panose="02040503050406030204" pitchFamily="18" charset="0"/>
                      </a:rPr>
                      <m:t>2</m:t>
                    </m:r>
                  </m:oMath>
                </a14:m>
                <a:endParaRPr lang="en-US" dirty="0">
                  <a:latin typeface="Cambria Math" panose="02040503050406030204" pitchFamily="18" charset="0"/>
                  <a:ea typeface="楷体" panose="02010609060101010101" pitchFamily="49" charset="-122"/>
                </a:endParaRPr>
              </a:p>
            </p:txBody>
          </p:sp>
        </mc:Choice>
        <mc:Fallback xmlns="">
          <p:sp>
            <p:nvSpPr>
              <p:cNvPr id="17" name="Object 7">
                <a:extLst>
                  <a:ext uri="{FF2B5EF4-FFF2-40B4-BE49-F238E27FC236}">
                    <a16:creationId xmlns:a16="http://schemas.microsoft.com/office/drawing/2014/main" id="{82BBE576-A0FE-4A8E-8E97-B4A90FE2A9AC}"/>
                  </a:ext>
                </a:extLst>
              </p:cNvPr>
              <p:cNvSpPr txBox="1">
                <a:spLocks noRot="1" noChangeAspect="1" noMove="1" noResize="1" noEditPoints="1" noAdjustHandles="1" noChangeArrowheads="1" noChangeShapeType="1" noTextEdit="1"/>
              </p:cNvSpPr>
              <p:nvPr/>
            </p:nvSpPr>
            <p:spPr bwMode="auto">
              <a:xfrm>
                <a:off x="5580112" y="5085184"/>
                <a:ext cx="3168352" cy="646331"/>
              </a:xfrm>
              <a:prstGeom prst="rect">
                <a:avLst/>
              </a:prstGeom>
              <a:blipFill>
                <a:blip r:embed="rId7"/>
                <a:stretch>
                  <a:fillRect l="-1538" t="-6604" r="-769" b="-12264"/>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4" name="标题 1">
            <a:extLst>
              <a:ext uri="{FF2B5EF4-FFF2-40B4-BE49-F238E27FC236}">
                <a16:creationId xmlns:a16="http://schemas.microsoft.com/office/drawing/2014/main" id="{E549A5F8-6708-42D2-9062-1451F14D68C6}"/>
              </a:ext>
            </a:extLst>
          </p:cNvPr>
          <p:cNvSpPr>
            <a:spLocks noGrp="1"/>
          </p:cNvSpPr>
          <p:nvPr>
            <p:ph type="title"/>
          </p:nvPr>
        </p:nvSpPr>
        <p:spPr/>
        <p:txBody>
          <a:bodyPr/>
          <a:lstStyle/>
          <a:p>
            <a:r>
              <a:rPr lang="en-US" altLang="zh-CN"/>
              <a:t>2.1 </a:t>
            </a:r>
            <a:r>
              <a:rPr lang="zh-CN" altLang="en-US"/>
              <a:t>离散时间</a:t>
            </a:r>
            <a:r>
              <a:rPr lang="en-US" altLang="zh-CN"/>
              <a:t>LTI</a:t>
            </a:r>
            <a:r>
              <a:rPr lang="zh-CN" altLang="en-US"/>
              <a:t>系统：卷积和</a:t>
            </a:r>
          </a:p>
        </p:txBody>
      </p:sp>
      <mc:AlternateContent xmlns:mc="http://schemas.openxmlformats.org/markup-compatibility/2006" xmlns:a14="http://schemas.microsoft.com/office/drawing/2010/main">
        <mc:Choice Requires="a14">
          <p:sp>
            <p:nvSpPr>
              <p:cNvPr id="19465" name="内容占位符 2">
                <a:extLst>
                  <a:ext uri="{FF2B5EF4-FFF2-40B4-BE49-F238E27FC236}">
                    <a16:creationId xmlns:a16="http://schemas.microsoft.com/office/drawing/2014/main" id="{23F8FC66-F3A7-4B42-BBB1-209C1E9185DE}"/>
                  </a:ext>
                </a:extLst>
              </p:cNvPr>
              <p:cNvSpPr>
                <a:spLocks noGrp="1"/>
              </p:cNvSpPr>
              <p:nvPr>
                <p:ph idx="1"/>
              </p:nvPr>
            </p:nvSpPr>
            <p:spPr>
              <a:xfrm>
                <a:off x="457200" y="1285875"/>
                <a:ext cx="8229600" cy="461665"/>
              </a:xfrm>
            </p:spPr>
            <p:txBody>
              <a:bodyPr>
                <a:spAutoFit/>
              </a:bodyPr>
              <a:lstStyle/>
              <a:p>
                <a:r>
                  <a:rPr lang="zh-CN" altLang="en-US" sz="2400" b="0" dirty="0"/>
                  <a:t>卷积和</a:t>
                </a:r>
                <a14:m>
                  <m:oMath xmlns:m="http://schemas.openxmlformats.org/officeDocument/2006/math">
                    <m:r>
                      <a:rPr lang="zh-CN" altLang="en-US" sz="2400" b="0" i="1" dirty="0">
                        <a:solidFill>
                          <a:schemeClr val="tx1"/>
                        </a:solidFill>
                        <a:latin typeface="Cambria Math" panose="02040503050406030204" pitchFamily="18" charset="0"/>
                      </a:rPr>
                      <m:t>结果</m:t>
                    </m:r>
                  </m:oMath>
                </a14:m>
                <a:r>
                  <a:rPr lang="zh-CN" altLang="en-US" sz="2400" b="0" dirty="0"/>
                  <a:t>序列的计算：平移、相乘、求和</a:t>
                </a:r>
                <a:r>
                  <a:rPr lang="en-US" altLang="zh-CN" sz="2400" b="0" dirty="0"/>
                  <a:t>……</a:t>
                </a:r>
                <a:endParaRPr lang="zh-CN" altLang="en-US" sz="2400" b="0" dirty="0"/>
              </a:p>
            </p:txBody>
          </p:sp>
        </mc:Choice>
        <mc:Fallback xmlns="">
          <p:sp>
            <p:nvSpPr>
              <p:cNvPr id="19465" name="内容占位符 2">
                <a:extLst>
                  <a:ext uri="{FF2B5EF4-FFF2-40B4-BE49-F238E27FC236}">
                    <a16:creationId xmlns:a16="http://schemas.microsoft.com/office/drawing/2014/main" id="{23F8FC66-F3A7-4B42-BBB1-209C1E9185DE}"/>
                  </a:ext>
                </a:extLst>
              </p:cNvPr>
              <p:cNvSpPr>
                <a:spLocks noGrp="1" noRot="1" noChangeAspect="1" noMove="1" noResize="1" noEditPoints="1" noAdjustHandles="1" noChangeArrowheads="1" noChangeShapeType="1" noTextEdit="1"/>
              </p:cNvSpPr>
              <p:nvPr>
                <p:ph idx="1"/>
              </p:nvPr>
            </p:nvSpPr>
            <p:spPr>
              <a:xfrm>
                <a:off x="457200" y="1285875"/>
                <a:ext cx="8229600" cy="461665"/>
              </a:xfrm>
              <a:blipFill>
                <a:blip r:embed="rId2"/>
                <a:stretch>
                  <a:fillRect l="-963" t="-11842" b="-30263"/>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352D72B3-E2D4-4BC9-BCBC-89583789DA5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4D5A87A-CE9B-4FDF-A5E9-0A63CF3457B9}" type="slidenum">
              <a:rPr lang="zh-CN" altLang="en-US">
                <a:solidFill>
                  <a:srgbClr val="898989"/>
                </a:solidFill>
                <a:latin typeface="Calibri" panose="020F0502020204030204" pitchFamily="34" charset="0"/>
              </a:rPr>
              <a:pPr eaLnBrk="1" hangingPunct="1"/>
              <a:t>12</a:t>
            </a:fld>
            <a:endParaRPr lang="zh-CN" altLang="en-US">
              <a:solidFill>
                <a:srgbClr val="898989"/>
              </a:solidFill>
              <a:latin typeface="Calibri" panose="020F0502020204030204" pitchFamily="34" charset="0"/>
            </a:endParaRPr>
          </a:p>
        </p:txBody>
      </p:sp>
      <p:pic>
        <p:nvPicPr>
          <p:cNvPr id="5" name="图片 4">
            <a:extLst>
              <a:ext uri="{FF2B5EF4-FFF2-40B4-BE49-F238E27FC236}">
                <a16:creationId xmlns:a16="http://schemas.microsoft.com/office/drawing/2014/main" id="{75D30B31-EAAC-4398-922F-6786AA6EAD1F}"/>
              </a:ext>
            </a:extLst>
          </p:cNvPr>
          <p:cNvPicPr>
            <a:picLocks noChangeAspect="1"/>
          </p:cNvPicPr>
          <p:nvPr/>
        </p:nvPicPr>
        <p:blipFill>
          <a:blip r:embed="rId3"/>
          <a:stretch>
            <a:fillRect/>
          </a:stretch>
        </p:blipFill>
        <p:spPr>
          <a:xfrm>
            <a:off x="2505075" y="1700808"/>
            <a:ext cx="4133850" cy="1085850"/>
          </a:xfrm>
          <a:prstGeom prst="rect">
            <a:avLst/>
          </a:prstGeom>
        </p:spPr>
      </p:pic>
      <p:pic>
        <p:nvPicPr>
          <p:cNvPr id="14" name="Picture 6">
            <a:extLst>
              <a:ext uri="{FF2B5EF4-FFF2-40B4-BE49-F238E27FC236}">
                <a16:creationId xmlns:a16="http://schemas.microsoft.com/office/drawing/2014/main" id="{5B3EA95C-1A46-42D4-84AD-81AF9BD152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2758783"/>
            <a:ext cx="8763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5" name="Picture 7">
            <a:extLst>
              <a:ext uri="{FF2B5EF4-FFF2-40B4-BE49-F238E27FC236}">
                <a16:creationId xmlns:a16="http://schemas.microsoft.com/office/drawing/2014/main" id="{2345C8E5-036C-4B7B-997D-D4032D2671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0800" y="3368383"/>
            <a:ext cx="180975"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8" name="Picture 8">
            <a:extLst>
              <a:ext uri="{FF2B5EF4-FFF2-40B4-BE49-F238E27FC236}">
                <a16:creationId xmlns:a16="http://schemas.microsoft.com/office/drawing/2014/main" id="{65C4E012-C1C5-4BE5-9D0C-3AB116F9CC7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51138" y="2749258"/>
            <a:ext cx="1381125"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cxnSp>
        <p:nvCxnSpPr>
          <p:cNvPr id="19" name="直接连接符 11">
            <a:extLst>
              <a:ext uri="{FF2B5EF4-FFF2-40B4-BE49-F238E27FC236}">
                <a16:creationId xmlns:a16="http://schemas.microsoft.com/office/drawing/2014/main" id="{16961293-1803-4B15-8A11-E9EDCD801784}"/>
              </a:ext>
            </a:extLst>
          </p:cNvPr>
          <p:cNvCxnSpPr>
            <a:cxnSpLocks noChangeShapeType="1"/>
          </p:cNvCxnSpPr>
          <p:nvPr/>
        </p:nvCxnSpPr>
        <p:spPr bwMode="auto">
          <a:xfrm>
            <a:off x="2441575" y="3263608"/>
            <a:ext cx="4125913" cy="1588"/>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pic>
        <p:nvPicPr>
          <p:cNvPr id="7" name="图片 6">
            <a:extLst>
              <a:ext uri="{FF2B5EF4-FFF2-40B4-BE49-F238E27FC236}">
                <a16:creationId xmlns:a16="http://schemas.microsoft.com/office/drawing/2014/main" id="{4B6EFC00-12AE-4A20-8E5D-F6F28B7339B6}"/>
              </a:ext>
            </a:extLst>
          </p:cNvPr>
          <p:cNvPicPr>
            <a:picLocks noChangeAspect="1"/>
          </p:cNvPicPr>
          <p:nvPr/>
        </p:nvPicPr>
        <p:blipFill>
          <a:blip r:embed="rId7"/>
          <a:stretch>
            <a:fillRect/>
          </a:stretch>
        </p:blipFill>
        <p:spPr>
          <a:xfrm>
            <a:off x="2448920" y="4024895"/>
            <a:ext cx="4246160" cy="2644465"/>
          </a:xfrm>
          <a:prstGeom prst="rect">
            <a:avLst/>
          </a:prstGeom>
        </p:spPr>
      </p:pic>
    </p:spTree>
    <p:extLst>
      <p:ext uri="{BB962C8B-B14F-4D97-AF65-F5344CB8AC3E}">
        <p14:creationId xmlns:p14="http://schemas.microsoft.com/office/powerpoint/2010/main" val="3082421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00035 0.00023 L 0.03142 -3.35184E-6 " pathEditMode="relative" rAng="0" ptsTypes="AA">
                                      <p:cBhvr>
                                        <p:cTn id="6" dur="2000" fill="hold"/>
                                        <p:tgtEl>
                                          <p:spTgt spid="18"/>
                                        </p:tgtEl>
                                        <p:attrNameLst>
                                          <p:attrName>ppt_x</p:attrName>
                                          <p:attrName>ppt_y</p:attrName>
                                        </p:attrNameLst>
                                      </p:cBhvr>
                                      <p:rCtr x="1545" y="-23"/>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03142 -3.35184E-6 L 0.0632 0.00139 " pathEditMode="relative" rAng="0" ptsTypes="AA">
                                      <p:cBhvr>
                                        <p:cTn id="10" dur="2000" fill="hold"/>
                                        <p:tgtEl>
                                          <p:spTgt spid="18"/>
                                        </p:tgtEl>
                                        <p:attrNameLst>
                                          <p:attrName>ppt_x</p:attrName>
                                          <p:attrName>ppt_y</p:attrName>
                                        </p:attrNameLst>
                                      </p:cBhvr>
                                      <p:rCtr x="1580" y="69"/>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06319 0.00139 L 0.10069 0.00139 " pathEditMode="relative" rAng="0" ptsTypes="AA">
                                      <p:cBhvr>
                                        <p:cTn id="14" dur="2000" fill="hold"/>
                                        <p:tgtEl>
                                          <p:spTgt spid="18"/>
                                        </p:tgtEl>
                                        <p:attrNameLst>
                                          <p:attrName>ppt_x</p:attrName>
                                          <p:attrName>ppt_y</p:attrName>
                                        </p:attrNameLst>
                                      </p:cBhvr>
                                      <p:rCtr x="1875" y="0"/>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10069 0.00139 L 0.13125 0.00116 " pathEditMode="relative" rAng="0" ptsTypes="AA">
                                      <p:cBhvr>
                                        <p:cTn id="18" dur="2000" fill="hold"/>
                                        <p:tgtEl>
                                          <p:spTgt spid="18"/>
                                        </p:tgtEl>
                                        <p:attrNameLst>
                                          <p:attrName>ppt_x</p:attrName>
                                          <p:attrName>ppt_y</p:attrName>
                                        </p:attrNameLst>
                                      </p:cBhvr>
                                      <p:rCtr x="1528" y="-23"/>
                                    </p:animMotion>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nodeType="clickEffect">
                                  <p:stCondLst>
                                    <p:cond delay="0"/>
                                  </p:stCondLst>
                                  <p:childTnLst>
                                    <p:animMotion origin="layout" path="M 0.13038 0.00023 L 0.16024 -0.00069 " pathEditMode="relative" rAng="0" ptsTypes="AA">
                                      <p:cBhvr>
                                        <p:cTn id="22" dur="2000" fill="hold"/>
                                        <p:tgtEl>
                                          <p:spTgt spid="18"/>
                                        </p:tgtEl>
                                        <p:attrNameLst>
                                          <p:attrName>ppt_x</p:attrName>
                                          <p:attrName>ppt_y</p:attrName>
                                        </p:attrNameLst>
                                      </p:cBhvr>
                                      <p:rCtr x="1493" y="-46"/>
                                    </p:animMotion>
                                  </p:childTnLst>
                                </p:cTn>
                              </p:par>
                            </p:childTnLst>
                          </p:cTn>
                        </p:par>
                      </p:childTnLst>
                    </p:cTn>
                  </p:par>
                  <p:par>
                    <p:cTn id="23" fill="hold">
                      <p:stCondLst>
                        <p:cond delay="indefinite"/>
                      </p:stCondLst>
                      <p:childTnLst>
                        <p:par>
                          <p:cTn id="24" fill="hold">
                            <p:stCondLst>
                              <p:cond delay="0"/>
                            </p:stCondLst>
                            <p:childTnLst>
                              <p:par>
                                <p:cTn id="25" presetID="63" presetClass="path" presetSubtype="0" accel="50000" decel="50000" fill="hold" nodeType="clickEffect">
                                  <p:stCondLst>
                                    <p:cond delay="0"/>
                                  </p:stCondLst>
                                  <p:childTnLst>
                                    <p:animMotion origin="layout" path="M 0.16007 -0.00023 L 0.19045 -0.00046 " pathEditMode="relative" rAng="0" ptsTypes="AA">
                                      <p:cBhvr>
                                        <p:cTn id="26" dur="2000" fill="hold"/>
                                        <p:tgtEl>
                                          <p:spTgt spid="18"/>
                                        </p:tgtEl>
                                        <p:attrNameLst>
                                          <p:attrName>ppt_x</p:attrName>
                                          <p:attrName>ppt_y</p:attrName>
                                        </p:attrNameLst>
                                      </p:cBhvr>
                                      <p:rCtr x="1510" y="-23"/>
                                    </p:animMotion>
                                  </p:childTnLst>
                                </p:cTn>
                              </p:par>
                            </p:childTnLst>
                          </p:cTn>
                        </p:par>
                      </p:childTnLst>
                    </p:cTn>
                  </p:par>
                  <p:par>
                    <p:cTn id="27" fill="hold">
                      <p:stCondLst>
                        <p:cond delay="indefinite"/>
                      </p:stCondLst>
                      <p:childTnLst>
                        <p:par>
                          <p:cTn id="28" fill="hold">
                            <p:stCondLst>
                              <p:cond delay="0"/>
                            </p:stCondLst>
                            <p:childTnLst>
                              <p:par>
                                <p:cTn id="29" presetID="63" presetClass="path" presetSubtype="0" accel="50000" decel="50000" fill="hold" nodeType="clickEffect">
                                  <p:stCondLst>
                                    <p:cond delay="0"/>
                                  </p:stCondLst>
                                  <p:childTnLst>
                                    <p:animMotion origin="layout" path="M 0.19045 -0.00046 L 0.21458 -0.00069 " pathEditMode="relative" rAng="0" ptsTypes="AA">
                                      <p:cBhvr>
                                        <p:cTn id="30" dur="2000" fill="hold"/>
                                        <p:tgtEl>
                                          <p:spTgt spid="18"/>
                                        </p:tgtEl>
                                        <p:attrNameLst>
                                          <p:attrName>ppt_x</p:attrName>
                                          <p:attrName>ppt_y</p:attrName>
                                        </p:attrNameLst>
                                      </p:cBhvr>
                                      <p:rCtr x="1198"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a:extLst>
              <a:ext uri="{FF2B5EF4-FFF2-40B4-BE49-F238E27FC236}">
                <a16:creationId xmlns:a16="http://schemas.microsoft.com/office/drawing/2014/main" id="{D6B082B4-5CF2-4C08-9C04-3D877BC82491}"/>
              </a:ext>
            </a:extLst>
          </p:cNvPr>
          <p:cNvSpPr>
            <a:spLocks noGrp="1"/>
          </p:cNvSpPr>
          <p:nvPr>
            <p:ph type="title"/>
          </p:nvPr>
        </p:nvSpPr>
        <p:spPr/>
        <p:txBody>
          <a:bodyPr/>
          <a:lstStyle/>
          <a:p>
            <a:r>
              <a:rPr lang="en-US" altLang="zh-CN"/>
              <a:t>2.1 </a:t>
            </a:r>
            <a:r>
              <a:rPr lang="zh-CN" altLang="en-US"/>
              <a:t>离散时间</a:t>
            </a:r>
            <a:r>
              <a:rPr lang="en-US" altLang="zh-CN"/>
              <a:t>LTI</a:t>
            </a:r>
            <a:r>
              <a:rPr lang="zh-CN" altLang="en-US"/>
              <a:t>系统：卷积和</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6FFD47F-8595-490B-8BFA-BCFCE42886FB}"/>
                  </a:ext>
                </a:extLst>
              </p:cNvPr>
              <p:cNvSpPr>
                <a:spLocks noGrp="1"/>
              </p:cNvSpPr>
              <p:nvPr>
                <p:ph idx="1"/>
              </p:nvPr>
            </p:nvSpPr>
            <p:spPr>
              <a:xfrm>
                <a:off x="457200" y="1196752"/>
                <a:ext cx="8229600" cy="5181355"/>
              </a:xfrm>
            </p:spPr>
            <p:txBody>
              <a:bodyPr>
                <a:spAutoFit/>
              </a:bodyPr>
              <a:lstStyle/>
              <a:p>
                <a:pPr>
                  <a:lnSpc>
                    <a:spcPct val="120000"/>
                  </a:lnSpc>
                  <a:spcBef>
                    <a:spcPts val="0"/>
                  </a:spcBef>
                  <a:spcAft>
                    <a:spcPts val="600"/>
                  </a:spcAft>
                  <a:defRPr/>
                </a:pPr>
                <a:r>
                  <a:rPr lang="zh-CN" altLang="en-US" sz="2800" b="0" dirty="0">
                    <a:solidFill>
                      <a:schemeClr val="tx1"/>
                    </a:solidFill>
                  </a:rPr>
                  <a:t>求卷积和</a:t>
                </a:r>
                <a14:m>
                  <m:oMath xmlns:m="http://schemas.openxmlformats.org/officeDocument/2006/math">
                    <m:r>
                      <a:rPr lang="en-US" sz="2800" b="0" i="1" smtClean="0">
                        <a:solidFill>
                          <a:schemeClr val="tx1"/>
                        </a:solidFill>
                        <a:latin typeface="Cambria Math" panose="02040503050406030204" pitchFamily="18" charset="0"/>
                      </a:rPr>
                      <m:t>𝑦</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𝑛</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𝑛</m:t>
                    </m:r>
                    <m:r>
                      <a:rPr lang="en-US" sz="2800" b="0" i="1" smtClean="0">
                        <a:solidFill>
                          <a:schemeClr val="tx1"/>
                        </a:solidFill>
                        <a:latin typeface="Cambria Math" panose="02040503050406030204" pitchFamily="18" charset="0"/>
                      </a:rPr>
                      <m:t>]∗</m:t>
                    </m:r>
                    <m:r>
                      <a:rPr lang="en-US" sz="2800" b="0" i="1">
                        <a:solidFill>
                          <a:schemeClr val="tx1"/>
                        </a:solidFill>
                        <a:latin typeface="Cambria Math" panose="02040503050406030204" pitchFamily="18" charset="0"/>
                      </a:rPr>
                      <m:t>h</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𝑛</m:t>
                    </m:r>
                    <m:r>
                      <a:rPr lang="en-US" sz="2800" b="0" i="1" smtClean="0">
                        <a:solidFill>
                          <a:schemeClr val="tx1"/>
                        </a:solidFill>
                        <a:latin typeface="Cambria Math" panose="02040503050406030204" pitchFamily="18" charset="0"/>
                      </a:rPr>
                      <m:t>]=</m:t>
                    </m:r>
                    <m:nary>
                      <m:naryPr>
                        <m:chr m:val="∑"/>
                        <m:limLoc m:val="subSup"/>
                        <m:ctrlPr>
                          <a:rPr lang="en-US" sz="2800" b="0" i="1">
                            <a:solidFill>
                              <a:schemeClr val="tx1"/>
                            </a:solidFill>
                            <a:latin typeface="Cambria Math" panose="02040503050406030204" pitchFamily="18" charset="0"/>
                          </a:rPr>
                        </m:ctrlPr>
                      </m:naryPr>
                      <m:sub>
                        <m:r>
                          <a:rPr lang="en-US" sz="2800" b="0" i="1">
                            <a:solidFill>
                              <a:schemeClr val="tx1"/>
                            </a:solidFill>
                            <a:latin typeface="Cambria Math" panose="02040503050406030204" pitchFamily="18" charset="0"/>
                          </a:rPr>
                          <m:t>𝑘</m:t>
                        </m:r>
                        <m:r>
                          <a:rPr lang="en-US" sz="2800" b="0" i="1">
                            <a:solidFill>
                              <a:schemeClr val="tx1"/>
                            </a:solidFill>
                            <a:latin typeface="Cambria Math" panose="02040503050406030204" pitchFamily="18" charset="0"/>
                          </a:rPr>
                          <m:t>=−∞</m:t>
                        </m:r>
                      </m:sub>
                      <m:sup>
                        <m:r>
                          <a:rPr lang="en-US" sz="2800" b="0" i="1">
                            <a:solidFill>
                              <a:schemeClr val="tx1"/>
                            </a:solidFill>
                            <a:latin typeface="Cambria Math" panose="02040503050406030204" pitchFamily="18" charset="0"/>
                          </a:rPr>
                          <m:t>+∞</m:t>
                        </m:r>
                      </m:sup>
                      <m:e>
                        <m:r>
                          <a:rPr lang="en-US" sz="2800" b="0" i="1">
                            <a:solidFill>
                              <a:schemeClr val="tx1"/>
                            </a:solidFill>
                            <a:latin typeface="Cambria Math" panose="02040503050406030204" pitchFamily="18" charset="0"/>
                          </a:rPr>
                          <m:t>𝑥</m:t>
                        </m:r>
                        <m:r>
                          <a:rPr lang="en-US" sz="2800" b="0" i="1">
                            <a:solidFill>
                              <a:schemeClr val="tx1"/>
                            </a:solidFill>
                            <a:latin typeface="Cambria Math" panose="02040503050406030204" pitchFamily="18" charset="0"/>
                          </a:rPr>
                          <m:t>[</m:t>
                        </m:r>
                        <m:r>
                          <a:rPr lang="en-US" sz="2800" b="0" i="1">
                            <a:solidFill>
                              <a:schemeClr val="tx1"/>
                            </a:solidFill>
                            <a:latin typeface="Cambria Math" panose="02040503050406030204" pitchFamily="18" charset="0"/>
                          </a:rPr>
                          <m:t>𝑘</m:t>
                        </m:r>
                        <m:r>
                          <a:rPr lang="en-US" sz="2800" b="0" i="1">
                            <a:solidFill>
                              <a:schemeClr val="tx1"/>
                            </a:solidFill>
                            <a:latin typeface="Cambria Math" panose="02040503050406030204" pitchFamily="18" charset="0"/>
                          </a:rPr>
                          <m:t>]</m:t>
                        </m:r>
                        <m:r>
                          <a:rPr lang="en-US" sz="2800" b="0" i="1">
                            <a:solidFill>
                              <a:schemeClr val="tx1"/>
                            </a:solidFill>
                            <a:latin typeface="Cambria Math" panose="02040503050406030204" pitchFamily="18" charset="0"/>
                          </a:rPr>
                          <m:t>h</m:t>
                        </m:r>
                        <m:r>
                          <a:rPr lang="en-US" sz="2800" b="0" i="1">
                            <a:solidFill>
                              <a:schemeClr val="tx1"/>
                            </a:solidFill>
                            <a:latin typeface="Cambria Math" panose="02040503050406030204" pitchFamily="18" charset="0"/>
                          </a:rPr>
                          <m:t>[</m:t>
                        </m:r>
                        <m:r>
                          <a:rPr lang="en-US" sz="2800" b="0" i="1">
                            <a:solidFill>
                              <a:schemeClr val="tx1"/>
                            </a:solidFill>
                            <a:latin typeface="Cambria Math" panose="02040503050406030204" pitchFamily="18" charset="0"/>
                          </a:rPr>
                          <m:t>𝑛</m:t>
                        </m:r>
                        <m:r>
                          <a:rPr lang="en-US" sz="2800" b="0" i="1">
                            <a:solidFill>
                              <a:schemeClr val="tx1"/>
                            </a:solidFill>
                            <a:latin typeface="Cambria Math" panose="02040503050406030204" pitchFamily="18" charset="0"/>
                          </a:rPr>
                          <m:t>−</m:t>
                        </m:r>
                        <m:r>
                          <a:rPr lang="en-US" sz="2800" b="0" i="1">
                            <a:solidFill>
                              <a:schemeClr val="tx1"/>
                            </a:solidFill>
                            <a:latin typeface="Cambria Math" panose="02040503050406030204" pitchFamily="18" charset="0"/>
                          </a:rPr>
                          <m:t>𝑘</m:t>
                        </m:r>
                        <m:r>
                          <a:rPr lang="en-US" sz="2800" b="0" i="1">
                            <a:solidFill>
                              <a:schemeClr val="tx1"/>
                            </a:solidFill>
                            <a:latin typeface="Cambria Math" panose="02040503050406030204" pitchFamily="18" charset="0"/>
                          </a:rPr>
                          <m:t>]</m:t>
                        </m:r>
                      </m:e>
                    </m:nary>
                  </m:oMath>
                </a14:m>
                <a:r>
                  <a:rPr lang="zh-CN" altLang="en-US" sz="2800" b="0" dirty="0">
                    <a:solidFill>
                      <a:schemeClr val="tx1"/>
                    </a:solidFill>
                  </a:rPr>
                  <a:t>步骤：</a:t>
                </a:r>
              </a:p>
              <a:p>
                <a:pPr marL="914400" lvl="1" indent="-514350">
                  <a:lnSpc>
                    <a:spcPct val="120000"/>
                  </a:lnSpc>
                  <a:spcBef>
                    <a:spcPts val="0"/>
                  </a:spcBef>
                  <a:spcAft>
                    <a:spcPts val="600"/>
                  </a:spcAft>
                  <a:buFont typeface="+mj-lt"/>
                  <a:buAutoNum type="arabicPeriod"/>
                  <a:defRPr/>
                </a:pPr>
                <a:r>
                  <a:rPr lang="zh-CN" altLang="en-US" b="0" dirty="0">
                    <a:solidFill>
                      <a:schemeClr val="tx1"/>
                    </a:solidFill>
                  </a:rPr>
                  <a:t>将</a:t>
                </a:r>
                <a14:m>
                  <m:oMath xmlns:m="http://schemas.openxmlformats.org/officeDocument/2006/math">
                    <m:r>
                      <a:rPr lang="en-US" b="0" i="1" smtClean="0">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𝑛</m:t>
                    </m:r>
                    <m:r>
                      <a:rPr lang="en-US" b="0" i="1" smtClean="0">
                        <a:solidFill>
                          <a:schemeClr val="tx1"/>
                        </a:solidFill>
                        <a:latin typeface="Cambria Math" panose="02040503050406030204" pitchFamily="18" charset="0"/>
                      </a:rPr>
                      <m:t>]</m:t>
                    </m:r>
                  </m:oMath>
                </a14:m>
                <a:r>
                  <a:rPr lang="zh-CN" altLang="en-US" b="0" dirty="0">
                    <a:solidFill>
                      <a:schemeClr val="tx1"/>
                    </a:solidFill>
                  </a:rPr>
                  <a:t>与</a:t>
                </a:r>
                <a14:m>
                  <m:oMath xmlns:m="http://schemas.openxmlformats.org/officeDocument/2006/math">
                    <m:r>
                      <a:rPr lang="en-US" b="0" i="1">
                        <a:latin typeface="Cambria Math" panose="02040503050406030204" pitchFamily="18" charset="0"/>
                      </a:rPr>
                      <m:t>h</m:t>
                    </m:r>
                    <m:r>
                      <a:rPr lang="en-US" b="0" i="1">
                        <a:latin typeface="Cambria Math" panose="02040503050406030204" pitchFamily="18" charset="0"/>
                      </a:rPr>
                      <m:t>[</m:t>
                    </m:r>
                    <m:r>
                      <a:rPr lang="en-US" b="0" i="1">
                        <a:latin typeface="Cambria Math" panose="02040503050406030204" pitchFamily="18" charset="0"/>
                      </a:rPr>
                      <m:t>𝑛</m:t>
                    </m:r>
                    <m:r>
                      <a:rPr lang="en-US" b="0" i="1">
                        <a:latin typeface="Cambria Math" panose="02040503050406030204" pitchFamily="18" charset="0"/>
                      </a:rPr>
                      <m:t>]</m:t>
                    </m:r>
                  </m:oMath>
                </a14:m>
                <a:r>
                  <a:rPr lang="zh-CN" altLang="en-US" b="0" dirty="0">
                    <a:solidFill>
                      <a:schemeClr val="tx1"/>
                    </a:solidFill>
                  </a:rPr>
                  <a:t>变为</a:t>
                </a:r>
                <a14:m>
                  <m:oMath xmlns:m="http://schemas.openxmlformats.org/officeDocument/2006/math">
                    <m:r>
                      <a:rPr lang="en-US" b="0" i="1">
                        <a:latin typeface="Cambria Math" panose="02040503050406030204" pitchFamily="18" charset="0"/>
                      </a:rPr>
                      <m:t>𝑥</m:t>
                    </m:r>
                    <m:r>
                      <a:rPr lang="en-US" b="0" i="1">
                        <a:latin typeface="Cambria Math" panose="02040503050406030204" pitchFamily="18" charset="0"/>
                      </a:rPr>
                      <m:t>[</m:t>
                    </m:r>
                    <m:r>
                      <a:rPr lang="en-US" b="0" i="1" smtClean="0">
                        <a:latin typeface="Cambria Math" panose="02040503050406030204" pitchFamily="18" charset="0"/>
                      </a:rPr>
                      <m:t>𝑘</m:t>
                    </m:r>
                    <m:r>
                      <a:rPr lang="en-US" b="0" i="1">
                        <a:latin typeface="Cambria Math" panose="02040503050406030204" pitchFamily="18" charset="0"/>
                      </a:rPr>
                      <m:t>]</m:t>
                    </m:r>
                  </m:oMath>
                </a14:m>
                <a:r>
                  <a:rPr lang="zh-CN" altLang="en-US" b="0" dirty="0"/>
                  <a:t>与</a:t>
                </a:r>
                <a14:m>
                  <m:oMath xmlns:m="http://schemas.openxmlformats.org/officeDocument/2006/math">
                    <m:r>
                      <a:rPr lang="en-US" b="0" i="1">
                        <a:latin typeface="Cambria Math" panose="02040503050406030204" pitchFamily="18" charset="0"/>
                      </a:rPr>
                      <m:t>h</m:t>
                    </m:r>
                    <m:r>
                      <a:rPr lang="en-US" b="0" i="1">
                        <a:latin typeface="Cambria Math" panose="02040503050406030204" pitchFamily="18" charset="0"/>
                      </a:rPr>
                      <m:t>[</m:t>
                    </m:r>
                    <m:r>
                      <a:rPr lang="en-US" b="0" i="1" smtClean="0">
                        <a:latin typeface="Cambria Math" panose="02040503050406030204" pitchFamily="18" charset="0"/>
                      </a:rPr>
                      <m:t>𝑘</m:t>
                    </m:r>
                    <m:r>
                      <a:rPr lang="en-US" b="0" i="1">
                        <a:latin typeface="Cambria Math" panose="02040503050406030204" pitchFamily="18" charset="0"/>
                      </a:rPr>
                      <m:t>]</m:t>
                    </m:r>
                  </m:oMath>
                </a14:m>
                <a:r>
                  <a:rPr lang="zh-CN" altLang="en-US" b="0" dirty="0">
                    <a:solidFill>
                      <a:schemeClr val="tx1"/>
                    </a:solidFill>
                  </a:rPr>
                  <a:t>，因</a:t>
                </a:r>
                <a14:m>
                  <m:oMath xmlns:m="http://schemas.openxmlformats.org/officeDocument/2006/math">
                    <m:r>
                      <a:rPr lang="en-US" b="0" i="1">
                        <a:latin typeface="Cambria Math" panose="02040503050406030204" pitchFamily="18" charset="0"/>
                      </a:rPr>
                      <m:t>𝑘</m:t>
                    </m:r>
                  </m:oMath>
                </a14:m>
                <a:r>
                  <a:rPr lang="zh-CN" altLang="en-US" b="0" dirty="0">
                    <a:solidFill>
                      <a:schemeClr val="tx1"/>
                    </a:solidFill>
                  </a:rPr>
                  <a:t>为求和变量 ；</a:t>
                </a:r>
              </a:p>
              <a:p>
                <a:pPr marL="914400" lvl="1" indent="-514350">
                  <a:lnSpc>
                    <a:spcPct val="120000"/>
                  </a:lnSpc>
                  <a:spcBef>
                    <a:spcPts val="0"/>
                  </a:spcBef>
                  <a:spcAft>
                    <a:spcPts val="600"/>
                  </a:spcAft>
                  <a:buFont typeface="+mj-lt"/>
                  <a:buAutoNum type="arabicPeriod"/>
                  <a:defRPr/>
                </a:pPr>
                <a:r>
                  <a:rPr lang="zh-CN" altLang="en-US" b="0" dirty="0">
                    <a:solidFill>
                      <a:schemeClr val="tx1"/>
                    </a:solidFill>
                  </a:rPr>
                  <a:t>将</a:t>
                </a:r>
                <a14:m>
                  <m:oMath xmlns:m="http://schemas.openxmlformats.org/officeDocument/2006/math">
                    <m:r>
                      <a:rPr lang="en-US" b="0" i="1" smtClean="0">
                        <a:latin typeface="Cambria Math" panose="02040503050406030204" pitchFamily="18" charset="0"/>
                      </a:rPr>
                      <m:t>h</m:t>
                    </m:r>
                    <m:r>
                      <a:rPr lang="en-US" b="0" i="1">
                        <a:latin typeface="Cambria Math" panose="02040503050406030204" pitchFamily="18" charset="0"/>
                      </a:rPr>
                      <m:t>[</m:t>
                    </m:r>
                    <m:r>
                      <a:rPr lang="en-US" b="0" i="1" smtClean="0">
                        <a:latin typeface="Cambria Math" panose="02040503050406030204" pitchFamily="18" charset="0"/>
                      </a:rPr>
                      <m:t>𝑘</m:t>
                    </m:r>
                    <m:r>
                      <a:rPr lang="en-US" b="0" i="1">
                        <a:latin typeface="Cambria Math" panose="02040503050406030204" pitchFamily="18" charset="0"/>
                      </a:rPr>
                      <m:t>]</m:t>
                    </m:r>
                  </m:oMath>
                </a14:m>
                <a:r>
                  <a:rPr lang="zh-CN" altLang="en-US" b="0" dirty="0">
                    <a:solidFill>
                      <a:schemeClr val="tx1"/>
                    </a:solidFill>
                  </a:rPr>
                  <a:t>变为</a:t>
                </a:r>
                <a14:m>
                  <m:oMath xmlns:m="http://schemas.openxmlformats.org/officeDocument/2006/math">
                    <m:r>
                      <a:rPr lang="en-US" b="0" i="1">
                        <a:latin typeface="Cambria Math" panose="02040503050406030204" pitchFamily="18" charset="0"/>
                      </a:rPr>
                      <m:t>h</m:t>
                    </m:r>
                    <m:r>
                      <a:rPr lang="en-US" b="0" i="1">
                        <a:latin typeface="Cambria Math" panose="02040503050406030204" pitchFamily="18" charset="0"/>
                      </a:rPr>
                      <m:t>[−</m:t>
                    </m:r>
                    <m:r>
                      <a:rPr lang="en-US" b="0" i="1">
                        <a:latin typeface="Cambria Math" panose="02040503050406030204" pitchFamily="18" charset="0"/>
                      </a:rPr>
                      <m:t>𝑘</m:t>
                    </m:r>
                    <m:r>
                      <a:rPr lang="en-US" b="0" i="1">
                        <a:latin typeface="Cambria Math" panose="02040503050406030204" pitchFamily="18" charset="0"/>
                      </a:rPr>
                      <m:t>]</m:t>
                    </m:r>
                  </m:oMath>
                </a14:m>
                <a:r>
                  <a:rPr lang="zh-CN" altLang="en-US" b="0" dirty="0">
                    <a:solidFill>
                      <a:schemeClr val="tx1"/>
                    </a:solidFill>
                  </a:rPr>
                  <a:t>；</a:t>
                </a:r>
              </a:p>
              <a:p>
                <a:pPr marL="914400" lvl="1" indent="-514350">
                  <a:lnSpc>
                    <a:spcPct val="120000"/>
                  </a:lnSpc>
                  <a:spcBef>
                    <a:spcPts val="0"/>
                  </a:spcBef>
                  <a:spcAft>
                    <a:spcPts val="600"/>
                  </a:spcAft>
                  <a:buFont typeface="+mj-lt"/>
                  <a:buAutoNum type="arabicPeriod"/>
                  <a:defRPr/>
                </a:pPr>
                <a:r>
                  <a:rPr lang="zh-CN" altLang="en-US" b="0" dirty="0">
                    <a:solidFill>
                      <a:schemeClr val="tx1"/>
                    </a:solidFill>
                  </a:rPr>
                  <a:t>将</a:t>
                </a:r>
                <a14:m>
                  <m:oMath xmlns:m="http://schemas.openxmlformats.org/officeDocument/2006/math">
                    <m:r>
                      <a:rPr lang="en-US" b="0" i="1" smtClean="0">
                        <a:latin typeface="Cambria Math" panose="02040503050406030204" pitchFamily="18" charset="0"/>
                      </a:rPr>
                      <m:t>h</m:t>
                    </m:r>
                    <m:r>
                      <a:rPr lang="en-US" b="0" i="1">
                        <a:latin typeface="Cambria Math" panose="02040503050406030204" pitchFamily="18" charset="0"/>
                      </a:rPr>
                      <m:t>[</m:t>
                    </m:r>
                    <m:r>
                      <a:rPr lang="en-US" b="0" i="1" smtClean="0">
                        <a:latin typeface="Cambria Math" panose="02040503050406030204" pitchFamily="18" charset="0"/>
                      </a:rPr>
                      <m:t>−</m:t>
                    </m:r>
                    <m:r>
                      <a:rPr lang="en-US" b="0" i="1">
                        <a:latin typeface="Cambria Math" panose="02040503050406030204" pitchFamily="18" charset="0"/>
                      </a:rPr>
                      <m:t>𝑘</m:t>
                    </m:r>
                    <m:r>
                      <a:rPr lang="en-US" b="0" i="1">
                        <a:latin typeface="Cambria Math" panose="02040503050406030204" pitchFamily="18" charset="0"/>
                      </a:rPr>
                      <m:t>]</m:t>
                    </m:r>
                  </m:oMath>
                </a14:m>
                <a:r>
                  <a:rPr lang="zh-CN" altLang="en-US" b="0" dirty="0">
                    <a:solidFill>
                      <a:schemeClr val="tx1"/>
                    </a:solidFill>
                  </a:rPr>
                  <a:t>平移</a:t>
                </a:r>
                <a14:m>
                  <m:oMath xmlns:m="http://schemas.openxmlformats.org/officeDocument/2006/math">
                    <m:r>
                      <a:rPr lang="en-US" b="0" i="1">
                        <a:latin typeface="Cambria Math" panose="02040503050406030204" pitchFamily="18" charset="0"/>
                      </a:rPr>
                      <m:t>𝑛</m:t>
                    </m:r>
                  </m:oMath>
                </a14:m>
                <a:r>
                  <a:rPr lang="zh-CN" altLang="en-US" b="0" dirty="0">
                    <a:solidFill>
                      <a:schemeClr val="tx1"/>
                    </a:solidFill>
                  </a:rPr>
                  <a:t>，变为</a:t>
                </a:r>
                <a14:m>
                  <m:oMath xmlns:m="http://schemas.openxmlformats.org/officeDocument/2006/math">
                    <m:r>
                      <a:rPr lang="en-US" b="0" i="1">
                        <a:latin typeface="Cambria Math" panose="02040503050406030204" pitchFamily="18" charset="0"/>
                      </a:rPr>
                      <m:t>h</m:t>
                    </m:r>
                    <m:r>
                      <a:rPr lang="en-US" b="0" i="1">
                        <a:latin typeface="Cambria Math" panose="02040503050406030204" pitchFamily="18" charset="0"/>
                      </a:rPr>
                      <m:t>[</m:t>
                    </m:r>
                    <m:r>
                      <a:rPr lang="en-US" b="0" i="1">
                        <a:latin typeface="Cambria Math" panose="02040503050406030204" pitchFamily="18" charset="0"/>
                      </a:rPr>
                      <m:t>𝑛</m:t>
                    </m:r>
                    <m:r>
                      <a:rPr lang="en-US" b="0" i="1">
                        <a:latin typeface="Cambria Math" panose="02040503050406030204" pitchFamily="18" charset="0"/>
                      </a:rPr>
                      <m:t>−</m:t>
                    </m:r>
                    <m:r>
                      <a:rPr lang="en-US" b="0" i="1">
                        <a:latin typeface="Cambria Math" panose="02040503050406030204" pitchFamily="18" charset="0"/>
                      </a:rPr>
                      <m:t>𝑘</m:t>
                    </m:r>
                    <m:r>
                      <a:rPr lang="en-US" b="0" i="1">
                        <a:latin typeface="Cambria Math" panose="02040503050406030204" pitchFamily="18" charset="0"/>
                      </a:rPr>
                      <m:t>]</m:t>
                    </m:r>
                  </m:oMath>
                </a14:m>
                <a:r>
                  <a:rPr lang="zh-CN" altLang="en-US" b="0" dirty="0">
                    <a:solidFill>
                      <a:schemeClr val="tx1"/>
                    </a:solidFill>
                  </a:rPr>
                  <a:t>；</a:t>
                </a:r>
              </a:p>
              <a:p>
                <a:pPr marL="914400" lvl="1" indent="-514350">
                  <a:lnSpc>
                    <a:spcPct val="120000"/>
                  </a:lnSpc>
                  <a:spcBef>
                    <a:spcPts val="0"/>
                  </a:spcBef>
                  <a:spcAft>
                    <a:spcPts val="600"/>
                  </a:spcAft>
                  <a:buFont typeface="+mj-lt"/>
                  <a:buAutoNum type="arabicPeriod"/>
                  <a:defRPr/>
                </a:pPr>
                <a:r>
                  <a:rPr lang="zh-CN" altLang="en-US" b="0" dirty="0">
                    <a:solidFill>
                      <a:schemeClr val="tx1"/>
                    </a:solidFill>
                  </a:rPr>
                  <a:t>将</a:t>
                </a:r>
                <a14:m>
                  <m:oMath xmlns:m="http://schemas.openxmlformats.org/officeDocument/2006/math">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𝑘</m:t>
                    </m:r>
                    <m:r>
                      <a:rPr lang="en-US" sz="2800" b="0" i="1" smtClean="0">
                        <a:solidFill>
                          <a:schemeClr val="tx1"/>
                        </a:solidFill>
                        <a:latin typeface="Cambria Math" panose="02040503050406030204" pitchFamily="18" charset="0"/>
                      </a:rPr>
                      <m:t>]</m:t>
                    </m:r>
                  </m:oMath>
                </a14:m>
                <a:r>
                  <a:rPr lang="zh-CN" altLang="en-US" b="0" dirty="0">
                    <a:solidFill>
                      <a:schemeClr val="tx1"/>
                    </a:solidFill>
                  </a:rPr>
                  <a:t>和</a:t>
                </a:r>
                <a14:m>
                  <m:oMath xmlns:m="http://schemas.openxmlformats.org/officeDocument/2006/math">
                    <m:r>
                      <a:rPr lang="en-US" b="0" i="1">
                        <a:latin typeface="Cambria Math" panose="02040503050406030204" pitchFamily="18" charset="0"/>
                      </a:rPr>
                      <m:t>h</m:t>
                    </m:r>
                    <m:r>
                      <a:rPr lang="en-US" b="0" i="1">
                        <a:latin typeface="Cambria Math" panose="02040503050406030204" pitchFamily="18" charset="0"/>
                      </a:rPr>
                      <m:t>[</m:t>
                    </m:r>
                    <m:r>
                      <a:rPr lang="en-US" b="0" i="1">
                        <a:latin typeface="Cambria Math" panose="02040503050406030204" pitchFamily="18" charset="0"/>
                      </a:rPr>
                      <m:t>𝑛</m:t>
                    </m:r>
                    <m:r>
                      <a:rPr lang="en-US" b="0" i="1">
                        <a:latin typeface="Cambria Math" panose="02040503050406030204" pitchFamily="18" charset="0"/>
                      </a:rPr>
                      <m:t>−</m:t>
                    </m:r>
                    <m:r>
                      <a:rPr lang="en-US" b="0" i="1">
                        <a:latin typeface="Cambria Math" panose="02040503050406030204" pitchFamily="18" charset="0"/>
                      </a:rPr>
                      <m:t>𝑘</m:t>
                    </m:r>
                    <m:r>
                      <a:rPr lang="en-US" b="0" i="1">
                        <a:latin typeface="Cambria Math" panose="02040503050406030204" pitchFamily="18" charset="0"/>
                      </a:rPr>
                      <m:t>]</m:t>
                    </m:r>
                  </m:oMath>
                </a14:m>
                <a:r>
                  <a:rPr lang="zh-CN" altLang="en-US" b="0" dirty="0">
                    <a:solidFill>
                      <a:schemeClr val="tx1"/>
                    </a:solidFill>
                  </a:rPr>
                  <a:t>相乘；</a:t>
                </a:r>
              </a:p>
              <a:p>
                <a:pPr marL="914400" lvl="1" indent="-514350">
                  <a:lnSpc>
                    <a:spcPct val="120000"/>
                  </a:lnSpc>
                  <a:spcBef>
                    <a:spcPts val="0"/>
                  </a:spcBef>
                  <a:spcAft>
                    <a:spcPts val="600"/>
                  </a:spcAft>
                  <a:buFont typeface="+mj-lt"/>
                  <a:buAutoNum type="arabicPeriod"/>
                  <a:defRPr/>
                </a:pPr>
                <a:r>
                  <a:rPr lang="zh-CN" altLang="en-US" b="0" dirty="0">
                    <a:solidFill>
                      <a:schemeClr val="tx1"/>
                    </a:solidFill>
                  </a:rPr>
                  <a:t>对乘积</a:t>
                </a:r>
                <a14:m>
                  <m:oMath xmlns:m="http://schemas.openxmlformats.org/officeDocument/2006/math">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𝑘</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h</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𝑛</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𝑘</m:t>
                    </m:r>
                    <m:r>
                      <a:rPr lang="en-US" sz="2800" b="0" i="1" smtClean="0">
                        <a:solidFill>
                          <a:schemeClr val="tx1"/>
                        </a:solidFill>
                        <a:latin typeface="Cambria Math" panose="02040503050406030204" pitchFamily="18" charset="0"/>
                      </a:rPr>
                      <m:t>]</m:t>
                    </m:r>
                  </m:oMath>
                </a14:m>
                <a:r>
                  <a:rPr lang="zh-CN" altLang="en-US" b="0" dirty="0">
                    <a:solidFill>
                      <a:schemeClr val="tx1"/>
                    </a:solidFill>
                  </a:rPr>
                  <a:t>在</a:t>
                </a:r>
                <a14:m>
                  <m:oMath xmlns:m="http://schemas.openxmlformats.org/officeDocument/2006/math">
                    <m:r>
                      <a:rPr lang="en-US" b="0" i="1">
                        <a:latin typeface="Cambria Math" panose="02040503050406030204" pitchFamily="18" charset="0"/>
                      </a:rPr>
                      <m:t>𝑘</m:t>
                    </m:r>
                  </m:oMath>
                </a14:m>
                <a:r>
                  <a:rPr lang="zh-CN" altLang="en-US" b="0" dirty="0">
                    <a:solidFill>
                      <a:schemeClr val="tx1"/>
                    </a:solidFill>
                  </a:rPr>
                  <a:t>上取和；</a:t>
                </a:r>
                <a:endParaRPr lang="en-US" altLang="zh-CN" b="0" dirty="0">
                  <a:solidFill>
                    <a:schemeClr val="tx1"/>
                  </a:solidFill>
                </a:endParaRPr>
              </a:p>
              <a:p>
                <a:pPr marL="914400" lvl="1" indent="-514350">
                  <a:lnSpc>
                    <a:spcPct val="120000"/>
                  </a:lnSpc>
                  <a:spcBef>
                    <a:spcPts val="0"/>
                  </a:spcBef>
                  <a:spcAft>
                    <a:spcPts val="600"/>
                  </a:spcAft>
                  <a:buFont typeface="+mj-lt"/>
                  <a:buAutoNum type="arabicPeriod"/>
                  <a:defRPr/>
                </a:pPr>
                <a:r>
                  <a:rPr lang="zh-CN" altLang="en-US" b="0" dirty="0">
                    <a:solidFill>
                      <a:schemeClr val="tx1"/>
                    </a:solidFill>
                  </a:rPr>
                  <a:t>改变</a:t>
                </a:r>
                <a14:m>
                  <m:oMath xmlns:m="http://schemas.openxmlformats.org/officeDocument/2006/math">
                    <m:r>
                      <a:rPr lang="en-US" sz="2800" b="0" i="1" smtClean="0">
                        <a:solidFill>
                          <a:schemeClr val="tx1"/>
                        </a:solidFill>
                        <a:latin typeface="Cambria Math" panose="02040503050406030204" pitchFamily="18" charset="0"/>
                      </a:rPr>
                      <m:t>𝑛</m:t>
                    </m:r>
                  </m:oMath>
                </a14:m>
                <a:r>
                  <a:rPr lang="zh-CN" altLang="en-US" b="0" dirty="0">
                    <a:solidFill>
                      <a:schemeClr val="tx1"/>
                    </a:solidFill>
                  </a:rPr>
                  <a:t>值并重复</a:t>
                </a:r>
                <a:r>
                  <a:rPr lang="en-US" altLang="zh-CN" b="0" dirty="0">
                    <a:solidFill>
                      <a:schemeClr val="tx1"/>
                    </a:solidFill>
                  </a:rPr>
                  <a:t>3 – 5</a:t>
                </a:r>
                <a:r>
                  <a:rPr lang="zh-CN" altLang="en-US" b="0" dirty="0">
                    <a:solidFill>
                      <a:schemeClr val="tx1"/>
                    </a:solidFill>
                  </a:rPr>
                  <a:t>步。</a:t>
                </a:r>
                <a:endParaRPr lang="en-US" altLang="zh-CN" b="0" dirty="0">
                  <a:solidFill>
                    <a:schemeClr val="tx1"/>
                  </a:solidFill>
                </a:endParaRPr>
              </a:p>
            </p:txBody>
          </p:sp>
        </mc:Choice>
        <mc:Fallback xmlns="">
          <p:sp>
            <p:nvSpPr>
              <p:cNvPr id="3" name="内容占位符 2">
                <a:extLst>
                  <a:ext uri="{FF2B5EF4-FFF2-40B4-BE49-F238E27FC236}">
                    <a16:creationId xmlns:a16="http://schemas.microsoft.com/office/drawing/2014/main" id="{E6FFD47F-8595-490B-8BFA-BCFCE42886FB}"/>
                  </a:ext>
                </a:extLst>
              </p:cNvPr>
              <p:cNvSpPr>
                <a:spLocks noGrp="1" noRot="1" noChangeAspect="1" noMove="1" noResize="1" noEditPoints="1" noAdjustHandles="1" noChangeArrowheads="1" noChangeShapeType="1" noTextEdit="1"/>
              </p:cNvSpPr>
              <p:nvPr>
                <p:ph idx="1"/>
              </p:nvPr>
            </p:nvSpPr>
            <p:spPr>
              <a:xfrm>
                <a:off x="457200" y="1196752"/>
                <a:ext cx="8229600" cy="5181355"/>
              </a:xfrm>
              <a:blipFill>
                <a:blip r:embed="rId2"/>
                <a:stretch>
                  <a:fillRect l="-1333" r="-889" b="-2353"/>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4B756FC7-B633-4AB6-B0B8-CB9A1EB63EB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D95AF62-3719-49E4-87BF-EABC2868DB11}" type="slidenum">
              <a:rPr lang="zh-CN" altLang="en-US">
                <a:solidFill>
                  <a:srgbClr val="898989"/>
                </a:solidFill>
                <a:latin typeface="Calibri" panose="020F0502020204030204" pitchFamily="34" charset="0"/>
              </a:rPr>
              <a:pPr eaLnBrk="1" hangingPunct="1"/>
              <a:t>13</a:t>
            </a:fld>
            <a:endParaRPr lang="zh-CN" altLang="en-US">
              <a:solidFill>
                <a:srgbClr val="898989"/>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Picture 4" descr="02-08">
            <a:extLst>
              <a:ext uri="{FF2B5EF4-FFF2-40B4-BE49-F238E27FC236}">
                <a16:creationId xmlns:a16="http://schemas.microsoft.com/office/drawing/2014/main" id="{44B91EAD-F6D1-4AB7-B22B-DF4C257B82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067" y="1658937"/>
            <a:ext cx="6553200" cy="492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8" name="标题 1">
            <a:extLst>
              <a:ext uri="{FF2B5EF4-FFF2-40B4-BE49-F238E27FC236}">
                <a16:creationId xmlns:a16="http://schemas.microsoft.com/office/drawing/2014/main" id="{0BD51FDA-52F7-4D3B-B017-4AF28B2FE5AF}"/>
              </a:ext>
            </a:extLst>
          </p:cNvPr>
          <p:cNvSpPr>
            <a:spLocks noGrp="1"/>
          </p:cNvSpPr>
          <p:nvPr>
            <p:ph type="title"/>
          </p:nvPr>
        </p:nvSpPr>
        <p:spPr/>
        <p:txBody>
          <a:bodyPr/>
          <a:lstStyle/>
          <a:p>
            <a:r>
              <a:rPr lang="en-US" altLang="zh-CN"/>
              <a:t>2.1 </a:t>
            </a:r>
            <a:r>
              <a:rPr lang="zh-CN" altLang="en-US"/>
              <a:t>离散时间</a:t>
            </a:r>
            <a:r>
              <a:rPr lang="en-US" altLang="zh-CN"/>
              <a:t>LTI</a:t>
            </a:r>
            <a:r>
              <a:rPr lang="zh-CN" altLang="en-US"/>
              <a:t>系统：卷积和</a:t>
            </a:r>
          </a:p>
        </p:txBody>
      </p:sp>
      <p:sp>
        <p:nvSpPr>
          <p:cNvPr id="4" name="灯片编号占位符 3">
            <a:extLst>
              <a:ext uri="{FF2B5EF4-FFF2-40B4-BE49-F238E27FC236}">
                <a16:creationId xmlns:a16="http://schemas.microsoft.com/office/drawing/2014/main" id="{C1614D25-491A-4F59-A38C-2B17799B1A3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D8D21D4-4C59-4F7E-87CD-0BBFD6435A42}" type="slidenum">
              <a:rPr lang="zh-CN" altLang="en-US">
                <a:solidFill>
                  <a:srgbClr val="898989"/>
                </a:solidFill>
                <a:latin typeface="Calibri" panose="020F0502020204030204" pitchFamily="34" charset="0"/>
              </a:rPr>
              <a:pPr eaLnBrk="1" hangingPunct="1"/>
              <a:t>14</a:t>
            </a:fld>
            <a:endParaRPr lang="zh-CN" altLang="en-US">
              <a:solidFill>
                <a:srgbClr val="898989"/>
              </a:solidFill>
              <a:latin typeface="Calibri" panose="020F0502020204030204" pitchFamily="34" charset="0"/>
            </a:endParaRPr>
          </a:p>
        </p:txBody>
      </p:sp>
      <p:sp>
        <p:nvSpPr>
          <p:cNvPr id="21520" name="Text Box 2">
            <a:extLst>
              <a:ext uri="{FF2B5EF4-FFF2-40B4-BE49-F238E27FC236}">
                <a16:creationId xmlns:a16="http://schemas.microsoft.com/office/drawing/2014/main" id="{390D3DE0-A5DD-40DF-8EFA-6F507D6A3414}"/>
              </a:ext>
            </a:extLst>
          </p:cNvPr>
          <p:cNvSpPr txBox="1">
            <a:spLocks noChangeArrowheads="1"/>
          </p:cNvSpPr>
          <p:nvPr/>
        </p:nvSpPr>
        <p:spPr bwMode="auto">
          <a:xfrm>
            <a:off x="612951" y="1268760"/>
            <a:ext cx="9541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rgbClr val="800000"/>
                </a:solidFill>
                <a:latin typeface="Times New Roman" panose="02020603050405020304" pitchFamily="18" charset="0"/>
                <a:ea typeface="华文楷体" panose="02010600040101010101" pitchFamily="2" charset="-122"/>
                <a:cs typeface="楷体_GB2312" panose="02010609030101010101" pitchFamily="49" charset="-122"/>
              </a:rPr>
              <a:t>例</a:t>
            </a:r>
            <a:r>
              <a:rPr lang="en-US" altLang="zh-CN" sz="2400" dirty="0">
                <a:solidFill>
                  <a:srgbClr val="800000"/>
                </a:solidFill>
                <a:latin typeface="Times New Roman" panose="02020603050405020304" pitchFamily="18" charset="0"/>
                <a:ea typeface="华文楷体" panose="02010600040101010101" pitchFamily="2" charset="-122"/>
                <a:cs typeface="楷体_GB2312" panose="02010609030101010101" pitchFamily="49" charset="-122"/>
              </a:rPr>
              <a:t>1</a:t>
            </a:r>
            <a:r>
              <a:rPr lang="zh-CN" altLang="en-US" sz="2400" dirty="0">
                <a:solidFill>
                  <a:srgbClr val="800000"/>
                </a:solidFill>
                <a:latin typeface="Times New Roman" panose="02020603050405020304" pitchFamily="18" charset="0"/>
                <a:ea typeface="华文楷体" panose="02010600040101010101" pitchFamily="2" charset="-122"/>
                <a:cs typeface="楷体_GB2312" panose="02010609030101010101" pitchFamily="49" charset="-122"/>
              </a:rPr>
              <a:t>：</a:t>
            </a:r>
            <a:endParaRPr lang="zh-CN" altLang="en-US" sz="2400" dirty="0">
              <a:latin typeface="Times New Roman" panose="02020603050405020304" pitchFamily="18" charset="0"/>
              <a:ea typeface="华文楷体" panose="02010600040101010101" pitchFamily="2" charset="-122"/>
              <a:cs typeface="楷体_GB2312" panose="02010609030101010101" pitchFamily="49" charset="-122"/>
            </a:endParaRPr>
          </a:p>
        </p:txBody>
      </p:sp>
      <mc:AlternateContent xmlns:mc="http://schemas.openxmlformats.org/markup-compatibility/2006" xmlns:a14="http://schemas.microsoft.com/office/drawing/2010/main">
        <mc:Choice Requires="a14">
          <p:sp>
            <p:nvSpPr>
              <p:cNvPr id="21506" name="Object 2">
                <a:extLst>
                  <a:ext uri="{FF2B5EF4-FFF2-40B4-BE49-F238E27FC236}">
                    <a16:creationId xmlns:a16="http://schemas.microsoft.com/office/drawing/2014/main" id="{3F8C4910-381E-415A-B561-6AF7F1E3132B}"/>
                  </a:ext>
                </a:extLst>
              </p:cNvPr>
              <p:cNvSpPr txBox="1"/>
              <p:nvPr/>
            </p:nvSpPr>
            <p:spPr bwMode="auto">
              <a:xfrm>
                <a:off x="683568" y="1927452"/>
                <a:ext cx="2808312" cy="77886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000" i="1" smtClean="0">
                          <a:solidFill>
                            <a:srgbClr val="000000"/>
                          </a:solidFill>
                          <a:latin typeface="Cambria Math" panose="02040503050406030204" pitchFamily="18" charset="0"/>
                        </a:rPr>
                        <m:t>𝑥</m:t>
                      </m:r>
                      <m:r>
                        <a:rPr lang="en-US" sz="2000" b="0" i="1" smtClean="0">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𝑛</m:t>
                      </m:r>
                      <m:r>
                        <a:rPr lang="en-US" sz="2000" b="0" i="1" smtClean="0">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m:t>
                      </m:r>
                      <m:d>
                        <m:dPr>
                          <m:begChr m:val="{"/>
                          <m:endChr m:val=""/>
                          <m:ctrlPr>
                            <a:rPr lang="en-US" sz="2000" i="1">
                              <a:solidFill>
                                <a:srgbClr val="000000"/>
                              </a:solidFill>
                              <a:latin typeface="Cambria Math" panose="02040503050406030204" pitchFamily="18" charset="0"/>
                            </a:rPr>
                          </m:ctrlPr>
                        </m:dPr>
                        <m:e>
                          <m:m>
                            <m:mPr>
                              <m:plcHide m:val="on"/>
                              <m:mcs>
                                <m:mc>
                                  <m:mcPr>
                                    <m:count m:val="1"/>
                                    <m:mcJc m:val="center"/>
                                  </m:mcPr>
                                </m:mc>
                              </m:mcs>
                              <m:ctrlPr>
                                <a:rPr lang="en-US" sz="2000" i="1">
                                  <a:solidFill>
                                    <a:srgbClr val="000000"/>
                                  </a:solidFill>
                                  <a:latin typeface="Cambria Math" panose="02040503050406030204" pitchFamily="18" charset="0"/>
                                </a:rPr>
                              </m:ctrlPr>
                            </m:mPr>
                            <m:mr>
                              <m:e>
                                <m:r>
                                  <a:rPr lang="en-US" sz="2000" i="1">
                                    <a:solidFill>
                                      <a:srgbClr val="000000"/>
                                    </a:solidFill>
                                    <a:latin typeface="Cambria Math" panose="02040503050406030204" pitchFamily="18" charset="0"/>
                                  </a:rPr>
                                  <m:t>1</m:t>
                                </m:r>
                              </m:e>
                            </m:mr>
                            <m:mr>
                              <m:e>
                                <m:r>
                                  <a:rPr lang="en-US" sz="2000" i="1">
                                    <a:solidFill>
                                      <a:srgbClr val="000000"/>
                                    </a:solidFill>
                                    <a:latin typeface="Cambria Math" panose="02040503050406030204" pitchFamily="18" charset="0"/>
                                  </a:rPr>
                                  <m:t>0</m:t>
                                </m:r>
                              </m:e>
                            </m:mr>
                          </m:m>
                        </m:e>
                      </m:d>
                      <m:m>
                        <m:mPr>
                          <m:plcHide m:val="on"/>
                          <m:mcs>
                            <m:mc>
                              <m:mcPr>
                                <m:count m:val="2"/>
                                <m:mcJc m:val="center"/>
                              </m:mcPr>
                            </m:mc>
                          </m:mcs>
                          <m:ctrlPr>
                            <a:rPr lang="en-US" sz="2000" i="1">
                              <a:solidFill>
                                <a:srgbClr val="000000"/>
                              </a:solidFill>
                              <a:latin typeface="Cambria Math" panose="02040503050406030204" pitchFamily="18" charset="0"/>
                            </a:rPr>
                          </m:ctrlPr>
                        </m:mPr>
                        <m:mr>
                          <m:e/>
                          <m:e/>
                        </m:mr>
                      </m:m>
                      <m:m>
                        <m:mPr>
                          <m:plcHide m:val="on"/>
                          <m:mcs>
                            <m:mc>
                              <m:mcPr>
                                <m:count m:val="1"/>
                                <m:mcJc m:val="center"/>
                              </m:mcPr>
                            </m:mc>
                          </m:mcs>
                          <m:ctrlPr>
                            <a:rPr lang="en-US" sz="2000" i="1">
                              <a:solidFill>
                                <a:srgbClr val="000000"/>
                              </a:solidFill>
                              <a:latin typeface="Cambria Math" panose="02040503050406030204" pitchFamily="18" charset="0"/>
                            </a:rPr>
                          </m:ctrlPr>
                        </m:mPr>
                        <m:mr>
                          <m:e>
                            <m:r>
                              <a:rPr lang="en-US" sz="2000" i="1">
                                <a:solidFill>
                                  <a:srgbClr val="000000"/>
                                </a:solidFill>
                                <a:latin typeface="Cambria Math" panose="02040503050406030204" pitchFamily="18" charset="0"/>
                              </a:rPr>
                              <m:t>0≤</m:t>
                            </m:r>
                            <m:r>
                              <a:rPr lang="en-US" sz="2000" i="1">
                                <a:solidFill>
                                  <a:srgbClr val="000000"/>
                                </a:solidFill>
                                <a:latin typeface="Cambria Math" panose="02040503050406030204" pitchFamily="18" charset="0"/>
                              </a:rPr>
                              <m:t>𝑛</m:t>
                            </m:r>
                            <m:r>
                              <a:rPr lang="en-US" sz="2000" i="1">
                                <a:solidFill>
                                  <a:srgbClr val="000000"/>
                                </a:solidFill>
                                <a:latin typeface="Cambria Math" panose="02040503050406030204" pitchFamily="18" charset="0"/>
                              </a:rPr>
                              <m:t>≤4</m:t>
                            </m:r>
                          </m:e>
                        </m:mr>
                        <m:mr>
                          <m:e>
                            <m:r>
                              <a:rPr lang="zh-CN" altLang="en-US" sz="2000" i="1">
                                <a:solidFill>
                                  <a:srgbClr val="000000"/>
                                </a:solidFill>
                                <a:latin typeface="Cambria Math" panose="02040503050406030204" pitchFamily="18" charset="0"/>
                              </a:rPr>
                              <m:t>其它</m:t>
                            </m:r>
                            <m:r>
                              <a:rPr lang="en-US" altLang="zh-CN" sz="2000" b="0" i="1" smtClean="0">
                                <a:solidFill>
                                  <a:srgbClr val="000000"/>
                                </a:solidFill>
                                <a:latin typeface="Cambria Math" panose="02040503050406030204" pitchFamily="18" charset="0"/>
                              </a:rPr>
                              <m:t>           </m:t>
                            </m:r>
                          </m:e>
                        </m:mr>
                      </m:m>
                    </m:oMath>
                  </m:oMathPara>
                </a14:m>
                <a:endParaRPr lang="en-US" sz="2000" dirty="0"/>
              </a:p>
            </p:txBody>
          </p:sp>
        </mc:Choice>
        <mc:Fallback xmlns="">
          <p:sp>
            <p:nvSpPr>
              <p:cNvPr id="21506" name="Object 2">
                <a:extLst>
                  <a:ext uri="{FF2B5EF4-FFF2-40B4-BE49-F238E27FC236}">
                    <a16:creationId xmlns:a16="http://schemas.microsoft.com/office/drawing/2014/main" id="{3F8C4910-381E-415A-B561-6AF7F1E3132B}"/>
                  </a:ext>
                </a:extLst>
              </p:cNvPr>
              <p:cNvSpPr txBox="1">
                <a:spLocks noRot="1" noChangeAspect="1" noMove="1" noResize="1" noEditPoints="1" noAdjustHandles="1" noChangeArrowheads="1" noChangeShapeType="1" noTextEdit="1"/>
              </p:cNvSpPr>
              <p:nvPr/>
            </p:nvSpPr>
            <p:spPr bwMode="auto">
              <a:xfrm>
                <a:off x="683568" y="1927452"/>
                <a:ext cx="2808312" cy="778868"/>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507" name="Object 3">
                <a:extLst>
                  <a:ext uri="{FF2B5EF4-FFF2-40B4-BE49-F238E27FC236}">
                    <a16:creationId xmlns:a16="http://schemas.microsoft.com/office/drawing/2014/main" id="{1019D71D-0095-464D-B406-080C7C3C83D9}"/>
                  </a:ext>
                </a:extLst>
              </p:cNvPr>
              <p:cNvSpPr txBox="1"/>
              <p:nvPr/>
            </p:nvSpPr>
            <p:spPr bwMode="auto">
              <a:xfrm>
                <a:off x="683568" y="4293096"/>
                <a:ext cx="4014961" cy="77886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000" i="1" smtClean="0">
                          <a:solidFill>
                            <a:srgbClr val="000000"/>
                          </a:solidFill>
                          <a:latin typeface="Cambria Math" panose="02040503050406030204" pitchFamily="18" charset="0"/>
                        </a:rPr>
                        <m:t>h</m:t>
                      </m:r>
                      <m:r>
                        <a:rPr lang="en-US" sz="2000" b="0" i="1" smtClean="0">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𝑛</m:t>
                      </m:r>
                      <m:r>
                        <a:rPr lang="en-US" sz="2000" b="0" i="1" smtClean="0">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m:t>
                      </m:r>
                      <m:d>
                        <m:dPr>
                          <m:begChr m:val="{"/>
                          <m:endChr m:val=""/>
                          <m:ctrlPr>
                            <a:rPr lang="en-US" sz="2000" i="1">
                              <a:solidFill>
                                <a:srgbClr val="000000"/>
                              </a:solidFill>
                              <a:latin typeface="Cambria Math" panose="02040503050406030204" pitchFamily="18" charset="0"/>
                            </a:rPr>
                          </m:ctrlPr>
                        </m:dPr>
                        <m:e>
                          <m:m>
                            <m:mPr>
                              <m:plcHide m:val="on"/>
                              <m:mcs>
                                <m:mc>
                                  <m:mcPr>
                                    <m:count m:val="1"/>
                                    <m:mcJc m:val="center"/>
                                  </m:mcPr>
                                </m:mc>
                              </m:mcs>
                              <m:ctrlPr>
                                <a:rPr lang="en-US" sz="2000" i="1">
                                  <a:solidFill>
                                    <a:srgbClr val="000000"/>
                                  </a:solidFill>
                                  <a:latin typeface="Cambria Math" panose="02040503050406030204" pitchFamily="18" charset="0"/>
                                </a:rPr>
                              </m:ctrlPr>
                            </m:mPr>
                            <m:mr>
                              <m:e>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𝛼</m:t>
                                    </m:r>
                                  </m:e>
                                  <m:sup>
                                    <m:r>
                                      <a:rPr lang="en-US" sz="2000" i="1">
                                        <a:solidFill>
                                          <a:srgbClr val="000000"/>
                                        </a:solidFill>
                                        <a:latin typeface="Cambria Math" panose="02040503050406030204" pitchFamily="18" charset="0"/>
                                      </a:rPr>
                                      <m:t>𝑛</m:t>
                                    </m:r>
                                  </m:sup>
                                </m:sSup>
                              </m:e>
                            </m:mr>
                            <m:mr>
                              <m:e>
                                <m:r>
                                  <a:rPr lang="en-US" sz="2000" i="1">
                                    <a:solidFill>
                                      <a:srgbClr val="000000"/>
                                    </a:solidFill>
                                    <a:latin typeface="Cambria Math" panose="02040503050406030204" pitchFamily="18" charset="0"/>
                                  </a:rPr>
                                  <m:t>0</m:t>
                                </m:r>
                              </m:e>
                            </m:mr>
                          </m:m>
                          <m:m>
                            <m:mPr>
                              <m:plcHide m:val="on"/>
                              <m:mcs>
                                <m:mc>
                                  <m:mcPr>
                                    <m:count m:val="2"/>
                                    <m:mcJc m:val="center"/>
                                  </m:mcPr>
                                </m:mc>
                              </m:mcs>
                              <m:ctrlPr>
                                <a:rPr lang="en-US" sz="2000" i="1">
                                  <a:solidFill>
                                    <a:srgbClr val="000000"/>
                                  </a:solidFill>
                                  <a:latin typeface="Cambria Math" panose="02040503050406030204" pitchFamily="18" charset="0"/>
                                </a:rPr>
                              </m:ctrlPr>
                            </m:mPr>
                            <m:mr>
                              <m:e/>
                              <m:e/>
                            </m:mr>
                          </m:m>
                        </m:e>
                      </m:d>
                      <m:m>
                        <m:mPr>
                          <m:plcHide m:val="on"/>
                          <m:mcs>
                            <m:mc>
                              <m:mcPr>
                                <m:count m:val="1"/>
                                <m:mcJc m:val="center"/>
                              </m:mcPr>
                            </m:mc>
                          </m:mcs>
                          <m:ctrlPr>
                            <a:rPr lang="en-US" sz="2000" i="1">
                              <a:solidFill>
                                <a:srgbClr val="000000"/>
                              </a:solidFill>
                              <a:latin typeface="Cambria Math" panose="02040503050406030204" pitchFamily="18" charset="0"/>
                            </a:rPr>
                          </m:ctrlPr>
                        </m:mPr>
                        <m:mr>
                          <m:e>
                            <m:r>
                              <a:rPr lang="en-US" sz="2000" i="1">
                                <a:solidFill>
                                  <a:srgbClr val="000000"/>
                                </a:solidFill>
                                <a:latin typeface="Cambria Math" panose="02040503050406030204" pitchFamily="18" charset="0"/>
                              </a:rPr>
                              <m:t>0≤</m:t>
                            </m:r>
                            <m:r>
                              <a:rPr lang="en-US" sz="2000" i="1">
                                <a:solidFill>
                                  <a:srgbClr val="000000"/>
                                </a:solidFill>
                                <a:latin typeface="Cambria Math" panose="02040503050406030204" pitchFamily="18" charset="0"/>
                              </a:rPr>
                              <m:t>𝑛</m:t>
                            </m:r>
                            <m:r>
                              <a:rPr lang="en-US" sz="2000" i="1">
                                <a:solidFill>
                                  <a:srgbClr val="000000"/>
                                </a:solidFill>
                                <a:latin typeface="Cambria Math" panose="02040503050406030204" pitchFamily="18" charset="0"/>
                              </a:rPr>
                              <m:t>≤6</m:t>
                            </m:r>
                          </m:e>
                        </m:mr>
                        <m:mr>
                          <m:e>
                            <m:r>
                              <a:rPr lang="zh-CN" altLang="en-US" sz="2000" i="1">
                                <a:solidFill>
                                  <a:srgbClr val="000000"/>
                                </a:solidFill>
                                <a:latin typeface="Cambria Math" panose="02040503050406030204" pitchFamily="18" charset="0"/>
                              </a:rPr>
                              <m:t>其它</m:t>
                            </m:r>
                            <m:r>
                              <a:rPr lang="en-US" altLang="zh-CN" sz="2000" b="0" i="1" smtClean="0">
                                <a:solidFill>
                                  <a:srgbClr val="000000"/>
                                </a:solidFill>
                                <a:latin typeface="Cambria Math" panose="02040503050406030204" pitchFamily="18" charset="0"/>
                              </a:rPr>
                              <m:t>           </m:t>
                            </m:r>
                          </m:e>
                        </m:mr>
                      </m:m>
                      <m:r>
                        <m:rPr>
                          <m:nor/>
                        </m:rPr>
                        <a:rPr lang="en-US" sz="2000" i="0">
                          <a:solidFill>
                            <a:srgbClr val="000000"/>
                          </a:solidFill>
                          <a:latin typeface="Cambria Math" panose="02040503050406030204" pitchFamily="18" charset="0"/>
                        </a:rPr>
                        <m:t>    </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𝛼</m:t>
                      </m:r>
                      <m:r>
                        <a:rPr lang="en-US" sz="2000" i="1">
                          <a:solidFill>
                            <a:srgbClr val="000000"/>
                          </a:solidFill>
                          <a:latin typeface="Cambria Math" panose="02040503050406030204" pitchFamily="18" charset="0"/>
                        </a:rPr>
                        <m:t>&gt;1)</m:t>
                      </m:r>
                    </m:oMath>
                  </m:oMathPara>
                </a14:m>
                <a:endParaRPr lang="en-US" sz="2000" dirty="0"/>
              </a:p>
            </p:txBody>
          </p:sp>
        </mc:Choice>
        <mc:Fallback xmlns="">
          <p:sp>
            <p:nvSpPr>
              <p:cNvPr id="21507" name="Object 3">
                <a:extLst>
                  <a:ext uri="{FF2B5EF4-FFF2-40B4-BE49-F238E27FC236}">
                    <a16:creationId xmlns:a16="http://schemas.microsoft.com/office/drawing/2014/main" id="{1019D71D-0095-464D-B406-080C7C3C83D9}"/>
                  </a:ext>
                </a:extLst>
              </p:cNvPr>
              <p:cNvSpPr txBox="1">
                <a:spLocks noRot="1" noChangeAspect="1" noMove="1" noResize="1" noEditPoints="1" noAdjustHandles="1" noChangeArrowheads="1" noChangeShapeType="1" noTextEdit="1"/>
              </p:cNvSpPr>
              <p:nvPr/>
            </p:nvSpPr>
            <p:spPr bwMode="auto">
              <a:xfrm>
                <a:off x="683568" y="4293096"/>
                <a:ext cx="4014961" cy="778868"/>
              </a:xfrm>
              <a:prstGeom prst="rect">
                <a:avLst/>
              </a:prstGeom>
              <a:blipFill>
                <a:blip r:embed="rId4"/>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8" name="标题 1">
            <a:extLst>
              <a:ext uri="{FF2B5EF4-FFF2-40B4-BE49-F238E27FC236}">
                <a16:creationId xmlns:a16="http://schemas.microsoft.com/office/drawing/2014/main" id="{0BD51FDA-52F7-4D3B-B017-4AF28B2FE5AF}"/>
              </a:ext>
            </a:extLst>
          </p:cNvPr>
          <p:cNvSpPr>
            <a:spLocks noGrp="1"/>
          </p:cNvSpPr>
          <p:nvPr>
            <p:ph type="title"/>
          </p:nvPr>
        </p:nvSpPr>
        <p:spPr/>
        <p:txBody>
          <a:bodyPr/>
          <a:lstStyle/>
          <a:p>
            <a:r>
              <a:rPr lang="en-US" altLang="zh-CN"/>
              <a:t>2.1 </a:t>
            </a:r>
            <a:r>
              <a:rPr lang="zh-CN" altLang="en-US"/>
              <a:t>离散时间</a:t>
            </a:r>
            <a:r>
              <a:rPr lang="en-US" altLang="zh-CN"/>
              <a:t>LTI</a:t>
            </a:r>
            <a:r>
              <a:rPr lang="zh-CN" altLang="en-US"/>
              <a:t>系统：卷积和</a:t>
            </a:r>
          </a:p>
        </p:txBody>
      </p:sp>
      <p:sp>
        <p:nvSpPr>
          <p:cNvPr id="4" name="灯片编号占位符 3">
            <a:extLst>
              <a:ext uri="{FF2B5EF4-FFF2-40B4-BE49-F238E27FC236}">
                <a16:creationId xmlns:a16="http://schemas.microsoft.com/office/drawing/2014/main" id="{C1614D25-491A-4F59-A38C-2B17799B1A3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D8D21D4-4C59-4F7E-87CD-0BBFD6435A42}" type="slidenum">
              <a:rPr lang="zh-CN" altLang="en-US">
                <a:solidFill>
                  <a:srgbClr val="898989"/>
                </a:solidFill>
                <a:latin typeface="Calibri" panose="020F0502020204030204" pitchFamily="34" charset="0"/>
              </a:rPr>
              <a:pPr eaLnBrk="1" hangingPunct="1"/>
              <a:t>15</a:t>
            </a:fld>
            <a:endParaRPr lang="zh-CN" altLang="en-US">
              <a:solidFill>
                <a:srgbClr val="898989"/>
              </a:solidFill>
              <a:latin typeface="Calibri" panose="020F0502020204030204" pitchFamily="34" charset="0"/>
            </a:endParaRPr>
          </a:p>
        </p:txBody>
      </p:sp>
      <p:pic>
        <p:nvPicPr>
          <p:cNvPr id="8" name="Picture 5">
            <a:extLst>
              <a:ext uri="{FF2B5EF4-FFF2-40B4-BE49-F238E27FC236}">
                <a16:creationId xmlns:a16="http://schemas.microsoft.com/office/drawing/2014/main" id="{C2390244-1B15-4BC7-A926-47CDBD09D8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1482813"/>
            <a:ext cx="5974432" cy="4394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10" name="Text Box 3">
                <a:extLst>
                  <a:ext uri="{FF2B5EF4-FFF2-40B4-BE49-F238E27FC236}">
                    <a16:creationId xmlns:a16="http://schemas.microsoft.com/office/drawing/2014/main" id="{570399B8-D95F-4BFF-839E-AD496B66E1D2}"/>
                  </a:ext>
                </a:extLst>
              </p:cNvPr>
              <p:cNvSpPr txBox="1">
                <a:spLocks noChangeArrowheads="1"/>
              </p:cNvSpPr>
              <p:nvPr/>
            </p:nvSpPr>
            <p:spPr bwMode="auto">
              <a:xfrm>
                <a:off x="755576" y="1396711"/>
                <a:ext cx="2675604" cy="40011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dirty="0">
                    <a:solidFill>
                      <a:srgbClr val="0000FF"/>
                    </a:solidFill>
                    <a:latin typeface="Times New Roman" panose="02020603050405020304" pitchFamily="18" charset="0"/>
                    <a:ea typeface="华文楷体" panose="02010600040101010101" pitchFamily="2" charset="-122"/>
                  </a:rPr>
                  <a:t>①</a:t>
                </a:r>
                <a:r>
                  <a:rPr lang="en-US" altLang="zh-CN" sz="2000" dirty="0">
                    <a:solidFill>
                      <a:srgbClr val="0000FF"/>
                    </a:solidFill>
                    <a:latin typeface="Times New Roman" panose="02020603050405020304" pitchFamily="18" charset="0"/>
                    <a:ea typeface="华文楷体" panose="02010600040101010101" pitchFamily="2" charset="-122"/>
                  </a:rPr>
                  <a:t> </a:t>
                </a:r>
                <a14:m>
                  <m:oMath xmlns:m="http://schemas.openxmlformats.org/officeDocument/2006/math">
                    <m:r>
                      <a:rPr lang="en-US" sz="2000" i="1" smtClean="0">
                        <a:solidFill>
                          <a:srgbClr val="0000FF"/>
                        </a:solidFill>
                        <a:latin typeface="Cambria Math" panose="02040503050406030204" pitchFamily="18" charset="0"/>
                      </a:rPr>
                      <m:t>𝑛</m:t>
                    </m:r>
                    <m:r>
                      <a:rPr lang="en-US" sz="2000" i="1" smtClean="0">
                        <a:solidFill>
                          <a:srgbClr val="0000FF"/>
                        </a:solidFill>
                        <a:latin typeface="Cambria Math" panose="02040503050406030204" pitchFamily="18" charset="0"/>
                      </a:rPr>
                      <m:t>&lt;0</m:t>
                    </m:r>
                  </m:oMath>
                </a14:m>
                <a:r>
                  <a:rPr lang="zh-CN" altLang="en-US" sz="2000" b="1"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时</a:t>
                </a:r>
                <a:r>
                  <a:rPr lang="zh-CN" altLang="en-US" sz="2000" dirty="0">
                    <a:solidFill>
                      <a:srgbClr val="0000FF"/>
                    </a:solidFill>
                    <a:latin typeface="Times New Roman" panose="02020603050405020304" pitchFamily="18" charset="0"/>
                    <a:ea typeface="华文楷体" panose="02010600040101010101" pitchFamily="2" charset="-122"/>
                  </a:rPr>
                  <a:t>，</a:t>
                </a:r>
                <a:r>
                  <a:rPr lang="en-US" sz="2000" dirty="0">
                    <a:solidFill>
                      <a:srgbClr val="0000FF"/>
                    </a:solidFill>
                  </a:rPr>
                  <a:t> </a:t>
                </a:r>
                <a14:m>
                  <m:oMath xmlns:m="http://schemas.openxmlformats.org/officeDocument/2006/math">
                    <m:r>
                      <a:rPr lang="en-US" sz="2000" i="1">
                        <a:solidFill>
                          <a:srgbClr val="0000FF"/>
                        </a:solidFill>
                        <a:latin typeface="Cambria Math" panose="02040503050406030204" pitchFamily="18" charset="0"/>
                      </a:rPr>
                      <m:t>𝑦</m:t>
                    </m:r>
                    <m:r>
                      <a:rPr lang="en-US" sz="2000" b="0" i="1" smtClean="0">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𝑛</m:t>
                    </m:r>
                    <m:r>
                      <a:rPr lang="en-US" sz="2000" b="0" i="1" smtClean="0">
                        <a:solidFill>
                          <a:srgbClr val="0000FF"/>
                        </a:solidFill>
                        <a:latin typeface="Cambria Math" panose="02040503050406030204" pitchFamily="18" charset="0"/>
                      </a:rPr>
                      <m:t>]</m:t>
                    </m:r>
                    <m:r>
                      <a:rPr lang="en-US" sz="2000" i="1">
                        <a:solidFill>
                          <a:srgbClr val="0000FF"/>
                        </a:solidFill>
                        <a:latin typeface="Cambria Math" panose="02040503050406030204" pitchFamily="18" charset="0"/>
                      </a:rPr>
                      <m:t>=0</m:t>
                    </m:r>
                  </m:oMath>
                </a14:m>
                <a:endParaRPr lang="zh-CN" altLang="en-US" sz="2000" dirty="0">
                  <a:solidFill>
                    <a:srgbClr val="0000FF"/>
                  </a:solidFill>
                  <a:latin typeface="Times New Roman" panose="02020603050405020304" pitchFamily="18" charset="0"/>
                  <a:ea typeface="华文楷体" panose="02010600040101010101" pitchFamily="2" charset="-122"/>
                </a:endParaRPr>
              </a:p>
            </p:txBody>
          </p:sp>
        </mc:Choice>
        <mc:Fallback xmlns="">
          <p:sp>
            <p:nvSpPr>
              <p:cNvPr id="10" name="Text Box 3">
                <a:extLst>
                  <a:ext uri="{FF2B5EF4-FFF2-40B4-BE49-F238E27FC236}">
                    <a16:creationId xmlns:a16="http://schemas.microsoft.com/office/drawing/2014/main" id="{570399B8-D95F-4BFF-839E-AD496B66E1D2}"/>
                  </a:ext>
                </a:extLst>
              </p:cNvPr>
              <p:cNvSpPr txBox="1">
                <a:spLocks noRot="1" noChangeAspect="1" noMove="1" noResize="1" noEditPoints="1" noAdjustHandles="1" noChangeArrowheads="1" noChangeShapeType="1" noTextEdit="1"/>
              </p:cNvSpPr>
              <p:nvPr/>
            </p:nvSpPr>
            <p:spPr bwMode="auto">
              <a:xfrm>
                <a:off x="755576" y="1396711"/>
                <a:ext cx="2675604" cy="400110"/>
              </a:xfrm>
              <a:prstGeom prst="rect">
                <a:avLst/>
              </a:prstGeom>
              <a:blipFill>
                <a:blip r:embed="rId3"/>
                <a:stretch>
                  <a:fillRect l="-2506" t="-6061" b="-2727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 Box 20">
                <a:extLst>
                  <a:ext uri="{FF2B5EF4-FFF2-40B4-BE49-F238E27FC236}">
                    <a16:creationId xmlns:a16="http://schemas.microsoft.com/office/drawing/2014/main" id="{693BAA07-8022-4E5B-ADBE-8107528F71AD}"/>
                  </a:ext>
                </a:extLst>
              </p:cNvPr>
              <p:cNvSpPr txBox="1">
                <a:spLocks noChangeArrowheads="1"/>
              </p:cNvSpPr>
              <p:nvPr/>
            </p:nvSpPr>
            <p:spPr bwMode="auto">
              <a:xfrm>
                <a:off x="5940152" y="5794097"/>
                <a:ext cx="1862754" cy="33855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14:m>
                  <m:oMath xmlns:m="http://schemas.openxmlformats.org/officeDocument/2006/math">
                    <m:r>
                      <a:rPr lang="en-US" sz="1600" i="1" smtClean="0">
                        <a:solidFill>
                          <a:srgbClr val="0000FF"/>
                        </a:solidFill>
                        <a:latin typeface="Cambria Math" panose="02040503050406030204" pitchFamily="18" charset="0"/>
                      </a:rPr>
                      <m:t>𝑛</m:t>
                    </m:r>
                    <m:r>
                      <a:rPr lang="en-US" sz="1600" b="0" i="1" smtClean="0">
                        <a:solidFill>
                          <a:srgbClr val="0000FF"/>
                        </a:solidFill>
                        <a:latin typeface="Cambria Math" panose="02040503050406030204" pitchFamily="18" charset="0"/>
                      </a:rPr>
                      <m:t>&lt;</m:t>
                    </m:r>
                    <m:r>
                      <a:rPr lang="en-US" sz="1600" i="1" smtClean="0">
                        <a:solidFill>
                          <a:srgbClr val="0000FF"/>
                        </a:solidFill>
                        <a:latin typeface="Cambria Math" panose="02040503050406030204" pitchFamily="18" charset="0"/>
                      </a:rPr>
                      <m:t>0</m:t>
                    </m:r>
                  </m:oMath>
                </a14:m>
                <a:r>
                  <a:rPr lang="zh-CN" altLang="en-US" sz="1600" b="1"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时，</a:t>
                </a:r>
                <a14:m>
                  <m:oMath xmlns:m="http://schemas.openxmlformats.org/officeDocument/2006/math">
                    <m:r>
                      <a:rPr lang="en-US" sz="1600" i="1">
                        <a:solidFill>
                          <a:srgbClr val="0000FF"/>
                        </a:solidFill>
                        <a:latin typeface="Cambria Math" panose="02040503050406030204" pitchFamily="18" charset="0"/>
                      </a:rPr>
                      <m:t>𝑦</m:t>
                    </m:r>
                    <m:r>
                      <a:rPr lang="en-US" sz="1600" b="0" i="1" smtClean="0">
                        <a:solidFill>
                          <a:srgbClr val="0000FF"/>
                        </a:solidFill>
                        <a:latin typeface="Cambria Math" panose="02040503050406030204" pitchFamily="18" charset="0"/>
                      </a:rPr>
                      <m:t>[</m:t>
                    </m:r>
                    <m:r>
                      <a:rPr lang="en-US" sz="1600" i="1">
                        <a:solidFill>
                          <a:srgbClr val="0000FF"/>
                        </a:solidFill>
                        <a:latin typeface="Cambria Math" panose="02040503050406030204" pitchFamily="18" charset="0"/>
                      </a:rPr>
                      <m:t>𝑛</m:t>
                    </m:r>
                    <m:r>
                      <a:rPr lang="en-US" sz="1600" b="0" i="1" smtClean="0">
                        <a:solidFill>
                          <a:srgbClr val="0000FF"/>
                        </a:solidFill>
                        <a:latin typeface="Cambria Math" panose="02040503050406030204" pitchFamily="18" charset="0"/>
                      </a:rPr>
                      <m:t>]</m:t>
                    </m:r>
                    <m:r>
                      <a:rPr lang="en-US" sz="1600" i="1">
                        <a:solidFill>
                          <a:srgbClr val="0000FF"/>
                        </a:solidFill>
                        <a:latin typeface="Cambria Math" panose="02040503050406030204" pitchFamily="18" charset="0"/>
                      </a:rPr>
                      <m:t>=0</m:t>
                    </m:r>
                  </m:oMath>
                </a14:m>
                <a:endParaRPr lang="zh-CN" altLang="en-US" sz="1600" b="1"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6" name="Text Box 20">
                <a:extLst>
                  <a:ext uri="{FF2B5EF4-FFF2-40B4-BE49-F238E27FC236}">
                    <a16:creationId xmlns:a16="http://schemas.microsoft.com/office/drawing/2014/main" id="{693BAA07-8022-4E5B-ADBE-8107528F71AD}"/>
                  </a:ext>
                </a:extLst>
              </p:cNvPr>
              <p:cNvSpPr txBox="1">
                <a:spLocks noRot="1" noChangeAspect="1" noMove="1" noResize="1" noEditPoints="1" noAdjustHandles="1" noChangeArrowheads="1" noChangeShapeType="1" noTextEdit="1"/>
              </p:cNvSpPr>
              <p:nvPr/>
            </p:nvSpPr>
            <p:spPr bwMode="auto">
              <a:xfrm>
                <a:off x="5940152" y="5794097"/>
                <a:ext cx="1862754" cy="338554"/>
              </a:xfrm>
              <a:prstGeom prst="rect">
                <a:avLst/>
              </a:prstGeom>
              <a:blipFill>
                <a:blip r:embed="rId4"/>
                <a:stretch>
                  <a:fillRect t="-3571" b="-2321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172335163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8" name="标题 1">
            <a:extLst>
              <a:ext uri="{FF2B5EF4-FFF2-40B4-BE49-F238E27FC236}">
                <a16:creationId xmlns:a16="http://schemas.microsoft.com/office/drawing/2014/main" id="{0BD51FDA-52F7-4D3B-B017-4AF28B2FE5AF}"/>
              </a:ext>
            </a:extLst>
          </p:cNvPr>
          <p:cNvSpPr>
            <a:spLocks noGrp="1"/>
          </p:cNvSpPr>
          <p:nvPr>
            <p:ph type="title"/>
          </p:nvPr>
        </p:nvSpPr>
        <p:spPr/>
        <p:txBody>
          <a:bodyPr/>
          <a:lstStyle/>
          <a:p>
            <a:r>
              <a:rPr lang="en-US" altLang="zh-CN"/>
              <a:t>2.1 </a:t>
            </a:r>
            <a:r>
              <a:rPr lang="zh-CN" altLang="en-US"/>
              <a:t>离散时间</a:t>
            </a:r>
            <a:r>
              <a:rPr lang="en-US" altLang="zh-CN"/>
              <a:t>LTI</a:t>
            </a:r>
            <a:r>
              <a:rPr lang="zh-CN" altLang="en-US"/>
              <a:t>系统：卷积和</a:t>
            </a:r>
          </a:p>
        </p:txBody>
      </p:sp>
      <p:sp>
        <p:nvSpPr>
          <p:cNvPr id="4" name="灯片编号占位符 3">
            <a:extLst>
              <a:ext uri="{FF2B5EF4-FFF2-40B4-BE49-F238E27FC236}">
                <a16:creationId xmlns:a16="http://schemas.microsoft.com/office/drawing/2014/main" id="{C1614D25-491A-4F59-A38C-2B17799B1A3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D8D21D4-4C59-4F7E-87CD-0BBFD6435A42}" type="slidenum">
              <a:rPr lang="zh-CN" altLang="en-US">
                <a:solidFill>
                  <a:srgbClr val="898989"/>
                </a:solidFill>
                <a:latin typeface="Calibri" panose="020F0502020204030204" pitchFamily="34" charset="0"/>
              </a:rPr>
              <a:pPr eaLnBrk="1" hangingPunct="1"/>
              <a:t>16</a:t>
            </a:fld>
            <a:endParaRPr lang="zh-CN" altLang="en-US">
              <a:solidFill>
                <a:srgbClr val="898989"/>
              </a:solidFill>
              <a:latin typeface="Calibri" panose="020F0502020204030204" pitchFamily="34" charset="0"/>
            </a:endParaRPr>
          </a:p>
        </p:txBody>
      </p:sp>
      <p:pic>
        <p:nvPicPr>
          <p:cNvPr id="6" name="Picture 4">
            <a:extLst>
              <a:ext uri="{FF2B5EF4-FFF2-40B4-BE49-F238E27FC236}">
                <a16:creationId xmlns:a16="http://schemas.microsoft.com/office/drawing/2014/main" id="{7549FE50-04B7-4C6D-BBD9-B9A9D3FC14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754" y="1246128"/>
            <a:ext cx="4768850" cy="168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0AF5611D-9D2D-4ECE-8CF2-548103689D0A}"/>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3173353"/>
            <a:ext cx="4694237"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11" name="Text Box 7">
                <a:extLst>
                  <a:ext uri="{FF2B5EF4-FFF2-40B4-BE49-F238E27FC236}">
                    <a16:creationId xmlns:a16="http://schemas.microsoft.com/office/drawing/2014/main" id="{8FCEDE9F-AB5C-4D77-A981-43BE5A7F7C67}"/>
                  </a:ext>
                </a:extLst>
              </p:cNvPr>
              <p:cNvSpPr txBox="1">
                <a:spLocks noChangeArrowheads="1"/>
              </p:cNvSpPr>
              <p:nvPr/>
            </p:nvSpPr>
            <p:spPr bwMode="auto">
              <a:xfrm>
                <a:off x="5798186" y="3501008"/>
                <a:ext cx="2808312" cy="101098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0000FF"/>
                    </a:solidFill>
                    <a:latin typeface="Times New Roman" panose="02020603050405020304" pitchFamily="18" charset="0"/>
                    <a:ea typeface="华文楷体" panose="02010600040101010101" pitchFamily="2" charset="-122"/>
                  </a:rPr>
                  <a:t>② </a:t>
                </a:r>
                <a14:m>
                  <m:oMath xmlns:m="http://schemas.openxmlformats.org/officeDocument/2006/math">
                    <m:r>
                      <a:rPr lang="en-US" sz="1600" i="1" smtClean="0">
                        <a:solidFill>
                          <a:srgbClr val="0000FF"/>
                        </a:solidFill>
                        <a:latin typeface="Cambria Math" panose="02040503050406030204" pitchFamily="18" charset="0"/>
                      </a:rPr>
                      <m:t>0≤</m:t>
                    </m:r>
                    <m:r>
                      <a:rPr lang="en-US" sz="1600" i="1" smtClean="0">
                        <a:solidFill>
                          <a:srgbClr val="0000FF"/>
                        </a:solidFill>
                        <a:latin typeface="Cambria Math" panose="02040503050406030204" pitchFamily="18" charset="0"/>
                      </a:rPr>
                      <m:t>𝑛</m:t>
                    </m:r>
                    <m:r>
                      <a:rPr lang="en-US" sz="1600" i="1" smtClean="0">
                        <a:solidFill>
                          <a:srgbClr val="0000FF"/>
                        </a:solidFill>
                        <a:latin typeface="Cambria Math" panose="02040503050406030204" pitchFamily="18" charset="0"/>
                      </a:rPr>
                      <m:t>≤4</m:t>
                    </m:r>
                  </m:oMath>
                </a14:m>
                <a:r>
                  <a:rPr lang="zh-CN" altLang="en-US" sz="1600" b="1"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时</a:t>
                </a:r>
                <a:r>
                  <a:rPr lang="zh-CN" altLang="en-US" sz="1600" dirty="0">
                    <a:solidFill>
                      <a:srgbClr val="0000FF"/>
                    </a:solidFill>
                    <a:latin typeface="Times New Roman" panose="02020603050405020304" pitchFamily="18" charset="0"/>
                    <a:ea typeface="华文楷体" panose="02010600040101010101" pitchFamily="2" charset="-122"/>
                  </a:rPr>
                  <a:t>，</a:t>
                </a:r>
                <a:endParaRPr lang="en-US" altLang="zh-CN" sz="1600" dirty="0">
                  <a:solidFill>
                    <a:srgbClr val="0000FF"/>
                  </a:solidFill>
                  <a:latin typeface="Times New Roman" panose="02020603050405020304" pitchFamily="18" charset="0"/>
                  <a:ea typeface="华文楷体" panose="02010600040101010101" pitchFamily="2" charset="-122"/>
                </a:endParaRPr>
              </a:p>
              <a:p>
                <a:pPr eaLnBrk="1" hangingPunct="1"/>
                <a14:m>
                  <m:oMathPara xmlns:m="http://schemas.openxmlformats.org/officeDocument/2006/math">
                    <m:oMathParaPr>
                      <m:jc m:val="centerGroup"/>
                    </m:oMathParaPr>
                    <m:oMath xmlns:m="http://schemas.openxmlformats.org/officeDocument/2006/math">
                      <m:r>
                        <a:rPr lang="en-US" sz="1600" i="1">
                          <a:solidFill>
                            <a:srgbClr val="0000FF"/>
                          </a:solidFill>
                          <a:latin typeface="Cambria Math" panose="02040503050406030204" pitchFamily="18" charset="0"/>
                        </a:rPr>
                        <m:t>𝑦</m:t>
                      </m:r>
                      <m:r>
                        <a:rPr lang="en-US" sz="1600" b="0" i="1" smtClean="0">
                          <a:solidFill>
                            <a:srgbClr val="0000FF"/>
                          </a:solidFill>
                          <a:latin typeface="Cambria Math" panose="02040503050406030204" pitchFamily="18" charset="0"/>
                        </a:rPr>
                        <m:t>[</m:t>
                      </m:r>
                      <m:r>
                        <a:rPr lang="en-US" sz="1600" i="1">
                          <a:solidFill>
                            <a:srgbClr val="0000FF"/>
                          </a:solidFill>
                          <a:latin typeface="Cambria Math" panose="02040503050406030204" pitchFamily="18" charset="0"/>
                        </a:rPr>
                        <m:t>𝑛</m:t>
                      </m:r>
                      <m:r>
                        <a:rPr lang="en-US" sz="1600" b="0" i="1" smtClean="0">
                          <a:solidFill>
                            <a:srgbClr val="0000FF"/>
                          </a:solidFill>
                          <a:latin typeface="Cambria Math" panose="02040503050406030204" pitchFamily="18" charset="0"/>
                        </a:rPr>
                        <m:t>]</m:t>
                      </m:r>
                      <m:r>
                        <m:rPr>
                          <m:aln/>
                        </m:rPr>
                        <a:rPr lang="en-US" sz="1600" i="1">
                          <a:solidFill>
                            <a:srgbClr val="0000FF"/>
                          </a:solidFill>
                          <a:latin typeface="Cambria Math" panose="02040503050406030204" pitchFamily="18" charset="0"/>
                        </a:rPr>
                        <m:t>=</m:t>
                      </m:r>
                      <m:nary>
                        <m:naryPr>
                          <m:chr m:val="∑"/>
                          <m:ctrlPr>
                            <a:rPr lang="en-US" sz="1600" i="1">
                              <a:solidFill>
                                <a:srgbClr val="0000FF"/>
                              </a:solidFill>
                              <a:latin typeface="Cambria Math" panose="02040503050406030204" pitchFamily="18" charset="0"/>
                            </a:rPr>
                          </m:ctrlPr>
                        </m:naryPr>
                        <m:sub>
                          <m:r>
                            <a:rPr lang="en-US" sz="1600" i="1">
                              <a:solidFill>
                                <a:srgbClr val="0000FF"/>
                              </a:solidFill>
                              <a:latin typeface="Cambria Math" panose="02040503050406030204" pitchFamily="18" charset="0"/>
                            </a:rPr>
                            <m:t>𝑘</m:t>
                          </m:r>
                          <m:r>
                            <a:rPr lang="en-US" sz="1600" i="1">
                              <a:solidFill>
                                <a:srgbClr val="0000FF"/>
                              </a:solidFill>
                              <a:latin typeface="Cambria Math" panose="02040503050406030204" pitchFamily="18" charset="0"/>
                            </a:rPr>
                            <m:t>=0</m:t>
                          </m:r>
                        </m:sub>
                        <m:sup>
                          <m:r>
                            <a:rPr lang="en-US" sz="1600" i="1">
                              <a:solidFill>
                                <a:srgbClr val="0000FF"/>
                              </a:solidFill>
                              <a:latin typeface="Cambria Math" panose="02040503050406030204" pitchFamily="18" charset="0"/>
                            </a:rPr>
                            <m:t>𝑛</m:t>
                          </m:r>
                        </m:sup>
                        <m:e>
                          <m:sSup>
                            <m:sSupPr>
                              <m:ctrlPr>
                                <a:rPr lang="en-US" sz="1600" i="1">
                                  <a:solidFill>
                                    <a:srgbClr val="0000FF"/>
                                  </a:solidFill>
                                  <a:latin typeface="Cambria Math" panose="02040503050406030204" pitchFamily="18" charset="0"/>
                                </a:rPr>
                              </m:ctrlPr>
                            </m:sSupPr>
                            <m:e>
                              <m:r>
                                <a:rPr lang="en-US" sz="1600" i="1">
                                  <a:solidFill>
                                    <a:srgbClr val="0000FF"/>
                                  </a:solidFill>
                                  <a:latin typeface="Cambria Math" panose="02040503050406030204" pitchFamily="18" charset="0"/>
                                </a:rPr>
                                <m:t>𝛼</m:t>
                              </m:r>
                            </m:e>
                            <m:sup>
                              <m:r>
                                <a:rPr lang="en-US" sz="1600" i="1">
                                  <a:solidFill>
                                    <a:srgbClr val="0000FF"/>
                                  </a:solidFill>
                                  <a:latin typeface="Cambria Math" panose="02040503050406030204" pitchFamily="18" charset="0"/>
                                </a:rPr>
                                <m:t>𝑛</m:t>
                              </m:r>
                              <m:r>
                                <a:rPr lang="en-US" sz="1600" i="1">
                                  <a:solidFill>
                                    <a:srgbClr val="0000FF"/>
                                  </a:solidFill>
                                  <a:latin typeface="Cambria Math" panose="02040503050406030204" pitchFamily="18" charset="0"/>
                                </a:rPr>
                                <m:t>−</m:t>
                              </m:r>
                              <m:r>
                                <a:rPr lang="en-US" sz="1600" i="1">
                                  <a:solidFill>
                                    <a:srgbClr val="0000FF"/>
                                  </a:solidFill>
                                  <a:latin typeface="Cambria Math" panose="02040503050406030204" pitchFamily="18" charset="0"/>
                                </a:rPr>
                                <m:t>𝑘</m:t>
                              </m:r>
                            </m:sup>
                          </m:sSup>
                        </m:e>
                      </m:nary>
                      <m:r>
                        <a:rPr lang="en-US" sz="1600" i="1">
                          <a:solidFill>
                            <a:srgbClr val="0000FF"/>
                          </a:solidFill>
                          <a:latin typeface="Cambria Math" panose="02040503050406030204" pitchFamily="18" charset="0"/>
                        </a:rPr>
                        <m:t>=</m:t>
                      </m:r>
                      <m:f>
                        <m:fPr>
                          <m:ctrlPr>
                            <a:rPr lang="en-US" sz="1600" i="1">
                              <a:solidFill>
                                <a:srgbClr val="0000FF"/>
                              </a:solidFill>
                              <a:latin typeface="Cambria Math" panose="02040503050406030204" pitchFamily="18" charset="0"/>
                            </a:rPr>
                          </m:ctrlPr>
                        </m:fPr>
                        <m:num>
                          <m:r>
                            <a:rPr lang="en-US" sz="1600" i="1">
                              <a:solidFill>
                                <a:srgbClr val="0000FF"/>
                              </a:solidFill>
                              <a:latin typeface="Cambria Math" panose="02040503050406030204" pitchFamily="18" charset="0"/>
                            </a:rPr>
                            <m:t>1−</m:t>
                          </m:r>
                          <m:sSup>
                            <m:sSupPr>
                              <m:ctrlPr>
                                <a:rPr lang="en-US" sz="1600" i="1">
                                  <a:solidFill>
                                    <a:srgbClr val="0000FF"/>
                                  </a:solidFill>
                                  <a:latin typeface="Cambria Math" panose="02040503050406030204" pitchFamily="18" charset="0"/>
                                </a:rPr>
                              </m:ctrlPr>
                            </m:sSupPr>
                            <m:e>
                              <m:r>
                                <a:rPr lang="en-US" sz="1600" i="1">
                                  <a:solidFill>
                                    <a:srgbClr val="0000FF"/>
                                  </a:solidFill>
                                  <a:latin typeface="Cambria Math" panose="02040503050406030204" pitchFamily="18" charset="0"/>
                                </a:rPr>
                                <m:t>𝛼</m:t>
                              </m:r>
                            </m:e>
                            <m:sup>
                              <m:r>
                                <a:rPr lang="en-US" sz="1600" i="1">
                                  <a:solidFill>
                                    <a:srgbClr val="0000FF"/>
                                  </a:solidFill>
                                  <a:latin typeface="Cambria Math" panose="02040503050406030204" pitchFamily="18" charset="0"/>
                                </a:rPr>
                                <m:t>𝑛</m:t>
                              </m:r>
                              <m:r>
                                <a:rPr lang="en-US" sz="1600" i="1">
                                  <a:solidFill>
                                    <a:srgbClr val="0000FF"/>
                                  </a:solidFill>
                                  <a:latin typeface="Cambria Math" panose="02040503050406030204" pitchFamily="18" charset="0"/>
                                </a:rPr>
                                <m:t>+1</m:t>
                              </m:r>
                            </m:sup>
                          </m:sSup>
                        </m:num>
                        <m:den>
                          <m:r>
                            <a:rPr lang="en-US" sz="1600" i="1">
                              <a:solidFill>
                                <a:srgbClr val="0000FF"/>
                              </a:solidFill>
                              <a:latin typeface="Cambria Math" panose="02040503050406030204" pitchFamily="18" charset="0"/>
                            </a:rPr>
                            <m:t>1−</m:t>
                          </m:r>
                          <m:r>
                            <a:rPr lang="en-US" sz="1600" i="1">
                              <a:solidFill>
                                <a:srgbClr val="0000FF"/>
                              </a:solidFill>
                              <a:latin typeface="Cambria Math" panose="02040503050406030204" pitchFamily="18" charset="0"/>
                            </a:rPr>
                            <m:t>𝛼</m:t>
                          </m:r>
                        </m:den>
                      </m:f>
                    </m:oMath>
                  </m:oMathPara>
                </a14:m>
                <a:endParaRPr lang="zh-CN" altLang="en-US" sz="1600" dirty="0">
                  <a:solidFill>
                    <a:srgbClr val="0000FF"/>
                  </a:solidFill>
                  <a:latin typeface="Times New Roman" panose="02020603050405020304" pitchFamily="18" charset="0"/>
                  <a:ea typeface="华文楷体" panose="02010600040101010101" pitchFamily="2" charset="-122"/>
                </a:endParaRPr>
              </a:p>
            </p:txBody>
          </p:sp>
        </mc:Choice>
        <mc:Fallback xmlns="">
          <p:sp>
            <p:nvSpPr>
              <p:cNvPr id="11" name="Text Box 7">
                <a:extLst>
                  <a:ext uri="{FF2B5EF4-FFF2-40B4-BE49-F238E27FC236}">
                    <a16:creationId xmlns:a16="http://schemas.microsoft.com/office/drawing/2014/main" id="{8FCEDE9F-AB5C-4D77-A981-43BE5A7F7C67}"/>
                  </a:ext>
                </a:extLst>
              </p:cNvPr>
              <p:cNvSpPr txBox="1">
                <a:spLocks noRot="1" noChangeAspect="1" noMove="1" noResize="1" noEditPoints="1" noAdjustHandles="1" noChangeArrowheads="1" noChangeShapeType="1" noTextEdit="1"/>
              </p:cNvSpPr>
              <p:nvPr/>
            </p:nvSpPr>
            <p:spPr bwMode="auto">
              <a:xfrm>
                <a:off x="5798186" y="3501008"/>
                <a:ext cx="2808312" cy="1010982"/>
              </a:xfrm>
              <a:prstGeom prst="rect">
                <a:avLst/>
              </a:prstGeom>
              <a:blipFill>
                <a:blip r:embed="rId5"/>
                <a:stretch>
                  <a:fillRect l="-1085" t="-120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 Box 11">
                <a:extLst>
                  <a:ext uri="{FF2B5EF4-FFF2-40B4-BE49-F238E27FC236}">
                    <a16:creationId xmlns:a16="http://schemas.microsoft.com/office/drawing/2014/main" id="{840DCB8A-EFA0-4806-B757-979BD8C0D13A}"/>
                  </a:ext>
                </a:extLst>
              </p:cNvPr>
              <p:cNvSpPr txBox="1">
                <a:spLocks noChangeArrowheads="1"/>
              </p:cNvSpPr>
              <p:nvPr/>
            </p:nvSpPr>
            <p:spPr bwMode="auto">
              <a:xfrm>
                <a:off x="5798186" y="5445224"/>
                <a:ext cx="3062312" cy="102996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0000FF"/>
                    </a:solidFill>
                    <a:latin typeface="Times New Roman" panose="02020603050405020304" pitchFamily="18" charset="0"/>
                    <a:ea typeface="华文楷体" panose="02010600040101010101" pitchFamily="2" charset="-122"/>
                  </a:rPr>
                  <a:t>③ </a:t>
                </a:r>
                <a14:m>
                  <m:oMath xmlns:m="http://schemas.openxmlformats.org/officeDocument/2006/math">
                    <m:r>
                      <a:rPr lang="en-US" sz="1600" i="1" smtClean="0">
                        <a:solidFill>
                          <a:srgbClr val="0000FF"/>
                        </a:solidFill>
                        <a:latin typeface="Cambria Math" panose="02040503050406030204" pitchFamily="18" charset="0"/>
                      </a:rPr>
                      <m:t>4&lt;</m:t>
                    </m:r>
                    <m:r>
                      <a:rPr lang="en-US" sz="1600" i="1" smtClean="0">
                        <a:solidFill>
                          <a:srgbClr val="0000FF"/>
                        </a:solidFill>
                        <a:latin typeface="Cambria Math" panose="02040503050406030204" pitchFamily="18" charset="0"/>
                      </a:rPr>
                      <m:t>𝑛</m:t>
                    </m:r>
                    <m:r>
                      <a:rPr lang="en-US" sz="1600" i="1" smtClean="0">
                        <a:solidFill>
                          <a:srgbClr val="0000FF"/>
                        </a:solidFill>
                        <a:latin typeface="Cambria Math" panose="02040503050406030204" pitchFamily="18" charset="0"/>
                      </a:rPr>
                      <m:t>≤6</m:t>
                    </m:r>
                  </m:oMath>
                </a14:m>
                <a:r>
                  <a:rPr lang="zh-CN" altLang="en-US" sz="1600" b="1"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时</a:t>
                </a:r>
                <a:r>
                  <a:rPr lang="zh-CN" altLang="en-US" sz="1600" b="1" dirty="0">
                    <a:solidFill>
                      <a:srgbClr val="0000FF"/>
                    </a:solidFill>
                    <a:latin typeface="Times New Roman" panose="02020603050405020304" pitchFamily="18" charset="0"/>
                    <a:ea typeface="华文楷体" panose="02010600040101010101" pitchFamily="2" charset="-122"/>
                  </a:rPr>
                  <a:t>，</a:t>
                </a:r>
                <a:endParaRPr lang="en-US" altLang="zh-CN" sz="1600" b="1" dirty="0">
                  <a:solidFill>
                    <a:srgbClr val="0000FF"/>
                  </a:solidFill>
                  <a:latin typeface="Times New Roman" panose="02020603050405020304" pitchFamily="18" charset="0"/>
                  <a:ea typeface="华文楷体" panose="02010600040101010101" pitchFamily="2" charset="-122"/>
                </a:endParaRPr>
              </a:p>
              <a:p>
                <a:pPr eaLnBrk="1" hangingPunct="1"/>
                <a14:m>
                  <m:oMathPara xmlns:m="http://schemas.openxmlformats.org/officeDocument/2006/math">
                    <m:oMathParaPr>
                      <m:jc m:val="centerGroup"/>
                    </m:oMathParaPr>
                    <m:oMath xmlns:m="http://schemas.openxmlformats.org/officeDocument/2006/math">
                      <m:r>
                        <a:rPr lang="en-US" sz="1600" i="1">
                          <a:solidFill>
                            <a:srgbClr val="0000FF"/>
                          </a:solidFill>
                          <a:latin typeface="Cambria Math" panose="02040503050406030204" pitchFamily="18" charset="0"/>
                        </a:rPr>
                        <m:t>𝑦</m:t>
                      </m:r>
                      <m:r>
                        <a:rPr lang="en-US" sz="1600" b="0" i="1" smtClean="0">
                          <a:solidFill>
                            <a:srgbClr val="0000FF"/>
                          </a:solidFill>
                          <a:latin typeface="Cambria Math" panose="02040503050406030204" pitchFamily="18" charset="0"/>
                        </a:rPr>
                        <m:t>[</m:t>
                      </m:r>
                      <m:r>
                        <a:rPr lang="en-US" sz="1600" i="1">
                          <a:solidFill>
                            <a:srgbClr val="0000FF"/>
                          </a:solidFill>
                          <a:latin typeface="Cambria Math" panose="02040503050406030204" pitchFamily="18" charset="0"/>
                        </a:rPr>
                        <m:t>𝑛</m:t>
                      </m:r>
                      <m:r>
                        <a:rPr lang="en-US" sz="1600" b="0" i="1" smtClean="0">
                          <a:solidFill>
                            <a:srgbClr val="0000FF"/>
                          </a:solidFill>
                          <a:latin typeface="Cambria Math" panose="02040503050406030204" pitchFamily="18" charset="0"/>
                        </a:rPr>
                        <m:t>]</m:t>
                      </m:r>
                      <m:r>
                        <m:rPr>
                          <m:aln/>
                        </m:rPr>
                        <a:rPr lang="en-US" sz="1600" i="1">
                          <a:solidFill>
                            <a:srgbClr val="0000FF"/>
                          </a:solidFill>
                          <a:latin typeface="Cambria Math" panose="02040503050406030204" pitchFamily="18" charset="0"/>
                        </a:rPr>
                        <m:t>=</m:t>
                      </m:r>
                      <m:nary>
                        <m:naryPr>
                          <m:chr m:val="∑"/>
                          <m:ctrlPr>
                            <a:rPr lang="en-US" sz="1600" i="1">
                              <a:solidFill>
                                <a:srgbClr val="0000FF"/>
                              </a:solidFill>
                              <a:latin typeface="Cambria Math" panose="02040503050406030204" pitchFamily="18" charset="0"/>
                            </a:rPr>
                          </m:ctrlPr>
                        </m:naryPr>
                        <m:sub>
                          <m:r>
                            <a:rPr lang="en-US" sz="1600" i="1">
                              <a:solidFill>
                                <a:srgbClr val="0000FF"/>
                              </a:solidFill>
                              <a:latin typeface="Cambria Math" panose="02040503050406030204" pitchFamily="18" charset="0"/>
                            </a:rPr>
                            <m:t>𝑘</m:t>
                          </m:r>
                          <m:r>
                            <a:rPr lang="en-US" sz="1600" i="1">
                              <a:solidFill>
                                <a:srgbClr val="0000FF"/>
                              </a:solidFill>
                              <a:latin typeface="Cambria Math" panose="02040503050406030204" pitchFamily="18" charset="0"/>
                            </a:rPr>
                            <m:t>=0</m:t>
                          </m:r>
                        </m:sub>
                        <m:sup>
                          <m:r>
                            <a:rPr lang="en-US" sz="1600" i="1">
                              <a:solidFill>
                                <a:srgbClr val="0000FF"/>
                              </a:solidFill>
                              <a:latin typeface="Cambria Math" panose="02040503050406030204" pitchFamily="18" charset="0"/>
                            </a:rPr>
                            <m:t>4</m:t>
                          </m:r>
                        </m:sup>
                        <m:e>
                          <m:sSup>
                            <m:sSupPr>
                              <m:ctrlPr>
                                <a:rPr lang="en-US" sz="1600" i="1">
                                  <a:solidFill>
                                    <a:srgbClr val="0000FF"/>
                                  </a:solidFill>
                                  <a:latin typeface="Cambria Math" panose="02040503050406030204" pitchFamily="18" charset="0"/>
                                </a:rPr>
                              </m:ctrlPr>
                            </m:sSupPr>
                            <m:e>
                              <m:r>
                                <a:rPr lang="en-US" sz="1600" i="1">
                                  <a:solidFill>
                                    <a:srgbClr val="0000FF"/>
                                  </a:solidFill>
                                  <a:latin typeface="Cambria Math" panose="02040503050406030204" pitchFamily="18" charset="0"/>
                                </a:rPr>
                                <m:t>𝛼</m:t>
                              </m:r>
                            </m:e>
                            <m:sup>
                              <m:r>
                                <a:rPr lang="en-US" sz="1600" i="1">
                                  <a:solidFill>
                                    <a:srgbClr val="0000FF"/>
                                  </a:solidFill>
                                  <a:latin typeface="Cambria Math" panose="02040503050406030204" pitchFamily="18" charset="0"/>
                                </a:rPr>
                                <m:t>𝑛</m:t>
                              </m:r>
                              <m:r>
                                <a:rPr lang="en-US" sz="1600" i="1">
                                  <a:solidFill>
                                    <a:srgbClr val="0000FF"/>
                                  </a:solidFill>
                                  <a:latin typeface="Cambria Math" panose="02040503050406030204" pitchFamily="18" charset="0"/>
                                </a:rPr>
                                <m:t>−</m:t>
                              </m:r>
                              <m:r>
                                <a:rPr lang="en-US" sz="1600" i="1">
                                  <a:solidFill>
                                    <a:srgbClr val="0000FF"/>
                                  </a:solidFill>
                                  <a:latin typeface="Cambria Math" panose="02040503050406030204" pitchFamily="18" charset="0"/>
                                </a:rPr>
                                <m:t>𝑘</m:t>
                              </m:r>
                            </m:sup>
                          </m:sSup>
                        </m:e>
                      </m:nary>
                      <m:r>
                        <a:rPr lang="en-US" sz="1600" i="1">
                          <a:solidFill>
                            <a:srgbClr val="0000FF"/>
                          </a:solidFill>
                          <a:latin typeface="Cambria Math" panose="02040503050406030204" pitchFamily="18" charset="0"/>
                        </a:rPr>
                        <m:t>=</m:t>
                      </m:r>
                      <m:f>
                        <m:fPr>
                          <m:ctrlPr>
                            <a:rPr lang="en-US" sz="1600" i="1">
                              <a:solidFill>
                                <a:srgbClr val="0000FF"/>
                              </a:solidFill>
                              <a:latin typeface="Cambria Math" panose="02040503050406030204" pitchFamily="18" charset="0"/>
                            </a:rPr>
                          </m:ctrlPr>
                        </m:fPr>
                        <m:num>
                          <m:sSup>
                            <m:sSupPr>
                              <m:ctrlPr>
                                <a:rPr lang="en-US" sz="1600" i="1">
                                  <a:solidFill>
                                    <a:srgbClr val="0000FF"/>
                                  </a:solidFill>
                                  <a:latin typeface="Cambria Math" panose="02040503050406030204" pitchFamily="18" charset="0"/>
                                </a:rPr>
                              </m:ctrlPr>
                            </m:sSupPr>
                            <m:e>
                              <m:r>
                                <a:rPr lang="en-US" sz="1600" i="1">
                                  <a:solidFill>
                                    <a:srgbClr val="0000FF"/>
                                  </a:solidFill>
                                  <a:latin typeface="Cambria Math" panose="02040503050406030204" pitchFamily="18" charset="0"/>
                                </a:rPr>
                                <m:t>𝛼</m:t>
                              </m:r>
                            </m:e>
                            <m:sup>
                              <m:r>
                                <a:rPr lang="en-US" sz="1600" i="1">
                                  <a:solidFill>
                                    <a:srgbClr val="0000FF"/>
                                  </a:solidFill>
                                  <a:latin typeface="Cambria Math" panose="02040503050406030204" pitchFamily="18" charset="0"/>
                                </a:rPr>
                                <m:t>𝑛</m:t>
                              </m:r>
                              <m:r>
                                <a:rPr lang="en-US" sz="1600" i="1">
                                  <a:solidFill>
                                    <a:srgbClr val="0000FF"/>
                                  </a:solidFill>
                                  <a:latin typeface="Cambria Math" panose="02040503050406030204" pitchFamily="18" charset="0"/>
                                </a:rPr>
                                <m:t>−4</m:t>
                              </m:r>
                            </m:sup>
                          </m:sSup>
                          <m:r>
                            <a:rPr lang="en-US" sz="1600" i="1">
                              <a:solidFill>
                                <a:srgbClr val="0000FF"/>
                              </a:solidFill>
                              <a:latin typeface="Cambria Math" panose="02040503050406030204" pitchFamily="18" charset="0"/>
                            </a:rPr>
                            <m:t>−</m:t>
                          </m:r>
                          <m:sSup>
                            <m:sSupPr>
                              <m:ctrlPr>
                                <a:rPr lang="en-US" sz="1600" i="1">
                                  <a:solidFill>
                                    <a:srgbClr val="0000FF"/>
                                  </a:solidFill>
                                  <a:latin typeface="Cambria Math" panose="02040503050406030204" pitchFamily="18" charset="0"/>
                                </a:rPr>
                              </m:ctrlPr>
                            </m:sSupPr>
                            <m:e>
                              <m:r>
                                <a:rPr lang="en-US" sz="1600" i="1">
                                  <a:solidFill>
                                    <a:srgbClr val="0000FF"/>
                                  </a:solidFill>
                                  <a:latin typeface="Cambria Math" panose="02040503050406030204" pitchFamily="18" charset="0"/>
                                </a:rPr>
                                <m:t>𝛼</m:t>
                              </m:r>
                            </m:e>
                            <m:sup>
                              <m:r>
                                <a:rPr lang="en-US" sz="1600" i="1">
                                  <a:solidFill>
                                    <a:srgbClr val="0000FF"/>
                                  </a:solidFill>
                                  <a:latin typeface="Cambria Math" panose="02040503050406030204" pitchFamily="18" charset="0"/>
                                </a:rPr>
                                <m:t>𝑛</m:t>
                              </m:r>
                              <m:r>
                                <a:rPr lang="en-US" sz="1600" i="1">
                                  <a:solidFill>
                                    <a:srgbClr val="0000FF"/>
                                  </a:solidFill>
                                  <a:latin typeface="Cambria Math" panose="02040503050406030204" pitchFamily="18" charset="0"/>
                                </a:rPr>
                                <m:t>+1</m:t>
                              </m:r>
                            </m:sup>
                          </m:sSup>
                        </m:num>
                        <m:den>
                          <m:r>
                            <a:rPr lang="en-US" sz="1600" i="1">
                              <a:solidFill>
                                <a:srgbClr val="0000FF"/>
                              </a:solidFill>
                              <a:latin typeface="Cambria Math" panose="02040503050406030204" pitchFamily="18" charset="0"/>
                            </a:rPr>
                            <m:t>1−</m:t>
                          </m:r>
                          <m:r>
                            <a:rPr lang="en-US" sz="1600" i="1">
                              <a:solidFill>
                                <a:srgbClr val="0000FF"/>
                              </a:solidFill>
                              <a:latin typeface="Cambria Math" panose="02040503050406030204" pitchFamily="18" charset="0"/>
                            </a:rPr>
                            <m:t>𝛼</m:t>
                          </m:r>
                        </m:den>
                      </m:f>
                    </m:oMath>
                  </m:oMathPara>
                </a14:m>
                <a:endParaRPr lang="zh-CN" altLang="en-US" sz="1600" b="1" dirty="0">
                  <a:solidFill>
                    <a:srgbClr val="0000FF"/>
                  </a:solidFill>
                  <a:latin typeface="Times New Roman" panose="02020603050405020304" pitchFamily="18" charset="0"/>
                  <a:ea typeface="华文楷体" panose="02010600040101010101" pitchFamily="2" charset="-122"/>
                </a:endParaRPr>
              </a:p>
            </p:txBody>
          </p:sp>
        </mc:Choice>
        <mc:Fallback xmlns="">
          <p:sp>
            <p:nvSpPr>
              <p:cNvPr id="17" name="Text Box 11">
                <a:extLst>
                  <a:ext uri="{FF2B5EF4-FFF2-40B4-BE49-F238E27FC236}">
                    <a16:creationId xmlns:a16="http://schemas.microsoft.com/office/drawing/2014/main" id="{840DCB8A-EFA0-4806-B757-979BD8C0D13A}"/>
                  </a:ext>
                </a:extLst>
              </p:cNvPr>
              <p:cNvSpPr txBox="1">
                <a:spLocks noRot="1" noChangeAspect="1" noMove="1" noResize="1" noEditPoints="1" noAdjustHandles="1" noChangeArrowheads="1" noChangeShapeType="1" noTextEdit="1"/>
              </p:cNvSpPr>
              <p:nvPr/>
            </p:nvSpPr>
            <p:spPr bwMode="auto">
              <a:xfrm>
                <a:off x="5798186" y="5445224"/>
                <a:ext cx="3062312" cy="1029962"/>
              </a:xfrm>
              <a:prstGeom prst="rect">
                <a:avLst/>
              </a:prstGeom>
              <a:blipFill>
                <a:blip r:embed="rId6"/>
                <a:stretch>
                  <a:fillRect l="-996" t="-118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aphicFrame>
        <p:nvGraphicFramePr>
          <p:cNvPr id="20" name="Object 8">
            <a:extLst>
              <a:ext uri="{FF2B5EF4-FFF2-40B4-BE49-F238E27FC236}">
                <a16:creationId xmlns:a16="http://schemas.microsoft.com/office/drawing/2014/main" id="{A834F7E0-9572-47E5-B36F-8A0742AA8840}"/>
              </a:ext>
            </a:extLst>
          </p:cNvPr>
          <p:cNvGraphicFramePr>
            <a:graphicFrameLocks noChangeAspect="1"/>
          </p:cNvGraphicFramePr>
          <p:nvPr/>
        </p:nvGraphicFramePr>
        <p:xfrm>
          <a:off x="5510188" y="2443897"/>
          <a:ext cx="114300" cy="177800"/>
        </p:xfrm>
        <a:graphic>
          <a:graphicData uri="http://schemas.openxmlformats.org/presentationml/2006/ole">
            <mc:AlternateContent xmlns:mc="http://schemas.openxmlformats.org/markup-compatibility/2006">
              <mc:Choice xmlns:v="urn:schemas-microsoft-com:vml" Requires="v">
                <p:oleObj spid="_x0000_s2124" name="Equation" r:id="rId7" imgW="114120" imgH="177480" progId="Equation.DSMT4">
                  <p:embed/>
                </p:oleObj>
              </mc:Choice>
              <mc:Fallback>
                <p:oleObj name="Equation" r:id="rId7" imgW="114120" imgH="177480" progId="Equation.DSMT4">
                  <p:embed/>
                  <p:pic>
                    <p:nvPicPr>
                      <p:cNvPr id="23566" name="Object 8">
                        <a:extLst>
                          <a:ext uri="{FF2B5EF4-FFF2-40B4-BE49-F238E27FC236}">
                            <a16:creationId xmlns:a16="http://schemas.microsoft.com/office/drawing/2014/main" id="{7B8BAA50-4C7F-421D-A4CA-29B46958E74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10188" y="2443897"/>
                        <a:ext cx="114300" cy="17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09800574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8" name="标题 1">
            <a:extLst>
              <a:ext uri="{FF2B5EF4-FFF2-40B4-BE49-F238E27FC236}">
                <a16:creationId xmlns:a16="http://schemas.microsoft.com/office/drawing/2014/main" id="{0BD51FDA-52F7-4D3B-B017-4AF28B2FE5AF}"/>
              </a:ext>
            </a:extLst>
          </p:cNvPr>
          <p:cNvSpPr>
            <a:spLocks noGrp="1"/>
          </p:cNvSpPr>
          <p:nvPr>
            <p:ph type="title"/>
          </p:nvPr>
        </p:nvSpPr>
        <p:spPr/>
        <p:txBody>
          <a:bodyPr/>
          <a:lstStyle/>
          <a:p>
            <a:r>
              <a:rPr lang="en-US" altLang="zh-CN"/>
              <a:t>2.1 </a:t>
            </a:r>
            <a:r>
              <a:rPr lang="zh-CN" altLang="en-US"/>
              <a:t>离散时间</a:t>
            </a:r>
            <a:r>
              <a:rPr lang="en-US" altLang="zh-CN"/>
              <a:t>LTI</a:t>
            </a:r>
            <a:r>
              <a:rPr lang="zh-CN" altLang="en-US"/>
              <a:t>系统：卷积和</a:t>
            </a:r>
          </a:p>
        </p:txBody>
      </p:sp>
      <p:sp>
        <p:nvSpPr>
          <p:cNvPr id="4" name="灯片编号占位符 3">
            <a:extLst>
              <a:ext uri="{FF2B5EF4-FFF2-40B4-BE49-F238E27FC236}">
                <a16:creationId xmlns:a16="http://schemas.microsoft.com/office/drawing/2014/main" id="{C1614D25-491A-4F59-A38C-2B17799B1A3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D8D21D4-4C59-4F7E-87CD-0BBFD6435A42}" type="slidenum">
              <a:rPr lang="zh-CN" altLang="en-US">
                <a:solidFill>
                  <a:srgbClr val="898989"/>
                </a:solidFill>
                <a:latin typeface="Calibri" panose="020F0502020204030204" pitchFamily="34" charset="0"/>
              </a:rPr>
              <a:pPr eaLnBrk="1" hangingPunct="1"/>
              <a:t>17</a:t>
            </a:fld>
            <a:endParaRPr lang="zh-CN" altLang="en-US">
              <a:solidFill>
                <a:srgbClr val="898989"/>
              </a:solidFill>
              <a:latin typeface="Calibri" panose="020F0502020204030204" pitchFamily="34" charset="0"/>
            </a:endParaRPr>
          </a:p>
        </p:txBody>
      </p:sp>
      <p:pic>
        <p:nvPicPr>
          <p:cNvPr id="6" name="Picture 4">
            <a:extLst>
              <a:ext uri="{FF2B5EF4-FFF2-40B4-BE49-F238E27FC236}">
                <a16:creationId xmlns:a16="http://schemas.microsoft.com/office/drawing/2014/main" id="{C568B79D-6968-4B97-902E-FF3714D02D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2362" y="1196752"/>
            <a:ext cx="4768850" cy="168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C9ACA8DD-6910-44C3-8992-5913DDB3427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3177952"/>
            <a:ext cx="4535487" cy="352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11" name="Text Box 16">
                <a:extLst>
                  <a:ext uri="{FF2B5EF4-FFF2-40B4-BE49-F238E27FC236}">
                    <a16:creationId xmlns:a16="http://schemas.microsoft.com/office/drawing/2014/main" id="{F0FDB0F8-8976-48B9-AA1C-650942EB6881}"/>
                  </a:ext>
                </a:extLst>
              </p:cNvPr>
              <p:cNvSpPr txBox="1">
                <a:spLocks noChangeArrowheads="1"/>
              </p:cNvSpPr>
              <p:nvPr/>
            </p:nvSpPr>
            <p:spPr bwMode="auto">
              <a:xfrm>
                <a:off x="5661447" y="3410850"/>
                <a:ext cx="3025353" cy="102996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0000FF"/>
                    </a:solidFill>
                    <a:latin typeface="Times New Roman" panose="02020603050405020304" pitchFamily="18" charset="0"/>
                    <a:ea typeface="华文楷体" panose="02010600040101010101" pitchFamily="2" charset="-122"/>
                  </a:rPr>
                  <a:t>④</a:t>
                </a:r>
                <a:r>
                  <a:rPr lang="en-US" altLang="zh-CN" sz="1600" dirty="0">
                    <a:solidFill>
                      <a:srgbClr val="0000FF"/>
                    </a:solidFill>
                    <a:latin typeface="Times New Roman" panose="02020603050405020304" pitchFamily="18" charset="0"/>
                    <a:ea typeface="华文楷体" panose="02010600040101010101" pitchFamily="2" charset="-122"/>
                  </a:rPr>
                  <a:t> </a:t>
                </a:r>
                <a14:m>
                  <m:oMath xmlns:m="http://schemas.openxmlformats.org/officeDocument/2006/math">
                    <m:r>
                      <a:rPr lang="en-US" sz="1600" i="1" smtClean="0">
                        <a:solidFill>
                          <a:srgbClr val="0000FF"/>
                        </a:solidFill>
                        <a:latin typeface="Cambria Math" panose="02040503050406030204" pitchFamily="18" charset="0"/>
                      </a:rPr>
                      <m:t>6&lt;</m:t>
                    </m:r>
                    <m:r>
                      <a:rPr lang="en-US" sz="1600" i="1" smtClean="0">
                        <a:solidFill>
                          <a:srgbClr val="0000FF"/>
                        </a:solidFill>
                        <a:latin typeface="Cambria Math" panose="02040503050406030204" pitchFamily="18" charset="0"/>
                      </a:rPr>
                      <m:t>𝑛</m:t>
                    </m:r>
                    <m:r>
                      <a:rPr lang="en-US" sz="1600" i="1" smtClean="0">
                        <a:solidFill>
                          <a:srgbClr val="0000FF"/>
                        </a:solidFill>
                        <a:latin typeface="Cambria Math" panose="02040503050406030204" pitchFamily="18" charset="0"/>
                      </a:rPr>
                      <m:t>≤10</m:t>
                    </m:r>
                  </m:oMath>
                </a14:m>
                <a:r>
                  <a:rPr lang="zh-CN" altLang="en-US" sz="1600" b="1"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时</a:t>
                </a:r>
                <a:r>
                  <a:rPr lang="zh-CN" altLang="en-US" sz="1600" dirty="0">
                    <a:solidFill>
                      <a:srgbClr val="0000FF"/>
                    </a:solidFill>
                    <a:latin typeface="Times New Roman" panose="02020603050405020304" pitchFamily="18" charset="0"/>
                    <a:ea typeface="华文楷体" panose="02010600040101010101" pitchFamily="2" charset="-122"/>
                  </a:rPr>
                  <a:t>，</a:t>
                </a:r>
                <a:endParaRPr lang="en-US" sz="1600" i="1" dirty="0">
                  <a:solidFill>
                    <a:srgbClr val="0000FF"/>
                  </a:solidFill>
                  <a:latin typeface="Cambria Math" panose="02040503050406030204" pitchFamily="18" charset="0"/>
                </a:endParaRPr>
              </a:p>
              <a:p>
                <a:pPr eaLnBrk="1" hangingPunct="1"/>
                <a14:m>
                  <m:oMathPara xmlns:m="http://schemas.openxmlformats.org/officeDocument/2006/math">
                    <m:oMathParaPr>
                      <m:jc m:val="centerGroup"/>
                    </m:oMathParaPr>
                    <m:oMath xmlns:m="http://schemas.openxmlformats.org/officeDocument/2006/math">
                      <m:r>
                        <a:rPr lang="en-US" sz="1600" i="1">
                          <a:solidFill>
                            <a:srgbClr val="0000FF"/>
                          </a:solidFill>
                          <a:latin typeface="Cambria Math" panose="02040503050406030204" pitchFamily="18" charset="0"/>
                        </a:rPr>
                        <m:t>𝑦</m:t>
                      </m:r>
                      <m:r>
                        <a:rPr lang="en-US" sz="1600" b="0" i="1" smtClean="0">
                          <a:solidFill>
                            <a:srgbClr val="0000FF"/>
                          </a:solidFill>
                          <a:latin typeface="Cambria Math" panose="02040503050406030204" pitchFamily="18" charset="0"/>
                        </a:rPr>
                        <m:t>[</m:t>
                      </m:r>
                      <m:r>
                        <a:rPr lang="en-US" sz="1600" i="1">
                          <a:solidFill>
                            <a:srgbClr val="0000FF"/>
                          </a:solidFill>
                          <a:latin typeface="Cambria Math" panose="02040503050406030204" pitchFamily="18" charset="0"/>
                        </a:rPr>
                        <m:t>𝑛</m:t>
                      </m:r>
                      <m:r>
                        <a:rPr lang="en-US" sz="1600" b="0" i="1" smtClean="0">
                          <a:solidFill>
                            <a:srgbClr val="0000FF"/>
                          </a:solidFill>
                          <a:latin typeface="Cambria Math" panose="02040503050406030204" pitchFamily="18" charset="0"/>
                        </a:rPr>
                        <m:t>]</m:t>
                      </m:r>
                      <m:r>
                        <a:rPr lang="en-US" sz="1600" i="1">
                          <a:solidFill>
                            <a:srgbClr val="0000FF"/>
                          </a:solidFill>
                          <a:latin typeface="Cambria Math" panose="02040503050406030204" pitchFamily="18" charset="0"/>
                        </a:rPr>
                        <m:t>=</m:t>
                      </m:r>
                      <m:nary>
                        <m:naryPr>
                          <m:chr m:val="∑"/>
                          <m:ctrlPr>
                            <a:rPr lang="en-US" sz="1600" i="1">
                              <a:solidFill>
                                <a:srgbClr val="0000FF"/>
                              </a:solidFill>
                              <a:latin typeface="Cambria Math" panose="02040503050406030204" pitchFamily="18" charset="0"/>
                            </a:rPr>
                          </m:ctrlPr>
                        </m:naryPr>
                        <m:sub>
                          <m:r>
                            <a:rPr lang="en-US" sz="1600" i="1">
                              <a:solidFill>
                                <a:srgbClr val="0000FF"/>
                              </a:solidFill>
                              <a:latin typeface="Cambria Math" panose="02040503050406030204" pitchFamily="18" charset="0"/>
                            </a:rPr>
                            <m:t>𝑘</m:t>
                          </m:r>
                          <m:r>
                            <a:rPr lang="en-US" sz="1600" i="1">
                              <a:solidFill>
                                <a:srgbClr val="0000FF"/>
                              </a:solidFill>
                              <a:latin typeface="Cambria Math" panose="02040503050406030204" pitchFamily="18" charset="0"/>
                            </a:rPr>
                            <m:t>=</m:t>
                          </m:r>
                          <m:r>
                            <a:rPr lang="en-US" sz="1600" i="1">
                              <a:solidFill>
                                <a:srgbClr val="0000FF"/>
                              </a:solidFill>
                              <a:latin typeface="Cambria Math" panose="02040503050406030204" pitchFamily="18" charset="0"/>
                            </a:rPr>
                            <m:t>𝑛</m:t>
                          </m:r>
                          <m:r>
                            <a:rPr lang="en-US" sz="1600" i="1">
                              <a:solidFill>
                                <a:srgbClr val="0000FF"/>
                              </a:solidFill>
                              <a:latin typeface="Cambria Math" panose="02040503050406030204" pitchFamily="18" charset="0"/>
                            </a:rPr>
                            <m:t>−6</m:t>
                          </m:r>
                        </m:sub>
                        <m:sup>
                          <m:r>
                            <a:rPr lang="en-US" sz="1600" i="1">
                              <a:solidFill>
                                <a:srgbClr val="0000FF"/>
                              </a:solidFill>
                              <a:latin typeface="Cambria Math" panose="02040503050406030204" pitchFamily="18" charset="0"/>
                            </a:rPr>
                            <m:t>4</m:t>
                          </m:r>
                        </m:sup>
                        <m:e>
                          <m:sSup>
                            <m:sSupPr>
                              <m:ctrlPr>
                                <a:rPr lang="en-US" sz="1600" i="1">
                                  <a:solidFill>
                                    <a:srgbClr val="0000FF"/>
                                  </a:solidFill>
                                  <a:latin typeface="Cambria Math" panose="02040503050406030204" pitchFamily="18" charset="0"/>
                                </a:rPr>
                              </m:ctrlPr>
                            </m:sSupPr>
                            <m:e>
                              <m:r>
                                <a:rPr lang="en-US" sz="1600" i="1">
                                  <a:solidFill>
                                    <a:srgbClr val="0000FF"/>
                                  </a:solidFill>
                                  <a:latin typeface="Cambria Math" panose="02040503050406030204" pitchFamily="18" charset="0"/>
                                </a:rPr>
                                <m:t>𝛼</m:t>
                              </m:r>
                            </m:e>
                            <m:sup>
                              <m:r>
                                <a:rPr lang="en-US" sz="1600" i="1">
                                  <a:solidFill>
                                    <a:srgbClr val="0000FF"/>
                                  </a:solidFill>
                                  <a:latin typeface="Cambria Math" panose="02040503050406030204" pitchFamily="18" charset="0"/>
                                </a:rPr>
                                <m:t>𝑛</m:t>
                              </m:r>
                              <m:r>
                                <a:rPr lang="en-US" sz="1600" i="1">
                                  <a:solidFill>
                                    <a:srgbClr val="0000FF"/>
                                  </a:solidFill>
                                  <a:latin typeface="Cambria Math" panose="02040503050406030204" pitchFamily="18" charset="0"/>
                                </a:rPr>
                                <m:t>−</m:t>
                              </m:r>
                              <m:r>
                                <a:rPr lang="en-US" sz="1600" i="1">
                                  <a:solidFill>
                                    <a:srgbClr val="0000FF"/>
                                  </a:solidFill>
                                  <a:latin typeface="Cambria Math" panose="02040503050406030204" pitchFamily="18" charset="0"/>
                                </a:rPr>
                                <m:t>𝑘</m:t>
                              </m:r>
                            </m:sup>
                          </m:sSup>
                        </m:e>
                      </m:nary>
                      <m:r>
                        <a:rPr lang="en-US" sz="1600" i="1">
                          <a:solidFill>
                            <a:srgbClr val="0000FF"/>
                          </a:solidFill>
                          <a:latin typeface="Cambria Math" panose="02040503050406030204" pitchFamily="18" charset="0"/>
                        </a:rPr>
                        <m:t>=</m:t>
                      </m:r>
                      <m:f>
                        <m:fPr>
                          <m:ctrlPr>
                            <a:rPr lang="en-US" sz="1600" i="1">
                              <a:solidFill>
                                <a:srgbClr val="0000FF"/>
                              </a:solidFill>
                              <a:latin typeface="Cambria Math" panose="02040503050406030204" pitchFamily="18" charset="0"/>
                            </a:rPr>
                          </m:ctrlPr>
                        </m:fPr>
                        <m:num>
                          <m:sSup>
                            <m:sSupPr>
                              <m:ctrlPr>
                                <a:rPr lang="en-US" sz="1600" i="1">
                                  <a:solidFill>
                                    <a:srgbClr val="0000FF"/>
                                  </a:solidFill>
                                  <a:latin typeface="Cambria Math" panose="02040503050406030204" pitchFamily="18" charset="0"/>
                                </a:rPr>
                              </m:ctrlPr>
                            </m:sSupPr>
                            <m:e>
                              <m:r>
                                <a:rPr lang="en-US" sz="1600" i="1">
                                  <a:solidFill>
                                    <a:srgbClr val="0000FF"/>
                                  </a:solidFill>
                                  <a:latin typeface="Cambria Math" panose="02040503050406030204" pitchFamily="18" charset="0"/>
                                </a:rPr>
                                <m:t>𝛼</m:t>
                              </m:r>
                            </m:e>
                            <m:sup>
                              <m:r>
                                <a:rPr lang="en-US" sz="1600" i="1">
                                  <a:solidFill>
                                    <a:srgbClr val="0000FF"/>
                                  </a:solidFill>
                                  <a:latin typeface="Cambria Math" panose="02040503050406030204" pitchFamily="18" charset="0"/>
                                </a:rPr>
                                <m:t>𝑛</m:t>
                              </m:r>
                              <m:r>
                                <a:rPr lang="en-US" sz="1600" i="1">
                                  <a:solidFill>
                                    <a:srgbClr val="0000FF"/>
                                  </a:solidFill>
                                  <a:latin typeface="Cambria Math" panose="02040503050406030204" pitchFamily="18" charset="0"/>
                                </a:rPr>
                                <m:t>−4</m:t>
                              </m:r>
                            </m:sup>
                          </m:sSup>
                          <m:r>
                            <a:rPr lang="en-US" sz="1600" i="1">
                              <a:solidFill>
                                <a:srgbClr val="0000FF"/>
                              </a:solidFill>
                              <a:latin typeface="Cambria Math" panose="02040503050406030204" pitchFamily="18" charset="0"/>
                            </a:rPr>
                            <m:t>−</m:t>
                          </m:r>
                          <m:sSup>
                            <m:sSupPr>
                              <m:ctrlPr>
                                <a:rPr lang="en-US" sz="1600" i="1">
                                  <a:solidFill>
                                    <a:srgbClr val="0000FF"/>
                                  </a:solidFill>
                                  <a:latin typeface="Cambria Math" panose="02040503050406030204" pitchFamily="18" charset="0"/>
                                </a:rPr>
                              </m:ctrlPr>
                            </m:sSupPr>
                            <m:e>
                              <m:r>
                                <a:rPr lang="en-US" sz="1600" i="1">
                                  <a:solidFill>
                                    <a:srgbClr val="0000FF"/>
                                  </a:solidFill>
                                  <a:latin typeface="Cambria Math" panose="02040503050406030204" pitchFamily="18" charset="0"/>
                                </a:rPr>
                                <m:t>𝛼</m:t>
                              </m:r>
                            </m:e>
                            <m:sup>
                              <m:r>
                                <a:rPr lang="en-US" sz="1600" i="1">
                                  <a:solidFill>
                                    <a:srgbClr val="0000FF"/>
                                  </a:solidFill>
                                  <a:latin typeface="Cambria Math" panose="02040503050406030204" pitchFamily="18" charset="0"/>
                                </a:rPr>
                                <m:t>7</m:t>
                              </m:r>
                            </m:sup>
                          </m:sSup>
                        </m:num>
                        <m:den>
                          <m:r>
                            <a:rPr lang="en-US" sz="1600" i="1">
                              <a:solidFill>
                                <a:srgbClr val="0000FF"/>
                              </a:solidFill>
                              <a:latin typeface="Cambria Math" panose="02040503050406030204" pitchFamily="18" charset="0"/>
                            </a:rPr>
                            <m:t>1−</m:t>
                          </m:r>
                          <m:r>
                            <a:rPr lang="en-US" sz="1600" i="1">
                              <a:solidFill>
                                <a:srgbClr val="0000FF"/>
                              </a:solidFill>
                              <a:latin typeface="Cambria Math" panose="02040503050406030204" pitchFamily="18" charset="0"/>
                            </a:rPr>
                            <m:t>𝛼</m:t>
                          </m:r>
                        </m:den>
                      </m:f>
                    </m:oMath>
                  </m:oMathPara>
                </a14:m>
                <a:endParaRPr lang="zh-CN" altLang="en-US" sz="1600" dirty="0">
                  <a:solidFill>
                    <a:srgbClr val="0000FF"/>
                  </a:solidFill>
                  <a:latin typeface="Times New Roman" panose="02020603050405020304" pitchFamily="18" charset="0"/>
                  <a:ea typeface="华文楷体" panose="02010600040101010101" pitchFamily="2" charset="-122"/>
                </a:endParaRPr>
              </a:p>
            </p:txBody>
          </p:sp>
        </mc:Choice>
        <mc:Fallback xmlns="">
          <p:sp>
            <p:nvSpPr>
              <p:cNvPr id="11" name="Text Box 16">
                <a:extLst>
                  <a:ext uri="{FF2B5EF4-FFF2-40B4-BE49-F238E27FC236}">
                    <a16:creationId xmlns:a16="http://schemas.microsoft.com/office/drawing/2014/main" id="{F0FDB0F8-8976-48B9-AA1C-650942EB6881}"/>
                  </a:ext>
                </a:extLst>
              </p:cNvPr>
              <p:cNvSpPr txBox="1">
                <a:spLocks noRot="1" noChangeAspect="1" noMove="1" noResize="1" noEditPoints="1" noAdjustHandles="1" noChangeArrowheads="1" noChangeShapeType="1" noTextEdit="1"/>
              </p:cNvSpPr>
              <p:nvPr/>
            </p:nvSpPr>
            <p:spPr bwMode="auto">
              <a:xfrm>
                <a:off x="5661447" y="3410850"/>
                <a:ext cx="3025353" cy="1029962"/>
              </a:xfrm>
              <a:prstGeom prst="rect">
                <a:avLst/>
              </a:prstGeom>
              <a:blipFill>
                <a:blip r:embed="rId4"/>
                <a:stretch>
                  <a:fillRect l="-1210" t="-119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 Box 20">
                <a:extLst>
                  <a:ext uri="{FF2B5EF4-FFF2-40B4-BE49-F238E27FC236}">
                    <a16:creationId xmlns:a16="http://schemas.microsoft.com/office/drawing/2014/main" id="{693BAA07-8022-4E5B-ADBE-8107528F71AD}"/>
                  </a:ext>
                </a:extLst>
              </p:cNvPr>
              <p:cNvSpPr txBox="1">
                <a:spLocks noChangeArrowheads="1"/>
              </p:cNvSpPr>
              <p:nvPr/>
            </p:nvSpPr>
            <p:spPr bwMode="auto">
              <a:xfrm>
                <a:off x="5661447" y="5877272"/>
                <a:ext cx="2290755" cy="33855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0000FF"/>
                    </a:solidFill>
                    <a:latin typeface="Times New Roman" panose="02020603050405020304" pitchFamily="18" charset="0"/>
                    <a:ea typeface="华文楷体" panose="02010600040101010101" pitchFamily="2" charset="-122"/>
                  </a:rPr>
                  <a:t>⑤ </a:t>
                </a:r>
                <a14:m>
                  <m:oMath xmlns:m="http://schemas.openxmlformats.org/officeDocument/2006/math">
                    <m:r>
                      <a:rPr lang="en-US" sz="1600" i="1" smtClean="0">
                        <a:solidFill>
                          <a:srgbClr val="0000FF"/>
                        </a:solidFill>
                        <a:latin typeface="Cambria Math" panose="02040503050406030204" pitchFamily="18" charset="0"/>
                      </a:rPr>
                      <m:t>𝑛</m:t>
                    </m:r>
                    <m:r>
                      <a:rPr lang="en-US" sz="1600" i="1" smtClean="0">
                        <a:solidFill>
                          <a:srgbClr val="0000FF"/>
                        </a:solidFill>
                        <a:latin typeface="Cambria Math" panose="02040503050406030204" pitchFamily="18" charset="0"/>
                      </a:rPr>
                      <m:t>&gt;10</m:t>
                    </m:r>
                  </m:oMath>
                </a14:m>
                <a:r>
                  <a:rPr lang="zh-CN" altLang="en-US" sz="1600" b="1"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时，</a:t>
                </a:r>
                <a14:m>
                  <m:oMath xmlns:m="http://schemas.openxmlformats.org/officeDocument/2006/math">
                    <m:r>
                      <a:rPr lang="en-US" sz="1600" i="1">
                        <a:solidFill>
                          <a:srgbClr val="0000FF"/>
                        </a:solidFill>
                        <a:latin typeface="Cambria Math" panose="02040503050406030204" pitchFamily="18" charset="0"/>
                      </a:rPr>
                      <m:t>𝑦</m:t>
                    </m:r>
                    <m:r>
                      <a:rPr lang="en-US" sz="1600" b="0" i="1" smtClean="0">
                        <a:solidFill>
                          <a:srgbClr val="0000FF"/>
                        </a:solidFill>
                        <a:latin typeface="Cambria Math" panose="02040503050406030204" pitchFamily="18" charset="0"/>
                      </a:rPr>
                      <m:t>[</m:t>
                    </m:r>
                    <m:r>
                      <a:rPr lang="en-US" sz="1600" i="1">
                        <a:solidFill>
                          <a:srgbClr val="0000FF"/>
                        </a:solidFill>
                        <a:latin typeface="Cambria Math" panose="02040503050406030204" pitchFamily="18" charset="0"/>
                      </a:rPr>
                      <m:t>𝑛</m:t>
                    </m:r>
                    <m:r>
                      <a:rPr lang="en-US" sz="1600" b="0" i="1" smtClean="0">
                        <a:solidFill>
                          <a:srgbClr val="0000FF"/>
                        </a:solidFill>
                        <a:latin typeface="Cambria Math" panose="02040503050406030204" pitchFamily="18" charset="0"/>
                      </a:rPr>
                      <m:t>]</m:t>
                    </m:r>
                    <m:r>
                      <a:rPr lang="en-US" sz="1600" i="1">
                        <a:solidFill>
                          <a:srgbClr val="0000FF"/>
                        </a:solidFill>
                        <a:latin typeface="Cambria Math" panose="02040503050406030204" pitchFamily="18" charset="0"/>
                      </a:rPr>
                      <m:t>=0</m:t>
                    </m:r>
                  </m:oMath>
                </a14:m>
                <a:endParaRPr lang="zh-CN" altLang="en-US" sz="1600" b="1"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15" name="Text Box 20">
                <a:extLst>
                  <a:ext uri="{FF2B5EF4-FFF2-40B4-BE49-F238E27FC236}">
                    <a16:creationId xmlns:a16="http://schemas.microsoft.com/office/drawing/2014/main" id="{693BAA07-8022-4E5B-ADBE-8107528F71AD}"/>
                  </a:ext>
                </a:extLst>
              </p:cNvPr>
              <p:cNvSpPr txBox="1">
                <a:spLocks noRot="1" noChangeAspect="1" noMove="1" noResize="1" noEditPoints="1" noAdjustHandles="1" noChangeArrowheads="1" noChangeShapeType="1" noTextEdit="1"/>
              </p:cNvSpPr>
              <p:nvPr/>
            </p:nvSpPr>
            <p:spPr bwMode="auto">
              <a:xfrm>
                <a:off x="5661447" y="5877272"/>
                <a:ext cx="2290755" cy="338554"/>
              </a:xfrm>
              <a:prstGeom prst="rect">
                <a:avLst/>
              </a:prstGeom>
              <a:blipFill>
                <a:blip r:embed="rId5"/>
                <a:stretch>
                  <a:fillRect l="-1600" t="-3571" b="-2321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85282141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71" name="标题 1">
            <a:extLst>
              <a:ext uri="{FF2B5EF4-FFF2-40B4-BE49-F238E27FC236}">
                <a16:creationId xmlns:a16="http://schemas.microsoft.com/office/drawing/2014/main" id="{7264B308-48B4-4DA1-8259-6AD5657513FC}"/>
              </a:ext>
            </a:extLst>
          </p:cNvPr>
          <p:cNvSpPr>
            <a:spLocks noGrp="1"/>
          </p:cNvSpPr>
          <p:nvPr>
            <p:ph type="title"/>
          </p:nvPr>
        </p:nvSpPr>
        <p:spPr/>
        <p:txBody>
          <a:bodyPr/>
          <a:lstStyle/>
          <a:p>
            <a:r>
              <a:rPr lang="en-US" altLang="zh-CN"/>
              <a:t>2.1 </a:t>
            </a:r>
            <a:r>
              <a:rPr lang="zh-CN" altLang="en-US"/>
              <a:t>离散时间</a:t>
            </a:r>
            <a:r>
              <a:rPr lang="en-US" altLang="zh-CN"/>
              <a:t>LTI</a:t>
            </a:r>
            <a:r>
              <a:rPr lang="zh-CN" altLang="en-US"/>
              <a:t>系统：卷积和</a:t>
            </a:r>
          </a:p>
        </p:txBody>
      </p:sp>
      <p:sp>
        <p:nvSpPr>
          <p:cNvPr id="4" name="灯片编号占位符 3">
            <a:extLst>
              <a:ext uri="{FF2B5EF4-FFF2-40B4-BE49-F238E27FC236}">
                <a16:creationId xmlns:a16="http://schemas.microsoft.com/office/drawing/2014/main" id="{5FE76913-796A-4A52-9034-6B49B2D2A8C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FB1BE16-4F2C-4C91-AD9F-BF47A743DFC9}" type="slidenum">
              <a:rPr lang="zh-CN" altLang="en-US">
                <a:solidFill>
                  <a:srgbClr val="898989"/>
                </a:solidFill>
                <a:latin typeface="Calibri" panose="020F0502020204030204" pitchFamily="34" charset="0"/>
              </a:rPr>
              <a:pPr eaLnBrk="1" hangingPunct="1"/>
              <a:t>18</a:t>
            </a:fld>
            <a:endParaRPr lang="zh-CN" altLang="en-US">
              <a:solidFill>
                <a:srgbClr val="898989"/>
              </a:solidFill>
              <a:latin typeface="Calibri" panose="020F0502020204030204" pitchFamily="34" charset="0"/>
            </a:endParaRPr>
          </a:p>
        </p:txBody>
      </p:sp>
      <p:pic>
        <p:nvPicPr>
          <p:cNvPr id="64" name="Picture 4" descr="02-10">
            <a:extLst>
              <a:ext uri="{FF2B5EF4-FFF2-40B4-BE49-F238E27FC236}">
                <a16:creationId xmlns:a16="http://schemas.microsoft.com/office/drawing/2014/main" id="{508375EE-DAC8-469E-BBB6-43C2D675B4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3185443"/>
            <a:ext cx="6096000" cy="276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65" name="Object 5">
                <a:extLst>
                  <a:ext uri="{FF2B5EF4-FFF2-40B4-BE49-F238E27FC236}">
                    <a16:creationId xmlns:a16="http://schemas.microsoft.com/office/drawing/2014/main" id="{28F8DB42-63C5-45F8-9893-F0094196923C}"/>
                  </a:ext>
                </a:extLst>
              </p:cNvPr>
              <p:cNvSpPr txBox="1"/>
              <p:nvPr/>
            </p:nvSpPr>
            <p:spPr bwMode="auto">
              <a:xfrm>
                <a:off x="899592" y="2183607"/>
                <a:ext cx="3888432" cy="2405595"/>
              </a:xfrm>
              <a:prstGeom prst="rect">
                <a:avLst/>
              </a:prstGeom>
              <a:noFill/>
              <a:ln>
                <a:noFill/>
              </a:ln>
            </p:spPr>
            <p:txBody>
              <a:bodyPr wrap="square">
                <a:spAutoFit/>
              </a:bodyPr>
              <a:lstStyle/>
              <a:p>
                <a:pPr/>
                <a14:m>
                  <m:oMathPara xmlns:m="http://schemas.openxmlformats.org/officeDocument/2006/math">
                    <m:oMathParaPr>
                      <m:jc m:val="left"/>
                    </m:oMathParaPr>
                    <m:oMath xmlns:m="http://schemas.openxmlformats.org/officeDocument/2006/math">
                      <m:r>
                        <a:rPr lang="en-US" i="1" smtClean="0">
                          <a:solidFill>
                            <a:srgbClr val="0000FF"/>
                          </a:solidFill>
                          <a:latin typeface="Cambria Math" panose="02040503050406030204" pitchFamily="18" charset="0"/>
                        </a:rPr>
                        <m:t>𝑦</m:t>
                      </m:r>
                      <m:r>
                        <a:rPr lang="en-US" i="1" smtClean="0">
                          <a:solidFill>
                            <a:srgbClr val="0000FF"/>
                          </a:solidFill>
                          <a:latin typeface="Cambria Math" panose="02040503050406030204" pitchFamily="18" charset="0"/>
                        </a:rPr>
                        <m:t>[</m:t>
                      </m:r>
                      <m:r>
                        <a:rPr lang="en-US" i="1" smtClean="0">
                          <a:solidFill>
                            <a:srgbClr val="0000FF"/>
                          </a:solidFill>
                          <a:latin typeface="Cambria Math" panose="02040503050406030204" pitchFamily="18" charset="0"/>
                        </a:rPr>
                        <m:t>𝑛</m:t>
                      </m:r>
                      <m:r>
                        <a:rPr lang="en-US" i="1" smtClean="0">
                          <a:solidFill>
                            <a:srgbClr val="0000FF"/>
                          </a:solidFill>
                          <a:latin typeface="Cambria Math" panose="02040503050406030204" pitchFamily="18" charset="0"/>
                        </a:rPr>
                        <m:t>]=</m:t>
                      </m:r>
                      <m:d>
                        <m:dPr>
                          <m:begChr m:val="{"/>
                          <m:endChr m:val=""/>
                          <m:ctrlPr>
                            <a:rPr lang="en-US" i="1">
                              <a:solidFill>
                                <a:srgbClr val="0000FF"/>
                              </a:solidFill>
                              <a:latin typeface="Cambria Math" panose="02040503050406030204" pitchFamily="18" charset="0"/>
                            </a:rPr>
                          </m:ctrlPr>
                        </m:dPr>
                        <m:e>
                          <m:m>
                            <m:mPr>
                              <m:plcHide m:val="on"/>
                              <m:mcs>
                                <m:mc>
                                  <m:mcPr>
                                    <m:count m:val="1"/>
                                    <m:mcJc m:val="center"/>
                                  </m:mcPr>
                                </m:mc>
                              </m:mcs>
                              <m:ctrlPr>
                                <a:rPr lang="en-US" i="1">
                                  <a:solidFill>
                                    <a:srgbClr val="0000FF"/>
                                  </a:solidFill>
                                  <a:latin typeface="Cambria Math" panose="02040503050406030204" pitchFamily="18" charset="0"/>
                                </a:rPr>
                              </m:ctrlPr>
                            </m:mPr>
                            <m:mr>
                              <m:e>
                                <m:r>
                                  <a:rPr lang="en-US" i="1">
                                    <a:solidFill>
                                      <a:srgbClr val="0000FF"/>
                                    </a:solidFill>
                                    <a:latin typeface="Cambria Math" panose="02040503050406030204" pitchFamily="18" charset="0"/>
                                  </a:rPr>
                                  <m:t>0,</m:t>
                                </m:r>
                                <m:r>
                                  <m:rPr>
                                    <m:nor/>
                                  </m:rPr>
                                  <a:rPr lang="en-US" i="0">
                                    <a:solidFill>
                                      <a:srgbClr val="0000FF"/>
                                    </a:solidFill>
                                    <a:latin typeface="Cambria Math" panose="02040503050406030204" pitchFamily="18" charset="0"/>
                                  </a:rPr>
                                  <m:t>    </m:t>
                                </m:r>
                                <m:r>
                                  <m:rPr>
                                    <m:nor/>
                                  </m:rPr>
                                  <a:rPr lang="en-US" b="0" i="0" smtClean="0">
                                    <a:solidFill>
                                      <a:srgbClr val="0000FF"/>
                                    </a:solidFill>
                                    <a:latin typeface="Cambria Math" panose="02040503050406030204" pitchFamily="18" charset="0"/>
                                  </a:rPr>
                                  <m:t> </m:t>
                                </m:r>
                                <m:r>
                                  <m:rPr>
                                    <m:nor/>
                                  </m:rPr>
                                  <a:rPr lang="en-US" i="0">
                                    <a:solidFill>
                                      <a:srgbClr val="0000FF"/>
                                    </a:solidFill>
                                    <a:latin typeface="Cambria Math" panose="02040503050406030204" pitchFamily="18" charset="0"/>
                                  </a:rPr>
                                  <m:t>   </m:t>
                                </m:r>
                                <m:r>
                                  <m:rPr>
                                    <m:nor/>
                                  </m:rPr>
                                  <a:rPr lang="en-US" b="0" i="0" smtClean="0">
                                    <a:solidFill>
                                      <a:srgbClr val="0000FF"/>
                                    </a:solidFill>
                                    <a:latin typeface="Cambria Math" panose="02040503050406030204" pitchFamily="18" charset="0"/>
                                  </a:rPr>
                                  <m:t>         </m:t>
                                </m:r>
                                <m:r>
                                  <m:rPr>
                                    <m:nor/>
                                  </m:rPr>
                                  <a:rPr lang="en-US" i="0">
                                    <a:solidFill>
                                      <a:srgbClr val="0000FF"/>
                                    </a:solidFill>
                                    <a:latin typeface="Cambria Math" panose="02040503050406030204" pitchFamily="18" charset="0"/>
                                  </a:rPr>
                                  <m:t>      </m:t>
                                </m:r>
                                <m:r>
                                  <a:rPr lang="en-US" i="1">
                                    <a:solidFill>
                                      <a:srgbClr val="0000FF"/>
                                    </a:solidFill>
                                    <a:latin typeface="Cambria Math" panose="02040503050406030204" pitchFamily="18" charset="0"/>
                                  </a:rPr>
                                  <m:t>𝑛</m:t>
                                </m:r>
                                <m:r>
                                  <a:rPr lang="en-US" i="1">
                                    <a:solidFill>
                                      <a:srgbClr val="0000FF"/>
                                    </a:solidFill>
                                    <a:latin typeface="Cambria Math" panose="02040503050406030204" pitchFamily="18" charset="0"/>
                                  </a:rPr>
                                  <m:t>&lt;0         </m:t>
                                </m:r>
                              </m:e>
                            </m:mr>
                            <m:mr>
                              <m:e>
                                <m:f>
                                  <m:fPr>
                                    <m:ctrlPr>
                                      <a:rPr lang="en-US" i="1">
                                        <a:solidFill>
                                          <a:srgbClr val="0000FF"/>
                                        </a:solidFill>
                                        <a:latin typeface="Cambria Math" panose="02040503050406030204" pitchFamily="18" charset="0"/>
                                      </a:rPr>
                                    </m:ctrlPr>
                                  </m:fPr>
                                  <m:num>
                                    <m:r>
                                      <a:rPr lang="en-US" i="1">
                                        <a:solidFill>
                                          <a:srgbClr val="0000FF"/>
                                        </a:solidFill>
                                        <a:latin typeface="Cambria Math" panose="02040503050406030204" pitchFamily="18" charset="0"/>
                                      </a:rPr>
                                      <m:t>1−</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𝛼</m:t>
                                        </m:r>
                                      </m:e>
                                      <m:sup>
                                        <m:r>
                                          <a:rPr lang="en-US" i="1">
                                            <a:solidFill>
                                              <a:srgbClr val="0000FF"/>
                                            </a:solidFill>
                                            <a:latin typeface="Cambria Math" panose="02040503050406030204" pitchFamily="18" charset="0"/>
                                          </a:rPr>
                                          <m:t>𝑛</m:t>
                                        </m:r>
                                        <m:r>
                                          <a:rPr lang="en-US" i="1">
                                            <a:solidFill>
                                              <a:srgbClr val="0000FF"/>
                                            </a:solidFill>
                                            <a:latin typeface="Cambria Math" panose="02040503050406030204" pitchFamily="18" charset="0"/>
                                          </a:rPr>
                                          <m:t>+1</m:t>
                                        </m:r>
                                      </m:sup>
                                    </m:sSup>
                                  </m:num>
                                  <m:den>
                                    <m:r>
                                      <a:rPr lang="en-US" i="1">
                                        <a:solidFill>
                                          <a:srgbClr val="0000FF"/>
                                        </a:solidFill>
                                        <a:latin typeface="Cambria Math" panose="02040503050406030204" pitchFamily="18" charset="0"/>
                                      </a:rPr>
                                      <m:t>1−</m:t>
                                    </m:r>
                                    <m:r>
                                      <a:rPr lang="en-US" i="1">
                                        <a:solidFill>
                                          <a:srgbClr val="0000FF"/>
                                        </a:solidFill>
                                        <a:latin typeface="Cambria Math" panose="02040503050406030204" pitchFamily="18" charset="0"/>
                                      </a:rPr>
                                      <m:t>𝛼</m:t>
                                    </m:r>
                                  </m:den>
                                </m:f>
                                <m:r>
                                  <a:rPr lang="en-US" i="1">
                                    <a:solidFill>
                                      <a:srgbClr val="0000FF"/>
                                    </a:solidFill>
                                    <a:latin typeface="Cambria Math" panose="02040503050406030204" pitchFamily="18" charset="0"/>
                                  </a:rPr>
                                  <m:t>,</m:t>
                                </m:r>
                                <m:r>
                                  <m:rPr>
                                    <m:nor/>
                                  </m:rPr>
                                  <a:rPr lang="en-US" i="0">
                                    <a:solidFill>
                                      <a:srgbClr val="0000FF"/>
                                    </a:solidFill>
                                    <a:latin typeface="Cambria Math" panose="02040503050406030204" pitchFamily="18" charset="0"/>
                                  </a:rPr>
                                  <m:t>       0</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𝑛</m:t>
                                </m:r>
                                <m:r>
                                  <a:rPr lang="en-US" i="1">
                                    <a:solidFill>
                                      <a:srgbClr val="0000FF"/>
                                    </a:solidFill>
                                    <a:latin typeface="Cambria Math" panose="02040503050406030204" pitchFamily="18" charset="0"/>
                                  </a:rPr>
                                  <m:t>≤4</m:t>
                                </m:r>
                              </m:e>
                            </m:mr>
                            <m:mr>
                              <m:e>
                                <m:f>
                                  <m:fPr>
                                    <m:ctrlPr>
                                      <a:rPr lang="en-US" i="1">
                                        <a:solidFill>
                                          <a:srgbClr val="0000FF"/>
                                        </a:solidFill>
                                        <a:latin typeface="Cambria Math" panose="02040503050406030204" pitchFamily="18" charset="0"/>
                                      </a:rPr>
                                    </m:ctrlPr>
                                  </m:fPr>
                                  <m:num>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𝛼</m:t>
                                        </m:r>
                                      </m:e>
                                      <m:sup>
                                        <m:r>
                                          <a:rPr lang="en-US" i="1">
                                            <a:solidFill>
                                              <a:srgbClr val="0000FF"/>
                                            </a:solidFill>
                                            <a:latin typeface="Cambria Math" panose="02040503050406030204" pitchFamily="18" charset="0"/>
                                          </a:rPr>
                                          <m:t>𝑛</m:t>
                                        </m:r>
                                        <m:r>
                                          <a:rPr lang="en-US" i="1">
                                            <a:solidFill>
                                              <a:srgbClr val="0000FF"/>
                                            </a:solidFill>
                                            <a:latin typeface="Cambria Math" panose="02040503050406030204" pitchFamily="18" charset="0"/>
                                          </a:rPr>
                                          <m:t>−4</m:t>
                                        </m:r>
                                      </m:sup>
                                    </m:sSup>
                                    <m:r>
                                      <a:rPr lang="en-US" i="1">
                                        <a:solidFill>
                                          <a:srgbClr val="0000FF"/>
                                        </a:solidFill>
                                        <a:latin typeface="Cambria Math" panose="02040503050406030204" pitchFamily="18" charset="0"/>
                                      </a:rPr>
                                      <m:t>−</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𝛼</m:t>
                                        </m:r>
                                      </m:e>
                                      <m:sup>
                                        <m:r>
                                          <a:rPr lang="en-US" i="1">
                                            <a:solidFill>
                                              <a:srgbClr val="0000FF"/>
                                            </a:solidFill>
                                            <a:latin typeface="Cambria Math" panose="02040503050406030204" pitchFamily="18" charset="0"/>
                                          </a:rPr>
                                          <m:t>𝑛</m:t>
                                        </m:r>
                                        <m:r>
                                          <a:rPr lang="en-US" i="1">
                                            <a:solidFill>
                                              <a:srgbClr val="0000FF"/>
                                            </a:solidFill>
                                            <a:latin typeface="Cambria Math" panose="02040503050406030204" pitchFamily="18" charset="0"/>
                                          </a:rPr>
                                          <m:t>+1</m:t>
                                        </m:r>
                                      </m:sup>
                                    </m:sSup>
                                  </m:num>
                                  <m:den>
                                    <m:r>
                                      <a:rPr lang="en-US" i="1">
                                        <a:solidFill>
                                          <a:srgbClr val="0000FF"/>
                                        </a:solidFill>
                                        <a:latin typeface="Cambria Math" panose="02040503050406030204" pitchFamily="18" charset="0"/>
                                      </a:rPr>
                                      <m:t>1−</m:t>
                                    </m:r>
                                    <m:r>
                                      <a:rPr lang="en-US" i="1">
                                        <a:solidFill>
                                          <a:srgbClr val="0000FF"/>
                                        </a:solidFill>
                                        <a:latin typeface="Cambria Math" panose="02040503050406030204" pitchFamily="18" charset="0"/>
                                      </a:rPr>
                                      <m:t>𝛼</m:t>
                                    </m:r>
                                  </m:den>
                                </m:f>
                                <m:r>
                                  <m:rPr>
                                    <m:nor/>
                                  </m:rPr>
                                  <a:rPr lang="en-US" i="0">
                                    <a:solidFill>
                                      <a:srgbClr val="0000FF"/>
                                    </a:solidFill>
                                    <a:latin typeface="Cambria Math" panose="02040503050406030204" pitchFamily="18" charset="0"/>
                                  </a:rPr>
                                  <m:t>,</m:t>
                                </m:r>
                                <m:r>
                                  <m:rPr>
                                    <m:nor/>
                                  </m:rPr>
                                  <a:rPr lang="en-US" b="0" i="0" smtClean="0">
                                    <a:solidFill>
                                      <a:srgbClr val="0000FF"/>
                                    </a:solidFill>
                                    <a:latin typeface="Cambria Math" panose="02040503050406030204" pitchFamily="18" charset="0"/>
                                  </a:rPr>
                                  <m:t>        </m:t>
                                </m:r>
                                <m:r>
                                  <m:rPr>
                                    <m:nor/>
                                  </m:rPr>
                                  <a:rPr lang="en-US" i="0">
                                    <a:solidFill>
                                      <a:srgbClr val="0000FF"/>
                                    </a:solidFill>
                                    <a:latin typeface="Cambria Math" panose="02040503050406030204" pitchFamily="18" charset="0"/>
                                  </a:rPr>
                                  <m:t>4&lt;</m:t>
                                </m:r>
                                <m:r>
                                  <a:rPr lang="en-US" i="1">
                                    <a:solidFill>
                                      <a:srgbClr val="0000FF"/>
                                    </a:solidFill>
                                    <a:latin typeface="Cambria Math" panose="02040503050406030204" pitchFamily="18" charset="0"/>
                                  </a:rPr>
                                  <m:t>𝑛</m:t>
                                </m:r>
                                <m:r>
                                  <a:rPr lang="en-US" i="1">
                                    <a:solidFill>
                                      <a:srgbClr val="0000FF"/>
                                    </a:solidFill>
                                    <a:latin typeface="Cambria Math" panose="02040503050406030204" pitchFamily="18" charset="0"/>
                                  </a:rPr>
                                  <m:t>≤6   </m:t>
                                </m:r>
                              </m:e>
                            </m:mr>
                            <m:mr>
                              <m:e>
                                <m:f>
                                  <m:fPr>
                                    <m:ctrlPr>
                                      <a:rPr lang="en-US" i="1">
                                        <a:solidFill>
                                          <a:srgbClr val="0000FF"/>
                                        </a:solidFill>
                                        <a:latin typeface="Cambria Math" panose="02040503050406030204" pitchFamily="18" charset="0"/>
                                      </a:rPr>
                                    </m:ctrlPr>
                                  </m:fPr>
                                  <m:num>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𝛼</m:t>
                                        </m:r>
                                      </m:e>
                                      <m:sup>
                                        <m:r>
                                          <a:rPr lang="en-US" i="1">
                                            <a:solidFill>
                                              <a:srgbClr val="0000FF"/>
                                            </a:solidFill>
                                            <a:latin typeface="Cambria Math" panose="02040503050406030204" pitchFamily="18" charset="0"/>
                                          </a:rPr>
                                          <m:t>𝑛</m:t>
                                        </m:r>
                                        <m:r>
                                          <a:rPr lang="en-US" i="1">
                                            <a:solidFill>
                                              <a:srgbClr val="0000FF"/>
                                            </a:solidFill>
                                            <a:latin typeface="Cambria Math" panose="02040503050406030204" pitchFamily="18" charset="0"/>
                                          </a:rPr>
                                          <m:t>−4</m:t>
                                        </m:r>
                                      </m:sup>
                                    </m:sSup>
                                    <m:r>
                                      <a:rPr lang="en-US" i="1">
                                        <a:solidFill>
                                          <a:srgbClr val="0000FF"/>
                                        </a:solidFill>
                                        <a:latin typeface="Cambria Math" panose="02040503050406030204" pitchFamily="18" charset="0"/>
                                      </a:rPr>
                                      <m:t>−</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𝛼</m:t>
                                        </m:r>
                                      </m:e>
                                      <m:sup>
                                        <m:r>
                                          <a:rPr lang="en-US" i="1">
                                            <a:solidFill>
                                              <a:srgbClr val="0000FF"/>
                                            </a:solidFill>
                                            <a:latin typeface="Cambria Math" panose="02040503050406030204" pitchFamily="18" charset="0"/>
                                          </a:rPr>
                                          <m:t>7</m:t>
                                        </m:r>
                                      </m:sup>
                                    </m:sSup>
                                  </m:num>
                                  <m:den>
                                    <m:r>
                                      <a:rPr lang="en-US" i="1">
                                        <a:solidFill>
                                          <a:srgbClr val="0000FF"/>
                                        </a:solidFill>
                                        <a:latin typeface="Cambria Math" panose="02040503050406030204" pitchFamily="18" charset="0"/>
                                      </a:rPr>
                                      <m:t>1−</m:t>
                                    </m:r>
                                    <m:r>
                                      <a:rPr lang="en-US" i="1">
                                        <a:solidFill>
                                          <a:srgbClr val="0000FF"/>
                                        </a:solidFill>
                                        <a:latin typeface="Cambria Math" panose="02040503050406030204" pitchFamily="18" charset="0"/>
                                      </a:rPr>
                                      <m:t>𝛼</m:t>
                                    </m:r>
                                  </m:den>
                                </m:f>
                                <m:r>
                                  <a:rPr lang="en-US" i="1">
                                    <a:solidFill>
                                      <a:srgbClr val="0000FF"/>
                                    </a:solidFill>
                                    <a:latin typeface="Cambria Math" panose="02040503050406030204" pitchFamily="18" charset="0"/>
                                  </a:rPr>
                                  <m:t>,</m:t>
                                </m:r>
                                <m:r>
                                  <m:rPr>
                                    <m:nor/>
                                  </m:rPr>
                                  <a:rPr lang="en-US" i="0">
                                    <a:solidFill>
                                      <a:srgbClr val="0000FF"/>
                                    </a:solidFill>
                                    <a:latin typeface="Cambria Math" panose="02040503050406030204" pitchFamily="18" charset="0"/>
                                  </a:rPr>
                                  <m:t>    6&lt;</m:t>
                                </m:r>
                                <m:r>
                                  <a:rPr lang="en-US" i="1">
                                    <a:solidFill>
                                      <a:srgbClr val="0000FF"/>
                                    </a:solidFill>
                                    <a:latin typeface="Cambria Math" panose="02040503050406030204" pitchFamily="18" charset="0"/>
                                  </a:rPr>
                                  <m:t>𝑛</m:t>
                                </m:r>
                                <m:r>
                                  <a:rPr lang="en-US" i="1">
                                    <a:solidFill>
                                      <a:srgbClr val="0000FF"/>
                                    </a:solidFill>
                                    <a:latin typeface="Cambria Math" panose="02040503050406030204" pitchFamily="18" charset="0"/>
                                  </a:rPr>
                                  <m:t>≤10 </m:t>
                                </m:r>
                              </m:e>
                            </m:mr>
                            <m:mr>
                              <m:e>
                                <m:r>
                                  <a:rPr lang="en-US" i="1">
                                    <a:solidFill>
                                      <a:srgbClr val="0000FF"/>
                                    </a:solidFill>
                                    <a:latin typeface="Cambria Math" panose="02040503050406030204" pitchFamily="18" charset="0"/>
                                  </a:rPr>
                                  <m:t>0,</m:t>
                                </m:r>
                                <m:r>
                                  <m:rPr>
                                    <m:nor/>
                                  </m:rPr>
                                  <a:rPr lang="en-US" i="0">
                                    <a:solidFill>
                                      <a:srgbClr val="0000FF"/>
                                    </a:solidFill>
                                    <a:latin typeface="Cambria Math" panose="02040503050406030204" pitchFamily="18" charset="0"/>
                                  </a:rPr>
                                  <m:t>             </m:t>
                                </m:r>
                                <m:r>
                                  <m:rPr>
                                    <m:nor/>
                                  </m:rPr>
                                  <a:rPr lang="en-US" b="0" i="0" smtClean="0">
                                    <a:solidFill>
                                      <a:srgbClr val="0000FF"/>
                                    </a:solidFill>
                                    <a:latin typeface="Cambria Math" panose="02040503050406030204" pitchFamily="18" charset="0"/>
                                  </a:rPr>
                                  <m:t>        </m:t>
                                </m:r>
                                <m:r>
                                  <m:rPr>
                                    <m:nor/>
                                  </m:rPr>
                                  <a:rPr lang="en-US" i="0">
                                    <a:solidFill>
                                      <a:srgbClr val="0000FF"/>
                                    </a:solidFill>
                                    <a:latin typeface="Cambria Math" panose="02040503050406030204" pitchFamily="18" charset="0"/>
                                  </a:rPr>
                                  <m:t>  </m:t>
                                </m:r>
                                <m:r>
                                  <a:rPr lang="en-US" i="1">
                                    <a:solidFill>
                                      <a:srgbClr val="0000FF"/>
                                    </a:solidFill>
                                    <a:latin typeface="Cambria Math" panose="02040503050406030204" pitchFamily="18" charset="0"/>
                                  </a:rPr>
                                  <m:t>𝑛</m:t>
                                </m:r>
                                <m:r>
                                  <a:rPr lang="en-US" i="1">
                                    <a:solidFill>
                                      <a:srgbClr val="0000FF"/>
                                    </a:solidFill>
                                    <a:latin typeface="Cambria Math" panose="02040503050406030204" pitchFamily="18" charset="0"/>
                                  </a:rPr>
                                  <m:t>&gt;10      </m:t>
                                </m:r>
                              </m:e>
                            </m:mr>
                          </m:m>
                        </m:e>
                      </m:d>
                    </m:oMath>
                  </m:oMathPara>
                </a14:m>
                <a:endParaRPr lang="en-US" dirty="0">
                  <a:solidFill>
                    <a:srgbClr val="0000FF"/>
                  </a:solidFill>
                </a:endParaRPr>
              </a:p>
            </p:txBody>
          </p:sp>
        </mc:Choice>
        <mc:Fallback xmlns="">
          <p:sp>
            <p:nvSpPr>
              <p:cNvPr id="65" name="Object 5">
                <a:extLst>
                  <a:ext uri="{FF2B5EF4-FFF2-40B4-BE49-F238E27FC236}">
                    <a16:creationId xmlns:a16="http://schemas.microsoft.com/office/drawing/2014/main" id="{28F8DB42-63C5-45F8-9893-F0094196923C}"/>
                  </a:ext>
                </a:extLst>
              </p:cNvPr>
              <p:cNvSpPr txBox="1">
                <a:spLocks noRot="1" noChangeAspect="1" noMove="1" noResize="1" noEditPoints="1" noAdjustHandles="1" noChangeArrowheads="1" noChangeShapeType="1" noTextEdit="1"/>
              </p:cNvSpPr>
              <p:nvPr/>
            </p:nvSpPr>
            <p:spPr bwMode="auto">
              <a:xfrm>
                <a:off x="899592" y="2183607"/>
                <a:ext cx="3888432" cy="2405595"/>
              </a:xfrm>
              <a:prstGeom prst="rect">
                <a:avLst/>
              </a:prstGeom>
              <a:blipFill>
                <a:blip r:embed="rId3"/>
                <a:stretch>
                  <a:fillRect/>
                </a:stretch>
              </a:blipFill>
              <a:ln>
                <a:noFill/>
              </a:ln>
            </p:spPr>
            <p:txBody>
              <a:bodyPr/>
              <a:lstStyle/>
              <a:p>
                <a:r>
                  <a:rPr lang="en-US">
                    <a:noFill/>
                  </a:rPr>
                  <a:t> </a:t>
                </a:r>
              </a:p>
            </p:txBody>
          </p:sp>
        </mc:Fallback>
      </mc:AlternateContent>
      <p:sp>
        <p:nvSpPr>
          <p:cNvPr id="68" name="Text Box 3">
            <a:extLst>
              <a:ext uri="{FF2B5EF4-FFF2-40B4-BE49-F238E27FC236}">
                <a16:creationId xmlns:a16="http://schemas.microsoft.com/office/drawing/2014/main" id="{BFBE70CA-0013-4B29-B573-92F7D7DEED63}"/>
              </a:ext>
            </a:extLst>
          </p:cNvPr>
          <p:cNvSpPr txBox="1">
            <a:spLocks noChangeArrowheads="1"/>
          </p:cNvSpPr>
          <p:nvPr/>
        </p:nvSpPr>
        <p:spPr bwMode="auto">
          <a:xfrm>
            <a:off x="755576" y="1591602"/>
            <a:ext cx="14670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solidFill>
                  <a:srgbClr val="0000FF"/>
                </a:solidFill>
                <a:latin typeface="Times New Roman" panose="02020603050405020304" pitchFamily="18" charset="0"/>
                <a:ea typeface="华文楷体" panose="02010600040101010101" pitchFamily="2" charset="-122"/>
              </a:rPr>
              <a:t>最终解为：</a:t>
            </a:r>
            <a:endParaRPr lang="zh-CN" altLang="en-US" sz="2000" dirty="0">
              <a:solidFill>
                <a:srgbClr val="0000FF"/>
              </a:solidFill>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5" name="标题 1">
            <a:extLst>
              <a:ext uri="{FF2B5EF4-FFF2-40B4-BE49-F238E27FC236}">
                <a16:creationId xmlns:a16="http://schemas.microsoft.com/office/drawing/2014/main" id="{7EF952DE-4A97-4EB7-81CF-BCBCDE924FF5}"/>
              </a:ext>
            </a:extLst>
          </p:cNvPr>
          <p:cNvSpPr>
            <a:spLocks noGrp="1"/>
          </p:cNvSpPr>
          <p:nvPr>
            <p:ph type="title"/>
          </p:nvPr>
        </p:nvSpPr>
        <p:spPr/>
        <p:txBody>
          <a:bodyPr/>
          <a:lstStyle/>
          <a:p>
            <a:r>
              <a:rPr lang="en-US" altLang="zh-CN"/>
              <a:t>2.1 </a:t>
            </a:r>
            <a:r>
              <a:rPr lang="zh-CN" altLang="en-US"/>
              <a:t>离散时间</a:t>
            </a:r>
            <a:r>
              <a:rPr lang="en-US" altLang="zh-CN"/>
              <a:t>LTI</a:t>
            </a:r>
            <a:r>
              <a:rPr lang="zh-CN" altLang="en-US"/>
              <a:t>系统：卷积和</a:t>
            </a:r>
          </a:p>
        </p:txBody>
      </p:sp>
      <p:sp>
        <p:nvSpPr>
          <p:cNvPr id="4" name="灯片编号占位符 3">
            <a:extLst>
              <a:ext uri="{FF2B5EF4-FFF2-40B4-BE49-F238E27FC236}">
                <a16:creationId xmlns:a16="http://schemas.microsoft.com/office/drawing/2014/main" id="{A0A0A3DA-C56C-41C0-AFB5-716506DE3C3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06986BE-40DB-4D08-863D-7347F33F2C1F}" type="slidenum">
              <a:rPr lang="zh-CN" altLang="en-US">
                <a:solidFill>
                  <a:srgbClr val="898989"/>
                </a:solidFill>
                <a:latin typeface="Calibri" panose="020F0502020204030204" pitchFamily="34" charset="0"/>
              </a:rPr>
              <a:pPr eaLnBrk="1" hangingPunct="1"/>
              <a:t>19</a:t>
            </a:fld>
            <a:endParaRPr lang="zh-CN" altLang="en-US">
              <a:solidFill>
                <a:srgbClr val="898989"/>
              </a:solidFill>
              <a:latin typeface="Calibri" panose="020F0502020204030204" pitchFamily="34" charset="0"/>
            </a:endParaRPr>
          </a:p>
        </p:txBody>
      </p:sp>
      <p:sp>
        <p:nvSpPr>
          <p:cNvPr id="20497" name="Text Box 51">
            <a:extLst>
              <a:ext uri="{FF2B5EF4-FFF2-40B4-BE49-F238E27FC236}">
                <a16:creationId xmlns:a16="http://schemas.microsoft.com/office/drawing/2014/main" id="{9ADC4FC2-8C8F-4EDC-BB15-3F50E115961D}"/>
              </a:ext>
            </a:extLst>
          </p:cNvPr>
          <p:cNvSpPr txBox="1">
            <a:spLocks noChangeArrowheads="1"/>
          </p:cNvSpPr>
          <p:nvPr/>
        </p:nvSpPr>
        <p:spPr bwMode="auto">
          <a:xfrm>
            <a:off x="323850" y="1316038"/>
            <a:ext cx="108234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800000"/>
                </a:solidFill>
                <a:latin typeface="Times New Roman" panose="02020603050405020304" pitchFamily="18" charset="0"/>
                <a:ea typeface="华文楷体" panose="02010600040101010101" pitchFamily="2" charset="-122"/>
                <a:cs typeface="楷体_GB2312" panose="02010609030101010101" pitchFamily="49" charset="-122"/>
              </a:rPr>
              <a:t>例</a:t>
            </a:r>
            <a:r>
              <a:rPr lang="en-US" altLang="zh-CN" sz="2800" dirty="0">
                <a:solidFill>
                  <a:srgbClr val="800000"/>
                </a:solidFill>
                <a:latin typeface="Times New Roman" panose="02020603050405020304" pitchFamily="18" charset="0"/>
                <a:ea typeface="华文楷体" panose="02010600040101010101" pitchFamily="2" charset="-122"/>
                <a:cs typeface="楷体_GB2312" panose="02010609030101010101" pitchFamily="49" charset="-122"/>
              </a:rPr>
              <a:t>2</a:t>
            </a:r>
            <a:r>
              <a:rPr lang="zh-CN" altLang="en-US" sz="2800" dirty="0">
                <a:solidFill>
                  <a:srgbClr val="800000"/>
                </a:solidFill>
                <a:latin typeface="Times New Roman" panose="02020603050405020304" pitchFamily="18" charset="0"/>
                <a:ea typeface="华文楷体" panose="02010600040101010101" pitchFamily="2" charset="-122"/>
                <a:cs typeface="楷体_GB2312" panose="02010609030101010101" pitchFamily="49" charset="-122"/>
              </a:rPr>
              <a:t>：</a:t>
            </a:r>
            <a:endParaRPr lang="zh-CN" altLang="en-US" sz="3000" dirty="0">
              <a:latin typeface="Times New Roman" panose="02020603050405020304" pitchFamily="18" charset="0"/>
              <a:ea typeface="华文楷体" panose="02010600040101010101" pitchFamily="2" charset="-122"/>
              <a:cs typeface="楷体_GB2312" panose="02010609030101010101" pitchFamily="49" charset="-122"/>
            </a:endParaRPr>
          </a:p>
        </p:txBody>
      </p:sp>
      <p:pic>
        <p:nvPicPr>
          <p:cNvPr id="53" name="Picture 4" descr="02-05">
            <a:extLst>
              <a:ext uri="{FF2B5EF4-FFF2-40B4-BE49-F238E27FC236}">
                <a16:creationId xmlns:a16="http://schemas.microsoft.com/office/drawing/2014/main" id="{E31FCE04-5272-4F88-A016-86B8F561CC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7416" y="1837332"/>
            <a:ext cx="7239000" cy="447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54" name="Object 5">
                <a:extLst>
                  <a:ext uri="{FF2B5EF4-FFF2-40B4-BE49-F238E27FC236}">
                    <a16:creationId xmlns:a16="http://schemas.microsoft.com/office/drawing/2014/main" id="{1FC7D9F9-C4D3-4BDE-9EFB-CE523456FE40}"/>
                  </a:ext>
                </a:extLst>
              </p:cNvPr>
              <p:cNvSpPr txBox="1"/>
              <p:nvPr/>
            </p:nvSpPr>
            <p:spPr bwMode="auto">
              <a:xfrm>
                <a:off x="6106616" y="1684932"/>
                <a:ext cx="1201688" cy="369332"/>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0&lt;</m:t>
                      </m:r>
                      <m:r>
                        <a:rPr lang="en-US" i="1">
                          <a:solidFill>
                            <a:srgbClr val="000000"/>
                          </a:solidFill>
                          <a:latin typeface="Cambria Math" panose="02040503050406030204" pitchFamily="18" charset="0"/>
                        </a:rPr>
                        <m:t>𝛼</m:t>
                      </m:r>
                      <m:r>
                        <a:rPr lang="en-US" i="1">
                          <a:solidFill>
                            <a:srgbClr val="000000"/>
                          </a:solidFill>
                          <a:latin typeface="Cambria Math" panose="02040503050406030204" pitchFamily="18" charset="0"/>
                        </a:rPr>
                        <m:t>&lt;1</m:t>
                      </m:r>
                    </m:oMath>
                  </m:oMathPara>
                </a14:m>
                <a:endParaRPr lang="en-US" dirty="0"/>
              </a:p>
            </p:txBody>
          </p:sp>
        </mc:Choice>
        <mc:Fallback xmlns="">
          <p:sp>
            <p:nvSpPr>
              <p:cNvPr id="54" name="Object 5">
                <a:extLst>
                  <a:ext uri="{FF2B5EF4-FFF2-40B4-BE49-F238E27FC236}">
                    <a16:creationId xmlns:a16="http://schemas.microsoft.com/office/drawing/2014/main" id="{1FC7D9F9-C4D3-4BDE-9EFB-CE523456FE40}"/>
                  </a:ext>
                </a:extLst>
              </p:cNvPr>
              <p:cNvSpPr txBox="1">
                <a:spLocks noRot="1" noChangeAspect="1" noMove="1" noResize="1" noEditPoints="1" noAdjustHandles="1" noChangeArrowheads="1" noChangeShapeType="1" noTextEdit="1"/>
              </p:cNvSpPr>
              <p:nvPr/>
            </p:nvSpPr>
            <p:spPr bwMode="auto">
              <a:xfrm>
                <a:off x="6106616" y="1684932"/>
                <a:ext cx="1201688" cy="369332"/>
              </a:xfrm>
              <a:prstGeom prst="rect">
                <a:avLst/>
              </a:prstGeom>
              <a:blipFill>
                <a:blip r:embed="rId3"/>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5" name="标题 1">
            <a:extLst>
              <a:ext uri="{FF2B5EF4-FFF2-40B4-BE49-F238E27FC236}">
                <a16:creationId xmlns:a16="http://schemas.microsoft.com/office/drawing/2014/main" id="{7EF952DE-4A97-4EB7-81CF-BCBCDE924FF5}"/>
              </a:ext>
            </a:extLst>
          </p:cNvPr>
          <p:cNvSpPr>
            <a:spLocks noGrp="1"/>
          </p:cNvSpPr>
          <p:nvPr>
            <p:ph type="title"/>
          </p:nvPr>
        </p:nvSpPr>
        <p:spPr/>
        <p:txBody>
          <a:bodyPr/>
          <a:lstStyle/>
          <a:p>
            <a:r>
              <a:rPr lang="en-US" altLang="zh-CN"/>
              <a:t>2.1 </a:t>
            </a:r>
            <a:r>
              <a:rPr lang="zh-CN" altLang="en-US"/>
              <a:t>离散时间</a:t>
            </a:r>
            <a:r>
              <a:rPr lang="en-US" altLang="zh-CN"/>
              <a:t>LTI</a:t>
            </a:r>
            <a:r>
              <a:rPr lang="zh-CN" altLang="en-US"/>
              <a:t>系统：卷积和</a:t>
            </a:r>
          </a:p>
        </p:txBody>
      </p:sp>
      <p:sp>
        <p:nvSpPr>
          <p:cNvPr id="4" name="灯片编号占位符 3">
            <a:extLst>
              <a:ext uri="{FF2B5EF4-FFF2-40B4-BE49-F238E27FC236}">
                <a16:creationId xmlns:a16="http://schemas.microsoft.com/office/drawing/2014/main" id="{A0A0A3DA-C56C-41C0-AFB5-716506DE3C3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06986BE-40DB-4D08-863D-7347F33F2C1F}" type="slidenum">
              <a:rPr lang="zh-CN" altLang="en-US">
                <a:solidFill>
                  <a:srgbClr val="898989"/>
                </a:solidFill>
                <a:latin typeface="Calibri" panose="020F0502020204030204" pitchFamily="34" charset="0"/>
              </a:rPr>
              <a:pPr eaLnBrk="1" hangingPunct="1"/>
              <a:t>20</a:t>
            </a:fld>
            <a:endParaRPr lang="zh-CN" altLang="en-US">
              <a:solidFill>
                <a:srgbClr val="898989"/>
              </a:solidFill>
              <a:latin typeface="Calibri" panose="020F0502020204030204" pitchFamily="34" charset="0"/>
            </a:endParaRPr>
          </a:p>
        </p:txBody>
      </p:sp>
      <p:pic>
        <p:nvPicPr>
          <p:cNvPr id="7" name="Picture 5">
            <a:extLst>
              <a:ext uri="{FF2B5EF4-FFF2-40B4-BE49-F238E27FC236}">
                <a16:creationId xmlns:a16="http://schemas.microsoft.com/office/drawing/2014/main" id="{524368E4-D9AA-4C4B-A48B-6947A8A7FB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651" y="1922812"/>
            <a:ext cx="3931326" cy="3491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a:extLst>
              <a:ext uri="{FF2B5EF4-FFF2-40B4-BE49-F238E27FC236}">
                <a16:creationId xmlns:a16="http://schemas.microsoft.com/office/drawing/2014/main" id="{D53258F4-7D6B-40C4-8016-32E5E1743C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4008" y="1813354"/>
            <a:ext cx="4138238" cy="3600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90376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5" name="标题 1">
            <a:extLst>
              <a:ext uri="{FF2B5EF4-FFF2-40B4-BE49-F238E27FC236}">
                <a16:creationId xmlns:a16="http://schemas.microsoft.com/office/drawing/2014/main" id="{7EF952DE-4A97-4EB7-81CF-BCBCDE924FF5}"/>
              </a:ext>
            </a:extLst>
          </p:cNvPr>
          <p:cNvSpPr>
            <a:spLocks noGrp="1"/>
          </p:cNvSpPr>
          <p:nvPr>
            <p:ph type="title"/>
          </p:nvPr>
        </p:nvSpPr>
        <p:spPr/>
        <p:txBody>
          <a:bodyPr/>
          <a:lstStyle/>
          <a:p>
            <a:r>
              <a:rPr lang="en-US" altLang="zh-CN"/>
              <a:t>2.1 </a:t>
            </a:r>
            <a:r>
              <a:rPr lang="zh-CN" altLang="en-US"/>
              <a:t>离散时间</a:t>
            </a:r>
            <a:r>
              <a:rPr lang="en-US" altLang="zh-CN"/>
              <a:t>LTI</a:t>
            </a:r>
            <a:r>
              <a:rPr lang="zh-CN" altLang="en-US"/>
              <a:t>系统：卷积和</a:t>
            </a:r>
          </a:p>
        </p:txBody>
      </p:sp>
      <p:sp>
        <p:nvSpPr>
          <p:cNvPr id="4" name="灯片编号占位符 3">
            <a:extLst>
              <a:ext uri="{FF2B5EF4-FFF2-40B4-BE49-F238E27FC236}">
                <a16:creationId xmlns:a16="http://schemas.microsoft.com/office/drawing/2014/main" id="{A0A0A3DA-C56C-41C0-AFB5-716506DE3C3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06986BE-40DB-4D08-863D-7347F33F2C1F}" type="slidenum">
              <a:rPr lang="zh-CN" altLang="en-US">
                <a:solidFill>
                  <a:srgbClr val="898989"/>
                </a:solidFill>
                <a:latin typeface="Calibri" panose="020F0502020204030204" pitchFamily="34" charset="0"/>
              </a:rPr>
              <a:pPr eaLnBrk="1" hangingPunct="1"/>
              <a:t>21</a:t>
            </a:fld>
            <a:endParaRPr lang="zh-CN" altLang="en-US">
              <a:solidFill>
                <a:srgbClr val="898989"/>
              </a:solidFill>
              <a:latin typeface="Calibri" panose="020F0502020204030204" pitchFamily="34" charset="0"/>
            </a:endParaRPr>
          </a:p>
        </p:txBody>
      </p:sp>
      <p:sp>
        <p:nvSpPr>
          <p:cNvPr id="9" name="文本框 8">
            <a:extLst>
              <a:ext uri="{FF2B5EF4-FFF2-40B4-BE49-F238E27FC236}">
                <a16:creationId xmlns:a16="http://schemas.microsoft.com/office/drawing/2014/main" id="{2DB2E6C0-0B29-4C75-A27A-62FC5CB2D9EB}"/>
              </a:ext>
            </a:extLst>
          </p:cNvPr>
          <p:cNvSpPr txBox="1"/>
          <p:nvPr/>
        </p:nvSpPr>
        <p:spPr>
          <a:xfrm>
            <a:off x="593491" y="1340768"/>
            <a:ext cx="748923" cy="430887"/>
          </a:xfrm>
          <a:prstGeom prst="rect">
            <a:avLst/>
          </a:prstGeom>
          <a:noFill/>
        </p:spPr>
        <p:txBody>
          <a:bodyPr wrap="none" rtlCol="0">
            <a:spAutoFit/>
          </a:bodyPr>
          <a:lstStyle/>
          <a:p>
            <a:r>
              <a:rPr lang="zh-CN" altLang="en-US" sz="2200" dirty="0">
                <a:solidFill>
                  <a:srgbClr val="0000FF"/>
                </a:solidFill>
                <a:latin typeface="Cambria Math" panose="02040503050406030204" pitchFamily="18" charset="0"/>
                <a:ea typeface="楷体" panose="02010609060101010101" pitchFamily="49" charset="-122"/>
              </a:rPr>
              <a:t>解：</a:t>
            </a:r>
            <a:endParaRPr lang="en-US" sz="2200" dirty="0">
              <a:solidFill>
                <a:srgbClr val="0000FF"/>
              </a:solidFill>
              <a:latin typeface="Cambria Math" panose="02040503050406030204" pitchFamily="18" charset="0"/>
              <a:ea typeface="楷体" panose="02010609060101010101" pitchFamily="49" charset="-122"/>
            </a:endParaRPr>
          </a:p>
        </p:txBody>
      </p:sp>
      <p:pic>
        <p:nvPicPr>
          <p:cNvPr id="3" name="图片 2">
            <a:extLst>
              <a:ext uri="{FF2B5EF4-FFF2-40B4-BE49-F238E27FC236}">
                <a16:creationId xmlns:a16="http://schemas.microsoft.com/office/drawing/2014/main" id="{25843AE9-72D6-403A-B241-E74BF4485A62}"/>
              </a:ext>
            </a:extLst>
          </p:cNvPr>
          <p:cNvPicPr>
            <a:picLocks noChangeAspect="1"/>
          </p:cNvPicPr>
          <p:nvPr/>
        </p:nvPicPr>
        <p:blipFill>
          <a:blip r:embed="rId2"/>
          <a:stretch>
            <a:fillRect/>
          </a:stretch>
        </p:blipFill>
        <p:spPr>
          <a:xfrm>
            <a:off x="1619672" y="3813724"/>
            <a:ext cx="6207763" cy="2697166"/>
          </a:xfrm>
          <a:prstGeom prst="rect">
            <a:avLst/>
          </a:prstGeom>
        </p:spPr>
      </p:pic>
      <mc:AlternateContent xmlns:mc="http://schemas.openxmlformats.org/markup-compatibility/2006" xmlns:a14="http://schemas.microsoft.com/office/drawing/2010/main">
        <mc:Choice Requires="a14">
          <p:sp>
            <p:nvSpPr>
              <p:cNvPr id="10" name="Object 15">
                <a:extLst>
                  <a:ext uri="{FF2B5EF4-FFF2-40B4-BE49-F238E27FC236}">
                    <a16:creationId xmlns:a16="http://schemas.microsoft.com/office/drawing/2014/main" id="{1DA9BD26-2E18-48B0-86B8-C0AA9DC56EE8}"/>
                  </a:ext>
                </a:extLst>
              </p:cNvPr>
              <p:cNvSpPr txBox="1"/>
              <p:nvPr/>
            </p:nvSpPr>
            <p:spPr bwMode="auto">
              <a:xfrm>
                <a:off x="1115616" y="1700808"/>
                <a:ext cx="7128792" cy="193989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200" i="1" smtClean="0">
                          <a:solidFill>
                            <a:srgbClr val="000000"/>
                          </a:solidFill>
                          <a:latin typeface="Cambria Math" panose="02040503050406030204" pitchFamily="18" charset="0"/>
                        </a:rPr>
                        <m:t>𝑦</m:t>
                      </m:r>
                      <m:r>
                        <a:rPr lang="en-US" sz="2200" b="0" i="1" smtClean="0">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𝑛</m:t>
                      </m:r>
                      <m:r>
                        <a:rPr lang="en-US" sz="2200" b="0" i="1" smtClean="0">
                          <a:solidFill>
                            <a:srgbClr val="000000"/>
                          </a:solidFill>
                          <a:latin typeface="Cambria Math" panose="02040503050406030204" pitchFamily="18" charset="0"/>
                        </a:rPr>
                        <m:t>]</m:t>
                      </m:r>
                      <m:r>
                        <m:rPr>
                          <m:aln/>
                        </m:rP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𝑥</m:t>
                      </m:r>
                      <m:r>
                        <a:rPr lang="en-US" sz="2200" b="0" i="1" smtClean="0">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𝑛</m:t>
                      </m:r>
                      <m:r>
                        <a:rPr lang="en-US" sz="2200" b="0" i="1" smtClean="0">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h</m:t>
                      </m:r>
                      <m:r>
                        <a:rPr lang="en-US" sz="2200" b="0" i="1" smtClean="0">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𝑛</m:t>
                      </m:r>
                      <m:r>
                        <a:rPr lang="en-US" sz="2200" b="0" i="1" smtClean="0">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m:t>
                      </m:r>
                      <m:nary>
                        <m:naryPr>
                          <m:chr m:val="∑"/>
                          <m:ctrlPr>
                            <a:rPr lang="en-US" sz="2200" i="1">
                              <a:solidFill>
                                <a:srgbClr val="000000"/>
                              </a:solidFill>
                              <a:latin typeface="Cambria Math" panose="02040503050406030204" pitchFamily="18" charset="0"/>
                            </a:rPr>
                          </m:ctrlPr>
                        </m:naryPr>
                        <m:sub>
                          <m:r>
                            <a:rPr lang="en-US" sz="2200" i="1">
                              <a:solidFill>
                                <a:srgbClr val="000000"/>
                              </a:solidFill>
                              <a:latin typeface="Cambria Math" panose="02040503050406030204" pitchFamily="18" charset="0"/>
                            </a:rPr>
                            <m:t>𝑘</m:t>
                          </m:r>
                          <m:r>
                            <a:rPr lang="en-US" sz="2200" i="1">
                              <a:solidFill>
                                <a:srgbClr val="000000"/>
                              </a:solidFill>
                              <a:latin typeface="Cambria Math" panose="02040503050406030204" pitchFamily="18" charset="0"/>
                            </a:rPr>
                            <m:t>=−∞</m:t>
                          </m:r>
                        </m:sub>
                        <m:sup>
                          <m:r>
                            <a:rPr lang="en-US" sz="2200" i="1">
                              <a:solidFill>
                                <a:srgbClr val="000000"/>
                              </a:solidFill>
                              <a:latin typeface="Cambria Math" panose="02040503050406030204" pitchFamily="18" charset="0"/>
                            </a:rPr>
                            <m:t>∞</m:t>
                          </m:r>
                        </m:sup>
                        <m:e>
                          <m:r>
                            <a:rPr lang="en-US" sz="2200" i="1">
                              <a:solidFill>
                                <a:srgbClr val="000000"/>
                              </a:solidFill>
                              <a:latin typeface="Cambria Math" panose="02040503050406030204" pitchFamily="18" charset="0"/>
                            </a:rPr>
                            <m:t>𝑥</m:t>
                          </m:r>
                          <m:d>
                            <m:dPr>
                              <m:begChr m:val="["/>
                              <m:endChr m:val="]"/>
                              <m:ctrlPr>
                                <a:rPr lang="en-US" sz="2200" b="0" i="1" smtClean="0">
                                  <a:solidFill>
                                    <a:srgbClr val="000000"/>
                                  </a:solidFill>
                                  <a:latin typeface="Cambria Math" panose="02040503050406030204" pitchFamily="18" charset="0"/>
                                </a:rPr>
                              </m:ctrlPr>
                            </m:dPr>
                            <m:e>
                              <m:r>
                                <a:rPr lang="en-US" sz="2200" i="1">
                                  <a:solidFill>
                                    <a:srgbClr val="000000"/>
                                  </a:solidFill>
                                  <a:latin typeface="Cambria Math" panose="02040503050406030204" pitchFamily="18" charset="0"/>
                                </a:rPr>
                                <m:t>𝑘</m:t>
                              </m:r>
                            </m:e>
                          </m:d>
                          <m:r>
                            <a:rPr lang="en-US" sz="2200" i="1">
                              <a:solidFill>
                                <a:srgbClr val="000000"/>
                              </a:solidFill>
                              <a:latin typeface="Cambria Math" panose="02040503050406030204" pitchFamily="18" charset="0"/>
                            </a:rPr>
                            <m:t>h</m:t>
                          </m:r>
                          <m:r>
                            <a:rPr lang="en-US" sz="2200" b="0" i="1" smtClean="0">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𝑛</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𝑘</m:t>
                          </m:r>
                          <m:r>
                            <a:rPr lang="en-US" sz="2200" b="0" i="1" smtClean="0">
                              <a:solidFill>
                                <a:srgbClr val="000000"/>
                              </a:solidFill>
                              <a:latin typeface="Cambria Math" panose="02040503050406030204" pitchFamily="18" charset="0"/>
                            </a:rPr>
                            <m:t>]</m:t>
                          </m:r>
                        </m:e>
                      </m:nary>
                    </m:oMath>
                    <m:oMath xmlns:m="http://schemas.openxmlformats.org/officeDocument/2006/math">
                      <m:r>
                        <m:rPr>
                          <m:aln/>
                        </m:rPr>
                        <a:rPr lang="en-US" sz="2200" i="1">
                          <a:solidFill>
                            <a:srgbClr val="000000"/>
                          </a:solidFill>
                          <a:latin typeface="Cambria Math" panose="02040503050406030204" pitchFamily="18" charset="0"/>
                        </a:rPr>
                        <m:t>=</m:t>
                      </m:r>
                      <m:nary>
                        <m:naryPr>
                          <m:chr m:val="∑"/>
                          <m:ctrlPr>
                            <a:rPr lang="en-US" sz="2200" i="1">
                              <a:solidFill>
                                <a:srgbClr val="000000"/>
                              </a:solidFill>
                              <a:latin typeface="Cambria Math" panose="02040503050406030204" pitchFamily="18" charset="0"/>
                            </a:rPr>
                          </m:ctrlPr>
                        </m:naryPr>
                        <m:sub>
                          <m:r>
                            <a:rPr lang="en-US" sz="2200" i="1">
                              <a:solidFill>
                                <a:srgbClr val="000000"/>
                              </a:solidFill>
                              <a:latin typeface="Cambria Math" panose="02040503050406030204" pitchFamily="18" charset="0"/>
                            </a:rPr>
                            <m:t>𝑘</m:t>
                          </m:r>
                          <m:r>
                            <a:rPr lang="en-US" sz="2200" i="1">
                              <a:solidFill>
                                <a:srgbClr val="000000"/>
                              </a:solidFill>
                              <a:latin typeface="Cambria Math" panose="02040503050406030204" pitchFamily="18" charset="0"/>
                            </a:rPr>
                            <m:t>=−∞</m:t>
                          </m:r>
                        </m:sub>
                        <m:sup>
                          <m:r>
                            <a:rPr lang="en-US" sz="2200" i="1">
                              <a:solidFill>
                                <a:srgbClr val="000000"/>
                              </a:solidFill>
                              <a:latin typeface="Cambria Math" panose="02040503050406030204" pitchFamily="18" charset="0"/>
                            </a:rPr>
                            <m:t>∞</m:t>
                          </m:r>
                        </m:sup>
                        <m:e>
                          <m:sSup>
                            <m:sSupPr>
                              <m:ctrlPr>
                                <a:rPr lang="en-US" sz="2200" i="1">
                                  <a:solidFill>
                                    <a:srgbClr val="000000"/>
                                  </a:solidFill>
                                  <a:latin typeface="Cambria Math" panose="02040503050406030204" pitchFamily="18" charset="0"/>
                                </a:rPr>
                              </m:ctrlPr>
                            </m:sSupPr>
                            <m:e>
                              <m:r>
                                <a:rPr lang="en-US" sz="2200" i="1">
                                  <a:solidFill>
                                    <a:srgbClr val="000000"/>
                                  </a:solidFill>
                                  <a:latin typeface="Cambria Math" panose="02040503050406030204" pitchFamily="18" charset="0"/>
                                </a:rPr>
                                <m:t>𝛼</m:t>
                              </m:r>
                            </m:e>
                            <m:sup>
                              <m:r>
                                <a:rPr lang="en-US" sz="2200" i="1">
                                  <a:solidFill>
                                    <a:srgbClr val="000000"/>
                                  </a:solidFill>
                                  <a:latin typeface="Cambria Math" panose="02040503050406030204" pitchFamily="18" charset="0"/>
                                </a:rPr>
                                <m:t>𝑘</m:t>
                              </m:r>
                            </m:sup>
                          </m:sSup>
                          <m:r>
                            <a:rPr lang="en-US" sz="2200" i="1">
                              <a:solidFill>
                                <a:srgbClr val="000000"/>
                              </a:solidFill>
                              <a:latin typeface="Cambria Math" panose="02040503050406030204" pitchFamily="18" charset="0"/>
                            </a:rPr>
                            <m:t>𝑢</m:t>
                          </m:r>
                          <m:d>
                            <m:dPr>
                              <m:begChr m:val="["/>
                              <m:endChr m:val="]"/>
                              <m:ctrlPr>
                                <a:rPr lang="en-US" sz="2200" b="0" i="1" smtClean="0">
                                  <a:solidFill>
                                    <a:srgbClr val="000000"/>
                                  </a:solidFill>
                                  <a:latin typeface="Cambria Math" panose="02040503050406030204" pitchFamily="18" charset="0"/>
                                </a:rPr>
                              </m:ctrlPr>
                            </m:dPr>
                            <m:e>
                              <m:r>
                                <a:rPr lang="en-US" sz="2200" i="1">
                                  <a:solidFill>
                                    <a:srgbClr val="000000"/>
                                  </a:solidFill>
                                  <a:latin typeface="Cambria Math" panose="02040503050406030204" pitchFamily="18" charset="0"/>
                                </a:rPr>
                                <m:t>𝑘</m:t>
                              </m:r>
                            </m:e>
                          </m:d>
                          <m:r>
                            <a:rPr lang="en-US" sz="2200" i="1">
                              <a:solidFill>
                                <a:srgbClr val="000000"/>
                              </a:solidFill>
                              <a:latin typeface="Cambria Math" panose="02040503050406030204" pitchFamily="18" charset="0"/>
                            </a:rPr>
                            <m:t>𝑢</m:t>
                          </m:r>
                          <m:r>
                            <a:rPr lang="en-US" sz="2200" b="0" i="1" smtClean="0">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𝑛</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𝑘</m:t>
                          </m:r>
                          <m:r>
                            <a:rPr lang="en-US" sz="2200" b="0" i="1" smtClean="0">
                              <a:solidFill>
                                <a:srgbClr val="000000"/>
                              </a:solidFill>
                              <a:latin typeface="Cambria Math" panose="02040503050406030204" pitchFamily="18" charset="0"/>
                            </a:rPr>
                            <m:t>]</m:t>
                          </m:r>
                        </m:e>
                      </m:nary>
                      <m:r>
                        <a:rPr lang="en-US" sz="2200" i="1">
                          <a:solidFill>
                            <a:srgbClr val="000000"/>
                          </a:solidFill>
                          <a:latin typeface="Cambria Math" panose="02040503050406030204" pitchFamily="18" charset="0"/>
                        </a:rPr>
                        <m:t>=</m:t>
                      </m:r>
                      <m:nary>
                        <m:naryPr>
                          <m:chr m:val="∑"/>
                          <m:ctrlPr>
                            <a:rPr lang="en-US" sz="2200" i="1">
                              <a:solidFill>
                                <a:srgbClr val="000000"/>
                              </a:solidFill>
                              <a:latin typeface="Cambria Math" panose="02040503050406030204" pitchFamily="18" charset="0"/>
                            </a:rPr>
                          </m:ctrlPr>
                        </m:naryPr>
                        <m:sub>
                          <m:r>
                            <a:rPr lang="en-US" sz="2200" i="1">
                              <a:solidFill>
                                <a:srgbClr val="000000"/>
                              </a:solidFill>
                              <a:latin typeface="Cambria Math" panose="02040503050406030204" pitchFamily="18" charset="0"/>
                            </a:rPr>
                            <m:t>𝑘</m:t>
                          </m:r>
                          <m:r>
                            <a:rPr lang="en-US" sz="2200" i="1">
                              <a:solidFill>
                                <a:srgbClr val="000000"/>
                              </a:solidFill>
                              <a:latin typeface="Cambria Math" panose="02040503050406030204" pitchFamily="18" charset="0"/>
                            </a:rPr>
                            <m:t>=0</m:t>
                          </m:r>
                        </m:sub>
                        <m:sup>
                          <m:r>
                            <a:rPr lang="en-US" sz="2200" i="1">
                              <a:solidFill>
                                <a:srgbClr val="000000"/>
                              </a:solidFill>
                              <a:latin typeface="Cambria Math" panose="02040503050406030204" pitchFamily="18" charset="0"/>
                            </a:rPr>
                            <m:t>𝑛</m:t>
                          </m:r>
                        </m:sup>
                        <m:e>
                          <m:sSup>
                            <m:sSupPr>
                              <m:ctrlPr>
                                <a:rPr lang="en-US" sz="2200" i="1">
                                  <a:solidFill>
                                    <a:srgbClr val="000000"/>
                                  </a:solidFill>
                                  <a:latin typeface="Cambria Math" panose="02040503050406030204" pitchFamily="18" charset="0"/>
                                </a:rPr>
                              </m:ctrlPr>
                            </m:sSupPr>
                            <m:e>
                              <m:r>
                                <a:rPr lang="en-US" sz="2200" i="1">
                                  <a:solidFill>
                                    <a:srgbClr val="000000"/>
                                  </a:solidFill>
                                  <a:latin typeface="Cambria Math" panose="02040503050406030204" pitchFamily="18" charset="0"/>
                                </a:rPr>
                                <m:t>𝛼</m:t>
                              </m:r>
                            </m:e>
                            <m:sup>
                              <m:r>
                                <a:rPr lang="en-US" sz="2200" i="1">
                                  <a:solidFill>
                                    <a:srgbClr val="000000"/>
                                  </a:solidFill>
                                  <a:latin typeface="Cambria Math" panose="02040503050406030204" pitchFamily="18" charset="0"/>
                                </a:rPr>
                                <m:t>𝑘</m:t>
                              </m:r>
                            </m:sup>
                          </m:sSup>
                        </m:e>
                      </m:nary>
                      <m:r>
                        <m:rPr>
                          <m:aln/>
                        </m:rPr>
                        <a:rPr lang="en-US" sz="2200" i="1" smtClean="0">
                          <a:solidFill>
                            <a:srgbClr val="000000"/>
                          </a:solidFill>
                          <a:latin typeface="Cambria Math" panose="02040503050406030204" pitchFamily="18" charset="0"/>
                        </a:rPr>
                        <m:t>=</m:t>
                      </m:r>
                      <m:d>
                        <m:dPr>
                          <m:ctrlPr>
                            <a:rPr lang="en-US" sz="2200" i="1" smtClean="0">
                              <a:solidFill>
                                <a:srgbClr val="000000"/>
                              </a:solidFill>
                              <a:latin typeface="Cambria Math" panose="02040503050406030204" pitchFamily="18" charset="0"/>
                            </a:rPr>
                          </m:ctrlPr>
                        </m:dPr>
                        <m:e>
                          <m:f>
                            <m:fPr>
                              <m:ctrlPr>
                                <a:rPr lang="en-US" sz="2200" i="1">
                                  <a:solidFill>
                                    <a:srgbClr val="000000"/>
                                  </a:solidFill>
                                  <a:latin typeface="Cambria Math" panose="02040503050406030204" pitchFamily="18" charset="0"/>
                                </a:rPr>
                              </m:ctrlPr>
                            </m:fPr>
                            <m:num>
                              <m:r>
                                <a:rPr lang="en-US" sz="2200" i="1">
                                  <a:solidFill>
                                    <a:srgbClr val="000000"/>
                                  </a:solidFill>
                                  <a:latin typeface="Cambria Math" panose="02040503050406030204" pitchFamily="18" charset="0"/>
                                </a:rPr>
                                <m:t>1−</m:t>
                              </m:r>
                              <m:sSup>
                                <m:sSupPr>
                                  <m:ctrlPr>
                                    <a:rPr lang="en-US" sz="2200" i="1">
                                      <a:solidFill>
                                        <a:srgbClr val="000000"/>
                                      </a:solidFill>
                                      <a:latin typeface="Cambria Math" panose="02040503050406030204" pitchFamily="18" charset="0"/>
                                    </a:rPr>
                                  </m:ctrlPr>
                                </m:sSupPr>
                                <m:e>
                                  <m:r>
                                    <a:rPr lang="en-US" sz="2200" i="1">
                                      <a:solidFill>
                                        <a:srgbClr val="000000"/>
                                      </a:solidFill>
                                      <a:latin typeface="Cambria Math" panose="02040503050406030204" pitchFamily="18" charset="0"/>
                                    </a:rPr>
                                    <m:t>𝛼</m:t>
                                  </m:r>
                                </m:e>
                                <m:sup>
                                  <m:r>
                                    <a:rPr lang="en-US" sz="2200" i="1">
                                      <a:solidFill>
                                        <a:srgbClr val="000000"/>
                                      </a:solidFill>
                                      <a:latin typeface="Cambria Math" panose="02040503050406030204" pitchFamily="18" charset="0"/>
                                    </a:rPr>
                                    <m:t>𝑛</m:t>
                                  </m:r>
                                  <m:r>
                                    <a:rPr lang="en-US" sz="2200" i="1">
                                      <a:solidFill>
                                        <a:srgbClr val="000000"/>
                                      </a:solidFill>
                                      <a:latin typeface="Cambria Math" panose="02040503050406030204" pitchFamily="18" charset="0"/>
                                    </a:rPr>
                                    <m:t>+1</m:t>
                                  </m:r>
                                </m:sup>
                              </m:sSup>
                            </m:num>
                            <m:den>
                              <m:r>
                                <a:rPr lang="en-US" sz="2200" i="1">
                                  <a:solidFill>
                                    <a:srgbClr val="000000"/>
                                  </a:solidFill>
                                  <a:latin typeface="Cambria Math" panose="02040503050406030204" pitchFamily="18" charset="0"/>
                                </a:rPr>
                                <m:t>1−</m:t>
                              </m:r>
                              <m:r>
                                <a:rPr lang="en-US" sz="2200" i="1">
                                  <a:solidFill>
                                    <a:srgbClr val="000000"/>
                                  </a:solidFill>
                                  <a:latin typeface="Cambria Math" panose="02040503050406030204" pitchFamily="18" charset="0"/>
                                </a:rPr>
                                <m:t>𝛼</m:t>
                              </m:r>
                            </m:den>
                          </m:f>
                        </m:e>
                      </m:d>
                      <m:r>
                        <a:rPr lang="en-US" sz="2200" i="1" smtClean="0">
                          <a:solidFill>
                            <a:srgbClr val="FF0000"/>
                          </a:solidFill>
                          <a:latin typeface="Cambria Math" panose="02040503050406030204" pitchFamily="18" charset="0"/>
                        </a:rPr>
                        <m:t>𝑢</m:t>
                      </m:r>
                      <m:r>
                        <a:rPr lang="en-US" sz="2200" b="0" i="1" smtClean="0">
                          <a:solidFill>
                            <a:srgbClr val="FF0000"/>
                          </a:solidFill>
                          <a:latin typeface="Cambria Math" panose="02040503050406030204" pitchFamily="18" charset="0"/>
                        </a:rPr>
                        <m:t>[</m:t>
                      </m:r>
                      <m:r>
                        <a:rPr lang="en-US" sz="2200" i="1">
                          <a:solidFill>
                            <a:srgbClr val="FF0000"/>
                          </a:solidFill>
                          <a:latin typeface="Cambria Math" panose="02040503050406030204" pitchFamily="18" charset="0"/>
                        </a:rPr>
                        <m:t>𝑛</m:t>
                      </m:r>
                      <m:r>
                        <a:rPr lang="en-US" sz="2200" b="0" i="1" smtClean="0">
                          <a:solidFill>
                            <a:srgbClr val="FF0000"/>
                          </a:solidFill>
                          <a:latin typeface="Cambria Math" panose="02040503050406030204" pitchFamily="18" charset="0"/>
                        </a:rPr>
                        <m:t>]</m:t>
                      </m:r>
                    </m:oMath>
                  </m:oMathPara>
                </a14:m>
                <a:endParaRPr lang="en-US" sz="2200" dirty="0"/>
              </a:p>
            </p:txBody>
          </p:sp>
        </mc:Choice>
        <mc:Fallback xmlns="">
          <p:sp>
            <p:nvSpPr>
              <p:cNvPr id="10" name="Object 15">
                <a:extLst>
                  <a:ext uri="{FF2B5EF4-FFF2-40B4-BE49-F238E27FC236}">
                    <a16:creationId xmlns:a16="http://schemas.microsoft.com/office/drawing/2014/main" id="{1DA9BD26-2E18-48B0-86B8-C0AA9DC56EE8}"/>
                  </a:ext>
                </a:extLst>
              </p:cNvPr>
              <p:cNvSpPr txBox="1">
                <a:spLocks noRot="1" noChangeAspect="1" noMove="1" noResize="1" noEditPoints="1" noAdjustHandles="1" noChangeArrowheads="1" noChangeShapeType="1" noTextEdit="1"/>
              </p:cNvSpPr>
              <p:nvPr/>
            </p:nvSpPr>
            <p:spPr bwMode="auto">
              <a:xfrm>
                <a:off x="1115616" y="1700808"/>
                <a:ext cx="7128792" cy="1939890"/>
              </a:xfrm>
              <a:prstGeom prst="rect">
                <a:avLst/>
              </a:prstGeom>
              <a:blipFill>
                <a:blip r:embed="rId3"/>
                <a:stretch>
                  <a:fillRect/>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241683162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11CF530E-5048-4F74-80C3-6239BC022601}"/>
              </a:ext>
            </a:extLst>
          </p:cNvPr>
          <p:cNvPicPr>
            <a:picLocks noChangeAspect="1"/>
          </p:cNvPicPr>
          <p:nvPr/>
        </p:nvPicPr>
        <p:blipFill>
          <a:blip r:embed="rId2"/>
          <a:stretch>
            <a:fillRect/>
          </a:stretch>
        </p:blipFill>
        <p:spPr>
          <a:xfrm>
            <a:off x="1619672" y="2757047"/>
            <a:ext cx="6066238" cy="2366263"/>
          </a:xfrm>
          <a:prstGeom prst="rect">
            <a:avLst/>
          </a:prstGeom>
        </p:spPr>
      </p:pic>
      <p:sp>
        <p:nvSpPr>
          <p:cNvPr id="25609" name="标题 1">
            <a:extLst>
              <a:ext uri="{FF2B5EF4-FFF2-40B4-BE49-F238E27FC236}">
                <a16:creationId xmlns:a16="http://schemas.microsoft.com/office/drawing/2014/main" id="{D27396B5-D197-403B-A31C-E90B4834035B}"/>
              </a:ext>
            </a:extLst>
          </p:cNvPr>
          <p:cNvSpPr>
            <a:spLocks noGrp="1"/>
          </p:cNvSpPr>
          <p:nvPr>
            <p:ph type="title"/>
          </p:nvPr>
        </p:nvSpPr>
        <p:spPr/>
        <p:txBody>
          <a:bodyPr/>
          <a:lstStyle/>
          <a:p>
            <a:r>
              <a:rPr lang="en-US" altLang="zh-CN" sz="4000" dirty="0"/>
              <a:t>2.2 </a:t>
            </a:r>
            <a:r>
              <a:rPr lang="zh-CN" altLang="en-US" sz="4000" dirty="0"/>
              <a:t>连续时间</a:t>
            </a:r>
            <a:r>
              <a:rPr lang="en-US" altLang="zh-CN" sz="4000" dirty="0"/>
              <a:t>LTI</a:t>
            </a:r>
            <a:r>
              <a:rPr lang="zh-CN" altLang="en-US" sz="4000" dirty="0"/>
              <a:t>系统：卷积积分</a:t>
            </a:r>
          </a:p>
        </p:txBody>
      </p:sp>
      <mc:AlternateContent xmlns:mc="http://schemas.openxmlformats.org/markup-compatibility/2006" xmlns:a14="http://schemas.microsoft.com/office/drawing/2010/main">
        <mc:Choice Requires="a14">
          <p:sp>
            <p:nvSpPr>
              <p:cNvPr id="25610" name="内容占位符 2">
                <a:extLst>
                  <a:ext uri="{FF2B5EF4-FFF2-40B4-BE49-F238E27FC236}">
                    <a16:creationId xmlns:a16="http://schemas.microsoft.com/office/drawing/2014/main" id="{818C5461-51F1-4E18-B20B-A829AFDCAAE8}"/>
                  </a:ext>
                </a:extLst>
              </p:cNvPr>
              <p:cNvSpPr>
                <a:spLocks noGrp="1"/>
              </p:cNvSpPr>
              <p:nvPr>
                <p:ph idx="1"/>
              </p:nvPr>
            </p:nvSpPr>
            <p:spPr>
              <a:xfrm>
                <a:off x="457200" y="1285875"/>
                <a:ext cx="8229600" cy="1471172"/>
              </a:xfrm>
            </p:spPr>
            <p:txBody>
              <a:bodyPr>
                <a:spAutoFit/>
              </a:bodyPr>
              <a:lstStyle/>
              <a:p>
                <a:r>
                  <a:rPr lang="zh-CN" altLang="en-US" sz="2800" b="0" dirty="0"/>
                  <a:t>一</a:t>
                </a:r>
                <a:r>
                  <a:rPr lang="en-US" altLang="zh-CN" sz="2800" b="0" dirty="0"/>
                  <a:t>. </a:t>
                </a:r>
                <a:r>
                  <a:rPr lang="zh-CN" altLang="en-US" sz="2800" b="0" dirty="0"/>
                  <a:t>用冲激信号表示连续时间信号：</a:t>
                </a:r>
                <a:endParaRPr lang="en-US" altLang="zh-CN" sz="2800" b="0" dirty="0"/>
              </a:p>
              <a:p>
                <a:pPr lvl="1"/>
                <a:r>
                  <a:rPr lang="zh-CN" altLang="en-US" b="0" dirty="0"/>
                  <a:t>将输入信号</a:t>
                </a:r>
                <a14:m>
                  <m:oMath xmlns:m="http://schemas.openxmlformats.org/officeDocument/2006/math">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oMath>
                </a14:m>
                <a:r>
                  <a:rPr lang="zh-CN" altLang="en-US" b="0" dirty="0"/>
                  <a:t>近似表示为移位、放缩后的脉冲之和</a:t>
                </a:r>
                <a:endParaRPr lang="en-US" altLang="zh-CN" b="0" dirty="0"/>
              </a:p>
            </p:txBody>
          </p:sp>
        </mc:Choice>
        <mc:Fallback xmlns="">
          <p:sp>
            <p:nvSpPr>
              <p:cNvPr id="25610" name="内容占位符 2">
                <a:extLst>
                  <a:ext uri="{FF2B5EF4-FFF2-40B4-BE49-F238E27FC236}">
                    <a16:creationId xmlns:a16="http://schemas.microsoft.com/office/drawing/2014/main" id="{818C5461-51F1-4E18-B20B-A829AFDCAAE8}"/>
                  </a:ext>
                </a:extLst>
              </p:cNvPr>
              <p:cNvSpPr>
                <a:spLocks noGrp="1" noRot="1" noChangeAspect="1" noMove="1" noResize="1" noEditPoints="1" noAdjustHandles="1" noChangeArrowheads="1" noChangeShapeType="1" noTextEdit="1"/>
              </p:cNvSpPr>
              <p:nvPr>
                <p:ph idx="1"/>
              </p:nvPr>
            </p:nvSpPr>
            <p:spPr>
              <a:xfrm>
                <a:off x="457200" y="1285875"/>
                <a:ext cx="8229600" cy="1471172"/>
              </a:xfrm>
              <a:blipFill>
                <a:blip r:embed="rId3"/>
                <a:stretch>
                  <a:fillRect l="-1333" t="-5394" b="-10788"/>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DE1025E9-158C-4E04-B259-5AE6A055B42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26FF969-B563-4E7E-872A-8CAAA052B82E}" type="slidenum">
              <a:rPr lang="zh-CN" altLang="en-US">
                <a:solidFill>
                  <a:srgbClr val="898989"/>
                </a:solidFill>
                <a:latin typeface="Calibri" panose="020F0502020204030204" pitchFamily="34" charset="0"/>
              </a:rPr>
              <a:pPr eaLnBrk="1" hangingPunct="1"/>
              <a:t>22</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E83CA587-ABE7-4B0C-A841-79C4A3BE56A1}"/>
                  </a:ext>
                </a:extLst>
              </p:cNvPr>
              <p:cNvSpPr txBox="1"/>
              <p:nvPr/>
            </p:nvSpPr>
            <p:spPr>
              <a:xfrm>
                <a:off x="5436096" y="2760054"/>
                <a:ext cx="77383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rPr>
                        <m:t>𝑥</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rPr>
                        <m:t>𝑡</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rPr>
                        <m:t>)</m:t>
                      </m:r>
                    </m:oMath>
                  </m:oMathPara>
                </a14:m>
                <a:endParaRPr lang="en-US" sz="2400" dirty="0"/>
              </a:p>
            </p:txBody>
          </p:sp>
        </mc:Choice>
        <mc:Fallback xmlns="">
          <p:sp>
            <p:nvSpPr>
              <p:cNvPr id="17" name="文本框 16">
                <a:extLst>
                  <a:ext uri="{FF2B5EF4-FFF2-40B4-BE49-F238E27FC236}">
                    <a16:creationId xmlns:a16="http://schemas.microsoft.com/office/drawing/2014/main" id="{E83CA587-ABE7-4B0C-A841-79C4A3BE56A1}"/>
                  </a:ext>
                </a:extLst>
              </p:cNvPr>
              <p:cNvSpPr txBox="1">
                <a:spLocks noRot="1" noChangeAspect="1" noMove="1" noResize="1" noEditPoints="1" noAdjustHandles="1" noChangeArrowheads="1" noChangeShapeType="1" noTextEdit="1"/>
              </p:cNvSpPr>
              <p:nvPr/>
            </p:nvSpPr>
            <p:spPr>
              <a:xfrm>
                <a:off x="5436096" y="2760054"/>
                <a:ext cx="773832" cy="461665"/>
              </a:xfrm>
              <a:prstGeom prst="rect">
                <a:avLst/>
              </a:prstGeom>
              <a:blipFill>
                <a:blip r:embed="rId4"/>
                <a:stretch>
                  <a:fillRect r="-3937" b="-2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3E3B6D37-713B-4826-A052-55F7915D43F7}"/>
                  </a:ext>
                </a:extLst>
              </p:cNvPr>
              <p:cNvSpPr txBox="1"/>
              <p:nvPr/>
            </p:nvSpPr>
            <p:spPr>
              <a:xfrm>
                <a:off x="6300192" y="3124209"/>
                <a:ext cx="77383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rPr>
                            <m:t>𝑥</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sub>
                      </m:s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rPr>
                        <m:t>𝑡</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rPr>
                        <m:t>)</m:t>
                      </m:r>
                    </m:oMath>
                  </m:oMathPara>
                </a14:m>
                <a:endParaRPr lang="en-US" sz="2400" dirty="0"/>
              </a:p>
            </p:txBody>
          </p:sp>
        </mc:Choice>
        <mc:Fallback xmlns="">
          <p:sp>
            <p:nvSpPr>
              <p:cNvPr id="18" name="文本框 17">
                <a:extLst>
                  <a:ext uri="{FF2B5EF4-FFF2-40B4-BE49-F238E27FC236}">
                    <a16:creationId xmlns:a16="http://schemas.microsoft.com/office/drawing/2014/main" id="{3E3B6D37-713B-4826-A052-55F7915D43F7}"/>
                  </a:ext>
                </a:extLst>
              </p:cNvPr>
              <p:cNvSpPr txBox="1">
                <a:spLocks noRot="1" noChangeAspect="1" noMove="1" noResize="1" noEditPoints="1" noAdjustHandles="1" noChangeArrowheads="1" noChangeShapeType="1" noTextEdit="1"/>
              </p:cNvSpPr>
              <p:nvPr/>
            </p:nvSpPr>
            <p:spPr>
              <a:xfrm>
                <a:off x="6300192" y="3124209"/>
                <a:ext cx="773832" cy="461665"/>
              </a:xfrm>
              <a:prstGeom prst="rect">
                <a:avLst/>
              </a:prstGeom>
              <a:blipFill>
                <a:blip r:embed="rId5"/>
                <a:stretch>
                  <a:fillRect r="-19685" b="-2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EC4053EC-C11D-49D7-AE12-F4FA751308D7}"/>
                  </a:ext>
                </a:extLst>
              </p:cNvPr>
              <p:cNvSpPr txBox="1"/>
              <p:nvPr/>
            </p:nvSpPr>
            <p:spPr>
              <a:xfrm>
                <a:off x="1723496" y="5313562"/>
                <a:ext cx="5832648"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𝑥</m:t>
                          </m:r>
                        </m:e>
                        <m:sub>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sub>
                      </m:sSub>
                      <m:d>
                        <m:dPr>
                          <m:ctrlP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dPr>
                        <m:e>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𝑡</m:t>
                          </m:r>
                        </m:e>
                      </m:d>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𝑥</m:t>
                      </m:r>
                      <m:d>
                        <m:dPr>
                          <m:ctrlP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ctrlPr>
                        </m:dPr>
                        <m:e>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rPr>
                            <m:t>𝑘</m:t>
                          </m:r>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e>
                      </m:d>
                      <m:r>
                        <a:rPr kumimoji="0" lang="en-US" altLang="zh-CN"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lang="en-US" altLang="zh-CN" sz="2800" i="1">
                          <a:solidFill>
                            <a:prstClr val="black"/>
                          </a:solidFill>
                          <a:latin typeface="Cambria Math" panose="02040503050406030204" pitchFamily="18" charset="0"/>
                        </a:rPr>
                        <m:t>𝑘</m:t>
                      </m:r>
                      <m:r>
                        <a:rPr lang="en-US" altLang="zh-CN" sz="2800" i="1">
                          <a:solidFill>
                            <a:prstClr val="black"/>
                          </a:solidFill>
                          <a:latin typeface="Cambria Math" panose="02040503050406030204" pitchFamily="18" charset="0"/>
                          <a:ea typeface="Cambria Math" panose="02040503050406030204" pitchFamily="18" charset="0"/>
                        </a:rPr>
                        <m:t>∆</m:t>
                      </m:r>
                      <m:r>
                        <a:rPr lang="en-US" altLang="zh-CN" sz="2800" b="0" i="0" smtClean="0">
                          <a:solidFill>
                            <a:prstClr val="black"/>
                          </a:solidFill>
                          <a:latin typeface="Cambria Math" panose="02040503050406030204" pitchFamily="18" charset="0"/>
                          <a:ea typeface="Cambria Math" panose="02040503050406030204" pitchFamily="18" charset="0"/>
                        </a:rPr>
                        <m:t>&lt;</m:t>
                      </m:r>
                      <m:r>
                        <a:rPr lang="en-US" altLang="zh-CN" sz="2800" b="0" i="1" smtClean="0">
                          <a:solidFill>
                            <a:prstClr val="black"/>
                          </a:solidFill>
                          <a:latin typeface="Cambria Math" panose="02040503050406030204" pitchFamily="18" charset="0"/>
                          <a:ea typeface="Cambria Math" panose="02040503050406030204" pitchFamily="18" charset="0"/>
                        </a:rPr>
                        <m:t>𝑡</m:t>
                      </m:r>
                      <m:r>
                        <a:rPr lang="en-US" altLang="zh-CN" sz="2800" b="0" i="1" smtClean="0">
                          <a:solidFill>
                            <a:prstClr val="black"/>
                          </a:solidFill>
                          <a:latin typeface="Cambria Math" panose="02040503050406030204" pitchFamily="18" charset="0"/>
                          <a:ea typeface="Cambria Math" panose="02040503050406030204" pitchFamily="18" charset="0"/>
                        </a:rPr>
                        <m:t>&lt;(</m:t>
                      </m:r>
                      <m:r>
                        <a:rPr lang="en-US" altLang="zh-CN" sz="2800" b="0" i="1" smtClean="0">
                          <a:solidFill>
                            <a:prstClr val="black"/>
                          </a:solidFill>
                          <a:latin typeface="Cambria Math" panose="02040503050406030204" pitchFamily="18" charset="0"/>
                          <a:ea typeface="Cambria Math" panose="02040503050406030204" pitchFamily="18" charset="0"/>
                        </a:rPr>
                        <m:t>𝑘</m:t>
                      </m:r>
                      <m:r>
                        <a:rPr lang="en-US" altLang="zh-CN" sz="2800" b="0" i="1" smtClean="0">
                          <a:solidFill>
                            <a:prstClr val="black"/>
                          </a:solidFill>
                          <a:latin typeface="Cambria Math" panose="02040503050406030204" pitchFamily="18" charset="0"/>
                          <a:ea typeface="Cambria Math" panose="02040503050406030204" pitchFamily="18" charset="0"/>
                        </a:rPr>
                        <m:t>+1)∆</m:t>
                      </m:r>
                    </m:oMath>
                  </m:oMathPara>
                </a14:m>
                <a:endParaRPr lang="en-US" sz="2400" i="1" dirty="0"/>
              </a:p>
            </p:txBody>
          </p:sp>
        </mc:Choice>
        <mc:Fallback xmlns="">
          <p:sp>
            <p:nvSpPr>
              <p:cNvPr id="24" name="文本框 23">
                <a:extLst>
                  <a:ext uri="{FF2B5EF4-FFF2-40B4-BE49-F238E27FC236}">
                    <a16:creationId xmlns:a16="http://schemas.microsoft.com/office/drawing/2014/main" id="{EC4053EC-C11D-49D7-AE12-F4FA751308D7}"/>
                  </a:ext>
                </a:extLst>
              </p:cNvPr>
              <p:cNvSpPr txBox="1">
                <a:spLocks noRot="1" noChangeAspect="1" noMove="1" noResize="1" noEditPoints="1" noAdjustHandles="1" noChangeArrowheads="1" noChangeShapeType="1" noTextEdit="1"/>
              </p:cNvSpPr>
              <p:nvPr/>
            </p:nvSpPr>
            <p:spPr>
              <a:xfrm>
                <a:off x="1723496" y="5313562"/>
                <a:ext cx="5832648" cy="523220"/>
              </a:xfrm>
              <a:prstGeom prst="rect">
                <a:avLst/>
              </a:prstGeom>
              <a:blipFill>
                <a:blip r:embed="rId6"/>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8" name="标题 1">
            <a:extLst>
              <a:ext uri="{FF2B5EF4-FFF2-40B4-BE49-F238E27FC236}">
                <a16:creationId xmlns:a16="http://schemas.microsoft.com/office/drawing/2014/main" id="{A977FACE-C365-4EEF-9151-430942C0345A}"/>
              </a:ext>
            </a:extLst>
          </p:cNvPr>
          <p:cNvSpPr>
            <a:spLocks noGrp="1"/>
          </p:cNvSpPr>
          <p:nvPr>
            <p:ph type="title"/>
          </p:nvPr>
        </p:nvSpPr>
        <p:spPr/>
        <p:txBody>
          <a:bodyPr/>
          <a:lstStyle/>
          <a:p>
            <a:r>
              <a:rPr lang="en-US" altLang="zh-CN" sz="4000" dirty="0"/>
              <a:t>2.2 </a:t>
            </a:r>
            <a:r>
              <a:rPr lang="zh-CN" altLang="en-US" sz="4000" dirty="0"/>
              <a:t>连续时间</a:t>
            </a:r>
            <a:r>
              <a:rPr lang="en-US" altLang="zh-CN" sz="4000" dirty="0"/>
              <a:t>LTI</a:t>
            </a:r>
            <a:r>
              <a:rPr lang="zh-CN" altLang="en-US" sz="4000" dirty="0"/>
              <a:t>系统：卷积积分</a:t>
            </a:r>
          </a:p>
        </p:txBody>
      </p:sp>
      <p:sp>
        <p:nvSpPr>
          <p:cNvPr id="4" name="灯片编号占位符 3">
            <a:extLst>
              <a:ext uri="{FF2B5EF4-FFF2-40B4-BE49-F238E27FC236}">
                <a16:creationId xmlns:a16="http://schemas.microsoft.com/office/drawing/2014/main" id="{9343D45B-891F-4509-B6B7-A7B1830CAAA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4460168-A103-4BF4-9938-45A1A1F9DABB}" type="slidenum">
              <a:rPr lang="zh-CN" altLang="en-US">
                <a:solidFill>
                  <a:srgbClr val="898989"/>
                </a:solidFill>
                <a:latin typeface="Calibri" panose="020F0502020204030204" pitchFamily="34" charset="0"/>
              </a:rPr>
              <a:pPr eaLnBrk="1" hangingPunct="1"/>
              <a:t>23</a:t>
            </a:fld>
            <a:endParaRPr lang="zh-CN" altLang="en-US">
              <a:solidFill>
                <a:srgbClr val="898989"/>
              </a:solidFill>
              <a:latin typeface="Calibri" panose="020F0502020204030204" pitchFamily="34" charset="0"/>
            </a:endParaRPr>
          </a:p>
        </p:txBody>
      </p:sp>
      <p:pic>
        <p:nvPicPr>
          <p:cNvPr id="53" name="Picture 4">
            <a:extLst>
              <a:ext uri="{FF2B5EF4-FFF2-40B4-BE49-F238E27FC236}">
                <a16:creationId xmlns:a16="http://schemas.microsoft.com/office/drawing/2014/main" id="{846E4636-EE54-4AD0-A5FE-BA34D2A5B3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8117" y="1262664"/>
            <a:ext cx="2963227" cy="1780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55" name="Picture 6">
            <a:extLst>
              <a:ext uri="{FF2B5EF4-FFF2-40B4-BE49-F238E27FC236}">
                <a16:creationId xmlns:a16="http://schemas.microsoft.com/office/drawing/2014/main" id="{085C90E8-19D9-41BA-B3AC-E634B608D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456" y="3832622"/>
            <a:ext cx="3585949" cy="2304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56" name="Picture 7">
            <a:extLst>
              <a:ext uri="{FF2B5EF4-FFF2-40B4-BE49-F238E27FC236}">
                <a16:creationId xmlns:a16="http://schemas.microsoft.com/office/drawing/2014/main" id="{3BE04EA6-09E5-4BB5-ABDA-2752D3A051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956" y="4648200"/>
            <a:ext cx="368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57" name="Picture 8">
            <a:extLst>
              <a:ext uri="{FF2B5EF4-FFF2-40B4-BE49-F238E27FC236}">
                <a16:creationId xmlns:a16="http://schemas.microsoft.com/office/drawing/2014/main" id="{4A9B8830-7CE6-4E12-959D-CDF861D28F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2856" y="457200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58" name="Picture 9">
            <a:extLst>
              <a:ext uri="{FF2B5EF4-FFF2-40B4-BE49-F238E27FC236}">
                <a16:creationId xmlns:a16="http://schemas.microsoft.com/office/drawing/2014/main" id="{56011FDD-6F4A-4549-931E-224D84232B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82256" y="3543672"/>
            <a:ext cx="2349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59" name="Picture 10">
            <a:extLst>
              <a:ext uri="{FF2B5EF4-FFF2-40B4-BE49-F238E27FC236}">
                <a16:creationId xmlns:a16="http://schemas.microsoft.com/office/drawing/2014/main" id="{E1EB1B4F-D65F-4787-8156-C2F2DC61686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10856" y="5638800"/>
            <a:ext cx="416560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60" name="Picture 9">
            <a:extLst>
              <a:ext uri="{FF2B5EF4-FFF2-40B4-BE49-F238E27FC236}">
                <a16:creationId xmlns:a16="http://schemas.microsoft.com/office/drawing/2014/main" id="{2A13B802-BCC5-4420-AD7F-A54DEB03BFC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39656" y="5105400"/>
            <a:ext cx="2349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42E7A54E-459B-4D70-B9A3-7EB4E7078C75}"/>
                  </a:ext>
                </a:extLst>
              </p:cNvPr>
              <p:cNvSpPr txBox="1"/>
              <p:nvPr/>
            </p:nvSpPr>
            <p:spPr>
              <a:xfrm>
                <a:off x="3028131" y="3033737"/>
                <a:ext cx="2743200" cy="461665"/>
              </a:xfrm>
              <a:prstGeom prst="rect">
                <a:avLst/>
              </a:prstGeom>
              <a:noFill/>
            </p:spPr>
            <p:txBody>
              <a:bodyPr wrap="square">
                <a:spAutoFit/>
              </a:bodyPr>
              <a:lstStyle/>
              <a:p>
                <a:pPr algn="ctr"/>
                <a14:m>
                  <m:oMath xmlns:m="http://schemas.openxmlformats.org/officeDocument/2006/math">
                    <m:sSub>
                      <m:sSubPr>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rPr>
                          <m:t>𝛿</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sub>
                    </m:s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rPr>
                      <m:t>𝑡</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rPr>
                      <m:t>)</m:t>
                    </m:r>
                  </m:oMath>
                </a14:m>
                <a:r>
                  <a:rPr lang="zh-CN" altLang="en-US" sz="2400" dirty="0">
                    <a:latin typeface="Cambria Math" panose="02040503050406030204" pitchFamily="18" charset="0"/>
                    <a:ea typeface="楷体" panose="02010609060101010101" pitchFamily="49" charset="-122"/>
                  </a:rPr>
                  <a:t>具有单位面积</a:t>
                </a:r>
                <a:endParaRPr lang="en-US" sz="2400" dirty="0">
                  <a:latin typeface="Cambria Math" panose="02040503050406030204" pitchFamily="18" charset="0"/>
                  <a:ea typeface="楷体" panose="02010609060101010101" pitchFamily="49" charset="-122"/>
                </a:endParaRPr>
              </a:p>
            </p:txBody>
          </p:sp>
        </mc:Choice>
        <mc:Fallback xmlns="">
          <p:sp>
            <p:nvSpPr>
              <p:cNvPr id="61" name="文本框 60">
                <a:extLst>
                  <a:ext uri="{FF2B5EF4-FFF2-40B4-BE49-F238E27FC236}">
                    <a16:creationId xmlns:a16="http://schemas.microsoft.com/office/drawing/2014/main" id="{42E7A54E-459B-4D70-B9A3-7EB4E7078C75}"/>
                  </a:ext>
                </a:extLst>
              </p:cNvPr>
              <p:cNvSpPr txBox="1">
                <a:spLocks noRot="1" noChangeAspect="1" noMove="1" noResize="1" noEditPoints="1" noAdjustHandles="1" noChangeArrowheads="1" noChangeShapeType="1" noTextEdit="1"/>
              </p:cNvSpPr>
              <p:nvPr/>
            </p:nvSpPr>
            <p:spPr>
              <a:xfrm>
                <a:off x="3028131" y="3033737"/>
                <a:ext cx="2743200" cy="461665"/>
              </a:xfrm>
              <a:prstGeom prst="rect">
                <a:avLst/>
              </a:prstGeom>
              <a:blipFill>
                <a:blip r:embed="rId8"/>
                <a:stretch>
                  <a:fillRect t="-14667" r="-2444" b="-26667"/>
                </a:stretch>
              </a:blipFill>
            </p:spPr>
            <p:txBody>
              <a:bodyPr/>
              <a:lstStyle/>
              <a:p>
                <a:r>
                  <a:rPr lang="en-US">
                    <a:noFill/>
                  </a:rPr>
                  <a:t> </a:t>
                </a:r>
              </a:p>
            </p:txBody>
          </p:sp>
        </mc:Fallback>
      </mc:AlternateContent>
      <p:sp>
        <p:nvSpPr>
          <p:cNvPr id="62" name="内容占位符 2">
            <a:extLst>
              <a:ext uri="{FF2B5EF4-FFF2-40B4-BE49-F238E27FC236}">
                <a16:creationId xmlns:a16="http://schemas.microsoft.com/office/drawing/2014/main" id="{A8632164-04CC-4215-A5DC-B54C5C747DAA}"/>
              </a:ext>
            </a:extLst>
          </p:cNvPr>
          <p:cNvSpPr>
            <a:spLocks noGrp="1"/>
          </p:cNvSpPr>
          <p:nvPr>
            <p:ph idx="1"/>
          </p:nvPr>
        </p:nvSpPr>
        <p:spPr>
          <a:xfrm>
            <a:off x="548456" y="1262664"/>
            <a:ext cx="2151336" cy="461665"/>
          </a:xfrm>
        </p:spPr>
        <p:txBody>
          <a:bodyPr wrap="square">
            <a:spAutoFit/>
          </a:bodyPr>
          <a:lstStyle/>
          <a:p>
            <a:pPr marL="0" indent="0">
              <a:buNone/>
            </a:pPr>
            <a:r>
              <a:rPr lang="zh-CN" altLang="en-US" sz="2400" b="0" dirty="0">
                <a:solidFill>
                  <a:srgbClr val="0000FF"/>
                </a:solidFill>
              </a:rPr>
              <a:t>阶梯近似表达</a:t>
            </a:r>
            <a:endParaRPr lang="en-US" altLang="zh-CN" sz="2800" b="0"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blinds(horizontal)">
                                      <p:cBhvr>
                                        <p:cTn id="7" dur="500"/>
                                        <p:tgtEl>
                                          <p:spTgt spid="60"/>
                                        </p:tgtEl>
                                      </p:cBhvr>
                                    </p:animEffect>
                                  </p:childTnLst>
                                </p:cTn>
                              </p:par>
                              <p:par>
                                <p:cTn id="8" presetID="3" presetClass="entr" presetSubtype="10" fill="hold" nodeType="withEffect">
                                  <p:stCondLst>
                                    <p:cond delay="0"/>
                                  </p:stCondLst>
                                  <p:childTnLst>
                                    <p:set>
                                      <p:cBhvr>
                                        <p:cTn id="9" dur="1" fill="hold">
                                          <p:stCondLst>
                                            <p:cond delay="0"/>
                                          </p:stCondLst>
                                        </p:cTn>
                                        <p:tgtEl>
                                          <p:spTgt spid="59"/>
                                        </p:tgtEl>
                                        <p:attrNameLst>
                                          <p:attrName>style.visibility</p:attrName>
                                        </p:attrNameLst>
                                      </p:cBhvr>
                                      <p:to>
                                        <p:strVal val="visible"/>
                                      </p:to>
                                    </p:set>
                                    <p:animEffect transition="in" filter="blinds(horizontal)">
                                      <p:cBhvr>
                                        <p:cTn id="10"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8" name="标题 1">
            <a:extLst>
              <a:ext uri="{FF2B5EF4-FFF2-40B4-BE49-F238E27FC236}">
                <a16:creationId xmlns:a16="http://schemas.microsoft.com/office/drawing/2014/main" id="{A977FACE-C365-4EEF-9151-430942C0345A}"/>
              </a:ext>
            </a:extLst>
          </p:cNvPr>
          <p:cNvSpPr>
            <a:spLocks noGrp="1"/>
          </p:cNvSpPr>
          <p:nvPr>
            <p:ph type="title"/>
          </p:nvPr>
        </p:nvSpPr>
        <p:spPr/>
        <p:txBody>
          <a:bodyPr/>
          <a:lstStyle/>
          <a:p>
            <a:r>
              <a:rPr lang="en-US" altLang="zh-CN" sz="4000" dirty="0"/>
              <a:t>2.2 </a:t>
            </a:r>
            <a:r>
              <a:rPr lang="zh-CN" altLang="en-US" sz="4000" dirty="0"/>
              <a:t>连续时间</a:t>
            </a:r>
            <a:r>
              <a:rPr lang="en-US" altLang="zh-CN" sz="4000" dirty="0"/>
              <a:t>LTI</a:t>
            </a:r>
            <a:r>
              <a:rPr lang="zh-CN" altLang="en-US" sz="4000" dirty="0"/>
              <a:t>系统：卷积积分</a:t>
            </a:r>
          </a:p>
        </p:txBody>
      </p:sp>
      <p:sp>
        <p:nvSpPr>
          <p:cNvPr id="4" name="灯片编号占位符 3">
            <a:extLst>
              <a:ext uri="{FF2B5EF4-FFF2-40B4-BE49-F238E27FC236}">
                <a16:creationId xmlns:a16="http://schemas.microsoft.com/office/drawing/2014/main" id="{9343D45B-891F-4509-B6B7-A7B1830CAAA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4460168-A103-4BF4-9938-45A1A1F9DABB}" type="slidenum">
              <a:rPr lang="zh-CN" altLang="en-US">
                <a:solidFill>
                  <a:srgbClr val="898989"/>
                </a:solidFill>
                <a:latin typeface="Calibri" panose="020F0502020204030204" pitchFamily="34" charset="0"/>
              </a:rPr>
              <a:pPr eaLnBrk="1" hangingPunct="1"/>
              <a:t>24</a:t>
            </a:fld>
            <a:endParaRPr lang="zh-CN" altLang="en-US">
              <a:solidFill>
                <a:srgbClr val="898989"/>
              </a:solidFill>
              <a:latin typeface="Calibri" panose="020F0502020204030204" pitchFamily="34" charset="0"/>
            </a:endParaRPr>
          </a:p>
        </p:txBody>
      </p:sp>
      <p:pic>
        <p:nvPicPr>
          <p:cNvPr id="5" name="图片 4">
            <a:extLst>
              <a:ext uri="{FF2B5EF4-FFF2-40B4-BE49-F238E27FC236}">
                <a16:creationId xmlns:a16="http://schemas.microsoft.com/office/drawing/2014/main" id="{C34569EB-AD0C-4763-9633-82ED617516A7}"/>
              </a:ext>
            </a:extLst>
          </p:cNvPr>
          <p:cNvPicPr>
            <a:picLocks noChangeAspect="1"/>
          </p:cNvPicPr>
          <p:nvPr/>
        </p:nvPicPr>
        <p:blipFill>
          <a:blip r:embed="rId3"/>
          <a:stretch>
            <a:fillRect/>
          </a:stretch>
        </p:blipFill>
        <p:spPr>
          <a:xfrm>
            <a:off x="1401882" y="2190140"/>
            <a:ext cx="7140563" cy="3347139"/>
          </a:xfrm>
          <a:prstGeom prst="rect">
            <a:avLst/>
          </a:prstGeom>
        </p:spPr>
      </p:pic>
      <p:sp>
        <p:nvSpPr>
          <p:cNvPr id="16" name="内容占位符 2">
            <a:extLst>
              <a:ext uri="{FF2B5EF4-FFF2-40B4-BE49-F238E27FC236}">
                <a16:creationId xmlns:a16="http://schemas.microsoft.com/office/drawing/2014/main" id="{E00F11BA-8FFE-423C-BC0D-54C61EBC5FB9}"/>
              </a:ext>
            </a:extLst>
          </p:cNvPr>
          <p:cNvSpPr>
            <a:spLocks noGrp="1"/>
          </p:cNvSpPr>
          <p:nvPr>
            <p:ph idx="1"/>
          </p:nvPr>
        </p:nvSpPr>
        <p:spPr>
          <a:xfrm>
            <a:off x="1754926" y="2812818"/>
            <a:ext cx="876197" cy="461665"/>
          </a:xfrm>
        </p:spPr>
        <p:txBody>
          <a:bodyPr wrap="square">
            <a:spAutoFit/>
          </a:bodyPr>
          <a:lstStyle/>
          <a:p>
            <a:pPr marL="0" indent="0">
              <a:buNone/>
            </a:pPr>
            <a:r>
              <a:rPr lang="zh-CN" altLang="en-US" sz="2400" b="0" dirty="0">
                <a:solidFill>
                  <a:srgbClr val="0000FF"/>
                </a:solidFill>
              </a:rPr>
              <a:t>定义</a:t>
            </a:r>
            <a:endParaRPr lang="en-US" altLang="zh-CN" sz="2800" b="0" dirty="0">
              <a:solidFill>
                <a:srgbClr val="0000FF"/>
              </a:solidFill>
            </a:endParaRPr>
          </a:p>
        </p:txBody>
      </p:sp>
      <p:sp>
        <p:nvSpPr>
          <p:cNvPr id="17" name="内容占位符 2">
            <a:extLst>
              <a:ext uri="{FF2B5EF4-FFF2-40B4-BE49-F238E27FC236}">
                <a16:creationId xmlns:a16="http://schemas.microsoft.com/office/drawing/2014/main" id="{06B66F0B-BF75-46BD-8CA6-158D5FC8922F}"/>
              </a:ext>
            </a:extLst>
          </p:cNvPr>
          <p:cNvSpPr txBox="1">
            <a:spLocks/>
          </p:cNvSpPr>
          <p:nvPr/>
        </p:nvSpPr>
        <p:spPr bwMode="auto">
          <a:xfrm>
            <a:off x="1468651" y="3499710"/>
            <a:ext cx="11624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0" dirty="0">
                <a:solidFill>
                  <a:srgbClr val="0000FF"/>
                </a:solidFill>
              </a:rPr>
              <a:t>时不变</a:t>
            </a:r>
            <a:endParaRPr lang="en-US" altLang="zh-CN" sz="2800" b="0" dirty="0">
              <a:solidFill>
                <a:srgbClr val="0000FF"/>
              </a:solidFill>
            </a:endParaRPr>
          </a:p>
        </p:txBody>
      </p:sp>
      <p:sp>
        <p:nvSpPr>
          <p:cNvPr id="18" name="内容占位符 2">
            <a:extLst>
              <a:ext uri="{FF2B5EF4-FFF2-40B4-BE49-F238E27FC236}">
                <a16:creationId xmlns:a16="http://schemas.microsoft.com/office/drawing/2014/main" id="{AF400764-210E-45AD-A8A7-A857DED28B71}"/>
              </a:ext>
            </a:extLst>
          </p:cNvPr>
          <p:cNvSpPr txBox="1">
            <a:spLocks/>
          </p:cNvSpPr>
          <p:nvPr/>
        </p:nvSpPr>
        <p:spPr bwMode="auto">
          <a:xfrm>
            <a:off x="483157" y="4200265"/>
            <a:ext cx="14401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0" dirty="0">
                <a:solidFill>
                  <a:srgbClr val="0000FF"/>
                </a:solidFill>
              </a:rPr>
              <a:t>尺度调整</a:t>
            </a:r>
            <a:endParaRPr lang="en-US" altLang="zh-CN" sz="2800" b="0" dirty="0">
              <a:solidFill>
                <a:srgbClr val="0000FF"/>
              </a:solidFill>
            </a:endParaRPr>
          </a:p>
        </p:txBody>
      </p:sp>
      <p:sp>
        <p:nvSpPr>
          <p:cNvPr id="19" name="内容占位符 2">
            <a:extLst>
              <a:ext uri="{FF2B5EF4-FFF2-40B4-BE49-F238E27FC236}">
                <a16:creationId xmlns:a16="http://schemas.microsoft.com/office/drawing/2014/main" id="{13F055CC-69E1-476E-A018-2BD35DFAB4C3}"/>
              </a:ext>
            </a:extLst>
          </p:cNvPr>
          <p:cNvSpPr txBox="1">
            <a:spLocks/>
          </p:cNvSpPr>
          <p:nvPr/>
        </p:nvSpPr>
        <p:spPr bwMode="auto">
          <a:xfrm>
            <a:off x="556013" y="4902923"/>
            <a:ext cx="8744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0" dirty="0">
                <a:solidFill>
                  <a:srgbClr val="0000FF"/>
                </a:solidFill>
              </a:rPr>
              <a:t>叠加</a:t>
            </a:r>
            <a:endParaRPr lang="en-US" altLang="zh-CN" sz="2800" b="0" dirty="0">
              <a:solidFill>
                <a:srgbClr val="0000FF"/>
              </a:solidFill>
            </a:endParaRPr>
          </a:p>
        </p:txBody>
      </p:sp>
      <p:sp>
        <p:nvSpPr>
          <p:cNvPr id="20" name="矩形 19">
            <a:extLst>
              <a:ext uri="{FF2B5EF4-FFF2-40B4-BE49-F238E27FC236}">
                <a16:creationId xmlns:a16="http://schemas.microsoft.com/office/drawing/2014/main" id="{8C7E09B1-03C1-4753-926F-B10D48C2B40A}"/>
              </a:ext>
            </a:extLst>
          </p:cNvPr>
          <p:cNvSpPr>
            <a:spLocks noChangeArrowheads="1"/>
          </p:cNvSpPr>
          <p:nvPr/>
        </p:nvSpPr>
        <p:spPr bwMode="auto">
          <a:xfrm>
            <a:off x="1357634" y="4919796"/>
            <a:ext cx="2422278" cy="609600"/>
          </a:xfrm>
          <a:prstGeom prst="rect">
            <a:avLst/>
          </a:prstGeom>
          <a:noFill/>
          <a:ln w="254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91415" tIns="45706" rIns="91415" bIns="45706"/>
          <a:lstStyle>
            <a:lvl1pPr defTabSz="912813" eaLnBrk="0" hangingPunct="0">
              <a:defRPr>
                <a:solidFill>
                  <a:schemeClr val="tx1"/>
                </a:solidFill>
                <a:latin typeface="Times New Roman" panose="02020603050405020304" pitchFamily="18" charset="0"/>
              </a:defRPr>
            </a:lvl1pPr>
            <a:lvl2pPr marL="742950" indent="-285750" defTabSz="912813" eaLnBrk="0" hangingPunct="0">
              <a:defRPr>
                <a:solidFill>
                  <a:schemeClr val="tx1"/>
                </a:solidFill>
                <a:latin typeface="Times New Roman" panose="02020603050405020304" pitchFamily="18" charset="0"/>
              </a:defRPr>
            </a:lvl2pPr>
            <a:lvl3pPr marL="1143000" indent="-228600" defTabSz="912813" eaLnBrk="0" hangingPunct="0">
              <a:defRPr>
                <a:solidFill>
                  <a:schemeClr val="tx1"/>
                </a:solidFill>
                <a:latin typeface="Times New Roman" panose="02020603050405020304" pitchFamily="18" charset="0"/>
              </a:defRPr>
            </a:lvl3pPr>
            <a:lvl4pPr marL="1600200" indent="-228600" defTabSz="912813" eaLnBrk="0" hangingPunct="0">
              <a:defRPr>
                <a:solidFill>
                  <a:schemeClr val="tx1"/>
                </a:solidFill>
                <a:latin typeface="Times New Roman" panose="02020603050405020304" pitchFamily="18" charset="0"/>
              </a:defRPr>
            </a:lvl4pPr>
            <a:lvl5pPr marL="2057400" indent="-228600" defTabSz="912813" eaLnBrk="0" hangingPunct="0">
              <a:defRPr>
                <a:solidFill>
                  <a:schemeClr val="tx1"/>
                </a:solidFill>
                <a:latin typeface="Times New Roman" panose="02020603050405020304" pitchFamily="18" charset="0"/>
              </a:defRPr>
            </a:lvl5pPr>
            <a:lvl6pPr marL="2514600" indent="-228600" defTabSz="912813"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defTabSz="912813"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defTabSz="912813"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defTabSz="912813"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endParaRPr lang="zh-CN" altLang="en-US">
              <a:solidFill>
                <a:srgbClr val="000000"/>
              </a:solidFill>
              <a:ea typeface="宋体" panose="02010600030101010101" pitchFamily="2" charset="-122"/>
            </a:endParaRPr>
          </a:p>
        </p:txBody>
      </p:sp>
      <p:sp>
        <p:nvSpPr>
          <p:cNvPr id="21" name="矩形 20">
            <a:extLst>
              <a:ext uri="{FF2B5EF4-FFF2-40B4-BE49-F238E27FC236}">
                <a16:creationId xmlns:a16="http://schemas.microsoft.com/office/drawing/2014/main" id="{ABA99781-AFF4-4AF9-9C36-88052C9FAC40}"/>
              </a:ext>
            </a:extLst>
          </p:cNvPr>
          <p:cNvSpPr>
            <a:spLocks noChangeArrowheads="1"/>
          </p:cNvSpPr>
          <p:nvPr/>
        </p:nvSpPr>
        <p:spPr bwMode="auto">
          <a:xfrm>
            <a:off x="6084168" y="4902923"/>
            <a:ext cx="2458277" cy="609600"/>
          </a:xfrm>
          <a:prstGeom prst="rect">
            <a:avLst/>
          </a:prstGeom>
          <a:noFill/>
          <a:ln w="254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91415" tIns="45706" rIns="91415" bIns="45706"/>
          <a:lstStyle>
            <a:lvl1pPr defTabSz="912813" eaLnBrk="0" hangingPunct="0">
              <a:defRPr>
                <a:solidFill>
                  <a:schemeClr val="tx1"/>
                </a:solidFill>
                <a:latin typeface="Times New Roman" panose="02020603050405020304" pitchFamily="18" charset="0"/>
              </a:defRPr>
            </a:lvl1pPr>
            <a:lvl2pPr marL="742950" indent="-285750" defTabSz="912813" eaLnBrk="0" hangingPunct="0">
              <a:defRPr>
                <a:solidFill>
                  <a:schemeClr val="tx1"/>
                </a:solidFill>
                <a:latin typeface="Times New Roman" panose="02020603050405020304" pitchFamily="18" charset="0"/>
              </a:defRPr>
            </a:lvl2pPr>
            <a:lvl3pPr marL="1143000" indent="-228600" defTabSz="912813" eaLnBrk="0" hangingPunct="0">
              <a:defRPr>
                <a:solidFill>
                  <a:schemeClr val="tx1"/>
                </a:solidFill>
                <a:latin typeface="Times New Roman" panose="02020603050405020304" pitchFamily="18" charset="0"/>
              </a:defRPr>
            </a:lvl3pPr>
            <a:lvl4pPr marL="1600200" indent="-228600" defTabSz="912813" eaLnBrk="0" hangingPunct="0">
              <a:defRPr>
                <a:solidFill>
                  <a:schemeClr val="tx1"/>
                </a:solidFill>
                <a:latin typeface="Times New Roman" panose="02020603050405020304" pitchFamily="18" charset="0"/>
              </a:defRPr>
            </a:lvl4pPr>
            <a:lvl5pPr marL="2057400" indent="-228600" defTabSz="912813" eaLnBrk="0" hangingPunct="0">
              <a:defRPr>
                <a:solidFill>
                  <a:schemeClr val="tx1"/>
                </a:solidFill>
                <a:latin typeface="Times New Roman" panose="02020603050405020304" pitchFamily="18" charset="0"/>
              </a:defRPr>
            </a:lvl5pPr>
            <a:lvl6pPr marL="2514600" indent="-228600" defTabSz="912813"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defTabSz="912813"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defTabSz="912813"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defTabSz="912813"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endParaRPr lang="zh-CN" altLang="en-US">
              <a:solidFill>
                <a:srgbClr val="000000"/>
              </a:solidFill>
              <a:ea typeface="宋体" panose="02010600030101010101" pitchFamily="2" charset="-122"/>
            </a:endParaRPr>
          </a:p>
        </p:txBody>
      </p:sp>
      <p:sp>
        <p:nvSpPr>
          <p:cNvPr id="22" name="内容占位符 2">
            <a:extLst>
              <a:ext uri="{FF2B5EF4-FFF2-40B4-BE49-F238E27FC236}">
                <a16:creationId xmlns:a16="http://schemas.microsoft.com/office/drawing/2014/main" id="{4D9D0145-9032-4768-A747-5F971746742B}"/>
              </a:ext>
            </a:extLst>
          </p:cNvPr>
          <p:cNvSpPr txBox="1">
            <a:spLocks/>
          </p:cNvSpPr>
          <p:nvPr/>
        </p:nvSpPr>
        <p:spPr bwMode="auto">
          <a:xfrm>
            <a:off x="548456" y="1262664"/>
            <a:ext cx="2727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0" dirty="0">
                <a:solidFill>
                  <a:srgbClr val="0000FF"/>
                </a:solidFill>
              </a:rPr>
              <a:t>阶梯近似表达过程</a:t>
            </a:r>
            <a:endParaRPr lang="en-US" altLang="zh-CN" sz="2800" b="0" dirty="0">
              <a:solidFill>
                <a:srgbClr val="0000FF"/>
              </a:solidFill>
            </a:endParaRPr>
          </a:p>
        </p:txBody>
      </p:sp>
      <p:sp>
        <p:nvSpPr>
          <p:cNvPr id="23" name="文本框 22">
            <a:extLst>
              <a:ext uri="{FF2B5EF4-FFF2-40B4-BE49-F238E27FC236}">
                <a16:creationId xmlns:a16="http://schemas.microsoft.com/office/drawing/2014/main" id="{3EEAF78C-36F4-43A1-ABC4-9996734024A1}"/>
              </a:ext>
            </a:extLst>
          </p:cNvPr>
          <p:cNvSpPr txBox="1"/>
          <p:nvPr/>
        </p:nvSpPr>
        <p:spPr>
          <a:xfrm>
            <a:off x="3859134" y="2060848"/>
            <a:ext cx="2162994" cy="707886"/>
          </a:xfrm>
          <a:prstGeom prst="rect">
            <a:avLst/>
          </a:prstGeom>
          <a:noFill/>
        </p:spPr>
        <p:txBody>
          <a:bodyPr wrap="square" rtlCol="0">
            <a:spAutoFit/>
          </a:bodyPr>
          <a:lstStyle/>
          <a:p>
            <a:pPr algn="ctr"/>
            <a:r>
              <a:rPr lang="en-US" altLang="zh-CN" sz="2000" dirty="0">
                <a:solidFill>
                  <a:srgbClr val="0000FF"/>
                </a:solidFill>
                <a:latin typeface="Cambria Math" panose="02040503050406030204" pitchFamily="18" charset="0"/>
                <a:ea typeface="楷体" panose="02010609060101010101" pitchFamily="49" charset="-122"/>
              </a:rPr>
              <a:t>CT LTI</a:t>
            </a:r>
            <a:r>
              <a:rPr lang="zh-CN" altLang="en-US" sz="2000" dirty="0">
                <a:solidFill>
                  <a:srgbClr val="0000FF"/>
                </a:solidFill>
                <a:latin typeface="Cambria Math" panose="02040503050406030204" pitchFamily="18" charset="0"/>
                <a:ea typeface="楷体" panose="02010609060101010101" pitchFamily="49" charset="-122"/>
              </a:rPr>
              <a:t>表示</a:t>
            </a:r>
            <a:endParaRPr lang="en-US" altLang="zh-CN" sz="2000" dirty="0">
              <a:solidFill>
                <a:srgbClr val="0000FF"/>
              </a:solidFill>
              <a:latin typeface="Cambria Math" panose="02040503050406030204" pitchFamily="18" charset="0"/>
              <a:ea typeface="楷体" panose="02010609060101010101" pitchFamily="49" charset="-122"/>
            </a:endParaRPr>
          </a:p>
          <a:p>
            <a:pPr algn="ctr"/>
            <a:r>
              <a:rPr lang="zh-CN" altLang="en-US" sz="2000" dirty="0">
                <a:solidFill>
                  <a:srgbClr val="0000FF"/>
                </a:solidFill>
                <a:latin typeface="Cambria Math" panose="02040503050406030204" pitchFamily="18" charset="0"/>
                <a:ea typeface="楷体" panose="02010609060101010101" pitchFamily="49" charset="-122"/>
              </a:rPr>
              <a:t>连续时间</a:t>
            </a:r>
            <a:r>
              <a:rPr lang="en-US" altLang="zh-CN" sz="2000" dirty="0">
                <a:solidFill>
                  <a:srgbClr val="0000FF"/>
                </a:solidFill>
                <a:latin typeface="Cambria Math" panose="02040503050406030204" pitchFamily="18" charset="0"/>
                <a:ea typeface="楷体" panose="02010609060101010101" pitchFamily="49" charset="-122"/>
              </a:rPr>
              <a:t>LTI</a:t>
            </a:r>
            <a:r>
              <a:rPr lang="zh-CN" altLang="en-US" sz="2000" dirty="0">
                <a:solidFill>
                  <a:srgbClr val="0000FF"/>
                </a:solidFill>
                <a:latin typeface="Cambria Math" panose="02040503050406030204" pitchFamily="18" charset="0"/>
                <a:ea typeface="楷体" panose="02010609060101010101" pitchFamily="49" charset="-122"/>
              </a:rPr>
              <a:t>系统</a:t>
            </a:r>
            <a:endParaRPr lang="en-US" sz="2000" dirty="0">
              <a:solidFill>
                <a:srgbClr val="0000FF"/>
              </a:solidFill>
              <a:latin typeface="Cambria Math" panose="02040503050406030204" pitchFamily="18" charset="0"/>
              <a:ea typeface="楷体" panose="02010609060101010101" pitchFamily="49" charset="-122"/>
            </a:endParaRPr>
          </a:p>
        </p:txBody>
      </p:sp>
    </p:spTree>
    <p:extLst>
      <p:ext uri="{BB962C8B-B14F-4D97-AF65-F5344CB8AC3E}">
        <p14:creationId xmlns:p14="http://schemas.microsoft.com/office/powerpoint/2010/main" val="2600849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strVal val="4*#ppt_w"/>
                                          </p:val>
                                        </p:tav>
                                        <p:tav tm="100000">
                                          <p:val>
                                            <p:strVal val="#ppt_w"/>
                                          </p:val>
                                        </p:tav>
                                      </p:tavLst>
                                    </p:anim>
                                    <p:anim calcmode="lin" valueType="num">
                                      <p:cBhvr>
                                        <p:cTn id="8" dur="500" fill="hold"/>
                                        <p:tgtEl>
                                          <p:spTgt spid="20"/>
                                        </p:tgtEl>
                                        <p:attrNameLst>
                                          <p:attrName>ppt_h</p:attrName>
                                        </p:attrNameLst>
                                      </p:cBhvr>
                                      <p:tavLst>
                                        <p:tav tm="0">
                                          <p:val>
                                            <p:strVal val="4*#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32"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p:cTn id="13" dur="500" fill="hold"/>
                                        <p:tgtEl>
                                          <p:spTgt spid="21"/>
                                        </p:tgtEl>
                                        <p:attrNameLst>
                                          <p:attrName>ppt_w</p:attrName>
                                        </p:attrNameLst>
                                      </p:cBhvr>
                                      <p:tavLst>
                                        <p:tav tm="0">
                                          <p:val>
                                            <p:strVal val="4*#ppt_w"/>
                                          </p:val>
                                        </p:tav>
                                        <p:tav tm="100000">
                                          <p:val>
                                            <p:strVal val="#ppt_w"/>
                                          </p:val>
                                        </p:tav>
                                      </p:tavLst>
                                    </p:anim>
                                    <p:anim calcmode="lin" valueType="num">
                                      <p:cBhvr>
                                        <p:cTn id="14" dur="500" fill="hold"/>
                                        <p:tgtEl>
                                          <p:spTgt spid="21"/>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8" name="标题 1">
            <a:extLst>
              <a:ext uri="{FF2B5EF4-FFF2-40B4-BE49-F238E27FC236}">
                <a16:creationId xmlns:a16="http://schemas.microsoft.com/office/drawing/2014/main" id="{A977FACE-C365-4EEF-9151-430942C0345A}"/>
              </a:ext>
            </a:extLst>
          </p:cNvPr>
          <p:cNvSpPr>
            <a:spLocks noGrp="1"/>
          </p:cNvSpPr>
          <p:nvPr>
            <p:ph type="title"/>
          </p:nvPr>
        </p:nvSpPr>
        <p:spPr/>
        <p:txBody>
          <a:bodyPr/>
          <a:lstStyle/>
          <a:p>
            <a:r>
              <a:rPr lang="en-US" altLang="zh-CN" sz="4000" dirty="0"/>
              <a:t>2.2 </a:t>
            </a:r>
            <a:r>
              <a:rPr lang="zh-CN" altLang="en-US" sz="4000" dirty="0"/>
              <a:t>连续时间</a:t>
            </a:r>
            <a:r>
              <a:rPr lang="en-US" altLang="zh-CN" sz="4000" dirty="0"/>
              <a:t>LTI</a:t>
            </a:r>
            <a:r>
              <a:rPr lang="zh-CN" altLang="en-US" sz="4000" dirty="0"/>
              <a:t>系统：卷积积分</a:t>
            </a:r>
          </a:p>
        </p:txBody>
      </p:sp>
      <p:sp>
        <p:nvSpPr>
          <p:cNvPr id="4" name="灯片编号占位符 3">
            <a:extLst>
              <a:ext uri="{FF2B5EF4-FFF2-40B4-BE49-F238E27FC236}">
                <a16:creationId xmlns:a16="http://schemas.microsoft.com/office/drawing/2014/main" id="{9343D45B-891F-4509-B6B7-A7B1830CAAA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4460168-A103-4BF4-9938-45A1A1F9DABB}" type="slidenum">
              <a:rPr lang="zh-CN" altLang="en-US">
                <a:solidFill>
                  <a:srgbClr val="898989"/>
                </a:solidFill>
                <a:latin typeface="Calibri" panose="020F0502020204030204" pitchFamily="34" charset="0"/>
              </a:rPr>
              <a:pPr eaLnBrk="1" hangingPunct="1"/>
              <a:t>25</a:t>
            </a:fld>
            <a:endParaRPr lang="zh-CN" altLang="en-US">
              <a:solidFill>
                <a:srgbClr val="898989"/>
              </a:solidFill>
              <a:latin typeface="Calibri" panose="020F0502020204030204" pitchFamily="34" charset="0"/>
            </a:endParaRPr>
          </a:p>
        </p:txBody>
      </p:sp>
      <p:pic>
        <p:nvPicPr>
          <p:cNvPr id="6" name="图片 5">
            <a:extLst>
              <a:ext uri="{FF2B5EF4-FFF2-40B4-BE49-F238E27FC236}">
                <a16:creationId xmlns:a16="http://schemas.microsoft.com/office/drawing/2014/main" id="{3043B628-C118-496D-8BA5-EAA40A8DDE85}"/>
              </a:ext>
            </a:extLst>
          </p:cNvPr>
          <p:cNvPicPr>
            <a:picLocks noChangeAspect="1"/>
          </p:cNvPicPr>
          <p:nvPr/>
        </p:nvPicPr>
        <p:blipFill>
          <a:blip r:embed="rId3"/>
          <a:stretch>
            <a:fillRect/>
          </a:stretch>
        </p:blipFill>
        <p:spPr>
          <a:xfrm>
            <a:off x="2123728" y="2113210"/>
            <a:ext cx="6165605" cy="3908078"/>
          </a:xfrm>
          <a:prstGeom prst="rect">
            <a:avLst/>
          </a:prstGeom>
        </p:spPr>
      </p:pic>
      <p:sp>
        <p:nvSpPr>
          <p:cNvPr id="14" name="内容占位符 2">
            <a:extLst>
              <a:ext uri="{FF2B5EF4-FFF2-40B4-BE49-F238E27FC236}">
                <a16:creationId xmlns:a16="http://schemas.microsoft.com/office/drawing/2014/main" id="{8821E0ED-A39D-4D59-B2C6-A34DD4C1241E}"/>
              </a:ext>
            </a:extLst>
          </p:cNvPr>
          <p:cNvSpPr>
            <a:spLocks noGrp="1"/>
          </p:cNvSpPr>
          <p:nvPr>
            <p:ph idx="1"/>
          </p:nvPr>
        </p:nvSpPr>
        <p:spPr>
          <a:xfrm>
            <a:off x="1047533" y="2715637"/>
            <a:ext cx="876197" cy="461665"/>
          </a:xfrm>
        </p:spPr>
        <p:txBody>
          <a:bodyPr wrap="square">
            <a:spAutoFit/>
          </a:bodyPr>
          <a:lstStyle/>
          <a:p>
            <a:pPr marL="0" indent="0">
              <a:buNone/>
            </a:pPr>
            <a:r>
              <a:rPr lang="zh-CN" altLang="en-US" sz="2400" b="0" dirty="0">
                <a:solidFill>
                  <a:srgbClr val="0000FF"/>
                </a:solidFill>
              </a:rPr>
              <a:t>定义</a:t>
            </a:r>
            <a:endParaRPr lang="en-US" altLang="zh-CN" sz="2800" b="0" dirty="0">
              <a:solidFill>
                <a:srgbClr val="0000FF"/>
              </a:solidFill>
            </a:endParaRPr>
          </a:p>
        </p:txBody>
      </p:sp>
      <p:sp>
        <p:nvSpPr>
          <p:cNvPr id="15" name="内容占位符 2">
            <a:extLst>
              <a:ext uri="{FF2B5EF4-FFF2-40B4-BE49-F238E27FC236}">
                <a16:creationId xmlns:a16="http://schemas.microsoft.com/office/drawing/2014/main" id="{F4293E8F-3C94-42EA-A9DA-C56D8AD90A00}"/>
              </a:ext>
            </a:extLst>
          </p:cNvPr>
          <p:cNvSpPr txBox="1">
            <a:spLocks/>
          </p:cNvSpPr>
          <p:nvPr/>
        </p:nvSpPr>
        <p:spPr bwMode="auto">
          <a:xfrm>
            <a:off x="776855" y="3625378"/>
            <a:ext cx="11624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0" dirty="0">
                <a:solidFill>
                  <a:srgbClr val="0000FF"/>
                </a:solidFill>
              </a:rPr>
              <a:t>时不变</a:t>
            </a:r>
            <a:endParaRPr lang="en-US" altLang="zh-CN" sz="2800" b="0" dirty="0">
              <a:solidFill>
                <a:srgbClr val="0000FF"/>
              </a:solidFill>
            </a:endParaRPr>
          </a:p>
        </p:txBody>
      </p:sp>
      <p:sp>
        <p:nvSpPr>
          <p:cNvPr id="22" name="内容占位符 2">
            <a:extLst>
              <a:ext uri="{FF2B5EF4-FFF2-40B4-BE49-F238E27FC236}">
                <a16:creationId xmlns:a16="http://schemas.microsoft.com/office/drawing/2014/main" id="{C7EDFF28-E4D8-4AB6-BAC8-7409FDD6738A}"/>
              </a:ext>
            </a:extLst>
          </p:cNvPr>
          <p:cNvSpPr txBox="1">
            <a:spLocks/>
          </p:cNvSpPr>
          <p:nvPr/>
        </p:nvSpPr>
        <p:spPr bwMode="auto">
          <a:xfrm>
            <a:off x="499167" y="4535119"/>
            <a:ext cx="14401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0" dirty="0">
                <a:solidFill>
                  <a:srgbClr val="0000FF"/>
                </a:solidFill>
              </a:rPr>
              <a:t>尺度调整</a:t>
            </a:r>
            <a:endParaRPr lang="en-US" altLang="zh-CN" sz="2800" b="0" dirty="0">
              <a:solidFill>
                <a:srgbClr val="0000FF"/>
              </a:solidFill>
            </a:endParaRPr>
          </a:p>
        </p:txBody>
      </p:sp>
      <p:sp>
        <p:nvSpPr>
          <p:cNvPr id="23" name="内容占位符 2">
            <a:extLst>
              <a:ext uri="{FF2B5EF4-FFF2-40B4-BE49-F238E27FC236}">
                <a16:creationId xmlns:a16="http://schemas.microsoft.com/office/drawing/2014/main" id="{B56E312A-B400-4920-A829-36382956A796}"/>
              </a:ext>
            </a:extLst>
          </p:cNvPr>
          <p:cNvSpPr txBox="1">
            <a:spLocks/>
          </p:cNvSpPr>
          <p:nvPr/>
        </p:nvSpPr>
        <p:spPr bwMode="auto">
          <a:xfrm>
            <a:off x="1028313" y="5281562"/>
            <a:ext cx="8744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0" dirty="0">
                <a:solidFill>
                  <a:srgbClr val="0000FF"/>
                </a:solidFill>
              </a:rPr>
              <a:t>叠加</a:t>
            </a:r>
            <a:endParaRPr lang="en-US" altLang="zh-CN" sz="2800" b="0" dirty="0">
              <a:solidFill>
                <a:srgbClr val="0000FF"/>
              </a:solidFill>
            </a:endParaRPr>
          </a:p>
        </p:txBody>
      </p:sp>
      <p:sp>
        <p:nvSpPr>
          <p:cNvPr id="24" name="内容占位符 2">
            <a:extLst>
              <a:ext uri="{FF2B5EF4-FFF2-40B4-BE49-F238E27FC236}">
                <a16:creationId xmlns:a16="http://schemas.microsoft.com/office/drawing/2014/main" id="{CED0F09D-62D7-4455-BFD7-881B844B85E1}"/>
              </a:ext>
            </a:extLst>
          </p:cNvPr>
          <p:cNvSpPr txBox="1">
            <a:spLocks/>
          </p:cNvSpPr>
          <p:nvPr/>
        </p:nvSpPr>
        <p:spPr bwMode="auto">
          <a:xfrm>
            <a:off x="499167" y="1383159"/>
            <a:ext cx="2727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0" dirty="0">
                <a:solidFill>
                  <a:srgbClr val="0000FF"/>
                </a:solidFill>
              </a:rPr>
              <a:t>阶梯近似图解过程</a:t>
            </a:r>
            <a:endParaRPr lang="en-US" altLang="zh-CN" sz="2800" b="0" dirty="0">
              <a:solidFill>
                <a:srgbClr val="0000FF"/>
              </a:solidFill>
            </a:endParaRPr>
          </a:p>
        </p:txBody>
      </p:sp>
    </p:spTree>
    <p:extLst>
      <p:ext uri="{BB962C8B-B14F-4D97-AF65-F5344CB8AC3E}">
        <p14:creationId xmlns:p14="http://schemas.microsoft.com/office/powerpoint/2010/main" val="339556295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60" name="标题 1">
            <a:extLst>
              <a:ext uri="{FF2B5EF4-FFF2-40B4-BE49-F238E27FC236}">
                <a16:creationId xmlns:a16="http://schemas.microsoft.com/office/drawing/2014/main" id="{5B4AF680-6BA5-49CB-B862-B62C503DD3A4}"/>
              </a:ext>
            </a:extLst>
          </p:cNvPr>
          <p:cNvSpPr>
            <a:spLocks noGrp="1"/>
          </p:cNvSpPr>
          <p:nvPr>
            <p:ph type="title"/>
          </p:nvPr>
        </p:nvSpPr>
        <p:spPr/>
        <p:txBody>
          <a:bodyPr/>
          <a:lstStyle/>
          <a:p>
            <a:r>
              <a:rPr lang="en-US" altLang="zh-CN" sz="4000"/>
              <a:t>2.2 </a:t>
            </a:r>
            <a:r>
              <a:rPr lang="zh-CN" altLang="en-US" sz="4000"/>
              <a:t>连续时间</a:t>
            </a:r>
            <a:r>
              <a:rPr lang="en-US" altLang="zh-CN" sz="4000"/>
              <a:t>LTI</a:t>
            </a:r>
            <a:r>
              <a:rPr lang="zh-CN" altLang="en-US" sz="4000"/>
              <a:t>系统：卷积积分</a:t>
            </a:r>
          </a:p>
        </p:txBody>
      </p:sp>
      <p:sp>
        <p:nvSpPr>
          <p:cNvPr id="4" name="灯片编号占位符 3">
            <a:extLst>
              <a:ext uri="{FF2B5EF4-FFF2-40B4-BE49-F238E27FC236}">
                <a16:creationId xmlns:a16="http://schemas.microsoft.com/office/drawing/2014/main" id="{FD811EA8-0FC6-40EF-92FC-06699C00D97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679FCDC-13B6-4453-A54D-A6F1429AE6CC}" type="slidenum">
              <a:rPr lang="zh-CN" altLang="en-US">
                <a:solidFill>
                  <a:srgbClr val="898989"/>
                </a:solidFill>
                <a:latin typeface="Calibri" panose="020F0502020204030204" pitchFamily="34" charset="0"/>
              </a:rPr>
              <a:pPr eaLnBrk="1" hangingPunct="1"/>
              <a:t>26</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27652" name="Object 5">
                <a:extLst>
                  <a:ext uri="{FF2B5EF4-FFF2-40B4-BE49-F238E27FC236}">
                    <a16:creationId xmlns:a16="http://schemas.microsoft.com/office/drawing/2014/main" id="{C05BE4C7-087A-47BC-BB90-468FC2BECCA2}"/>
                  </a:ext>
                </a:extLst>
              </p:cNvPr>
              <p:cNvSpPr txBox="1"/>
              <p:nvPr/>
            </p:nvSpPr>
            <p:spPr bwMode="auto">
              <a:xfrm>
                <a:off x="2262445" y="1412776"/>
                <a:ext cx="4974844" cy="975361"/>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200" i="1" smtClean="0">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m:rPr>
                              <m:sty m:val="p"/>
                            </m:rPr>
                            <a:rPr lang="en-US" sz="2200" i="1">
                              <a:solidFill>
                                <a:schemeClr val="tx1"/>
                              </a:solidFill>
                              <a:latin typeface="Cambria Math" panose="02040503050406030204" pitchFamily="18" charset="0"/>
                            </a:rPr>
                            <m:t>Δ</m:t>
                          </m:r>
                        </m:sub>
                      </m:sSub>
                      <m:r>
                        <a:rPr lang="en-US" sz="2200" i="1">
                          <a:solidFill>
                            <a:schemeClr val="tx1"/>
                          </a:solidFill>
                          <a:latin typeface="Cambria Math" panose="02040503050406030204" pitchFamily="18" charset="0"/>
                        </a:rPr>
                        <m:t>(</m:t>
                      </m:r>
                      <m:r>
                        <a:rPr lang="en-US" sz="2200" i="1">
                          <a:solidFill>
                            <a:schemeClr val="tx1"/>
                          </a:solidFill>
                          <a:latin typeface="Cambria Math" panose="02040503050406030204" pitchFamily="18" charset="0"/>
                        </a:rPr>
                        <m:t>𝑡</m:t>
                      </m:r>
                      <m:r>
                        <a:rPr lang="en-US" sz="2200" i="1">
                          <a:solidFill>
                            <a:schemeClr val="tx1"/>
                          </a:solidFill>
                          <a:latin typeface="Cambria Math" panose="02040503050406030204" pitchFamily="18" charset="0"/>
                        </a:rPr>
                        <m:t>)=</m:t>
                      </m:r>
                      <m:nary>
                        <m:naryPr>
                          <m:chr m:val="∑"/>
                          <m:ctrlPr>
                            <a:rPr lang="en-US" sz="2200" i="1">
                              <a:solidFill>
                                <a:schemeClr val="tx1"/>
                              </a:solidFill>
                              <a:latin typeface="Cambria Math" panose="02040503050406030204" pitchFamily="18" charset="0"/>
                            </a:rPr>
                          </m:ctrlPr>
                        </m:naryPr>
                        <m:sub>
                          <m:r>
                            <a:rPr lang="en-US" sz="2200" i="1">
                              <a:solidFill>
                                <a:schemeClr val="tx1"/>
                              </a:solidFill>
                              <a:latin typeface="Cambria Math" panose="02040503050406030204" pitchFamily="18" charset="0"/>
                            </a:rPr>
                            <m:t>𝑘</m:t>
                          </m:r>
                          <m:r>
                            <a:rPr lang="en-US" sz="2200" i="1">
                              <a:solidFill>
                                <a:schemeClr val="tx1"/>
                              </a:solidFill>
                              <a:latin typeface="Cambria Math" panose="02040503050406030204" pitchFamily="18" charset="0"/>
                            </a:rPr>
                            <m:t>=−∞</m:t>
                          </m:r>
                        </m:sub>
                        <m:sup>
                          <m:r>
                            <a:rPr lang="en-US" sz="2200" i="1">
                              <a:solidFill>
                                <a:schemeClr val="tx1"/>
                              </a:solidFill>
                              <a:latin typeface="Cambria Math" panose="02040503050406030204" pitchFamily="18" charset="0"/>
                            </a:rPr>
                            <m:t>∞</m:t>
                          </m:r>
                        </m:sup>
                        <m:e>
                          <m:r>
                            <a:rPr lang="en-US" sz="2200" i="1">
                              <a:solidFill>
                                <a:schemeClr val="tx1"/>
                              </a:solidFill>
                              <a:latin typeface="Cambria Math" panose="02040503050406030204" pitchFamily="18" charset="0"/>
                            </a:rPr>
                            <m:t>𝑥</m:t>
                          </m:r>
                          <m:r>
                            <a:rPr lang="en-US" sz="2200" i="1">
                              <a:solidFill>
                                <a:schemeClr val="tx1"/>
                              </a:solidFill>
                              <a:latin typeface="Cambria Math" panose="02040503050406030204" pitchFamily="18" charset="0"/>
                            </a:rPr>
                            <m:t>(</m:t>
                          </m:r>
                          <m:r>
                            <a:rPr lang="en-US" sz="2200" i="1">
                              <a:solidFill>
                                <a:schemeClr val="tx1"/>
                              </a:solidFill>
                              <a:latin typeface="Cambria Math" panose="02040503050406030204" pitchFamily="18" charset="0"/>
                            </a:rPr>
                            <m:t>𝑘</m:t>
                          </m:r>
                          <m:r>
                            <m:rPr>
                              <m:sty m:val="p"/>
                            </m:rPr>
                            <a:rPr lang="en-US" sz="2200" i="1">
                              <a:solidFill>
                                <a:schemeClr val="tx1"/>
                              </a:solidFill>
                              <a:latin typeface="Cambria Math" panose="02040503050406030204" pitchFamily="18" charset="0"/>
                            </a:rPr>
                            <m:t>Δ</m:t>
                          </m:r>
                          <m:r>
                            <a:rPr lang="en-US" sz="2200" i="1">
                              <a:solidFill>
                                <a:schemeClr val="tx1"/>
                              </a:solidFill>
                              <a:latin typeface="Cambria Math" panose="02040503050406030204" pitchFamily="18" charset="0"/>
                            </a:rPr>
                            <m:t>)</m:t>
                          </m:r>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𝛿</m:t>
                              </m:r>
                            </m:e>
                            <m:sub>
                              <m:r>
                                <m:rPr>
                                  <m:sty m:val="p"/>
                                </m:rPr>
                                <a:rPr lang="en-US" sz="2200" i="1">
                                  <a:solidFill>
                                    <a:schemeClr val="tx1"/>
                                  </a:solidFill>
                                  <a:latin typeface="Cambria Math" panose="02040503050406030204" pitchFamily="18" charset="0"/>
                                </a:rPr>
                                <m:t>Δ</m:t>
                              </m:r>
                            </m:sub>
                          </m:sSub>
                          <m:r>
                            <a:rPr lang="en-US" sz="2200" i="1">
                              <a:solidFill>
                                <a:schemeClr val="tx1"/>
                              </a:solidFill>
                              <a:latin typeface="Cambria Math" panose="02040503050406030204" pitchFamily="18" charset="0"/>
                            </a:rPr>
                            <m:t>(</m:t>
                          </m:r>
                          <m:r>
                            <a:rPr lang="en-US" sz="2200" i="1">
                              <a:solidFill>
                                <a:schemeClr val="tx1"/>
                              </a:solidFill>
                              <a:latin typeface="Cambria Math" panose="02040503050406030204" pitchFamily="18" charset="0"/>
                            </a:rPr>
                            <m:t>𝑡</m:t>
                          </m:r>
                          <m:r>
                            <a:rPr lang="en-US" sz="2200" i="1">
                              <a:solidFill>
                                <a:schemeClr val="tx1"/>
                              </a:solidFill>
                              <a:latin typeface="Cambria Math" panose="02040503050406030204" pitchFamily="18" charset="0"/>
                            </a:rPr>
                            <m:t>−</m:t>
                          </m:r>
                          <m:r>
                            <a:rPr lang="en-US" sz="2200" i="1">
                              <a:solidFill>
                                <a:schemeClr val="tx1"/>
                              </a:solidFill>
                              <a:latin typeface="Cambria Math" panose="02040503050406030204" pitchFamily="18" charset="0"/>
                            </a:rPr>
                            <m:t>𝑘</m:t>
                          </m:r>
                          <m:r>
                            <m:rPr>
                              <m:sty m:val="p"/>
                            </m:rPr>
                            <a:rPr lang="en-US" sz="2200" i="1">
                              <a:solidFill>
                                <a:schemeClr val="tx1"/>
                              </a:solidFill>
                              <a:latin typeface="Cambria Math" panose="02040503050406030204" pitchFamily="18" charset="0"/>
                            </a:rPr>
                            <m:t>Δ</m:t>
                          </m:r>
                          <m:r>
                            <a:rPr lang="en-US" sz="2200" i="1">
                              <a:solidFill>
                                <a:schemeClr val="tx1"/>
                              </a:solidFill>
                              <a:latin typeface="Cambria Math" panose="02040503050406030204" pitchFamily="18" charset="0"/>
                            </a:rPr>
                            <m:t>)</m:t>
                          </m:r>
                          <m:r>
                            <m:rPr>
                              <m:sty m:val="p"/>
                            </m:rPr>
                            <a:rPr lang="en-US" sz="2200" i="1">
                              <a:solidFill>
                                <a:schemeClr val="tx1"/>
                              </a:solidFill>
                              <a:latin typeface="Cambria Math" panose="02040503050406030204" pitchFamily="18" charset="0"/>
                            </a:rPr>
                            <m:t>Δ</m:t>
                          </m:r>
                        </m:e>
                      </m:nary>
                    </m:oMath>
                  </m:oMathPara>
                </a14:m>
                <a:endParaRPr lang="en-US" sz="2200" dirty="0">
                  <a:solidFill>
                    <a:schemeClr val="tx1"/>
                  </a:solidFill>
                </a:endParaRPr>
              </a:p>
            </p:txBody>
          </p:sp>
        </mc:Choice>
        <mc:Fallback xmlns="">
          <p:sp>
            <p:nvSpPr>
              <p:cNvPr id="27652" name="Object 5">
                <a:extLst>
                  <a:ext uri="{FF2B5EF4-FFF2-40B4-BE49-F238E27FC236}">
                    <a16:creationId xmlns:a16="http://schemas.microsoft.com/office/drawing/2014/main" id="{C05BE4C7-087A-47BC-BB90-468FC2BECCA2}"/>
                  </a:ext>
                </a:extLst>
              </p:cNvPr>
              <p:cNvSpPr txBox="1">
                <a:spLocks noRot="1" noChangeAspect="1" noMove="1" noResize="1" noEditPoints="1" noAdjustHandles="1" noChangeArrowheads="1" noChangeShapeType="1" noTextEdit="1"/>
              </p:cNvSpPr>
              <p:nvPr/>
            </p:nvSpPr>
            <p:spPr bwMode="auto">
              <a:xfrm>
                <a:off x="2262445" y="1412776"/>
                <a:ext cx="4974844" cy="975361"/>
              </a:xfrm>
              <a:prstGeom prst="rect">
                <a:avLst/>
              </a:prstGeom>
              <a:blipFill>
                <a:blip r:embed="rId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653" name="Object 7">
                <a:extLst>
                  <a:ext uri="{FF2B5EF4-FFF2-40B4-BE49-F238E27FC236}">
                    <a16:creationId xmlns:a16="http://schemas.microsoft.com/office/drawing/2014/main" id="{49E26421-1398-4934-B6B8-1481B289437B}"/>
                  </a:ext>
                </a:extLst>
              </p:cNvPr>
              <p:cNvSpPr txBox="1"/>
              <p:nvPr/>
            </p:nvSpPr>
            <p:spPr bwMode="auto">
              <a:xfrm>
                <a:off x="1178440" y="4140584"/>
                <a:ext cx="3618768" cy="897237"/>
              </a:xfrm>
              <a:prstGeom prst="rect">
                <a:avLst/>
              </a:prstGeom>
              <a:solidFill>
                <a:srgbClr val="CCFFFF"/>
              </a:solidFill>
              <a:ln w="25400">
                <a:solidFill>
                  <a:srgbClr val="FF0000"/>
                </a:solidFill>
                <a:miter lim="800000"/>
                <a:headEnd/>
                <a:tailEnd/>
              </a:ln>
              <a:effectLst/>
            </p:spPr>
            <p:txBody>
              <a:bodyPr>
                <a:noAutofit/>
              </a:bodyPr>
              <a:lstStyle/>
              <a:p>
                <a:pPr/>
                <a14:m>
                  <m:oMathPara xmlns:m="http://schemas.openxmlformats.org/officeDocument/2006/math">
                    <m:oMathParaPr>
                      <m:jc m:val="left"/>
                    </m:oMathParaPr>
                    <m:oMath xmlns:m="http://schemas.openxmlformats.org/officeDocument/2006/math">
                      <m:r>
                        <a:rPr lang="en-US" sz="2400" i="1" smtClean="0">
                          <a:solidFill>
                            <a:srgbClr val="FF0000"/>
                          </a:solidFill>
                          <a:latin typeface="Cambria Math" panose="02040503050406030204" pitchFamily="18" charset="0"/>
                        </a:rPr>
                        <m:t>𝑥</m:t>
                      </m:r>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𝑡</m:t>
                      </m:r>
                      <m:r>
                        <a:rPr lang="en-US" sz="2400" i="1" smtClean="0">
                          <a:solidFill>
                            <a:srgbClr val="FF0000"/>
                          </a:solidFill>
                          <a:latin typeface="Cambria Math" panose="02040503050406030204" pitchFamily="18" charset="0"/>
                        </a:rPr>
                        <m:t>)=</m:t>
                      </m:r>
                      <m:nary>
                        <m:naryPr>
                          <m:ctrlPr>
                            <a:rPr lang="en-US" sz="2400" i="1">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m:t>
                          </m:r>
                        </m:sup>
                        <m:e>
                          <m:r>
                            <a:rPr lang="en-US" sz="2400" i="1">
                              <a:solidFill>
                                <a:srgbClr val="FF0000"/>
                              </a:solidFill>
                              <a:latin typeface="Cambria Math" panose="02040503050406030204" pitchFamily="18" charset="0"/>
                            </a:rPr>
                            <m:t>𝑥</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𝜏</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𝛿</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𝜏</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𝑑</m:t>
                          </m:r>
                          <m:r>
                            <a:rPr lang="en-US" sz="2400" i="1">
                              <a:solidFill>
                                <a:srgbClr val="FF0000"/>
                              </a:solidFill>
                              <a:latin typeface="Cambria Math" panose="02040503050406030204" pitchFamily="18" charset="0"/>
                            </a:rPr>
                            <m:t>𝜏</m:t>
                          </m:r>
                        </m:e>
                      </m:nary>
                    </m:oMath>
                  </m:oMathPara>
                </a14:m>
                <a:endParaRPr lang="en-US" sz="2400" dirty="0"/>
              </a:p>
            </p:txBody>
          </p:sp>
        </mc:Choice>
        <mc:Fallback xmlns="">
          <p:sp>
            <p:nvSpPr>
              <p:cNvPr id="27653" name="Object 7">
                <a:extLst>
                  <a:ext uri="{FF2B5EF4-FFF2-40B4-BE49-F238E27FC236}">
                    <a16:creationId xmlns:a16="http://schemas.microsoft.com/office/drawing/2014/main" id="{49E26421-1398-4934-B6B8-1481B289437B}"/>
                  </a:ext>
                </a:extLst>
              </p:cNvPr>
              <p:cNvSpPr txBox="1">
                <a:spLocks noRot="1" noChangeAspect="1" noMove="1" noResize="1" noEditPoints="1" noAdjustHandles="1" noChangeArrowheads="1" noChangeShapeType="1" noTextEdit="1"/>
              </p:cNvSpPr>
              <p:nvPr/>
            </p:nvSpPr>
            <p:spPr bwMode="auto">
              <a:xfrm>
                <a:off x="1178440" y="4140584"/>
                <a:ext cx="3618768" cy="897237"/>
              </a:xfrm>
              <a:prstGeom prst="rect">
                <a:avLst/>
              </a:prstGeom>
              <a:blipFill>
                <a:blip r:embed="rId3"/>
                <a:stretch>
                  <a:fillRect/>
                </a:stretch>
              </a:blipFill>
              <a:ln w="25400">
                <a:solidFill>
                  <a:srgbClr val="FF0000"/>
                </a:solidFill>
                <a:miter lim="800000"/>
                <a:headEnd/>
                <a:tailEnd/>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666" name="Rectangle 16">
                <a:extLst>
                  <a:ext uri="{FF2B5EF4-FFF2-40B4-BE49-F238E27FC236}">
                    <a16:creationId xmlns:a16="http://schemas.microsoft.com/office/drawing/2014/main" id="{EAF5D744-7E9E-4027-9F8B-5D21FD78F827}"/>
                  </a:ext>
                </a:extLst>
              </p:cNvPr>
              <p:cNvSpPr>
                <a:spLocks noChangeArrowheads="1"/>
              </p:cNvSpPr>
              <p:nvPr/>
            </p:nvSpPr>
            <p:spPr bwMode="auto">
              <a:xfrm>
                <a:off x="548456" y="3284984"/>
                <a:ext cx="8138343" cy="782394"/>
              </a:xfrm>
              <a:prstGeom prst="rect">
                <a:avLst/>
              </a:prstGeom>
              <a:noFill/>
              <a:ln>
                <a:noFill/>
              </a:ln>
              <a:extLst>
                <a:ext uri="{909E8E84-426E-40DD-AFC4-6F175D3DCCD1}">
                  <a14:hiddenFill>
                    <a:solidFill>
                      <a:srgbClr val="FFFFFF"/>
                    </a:solidFill>
                  </a14:hiddenFill>
                </a:ext>
                <a:ext uri="{91240B29-F687-4F45-9708-019B960494DF}">
                  <a14:hiddenLine w="25400">
                    <a:solidFill>
                      <a:srgbClr val="000000"/>
                    </a:solidFill>
                    <a:miter lim="800000"/>
                    <a:headEnd/>
                    <a:tailEnd type="none" w="sm" len="lg"/>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200" b="1" dirty="0">
                    <a:solidFill>
                      <a:schemeClr val="tx1"/>
                    </a:solidFill>
                    <a:latin typeface="华文楷体" panose="02010600040101010101" pitchFamily="2" charset="-122"/>
                    <a:ea typeface="华文楷体" panose="02010600040101010101" pitchFamily="2" charset="-122"/>
                    <a:cs typeface="楷体_GB2312" panose="02010609030101010101" pitchFamily="49" charset="-122"/>
                  </a:rPr>
                  <a:t>当</a:t>
                </a:r>
                <a14:m>
                  <m:oMath xmlns:m="http://schemas.openxmlformats.org/officeDocument/2006/math">
                    <m:r>
                      <m:rPr>
                        <m:sty m:val="p"/>
                      </m:rPr>
                      <a:rPr lang="en-US" sz="2200" i="1" smtClean="0">
                        <a:solidFill>
                          <a:schemeClr val="tx1"/>
                        </a:solidFill>
                        <a:latin typeface="Cambria Math" panose="02040503050406030204" pitchFamily="18" charset="0"/>
                      </a:rPr>
                      <m:t>Δ</m:t>
                    </m:r>
                    <m:r>
                      <a:rPr lang="en-US" sz="2200" i="1" smtClean="0">
                        <a:solidFill>
                          <a:schemeClr val="tx1"/>
                        </a:solidFill>
                        <a:latin typeface="Cambria Math" panose="02040503050406030204" pitchFamily="18" charset="0"/>
                      </a:rPr>
                      <m:t>→0</m:t>
                    </m:r>
                  </m:oMath>
                </a14:m>
                <a:r>
                  <a:rPr lang="zh-CN" altLang="en-US" sz="2200" b="1" dirty="0">
                    <a:solidFill>
                      <a:schemeClr val="tx1"/>
                    </a:solidFill>
                    <a:latin typeface="华文楷体" panose="02010600040101010101" pitchFamily="2" charset="-122"/>
                    <a:ea typeface="华文楷体" panose="02010600040101010101" pitchFamily="2" charset="-122"/>
                    <a:cs typeface="楷体_GB2312" panose="02010609030101010101" pitchFamily="49" charset="-122"/>
                  </a:rPr>
                  <a:t>时，</a:t>
                </a:r>
                <a14:m>
                  <m:oMath xmlns:m="http://schemas.openxmlformats.org/officeDocument/2006/math">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m:rPr>
                            <m:sty m:val="p"/>
                          </m:rPr>
                          <a:rPr lang="en-US" sz="2200" i="1">
                            <a:solidFill>
                              <a:schemeClr val="tx1"/>
                            </a:solidFill>
                            <a:latin typeface="Cambria Math" panose="02040503050406030204" pitchFamily="18" charset="0"/>
                          </a:rPr>
                          <m:t>Δ</m:t>
                        </m:r>
                      </m:sub>
                    </m:sSub>
                    <m:r>
                      <a:rPr lang="en-US" sz="2200" i="1">
                        <a:solidFill>
                          <a:schemeClr val="tx1"/>
                        </a:solidFill>
                        <a:latin typeface="Cambria Math" panose="02040503050406030204" pitchFamily="18" charset="0"/>
                      </a:rPr>
                      <m:t>(</m:t>
                    </m:r>
                    <m:r>
                      <a:rPr lang="en-US" sz="2200" i="1">
                        <a:solidFill>
                          <a:schemeClr val="tx1"/>
                        </a:solidFill>
                        <a:latin typeface="Cambria Math" panose="02040503050406030204" pitchFamily="18" charset="0"/>
                      </a:rPr>
                      <m:t>𝑡</m:t>
                    </m:r>
                    <m:r>
                      <a:rPr lang="en-US" sz="2200" i="1">
                        <a:solidFill>
                          <a:schemeClr val="tx1"/>
                        </a:solidFill>
                        <a:latin typeface="Cambria Math" panose="02040503050406030204" pitchFamily="18" charset="0"/>
                      </a:rPr>
                      <m:t>)→</m:t>
                    </m:r>
                    <m:r>
                      <a:rPr lang="en-US" sz="2200" i="1">
                        <a:solidFill>
                          <a:schemeClr val="tx1"/>
                        </a:solidFill>
                        <a:latin typeface="Cambria Math" panose="02040503050406030204" pitchFamily="18" charset="0"/>
                      </a:rPr>
                      <m:t>𝑥</m:t>
                    </m:r>
                    <m:r>
                      <a:rPr lang="en-US" sz="2200" i="1">
                        <a:solidFill>
                          <a:schemeClr val="tx1"/>
                        </a:solidFill>
                        <a:latin typeface="Cambria Math" panose="02040503050406030204" pitchFamily="18" charset="0"/>
                      </a:rPr>
                      <m:t>(</m:t>
                    </m:r>
                    <m:r>
                      <a:rPr lang="en-US" sz="2200" i="1">
                        <a:solidFill>
                          <a:schemeClr val="tx1"/>
                        </a:solidFill>
                        <a:latin typeface="Cambria Math" panose="02040503050406030204" pitchFamily="18" charset="0"/>
                      </a:rPr>
                      <m:t>𝑡</m:t>
                    </m:r>
                    <m:r>
                      <a:rPr lang="en-US" sz="2200" i="1">
                        <a:solidFill>
                          <a:schemeClr val="tx1"/>
                        </a:solidFill>
                        <a:latin typeface="Cambria Math" panose="02040503050406030204" pitchFamily="18" charset="0"/>
                      </a:rPr>
                      <m:t>)</m:t>
                    </m:r>
                    <m:r>
                      <m:rPr>
                        <m:nor/>
                      </m:rPr>
                      <a:rPr lang="zh-CN" altLang="en-US" sz="2200" b="1" dirty="0">
                        <a:solidFill>
                          <a:schemeClr val="tx1"/>
                        </a:solidFill>
                        <a:latin typeface="华文楷体" panose="02010600040101010101" pitchFamily="2" charset="-122"/>
                        <a:ea typeface="华文楷体" panose="02010600040101010101" pitchFamily="2" charset="-122"/>
                        <a:cs typeface="楷体_GB2312" panose="02010609030101010101" pitchFamily="49" charset="-122"/>
                      </a:rPr>
                      <m:t>，</m:t>
                    </m:r>
                    <m:sSub>
                      <m:sSubPr>
                        <m:ctrlPr>
                          <a:rPr lang="en-US" sz="2200" i="1">
                            <a:solidFill>
                              <a:schemeClr val="tx1"/>
                            </a:solidFill>
                            <a:latin typeface="Cambria Math" panose="02040503050406030204" pitchFamily="18" charset="0"/>
                          </a:rPr>
                        </m:ctrlPr>
                      </m:sSubPr>
                      <m:e>
                        <m:r>
                          <a:rPr lang="en-US" sz="2200" b="0" i="1" smtClean="0">
                            <a:solidFill>
                              <a:schemeClr val="tx1"/>
                            </a:solidFill>
                            <a:latin typeface="Cambria Math" panose="02040503050406030204" pitchFamily="18" charset="0"/>
                          </a:rPr>
                          <m:t>𝑦</m:t>
                        </m:r>
                      </m:e>
                      <m:sub>
                        <m:r>
                          <m:rPr>
                            <m:sty m:val="p"/>
                          </m:rPr>
                          <a:rPr lang="en-US" sz="2200" i="1">
                            <a:solidFill>
                              <a:schemeClr val="tx1"/>
                            </a:solidFill>
                            <a:latin typeface="Cambria Math" panose="02040503050406030204" pitchFamily="18" charset="0"/>
                          </a:rPr>
                          <m:t>Δ</m:t>
                        </m:r>
                      </m:sub>
                    </m:sSub>
                    <m:r>
                      <a:rPr lang="en-US" sz="2200" i="1">
                        <a:solidFill>
                          <a:schemeClr val="tx1"/>
                        </a:solidFill>
                        <a:latin typeface="Cambria Math" panose="02040503050406030204" pitchFamily="18" charset="0"/>
                      </a:rPr>
                      <m:t>(</m:t>
                    </m:r>
                    <m:r>
                      <a:rPr lang="en-US" sz="2200" i="1">
                        <a:solidFill>
                          <a:schemeClr val="tx1"/>
                        </a:solidFill>
                        <a:latin typeface="Cambria Math" panose="02040503050406030204" pitchFamily="18" charset="0"/>
                      </a:rPr>
                      <m:t>𝑡</m:t>
                    </m:r>
                    <m:r>
                      <a:rPr lang="en-US" sz="2200" i="1">
                        <a:solidFill>
                          <a:schemeClr val="tx1"/>
                        </a:solidFill>
                        <a:latin typeface="Cambria Math" panose="02040503050406030204" pitchFamily="18" charset="0"/>
                      </a:rPr>
                      <m:t>)→</m:t>
                    </m:r>
                    <m:r>
                      <a:rPr lang="en-US" sz="2200" b="0" i="1" smtClean="0">
                        <a:solidFill>
                          <a:schemeClr val="tx1"/>
                        </a:solidFill>
                        <a:latin typeface="Cambria Math" panose="02040503050406030204" pitchFamily="18" charset="0"/>
                      </a:rPr>
                      <m:t>𝑦</m:t>
                    </m:r>
                    <m:r>
                      <a:rPr lang="en-US" sz="2200" i="1">
                        <a:solidFill>
                          <a:schemeClr val="tx1"/>
                        </a:solidFill>
                        <a:latin typeface="Cambria Math" panose="02040503050406030204" pitchFamily="18" charset="0"/>
                      </a:rPr>
                      <m:t>(</m:t>
                    </m:r>
                    <m:r>
                      <a:rPr lang="en-US" sz="2200" i="1">
                        <a:solidFill>
                          <a:schemeClr val="tx1"/>
                        </a:solidFill>
                        <a:latin typeface="Cambria Math" panose="02040503050406030204" pitchFamily="18" charset="0"/>
                      </a:rPr>
                      <m:t>𝑡</m:t>
                    </m:r>
                    <m:r>
                      <a:rPr lang="en-US" sz="2200" i="1">
                        <a:solidFill>
                          <a:schemeClr val="tx1"/>
                        </a:solidFill>
                        <a:latin typeface="Cambria Math" panose="02040503050406030204" pitchFamily="18" charset="0"/>
                      </a:rPr>
                      <m:t>)</m:t>
                    </m:r>
                    <m:r>
                      <m:rPr>
                        <m:nor/>
                      </m:rPr>
                      <a:rPr lang="zh-CN" altLang="en-US" sz="2200" b="1" dirty="0">
                        <a:solidFill>
                          <a:schemeClr val="tx1"/>
                        </a:solidFill>
                        <a:latin typeface="华文楷体" panose="02010600040101010101" pitchFamily="2" charset="-122"/>
                        <a:ea typeface="华文楷体" panose="02010600040101010101" pitchFamily="2" charset="-122"/>
                        <a:cs typeface="楷体_GB2312" panose="02010609030101010101" pitchFamily="49" charset="-122"/>
                      </a:rPr>
                      <m:t>，</m:t>
                    </m:r>
                    <m:r>
                      <a:rPr lang="en-US" sz="2200" i="1">
                        <a:solidFill>
                          <a:schemeClr val="tx1"/>
                        </a:solidFill>
                        <a:latin typeface="Cambria Math" panose="02040503050406030204" pitchFamily="18" charset="0"/>
                      </a:rPr>
                      <m:t>𝑘</m:t>
                    </m:r>
                    <m:r>
                      <m:rPr>
                        <m:sty m:val="p"/>
                      </m:rPr>
                      <a:rPr lang="en-US" sz="2200" i="1">
                        <a:solidFill>
                          <a:schemeClr val="tx1"/>
                        </a:solidFill>
                        <a:latin typeface="Cambria Math" panose="02040503050406030204" pitchFamily="18" charset="0"/>
                      </a:rPr>
                      <m:t>Δ</m:t>
                    </m:r>
                    <m:r>
                      <a:rPr lang="en-US" sz="2200" i="1">
                        <a:solidFill>
                          <a:schemeClr val="tx1"/>
                        </a:solidFill>
                        <a:latin typeface="Cambria Math" panose="02040503050406030204" pitchFamily="18" charset="0"/>
                      </a:rPr>
                      <m:t>→</m:t>
                    </m:r>
                    <m:r>
                      <a:rPr lang="en-US" sz="2200" i="1">
                        <a:solidFill>
                          <a:schemeClr val="tx1"/>
                        </a:solidFill>
                        <a:latin typeface="Cambria Math" panose="02040503050406030204" pitchFamily="18" charset="0"/>
                      </a:rPr>
                      <m:t>𝜏</m:t>
                    </m:r>
                  </m:oMath>
                </a14:m>
                <a:r>
                  <a:rPr lang="zh-CN" altLang="en-US" sz="2200" b="1" dirty="0">
                    <a:solidFill>
                      <a:schemeClr val="tx1"/>
                    </a:solidFill>
                    <a:latin typeface="华文楷体" panose="02010600040101010101" pitchFamily="2" charset="-122"/>
                    <a:ea typeface="华文楷体" panose="02010600040101010101" pitchFamily="2" charset="-122"/>
                    <a:cs typeface="楷体_GB2312" panose="02010609030101010101" pitchFamily="49" charset="-122"/>
                  </a:rPr>
                  <a:t>，</a:t>
                </a:r>
                <a14:m>
                  <m:oMath xmlns:m="http://schemas.openxmlformats.org/officeDocument/2006/math">
                    <m:r>
                      <m:rPr>
                        <m:sty m:val="p"/>
                      </m:rPr>
                      <a:rPr lang="en-US" sz="2200" i="1">
                        <a:solidFill>
                          <a:schemeClr val="tx1"/>
                        </a:solidFill>
                        <a:latin typeface="Cambria Math" panose="02040503050406030204" pitchFamily="18" charset="0"/>
                      </a:rPr>
                      <m:t>Δ</m:t>
                    </m:r>
                    <m:r>
                      <a:rPr lang="en-US" sz="2200" i="1">
                        <a:solidFill>
                          <a:schemeClr val="tx1"/>
                        </a:solidFill>
                        <a:latin typeface="Cambria Math" panose="02040503050406030204" pitchFamily="18" charset="0"/>
                      </a:rPr>
                      <m:t>→</m:t>
                    </m:r>
                    <m:r>
                      <a:rPr lang="en-US" sz="2200" i="1">
                        <a:solidFill>
                          <a:schemeClr val="tx1"/>
                        </a:solidFill>
                        <a:latin typeface="Cambria Math" panose="02040503050406030204" pitchFamily="18" charset="0"/>
                      </a:rPr>
                      <m:t>𝑑</m:t>
                    </m:r>
                    <m:r>
                      <a:rPr lang="en-US" sz="2200" i="1">
                        <a:solidFill>
                          <a:schemeClr val="tx1"/>
                        </a:solidFill>
                        <a:latin typeface="Cambria Math" panose="02040503050406030204" pitchFamily="18" charset="0"/>
                      </a:rPr>
                      <m:t>𝜏</m:t>
                    </m:r>
                  </m:oMath>
                </a14:m>
                <a:r>
                  <a:rPr lang="zh-CN" altLang="en-US" sz="2200" b="1" dirty="0">
                    <a:solidFill>
                      <a:schemeClr val="tx1"/>
                    </a:solidFill>
                    <a:latin typeface="华文楷体" panose="02010600040101010101" pitchFamily="2" charset="-122"/>
                    <a:ea typeface="华文楷体" panose="02010600040101010101" pitchFamily="2" charset="-122"/>
                    <a:cs typeface="楷体_GB2312" panose="02010609030101010101" pitchFamily="49" charset="-122"/>
                  </a:rPr>
                  <a:t>，</a:t>
                </a:r>
                <a14:m>
                  <m:oMath xmlns:m="http://schemas.openxmlformats.org/officeDocument/2006/math">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𝛿</m:t>
                        </m:r>
                      </m:e>
                      <m:sub>
                        <m:r>
                          <m:rPr>
                            <m:sty m:val="p"/>
                          </m:rPr>
                          <a:rPr lang="en-US" sz="2200" i="1">
                            <a:solidFill>
                              <a:schemeClr val="tx1"/>
                            </a:solidFill>
                            <a:latin typeface="Cambria Math" panose="02040503050406030204" pitchFamily="18" charset="0"/>
                          </a:rPr>
                          <m:t>Δ</m:t>
                        </m:r>
                      </m:sub>
                    </m:sSub>
                    <m:r>
                      <a:rPr lang="en-US" sz="2200" i="1">
                        <a:solidFill>
                          <a:schemeClr val="tx1"/>
                        </a:solidFill>
                        <a:latin typeface="Cambria Math" panose="02040503050406030204" pitchFamily="18" charset="0"/>
                      </a:rPr>
                      <m:t>(</m:t>
                    </m:r>
                    <m:r>
                      <a:rPr lang="en-US" sz="2200" i="1">
                        <a:solidFill>
                          <a:schemeClr val="tx1"/>
                        </a:solidFill>
                        <a:latin typeface="Cambria Math" panose="02040503050406030204" pitchFamily="18" charset="0"/>
                      </a:rPr>
                      <m:t>𝑡</m:t>
                    </m:r>
                    <m:r>
                      <a:rPr lang="en-US" sz="2200" i="1">
                        <a:solidFill>
                          <a:schemeClr val="tx1"/>
                        </a:solidFill>
                        <a:latin typeface="Cambria Math" panose="02040503050406030204" pitchFamily="18" charset="0"/>
                      </a:rPr>
                      <m:t>−</m:t>
                    </m:r>
                    <m:r>
                      <a:rPr lang="en-US" sz="2200" i="1">
                        <a:solidFill>
                          <a:schemeClr val="tx1"/>
                        </a:solidFill>
                        <a:latin typeface="Cambria Math" panose="02040503050406030204" pitchFamily="18" charset="0"/>
                      </a:rPr>
                      <m:t>𝑘</m:t>
                    </m:r>
                    <m:r>
                      <m:rPr>
                        <m:sty m:val="p"/>
                      </m:rPr>
                      <a:rPr lang="en-US" sz="2200" i="1">
                        <a:solidFill>
                          <a:schemeClr val="tx1"/>
                        </a:solidFill>
                        <a:latin typeface="Cambria Math" panose="02040503050406030204" pitchFamily="18" charset="0"/>
                      </a:rPr>
                      <m:t>Δ</m:t>
                    </m:r>
                    <m:r>
                      <a:rPr lang="en-US" sz="2200" i="1">
                        <a:solidFill>
                          <a:schemeClr val="tx1"/>
                        </a:solidFill>
                        <a:latin typeface="Cambria Math" panose="02040503050406030204" pitchFamily="18" charset="0"/>
                      </a:rPr>
                      <m:t>)→</m:t>
                    </m:r>
                    <m:r>
                      <a:rPr lang="en-US" sz="2200" i="1">
                        <a:solidFill>
                          <a:schemeClr val="tx1"/>
                        </a:solidFill>
                        <a:latin typeface="Cambria Math" panose="02040503050406030204" pitchFamily="18" charset="0"/>
                      </a:rPr>
                      <m:t>𝛿</m:t>
                    </m:r>
                    <m:r>
                      <a:rPr lang="en-US" sz="2200" i="1">
                        <a:solidFill>
                          <a:schemeClr val="tx1"/>
                        </a:solidFill>
                        <a:latin typeface="Cambria Math" panose="02040503050406030204" pitchFamily="18" charset="0"/>
                      </a:rPr>
                      <m:t>(</m:t>
                    </m:r>
                    <m:r>
                      <a:rPr lang="en-US" sz="2200" i="1">
                        <a:solidFill>
                          <a:schemeClr val="tx1"/>
                        </a:solidFill>
                        <a:latin typeface="Cambria Math" panose="02040503050406030204" pitchFamily="18" charset="0"/>
                      </a:rPr>
                      <m:t>𝑡</m:t>
                    </m:r>
                    <m:r>
                      <a:rPr lang="en-US" sz="2200" i="1">
                        <a:solidFill>
                          <a:schemeClr val="tx1"/>
                        </a:solidFill>
                        <a:latin typeface="Cambria Math" panose="02040503050406030204" pitchFamily="18" charset="0"/>
                      </a:rPr>
                      <m:t>−</m:t>
                    </m:r>
                    <m:r>
                      <a:rPr lang="en-US" sz="2200" i="1">
                        <a:solidFill>
                          <a:schemeClr val="tx1"/>
                        </a:solidFill>
                        <a:latin typeface="Cambria Math" panose="02040503050406030204" pitchFamily="18" charset="0"/>
                      </a:rPr>
                      <m:t>𝜏</m:t>
                    </m:r>
                    <m:r>
                      <a:rPr lang="en-US" sz="2200" i="1">
                        <a:solidFill>
                          <a:schemeClr val="tx1"/>
                        </a:solidFill>
                        <a:latin typeface="Cambria Math" panose="02040503050406030204" pitchFamily="18" charset="0"/>
                      </a:rPr>
                      <m:t>)</m:t>
                    </m:r>
                  </m:oMath>
                </a14:m>
                <a:r>
                  <a:rPr lang="zh-CN" altLang="en-US" sz="2200" dirty="0">
                    <a:solidFill>
                      <a:schemeClr val="tx1"/>
                    </a:solidFill>
                  </a:rPr>
                  <a:t>，</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h</m:t>
                        </m:r>
                      </m:e>
                      <m:sub>
                        <m:r>
                          <m:rPr>
                            <m:sty m:val="p"/>
                          </m:rPr>
                          <a:rPr lang="en-US" sz="2200" i="1">
                            <a:latin typeface="Cambria Math" panose="02040503050406030204" pitchFamily="18" charset="0"/>
                          </a:rPr>
                          <m:t>Δ</m:t>
                        </m:r>
                      </m:sub>
                    </m:sSub>
                    <m:r>
                      <a:rPr lang="en-US" sz="2200" i="1">
                        <a:latin typeface="Cambria Math" panose="02040503050406030204" pitchFamily="18" charset="0"/>
                      </a:rPr>
                      <m:t>(</m:t>
                    </m:r>
                    <m:r>
                      <a:rPr lang="en-US" sz="2200" i="1">
                        <a:latin typeface="Cambria Math" panose="02040503050406030204" pitchFamily="18" charset="0"/>
                      </a:rPr>
                      <m:t>𝑡</m:t>
                    </m:r>
                    <m:r>
                      <a:rPr lang="en-US" sz="2200" i="1">
                        <a:latin typeface="Cambria Math" panose="02040503050406030204" pitchFamily="18" charset="0"/>
                      </a:rPr>
                      <m:t>−</m:t>
                    </m:r>
                    <m:r>
                      <a:rPr lang="en-US" sz="2200" i="1">
                        <a:latin typeface="Cambria Math" panose="02040503050406030204" pitchFamily="18" charset="0"/>
                      </a:rPr>
                      <m:t>𝑘</m:t>
                    </m:r>
                    <m:r>
                      <m:rPr>
                        <m:sty m:val="p"/>
                      </m:rPr>
                      <a:rPr lang="en-US" sz="2200" i="1">
                        <a:latin typeface="Cambria Math" panose="02040503050406030204" pitchFamily="18" charset="0"/>
                      </a:rPr>
                      <m:t>Δ</m:t>
                    </m:r>
                    <m:r>
                      <a:rPr lang="en-US" sz="2200" i="1">
                        <a:latin typeface="Cambria Math" panose="02040503050406030204" pitchFamily="18" charset="0"/>
                      </a:rPr>
                      <m:t>)→</m:t>
                    </m:r>
                    <m:r>
                      <a:rPr lang="en-US" sz="2200" i="1">
                        <a:latin typeface="Cambria Math" panose="02040503050406030204" pitchFamily="18" charset="0"/>
                      </a:rPr>
                      <m:t>h</m:t>
                    </m:r>
                    <m:r>
                      <a:rPr lang="en-US" sz="2200" i="1">
                        <a:latin typeface="Cambria Math" panose="02040503050406030204" pitchFamily="18" charset="0"/>
                      </a:rPr>
                      <m:t>(</m:t>
                    </m:r>
                    <m:r>
                      <a:rPr lang="en-US" sz="2200" i="1">
                        <a:latin typeface="Cambria Math" panose="02040503050406030204" pitchFamily="18" charset="0"/>
                      </a:rPr>
                      <m:t>𝑡</m:t>
                    </m:r>
                    <m:r>
                      <a:rPr lang="en-US" sz="2200" i="1">
                        <a:latin typeface="Cambria Math" panose="02040503050406030204" pitchFamily="18" charset="0"/>
                      </a:rPr>
                      <m:t>−</m:t>
                    </m:r>
                    <m:r>
                      <a:rPr lang="en-US" sz="2200" i="1">
                        <a:latin typeface="Cambria Math" panose="02040503050406030204" pitchFamily="18" charset="0"/>
                      </a:rPr>
                      <m:t>𝜏</m:t>
                    </m:r>
                    <m:r>
                      <a:rPr lang="en-US" sz="2200" i="1">
                        <a:latin typeface="Cambria Math" panose="02040503050406030204" pitchFamily="18" charset="0"/>
                      </a:rPr>
                      <m:t>)</m:t>
                    </m:r>
                    <m:r>
                      <m:rPr>
                        <m:nor/>
                      </m:rPr>
                      <a:rPr lang="zh-CN" altLang="en-US" sz="2200" dirty="0"/>
                      <m:t>，</m:t>
                    </m:r>
                    <m:r>
                      <a:rPr lang="en-US" sz="2200" i="1" smtClean="0">
                        <a:solidFill>
                          <a:schemeClr val="tx1"/>
                        </a:solidFill>
                        <a:latin typeface="Cambria Math" panose="02040503050406030204" pitchFamily="18" charset="0"/>
                        <a:ea typeface="Cambria Math" panose="02040503050406030204" pitchFamily="18" charset="0"/>
                      </a:rPr>
                      <m:t>∑</m:t>
                    </m:r>
                    <m:r>
                      <a:rPr lang="en-US" sz="2200" i="1">
                        <a:solidFill>
                          <a:schemeClr val="tx1"/>
                        </a:solidFill>
                        <a:latin typeface="Cambria Math" panose="02040503050406030204" pitchFamily="18" charset="0"/>
                      </a:rPr>
                      <m:t>→</m:t>
                    </m:r>
                    <m:r>
                      <a:rPr lang="en-US" sz="2200" i="1" smtClean="0">
                        <a:solidFill>
                          <a:schemeClr val="tx1"/>
                        </a:solidFill>
                        <a:latin typeface="Cambria Math" panose="02040503050406030204" pitchFamily="18" charset="0"/>
                        <a:ea typeface="Cambria Math" panose="02040503050406030204" pitchFamily="18" charset="0"/>
                      </a:rPr>
                      <m:t>∫</m:t>
                    </m:r>
                  </m:oMath>
                </a14:m>
                <a:r>
                  <a:rPr lang="zh-CN" altLang="en-US" sz="2200" b="1" dirty="0">
                    <a:solidFill>
                      <a:schemeClr val="tx1"/>
                    </a:solidFill>
                    <a:latin typeface="华文楷体" panose="02010600040101010101" pitchFamily="2" charset="-122"/>
                    <a:ea typeface="华文楷体" panose="02010600040101010101" pitchFamily="2" charset="-122"/>
                    <a:cs typeface="楷体_GB2312" panose="02010609030101010101" pitchFamily="49" charset="-122"/>
                  </a:rPr>
                  <a:t>：</a:t>
                </a:r>
              </a:p>
            </p:txBody>
          </p:sp>
        </mc:Choice>
        <mc:Fallback xmlns="">
          <p:sp>
            <p:nvSpPr>
              <p:cNvPr id="27666" name="Rectangle 16">
                <a:extLst>
                  <a:ext uri="{FF2B5EF4-FFF2-40B4-BE49-F238E27FC236}">
                    <a16:creationId xmlns:a16="http://schemas.microsoft.com/office/drawing/2014/main" id="{EAF5D744-7E9E-4027-9F8B-5D21FD78F827}"/>
                  </a:ext>
                </a:extLst>
              </p:cNvPr>
              <p:cNvSpPr>
                <a:spLocks noRot="1" noChangeAspect="1" noMove="1" noResize="1" noEditPoints="1" noAdjustHandles="1" noChangeArrowheads="1" noChangeShapeType="1" noTextEdit="1"/>
              </p:cNvSpPr>
              <p:nvPr/>
            </p:nvSpPr>
            <p:spPr bwMode="auto">
              <a:xfrm>
                <a:off x="548456" y="3284984"/>
                <a:ext cx="8138343" cy="782394"/>
              </a:xfrm>
              <a:prstGeom prst="rect">
                <a:avLst/>
              </a:prstGeom>
              <a:blipFill>
                <a:blip r:embed="rId4"/>
                <a:stretch>
                  <a:fillRect l="-974" t="-4688" r="-974" b="-1562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lg"/>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内容占位符 2">
                <a:extLst>
                  <a:ext uri="{FF2B5EF4-FFF2-40B4-BE49-F238E27FC236}">
                    <a16:creationId xmlns:a16="http://schemas.microsoft.com/office/drawing/2014/main" id="{34FD2824-C890-4E36-A6D5-BFAD08CDAB6D}"/>
                  </a:ext>
                </a:extLst>
              </p:cNvPr>
              <p:cNvSpPr txBox="1">
                <a:spLocks/>
              </p:cNvSpPr>
              <p:nvPr/>
            </p:nvSpPr>
            <p:spPr bwMode="auto">
              <a:xfrm>
                <a:off x="548456" y="1125905"/>
                <a:ext cx="8138344" cy="43088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zh-CN" altLang="en-US" sz="2200" b="0" dirty="0">
                    <a:solidFill>
                      <a:schemeClr val="tx1"/>
                    </a:solidFill>
                  </a:rPr>
                  <a:t>因此，通过</a:t>
                </a:r>
                <a14:m>
                  <m:oMath xmlns:m="http://schemas.openxmlformats.org/officeDocument/2006/math">
                    <m:r>
                      <a:rPr kumimoji="0" lang="en-US" altLang="zh-CN" sz="2200" b="0" i="1" u="none" strike="noStrike" kern="1200" cap="none" spc="0" normalizeH="0" baseline="0" noProof="0" smtClean="0">
                        <a:ln>
                          <a:noFill/>
                        </a:ln>
                        <a:solidFill>
                          <a:schemeClr val="tx1"/>
                        </a:solidFill>
                        <a:effectLst/>
                        <a:uLnTx/>
                        <a:uFillTx/>
                        <a:latin typeface="Cambria Math" panose="02040503050406030204" pitchFamily="18" charset="0"/>
                      </a:rPr>
                      <m:t>𝑥</m:t>
                    </m:r>
                    <m:r>
                      <a:rPr kumimoji="0" lang="en-US" altLang="zh-CN" sz="2200" b="0" i="1" u="none" strike="noStrike" kern="1200" cap="none" spc="0" normalizeH="0" baseline="0" noProof="0" smtClean="0">
                        <a:ln>
                          <a:noFill/>
                        </a:ln>
                        <a:solidFill>
                          <a:schemeClr val="tx1"/>
                        </a:solidFill>
                        <a:effectLst/>
                        <a:uLnTx/>
                        <a:uFillTx/>
                        <a:latin typeface="Cambria Math" panose="02040503050406030204" pitchFamily="18" charset="0"/>
                      </a:rPr>
                      <m:t>(</m:t>
                    </m:r>
                    <m:r>
                      <a:rPr kumimoji="0" lang="en-US" altLang="zh-CN" sz="2200" b="0" i="1" u="none" strike="noStrike" kern="1200" cap="none" spc="0" normalizeH="0" baseline="0" noProof="0" smtClean="0">
                        <a:ln>
                          <a:noFill/>
                        </a:ln>
                        <a:solidFill>
                          <a:schemeClr val="tx1"/>
                        </a:solidFill>
                        <a:effectLst/>
                        <a:uLnTx/>
                        <a:uFillTx/>
                        <a:latin typeface="Cambria Math" panose="02040503050406030204" pitchFamily="18" charset="0"/>
                      </a:rPr>
                      <m:t>𝑡</m:t>
                    </m:r>
                    <m:r>
                      <a:rPr kumimoji="0" lang="en-US" altLang="zh-CN" sz="2200" b="0" i="1" u="none" strike="noStrike" kern="1200" cap="none" spc="0" normalizeH="0" baseline="0" noProof="0" smtClean="0">
                        <a:ln>
                          <a:noFill/>
                        </a:ln>
                        <a:solidFill>
                          <a:schemeClr val="tx1"/>
                        </a:solidFill>
                        <a:effectLst/>
                        <a:uLnTx/>
                        <a:uFillTx/>
                        <a:latin typeface="Cambria Math" panose="02040503050406030204" pitchFamily="18" charset="0"/>
                      </a:rPr>
                      <m:t>)</m:t>
                    </m:r>
                    <m:r>
                      <a:rPr lang="zh-CN" altLang="en-US" sz="2200" b="0" i="1">
                        <a:solidFill>
                          <a:schemeClr val="tx1"/>
                        </a:solidFill>
                        <a:latin typeface="Cambria Math" panose="02040503050406030204" pitchFamily="18" charset="0"/>
                      </a:rPr>
                      <m:t>的</m:t>
                    </m:r>
                  </m:oMath>
                </a14:m>
                <a:r>
                  <a:rPr lang="zh-CN" altLang="en-US" sz="2200" b="0" dirty="0">
                    <a:solidFill>
                      <a:schemeClr val="tx1"/>
                    </a:solidFill>
                  </a:rPr>
                  <a:t>阶梯近似可获得响应</a:t>
                </a:r>
                <a14:m>
                  <m:oMath xmlns:m="http://schemas.openxmlformats.org/officeDocument/2006/math">
                    <m:r>
                      <a:rPr lang="en-US" altLang="zh-CN" sz="2200" b="0" i="1" smtClean="0">
                        <a:solidFill>
                          <a:schemeClr val="tx1"/>
                        </a:solidFill>
                        <a:latin typeface="Cambria Math" panose="02040503050406030204" pitchFamily="18" charset="0"/>
                      </a:rPr>
                      <m:t>𝑦</m:t>
                    </m:r>
                    <m:r>
                      <a:rPr lang="en-US" altLang="zh-CN" sz="2200" b="0" i="1">
                        <a:solidFill>
                          <a:schemeClr val="tx1"/>
                        </a:solidFill>
                        <a:latin typeface="Cambria Math" panose="02040503050406030204" pitchFamily="18" charset="0"/>
                      </a:rPr>
                      <m:t>(</m:t>
                    </m:r>
                    <m:r>
                      <a:rPr lang="en-US" altLang="zh-CN" sz="2200" b="0" i="1">
                        <a:solidFill>
                          <a:schemeClr val="tx1"/>
                        </a:solidFill>
                        <a:latin typeface="Cambria Math" panose="02040503050406030204" pitchFamily="18" charset="0"/>
                      </a:rPr>
                      <m:t>𝑡</m:t>
                    </m:r>
                    <m:r>
                      <a:rPr lang="en-US" altLang="zh-CN" sz="2200" b="0" i="1">
                        <a:solidFill>
                          <a:schemeClr val="tx1"/>
                        </a:solidFill>
                        <a:latin typeface="Cambria Math" panose="02040503050406030204" pitchFamily="18" charset="0"/>
                      </a:rPr>
                      <m:t>)</m:t>
                    </m:r>
                  </m:oMath>
                </a14:m>
                <a:r>
                  <a:rPr lang="zh-CN" altLang="en-US" sz="2200" b="0" dirty="0">
                    <a:solidFill>
                      <a:schemeClr val="tx1"/>
                    </a:solidFill>
                  </a:rPr>
                  <a:t>的阶梯近似：</a:t>
                </a:r>
                <a:endParaRPr lang="en-US" altLang="zh-CN" sz="2200" b="0" dirty="0">
                  <a:solidFill>
                    <a:schemeClr val="tx1"/>
                  </a:solidFill>
                </a:endParaRPr>
              </a:p>
            </p:txBody>
          </p:sp>
        </mc:Choice>
        <mc:Fallback xmlns="">
          <p:sp>
            <p:nvSpPr>
              <p:cNvPr id="19" name="内容占位符 2">
                <a:extLst>
                  <a:ext uri="{FF2B5EF4-FFF2-40B4-BE49-F238E27FC236}">
                    <a16:creationId xmlns:a16="http://schemas.microsoft.com/office/drawing/2014/main" id="{34FD2824-C890-4E36-A6D5-BFAD08CDAB6D}"/>
                  </a:ext>
                </a:extLst>
              </p:cNvPr>
              <p:cNvSpPr txBox="1">
                <a:spLocks noRot="1" noChangeAspect="1" noMove="1" noResize="1" noEditPoints="1" noAdjustHandles="1" noChangeArrowheads="1" noChangeShapeType="1" noTextEdit="1"/>
              </p:cNvSpPr>
              <p:nvPr/>
            </p:nvSpPr>
            <p:spPr bwMode="auto">
              <a:xfrm>
                <a:off x="548456" y="1125905"/>
                <a:ext cx="8138344" cy="430887"/>
              </a:xfrm>
              <a:prstGeom prst="rect">
                <a:avLst/>
              </a:prstGeom>
              <a:blipFill>
                <a:blip r:embed="rId5"/>
                <a:stretch>
                  <a:fillRect l="-974" t="-8571" b="-30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Object 5">
                <a:extLst>
                  <a:ext uri="{FF2B5EF4-FFF2-40B4-BE49-F238E27FC236}">
                    <a16:creationId xmlns:a16="http://schemas.microsoft.com/office/drawing/2014/main" id="{DD868BEA-535B-4E4A-B008-813B68431F32}"/>
                  </a:ext>
                </a:extLst>
              </p:cNvPr>
              <p:cNvSpPr txBox="1"/>
              <p:nvPr/>
            </p:nvSpPr>
            <p:spPr bwMode="auto">
              <a:xfrm>
                <a:off x="2267744" y="2348880"/>
                <a:ext cx="4974844" cy="975361"/>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200" i="1" smtClean="0">
                              <a:solidFill>
                                <a:schemeClr val="tx1"/>
                              </a:solidFill>
                              <a:latin typeface="Cambria Math" panose="02040503050406030204" pitchFamily="18" charset="0"/>
                            </a:rPr>
                          </m:ctrlPr>
                        </m:sSubPr>
                        <m:e>
                          <m:r>
                            <a:rPr lang="en-US" sz="2200" b="0" i="1" smtClean="0">
                              <a:solidFill>
                                <a:schemeClr val="tx1"/>
                              </a:solidFill>
                              <a:latin typeface="Cambria Math" panose="02040503050406030204" pitchFamily="18" charset="0"/>
                            </a:rPr>
                            <m:t>𝑦</m:t>
                          </m:r>
                        </m:e>
                        <m:sub>
                          <m:r>
                            <m:rPr>
                              <m:sty m:val="p"/>
                            </m:rPr>
                            <a:rPr lang="en-US" sz="2200" i="1">
                              <a:solidFill>
                                <a:schemeClr val="tx1"/>
                              </a:solidFill>
                              <a:latin typeface="Cambria Math" panose="02040503050406030204" pitchFamily="18" charset="0"/>
                            </a:rPr>
                            <m:t>Δ</m:t>
                          </m:r>
                        </m:sub>
                      </m:sSub>
                      <m:r>
                        <a:rPr lang="en-US" sz="2200" i="1">
                          <a:solidFill>
                            <a:schemeClr val="tx1"/>
                          </a:solidFill>
                          <a:latin typeface="Cambria Math" panose="02040503050406030204" pitchFamily="18" charset="0"/>
                        </a:rPr>
                        <m:t>(</m:t>
                      </m:r>
                      <m:r>
                        <a:rPr lang="en-US" sz="2200" i="1">
                          <a:solidFill>
                            <a:schemeClr val="tx1"/>
                          </a:solidFill>
                          <a:latin typeface="Cambria Math" panose="02040503050406030204" pitchFamily="18" charset="0"/>
                        </a:rPr>
                        <m:t>𝑡</m:t>
                      </m:r>
                      <m:r>
                        <a:rPr lang="en-US" sz="2200" i="1">
                          <a:solidFill>
                            <a:schemeClr val="tx1"/>
                          </a:solidFill>
                          <a:latin typeface="Cambria Math" panose="02040503050406030204" pitchFamily="18" charset="0"/>
                        </a:rPr>
                        <m:t>)=</m:t>
                      </m:r>
                      <m:nary>
                        <m:naryPr>
                          <m:chr m:val="∑"/>
                          <m:ctrlPr>
                            <a:rPr lang="en-US" sz="2200" i="1">
                              <a:solidFill>
                                <a:schemeClr val="tx1"/>
                              </a:solidFill>
                              <a:latin typeface="Cambria Math" panose="02040503050406030204" pitchFamily="18" charset="0"/>
                            </a:rPr>
                          </m:ctrlPr>
                        </m:naryPr>
                        <m:sub>
                          <m:r>
                            <a:rPr lang="en-US" sz="2200" i="1">
                              <a:solidFill>
                                <a:schemeClr val="tx1"/>
                              </a:solidFill>
                              <a:latin typeface="Cambria Math" panose="02040503050406030204" pitchFamily="18" charset="0"/>
                            </a:rPr>
                            <m:t>𝑘</m:t>
                          </m:r>
                          <m:r>
                            <a:rPr lang="en-US" sz="2200" i="1">
                              <a:solidFill>
                                <a:schemeClr val="tx1"/>
                              </a:solidFill>
                              <a:latin typeface="Cambria Math" panose="02040503050406030204" pitchFamily="18" charset="0"/>
                            </a:rPr>
                            <m:t>=−∞</m:t>
                          </m:r>
                        </m:sub>
                        <m:sup>
                          <m:r>
                            <a:rPr lang="en-US" sz="2200" i="1">
                              <a:solidFill>
                                <a:schemeClr val="tx1"/>
                              </a:solidFill>
                              <a:latin typeface="Cambria Math" panose="02040503050406030204" pitchFamily="18" charset="0"/>
                            </a:rPr>
                            <m:t>∞</m:t>
                          </m:r>
                        </m:sup>
                        <m:e>
                          <m:r>
                            <a:rPr lang="en-US" sz="2200" i="1">
                              <a:solidFill>
                                <a:schemeClr val="tx1"/>
                              </a:solidFill>
                              <a:latin typeface="Cambria Math" panose="02040503050406030204" pitchFamily="18" charset="0"/>
                            </a:rPr>
                            <m:t>𝑥</m:t>
                          </m:r>
                          <m:r>
                            <a:rPr lang="en-US" sz="2200" i="1">
                              <a:solidFill>
                                <a:schemeClr val="tx1"/>
                              </a:solidFill>
                              <a:latin typeface="Cambria Math" panose="02040503050406030204" pitchFamily="18" charset="0"/>
                            </a:rPr>
                            <m:t>(</m:t>
                          </m:r>
                          <m:r>
                            <a:rPr lang="en-US" sz="2200" i="1">
                              <a:solidFill>
                                <a:schemeClr val="tx1"/>
                              </a:solidFill>
                              <a:latin typeface="Cambria Math" panose="02040503050406030204" pitchFamily="18" charset="0"/>
                            </a:rPr>
                            <m:t>𝑘</m:t>
                          </m:r>
                          <m:r>
                            <m:rPr>
                              <m:sty m:val="p"/>
                            </m:rPr>
                            <a:rPr lang="en-US" sz="2200" i="1">
                              <a:solidFill>
                                <a:schemeClr val="tx1"/>
                              </a:solidFill>
                              <a:latin typeface="Cambria Math" panose="02040503050406030204" pitchFamily="18" charset="0"/>
                            </a:rPr>
                            <m:t>Δ</m:t>
                          </m:r>
                          <m:r>
                            <a:rPr lang="en-US" sz="2200" i="1">
                              <a:solidFill>
                                <a:schemeClr val="tx1"/>
                              </a:solidFill>
                              <a:latin typeface="Cambria Math" panose="02040503050406030204" pitchFamily="18" charset="0"/>
                            </a:rPr>
                            <m:t>)</m:t>
                          </m:r>
                          <m:sSub>
                            <m:sSubPr>
                              <m:ctrlPr>
                                <a:rPr lang="en-US" sz="2200" i="1">
                                  <a:solidFill>
                                    <a:schemeClr val="tx1"/>
                                  </a:solidFill>
                                  <a:latin typeface="Cambria Math" panose="02040503050406030204" pitchFamily="18" charset="0"/>
                                </a:rPr>
                              </m:ctrlPr>
                            </m:sSubPr>
                            <m:e>
                              <m:r>
                                <a:rPr lang="en-US" sz="2200" b="0" i="1" smtClean="0">
                                  <a:solidFill>
                                    <a:schemeClr val="tx1"/>
                                  </a:solidFill>
                                  <a:latin typeface="Cambria Math" panose="02040503050406030204" pitchFamily="18" charset="0"/>
                                </a:rPr>
                                <m:t>h</m:t>
                              </m:r>
                            </m:e>
                            <m:sub>
                              <m:r>
                                <m:rPr>
                                  <m:sty m:val="p"/>
                                </m:rPr>
                                <a:rPr lang="en-US" sz="2200" i="1">
                                  <a:solidFill>
                                    <a:schemeClr val="tx1"/>
                                  </a:solidFill>
                                  <a:latin typeface="Cambria Math" panose="02040503050406030204" pitchFamily="18" charset="0"/>
                                </a:rPr>
                                <m:t>Δ</m:t>
                              </m:r>
                            </m:sub>
                          </m:sSub>
                          <m:r>
                            <a:rPr lang="en-US" sz="2200" i="1">
                              <a:solidFill>
                                <a:schemeClr val="tx1"/>
                              </a:solidFill>
                              <a:latin typeface="Cambria Math" panose="02040503050406030204" pitchFamily="18" charset="0"/>
                            </a:rPr>
                            <m:t>(</m:t>
                          </m:r>
                          <m:r>
                            <a:rPr lang="en-US" sz="2200" i="1">
                              <a:solidFill>
                                <a:schemeClr val="tx1"/>
                              </a:solidFill>
                              <a:latin typeface="Cambria Math" panose="02040503050406030204" pitchFamily="18" charset="0"/>
                            </a:rPr>
                            <m:t>𝑡</m:t>
                          </m:r>
                          <m:r>
                            <a:rPr lang="en-US" sz="2200" i="1">
                              <a:solidFill>
                                <a:schemeClr val="tx1"/>
                              </a:solidFill>
                              <a:latin typeface="Cambria Math" panose="02040503050406030204" pitchFamily="18" charset="0"/>
                            </a:rPr>
                            <m:t>−</m:t>
                          </m:r>
                          <m:r>
                            <a:rPr lang="en-US" sz="2200" i="1">
                              <a:solidFill>
                                <a:schemeClr val="tx1"/>
                              </a:solidFill>
                              <a:latin typeface="Cambria Math" panose="02040503050406030204" pitchFamily="18" charset="0"/>
                            </a:rPr>
                            <m:t>𝑘</m:t>
                          </m:r>
                          <m:r>
                            <m:rPr>
                              <m:sty m:val="p"/>
                            </m:rPr>
                            <a:rPr lang="en-US" sz="2200" i="1">
                              <a:solidFill>
                                <a:schemeClr val="tx1"/>
                              </a:solidFill>
                              <a:latin typeface="Cambria Math" panose="02040503050406030204" pitchFamily="18" charset="0"/>
                            </a:rPr>
                            <m:t>Δ</m:t>
                          </m:r>
                          <m:r>
                            <a:rPr lang="en-US" sz="2200" i="1">
                              <a:solidFill>
                                <a:schemeClr val="tx1"/>
                              </a:solidFill>
                              <a:latin typeface="Cambria Math" panose="02040503050406030204" pitchFamily="18" charset="0"/>
                            </a:rPr>
                            <m:t>)</m:t>
                          </m:r>
                          <m:r>
                            <m:rPr>
                              <m:sty m:val="p"/>
                            </m:rPr>
                            <a:rPr lang="en-US" sz="2200" i="1">
                              <a:solidFill>
                                <a:schemeClr val="tx1"/>
                              </a:solidFill>
                              <a:latin typeface="Cambria Math" panose="02040503050406030204" pitchFamily="18" charset="0"/>
                            </a:rPr>
                            <m:t>Δ</m:t>
                          </m:r>
                        </m:e>
                      </m:nary>
                    </m:oMath>
                  </m:oMathPara>
                </a14:m>
                <a:endParaRPr lang="en-US" sz="2200" dirty="0">
                  <a:solidFill>
                    <a:schemeClr val="tx1"/>
                  </a:solidFill>
                </a:endParaRPr>
              </a:p>
            </p:txBody>
          </p:sp>
        </mc:Choice>
        <mc:Fallback xmlns="">
          <p:sp>
            <p:nvSpPr>
              <p:cNvPr id="22" name="Object 5">
                <a:extLst>
                  <a:ext uri="{FF2B5EF4-FFF2-40B4-BE49-F238E27FC236}">
                    <a16:creationId xmlns:a16="http://schemas.microsoft.com/office/drawing/2014/main" id="{DD868BEA-535B-4E4A-B008-813B68431F32}"/>
                  </a:ext>
                </a:extLst>
              </p:cNvPr>
              <p:cNvSpPr txBox="1">
                <a:spLocks noRot="1" noChangeAspect="1" noMove="1" noResize="1" noEditPoints="1" noAdjustHandles="1" noChangeArrowheads="1" noChangeShapeType="1" noTextEdit="1"/>
              </p:cNvSpPr>
              <p:nvPr/>
            </p:nvSpPr>
            <p:spPr bwMode="auto">
              <a:xfrm>
                <a:off x="2267744" y="2348880"/>
                <a:ext cx="4974844" cy="975361"/>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bject 7">
                <a:extLst>
                  <a:ext uri="{FF2B5EF4-FFF2-40B4-BE49-F238E27FC236}">
                    <a16:creationId xmlns:a16="http://schemas.microsoft.com/office/drawing/2014/main" id="{E83F376B-C9E8-4769-81C3-82CD8A3ADEF9}"/>
                  </a:ext>
                </a:extLst>
              </p:cNvPr>
              <p:cNvSpPr txBox="1"/>
              <p:nvPr/>
            </p:nvSpPr>
            <p:spPr bwMode="auto">
              <a:xfrm>
                <a:off x="1178440" y="5120454"/>
                <a:ext cx="3618768" cy="897237"/>
              </a:xfrm>
              <a:prstGeom prst="rect">
                <a:avLst/>
              </a:prstGeom>
              <a:solidFill>
                <a:srgbClr val="CCFFFF"/>
              </a:solidFill>
              <a:ln w="25400">
                <a:solidFill>
                  <a:srgbClr val="FF0000"/>
                </a:solidFill>
                <a:miter lim="800000"/>
                <a:headEnd/>
                <a:tailEnd/>
              </a:ln>
              <a:effectLst/>
            </p:spPr>
            <p:txBody>
              <a:bodyPr>
                <a:noAutofit/>
              </a:bodyPr>
              <a:lstStyle/>
              <a:p>
                <a:pPr/>
                <a14:m>
                  <m:oMathPara xmlns:m="http://schemas.openxmlformats.org/officeDocument/2006/math">
                    <m:oMathParaPr>
                      <m:jc m:val="left"/>
                    </m:oMathParaPr>
                    <m:oMath xmlns:m="http://schemas.openxmlformats.org/officeDocument/2006/math">
                      <m:r>
                        <a:rPr lang="en-US" sz="2400" b="0" i="1" smtClean="0">
                          <a:solidFill>
                            <a:srgbClr val="FF0000"/>
                          </a:solidFill>
                          <a:latin typeface="Cambria Math" panose="02040503050406030204" pitchFamily="18" charset="0"/>
                        </a:rPr>
                        <m:t>𝑦</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nary>
                        <m:naryPr>
                          <m:ctrlPr>
                            <a:rPr lang="en-US" sz="2400" i="1">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m:t>
                          </m:r>
                        </m:sup>
                        <m:e>
                          <m:r>
                            <a:rPr lang="en-US" sz="2400" i="1">
                              <a:solidFill>
                                <a:srgbClr val="FF0000"/>
                              </a:solidFill>
                              <a:latin typeface="Cambria Math" panose="02040503050406030204" pitchFamily="18" charset="0"/>
                            </a:rPr>
                            <m:t>𝑥</m:t>
                          </m:r>
                          <m:d>
                            <m:dPr>
                              <m:ctrlPr>
                                <a:rPr lang="en-US" sz="2400" i="1">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𝜏</m:t>
                              </m:r>
                            </m:e>
                          </m:d>
                          <m:r>
                            <a:rPr lang="en-US" sz="2400" b="0" i="1" smtClean="0">
                              <a:solidFill>
                                <a:srgbClr val="FF0000"/>
                              </a:solidFill>
                              <a:latin typeface="Cambria Math" panose="02040503050406030204" pitchFamily="18" charset="0"/>
                            </a:rPr>
                            <m:t>h</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𝜏</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𝑑</m:t>
                          </m:r>
                          <m:r>
                            <a:rPr lang="en-US" sz="2400" i="1">
                              <a:solidFill>
                                <a:srgbClr val="FF0000"/>
                              </a:solidFill>
                              <a:latin typeface="Cambria Math" panose="02040503050406030204" pitchFamily="18" charset="0"/>
                            </a:rPr>
                            <m:t>𝜏</m:t>
                          </m:r>
                        </m:e>
                      </m:nary>
                    </m:oMath>
                  </m:oMathPara>
                </a14:m>
                <a:endParaRPr lang="en-US" sz="2400" dirty="0"/>
              </a:p>
            </p:txBody>
          </p:sp>
        </mc:Choice>
        <mc:Fallback xmlns="">
          <p:sp>
            <p:nvSpPr>
              <p:cNvPr id="37" name="Object 7">
                <a:extLst>
                  <a:ext uri="{FF2B5EF4-FFF2-40B4-BE49-F238E27FC236}">
                    <a16:creationId xmlns:a16="http://schemas.microsoft.com/office/drawing/2014/main" id="{E83F376B-C9E8-4769-81C3-82CD8A3ADEF9}"/>
                  </a:ext>
                </a:extLst>
              </p:cNvPr>
              <p:cNvSpPr txBox="1">
                <a:spLocks noRot="1" noChangeAspect="1" noMove="1" noResize="1" noEditPoints="1" noAdjustHandles="1" noChangeArrowheads="1" noChangeShapeType="1" noTextEdit="1"/>
              </p:cNvSpPr>
              <p:nvPr/>
            </p:nvSpPr>
            <p:spPr bwMode="auto">
              <a:xfrm>
                <a:off x="1178440" y="5120454"/>
                <a:ext cx="3618768" cy="897237"/>
              </a:xfrm>
              <a:prstGeom prst="rect">
                <a:avLst/>
              </a:prstGeom>
              <a:blipFill>
                <a:blip r:embed="rId7"/>
                <a:stretch>
                  <a:fillRect/>
                </a:stretch>
              </a:blipFill>
              <a:ln w="25400">
                <a:solidFill>
                  <a:srgbClr val="FF0000"/>
                </a:solidFill>
                <a:miter lim="800000"/>
                <a:headEnd/>
                <a:tailEnd/>
              </a:ln>
              <a:effectLst/>
            </p:spPr>
            <p:txBody>
              <a:bodyPr/>
              <a:lstStyle/>
              <a:p>
                <a:r>
                  <a:rPr lang="en-US">
                    <a:noFill/>
                  </a:rPr>
                  <a:t> </a:t>
                </a:r>
              </a:p>
            </p:txBody>
          </p:sp>
        </mc:Fallback>
      </mc:AlternateContent>
      <p:sp>
        <p:nvSpPr>
          <p:cNvPr id="21" name="左大括号 20">
            <a:extLst>
              <a:ext uri="{FF2B5EF4-FFF2-40B4-BE49-F238E27FC236}">
                <a16:creationId xmlns:a16="http://schemas.microsoft.com/office/drawing/2014/main" id="{C6082D89-43E4-4B46-BBB0-6AD90019F1A7}"/>
              </a:ext>
            </a:extLst>
          </p:cNvPr>
          <p:cNvSpPr/>
          <p:nvPr/>
        </p:nvSpPr>
        <p:spPr>
          <a:xfrm rot="16200000">
            <a:off x="2892951" y="4322989"/>
            <a:ext cx="189746" cy="3744416"/>
          </a:xfrm>
          <a:prstGeom prst="leftBrace">
            <a:avLst/>
          </a:prstGeom>
          <a:ln w="31750" cap="flat">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内容占位符 2">
            <a:extLst>
              <a:ext uri="{FF2B5EF4-FFF2-40B4-BE49-F238E27FC236}">
                <a16:creationId xmlns:a16="http://schemas.microsoft.com/office/drawing/2014/main" id="{2EE27FBB-FB20-47A5-8C4C-08EB920492AD}"/>
              </a:ext>
            </a:extLst>
          </p:cNvPr>
          <p:cNvSpPr txBox="1">
            <a:spLocks/>
          </p:cNvSpPr>
          <p:nvPr/>
        </p:nvSpPr>
        <p:spPr bwMode="auto">
          <a:xfrm>
            <a:off x="2265378" y="6290070"/>
            <a:ext cx="14448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zh-CN" altLang="en-US" sz="2400" dirty="0">
                <a:solidFill>
                  <a:srgbClr val="FF0000"/>
                </a:solidFill>
              </a:rPr>
              <a:t>卷积积分</a:t>
            </a:r>
            <a:endParaRPr lang="en-US" altLang="zh-CN" sz="2800" dirty="0">
              <a:solidFill>
                <a:srgbClr val="FF0000"/>
              </a:solidFill>
            </a:endParaRPr>
          </a:p>
        </p:txBody>
      </p:sp>
      <p:sp>
        <p:nvSpPr>
          <p:cNvPr id="15" name="文本框 14">
            <a:extLst>
              <a:ext uri="{FF2B5EF4-FFF2-40B4-BE49-F238E27FC236}">
                <a16:creationId xmlns:a16="http://schemas.microsoft.com/office/drawing/2014/main" id="{B9E6F0AE-CE73-4FD0-8897-176643FBFC04}"/>
              </a:ext>
            </a:extLst>
          </p:cNvPr>
          <p:cNvSpPr txBox="1"/>
          <p:nvPr/>
        </p:nvSpPr>
        <p:spPr>
          <a:xfrm>
            <a:off x="4860032" y="5129880"/>
            <a:ext cx="3618768" cy="830997"/>
          </a:xfrm>
          <a:prstGeom prst="rect">
            <a:avLst/>
          </a:prstGeom>
          <a:noFill/>
        </p:spPr>
        <p:txBody>
          <a:bodyPr wrap="square">
            <a:spAutoFit/>
          </a:bodyPr>
          <a:lstStyle/>
          <a:p>
            <a:pPr marL="0" marR="0" lvl="1" algn="just" defTabSz="914400" rtl="0" eaLnBrk="0" fontAlgn="base" latinLnBrk="0" hangingPunct="0">
              <a:spcBef>
                <a:spcPts val="0"/>
              </a:spcBef>
              <a:spcAft>
                <a:spcPts val="0"/>
              </a:spcAft>
              <a:buClrTx/>
              <a:buSzTx/>
              <a:tabLst/>
              <a:defRPr/>
            </a:pPr>
            <a:r>
              <a:rPr kumimoji="0" lang="zh-CN" altLang="en-US" sz="2400" b="0" i="0" u="none" strike="noStrike" kern="1200" cap="none" spc="0" normalizeH="0" baseline="0" noProof="0" dirty="0">
                <a:ln>
                  <a:noFill/>
                </a:ln>
                <a:solidFill>
                  <a:srgbClr val="FF0000"/>
                </a:solidFill>
                <a:effectLst/>
                <a:uLnTx/>
                <a:uFillTx/>
                <a:latin typeface="Times New Roman" pitchFamily="18" charset="0"/>
                <a:ea typeface="华文楷体" pitchFamily="2" charset="-122"/>
                <a:cs typeface="+mn-cs"/>
              </a:rPr>
              <a:t>用卷积积分表示连续时间</a:t>
            </a:r>
            <a:r>
              <a:rPr kumimoji="0" lang="en-US" altLang="zh-CN" sz="2400" b="0" i="0" u="none" strike="noStrike" kern="1200" cap="none" spc="0" normalizeH="0" baseline="0" noProof="0" dirty="0">
                <a:ln>
                  <a:noFill/>
                </a:ln>
                <a:solidFill>
                  <a:srgbClr val="FF0000"/>
                </a:solidFill>
                <a:effectLst/>
                <a:uLnTx/>
                <a:uFillTx/>
                <a:latin typeface="Times New Roman" pitchFamily="18" charset="0"/>
                <a:ea typeface="华文楷体" pitchFamily="2" charset="-122"/>
                <a:cs typeface="+mn-cs"/>
              </a:rPr>
              <a:t>LTI</a:t>
            </a:r>
            <a:r>
              <a:rPr kumimoji="0" lang="zh-CN" altLang="en-US" sz="2400" b="0" i="0" u="none" strike="noStrike" kern="1200" cap="none" spc="0" normalizeH="0" baseline="0" noProof="0" dirty="0">
                <a:ln>
                  <a:noFill/>
                </a:ln>
                <a:solidFill>
                  <a:srgbClr val="FF0000"/>
                </a:solidFill>
                <a:effectLst/>
                <a:uLnTx/>
                <a:uFillTx/>
                <a:latin typeface="Times New Roman" pitchFamily="18" charset="0"/>
                <a:ea typeface="华文楷体" pitchFamily="2" charset="-122"/>
                <a:cs typeface="+mn-cs"/>
              </a:rPr>
              <a:t>系统</a:t>
            </a:r>
            <a:r>
              <a:rPr lang="zh-CN" altLang="en-US" sz="2400" dirty="0">
                <a:solidFill>
                  <a:srgbClr val="FF0000"/>
                </a:solidFill>
                <a:latin typeface="Times New Roman" pitchFamily="18" charset="0"/>
                <a:ea typeface="华文楷体" pitchFamily="2" charset="-122"/>
              </a:rPr>
              <a:t>的响应</a:t>
            </a:r>
            <a:endParaRPr kumimoji="0" lang="en-US" sz="2400" b="0" i="0" u="none" strike="noStrike" kern="1200" cap="none" spc="0" normalizeH="0" baseline="0" noProof="0" dirty="0">
              <a:ln>
                <a:noFill/>
              </a:ln>
              <a:solidFill>
                <a:srgbClr val="FF0000"/>
              </a:solidFill>
              <a:effectLst/>
              <a:uLnTx/>
              <a:uFillTx/>
              <a:latin typeface="Times New Roman" pitchFamily="18" charset="0"/>
              <a:ea typeface="华文楷体" pitchFamily="2" charset="-122"/>
              <a:cs typeface="+mn-cs"/>
            </a:endParaRPr>
          </a:p>
        </p:txBody>
      </p:sp>
      <p:sp>
        <p:nvSpPr>
          <p:cNvPr id="20" name="文本框 19">
            <a:extLst>
              <a:ext uri="{FF2B5EF4-FFF2-40B4-BE49-F238E27FC236}">
                <a16:creationId xmlns:a16="http://schemas.microsoft.com/office/drawing/2014/main" id="{F380F97F-C5D3-41D7-9876-1548540F8C1C}"/>
              </a:ext>
            </a:extLst>
          </p:cNvPr>
          <p:cNvSpPr txBox="1"/>
          <p:nvPr/>
        </p:nvSpPr>
        <p:spPr>
          <a:xfrm>
            <a:off x="4864356" y="4192757"/>
            <a:ext cx="3618768" cy="830997"/>
          </a:xfrm>
          <a:prstGeom prst="rect">
            <a:avLst/>
          </a:prstGeom>
          <a:noFill/>
        </p:spPr>
        <p:txBody>
          <a:bodyPr wrap="square">
            <a:spAutoFit/>
          </a:bodyPr>
          <a:lstStyle/>
          <a:p>
            <a:pPr marL="0" marR="0" lvl="1" algn="just" defTabSz="914400" rtl="0" eaLnBrk="0" fontAlgn="base" latinLnBrk="0" hangingPunct="0">
              <a:spcBef>
                <a:spcPts val="0"/>
              </a:spcBef>
              <a:spcAft>
                <a:spcPts val="0"/>
              </a:spcAft>
              <a:buClrTx/>
              <a:buSzTx/>
              <a:tabLst/>
              <a:defRPr/>
            </a:pPr>
            <a:r>
              <a:rPr kumimoji="0" lang="zh-CN" altLang="en-US" sz="2400" b="0" i="0" u="none" strike="noStrike" kern="1200" cap="none" spc="0" normalizeH="0" baseline="0" noProof="0" dirty="0">
                <a:ln>
                  <a:noFill/>
                </a:ln>
                <a:solidFill>
                  <a:srgbClr val="FF0000"/>
                </a:solidFill>
                <a:effectLst/>
                <a:uLnTx/>
                <a:uFillTx/>
                <a:latin typeface="Times New Roman" pitchFamily="18" charset="0"/>
                <a:ea typeface="华文楷体" pitchFamily="2" charset="-122"/>
                <a:cs typeface="+mn-cs"/>
              </a:rPr>
              <a:t>用位移的单位冲激信号表示任意的连续时间信号</a:t>
            </a:r>
            <a:endParaRPr kumimoji="0" lang="en-US" sz="2400" b="0" i="0" u="none" strike="noStrike" kern="1200" cap="none" spc="0" normalizeH="0" baseline="0" noProof="0" dirty="0">
              <a:ln>
                <a:noFill/>
              </a:ln>
              <a:solidFill>
                <a:srgbClr val="FF0000"/>
              </a:solidFill>
              <a:effectLst/>
              <a:uLnTx/>
              <a:uFillTx/>
              <a:latin typeface="Times New Roman" pitchFamily="18" charset="0"/>
              <a:ea typeface="华文楷体" pitchFamily="2" charset="-122"/>
              <a:cs typeface="+mn-cs"/>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82" name="标题 1">
            <a:extLst>
              <a:ext uri="{FF2B5EF4-FFF2-40B4-BE49-F238E27FC236}">
                <a16:creationId xmlns:a16="http://schemas.microsoft.com/office/drawing/2014/main" id="{6210A37C-EC4A-4514-BDEB-26A8ED5DFC0B}"/>
              </a:ext>
            </a:extLst>
          </p:cNvPr>
          <p:cNvSpPr>
            <a:spLocks noGrp="1"/>
          </p:cNvSpPr>
          <p:nvPr>
            <p:ph type="title"/>
          </p:nvPr>
        </p:nvSpPr>
        <p:spPr/>
        <p:txBody>
          <a:bodyPr/>
          <a:lstStyle/>
          <a:p>
            <a:r>
              <a:rPr lang="en-US" altLang="zh-CN" sz="4000"/>
              <a:t>2.2 </a:t>
            </a:r>
            <a:r>
              <a:rPr lang="zh-CN" altLang="en-US" sz="4000"/>
              <a:t>连续时间</a:t>
            </a:r>
            <a:r>
              <a:rPr lang="en-US" altLang="zh-CN" sz="4000"/>
              <a:t>LTI</a:t>
            </a:r>
            <a:r>
              <a:rPr lang="zh-CN" altLang="en-US" sz="4000"/>
              <a:t>系统：卷积积分</a:t>
            </a:r>
          </a:p>
        </p:txBody>
      </p:sp>
      <mc:AlternateContent xmlns:mc="http://schemas.openxmlformats.org/markup-compatibility/2006" xmlns:a14="http://schemas.microsoft.com/office/drawing/2010/main">
        <mc:Choice Requires="a14">
          <p:sp>
            <p:nvSpPr>
              <p:cNvPr id="28683" name="内容占位符 2">
                <a:extLst>
                  <a:ext uri="{FF2B5EF4-FFF2-40B4-BE49-F238E27FC236}">
                    <a16:creationId xmlns:a16="http://schemas.microsoft.com/office/drawing/2014/main" id="{C757B5FA-D618-439B-92F1-A3D966878867}"/>
                  </a:ext>
                </a:extLst>
              </p:cNvPr>
              <p:cNvSpPr>
                <a:spLocks noGrp="1"/>
              </p:cNvSpPr>
              <p:nvPr>
                <p:ph idx="1"/>
              </p:nvPr>
            </p:nvSpPr>
            <p:spPr>
              <a:xfrm>
                <a:off x="457200" y="1285875"/>
                <a:ext cx="8229600" cy="2043123"/>
              </a:xfrm>
            </p:spPr>
            <p:txBody>
              <a:bodyPr>
                <a:spAutoFit/>
              </a:bodyPr>
              <a:lstStyle/>
              <a:p>
                <a:pPr>
                  <a:lnSpc>
                    <a:spcPct val="110000"/>
                  </a:lnSpc>
                  <a:spcBef>
                    <a:spcPts val="0"/>
                  </a:spcBef>
                  <a:spcAft>
                    <a:spcPts val="600"/>
                  </a:spcAft>
                </a:pPr>
                <a:r>
                  <a:rPr lang="zh-CN" altLang="en-US" sz="2800" b="0" dirty="0"/>
                  <a:t>二</a:t>
                </a:r>
                <a:r>
                  <a:rPr lang="en-US" altLang="zh-CN" sz="2800" b="0" dirty="0"/>
                  <a:t>. </a:t>
                </a:r>
                <a:r>
                  <a:rPr lang="zh-CN" altLang="en-US" sz="2800" b="0" dirty="0"/>
                  <a:t>卷积积分</a:t>
                </a:r>
                <a:endParaRPr lang="en-US" altLang="zh-CN" sz="2800" b="0" dirty="0"/>
              </a:p>
              <a:p>
                <a:pPr lvl="1" algn="just">
                  <a:lnSpc>
                    <a:spcPct val="110000"/>
                  </a:lnSpc>
                  <a:spcBef>
                    <a:spcPts val="0"/>
                  </a:spcBef>
                  <a:spcAft>
                    <a:spcPts val="600"/>
                  </a:spcAft>
                </a:pPr>
                <a:r>
                  <a:rPr lang="zh-CN" altLang="en-US" b="0" dirty="0"/>
                  <a:t>与离散时间系统的分析类似，如果一个</a:t>
                </a:r>
                <a:r>
                  <a:rPr lang="zh-CN" altLang="en-US" b="0" dirty="0">
                    <a:solidFill>
                      <a:srgbClr val="FF0000"/>
                    </a:solidFill>
                  </a:rPr>
                  <a:t>线性时不变</a:t>
                </a:r>
                <a:r>
                  <a:rPr lang="zh-CN" altLang="en-US" b="0" dirty="0"/>
                  <a:t>系统对</a:t>
                </a:r>
                <a14:m>
                  <m:oMath xmlns:m="http://schemas.openxmlformats.org/officeDocument/2006/math">
                    <m:r>
                      <a:rPr lang="en-US" i="1">
                        <a:solidFill>
                          <a:srgbClr val="000000"/>
                        </a:solidFill>
                        <a:latin typeface="Cambria Math" panose="02040503050406030204" pitchFamily="18" charset="0"/>
                      </a:rPr>
                      <m:t>𝛿</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𝑡</m:t>
                    </m:r>
                    <m:r>
                      <a:rPr lang="en-US" i="1">
                        <a:solidFill>
                          <a:srgbClr val="000000"/>
                        </a:solidFill>
                        <a:latin typeface="Cambria Math" panose="02040503050406030204" pitchFamily="18" charset="0"/>
                      </a:rPr>
                      <m:t>)</m:t>
                    </m:r>
                  </m:oMath>
                </a14:m>
                <a:r>
                  <a:rPr lang="zh-CN" altLang="en-US" b="0" dirty="0"/>
                  <a:t>的响应为</a:t>
                </a:r>
                <a14:m>
                  <m:oMath xmlns:m="http://schemas.openxmlformats.org/officeDocument/2006/math">
                    <m:r>
                      <a:rPr lang="en-US" i="1">
                        <a:solidFill>
                          <a:srgbClr val="000000"/>
                        </a:solidFill>
                        <a:latin typeface="Cambria Math" panose="02040503050406030204" pitchFamily="18" charset="0"/>
                      </a:rPr>
                      <m:t>h</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𝑡</m:t>
                    </m:r>
                    <m:r>
                      <a:rPr lang="en-US" i="1">
                        <a:solidFill>
                          <a:srgbClr val="000000"/>
                        </a:solidFill>
                        <a:latin typeface="Cambria Math" panose="02040503050406030204" pitchFamily="18" charset="0"/>
                      </a:rPr>
                      <m:t>)</m:t>
                    </m:r>
                  </m:oMath>
                </a14:m>
                <a:r>
                  <a:rPr lang="zh-CN" altLang="en-US" b="0" dirty="0"/>
                  <a:t>，则该系统对任意输入</a:t>
                </a:r>
                <a14:m>
                  <m:oMath xmlns:m="http://schemas.openxmlformats.org/officeDocument/2006/math">
                    <m:r>
                      <a:rPr lang="en-US" i="1" smtClean="0">
                        <a:solidFill>
                          <a:srgbClr val="000000"/>
                        </a:solidFill>
                        <a:latin typeface="Cambria Math" panose="02040503050406030204" pitchFamily="18" charset="0"/>
                      </a:rPr>
                      <m:t>𝑥</m:t>
                    </m:r>
                    <m:r>
                      <a:rPr lang="en-US" i="1" smtClean="0">
                        <a:solidFill>
                          <a:srgbClr val="000000"/>
                        </a:solidFill>
                        <a:latin typeface="Cambria Math" panose="02040503050406030204" pitchFamily="18" charset="0"/>
                      </a:rPr>
                      <m:t>(</m:t>
                    </m:r>
                    <m:r>
                      <a:rPr lang="en-US" i="1" smtClean="0">
                        <a:solidFill>
                          <a:srgbClr val="000000"/>
                        </a:solidFill>
                        <a:latin typeface="Cambria Math" panose="02040503050406030204" pitchFamily="18" charset="0"/>
                      </a:rPr>
                      <m:t>𝑡</m:t>
                    </m:r>
                    <m:r>
                      <a:rPr lang="en-US" i="1" smtClean="0">
                        <a:solidFill>
                          <a:srgbClr val="000000"/>
                        </a:solidFill>
                        <a:latin typeface="Cambria Math" panose="02040503050406030204" pitchFamily="18" charset="0"/>
                      </a:rPr>
                      <m:t>)</m:t>
                    </m:r>
                  </m:oMath>
                </a14:m>
                <a:r>
                  <a:rPr lang="zh-CN" altLang="en-US" b="0" dirty="0"/>
                  <a:t>的响应可表示为：</a:t>
                </a:r>
              </a:p>
            </p:txBody>
          </p:sp>
        </mc:Choice>
        <mc:Fallback xmlns="">
          <p:sp>
            <p:nvSpPr>
              <p:cNvPr id="28683" name="内容占位符 2">
                <a:extLst>
                  <a:ext uri="{FF2B5EF4-FFF2-40B4-BE49-F238E27FC236}">
                    <a16:creationId xmlns:a16="http://schemas.microsoft.com/office/drawing/2014/main" id="{C757B5FA-D618-439B-92F1-A3D966878867}"/>
                  </a:ext>
                </a:extLst>
              </p:cNvPr>
              <p:cNvSpPr>
                <a:spLocks noGrp="1" noRot="1" noChangeAspect="1" noMove="1" noResize="1" noEditPoints="1" noAdjustHandles="1" noChangeArrowheads="1" noChangeShapeType="1" noTextEdit="1"/>
              </p:cNvSpPr>
              <p:nvPr>
                <p:ph idx="1"/>
              </p:nvPr>
            </p:nvSpPr>
            <p:spPr>
              <a:xfrm>
                <a:off x="457200" y="1285875"/>
                <a:ext cx="8229600" cy="2043123"/>
              </a:xfrm>
              <a:blipFill>
                <a:blip r:embed="rId2"/>
                <a:stretch>
                  <a:fillRect l="-1333" t="-2687" r="-1481" b="-7463"/>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3A018C8A-51F5-49E2-9478-0DF4568778E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9FEF1A7-AC98-4CD8-80DD-2656F0CF5A94}" type="slidenum">
              <a:rPr lang="zh-CN" altLang="en-US">
                <a:solidFill>
                  <a:srgbClr val="898989"/>
                </a:solidFill>
                <a:latin typeface="Calibri" panose="020F0502020204030204" pitchFamily="34" charset="0"/>
              </a:rPr>
              <a:pPr eaLnBrk="1" hangingPunct="1"/>
              <a:t>27</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28681" name="Object 10">
                <a:extLst>
                  <a:ext uri="{FF2B5EF4-FFF2-40B4-BE49-F238E27FC236}">
                    <a16:creationId xmlns:a16="http://schemas.microsoft.com/office/drawing/2014/main" id="{6FDB0C9B-0D7F-4F26-9EF7-3714AD01889F}"/>
                  </a:ext>
                </a:extLst>
              </p:cNvPr>
              <p:cNvSpPr txBox="1"/>
              <p:nvPr/>
            </p:nvSpPr>
            <p:spPr bwMode="auto">
              <a:xfrm>
                <a:off x="1691680" y="3559182"/>
                <a:ext cx="6436188" cy="1021946"/>
              </a:xfrm>
              <a:prstGeom prst="rect">
                <a:avLst/>
              </a:prstGeom>
              <a:solidFill>
                <a:srgbClr val="CCFFFF"/>
              </a:solidFill>
              <a:ln w="50800">
                <a:solidFill>
                  <a:srgbClr val="FF0000"/>
                </a:solidFill>
                <a:miter lim="800000"/>
                <a:headEnd/>
                <a:tailEnd/>
              </a:ln>
              <a:effectLst/>
            </p:spPr>
            <p:txBody>
              <a:bodyPr>
                <a:sp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rPr>
                        <m:t>𝑦</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𝑡</m:t>
                      </m:r>
                      <m:r>
                        <a:rPr lang="en-US" sz="2800" i="1" smtClean="0">
                          <a:solidFill>
                            <a:srgbClr val="FF0000"/>
                          </a:solidFill>
                          <a:latin typeface="Cambria Math" panose="02040503050406030204" pitchFamily="18" charset="0"/>
                        </a:rPr>
                        <m:t>)=</m:t>
                      </m:r>
                      <m:nary>
                        <m:naryPr>
                          <m:ctrlPr>
                            <a:rPr lang="en-US" sz="2800" i="1">
                              <a:solidFill>
                                <a:srgbClr val="FF0000"/>
                              </a:solidFill>
                              <a:latin typeface="Cambria Math" panose="02040503050406030204" pitchFamily="18" charset="0"/>
                            </a:rPr>
                          </m:ctrlPr>
                        </m:naryPr>
                        <m:sub>
                          <m:r>
                            <a:rPr lang="en-US" sz="2800" i="1">
                              <a:solidFill>
                                <a:srgbClr val="FF0000"/>
                              </a:solidFill>
                              <a:latin typeface="Cambria Math" panose="02040503050406030204" pitchFamily="18" charset="0"/>
                            </a:rPr>
                            <m:t>−∞</m:t>
                          </m:r>
                        </m:sub>
                        <m:sup>
                          <m:r>
                            <a:rPr lang="en-US" sz="2800" i="1">
                              <a:solidFill>
                                <a:srgbClr val="FF0000"/>
                              </a:solidFill>
                              <a:latin typeface="Cambria Math" panose="02040503050406030204" pitchFamily="18" charset="0"/>
                            </a:rPr>
                            <m:t>∞</m:t>
                          </m:r>
                        </m:sup>
                        <m:e>
                          <m:r>
                            <a:rPr lang="en-US" sz="2800" i="1">
                              <a:solidFill>
                                <a:srgbClr val="FF0000"/>
                              </a:solidFill>
                              <a:latin typeface="Cambria Math" panose="02040503050406030204" pitchFamily="18" charset="0"/>
                            </a:rPr>
                            <m:t>𝑥</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𝜏</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h</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𝜏</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𝑑</m:t>
                          </m:r>
                          <m:r>
                            <a:rPr lang="en-US" sz="2800" i="1">
                              <a:solidFill>
                                <a:srgbClr val="FF0000"/>
                              </a:solidFill>
                              <a:latin typeface="Cambria Math" panose="02040503050406030204" pitchFamily="18" charset="0"/>
                            </a:rPr>
                            <m:t>𝜏</m:t>
                          </m:r>
                        </m:e>
                      </m:nary>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𝑥</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h</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oMath>
                  </m:oMathPara>
                </a14:m>
                <a:endParaRPr lang="en-US" sz="2800" dirty="0">
                  <a:solidFill>
                    <a:srgbClr val="FF0000"/>
                  </a:solidFill>
                </a:endParaRPr>
              </a:p>
            </p:txBody>
          </p:sp>
        </mc:Choice>
        <mc:Fallback xmlns="">
          <p:sp>
            <p:nvSpPr>
              <p:cNvPr id="28681" name="Object 10">
                <a:extLst>
                  <a:ext uri="{FF2B5EF4-FFF2-40B4-BE49-F238E27FC236}">
                    <a16:creationId xmlns:a16="http://schemas.microsoft.com/office/drawing/2014/main" id="{6FDB0C9B-0D7F-4F26-9EF7-3714AD01889F}"/>
                  </a:ext>
                </a:extLst>
              </p:cNvPr>
              <p:cNvSpPr txBox="1">
                <a:spLocks noRot="1" noChangeAspect="1" noMove="1" noResize="1" noEditPoints="1" noAdjustHandles="1" noChangeArrowheads="1" noChangeShapeType="1" noTextEdit="1"/>
              </p:cNvSpPr>
              <p:nvPr/>
            </p:nvSpPr>
            <p:spPr bwMode="auto">
              <a:xfrm>
                <a:off x="1691680" y="3559182"/>
                <a:ext cx="6436188" cy="1021946"/>
              </a:xfrm>
              <a:prstGeom prst="rect">
                <a:avLst/>
              </a:prstGeom>
              <a:blipFill>
                <a:blip r:embed="rId3"/>
                <a:stretch>
                  <a:fillRect/>
                </a:stretch>
              </a:blipFill>
              <a:ln w="50800">
                <a:solidFill>
                  <a:srgbClr val="FF0000"/>
                </a:solidFill>
                <a:miter lim="800000"/>
                <a:headEnd/>
                <a:tailEnd/>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A061A92E-17DA-4C1D-8498-671161AA8098}"/>
                  </a:ext>
                </a:extLst>
              </p:cNvPr>
              <p:cNvSpPr txBox="1"/>
              <p:nvPr/>
            </p:nvSpPr>
            <p:spPr>
              <a:xfrm>
                <a:off x="457200" y="4797152"/>
                <a:ext cx="8291264" cy="1492203"/>
              </a:xfrm>
              <a:prstGeom prst="rect">
                <a:avLst/>
              </a:prstGeom>
              <a:noFill/>
            </p:spPr>
            <p:txBody>
              <a:bodyPr wrap="square">
                <a:spAutoFit/>
              </a:bodyPr>
              <a:lstStyle/>
              <a:p>
                <a:pPr marL="742950" lvl="1" indent="-285750" algn="just" eaLnBrk="0" hangingPunct="0">
                  <a:lnSpc>
                    <a:spcPct val="110000"/>
                  </a:lnSpc>
                  <a:spcBef>
                    <a:spcPts val="0"/>
                  </a:spcBef>
                  <a:buFont typeface="Arial" panose="020B0604020202020204" pitchFamily="34" charset="0"/>
                  <a:buChar char="–"/>
                  <a:defRPr/>
                </a:pPr>
                <a:r>
                  <a:rPr lang="zh-CN" altLang="en-US" sz="2800" dirty="0">
                    <a:solidFill>
                      <a:prstClr val="black"/>
                    </a:solidFill>
                    <a:latin typeface="Times New Roman" pitchFamily="18" charset="0"/>
                    <a:ea typeface="华文楷体" pitchFamily="2" charset="-122"/>
                  </a:rPr>
                  <a:t>这种求得系统响应的运算关系称为</a:t>
                </a:r>
                <a:r>
                  <a:rPr lang="zh-CN" altLang="en-US" sz="2800" b="1" dirty="0">
                    <a:solidFill>
                      <a:srgbClr val="FF0000"/>
                    </a:solidFill>
                    <a:latin typeface="Times New Roman" pitchFamily="18" charset="0"/>
                    <a:ea typeface="华文楷体" pitchFamily="2" charset="-122"/>
                  </a:rPr>
                  <a:t>卷积积分</a:t>
                </a:r>
                <a:r>
                  <a:rPr lang="zh-CN" altLang="en-US" sz="2800" dirty="0">
                    <a:solidFill>
                      <a:prstClr val="black"/>
                    </a:solidFill>
                    <a:latin typeface="Times New Roman" pitchFamily="18" charset="0"/>
                    <a:ea typeface="华文楷体" pitchFamily="2" charset="-122"/>
                  </a:rPr>
                  <a:t>。该式表明</a:t>
                </a:r>
                <a:r>
                  <a:rPr kumimoji="0" lang="zh-CN" altLang="en-US" sz="2800" i="0" u="none" strike="noStrike" kern="1200" cap="none" spc="0" normalizeH="0" baseline="0" noProof="0" dirty="0">
                    <a:ln>
                      <a:noFill/>
                    </a:ln>
                    <a:solidFill>
                      <a:prstClr val="black"/>
                    </a:solidFill>
                    <a:effectLst/>
                    <a:uLnTx/>
                    <a:uFillTx/>
                    <a:latin typeface="Times New Roman" pitchFamily="18" charset="0"/>
                    <a:ea typeface="华文楷体" pitchFamily="2" charset="-122"/>
                  </a:rPr>
                  <a:t>：</a:t>
                </a:r>
                <a:r>
                  <a:rPr kumimoji="0" lang="en-US" altLang="zh-CN" sz="2800" i="0" u="none" strike="noStrike" kern="1200" cap="none" spc="0" normalizeH="0" baseline="0" noProof="0" dirty="0">
                    <a:ln>
                      <a:noFill/>
                    </a:ln>
                    <a:solidFill>
                      <a:srgbClr val="FF0000"/>
                    </a:solidFill>
                    <a:effectLst/>
                    <a:uLnTx/>
                    <a:uFillTx/>
                    <a:latin typeface="Times New Roman" pitchFamily="18" charset="0"/>
                    <a:ea typeface="华文楷体" pitchFamily="2" charset="-122"/>
                  </a:rPr>
                  <a:t>LTI</a:t>
                </a:r>
                <a:r>
                  <a:rPr kumimoji="0" lang="zh-CN" altLang="en-US" sz="2800" i="0" u="none" strike="noStrike" kern="1200" cap="none" spc="0" normalizeH="0" baseline="0" noProof="0" dirty="0">
                    <a:ln>
                      <a:noFill/>
                    </a:ln>
                    <a:solidFill>
                      <a:srgbClr val="FF0000"/>
                    </a:solidFill>
                    <a:effectLst/>
                    <a:uLnTx/>
                    <a:uFillTx/>
                    <a:latin typeface="Times New Roman" pitchFamily="18" charset="0"/>
                    <a:ea typeface="华文楷体" pitchFamily="2" charset="-122"/>
                  </a:rPr>
                  <a:t>系统可以完全由它的单位冲激响应</a:t>
                </a:r>
                <a14:m>
                  <m:oMath xmlns:m="http://schemas.openxmlformats.org/officeDocument/2006/math">
                    <m:r>
                      <a:rPr lang="en-US" sz="2800" i="1" smtClean="0">
                        <a:solidFill>
                          <a:srgbClr val="FF0000"/>
                        </a:solidFill>
                        <a:latin typeface="Cambria Math" panose="02040503050406030204" pitchFamily="18" charset="0"/>
                      </a:rPr>
                      <m:t>h</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𝑡</m:t>
                    </m:r>
                    <m:r>
                      <a:rPr lang="en-US" sz="2800" i="1" smtClean="0">
                        <a:solidFill>
                          <a:srgbClr val="FF0000"/>
                        </a:solidFill>
                        <a:latin typeface="Cambria Math" panose="02040503050406030204" pitchFamily="18" charset="0"/>
                      </a:rPr>
                      <m:t>)</m:t>
                    </m:r>
                  </m:oMath>
                </a14:m>
                <a:r>
                  <a:rPr kumimoji="0" lang="zh-CN" altLang="en-US" sz="2800" i="0" u="none" strike="noStrike" kern="1200" cap="none" spc="0" normalizeH="0" baseline="0" noProof="0" dirty="0">
                    <a:ln>
                      <a:noFill/>
                    </a:ln>
                    <a:solidFill>
                      <a:srgbClr val="FF0000"/>
                    </a:solidFill>
                    <a:effectLst/>
                    <a:uLnTx/>
                    <a:uFillTx/>
                    <a:latin typeface="Times New Roman" pitchFamily="18" charset="0"/>
                    <a:ea typeface="华文楷体" pitchFamily="2" charset="-122"/>
                  </a:rPr>
                  <a:t>来表征。</a:t>
                </a:r>
                <a:endParaRPr kumimoji="0" lang="en-US" altLang="zh-CN" sz="2800" i="0" u="none" strike="noStrike" kern="1200" cap="none" spc="0" normalizeH="0" baseline="0" noProof="0" dirty="0">
                  <a:ln>
                    <a:noFill/>
                  </a:ln>
                  <a:solidFill>
                    <a:prstClr val="black"/>
                  </a:solidFill>
                  <a:effectLst/>
                  <a:uLnTx/>
                  <a:uFillTx/>
                  <a:latin typeface="Times New Roman" pitchFamily="18" charset="0"/>
                  <a:ea typeface="华文楷体" pitchFamily="2" charset="-122"/>
                </a:endParaRPr>
              </a:p>
            </p:txBody>
          </p:sp>
        </mc:Choice>
        <mc:Fallback xmlns="">
          <p:sp>
            <p:nvSpPr>
              <p:cNvPr id="32" name="文本框 31">
                <a:extLst>
                  <a:ext uri="{FF2B5EF4-FFF2-40B4-BE49-F238E27FC236}">
                    <a16:creationId xmlns:a16="http://schemas.microsoft.com/office/drawing/2014/main" id="{A061A92E-17DA-4C1D-8498-671161AA8098}"/>
                  </a:ext>
                </a:extLst>
              </p:cNvPr>
              <p:cNvSpPr txBox="1">
                <a:spLocks noRot="1" noChangeAspect="1" noMove="1" noResize="1" noEditPoints="1" noAdjustHandles="1" noChangeArrowheads="1" noChangeShapeType="1" noTextEdit="1"/>
              </p:cNvSpPr>
              <p:nvPr/>
            </p:nvSpPr>
            <p:spPr>
              <a:xfrm>
                <a:off x="457200" y="4797152"/>
                <a:ext cx="8291264" cy="1492203"/>
              </a:xfrm>
              <a:prstGeom prst="rect">
                <a:avLst/>
              </a:prstGeom>
              <a:blipFill>
                <a:blip r:embed="rId4"/>
                <a:stretch>
                  <a:fillRect t="-2857" r="-1471" b="-10612"/>
                </a:stretch>
              </a:blipFill>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标题 1">
            <a:extLst>
              <a:ext uri="{FF2B5EF4-FFF2-40B4-BE49-F238E27FC236}">
                <a16:creationId xmlns:a16="http://schemas.microsoft.com/office/drawing/2014/main" id="{69C77328-75E6-4A53-A888-3F45760D16DF}"/>
              </a:ext>
            </a:extLst>
          </p:cNvPr>
          <p:cNvSpPr>
            <a:spLocks noGrp="1"/>
          </p:cNvSpPr>
          <p:nvPr>
            <p:ph type="title"/>
          </p:nvPr>
        </p:nvSpPr>
        <p:spPr/>
        <p:txBody>
          <a:bodyPr/>
          <a:lstStyle/>
          <a:p>
            <a:r>
              <a:rPr lang="en-US" altLang="zh-CN" sz="4000"/>
              <a:t>2.2 </a:t>
            </a:r>
            <a:r>
              <a:rPr lang="zh-CN" altLang="en-US" sz="4000"/>
              <a:t>连续时间</a:t>
            </a:r>
            <a:r>
              <a:rPr lang="en-US" altLang="zh-CN" sz="4000"/>
              <a:t>LTI</a:t>
            </a:r>
            <a:r>
              <a:rPr lang="zh-CN" altLang="en-US" sz="4000"/>
              <a:t>系统：卷积积分</a:t>
            </a:r>
          </a:p>
        </p:txBody>
      </p:sp>
      <mc:AlternateContent xmlns:mc="http://schemas.openxmlformats.org/markup-compatibility/2006" xmlns:a14="http://schemas.microsoft.com/office/drawing/2010/main">
        <mc:Choice Requires="a14">
          <p:sp>
            <p:nvSpPr>
              <p:cNvPr id="29701" name="内容占位符 2">
                <a:extLst>
                  <a:ext uri="{FF2B5EF4-FFF2-40B4-BE49-F238E27FC236}">
                    <a16:creationId xmlns:a16="http://schemas.microsoft.com/office/drawing/2014/main" id="{ADC4C86D-DB66-434E-A538-3DEAFF93E405}"/>
                  </a:ext>
                </a:extLst>
              </p:cNvPr>
              <p:cNvSpPr>
                <a:spLocks noGrp="1"/>
              </p:cNvSpPr>
              <p:nvPr>
                <p:ph idx="1"/>
              </p:nvPr>
            </p:nvSpPr>
            <p:spPr>
              <a:xfrm>
                <a:off x="457200" y="1285875"/>
                <a:ext cx="8229600" cy="5077672"/>
              </a:xfrm>
            </p:spPr>
            <p:txBody>
              <a:bodyPr>
                <a:spAutoFit/>
              </a:bodyPr>
              <a:lstStyle/>
              <a:p>
                <a:pPr algn="just">
                  <a:spcBef>
                    <a:spcPts val="0"/>
                  </a:spcBef>
                  <a:spcAft>
                    <a:spcPts val="600"/>
                  </a:spcAft>
                </a:pPr>
                <a:r>
                  <a:rPr lang="zh-CN" altLang="en-US" sz="2800" b="0" dirty="0"/>
                  <a:t>三</a:t>
                </a:r>
                <a:r>
                  <a:rPr lang="en-US" altLang="zh-CN" sz="2800" b="0" dirty="0"/>
                  <a:t>. </a:t>
                </a:r>
                <a:r>
                  <a:rPr lang="zh-CN" altLang="en-US" sz="2800" b="0" dirty="0"/>
                  <a:t>卷积积分的计算</a:t>
                </a:r>
                <a:endParaRPr lang="en-US" altLang="zh-CN" sz="2800" b="0" dirty="0"/>
              </a:p>
              <a:p>
                <a:pPr lvl="1" algn="just">
                  <a:spcBef>
                    <a:spcPts val="0"/>
                  </a:spcBef>
                  <a:spcAft>
                    <a:spcPts val="600"/>
                  </a:spcAft>
                </a:pPr>
                <a:r>
                  <a:rPr lang="zh-CN" altLang="en-US" b="0" dirty="0"/>
                  <a:t>求卷积积分</a:t>
                </a:r>
                <a14:m>
                  <m:oMath xmlns:m="http://schemas.openxmlformats.org/officeDocument/2006/math">
                    <m:r>
                      <a:rPr lang="en-US" b="0" i="1" smtClean="0">
                        <a:solidFill>
                          <a:srgbClr val="000000"/>
                        </a:solidFill>
                        <a:latin typeface="Cambria Math" panose="02040503050406030204" pitchFamily="18" charset="0"/>
                      </a:rPr>
                      <m:t>𝑥</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𝑡</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h</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𝑡</m:t>
                    </m:r>
                    <m:r>
                      <a:rPr lang="en-US" b="0" i="1" smtClean="0">
                        <a:solidFill>
                          <a:srgbClr val="000000"/>
                        </a:solidFill>
                        <a:latin typeface="Cambria Math" panose="02040503050406030204" pitchFamily="18" charset="0"/>
                      </a:rPr>
                      <m:t>)=</m:t>
                    </m:r>
                    <m:nary>
                      <m:naryPr>
                        <m:ctrlPr>
                          <a:rPr lang="en-US" b="0" i="1">
                            <a:solidFill>
                              <a:srgbClr val="000000"/>
                            </a:solidFill>
                            <a:latin typeface="Cambria Math" panose="02040503050406030204" pitchFamily="18" charset="0"/>
                          </a:rPr>
                        </m:ctrlPr>
                      </m:naryPr>
                      <m:sub>
                        <m:r>
                          <a:rPr lang="en-US" b="0" i="1" smtClean="0">
                            <a:solidFill>
                              <a:srgbClr val="000000"/>
                            </a:solidFill>
                            <a:latin typeface="Cambria Math" panose="02040503050406030204" pitchFamily="18" charset="0"/>
                          </a:rPr>
                          <m:t>−∞</m:t>
                        </m:r>
                      </m:sub>
                      <m:sup>
                        <m:r>
                          <a:rPr lang="en-US" b="0" i="1" smtClean="0">
                            <a:solidFill>
                              <a:srgbClr val="000000"/>
                            </a:solidFill>
                            <a:latin typeface="Cambria Math" panose="02040503050406030204" pitchFamily="18" charset="0"/>
                          </a:rPr>
                          <m:t>+∞</m:t>
                        </m:r>
                      </m:sup>
                      <m:e>
                        <m:r>
                          <a:rPr lang="en-US" b="0" i="1" smtClean="0">
                            <a:solidFill>
                              <a:srgbClr val="000000"/>
                            </a:solidFill>
                            <a:latin typeface="Cambria Math" panose="02040503050406030204" pitchFamily="18" charset="0"/>
                          </a:rPr>
                          <m:t>𝑥</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𝜏</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h</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𝑡</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𝜏</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𝑑</m:t>
                        </m:r>
                        <m:r>
                          <a:rPr lang="en-US" b="0" i="1" smtClean="0">
                            <a:solidFill>
                              <a:srgbClr val="000000"/>
                            </a:solidFill>
                            <a:latin typeface="Cambria Math" panose="02040503050406030204" pitchFamily="18" charset="0"/>
                          </a:rPr>
                          <m:t>𝜏</m:t>
                        </m:r>
                      </m:e>
                    </m:nary>
                  </m:oMath>
                </a14:m>
                <a:r>
                  <a:rPr lang="zh-CN" altLang="en-US" b="0" dirty="0"/>
                  <a:t>的过程与卷积和计算过程相似。</a:t>
                </a:r>
                <a:endParaRPr lang="en-US" altLang="zh-CN" b="0" dirty="0"/>
              </a:p>
              <a:p>
                <a:pPr marL="1166813" lvl="1" indent="-333375" algn="just">
                  <a:spcBef>
                    <a:spcPts val="0"/>
                  </a:spcBef>
                  <a:spcAft>
                    <a:spcPts val="600"/>
                  </a:spcAft>
                  <a:buFont typeface="+mj-lt"/>
                  <a:buAutoNum type="arabicPeriod"/>
                  <a:defRPr/>
                </a:pPr>
                <a:r>
                  <a:rPr lang="zh-CN" altLang="en-US" b="0" dirty="0"/>
                  <a:t>将</a:t>
                </a:r>
                <a14:m>
                  <m:oMath xmlns:m="http://schemas.openxmlformats.org/officeDocument/2006/math">
                    <m:r>
                      <a:rPr lang="en-US" b="0" i="1" smtClean="0">
                        <a:solidFill>
                          <a:srgbClr val="000000"/>
                        </a:solidFill>
                        <a:latin typeface="Cambria Math" panose="02040503050406030204" pitchFamily="18" charset="0"/>
                      </a:rPr>
                      <m:t>𝑥</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𝑡</m:t>
                    </m:r>
                    <m:r>
                      <a:rPr lang="en-US" b="0" i="1" smtClean="0">
                        <a:solidFill>
                          <a:srgbClr val="000000"/>
                        </a:solidFill>
                        <a:latin typeface="Cambria Math" panose="02040503050406030204" pitchFamily="18" charset="0"/>
                      </a:rPr>
                      <m:t>)</m:t>
                    </m:r>
                  </m:oMath>
                </a14:m>
                <a:r>
                  <a:rPr lang="zh-CN" altLang="en-US" b="0" dirty="0"/>
                  <a:t>与</a:t>
                </a:r>
                <a14:m>
                  <m:oMath xmlns:m="http://schemas.openxmlformats.org/officeDocument/2006/math">
                    <m:r>
                      <a:rPr lang="en-US" b="0" i="1">
                        <a:solidFill>
                          <a:srgbClr val="000000"/>
                        </a:solidFill>
                        <a:latin typeface="Cambria Math" panose="02040503050406030204" pitchFamily="18" charset="0"/>
                      </a:rPr>
                      <m:t>h</m:t>
                    </m:r>
                    <m:r>
                      <a:rPr lang="en-US" b="0" i="1">
                        <a:solidFill>
                          <a:srgbClr val="000000"/>
                        </a:solidFill>
                        <a:latin typeface="Cambria Math" panose="02040503050406030204" pitchFamily="18" charset="0"/>
                      </a:rPr>
                      <m:t>(</m:t>
                    </m:r>
                    <m:r>
                      <a:rPr lang="en-US" b="0" i="1">
                        <a:solidFill>
                          <a:srgbClr val="000000"/>
                        </a:solidFill>
                        <a:latin typeface="Cambria Math" panose="02040503050406030204" pitchFamily="18" charset="0"/>
                      </a:rPr>
                      <m:t>𝑡</m:t>
                    </m:r>
                    <m:r>
                      <a:rPr lang="en-US" b="0" i="1" smtClean="0">
                        <a:solidFill>
                          <a:srgbClr val="000000"/>
                        </a:solidFill>
                        <a:latin typeface="Cambria Math" panose="02040503050406030204" pitchFamily="18" charset="0"/>
                      </a:rPr>
                      <m:t>)</m:t>
                    </m:r>
                  </m:oMath>
                </a14:m>
                <a:r>
                  <a:rPr lang="zh-CN" altLang="en-US" b="0" dirty="0"/>
                  <a:t>变为</a:t>
                </a:r>
                <a14:m>
                  <m:oMath xmlns:m="http://schemas.openxmlformats.org/officeDocument/2006/math">
                    <m:r>
                      <a:rPr lang="en-US" b="0" i="1">
                        <a:solidFill>
                          <a:srgbClr val="000000"/>
                        </a:solidFill>
                        <a:latin typeface="Cambria Math" panose="02040503050406030204" pitchFamily="18" charset="0"/>
                      </a:rPr>
                      <m:t>𝑥</m:t>
                    </m:r>
                    <m:r>
                      <a:rPr lang="en-US" b="0" i="1">
                        <a:solidFill>
                          <a:srgbClr val="000000"/>
                        </a:solidFill>
                        <a:latin typeface="Cambria Math" panose="02040503050406030204" pitchFamily="18" charset="0"/>
                      </a:rPr>
                      <m:t>(</m:t>
                    </m:r>
                    <m:r>
                      <a:rPr lang="en-US" b="0" i="1">
                        <a:solidFill>
                          <a:srgbClr val="000000"/>
                        </a:solidFill>
                        <a:latin typeface="Cambria Math" panose="02040503050406030204" pitchFamily="18" charset="0"/>
                      </a:rPr>
                      <m:t>𝜏</m:t>
                    </m:r>
                    <m:r>
                      <a:rPr lang="en-US" b="0" i="1">
                        <a:solidFill>
                          <a:srgbClr val="000000"/>
                        </a:solidFill>
                        <a:latin typeface="Cambria Math" panose="02040503050406030204" pitchFamily="18" charset="0"/>
                      </a:rPr>
                      <m:t>)</m:t>
                    </m:r>
                  </m:oMath>
                </a14:m>
                <a:r>
                  <a:rPr lang="zh-CN" altLang="en-US" b="0" dirty="0"/>
                  <a:t>与</a:t>
                </a:r>
                <a14:m>
                  <m:oMath xmlns:m="http://schemas.openxmlformats.org/officeDocument/2006/math">
                    <m:r>
                      <a:rPr lang="en-US" b="0" i="1" smtClean="0">
                        <a:solidFill>
                          <a:srgbClr val="000000"/>
                        </a:solidFill>
                        <a:latin typeface="Cambria Math" panose="02040503050406030204" pitchFamily="18" charset="0"/>
                      </a:rPr>
                      <m:t>h</m:t>
                    </m:r>
                    <m:r>
                      <a:rPr lang="en-US" b="0" i="1">
                        <a:solidFill>
                          <a:srgbClr val="000000"/>
                        </a:solidFill>
                        <a:latin typeface="Cambria Math" panose="02040503050406030204" pitchFamily="18" charset="0"/>
                      </a:rPr>
                      <m:t>(</m:t>
                    </m:r>
                    <m:r>
                      <a:rPr lang="en-US" b="0" i="1">
                        <a:solidFill>
                          <a:srgbClr val="000000"/>
                        </a:solidFill>
                        <a:latin typeface="Cambria Math" panose="02040503050406030204" pitchFamily="18" charset="0"/>
                      </a:rPr>
                      <m:t>𝜏</m:t>
                    </m:r>
                    <m:r>
                      <a:rPr lang="en-US" b="0" i="1">
                        <a:solidFill>
                          <a:srgbClr val="000000"/>
                        </a:solidFill>
                        <a:latin typeface="Cambria Math" panose="02040503050406030204" pitchFamily="18" charset="0"/>
                      </a:rPr>
                      <m:t>)</m:t>
                    </m:r>
                  </m:oMath>
                </a14:m>
                <a:r>
                  <a:rPr lang="zh-CN" altLang="en-US" b="0" dirty="0"/>
                  <a:t>，以</a:t>
                </a:r>
                <a14:m>
                  <m:oMath xmlns:m="http://schemas.openxmlformats.org/officeDocument/2006/math">
                    <m:r>
                      <a:rPr lang="en-US" b="0" i="1">
                        <a:solidFill>
                          <a:srgbClr val="000000"/>
                        </a:solidFill>
                        <a:latin typeface="Cambria Math" panose="02040503050406030204" pitchFamily="18" charset="0"/>
                      </a:rPr>
                      <m:t>𝜏</m:t>
                    </m:r>
                  </m:oMath>
                </a14:m>
                <a:r>
                  <a:rPr lang="zh-CN" altLang="en-US" b="0" dirty="0"/>
                  <a:t>为积分变量；</a:t>
                </a:r>
              </a:p>
              <a:p>
                <a:pPr marL="1166813" lvl="1" indent="-333375" algn="just">
                  <a:spcBef>
                    <a:spcPts val="0"/>
                  </a:spcBef>
                  <a:spcAft>
                    <a:spcPts val="600"/>
                  </a:spcAft>
                  <a:buFont typeface="+mj-lt"/>
                  <a:buAutoNum type="arabicPeriod"/>
                  <a:defRPr/>
                </a:pPr>
                <a:r>
                  <a:rPr lang="zh-CN" altLang="en-US" b="0" dirty="0"/>
                  <a:t>将</a:t>
                </a:r>
                <a14:m>
                  <m:oMath xmlns:m="http://schemas.openxmlformats.org/officeDocument/2006/math">
                    <m:r>
                      <a:rPr lang="en-US" b="0" i="1" smtClean="0">
                        <a:solidFill>
                          <a:srgbClr val="000000"/>
                        </a:solidFill>
                        <a:latin typeface="Cambria Math" panose="02040503050406030204" pitchFamily="18" charset="0"/>
                      </a:rPr>
                      <m:t>h</m:t>
                    </m:r>
                    <m:r>
                      <a:rPr lang="en-US" b="0" i="1">
                        <a:solidFill>
                          <a:srgbClr val="000000"/>
                        </a:solidFill>
                        <a:latin typeface="Cambria Math" panose="02040503050406030204" pitchFamily="18" charset="0"/>
                      </a:rPr>
                      <m:t>(</m:t>
                    </m:r>
                    <m:r>
                      <a:rPr lang="en-US" b="0" i="1">
                        <a:solidFill>
                          <a:srgbClr val="000000"/>
                        </a:solidFill>
                        <a:latin typeface="Cambria Math" panose="02040503050406030204" pitchFamily="18" charset="0"/>
                      </a:rPr>
                      <m:t>𝜏</m:t>
                    </m:r>
                    <m:r>
                      <a:rPr lang="en-US" b="0" i="1">
                        <a:solidFill>
                          <a:srgbClr val="000000"/>
                        </a:solidFill>
                        <a:latin typeface="Cambria Math" panose="02040503050406030204" pitchFamily="18" charset="0"/>
                      </a:rPr>
                      <m:t>)</m:t>
                    </m:r>
                  </m:oMath>
                </a14:m>
                <a:r>
                  <a:rPr lang="zh-CN" altLang="en-US" b="0" dirty="0"/>
                  <a:t>变为</a:t>
                </a:r>
                <a14:m>
                  <m:oMath xmlns:m="http://schemas.openxmlformats.org/officeDocument/2006/math">
                    <m:r>
                      <a:rPr lang="en-US" b="0" i="1">
                        <a:solidFill>
                          <a:srgbClr val="000000"/>
                        </a:solidFill>
                        <a:latin typeface="Cambria Math" panose="02040503050406030204" pitchFamily="18" charset="0"/>
                      </a:rPr>
                      <m:t>h</m:t>
                    </m:r>
                    <m:r>
                      <a:rPr lang="en-US" b="0" i="1">
                        <a:solidFill>
                          <a:srgbClr val="000000"/>
                        </a:solidFill>
                        <a:latin typeface="Cambria Math" panose="02040503050406030204" pitchFamily="18" charset="0"/>
                      </a:rPr>
                      <m:t>(−</m:t>
                    </m:r>
                    <m:r>
                      <a:rPr lang="en-US" b="0" i="1">
                        <a:solidFill>
                          <a:srgbClr val="000000"/>
                        </a:solidFill>
                        <a:latin typeface="Cambria Math" panose="02040503050406030204" pitchFamily="18" charset="0"/>
                      </a:rPr>
                      <m:t>𝜏</m:t>
                    </m:r>
                    <m:r>
                      <a:rPr lang="en-US" b="0" i="1">
                        <a:solidFill>
                          <a:srgbClr val="000000"/>
                        </a:solidFill>
                        <a:latin typeface="Cambria Math" panose="02040503050406030204" pitchFamily="18" charset="0"/>
                      </a:rPr>
                      <m:t>)</m:t>
                    </m:r>
                  </m:oMath>
                </a14:m>
                <a:r>
                  <a:rPr lang="zh-CN" altLang="en-US" b="0" dirty="0"/>
                  <a:t>；</a:t>
                </a:r>
              </a:p>
              <a:p>
                <a:pPr marL="1166813" lvl="1" indent="-333375" algn="just">
                  <a:spcBef>
                    <a:spcPts val="0"/>
                  </a:spcBef>
                  <a:spcAft>
                    <a:spcPts val="600"/>
                  </a:spcAft>
                  <a:buFont typeface="+mj-lt"/>
                  <a:buAutoNum type="arabicPeriod"/>
                  <a:defRPr/>
                </a:pPr>
                <a:r>
                  <a:rPr lang="zh-CN" altLang="en-US" b="0" dirty="0"/>
                  <a:t>将</a:t>
                </a:r>
                <a14:m>
                  <m:oMath xmlns:m="http://schemas.openxmlformats.org/officeDocument/2006/math">
                    <m:r>
                      <a:rPr lang="en-US" b="0" i="1" smtClean="0">
                        <a:solidFill>
                          <a:srgbClr val="000000"/>
                        </a:solidFill>
                        <a:latin typeface="Cambria Math" panose="02040503050406030204" pitchFamily="18" charset="0"/>
                      </a:rPr>
                      <m:t>h</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𝜏</m:t>
                    </m:r>
                    <m:r>
                      <a:rPr lang="en-US" b="0" i="1" smtClean="0">
                        <a:solidFill>
                          <a:srgbClr val="000000"/>
                        </a:solidFill>
                        <a:latin typeface="Cambria Math" panose="02040503050406030204" pitchFamily="18" charset="0"/>
                      </a:rPr>
                      <m:t>)</m:t>
                    </m:r>
                  </m:oMath>
                </a14:m>
                <a:r>
                  <a:rPr lang="zh-CN" altLang="en-US" b="0" dirty="0"/>
                  <a:t>平移</a:t>
                </a:r>
                <a14:m>
                  <m:oMath xmlns:m="http://schemas.openxmlformats.org/officeDocument/2006/math">
                    <m:r>
                      <a:rPr lang="en-US" b="0" i="1">
                        <a:solidFill>
                          <a:srgbClr val="000000"/>
                        </a:solidFill>
                        <a:latin typeface="Cambria Math" panose="02040503050406030204" pitchFamily="18" charset="0"/>
                      </a:rPr>
                      <m:t>𝑡</m:t>
                    </m:r>
                  </m:oMath>
                </a14:m>
                <a:r>
                  <a:rPr lang="zh-CN" altLang="en-US" b="0" dirty="0"/>
                  <a:t>，变为</a:t>
                </a:r>
                <a14:m>
                  <m:oMath xmlns:m="http://schemas.openxmlformats.org/officeDocument/2006/math">
                    <m:r>
                      <a:rPr lang="en-US" b="0" i="1">
                        <a:solidFill>
                          <a:srgbClr val="000000"/>
                        </a:solidFill>
                        <a:latin typeface="Cambria Math" panose="02040503050406030204" pitchFamily="18" charset="0"/>
                      </a:rPr>
                      <m:t>h</m:t>
                    </m:r>
                    <m:r>
                      <a:rPr lang="en-US" b="0" i="1">
                        <a:solidFill>
                          <a:srgbClr val="000000"/>
                        </a:solidFill>
                        <a:latin typeface="Cambria Math" panose="02040503050406030204" pitchFamily="18" charset="0"/>
                      </a:rPr>
                      <m:t>(</m:t>
                    </m:r>
                    <m:r>
                      <a:rPr lang="en-US" b="0" i="1">
                        <a:solidFill>
                          <a:srgbClr val="000000"/>
                        </a:solidFill>
                        <a:latin typeface="Cambria Math" panose="02040503050406030204" pitchFamily="18" charset="0"/>
                      </a:rPr>
                      <m:t>𝑡</m:t>
                    </m:r>
                    <m:r>
                      <a:rPr lang="en-US" b="0" i="1">
                        <a:solidFill>
                          <a:srgbClr val="000000"/>
                        </a:solidFill>
                        <a:latin typeface="Cambria Math" panose="02040503050406030204" pitchFamily="18" charset="0"/>
                      </a:rPr>
                      <m:t>−</m:t>
                    </m:r>
                    <m:r>
                      <a:rPr lang="en-US" b="0" i="1">
                        <a:solidFill>
                          <a:srgbClr val="000000"/>
                        </a:solidFill>
                        <a:latin typeface="Cambria Math" panose="02040503050406030204" pitchFamily="18" charset="0"/>
                      </a:rPr>
                      <m:t>𝜏</m:t>
                    </m:r>
                    <m:r>
                      <a:rPr lang="en-US" b="0" i="1">
                        <a:solidFill>
                          <a:srgbClr val="000000"/>
                        </a:solidFill>
                        <a:latin typeface="Cambria Math" panose="02040503050406030204" pitchFamily="18" charset="0"/>
                      </a:rPr>
                      <m:t>)</m:t>
                    </m:r>
                  </m:oMath>
                </a14:m>
                <a:r>
                  <a:rPr lang="zh-CN" altLang="en-US" b="0" dirty="0"/>
                  <a:t>；</a:t>
                </a:r>
              </a:p>
              <a:p>
                <a:pPr marL="1166813" lvl="1" indent="-333375" algn="just">
                  <a:spcBef>
                    <a:spcPts val="0"/>
                  </a:spcBef>
                  <a:spcAft>
                    <a:spcPts val="600"/>
                  </a:spcAft>
                  <a:buFont typeface="+mj-lt"/>
                  <a:buAutoNum type="arabicPeriod"/>
                  <a:defRPr/>
                </a:pPr>
                <a:r>
                  <a:rPr lang="zh-CN" altLang="en-US" b="0" dirty="0"/>
                  <a:t>将</a:t>
                </a:r>
                <a14:m>
                  <m:oMath xmlns:m="http://schemas.openxmlformats.org/officeDocument/2006/math">
                    <m:r>
                      <a:rPr lang="en-US" b="0" i="1" smtClean="0">
                        <a:solidFill>
                          <a:srgbClr val="000000"/>
                        </a:solidFill>
                        <a:latin typeface="Cambria Math" panose="02040503050406030204" pitchFamily="18" charset="0"/>
                      </a:rPr>
                      <m:t>𝑥</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𝜏</m:t>
                    </m:r>
                    <m:r>
                      <a:rPr lang="en-US" b="0" i="1" smtClean="0">
                        <a:solidFill>
                          <a:srgbClr val="000000"/>
                        </a:solidFill>
                        <a:latin typeface="Cambria Math" panose="02040503050406030204" pitchFamily="18" charset="0"/>
                      </a:rPr>
                      <m:t>)</m:t>
                    </m:r>
                  </m:oMath>
                </a14:m>
                <a:r>
                  <a:rPr lang="zh-CN" altLang="en-US" b="0" dirty="0"/>
                  <a:t>和</a:t>
                </a:r>
                <a14:m>
                  <m:oMath xmlns:m="http://schemas.openxmlformats.org/officeDocument/2006/math">
                    <m:r>
                      <a:rPr lang="en-US" b="0" i="1">
                        <a:solidFill>
                          <a:srgbClr val="000000"/>
                        </a:solidFill>
                        <a:latin typeface="Cambria Math" panose="02040503050406030204" pitchFamily="18" charset="0"/>
                      </a:rPr>
                      <m:t>h</m:t>
                    </m:r>
                    <m:r>
                      <a:rPr lang="en-US" b="0" i="1">
                        <a:solidFill>
                          <a:srgbClr val="000000"/>
                        </a:solidFill>
                        <a:latin typeface="Cambria Math" panose="02040503050406030204" pitchFamily="18" charset="0"/>
                      </a:rPr>
                      <m:t>(</m:t>
                    </m:r>
                    <m:r>
                      <a:rPr lang="en-US" b="0" i="1">
                        <a:solidFill>
                          <a:srgbClr val="000000"/>
                        </a:solidFill>
                        <a:latin typeface="Cambria Math" panose="02040503050406030204" pitchFamily="18" charset="0"/>
                      </a:rPr>
                      <m:t>𝑡</m:t>
                    </m:r>
                    <m:r>
                      <a:rPr lang="en-US" b="0" i="1">
                        <a:solidFill>
                          <a:srgbClr val="000000"/>
                        </a:solidFill>
                        <a:latin typeface="Cambria Math" panose="02040503050406030204" pitchFamily="18" charset="0"/>
                      </a:rPr>
                      <m:t>−</m:t>
                    </m:r>
                    <m:r>
                      <a:rPr lang="en-US" b="0" i="1">
                        <a:solidFill>
                          <a:srgbClr val="000000"/>
                        </a:solidFill>
                        <a:latin typeface="Cambria Math" panose="02040503050406030204" pitchFamily="18" charset="0"/>
                      </a:rPr>
                      <m:t>𝜏</m:t>
                    </m:r>
                    <m:r>
                      <a:rPr lang="en-US" b="0" i="1">
                        <a:solidFill>
                          <a:srgbClr val="000000"/>
                        </a:solidFill>
                        <a:latin typeface="Cambria Math" panose="02040503050406030204" pitchFamily="18" charset="0"/>
                      </a:rPr>
                      <m:t>)</m:t>
                    </m:r>
                  </m:oMath>
                </a14:m>
                <a:r>
                  <a:rPr lang="zh-CN" altLang="en-US" b="0" dirty="0"/>
                  <a:t>相乘；</a:t>
                </a:r>
              </a:p>
              <a:p>
                <a:pPr marL="1166813" lvl="1" indent="-333375" algn="just">
                  <a:spcBef>
                    <a:spcPts val="0"/>
                  </a:spcBef>
                  <a:spcAft>
                    <a:spcPts val="600"/>
                  </a:spcAft>
                  <a:buFont typeface="+mj-lt"/>
                  <a:buAutoNum type="arabicPeriod"/>
                  <a:defRPr/>
                </a:pPr>
                <a:r>
                  <a:rPr lang="zh-CN" altLang="en-US" b="0" dirty="0"/>
                  <a:t>求乘积</a:t>
                </a:r>
                <a14:m>
                  <m:oMath xmlns:m="http://schemas.openxmlformats.org/officeDocument/2006/math">
                    <m:r>
                      <a:rPr lang="en-US" b="0" i="1" smtClean="0">
                        <a:solidFill>
                          <a:srgbClr val="000000"/>
                        </a:solidFill>
                        <a:latin typeface="Cambria Math" panose="02040503050406030204" pitchFamily="18" charset="0"/>
                      </a:rPr>
                      <m:t>𝑥</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𝜏</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h</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𝑡</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𝜏</m:t>
                    </m:r>
                    <m:r>
                      <a:rPr lang="en-US" b="0" i="1" smtClean="0">
                        <a:solidFill>
                          <a:srgbClr val="000000"/>
                        </a:solidFill>
                        <a:latin typeface="Cambria Math" panose="02040503050406030204" pitchFamily="18" charset="0"/>
                      </a:rPr>
                      <m:t>)</m:t>
                    </m:r>
                  </m:oMath>
                </a14:m>
                <a:r>
                  <a:rPr lang="zh-CN" altLang="en-US" b="0" dirty="0"/>
                  <a:t>下的面积；</a:t>
                </a:r>
                <a:endParaRPr lang="en-US" altLang="zh-CN" b="0" dirty="0"/>
              </a:p>
              <a:p>
                <a:pPr marL="1166813" lvl="1" indent="-333375" algn="just">
                  <a:spcBef>
                    <a:spcPts val="0"/>
                  </a:spcBef>
                  <a:spcAft>
                    <a:spcPts val="600"/>
                  </a:spcAft>
                  <a:buFont typeface="+mj-lt"/>
                  <a:buAutoNum type="arabicPeriod"/>
                  <a:defRPr/>
                </a:pPr>
                <a:r>
                  <a:rPr lang="zh-CN" altLang="en-US" b="0" dirty="0">
                    <a:solidFill>
                      <a:schemeClr val="tx1"/>
                    </a:solidFill>
                  </a:rPr>
                  <a:t>改变</a:t>
                </a:r>
                <a14:m>
                  <m:oMath xmlns:m="http://schemas.openxmlformats.org/officeDocument/2006/math">
                    <m:r>
                      <a:rPr lang="en-US" b="0" i="1" smtClean="0">
                        <a:solidFill>
                          <a:srgbClr val="000000"/>
                        </a:solidFill>
                        <a:latin typeface="Cambria Math" panose="02040503050406030204" pitchFamily="18" charset="0"/>
                      </a:rPr>
                      <m:t>𝑡</m:t>
                    </m:r>
                  </m:oMath>
                </a14:m>
                <a:r>
                  <a:rPr lang="zh-CN" altLang="en-US" b="0" dirty="0">
                    <a:solidFill>
                      <a:schemeClr val="tx1"/>
                    </a:solidFill>
                  </a:rPr>
                  <a:t>值并重复</a:t>
                </a:r>
                <a:r>
                  <a:rPr lang="en-US" altLang="zh-CN" b="0" dirty="0">
                    <a:solidFill>
                      <a:schemeClr val="tx1"/>
                    </a:solidFill>
                  </a:rPr>
                  <a:t>3 – 5</a:t>
                </a:r>
                <a:r>
                  <a:rPr lang="zh-CN" altLang="en-US" b="0" dirty="0">
                    <a:solidFill>
                      <a:schemeClr val="tx1"/>
                    </a:solidFill>
                  </a:rPr>
                  <a:t>步。</a:t>
                </a:r>
                <a:endParaRPr lang="zh-CN" altLang="en-US" b="0" dirty="0"/>
              </a:p>
            </p:txBody>
          </p:sp>
        </mc:Choice>
        <mc:Fallback xmlns="">
          <p:sp>
            <p:nvSpPr>
              <p:cNvPr id="29701" name="内容占位符 2">
                <a:extLst>
                  <a:ext uri="{FF2B5EF4-FFF2-40B4-BE49-F238E27FC236}">
                    <a16:creationId xmlns:a16="http://schemas.microsoft.com/office/drawing/2014/main" id="{ADC4C86D-DB66-434E-A538-3DEAFF93E405}"/>
                  </a:ext>
                </a:extLst>
              </p:cNvPr>
              <p:cNvSpPr>
                <a:spLocks noGrp="1" noRot="1" noChangeAspect="1" noMove="1" noResize="1" noEditPoints="1" noAdjustHandles="1" noChangeArrowheads="1" noChangeShapeType="1" noTextEdit="1"/>
              </p:cNvSpPr>
              <p:nvPr>
                <p:ph idx="1"/>
              </p:nvPr>
            </p:nvSpPr>
            <p:spPr>
              <a:xfrm>
                <a:off x="457200" y="1285875"/>
                <a:ext cx="8229600" cy="5077672"/>
              </a:xfrm>
              <a:blipFill>
                <a:blip r:embed="rId2"/>
                <a:stretch>
                  <a:fillRect l="-1333" t="-1561" r="-1481" b="-2401"/>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5097D3E5-0C21-4E71-9F60-62281E98F5C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D825192-3206-4F8B-9FE9-EC3E3BDD7461}" type="slidenum">
              <a:rPr lang="zh-CN" altLang="en-US">
                <a:solidFill>
                  <a:srgbClr val="898989"/>
                </a:solidFill>
                <a:latin typeface="Calibri" panose="020F0502020204030204" pitchFamily="34" charset="0"/>
              </a:rPr>
              <a:pPr eaLnBrk="1" hangingPunct="1"/>
              <a:t>28</a:t>
            </a:fld>
            <a:endParaRPr lang="zh-CN" altLang="en-US">
              <a:solidFill>
                <a:srgbClr val="898989"/>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F233FD2-669F-4AB6-A482-A1A5CA548345}"/>
              </a:ext>
            </a:extLst>
          </p:cNvPr>
          <p:cNvPicPr>
            <a:picLocks noChangeAspect="1"/>
          </p:cNvPicPr>
          <p:nvPr/>
        </p:nvPicPr>
        <p:blipFill>
          <a:blip r:embed="rId3"/>
          <a:stretch>
            <a:fillRect/>
          </a:stretch>
        </p:blipFill>
        <p:spPr>
          <a:xfrm>
            <a:off x="532581" y="4682832"/>
            <a:ext cx="8143875" cy="1866900"/>
          </a:xfrm>
          <a:prstGeom prst="rect">
            <a:avLst/>
          </a:prstGeom>
        </p:spPr>
      </p:pic>
      <p:sp>
        <p:nvSpPr>
          <p:cNvPr id="31759" name="标题 1">
            <a:extLst>
              <a:ext uri="{FF2B5EF4-FFF2-40B4-BE49-F238E27FC236}">
                <a16:creationId xmlns:a16="http://schemas.microsoft.com/office/drawing/2014/main" id="{F715F394-E37F-4AF7-B143-F4AF3BBA848A}"/>
              </a:ext>
            </a:extLst>
          </p:cNvPr>
          <p:cNvSpPr>
            <a:spLocks noGrp="1"/>
          </p:cNvSpPr>
          <p:nvPr>
            <p:ph type="title"/>
          </p:nvPr>
        </p:nvSpPr>
        <p:spPr/>
        <p:txBody>
          <a:bodyPr/>
          <a:lstStyle/>
          <a:p>
            <a:r>
              <a:rPr lang="en-US" altLang="zh-CN" sz="4000"/>
              <a:t>2.2 </a:t>
            </a:r>
            <a:r>
              <a:rPr lang="zh-CN" altLang="en-US" sz="4000"/>
              <a:t>连续时间</a:t>
            </a:r>
            <a:r>
              <a:rPr lang="en-US" altLang="zh-CN" sz="4000"/>
              <a:t>LTI</a:t>
            </a:r>
            <a:r>
              <a:rPr lang="zh-CN" altLang="en-US" sz="4000"/>
              <a:t>系统：卷积积分</a:t>
            </a:r>
          </a:p>
        </p:txBody>
      </p:sp>
      <p:sp>
        <p:nvSpPr>
          <p:cNvPr id="4" name="灯片编号占位符 3">
            <a:extLst>
              <a:ext uri="{FF2B5EF4-FFF2-40B4-BE49-F238E27FC236}">
                <a16:creationId xmlns:a16="http://schemas.microsoft.com/office/drawing/2014/main" id="{F8D3725C-766C-4B57-9B85-1C26C384C01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5320C2C-B243-4828-A9CE-F75812C938AA}" type="slidenum">
              <a:rPr lang="zh-CN" altLang="en-US">
                <a:solidFill>
                  <a:srgbClr val="898989"/>
                </a:solidFill>
                <a:latin typeface="Calibri" panose="020F0502020204030204" pitchFamily="34" charset="0"/>
              </a:rPr>
              <a:pPr eaLnBrk="1" hangingPunct="1"/>
              <a:t>29</a:t>
            </a:fld>
            <a:endParaRPr lang="zh-CN" altLang="en-US">
              <a:solidFill>
                <a:srgbClr val="898989"/>
              </a:solidFill>
              <a:latin typeface="Calibri" panose="020F0502020204030204" pitchFamily="34" charset="0"/>
            </a:endParaRPr>
          </a:p>
        </p:txBody>
      </p:sp>
      <p:sp>
        <p:nvSpPr>
          <p:cNvPr id="27" name="Text Box 22">
            <a:extLst>
              <a:ext uri="{FF2B5EF4-FFF2-40B4-BE49-F238E27FC236}">
                <a16:creationId xmlns:a16="http://schemas.microsoft.com/office/drawing/2014/main" id="{A7F7B901-90D0-4ED2-AE1A-788A34128E22}"/>
              </a:ext>
            </a:extLst>
          </p:cNvPr>
          <p:cNvSpPr txBox="1">
            <a:spLocks noChangeArrowheads="1"/>
          </p:cNvSpPr>
          <p:nvPr/>
        </p:nvSpPr>
        <p:spPr bwMode="auto">
          <a:xfrm>
            <a:off x="428312" y="1196752"/>
            <a:ext cx="28777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rgbClr val="800000"/>
                </a:solidFill>
                <a:latin typeface="Times New Roman" panose="02020603050405020304" pitchFamily="18" charset="0"/>
                <a:ea typeface="华文楷体" panose="02010600040101010101" pitchFamily="2" charset="-122"/>
                <a:cs typeface="楷体_GB2312" panose="02010609030101010101" pitchFamily="49" charset="-122"/>
              </a:rPr>
              <a:t>例</a:t>
            </a:r>
            <a:r>
              <a:rPr lang="en-US" altLang="zh-CN" sz="2400" dirty="0">
                <a:solidFill>
                  <a:srgbClr val="800000"/>
                </a:solidFill>
                <a:latin typeface="Times New Roman" panose="02020603050405020304" pitchFamily="18" charset="0"/>
                <a:ea typeface="华文楷体" panose="02010600040101010101" pitchFamily="2" charset="-122"/>
                <a:cs typeface="楷体_GB2312" panose="02010609030101010101" pitchFamily="49" charset="-122"/>
              </a:rPr>
              <a:t>1</a:t>
            </a:r>
            <a:r>
              <a:rPr lang="zh-CN" altLang="en-US" sz="2400" dirty="0">
                <a:solidFill>
                  <a:srgbClr val="800000"/>
                </a:solidFill>
                <a:latin typeface="Times New Roman" panose="02020603050405020304" pitchFamily="18" charset="0"/>
                <a:ea typeface="华文楷体" panose="02010600040101010101" pitchFamily="2" charset="-122"/>
                <a:cs typeface="楷体_GB2312" panose="02010609030101010101" pitchFamily="49" charset="-122"/>
              </a:rPr>
              <a:t>：连续时间卷积</a:t>
            </a:r>
            <a:r>
              <a:rPr lang="en-US" altLang="zh-CN" sz="2400" dirty="0">
                <a:latin typeface="Times New Roman" panose="02020603050405020304" pitchFamily="18" charset="0"/>
                <a:ea typeface="华文楷体" panose="02010600040101010101" pitchFamily="2" charset="-122"/>
                <a:cs typeface="楷体_GB2312" panose="02010609030101010101" pitchFamily="49" charset="-122"/>
              </a:rPr>
              <a:t> </a:t>
            </a:r>
          </a:p>
        </p:txBody>
      </p:sp>
      <p:pic>
        <p:nvPicPr>
          <p:cNvPr id="12" name="Picture 5">
            <a:extLst>
              <a:ext uri="{FF2B5EF4-FFF2-40B4-BE49-F238E27FC236}">
                <a16:creationId xmlns:a16="http://schemas.microsoft.com/office/drawing/2014/main" id="{571156B1-03C7-4706-8771-C7839FB9AD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0587" y="1628800"/>
            <a:ext cx="3505200"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3" name="Picture 6">
            <a:extLst>
              <a:ext uri="{FF2B5EF4-FFF2-40B4-BE49-F238E27FC236}">
                <a16:creationId xmlns:a16="http://schemas.microsoft.com/office/drawing/2014/main" id="{572423D6-A626-4197-ADE6-EC0177A8E7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5387" y="1731987"/>
            <a:ext cx="30956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4" name="Picture 7">
            <a:extLst>
              <a:ext uri="{FF2B5EF4-FFF2-40B4-BE49-F238E27FC236}">
                <a16:creationId xmlns:a16="http://schemas.microsoft.com/office/drawing/2014/main" id="{8966C62A-D333-41D4-81F1-E7FCD8364EA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0587" y="3000400"/>
            <a:ext cx="3505200"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5" name="Picture 8">
            <a:extLst>
              <a:ext uri="{FF2B5EF4-FFF2-40B4-BE49-F238E27FC236}">
                <a16:creationId xmlns:a16="http://schemas.microsoft.com/office/drawing/2014/main" id="{96594420-028C-4E4C-B1E8-6ECC50FB404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86387" y="3155975"/>
            <a:ext cx="3124200" cy="145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aphicFrame>
        <p:nvGraphicFramePr>
          <p:cNvPr id="16" name="Object 10">
            <a:extLst>
              <a:ext uri="{FF2B5EF4-FFF2-40B4-BE49-F238E27FC236}">
                <a16:creationId xmlns:a16="http://schemas.microsoft.com/office/drawing/2014/main" id="{24F1AD17-0BAB-4A50-9BA5-5815AB9B0A47}"/>
              </a:ext>
            </a:extLst>
          </p:cNvPr>
          <p:cNvGraphicFramePr>
            <a:graphicFrameLocks noChangeAspect="1"/>
          </p:cNvGraphicFramePr>
          <p:nvPr>
            <p:extLst>
              <p:ext uri="{D42A27DB-BD31-4B8C-83A1-F6EECF244321}">
                <p14:modId xmlns:p14="http://schemas.microsoft.com/office/powerpoint/2010/main" val="51050094"/>
              </p:ext>
            </p:extLst>
          </p:nvPr>
        </p:nvGraphicFramePr>
        <p:xfrm>
          <a:off x="4506912" y="2009800"/>
          <a:ext cx="346075" cy="422275"/>
        </p:xfrm>
        <a:graphic>
          <a:graphicData uri="http://schemas.openxmlformats.org/presentationml/2006/ole">
            <mc:AlternateContent xmlns:mc="http://schemas.openxmlformats.org/markup-compatibility/2006">
              <mc:Choice xmlns:v="urn:schemas-microsoft-com:vml" Requires="v">
                <p:oleObj spid="_x0000_s3148" name="Equation" r:id="rId8" imgW="114201" imgH="139579" progId="Equation.DSMT4">
                  <p:embed/>
                </p:oleObj>
              </mc:Choice>
              <mc:Fallback>
                <p:oleObj name="Equation" r:id="rId8" imgW="114201" imgH="139579" progId="Equation.DSMT4">
                  <p:embed/>
                  <p:pic>
                    <p:nvPicPr>
                      <p:cNvPr id="44040" name="Object 10">
                        <a:extLst>
                          <a:ext uri="{FF2B5EF4-FFF2-40B4-BE49-F238E27FC236}">
                            <a16:creationId xmlns:a16="http://schemas.microsoft.com/office/drawing/2014/main" id="{1C388E63-D283-407A-AA65-D5582271811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06912" y="2009800"/>
                        <a:ext cx="346075"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内容占位符 2">
            <a:extLst>
              <a:ext uri="{FF2B5EF4-FFF2-40B4-BE49-F238E27FC236}">
                <a16:creationId xmlns:a16="http://schemas.microsoft.com/office/drawing/2014/main" id="{6D3CD110-DBFA-45A8-B10A-64A1A968721B}"/>
              </a:ext>
            </a:extLst>
          </p:cNvPr>
          <p:cNvSpPr>
            <a:spLocks noGrp="1"/>
          </p:cNvSpPr>
          <p:nvPr>
            <p:ph idx="1"/>
          </p:nvPr>
        </p:nvSpPr>
        <p:spPr>
          <a:xfrm>
            <a:off x="1043608" y="5202726"/>
            <a:ext cx="728535" cy="400110"/>
          </a:xfrm>
        </p:spPr>
        <p:txBody>
          <a:bodyPr wrap="square">
            <a:spAutoFit/>
          </a:bodyPr>
          <a:lstStyle/>
          <a:p>
            <a:pPr marL="0" indent="0" algn="ctr">
              <a:buNone/>
            </a:pPr>
            <a:r>
              <a:rPr lang="zh-CN" altLang="en-US" sz="2000" b="0" dirty="0">
                <a:solidFill>
                  <a:srgbClr val="0000FF"/>
                </a:solidFill>
              </a:rPr>
              <a:t>反转</a:t>
            </a:r>
            <a:endParaRPr lang="en-US" altLang="zh-CN" sz="2400" b="0" dirty="0">
              <a:solidFill>
                <a:srgbClr val="0000FF"/>
              </a:solidFill>
            </a:endParaRPr>
          </a:p>
        </p:txBody>
      </p:sp>
      <p:sp>
        <p:nvSpPr>
          <p:cNvPr id="20" name="内容占位符 2">
            <a:extLst>
              <a:ext uri="{FF2B5EF4-FFF2-40B4-BE49-F238E27FC236}">
                <a16:creationId xmlns:a16="http://schemas.microsoft.com/office/drawing/2014/main" id="{613F78D5-FB5E-4350-8B64-AB56DCB4C2C6}"/>
              </a:ext>
            </a:extLst>
          </p:cNvPr>
          <p:cNvSpPr txBox="1">
            <a:spLocks/>
          </p:cNvSpPr>
          <p:nvPr/>
        </p:nvSpPr>
        <p:spPr bwMode="auto">
          <a:xfrm>
            <a:off x="2771800" y="5291102"/>
            <a:ext cx="7285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zh-CN" altLang="en-US" sz="2000" b="0" dirty="0">
                <a:solidFill>
                  <a:srgbClr val="0000FF"/>
                </a:solidFill>
              </a:rPr>
              <a:t>平移</a:t>
            </a:r>
            <a:endParaRPr lang="en-US" altLang="zh-CN" sz="2400" b="0" dirty="0">
              <a:solidFill>
                <a:srgbClr val="0000FF"/>
              </a:solidFill>
            </a:endParaRPr>
          </a:p>
        </p:txBody>
      </p:sp>
      <p:sp>
        <p:nvSpPr>
          <p:cNvPr id="21" name="内容占位符 2">
            <a:extLst>
              <a:ext uri="{FF2B5EF4-FFF2-40B4-BE49-F238E27FC236}">
                <a16:creationId xmlns:a16="http://schemas.microsoft.com/office/drawing/2014/main" id="{1109B165-6405-45FF-8335-410375277224}"/>
              </a:ext>
            </a:extLst>
          </p:cNvPr>
          <p:cNvSpPr txBox="1">
            <a:spLocks/>
          </p:cNvSpPr>
          <p:nvPr/>
        </p:nvSpPr>
        <p:spPr bwMode="auto">
          <a:xfrm>
            <a:off x="2780073" y="5767094"/>
            <a:ext cx="7285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zh-CN" altLang="en-US" sz="2000" b="0" dirty="0">
                <a:solidFill>
                  <a:srgbClr val="0000FF"/>
                </a:solidFill>
              </a:rPr>
              <a:t>相乘</a:t>
            </a:r>
            <a:endParaRPr lang="en-US" altLang="zh-CN" sz="2400" b="0" dirty="0">
              <a:solidFill>
                <a:srgbClr val="0000FF"/>
              </a:solidFill>
            </a:endParaRPr>
          </a:p>
        </p:txBody>
      </p:sp>
      <p:sp>
        <p:nvSpPr>
          <p:cNvPr id="22" name="内容占位符 2">
            <a:extLst>
              <a:ext uri="{FF2B5EF4-FFF2-40B4-BE49-F238E27FC236}">
                <a16:creationId xmlns:a16="http://schemas.microsoft.com/office/drawing/2014/main" id="{7370C83B-1FF9-40F6-B6C1-F529BA7BED9B}"/>
              </a:ext>
            </a:extLst>
          </p:cNvPr>
          <p:cNvSpPr txBox="1">
            <a:spLocks/>
          </p:cNvSpPr>
          <p:nvPr/>
        </p:nvSpPr>
        <p:spPr bwMode="auto">
          <a:xfrm>
            <a:off x="5436096" y="5775547"/>
            <a:ext cx="7285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zh-CN" altLang="en-US" sz="2000" b="0" dirty="0">
                <a:solidFill>
                  <a:srgbClr val="0000FF"/>
                </a:solidFill>
              </a:rPr>
              <a:t>积分</a:t>
            </a:r>
            <a:endParaRPr lang="en-US" altLang="zh-CN" sz="2400" b="0" dirty="0">
              <a:solidFill>
                <a:srgbClr val="0000FF"/>
              </a:solidFill>
            </a:endParaRPr>
          </a:p>
        </p:txBody>
      </p:sp>
    </p:spTree>
    <p:extLst>
      <p:ext uri="{BB962C8B-B14F-4D97-AF65-F5344CB8AC3E}">
        <p14:creationId xmlns:p14="http://schemas.microsoft.com/office/powerpoint/2010/main" val="200502143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9" name="标题 1">
            <a:extLst>
              <a:ext uri="{FF2B5EF4-FFF2-40B4-BE49-F238E27FC236}">
                <a16:creationId xmlns:a16="http://schemas.microsoft.com/office/drawing/2014/main" id="{F715F394-E37F-4AF7-B143-F4AF3BBA848A}"/>
              </a:ext>
            </a:extLst>
          </p:cNvPr>
          <p:cNvSpPr>
            <a:spLocks noGrp="1"/>
          </p:cNvSpPr>
          <p:nvPr>
            <p:ph type="title"/>
          </p:nvPr>
        </p:nvSpPr>
        <p:spPr/>
        <p:txBody>
          <a:bodyPr/>
          <a:lstStyle/>
          <a:p>
            <a:r>
              <a:rPr lang="en-US" altLang="zh-CN" sz="4000"/>
              <a:t>2.2 </a:t>
            </a:r>
            <a:r>
              <a:rPr lang="zh-CN" altLang="en-US" sz="4000"/>
              <a:t>连续时间</a:t>
            </a:r>
            <a:r>
              <a:rPr lang="en-US" altLang="zh-CN" sz="4000"/>
              <a:t>LTI</a:t>
            </a:r>
            <a:r>
              <a:rPr lang="zh-CN" altLang="en-US" sz="4000"/>
              <a:t>系统：卷积积分</a:t>
            </a:r>
          </a:p>
        </p:txBody>
      </p:sp>
      <p:sp>
        <p:nvSpPr>
          <p:cNvPr id="4" name="灯片编号占位符 3">
            <a:extLst>
              <a:ext uri="{FF2B5EF4-FFF2-40B4-BE49-F238E27FC236}">
                <a16:creationId xmlns:a16="http://schemas.microsoft.com/office/drawing/2014/main" id="{F8D3725C-766C-4B57-9B85-1C26C384C01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5320C2C-B243-4828-A9CE-F75812C938AA}" type="slidenum">
              <a:rPr lang="zh-CN" altLang="en-US">
                <a:solidFill>
                  <a:srgbClr val="898989"/>
                </a:solidFill>
                <a:latin typeface="Calibri" panose="020F0502020204030204" pitchFamily="34" charset="0"/>
              </a:rPr>
              <a:pPr eaLnBrk="1" hangingPunct="1"/>
              <a:t>30</a:t>
            </a:fld>
            <a:endParaRPr lang="zh-CN" altLang="en-US">
              <a:solidFill>
                <a:srgbClr val="898989"/>
              </a:solidFill>
              <a:latin typeface="Calibri" panose="020F0502020204030204" pitchFamily="34" charset="0"/>
            </a:endParaRPr>
          </a:p>
        </p:txBody>
      </p:sp>
      <p:pic>
        <p:nvPicPr>
          <p:cNvPr id="6" name="图片 5">
            <a:extLst>
              <a:ext uri="{FF2B5EF4-FFF2-40B4-BE49-F238E27FC236}">
                <a16:creationId xmlns:a16="http://schemas.microsoft.com/office/drawing/2014/main" id="{3D1FD32A-87F8-4917-A067-A791AF001952}"/>
              </a:ext>
            </a:extLst>
          </p:cNvPr>
          <p:cNvPicPr>
            <a:picLocks noChangeAspect="1"/>
          </p:cNvPicPr>
          <p:nvPr/>
        </p:nvPicPr>
        <p:blipFill>
          <a:blip r:embed="rId3"/>
          <a:stretch>
            <a:fillRect/>
          </a:stretch>
        </p:blipFill>
        <p:spPr>
          <a:xfrm>
            <a:off x="647700" y="1741512"/>
            <a:ext cx="7848600" cy="4495800"/>
          </a:xfrm>
          <a:prstGeom prst="rect">
            <a:avLst/>
          </a:prstGeom>
        </p:spPr>
      </p:pic>
      <p:sp>
        <p:nvSpPr>
          <p:cNvPr id="18" name="内容占位符 2">
            <a:extLst>
              <a:ext uri="{FF2B5EF4-FFF2-40B4-BE49-F238E27FC236}">
                <a16:creationId xmlns:a16="http://schemas.microsoft.com/office/drawing/2014/main" id="{8A950E68-7629-4C87-AD25-5DBF6473DD87}"/>
              </a:ext>
            </a:extLst>
          </p:cNvPr>
          <p:cNvSpPr>
            <a:spLocks noGrp="1"/>
          </p:cNvSpPr>
          <p:nvPr>
            <p:ph idx="1"/>
          </p:nvPr>
        </p:nvSpPr>
        <p:spPr>
          <a:xfrm>
            <a:off x="827584" y="1233254"/>
            <a:ext cx="1296144" cy="400110"/>
          </a:xfrm>
        </p:spPr>
        <p:txBody>
          <a:bodyPr wrap="square">
            <a:spAutoFit/>
          </a:bodyPr>
          <a:lstStyle/>
          <a:p>
            <a:pPr marL="0" indent="0" algn="ctr">
              <a:buNone/>
            </a:pPr>
            <a:r>
              <a:rPr lang="zh-CN" altLang="en-US" sz="2000" u="sng" dirty="0">
                <a:solidFill>
                  <a:srgbClr val="0000FF"/>
                </a:solidFill>
              </a:rPr>
              <a:t>时间区间</a:t>
            </a:r>
            <a:endParaRPr lang="en-US" altLang="zh-CN" sz="2400" u="sng" dirty="0">
              <a:solidFill>
                <a:srgbClr val="0000FF"/>
              </a:solidFill>
            </a:endParaRPr>
          </a:p>
        </p:txBody>
      </p:sp>
      <mc:AlternateContent xmlns:mc="http://schemas.openxmlformats.org/markup-compatibility/2006" xmlns:a14="http://schemas.microsoft.com/office/drawing/2010/main">
        <mc:Choice Requires="a14">
          <p:sp>
            <p:nvSpPr>
              <p:cNvPr id="23" name="内容占位符 2">
                <a:extLst>
                  <a:ext uri="{FF2B5EF4-FFF2-40B4-BE49-F238E27FC236}">
                    <a16:creationId xmlns:a16="http://schemas.microsoft.com/office/drawing/2014/main" id="{779866F2-9BE0-4A76-BB37-3BF79DCBF688}"/>
                  </a:ext>
                </a:extLst>
              </p:cNvPr>
              <p:cNvSpPr txBox="1">
                <a:spLocks/>
              </p:cNvSpPr>
              <p:nvPr/>
            </p:nvSpPr>
            <p:spPr bwMode="auto">
              <a:xfrm>
                <a:off x="2987824" y="1233254"/>
                <a:ext cx="1584176" cy="40011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u="sng" smtClean="0">
                          <a:solidFill>
                            <a:srgbClr val="0000FF"/>
                          </a:solidFill>
                          <a:latin typeface="Cambria Math" panose="02040503050406030204" pitchFamily="18" charset="0"/>
                        </a:rPr>
                        <m:t>𝑥</m:t>
                      </m:r>
                      <m:r>
                        <a:rPr lang="en-US" sz="2000" b="0" i="1" u="sng" smtClean="0">
                          <a:solidFill>
                            <a:srgbClr val="0000FF"/>
                          </a:solidFill>
                          <a:latin typeface="Cambria Math" panose="02040503050406030204" pitchFamily="18" charset="0"/>
                        </a:rPr>
                        <m:t>(</m:t>
                      </m:r>
                      <m:r>
                        <a:rPr lang="en-US" sz="2000" b="0" i="1" u="sng" smtClean="0">
                          <a:solidFill>
                            <a:srgbClr val="0000FF"/>
                          </a:solidFill>
                          <a:latin typeface="Cambria Math" panose="02040503050406030204" pitchFamily="18" charset="0"/>
                        </a:rPr>
                        <m:t>𝜏</m:t>
                      </m:r>
                      <m:r>
                        <a:rPr lang="en-US" sz="2000" b="0" i="1" u="sng" smtClean="0">
                          <a:solidFill>
                            <a:srgbClr val="0000FF"/>
                          </a:solidFill>
                          <a:latin typeface="Cambria Math" panose="02040503050406030204" pitchFamily="18" charset="0"/>
                        </a:rPr>
                        <m:t>)</m:t>
                      </m:r>
                      <m:r>
                        <a:rPr lang="en-US" sz="2000" b="0" i="1" u="sng" smtClean="0">
                          <a:solidFill>
                            <a:srgbClr val="0000FF"/>
                          </a:solidFill>
                          <a:latin typeface="Cambria Math" panose="02040503050406030204" pitchFamily="18" charset="0"/>
                        </a:rPr>
                        <m:t>h</m:t>
                      </m:r>
                      <m:r>
                        <a:rPr lang="en-US" sz="2000" b="0" i="1" u="sng" smtClean="0">
                          <a:solidFill>
                            <a:srgbClr val="0000FF"/>
                          </a:solidFill>
                          <a:latin typeface="Cambria Math" panose="02040503050406030204" pitchFamily="18" charset="0"/>
                        </a:rPr>
                        <m:t>(</m:t>
                      </m:r>
                      <m:r>
                        <a:rPr lang="en-US" sz="2000" b="0" i="1" u="sng" smtClean="0">
                          <a:solidFill>
                            <a:srgbClr val="0000FF"/>
                          </a:solidFill>
                          <a:latin typeface="Cambria Math" panose="02040503050406030204" pitchFamily="18" charset="0"/>
                        </a:rPr>
                        <m:t>𝑡</m:t>
                      </m:r>
                      <m:r>
                        <a:rPr lang="en-US" sz="2000" b="0" i="1" u="sng" smtClean="0">
                          <a:solidFill>
                            <a:srgbClr val="0000FF"/>
                          </a:solidFill>
                          <a:latin typeface="Cambria Math" panose="02040503050406030204" pitchFamily="18" charset="0"/>
                        </a:rPr>
                        <m:t>−</m:t>
                      </m:r>
                      <m:r>
                        <a:rPr lang="en-US" sz="2000" b="0" i="1" u="sng" smtClean="0">
                          <a:solidFill>
                            <a:srgbClr val="0000FF"/>
                          </a:solidFill>
                          <a:latin typeface="Cambria Math" panose="02040503050406030204" pitchFamily="18" charset="0"/>
                        </a:rPr>
                        <m:t>𝜏</m:t>
                      </m:r>
                      <m:r>
                        <a:rPr lang="en-US" sz="2000" b="0" i="1" u="sng" smtClean="0">
                          <a:solidFill>
                            <a:srgbClr val="0000FF"/>
                          </a:solidFill>
                          <a:latin typeface="Cambria Math" panose="02040503050406030204" pitchFamily="18" charset="0"/>
                        </a:rPr>
                        <m:t>)</m:t>
                      </m:r>
                    </m:oMath>
                  </m:oMathPara>
                </a14:m>
                <a:endParaRPr lang="en-US" altLang="zh-CN" sz="2400" b="0" u="sng" dirty="0">
                  <a:solidFill>
                    <a:srgbClr val="0000FF"/>
                  </a:solidFill>
                </a:endParaRPr>
              </a:p>
            </p:txBody>
          </p:sp>
        </mc:Choice>
        <mc:Fallback xmlns="">
          <p:sp>
            <p:nvSpPr>
              <p:cNvPr id="23" name="内容占位符 2">
                <a:extLst>
                  <a:ext uri="{FF2B5EF4-FFF2-40B4-BE49-F238E27FC236}">
                    <a16:creationId xmlns:a16="http://schemas.microsoft.com/office/drawing/2014/main" id="{779866F2-9BE0-4A76-BB37-3BF79DCBF688}"/>
                  </a:ext>
                </a:extLst>
              </p:cNvPr>
              <p:cNvSpPr txBox="1">
                <a:spLocks noRot="1" noChangeAspect="1" noMove="1" noResize="1" noEditPoints="1" noAdjustHandles="1" noChangeArrowheads="1" noChangeShapeType="1" noTextEdit="1"/>
              </p:cNvSpPr>
              <p:nvPr/>
            </p:nvSpPr>
            <p:spPr bwMode="auto">
              <a:xfrm>
                <a:off x="2987824" y="1233254"/>
                <a:ext cx="1584176" cy="400110"/>
              </a:xfrm>
              <a:prstGeom prst="rect">
                <a:avLst/>
              </a:prstGeom>
              <a:blipFill>
                <a:blip r:embed="rId4"/>
                <a:stretch>
                  <a:fillRect b="-16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24" name="内容占位符 2">
            <a:extLst>
              <a:ext uri="{FF2B5EF4-FFF2-40B4-BE49-F238E27FC236}">
                <a16:creationId xmlns:a16="http://schemas.microsoft.com/office/drawing/2014/main" id="{44267ACD-A0A2-46BE-A1A2-7A16C45F256F}"/>
              </a:ext>
            </a:extLst>
          </p:cNvPr>
          <p:cNvSpPr txBox="1">
            <a:spLocks/>
          </p:cNvSpPr>
          <p:nvPr/>
        </p:nvSpPr>
        <p:spPr bwMode="auto">
          <a:xfrm>
            <a:off x="5652120" y="1233254"/>
            <a:ext cx="7920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zh-CN" altLang="en-US" sz="2000" u="sng" dirty="0">
                <a:solidFill>
                  <a:srgbClr val="0000FF"/>
                </a:solidFill>
              </a:rPr>
              <a:t>输出</a:t>
            </a:r>
            <a:endParaRPr lang="en-US" altLang="zh-CN" sz="2400" u="sng" dirty="0">
              <a:solidFill>
                <a:srgbClr val="0000FF"/>
              </a:solidFill>
            </a:endParaRPr>
          </a:p>
        </p:txBody>
      </p:sp>
      <p:sp>
        <p:nvSpPr>
          <p:cNvPr id="8" name="矩形 4">
            <a:extLst>
              <a:ext uri="{FF2B5EF4-FFF2-40B4-BE49-F238E27FC236}">
                <a16:creationId xmlns:a16="http://schemas.microsoft.com/office/drawing/2014/main" id="{71F3CA8B-A028-4EFF-A0E2-CB44641E867B}"/>
              </a:ext>
            </a:extLst>
          </p:cNvPr>
          <p:cNvSpPr>
            <a:spLocks noChangeArrowheads="1"/>
          </p:cNvSpPr>
          <p:nvPr/>
        </p:nvSpPr>
        <p:spPr bwMode="auto">
          <a:xfrm>
            <a:off x="2833314" y="2312592"/>
            <a:ext cx="228600" cy="152400"/>
          </a:xfrm>
          <a:prstGeom prst="rect">
            <a:avLst/>
          </a:prstGeom>
          <a:solidFill>
            <a:schemeClr val="bg1"/>
          </a:solidFill>
          <a:ln w="25400" algn="ctr">
            <a:solidFill>
              <a:schemeClr val="bg1"/>
            </a:solidFill>
            <a:round/>
            <a:headEnd/>
            <a:tailEnd/>
          </a:ln>
        </p:spPr>
        <p:txBody>
          <a:bodyPr lIns="91415" tIns="45706" rIns="91415" bIns="45706"/>
          <a:lstStyle>
            <a:lvl1pPr defTabSz="912813" eaLnBrk="0" hangingPunct="0">
              <a:defRPr>
                <a:solidFill>
                  <a:schemeClr val="tx1"/>
                </a:solidFill>
                <a:latin typeface="Times New Roman" panose="02020603050405020304" pitchFamily="18" charset="0"/>
              </a:defRPr>
            </a:lvl1pPr>
            <a:lvl2pPr marL="742950" indent="-285750" defTabSz="912813" eaLnBrk="0" hangingPunct="0">
              <a:defRPr>
                <a:solidFill>
                  <a:schemeClr val="tx1"/>
                </a:solidFill>
                <a:latin typeface="Times New Roman" panose="02020603050405020304" pitchFamily="18" charset="0"/>
              </a:defRPr>
            </a:lvl2pPr>
            <a:lvl3pPr marL="1143000" indent="-228600" defTabSz="912813" eaLnBrk="0" hangingPunct="0">
              <a:defRPr>
                <a:solidFill>
                  <a:schemeClr val="tx1"/>
                </a:solidFill>
                <a:latin typeface="Times New Roman" panose="02020603050405020304" pitchFamily="18" charset="0"/>
              </a:defRPr>
            </a:lvl3pPr>
            <a:lvl4pPr marL="1600200" indent="-228600" defTabSz="912813" eaLnBrk="0" hangingPunct="0">
              <a:defRPr>
                <a:solidFill>
                  <a:schemeClr val="tx1"/>
                </a:solidFill>
                <a:latin typeface="Times New Roman" panose="02020603050405020304" pitchFamily="18" charset="0"/>
              </a:defRPr>
            </a:lvl4pPr>
            <a:lvl5pPr marL="2057400" indent="-228600" defTabSz="912813" eaLnBrk="0" hangingPunct="0">
              <a:defRPr>
                <a:solidFill>
                  <a:schemeClr val="tx1"/>
                </a:solidFill>
                <a:latin typeface="Times New Roman" panose="02020603050405020304" pitchFamily="18" charset="0"/>
              </a:defRPr>
            </a:lvl5pPr>
            <a:lvl6pPr marL="2514600" indent="-228600" defTabSz="912813"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defTabSz="912813"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defTabSz="912813"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defTabSz="912813"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endParaRPr lang="zh-CN" altLang="en-US">
              <a:solidFill>
                <a:srgbClr val="000000"/>
              </a:solidFill>
              <a:ea typeface="宋体" panose="02010600030101010101" pitchFamily="2" charset="-122"/>
            </a:endParaRPr>
          </a:p>
        </p:txBody>
      </p:sp>
      <p:graphicFrame>
        <p:nvGraphicFramePr>
          <p:cNvPr id="9" name="Object 6">
            <a:extLst>
              <a:ext uri="{FF2B5EF4-FFF2-40B4-BE49-F238E27FC236}">
                <a16:creationId xmlns:a16="http://schemas.microsoft.com/office/drawing/2014/main" id="{F92DC7A1-471A-489C-8EA7-F313F66B3B2E}"/>
              </a:ext>
            </a:extLst>
          </p:cNvPr>
          <p:cNvGraphicFramePr>
            <a:graphicFrameLocks noChangeAspect="1"/>
          </p:cNvGraphicFramePr>
          <p:nvPr>
            <p:extLst>
              <p:ext uri="{D42A27DB-BD31-4B8C-83A1-F6EECF244321}">
                <p14:modId xmlns:p14="http://schemas.microsoft.com/office/powerpoint/2010/main" val="1781115471"/>
              </p:ext>
            </p:extLst>
          </p:nvPr>
        </p:nvGraphicFramePr>
        <p:xfrm>
          <a:off x="2982539" y="3019030"/>
          <a:ext cx="222250" cy="182562"/>
        </p:xfrm>
        <a:graphic>
          <a:graphicData uri="http://schemas.openxmlformats.org/presentationml/2006/ole">
            <mc:AlternateContent xmlns:mc="http://schemas.openxmlformats.org/markup-compatibility/2006">
              <mc:Choice xmlns:v="urn:schemas-microsoft-com:vml" Requires="v">
                <p:oleObj spid="_x0000_s4186" name="Equation" r:id="rId5" imgW="203024" imgH="152268" progId="Equation.DSMT4">
                  <p:embed/>
                </p:oleObj>
              </mc:Choice>
              <mc:Fallback>
                <p:oleObj name="Equation" r:id="rId5" imgW="203024" imgH="152268" progId="Equation.DSMT4">
                  <p:embed/>
                  <p:pic>
                    <p:nvPicPr>
                      <p:cNvPr id="45061" name="Object 6">
                        <a:extLst>
                          <a:ext uri="{FF2B5EF4-FFF2-40B4-BE49-F238E27FC236}">
                            <a16:creationId xmlns:a16="http://schemas.microsoft.com/office/drawing/2014/main" id="{90054B0A-313B-488C-BCF3-B346ED5E494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2539" y="3019030"/>
                        <a:ext cx="222250" cy="182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TextBox 8">
            <a:extLst>
              <a:ext uri="{FF2B5EF4-FFF2-40B4-BE49-F238E27FC236}">
                <a16:creationId xmlns:a16="http://schemas.microsoft.com/office/drawing/2014/main" id="{9F05063D-AF0A-4084-9806-C32FD6E9571C}"/>
              </a:ext>
            </a:extLst>
          </p:cNvPr>
          <p:cNvSpPr txBox="1">
            <a:spLocks noChangeArrowheads="1"/>
          </p:cNvSpPr>
          <p:nvPr/>
        </p:nvSpPr>
        <p:spPr bwMode="auto">
          <a:xfrm>
            <a:off x="3322264" y="2942830"/>
            <a:ext cx="2746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buFontTx/>
              <a:buNone/>
            </a:pPr>
            <a:r>
              <a:rPr lang="en-US" altLang="zh-CN" sz="1400" i="1">
                <a:solidFill>
                  <a:srgbClr val="000000"/>
                </a:solidFill>
                <a:ea typeface="宋体" panose="02010600030101010101" pitchFamily="2" charset="-122"/>
              </a:rPr>
              <a:t>1</a:t>
            </a:r>
            <a:endParaRPr lang="zh-CN" altLang="en-US" sz="1400" i="1">
              <a:solidFill>
                <a:srgbClr val="000000"/>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11" name="Object 7">
                <a:extLst>
                  <a:ext uri="{FF2B5EF4-FFF2-40B4-BE49-F238E27FC236}">
                    <a16:creationId xmlns:a16="http://schemas.microsoft.com/office/drawing/2014/main" id="{9571994A-A0B6-474A-AF3C-CFB35D78E19B}"/>
                  </a:ext>
                </a:extLst>
              </p:cNvPr>
              <p:cNvSpPr txBox="1"/>
              <p:nvPr/>
            </p:nvSpPr>
            <p:spPr bwMode="auto">
              <a:xfrm>
                <a:off x="6330295" y="2414620"/>
                <a:ext cx="2294637" cy="1014380"/>
              </a:xfrm>
              <a:prstGeom prst="rect">
                <a:avLst/>
              </a:prstGeom>
              <a:solidFill>
                <a:schemeClr val="bg1"/>
              </a:solidFill>
              <a:ln>
                <a:noFill/>
              </a:ln>
              <a:effectLst/>
            </p:spPr>
            <p:txBody>
              <a:bodyPr wrap="square">
                <a:spAutoFit/>
              </a:bodyPr>
              <a:lstStyle/>
              <a:p>
                <a:pPr/>
                <a14:m>
                  <m:oMathPara xmlns:m="http://schemas.openxmlformats.org/officeDocument/2006/math">
                    <m:oMathParaPr>
                      <m:jc m:val="left"/>
                    </m:oMathParaPr>
                    <m:oMath xmlns:m="http://schemas.openxmlformats.org/officeDocument/2006/math">
                      <m:f>
                        <m:fPr>
                          <m:ctrlPr>
                            <a:rPr lang="en-US" sz="1600" i="1">
                              <a:solidFill>
                                <a:srgbClr val="0000FF"/>
                              </a:solidFill>
                              <a:latin typeface="Cambria Math" panose="02040503050406030204" pitchFamily="18" charset="0"/>
                            </a:rPr>
                          </m:ctrlPr>
                        </m:fPr>
                        <m:num>
                          <m:r>
                            <a:rPr lang="en-US" sz="1600" i="1">
                              <a:solidFill>
                                <a:srgbClr val="0000FF"/>
                              </a:solidFill>
                              <a:latin typeface="Cambria Math" panose="02040503050406030204" pitchFamily="18" charset="0"/>
                            </a:rPr>
                            <m:t>1</m:t>
                          </m:r>
                        </m:num>
                        <m:den>
                          <m:r>
                            <a:rPr lang="en-US" sz="1600" i="1">
                              <a:solidFill>
                                <a:srgbClr val="0000FF"/>
                              </a:solidFill>
                              <a:latin typeface="Cambria Math" panose="02040503050406030204" pitchFamily="18" charset="0"/>
                            </a:rPr>
                            <m:t>2</m:t>
                          </m:r>
                        </m:den>
                      </m:f>
                      <m:r>
                        <a:rPr lang="en-US" sz="1600" i="1">
                          <a:solidFill>
                            <a:srgbClr val="0000FF"/>
                          </a:solidFill>
                          <a:latin typeface="Cambria Math" panose="02040503050406030204" pitchFamily="18" charset="0"/>
                        </a:rPr>
                        <m:t>(</m:t>
                      </m:r>
                      <m:r>
                        <a:rPr lang="en-US" sz="1600" i="1">
                          <a:solidFill>
                            <a:srgbClr val="0000FF"/>
                          </a:solidFill>
                          <a:latin typeface="Cambria Math" panose="02040503050406030204" pitchFamily="18" charset="0"/>
                        </a:rPr>
                        <m:t>𝑡</m:t>
                      </m:r>
                      <m:r>
                        <a:rPr lang="en-US" sz="1600" i="1">
                          <a:solidFill>
                            <a:srgbClr val="0000FF"/>
                          </a:solidFill>
                          <a:latin typeface="Cambria Math" panose="02040503050406030204" pitchFamily="18" charset="0"/>
                        </a:rPr>
                        <m:t>+2−1)(</m:t>
                      </m:r>
                      <m:r>
                        <a:rPr lang="en-US" sz="1600" i="1">
                          <a:solidFill>
                            <a:srgbClr val="0000FF"/>
                          </a:solidFill>
                          <a:latin typeface="Cambria Math" panose="02040503050406030204" pitchFamily="18" charset="0"/>
                        </a:rPr>
                        <m:t>𝑡</m:t>
                      </m:r>
                      <m:r>
                        <a:rPr lang="en-US" sz="1600" i="1">
                          <a:solidFill>
                            <a:srgbClr val="0000FF"/>
                          </a:solidFill>
                          <a:latin typeface="Cambria Math" panose="02040503050406030204" pitchFamily="18" charset="0"/>
                        </a:rPr>
                        <m:t>+2−1)</m:t>
                      </m:r>
                    </m:oMath>
                    <m:oMath xmlns:m="http://schemas.openxmlformats.org/officeDocument/2006/math">
                      <m:r>
                        <a:rPr lang="en-US" sz="1600" i="1">
                          <a:solidFill>
                            <a:srgbClr val="0000FF"/>
                          </a:solidFill>
                          <a:latin typeface="Cambria Math" panose="02040503050406030204" pitchFamily="18" charset="0"/>
                        </a:rPr>
                        <m:t>=</m:t>
                      </m:r>
                      <m:f>
                        <m:fPr>
                          <m:ctrlPr>
                            <a:rPr lang="en-US" sz="1600" i="1">
                              <a:solidFill>
                                <a:srgbClr val="0000FF"/>
                              </a:solidFill>
                              <a:latin typeface="Cambria Math" panose="02040503050406030204" pitchFamily="18" charset="0"/>
                            </a:rPr>
                          </m:ctrlPr>
                        </m:fPr>
                        <m:num>
                          <m:r>
                            <a:rPr lang="en-US" sz="1600" i="1">
                              <a:solidFill>
                                <a:srgbClr val="0000FF"/>
                              </a:solidFill>
                              <a:latin typeface="Cambria Math" panose="02040503050406030204" pitchFamily="18" charset="0"/>
                            </a:rPr>
                            <m:t>1</m:t>
                          </m:r>
                        </m:num>
                        <m:den>
                          <m:r>
                            <a:rPr lang="en-US" sz="1600" i="1">
                              <a:solidFill>
                                <a:srgbClr val="0000FF"/>
                              </a:solidFill>
                              <a:latin typeface="Cambria Math" panose="02040503050406030204" pitchFamily="18" charset="0"/>
                            </a:rPr>
                            <m:t>2</m:t>
                          </m:r>
                        </m:den>
                      </m:f>
                      <m:r>
                        <a:rPr lang="en-US" sz="1600" i="1">
                          <a:solidFill>
                            <a:srgbClr val="0000FF"/>
                          </a:solidFill>
                          <a:latin typeface="Cambria Math" panose="02040503050406030204" pitchFamily="18" charset="0"/>
                        </a:rPr>
                        <m:t>(</m:t>
                      </m:r>
                      <m:r>
                        <a:rPr lang="en-US" sz="1600" i="1">
                          <a:solidFill>
                            <a:srgbClr val="0000FF"/>
                          </a:solidFill>
                          <a:latin typeface="Cambria Math" panose="02040503050406030204" pitchFamily="18" charset="0"/>
                        </a:rPr>
                        <m:t>𝑡</m:t>
                      </m:r>
                      <m:r>
                        <a:rPr lang="en-US" sz="1600" i="1">
                          <a:solidFill>
                            <a:srgbClr val="0000FF"/>
                          </a:solidFill>
                          <a:latin typeface="Cambria Math" panose="02040503050406030204" pitchFamily="18" charset="0"/>
                        </a:rPr>
                        <m:t>+1</m:t>
                      </m:r>
                      <m:sSup>
                        <m:sSupPr>
                          <m:ctrlPr>
                            <a:rPr lang="en-US" sz="1600" i="1">
                              <a:solidFill>
                                <a:srgbClr val="0000FF"/>
                              </a:solidFill>
                              <a:latin typeface="Cambria Math" panose="02040503050406030204" pitchFamily="18" charset="0"/>
                            </a:rPr>
                          </m:ctrlPr>
                        </m:sSupPr>
                        <m:e>
                          <m:r>
                            <a:rPr lang="en-US" sz="1600" i="1">
                              <a:solidFill>
                                <a:srgbClr val="0000FF"/>
                              </a:solidFill>
                              <a:latin typeface="Cambria Math" panose="02040503050406030204" pitchFamily="18" charset="0"/>
                            </a:rPr>
                            <m:t>)</m:t>
                          </m:r>
                        </m:e>
                        <m:sup>
                          <m:r>
                            <a:rPr lang="en-US" sz="1600" i="1">
                              <a:solidFill>
                                <a:srgbClr val="0000FF"/>
                              </a:solidFill>
                              <a:latin typeface="Cambria Math" panose="02040503050406030204" pitchFamily="18" charset="0"/>
                            </a:rPr>
                            <m:t>2</m:t>
                          </m:r>
                        </m:sup>
                      </m:sSup>
                    </m:oMath>
                  </m:oMathPara>
                </a14:m>
                <a:endParaRPr lang="en-US" sz="1600" dirty="0"/>
              </a:p>
            </p:txBody>
          </p:sp>
        </mc:Choice>
        <mc:Fallback xmlns="">
          <p:sp>
            <p:nvSpPr>
              <p:cNvPr id="11" name="Object 7">
                <a:extLst>
                  <a:ext uri="{FF2B5EF4-FFF2-40B4-BE49-F238E27FC236}">
                    <a16:creationId xmlns:a16="http://schemas.microsoft.com/office/drawing/2014/main" id="{9571994A-A0B6-474A-AF3C-CFB35D78E19B}"/>
                  </a:ext>
                </a:extLst>
              </p:cNvPr>
              <p:cNvSpPr txBox="1">
                <a:spLocks noRot="1" noChangeAspect="1" noMove="1" noResize="1" noEditPoints="1" noAdjustHandles="1" noChangeArrowheads="1" noChangeShapeType="1" noTextEdit="1"/>
              </p:cNvSpPr>
              <p:nvPr/>
            </p:nvSpPr>
            <p:spPr bwMode="auto">
              <a:xfrm>
                <a:off x="6330295" y="2414620"/>
                <a:ext cx="2294637" cy="1014380"/>
              </a:xfrm>
              <a:prstGeom prst="rect">
                <a:avLst/>
              </a:prstGeom>
              <a:blipFill>
                <a:blip r:embed="rId7"/>
                <a:stretch>
                  <a:fillRect/>
                </a:stretch>
              </a:blipFill>
              <a:ln>
                <a:noFill/>
              </a:ln>
              <a:effectLst/>
            </p:spPr>
            <p:txBody>
              <a:bodyPr/>
              <a:lstStyle/>
              <a:p>
                <a:r>
                  <a:rPr lang="en-US">
                    <a:noFill/>
                  </a:rPr>
                  <a:t> </a:t>
                </a:r>
              </a:p>
            </p:txBody>
          </p:sp>
        </mc:Fallback>
      </mc:AlternateContent>
      <p:grpSp>
        <p:nvGrpSpPr>
          <p:cNvPr id="12" name="组合 13">
            <a:extLst>
              <a:ext uri="{FF2B5EF4-FFF2-40B4-BE49-F238E27FC236}">
                <a16:creationId xmlns:a16="http://schemas.microsoft.com/office/drawing/2014/main" id="{1088DF9F-DF56-444F-B6A7-5F596D174A9F}"/>
              </a:ext>
            </a:extLst>
          </p:cNvPr>
          <p:cNvGrpSpPr>
            <a:grpSpLocks/>
          </p:cNvGrpSpPr>
          <p:nvPr/>
        </p:nvGrpSpPr>
        <p:grpSpPr bwMode="auto">
          <a:xfrm>
            <a:off x="3473077" y="2364980"/>
            <a:ext cx="763587" cy="606425"/>
            <a:chOff x="3351215" y="2002466"/>
            <a:chExt cx="763585" cy="606334"/>
          </a:xfrm>
        </p:grpSpPr>
        <p:cxnSp>
          <p:nvCxnSpPr>
            <p:cNvPr id="13" name="直接连接符 7">
              <a:extLst>
                <a:ext uri="{FF2B5EF4-FFF2-40B4-BE49-F238E27FC236}">
                  <a16:creationId xmlns:a16="http://schemas.microsoft.com/office/drawing/2014/main" id="{191049CE-87C3-4D3C-9AF7-C3FB0C347FD9}"/>
                </a:ext>
              </a:extLst>
            </p:cNvPr>
            <p:cNvCxnSpPr>
              <a:cxnSpLocks noChangeShapeType="1"/>
            </p:cNvCxnSpPr>
            <p:nvPr/>
          </p:nvCxnSpPr>
          <p:spPr bwMode="auto">
            <a:xfrm rot="5400000">
              <a:off x="3055008" y="2311007"/>
              <a:ext cx="594000" cy="158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4" name="直接连接符 11">
              <a:extLst>
                <a:ext uri="{FF2B5EF4-FFF2-40B4-BE49-F238E27FC236}">
                  <a16:creationId xmlns:a16="http://schemas.microsoft.com/office/drawing/2014/main" id="{57583E60-FC3A-43B0-B8D9-FDD1D58BBC93}"/>
                </a:ext>
              </a:extLst>
            </p:cNvPr>
            <p:cNvCxnSpPr>
              <a:cxnSpLocks noChangeShapeType="1"/>
            </p:cNvCxnSpPr>
            <p:nvPr/>
          </p:nvCxnSpPr>
          <p:spPr bwMode="auto">
            <a:xfrm>
              <a:off x="3352800" y="2002466"/>
              <a:ext cx="7620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15" name="组合 18">
            <a:extLst>
              <a:ext uri="{FF2B5EF4-FFF2-40B4-BE49-F238E27FC236}">
                <a16:creationId xmlns:a16="http://schemas.microsoft.com/office/drawing/2014/main" id="{9387B6AF-EFD3-42DB-A609-6DCAE9161067}"/>
              </a:ext>
            </a:extLst>
          </p:cNvPr>
          <p:cNvGrpSpPr>
            <a:grpSpLocks/>
          </p:cNvGrpSpPr>
          <p:nvPr/>
        </p:nvGrpSpPr>
        <p:grpSpPr bwMode="auto">
          <a:xfrm>
            <a:off x="2680914" y="3410348"/>
            <a:ext cx="1801813" cy="606425"/>
            <a:chOff x="2819400" y="3069266"/>
            <a:chExt cx="1801585" cy="606334"/>
          </a:xfrm>
        </p:grpSpPr>
        <p:cxnSp>
          <p:nvCxnSpPr>
            <p:cNvPr id="16" name="直接连接符 7">
              <a:extLst>
                <a:ext uri="{FF2B5EF4-FFF2-40B4-BE49-F238E27FC236}">
                  <a16:creationId xmlns:a16="http://schemas.microsoft.com/office/drawing/2014/main" id="{2C9C8CB8-4278-4E3B-B975-C1AC995AD432}"/>
                </a:ext>
              </a:extLst>
            </p:cNvPr>
            <p:cNvCxnSpPr>
              <a:cxnSpLocks noChangeShapeType="1"/>
            </p:cNvCxnSpPr>
            <p:nvPr/>
          </p:nvCxnSpPr>
          <p:spPr bwMode="auto">
            <a:xfrm rot="5400000">
              <a:off x="2523193" y="3377807"/>
              <a:ext cx="594000" cy="158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7" name="直接连接符 16">
              <a:extLst>
                <a:ext uri="{FF2B5EF4-FFF2-40B4-BE49-F238E27FC236}">
                  <a16:creationId xmlns:a16="http://schemas.microsoft.com/office/drawing/2014/main" id="{09E311CB-23A2-420C-8C24-04C67BC5264C}"/>
                </a:ext>
              </a:extLst>
            </p:cNvPr>
            <p:cNvCxnSpPr>
              <a:cxnSpLocks noChangeShapeType="1"/>
            </p:cNvCxnSpPr>
            <p:nvPr/>
          </p:nvCxnSpPr>
          <p:spPr bwMode="auto">
            <a:xfrm>
              <a:off x="2820985" y="3069266"/>
              <a:ext cx="18000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9" name="直接连接符 7">
              <a:extLst>
                <a:ext uri="{FF2B5EF4-FFF2-40B4-BE49-F238E27FC236}">
                  <a16:creationId xmlns:a16="http://schemas.microsoft.com/office/drawing/2014/main" id="{107D9B93-CE36-460D-A2ED-747013C5A0F8}"/>
                </a:ext>
              </a:extLst>
            </p:cNvPr>
            <p:cNvCxnSpPr>
              <a:cxnSpLocks noChangeShapeType="1"/>
            </p:cNvCxnSpPr>
            <p:nvPr/>
          </p:nvCxnSpPr>
          <p:spPr bwMode="auto">
            <a:xfrm rot="5400000">
              <a:off x="4320093" y="3376107"/>
              <a:ext cx="594000" cy="158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20" name="直接连接符 20">
            <a:extLst>
              <a:ext uri="{FF2B5EF4-FFF2-40B4-BE49-F238E27FC236}">
                <a16:creationId xmlns:a16="http://schemas.microsoft.com/office/drawing/2014/main" id="{A53DEE8C-DE91-4D4C-B701-549C4ED78A40}"/>
              </a:ext>
            </a:extLst>
          </p:cNvPr>
          <p:cNvCxnSpPr>
            <a:cxnSpLocks noChangeShapeType="1"/>
          </p:cNvCxnSpPr>
          <p:nvPr/>
        </p:nvCxnSpPr>
        <p:spPr bwMode="auto">
          <a:xfrm>
            <a:off x="2276102" y="4032648"/>
            <a:ext cx="2514600"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1" name="TextBox 21">
            <a:extLst>
              <a:ext uri="{FF2B5EF4-FFF2-40B4-BE49-F238E27FC236}">
                <a16:creationId xmlns:a16="http://schemas.microsoft.com/office/drawing/2014/main" id="{BA122D19-3242-498A-ADB2-928E2820655C}"/>
              </a:ext>
            </a:extLst>
          </p:cNvPr>
          <p:cNvSpPr txBox="1">
            <a:spLocks noChangeArrowheads="1"/>
          </p:cNvSpPr>
          <p:nvPr/>
        </p:nvSpPr>
        <p:spPr bwMode="auto">
          <a:xfrm>
            <a:off x="2528514" y="4014392"/>
            <a:ext cx="2873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buFontTx/>
              <a:buNone/>
            </a:pPr>
            <a:r>
              <a:rPr lang="en-US" altLang="zh-CN" sz="1600" i="1">
                <a:solidFill>
                  <a:srgbClr val="000000"/>
                </a:solidFill>
                <a:ea typeface="宋体" panose="02010600030101010101" pitchFamily="2" charset="-122"/>
              </a:rPr>
              <a:t>1</a:t>
            </a:r>
            <a:endParaRPr lang="zh-CN" altLang="en-US" sz="1600" i="1">
              <a:solidFill>
                <a:srgbClr val="000000"/>
              </a:solidFill>
              <a:ea typeface="宋体" panose="02010600030101010101" pitchFamily="2" charset="-122"/>
            </a:endParaRPr>
          </a:p>
        </p:txBody>
      </p:sp>
      <p:sp>
        <p:nvSpPr>
          <p:cNvPr id="22" name="TextBox 22">
            <a:extLst>
              <a:ext uri="{FF2B5EF4-FFF2-40B4-BE49-F238E27FC236}">
                <a16:creationId xmlns:a16="http://schemas.microsoft.com/office/drawing/2014/main" id="{0105C8FE-E6D3-434B-85F2-81FFBA7BDAA9}"/>
              </a:ext>
            </a:extLst>
          </p:cNvPr>
          <p:cNvSpPr txBox="1">
            <a:spLocks noChangeArrowheads="1"/>
          </p:cNvSpPr>
          <p:nvPr/>
        </p:nvSpPr>
        <p:spPr bwMode="auto">
          <a:xfrm>
            <a:off x="4330327" y="4020742"/>
            <a:ext cx="2873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buFontTx/>
              <a:buNone/>
            </a:pPr>
            <a:r>
              <a:rPr lang="en-US" altLang="zh-CN" sz="1600" i="1">
                <a:solidFill>
                  <a:srgbClr val="000000"/>
                </a:solidFill>
                <a:ea typeface="宋体" panose="02010600030101010101" pitchFamily="2" charset="-122"/>
              </a:rPr>
              <a:t>3</a:t>
            </a:r>
            <a:endParaRPr lang="zh-CN" altLang="en-US" sz="1600" i="1">
              <a:solidFill>
                <a:srgbClr val="000000"/>
              </a:solidFill>
              <a:ea typeface="宋体" panose="02010600030101010101" pitchFamily="2" charset="-122"/>
            </a:endParaRPr>
          </a:p>
        </p:txBody>
      </p:sp>
      <p:grpSp>
        <p:nvGrpSpPr>
          <p:cNvPr id="25" name="组合 27">
            <a:extLst>
              <a:ext uri="{FF2B5EF4-FFF2-40B4-BE49-F238E27FC236}">
                <a16:creationId xmlns:a16="http://schemas.microsoft.com/office/drawing/2014/main" id="{A1B8135F-9EC5-46B3-AA6F-B562FC528DFA}"/>
              </a:ext>
            </a:extLst>
          </p:cNvPr>
          <p:cNvGrpSpPr>
            <a:grpSpLocks/>
          </p:cNvGrpSpPr>
          <p:nvPr/>
        </p:nvGrpSpPr>
        <p:grpSpPr bwMode="auto">
          <a:xfrm>
            <a:off x="2693614" y="4491442"/>
            <a:ext cx="900113" cy="615156"/>
            <a:chOff x="2571532" y="4128524"/>
            <a:chExt cx="900000" cy="615441"/>
          </a:xfrm>
        </p:grpSpPr>
        <p:cxnSp>
          <p:nvCxnSpPr>
            <p:cNvPr id="26" name="直接连接符 25">
              <a:extLst>
                <a:ext uri="{FF2B5EF4-FFF2-40B4-BE49-F238E27FC236}">
                  <a16:creationId xmlns:a16="http://schemas.microsoft.com/office/drawing/2014/main" id="{4C28E860-0AA2-4D44-97E6-225FAA84CCAF}"/>
                </a:ext>
              </a:extLst>
            </p:cNvPr>
            <p:cNvCxnSpPr>
              <a:cxnSpLocks noChangeShapeType="1"/>
            </p:cNvCxnSpPr>
            <p:nvPr/>
          </p:nvCxnSpPr>
          <p:spPr bwMode="auto">
            <a:xfrm>
              <a:off x="2571532" y="4128524"/>
              <a:ext cx="9000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7" name="直接连接符 7">
              <a:extLst>
                <a:ext uri="{FF2B5EF4-FFF2-40B4-BE49-F238E27FC236}">
                  <a16:creationId xmlns:a16="http://schemas.microsoft.com/office/drawing/2014/main" id="{3DB23DF9-AEFE-4801-8184-143D374014AE}"/>
                </a:ext>
              </a:extLst>
            </p:cNvPr>
            <p:cNvCxnSpPr>
              <a:cxnSpLocks noChangeShapeType="1"/>
            </p:cNvCxnSpPr>
            <p:nvPr/>
          </p:nvCxnSpPr>
          <p:spPr bwMode="auto">
            <a:xfrm>
              <a:off x="3462668" y="4128524"/>
              <a:ext cx="1" cy="615441"/>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06382980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9" name="标题 1">
            <a:extLst>
              <a:ext uri="{FF2B5EF4-FFF2-40B4-BE49-F238E27FC236}">
                <a16:creationId xmlns:a16="http://schemas.microsoft.com/office/drawing/2014/main" id="{F715F394-E37F-4AF7-B143-F4AF3BBA848A}"/>
              </a:ext>
            </a:extLst>
          </p:cNvPr>
          <p:cNvSpPr>
            <a:spLocks noGrp="1"/>
          </p:cNvSpPr>
          <p:nvPr>
            <p:ph type="title"/>
          </p:nvPr>
        </p:nvSpPr>
        <p:spPr/>
        <p:txBody>
          <a:bodyPr/>
          <a:lstStyle/>
          <a:p>
            <a:r>
              <a:rPr lang="en-US" altLang="zh-CN" sz="4000"/>
              <a:t>2.2 </a:t>
            </a:r>
            <a:r>
              <a:rPr lang="zh-CN" altLang="en-US" sz="4000"/>
              <a:t>连续时间</a:t>
            </a:r>
            <a:r>
              <a:rPr lang="en-US" altLang="zh-CN" sz="4000"/>
              <a:t>LTI</a:t>
            </a:r>
            <a:r>
              <a:rPr lang="zh-CN" altLang="en-US" sz="4000"/>
              <a:t>系统：卷积积分</a:t>
            </a:r>
          </a:p>
        </p:txBody>
      </p:sp>
      <p:sp>
        <p:nvSpPr>
          <p:cNvPr id="4" name="灯片编号占位符 3">
            <a:extLst>
              <a:ext uri="{FF2B5EF4-FFF2-40B4-BE49-F238E27FC236}">
                <a16:creationId xmlns:a16="http://schemas.microsoft.com/office/drawing/2014/main" id="{F8D3725C-766C-4B57-9B85-1C26C384C01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5320C2C-B243-4828-A9CE-F75812C938AA}" type="slidenum">
              <a:rPr lang="zh-CN" altLang="en-US">
                <a:solidFill>
                  <a:srgbClr val="898989"/>
                </a:solidFill>
                <a:latin typeface="Calibri" panose="020F0502020204030204" pitchFamily="34" charset="0"/>
              </a:rPr>
              <a:pPr eaLnBrk="1" hangingPunct="1"/>
              <a:t>31</a:t>
            </a:fld>
            <a:endParaRPr lang="zh-CN" altLang="en-US">
              <a:solidFill>
                <a:srgbClr val="898989"/>
              </a:solidFill>
              <a:latin typeface="Calibri" panose="020F0502020204030204" pitchFamily="34" charset="0"/>
            </a:endParaRPr>
          </a:p>
        </p:txBody>
      </p:sp>
      <p:sp>
        <p:nvSpPr>
          <p:cNvPr id="27" name="Text Box 22">
            <a:extLst>
              <a:ext uri="{FF2B5EF4-FFF2-40B4-BE49-F238E27FC236}">
                <a16:creationId xmlns:a16="http://schemas.microsoft.com/office/drawing/2014/main" id="{A7F7B901-90D0-4ED2-AE1A-788A34128E22}"/>
              </a:ext>
            </a:extLst>
          </p:cNvPr>
          <p:cNvSpPr txBox="1">
            <a:spLocks noChangeArrowheads="1"/>
          </p:cNvSpPr>
          <p:nvPr/>
        </p:nvSpPr>
        <p:spPr bwMode="auto">
          <a:xfrm>
            <a:off x="428312" y="1268760"/>
            <a:ext cx="10166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dirty="0">
                <a:solidFill>
                  <a:srgbClr val="800000"/>
                </a:solidFill>
                <a:latin typeface="Times New Roman" panose="02020603050405020304" pitchFamily="18" charset="0"/>
                <a:ea typeface="华文楷体" panose="02010600040101010101" pitchFamily="2" charset="-122"/>
                <a:cs typeface="楷体_GB2312" panose="02010609030101010101" pitchFamily="49" charset="-122"/>
              </a:rPr>
              <a:t>例</a:t>
            </a:r>
            <a:r>
              <a:rPr lang="en-US" altLang="zh-CN" sz="3200" dirty="0">
                <a:solidFill>
                  <a:srgbClr val="800000"/>
                </a:solidFill>
                <a:latin typeface="Times New Roman" panose="02020603050405020304" pitchFamily="18" charset="0"/>
                <a:ea typeface="华文楷体" panose="02010600040101010101" pitchFamily="2" charset="-122"/>
                <a:cs typeface="楷体_GB2312" panose="02010609030101010101" pitchFamily="49" charset="-122"/>
              </a:rPr>
              <a:t>2:</a:t>
            </a:r>
            <a:r>
              <a:rPr lang="en-US" altLang="zh-CN" sz="3200" dirty="0">
                <a:latin typeface="Times New Roman" panose="02020603050405020304" pitchFamily="18" charset="0"/>
                <a:ea typeface="华文楷体" panose="02010600040101010101" pitchFamily="2" charset="-122"/>
                <a:cs typeface="楷体_GB2312" panose="02010609030101010101" pitchFamily="49" charset="-122"/>
              </a:rPr>
              <a:t> </a:t>
            </a:r>
          </a:p>
        </p:txBody>
      </p:sp>
      <p:pic>
        <p:nvPicPr>
          <p:cNvPr id="28" name="Picture 4">
            <a:extLst>
              <a:ext uri="{FF2B5EF4-FFF2-40B4-BE49-F238E27FC236}">
                <a16:creationId xmlns:a16="http://schemas.microsoft.com/office/drawing/2014/main" id="{D985D17F-7095-436A-8879-5E834FB8DB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1752600"/>
            <a:ext cx="33528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6">
            <a:extLst>
              <a:ext uri="{FF2B5EF4-FFF2-40B4-BE49-F238E27FC236}">
                <a16:creationId xmlns:a16="http://schemas.microsoft.com/office/drawing/2014/main" id="{C639C3DE-1D94-45B4-BEE7-0162A45162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905000"/>
            <a:ext cx="10668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7">
            <a:extLst>
              <a:ext uri="{FF2B5EF4-FFF2-40B4-BE49-F238E27FC236}">
                <a16:creationId xmlns:a16="http://schemas.microsoft.com/office/drawing/2014/main" id="{B43DF23F-6FBE-4AB0-8C32-9D47D093E9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1981200"/>
            <a:ext cx="909638"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1" name="Object 9">
                <a:extLst>
                  <a:ext uri="{FF2B5EF4-FFF2-40B4-BE49-F238E27FC236}">
                    <a16:creationId xmlns:a16="http://schemas.microsoft.com/office/drawing/2014/main" id="{3B1EE48A-D71A-4A29-8A72-91C3E4B256AF}"/>
                  </a:ext>
                </a:extLst>
              </p:cNvPr>
              <p:cNvSpPr txBox="1">
                <a:spLocks noGrp="1"/>
              </p:cNvSpPr>
              <p:nvPr>
                <p:ph idx="1"/>
              </p:nvPr>
            </p:nvSpPr>
            <p:spPr bwMode="auto">
              <a:xfrm>
                <a:off x="2086372" y="3078705"/>
                <a:ext cx="4971256" cy="1557542"/>
              </a:xfrm>
              <a:prstGeom prst="rect">
                <a:avLst/>
              </a:prstGeom>
              <a:noFill/>
              <a:ln>
                <a:noFill/>
              </a:ln>
              <a:effectLst/>
            </p:spPr>
            <p:txBody>
              <a:bodyPr wrap="square">
                <a:spAutoFit/>
              </a:bodyPr>
              <a:lstStyle/>
              <a:p>
                <a:pPr>
                  <a:lnSpc>
                    <a:spcPct val="150000"/>
                  </a:lnSpc>
                  <a:spcBef>
                    <a:spcPts val="0"/>
                  </a:spcBef>
                  <a:spcAft>
                    <a:spcPts val="600"/>
                  </a:spcAft>
                  <a:buNone/>
                </a:pPr>
                <a14:m>
                  <m:oMathPara xmlns:m="http://schemas.openxmlformats.org/officeDocument/2006/math">
                    <m:oMathParaPr>
                      <m:jc m:val="left"/>
                    </m:oMathParaPr>
                    <m:oMath xmlns:m="http://schemas.openxmlformats.org/officeDocument/2006/math">
                      <m:r>
                        <a:rPr lang="en-US" i="1" smtClean="0">
                          <a:solidFill>
                            <a:srgbClr val="000000"/>
                          </a:solidFill>
                          <a:latin typeface="Cambria Math" panose="02040503050406030204" pitchFamily="18" charset="0"/>
                        </a:rPr>
                        <m:t>𝑥</m:t>
                      </m:r>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𝑡</m:t>
                          </m:r>
                        </m:e>
                      </m:d>
                      <m:r>
                        <a:rPr lang="en-US" i="1">
                          <a:solidFill>
                            <a:srgbClr val="000000"/>
                          </a:solidFill>
                          <a:latin typeface="Cambria Math" panose="02040503050406030204" pitchFamily="18" charset="0"/>
                        </a:rPr>
                        <m:t>=</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𝑒</m:t>
                          </m:r>
                        </m:e>
                        <m:sup>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𝑎𝑡</m:t>
                          </m:r>
                        </m:sup>
                      </m:sSup>
                      <m:r>
                        <a:rPr lang="en-US" i="1">
                          <a:solidFill>
                            <a:srgbClr val="000000"/>
                          </a:solidFill>
                          <a:latin typeface="Cambria Math" panose="02040503050406030204" pitchFamily="18" charset="0"/>
                        </a:rPr>
                        <m:t>𝑢</m:t>
                      </m:r>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𝑡</m:t>
                          </m:r>
                        </m:e>
                      </m:d>
                      <m:r>
                        <a:rPr lang="en-US" i="1">
                          <a:solidFill>
                            <a:srgbClr val="000000"/>
                          </a:solidFill>
                          <a:latin typeface="Cambria Math" panose="02040503050406030204" pitchFamily="18" charset="0"/>
                        </a:rPr>
                        <m:t>,</m:t>
                      </m:r>
                      <m:r>
                        <a:rPr lang="en-US" b="1" i="1" smtClean="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𝑎</m:t>
                      </m:r>
                      <m:r>
                        <a:rPr lang="en-US" i="1">
                          <a:solidFill>
                            <a:srgbClr val="000000"/>
                          </a:solidFill>
                          <a:latin typeface="Cambria Math" panose="02040503050406030204" pitchFamily="18" charset="0"/>
                        </a:rPr>
                        <m:t>&gt;0</m:t>
                      </m:r>
                    </m:oMath>
                  </m:oMathPara>
                </a14:m>
                <a:endParaRPr lang="en-US" i="1" dirty="0">
                  <a:solidFill>
                    <a:srgbClr val="000000"/>
                  </a:solidFill>
                  <a:latin typeface="Cambria Math" panose="02040503050406030204" pitchFamily="18" charset="0"/>
                </a:endParaRPr>
              </a:p>
              <a:p>
                <a:pPr>
                  <a:lnSpc>
                    <a:spcPct val="150000"/>
                  </a:lnSpc>
                  <a:spcBef>
                    <a:spcPts val="0"/>
                  </a:spcBef>
                  <a:spcAft>
                    <a:spcPts val="600"/>
                  </a:spcAft>
                  <a:buNone/>
                </a:pPr>
                <a14:m>
                  <m:oMath xmlns:m="http://schemas.openxmlformats.org/officeDocument/2006/math">
                    <m:r>
                      <a:rPr lang="en-US" i="1" smtClean="0">
                        <a:solidFill>
                          <a:srgbClr val="000000"/>
                        </a:solidFill>
                        <a:latin typeface="Cambria Math" panose="02040503050406030204" pitchFamily="18" charset="0"/>
                      </a:rPr>
                      <m:t>h</m:t>
                    </m:r>
                    <m:r>
                      <a:rPr lang="en-US" i="1" smtClean="0">
                        <a:solidFill>
                          <a:srgbClr val="000000"/>
                        </a:solidFill>
                        <a:latin typeface="Cambria Math" panose="02040503050406030204" pitchFamily="18" charset="0"/>
                      </a:rPr>
                      <m:t>(</m:t>
                    </m:r>
                    <m:r>
                      <a:rPr lang="en-US" i="1" smtClean="0">
                        <a:solidFill>
                          <a:srgbClr val="000000"/>
                        </a:solidFill>
                        <a:latin typeface="Cambria Math" panose="02040503050406030204" pitchFamily="18" charset="0"/>
                      </a:rPr>
                      <m:t>𝑡</m:t>
                    </m:r>
                    <m:r>
                      <a:rPr lang="en-US" i="1" smtClean="0">
                        <a:solidFill>
                          <a:srgbClr val="000000"/>
                        </a:solidFill>
                        <a:latin typeface="Cambria Math" panose="02040503050406030204" pitchFamily="18" charset="0"/>
                      </a:rPr>
                      <m:t>)=</m:t>
                    </m:r>
                    <m:r>
                      <a:rPr lang="en-US" i="1" smtClean="0">
                        <a:solidFill>
                          <a:srgbClr val="000000"/>
                        </a:solidFill>
                        <a:latin typeface="Cambria Math" panose="02040503050406030204" pitchFamily="18" charset="0"/>
                      </a:rPr>
                      <m:t>𝑢</m:t>
                    </m:r>
                    <m:r>
                      <a:rPr lang="en-US" i="1" smtClean="0">
                        <a:solidFill>
                          <a:srgbClr val="000000"/>
                        </a:solidFill>
                        <a:latin typeface="Cambria Math" panose="02040503050406030204" pitchFamily="18" charset="0"/>
                      </a:rPr>
                      <m:t>(</m:t>
                    </m:r>
                    <m:r>
                      <a:rPr lang="en-US" i="1" smtClean="0">
                        <a:solidFill>
                          <a:srgbClr val="000000"/>
                        </a:solidFill>
                        <a:latin typeface="Cambria Math" panose="02040503050406030204" pitchFamily="18" charset="0"/>
                      </a:rPr>
                      <m:t>𝑡</m:t>
                    </m:r>
                    <m:r>
                      <a:rPr lang="en-US" i="1" smtClean="0">
                        <a:solidFill>
                          <a:srgbClr val="000000"/>
                        </a:solidFill>
                        <a:latin typeface="Cambria Math" panose="02040503050406030204" pitchFamily="18" charset="0"/>
                      </a:rPr>
                      <m:t>)</m:t>
                    </m:r>
                  </m:oMath>
                </a14:m>
                <a:r>
                  <a:rPr lang="en-US" i="1" dirty="0">
                    <a:solidFill>
                      <a:srgbClr val="000000"/>
                    </a:solidFill>
                    <a:latin typeface="Cambria Math" panose="02040503050406030204" pitchFamily="18" charset="0"/>
                  </a:rPr>
                  <a:t> </a:t>
                </a:r>
                <a:endParaRPr lang="en-US" dirty="0"/>
              </a:p>
            </p:txBody>
          </p:sp>
        </mc:Choice>
        <mc:Fallback xmlns="">
          <p:sp>
            <p:nvSpPr>
              <p:cNvPr id="31" name="Object 9">
                <a:extLst>
                  <a:ext uri="{FF2B5EF4-FFF2-40B4-BE49-F238E27FC236}">
                    <a16:creationId xmlns:a16="http://schemas.microsoft.com/office/drawing/2014/main" id="{3B1EE48A-D71A-4A29-8A72-91C3E4B256AF}"/>
                  </a:ext>
                </a:extLst>
              </p:cNvPr>
              <p:cNvSpPr txBox="1">
                <a:spLocks noRot="1" noChangeAspect="1" noMove="1" noResize="1" noEditPoints="1" noAdjustHandles="1" noChangeArrowheads="1" noChangeShapeType="1" noTextEdit="1"/>
              </p:cNvSpPr>
              <p:nvPr>
                <p:ph idx="1"/>
              </p:nvPr>
            </p:nvSpPr>
            <p:spPr bwMode="auto">
              <a:xfrm>
                <a:off x="2086372" y="3078705"/>
                <a:ext cx="4971256" cy="1557542"/>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 Box 11">
                <a:extLst>
                  <a:ext uri="{FF2B5EF4-FFF2-40B4-BE49-F238E27FC236}">
                    <a16:creationId xmlns:a16="http://schemas.microsoft.com/office/drawing/2014/main" id="{19C56221-94C8-4D51-9ED4-589A02FC29A2}"/>
                  </a:ext>
                </a:extLst>
              </p:cNvPr>
              <p:cNvSpPr txBox="1">
                <a:spLocks noChangeArrowheads="1"/>
              </p:cNvSpPr>
              <p:nvPr/>
            </p:nvSpPr>
            <p:spPr bwMode="auto">
              <a:xfrm>
                <a:off x="1676400" y="5105102"/>
                <a:ext cx="3970784" cy="58477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spcBef>
                    <a:spcPct val="50000"/>
                  </a:spcBef>
                  <a:buFontTx/>
                  <a:buNone/>
                </a:pPr>
                <a:r>
                  <a:rPr lang="zh-CN" altLang="en-US" sz="3200" dirty="0">
                    <a:solidFill>
                      <a:srgbClr val="000000"/>
                    </a:solidFill>
                    <a:latin typeface="Cambria Math" panose="02040503050406030204" pitchFamily="18" charset="0"/>
                    <a:ea typeface="楷体" panose="02010609060101010101" pitchFamily="49" charset="-122"/>
                  </a:rPr>
                  <a:t>求系统响应</a:t>
                </a:r>
                <a14:m>
                  <m:oMath xmlns:m="http://schemas.openxmlformats.org/officeDocument/2006/math">
                    <m:r>
                      <a:rPr lang="en-US" sz="3200" b="0" i="1" smtClean="0">
                        <a:solidFill>
                          <a:srgbClr val="000000"/>
                        </a:solidFill>
                        <a:latin typeface="Cambria Math" panose="02040503050406030204" pitchFamily="18" charset="0"/>
                      </a:rPr>
                      <m:t>𝑦</m:t>
                    </m:r>
                    <m:d>
                      <m:dPr>
                        <m:ctrlPr>
                          <a:rPr lang="en-US" sz="3200" i="1">
                            <a:solidFill>
                              <a:srgbClr val="000000"/>
                            </a:solidFill>
                            <a:latin typeface="Cambria Math" panose="02040503050406030204" pitchFamily="18" charset="0"/>
                          </a:rPr>
                        </m:ctrlPr>
                      </m:dPr>
                      <m:e>
                        <m:r>
                          <a:rPr lang="en-US" sz="3200" i="1">
                            <a:solidFill>
                              <a:srgbClr val="000000"/>
                            </a:solidFill>
                            <a:latin typeface="Cambria Math" panose="02040503050406030204" pitchFamily="18" charset="0"/>
                          </a:rPr>
                          <m:t>𝑡</m:t>
                        </m:r>
                      </m:e>
                    </m:d>
                  </m:oMath>
                </a14:m>
                <a:r>
                  <a:rPr lang="zh-CN" altLang="en-US" sz="3200" dirty="0">
                    <a:solidFill>
                      <a:srgbClr val="000000"/>
                    </a:solidFill>
                    <a:latin typeface="Cambria Math" panose="02040503050406030204" pitchFamily="18" charset="0"/>
                    <a:ea typeface="楷体" panose="02010609060101010101" pitchFamily="49" charset="-122"/>
                  </a:rPr>
                  <a:t>。</a:t>
                </a:r>
                <a:endParaRPr lang="en-US" altLang="zh-CN" sz="3200" dirty="0">
                  <a:solidFill>
                    <a:srgbClr val="000000"/>
                  </a:solidFill>
                  <a:latin typeface="Cambria Math" panose="02040503050406030204" pitchFamily="18" charset="0"/>
                  <a:ea typeface="楷体" panose="02010609060101010101" pitchFamily="49" charset="-122"/>
                </a:endParaRPr>
              </a:p>
            </p:txBody>
          </p:sp>
        </mc:Choice>
        <mc:Fallback xmlns="">
          <p:sp>
            <p:nvSpPr>
              <p:cNvPr id="32" name="Text Box 11">
                <a:extLst>
                  <a:ext uri="{FF2B5EF4-FFF2-40B4-BE49-F238E27FC236}">
                    <a16:creationId xmlns:a16="http://schemas.microsoft.com/office/drawing/2014/main" id="{19C56221-94C8-4D51-9ED4-589A02FC29A2}"/>
                  </a:ext>
                </a:extLst>
              </p:cNvPr>
              <p:cNvSpPr txBox="1">
                <a:spLocks noRot="1" noChangeAspect="1" noMove="1" noResize="1" noEditPoints="1" noAdjustHandles="1" noChangeArrowheads="1" noChangeShapeType="1" noTextEdit="1"/>
              </p:cNvSpPr>
              <p:nvPr/>
            </p:nvSpPr>
            <p:spPr bwMode="auto">
              <a:xfrm>
                <a:off x="1676400" y="5105102"/>
                <a:ext cx="3970784" cy="584775"/>
              </a:xfrm>
              <a:prstGeom prst="rect">
                <a:avLst/>
              </a:prstGeom>
              <a:blipFill>
                <a:blip r:embed="rId6"/>
                <a:stretch>
                  <a:fillRect l="-3840" t="-16667" b="-3020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8D3725C-766C-4B57-9B85-1C26C384C01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5320C2C-B243-4828-A9CE-F75812C938AA}" type="slidenum">
              <a:rPr lang="zh-CN" altLang="en-US">
                <a:solidFill>
                  <a:srgbClr val="898989"/>
                </a:solidFill>
                <a:latin typeface="Calibri" panose="020F0502020204030204" pitchFamily="34" charset="0"/>
              </a:rPr>
              <a:pPr eaLnBrk="1" hangingPunct="1"/>
              <a:t>32</a:t>
            </a:fld>
            <a:endParaRPr lang="zh-CN" altLang="en-US">
              <a:solidFill>
                <a:srgbClr val="898989"/>
              </a:solidFill>
              <a:latin typeface="Calibri" panose="020F0502020204030204" pitchFamily="34" charset="0"/>
            </a:endParaRPr>
          </a:p>
        </p:txBody>
      </p:sp>
      <p:pic>
        <p:nvPicPr>
          <p:cNvPr id="11" name="Picture 4" descr="02-17">
            <a:extLst>
              <a:ext uri="{FF2B5EF4-FFF2-40B4-BE49-F238E27FC236}">
                <a16:creationId xmlns:a16="http://schemas.microsoft.com/office/drawing/2014/main" id="{6E947DBB-FEB2-40E8-AC68-BD9F6DAB22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4400" y="136525"/>
            <a:ext cx="4775200" cy="662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892040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9" name="标题 1">
            <a:extLst>
              <a:ext uri="{FF2B5EF4-FFF2-40B4-BE49-F238E27FC236}">
                <a16:creationId xmlns:a16="http://schemas.microsoft.com/office/drawing/2014/main" id="{F715F394-E37F-4AF7-B143-F4AF3BBA848A}"/>
              </a:ext>
            </a:extLst>
          </p:cNvPr>
          <p:cNvSpPr>
            <a:spLocks noGrp="1"/>
          </p:cNvSpPr>
          <p:nvPr>
            <p:ph type="title"/>
          </p:nvPr>
        </p:nvSpPr>
        <p:spPr/>
        <p:txBody>
          <a:bodyPr/>
          <a:lstStyle/>
          <a:p>
            <a:r>
              <a:rPr lang="en-US" altLang="zh-CN" sz="4000"/>
              <a:t>2.2 </a:t>
            </a:r>
            <a:r>
              <a:rPr lang="zh-CN" altLang="en-US" sz="4000"/>
              <a:t>连续时间</a:t>
            </a:r>
            <a:r>
              <a:rPr lang="en-US" altLang="zh-CN" sz="4000"/>
              <a:t>LTI</a:t>
            </a:r>
            <a:r>
              <a:rPr lang="zh-CN" altLang="en-US" sz="4000"/>
              <a:t>系统：卷积积分</a:t>
            </a:r>
          </a:p>
        </p:txBody>
      </p:sp>
      <p:sp>
        <p:nvSpPr>
          <p:cNvPr id="4" name="灯片编号占位符 3">
            <a:extLst>
              <a:ext uri="{FF2B5EF4-FFF2-40B4-BE49-F238E27FC236}">
                <a16:creationId xmlns:a16="http://schemas.microsoft.com/office/drawing/2014/main" id="{F8D3725C-766C-4B57-9B85-1C26C384C01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5320C2C-B243-4828-A9CE-F75812C938AA}" type="slidenum">
              <a:rPr lang="zh-CN" altLang="en-US">
                <a:solidFill>
                  <a:srgbClr val="898989"/>
                </a:solidFill>
                <a:latin typeface="Calibri" panose="020F0502020204030204" pitchFamily="34" charset="0"/>
              </a:rPr>
              <a:pPr eaLnBrk="1" hangingPunct="1"/>
              <a:t>33</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11" name="Object 2">
                <a:extLst>
                  <a:ext uri="{FF2B5EF4-FFF2-40B4-BE49-F238E27FC236}">
                    <a16:creationId xmlns:a16="http://schemas.microsoft.com/office/drawing/2014/main" id="{FF329621-33FD-4A3C-93A4-2F9DD80F2E10}"/>
                  </a:ext>
                </a:extLst>
              </p:cNvPr>
              <p:cNvSpPr txBox="1"/>
              <p:nvPr/>
            </p:nvSpPr>
            <p:spPr bwMode="auto">
              <a:xfrm>
                <a:off x="2139950" y="1589351"/>
                <a:ext cx="5480050" cy="916148"/>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h</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d>
                        <m:dPr>
                          <m:begChr m:val="{"/>
                          <m:endChr m:val=""/>
                          <m:ctrlPr>
                            <a:rPr lang="en-US" sz="2400" i="1">
                              <a:solidFill>
                                <a:srgbClr val="000000"/>
                              </a:solidFill>
                              <a:latin typeface="Cambria Math" panose="02040503050406030204" pitchFamily="18" charset="0"/>
                            </a:rPr>
                          </m:ctrlPr>
                        </m:dPr>
                        <m:e>
                          <m:m>
                            <m:mPr>
                              <m:plcHide m:val="on"/>
                              <m:mcs>
                                <m:mc>
                                  <m:mcPr>
                                    <m:count m:val="2"/>
                                    <m:mcJc m:val="center"/>
                                  </m:mcPr>
                                </m:mc>
                              </m:mcs>
                              <m:ctrlPr>
                                <a:rPr lang="en-US" sz="2400" i="1">
                                  <a:solidFill>
                                    <a:srgbClr val="000000"/>
                                  </a:solidFill>
                                  <a:latin typeface="Cambria Math" panose="02040503050406030204" pitchFamily="18" charset="0"/>
                                </a:rPr>
                              </m:ctrlPr>
                            </m:mPr>
                            <m:mr>
                              <m:e>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𝑒</m:t>
                                    </m:r>
                                  </m:e>
                                  <m: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𝑎</m:t>
                                    </m:r>
                                    <m:r>
                                      <a:rPr lang="en-US" sz="2400" i="1">
                                        <a:solidFill>
                                          <a:srgbClr val="000000"/>
                                        </a:solidFill>
                                        <a:latin typeface="Cambria Math" panose="02040503050406030204" pitchFamily="18" charset="0"/>
                                      </a:rPr>
                                      <m:t>𝜏</m:t>
                                    </m:r>
                                  </m:sup>
                                </m:sSup>
                                <m:r>
                                  <a:rPr lang="en-US" sz="2400" i="1">
                                    <a:solidFill>
                                      <a:srgbClr val="000000"/>
                                    </a:solidFill>
                                    <a:latin typeface="Cambria Math" panose="02040503050406030204" pitchFamily="18" charset="0"/>
                                  </a:rPr>
                                  <m:t>,</m:t>
                                </m:r>
                              </m:e>
                              <m:e>
                                <m:r>
                                  <a:rPr lang="en-US" sz="2400" i="1">
                                    <a:solidFill>
                                      <a:srgbClr val="000000"/>
                                    </a:solidFill>
                                    <a:latin typeface="Cambria Math" panose="02040503050406030204" pitchFamily="18" charset="0"/>
                                  </a:rPr>
                                  <m:t>0&lt;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&lt;</m:t>
                                </m:r>
                                <m:r>
                                  <a:rPr lang="en-US" sz="2400" i="1">
                                    <a:solidFill>
                                      <a:srgbClr val="000000"/>
                                    </a:solidFill>
                                    <a:latin typeface="Cambria Math" panose="02040503050406030204" pitchFamily="18" charset="0"/>
                                  </a:rPr>
                                  <m:t>𝑡</m:t>
                                </m:r>
                              </m:e>
                            </m:mr>
                            <m:mr>
                              <m:e>
                                <m:r>
                                  <a:rPr 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其它</m:t>
                                </m:r>
                              </m:e>
                            </m:mr>
                          </m:m>
                        </m:e>
                      </m:d>
                    </m:oMath>
                  </m:oMathPara>
                </a14:m>
                <a:endParaRPr lang="en-US" sz="2400" dirty="0"/>
              </a:p>
            </p:txBody>
          </p:sp>
        </mc:Choice>
        <mc:Fallback xmlns="">
          <p:sp>
            <p:nvSpPr>
              <p:cNvPr id="11" name="Object 2">
                <a:extLst>
                  <a:ext uri="{FF2B5EF4-FFF2-40B4-BE49-F238E27FC236}">
                    <a16:creationId xmlns:a16="http://schemas.microsoft.com/office/drawing/2014/main" id="{FF329621-33FD-4A3C-93A4-2F9DD80F2E10}"/>
                  </a:ext>
                </a:extLst>
              </p:cNvPr>
              <p:cNvSpPr txBox="1">
                <a:spLocks noRot="1" noChangeAspect="1" noMove="1" noResize="1" noEditPoints="1" noAdjustHandles="1" noChangeArrowheads="1" noChangeShapeType="1" noTextEdit="1"/>
              </p:cNvSpPr>
              <p:nvPr/>
            </p:nvSpPr>
            <p:spPr bwMode="auto">
              <a:xfrm>
                <a:off x="2139950" y="1589351"/>
                <a:ext cx="5480050" cy="916148"/>
              </a:xfrm>
              <a:prstGeom prst="rect">
                <a:avLst/>
              </a:prstGeom>
              <a:blipFill>
                <a:blip r:embed="rId2"/>
                <a:stretch>
                  <a:fillRect/>
                </a:stretch>
              </a:blipFill>
              <a:ln>
                <a:noFill/>
              </a:ln>
              <a:effectLst/>
            </p:spPr>
            <p:txBody>
              <a:bodyPr/>
              <a:lstStyle/>
              <a:p>
                <a:r>
                  <a:rPr lang="en-US">
                    <a:noFill/>
                  </a:rPr>
                  <a:t> </a:t>
                </a:r>
              </a:p>
            </p:txBody>
          </p:sp>
        </mc:Fallback>
      </mc:AlternateContent>
      <p:sp>
        <p:nvSpPr>
          <p:cNvPr id="12" name="Text Box 5">
            <a:extLst>
              <a:ext uri="{FF2B5EF4-FFF2-40B4-BE49-F238E27FC236}">
                <a16:creationId xmlns:a16="http://schemas.microsoft.com/office/drawing/2014/main" id="{D9E06C40-1987-4251-9B0C-DAE55D553615}"/>
              </a:ext>
            </a:extLst>
          </p:cNvPr>
          <p:cNvSpPr txBox="1">
            <a:spLocks noChangeArrowheads="1"/>
          </p:cNvSpPr>
          <p:nvPr/>
        </p:nvSpPr>
        <p:spPr bwMode="auto">
          <a:xfrm>
            <a:off x="649313" y="1211565"/>
            <a:ext cx="8983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spcBef>
                <a:spcPct val="50000"/>
              </a:spcBef>
              <a:buFontTx/>
              <a:buNone/>
            </a:pPr>
            <a:r>
              <a:rPr lang="zh-CN" altLang="en-US" sz="2400" dirty="0">
                <a:solidFill>
                  <a:srgbClr val="000000"/>
                </a:solidFill>
                <a:latin typeface="Cambria Math" panose="02040503050406030204" pitchFamily="18" charset="0"/>
                <a:ea typeface="楷体" panose="02010609060101010101" pitchFamily="49" charset="-122"/>
              </a:rPr>
              <a:t>可知</a:t>
            </a:r>
            <a:endParaRPr lang="en-US" altLang="zh-CN" sz="2400" dirty="0">
              <a:solidFill>
                <a:srgbClr val="000000"/>
              </a:solidFill>
              <a:latin typeface="Cambria Math" panose="02040503050406030204" pitchFamily="18" charset="0"/>
              <a:ea typeface="楷体" panose="02010609060101010101" pitchFamily="49" charset="-122"/>
            </a:endParaRPr>
          </a:p>
        </p:txBody>
      </p:sp>
      <mc:AlternateContent xmlns:mc="http://schemas.openxmlformats.org/markup-compatibility/2006" xmlns:a14="http://schemas.microsoft.com/office/drawing/2010/main">
        <mc:Choice Requires="a14">
          <p:sp>
            <p:nvSpPr>
              <p:cNvPr id="13" name="Text Box 6">
                <a:extLst>
                  <a:ext uri="{FF2B5EF4-FFF2-40B4-BE49-F238E27FC236}">
                    <a16:creationId xmlns:a16="http://schemas.microsoft.com/office/drawing/2014/main" id="{20D8A65C-8C9D-40C4-82EC-F9E9A80E1066}"/>
                  </a:ext>
                </a:extLst>
              </p:cNvPr>
              <p:cNvSpPr txBox="1">
                <a:spLocks noChangeArrowheads="1"/>
              </p:cNvSpPr>
              <p:nvPr/>
            </p:nvSpPr>
            <p:spPr bwMode="auto">
              <a:xfrm>
                <a:off x="649313" y="2633060"/>
                <a:ext cx="2770559"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spcBef>
                    <a:spcPct val="50000"/>
                  </a:spcBef>
                  <a:buFontTx/>
                  <a:buNone/>
                </a:pPr>
                <a:r>
                  <a:rPr lang="zh-CN" altLang="en-US" sz="2400" dirty="0">
                    <a:solidFill>
                      <a:srgbClr val="000000"/>
                    </a:solidFill>
                    <a:latin typeface="Cambria Math" panose="02040503050406030204" pitchFamily="18" charset="0"/>
                    <a:ea typeface="楷体" panose="02010609060101010101" pitchFamily="49" charset="-122"/>
                  </a:rPr>
                  <a:t>则，对于</a:t>
                </a:r>
                <a14:m>
                  <m:oMath xmlns:m="http://schemas.openxmlformats.org/officeDocument/2006/math">
                    <m:r>
                      <a:rPr lang="en-US" sz="2400" i="1" smtClean="0">
                        <a:solidFill>
                          <a:srgbClr val="000000"/>
                        </a:solidFill>
                        <a:latin typeface="Cambria Math" panose="02040503050406030204" pitchFamily="18" charset="0"/>
                      </a:rPr>
                      <m:t>𝑡</m:t>
                    </m:r>
                    <m:r>
                      <a:rPr lang="en-US" sz="2400" b="0" i="1" smtClean="0">
                        <a:solidFill>
                          <a:srgbClr val="000000"/>
                        </a:solidFill>
                        <a:latin typeface="Cambria Math" panose="02040503050406030204" pitchFamily="18" charset="0"/>
                      </a:rPr>
                      <m:t>&gt;0</m:t>
                    </m:r>
                  </m:oMath>
                </a14:m>
                <a:r>
                  <a:rPr lang="zh-CN" altLang="en-US" sz="2400" dirty="0">
                    <a:solidFill>
                      <a:srgbClr val="000000"/>
                    </a:solidFill>
                    <a:latin typeface="Cambria Math" panose="02040503050406030204" pitchFamily="18" charset="0"/>
                    <a:ea typeface="楷体" panose="02010609060101010101" pitchFamily="49" charset="-122"/>
                  </a:rPr>
                  <a:t>：</a:t>
                </a:r>
                <a:endParaRPr lang="en-US" altLang="zh-CN" sz="2400" dirty="0">
                  <a:solidFill>
                    <a:srgbClr val="000000"/>
                  </a:solidFill>
                  <a:latin typeface="Cambria Math" panose="02040503050406030204" pitchFamily="18" charset="0"/>
                  <a:ea typeface="楷体" panose="02010609060101010101" pitchFamily="49" charset="-122"/>
                </a:endParaRPr>
              </a:p>
            </p:txBody>
          </p:sp>
        </mc:Choice>
        <mc:Fallback xmlns="">
          <p:sp>
            <p:nvSpPr>
              <p:cNvPr id="13" name="Text Box 6">
                <a:extLst>
                  <a:ext uri="{FF2B5EF4-FFF2-40B4-BE49-F238E27FC236}">
                    <a16:creationId xmlns:a16="http://schemas.microsoft.com/office/drawing/2014/main" id="{20D8A65C-8C9D-40C4-82EC-F9E9A80E1066}"/>
                  </a:ext>
                </a:extLst>
              </p:cNvPr>
              <p:cNvSpPr txBox="1">
                <a:spLocks noRot="1" noChangeAspect="1" noMove="1" noResize="1" noEditPoints="1" noAdjustHandles="1" noChangeArrowheads="1" noChangeShapeType="1" noTextEdit="1"/>
              </p:cNvSpPr>
              <p:nvPr/>
            </p:nvSpPr>
            <p:spPr bwMode="auto">
              <a:xfrm>
                <a:off x="649313" y="2633060"/>
                <a:ext cx="2770559" cy="461665"/>
              </a:xfrm>
              <a:prstGeom prst="rect">
                <a:avLst/>
              </a:prstGeom>
              <a:blipFill>
                <a:blip r:embed="rId3"/>
                <a:stretch>
                  <a:fillRect l="-3524" t="-14474" b="-25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bject 7">
                <a:extLst>
                  <a:ext uri="{FF2B5EF4-FFF2-40B4-BE49-F238E27FC236}">
                    <a16:creationId xmlns:a16="http://schemas.microsoft.com/office/drawing/2014/main" id="{10F765BF-4694-4661-8F1A-C53532F18181}"/>
                  </a:ext>
                </a:extLst>
              </p:cNvPr>
              <p:cNvSpPr txBox="1"/>
              <p:nvPr/>
            </p:nvSpPr>
            <p:spPr bwMode="auto">
              <a:xfrm>
                <a:off x="1979712" y="3192751"/>
                <a:ext cx="5528394" cy="1858907"/>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h</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𝑑</m:t>
                          </m:r>
                          <m:r>
                            <a:rPr lang="en-US" sz="2400" i="1">
                              <a:solidFill>
                                <a:srgbClr val="000000"/>
                              </a:solidFill>
                              <a:latin typeface="Cambria Math" panose="02040503050406030204" pitchFamily="18" charset="0"/>
                            </a:rPr>
                            <m:t>𝜏</m:t>
                          </m:r>
                        </m:e>
                      </m:nary>
                      <m:r>
                        <a:rPr lang="en-US" sz="2400" i="1">
                          <a:solidFill>
                            <a:srgbClr val="000000"/>
                          </a:solidFill>
                          <a:latin typeface="Cambria Math" panose="02040503050406030204" pitchFamily="18" charset="0"/>
                        </a:rPr>
                        <m:t>=</m:t>
                      </m:r>
                      <m:nary>
                        <m:naryPr>
                          <m:ctrlPr>
                            <a:rPr lang="en-US" sz="2400" i="1" smtClean="0">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𝑡</m:t>
                          </m:r>
                        </m:sup>
                        <m:e>
                          <m:r>
                            <a:rPr lang="en-US" sz="2400" i="1">
                              <a:solidFill>
                                <a:srgbClr val="FF0000"/>
                              </a:solidFill>
                              <a:latin typeface="Cambria Math" panose="02040503050406030204" pitchFamily="18" charset="0"/>
                            </a:rPr>
                            <m:t>𝑥</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𝜏</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𝑑</m:t>
                          </m:r>
                          <m:r>
                            <a:rPr lang="en-US" sz="2400" i="1">
                              <a:solidFill>
                                <a:srgbClr val="FF0000"/>
                              </a:solidFill>
                              <a:latin typeface="Cambria Math" panose="02040503050406030204" pitchFamily="18" charset="0"/>
                            </a:rPr>
                            <m:t>𝜏</m:t>
                          </m:r>
                        </m:e>
                      </m:nary>
                    </m:oMath>
                    <m:oMath xmlns:m="http://schemas.openxmlformats.org/officeDocument/2006/math">
                      <m:r>
                        <a:rPr lang="en-US" sz="2400" i="1">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0</m:t>
                          </m:r>
                        </m:sub>
                        <m:sup>
                          <m:r>
                            <a:rPr lang="en-US" sz="2400" i="1">
                              <a:solidFill>
                                <a:srgbClr val="000000"/>
                              </a:solidFill>
                              <a:latin typeface="Cambria Math" panose="02040503050406030204" pitchFamily="18" charset="0"/>
                            </a:rPr>
                            <m:t>𝑡</m:t>
                          </m:r>
                        </m:sup>
                        <m:e>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𝑒</m:t>
                              </m:r>
                            </m:e>
                            <m: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𝑎</m:t>
                              </m:r>
                              <m:r>
                                <a:rPr lang="en-US" sz="2400" i="1">
                                  <a:solidFill>
                                    <a:srgbClr val="000000"/>
                                  </a:solidFill>
                                  <a:latin typeface="Cambria Math" panose="02040503050406030204" pitchFamily="18" charset="0"/>
                                </a:rPr>
                                <m:t>𝜏</m:t>
                              </m:r>
                            </m:sup>
                          </m:sSup>
                          <m:r>
                            <a:rPr lang="en-US" sz="2400" i="1">
                              <a:solidFill>
                                <a:srgbClr val="000000"/>
                              </a:solidFill>
                              <a:latin typeface="Cambria Math" panose="02040503050406030204" pitchFamily="18" charset="0"/>
                            </a:rPr>
                            <m:t>𝑑</m:t>
                          </m:r>
                          <m:r>
                            <a:rPr lang="en-US" sz="2400" i="1">
                              <a:solidFill>
                                <a:srgbClr val="000000"/>
                              </a:solidFill>
                              <a:latin typeface="Cambria Math" panose="02040503050406030204" pitchFamily="18" charset="0"/>
                            </a:rPr>
                            <m:t>𝜏</m:t>
                          </m:r>
                        </m:e>
                      </m:nary>
                      <m:r>
                        <a:rPr lang="en-US" sz="2400" i="1">
                          <a:solidFill>
                            <a:srgbClr val="000000"/>
                          </a:solidFill>
                          <a:latin typeface="Cambria Math" panose="02040503050406030204" pitchFamily="18" charset="0"/>
                        </a:rPr>
                        <m:t>=</m:t>
                      </m:r>
                      <m:sSubSup>
                        <m:sSubSupPr>
                          <m:ctrlPr>
                            <a:rPr lang="en-US" sz="2400" i="1">
                              <a:solidFill>
                                <a:srgbClr val="000000"/>
                              </a:solidFill>
                              <a:latin typeface="Cambria Math" panose="02040503050406030204" pitchFamily="18" charset="0"/>
                            </a:rPr>
                          </m:ctrlPr>
                        </m:sSubSupPr>
                        <m:e>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𝑎</m:t>
                                  </m:r>
                                </m:den>
                              </m:f>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𝑒</m:t>
                                  </m:r>
                                </m:e>
                                <m: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𝑎</m:t>
                                  </m:r>
                                  <m:r>
                                    <a:rPr lang="en-US" sz="2400" i="1">
                                      <a:solidFill>
                                        <a:srgbClr val="000000"/>
                                      </a:solidFill>
                                      <a:latin typeface="Cambria Math" panose="02040503050406030204" pitchFamily="18" charset="0"/>
                                    </a:rPr>
                                    <m:t>𝜏</m:t>
                                  </m:r>
                                </m:sup>
                              </m:sSup>
                            </m:e>
                          </m:d>
                        </m:e>
                        <m:sub>
                          <m:r>
                            <a:rPr lang="en-US" sz="2400" i="1">
                              <a:solidFill>
                                <a:srgbClr val="000000"/>
                              </a:solidFill>
                              <a:latin typeface="Cambria Math" panose="02040503050406030204" pitchFamily="18" charset="0"/>
                            </a:rPr>
                            <m:t>0</m:t>
                          </m:r>
                        </m:sub>
                        <m:sup>
                          <m:r>
                            <a:rPr lang="en-US" sz="2400" i="1">
                              <a:solidFill>
                                <a:srgbClr val="000000"/>
                              </a:solidFill>
                              <a:latin typeface="Cambria Math" panose="02040503050406030204" pitchFamily="18" charset="0"/>
                            </a:rPr>
                            <m:t>𝑡</m:t>
                          </m:r>
                        </m:sup>
                      </m:sSubSup>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𝑎</m:t>
                          </m:r>
                        </m:den>
                      </m:f>
                      <m:r>
                        <a:rPr lang="en-US" sz="2400" i="1">
                          <a:solidFill>
                            <a:srgbClr val="000000"/>
                          </a:solidFill>
                          <a:latin typeface="Cambria Math" panose="02040503050406030204" pitchFamily="18" charset="0"/>
                        </a:rPr>
                        <m:t>(1−</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𝑒</m:t>
                          </m:r>
                        </m:e>
                        <m: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𝑎𝑡</m:t>
                          </m:r>
                        </m:sup>
                      </m:sSup>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4" name="Object 7">
                <a:extLst>
                  <a:ext uri="{FF2B5EF4-FFF2-40B4-BE49-F238E27FC236}">
                    <a16:creationId xmlns:a16="http://schemas.microsoft.com/office/drawing/2014/main" id="{10F765BF-4694-4661-8F1A-C53532F18181}"/>
                  </a:ext>
                </a:extLst>
              </p:cNvPr>
              <p:cNvSpPr txBox="1">
                <a:spLocks noRot="1" noChangeAspect="1" noMove="1" noResize="1" noEditPoints="1" noAdjustHandles="1" noChangeArrowheads="1" noChangeShapeType="1" noTextEdit="1"/>
              </p:cNvSpPr>
              <p:nvPr/>
            </p:nvSpPr>
            <p:spPr bwMode="auto">
              <a:xfrm>
                <a:off x="1979712" y="3192751"/>
                <a:ext cx="5528394" cy="1858907"/>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 Box 8">
                <a:extLst>
                  <a:ext uri="{FF2B5EF4-FFF2-40B4-BE49-F238E27FC236}">
                    <a16:creationId xmlns:a16="http://schemas.microsoft.com/office/drawing/2014/main" id="{5C4D47E8-A4B6-4206-9B69-264EABCCEE2D}"/>
                  </a:ext>
                </a:extLst>
              </p:cNvPr>
              <p:cNvSpPr txBox="1">
                <a:spLocks noChangeArrowheads="1"/>
              </p:cNvSpPr>
              <p:nvPr/>
            </p:nvSpPr>
            <p:spPr bwMode="auto">
              <a:xfrm>
                <a:off x="652098" y="5149526"/>
                <a:ext cx="1402407"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spcBef>
                    <a:spcPct val="50000"/>
                  </a:spcBef>
                  <a:buFontTx/>
                  <a:buNone/>
                </a:pPr>
                <a:r>
                  <a:rPr lang="zh-CN" altLang="en-US" sz="2400" dirty="0">
                    <a:solidFill>
                      <a:srgbClr val="000000"/>
                    </a:solidFill>
                    <a:latin typeface="Cambria Math" panose="02040503050406030204" pitchFamily="18" charset="0"/>
                    <a:ea typeface="楷体" panose="02010609060101010101" pitchFamily="49" charset="-122"/>
                  </a:rPr>
                  <a:t>对</a:t>
                </a:r>
                <a14:m>
                  <m:oMath xmlns:m="http://schemas.openxmlformats.org/officeDocument/2006/math">
                    <m:r>
                      <a:rPr lang="zh-CN" altLang="en-US" sz="2400" i="1" smtClean="0">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𝑡</m:t>
                    </m:r>
                  </m:oMath>
                </a14:m>
                <a:r>
                  <a:rPr lang="zh-CN" altLang="en-US" sz="2400" dirty="0">
                    <a:solidFill>
                      <a:srgbClr val="000000"/>
                    </a:solidFill>
                    <a:latin typeface="Cambria Math" panose="02040503050406030204" pitchFamily="18" charset="0"/>
                    <a:ea typeface="楷体" panose="02010609060101010101" pitchFamily="49" charset="-122"/>
                  </a:rPr>
                  <a:t>：</a:t>
                </a:r>
                <a:endParaRPr lang="en-US" altLang="zh-CN" sz="2400" dirty="0">
                  <a:solidFill>
                    <a:srgbClr val="000000"/>
                  </a:solidFill>
                  <a:latin typeface="Cambria Math" panose="02040503050406030204" pitchFamily="18" charset="0"/>
                  <a:ea typeface="楷体" panose="02010609060101010101" pitchFamily="49" charset="-122"/>
                </a:endParaRPr>
              </a:p>
            </p:txBody>
          </p:sp>
        </mc:Choice>
        <mc:Fallback xmlns="">
          <p:sp>
            <p:nvSpPr>
              <p:cNvPr id="15" name="Text Box 8">
                <a:extLst>
                  <a:ext uri="{FF2B5EF4-FFF2-40B4-BE49-F238E27FC236}">
                    <a16:creationId xmlns:a16="http://schemas.microsoft.com/office/drawing/2014/main" id="{5C4D47E8-A4B6-4206-9B69-264EABCCEE2D}"/>
                  </a:ext>
                </a:extLst>
              </p:cNvPr>
              <p:cNvSpPr txBox="1">
                <a:spLocks noRot="1" noChangeAspect="1" noMove="1" noResize="1" noEditPoints="1" noAdjustHandles="1" noChangeArrowheads="1" noChangeShapeType="1" noTextEdit="1"/>
              </p:cNvSpPr>
              <p:nvPr/>
            </p:nvSpPr>
            <p:spPr bwMode="auto">
              <a:xfrm>
                <a:off x="652098" y="5149526"/>
                <a:ext cx="1402407" cy="461665"/>
              </a:xfrm>
              <a:prstGeom prst="rect">
                <a:avLst/>
              </a:prstGeom>
              <a:blipFill>
                <a:blip r:embed="rId5"/>
                <a:stretch>
                  <a:fillRect l="-6957" t="-14667" b="-26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bject 9">
                <a:extLst>
                  <a:ext uri="{FF2B5EF4-FFF2-40B4-BE49-F238E27FC236}">
                    <a16:creationId xmlns:a16="http://schemas.microsoft.com/office/drawing/2014/main" id="{6095772B-99A9-4D63-B615-ECFDD01F72EB}"/>
                  </a:ext>
                </a:extLst>
              </p:cNvPr>
              <p:cNvSpPr txBox="1"/>
              <p:nvPr/>
            </p:nvSpPr>
            <p:spPr bwMode="auto">
              <a:xfrm>
                <a:off x="3124125" y="5557190"/>
                <a:ext cx="3360241" cy="786241"/>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𝑎</m:t>
                          </m:r>
                        </m:den>
                      </m:f>
                      <m:r>
                        <a:rPr lang="en-US" sz="2400" i="1">
                          <a:solidFill>
                            <a:srgbClr val="000000"/>
                          </a:solidFill>
                          <a:latin typeface="Cambria Math" panose="02040503050406030204" pitchFamily="18" charset="0"/>
                        </a:rPr>
                        <m:t>(1−</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𝑒</m:t>
                          </m:r>
                        </m:e>
                        <m: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𝑎𝑡</m:t>
                          </m:r>
                        </m:sup>
                      </m:sSup>
                      <m:r>
                        <a:rPr lang="en-US" sz="2400" i="1">
                          <a:solidFill>
                            <a:srgbClr val="000000"/>
                          </a:solidFill>
                          <a:latin typeface="Cambria Math" panose="02040503050406030204" pitchFamily="18" charset="0"/>
                        </a:rPr>
                        <m:t>)</m:t>
                      </m:r>
                      <m:r>
                        <a:rPr lang="en-US" sz="2400" i="1">
                          <a:solidFill>
                            <a:srgbClr val="FF0000"/>
                          </a:solidFill>
                          <a:latin typeface="Cambria Math" panose="02040503050406030204" pitchFamily="18" charset="0"/>
                        </a:rPr>
                        <m:t>𝑢</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oMath>
                  </m:oMathPara>
                </a14:m>
                <a:endParaRPr lang="en-US" sz="2400" dirty="0"/>
              </a:p>
            </p:txBody>
          </p:sp>
        </mc:Choice>
        <mc:Fallback xmlns="">
          <p:sp>
            <p:nvSpPr>
              <p:cNvPr id="16" name="Object 9">
                <a:extLst>
                  <a:ext uri="{FF2B5EF4-FFF2-40B4-BE49-F238E27FC236}">
                    <a16:creationId xmlns:a16="http://schemas.microsoft.com/office/drawing/2014/main" id="{6095772B-99A9-4D63-B615-ECFDD01F72EB}"/>
                  </a:ext>
                </a:extLst>
              </p:cNvPr>
              <p:cNvSpPr txBox="1">
                <a:spLocks noRot="1" noChangeAspect="1" noMove="1" noResize="1" noEditPoints="1" noAdjustHandles="1" noChangeArrowheads="1" noChangeShapeType="1" noTextEdit="1"/>
              </p:cNvSpPr>
              <p:nvPr/>
            </p:nvSpPr>
            <p:spPr bwMode="auto">
              <a:xfrm>
                <a:off x="3124125" y="5557190"/>
                <a:ext cx="3360241" cy="786241"/>
              </a:xfrm>
              <a:prstGeom prst="rect">
                <a:avLst/>
              </a:prstGeom>
              <a:blipFill>
                <a:blip r:embed="rId6"/>
                <a:stretch>
                  <a:fillRect/>
                </a:stretch>
              </a:blipFill>
              <a:ln>
                <a:noFill/>
              </a:ln>
              <a:effectLst/>
            </p:spPr>
            <p:txBody>
              <a:bodyPr/>
              <a:lstStyle/>
              <a:p>
                <a:r>
                  <a:rPr lang="en-US">
                    <a:noFill/>
                  </a:rPr>
                  <a:t> </a:t>
                </a:r>
              </a:p>
            </p:txBody>
          </p:sp>
        </mc:Fallback>
      </mc:AlternateContent>
      <p:sp>
        <p:nvSpPr>
          <p:cNvPr id="10" name="内容占位符 2">
            <a:extLst>
              <a:ext uri="{FF2B5EF4-FFF2-40B4-BE49-F238E27FC236}">
                <a16:creationId xmlns:a16="http://schemas.microsoft.com/office/drawing/2014/main" id="{AB0AB78F-82D9-4C13-BE67-24DBE7C3D20D}"/>
              </a:ext>
            </a:extLst>
          </p:cNvPr>
          <p:cNvSpPr>
            <a:spLocks noGrp="1"/>
          </p:cNvSpPr>
          <p:nvPr>
            <p:ph idx="1"/>
          </p:nvPr>
        </p:nvSpPr>
        <p:spPr>
          <a:xfrm>
            <a:off x="7310536" y="3429000"/>
            <a:ext cx="1378496" cy="461665"/>
          </a:xfrm>
        </p:spPr>
        <p:txBody>
          <a:bodyPr wrap="square">
            <a:spAutoFit/>
          </a:bodyPr>
          <a:lstStyle/>
          <a:p>
            <a:pPr marL="0" indent="0" algn="ctr">
              <a:buNone/>
            </a:pPr>
            <a:r>
              <a:rPr lang="en-US" altLang="zh-CN" sz="2400" b="0" dirty="0">
                <a:solidFill>
                  <a:srgbClr val="0000FF"/>
                </a:solidFill>
              </a:rPr>
              <a:t>(</a:t>
            </a:r>
            <a:r>
              <a:rPr lang="zh-CN" altLang="en-US" sz="2400" b="0" dirty="0">
                <a:solidFill>
                  <a:srgbClr val="0000FF"/>
                </a:solidFill>
              </a:rPr>
              <a:t>积分器</a:t>
            </a:r>
            <a:r>
              <a:rPr lang="en-US" altLang="zh-CN" sz="2400" b="0" dirty="0">
                <a:solidFill>
                  <a:srgbClr val="0000FF"/>
                </a:solidFill>
              </a:rPr>
              <a:t>)</a:t>
            </a:r>
            <a:endParaRPr lang="en-US" altLang="zh-CN" sz="2800" b="0" dirty="0">
              <a:solidFill>
                <a:srgbClr val="0000FF"/>
              </a:solidFill>
            </a:endParaRPr>
          </a:p>
        </p:txBody>
      </p:sp>
    </p:spTree>
    <p:extLst>
      <p:ext uri="{BB962C8B-B14F-4D97-AF65-F5344CB8AC3E}">
        <p14:creationId xmlns:p14="http://schemas.microsoft.com/office/powerpoint/2010/main" val="3994332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9" name="标题 1">
            <a:extLst>
              <a:ext uri="{FF2B5EF4-FFF2-40B4-BE49-F238E27FC236}">
                <a16:creationId xmlns:a16="http://schemas.microsoft.com/office/drawing/2014/main" id="{F715F394-E37F-4AF7-B143-F4AF3BBA848A}"/>
              </a:ext>
            </a:extLst>
          </p:cNvPr>
          <p:cNvSpPr>
            <a:spLocks noGrp="1"/>
          </p:cNvSpPr>
          <p:nvPr>
            <p:ph type="title"/>
          </p:nvPr>
        </p:nvSpPr>
        <p:spPr/>
        <p:txBody>
          <a:bodyPr/>
          <a:lstStyle/>
          <a:p>
            <a:r>
              <a:rPr lang="en-US" altLang="zh-CN" sz="4000"/>
              <a:t>2.2 </a:t>
            </a:r>
            <a:r>
              <a:rPr lang="zh-CN" altLang="en-US" sz="4000"/>
              <a:t>连续时间</a:t>
            </a:r>
            <a:r>
              <a:rPr lang="en-US" altLang="zh-CN" sz="4000"/>
              <a:t>LTI</a:t>
            </a:r>
            <a:r>
              <a:rPr lang="zh-CN" altLang="en-US" sz="4000"/>
              <a:t>系统：卷积积分</a:t>
            </a:r>
          </a:p>
        </p:txBody>
      </p:sp>
      <p:sp>
        <p:nvSpPr>
          <p:cNvPr id="4" name="灯片编号占位符 3">
            <a:extLst>
              <a:ext uri="{FF2B5EF4-FFF2-40B4-BE49-F238E27FC236}">
                <a16:creationId xmlns:a16="http://schemas.microsoft.com/office/drawing/2014/main" id="{F8D3725C-766C-4B57-9B85-1C26C384C01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5320C2C-B243-4828-A9CE-F75812C938AA}" type="slidenum">
              <a:rPr lang="zh-CN" altLang="en-US">
                <a:solidFill>
                  <a:srgbClr val="898989"/>
                </a:solidFill>
                <a:latin typeface="Calibri" panose="020F0502020204030204" pitchFamily="34" charset="0"/>
              </a:rPr>
              <a:pPr eaLnBrk="1" hangingPunct="1"/>
              <a:t>34</a:t>
            </a:fld>
            <a:endParaRPr lang="zh-CN" altLang="en-US">
              <a:solidFill>
                <a:srgbClr val="898989"/>
              </a:solidFill>
              <a:latin typeface="Calibri" panose="020F0502020204030204" pitchFamily="34" charset="0"/>
            </a:endParaRPr>
          </a:p>
        </p:txBody>
      </p:sp>
      <p:sp>
        <p:nvSpPr>
          <p:cNvPr id="10" name="Text Box 6">
            <a:extLst>
              <a:ext uri="{FF2B5EF4-FFF2-40B4-BE49-F238E27FC236}">
                <a16:creationId xmlns:a16="http://schemas.microsoft.com/office/drawing/2014/main" id="{FE8BC338-FD50-4490-92E6-63252E016D8F}"/>
              </a:ext>
            </a:extLst>
          </p:cNvPr>
          <p:cNvSpPr txBox="1">
            <a:spLocks noChangeArrowheads="1"/>
          </p:cNvSpPr>
          <p:nvPr/>
        </p:nvSpPr>
        <p:spPr bwMode="auto">
          <a:xfrm>
            <a:off x="3810000" y="5517232"/>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algn="ctr" eaLnBrk="1" hangingPunct="1">
              <a:spcBef>
                <a:spcPct val="50000"/>
              </a:spcBef>
              <a:buFontTx/>
              <a:buNone/>
            </a:pPr>
            <a:r>
              <a:rPr lang="zh-CN" altLang="en-US" sz="2400" dirty="0">
                <a:solidFill>
                  <a:srgbClr val="000000"/>
                </a:solidFill>
                <a:latin typeface="Cambria Math" panose="02040503050406030204" pitchFamily="18" charset="0"/>
                <a:ea typeface="楷体" panose="02010609060101010101" pitchFamily="49" charset="-122"/>
              </a:rPr>
              <a:t>系统响应</a:t>
            </a:r>
            <a:endParaRPr lang="en-US" altLang="zh-CN" sz="2400" dirty="0">
              <a:solidFill>
                <a:srgbClr val="000000"/>
              </a:solidFill>
              <a:latin typeface="Cambria Math" panose="02040503050406030204" pitchFamily="18" charset="0"/>
              <a:ea typeface="楷体" panose="02010609060101010101" pitchFamily="49" charset="-122"/>
            </a:endParaRPr>
          </a:p>
        </p:txBody>
      </p:sp>
      <p:pic>
        <p:nvPicPr>
          <p:cNvPr id="17" name="Picture 7" descr="02-18">
            <a:extLst>
              <a:ext uri="{FF2B5EF4-FFF2-40B4-BE49-F238E27FC236}">
                <a16:creationId xmlns:a16="http://schemas.microsoft.com/office/drawing/2014/main" id="{E73EBB7D-A45A-4F37-81EC-B8AA88E07B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782291"/>
            <a:ext cx="6324600" cy="359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9692853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30AD8-5AFE-48AB-9C71-9149836067B8}"/>
              </a:ext>
            </a:extLst>
          </p:cNvPr>
          <p:cNvSpPr>
            <a:spLocks noGrp="1"/>
          </p:cNvSpPr>
          <p:nvPr>
            <p:ph type="title"/>
          </p:nvPr>
        </p:nvSpPr>
        <p:spPr/>
        <p:txBody>
          <a:bodyPr/>
          <a:lstStyle/>
          <a:p>
            <a:r>
              <a:rPr lang="zh-CN" altLang="en-US" dirty="0"/>
              <a:t>课后作业</a:t>
            </a:r>
            <a:endParaRPr lang="en-US" dirty="0"/>
          </a:p>
        </p:txBody>
      </p:sp>
      <p:sp>
        <p:nvSpPr>
          <p:cNvPr id="3" name="内容占位符 2">
            <a:extLst>
              <a:ext uri="{FF2B5EF4-FFF2-40B4-BE49-F238E27FC236}">
                <a16:creationId xmlns:a16="http://schemas.microsoft.com/office/drawing/2014/main" id="{2D1D437D-C598-40E2-B0B9-F3A9C6B201DE}"/>
              </a:ext>
            </a:extLst>
          </p:cNvPr>
          <p:cNvSpPr>
            <a:spLocks noGrp="1"/>
          </p:cNvSpPr>
          <p:nvPr>
            <p:ph idx="1"/>
          </p:nvPr>
        </p:nvSpPr>
        <p:spPr>
          <a:xfrm>
            <a:off x="457200" y="1285875"/>
            <a:ext cx="8229600" cy="608885"/>
          </a:xfrm>
        </p:spPr>
        <p:txBody>
          <a:bodyPr>
            <a:spAutoFit/>
          </a:bodyPr>
          <a:lstStyle/>
          <a:p>
            <a:pPr>
              <a:lnSpc>
                <a:spcPct val="130000"/>
              </a:lnSpc>
              <a:spcBef>
                <a:spcPts val="0"/>
              </a:spcBef>
              <a:spcAft>
                <a:spcPts val="600"/>
              </a:spcAft>
            </a:pPr>
            <a:r>
              <a:rPr lang="en-US" altLang="zh-CN" sz="2800" b="0" dirty="0"/>
              <a:t>2.21(a)</a:t>
            </a:r>
            <a:r>
              <a:rPr lang="zh-CN" altLang="en-US" sz="2800" b="0" dirty="0"/>
              <a:t>、</a:t>
            </a:r>
            <a:r>
              <a:rPr lang="en-US" altLang="zh-CN" sz="2800" b="0" dirty="0"/>
              <a:t>2.22(c)</a:t>
            </a:r>
            <a:endParaRPr lang="en-US" sz="2800" b="0" dirty="0"/>
          </a:p>
        </p:txBody>
      </p:sp>
      <p:sp>
        <p:nvSpPr>
          <p:cNvPr id="4" name="灯片编号占位符 3">
            <a:extLst>
              <a:ext uri="{FF2B5EF4-FFF2-40B4-BE49-F238E27FC236}">
                <a16:creationId xmlns:a16="http://schemas.microsoft.com/office/drawing/2014/main" id="{C018AEBB-9A02-4033-B315-77405E85549F}"/>
              </a:ext>
            </a:extLst>
          </p:cNvPr>
          <p:cNvSpPr>
            <a:spLocks noGrp="1"/>
          </p:cNvSpPr>
          <p:nvPr>
            <p:ph type="sldNum" sz="quarter" idx="12"/>
          </p:nvPr>
        </p:nvSpPr>
        <p:spPr/>
        <p:txBody>
          <a:bodyPr/>
          <a:lstStyle/>
          <a:p>
            <a:fld id="{D6CC5206-228A-4188-B6B3-2BFCD2AC1E6E}" type="slidenum">
              <a:rPr lang="zh-CN" altLang="en-US" smtClean="0"/>
              <a:pPr/>
              <a:t>35</a:t>
            </a:fld>
            <a:endParaRPr lang="zh-CN" altLang="en-US"/>
          </a:p>
        </p:txBody>
      </p:sp>
    </p:spTree>
    <p:extLst>
      <p:ext uri="{BB962C8B-B14F-4D97-AF65-F5344CB8AC3E}">
        <p14:creationId xmlns:p14="http://schemas.microsoft.com/office/powerpoint/2010/main" val="396924417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37" name="标题 1">
            <a:extLst>
              <a:ext uri="{FF2B5EF4-FFF2-40B4-BE49-F238E27FC236}">
                <a16:creationId xmlns:a16="http://schemas.microsoft.com/office/drawing/2014/main" id="{4BAC8704-437B-47C2-98BB-F0A63AFE1403}"/>
              </a:ext>
            </a:extLst>
          </p:cNvPr>
          <p:cNvSpPr>
            <a:spLocks noGrp="1"/>
          </p:cNvSpPr>
          <p:nvPr>
            <p:ph type="title"/>
          </p:nvPr>
        </p:nvSpPr>
        <p:spPr/>
        <p:txBody>
          <a:bodyPr/>
          <a:lstStyle/>
          <a:p>
            <a:r>
              <a:rPr lang="en-US" altLang="zh-CN" dirty="0"/>
              <a:t>2.3 </a:t>
            </a:r>
            <a:r>
              <a:rPr lang="zh-CN" altLang="en-US" dirty="0"/>
              <a:t>线性时不变系统的性质</a:t>
            </a:r>
          </a:p>
        </p:txBody>
      </p:sp>
      <p:sp>
        <p:nvSpPr>
          <p:cNvPr id="34838" name="内容占位符 2">
            <a:extLst>
              <a:ext uri="{FF2B5EF4-FFF2-40B4-BE49-F238E27FC236}">
                <a16:creationId xmlns:a16="http://schemas.microsoft.com/office/drawing/2014/main" id="{E9B4913B-4EFE-44FC-A9E8-8CC3925B1BD8}"/>
              </a:ext>
            </a:extLst>
          </p:cNvPr>
          <p:cNvSpPr>
            <a:spLocks noGrp="1"/>
          </p:cNvSpPr>
          <p:nvPr>
            <p:ph idx="1"/>
          </p:nvPr>
        </p:nvSpPr>
        <p:spPr>
          <a:xfrm>
            <a:off x="457200" y="1285875"/>
            <a:ext cx="8229600" cy="904863"/>
          </a:xfrm>
        </p:spPr>
        <p:txBody>
          <a:bodyPr>
            <a:spAutoFit/>
          </a:bodyPr>
          <a:lstStyle/>
          <a:p>
            <a:pPr marL="0" indent="0">
              <a:buNone/>
            </a:pPr>
            <a:r>
              <a:rPr lang="zh-CN" altLang="en-US" sz="2400" b="0" dirty="0"/>
              <a:t>一</a:t>
            </a:r>
            <a:r>
              <a:rPr lang="en-US" altLang="zh-CN" sz="2400" b="0" dirty="0"/>
              <a:t>.</a:t>
            </a:r>
            <a:r>
              <a:rPr lang="zh-CN" altLang="en-US" sz="2400" b="0" dirty="0"/>
              <a:t>卷积和与卷积积分的性质</a:t>
            </a:r>
            <a:endParaRPr lang="en-US" altLang="zh-CN" sz="2400" b="0" dirty="0"/>
          </a:p>
          <a:p>
            <a:pPr marL="0" indent="0">
              <a:buNone/>
            </a:pPr>
            <a:r>
              <a:rPr lang="en-US" altLang="zh-CN" sz="2400" b="0" dirty="0"/>
              <a:t>1. </a:t>
            </a:r>
            <a:r>
              <a:rPr lang="zh-CN" altLang="en-US" sz="2400" b="0" dirty="0">
                <a:solidFill>
                  <a:srgbClr val="FF0000"/>
                </a:solidFill>
              </a:rPr>
              <a:t>交换律</a:t>
            </a:r>
            <a:r>
              <a:rPr lang="zh-CN" altLang="en-US" sz="2400" b="0" dirty="0"/>
              <a:t>：</a:t>
            </a:r>
            <a:endParaRPr lang="en-US" altLang="zh-CN" sz="2400" b="0" dirty="0"/>
          </a:p>
        </p:txBody>
      </p:sp>
      <p:sp>
        <p:nvSpPr>
          <p:cNvPr id="4" name="灯片编号占位符 3">
            <a:extLst>
              <a:ext uri="{FF2B5EF4-FFF2-40B4-BE49-F238E27FC236}">
                <a16:creationId xmlns:a16="http://schemas.microsoft.com/office/drawing/2014/main" id="{D1C12A82-FDEE-4BCC-8A4B-AAFE2CDDF4A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F5528DA-C16A-4AE4-B7EB-D7DA01340B29}" type="slidenum">
              <a:rPr lang="zh-CN" altLang="en-US">
                <a:solidFill>
                  <a:srgbClr val="898989"/>
                </a:solidFill>
                <a:latin typeface="Calibri" panose="020F0502020204030204" pitchFamily="34" charset="0"/>
              </a:rPr>
              <a:pPr eaLnBrk="1" hangingPunct="1"/>
              <a:t>36</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31747" name="Object 3">
                <a:extLst>
                  <a:ext uri="{FF2B5EF4-FFF2-40B4-BE49-F238E27FC236}">
                    <a16:creationId xmlns:a16="http://schemas.microsoft.com/office/drawing/2014/main" id="{96B8A653-4AFB-427C-96F8-8DA39694E71F}"/>
                  </a:ext>
                </a:extLst>
              </p:cNvPr>
              <p:cNvSpPr txBox="1"/>
              <p:nvPr/>
            </p:nvSpPr>
            <p:spPr bwMode="auto">
              <a:xfrm>
                <a:off x="595716" y="2384517"/>
                <a:ext cx="8115424" cy="1015406"/>
              </a:xfrm>
              <a:prstGeom prst="rect">
                <a:avLst/>
              </a:prstGeom>
              <a:no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r>
                        <a:rPr lang="en-US" sz="2200" i="1" smtClean="0">
                          <a:solidFill>
                            <a:srgbClr val="FF0000"/>
                          </a:solidFill>
                          <a:latin typeface="Cambria Math" panose="02040503050406030204" pitchFamily="18" charset="0"/>
                        </a:rPr>
                        <m:t>𝑥</m:t>
                      </m:r>
                      <m:r>
                        <a:rPr lang="en-US" sz="2200" b="0" i="1" smtClean="0">
                          <a:solidFill>
                            <a:srgbClr val="FF0000"/>
                          </a:solidFill>
                          <a:latin typeface="Cambria Math" panose="02040503050406030204" pitchFamily="18" charset="0"/>
                        </a:rPr>
                        <m:t>[</m:t>
                      </m:r>
                      <m:r>
                        <a:rPr lang="en-US" sz="2200" i="1">
                          <a:solidFill>
                            <a:srgbClr val="FF0000"/>
                          </a:solidFill>
                          <a:latin typeface="Cambria Math" panose="02040503050406030204" pitchFamily="18" charset="0"/>
                        </a:rPr>
                        <m:t>𝑛</m:t>
                      </m:r>
                      <m:r>
                        <a:rPr lang="en-US" sz="2200" b="0" i="1" smtClean="0">
                          <a:solidFill>
                            <a:srgbClr val="FF0000"/>
                          </a:solidFill>
                          <a:latin typeface="Cambria Math" panose="02040503050406030204" pitchFamily="18" charset="0"/>
                        </a:rPr>
                        <m:t>]</m:t>
                      </m:r>
                      <m:r>
                        <a:rPr lang="en-US" sz="2200" i="1">
                          <a:solidFill>
                            <a:srgbClr val="FF0000"/>
                          </a:solidFill>
                          <a:latin typeface="Cambria Math" panose="02040503050406030204" pitchFamily="18" charset="0"/>
                        </a:rPr>
                        <m:t>∗</m:t>
                      </m:r>
                      <m:r>
                        <a:rPr lang="en-US" sz="2200" i="1">
                          <a:solidFill>
                            <a:srgbClr val="FF0000"/>
                          </a:solidFill>
                          <a:latin typeface="Cambria Math" panose="02040503050406030204" pitchFamily="18" charset="0"/>
                        </a:rPr>
                        <m:t>h</m:t>
                      </m:r>
                      <m:r>
                        <a:rPr lang="en-US" sz="2200" b="0" i="1" smtClean="0">
                          <a:solidFill>
                            <a:srgbClr val="FF0000"/>
                          </a:solidFill>
                          <a:latin typeface="Cambria Math" panose="02040503050406030204" pitchFamily="18" charset="0"/>
                        </a:rPr>
                        <m:t>[</m:t>
                      </m:r>
                      <m:r>
                        <a:rPr lang="en-US" sz="2200" i="1">
                          <a:solidFill>
                            <a:srgbClr val="FF0000"/>
                          </a:solidFill>
                          <a:latin typeface="Cambria Math" panose="02040503050406030204" pitchFamily="18" charset="0"/>
                        </a:rPr>
                        <m:t>𝑛</m:t>
                      </m:r>
                      <m:r>
                        <a:rPr lang="en-US" sz="2200" b="0" i="1" smtClean="0">
                          <a:solidFill>
                            <a:srgbClr val="FF0000"/>
                          </a:solidFill>
                          <a:latin typeface="Cambria Math" panose="02040503050406030204" pitchFamily="18" charset="0"/>
                        </a:rPr>
                        <m:t>]</m:t>
                      </m:r>
                      <m:r>
                        <a:rPr lang="en-US" sz="2200" i="1" smtClean="0">
                          <a:solidFill>
                            <a:srgbClr val="FF0000"/>
                          </a:solidFill>
                          <a:latin typeface="Cambria Math" panose="02040503050406030204" pitchFamily="18" charset="0"/>
                        </a:rPr>
                        <m:t>=</m:t>
                      </m:r>
                      <m:nary>
                        <m:naryPr>
                          <m:chr m:val="∑"/>
                          <m:ctrlPr>
                            <a:rPr lang="en-US" sz="2200" i="1">
                              <a:solidFill>
                                <a:srgbClr val="000000"/>
                              </a:solidFill>
                              <a:latin typeface="Cambria Math" panose="02040503050406030204" pitchFamily="18" charset="0"/>
                            </a:rPr>
                          </m:ctrlPr>
                        </m:naryPr>
                        <m:sub>
                          <m:r>
                            <a:rPr lang="en-US" sz="2200" i="1">
                              <a:solidFill>
                                <a:srgbClr val="000000"/>
                              </a:solidFill>
                              <a:latin typeface="Cambria Math" panose="02040503050406030204" pitchFamily="18" charset="0"/>
                            </a:rPr>
                            <m:t>𝑘</m:t>
                          </m:r>
                          <m:r>
                            <a:rPr lang="en-US" sz="2200" i="1">
                              <a:solidFill>
                                <a:srgbClr val="000000"/>
                              </a:solidFill>
                              <a:latin typeface="Cambria Math" panose="02040503050406030204" pitchFamily="18" charset="0"/>
                            </a:rPr>
                            <m:t>=−∞</m:t>
                          </m:r>
                        </m:sub>
                        <m:sup>
                          <m:r>
                            <a:rPr lang="en-US" sz="2200" i="1">
                              <a:solidFill>
                                <a:srgbClr val="000000"/>
                              </a:solidFill>
                              <a:latin typeface="Cambria Math" panose="02040503050406030204" pitchFamily="18" charset="0"/>
                            </a:rPr>
                            <m:t>∞</m:t>
                          </m:r>
                        </m:sup>
                        <m:e>
                          <m:r>
                            <a:rPr lang="en-US" sz="2200" i="1">
                              <a:solidFill>
                                <a:srgbClr val="000000"/>
                              </a:solidFill>
                              <a:latin typeface="Cambria Math" panose="02040503050406030204" pitchFamily="18" charset="0"/>
                            </a:rPr>
                            <m:t>𝑥</m:t>
                          </m:r>
                          <m:d>
                            <m:dPr>
                              <m:begChr m:val="["/>
                              <m:endChr m:val="]"/>
                              <m:ctrlPr>
                                <a:rPr lang="en-US" sz="2200" b="0" i="1" smtClean="0">
                                  <a:solidFill>
                                    <a:srgbClr val="000000"/>
                                  </a:solidFill>
                                  <a:latin typeface="Cambria Math" panose="02040503050406030204" pitchFamily="18" charset="0"/>
                                </a:rPr>
                              </m:ctrlPr>
                            </m:dPr>
                            <m:e>
                              <m:r>
                                <a:rPr lang="en-US" sz="2200" i="1">
                                  <a:solidFill>
                                    <a:srgbClr val="000000"/>
                                  </a:solidFill>
                                  <a:latin typeface="Cambria Math" panose="02040503050406030204" pitchFamily="18" charset="0"/>
                                </a:rPr>
                                <m:t>𝑘</m:t>
                              </m:r>
                            </m:e>
                          </m:d>
                          <m:r>
                            <a:rPr lang="en-US" sz="2200" i="1">
                              <a:solidFill>
                                <a:srgbClr val="000000"/>
                              </a:solidFill>
                              <a:latin typeface="Cambria Math" panose="02040503050406030204" pitchFamily="18" charset="0"/>
                            </a:rPr>
                            <m:t>h</m:t>
                          </m:r>
                          <m:d>
                            <m:dPr>
                              <m:begChr m:val="["/>
                              <m:endChr m:val="]"/>
                              <m:ctrlPr>
                                <a:rPr lang="en-US" sz="2200" b="0" i="1" smtClean="0">
                                  <a:solidFill>
                                    <a:srgbClr val="000000"/>
                                  </a:solidFill>
                                  <a:latin typeface="Cambria Math" panose="02040503050406030204" pitchFamily="18" charset="0"/>
                                </a:rPr>
                              </m:ctrlPr>
                            </m:dPr>
                            <m:e>
                              <m:r>
                                <a:rPr lang="en-US" sz="2200" i="1">
                                  <a:solidFill>
                                    <a:srgbClr val="000000"/>
                                  </a:solidFill>
                                  <a:latin typeface="Cambria Math" panose="02040503050406030204" pitchFamily="18" charset="0"/>
                                </a:rPr>
                                <m:t>𝑛</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𝑘</m:t>
                              </m:r>
                            </m:e>
                          </m:d>
                        </m:e>
                      </m:nary>
                      <m:r>
                        <a:rPr lang="en-US" sz="2200" i="1">
                          <a:solidFill>
                            <a:srgbClr val="000000"/>
                          </a:solidFill>
                          <a:latin typeface="Cambria Math" panose="02040503050406030204" pitchFamily="18" charset="0"/>
                        </a:rPr>
                        <m:t>=</m:t>
                      </m:r>
                      <m:nary>
                        <m:naryPr>
                          <m:chr m:val="∑"/>
                          <m:ctrlPr>
                            <a:rPr lang="en-US" sz="2200" i="1">
                              <a:solidFill>
                                <a:srgbClr val="000000"/>
                              </a:solidFill>
                              <a:latin typeface="Cambria Math" panose="02040503050406030204" pitchFamily="18" charset="0"/>
                            </a:rPr>
                          </m:ctrlPr>
                        </m:naryPr>
                        <m:sub>
                          <m:r>
                            <a:rPr lang="en-US" sz="2200" b="0" i="1" smtClean="0">
                              <a:solidFill>
                                <a:srgbClr val="000000"/>
                              </a:solidFill>
                              <a:latin typeface="Cambria Math" panose="02040503050406030204" pitchFamily="18" charset="0"/>
                            </a:rPr>
                            <m:t>𝑙</m:t>
                          </m:r>
                          <m:r>
                            <a:rPr lang="en-US" sz="2200" i="1">
                              <a:solidFill>
                                <a:srgbClr val="000000"/>
                              </a:solidFill>
                              <a:latin typeface="Cambria Math" panose="02040503050406030204" pitchFamily="18" charset="0"/>
                            </a:rPr>
                            <m:t>=−∞</m:t>
                          </m:r>
                        </m:sub>
                        <m:sup>
                          <m:r>
                            <a:rPr lang="en-US" sz="2200" i="1">
                              <a:solidFill>
                                <a:srgbClr val="000000"/>
                              </a:solidFill>
                              <a:latin typeface="Cambria Math" panose="02040503050406030204" pitchFamily="18" charset="0"/>
                            </a:rPr>
                            <m:t>∞</m:t>
                          </m:r>
                        </m:sup>
                        <m:e>
                          <m:r>
                            <a:rPr lang="en-US" sz="2200" i="1">
                              <a:solidFill>
                                <a:srgbClr val="000000"/>
                              </a:solidFill>
                              <a:latin typeface="Cambria Math" panose="02040503050406030204" pitchFamily="18" charset="0"/>
                            </a:rPr>
                            <m:t>𝑥</m:t>
                          </m:r>
                          <m:d>
                            <m:dPr>
                              <m:begChr m:val="["/>
                              <m:endChr m:val="]"/>
                              <m:ctrlPr>
                                <a:rPr lang="en-US" sz="2200" b="0" i="1" smtClean="0">
                                  <a:solidFill>
                                    <a:srgbClr val="000000"/>
                                  </a:solidFill>
                                  <a:latin typeface="Cambria Math" panose="02040503050406030204" pitchFamily="18" charset="0"/>
                                </a:rPr>
                              </m:ctrlPr>
                            </m:dPr>
                            <m:e>
                              <m:r>
                                <a:rPr lang="en-US" sz="2200" i="1" smtClean="0">
                                  <a:solidFill>
                                    <a:srgbClr val="000000"/>
                                  </a:solidFill>
                                  <a:latin typeface="Cambria Math" panose="02040503050406030204" pitchFamily="18" charset="0"/>
                                </a:rPr>
                                <m:t>𝑛</m:t>
                              </m:r>
                              <m:r>
                                <a:rPr lang="en-US" sz="2200" i="1">
                                  <a:solidFill>
                                    <a:srgbClr val="000000"/>
                                  </a:solidFill>
                                  <a:latin typeface="Cambria Math" panose="02040503050406030204" pitchFamily="18" charset="0"/>
                                </a:rPr>
                                <m:t>−</m:t>
                              </m:r>
                              <m:r>
                                <a:rPr lang="en-US" sz="2200" b="0" i="1" smtClean="0">
                                  <a:solidFill>
                                    <a:srgbClr val="000000"/>
                                  </a:solidFill>
                                  <a:latin typeface="Cambria Math" panose="02040503050406030204" pitchFamily="18" charset="0"/>
                                </a:rPr>
                                <m:t>𝑙</m:t>
                              </m:r>
                            </m:e>
                          </m:d>
                          <m:r>
                            <a:rPr lang="en-US" sz="2200" i="1">
                              <a:solidFill>
                                <a:srgbClr val="000000"/>
                              </a:solidFill>
                              <a:latin typeface="Cambria Math" panose="02040503050406030204" pitchFamily="18" charset="0"/>
                            </a:rPr>
                            <m:t>h</m:t>
                          </m:r>
                          <m:d>
                            <m:dPr>
                              <m:begChr m:val="["/>
                              <m:endChr m:val="]"/>
                              <m:ctrlPr>
                                <a:rPr lang="en-US" sz="2200" b="0" i="1" smtClean="0">
                                  <a:solidFill>
                                    <a:srgbClr val="000000"/>
                                  </a:solidFill>
                                  <a:latin typeface="Cambria Math" panose="02040503050406030204" pitchFamily="18" charset="0"/>
                                </a:rPr>
                              </m:ctrlPr>
                            </m:dPr>
                            <m:e>
                              <m:r>
                                <a:rPr lang="en-US" sz="2200" b="0" i="1" smtClean="0">
                                  <a:solidFill>
                                    <a:srgbClr val="000000"/>
                                  </a:solidFill>
                                  <a:latin typeface="Cambria Math" panose="02040503050406030204" pitchFamily="18" charset="0"/>
                                </a:rPr>
                                <m:t>𝑙</m:t>
                              </m:r>
                            </m:e>
                          </m:d>
                        </m:e>
                      </m:nary>
                      <m:r>
                        <a:rPr lang="en-US" sz="2200" i="1">
                          <a:solidFill>
                            <a:srgbClr val="000000"/>
                          </a:solidFill>
                          <a:latin typeface="Cambria Math" panose="02040503050406030204" pitchFamily="18" charset="0"/>
                        </a:rPr>
                        <m:t>=</m:t>
                      </m:r>
                      <m:r>
                        <a:rPr lang="en-US" sz="2200" i="1" smtClean="0">
                          <a:solidFill>
                            <a:srgbClr val="FF0000"/>
                          </a:solidFill>
                          <a:latin typeface="Cambria Math" panose="02040503050406030204" pitchFamily="18" charset="0"/>
                        </a:rPr>
                        <m:t>h</m:t>
                      </m:r>
                      <m:r>
                        <a:rPr lang="en-US" sz="2200" b="0" i="1" smtClean="0">
                          <a:solidFill>
                            <a:srgbClr val="FF0000"/>
                          </a:solidFill>
                          <a:latin typeface="Cambria Math" panose="02040503050406030204" pitchFamily="18" charset="0"/>
                        </a:rPr>
                        <m:t>[</m:t>
                      </m:r>
                      <m:r>
                        <a:rPr lang="en-US" sz="2200" i="1">
                          <a:solidFill>
                            <a:srgbClr val="FF0000"/>
                          </a:solidFill>
                          <a:latin typeface="Cambria Math" panose="02040503050406030204" pitchFamily="18" charset="0"/>
                        </a:rPr>
                        <m:t>𝑛</m:t>
                      </m:r>
                      <m:r>
                        <a:rPr lang="en-US" sz="2200" b="0" i="1" smtClean="0">
                          <a:solidFill>
                            <a:srgbClr val="FF0000"/>
                          </a:solidFill>
                          <a:latin typeface="Cambria Math" panose="02040503050406030204" pitchFamily="18" charset="0"/>
                        </a:rPr>
                        <m:t>]</m:t>
                      </m:r>
                      <m:r>
                        <a:rPr lang="en-US" sz="2200" i="1">
                          <a:solidFill>
                            <a:srgbClr val="FF0000"/>
                          </a:solidFill>
                          <a:latin typeface="Cambria Math" panose="02040503050406030204" pitchFamily="18" charset="0"/>
                        </a:rPr>
                        <m:t>∗</m:t>
                      </m:r>
                      <m:r>
                        <a:rPr lang="en-US" sz="2200" i="1">
                          <a:solidFill>
                            <a:srgbClr val="FF0000"/>
                          </a:solidFill>
                          <a:latin typeface="Cambria Math" panose="02040503050406030204" pitchFamily="18" charset="0"/>
                        </a:rPr>
                        <m:t>𝑥</m:t>
                      </m:r>
                      <m:r>
                        <a:rPr lang="en-US" sz="2200" b="0" i="1" smtClean="0">
                          <a:solidFill>
                            <a:srgbClr val="FF0000"/>
                          </a:solidFill>
                          <a:latin typeface="Cambria Math" panose="02040503050406030204" pitchFamily="18" charset="0"/>
                        </a:rPr>
                        <m:t>[</m:t>
                      </m:r>
                      <m:r>
                        <a:rPr lang="en-US" sz="2200" i="1">
                          <a:solidFill>
                            <a:srgbClr val="FF0000"/>
                          </a:solidFill>
                          <a:latin typeface="Cambria Math" panose="02040503050406030204" pitchFamily="18" charset="0"/>
                        </a:rPr>
                        <m:t>𝑛</m:t>
                      </m:r>
                      <m:r>
                        <a:rPr lang="en-US" sz="2200" b="0" i="1" smtClean="0">
                          <a:solidFill>
                            <a:srgbClr val="FF0000"/>
                          </a:solidFill>
                          <a:latin typeface="Cambria Math" panose="02040503050406030204" pitchFamily="18" charset="0"/>
                        </a:rPr>
                        <m:t>]</m:t>
                      </m:r>
                    </m:oMath>
                  </m:oMathPara>
                </a14:m>
                <a:endParaRPr lang="en-US" sz="2200" dirty="0"/>
              </a:p>
            </p:txBody>
          </p:sp>
        </mc:Choice>
        <mc:Fallback xmlns="">
          <p:sp>
            <p:nvSpPr>
              <p:cNvPr id="31747" name="Object 3">
                <a:extLst>
                  <a:ext uri="{FF2B5EF4-FFF2-40B4-BE49-F238E27FC236}">
                    <a16:creationId xmlns:a16="http://schemas.microsoft.com/office/drawing/2014/main" id="{96B8A653-4AFB-427C-96F8-8DA39694E71F}"/>
                  </a:ext>
                </a:extLst>
              </p:cNvPr>
              <p:cNvSpPr txBox="1">
                <a:spLocks noRot="1" noChangeAspect="1" noMove="1" noResize="1" noEditPoints="1" noAdjustHandles="1" noChangeArrowheads="1" noChangeShapeType="1" noTextEdit="1"/>
              </p:cNvSpPr>
              <p:nvPr/>
            </p:nvSpPr>
            <p:spPr bwMode="auto">
              <a:xfrm>
                <a:off x="595716" y="2384517"/>
                <a:ext cx="8115424" cy="1015406"/>
              </a:xfrm>
              <a:prstGeom prst="rect">
                <a:avLst/>
              </a:prstGeom>
              <a:blipFill>
                <a:blip r:embed="rId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750" name="Object 6">
                <a:extLst>
                  <a:ext uri="{FF2B5EF4-FFF2-40B4-BE49-F238E27FC236}">
                    <a16:creationId xmlns:a16="http://schemas.microsoft.com/office/drawing/2014/main" id="{F7241C43-4525-4B58-9281-1FCA3C520F0A}"/>
                  </a:ext>
                </a:extLst>
              </p:cNvPr>
              <p:cNvSpPr txBox="1"/>
              <p:nvPr/>
            </p:nvSpPr>
            <p:spPr bwMode="auto">
              <a:xfrm>
                <a:off x="342368" y="3712694"/>
                <a:ext cx="8622120" cy="822854"/>
              </a:xfrm>
              <a:prstGeom prst="rect">
                <a:avLst/>
              </a:prstGeom>
              <a:no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r>
                        <a:rPr lang="en-US" sz="2200" i="1" smtClean="0">
                          <a:solidFill>
                            <a:srgbClr val="FF0000"/>
                          </a:solidFill>
                          <a:latin typeface="Cambria Math" panose="02040503050406030204" pitchFamily="18" charset="0"/>
                        </a:rPr>
                        <m:t>𝑥</m:t>
                      </m:r>
                      <m:r>
                        <a:rPr lang="en-US" sz="2200" i="1" smtClean="0">
                          <a:solidFill>
                            <a:srgbClr val="FF0000"/>
                          </a:solidFill>
                          <a:latin typeface="Cambria Math" panose="02040503050406030204" pitchFamily="18" charset="0"/>
                        </a:rPr>
                        <m:t>(</m:t>
                      </m:r>
                      <m:r>
                        <a:rPr lang="en-US" sz="2200" i="1" smtClean="0">
                          <a:solidFill>
                            <a:srgbClr val="FF0000"/>
                          </a:solidFill>
                          <a:latin typeface="Cambria Math" panose="02040503050406030204" pitchFamily="18" charset="0"/>
                        </a:rPr>
                        <m:t>𝑡</m:t>
                      </m:r>
                      <m:r>
                        <a:rPr lang="en-US" sz="2200" i="1" smtClean="0">
                          <a:solidFill>
                            <a:srgbClr val="FF0000"/>
                          </a:solidFill>
                          <a:latin typeface="Cambria Math" panose="02040503050406030204" pitchFamily="18" charset="0"/>
                        </a:rPr>
                        <m:t>)∗</m:t>
                      </m:r>
                      <m:r>
                        <a:rPr lang="en-US" sz="2200" i="1" smtClean="0">
                          <a:solidFill>
                            <a:srgbClr val="FF0000"/>
                          </a:solidFill>
                          <a:latin typeface="Cambria Math" panose="02040503050406030204" pitchFamily="18" charset="0"/>
                        </a:rPr>
                        <m:t>h</m:t>
                      </m:r>
                      <m:r>
                        <a:rPr lang="en-US" sz="2200" i="1" smtClean="0">
                          <a:solidFill>
                            <a:srgbClr val="FF0000"/>
                          </a:solidFill>
                          <a:latin typeface="Cambria Math" panose="02040503050406030204" pitchFamily="18" charset="0"/>
                        </a:rPr>
                        <m:t>(</m:t>
                      </m:r>
                      <m:r>
                        <a:rPr lang="en-US" sz="2200" i="1" smtClean="0">
                          <a:solidFill>
                            <a:srgbClr val="FF0000"/>
                          </a:solidFill>
                          <a:latin typeface="Cambria Math" panose="02040503050406030204" pitchFamily="18" charset="0"/>
                        </a:rPr>
                        <m:t>𝑡</m:t>
                      </m:r>
                      <m:r>
                        <a:rPr lang="en-US" sz="2200" i="1" smtClean="0">
                          <a:solidFill>
                            <a:srgbClr val="FF0000"/>
                          </a:solidFill>
                          <a:latin typeface="Cambria Math" panose="02040503050406030204" pitchFamily="18" charset="0"/>
                        </a:rPr>
                        <m:t>)=</m:t>
                      </m:r>
                      <m:nary>
                        <m:naryPr>
                          <m:ctrlPr>
                            <a:rPr lang="en-US" sz="2200" i="1">
                              <a:solidFill>
                                <a:srgbClr val="000000"/>
                              </a:solidFill>
                              <a:latin typeface="Cambria Math" panose="02040503050406030204" pitchFamily="18" charset="0"/>
                            </a:rPr>
                          </m:ctrlPr>
                        </m:naryPr>
                        <m:sub>
                          <m:r>
                            <a:rPr lang="en-US" sz="2200" i="1">
                              <a:solidFill>
                                <a:srgbClr val="000000"/>
                              </a:solidFill>
                              <a:latin typeface="Cambria Math" panose="02040503050406030204" pitchFamily="18" charset="0"/>
                            </a:rPr>
                            <m:t>−∞</m:t>
                          </m:r>
                        </m:sub>
                        <m:sup>
                          <m:r>
                            <a:rPr lang="en-US" sz="2200" i="1">
                              <a:solidFill>
                                <a:srgbClr val="000000"/>
                              </a:solidFill>
                              <a:latin typeface="Cambria Math" panose="02040503050406030204" pitchFamily="18" charset="0"/>
                            </a:rPr>
                            <m:t>∞</m:t>
                          </m:r>
                        </m:sup>
                        <m:e>
                          <m:r>
                            <a:rPr lang="en-US" sz="2200" i="1">
                              <a:solidFill>
                                <a:srgbClr val="000000"/>
                              </a:solidFill>
                              <a:latin typeface="Cambria Math" panose="02040503050406030204" pitchFamily="18" charset="0"/>
                            </a:rPr>
                            <m:t>𝑥</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𝜏</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h</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𝑡</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𝜏</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𝑑</m:t>
                          </m:r>
                          <m:r>
                            <a:rPr lang="en-US" sz="2200" i="1">
                              <a:solidFill>
                                <a:srgbClr val="000000"/>
                              </a:solidFill>
                              <a:latin typeface="Cambria Math" panose="02040503050406030204" pitchFamily="18" charset="0"/>
                            </a:rPr>
                            <m:t>𝜏</m:t>
                          </m:r>
                        </m:e>
                      </m:nary>
                      <m:r>
                        <a:rPr lang="en-US" sz="2200" i="1">
                          <a:solidFill>
                            <a:srgbClr val="000000"/>
                          </a:solidFill>
                          <a:latin typeface="Cambria Math" panose="02040503050406030204" pitchFamily="18" charset="0"/>
                        </a:rPr>
                        <m:t>=</m:t>
                      </m:r>
                      <m:nary>
                        <m:naryPr>
                          <m:ctrlPr>
                            <a:rPr lang="en-US" sz="2200" i="1">
                              <a:solidFill>
                                <a:srgbClr val="000000"/>
                              </a:solidFill>
                              <a:latin typeface="Cambria Math" panose="02040503050406030204" pitchFamily="18" charset="0"/>
                            </a:rPr>
                          </m:ctrlPr>
                        </m:naryPr>
                        <m:sub>
                          <m:r>
                            <a:rPr lang="en-US" sz="2200" i="1">
                              <a:solidFill>
                                <a:srgbClr val="000000"/>
                              </a:solidFill>
                              <a:latin typeface="Cambria Math" panose="02040503050406030204" pitchFamily="18" charset="0"/>
                            </a:rPr>
                            <m:t>−∞</m:t>
                          </m:r>
                        </m:sub>
                        <m:sup>
                          <m:r>
                            <a:rPr lang="en-US" sz="2200" i="1">
                              <a:solidFill>
                                <a:srgbClr val="000000"/>
                              </a:solidFill>
                              <a:latin typeface="Cambria Math" panose="02040503050406030204" pitchFamily="18" charset="0"/>
                            </a:rPr>
                            <m:t>∞</m:t>
                          </m:r>
                        </m:sup>
                        <m:e>
                          <m:r>
                            <a:rPr lang="en-US" sz="2200" i="1">
                              <a:solidFill>
                                <a:srgbClr val="000000"/>
                              </a:solidFill>
                              <a:latin typeface="Cambria Math" panose="02040503050406030204" pitchFamily="18" charset="0"/>
                            </a:rPr>
                            <m:t>𝑥</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𝑡</m:t>
                          </m:r>
                          <m:r>
                            <a:rPr lang="en-US" sz="2200" i="1">
                              <a:solidFill>
                                <a:srgbClr val="000000"/>
                              </a:solidFill>
                              <a:latin typeface="Cambria Math" panose="02040503050406030204" pitchFamily="18" charset="0"/>
                            </a:rPr>
                            <m:t>−</m:t>
                          </m:r>
                          <m:sSup>
                            <m:sSupPr>
                              <m:ctrlPr>
                                <a:rPr lang="en-US" sz="2200" i="1" smtClean="0">
                                  <a:solidFill>
                                    <a:srgbClr val="000000"/>
                                  </a:solidFill>
                                  <a:latin typeface="Cambria Math" panose="02040503050406030204" pitchFamily="18" charset="0"/>
                                </a:rPr>
                              </m:ctrlPr>
                            </m:sSupPr>
                            <m:e>
                              <m:r>
                                <a:rPr lang="en-US" sz="2200" i="1">
                                  <a:solidFill>
                                    <a:srgbClr val="000000"/>
                                  </a:solidFill>
                                  <a:latin typeface="Cambria Math" panose="02040503050406030204" pitchFamily="18" charset="0"/>
                                </a:rPr>
                                <m:t>𝜏</m:t>
                              </m:r>
                            </m:e>
                            <m:sup>
                              <m:r>
                                <a:rPr lang="en-US" sz="2200" b="0" i="1" smtClean="0">
                                  <a:solidFill>
                                    <a:srgbClr val="000000"/>
                                  </a:solidFill>
                                  <a:latin typeface="Cambria Math" panose="02040503050406030204" pitchFamily="18" charset="0"/>
                                </a:rPr>
                                <m:t>′</m:t>
                              </m:r>
                            </m:sup>
                          </m:sSup>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h</m:t>
                          </m:r>
                          <m:r>
                            <a:rPr lang="en-US" sz="2200" i="1">
                              <a:solidFill>
                                <a:srgbClr val="000000"/>
                              </a:solidFill>
                              <a:latin typeface="Cambria Math" panose="02040503050406030204" pitchFamily="18" charset="0"/>
                            </a:rPr>
                            <m:t>(</m:t>
                          </m:r>
                          <m:sSup>
                            <m:sSupPr>
                              <m:ctrlPr>
                                <a:rPr lang="en-US" sz="2200" i="1">
                                  <a:solidFill>
                                    <a:srgbClr val="000000"/>
                                  </a:solidFill>
                                  <a:latin typeface="Cambria Math" panose="02040503050406030204" pitchFamily="18" charset="0"/>
                                </a:rPr>
                              </m:ctrlPr>
                            </m:sSupPr>
                            <m:e>
                              <m:r>
                                <a:rPr lang="en-US" sz="2200" i="1">
                                  <a:solidFill>
                                    <a:srgbClr val="000000"/>
                                  </a:solidFill>
                                  <a:latin typeface="Cambria Math" panose="02040503050406030204" pitchFamily="18" charset="0"/>
                                </a:rPr>
                                <m:t>𝜏</m:t>
                              </m:r>
                            </m:e>
                            <m:sup>
                              <m:r>
                                <a:rPr lang="en-US" sz="2200" i="1">
                                  <a:solidFill>
                                    <a:srgbClr val="000000"/>
                                  </a:solidFill>
                                  <a:latin typeface="Cambria Math" panose="02040503050406030204" pitchFamily="18" charset="0"/>
                                </a:rPr>
                                <m:t>′</m:t>
                              </m:r>
                            </m:sup>
                          </m:sSup>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𝑑</m:t>
                          </m:r>
                          <m:sSup>
                            <m:sSupPr>
                              <m:ctrlPr>
                                <a:rPr lang="en-US" sz="2200" i="1">
                                  <a:solidFill>
                                    <a:srgbClr val="000000"/>
                                  </a:solidFill>
                                  <a:latin typeface="Cambria Math" panose="02040503050406030204" pitchFamily="18" charset="0"/>
                                </a:rPr>
                              </m:ctrlPr>
                            </m:sSupPr>
                            <m:e>
                              <m:r>
                                <a:rPr lang="en-US" sz="2200" i="1">
                                  <a:solidFill>
                                    <a:srgbClr val="000000"/>
                                  </a:solidFill>
                                  <a:latin typeface="Cambria Math" panose="02040503050406030204" pitchFamily="18" charset="0"/>
                                </a:rPr>
                                <m:t>𝜏</m:t>
                              </m:r>
                            </m:e>
                            <m:sup>
                              <m:r>
                                <a:rPr lang="en-US" sz="2200" i="1">
                                  <a:solidFill>
                                    <a:srgbClr val="000000"/>
                                  </a:solidFill>
                                  <a:latin typeface="Cambria Math" panose="02040503050406030204" pitchFamily="18" charset="0"/>
                                </a:rPr>
                                <m:t>′</m:t>
                              </m:r>
                            </m:sup>
                          </m:sSup>
                        </m:e>
                      </m:nary>
                      <m:r>
                        <a:rPr lang="en-US" sz="2200" i="1">
                          <a:solidFill>
                            <a:srgbClr val="000000"/>
                          </a:solidFill>
                          <a:latin typeface="Cambria Math" panose="02040503050406030204" pitchFamily="18" charset="0"/>
                        </a:rPr>
                        <m:t>=</m:t>
                      </m:r>
                      <m:r>
                        <a:rPr lang="en-US" sz="2200" i="1" smtClean="0">
                          <a:solidFill>
                            <a:srgbClr val="FF0000"/>
                          </a:solidFill>
                          <a:latin typeface="Cambria Math" panose="02040503050406030204" pitchFamily="18" charset="0"/>
                        </a:rPr>
                        <m:t>h</m:t>
                      </m:r>
                      <m:r>
                        <a:rPr lang="en-US" sz="2200" i="1" smtClean="0">
                          <a:solidFill>
                            <a:srgbClr val="FF0000"/>
                          </a:solidFill>
                          <a:latin typeface="Cambria Math" panose="02040503050406030204" pitchFamily="18" charset="0"/>
                        </a:rPr>
                        <m:t>(</m:t>
                      </m:r>
                      <m:r>
                        <a:rPr lang="en-US" sz="2200" i="1" smtClean="0">
                          <a:solidFill>
                            <a:srgbClr val="FF0000"/>
                          </a:solidFill>
                          <a:latin typeface="Cambria Math" panose="02040503050406030204" pitchFamily="18" charset="0"/>
                        </a:rPr>
                        <m:t>𝑡</m:t>
                      </m:r>
                      <m:r>
                        <a:rPr lang="en-US" sz="2200" i="1" smtClean="0">
                          <a:solidFill>
                            <a:srgbClr val="FF0000"/>
                          </a:solidFill>
                          <a:latin typeface="Cambria Math" panose="02040503050406030204" pitchFamily="18" charset="0"/>
                        </a:rPr>
                        <m:t>)∗</m:t>
                      </m:r>
                      <m:r>
                        <a:rPr lang="en-US" sz="2200" i="1" smtClean="0">
                          <a:solidFill>
                            <a:srgbClr val="FF0000"/>
                          </a:solidFill>
                          <a:latin typeface="Cambria Math" panose="02040503050406030204" pitchFamily="18" charset="0"/>
                        </a:rPr>
                        <m:t>𝑥</m:t>
                      </m:r>
                      <m:r>
                        <a:rPr lang="en-US" sz="2200" i="1" smtClean="0">
                          <a:solidFill>
                            <a:srgbClr val="FF0000"/>
                          </a:solidFill>
                          <a:latin typeface="Cambria Math" panose="02040503050406030204" pitchFamily="18" charset="0"/>
                        </a:rPr>
                        <m:t>(</m:t>
                      </m:r>
                      <m:r>
                        <a:rPr lang="en-US" sz="2200" i="1" smtClean="0">
                          <a:solidFill>
                            <a:srgbClr val="FF0000"/>
                          </a:solidFill>
                          <a:latin typeface="Cambria Math" panose="02040503050406030204" pitchFamily="18" charset="0"/>
                        </a:rPr>
                        <m:t>𝑡</m:t>
                      </m:r>
                      <m:r>
                        <a:rPr lang="en-US" sz="2200" i="1" smtClean="0">
                          <a:solidFill>
                            <a:srgbClr val="FF0000"/>
                          </a:solidFill>
                          <a:latin typeface="Cambria Math" panose="02040503050406030204" pitchFamily="18" charset="0"/>
                        </a:rPr>
                        <m:t>)</m:t>
                      </m:r>
                    </m:oMath>
                  </m:oMathPara>
                </a14:m>
                <a:endParaRPr lang="en-US" sz="2200" dirty="0"/>
              </a:p>
            </p:txBody>
          </p:sp>
        </mc:Choice>
        <mc:Fallback xmlns="">
          <p:sp>
            <p:nvSpPr>
              <p:cNvPr id="31750" name="Object 6">
                <a:extLst>
                  <a:ext uri="{FF2B5EF4-FFF2-40B4-BE49-F238E27FC236}">
                    <a16:creationId xmlns:a16="http://schemas.microsoft.com/office/drawing/2014/main" id="{F7241C43-4525-4B58-9281-1FCA3C520F0A}"/>
                  </a:ext>
                </a:extLst>
              </p:cNvPr>
              <p:cNvSpPr txBox="1">
                <a:spLocks noRot="1" noChangeAspect="1" noMove="1" noResize="1" noEditPoints="1" noAdjustHandles="1" noChangeArrowheads="1" noChangeShapeType="1" noTextEdit="1"/>
              </p:cNvSpPr>
              <p:nvPr/>
            </p:nvSpPr>
            <p:spPr bwMode="auto">
              <a:xfrm>
                <a:off x="342368" y="3712694"/>
                <a:ext cx="8622120" cy="822854"/>
              </a:xfrm>
              <a:prstGeom prst="rect">
                <a:avLst/>
              </a:prstGeom>
              <a:blipFill>
                <a:blip r:embed="rId3"/>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37" name="标题 1">
            <a:extLst>
              <a:ext uri="{FF2B5EF4-FFF2-40B4-BE49-F238E27FC236}">
                <a16:creationId xmlns:a16="http://schemas.microsoft.com/office/drawing/2014/main" id="{4BAC8704-437B-47C2-98BB-F0A63AFE1403}"/>
              </a:ext>
            </a:extLst>
          </p:cNvPr>
          <p:cNvSpPr>
            <a:spLocks noGrp="1"/>
          </p:cNvSpPr>
          <p:nvPr>
            <p:ph type="title"/>
          </p:nvPr>
        </p:nvSpPr>
        <p:spPr/>
        <p:txBody>
          <a:bodyPr/>
          <a:lstStyle/>
          <a:p>
            <a:r>
              <a:rPr lang="en-US" altLang="zh-CN" dirty="0"/>
              <a:t>2.3 </a:t>
            </a:r>
            <a:r>
              <a:rPr lang="zh-CN" altLang="en-US" dirty="0"/>
              <a:t>线性时不变系统的性质</a:t>
            </a:r>
          </a:p>
        </p:txBody>
      </p:sp>
      <p:sp>
        <p:nvSpPr>
          <p:cNvPr id="4" name="灯片编号占位符 3">
            <a:extLst>
              <a:ext uri="{FF2B5EF4-FFF2-40B4-BE49-F238E27FC236}">
                <a16:creationId xmlns:a16="http://schemas.microsoft.com/office/drawing/2014/main" id="{D1C12A82-FDEE-4BCC-8A4B-AAFE2CDDF4A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F5528DA-C16A-4AE4-B7EB-D7DA01340B29}" type="slidenum">
              <a:rPr lang="zh-CN" altLang="en-US">
                <a:solidFill>
                  <a:srgbClr val="898989"/>
                </a:solidFill>
                <a:latin typeface="Calibri" panose="020F0502020204030204" pitchFamily="34" charset="0"/>
              </a:rPr>
              <a:pPr eaLnBrk="1" hangingPunct="1"/>
              <a:t>37</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31750" name="Object 6">
                <a:extLst>
                  <a:ext uri="{FF2B5EF4-FFF2-40B4-BE49-F238E27FC236}">
                    <a16:creationId xmlns:a16="http://schemas.microsoft.com/office/drawing/2014/main" id="{F7241C43-4525-4B58-9281-1FCA3C520F0A}"/>
                  </a:ext>
                </a:extLst>
              </p:cNvPr>
              <p:cNvSpPr txBox="1"/>
              <p:nvPr/>
            </p:nvSpPr>
            <p:spPr bwMode="auto">
              <a:xfrm>
                <a:off x="971600" y="1882260"/>
                <a:ext cx="7934368" cy="1590500"/>
              </a:xfrm>
              <a:prstGeom prst="rect">
                <a:avLst/>
              </a:prstGeom>
              <a:noFill/>
              <a:ln>
                <a:noFill/>
              </a:ln>
              <a:effectLst/>
            </p:spPr>
            <p:txBody>
              <a:bodyPr wrap="square">
                <a:spAutoFit/>
              </a:bodyPr>
              <a:lstStyle/>
              <a:p>
                <a:r>
                  <a:rPr lang="zh-CN" altLang="en-US" sz="2200" dirty="0" smtClean="0">
                    <a:solidFill>
                      <a:schemeClr val="tx1"/>
                    </a:solidFill>
                  </a:rPr>
                  <a:t>因为</a:t>
                </a:r>
                <a14:m>
                  <m:oMath xmlns:m="http://schemas.openxmlformats.org/officeDocument/2006/math">
                    <m:r>
                      <a:rPr lang="zh-CN" altLang="en-US" sz="2200" i="1" smtClean="0">
                        <a:solidFill>
                          <a:schemeClr val="tx1"/>
                        </a:solidFill>
                        <a:latin typeface="Cambria Math" panose="02040503050406030204" pitchFamily="18" charset="0"/>
                      </a:rPr>
                      <m:t>：</m:t>
                    </m:r>
                    <m:r>
                      <a:rPr lang="en-US" sz="2200" i="1" smtClean="0">
                        <a:solidFill>
                          <a:srgbClr val="FF0000"/>
                        </a:solidFill>
                        <a:latin typeface="Cambria Math" panose="02040503050406030204" pitchFamily="18" charset="0"/>
                      </a:rPr>
                      <m:t>𝑥</m:t>
                    </m:r>
                    <m:d>
                      <m:dPr>
                        <m:ctrlPr>
                          <a:rPr lang="en-US" sz="2200" i="1" smtClean="0">
                            <a:solidFill>
                              <a:srgbClr val="FF0000"/>
                            </a:solidFill>
                            <a:latin typeface="Cambria Math" panose="02040503050406030204" pitchFamily="18" charset="0"/>
                          </a:rPr>
                        </m:ctrlPr>
                      </m:dPr>
                      <m:e>
                        <m:r>
                          <a:rPr lang="en-US" sz="2200" i="1" smtClean="0">
                            <a:solidFill>
                              <a:srgbClr val="FF0000"/>
                            </a:solidFill>
                            <a:latin typeface="Cambria Math" panose="02040503050406030204" pitchFamily="18" charset="0"/>
                          </a:rPr>
                          <m:t>𝑡</m:t>
                        </m:r>
                      </m:e>
                    </m:d>
                    <m:r>
                      <a:rPr lang="en-US" sz="2200" i="1" smtClean="0">
                        <a:solidFill>
                          <a:srgbClr val="FF0000"/>
                        </a:solidFill>
                        <a:latin typeface="Cambria Math" panose="02040503050406030204" pitchFamily="18" charset="0"/>
                      </a:rPr>
                      <m:t>∗</m:t>
                    </m:r>
                    <m:r>
                      <a:rPr lang="en-US" sz="2200" i="1" smtClean="0">
                        <a:solidFill>
                          <a:srgbClr val="FF0000"/>
                        </a:solidFill>
                        <a:latin typeface="Cambria Math" panose="02040503050406030204" pitchFamily="18" charset="0"/>
                      </a:rPr>
                      <m:t>h</m:t>
                    </m:r>
                    <m:d>
                      <m:dPr>
                        <m:ctrlPr>
                          <a:rPr lang="en-US" sz="2200" i="1" smtClean="0">
                            <a:solidFill>
                              <a:srgbClr val="FF0000"/>
                            </a:solidFill>
                            <a:latin typeface="Cambria Math" panose="02040503050406030204" pitchFamily="18" charset="0"/>
                          </a:rPr>
                        </m:ctrlPr>
                      </m:dPr>
                      <m:e>
                        <m:r>
                          <a:rPr lang="en-US" sz="2200" i="1" smtClean="0">
                            <a:solidFill>
                              <a:srgbClr val="FF0000"/>
                            </a:solidFill>
                            <a:latin typeface="Cambria Math" panose="02040503050406030204" pitchFamily="18" charset="0"/>
                          </a:rPr>
                          <m:t>𝑡</m:t>
                        </m:r>
                      </m:e>
                    </m:d>
                    <m:r>
                      <a:rPr lang="en-US" sz="2200" i="1" smtClean="0">
                        <a:solidFill>
                          <a:srgbClr val="FF0000"/>
                        </a:solidFill>
                        <a:latin typeface="Cambria Math" panose="02040503050406030204" pitchFamily="18" charset="0"/>
                      </a:rPr>
                      <m:t>=</m:t>
                    </m:r>
                    <m:nary>
                      <m:naryPr>
                        <m:ctrlPr>
                          <a:rPr lang="en-US" sz="2200" i="1">
                            <a:solidFill>
                              <a:srgbClr val="000000"/>
                            </a:solidFill>
                            <a:latin typeface="Cambria Math" panose="02040503050406030204" pitchFamily="18" charset="0"/>
                          </a:rPr>
                        </m:ctrlPr>
                      </m:naryPr>
                      <m:sub>
                        <m:r>
                          <a:rPr lang="en-US" sz="2200" i="1">
                            <a:solidFill>
                              <a:srgbClr val="000000"/>
                            </a:solidFill>
                            <a:latin typeface="Cambria Math" panose="02040503050406030204" pitchFamily="18" charset="0"/>
                          </a:rPr>
                          <m:t>−∞</m:t>
                        </m:r>
                      </m:sub>
                      <m:sup>
                        <m:r>
                          <a:rPr lang="en-US" sz="2200" i="1">
                            <a:solidFill>
                              <a:srgbClr val="000000"/>
                            </a:solidFill>
                            <a:latin typeface="Cambria Math" panose="02040503050406030204" pitchFamily="18" charset="0"/>
                          </a:rPr>
                          <m:t>∞</m:t>
                        </m:r>
                      </m:sup>
                      <m:e>
                        <m:r>
                          <a:rPr lang="en-US" sz="2200" i="1">
                            <a:solidFill>
                              <a:srgbClr val="000000"/>
                            </a:solidFill>
                            <a:latin typeface="Cambria Math" panose="02040503050406030204" pitchFamily="18" charset="0"/>
                          </a:rPr>
                          <m:t>𝑥</m:t>
                        </m:r>
                        <m:d>
                          <m:dPr>
                            <m:ctrlPr>
                              <a:rPr lang="en-US" sz="2200" i="1">
                                <a:solidFill>
                                  <a:srgbClr val="000000"/>
                                </a:solidFill>
                                <a:latin typeface="Cambria Math" panose="02040503050406030204" pitchFamily="18" charset="0"/>
                              </a:rPr>
                            </m:ctrlPr>
                          </m:dPr>
                          <m:e>
                            <m:r>
                              <a:rPr lang="en-US" sz="2200" i="1">
                                <a:solidFill>
                                  <a:srgbClr val="000000"/>
                                </a:solidFill>
                                <a:latin typeface="Cambria Math" panose="02040503050406030204" pitchFamily="18" charset="0"/>
                              </a:rPr>
                              <m:t>𝜏</m:t>
                            </m:r>
                          </m:e>
                        </m:d>
                        <m:r>
                          <a:rPr lang="en-US" sz="2200" i="1">
                            <a:solidFill>
                              <a:srgbClr val="000000"/>
                            </a:solidFill>
                            <a:latin typeface="Cambria Math" panose="02040503050406030204" pitchFamily="18" charset="0"/>
                          </a:rPr>
                          <m:t>h</m:t>
                        </m:r>
                        <m:d>
                          <m:dPr>
                            <m:ctrlPr>
                              <a:rPr lang="en-US" sz="2200" i="1">
                                <a:solidFill>
                                  <a:srgbClr val="000000"/>
                                </a:solidFill>
                                <a:latin typeface="Cambria Math" panose="02040503050406030204" pitchFamily="18" charset="0"/>
                              </a:rPr>
                            </m:ctrlPr>
                          </m:dPr>
                          <m:e>
                            <m:r>
                              <a:rPr lang="en-US" sz="2200" i="1">
                                <a:solidFill>
                                  <a:srgbClr val="000000"/>
                                </a:solidFill>
                                <a:latin typeface="Cambria Math" panose="02040503050406030204" pitchFamily="18" charset="0"/>
                              </a:rPr>
                              <m:t>𝑡</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𝜏</m:t>
                            </m:r>
                          </m:e>
                        </m:d>
                        <m:r>
                          <a:rPr lang="en-US" sz="2200" i="1">
                            <a:solidFill>
                              <a:srgbClr val="000000"/>
                            </a:solidFill>
                            <a:latin typeface="Cambria Math" panose="02040503050406030204" pitchFamily="18" charset="0"/>
                          </a:rPr>
                          <m:t>𝑑</m:t>
                        </m:r>
                        <m:r>
                          <a:rPr lang="en-US" sz="2200" i="1">
                            <a:solidFill>
                              <a:srgbClr val="000000"/>
                            </a:solidFill>
                            <a:latin typeface="Cambria Math" panose="02040503050406030204" pitchFamily="18" charset="0"/>
                          </a:rPr>
                          <m:t>𝜏</m:t>
                        </m:r>
                      </m:e>
                    </m:nary>
                  </m:oMath>
                </a14:m>
                <a:r>
                  <a:rPr lang="en-US" sz="2200" i="1" dirty="0" smtClean="0">
                    <a:solidFill>
                      <a:srgbClr val="000000"/>
                    </a:solidFill>
                    <a:latin typeface="Cambria Math" panose="02040503050406030204" pitchFamily="18" charset="0"/>
                  </a:rPr>
                  <a:t> </a:t>
                </a:r>
              </a:p>
              <a:p>
                <a:r>
                  <a:rPr lang="zh-CN" altLang="en-US" sz="2200" dirty="0" smtClean="0">
                    <a:solidFill>
                      <a:srgbClr val="000000"/>
                    </a:solidFill>
                    <a:latin typeface="Cambria Math" panose="02040503050406030204" pitchFamily="18" charset="0"/>
                  </a:rPr>
                  <a:t>令 </a:t>
                </a:r>
                <a14:m>
                  <m:oMath xmlns:m="http://schemas.openxmlformats.org/officeDocument/2006/math">
                    <m:sSup>
                      <m:sSupPr>
                        <m:ctrlPr>
                          <a:rPr lang="en-US" altLang="zh-CN" sz="2200" i="1">
                            <a:solidFill>
                              <a:srgbClr val="000000"/>
                            </a:solidFill>
                            <a:latin typeface="Cambria Math" panose="02040503050406030204" pitchFamily="18" charset="0"/>
                          </a:rPr>
                        </m:ctrlPr>
                      </m:sSupPr>
                      <m:e>
                        <m:r>
                          <a:rPr lang="en-US" altLang="zh-CN" sz="2200" i="1">
                            <a:solidFill>
                              <a:srgbClr val="000000"/>
                            </a:solidFill>
                            <a:latin typeface="Cambria Math" panose="02040503050406030204" pitchFamily="18" charset="0"/>
                          </a:rPr>
                          <m:t>𝜏</m:t>
                        </m:r>
                      </m:e>
                      <m:sup>
                        <m:r>
                          <a:rPr lang="en-US" altLang="zh-CN" sz="2200" i="1">
                            <a:solidFill>
                              <a:srgbClr val="000000"/>
                            </a:solidFill>
                            <a:latin typeface="Cambria Math" panose="02040503050406030204" pitchFamily="18" charset="0"/>
                          </a:rPr>
                          <m:t>′</m:t>
                        </m:r>
                      </m:sup>
                    </m:sSup>
                    <m:r>
                      <a:rPr lang="en-US" altLang="zh-CN" sz="2200" b="0" i="1" smtClean="0">
                        <a:solidFill>
                          <a:srgbClr val="000000"/>
                        </a:solidFill>
                        <a:latin typeface="Cambria Math" panose="02040503050406030204" pitchFamily="18" charset="0"/>
                      </a:rPr>
                      <m:t>=</m:t>
                    </m:r>
                    <m:r>
                      <a:rPr lang="en-US" altLang="zh-CN" sz="2200" i="1">
                        <a:solidFill>
                          <a:srgbClr val="000000"/>
                        </a:solidFill>
                        <a:latin typeface="Cambria Math" panose="02040503050406030204" pitchFamily="18" charset="0"/>
                      </a:rPr>
                      <m:t>𝑡</m:t>
                    </m:r>
                    <m:r>
                      <a:rPr lang="en-US" altLang="zh-CN" sz="2200" i="1">
                        <a:solidFill>
                          <a:srgbClr val="000000"/>
                        </a:solidFill>
                        <a:latin typeface="Cambria Math" panose="02040503050406030204" pitchFamily="18" charset="0"/>
                      </a:rPr>
                      <m:t>−</m:t>
                    </m:r>
                    <m:r>
                      <a:rPr lang="en-US" altLang="zh-CN" sz="2200" i="1">
                        <a:solidFill>
                          <a:srgbClr val="000000"/>
                        </a:solidFill>
                        <a:latin typeface="Cambria Math" panose="02040503050406030204" pitchFamily="18" charset="0"/>
                      </a:rPr>
                      <m:t>𝜏</m:t>
                    </m:r>
                  </m:oMath>
                </a14:m>
                <a:r>
                  <a:rPr lang="zh-CN" altLang="en-US" sz="2200" dirty="0" smtClean="0">
                    <a:solidFill>
                      <a:srgbClr val="000000"/>
                    </a:solidFill>
                    <a:latin typeface="Cambria Math" panose="02040503050406030204" pitchFamily="18" charset="0"/>
                  </a:rPr>
                  <a:t>，则 </a:t>
                </a:r>
                <a14:m>
                  <m:oMath xmlns:m="http://schemas.openxmlformats.org/officeDocument/2006/math">
                    <m:r>
                      <a:rPr lang="en-US" altLang="zh-CN" sz="2200" i="1">
                        <a:solidFill>
                          <a:srgbClr val="000000"/>
                        </a:solidFill>
                        <a:latin typeface="Cambria Math" panose="02040503050406030204" pitchFamily="18" charset="0"/>
                      </a:rPr>
                      <m:t>𝜏</m:t>
                    </m:r>
                    <m:r>
                      <a:rPr lang="en-US" altLang="zh-CN" sz="2200" i="1">
                        <a:solidFill>
                          <a:srgbClr val="000000"/>
                        </a:solidFill>
                        <a:latin typeface="Cambria Math" panose="02040503050406030204" pitchFamily="18" charset="0"/>
                      </a:rPr>
                      <m:t> =</m:t>
                    </m:r>
                    <m:r>
                      <a:rPr lang="en-US" altLang="zh-CN" sz="2200" i="1">
                        <a:solidFill>
                          <a:srgbClr val="000000"/>
                        </a:solidFill>
                        <a:latin typeface="Cambria Math" panose="02040503050406030204" pitchFamily="18" charset="0"/>
                      </a:rPr>
                      <m:t>𝑡</m:t>
                    </m:r>
                    <m:r>
                      <a:rPr lang="en-US" altLang="zh-CN" sz="2200" i="1">
                        <a:solidFill>
                          <a:srgbClr val="000000"/>
                        </a:solidFill>
                        <a:latin typeface="Cambria Math" panose="02040503050406030204" pitchFamily="18" charset="0"/>
                      </a:rPr>
                      <m:t>−</m:t>
                    </m:r>
                    <m:sSup>
                      <m:sSupPr>
                        <m:ctrlPr>
                          <a:rPr lang="en-US" altLang="zh-CN" sz="2200" i="1">
                            <a:solidFill>
                              <a:srgbClr val="000000"/>
                            </a:solidFill>
                            <a:latin typeface="Cambria Math" panose="02040503050406030204" pitchFamily="18" charset="0"/>
                          </a:rPr>
                        </m:ctrlPr>
                      </m:sSupPr>
                      <m:e>
                        <m:r>
                          <a:rPr lang="en-US" altLang="zh-CN" sz="2200" i="1">
                            <a:solidFill>
                              <a:srgbClr val="000000"/>
                            </a:solidFill>
                            <a:latin typeface="Cambria Math" panose="02040503050406030204" pitchFamily="18" charset="0"/>
                          </a:rPr>
                          <m:t>𝜏</m:t>
                        </m:r>
                      </m:e>
                      <m:sup>
                        <m:r>
                          <a:rPr lang="en-US" altLang="zh-CN" sz="2200" i="1">
                            <a:solidFill>
                              <a:srgbClr val="000000"/>
                            </a:solidFill>
                            <a:latin typeface="Cambria Math" panose="02040503050406030204" pitchFamily="18" charset="0"/>
                          </a:rPr>
                          <m:t>′</m:t>
                        </m:r>
                      </m:sup>
                    </m:sSup>
                    <m:r>
                      <a:rPr lang="zh-CN" altLang="en-US" sz="2200" i="1" smtClean="0">
                        <a:solidFill>
                          <a:srgbClr val="000000"/>
                        </a:solidFill>
                        <a:latin typeface="Cambria Math" panose="02040503050406030204" pitchFamily="18" charset="0"/>
                      </a:rPr>
                      <m:t>，</m:t>
                    </m:r>
                  </m:oMath>
                </a14:m>
                <a:r>
                  <a:rPr lang="en-US" altLang="zh-CN" sz="2200" dirty="0">
                    <a:solidFill>
                      <a:srgbClr val="000000"/>
                    </a:solidFill>
                    <a:latin typeface="Cambria Math" panose="02040503050406030204" pitchFamily="18" charset="0"/>
                  </a:rPr>
                  <a:t> d</a:t>
                </a:r>
                <a:r>
                  <a:rPr lang="en-US" altLang="zh-CN" sz="2200" dirty="0">
                    <a:solidFill>
                      <a:srgbClr val="000000"/>
                    </a:solidFill>
                  </a:rPr>
                  <a:t> </a:t>
                </a:r>
                <a14:m>
                  <m:oMath xmlns:m="http://schemas.openxmlformats.org/officeDocument/2006/math">
                    <m:r>
                      <a:rPr lang="en-US" altLang="zh-CN" sz="2200" i="1">
                        <a:solidFill>
                          <a:srgbClr val="000000"/>
                        </a:solidFill>
                        <a:latin typeface="Cambria Math" panose="02040503050406030204" pitchFamily="18" charset="0"/>
                      </a:rPr>
                      <m:t>𝜏</m:t>
                    </m:r>
                    <m:r>
                      <a:rPr lang="en-US" altLang="zh-CN" sz="2200" i="1">
                        <a:solidFill>
                          <a:srgbClr val="000000"/>
                        </a:solidFill>
                        <a:latin typeface="Cambria Math" panose="02040503050406030204" pitchFamily="18" charset="0"/>
                      </a:rPr>
                      <m:t> =</m:t>
                    </m:r>
                  </m:oMath>
                </a14:m>
                <a:r>
                  <a:rPr lang="en-US" altLang="zh-CN" sz="2200" dirty="0">
                    <a:solidFill>
                      <a:srgbClr val="000000"/>
                    </a:solidFill>
                  </a:rPr>
                  <a:t> </a:t>
                </a:r>
                <a14:m>
                  <m:oMath xmlns:m="http://schemas.openxmlformats.org/officeDocument/2006/math">
                    <m:r>
                      <a:rPr lang="en-US" altLang="zh-CN" sz="2200" i="1">
                        <a:solidFill>
                          <a:srgbClr val="000000"/>
                        </a:solidFill>
                        <a:latin typeface="Cambria Math" panose="02040503050406030204" pitchFamily="18" charset="0"/>
                      </a:rPr>
                      <m:t>− </m:t>
                    </m:r>
                  </m:oMath>
                </a14:m>
                <a:r>
                  <a:rPr lang="en-US" altLang="zh-CN" sz="2200" dirty="0">
                    <a:solidFill>
                      <a:srgbClr val="000000"/>
                    </a:solidFill>
                    <a:latin typeface="Cambria Math" panose="02040503050406030204" pitchFamily="18" charset="0"/>
                  </a:rPr>
                  <a:t>d</a:t>
                </a:r>
                <a:r>
                  <a:rPr lang="en-US" altLang="zh-CN" sz="2200" dirty="0">
                    <a:solidFill>
                      <a:srgbClr val="000000"/>
                    </a:solidFill>
                  </a:rPr>
                  <a:t> </a:t>
                </a:r>
                <a14:m>
                  <m:oMath xmlns:m="http://schemas.openxmlformats.org/officeDocument/2006/math">
                    <m:sSup>
                      <m:sSupPr>
                        <m:ctrlPr>
                          <a:rPr lang="en-US" altLang="zh-CN" sz="2200" i="1">
                            <a:solidFill>
                              <a:srgbClr val="000000"/>
                            </a:solidFill>
                            <a:latin typeface="Cambria Math" panose="02040503050406030204" pitchFamily="18" charset="0"/>
                          </a:rPr>
                        </m:ctrlPr>
                      </m:sSupPr>
                      <m:e>
                        <m:r>
                          <a:rPr lang="en-US" altLang="zh-CN" sz="2200" i="1">
                            <a:solidFill>
                              <a:srgbClr val="000000"/>
                            </a:solidFill>
                            <a:latin typeface="Cambria Math" panose="02040503050406030204" pitchFamily="18" charset="0"/>
                          </a:rPr>
                          <m:t>𝜏</m:t>
                        </m:r>
                      </m:e>
                      <m:sup>
                        <m:r>
                          <a:rPr lang="en-US" altLang="zh-CN" sz="2200" i="1">
                            <a:solidFill>
                              <a:srgbClr val="000000"/>
                            </a:solidFill>
                            <a:latin typeface="Cambria Math" panose="02040503050406030204" pitchFamily="18" charset="0"/>
                          </a:rPr>
                          <m:t>′</m:t>
                        </m:r>
                      </m:sup>
                    </m:sSup>
                  </m:oMath>
                </a14:m>
                <a:r>
                  <a:rPr lang="zh-CN" altLang="en-US" sz="2200" i="1" dirty="0" smtClean="0">
                    <a:solidFill>
                      <a:srgbClr val="000000"/>
                    </a:solidFill>
                    <a:latin typeface="Cambria Math" panose="02040503050406030204" pitchFamily="18" charset="0"/>
                  </a:rPr>
                  <a:t>，</a:t>
                </a:r>
                <a:r>
                  <a:rPr lang="en-US" altLang="zh-CN" sz="2200" dirty="0" smtClean="0">
                    <a:solidFill>
                      <a:srgbClr val="000000"/>
                    </a:solidFill>
                  </a:rPr>
                  <a:t> </a:t>
                </a:r>
                <a:endParaRPr lang="en-US" altLang="zh-CN" sz="2200" i="1" dirty="0" smtClean="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nor/>
                        </m:rPr>
                        <a:rPr lang="zh-CN" altLang="en-US" sz="2200" dirty="0"/>
                        <m:t>于是</m:t>
                      </m:r>
                      <m:r>
                        <m:rPr>
                          <m:nor/>
                        </m:rPr>
                        <a:rPr lang="en-US" altLang="zh-CN" sz="2200" b="0" i="0" dirty="0" smtClean="0"/>
                        <m:t> </m:t>
                      </m:r>
                      <m:r>
                        <a:rPr lang="en-US" altLang="zh-CN" sz="2200" i="1">
                          <a:solidFill>
                            <a:srgbClr val="FF0000"/>
                          </a:solidFill>
                          <a:latin typeface="Cambria Math" panose="02040503050406030204" pitchFamily="18" charset="0"/>
                        </a:rPr>
                        <m:t>𝑥</m:t>
                      </m:r>
                      <m:d>
                        <m:dPr>
                          <m:ctrlPr>
                            <a:rPr lang="en-US" altLang="zh-CN" sz="2200" i="1">
                              <a:solidFill>
                                <a:srgbClr val="FF0000"/>
                              </a:solidFill>
                              <a:latin typeface="Cambria Math" panose="02040503050406030204" pitchFamily="18" charset="0"/>
                            </a:rPr>
                          </m:ctrlPr>
                        </m:dPr>
                        <m:e>
                          <m:r>
                            <a:rPr lang="en-US" altLang="zh-CN" sz="2200" i="1">
                              <a:solidFill>
                                <a:srgbClr val="FF0000"/>
                              </a:solidFill>
                              <a:latin typeface="Cambria Math" panose="02040503050406030204" pitchFamily="18" charset="0"/>
                            </a:rPr>
                            <m:t>𝑡</m:t>
                          </m:r>
                        </m:e>
                      </m:d>
                      <m:r>
                        <a:rPr lang="en-US" altLang="zh-CN" sz="2200" i="1">
                          <a:solidFill>
                            <a:srgbClr val="FF0000"/>
                          </a:solidFill>
                          <a:latin typeface="Cambria Math" panose="02040503050406030204" pitchFamily="18" charset="0"/>
                        </a:rPr>
                        <m:t>∗</m:t>
                      </m:r>
                      <m:r>
                        <a:rPr lang="en-US" altLang="zh-CN" sz="2200" i="1">
                          <a:solidFill>
                            <a:srgbClr val="FF0000"/>
                          </a:solidFill>
                          <a:latin typeface="Cambria Math" panose="02040503050406030204" pitchFamily="18" charset="0"/>
                        </a:rPr>
                        <m:t>h</m:t>
                      </m:r>
                      <m:d>
                        <m:dPr>
                          <m:ctrlPr>
                            <a:rPr lang="en-US" altLang="zh-CN" sz="2200" i="1">
                              <a:solidFill>
                                <a:srgbClr val="FF0000"/>
                              </a:solidFill>
                              <a:latin typeface="Cambria Math" panose="02040503050406030204" pitchFamily="18" charset="0"/>
                            </a:rPr>
                          </m:ctrlPr>
                        </m:dPr>
                        <m:e>
                          <m:r>
                            <a:rPr lang="en-US" altLang="zh-CN" sz="2200" i="1">
                              <a:solidFill>
                                <a:srgbClr val="FF0000"/>
                              </a:solidFill>
                              <a:latin typeface="Cambria Math" panose="02040503050406030204" pitchFamily="18" charset="0"/>
                            </a:rPr>
                            <m:t>𝑡</m:t>
                          </m:r>
                        </m:e>
                      </m:d>
                      <m:r>
                        <a:rPr lang="en-US" altLang="zh-CN" sz="2200" i="1">
                          <a:solidFill>
                            <a:srgbClr val="000000"/>
                          </a:solidFill>
                          <a:latin typeface="Cambria Math" panose="02040503050406030204" pitchFamily="18" charset="0"/>
                        </a:rPr>
                        <m:t>=</m:t>
                      </m:r>
                      <m:nary>
                        <m:naryPr>
                          <m:ctrlPr>
                            <a:rPr lang="en-US" altLang="zh-CN" sz="2200" i="1">
                              <a:solidFill>
                                <a:srgbClr val="000000"/>
                              </a:solidFill>
                              <a:latin typeface="Cambria Math" panose="02040503050406030204" pitchFamily="18" charset="0"/>
                            </a:rPr>
                          </m:ctrlPr>
                        </m:naryPr>
                        <m:sub>
                          <m:r>
                            <a:rPr lang="en-US" altLang="zh-CN" sz="2200" i="1">
                              <a:solidFill>
                                <a:srgbClr val="000000"/>
                              </a:solidFill>
                              <a:latin typeface="Cambria Math" panose="02040503050406030204" pitchFamily="18" charset="0"/>
                            </a:rPr>
                            <m:t>−∞</m:t>
                          </m:r>
                        </m:sub>
                        <m:sup>
                          <m:r>
                            <a:rPr lang="en-US" altLang="zh-CN" sz="2200" i="1">
                              <a:solidFill>
                                <a:srgbClr val="000000"/>
                              </a:solidFill>
                              <a:latin typeface="Cambria Math" panose="02040503050406030204" pitchFamily="18" charset="0"/>
                            </a:rPr>
                            <m:t>∞</m:t>
                          </m:r>
                        </m:sup>
                        <m:e>
                          <m:r>
                            <a:rPr lang="en-US" altLang="zh-CN" sz="2200" i="1">
                              <a:solidFill>
                                <a:srgbClr val="000000"/>
                              </a:solidFill>
                              <a:latin typeface="Cambria Math" panose="02040503050406030204" pitchFamily="18" charset="0"/>
                            </a:rPr>
                            <m:t>𝑥</m:t>
                          </m:r>
                          <m:r>
                            <a:rPr lang="en-US" altLang="zh-CN" sz="2200" i="1">
                              <a:solidFill>
                                <a:srgbClr val="000000"/>
                              </a:solidFill>
                              <a:latin typeface="Cambria Math" panose="02040503050406030204" pitchFamily="18" charset="0"/>
                            </a:rPr>
                            <m:t>(</m:t>
                          </m:r>
                          <m:r>
                            <a:rPr lang="en-US" altLang="zh-CN" sz="2200" i="1">
                              <a:solidFill>
                                <a:srgbClr val="000000"/>
                              </a:solidFill>
                              <a:latin typeface="Cambria Math" panose="02040503050406030204" pitchFamily="18" charset="0"/>
                            </a:rPr>
                            <m:t>𝑡</m:t>
                          </m:r>
                          <m:r>
                            <a:rPr lang="en-US" altLang="zh-CN" sz="2200" i="1">
                              <a:solidFill>
                                <a:srgbClr val="000000"/>
                              </a:solidFill>
                              <a:latin typeface="Cambria Math" panose="02040503050406030204" pitchFamily="18" charset="0"/>
                            </a:rPr>
                            <m:t>−</m:t>
                          </m:r>
                          <m:sSup>
                            <m:sSupPr>
                              <m:ctrlPr>
                                <a:rPr lang="en-US" altLang="zh-CN" sz="2200" i="1">
                                  <a:solidFill>
                                    <a:srgbClr val="000000"/>
                                  </a:solidFill>
                                  <a:latin typeface="Cambria Math" panose="02040503050406030204" pitchFamily="18" charset="0"/>
                                </a:rPr>
                              </m:ctrlPr>
                            </m:sSupPr>
                            <m:e>
                              <m:r>
                                <a:rPr lang="en-US" altLang="zh-CN" sz="2200" i="1">
                                  <a:solidFill>
                                    <a:srgbClr val="000000"/>
                                  </a:solidFill>
                                  <a:latin typeface="Cambria Math" panose="02040503050406030204" pitchFamily="18" charset="0"/>
                                </a:rPr>
                                <m:t>𝜏</m:t>
                              </m:r>
                            </m:e>
                            <m:sup>
                              <m:r>
                                <a:rPr lang="en-US" altLang="zh-CN" sz="2200" i="1">
                                  <a:solidFill>
                                    <a:srgbClr val="000000"/>
                                  </a:solidFill>
                                  <a:latin typeface="Cambria Math" panose="02040503050406030204" pitchFamily="18" charset="0"/>
                                </a:rPr>
                                <m:t>′</m:t>
                              </m:r>
                            </m:sup>
                          </m:sSup>
                          <m:r>
                            <a:rPr lang="en-US" altLang="zh-CN" sz="2200" i="1">
                              <a:solidFill>
                                <a:srgbClr val="000000"/>
                              </a:solidFill>
                              <a:latin typeface="Cambria Math" panose="02040503050406030204" pitchFamily="18" charset="0"/>
                            </a:rPr>
                            <m:t>)</m:t>
                          </m:r>
                          <m:r>
                            <a:rPr lang="en-US" altLang="zh-CN" sz="2200" i="1">
                              <a:solidFill>
                                <a:srgbClr val="000000"/>
                              </a:solidFill>
                              <a:latin typeface="Cambria Math" panose="02040503050406030204" pitchFamily="18" charset="0"/>
                            </a:rPr>
                            <m:t>h</m:t>
                          </m:r>
                          <m:r>
                            <a:rPr lang="en-US" altLang="zh-CN" sz="2200" i="1">
                              <a:solidFill>
                                <a:srgbClr val="000000"/>
                              </a:solidFill>
                              <a:latin typeface="Cambria Math" panose="02040503050406030204" pitchFamily="18" charset="0"/>
                            </a:rPr>
                            <m:t>(</m:t>
                          </m:r>
                          <m:sSup>
                            <m:sSupPr>
                              <m:ctrlPr>
                                <a:rPr lang="en-US" altLang="zh-CN" sz="2200" i="1">
                                  <a:solidFill>
                                    <a:srgbClr val="000000"/>
                                  </a:solidFill>
                                  <a:latin typeface="Cambria Math" panose="02040503050406030204" pitchFamily="18" charset="0"/>
                                </a:rPr>
                              </m:ctrlPr>
                            </m:sSupPr>
                            <m:e>
                              <m:r>
                                <a:rPr lang="en-US" altLang="zh-CN" sz="2200" i="1">
                                  <a:solidFill>
                                    <a:srgbClr val="000000"/>
                                  </a:solidFill>
                                  <a:latin typeface="Cambria Math" panose="02040503050406030204" pitchFamily="18" charset="0"/>
                                </a:rPr>
                                <m:t>𝜏</m:t>
                              </m:r>
                            </m:e>
                            <m:sup>
                              <m:r>
                                <a:rPr lang="en-US" altLang="zh-CN" sz="2200" i="1">
                                  <a:solidFill>
                                    <a:srgbClr val="000000"/>
                                  </a:solidFill>
                                  <a:latin typeface="Cambria Math" panose="02040503050406030204" pitchFamily="18" charset="0"/>
                                </a:rPr>
                                <m:t>′</m:t>
                              </m:r>
                            </m:sup>
                          </m:sSup>
                          <m:r>
                            <a:rPr lang="en-US" altLang="zh-CN" sz="2200" i="1">
                              <a:solidFill>
                                <a:srgbClr val="000000"/>
                              </a:solidFill>
                              <a:latin typeface="Cambria Math" panose="02040503050406030204" pitchFamily="18" charset="0"/>
                            </a:rPr>
                            <m:t>)</m:t>
                          </m:r>
                          <m:r>
                            <a:rPr lang="en-US" altLang="zh-CN" sz="2200" i="1">
                              <a:solidFill>
                                <a:srgbClr val="000000"/>
                              </a:solidFill>
                              <a:latin typeface="Cambria Math" panose="02040503050406030204" pitchFamily="18" charset="0"/>
                            </a:rPr>
                            <m:t>𝑑</m:t>
                          </m:r>
                          <m:sSup>
                            <m:sSupPr>
                              <m:ctrlPr>
                                <a:rPr lang="en-US" altLang="zh-CN" sz="2200" i="1">
                                  <a:solidFill>
                                    <a:srgbClr val="000000"/>
                                  </a:solidFill>
                                  <a:latin typeface="Cambria Math" panose="02040503050406030204" pitchFamily="18" charset="0"/>
                                </a:rPr>
                              </m:ctrlPr>
                            </m:sSupPr>
                            <m:e>
                              <m:r>
                                <a:rPr lang="en-US" altLang="zh-CN" sz="2200" i="1">
                                  <a:solidFill>
                                    <a:srgbClr val="000000"/>
                                  </a:solidFill>
                                  <a:latin typeface="Cambria Math" panose="02040503050406030204" pitchFamily="18" charset="0"/>
                                </a:rPr>
                                <m:t>𝜏</m:t>
                              </m:r>
                            </m:e>
                            <m:sup>
                              <m:r>
                                <a:rPr lang="en-US" altLang="zh-CN" sz="2200" i="1">
                                  <a:solidFill>
                                    <a:srgbClr val="000000"/>
                                  </a:solidFill>
                                  <a:latin typeface="Cambria Math" panose="02040503050406030204" pitchFamily="18" charset="0"/>
                                </a:rPr>
                                <m:t>′</m:t>
                              </m:r>
                            </m:sup>
                          </m:sSup>
                        </m:e>
                      </m:nary>
                      <m:r>
                        <a:rPr lang="en-US" altLang="zh-CN" sz="2200" i="1">
                          <a:solidFill>
                            <a:srgbClr val="000000"/>
                          </a:solidFill>
                          <a:latin typeface="Cambria Math" panose="02040503050406030204" pitchFamily="18" charset="0"/>
                        </a:rPr>
                        <m:t>=</m:t>
                      </m:r>
                      <m:r>
                        <a:rPr lang="en-US" altLang="zh-CN" sz="2200" i="1">
                          <a:solidFill>
                            <a:srgbClr val="FF0000"/>
                          </a:solidFill>
                          <a:latin typeface="Cambria Math" panose="02040503050406030204" pitchFamily="18" charset="0"/>
                        </a:rPr>
                        <m:t>h</m:t>
                      </m:r>
                      <m:d>
                        <m:dPr>
                          <m:ctrlPr>
                            <a:rPr lang="en-US" altLang="zh-CN" sz="2200" i="1">
                              <a:solidFill>
                                <a:srgbClr val="FF0000"/>
                              </a:solidFill>
                              <a:latin typeface="Cambria Math" panose="02040503050406030204" pitchFamily="18" charset="0"/>
                            </a:rPr>
                          </m:ctrlPr>
                        </m:dPr>
                        <m:e>
                          <m:r>
                            <a:rPr lang="en-US" altLang="zh-CN" sz="2200" i="1">
                              <a:solidFill>
                                <a:srgbClr val="FF0000"/>
                              </a:solidFill>
                              <a:latin typeface="Cambria Math" panose="02040503050406030204" pitchFamily="18" charset="0"/>
                            </a:rPr>
                            <m:t>𝑡</m:t>
                          </m:r>
                        </m:e>
                      </m:d>
                      <m:r>
                        <a:rPr lang="en-US" altLang="zh-CN" sz="2200" i="1">
                          <a:solidFill>
                            <a:srgbClr val="FF0000"/>
                          </a:solidFill>
                          <a:latin typeface="Cambria Math" panose="02040503050406030204" pitchFamily="18" charset="0"/>
                        </a:rPr>
                        <m:t>∗</m:t>
                      </m:r>
                      <m:r>
                        <a:rPr lang="en-US" altLang="zh-CN" sz="2200" i="1">
                          <a:solidFill>
                            <a:srgbClr val="FF0000"/>
                          </a:solidFill>
                          <a:latin typeface="Cambria Math" panose="02040503050406030204" pitchFamily="18" charset="0"/>
                        </a:rPr>
                        <m:t>𝑥</m:t>
                      </m:r>
                      <m:d>
                        <m:dPr>
                          <m:ctrlPr>
                            <a:rPr lang="en-US" altLang="zh-CN" sz="2200" i="1">
                              <a:solidFill>
                                <a:srgbClr val="FF0000"/>
                              </a:solidFill>
                              <a:latin typeface="Cambria Math" panose="02040503050406030204" pitchFamily="18" charset="0"/>
                            </a:rPr>
                          </m:ctrlPr>
                        </m:dPr>
                        <m:e>
                          <m:r>
                            <a:rPr lang="en-US" altLang="zh-CN" sz="2200" i="1">
                              <a:solidFill>
                                <a:srgbClr val="FF0000"/>
                              </a:solidFill>
                              <a:latin typeface="Cambria Math" panose="02040503050406030204" pitchFamily="18" charset="0"/>
                            </a:rPr>
                            <m:t>𝑡</m:t>
                          </m:r>
                        </m:e>
                      </m:d>
                    </m:oMath>
                  </m:oMathPara>
                </a14:m>
                <a:endParaRPr lang="en-US" sz="2200" dirty="0"/>
              </a:p>
            </p:txBody>
          </p:sp>
        </mc:Choice>
        <mc:Fallback xmlns="">
          <p:sp>
            <p:nvSpPr>
              <p:cNvPr id="31750" name="Object 6">
                <a:extLst>
                  <a:ext uri="{FF2B5EF4-FFF2-40B4-BE49-F238E27FC236}">
                    <a16:creationId xmlns:a16="http://schemas.microsoft.com/office/drawing/2014/main" id="{F7241C43-4525-4B58-9281-1FCA3C520F0A}"/>
                  </a:ext>
                </a:extLst>
              </p:cNvPr>
              <p:cNvSpPr txBox="1">
                <a:spLocks noRot="1" noChangeAspect="1" noMove="1" noResize="1" noEditPoints="1" noAdjustHandles="1" noChangeArrowheads="1" noChangeShapeType="1" noTextEdit="1"/>
              </p:cNvSpPr>
              <p:nvPr/>
            </p:nvSpPr>
            <p:spPr bwMode="auto">
              <a:xfrm>
                <a:off x="971600" y="1882260"/>
                <a:ext cx="7934368" cy="1590500"/>
              </a:xfrm>
              <a:prstGeom prst="rect">
                <a:avLst/>
              </a:prstGeom>
              <a:blipFill>
                <a:blip r:embed="rId2"/>
                <a:stretch>
                  <a:fillRect l="-998" t="-1533"/>
                </a:stretch>
              </a:blipFill>
              <a:ln>
                <a:noFill/>
              </a:ln>
              <a:effectLst/>
            </p:spPr>
            <p:txBody>
              <a:bodyPr/>
              <a:lstStyle/>
              <a:p>
                <a:r>
                  <a:rPr lang="zh-CN" altLang="en-US">
                    <a:noFill/>
                  </a:rPr>
                  <a:t> </a:t>
                </a:r>
              </a:p>
            </p:txBody>
          </p:sp>
        </mc:Fallback>
      </mc:AlternateContent>
      <p:grpSp>
        <p:nvGrpSpPr>
          <p:cNvPr id="34841" name="Group 10">
            <a:extLst>
              <a:ext uri="{FF2B5EF4-FFF2-40B4-BE49-F238E27FC236}">
                <a16:creationId xmlns:a16="http://schemas.microsoft.com/office/drawing/2014/main" id="{E0EC7708-B272-40A4-B30B-49EBF90B1DD2}"/>
              </a:ext>
            </a:extLst>
          </p:cNvPr>
          <p:cNvGrpSpPr>
            <a:grpSpLocks/>
          </p:cNvGrpSpPr>
          <p:nvPr/>
        </p:nvGrpSpPr>
        <p:grpSpPr bwMode="auto">
          <a:xfrm>
            <a:off x="1729475" y="4653136"/>
            <a:ext cx="6000750" cy="1213006"/>
            <a:chOff x="884" y="885"/>
            <a:chExt cx="3929" cy="848"/>
          </a:xfrm>
        </p:grpSpPr>
        <mc:AlternateContent xmlns:mc="http://schemas.openxmlformats.org/markup-compatibility/2006" xmlns:a14="http://schemas.microsoft.com/office/drawing/2010/main">
          <mc:Choice Requires="a14">
            <p:sp>
              <p:nvSpPr>
                <p:cNvPr id="34824" name="Object 11">
                  <a:extLst>
                    <a:ext uri="{FF2B5EF4-FFF2-40B4-BE49-F238E27FC236}">
                      <a16:creationId xmlns:a16="http://schemas.microsoft.com/office/drawing/2014/main" id="{940B8DC0-50D9-4482-8A8A-5753BDA5A1FB}"/>
                    </a:ext>
                  </a:extLst>
                </p:cNvPr>
                <p:cNvSpPr txBox="1"/>
                <p:nvPr/>
              </p:nvSpPr>
              <p:spPr bwMode="auto">
                <a:xfrm>
                  <a:off x="914" y="894"/>
                  <a:ext cx="430" cy="33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200" i="1">
                            <a:solidFill>
                              <a:srgbClr val="000000"/>
                            </a:solidFill>
                            <a:latin typeface="Cambria Math" panose="02040503050406030204" pitchFamily="18" charset="0"/>
                          </a:rPr>
                          <m:t>𝑥</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𝑡</m:t>
                        </m:r>
                        <m:r>
                          <a:rPr lang="en-US" sz="2200" i="1">
                            <a:solidFill>
                              <a:srgbClr val="000000"/>
                            </a:solidFill>
                            <a:latin typeface="Cambria Math" panose="02040503050406030204" pitchFamily="18" charset="0"/>
                          </a:rPr>
                          <m:t>)</m:t>
                        </m:r>
                      </m:oMath>
                    </m:oMathPara>
                  </a14:m>
                  <a:endParaRPr lang="en-US" sz="2200"/>
                </a:p>
              </p:txBody>
            </p:sp>
          </mc:Choice>
          <mc:Fallback xmlns="">
            <p:sp>
              <p:nvSpPr>
                <p:cNvPr id="34824" name="Object 11">
                  <a:extLst>
                    <a:ext uri="{FF2B5EF4-FFF2-40B4-BE49-F238E27FC236}">
                      <a16:creationId xmlns:a16="http://schemas.microsoft.com/office/drawing/2014/main" id="{940B8DC0-50D9-4482-8A8A-5753BDA5A1FB}"/>
                    </a:ext>
                  </a:extLst>
                </p:cNvPr>
                <p:cNvSpPr txBox="1">
                  <a:spLocks noRot="1" noChangeAspect="1" noMove="1" noResize="1" noEditPoints="1" noAdjustHandles="1" noChangeArrowheads="1" noChangeShapeType="1" noTextEdit="1"/>
                </p:cNvSpPr>
                <p:nvPr/>
              </p:nvSpPr>
              <p:spPr bwMode="auto">
                <a:xfrm>
                  <a:off x="914" y="894"/>
                  <a:ext cx="430" cy="335"/>
                </a:xfrm>
                <a:prstGeom prst="rect">
                  <a:avLst/>
                </a:prstGeom>
                <a:blipFill>
                  <a:blip r:embed="rId4"/>
                  <a:stretch>
                    <a:fillRect r="-11111" b="-6329"/>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25" name="Object 12">
                  <a:extLst>
                    <a:ext uri="{FF2B5EF4-FFF2-40B4-BE49-F238E27FC236}">
                      <a16:creationId xmlns:a16="http://schemas.microsoft.com/office/drawing/2014/main" id="{359CE8DB-FF82-4510-AB0B-652F6A1C4679}"/>
                    </a:ext>
                  </a:extLst>
                </p:cNvPr>
                <p:cNvSpPr txBox="1"/>
                <p:nvPr/>
              </p:nvSpPr>
              <p:spPr bwMode="auto">
                <a:xfrm>
                  <a:off x="2067" y="894"/>
                  <a:ext cx="449" cy="33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200" i="1">
                            <a:solidFill>
                              <a:srgbClr val="000000"/>
                            </a:solidFill>
                            <a:latin typeface="Cambria Math" panose="02040503050406030204" pitchFamily="18" charset="0"/>
                          </a:rPr>
                          <m:t>𝑦</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𝑡</m:t>
                        </m:r>
                        <m:r>
                          <a:rPr lang="en-US" sz="2200" i="1">
                            <a:solidFill>
                              <a:srgbClr val="000000"/>
                            </a:solidFill>
                            <a:latin typeface="Cambria Math" panose="02040503050406030204" pitchFamily="18" charset="0"/>
                          </a:rPr>
                          <m:t>)</m:t>
                        </m:r>
                      </m:oMath>
                    </m:oMathPara>
                  </a14:m>
                  <a:endParaRPr lang="en-US" sz="2200" dirty="0"/>
                </a:p>
              </p:txBody>
            </p:sp>
          </mc:Choice>
          <mc:Fallback xmlns="">
            <p:sp>
              <p:nvSpPr>
                <p:cNvPr id="34825" name="Object 12">
                  <a:extLst>
                    <a:ext uri="{FF2B5EF4-FFF2-40B4-BE49-F238E27FC236}">
                      <a16:creationId xmlns:a16="http://schemas.microsoft.com/office/drawing/2014/main" id="{359CE8DB-FF82-4510-AB0B-652F6A1C4679}"/>
                    </a:ext>
                  </a:extLst>
                </p:cNvPr>
                <p:cNvSpPr txBox="1">
                  <a:spLocks noRot="1" noChangeAspect="1" noMove="1" noResize="1" noEditPoints="1" noAdjustHandles="1" noChangeArrowheads="1" noChangeShapeType="1" noTextEdit="1"/>
                </p:cNvSpPr>
                <p:nvPr/>
              </p:nvSpPr>
              <p:spPr bwMode="auto">
                <a:xfrm>
                  <a:off x="2067" y="894"/>
                  <a:ext cx="449" cy="335"/>
                </a:xfrm>
                <a:prstGeom prst="rect">
                  <a:avLst/>
                </a:prstGeom>
                <a:blipFill>
                  <a:blip r:embed="rId5"/>
                  <a:stretch>
                    <a:fillRect l="-885" r="-6195" b="-6329"/>
                  </a:stretch>
                </a:blipFill>
                <a:ln>
                  <a:noFill/>
                </a:ln>
                <a:effectLst/>
              </p:spPr>
              <p:txBody>
                <a:bodyPr/>
                <a:lstStyle/>
                <a:p>
                  <a:r>
                    <a:rPr lang="en-US">
                      <a:noFill/>
                    </a:rPr>
                    <a:t> </a:t>
                  </a:r>
                </a:p>
              </p:txBody>
            </p:sp>
          </mc:Fallback>
        </mc:AlternateContent>
        <p:grpSp>
          <p:nvGrpSpPr>
            <p:cNvPr id="34842" name="Group 13">
              <a:extLst>
                <a:ext uri="{FF2B5EF4-FFF2-40B4-BE49-F238E27FC236}">
                  <a16:creationId xmlns:a16="http://schemas.microsoft.com/office/drawing/2014/main" id="{0E6AA8BC-1D34-4DDC-A08D-028BDC90429D}"/>
                </a:ext>
              </a:extLst>
            </p:cNvPr>
            <p:cNvGrpSpPr>
              <a:grpSpLocks/>
            </p:cNvGrpSpPr>
            <p:nvPr/>
          </p:nvGrpSpPr>
          <p:grpSpPr bwMode="auto">
            <a:xfrm>
              <a:off x="914" y="987"/>
              <a:ext cx="1634" cy="412"/>
              <a:chOff x="612" y="348"/>
              <a:chExt cx="1542" cy="364"/>
            </a:xfrm>
          </p:grpSpPr>
          <p:grpSp>
            <p:nvGrpSpPr>
              <p:cNvPr id="34852" name="Group 14">
                <a:extLst>
                  <a:ext uri="{FF2B5EF4-FFF2-40B4-BE49-F238E27FC236}">
                    <a16:creationId xmlns:a16="http://schemas.microsoft.com/office/drawing/2014/main" id="{86FA8ADC-C6CD-4920-ACE3-BA3D8CCC4E48}"/>
                  </a:ext>
                </a:extLst>
              </p:cNvPr>
              <p:cNvGrpSpPr>
                <a:grpSpLocks/>
              </p:cNvGrpSpPr>
              <p:nvPr/>
            </p:nvGrpSpPr>
            <p:grpSpPr bwMode="auto">
              <a:xfrm>
                <a:off x="612" y="348"/>
                <a:ext cx="1542" cy="364"/>
                <a:chOff x="612" y="620"/>
                <a:chExt cx="1542" cy="364"/>
              </a:xfrm>
            </p:grpSpPr>
            <p:sp>
              <p:nvSpPr>
                <p:cNvPr id="34853" name="Line 15">
                  <a:extLst>
                    <a:ext uri="{FF2B5EF4-FFF2-40B4-BE49-F238E27FC236}">
                      <a16:creationId xmlns:a16="http://schemas.microsoft.com/office/drawing/2014/main" id="{38A2C179-4F78-499F-8A00-86E22E64AD33}"/>
                    </a:ext>
                  </a:extLst>
                </p:cNvPr>
                <p:cNvSpPr>
                  <a:spLocks noChangeShapeType="1"/>
                </p:cNvSpPr>
                <p:nvPr/>
              </p:nvSpPr>
              <p:spPr bwMode="auto">
                <a:xfrm>
                  <a:off x="612" y="799"/>
                  <a:ext cx="454"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headEnd/>
                      <a:tailEnd type="triangle" w="med" len="med"/>
                    </a14:hiddenLine>
                  </a:ext>
                </a:extLst>
              </p:spPr>
              <p:txBody>
                <a:bodyPr/>
                <a:lstStyle/>
                <a:p>
                  <a:endParaRPr lang="en-US" sz="2200"/>
                </a:p>
              </p:txBody>
            </p:sp>
            <p:sp>
              <p:nvSpPr>
                <p:cNvPr id="34854" name="Rectangle 16">
                  <a:extLst>
                    <a:ext uri="{FF2B5EF4-FFF2-40B4-BE49-F238E27FC236}">
                      <a16:creationId xmlns:a16="http://schemas.microsoft.com/office/drawing/2014/main" id="{133CF386-4354-4CAE-97B2-576BC47BE28F}"/>
                    </a:ext>
                  </a:extLst>
                </p:cNvPr>
                <p:cNvSpPr>
                  <a:spLocks noChangeArrowheads="1"/>
                </p:cNvSpPr>
                <p:nvPr/>
              </p:nvSpPr>
              <p:spPr bwMode="auto">
                <a:xfrm>
                  <a:off x="1066" y="620"/>
                  <a:ext cx="635" cy="364"/>
                </a:xfrm>
                <a:prstGeom prst="rect">
                  <a:avLst/>
                </a:prstGeom>
                <a:solidFill>
                  <a:srgbClr val="00CCFF"/>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2200">
                    <a:latin typeface="Times New Roman" panose="02020603050405020304" pitchFamily="18" charset="0"/>
                  </a:endParaRPr>
                </a:p>
              </p:txBody>
            </p:sp>
            <p:sp>
              <p:nvSpPr>
                <p:cNvPr id="34855" name="Line 17">
                  <a:extLst>
                    <a:ext uri="{FF2B5EF4-FFF2-40B4-BE49-F238E27FC236}">
                      <a16:creationId xmlns:a16="http://schemas.microsoft.com/office/drawing/2014/main" id="{8B215E78-D3FE-4BD3-80C8-C9AEECA70DBD}"/>
                    </a:ext>
                  </a:extLst>
                </p:cNvPr>
                <p:cNvSpPr>
                  <a:spLocks noChangeShapeType="1"/>
                </p:cNvSpPr>
                <p:nvPr/>
              </p:nvSpPr>
              <p:spPr bwMode="auto">
                <a:xfrm>
                  <a:off x="1701" y="799"/>
                  <a:ext cx="45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headEnd/>
                      <a:tailEnd type="triangle" w="med" len="med"/>
                    </a14:hiddenLine>
                  </a:ext>
                </a:extLst>
              </p:spPr>
              <p:txBody>
                <a:bodyPr/>
                <a:lstStyle/>
                <a:p>
                  <a:endParaRPr lang="en-US" sz="2200"/>
                </a:p>
              </p:txBody>
            </p:sp>
          </p:grpSp>
          <mc:AlternateContent xmlns:mc="http://schemas.openxmlformats.org/markup-compatibility/2006" xmlns:a14="http://schemas.microsoft.com/office/drawing/2010/main">
            <mc:Choice Requires="a14">
              <p:sp>
                <p:nvSpPr>
                  <p:cNvPr id="34836" name="Object 18">
                    <a:extLst>
                      <a:ext uri="{FF2B5EF4-FFF2-40B4-BE49-F238E27FC236}">
                        <a16:creationId xmlns:a16="http://schemas.microsoft.com/office/drawing/2014/main" id="{BEE46342-0CC8-4017-AB64-F3BF3C3DC986}"/>
                      </a:ext>
                    </a:extLst>
                  </p:cNvPr>
                  <p:cNvSpPr txBox="1"/>
                  <p:nvPr/>
                </p:nvSpPr>
                <p:spPr bwMode="auto">
                  <a:xfrm>
                    <a:off x="1177" y="391"/>
                    <a:ext cx="406" cy="29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200" i="1">
                              <a:solidFill>
                                <a:srgbClr val="000000"/>
                              </a:solidFill>
                              <a:latin typeface="Cambria Math" panose="02040503050406030204" pitchFamily="18" charset="0"/>
                            </a:rPr>
                            <m:t>h</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𝑡</m:t>
                          </m:r>
                          <m:r>
                            <a:rPr lang="en-US" sz="2200" i="1">
                              <a:solidFill>
                                <a:srgbClr val="000000"/>
                              </a:solidFill>
                              <a:latin typeface="Cambria Math" panose="02040503050406030204" pitchFamily="18" charset="0"/>
                            </a:rPr>
                            <m:t>)</m:t>
                          </m:r>
                        </m:oMath>
                      </m:oMathPara>
                    </a14:m>
                    <a:endParaRPr lang="en-US" sz="2200" dirty="0"/>
                  </a:p>
                </p:txBody>
              </p:sp>
            </mc:Choice>
            <mc:Fallback xmlns="">
              <p:sp>
                <p:nvSpPr>
                  <p:cNvPr id="34836" name="Object 18">
                    <a:extLst>
                      <a:ext uri="{FF2B5EF4-FFF2-40B4-BE49-F238E27FC236}">
                        <a16:creationId xmlns:a16="http://schemas.microsoft.com/office/drawing/2014/main" id="{BEE46342-0CC8-4017-AB64-F3BF3C3DC986}"/>
                      </a:ext>
                    </a:extLst>
                  </p:cNvPr>
                  <p:cNvSpPr txBox="1">
                    <a:spLocks noRot="1" noChangeAspect="1" noMove="1" noResize="1" noEditPoints="1" noAdjustHandles="1" noChangeArrowheads="1" noChangeShapeType="1" noTextEdit="1"/>
                  </p:cNvSpPr>
                  <p:nvPr/>
                </p:nvSpPr>
                <p:spPr bwMode="auto">
                  <a:xfrm>
                    <a:off x="1177" y="391"/>
                    <a:ext cx="406" cy="295"/>
                  </a:xfrm>
                  <a:prstGeom prst="rect">
                    <a:avLst/>
                  </a:prstGeom>
                  <a:blipFill>
                    <a:blip r:embed="rId6"/>
                    <a:stretch>
                      <a:fillRect l="-926" r="-11111" b="-6329"/>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4826" name="Object 19">
                  <a:extLst>
                    <a:ext uri="{FF2B5EF4-FFF2-40B4-BE49-F238E27FC236}">
                      <a16:creationId xmlns:a16="http://schemas.microsoft.com/office/drawing/2014/main" id="{ADBEDF54-D720-471E-82C4-61363EAE2F4B}"/>
                    </a:ext>
                  </a:extLst>
                </p:cNvPr>
                <p:cNvSpPr txBox="1"/>
                <p:nvPr/>
              </p:nvSpPr>
              <p:spPr bwMode="auto">
                <a:xfrm>
                  <a:off x="914" y="1202"/>
                  <a:ext cx="488" cy="33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200" i="1" smtClean="0">
                            <a:solidFill>
                              <a:srgbClr val="0000FF"/>
                            </a:solidFill>
                            <a:latin typeface="Cambria Math" panose="02040503050406030204" pitchFamily="18" charset="0"/>
                          </a:rPr>
                          <m:t>𝑥</m:t>
                        </m:r>
                        <m:r>
                          <a:rPr lang="en-US" sz="2200" b="0" i="1" smtClean="0">
                            <a:solidFill>
                              <a:srgbClr val="0000FF"/>
                            </a:solidFill>
                            <a:latin typeface="Cambria Math" panose="02040503050406030204" pitchFamily="18" charset="0"/>
                          </a:rPr>
                          <m:t>[</m:t>
                        </m:r>
                        <m:r>
                          <a:rPr lang="en-US" sz="2200" i="1">
                            <a:solidFill>
                              <a:srgbClr val="0000FF"/>
                            </a:solidFill>
                            <a:latin typeface="Cambria Math" panose="02040503050406030204" pitchFamily="18" charset="0"/>
                          </a:rPr>
                          <m:t>𝑛</m:t>
                        </m:r>
                        <m:r>
                          <a:rPr lang="en-US" sz="2200" b="0" i="1" smtClean="0">
                            <a:solidFill>
                              <a:srgbClr val="0000FF"/>
                            </a:solidFill>
                            <a:latin typeface="Cambria Math" panose="02040503050406030204" pitchFamily="18" charset="0"/>
                          </a:rPr>
                          <m:t>]</m:t>
                        </m:r>
                      </m:oMath>
                    </m:oMathPara>
                  </a14:m>
                  <a:endParaRPr lang="en-US" sz="2200" dirty="0"/>
                </a:p>
              </p:txBody>
            </p:sp>
          </mc:Choice>
          <mc:Fallback xmlns="">
            <p:sp>
              <p:nvSpPr>
                <p:cNvPr id="34826" name="Object 19">
                  <a:extLst>
                    <a:ext uri="{FF2B5EF4-FFF2-40B4-BE49-F238E27FC236}">
                      <a16:creationId xmlns:a16="http://schemas.microsoft.com/office/drawing/2014/main" id="{ADBEDF54-D720-471E-82C4-61363EAE2F4B}"/>
                    </a:ext>
                  </a:extLst>
                </p:cNvPr>
                <p:cNvSpPr txBox="1">
                  <a:spLocks noRot="1" noChangeAspect="1" noMove="1" noResize="1" noEditPoints="1" noAdjustHandles="1" noChangeArrowheads="1" noChangeShapeType="1" noTextEdit="1"/>
                </p:cNvSpPr>
                <p:nvPr/>
              </p:nvSpPr>
              <p:spPr bwMode="auto">
                <a:xfrm>
                  <a:off x="914" y="1202"/>
                  <a:ext cx="488" cy="335"/>
                </a:xfrm>
                <a:prstGeom prst="rect">
                  <a:avLst/>
                </a:prstGeom>
                <a:blipFill>
                  <a:blip r:embed="rId7"/>
                  <a:stretch>
                    <a:fillRect b="-759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27" name="Object 20">
                  <a:extLst>
                    <a:ext uri="{FF2B5EF4-FFF2-40B4-BE49-F238E27FC236}">
                      <a16:creationId xmlns:a16="http://schemas.microsoft.com/office/drawing/2014/main" id="{26141E72-BAE1-4579-B885-5CE004AF0670}"/>
                    </a:ext>
                  </a:extLst>
                </p:cNvPr>
                <p:cNvSpPr txBox="1"/>
                <p:nvPr/>
              </p:nvSpPr>
              <p:spPr bwMode="auto">
                <a:xfrm>
                  <a:off x="2067" y="1202"/>
                  <a:ext cx="489" cy="33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200" i="1" smtClean="0">
                            <a:solidFill>
                              <a:srgbClr val="0000FF"/>
                            </a:solidFill>
                            <a:latin typeface="Cambria Math" panose="02040503050406030204" pitchFamily="18" charset="0"/>
                          </a:rPr>
                          <m:t>𝑦</m:t>
                        </m:r>
                        <m:r>
                          <a:rPr lang="en-US" sz="2200" b="0" i="1" smtClean="0">
                            <a:solidFill>
                              <a:srgbClr val="0000FF"/>
                            </a:solidFill>
                            <a:latin typeface="Cambria Math" panose="02040503050406030204" pitchFamily="18" charset="0"/>
                          </a:rPr>
                          <m:t>[</m:t>
                        </m:r>
                        <m:r>
                          <a:rPr lang="en-US" sz="2200" i="1">
                            <a:solidFill>
                              <a:srgbClr val="0000FF"/>
                            </a:solidFill>
                            <a:latin typeface="Cambria Math" panose="02040503050406030204" pitchFamily="18" charset="0"/>
                          </a:rPr>
                          <m:t>𝑛</m:t>
                        </m:r>
                        <m:r>
                          <a:rPr lang="en-US" sz="2200" b="0" i="1" smtClean="0">
                            <a:solidFill>
                              <a:srgbClr val="0000FF"/>
                            </a:solidFill>
                            <a:latin typeface="Cambria Math" panose="02040503050406030204" pitchFamily="18" charset="0"/>
                          </a:rPr>
                          <m:t>]</m:t>
                        </m:r>
                      </m:oMath>
                    </m:oMathPara>
                  </a14:m>
                  <a:endParaRPr lang="en-US" sz="2200" dirty="0"/>
                </a:p>
              </p:txBody>
            </p:sp>
          </mc:Choice>
          <mc:Fallback xmlns="">
            <p:sp>
              <p:nvSpPr>
                <p:cNvPr id="34827" name="Object 20">
                  <a:extLst>
                    <a:ext uri="{FF2B5EF4-FFF2-40B4-BE49-F238E27FC236}">
                      <a16:creationId xmlns:a16="http://schemas.microsoft.com/office/drawing/2014/main" id="{26141E72-BAE1-4579-B885-5CE004AF0670}"/>
                    </a:ext>
                  </a:extLst>
                </p:cNvPr>
                <p:cNvSpPr txBox="1">
                  <a:spLocks noRot="1" noChangeAspect="1" noMove="1" noResize="1" noEditPoints="1" noAdjustHandles="1" noChangeArrowheads="1" noChangeShapeType="1" noTextEdit="1"/>
                </p:cNvSpPr>
                <p:nvPr/>
              </p:nvSpPr>
              <p:spPr bwMode="auto">
                <a:xfrm>
                  <a:off x="2067" y="1202"/>
                  <a:ext cx="489" cy="335"/>
                </a:xfrm>
                <a:prstGeom prst="rect">
                  <a:avLst/>
                </a:prstGeom>
                <a:blipFill>
                  <a:blip r:embed="rId8"/>
                  <a:stretch>
                    <a:fillRect l="-813" b="-759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28" name="Object 21">
                  <a:extLst>
                    <a:ext uri="{FF2B5EF4-FFF2-40B4-BE49-F238E27FC236}">
                      <a16:creationId xmlns:a16="http://schemas.microsoft.com/office/drawing/2014/main" id="{77A60531-E743-4DA7-844E-533AA42AD783}"/>
                    </a:ext>
                  </a:extLst>
                </p:cNvPr>
                <p:cNvSpPr txBox="1"/>
                <p:nvPr/>
              </p:nvSpPr>
              <p:spPr bwMode="auto">
                <a:xfrm>
                  <a:off x="1499" y="1392"/>
                  <a:ext cx="488" cy="334"/>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200" i="1" smtClean="0">
                            <a:solidFill>
                              <a:srgbClr val="0000FF"/>
                            </a:solidFill>
                            <a:latin typeface="Cambria Math" panose="02040503050406030204" pitchFamily="18" charset="0"/>
                          </a:rPr>
                          <m:t>h</m:t>
                        </m:r>
                        <m:r>
                          <a:rPr lang="en-US" sz="2200" b="0" i="1" smtClean="0">
                            <a:solidFill>
                              <a:srgbClr val="0000FF"/>
                            </a:solidFill>
                            <a:latin typeface="Cambria Math" panose="02040503050406030204" pitchFamily="18" charset="0"/>
                          </a:rPr>
                          <m:t>[</m:t>
                        </m:r>
                        <m:r>
                          <a:rPr lang="en-US" sz="2200" i="1">
                            <a:solidFill>
                              <a:srgbClr val="0000FF"/>
                            </a:solidFill>
                            <a:latin typeface="Cambria Math" panose="02040503050406030204" pitchFamily="18" charset="0"/>
                          </a:rPr>
                          <m:t>𝑛</m:t>
                        </m:r>
                        <m:r>
                          <a:rPr lang="en-US" sz="2200" b="0" i="1" smtClean="0">
                            <a:solidFill>
                              <a:srgbClr val="0000FF"/>
                            </a:solidFill>
                            <a:latin typeface="Cambria Math" panose="02040503050406030204" pitchFamily="18" charset="0"/>
                          </a:rPr>
                          <m:t>]</m:t>
                        </m:r>
                      </m:oMath>
                    </m:oMathPara>
                  </a14:m>
                  <a:endParaRPr lang="en-US" sz="2200" dirty="0"/>
                </a:p>
              </p:txBody>
            </p:sp>
          </mc:Choice>
          <mc:Fallback xmlns="">
            <p:sp>
              <p:nvSpPr>
                <p:cNvPr id="34828" name="Object 21">
                  <a:extLst>
                    <a:ext uri="{FF2B5EF4-FFF2-40B4-BE49-F238E27FC236}">
                      <a16:creationId xmlns:a16="http://schemas.microsoft.com/office/drawing/2014/main" id="{77A60531-E743-4DA7-844E-533AA42AD783}"/>
                    </a:ext>
                  </a:extLst>
                </p:cNvPr>
                <p:cNvSpPr txBox="1">
                  <a:spLocks noRot="1" noChangeAspect="1" noMove="1" noResize="1" noEditPoints="1" noAdjustHandles="1" noChangeArrowheads="1" noChangeShapeType="1" noTextEdit="1"/>
                </p:cNvSpPr>
                <p:nvPr/>
              </p:nvSpPr>
              <p:spPr bwMode="auto">
                <a:xfrm>
                  <a:off x="1499" y="1392"/>
                  <a:ext cx="488" cy="334"/>
                </a:xfrm>
                <a:prstGeom prst="rect">
                  <a:avLst/>
                </a:prstGeom>
                <a:blipFill>
                  <a:blip r:embed="rId9"/>
                  <a:stretch>
                    <a:fillRect l="-1639" r="-820" b="-7692"/>
                  </a:stretch>
                </a:blipFill>
                <a:ln>
                  <a:noFill/>
                </a:ln>
                <a:effectLst/>
              </p:spPr>
              <p:txBody>
                <a:bodyPr/>
                <a:lstStyle/>
                <a:p>
                  <a:r>
                    <a:rPr lang="en-US">
                      <a:noFill/>
                    </a:rPr>
                    <a:t> </a:t>
                  </a:r>
                </a:p>
              </p:txBody>
            </p:sp>
          </mc:Fallback>
        </mc:AlternateContent>
        <p:grpSp>
          <p:nvGrpSpPr>
            <p:cNvPr id="34843" name="Group 22">
              <a:extLst>
                <a:ext uri="{FF2B5EF4-FFF2-40B4-BE49-F238E27FC236}">
                  <a16:creationId xmlns:a16="http://schemas.microsoft.com/office/drawing/2014/main" id="{6CE96008-1231-479B-94FA-AE25D021F522}"/>
                </a:ext>
              </a:extLst>
            </p:cNvPr>
            <p:cNvGrpSpPr>
              <a:grpSpLocks/>
            </p:cNvGrpSpPr>
            <p:nvPr/>
          </p:nvGrpSpPr>
          <p:grpSpPr bwMode="auto">
            <a:xfrm>
              <a:off x="3172" y="885"/>
              <a:ext cx="1634" cy="515"/>
              <a:chOff x="2834" y="346"/>
              <a:chExt cx="1542" cy="454"/>
            </a:xfrm>
          </p:grpSpPr>
          <p:grpSp>
            <p:nvGrpSpPr>
              <p:cNvPr id="34848" name="Group 23">
                <a:extLst>
                  <a:ext uri="{FF2B5EF4-FFF2-40B4-BE49-F238E27FC236}">
                    <a16:creationId xmlns:a16="http://schemas.microsoft.com/office/drawing/2014/main" id="{31863D93-92AD-4E1B-82DB-BBB53143A58B}"/>
                  </a:ext>
                </a:extLst>
              </p:cNvPr>
              <p:cNvGrpSpPr>
                <a:grpSpLocks/>
              </p:cNvGrpSpPr>
              <p:nvPr/>
            </p:nvGrpSpPr>
            <p:grpSpPr bwMode="auto">
              <a:xfrm>
                <a:off x="2834" y="437"/>
                <a:ext cx="1542" cy="363"/>
                <a:chOff x="612" y="618"/>
                <a:chExt cx="1542" cy="363"/>
              </a:xfrm>
            </p:grpSpPr>
            <p:sp>
              <p:nvSpPr>
                <p:cNvPr id="34849" name="Line 24">
                  <a:extLst>
                    <a:ext uri="{FF2B5EF4-FFF2-40B4-BE49-F238E27FC236}">
                      <a16:creationId xmlns:a16="http://schemas.microsoft.com/office/drawing/2014/main" id="{17BB539F-A086-4AC8-A8EC-2052E3F52226}"/>
                    </a:ext>
                  </a:extLst>
                </p:cNvPr>
                <p:cNvSpPr>
                  <a:spLocks noChangeShapeType="1"/>
                </p:cNvSpPr>
                <p:nvPr/>
              </p:nvSpPr>
              <p:spPr bwMode="auto">
                <a:xfrm>
                  <a:off x="612" y="799"/>
                  <a:ext cx="454"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lstStyle/>
                <a:p>
                  <a:endParaRPr lang="en-US" sz="2200"/>
                </a:p>
              </p:txBody>
            </p:sp>
            <p:sp>
              <p:nvSpPr>
                <p:cNvPr id="34850" name="Rectangle 25">
                  <a:extLst>
                    <a:ext uri="{FF2B5EF4-FFF2-40B4-BE49-F238E27FC236}">
                      <a16:creationId xmlns:a16="http://schemas.microsoft.com/office/drawing/2014/main" id="{0DF3B99A-062A-410F-9B41-DF7EB88247D1}"/>
                    </a:ext>
                  </a:extLst>
                </p:cNvPr>
                <p:cNvSpPr>
                  <a:spLocks noChangeArrowheads="1"/>
                </p:cNvSpPr>
                <p:nvPr/>
              </p:nvSpPr>
              <p:spPr bwMode="auto">
                <a:xfrm>
                  <a:off x="1066" y="618"/>
                  <a:ext cx="635" cy="363"/>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2200">
                    <a:latin typeface="Times New Roman" panose="02020603050405020304" pitchFamily="18" charset="0"/>
                  </a:endParaRPr>
                </a:p>
              </p:txBody>
            </p:sp>
            <p:sp>
              <p:nvSpPr>
                <p:cNvPr id="34851" name="Line 26">
                  <a:extLst>
                    <a:ext uri="{FF2B5EF4-FFF2-40B4-BE49-F238E27FC236}">
                      <a16:creationId xmlns:a16="http://schemas.microsoft.com/office/drawing/2014/main" id="{FD59E658-8904-4A83-BD6E-5878FEE2D16E}"/>
                    </a:ext>
                  </a:extLst>
                </p:cNvPr>
                <p:cNvSpPr>
                  <a:spLocks noChangeShapeType="1"/>
                </p:cNvSpPr>
                <p:nvPr/>
              </p:nvSpPr>
              <p:spPr bwMode="auto">
                <a:xfrm>
                  <a:off x="1701" y="799"/>
                  <a:ext cx="45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lstStyle/>
                <a:p>
                  <a:endParaRPr lang="en-US" sz="2200"/>
                </a:p>
              </p:txBody>
            </p:sp>
          </p:grpSp>
          <mc:AlternateContent xmlns:mc="http://schemas.openxmlformats.org/markup-compatibility/2006" xmlns:a14="http://schemas.microsoft.com/office/drawing/2010/main">
            <mc:Choice Requires="a14">
              <p:sp>
                <p:nvSpPr>
                  <p:cNvPr id="34833" name="Object 27">
                    <a:extLst>
                      <a:ext uri="{FF2B5EF4-FFF2-40B4-BE49-F238E27FC236}">
                        <a16:creationId xmlns:a16="http://schemas.microsoft.com/office/drawing/2014/main" id="{5507D7D8-A4E2-4C1B-93B0-1796B05D6DAD}"/>
                      </a:ext>
                    </a:extLst>
                  </p:cNvPr>
                  <p:cNvSpPr txBox="1"/>
                  <p:nvPr/>
                </p:nvSpPr>
                <p:spPr bwMode="auto">
                  <a:xfrm>
                    <a:off x="2834" y="346"/>
                    <a:ext cx="406" cy="29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200" i="1">
                              <a:solidFill>
                                <a:srgbClr val="000000"/>
                              </a:solidFill>
                              <a:latin typeface="Cambria Math" panose="02040503050406030204" pitchFamily="18" charset="0"/>
                            </a:rPr>
                            <m:t>h</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𝑡</m:t>
                          </m:r>
                          <m:r>
                            <a:rPr lang="en-US" sz="2200" i="1">
                              <a:solidFill>
                                <a:srgbClr val="000000"/>
                              </a:solidFill>
                              <a:latin typeface="Cambria Math" panose="02040503050406030204" pitchFamily="18" charset="0"/>
                            </a:rPr>
                            <m:t>)</m:t>
                          </m:r>
                        </m:oMath>
                      </m:oMathPara>
                    </a14:m>
                    <a:endParaRPr lang="en-US" sz="2200"/>
                  </a:p>
                </p:txBody>
              </p:sp>
            </mc:Choice>
            <mc:Fallback xmlns="">
              <p:sp>
                <p:nvSpPr>
                  <p:cNvPr id="34833" name="Object 27">
                    <a:extLst>
                      <a:ext uri="{FF2B5EF4-FFF2-40B4-BE49-F238E27FC236}">
                        <a16:creationId xmlns:a16="http://schemas.microsoft.com/office/drawing/2014/main" id="{5507D7D8-A4E2-4C1B-93B0-1796B05D6DAD}"/>
                      </a:ext>
                    </a:extLst>
                  </p:cNvPr>
                  <p:cNvSpPr txBox="1">
                    <a:spLocks noRot="1" noChangeAspect="1" noMove="1" noResize="1" noEditPoints="1" noAdjustHandles="1" noChangeArrowheads="1" noChangeShapeType="1" noTextEdit="1"/>
                  </p:cNvSpPr>
                  <p:nvPr/>
                </p:nvSpPr>
                <p:spPr bwMode="auto">
                  <a:xfrm>
                    <a:off x="2834" y="346"/>
                    <a:ext cx="406" cy="295"/>
                  </a:xfrm>
                  <a:prstGeom prst="rect">
                    <a:avLst/>
                  </a:prstGeom>
                  <a:blipFill>
                    <a:blip r:embed="rId10"/>
                    <a:stretch>
                      <a:fillRect l="-1852" r="-10185" b="-769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34" name="Object 28">
                    <a:extLst>
                      <a:ext uri="{FF2B5EF4-FFF2-40B4-BE49-F238E27FC236}">
                        <a16:creationId xmlns:a16="http://schemas.microsoft.com/office/drawing/2014/main" id="{877132C7-52AB-4ED2-B04D-8421B452B213}"/>
                      </a:ext>
                    </a:extLst>
                  </p:cNvPr>
                  <p:cNvSpPr txBox="1"/>
                  <p:nvPr/>
                </p:nvSpPr>
                <p:spPr bwMode="auto">
                  <a:xfrm>
                    <a:off x="3923" y="346"/>
                    <a:ext cx="424" cy="29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200" i="1">
                              <a:solidFill>
                                <a:srgbClr val="000000"/>
                              </a:solidFill>
                              <a:latin typeface="Cambria Math" panose="02040503050406030204" pitchFamily="18" charset="0"/>
                            </a:rPr>
                            <m:t>𝑦</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𝑡</m:t>
                          </m:r>
                          <m:r>
                            <a:rPr lang="en-US" sz="2200" i="1">
                              <a:solidFill>
                                <a:srgbClr val="000000"/>
                              </a:solidFill>
                              <a:latin typeface="Cambria Math" panose="02040503050406030204" pitchFamily="18" charset="0"/>
                            </a:rPr>
                            <m:t>)</m:t>
                          </m:r>
                        </m:oMath>
                      </m:oMathPara>
                    </a14:m>
                    <a:endParaRPr lang="en-US" sz="2200"/>
                  </a:p>
                </p:txBody>
              </p:sp>
            </mc:Choice>
            <mc:Fallback xmlns="">
              <p:sp>
                <p:nvSpPr>
                  <p:cNvPr id="34834" name="Object 28">
                    <a:extLst>
                      <a:ext uri="{FF2B5EF4-FFF2-40B4-BE49-F238E27FC236}">
                        <a16:creationId xmlns:a16="http://schemas.microsoft.com/office/drawing/2014/main" id="{877132C7-52AB-4ED2-B04D-8421B452B213}"/>
                      </a:ext>
                    </a:extLst>
                  </p:cNvPr>
                  <p:cNvSpPr txBox="1">
                    <a:spLocks noRot="1" noChangeAspect="1" noMove="1" noResize="1" noEditPoints="1" noAdjustHandles="1" noChangeArrowheads="1" noChangeShapeType="1" noTextEdit="1"/>
                  </p:cNvSpPr>
                  <p:nvPr/>
                </p:nvSpPr>
                <p:spPr bwMode="auto">
                  <a:xfrm>
                    <a:off x="3923" y="346"/>
                    <a:ext cx="424" cy="295"/>
                  </a:xfrm>
                  <a:prstGeom prst="rect">
                    <a:avLst/>
                  </a:prstGeom>
                  <a:blipFill>
                    <a:blip r:embed="rId11"/>
                    <a:stretch>
                      <a:fillRect l="-885" r="-6195" b="-769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35" name="Object 29">
                    <a:extLst>
                      <a:ext uri="{FF2B5EF4-FFF2-40B4-BE49-F238E27FC236}">
                        <a16:creationId xmlns:a16="http://schemas.microsoft.com/office/drawing/2014/main" id="{06356D00-09D4-402C-BC2F-E6EEE0072BA4}"/>
                      </a:ext>
                    </a:extLst>
                  </p:cNvPr>
                  <p:cNvSpPr txBox="1"/>
                  <p:nvPr/>
                </p:nvSpPr>
                <p:spPr bwMode="auto">
                  <a:xfrm>
                    <a:off x="3401" y="478"/>
                    <a:ext cx="406" cy="295"/>
                  </a:xfrm>
                  <a:prstGeom prst="rect">
                    <a:avLst/>
                  </a:prstGeom>
                  <a:solidFill>
                    <a:srgbClr val="00CCFF"/>
                  </a:solid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200" i="1">
                              <a:solidFill>
                                <a:srgbClr val="000000"/>
                              </a:solidFill>
                              <a:latin typeface="Cambria Math" panose="02040503050406030204" pitchFamily="18" charset="0"/>
                            </a:rPr>
                            <m:t>𝑥</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𝑡</m:t>
                          </m:r>
                          <m:r>
                            <a:rPr lang="en-US" sz="2200" i="1">
                              <a:solidFill>
                                <a:srgbClr val="000000"/>
                              </a:solidFill>
                              <a:latin typeface="Cambria Math" panose="02040503050406030204" pitchFamily="18" charset="0"/>
                            </a:rPr>
                            <m:t>)</m:t>
                          </m:r>
                        </m:oMath>
                      </m:oMathPara>
                    </a14:m>
                    <a:endParaRPr lang="en-US" sz="2200" dirty="0"/>
                  </a:p>
                </p:txBody>
              </p:sp>
            </mc:Choice>
            <mc:Fallback xmlns="">
              <p:sp>
                <p:nvSpPr>
                  <p:cNvPr id="34835" name="Object 29">
                    <a:extLst>
                      <a:ext uri="{FF2B5EF4-FFF2-40B4-BE49-F238E27FC236}">
                        <a16:creationId xmlns:a16="http://schemas.microsoft.com/office/drawing/2014/main" id="{06356D00-09D4-402C-BC2F-E6EEE0072BA4}"/>
                      </a:ext>
                    </a:extLst>
                  </p:cNvPr>
                  <p:cNvSpPr txBox="1">
                    <a:spLocks noRot="1" noChangeAspect="1" noMove="1" noResize="1" noEditPoints="1" noAdjustHandles="1" noChangeArrowheads="1" noChangeShapeType="1" noTextEdit="1"/>
                  </p:cNvSpPr>
                  <p:nvPr/>
                </p:nvSpPr>
                <p:spPr bwMode="auto">
                  <a:xfrm>
                    <a:off x="3401" y="478"/>
                    <a:ext cx="406" cy="295"/>
                  </a:xfrm>
                  <a:prstGeom prst="rect">
                    <a:avLst/>
                  </a:prstGeom>
                  <a:blipFill>
                    <a:blip r:embed="rId12"/>
                    <a:stretch>
                      <a:fillRect r="-11111" b="-7692"/>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4829" name="Object 30">
                  <a:extLst>
                    <a:ext uri="{FF2B5EF4-FFF2-40B4-BE49-F238E27FC236}">
                      <a16:creationId xmlns:a16="http://schemas.microsoft.com/office/drawing/2014/main" id="{69EC45CD-DA6F-40A2-B4A7-17E3723FAAF7}"/>
                    </a:ext>
                  </a:extLst>
                </p:cNvPr>
                <p:cNvSpPr txBox="1"/>
                <p:nvPr/>
              </p:nvSpPr>
              <p:spPr bwMode="auto">
                <a:xfrm>
                  <a:off x="3172" y="1204"/>
                  <a:ext cx="488" cy="334"/>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200" i="1" smtClean="0">
                            <a:solidFill>
                              <a:srgbClr val="0000FF"/>
                            </a:solidFill>
                            <a:latin typeface="Cambria Math" panose="02040503050406030204" pitchFamily="18" charset="0"/>
                          </a:rPr>
                          <m:t>h</m:t>
                        </m:r>
                        <m:r>
                          <a:rPr lang="en-US" sz="2200" b="0" i="1" smtClean="0">
                            <a:solidFill>
                              <a:srgbClr val="0000FF"/>
                            </a:solidFill>
                            <a:latin typeface="Cambria Math" panose="02040503050406030204" pitchFamily="18" charset="0"/>
                          </a:rPr>
                          <m:t>[</m:t>
                        </m:r>
                        <m:r>
                          <a:rPr lang="en-US" sz="2200" i="1">
                            <a:solidFill>
                              <a:srgbClr val="0000FF"/>
                            </a:solidFill>
                            <a:latin typeface="Cambria Math" panose="02040503050406030204" pitchFamily="18" charset="0"/>
                          </a:rPr>
                          <m:t>𝑛</m:t>
                        </m:r>
                        <m:r>
                          <a:rPr lang="en-US" sz="2200" b="0" i="1" smtClean="0">
                            <a:solidFill>
                              <a:srgbClr val="0000FF"/>
                            </a:solidFill>
                            <a:latin typeface="Cambria Math" panose="02040503050406030204" pitchFamily="18" charset="0"/>
                          </a:rPr>
                          <m:t>]</m:t>
                        </m:r>
                      </m:oMath>
                    </m:oMathPara>
                  </a14:m>
                  <a:endParaRPr lang="en-US" sz="2200" dirty="0"/>
                </a:p>
              </p:txBody>
            </p:sp>
          </mc:Choice>
          <mc:Fallback xmlns="">
            <p:sp>
              <p:nvSpPr>
                <p:cNvPr id="34829" name="Object 30">
                  <a:extLst>
                    <a:ext uri="{FF2B5EF4-FFF2-40B4-BE49-F238E27FC236}">
                      <a16:creationId xmlns:a16="http://schemas.microsoft.com/office/drawing/2014/main" id="{69EC45CD-DA6F-40A2-B4A7-17E3723FAAF7}"/>
                    </a:ext>
                  </a:extLst>
                </p:cNvPr>
                <p:cNvSpPr txBox="1">
                  <a:spLocks noRot="1" noChangeAspect="1" noMove="1" noResize="1" noEditPoints="1" noAdjustHandles="1" noChangeArrowheads="1" noChangeShapeType="1" noTextEdit="1"/>
                </p:cNvSpPr>
                <p:nvPr/>
              </p:nvSpPr>
              <p:spPr bwMode="auto">
                <a:xfrm>
                  <a:off x="3172" y="1204"/>
                  <a:ext cx="488" cy="334"/>
                </a:xfrm>
                <a:prstGeom prst="rect">
                  <a:avLst/>
                </a:prstGeom>
                <a:blipFill>
                  <a:blip r:embed="rId13"/>
                  <a:stretch>
                    <a:fillRect l="-1639" r="-820" b="-769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30" name="Object 31">
                  <a:extLst>
                    <a:ext uri="{FF2B5EF4-FFF2-40B4-BE49-F238E27FC236}">
                      <a16:creationId xmlns:a16="http://schemas.microsoft.com/office/drawing/2014/main" id="{4E68C598-5C27-47EE-A811-C458798FE5B5}"/>
                    </a:ext>
                  </a:extLst>
                </p:cNvPr>
                <p:cNvSpPr txBox="1"/>
                <p:nvPr/>
              </p:nvSpPr>
              <p:spPr bwMode="auto">
                <a:xfrm>
                  <a:off x="3759" y="1399"/>
                  <a:ext cx="489" cy="334"/>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200" i="1" smtClean="0">
                            <a:solidFill>
                              <a:srgbClr val="0000FF"/>
                            </a:solidFill>
                            <a:latin typeface="Cambria Math" panose="02040503050406030204" pitchFamily="18" charset="0"/>
                          </a:rPr>
                          <m:t>𝑥</m:t>
                        </m:r>
                        <m:r>
                          <a:rPr lang="en-US" sz="2200" b="0" i="1" smtClean="0">
                            <a:solidFill>
                              <a:srgbClr val="0000FF"/>
                            </a:solidFill>
                            <a:latin typeface="Cambria Math" panose="02040503050406030204" pitchFamily="18" charset="0"/>
                          </a:rPr>
                          <m:t>[</m:t>
                        </m:r>
                        <m:r>
                          <a:rPr lang="en-US" sz="2200" i="1">
                            <a:solidFill>
                              <a:srgbClr val="0000FF"/>
                            </a:solidFill>
                            <a:latin typeface="Cambria Math" panose="02040503050406030204" pitchFamily="18" charset="0"/>
                          </a:rPr>
                          <m:t>𝑛</m:t>
                        </m:r>
                        <m:r>
                          <a:rPr lang="en-US" sz="2200" b="0" i="1" smtClean="0">
                            <a:solidFill>
                              <a:srgbClr val="0000FF"/>
                            </a:solidFill>
                            <a:latin typeface="Cambria Math" panose="02040503050406030204" pitchFamily="18" charset="0"/>
                          </a:rPr>
                          <m:t>]</m:t>
                        </m:r>
                      </m:oMath>
                    </m:oMathPara>
                  </a14:m>
                  <a:endParaRPr lang="en-US" sz="2200" dirty="0"/>
                </a:p>
              </p:txBody>
            </p:sp>
          </mc:Choice>
          <mc:Fallback xmlns="">
            <p:sp>
              <p:nvSpPr>
                <p:cNvPr id="34830" name="Object 31">
                  <a:extLst>
                    <a:ext uri="{FF2B5EF4-FFF2-40B4-BE49-F238E27FC236}">
                      <a16:creationId xmlns:a16="http://schemas.microsoft.com/office/drawing/2014/main" id="{4E68C598-5C27-47EE-A811-C458798FE5B5}"/>
                    </a:ext>
                  </a:extLst>
                </p:cNvPr>
                <p:cNvSpPr txBox="1">
                  <a:spLocks noRot="1" noChangeAspect="1" noMove="1" noResize="1" noEditPoints="1" noAdjustHandles="1" noChangeArrowheads="1" noChangeShapeType="1" noTextEdit="1"/>
                </p:cNvSpPr>
                <p:nvPr/>
              </p:nvSpPr>
              <p:spPr bwMode="auto">
                <a:xfrm>
                  <a:off x="3759" y="1399"/>
                  <a:ext cx="489" cy="334"/>
                </a:xfrm>
                <a:prstGeom prst="rect">
                  <a:avLst/>
                </a:prstGeom>
                <a:blipFill>
                  <a:blip r:embed="rId14"/>
                  <a:stretch>
                    <a:fillRect b="-759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31" name="Object 32">
                  <a:extLst>
                    <a:ext uri="{FF2B5EF4-FFF2-40B4-BE49-F238E27FC236}">
                      <a16:creationId xmlns:a16="http://schemas.microsoft.com/office/drawing/2014/main" id="{E97F7546-594B-46A5-A97C-88DECD059E1B}"/>
                    </a:ext>
                  </a:extLst>
                </p:cNvPr>
                <p:cNvSpPr txBox="1"/>
                <p:nvPr/>
              </p:nvSpPr>
              <p:spPr bwMode="auto">
                <a:xfrm>
                  <a:off x="4325" y="1204"/>
                  <a:ext cx="488" cy="334"/>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200" i="1" smtClean="0">
                            <a:solidFill>
                              <a:srgbClr val="0000FF"/>
                            </a:solidFill>
                            <a:latin typeface="Cambria Math" panose="02040503050406030204" pitchFamily="18" charset="0"/>
                          </a:rPr>
                          <m:t>𝑦</m:t>
                        </m:r>
                        <m:r>
                          <a:rPr lang="en-US" sz="2200" b="0" i="1" smtClean="0">
                            <a:solidFill>
                              <a:srgbClr val="0000FF"/>
                            </a:solidFill>
                            <a:latin typeface="Cambria Math" panose="02040503050406030204" pitchFamily="18" charset="0"/>
                          </a:rPr>
                          <m:t>[</m:t>
                        </m:r>
                        <m:r>
                          <a:rPr lang="en-US" sz="2200" i="1">
                            <a:solidFill>
                              <a:srgbClr val="0000FF"/>
                            </a:solidFill>
                            <a:latin typeface="Cambria Math" panose="02040503050406030204" pitchFamily="18" charset="0"/>
                          </a:rPr>
                          <m:t>𝑛</m:t>
                        </m:r>
                        <m:r>
                          <a:rPr lang="en-US" sz="2200" b="0" i="1" smtClean="0">
                            <a:solidFill>
                              <a:srgbClr val="0000FF"/>
                            </a:solidFill>
                            <a:latin typeface="Cambria Math" panose="02040503050406030204" pitchFamily="18" charset="0"/>
                          </a:rPr>
                          <m:t>]</m:t>
                        </m:r>
                      </m:oMath>
                    </m:oMathPara>
                  </a14:m>
                  <a:endParaRPr lang="en-US" sz="2200" dirty="0"/>
                </a:p>
              </p:txBody>
            </p:sp>
          </mc:Choice>
          <mc:Fallback xmlns="">
            <p:sp>
              <p:nvSpPr>
                <p:cNvPr id="34831" name="Object 32">
                  <a:extLst>
                    <a:ext uri="{FF2B5EF4-FFF2-40B4-BE49-F238E27FC236}">
                      <a16:creationId xmlns:a16="http://schemas.microsoft.com/office/drawing/2014/main" id="{E97F7546-594B-46A5-A97C-88DECD059E1B}"/>
                    </a:ext>
                  </a:extLst>
                </p:cNvPr>
                <p:cNvSpPr txBox="1">
                  <a:spLocks noRot="1" noChangeAspect="1" noMove="1" noResize="1" noEditPoints="1" noAdjustHandles="1" noChangeArrowheads="1" noChangeShapeType="1" noTextEdit="1"/>
                </p:cNvSpPr>
                <p:nvPr/>
              </p:nvSpPr>
              <p:spPr bwMode="auto">
                <a:xfrm>
                  <a:off x="4325" y="1204"/>
                  <a:ext cx="488" cy="334"/>
                </a:xfrm>
                <a:prstGeom prst="rect">
                  <a:avLst/>
                </a:prstGeom>
                <a:blipFill>
                  <a:blip r:embed="rId15"/>
                  <a:stretch>
                    <a:fillRect l="-1639" r="-820" b="-769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32" name="Object 33">
                  <a:extLst>
                    <a:ext uri="{FF2B5EF4-FFF2-40B4-BE49-F238E27FC236}">
                      <a16:creationId xmlns:a16="http://schemas.microsoft.com/office/drawing/2014/main" id="{6B34B7CE-4623-4B69-BC04-663783A91D6B}"/>
                    </a:ext>
                  </a:extLst>
                </p:cNvPr>
                <p:cNvSpPr txBox="1"/>
                <p:nvPr/>
              </p:nvSpPr>
              <p:spPr bwMode="auto">
                <a:xfrm>
                  <a:off x="2713" y="1008"/>
                  <a:ext cx="328" cy="334"/>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smtClean="0">
                            <a:solidFill>
                              <a:srgbClr val="FF0000"/>
                            </a:solidFill>
                            <a:latin typeface="Cambria Math" panose="02040503050406030204" pitchFamily="18" charset="0"/>
                            <a:ea typeface="Cambria Math" panose="02040503050406030204" pitchFamily="18" charset="0"/>
                          </a:rPr>
                          <m:t>⇔</m:t>
                        </m:r>
                      </m:oMath>
                    </m:oMathPara>
                  </a14:m>
                  <a:endParaRPr lang="en-US" sz="2400" dirty="0">
                    <a:solidFill>
                      <a:srgbClr val="FF0000"/>
                    </a:solidFill>
                  </a:endParaRPr>
                </a:p>
              </p:txBody>
            </p:sp>
          </mc:Choice>
          <mc:Fallback xmlns="">
            <p:sp>
              <p:nvSpPr>
                <p:cNvPr id="34832" name="Object 33">
                  <a:extLst>
                    <a:ext uri="{FF2B5EF4-FFF2-40B4-BE49-F238E27FC236}">
                      <a16:creationId xmlns:a16="http://schemas.microsoft.com/office/drawing/2014/main" id="{6B34B7CE-4623-4B69-BC04-663783A91D6B}"/>
                    </a:ext>
                  </a:extLst>
                </p:cNvPr>
                <p:cNvSpPr txBox="1">
                  <a:spLocks noRot="1" noChangeAspect="1" noMove="1" noResize="1" noEditPoints="1" noAdjustHandles="1" noChangeArrowheads="1" noChangeShapeType="1" noTextEdit="1"/>
                </p:cNvSpPr>
                <p:nvPr/>
              </p:nvSpPr>
              <p:spPr bwMode="auto">
                <a:xfrm>
                  <a:off x="2713" y="1008"/>
                  <a:ext cx="328" cy="334"/>
                </a:xfrm>
                <a:prstGeom prst="rect">
                  <a:avLst/>
                </a:prstGeom>
                <a:blipFill>
                  <a:blip r:embed="rId16"/>
                  <a:stretch>
                    <a:fillRect/>
                  </a:stretch>
                </a:blipFill>
                <a:ln>
                  <a:noFill/>
                </a:ln>
                <a:effectLst/>
              </p:spPr>
              <p:txBody>
                <a:bodyPr/>
                <a:lstStyle/>
                <a:p>
                  <a:r>
                    <a:rPr lang="en-US">
                      <a:noFill/>
                    </a:rPr>
                    <a:t> </a:t>
                  </a:r>
                </a:p>
              </p:txBody>
            </p:sp>
          </mc:Fallback>
        </mc:AlternateContent>
        <p:sp>
          <p:nvSpPr>
            <p:cNvPr id="34844" name="Line 34">
              <a:extLst>
                <a:ext uri="{FF2B5EF4-FFF2-40B4-BE49-F238E27FC236}">
                  <a16:creationId xmlns:a16="http://schemas.microsoft.com/office/drawing/2014/main" id="{2953DAA0-9AF1-4F90-A40C-E1A38FAA4A48}"/>
                </a:ext>
              </a:extLst>
            </p:cNvPr>
            <p:cNvSpPr>
              <a:spLocks noChangeShapeType="1"/>
            </p:cNvSpPr>
            <p:nvPr/>
          </p:nvSpPr>
          <p:spPr bwMode="auto">
            <a:xfrm>
              <a:off x="884" y="1193"/>
              <a:ext cx="529"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2200"/>
            </a:p>
          </p:txBody>
        </p:sp>
        <p:sp>
          <p:nvSpPr>
            <p:cNvPr id="34845" name="Line 35">
              <a:extLst>
                <a:ext uri="{FF2B5EF4-FFF2-40B4-BE49-F238E27FC236}">
                  <a16:creationId xmlns:a16="http://schemas.microsoft.com/office/drawing/2014/main" id="{CA2DBDB4-0771-4B74-A540-E6394B7274E6}"/>
                </a:ext>
              </a:extLst>
            </p:cNvPr>
            <p:cNvSpPr>
              <a:spLocks noChangeShapeType="1"/>
            </p:cNvSpPr>
            <p:nvPr/>
          </p:nvSpPr>
          <p:spPr bwMode="auto">
            <a:xfrm>
              <a:off x="2066" y="1193"/>
              <a:ext cx="529"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2200"/>
            </a:p>
          </p:txBody>
        </p:sp>
        <p:sp>
          <p:nvSpPr>
            <p:cNvPr id="34846" name="Line 36">
              <a:extLst>
                <a:ext uri="{FF2B5EF4-FFF2-40B4-BE49-F238E27FC236}">
                  <a16:creationId xmlns:a16="http://schemas.microsoft.com/office/drawing/2014/main" id="{2860FA82-B220-412E-B6F5-50197334E814}"/>
                </a:ext>
              </a:extLst>
            </p:cNvPr>
            <p:cNvSpPr>
              <a:spLocks noChangeShapeType="1"/>
            </p:cNvSpPr>
            <p:nvPr/>
          </p:nvSpPr>
          <p:spPr bwMode="auto">
            <a:xfrm>
              <a:off x="3172" y="1193"/>
              <a:ext cx="48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2200"/>
            </a:p>
          </p:txBody>
        </p:sp>
        <p:sp>
          <p:nvSpPr>
            <p:cNvPr id="34847" name="Line 37">
              <a:extLst>
                <a:ext uri="{FF2B5EF4-FFF2-40B4-BE49-F238E27FC236}">
                  <a16:creationId xmlns:a16="http://schemas.microsoft.com/office/drawing/2014/main" id="{F9B8C941-F9D3-4E7E-93D1-950E700CC82E}"/>
                </a:ext>
              </a:extLst>
            </p:cNvPr>
            <p:cNvSpPr>
              <a:spLocks noChangeShapeType="1"/>
            </p:cNvSpPr>
            <p:nvPr/>
          </p:nvSpPr>
          <p:spPr bwMode="auto">
            <a:xfrm>
              <a:off x="4325" y="1193"/>
              <a:ext cx="481"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2200"/>
            </a:p>
          </p:txBody>
        </p:sp>
      </p:grpSp>
    </p:spTree>
    <p:extLst>
      <p:ext uri="{BB962C8B-B14F-4D97-AF65-F5344CB8AC3E}">
        <p14:creationId xmlns:p14="http://schemas.microsoft.com/office/powerpoint/2010/main" val="166589156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37" name="标题 1">
            <a:extLst>
              <a:ext uri="{FF2B5EF4-FFF2-40B4-BE49-F238E27FC236}">
                <a16:creationId xmlns:a16="http://schemas.microsoft.com/office/drawing/2014/main" id="{4BAC8704-437B-47C2-98BB-F0A63AFE1403}"/>
              </a:ext>
            </a:extLst>
          </p:cNvPr>
          <p:cNvSpPr>
            <a:spLocks noGrp="1"/>
          </p:cNvSpPr>
          <p:nvPr>
            <p:ph type="title"/>
          </p:nvPr>
        </p:nvSpPr>
        <p:spPr/>
        <p:txBody>
          <a:bodyPr/>
          <a:lstStyle/>
          <a:p>
            <a:r>
              <a:rPr lang="en-US" altLang="zh-CN" dirty="0"/>
              <a:t>2.3 </a:t>
            </a:r>
            <a:r>
              <a:rPr lang="zh-CN" altLang="en-US" dirty="0"/>
              <a:t>线性时不变系统的性质</a:t>
            </a:r>
          </a:p>
        </p:txBody>
      </p:sp>
      <p:sp>
        <p:nvSpPr>
          <p:cNvPr id="4" name="灯片编号占位符 3">
            <a:extLst>
              <a:ext uri="{FF2B5EF4-FFF2-40B4-BE49-F238E27FC236}">
                <a16:creationId xmlns:a16="http://schemas.microsoft.com/office/drawing/2014/main" id="{D1C12A82-FDEE-4BCC-8A4B-AAFE2CDDF4A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F5528DA-C16A-4AE4-B7EB-D7DA01340B29}" type="slidenum">
              <a:rPr lang="zh-CN" altLang="en-US">
                <a:solidFill>
                  <a:srgbClr val="898989"/>
                </a:solidFill>
                <a:latin typeface="Calibri" panose="020F0502020204030204" pitchFamily="34" charset="0"/>
              </a:rPr>
              <a:pPr eaLnBrk="1" hangingPunct="1"/>
              <a:t>38</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385F5B04-1AA4-43BD-9A5F-AFBD43B596AE}"/>
                  </a:ext>
                </a:extLst>
              </p:cNvPr>
              <p:cNvSpPr txBox="1"/>
              <p:nvPr/>
            </p:nvSpPr>
            <p:spPr>
              <a:xfrm>
                <a:off x="516341" y="1348832"/>
                <a:ext cx="5257145" cy="523220"/>
              </a:xfrm>
              <a:prstGeom prst="rect">
                <a:avLst/>
              </a:prstGeom>
              <a:noFill/>
            </p:spPr>
            <p:txBody>
              <a:bodyPr wrap="none" rtlCol="0">
                <a:spAutoFit/>
              </a:bodyPr>
              <a:lstStyle/>
              <a:p>
                <a:pPr algn="just"/>
                <a:r>
                  <a:rPr lang="zh-CN" altLang="en-US" sz="2800" dirty="0">
                    <a:solidFill>
                      <a:srgbClr val="0000FF"/>
                    </a:solidFill>
                    <a:latin typeface="Cambria Math" panose="02040503050406030204" pitchFamily="18" charset="0"/>
                    <a:ea typeface="楷体" panose="02010609060101010101" pitchFamily="49" charset="-122"/>
                  </a:rPr>
                  <a:t>例：</a:t>
                </a:r>
                <a:r>
                  <a:rPr lang="en-US" altLang="zh-CN" sz="2800" dirty="0">
                    <a:solidFill>
                      <a:srgbClr val="0000FF"/>
                    </a:solidFill>
                    <a:latin typeface="Cambria Math" panose="02040503050406030204" pitchFamily="18" charset="0"/>
                    <a:ea typeface="楷体" panose="02010609060101010101" pitchFamily="49" charset="-122"/>
                  </a:rPr>
                  <a:t>LTI</a:t>
                </a:r>
                <a:r>
                  <a:rPr lang="zh-CN" altLang="en-US" sz="2800" dirty="0">
                    <a:solidFill>
                      <a:srgbClr val="0000FF"/>
                    </a:solidFill>
                    <a:latin typeface="Cambria Math" panose="02040503050406030204" pitchFamily="18" charset="0"/>
                    <a:ea typeface="楷体" panose="02010609060101010101" pitchFamily="49" charset="-122"/>
                  </a:rPr>
                  <a:t>系统的单位阶跃响应</a:t>
                </a:r>
                <a14:m>
                  <m:oMath xmlns:m="http://schemas.openxmlformats.org/officeDocument/2006/math">
                    <m:r>
                      <a:rPr lang="en-US" altLang="zh-CN" sz="2800" b="0" i="1" smtClean="0">
                        <a:solidFill>
                          <a:srgbClr val="0000FF"/>
                        </a:solidFill>
                        <a:latin typeface="Cambria Math" panose="02040503050406030204" pitchFamily="18" charset="0"/>
                        <a:ea typeface="楷体" panose="02010609060101010101" pitchFamily="49" charset="-122"/>
                      </a:rPr>
                      <m:t>𝑠</m:t>
                    </m:r>
                    <m:d>
                      <m:dPr>
                        <m:begChr m:val="["/>
                        <m:endChr m:val="]"/>
                        <m:ctrlPr>
                          <a:rPr lang="en-US" altLang="zh-CN" sz="2800" b="0" i="1" smtClean="0">
                            <a:solidFill>
                              <a:srgbClr val="0000FF"/>
                            </a:solidFill>
                            <a:latin typeface="Cambria Math" panose="02040503050406030204" pitchFamily="18" charset="0"/>
                            <a:ea typeface="楷体" panose="02010609060101010101" pitchFamily="49" charset="-122"/>
                          </a:rPr>
                        </m:ctrlPr>
                      </m:dPr>
                      <m:e>
                        <m:r>
                          <a:rPr lang="en-US" altLang="zh-CN" sz="2800" b="0" i="1" smtClean="0">
                            <a:solidFill>
                              <a:srgbClr val="0000FF"/>
                            </a:solidFill>
                            <a:latin typeface="Cambria Math" panose="02040503050406030204" pitchFamily="18" charset="0"/>
                            <a:ea typeface="楷体" panose="02010609060101010101" pitchFamily="49" charset="-122"/>
                          </a:rPr>
                          <m:t>𝑛</m:t>
                        </m:r>
                      </m:e>
                    </m:d>
                  </m:oMath>
                </a14:m>
                <a:endParaRPr lang="en-US" sz="2800" dirty="0">
                  <a:solidFill>
                    <a:srgbClr val="0000FF"/>
                  </a:solidFill>
                  <a:latin typeface="Cambria Math" panose="02040503050406030204" pitchFamily="18" charset="0"/>
                  <a:ea typeface="楷体" panose="02010609060101010101" pitchFamily="49" charset="-122"/>
                </a:endParaRPr>
              </a:p>
            </p:txBody>
          </p:sp>
        </mc:Choice>
        <mc:Fallback xmlns="">
          <p:sp>
            <p:nvSpPr>
              <p:cNvPr id="36" name="文本框 35">
                <a:extLst>
                  <a:ext uri="{FF2B5EF4-FFF2-40B4-BE49-F238E27FC236}">
                    <a16:creationId xmlns:a16="http://schemas.microsoft.com/office/drawing/2014/main" id="{385F5B04-1AA4-43BD-9A5F-AFBD43B596AE}"/>
                  </a:ext>
                </a:extLst>
              </p:cNvPr>
              <p:cNvSpPr txBox="1">
                <a:spLocks noRot="1" noChangeAspect="1" noMove="1" noResize="1" noEditPoints="1" noAdjustHandles="1" noChangeArrowheads="1" noChangeShapeType="1" noTextEdit="1"/>
              </p:cNvSpPr>
              <p:nvPr/>
            </p:nvSpPr>
            <p:spPr>
              <a:xfrm>
                <a:off x="516341" y="1348832"/>
                <a:ext cx="5257145" cy="523220"/>
              </a:xfrm>
              <a:prstGeom prst="rect">
                <a:avLst/>
              </a:prstGeom>
              <a:blipFill>
                <a:blip r:embed="rId2"/>
                <a:stretch>
                  <a:fillRect l="-2436" t="-15116"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F7A8079B-8C52-45E4-9CDB-27C93B9D9FF6}"/>
                  </a:ext>
                </a:extLst>
              </p:cNvPr>
              <p:cNvSpPr txBox="1"/>
              <p:nvPr/>
            </p:nvSpPr>
            <p:spPr>
              <a:xfrm>
                <a:off x="2051720" y="1988840"/>
                <a:ext cx="515323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rPr>
                        <m:t>𝑠</m:t>
                      </m:r>
                      <m:d>
                        <m:dPr>
                          <m:begChr m:val="["/>
                          <m:endChr m:val="]"/>
                          <m:ctrlP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rPr>
                          </m:ctrlPr>
                        </m:dPr>
                        <m:e>
                          <m: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rPr>
                            <m:t>𝑛</m:t>
                          </m:r>
                        </m:e>
                      </m:d>
                      <m: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rPr>
                        <m:t>=</m:t>
                      </m:r>
                      <m: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rPr>
                        <m:t>𝑢</m:t>
                      </m:r>
                      <m:d>
                        <m:dPr>
                          <m:begChr m:val="["/>
                          <m:endChr m:val="]"/>
                          <m:ctrlP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rPr>
                          </m:ctrlPr>
                        </m:dPr>
                        <m:e>
                          <m:r>
                            <a:rPr kumimoji="0" lang="en-US" sz="2800" b="0" i="1" u="none" strike="noStrike" kern="1200" cap="none" spc="0" normalizeH="0" baseline="0" noProof="0">
                              <a:ln>
                                <a:noFill/>
                              </a:ln>
                              <a:solidFill>
                                <a:schemeClr val="tx1"/>
                              </a:solidFill>
                              <a:effectLst/>
                              <a:uLnTx/>
                              <a:uFillTx/>
                              <a:latin typeface="Cambria Math" panose="02040503050406030204" pitchFamily="18" charset="0"/>
                            </a:rPr>
                            <m:t>𝑛</m:t>
                          </m:r>
                        </m:e>
                      </m:d>
                      <m:r>
                        <a:rPr kumimoji="0" lang="en-US" sz="2800" b="0" i="1" u="none" strike="noStrike" kern="1200" cap="none" spc="0" normalizeH="0" baseline="0" noProof="0">
                          <a:ln>
                            <a:noFill/>
                          </a:ln>
                          <a:solidFill>
                            <a:schemeClr val="tx1"/>
                          </a:solidFill>
                          <a:effectLst/>
                          <a:uLnTx/>
                          <a:uFillTx/>
                          <a:latin typeface="Cambria Math" panose="02040503050406030204" pitchFamily="18" charset="0"/>
                        </a:rPr>
                        <m:t>∗</m:t>
                      </m:r>
                      <m:r>
                        <a:rPr kumimoji="0" lang="en-US" sz="2800" b="0" i="1" u="none" strike="noStrike" kern="1200" cap="none" spc="0" normalizeH="0" baseline="0" noProof="0">
                          <a:ln>
                            <a:noFill/>
                          </a:ln>
                          <a:solidFill>
                            <a:schemeClr val="tx1"/>
                          </a:solidFill>
                          <a:effectLst/>
                          <a:uLnTx/>
                          <a:uFillTx/>
                          <a:latin typeface="Cambria Math" panose="02040503050406030204" pitchFamily="18" charset="0"/>
                        </a:rPr>
                        <m:t>h</m:t>
                      </m:r>
                      <m:d>
                        <m:dPr>
                          <m:begChr m:val="["/>
                          <m:endChr m:val="]"/>
                          <m:ctrlP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rPr>
                          </m:ctrlPr>
                        </m:dPr>
                        <m:e>
                          <m:r>
                            <a:rPr kumimoji="0" lang="en-US" sz="2800" b="0" i="1" u="none" strike="noStrike" kern="1200" cap="none" spc="0" normalizeH="0" baseline="0" noProof="0">
                              <a:ln>
                                <a:noFill/>
                              </a:ln>
                              <a:solidFill>
                                <a:schemeClr val="tx1"/>
                              </a:solidFill>
                              <a:effectLst/>
                              <a:uLnTx/>
                              <a:uFillTx/>
                              <a:latin typeface="Cambria Math" panose="02040503050406030204" pitchFamily="18" charset="0"/>
                            </a:rPr>
                            <m:t>𝑛</m:t>
                          </m:r>
                        </m:e>
                      </m:d>
                      <m: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rPr>
                        <m:t>=</m:t>
                      </m:r>
                      <m: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rPr>
                        <m:t>h</m:t>
                      </m:r>
                      <m:d>
                        <m:dPr>
                          <m:begChr m:val="["/>
                          <m:endChr m:val="]"/>
                          <m:ctrlP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rPr>
                          </m:ctrlPr>
                        </m:dPr>
                        <m:e>
                          <m: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rPr>
                            <m:t>𝑛</m:t>
                          </m:r>
                        </m:e>
                      </m:d>
                      <m: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rPr>
                        <m:t>∗</m:t>
                      </m:r>
                      <m: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rPr>
                        <m:t>𝑢</m:t>
                      </m:r>
                      <m: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rPr>
                        <m:t>[</m:t>
                      </m:r>
                      <m: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rPr>
                        <m:t>𝑛</m:t>
                      </m:r>
                      <m:r>
                        <a:rPr kumimoji="0" lang="en-US" sz="2800" b="0" i="1" u="none" strike="noStrike" kern="1200" cap="none" spc="0" normalizeH="0" baseline="0" noProof="0" smtClean="0">
                          <a:ln>
                            <a:noFill/>
                          </a:ln>
                          <a:solidFill>
                            <a:schemeClr val="tx1"/>
                          </a:solidFill>
                          <a:effectLst/>
                          <a:uLnTx/>
                          <a:uFillTx/>
                          <a:latin typeface="Cambria Math" panose="02040503050406030204" pitchFamily="18" charset="0"/>
                        </a:rPr>
                        <m:t>]</m:t>
                      </m:r>
                    </m:oMath>
                  </m:oMathPara>
                </a14:m>
                <a:endParaRPr lang="en-US" sz="2800" dirty="0">
                  <a:solidFill>
                    <a:schemeClr val="tx1"/>
                  </a:solidFill>
                </a:endParaRPr>
              </a:p>
            </p:txBody>
          </p:sp>
        </mc:Choice>
        <mc:Fallback xmlns="">
          <p:sp>
            <p:nvSpPr>
              <p:cNvPr id="40" name="文本框 39">
                <a:extLst>
                  <a:ext uri="{FF2B5EF4-FFF2-40B4-BE49-F238E27FC236}">
                    <a16:creationId xmlns:a16="http://schemas.microsoft.com/office/drawing/2014/main" id="{F7A8079B-8C52-45E4-9CDB-27C93B9D9FF6}"/>
                  </a:ext>
                </a:extLst>
              </p:cNvPr>
              <p:cNvSpPr txBox="1">
                <a:spLocks noRot="1" noChangeAspect="1" noMove="1" noResize="1" noEditPoints="1" noAdjustHandles="1" noChangeArrowheads="1" noChangeShapeType="1" noTextEdit="1"/>
              </p:cNvSpPr>
              <p:nvPr/>
            </p:nvSpPr>
            <p:spPr>
              <a:xfrm>
                <a:off x="2051720" y="1988840"/>
                <a:ext cx="5153239" cy="523220"/>
              </a:xfrm>
              <a:prstGeom prst="rect">
                <a:avLst/>
              </a:prstGeom>
              <a:blipFill>
                <a:blip r:embed="rId3"/>
                <a:stretch>
                  <a:fillRect/>
                </a:stretch>
              </a:blipFill>
            </p:spPr>
            <p:txBody>
              <a:bodyPr/>
              <a:lstStyle/>
              <a:p>
                <a:r>
                  <a:rPr lang="en-US">
                    <a:noFill/>
                  </a:rPr>
                  <a:t> </a:t>
                </a:r>
              </a:p>
            </p:txBody>
          </p:sp>
        </mc:Fallback>
      </mc:AlternateContent>
      <p:cxnSp>
        <p:nvCxnSpPr>
          <p:cNvPr id="7" name="直接箭头连接符 6">
            <a:extLst>
              <a:ext uri="{FF2B5EF4-FFF2-40B4-BE49-F238E27FC236}">
                <a16:creationId xmlns:a16="http://schemas.microsoft.com/office/drawing/2014/main" id="{872A65B9-C94F-4416-AC02-464AFFB69BBC}"/>
              </a:ext>
            </a:extLst>
          </p:cNvPr>
          <p:cNvCxnSpPr/>
          <p:nvPr/>
        </p:nvCxnSpPr>
        <p:spPr>
          <a:xfrm flipV="1">
            <a:off x="3635896" y="2567546"/>
            <a:ext cx="0" cy="813187"/>
          </a:xfrm>
          <a:prstGeom prst="straightConnector1">
            <a:avLst/>
          </a:prstGeom>
          <a:ln w="158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C159BD34-9C91-47B4-8286-1B48591085AD}"/>
              </a:ext>
            </a:extLst>
          </p:cNvPr>
          <p:cNvCxnSpPr/>
          <p:nvPr/>
        </p:nvCxnSpPr>
        <p:spPr>
          <a:xfrm flipV="1">
            <a:off x="5711053" y="2567545"/>
            <a:ext cx="0" cy="813187"/>
          </a:xfrm>
          <a:prstGeom prst="straightConnector1">
            <a:avLst/>
          </a:prstGeom>
          <a:ln w="158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E3694557-22A2-4C00-802D-9AE1A8858342}"/>
              </a:ext>
            </a:extLst>
          </p:cNvPr>
          <p:cNvCxnSpPr/>
          <p:nvPr/>
        </p:nvCxnSpPr>
        <p:spPr>
          <a:xfrm flipV="1">
            <a:off x="6745313" y="2567544"/>
            <a:ext cx="0" cy="813187"/>
          </a:xfrm>
          <a:prstGeom prst="straightConnector1">
            <a:avLst/>
          </a:prstGeom>
          <a:ln w="158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5B6AAC4D-35C1-4FC6-AE8B-DFBABA0B996E}"/>
              </a:ext>
            </a:extLst>
          </p:cNvPr>
          <p:cNvSpPr txBox="1"/>
          <p:nvPr/>
        </p:nvSpPr>
        <p:spPr>
          <a:xfrm>
            <a:off x="3072906" y="3593756"/>
            <a:ext cx="1125983" cy="830997"/>
          </a:xfrm>
          <a:prstGeom prst="rect">
            <a:avLst/>
          </a:prstGeom>
          <a:noFill/>
        </p:spPr>
        <p:txBody>
          <a:bodyPr wrap="square" rtlCol="0">
            <a:spAutoFit/>
          </a:bodyPr>
          <a:lstStyle/>
          <a:p>
            <a:pPr algn="ctr"/>
            <a:r>
              <a:rPr lang="zh-CN" altLang="en-US" sz="2400" dirty="0">
                <a:solidFill>
                  <a:srgbClr val="0000FF"/>
                </a:solidFill>
                <a:latin typeface="Cambria Math" panose="02040503050406030204" pitchFamily="18" charset="0"/>
                <a:ea typeface="楷体" panose="02010609060101010101" pitchFamily="49" charset="-122"/>
              </a:rPr>
              <a:t>单位阶跃输入</a:t>
            </a:r>
            <a:endParaRPr lang="en-US" sz="2400" dirty="0">
              <a:solidFill>
                <a:srgbClr val="0000FF"/>
              </a:solidFill>
              <a:latin typeface="Cambria Math" panose="02040503050406030204" pitchFamily="18" charset="0"/>
              <a:ea typeface="楷体" panose="02010609060101010101" pitchFamily="49" charset="-122"/>
            </a:endParaRPr>
          </a:p>
        </p:txBody>
      </p:sp>
      <p:sp>
        <p:nvSpPr>
          <p:cNvPr id="46" name="文本框 45">
            <a:extLst>
              <a:ext uri="{FF2B5EF4-FFF2-40B4-BE49-F238E27FC236}">
                <a16:creationId xmlns:a16="http://schemas.microsoft.com/office/drawing/2014/main" id="{06C9A062-F07B-41FD-9E1B-95364B32308E}"/>
              </a:ext>
            </a:extLst>
          </p:cNvPr>
          <p:cNvSpPr txBox="1"/>
          <p:nvPr/>
        </p:nvSpPr>
        <p:spPr>
          <a:xfrm>
            <a:off x="5148064" y="3593756"/>
            <a:ext cx="1125983" cy="461665"/>
          </a:xfrm>
          <a:prstGeom prst="rect">
            <a:avLst/>
          </a:prstGeom>
          <a:noFill/>
        </p:spPr>
        <p:txBody>
          <a:bodyPr wrap="square" rtlCol="0">
            <a:spAutoFit/>
          </a:bodyPr>
          <a:lstStyle/>
          <a:p>
            <a:pPr algn="ctr"/>
            <a:r>
              <a:rPr lang="en-US" altLang="zh-CN" sz="2400" dirty="0">
                <a:solidFill>
                  <a:srgbClr val="0000FF"/>
                </a:solidFill>
                <a:latin typeface="Cambria Math" panose="02040503050406030204" pitchFamily="18" charset="0"/>
                <a:ea typeface="楷体" panose="02010609060101010101" pitchFamily="49" charset="-122"/>
              </a:rPr>
              <a:t>“</a:t>
            </a:r>
            <a:r>
              <a:rPr lang="zh-CN" altLang="en-US" sz="2400" dirty="0">
                <a:solidFill>
                  <a:srgbClr val="0000FF"/>
                </a:solidFill>
                <a:latin typeface="Cambria Math" panose="02040503050406030204" pitchFamily="18" charset="0"/>
                <a:ea typeface="楷体" panose="02010609060101010101" pitchFamily="49" charset="-122"/>
              </a:rPr>
              <a:t>输入</a:t>
            </a:r>
            <a:r>
              <a:rPr lang="en-US" altLang="zh-CN" sz="2400" dirty="0">
                <a:solidFill>
                  <a:srgbClr val="0000FF"/>
                </a:solidFill>
                <a:latin typeface="Cambria Math" panose="02040503050406030204" pitchFamily="18" charset="0"/>
                <a:ea typeface="楷体" panose="02010609060101010101" pitchFamily="49" charset="-122"/>
              </a:rPr>
              <a:t>”</a:t>
            </a:r>
            <a:endParaRPr lang="en-US" sz="2400" dirty="0">
              <a:solidFill>
                <a:srgbClr val="0000FF"/>
              </a:solidFill>
              <a:latin typeface="Cambria Math" panose="02040503050406030204" pitchFamily="18" charset="0"/>
              <a:ea typeface="楷体" panose="02010609060101010101" pitchFamily="49" charset="-122"/>
            </a:endParaRPr>
          </a:p>
        </p:txBody>
      </p:sp>
      <p:sp>
        <p:nvSpPr>
          <p:cNvPr id="47" name="文本框 46">
            <a:extLst>
              <a:ext uri="{FF2B5EF4-FFF2-40B4-BE49-F238E27FC236}">
                <a16:creationId xmlns:a16="http://schemas.microsoft.com/office/drawing/2014/main" id="{05C45A25-24E2-4598-8A1E-B1D4A14CAE53}"/>
              </a:ext>
            </a:extLst>
          </p:cNvPr>
          <p:cNvSpPr txBox="1"/>
          <p:nvPr/>
        </p:nvSpPr>
        <p:spPr>
          <a:xfrm>
            <a:off x="6372200" y="3593756"/>
            <a:ext cx="1440155" cy="1200329"/>
          </a:xfrm>
          <a:prstGeom prst="rect">
            <a:avLst/>
          </a:prstGeom>
          <a:noFill/>
        </p:spPr>
        <p:txBody>
          <a:bodyPr wrap="square" rtlCol="0">
            <a:spAutoFit/>
          </a:bodyPr>
          <a:lstStyle/>
          <a:p>
            <a:pPr algn="ctr"/>
            <a:r>
              <a:rPr lang="zh-CN" altLang="en-US" sz="2400" dirty="0">
                <a:solidFill>
                  <a:srgbClr val="0000FF"/>
                </a:solidFill>
                <a:latin typeface="Cambria Math" panose="02040503050406030204" pitchFamily="18" charset="0"/>
                <a:ea typeface="楷体" panose="02010609060101010101" pitchFamily="49" charset="-122"/>
              </a:rPr>
              <a:t>累加器的单位脉冲响应</a:t>
            </a:r>
            <a:endParaRPr lang="en-US" sz="2400" dirty="0">
              <a:solidFill>
                <a:srgbClr val="0000FF"/>
              </a:solidFill>
              <a:latin typeface="Cambria Math" panose="02040503050406030204" pitchFamily="18" charset="0"/>
              <a:ea typeface="楷体" panose="02010609060101010101" pitchFamily="49" charset="-122"/>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0D33164B-254F-482C-952D-32F76EDCB0AC}"/>
                  </a:ext>
                </a:extLst>
              </p:cNvPr>
              <p:cNvSpPr txBox="1"/>
              <p:nvPr/>
            </p:nvSpPr>
            <p:spPr>
              <a:xfrm>
                <a:off x="3650516" y="4775832"/>
                <a:ext cx="30938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oMath>
                  </m:oMathPara>
                </a14:m>
                <a:endParaRPr lang="en-US" sz="2800" dirty="0"/>
              </a:p>
            </p:txBody>
          </p:sp>
        </mc:Choice>
        <mc:Fallback xmlns="">
          <p:sp>
            <p:nvSpPr>
              <p:cNvPr id="8" name="文本框 7">
                <a:extLst>
                  <a:ext uri="{FF2B5EF4-FFF2-40B4-BE49-F238E27FC236}">
                    <a16:creationId xmlns:a16="http://schemas.microsoft.com/office/drawing/2014/main" id="{0D33164B-254F-482C-952D-32F76EDCB0AC}"/>
                  </a:ext>
                </a:extLst>
              </p:cNvPr>
              <p:cNvSpPr txBox="1">
                <a:spLocks noRot="1" noChangeAspect="1" noMove="1" noResize="1" noEditPoints="1" noAdjustHandles="1" noChangeArrowheads="1" noChangeShapeType="1" noTextEdit="1"/>
              </p:cNvSpPr>
              <p:nvPr/>
            </p:nvSpPr>
            <p:spPr>
              <a:xfrm>
                <a:off x="3650516" y="4775832"/>
                <a:ext cx="309380" cy="43088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D5BA1E9D-9205-49B3-9526-BD80CB77129F}"/>
                  </a:ext>
                </a:extLst>
              </p:cNvPr>
              <p:cNvSpPr txBox="1"/>
              <p:nvPr/>
            </p:nvSpPr>
            <p:spPr>
              <a:xfrm>
                <a:off x="2304253" y="5220110"/>
                <a:ext cx="2843811" cy="817981"/>
              </a:xfrm>
              <a:prstGeom prst="rect">
                <a:avLst/>
              </a:prstGeom>
              <a:noFill/>
              <a:ln w="25400">
                <a:solidFill>
                  <a:srgbClr val="FF0000"/>
                </a:solidFill>
              </a:ln>
            </p:spPr>
            <p:txBody>
              <a:bodyPr wrap="square">
                <a:spAutoFit/>
              </a:bodyPr>
              <a:lstStyle/>
              <a:p>
                <a:pPr/>
                <a14:m>
                  <m:oMathPara xmlns:m="http://schemas.openxmlformats.org/officeDocument/2006/math">
                    <m:oMathParaPr>
                      <m:jc m:val="center"/>
                    </m:oMathParaPr>
                    <m:oMath xmlns:m="http://schemas.openxmlformats.org/officeDocument/2006/math">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𝑠</m:t>
                      </m:r>
                      <m:d>
                        <m:dPr>
                          <m:begChr m:val="["/>
                          <m:endChr m:val="]"/>
                          <m:ctrlP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ctrlPr>
                        </m:dPr>
                        <m:e>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𝑛</m:t>
                          </m:r>
                        </m:e>
                      </m:d>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m:t>
                      </m:r>
                      <m:nary>
                        <m:naryPr>
                          <m:chr m:val="∑"/>
                          <m:limLoc m:val="subSup"/>
                          <m:ctrlPr>
                            <a:rPr kumimoji="0" lang="en-US" altLang="zh-CN" sz="2400" b="0" i="1" u="none" strike="noStrike" kern="1200" cap="none" spc="0" normalizeH="0" baseline="0" noProof="0">
                              <a:ln>
                                <a:noFill/>
                              </a:ln>
                              <a:solidFill>
                                <a:srgbClr val="0000FF"/>
                              </a:solidFill>
                              <a:effectLst/>
                              <a:uLnTx/>
                              <a:uFillTx/>
                              <a:latin typeface="Cambria Math" panose="02040503050406030204" pitchFamily="18" charset="0"/>
                              <a:ea typeface="楷体" panose="02010609060101010101" pitchFamily="49" charset="-122"/>
                              <a:cs typeface="+mn-cs"/>
                            </a:rPr>
                          </m:ctrlPr>
                        </m:naryPr>
                        <m:sub>
                          <m:r>
                            <m:rPr>
                              <m:brk m:alnAt="25"/>
                            </m:rPr>
                            <a:rPr kumimoji="0" lang="en-US" altLang="zh-CN" sz="2400" b="0" i="1" u="none" strike="noStrike" kern="1200" cap="none" spc="0" normalizeH="0" baseline="0" noProof="0">
                              <a:ln>
                                <a:noFill/>
                              </a:ln>
                              <a:solidFill>
                                <a:srgbClr val="0000FF"/>
                              </a:solidFill>
                              <a:effectLst/>
                              <a:uLnTx/>
                              <a:uFillTx/>
                              <a:latin typeface="Cambria Math" panose="02040503050406030204" pitchFamily="18" charset="0"/>
                              <a:ea typeface="楷体" panose="02010609060101010101" pitchFamily="49" charset="-122"/>
                              <a:cs typeface="+mn-cs"/>
                            </a:rPr>
                            <m:t>𝑘</m:t>
                          </m:r>
                          <m:r>
                            <a:rPr kumimoji="0" lang="en-US" altLang="zh-CN" sz="2400" b="0" i="1" u="none" strike="noStrike" kern="1200" cap="none" spc="0" normalizeH="0" baseline="0" noProof="0">
                              <a:ln>
                                <a:noFill/>
                              </a:ln>
                              <a:solidFill>
                                <a:srgbClr val="0000FF"/>
                              </a:solidFill>
                              <a:effectLst/>
                              <a:uLnTx/>
                              <a:uFillTx/>
                              <a:latin typeface="Cambria Math" panose="02040503050406030204" pitchFamily="18" charset="0"/>
                              <a:ea typeface="楷体" panose="02010609060101010101" pitchFamily="49" charset="-122"/>
                              <a:cs typeface="+mn-cs"/>
                            </a:rPr>
                            <m:t>=−∞</m:t>
                          </m:r>
                        </m:sub>
                        <m:sup>
                          <m:r>
                            <a:rPr kumimoji="0" lang="en-US" altLang="zh-CN" sz="2400" b="0" i="1" u="none" strike="noStrike" kern="1200" cap="none" spc="0" normalizeH="0" baseline="0" noProof="0">
                              <a:ln>
                                <a:noFill/>
                              </a:ln>
                              <a:solidFill>
                                <a:srgbClr val="0000FF"/>
                              </a:solidFill>
                              <a:effectLst/>
                              <a:uLnTx/>
                              <a:uFillTx/>
                              <a:latin typeface="Cambria Math" panose="02040503050406030204" pitchFamily="18" charset="0"/>
                              <a:ea typeface="楷体" panose="02010609060101010101" pitchFamily="49" charset="-122"/>
                              <a:cs typeface="+mn-cs"/>
                            </a:rPr>
                            <m:t>𝑛</m:t>
                          </m:r>
                        </m:sup>
                        <m:e>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ea typeface="楷体" panose="02010609060101010101" pitchFamily="49" charset="-122"/>
                              <a:cs typeface="+mn-cs"/>
                            </a:rPr>
                            <m:t>h</m:t>
                          </m:r>
                          <m:d>
                            <m:dPr>
                              <m:begChr m:val="["/>
                              <m:endChr m:val="]"/>
                              <m:ctrlPr>
                                <a:rPr kumimoji="0" lang="en-US" altLang="zh-CN" sz="2400" b="0" i="1" u="none" strike="noStrike" kern="1200" cap="none" spc="0" normalizeH="0" baseline="0" noProof="0">
                                  <a:ln>
                                    <a:noFill/>
                                  </a:ln>
                                  <a:solidFill>
                                    <a:srgbClr val="0000FF"/>
                                  </a:solidFill>
                                  <a:effectLst/>
                                  <a:uLnTx/>
                                  <a:uFillTx/>
                                  <a:latin typeface="Cambria Math" panose="02040503050406030204" pitchFamily="18" charset="0"/>
                                  <a:ea typeface="楷体" panose="02010609060101010101" pitchFamily="49" charset="-122"/>
                                  <a:cs typeface="+mn-cs"/>
                                </a:rPr>
                              </m:ctrlPr>
                            </m:dPr>
                            <m:e>
                              <m:r>
                                <a:rPr kumimoji="0" lang="en-US" altLang="zh-CN" sz="2400" b="0" i="1" u="none" strike="noStrike" kern="1200" cap="none" spc="0" normalizeH="0" baseline="0" noProof="0">
                                  <a:ln>
                                    <a:noFill/>
                                  </a:ln>
                                  <a:solidFill>
                                    <a:srgbClr val="0000FF"/>
                                  </a:solidFill>
                                  <a:effectLst/>
                                  <a:uLnTx/>
                                  <a:uFillTx/>
                                  <a:latin typeface="Cambria Math" panose="02040503050406030204" pitchFamily="18" charset="0"/>
                                  <a:ea typeface="楷体" panose="02010609060101010101" pitchFamily="49" charset="-122"/>
                                  <a:cs typeface="+mn-cs"/>
                                </a:rPr>
                                <m:t>𝑘</m:t>
                              </m:r>
                            </m:e>
                          </m:d>
                        </m:e>
                      </m:nary>
                    </m:oMath>
                  </m:oMathPara>
                </a14:m>
                <a:endParaRPr lang="en-US" dirty="0"/>
              </a:p>
            </p:txBody>
          </p:sp>
        </mc:Choice>
        <mc:Fallback xmlns="">
          <p:sp>
            <p:nvSpPr>
              <p:cNvPr id="52" name="文本框 51">
                <a:extLst>
                  <a:ext uri="{FF2B5EF4-FFF2-40B4-BE49-F238E27FC236}">
                    <a16:creationId xmlns:a16="http://schemas.microsoft.com/office/drawing/2014/main" id="{D5BA1E9D-9205-49B3-9526-BD80CB77129F}"/>
                  </a:ext>
                </a:extLst>
              </p:cNvPr>
              <p:cNvSpPr txBox="1">
                <a:spLocks noRot="1" noChangeAspect="1" noMove="1" noResize="1" noEditPoints="1" noAdjustHandles="1" noChangeArrowheads="1" noChangeShapeType="1" noTextEdit="1"/>
              </p:cNvSpPr>
              <p:nvPr/>
            </p:nvSpPr>
            <p:spPr>
              <a:xfrm>
                <a:off x="2304253" y="5220110"/>
                <a:ext cx="2843811" cy="817981"/>
              </a:xfrm>
              <a:prstGeom prst="rect">
                <a:avLst/>
              </a:prstGeom>
              <a:blipFill>
                <a:blip r:embed="rId5"/>
                <a:stretch>
                  <a:fillRect/>
                </a:stretch>
              </a:blipFill>
              <a:ln w="25400">
                <a:solidFill>
                  <a:srgbClr val="FF0000"/>
                </a:solidFill>
              </a:ln>
            </p:spPr>
            <p:txBody>
              <a:bodyPr/>
              <a:lstStyle/>
              <a:p>
                <a:r>
                  <a:rPr lang="zh-CN" altLang="en-US">
                    <a:noFill/>
                  </a:rPr>
                  <a:t> </a:t>
                </a:r>
              </a:p>
            </p:txBody>
          </p:sp>
        </mc:Fallback>
      </mc:AlternateContent>
      <p:sp>
        <p:nvSpPr>
          <p:cNvPr id="2" name="矩形 1"/>
          <p:cNvSpPr/>
          <p:nvPr/>
        </p:nvSpPr>
        <p:spPr>
          <a:xfrm>
            <a:off x="5786267" y="5426953"/>
            <a:ext cx="1415773" cy="461665"/>
          </a:xfrm>
          <a:prstGeom prst="rect">
            <a:avLst/>
          </a:prstGeom>
        </p:spPr>
        <p:txBody>
          <a:bodyPr wrap="none">
            <a:spAutoFit/>
          </a:bodyPr>
          <a:lstStyle/>
          <a:p>
            <a:pPr algn="ctr"/>
            <a:r>
              <a:rPr lang="zh-CN" altLang="en-US" sz="2400" dirty="0" smtClean="0">
                <a:solidFill>
                  <a:srgbClr val="0000FF"/>
                </a:solidFill>
                <a:latin typeface="Cambria Math" panose="02040503050406030204" pitchFamily="18" charset="0"/>
                <a:ea typeface="楷体" panose="02010609060101010101" pitchFamily="49" charset="-122"/>
              </a:rPr>
              <a:t>为什么？</a:t>
            </a:r>
            <a:endParaRPr lang="en-US" altLang="zh-CN" sz="2400" dirty="0">
              <a:solidFill>
                <a:srgbClr val="0000FF"/>
              </a:solidFill>
              <a:latin typeface="Cambria Math" panose="02040503050406030204" pitchFamily="18" charset="0"/>
              <a:ea typeface="楷体" panose="02010609060101010101" pitchFamily="49" charset="-122"/>
            </a:endParaRPr>
          </a:p>
        </p:txBody>
      </p:sp>
    </p:spTree>
    <p:extLst>
      <p:ext uri="{BB962C8B-B14F-4D97-AF65-F5344CB8AC3E}">
        <p14:creationId xmlns:p14="http://schemas.microsoft.com/office/powerpoint/2010/main" val="3416870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4" name="标题 1">
            <a:extLst>
              <a:ext uri="{FF2B5EF4-FFF2-40B4-BE49-F238E27FC236}">
                <a16:creationId xmlns:a16="http://schemas.microsoft.com/office/drawing/2014/main" id="{3FC53EC6-1165-49E2-A067-A06A36E5F473}"/>
              </a:ext>
            </a:extLst>
          </p:cNvPr>
          <p:cNvSpPr>
            <a:spLocks noGrp="1"/>
          </p:cNvSpPr>
          <p:nvPr>
            <p:ph type="title"/>
          </p:nvPr>
        </p:nvSpPr>
        <p:spPr/>
        <p:txBody>
          <a:bodyPr/>
          <a:lstStyle/>
          <a:p>
            <a:r>
              <a:rPr lang="en-US" altLang="zh-CN"/>
              <a:t>2.3 </a:t>
            </a:r>
            <a:r>
              <a:rPr lang="zh-CN" altLang="en-US"/>
              <a:t>线性时不变系统的性质</a:t>
            </a:r>
          </a:p>
        </p:txBody>
      </p:sp>
      <p:sp>
        <p:nvSpPr>
          <p:cNvPr id="8215" name="内容占位符 2">
            <a:extLst>
              <a:ext uri="{FF2B5EF4-FFF2-40B4-BE49-F238E27FC236}">
                <a16:creationId xmlns:a16="http://schemas.microsoft.com/office/drawing/2014/main" id="{1F94C755-DEE3-46E3-984B-F39D7E70781B}"/>
              </a:ext>
            </a:extLst>
          </p:cNvPr>
          <p:cNvSpPr>
            <a:spLocks noGrp="1"/>
          </p:cNvSpPr>
          <p:nvPr>
            <p:ph idx="1"/>
          </p:nvPr>
        </p:nvSpPr>
        <p:spPr>
          <a:xfrm>
            <a:off x="457200" y="1285875"/>
            <a:ext cx="8229600" cy="461665"/>
          </a:xfrm>
        </p:spPr>
        <p:txBody>
          <a:bodyPr>
            <a:spAutoFit/>
          </a:bodyPr>
          <a:lstStyle/>
          <a:p>
            <a:pPr marL="0" indent="0">
              <a:buNone/>
            </a:pPr>
            <a:r>
              <a:rPr lang="en-US" altLang="zh-CN" sz="2400" b="0" dirty="0"/>
              <a:t>2. </a:t>
            </a:r>
            <a:r>
              <a:rPr lang="zh-CN" altLang="en-US" sz="2400" b="0" dirty="0">
                <a:solidFill>
                  <a:srgbClr val="FF0000"/>
                </a:solidFill>
              </a:rPr>
              <a:t>分配律</a:t>
            </a:r>
            <a:r>
              <a:rPr lang="zh-CN" altLang="en-US" sz="2400" b="0" dirty="0"/>
              <a:t>：</a:t>
            </a:r>
          </a:p>
        </p:txBody>
      </p:sp>
      <p:sp>
        <p:nvSpPr>
          <p:cNvPr id="4" name="灯片编号占位符 3">
            <a:extLst>
              <a:ext uri="{FF2B5EF4-FFF2-40B4-BE49-F238E27FC236}">
                <a16:creationId xmlns:a16="http://schemas.microsoft.com/office/drawing/2014/main" id="{119731FB-AB0A-411B-97A6-BF594420282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AC49496-A7E3-4F40-8AF8-BE3ED73413CF}"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33830" name="Object 38">
                <a:extLst>
                  <a:ext uri="{FF2B5EF4-FFF2-40B4-BE49-F238E27FC236}">
                    <a16:creationId xmlns:a16="http://schemas.microsoft.com/office/drawing/2014/main" id="{0A16C6CB-D10A-416C-97DF-F2DAFA147122}"/>
                  </a:ext>
                </a:extLst>
              </p:cNvPr>
              <p:cNvSpPr txBox="1"/>
              <p:nvPr/>
            </p:nvSpPr>
            <p:spPr bwMode="auto">
              <a:xfrm>
                <a:off x="1058913" y="1898353"/>
                <a:ext cx="7157988" cy="1569660"/>
              </a:xfrm>
              <a:prstGeom prst="rect">
                <a:avLst/>
              </a:prstGeom>
              <a:noFill/>
              <a:ln>
                <a:noFill/>
              </a:ln>
              <a:effectLst/>
            </p:spPr>
            <p:txBody>
              <a:bodyPr wrap="square">
                <a:spAutoFit/>
              </a:bodyPr>
              <a:lstStyle/>
              <a:p>
                <a:pPr algn="ctr">
                  <a:lnSpc>
                    <a:spcPct val="200000"/>
                  </a:lnSpc>
                </a:pPr>
                <a14:m>
                  <m:oMathPara xmlns:m="http://schemas.openxmlformats.org/officeDocument/2006/math">
                    <m:oMathParaPr>
                      <m:jc m:val="center"/>
                    </m:oMathParaPr>
                    <m:oMath xmlns:m="http://schemas.openxmlformats.org/officeDocument/2006/math">
                      <m:r>
                        <a:rPr lang="en-US" sz="240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1</m:t>
                          </m:r>
                        </m:sub>
                      </m:sSub>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2</m:t>
                          </m:r>
                        </m:sub>
                      </m:sSub>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oMath>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1</m:t>
                          </m:r>
                        </m:sub>
                      </m:sSub>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𝑡</m:t>
                      </m:r>
                      <m:r>
                        <a:rPr lang="en-US" sz="2400" b="0" i="1" smtClean="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2</m:t>
                          </m:r>
                        </m:sub>
                      </m:sSub>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𝑡</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33830" name="Object 38">
                <a:extLst>
                  <a:ext uri="{FF2B5EF4-FFF2-40B4-BE49-F238E27FC236}">
                    <a16:creationId xmlns:a16="http://schemas.microsoft.com/office/drawing/2014/main" id="{0A16C6CB-D10A-416C-97DF-F2DAFA147122}"/>
                  </a:ext>
                </a:extLst>
              </p:cNvPr>
              <p:cNvSpPr txBox="1">
                <a:spLocks noRot="1" noChangeAspect="1" noMove="1" noResize="1" noEditPoints="1" noAdjustHandles="1" noChangeArrowheads="1" noChangeShapeType="1" noTextEdit="1"/>
              </p:cNvSpPr>
              <p:nvPr/>
            </p:nvSpPr>
            <p:spPr bwMode="auto">
              <a:xfrm>
                <a:off x="1058913" y="1898353"/>
                <a:ext cx="7157988" cy="1569660"/>
              </a:xfrm>
              <a:prstGeom prst="rect">
                <a:avLst/>
              </a:prstGeom>
              <a:blipFill>
                <a:blip r:embed="rId3"/>
                <a:stretch>
                  <a:fillRect/>
                </a:stretch>
              </a:blipFill>
              <a:ln>
                <a:noFill/>
              </a:ln>
              <a:effectLst/>
            </p:spPr>
            <p:txBody>
              <a:bodyPr/>
              <a:lstStyle/>
              <a:p>
                <a:r>
                  <a:rPr lang="en-US">
                    <a:noFill/>
                  </a:rPr>
                  <a:t> </a:t>
                </a:r>
              </a:p>
            </p:txBody>
          </p:sp>
        </mc:Fallback>
      </mc:AlternateContent>
      <p:grpSp>
        <p:nvGrpSpPr>
          <p:cNvPr id="8217" name="Group 2">
            <a:extLst>
              <a:ext uri="{FF2B5EF4-FFF2-40B4-BE49-F238E27FC236}">
                <a16:creationId xmlns:a16="http://schemas.microsoft.com/office/drawing/2014/main" id="{5482FAA0-9F66-4576-84A5-30B0500EC761}"/>
              </a:ext>
            </a:extLst>
          </p:cNvPr>
          <p:cNvGrpSpPr>
            <a:grpSpLocks/>
          </p:cNvGrpSpPr>
          <p:nvPr/>
        </p:nvGrpSpPr>
        <p:grpSpPr bwMode="auto">
          <a:xfrm>
            <a:off x="681704" y="4471303"/>
            <a:ext cx="3538882" cy="1205216"/>
            <a:chOff x="1068" y="1507"/>
            <a:chExt cx="2028" cy="696"/>
          </a:xfrm>
        </p:grpSpPr>
        <p:sp>
          <p:nvSpPr>
            <p:cNvPr id="8231" name="Line 3">
              <a:extLst>
                <a:ext uri="{FF2B5EF4-FFF2-40B4-BE49-F238E27FC236}">
                  <a16:creationId xmlns:a16="http://schemas.microsoft.com/office/drawing/2014/main" id="{BE2276C0-F2F6-47CB-A3F7-7ACC00F5AC2C}"/>
                </a:ext>
              </a:extLst>
            </p:cNvPr>
            <p:cNvSpPr>
              <a:spLocks noChangeShapeType="1"/>
            </p:cNvSpPr>
            <p:nvPr/>
          </p:nvSpPr>
          <p:spPr bwMode="auto">
            <a:xfrm>
              <a:off x="1068" y="1796"/>
              <a:ext cx="399"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8232" name="Rectangle 4">
                  <a:extLst>
                    <a:ext uri="{FF2B5EF4-FFF2-40B4-BE49-F238E27FC236}">
                      <a16:creationId xmlns:a16="http://schemas.microsoft.com/office/drawing/2014/main" id="{F219A46D-2465-40BB-906D-7842FF1C9F31}"/>
                    </a:ext>
                  </a:extLst>
                </p:cNvPr>
                <p:cNvSpPr>
                  <a:spLocks noChangeArrowheads="1"/>
                </p:cNvSpPr>
                <p:nvPr/>
              </p:nvSpPr>
              <p:spPr bwMode="auto">
                <a:xfrm>
                  <a:off x="1467" y="1663"/>
                  <a:ext cx="1192" cy="267"/>
                </a:xfrm>
                <a:prstGeom prst="rect">
                  <a:avLst/>
                </a:prstGeom>
                <a:solidFill>
                  <a:srgbClr val="00CCFF"/>
                </a:solidFill>
                <a:ln w="9525">
                  <a:solidFill>
                    <a:schemeClr val="tx1"/>
                  </a:solidFill>
                  <a:miter lim="800000"/>
                  <a:headEnd/>
                  <a:tailEnd/>
                </a:ln>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1</m:t>
                            </m:r>
                          </m:sub>
                        </m:sSub>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2</m:t>
                            </m:r>
                          </m:sub>
                        </m:sSub>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kumimoji="0" lang="zh-CN" altLang="en-US" sz="240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8232" name="Rectangle 4">
                  <a:extLst>
                    <a:ext uri="{FF2B5EF4-FFF2-40B4-BE49-F238E27FC236}">
                      <a16:creationId xmlns:a16="http://schemas.microsoft.com/office/drawing/2014/main" id="{F219A46D-2465-40BB-906D-7842FF1C9F31}"/>
                    </a:ext>
                  </a:extLst>
                </p:cNvPr>
                <p:cNvSpPr>
                  <a:spLocks noRot="1" noChangeAspect="1" noMove="1" noResize="1" noEditPoints="1" noAdjustHandles="1" noChangeArrowheads="1" noChangeShapeType="1" noTextEdit="1"/>
                </p:cNvSpPr>
                <p:nvPr/>
              </p:nvSpPr>
              <p:spPr bwMode="auto">
                <a:xfrm>
                  <a:off x="1467" y="1663"/>
                  <a:ext cx="1192" cy="267"/>
                </a:xfrm>
                <a:prstGeom prst="rect">
                  <a:avLst/>
                </a:prstGeom>
                <a:blipFill>
                  <a:blip r:embed="rId4"/>
                  <a:stretch>
                    <a:fillRect b="-17949"/>
                  </a:stretch>
                </a:blipFill>
                <a:ln w="9525">
                  <a:solidFill>
                    <a:schemeClr val="tx1"/>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08" name="Object 5">
                  <a:extLst>
                    <a:ext uri="{FF2B5EF4-FFF2-40B4-BE49-F238E27FC236}">
                      <a16:creationId xmlns:a16="http://schemas.microsoft.com/office/drawing/2014/main" id="{ACBCD836-A0EE-4EAB-8262-F740CA0FFE07}"/>
                    </a:ext>
                  </a:extLst>
                </p:cNvPr>
                <p:cNvSpPr txBox="1"/>
                <p:nvPr/>
              </p:nvSpPr>
              <p:spPr bwMode="auto">
                <a:xfrm>
                  <a:off x="1068" y="1515"/>
                  <a:ext cx="407" cy="267"/>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8208" name="Object 5">
                  <a:extLst>
                    <a:ext uri="{FF2B5EF4-FFF2-40B4-BE49-F238E27FC236}">
                      <a16:creationId xmlns:a16="http://schemas.microsoft.com/office/drawing/2014/main" id="{ACBCD836-A0EE-4EAB-8262-F740CA0FFE07}"/>
                    </a:ext>
                  </a:extLst>
                </p:cNvPr>
                <p:cNvSpPr txBox="1">
                  <a:spLocks noRot="1" noChangeAspect="1" noMove="1" noResize="1" noEditPoints="1" noAdjustHandles="1" noChangeArrowheads="1" noChangeShapeType="1" noTextEdit="1"/>
                </p:cNvSpPr>
                <p:nvPr/>
              </p:nvSpPr>
              <p:spPr bwMode="auto">
                <a:xfrm>
                  <a:off x="1068" y="1515"/>
                  <a:ext cx="407" cy="267"/>
                </a:xfrm>
                <a:prstGeom prst="rect">
                  <a:avLst/>
                </a:prstGeom>
                <a:blipFill>
                  <a:blip r:embed="rId5"/>
                  <a:stretch>
                    <a:fillRect r="-12931" b="-19737"/>
                  </a:stretch>
                </a:blipFill>
                <a:ln>
                  <a:noFill/>
                </a:ln>
                <a:effectLst/>
              </p:spPr>
              <p:txBody>
                <a:bodyPr/>
                <a:lstStyle/>
                <a:p>
                  <a:r>
                    <a:rPr lang="en-US">
                      <a:noFill/>
                    </a:rPr>
                    <a:t> </a:t>
                  </a:r>
                </a:p>
              </p:txBody>
            </p:sp>
          </mc:Fallback>
        </mc:AlternateContent>
        <p:sp>
          <p:nvSpPr>
            <p:cNvPr id="8233" name="Line 7">
              <a:extLst>
                <a:ext uri="{FF2B5EF4-FFF2-40B4-BE49-F238E27FC236}">
                  <a16:creationId xmlns:a16="http://schemas.microsoft.com/office/drawing/2014/main" id="{4243C21B-D85B-4397-A1ED-0C5AB96974C7}"/>
                </a:ext>
              </a:extLst>
            </p:cNvPr>
            <p:cNvSpPr>
              <a:spLocks noChangeShapeType="1"/>
            </p:cNvSpPr>
            <p:nvPr/>
          </p:nvSpPr>
          <p:spPr bwMode="auto">
            <a:xfrm>
              <a:off x="2658" y="1796"/>
              <a:ext cx="39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8210" name="Object 8">
                  <a:extLst>
                    <a:ext uri="{FF2B5EF4-FFF2-40B4-BE49-F238E27FC236}">
                      <a16:creationId xmlns:a16="http://schemas.microsoft.com/office/drawing/2014/main" id="{DBF97D42-44E9-48FB-90B8-4DEA6EBD91AF}"/>
                    </a:ext>
                  </a:extLst>
                </p:cNvPr>
                <p:cNvSpPr txBox="1"/>
                <p:nvPr/>
              </p:nvSpPr>
              <p:spPr bwMode="auto">
                <a:xfrm>
                  <a:off x="2658" y="1507"/>
                  <a:ext cx="433" cy="267"/>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𝑦</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8210" name="Object 8">
                  <a:extLst>
                    <a:ext uri="{FF2B5EF4-FFF2-40B4-BE49-F238E27FC236}">
                      <a16:creationId xmlns:a16="http://schemas.microsoft.com/office/drawing/2014/main" id="{DBF97D42-44E9-48FB-90B8-4DEA6EBD91AF}"/>
                    </a:ext>
                  </a:extLst>
                </p:cNvPr>
                <p:cNvSpPr txBox="1">
                  <a:spLocks noRot="1" noChangeAspect="1" noMove="1" noResize="1" noEditPoints="1" noAdjustHandles="1" noChangeArrowheads="1" noChangeShapeType="1" noTextEdit="1"/>
                </p:cNvSpPr>
                <p:nvPr/>
              </p:nvSpPr>
              <p:spPr bwMode="auto">
                <a:xfrm>
                  <a:off x="2658" y="1507"/>
                  <a:ext cx="433" cy="267"/>
                </a:xfrm>
                <a:prstGeom prst="rect">
                  <a:avLst/>
                </a:prstGeom>
                <a:blipFill>
                  <a:blip r:embed="rId6"/>
                  <a:stretch>
                    <a:fillRect l="-2419" r="-6452"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11" name="Object 9">
                  <a:extLst>
                    <a:ext uri="{FF2B5EF4-FFF2-40B4-BE49-F238E27FC236}">
                      <a16:creationId xmlns:a16="http://schemas.microsoft.com/office/drawing/2014/main" id="{3FC4831D-3AC1-4283-9C74-C81E0AD3A400}"/>
                    </a:ext>
                  </a:extLst>
                </p:cNvPr>
                <p:cNvSpPr txBox="1"/>
                <p:nvPr/>
              </p:nvSpPr>
              <p:spPr bwMode="auto">
                <a:xfrm>
                  <a:off x="1076" y="1782"/>
                  <a:ext cx="358" cy="267"/>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FF"/>
                            </a:solidFill>
                            <a:latin typeface="Cambria Math" panose="02040503050406030204" pitchFamily="18" charset="0"/>
                          </a:rPr>
                          <m:t>𝑥</m:t>
                        </m:r>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oMath>
                    </m:oMathPara>
                  </a14:m>
                  <a:endParaRPr lang="en-US" sz="2400" dirty="0"/>
                </a:p>
              </p:txBody>
            </p:sp>
          </mc:Choice>
          <mc:Fallback xmlns="">
            <p:sp>
              <p:nvSpPr>
                <p:cNvPr id="8211" name="Object 9">
                  <a:extLst>
                    <a:ext uri="{FF2B5EF4-FFF2-40B4-BE49-F238E27FC236}">
                      <a16:creationId xmlns:a16="http://schemas.microsoft.com/office/drawing/2014/main" id="{3FC4831D-3AC1-4283-9C74-C81E0AD3A400}"/>
                    </a:ext>
                  </a:extLst>
                </p:cNvPr>
                <p:cNvSpPr txBox="1">
                  <a:spLocks noRot="1" noChangeAspect="1" noMove="1" noResize="1" noEditPoints="1" noAdjustHandles="1" noChangeArrowheads="1" noChangeShapeType="1" noTextEdit="1"/>
                </p:cNvSpPr>
                <p:nvPr/>
              </p:nvSpPr>
              <p:spPr bwMode="auto">
                <a:xfrm>
                  <a:off x="1076" y="1782"/>
                  <a:ext cx="358" cy="267"/>
                </a:xfrm>
                <a:prstGeom prst="rect">
                  <a:avLst/>
                </a:prstGeom>
                <a:blipFill>
                  <a:blip r:embed="rId7"/>
                  <a:stretch>
                    <a:fillRect r="-26214" b="-21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12" name="Object 10">
                  <a:extLst>
                    <a:ext uri="{FF2B5EF4-FFF2-40B4-BE49-F238E27FC236}">
                      <a16:creationId xmlns:a16="http://schemas.microsoft.com/office/drawing/2014/main" id="{154C554A-96C5-4DEF-8049-64E53C56DA19}"/>
                    </a:ext>
                  </a:extLst>
                </p:cNvPr>
                <p:cNvSpPr txBox="1"/>
                <p:nvPr/>
              </p:nvSpPr>
              <p:spPr bwMode="auto">
                <a:xfrm>
                  <a:off x="1507" y="1936"/>
                  <a:ext cx="1111" cy="267"/>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h</m:t>
                            </m:r>
                          </m:e>
                          <m:sub>
                            <m:r>
                              <a:rPr lang="en-US" sz="2400" i="1">
                                <a:solidFill>
                                  <a:srgbClr val="0000FF"/>
                                </a:solidFill>
                                <a:latin typeface="Cambria Math" panose="02040503050406030204" pitchFamily="18" charset="0"/>
                              </a:rPr>
                              <m:t>1</m:t>
                            </m:r>
                          </m:sub>
                        </m:sSub>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sSub>
                          <m:sSubPr>
                            <m:ctrlPr>
                              <a:rPr lang="en-US" sz="2400" i="1">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h</m:t>
                            </m:r>
                          </m:e>
                          <m:sub>
                            <m:r>
                              <a:rPr lang="en-US" sz="2400" i="1">
                                <a:solidFill>
                                  <a:srgbClr val="0000FF"/>
                                </a:solidFill>
                                <a:latin typeface="Cambria Math" panose="02040503050406030204" pitchFamily="18" charset="0"/>
                              </a:rPr>
                              <m:t>2</m:t>
                            </m:r>
                          </m:sub>
                        </m:sSub>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oMath>
                    </m:oMathPara>
                  </a14:m>
                  <a:endParaRPr lang="en-US" sz="2400" dirty="0"/>
                </a:p>
              </p:txBody>
            </p:sp>
          </mc:Choice>
          <mc:Fallback xmlns="">
            <p:sp>
              <p:nvSpPr>
                <p:cNvPr id="8212" name="Object 10">
                  <a:extLst>
                    <a:ext uri="{FF2B5EF4-FFF2-40B4-BE49-F238E27FC236}">
                      <a16:creationId xmlns:a16="http://schemas.microsoft.com/office/drawing/2014/main" id="{154C554A-96C5-4DEF-8049-64E53C56DA19}"/>
                    </a:ext>
                  </a:extLst>
                </p:cNvPr>
                <p:cNvSpPr txBox="1">
                  <a:spLocks noRot="1" noChangeAspect="1" noMove="1" noResize="1" noEditPoints="1" noAdjustHandles="1" noChangeArrowheads="1" noChangeShapeType="1" noTextEdit="1"/>
                </p:cNvSpPr>
                <p:nvPr/>
              </p:nvSpPr>
              <p:spPr bwMode="auto">
                <a:xfrm>
                  <a:off x="1507" y="1936"/>
                  <a:ext cx="1111" cy="267"/>
                </a:xfrm>
                <a:prstGeom prst="rect">
                  <a:avLst/>
                </a:prstGeom>
                <a:blipFill>
                  <a:blip r:embed="rId8"/>
                  <a:stretch>
                    <a:fillRect l="-940" r="-1881"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13" name="Object 11">
                  <a:extLst>
                    <a:ext uri="{FF2B5EF4-FFF2-40B4-BE49-F238E27FC236}">
                      <a16:creationId xmlns:a16="http://schemas.microsoft.com/office/drawing/2014/main" id="{898DD5DD-D197-4721-ABFF-7AE4A31AC5EF}"/>
                    </a:ext>
                  </a:extLst>
                </p:cNvPr>
                <p:cNvSpPr txBox="1"/>
                <p:nvPr/>
              </p:nvSpPr>
              <p:spPr bwMode="auto">
                <a:xfrm>
                  <a:off x="2663" y="1790"/>
                  <a:ext cx="433" cy="267"/>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FF"/>
                            </a:solidFill>
                            <a:latin typeface="Cambria Math" panose="02040503050406030204" pitchFamily="18" charset="0"/>
                          </a:rPr>
                          <m:t>𝑦</m:t>
                        </m:r>
                        <m:r>
                          <a:rPr lang="en-US" sz="2400" i="1" smtClean="0">
                            <a:solidFill>
                              <a:srgbClr val="0000FF"/>
                            </a:solidFill>
                            <a:latin typeface="Cambria Math" panose="02040503050406030204" pitchFamily="18" charset="0"/>
                          </a:rPr>
                          <m:t>(</m:t>
                        </m:r>
                        <m:r>
                          <a:rPr lang="en-US" sz="2400" i="1" smtClean="0">
                            <a:solidFill>
                              <a:srgbClr val="0000FF"/>
                            </a:solidFill>
                            <a:latin typeface="Cambria Math" panose="02040503050406030204" pitchFamily="18" charset="0"/>
                          </a:rPr>
                          <m:t>𝑡</m:t>
                        </m:r>
                        <m:r>
                          <a:rPr lang="en-US" sz="2400" i="1" smtClean="0">
                            <a:solidFill>
                              <a:srgbClr val="0000FF"/>
                            </a:solidFill>
                            <a:latin typeface="Cambria Math" panose="02040503050406030204" pitchFamily="18" charset="0"/>
                          </a:rPr>
                          <m:t>)</m:t>
                        </m:r>
                      </m:oMath>
                    </m:oMathPara>
                  </a14:m>
                  <a:endParaRPr lang="en-US" sz="2400" dirty="0"/>
                </a:p>
              </p:txBody>
            </p:sp>
          </mc:Choice>
          <mc:Fallback xmlns="">
            <p:sp>
              <p:nvSpPr>
                <p:cNvPr id="8213" name="Object 11">
                  <a:extLst>
                    <a:ext uri="{FF2B5EF4-FFF2-40B4-BE49-F238E27FC236}">
                      <a16:creationId xmlns:a16="http://schemas.microsoft.com/office/drawing/2014/main" id="{898DD5DD-D197-4721-ABFF-7AE4A31AC5EF}"/>
                    </a:ext>
                  </a:extLst>
                </p:cNvPr>
                <p:cNvSpPr txBox="1">
                  <a:spLocks noRot="1" noChangeAspect="1" noMove="1" noResize="1" noEditPoints="1" noAdjustHandles="1" noChangeArrowheads="1" noChangeShapeType="1" noTextEdit="1"/>
                </p:cNvSpPr>
                <p:nvPr/>
              </p:nvSpPr>
              <p:spPr bwMode="auto">
                <a:xfrm>
                  <a:off x="2663" y="1790"/>
                  <a:ext cx="433" cy="267"/>
                </a:xfrm>
                <a:prstGeom prst="rect">
                  <a:avLst/>
                </a:prstGeom>
                <a:blipFill>
                  <a:blip r:embed="rId9"/>
                  <a:stretch>
                    <a:fillRect l="-2419" r="-5645" b="-19737"/>
                  </a:stretch>
                </a:blipFill>
                <a:ln>
                  <a:noFill/>
                </a:ln>
                <a:effectLst/>
              </p:spPr>
              <p:txBody>
                <a:bodyPr/>
                <a:lstStyle/>
                <a:p>
                  <a:r>
                    <a:rPr lang="en-US">
                      <a:noFill/>
                    </a:rPr>
                    <a:t> </a:t>
                  </a:r>
                </a:p>
              </p:txBody>
            </p:sp>
          </mc:Fallback>
        </mc:AlternateContent>
      </p:grpSp>
      <p:grpSp>
        <p:nvGrpSpPr>
          <p:cNvPr id="8218" name="Group 12">
            <a:extLst>
              <a:ext uri="{FF2B5EF4-FFF2-40B4-BE49-F238E27FC236}">
                <a16:creationId xmlns:a16="http://schemas.microsoft.com/office/drawing/2014/main" id="{A0AFB764-0018-4F27-8314-7CE039D10A40}"/>
              </a:ext>
            </a:extLst>
          </p:cNvPr>
          <p:cNvGrpSpPr>
            <a:grpSpLocks/>
          </p:cNvGrpSpPr>
          <p:nvPr/>
        </p:nvGrpSpPr>
        <p:grpSpPr bwMode="auto">
          <a:xfrm>
            <a:off x="5014120" y="3717249"/>
            <a:ext cx="3563938" cy="2500313"/>
            <a:chOff x="1056" y="2469"/>
            <a:chExt cx="2245" cy="1575"/>
          </a:xfrm>
        </p:grpSpPr>
        <p:sp>
          <p:nvSpPr>
            <p:cNvPr id="8220" name="Line 13">
              <a:extLst>
                <a:ext uri="{FF2B5EF4-FFF2-40B4-BE49-F238E27FC236}">
                  <a16:creationId xmlns:a16="http://schemas.microsoft.com/office/drawing/2014/main" id="{B9BAE8DC-301B-4B64-85B5-221514DB290E}"/>
                </a:ext>
              </a:extLst>
            </p:cNvPr>
            <p:cNvSpPr>
              <a:spLocks noChangeShapeType="1"/>
            </p:cNvSpPr>
            <p:nvPr/>
          </p:nvSpPr>
          <p:spPr bwMode="auto">
            <a:xfrm>
              <a:off x="1092" y="3266"/>
              <a:ext cx="406"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8196" name="Object 14">
                  <a:extLst>
                    <a:ext uri="{FF2B5EF4-FFF2-40B4-BE49-F238E27FC236}">
                      <a16:creationId xmlns:a16="http://schemas.microsoft.com/office/drawing/2014/main" id="{009698C0-1894-4350-AD81-1DA0744136D1}"/>
                    </a:ext>
                  </a:extLst>
                </p:cNvPr>
                <p:cNvSpPr txBox="1"/>
                <p:nvPr/>
              </p:nvSpPr>
              <p:spPr bwMode="auto">
                <a:xfrm>
                  <a:off x="1064" y="2950"/>
                  <a:ext cx="415" cy="294"/>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8196" name="Object 14">
                  <a:extLst>
                    <a:ext uri="{FF2B5EF4-FFF2-40B4-BE49-F238E27FC236}">
                      <a16:creationId xmlns:a16="http://schemas.microsoft.com/office/drawing/2014/main" id="{009698C0-1894-4350-AD81-1DA0744136D1}"/>
                    </a:ext>
                  </a:extLst>
                </p:cNvPr>
                <p:cNvSpPr txBox="1">
                  <a:spLocks noRot="1" noChangeAspect="1" noMove="1" noResize="1" noEditPoints="1" noAdjustHandles="1" noChangeArrowheads="1" noChangeShapeType="1" noTextEdit="1"/>
                </p:cNvSpPr>
                <p:nvPr/>
              </p:nvSpPr>
              <p:spPr bwMode="auto">
                <a:xfrm>
                  <a:off x="1064" y="2950"/>
                  <a:ext cx="415" cy="294"/>
                </a:xfrm>
                <a:prstGeom prst="rect">
                  <a:avLst/>
                </a:prstGeom>
                <a:blipFill>
                  <a:blip r:embed="rId10"/>
                  <a:stretch>
                    <a:fillRect r="-21296" b="-1818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197" name="Object 15">
                  <a:extLst>
                    <a:ext uri="{FF2B5EF4-FFF2-40B4-BE49-F238E27FC236}">
                      <a16:creationId xmlns:a16="http://schemas.microsoft.com/office/drawing/2014/main" id="{9998D711-7245-4D1C-A11A-09C23917F7EE}"/>
                    </a:ext>
                  </a:extLst>
                </p:cNvPr>
                <p:cNvGraphicFramePr>
                  <a:graphicFrameLocks noChangeAspect="1"/>
                </p:cNvGraphicFramePr>
                <p:nvPr/>
              </p:nvGraphicFramePr>
              <p:xfrm>
                <a:off x="3090" y="3390"/>
                <a:ext cx="64" cy="110"/>
              </p:xfrm>
              <a:graphic>
                <a:graphicData uri="http://schemas.openxmlformats.org/presentationml/2006/ole">
                  <mc:AlternateContent>
                    <mc:Choice xmlns:v="urn:schemas-microsoft-com:vml" Requires="v">
                      <p:oleObj spid="_x0000_s5270" name="Equation" r:id="rId11" imgW="114120" imgH="177480" progId="Equation.DSMT4">
                        <p:embed/>
                      </p:oleObj>
                    </mc:Choice>
                    <mc:Fallback>
                      <p:oleObj name="Equation" r:id="rId11" imgW="114120" imgH="177480" progId="Equation.DSMT4">
                        <p:embed/>
                        <p:pic>
                          <p:nvPicPr>
                            <p:cNvPr id="8197" name="Object 15">
                              <a:extLst>
                                <a:ext uri="{FF2B5EF4-FFF2-40B4-BE49-F238E27FC236}">
                                  <a16:creationId xmlns:a16="http://schemas.microsoft.com/office/drawing/2014/main" id="{9998D711-7245-4D1C-A11A-09C23917F7EE}"/>
                                </a:ext>
                              </a:extLst>
                            </p:cNvPr>
                            <p:cNvPicPr>
                              <a:picLocks noChangeAspect="1" noChangeArrowheads="1"/>
                            </p:cNvPicPr>
                            <p:nvPr/>
                          </p:nvPicPr>
                          <p:blipFill>
                            <a:blip r:embed="rId12">
                              <a:extLst>
                                <a:ext uri="{28A0092B-C50C-407E-A947-70E740481C1C}">
                                  <a14:useLocalDpi val="0"/>
                                </a:ext>
                              </a:extLst>
                            </a:blip>
                            <a:srcRect/>
                            <a:stretch>
                              <a:fillRect/>
                            </a:stretch>
                          </p:blipFill>
                          <p:spPr bwMode="auto">
                            <a:xfrm>
                              <a:off x="3090" y="3390"/>
                              <a:ext cx="64" cy="110"/>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8197" name="Object 15">
                  <a:extLst>
                    <a:ext uri="{FF2B5EF4-FFF2-40B4-BE49-F238E27FC236}">
                      <a16:creationId xmlns:a16="http://schemas.microsoft.com/office/drawing/2014/main" id="{9998D711-7245-4D1C-A11A-09C23917F7EE}"/>
                    </a:ext>
                  </a:extLst>
                </p:cNvPr>
                <p:cNvGraphicFramePr>
                  <a:graphicFrameLocks noChangeAspect="1"/>
                </p:cNvGraphicFramePr>
                <p:nvPr/>
              </p:nvGraphicFramePr>
              <p:xfrm>
                <a:off x="3090" y="3390"/>
                <a:ext cx="64" cy="110"/>
              </p:xfrm>
              <a:graphic>
                <a:graphicData uri="http://schemas.openxmlformats.org/presentationml/2006/ole">
                  <mc:AlternateContent>
                    <mc:Choice xmlns:v="urn:schemas-microsoft-com:vml" Requires="v">
                      <p:oleObj name="Equation" r:id="rId13" imgW="114120" imgH="177480" progId="Equation.DSMT4">
                        <p:embed/>
                      </p:oleObj>
                    </mc:Choice>
                    <mc:Fallback>
                      <p:oleObj name="Equation" r:id="rId13" imgW="114120" imgH="177480" progId="Equation.DSMT4">
                        <p:embed/>
                        <p:pic>
                          <p:nvPicPr>
                            <p:cNvPr id="8197" name="Object 15">
                              <a:extLst>
                                <a:ext uri="{FF2B5EF4-FFF2-40B4-BE49-F238E27FC236}">
                                  <a16:creationId xmlns:a16="http://schemas.microsoft.com/office/drawing/2014/main" id="{9998D711-7245-4D1C-A11A-09C23917F7E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90" y="3390"/>
                              <a:ext cx="64" cy="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sp>
          <p:nvSpPr>
            <p:cNvPr id="8221" name="Line 16">
              <a:extLst>
                <a:ext uri="{FF2B5EF4-FFF2-40B4-BE49-F238E27FC236}">
                  <a16:creationId xmlns:a16="http://schemas.microsoft.com/office/drawing/2014/main" id="{DF2D5E36-0707-46EF-9C52-DF8733C597C2}"/>
                </a:ext>
              </a:extLst>
            </p:cNvPr>
            <p:cNvSpPr>
              <a:spLocks noChangeShapeType="1"/>
            </p:cNvSpPr>
            <p:nvPr/>
          </p:nvSpPr>
          <p:spPr bwMode="auto">
            <a:xfrm>
              <a:off x="1498" y="2906"/>
              <a:ext cx="0" cy="71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222" name="Line 17">
              <a:extLst>
                <a:ext uri="{FF2B5EF4-FFF2-40B4-BE49-F238E27FC236}">
                  <a16:creationId xmlns:a16="http://schemas.microsoft.com/office/drawing/2014/main" id="{369439AC-D1B8-4236-9DF9-1AF1C6573995}"/>
                </a:ext>
              </a:extLst>
            </p:cNvPr>
            <p:cNvSpPr>
              <a:spLocks noChangeShapeType="1"/>
            </p:cNvSpPr>
            <p:nvPr/>
          </p:nvSpPr>
          <p:spPr bwMode="auto">
            <a:xfrm>
              <a:off x="1498" y="2906"/>
              <a:ext cx="40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223" name="Line 18">
              <a:extLst>
                <a:ext uri="{FF2B5EF4-FFF2-40B4-BE49-F238E27FC236}">
                  <a16:creationId xmlns:a16="http://schemas.microsoft.com/office/drawing/2014/main" id="{1C6CA52D-545F-4573-87F4-9FED84559336}"/>
                </a:ext>
              </a:extLst>
            </p:cNvPr>
            <p:cNvSpPr>
              <a:spLocks noChangeShapeType="1"/>
            </p:cNvSpPr>
            <p:nvPr/>
          </p:nvSpPr>
          <p:spPr bwMode="auto">
            <a:xfrm>
              <a:off x="1498" y="3625"/>
              <a:ext cx="40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8224" name="Rectangle 19">
                  <a:extLst>
                    <a:ext uri="{FF2B5EF4-FFF2-40B4-BE49-F238E27FC236}">
                      <a16:creationId xmlns:a16="http://schemas.microsoft.com/office/drawing/2014/main" id="{A5A6D6C2-67D1-471C-A475-5570C385A141}"/>
                    </a:ext>
                  </a:extLst>
                </p:cNvPr>
                <p:cNvSpPr>
                  <a:spLocks noChangeArrowheads="1"/>
                </p:cNvSpPr>
                <p:nvPr/>
              </p:nvSpPr>
              <p:spPr bwMode="auto">
                <a:xfrm>
                  <a:off x="1903" y="2761"/>
                  <a:ext cx="569" cy="291"/>
                </a:xfrm>
                <a:prstGeom prst="rect">
                  <a:avLst/>
                </a:prstGeom>
                <a:solidFill>
                  <a:srgbClr val="00CCFF"/>
                </a:solidFill>
                <a:ln w="9525">
                  <a:solidFill>
                    <a:schemeClr val="tx1"/>
                  </a:solidFill>
                  <a:miter lim="800000"/>
                  <a:headEnd/>
                  <a:tailEnd/>
                </a:ln>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1</m:t>
                            </m:r>
                          </m:sub>
                        </m:sSub>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kumimoji="0" lang="zh-CN" altLang="en-US" sz="240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8224" name="Rectangle 19">
                  <a:extLst>
                    <a:ext uri="{FF2B5EF4-FFF2-40B4-BE49-F238E27FC236}">
                      <a16:creationId xmlns:a16="http://schemas.microsoft.com/office/drawing/2014/main" id="{A5A6D6C2-67D1-471C-A475-5570C385A141}"/>
                    </a:ext>
                  </a:extLst>
                </p:cNvPr>
                <p:cNvSpPr>
                  <a:spLocks noRot="1" noChangeAspect="1" noMove="1" noResize="1" noEditPoints="1" noAdjustHandles="1" noChangeArrowheads="1" noChangeShapeType="1" noTextEdit="1"/>
                </p:cNvSpPr>
                <p:nvPr/>
              </p:nvSpPr>
              <p:spPr bwMode="auto">
                <a:xfrm>
                  <a:off x="1903" y="2761"/>
                  <a:ext cx="569" cy="291"/>
                </a:xfrm>
                <a:prstGeom prst="rect">
                  <a:avLst/>
                </a:prstGeom>
                <a:blipFill>
                  <a:blip r:embed="rId15"/>
                  <a:stretch>
                    <a:fillRect r="-4667" b="-17949"/>
                  </a:stretch>
                </a:blipFill>
                <a:ln w="9525">
                  <a:solidFill>
                    <a:schemeClr val="tx1"/>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25" name="Rectangle 20">
                  <a:extLst>
                    <a:ext uri="{FF2B5EF4-FFF2-40B4-BE49-F238E27FC236}">
                      <a16:creationId xmlns:a16="http://schemas.microsoft.com/office/drawing/2014/main" id="{94A12329-5040-464F-9503-C4AD3F7E08A8}"/>
                    </a:ext>
                  </a:extLst>
                </p:cNvPr>
                <p:cNvSpPr>
                  <a:spLocks noChangeArrowheads="1"/>
                </p:cNvSpPr>
                <p:nvPr/>
              </p:nvSpPr>
              <p:spPr bwMode="auto">
                <a:xfrm>
                  <a:off x="1903" y="3480"/>
                  <a:ext cx="569" cy="291"/>
                </a:xfrm>
                <a:prstGeom prst="rect">
                  <a:avLst/>
                </a:prstGeom>
                <a:solidFill>
                  <a:srgbClr val="00CCFF"/>
                </a:solidFill>
                <a:ln w="9525">
                  <a:solidFill>
                    <a:schemeClr val="tx1"/>
                  </a:solidFill>
                  <a:miter lim="800000"/>
                  <a:headEnd/>
                  <a:tailEnd/>
                </a:ln>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2</m:t>
                            </m:r>
                          </m:sub>
                        </m:sSub>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kumimoji="0" lang="zh-CN" altLang="en-US" sz="240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Choice>
          <mc:Fallback xmlns="">
            <p:sp>
              <p:nvSpPr>
                <p:cNvPr id="8225" name="Rectangle 20">
                  <a:extLst>
                    <a:ext uri="{FF2B5EF4-FFF2-40B4-BE49-F238E27FC236}">
                      <a16:creationId xmlns:a16="http://schemas.microsoft.com/office/drawing/2014/main" id="{94A12329-5040-464F-9503-C4AD3F7E08A8}"/>
                    </a:ext>
                  </a:extLst>
                </p:cNvPr>
                <p:cNvSpPr>
                  <a:spLocks noRot="1" noChangeAspect="1" noMove="1" noResize="1" noEditPoints="1" noAdjustHandles="1" noChangeArrowheads="1" noChangeShapeType="1" noTextEdit="1"/>
                </p:cNvSpPr>
                <p:nvPr/>
              </p:nvSpPr>
              <p:spPr bwMode="auto">
                <a:xfrm>
                  <a:off x="1903" y="3480"/>
                  <a:ext cx="569" cy="291"/>
                </a:xfrm>
                <a:prstGeom prst="rect">
                  <a:avLst/>
                </a:prstGeom>
                <a:blipFill>
                  <a:blip r:embed="rId16"/>
                  <a:stretch>
                    <a:fillRect l="-667" r="-4667" b="-17949"/>
                  </a:stretch>
                </a:blipFill>
                <a:ln w="9525">
                  <a:solidFill>
                    <a:schemeClr val="tx1"/>
                  </a:solidFill>
                  <a:miter lim="800000"/>
                  <a:headEnd/>
                  <a:tailEnd/>
                </a:ln>
              </p:spPr>
              <p:txBody>
                <a:bodyPr/>
                <a:lstStyle/>
                <a:p>
                  <a:r>
                    <a:rPr lang="en-US">
                      <a:noFill/>
                    </a:rPr>
                    <a:t> </a:t>
                  </a:r>
                </a:p>
              </p:txBody>
            </p:sp>
          </mc:Fallback>
        </mc:AlternateContent>
        <p:sp>
          <p:nvSpPr>
            <p:cNvPr id="8226" name="Line 21">
              <a:extLst>
                <a:ext uri="{FF2B5EF4-FFF2-40B4-BE49-F238E27FC236}">
                  <a16:creationId xmlns:a16="http://schemas.microsoft.com/office/drawing/2014/main" id="{B090B9C4-F339-4845-A19B-5791BBEB956F}"/>
                </a:ext>
              </a:extLst>
            </p:cNvPr>
            <p:cNvSpPr>
              <a:spLocks noChangeShapeType="1"/>
            </p:cNvSpPr>
            <p:nvPr/>
          </p:nvSpPr>
          <p:spPr bwMode="auto">
            <a:xfrm>
              <a:off x="2472" y="2896"/>
              <a:ext cx="33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227" name="Line 22">
              <a:extLst>
                <a:ext uri="{FF2B5EF4-FFF2-40B4-BE49-F238E27FC236}">
                  <a16:creationId xmlns:a16="http://schemas.microsoft.com/office/drawing/2014/main" id="{FFBABBD3-9FA7-420A-9853-53BB5D9BED0A}"/>
                </a:ext>
              </a:extLst>
            </p:cNvPr>
            <p:cNvSpPr>
              <a:spLocks noChangeShapeType="1"/>
            </p:cNvSpPr>
            <p:nvPr/>
          </p:nvSpPr>
          <p:spPr bwMode="auto">
            <a:xfrm>
              <a:off x="2815" y="2889"/>
              <a:ext cx="0" cy="30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228" name="Line 23">
              <a:extLst>
                <a:ext uri="{FF2B5EF4-FFF2-40B4-BE49-F238E27FC236}">
                  <a16:creationId xmlns:a16="http://schemas.microsoft.com/office/drawing/2014/main" id="{DC27099E-DDEE-40C2-855C-D5B6F28AB370}"/>
                </a:ext>
              </a:extLst>
            </p:cNvPr>
            <p:cNvSpPr>
              <a:spLocks noChangeShapeType="1"/>
            </p:cNvSpPr>
            <p:nvPr/>
          </p:nvSpPr>
          <p:spPr bwMode="auto">
            <a:xfrm flipV="1">
              <a:off x="2472" y="3633"/>
              <a:ext cx="33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8229" name="Line 24">
              <a:extLst>
                <a:ext uri="{FF2B5EF4-FFF2-40B4-BE49-F238E27FC236}">
                  <a16:creationId xmlns:a16="http://schemas.microsoft.com/office/drawing/2014/main" id="{75DFC44D-504A-466A-8FA8-4726C1FAE636}"/>
                </a:ext>
              </a:extLst>
            </p:cNvPr>
            <p:cNvSpPr>
              <a:spLocks noChangeShapeType="1"/>
            </p:cNvSpPr>
            <p:nvPr/>
          </p:nvSpPr>
          <p:spPr bwMode="auto">
            <a:xfrm flipV="1">
              <a:off x="2815" y="3345"/>
              <a:ext cx="0" cy="29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graphicFrame>
              <p:nvGraphicFramePr>
                <p:cNvPr id="8198" name="Object 25">
                  <a:extLst>
                    <a:ext uri="{FF2B5EF4-FFF2-40B4-BE49-F238E27FC236}">
                      <a16:creationId xmlns:a16="http://schemas.microsoft.com/office/drawing/2014/main" id="{1030C80E-9689-4173-AD92-56D12BD0F4A3}"/>
                    </a:ext>
                  </a:extLst>
                </p:cNvPr>
                <p:cNvGraphicFramePr>
                  <a:graphicFrameLocks noChangeAspect="1"/>
                </p:cNvGraphicFramePr>
                <p:nvPr>
                  <p:extLst>
                    <p:ext uri="{D42A27DB-BD31-4B8C-83A1-F6EECF244321}">
                      <p14:modId xmlns:p14="http://schemas.microsoft.com/office/powerpoint/2010/main" val="432773454"/>
                    </p:ext>
                  </p:extLst>
                </p:nvPr>
              </p:nvGraphicFramePr>
              <p:xfrm>
                <a:off x="2692" y="3134"/>
                <a:ext cx="236" cy="282"/>
              </p:xfrm>
              <a:graphic>
                <a:graphicData uri="http://schemas.openxmlformats.org/presentationml/2006/ole">
                  <mc:AlternateContent>
                    <mc:Choice xmlns:v="urn:schemas-microsoft-com:vml" Requires="v">
                      <p:oleObj spid="_x0000_s5271" name="Equation" r:id="rId17" imgW="164880" imgH="177480" progId="Equation.DSMT4">
                        <p:embed/>
                      </p:oleObj>
                    </mc:Choice>
                    <mc:Fallback>
                      <p:oleObj name="Equation" r:id="rId17" imgW="164880" imgH="177480" progId="Equation.DSMT4">
                        <p:embed/>
                        <p:pic>
                          <p:nvPicPr>
                            <p:cNvPr id="8198" name="Object 25">
                              <a:extLst>
                                <a:ext uri="{FF2B5EF4-FFF2-40B4-BE49-F238E27FC236}">
                                  <a16:creationId xmlns:a16="http://schemas.microsoft.com/office/drawing/2014/main" id="{1030C80E-9689-4173-AD92-56D12BD0F4A3}"/>
                                </a:ext>
                              </a:extLst>
                            </p:cNvPr>
                            <p:cNvPicPr>
                              <a:picLocks noChangeAspect="1" noChangeArrowheads="1"/>
                            </p:cNvPicPr>
                            <p:nvPr/>
                          </p:nvPicPr>
                          <p:blipFill>
                            <a:blip r:embed="rId18">
                              <a:extLst>
                                <a:ext uri="{28A0092B-C50C-407E-A947-70E740481C1C}">
                                  <a14:useLocalDpi val="0"/>
                                </a:ext>
                              </a:extLst>
                            </a:blip>
                            <a:srcRect/>
                            <a:stretch>
                              <a:fillRect/>
                            </a:stretch>
                          </p:blipFill>
                          <p:spPr bwMode="auto">
                            <a:xfrm>
                              <a:off x="2692" y="3134"/>
                              <a:ext cx="236" cy="282"/>
                            </a:xfrm>
                            <a:prstGeom prst="rect">
                              <a:avLst/>
                            </a:prstGeom>
                            <a:noFill/>
                            <a:ln>
                              <a:noFill/>
                            </a:ln>
                            <a:effectLst/>
                            <a:extLst>
                              <a:ext uri="{909E8E84-426E-40DD-AFC4-6F175D3DCCD1}">
                                <a14:hiddenFill>
                                  <a:solidFill>
                                    <a:srgbClr val="FFFFFF"/>
                                  </a:solidFill>
                                </a14:hiddenFill>
                              </a:ext>
                              <a:ext uri="{91240B29-F687-4F45-9708-019B960494DF}">
                                <a14:hiddenLine w="2857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8198" name="Object 25">
                  <a:extLst>
                    <a:ext uri="{FF2B5EF4-FFF2-40B4-BE49-F238E27FC236}">
                      <a16:creationId xmlns:a16="http://schemas.microsoft.com/office/drawing/2014/main" id="{1030C80E-9689-4173-AD92-56D12BD0F4A3}"/>
                    </a:ext>
                  </a:extLst>
                </p:cNvPr>
                <p:cNvGraphicFramePr>
                  <a:graphicFrameLocks noChangeAspect="1"/>
                </p:cNvGraphicFramePr>
                <p:nvPr>
                  <p:extLst>
                    <p:ext uri="{D42A27DB-BD31-4B8C-83A1-F6EECF244321}">
                      <p14:modId xmlns:p14="http://schemas.microsoft.com/office/powerpoint/2010/main" val="432773454"/>
                    </p:ext>
                  </p:extLst>
                </p:nvPr>
              </p:nvGraphicFramePr>
              <p:xfrm>
                <a:off x="2692" y="3134"/>
                <a:ext cx="236" cy="282"/>
              </p:xfrm>
              <a:graphic>
                <a:graphicData uri="http://schemas.openxmlformats.org/presentationml/2006/ole">
                  <mc:AlternateContent>
                    <mc:Choice xmlns:v="urn:schemas-microsoft-com:vml" Requires="v">
                      <p:oleObj name="Equation" r:id="rId19" imgW="164880" imgH="177480" progId="Equation.DSMT4">
                        <p:embed/>
                      </p:oleObj>
                    </mc:Choice>
                    <mc:Fallback>
                      <p:oleObj name="Equation" r:id="rId19" imgW="164880" imgH="177480" progId="Equation.DSMT4">
                        <p:embed/>
                        <p:pic>
                          <p:nvPicPr>
                            <p:cNvPr id="8198" name="Object 25">
                              <a:extLst>
                                <a:ext uri="{FF2B5EF4-FFF2-40B4-BE49-F238E27FC236}">
                                  <a16:creationId xmlns:a16="http://schemas.microsoft.com/office/drawing/2014/main" id="{1030C80E-9689-4173-AD92-56D12BD0F4A3}"/>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692" y="3134"/>
                              <a:ext cx="236"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sp>
          <p:nvSpPr>
            <p:cNvPr id="8230" name="Line 26">
              <a:extLst>
                <a:ext uri="{FF2B5EF4-FFF2-40B4-BE49-F238E27FC236}">
                  <a16:creationId xmlns:a16="http://schemas.microsoft.com/office/drawing/2014/main" id="{668FB893-209C-44B5-A1F1-B458255D9B78}"/>
                </a:ext>
              </a:extLst>
            </p:cNvPr>
            <p:cNvSpPr>
              <a:spLocks noChangeShapeType="1"/>
            </p:cNvSpPr>
            <p:nvPr/>
          </p:nvSpPr>
          <p:spPr bwMode="auto">
            <a:xfrm>
              <a:off x="2895" y="3280"/>
              <a:ext cx="406"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8203" name="Object 31">
                  <a:extLst>
                    <a:ext uri="{FF2B5EF4-FFF2-40B4-BE49-F238E27FC236}">
                      <a16:creationId xmlns:a16="http://schemas.microsoft.com/office/drawing/2014/main" id="{D85196BD-45C5-4EE5-8EA6-9C905E1DA2AC}"/>
                    </a:ext>
                  </a:extLst>
                </p:cNvPr>
                <p:cNvSpPr txBox="1"/>
                <p:nvPr/>
              </p:nvSpPr>
              <p:spPr bwMode="auto">
                <a:xfrm>
                  <a:off x="2896" y="2950"/>
                  <a:ext cx="405" cy="288"/>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𝑦</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8203" name="Object 31">
                  <a:extLst>
                    <a:ext uri="{FF2B5EF4-FFF2-40B4-BE49-F238E27FC236}">
                      <a16:creationId xmlns:a16="http://schemas.microsoft.com/office/drawing/2014/main" id="{D85196BD-45C5-4EE5-8EA6-9C905E1DA2AC}"/>
                    </a:ext>
                  </a:extLst>
                </p:cNvPr>
                <p:cNvSpPr txBox="1">
                  <a:spLocks noRot="1" noChangeAspect="1" noMove="1" noResize="1" noEditPoints="1" noAdjustHandles="1" noChangeArrowheads="1" noChangeShapeType="1" noTextEdit="1"/>
                </p:cNvSpPr>
                <p:nvPr/>
              </p:nvSpPr>
              <p:spPr bwMode="auto">
                <a:xfrm>
                  <a:off x="2896" y="2950"/>
                  <a:ext cx="405" cy="288"/>
                </a:xfrm>
                <a:prstGeom prst="rect">
                  <a:avLst/>
                </a:prstGeom>
                <a:blipFill>
                  <a:blip r:embed="rId21"/>
                  <a:stretch>
                    <a:fillRect l="-2857" r="-25714" b="-21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04" name="Object 32">
                  <a:extLst>
                    <a:ext uri="{FF2B5EF4-FFF2-40B4-BE49-F238E27FC236}">
                      <a16:creationId xmlns:a16="http://schemas.microsoft.com/office/drawing/2014/main" id="{CD15A011-BF38-4620-8077-5C6B62ED9662}"/>
                    </a:ext>
                  </a:extLst>
                </p:cNvPr>
                <p:cNvSpPr txBox="1"/>
                <p:nvPr/>
              </p:nvSpPr>
              <p:spPr bwMode="auto">
                <a:xfrm>
                  <a:off x="1056" y="3276"/>
                  <a:ext cx="364" cy="294"/>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FF"/>
                            </a:solidFill>
                            <a:latin typeface="Cambria Math" panose="02040503050406030204" pitchFamily="18" charset="0"/>
                          </a:rPr>
                          <m:t>𝑥</m:t>
                        </m:r>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oMath>
                    </m:oMathPara>
                  </a14:m>
                  <a:endParaRPr lang="en-US" sz="2400" dirty="0"/>
                </a:p>
              </p:txBody>
            </p:sp>
          </mc:Choice>
          <mc:Fallback xmlns="">
            <p:sp>
              <p:nvSpPr>
                <p:cNvPr id="8204" name="Object 32">
                  <a:extLst>
                    <a:ext uri="{FF2B5EF4-FFF2-40B4-BE49-F238E27FC236}">
                      <a16:creationId xmlns:a16="http://schemas.microsoft.com/office/drawing/2014/main" id="{CD15A011-BF38-4620-8077-5C6B62ED9662}"/>
                    </a:ext>
                  </a:extLst>
                </p:cNvPr>
                <p:cNvSpPr txBox="1">
                  <a:spLocks noRot="1" noChangeAspect="1" noMove="1" noResize="1" noEditPoints="1" noAdjustHandles="1" noChangeArrowheads="1" noChangeShapeType="1" noTextEdit="1"/>
                </p:cNvSpPr>
                <p:nvPr/>
              </p:nvSpPr>
              <p:spPr bwMode="auto">
                <a:xfrm>
                  <a:off x="1056" y="3276"/>
                  <a:ext cx="364" cy="294"/>
                </a:xfrm>
                <a:prstGeom prst="rect">
                  <a:avLst/>
                </a:prstGeom>
                <a:blipFill>
                  <a:blip r:embed="rId22"/>
                  <a:stretch>
                    <a:fillRect r="-37234" b="-1818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05" name="Object 33">
                  <a:extLst>
                    <a:ext uri="{FF2B5EF4-FFF2-40B4-BE49-F238E27FC236}">
                      <a16:creationId xmlns:a16="http://schemas.microsoft.com/office/drawing/2014/main" id="{2E57C7CC-09DF-4267-9810-DD0926D0BE50}"/>
                    </a:ext>
                  </a:extLst>
                </p:cNvPr>
                <p:cNvSpPr txBox="1"/>
                <p:nvPr/>
              </p:nvSpPr>
              <p:spPr bwMode="auto">
                <a:xfrm>
                  <a:off x="1897" y="2469"/>
                  <a:ext cx="405" cy="291"/>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h</m:t>
                            </m:r>
                          </m:e>
                          <m:sub>
                            <m:r>
                              <a:rPr lang="en-US" sz="2400" i="1">
                                <a:solidFill>
                                  <a:srgbClr val="0000FF"/>
                                </a:solidFill>
                                <a:latin typeface="Cambria Math" panose="02040503050406030204" pitchFamily="18" charset="0"/>
                              </a:rPr>
                              <m:t>1</m:t>
                            </m:r>
                          </m:sub>
                        </m:sSub>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oMath>
                    </m:oMathPara>
                  </a14:m>
                  <a:endParaRPr lang="en-US" sz="2400" dirty="0"/>
                </a:p>
              </p:txBody>
            </p:sp>
          </mc:Choice>
          <mc:Fallback xmlns="">
            <p:sp>
              <p:nvSpPr>
                <p:cNvPr id="8205" name="Object 33">
                  <a:extLst>
                    <a:ext uri="{FF2B5EF4-FFF2-40B4-BE49-F238E27FC236}">
                      <a16:creationId xmlns:a16="http://schemas.microsoft.com/office/drawing/2014/main" id="{2E57C7CC-09DF-4267-9810-DD0926D0BE50}"/>
                    </a:ext>
                  </a:extLst>
                </p:cNvPr>
                <p:cNvSpPr txBox="1">
                  <a:spLocks noRot="1" noChangeAspect="1" noMove="1" noResize="1" noEditPoints="1" noAdjustHandles="1" noChangeArrowheads="1" noChangeShapeType="1" noTextEdit="1"/>
                </p:cNvSpPr>
                <p:nvPr/>
              </p:nvSpPr>
              <p:spPr bwMode="auto">
                <a:xfrm>
                  <a:off x="1897" y="2469"/>
                  <a:ext cx="405" cy="291"/>
                </a:xfrm>
                <a:prstGeom prst="rect">
                  <a:avLst/>
                </a:prstGeom>
                <a:blipFill>
                  <a:blip r:embed="rId23"/>
                  <a:stretch>
                    <a:fillRect l="-2857" r="-43810"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06" name="Object 34">
                  <a:extLst>
                    <a:ext uri="{FF2B5EF4-FFF2-40B4-BE49-F238E27FC236}">
                      <a16:creationId xmlns:a16="http://schemas.microsoft.com/office/drawing/2014/main" id="{23A0EEF9-A1DD-436D-A9E1-1E77F09855D6}"/>
                    </a:ext>
                  </a:extLst>
                </p:cNvPr>
                <p:cNvSpPr txBox="1"/>
                <p:nvPr/>
              </p:nvSpPr>
              <p:spPr bwMode="auto">
                <a:xfrm>
                  <a:off x="1903" y="3753"/>
                  <a:ext cx="420" cy="291"/>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h</m:t>
                            </m:r>
                          </m:e>
                          <m:sub>
                            <m:r>
                              <a:rPr lang="en-US" sz="2400" i="1">
                                <a:solidFill>
                                  <a:srgbClr val="0000FF"/>
                                </a:solidFill>
                                <a:latin typeface="Cambria Math" panose="02040503050406030204" pitchFamily="18" charset="0"/>
                              </a:rPr>
                              <m:t>2</m:t>
                            </m:r>
                          </m:sub>
                        </m:sSub>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oMath>
                    </m:oMathPara>
                  </a14:m>
                  <a:endParaRPr lang="en-US" sz="2400" dirty="0"/>
                </a:p>
              </p:txBody>
            </p:sp>
          </mc:Choice>
          <mc:Fallback xmlns="">
            <p:sp>
              <p:nvSpPr>
                <p:cNvPr id="8206" name="Object 34">
                  <a:extLst>
                    <a:ext uri="{FF2B5EF4-FFF2-40B4-BE49-F238E27FC236}">
                      <a16:creationId xmlns:a16="http://schemas.microsoft.com/office/drawing/2014/main" id="{23A0EEF9-A1DD-436D-A9E1-1E77F09855D6}"/>
                    </a:ext>
                  </a:extLst>
                </p:cNvPr>
                <p:cNvSpPr txBox="1">
                  <a:spLocks noRot="1" noChangeAspect="1" noMove="1" noResize="1" noEditPoints="1" noAdjustHandles="1" noChangeArrowheads="1" noChangeShapeType="1" noTextEdit="1"/>
                </p:cNvSpPr>
                <p:nvPr/>
              </p:nvSpPr>
              <p:spPr bwMode="auto">
                <a:xfrm>
                  <a:off x="1903" y="3753"/>
                  <a:ext cx="420" cy="291"/>
                </a:xfrm>
                <a:prstGeom prst="rect">
                  <a:avLst/>
                </a:prstGeom>
                <a:blipFill>
                  <a:blip r:embed="rId24"/>
                  <a:stretch>
                    <a:fillRect l="-2752" r="-40367"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07" name="Object 35">
                  <a:extLst>
                    <a:ext uri="{FF2B5EF4-FFF2-40B4-BE49-F238E27FC236}">
                      <a16:creationId xmlns:a16="http://schemas.microsoft.com/office/drawing/2014/main" id="{2352C3E0-8BDC-4B80-91EB-28B233404A17}"/>
                    </a:ext>
                  </a:extLst>
                </p:cNvPr>
                <p:cNvSpPr txBox="1"/>
                <p:nvPr/>
              </p:nvSpPr>
              <p:spPr bwMode="auto">
                <a:xfrm>
                  <a:off x="2890" y="3248"/>
                  <a:ext cx="367" cy="291"/>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FF"/>
                            </a:solidFill>
                            <a:latin typeface="Cambria Math" panose="02040503050406030204" pitchFamily="18" charset="0"/>
                          </a:rPr>
                          <m:t>𝑦</m:t>
                        </m:r>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oMath>
                    </m:oMathPara>
                  </a14:m>
                  <a:endParaRPr lang="en-US" sz="2400" dirty="0"/>
                </a:p>
              </p:txBody>
            </p:sp>
          </mc:Choice>
          <mc:Fallback xmlns="">
            <p:sp>
              <p:nvSpPr>
                <p:cNvPr id="8207" name="Object 35">
                  <a:extLst>
                    <a:ext uri="{FF2B5EF4-FFF2-40B4-BE49-F238E27FC236}">
                      <a16:creationId xmlns:a16="http://schemas.microsoft.com/office/drawing/2014/main" id="{2352C3E0-8BDC-4B80-91EB-28B233404A17}"/>
                    </a:ext>
                  </a:extLst>
                </p:cNvPr>
                <p:cNvSpPr txBox="1">
                  <a:spLocks noRot="1" noChangeAspect="1" noMove="1" noResize="1" noEditPoints="1" noAdjustHandles="1" noChangeArrowheads="1" noChangeShapeType="1" noTextEdit="1"/>
                </p:cNvSpPr>
                <p:nvPr/>
              </p:nvSpPr>
              <p:spPr bwMode="auto">
                <a:xfrm>
                  <a:off x="2890" y="3248"/>
                  <a:ext cx="367" cy="291"/>
                </a:xfrm>
                <a:prstGeom prst="rect">
                  <a:avLst/>
                </a:prstGeom>
                <a:blipFill>
                  <a:blip r:embed="rId25"/>
                  <a:stretch>
                    <a:fillRect l="-3125" r="-36458" b="-21333"/>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0" name="Object 36">
                <a:extLst>
                  <a:ext uri="{FF2B5EF4-FFF2-40B4-BE49-F238E27FC236}">
                    <a16:creationId xmlns:a16="http://schemas.microsoft.com/office/drawing/2014/main" id="{F4464991-7EAD-4A58-AFDF-7D0BF5271061}"/>
                  </a:ext>
                </a:extLst>
              </p:cNvPr>
              <p:cNvSpPr txBox="1"/>
              <p:nvPr/>
            </p:nvSpPr>
            <p:spPr bwMode="auto">
              <a:xfrm>
                <a:off x="4260275" y="4660227"/>
                <a:ext cx="614837" cy="587369"/>
              </a:xfrm>
              <a:prstGeom prst="rect">
                <a:avLst/>
              </a:prstGeom>
              <a:noFill/>
              <a:ln>
                <a:noFill/>
              </a:ln>
              <a:effectLst/>
            </p:spPr>
            <p:txBody>
              <a:bodyPr>
                <a:noAutofit/>
              </a:bodyPr>
              <a:lstStyle/>
              <a:p>
                <a:pPr/>
                <a14:m>
                  <m:oMathPara xmlns:m="http://schemas.openxmlformats.org/officeDocument/2006/math">
                    <m:oMathParaPr>
                      <m:jc m:val="center"/>
                    </m:oMathParaPr>
                    <m:oMath xmlns:m="http://schemas.openxmlformats.org/officeDocument/2006/math">
                      <m:r>
                        <a:rPr lang="en-US" sz="3200" i="1" smtClean="0">
                          <a:solidFill>
                            <a:srgbClr val="000000"/>
                          </a:solidFill>
                          <a:latin typeface="Cambria Math" panose="02040503050406030204" pitchFamily="18" charset="0"/>
                          <a:ea typeface="Cambria Math" panose="02040503050406030204" pitchFamily="18" charset="0"/>
                        </a:rPr>
                        <m:t>⟺</m:t>
                      </m:r>
                    </m:oMath>
                  </m:oMathPara>
                </a14:m>
                <a:endParaRPr lang="en-US" sz="3200" dirty="0"/>
              </a:p>
            </p:txBody>
          </p:sp>
        </mc:Choice>
        <mc:Fallback xmlns="">
          <p:sp>
            <p:nvSpPr>
              <p:cNvPr id="40" name="Object 36">
                <a:extLst>
                  <a:ext uri="{FF2B5EF4-FFF2-40B4-BE49-F238E27FC236}">
                    <a16:creationId xmlns:a16="http://schemas.microsoft.com/office/drawing/2014/main" id="{F4464991-7EAD-4A58-AFDF-7D0BF5271061}"/>
                  </a:ext>
                </a:extLst>
              </p:cNvPr>
              <p:cNvSpPr txBox="1">
                <a:spLocks noRot="1" noChangeAspect="1" noMove="1" noResize="1" noEditPoints="1" noAdjustHandles="1" noChangeArrowheads="1" noChangeShapeType="1" noTextEdit="1"/>
              </p:cNvSpPr>
              <p:nvPr/>
            </p:nvSpPr>
            <p:spPr bwMode="auto">
              <a:xfrm>
                <a:off x="4260275" y="4660227"/>
                <a:ext cx="614837" cy="587369"/>
              </a:xfrm>
              <a:prstGeom prst="rect">
                <a:avLst/>
              </a:prstGeom>
              <a:blipFill>
                <a:blip r:embed="rId26"/>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5" name="标题 1">
            <a:extLst>
              <a:ext uri="{FF2B5EF4-FFF2-40B4-BE49-F238E27FC236}">
                <a16:creationId xmlns:a16="http://schemas.microsoft.com/office/drawing/2014/main" id="{82617E30-98F4-4006-BD28-19D03A0553CC}"/>
              </a:ext>
            </a:extLst>
          </p:cNvPr>
          <p:cNvSpPr>
            <a:spLocks noGrp="1"/>
          </p:cNvSpPr>
          <p:nvPr>
            <p:ph type="title"/>
          </p:nvPr>
        </p:nvSpPr>
        <p:spPr/>
        <p:txBody>
          <a:bodyPr/>
          <a:lstStyle/>
          <a:p>
            <a:r>
              <a:rPr lang="en-US" altLang="zh-CN"/>
              <a:t>2.3 </a:t>
            </a:r>
            <a:r>
              <a:rPr lang="zh-CN" altLang="en-US"/>
              <a:t>线性时不变系统的性质</a:t>
            </a:r>
          </a:p>
        </p:txBody>
      </p:sp>
      <p:sp>
        <p:nvSpPr>
          <p:cNvPr id="9236" name="内容占位符 2">
            <a:extLst>
              <a:ext uri="{FF2B5EF4-FFF2-40B4-BE49-F238E27FC236}">
                <a16:creationId xmlns:a16="http://schemas.microsoft.com/office/drawing/2014/main" id="{E76BBC10-4951-4EFC-BDBA-E33B082F7D45}"/>
              </a:ext>
            </a:extLst>
          </p:cNvPr>
          <p:cNvSpPr>
            <a:spLocks noGrp="1"/>
          </p:cNvSpPr>
          <p:nvPr>
            <p:ph idx="1"/>
          </p:nvPr>
        </p:nvSpPr>
        <p:spPr>
          <a:xfrm>
            <a:off x="457200" y="1285875"/>
            <a:ext cx="8229600" cy="461665"/>
          </a:xfrm>
        </p:spPr>
        <p:txBody>
          <a:bodyPr>
            <a:spAutoFit/>
          </a:bodyPr>
          <a:lstStyle/>
          <a:p>
            <a:pPr marL="0" indent="0">
              <a:buNone/>
            </a:pPr>
            <a:r>
              <a:rPr lang="en-US" altLang="zh-CN" sz="2400" b="0" dirty="0"/>
              <a:t>3. </a:t>
            </a:r>
            <a:r>
              <a:rPr lang="zh-CN" altLang="en-US" sz="2400" b="0" dirty="0">
                <a:solidFill>
                  <a:srgbClr val="FF0000"/>
                </a:solidFill>
              </a:rPr>
              <a:t>结合律</a:t>
            </a:r>
            <a:r>
              <a:rPr lang="zh-CN" altLang="en-US" sz="2400" b="0" dirty="0"/>
              <a:t>：</a:t>
            </a:r>
          </a:p>
        </p:txBody>
      </p:sp>
      <p:sp>
        <p:nvSpPr>
          <p:cNvPr id="4" name="灯片编号占位符 3">
            <a:extLst>
              <a:ext uri="{FF2B5EF4-FFF2-40B4-BE49-F238E27FC236}">
                <a16:creationId xmlns:a16="http://schemas.microsoft.com/office/drawing/2014/main" id="{FB5626D9-AB83-404A-A57D-F4E781C4D82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C7DE1CB-D255-4183-8FCA-16F80AD9A9A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34820" name="Object 4">
                <a:extLst>
                  <a:ext uri="{FF2B5EF4-FFF2-40B4-BE49-F238E27FC236}">
                    <a16:creationId xmlns:a16="http://schemas.microsoft.com/office/drawing/2014/main" id="{B583941D-B298-428E-9E11-EE4968CF17D2}"/>
                  </a:ext>
                </a:extLst>
              </p:cNvPr>
              <p:cNvSpPr txBox="1"/>
              <p:nvPr/>
            </p:nvSpPr>
            <p:spPr bwMode="auto">
              <a:xfrm>
                <a:off x="1594694" y="1628800"/>
                <a:ext cx="6337448" cy="1200329"/>
              </a:xfrm>
              <a:prstGeom prst="rect">
                <a:avLst/>
              </a:prstGeom>
              <a:noFill/>
              <a:ln>
                <a:noFill/>
              </a:ln>
              <a:effectLst/>
            </p:spPr>
            <p:txBody>
              <a:bodyPr>
                <a:spAutoFit/>
              </a:bodyPr>
              <a:lstStyle/>
              <a:p>
                <a:pPr algn="ctr">
                  <a:lnSpc>
                    <a:spcPct val="150000"/>
                  </a:lnSpc>
                </a:pPr>
                <a14:m>
                  <m:oMathPara xmlns:m="http://schemas.openxmlformats.org/officeDocument/2006/math">
                    <m:oMathParaPr>
                      <m:jc m:val="center"/>
                    </m:oMathParaPr>
                    <m:oMath xmlns:m="http://schemas.openxmlformats.org/officeDocument/2006/math">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d>
                        <m:dPr>
                          <m:begChr m:val="["/>
                          <m:endChr m:val="]"/>
                          <m:ctrlPr>
                            <a:rPr lang="en-US" sz="2400" b="0" i="1" smtClean="0">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𝑛</m:t>
                          </m:r>
                        </m:e>
                      </m:d>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1</m:t>
                          </m:r>
                        </m:sub>
                      </m:sSub>
                      <m:d>
                        <m:dPr>
                          <m:begChr m:val="["/>
                          <m:endChr m:val="]"/>
                          <m:ctrlPr>
                            <a:rPr lang="en-US" sz="2400" b="0" i="1" smtClean="0">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𝑛</m:t>
                          </m:r>
                        </m:e>
                      </m:d>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2</m:t>
                          </m:r>
                        </m:sub>
                      </m:sSub>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1</m:t>
                          </m:r>
                        </m:sub>
                      </m:sSub>
                      <m:d>
                        <m:dPr>
                          <m:begChr m:val="["/>
                          <m:endChr m:val="]"/>
                          <m:ctrlPr>
                            <a:rPr lang="en-US" sz="2400" b="0" i="1" smtClean="0">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𝑛</m:t>
                          </m:r>
                        </m:e>
                      </m:d>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2</m:t>
                          </m:r>
                        </m:sub>
                      </m:sSub>
                      <m:d>
                        <m:dPr>
                          <m:begChr m:val="["/>
                          <m:endChr m:val="]"/>
                          <m:ctrlPr>
                            <a:rPr lang="en-US" sz="2400" b="0" i="1" smtClean="0">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𝑛</m:t>
                          </m:r>
                        </m:e>
                      </m:d>
                      <m:r>
                        <a:rPr lang="en-US" sz="2400" b="0" i="1" smtClean="0">
                          <a:solidFill>
                            <a:srgbClr val="000000"/>
                          </a:solidFill>
                          <a:latin typeface="Cambria Math" panose="02040503050406030204" pitchFamily="18" charset="0"/>
                        </a:rPr>
                        <m:t>)</m:t>
                      </m:r>
                    </m:oMath>
                    <m:oMath xmlns:m="http://schemas.openxmlformats.org/officeDocument/2006/math">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𝑡</m:t>
                          </m:r>
                        </m:e>
                      </m:d>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1</m:t>
                          </m:r>
                        </m:sub>
                      </m:sSub>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𝑡</m:t>
                          </m:r>
                        </m:e>
                      </m:d>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1</m:t>
                          </m:r>
                        </m:sub>
                      </m:sSub>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𝑡</m:t>
                          </m:r>
                        </m:e>
                      </m:d>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2</m:t>
                          </m:r>
                        </m:sub>
                      </m:sSub>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𝑡</m:t>
                          </m:r>
                        </m:e>
                      </m:d>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34820" name="Object 4">
                <a:extLst>
                  <a:ext uri="{FF2B5EF4-FFF2-40B4-BE49-F238E27FC236}">
                    <a16:creationId xmlns:a16="http://schemas.microsoft.com/office/drawing/2014/main" id="{B583941D-B298-428E-9E11-EE4968CF17D2}"/>
                  </a:ext>
                </a:extLst>
              </p:cNvPr>
              <p:cNvSpPr txBox="1">
                <a:spLocks noRot="1" noChangeAspect="1" noMove="1" noResize="1" noEditPoints="1" noAdjustHandles="1" noChangeArrowheads="1" noChangeShapeType="1" noTextEdit="1"/>
              </p:cNvSpPr>
              <p:nvPr/>
            </p:nvSpPr>
            <p:spPr bwMode="auto">
              <a:xfrm>
                <a:off x="1594694" y="1628800"/>
                <a:ext cx="6337448" cy="1200329"/>
              </a:xfrm>
              <a:prstGeom prst="rect">
                <a:avLst/>
              </a:prstGeom>
              <a:blipFill>
                <a:blip r:embed="rId2"/>
                <a:stretch>
                  <a:fillRect/>
                </a:stretch>
              </a:blipFill>
              <a:ln>
                <a:noFill/>
              </a:ln>
              <a:effectLst/>
            </p:spPr>
            <p:txBody>
              <a:bodyPr/>
              <a:lstStyle/>
              <a:p>
                <a:r>
                  <a:rPr lang="en-US">
                    <a:noFill/>
                  </a:rPr>
                  <a:t> </a:t>
                </a:r>
              </a:p>
            </p:txBody>
          </p:sp>
        </mc:Fallback>
      </mc:AlternateContent>
      <p:grpSp>
        <p:nvGrpSpPr>
          <p:cNvPr id="9238" name="Group 5">
            <a:extLst>
              <a:ext uri="{FF2B5EF4-FFF2-40B4-BE49-F238E27FC236}">
                <a16:creationId xmlns:a16="http://schemas.microsoft.com/office/drawing/2014/main" id="{D62DC7EE-DC9E-4978-A01A-3AE778288D83}"/>
              </a:ext>
            </a:extLst>
          </p:cNvPr>
          <p:cNvGrpSpPr>
            <a:grpSpLocks/>
          </p:cNvGrpSpPr>
          <p:nvPr/>
        </p:nvGrpSpPr>
        <p:grpSpPr bwMode="auto">
          <a:xfrm>
            <a:off x="2632917" y="2852938"/>
            <a:ext cx="4278616" cy="1182859"/>
            <a:chOff x="672" y="2932"/>
            <a:chExt cx="2429" cy="643"/>
          </a:xfrm>
        </p:grpSpPr>
        <p:sp>
          <p:nvSpPr>
            <p:cNvPr id="9243" name="Line 6">
              <a:extLst>
                <a:ext uri="{FF2B5EF4-FFF2-40B4-BE49-F238E27FC236}">
                  <a16:creationId xmlns:a16="http://schemas.microsoft.com/office/drawing/2014/main" id="{1314ADB5-1695-49FD-AB53-54573C674577}"/>
                </a:ext>
              </a:extLst>
            </p:cNvPr>
            <p:cNvSpPr>
              <a:spLocks noChangeShapeType="1"/>
            </p:cNvSpPr>
            <p:nvPr/>
          </p:nvSpPr>
          <p:spPr bwMode="auto">
            <a:xfrm>
              <a:off x="672" y="3204"/>
              <a:ext cx="51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9244" name="Rectangle 7">
                  <a:extLst>
                    <a:ext uri="{FF2B5EF4-FFF2-40B4-BE49-F238E27FC236}">
                      <a16:creationId xmlns:a16="http://schemas.microsoft.com/office/drawing/2014/main" id="{F881D815-9C01-4ABD-BD40-40104AAA37DD}"/>
                    </a:ext>
                  </a:extLst>
                </p:cNvPr>
                <p:cNvSpPr>
                  <a:spLocks noChangeArrowheads="1"/>
                </p:cNvSpPr>
                <p:nvPr/>
              </p:nvSpPr>
              <p:spPr bwMode="auto">
                <a:xfrm>
                  <a:off x="1183" y="3079"/>
                  <a:ext cx="552" cy="251"/>
                </a:xfrm>
                <a:prstGeom prst="rect">
                  <a:avLst/>
                </a:prstGeom>
                <a:solidFill>
                  <a:srgbClr val="00CCFF"/>
                </a:solidFill>
                <a:ln w="9525">
                  <a:solidFill>
                    <a:schemeClr val="tx1"/>
                  </a:solidFill>
                  <a:miter lim="800000"/>
                  <a:headEnd/>
                  <a:tailE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h</m:t>
                            </m:r>
                          </m:e>
                          <m:sub>
                            <m:r>
                              <a:rPr lang="en-US" sz="2400" i="1">
                                <a:solidFill>
                                  <a:schemeClr val="tx1"/>
                                </a:solidFill>
                                <a:latin typeface="Cambria Math" panose="02040503050406030204" pitchFamily="18" charset="0"/>
                              </a:rPr>
                              <m:t>1</m:t>
                            </m:r>
                          </m:sub>
                        </m:sSub>
                        <m:r>
                          <a:rPr lang="en-US" sz="2400" b="0" i="1" smtClean="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oMath>
                    </m:oMathPara>
                  </a14:m>
                  <a:endParaRPr kumimoji="0" lang="zh-CN" altLang="en-US" sz="2400" b="0" i="0" u="none" strike="noStrike" kern="1200" cap="none" spc="0" normalizeH="0" baseline="0" noProof="0" dirty="0">
                    <a:ln>
                      <a:noFill/>
                    </a:ln>
                    <a:solidFill>
                      <a:schemeClr val="tx1"/>
                    </a:solidFill>
                    <a:effectLst/>
                    <a:uLnTx/>
                    <a:uFillTx/>
                  </a:endParaRPr>
                </a:p>
              </p:txBody>
            </p:sp>
          </mc:Choice>
          <mc:Fallback xmlns="">
            <p:sp>
              <p:nvSpPr>
                <p:cNvPr id="9244" name="Rectangle 7">
                  <a:extLst>
                    <a:ext uri="{FF2B5EF4-FFF2-40B4-BE49-F238E27FC236}">
                      <a16:creationId xmlns:a16="http://schemas.microsoft.com/office/drawing/2014/main" id="{F881D815-9C01-4ABD-BD40-40104AAA37DD}"/>
                    </a:ext>
                  </a:extLst>
                </p:cNvPr>
                <p:cNvSpPr>
                  <a:spLocks noRot="1" noChangeAspect="1" noMove="1" noResize="1" noEditPoints="1" noAdjustHandles="1" noChangeArrowheads="1" noChangeShapeType="1" noTextEdit="1"/>
                </p:cNvSpPr>
                <p:nvPr/>
              </p:nvSpPr>
              <p:spPr bwMode="auto">
                <a:xfrm>
                  <a:off x="1183" y="3079"/>
                  <a:ext cx="552" cy="251"/>
                </a:xfrm>
                <a:prstGeom prst="rect">
                  <a:avLst/>
                </a:prstGeom>
                <a:blipFill>
                  <a:blip r:embed="rId3"/>
                  <a:stretch>
                    <a:fillRect r="-621" b="-19481"/>
                  </a:stretch>
                </a:blipFill>
                <a:ln w="9525">
                  <a:solidFill>
                    <a:schemeClr val="tx1"/>
                  </a:solidFill>
                  <a:miter lim="800000"/>
                  <a:headEnd/>
                  <a:tailEnd/>
                </a:ln>
              </p:spPr>
              <p:txBody>
                <a:bodyPr/>
                <a:lstStyle/>
                <a:p>
                  <a:r>
                    <a:rPr lang="en-US">
                      <a:noFill/>
                    </a:rPr>
                    <a:t> </a:t>
                  </a:r>
                </a:p>
              </p:txBody>
            </p:sp>
          </mc:Fallback>
        </mc:AlternateContent>
        <p:sp>
          <p:nvSpPr>
            <p:cNvPr id="9245" name="Line 8">
              <a:extLst>
                <a:ext uri="{FF2B5EF4-FFF2-40B4-BE49-F238E27FC236}">
                  <a16:creationId xmlns:a16="http://schemas.microsoft.com/office/drawing/2014/main" id="{AC8EA2B1-C897-4E32-96AB-0DF95EA638CE}"/>
                </a:ext>
              </a:extLst>
            </p:cNvPr>
            <p:cNvSpPr>
              <a:spLocks noChangeShapeType="1"/>
            </p:cNvSpPr>
            <p:nvPr/>
          </p:nvSpPr>
          <p:spPr bwMode="auto">
            <a:xfrm>
              <a:off x="1728" y="3204"/>
              <a:ext cx="30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9246" name="Rectangle 9">
                  <a:extLst>
                    <a:ext uri="{FF2B5EF4-FFF2-40B4-BE49-F238E27FC236}">
                      <a16:creationId xmlns:a16="http://schemas.microsoft.com/office/drawing/2014/main" id="{89E92095-1240-463A-99AA-B4A13C73A24F}"/>
                    </a:ext>
                  </a:extLst>
                </p:cNvPr>
                <p:cNvSpPr>
                  <a:spLocks noChangeArrowheads="1"/>
                </p:cNvSpPr>
                <p:nvPr/>
              </p:nvSpPr>
              <p:spPr bwMode="auto">
                <a:xfrm>
                  <a:off x="2033" y="3079"/>
                  <a:ext cx="556" cy="251"/>
                </a:xfrm>
                <a:prstGeom prst="rect">
                  <a:avLst/>
                </a:prstGeom>
                <a:solidFill>
                  <a:srgbClr val="00CCFF"/>
                </a:solidFill>
                <a:ln w="9525">
                  <a:solidFill>
                    <a:schemeClr val="tx1"/>
                  </a:solidFill>
                  <a:miter lim="800000"/>
                  <a:headEnd/>
                  <a:tailE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h</m:t>
                            </m:r>
                          </m:e>
                          <m:sub>
                            <m:r>
                              <a:rPr lang="en-US" sz="2400" i="1">
                                <a:solidFill>
                                  <a:schemeClr val="tx1"/>
                                </a:solidFill>
                                <a:latin typeface="Cambria Math" panose="02040503050406030204" pitchFamily="18" charset="0"/>
                              </a:rPr>
                              <m:t>2</m:t>
                            </m:r>
                          </m:sub>
                        </m:sSub>
                        <m:r>
                          <a:rPr lang="en-US" sz="2400" b="0" i="1" smtClean="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oMath>
                    </m:oMathPara>
                  </a14:m>
                  <a:endParaRPr kumimoji="0" lang="zh-CN" altLang="en-US" sz="2400" b="0" i="0" u="none" strike="noStrike" kern="1200" cap="none" spc="0" normalizeH="0" baseline="0" noProof="0" dirty="0">
                    <a:ln>
                      <a:noFill/>
                    </a:ln>
                    <a:solidFill>
                      <a:schemeClr val="tx1"/>
                    </a:solidFill>
                    <a:effectLst/>
                    <a:uLnTx/>
                    <a:uFillTx/>
                  </a:endParaRPr>
                </a:p>
              </p:txBody>
            </p:sp>
          </mc:Choice>
          <mc:Fallback xmlns="">
            <p:sp>
              <p:nvSpPr>
                <p:cNvPr id="9246" name="Rectangle 9">
                  <a:extLst>
                    <a:ext uri="{FF2B5EF4-FFF2-40B4-BE49-F238E27FC236}">
                      <a16:creationId xmlns:a16="http://schemas.microsoft.com/office/drawing/2014/main" id="{89E92095-1240-463A-99AA-B4A13C73A24F}"/>
                    </a:ext>
                  </a:extLst>
                </p:cNvPr>
                <p:cNvSpPr>
                  <a:spLocks noRot="1" noChangeAspect="1" noMove="1" noResize="1" noEditPoints="1" noAdjustHandles="1" noChangeArrowheads="1" noChangeShapeType="1" noTextEdit="1"/>
                </p:cNvSpPr>
                <p:nvPr/>
              </p:nvSpPr>
              <p:spPr bwMode="auto">
                <a:xfrm>
                  <a:off x="2033" y="3079"/>
                  <a:ext cx="556" cy="251"/>
                </a:xfrm>
                <a:prstGeom prst="rect">
                  <a:avLst/>
                </a:prstGeom>
                <a:blipFill>
                  <a:blip r:embed="rId4"/>
                  <a:stretch>
                    <a:fillRect r="-613" b="-19231"/>
                  </a:stretch>
                </a:blipFill>
                <a:ln w="9525">
                  <a:solidFill>
                    <a:schemeClr val="tx1"/>
                  </a:solidFill>
                  <a:miter lim="800000"/>
                  <a:headEnd/>
                  <a:tailEnd/>
                </a:ln>
              </p:spPr>
              <p:txBody>
                <a:bodyPr/>
                <a:lstStyle/>
                <a:p>
                  <a:r>
                    <a:rPr lang="en-US">
                      <a:noFill/>
                    </a:rPr>
                    <a:t> </a:t>
                  </a:r>
                </a:p>
              </p:txBody>
            </p:sp>
          </mc:Fallback>
        </mc:AlternateContent>
        <p:sp>
          <p:nvSpPr>
            <p:cNvPr id="9247" name="Line 10">
              <a:extLst>
                <a:ext uri="{FF2B5EF4-FFF2-40B4-BE49-F238E27FC236}">
                  <a16:creationId xmlns:a16="http://schemas.microsoft.com/office/drawing/2014/main" id="{4FD19545-D740-4ACE-82FB-953F7E67B9C1}"/>
                </a:ext>
              </a:extLst>
            </p:cNvPr>
            <p:cNvSpPr>
              <a:spLocks noChangeShapeType="1"/>
            </p:cNvSpPr>
            <p:nvPr/>
          </p:nvSpPr>
          <p:spPr bwMode="auto">
            <a:xfrm>
              <a:off x="2590" y="3204"/>
              <a:ext cx="51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9226" name="Object 11">
                  <a:extLst>
                    <a:ext uri="{FF2B5EF4-FFF2-40B4-BE49-F238E27FC236}">
                      <a16:creationId xmlns:a16="http://schemas.microsoft.com/office/drawing/2014/main" id="{65874BF4-5C18-44CA-9CD6-F2F7F9C156E1}"/>
                    </a:ext>
                  </a:extLst>
                </p:cNvPr>
                <p:cNvSpPr txBox="1"/>
                <p:nvPr/>
              </p:nvSpPr>
              <p:spPr bwMode="auto">
                <a:xfrm>
                  <a:off x="720" y="3201"/>
                  <a:ext cx="348" cy="251"/>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smtClean="0">
                            <a:solidFill>
                              <a:srgbClr val="0000FF"/>
                            </a:solidFill>
                            <a:latin typeface="Cambria Math" panose="02040503050406030204" pitchFamily="18" charset="0"/>
                          </a:rPr>
                          <m:t>𝑥</m:t>
                        </m:r>
                        <m:r>
                          <a:rPr lang="en-US" sz="2400" i="1" smtClean="0">
                            <a:solidFill>
                              <a:srgbClr val="0000FF"/>
                            </a:solidFill>
                            <a:latin typeface="Cambria Math" panose="02040503050406030204" pitchFamily="18" charset="0"/>
                          </a:rPr>
                          <m:t>(</m:t>
                        </m:r>
                        <m:r>
                          <a:rPr lang="en-US" sz="2400" i="1" smtClean="0">
                            <a:solidFill>
                              <a:srgbClr val="0000FF"/>
                            </a:solidFill>
                            <a:latin typeface="Cambria Math" panose="02040503050406030204" pitchFamily="18" charset="0"/>
                          </a:rPr>
                          <m:t>𝑡</m:t>
                        </m:r>
                        <m:r>
                          <a:rPr lang="en-US" sz="2400" i="1" smtClean="0">
                            <a:solidFill>
                              <a:srgbClr val="0000FF"/>
                            </a:solidFill>
                            <a:latin typeface="Cambria Math" panose="02040503050406030204" pitchFamily="18" charset="0"/>
                          </a:rPr>
                          <m:t>)</m:t>
                        </m:r>
                      </m:oMath>
                    </m:oMathPara>
                  </a14:m>
                  <a:endParaRPr lang="en-US" sz="2400" dirty="0">
                    <a:solidFill>
                      <a:srgbClr val="0000FF"/>
                    </a:solidFill>
                  </a:endParaRPr>
                </a:p>
              </p:txBody>
            </p:sp>
          </mc:Choice>
          <mc:Fallback xmlns="">
            <p:sp>
              <p:nvSpPr>
                <p:cNvPr id="9226" name="Object 11">
                  <a:extLst>
                    <a:ext uri="{FF2B5EF4-FFF2-40B4-BE49-F238E27FC236}">
                      <a16:creationId xmlns:a16="http://schemas.microsoft.com/office/drawing/2014/main" id="{65874BF4-5C18-44CA-9CD6-F2F7F9C156E1}"/>
                    </a:ext>
                  </a:extLst>
                </p:cNvPr>
                <p:cNvSpPr txBox="1">
                  <a:spLocks noRot="1" noChangeAspect="1" noMove="1" noResize="1" noEditPoints="1" noAdjustHandles="1" noChangeArrowheads="1" noChangeShapeType="1" noTextEdit="1"/>
                </p:cNvSpPr>
                <p:nvPr/>
              </p:nvSpPr>
              <p:spPr bwMode="auto">
                <a:xfrm>
                  <a:off x="720" y="3201"/>
                  <a:ext cx="348" cy="251"/>
                </a:xfrm>
                <a:prstGeom prst="rect">
                  <a:avLst/>
                </a:prstGeom>
                <a:blipFill>
                  <a:blip r:embed="rId5"/>
                  <a:stretch>
                    <a:fillRect r="-29000"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27" name="Object 12">
                  <a:extLst>
                    <a:ext uri="{FF2B5EF4-FFF2-40B4-BE49-F238E27FC236}">
                      <a16:creationId xmlns:a16="http://schemas.microsoft.com/office/drawing/2014/main" id="{F37A2228-AEBA-4DE7-A742-34AB2CBF2B9D}"/>
                    </a:ext>
                  </a:extLst>
                </p:cNvPr>
                <p:cNvSpPr txBox="1"/>
                <p:nvPr/>
              </p:nvSpPr>
              <p:spPr bwMode="auto">
                <a:xfrm>
                  <a:off x="1215" y="3324"/>
                  <a:ext cx="397" cy="251"/>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sSub>
                          <m:sSubPr>
                            <m:ctrlPr>
                              <a:rPr lang="en-US" sz="2400" i="1" smtClean="0">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h</m:t>
                            </m:r>
                          </m:e>
                          <m:sub>
                            <m:r>
                              <a:rPr lang="en-US" sz="2400" i="1">
                                <a:solidFill>
                                  <a:srgbClr val="0000FF"/>
                                </a:solidFill>
                                <a:latin typeface="Cambria Math" panose="02040503050406030204" pitchFamily="18" charset="0"/>
                              </a:rPr>
                              <m:t>1</m:t>
                            </m:r>
                          </m:sub>
                        </m:sSub>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oMath>
                    </m:oMathPara>
                  </a14:m>
                  <a:endParaRPr lang="en-US" sz="2400" dirty="0">
                    <a:solidFill>
                      <a:srgbClr val="0000FF"/>
                    </a:solidFill>
                  </a:endParaRPr>
                </a:p>
              </p:txBody>
            </p:sp>
          </mc:Choice>
          <mc:Fallback xmlns="">
            <p:sp>
              <p:nvSpPr>
                <p:cNvPr id="9227" name="Object 12">
                  <a:extLst>
                    <a:ext uri="{FF2B5EF4-FFF2-40B4-BE49-F238E27FC236}">
                      <a16:creationId xmlns:a16="http://schemas.microsoft.com/office/drawing/2014/main" id="{F37A2228-AEBA-4DE7-A742-34AB2CBF2B9D}"/>
                    </a:ext>
                  </a:extLst>
                </p:cNvPr>
                <p:cNvSpPr txBox="1">
                  <a:spLocks noRot="1" noChangeAspect="1" noMove="1" noResize="1" noEditPoints="1" noAdjustHandles="1" noChangeArrowheads="1" noChangeShapeType="1" noTextEdit="1"/>
                </p:cNvSpPr>
                <p:nvPr/>
              </p:nvSpPr>
              <p:spPr bwMode="auto">
                <a:xfrm>
                  <a:off x="1215" y="3324"/>
                  <a:ext cx="397" cy="251"/>
                </a:xfrm>
                <a:prstGeom prst="rect">
                  <a:avLst/>
                </a:prstGeom>
                <a:blipFill>
                  <a:blip r:embed="rId6"/>
                  <a:stretch>
                    <a:fillRect l="-2609" r="-31304"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28" name="Object 13">
                  <a:extLst>
                    <a:ext uri="{FF2B5EF4-FFF2-40B4-BE49-F238E27FC236}">
                      <a16:creationId xmlns:a16="http://schemas.microsoft.com/office/drawing/2014/main" id="{34FD1746-9D9D-4165-B0B2-F58AA9FE985D}"/>
                    </a:ext>
                  </a:extLst>
                </p:cNvPr>
                <p:cNvSpPr txBox="1"/>
                <p:nvPr/>
              </p:nvSpPr>
              <p:spPr bwMode="auto">
                <a:xfrm>
                  <a:off x="2078" y="3324"/>
                  <a:ext cx="413" cy="251"/>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sSub>
                          <m:sSubPr>
                            <m:ctrlPr>
                              <a:rPr lang="en-US" sz="2400" i="1" smtClean="0">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h</m:t>
                            </m:r>
                          </m:e>
                          <m:sub>
                            <m:r>
                              <a:rPr lang="en-US" sz="2400" i="1">
                                <a:solidFill>
                                  <a:srgbClr val="0000FF"/>
                                </a:solidFill>
                                <a:latin typeface="Cambria Math" panose="02040503050406030204" pitchFamily="18" charset="0"/>
                              </a:rPr>
                              <m:t>2</m:t>
                            </m:r>
                          </m:sub>
                        </m:sSub>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oMath>
                    </m:oMathPara>
                  </a14:m>
                  <a:endParaRPr lang="en-US" sz="2400" dirty="0">
                    <a:solidFill>
                      <a:srgbClr val="0000FF"/>
                    </a:solidFill>
                  </a:endParaRPr>
                </a:p>
              </p:txBody>
            </p:sp>
          </mc:Choice>
          <mc:Fallback xmlns="">
            <p:sp>
              <p:nvSpPr>
                <p:cNvPr id="9228" name="Object 13">
                  <a:extLst>
                    <a:ext uri="{FF2B5EF4-FFF2-40B4-BE49-F238E27FC236}">
                      <a16:creationId xmlns:a16="http://schemas.microsoft.com/office/drawing/2014/main" id="{34FD1746-9D9D-4165-B0B2-F58AA9FE985D}"/>
                    </a:ext>
                  </a:extLst>
                </p:cNvPr>
                <p:cNvSpPr txBox="1">
                  <a:spLocks noRot="1" noChangeAspect="1" noMove="1" noResize="1" noEditPoints="1" noAdjustHandles="1" noChangeArrowheads="1" noChangeShapeType="1" noTextEdit="1"/>
                </p:cNvSpPr>
                <p:nvPr/>
              </p:nvSpPr>
              <p:spPr bwMode="auto">
                <a:xfrm>
                  <a:off x="2078" y="3324"/>
                  <a:ext cx="413" cy="251"/>
                </a:xfrm>
                <a:prstGeom prst="rect">
                  <a:avLst/>
                </a:prstGeom>
                <a:blipFill>
                  <a:blip r:embed="rId7"/>
                  <a:stretch>
                    <a:fillRect l="-2500" r="-27500"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30" name="Object 15">
                  <a:extLst>
                    <a:ext uri="{FF2B5EF4-FFF2-40B4-BE49-F238E27FC236}">
                      <a16:creationId xmlns:a16="http://schemas.microsoft.com/office/drawing/2014/main" id="{27C02FA5-5E09-40BC-B391-AF8EEE1DD7E7}"/>
                    </a:ext>
                  </a:extLst>
                </p:cNvPr>
                <p:cNvSpPr txBox="1"/>
                <p:nvPr/>
              </p:nvSpPr>
              <p:spPr bwMode="auto">
                <a:xfrm>
                  <a:off x="2629" y="3193"/>
                  <a:ext cx="390" cy="251"/>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FF"/>
                            </a:solidFill>
                            <a:latin typeface="Cambria Math" panose="02040503050406030204" pitchFamily="18" charset="0"/>
                          </a:rPr>
                          <m:t>𝑦</m:t>
                        </m:r>
                        <m:r>
                          <a:rPr lang="en-US" sz="2400" i="1" smtClean="0">
                            <a:solidFill>
                              <a:srgbClr val="0000FF"/>
                            </a:solidFill>
                            <a:latin typeface="Cambria Math" panose="02040503050406030204" pitchFamily="18" charset="0"/>
                          </a:rPr>
                          <m:t>(</m:t>
                        </m:r>
                        <m:r>
                          <a:rPr lang="en-US" sz="2400" i="1" smtClean="0">
                            <a:solidFill>
                              <a:srgbClr val="0000FF"/>
                            </a:solidFill>
                            <a:latin typeface="Cambria Math" panose="02040503050406030204" pitchFamily="18" charset="0"/>
                          </a:rPr>
                          <m:t>𝑡</m:t>
                        </m:r>
                        <m:r>
                          <a:rPr lang="en-US" sz="2400" i="1" smtClean="0">
                            <a:solidFill>
                              <a:srgbClr val="0000FF"/>
                            </a:solidFill>
                            <a:latin typeface="Cambria Math" panose="02040503050406030204" pitchFamily="18" charset="0"/>
                          </a:rPr>
                          <m:t>)</m:t>
                        </m:r>
                      </m:oMath>
                    </m:oMathPara>
                  </a14:m>
                  <a:endParaRPr lang="en-US" sz="2400" dirty="0">
                    <a:solidFill>
                      <a:srgbClr val="0000FF"/>
                    </a:solidFill>
                  </a:endParaRPr>
                </a:p>
              </p:txBody>
            </p:sp>
          </mc:Choice>
          <mc:Fallback xmlns="">
            <p:sp>
              <p:nvSpPr>
                <p:cNvPr id="9230" name="Object 15">
                  <a:extLst>
                    <a:ext uri="{FF2B5EF4-FFF2-40B4-BE49-F238E27FC236}">
                      <a16:creationId xmlns:a16="http://schemas.microsoft.com/office/drawing/2014/main" id="{27C02FA5-5E09-40BC-B391-AF8EEE1DD7E7}"/>
                    </a:ext>
                  </a:extLst>
                </p:cNvPr>
                <p:cNvSpPr txBox="1">
                  <a:spLocks noRot="1" noChangeAspect="1" noMove="1" noResize="1" noEditPoints="1" noAdjustHandles="1" noChangeArrowheads="1" noChangeShapeType="1" noTextEdit="1"/>
                </p:cNvSpPr>
                <p:nvPr/>
              </p:nvSpPr>
              <p:spPr bwMode="auto">
                <a:xfrm>
                  <a:off x="2629" y="3193"/>
                  <a:ext cx="390" cy="251"/>
                </a:xfrm>
                <a:prstGeom prst="rect">
                  <a:avLst/>
                </a:prstGeom>
                <a:blipFill>
                  <a:blip r:embed="rId8"/>
                  <a:stretch>
                    <a:fillRect l="-2655" r="-15929"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31" name="Object 16">
                  <a:extLst>
                    <a:ext uri="{FF2B5EF4-FFF2-40B4-BE49-F238E27FC236}">
                      <a16:creationId xmlns:a16="http://schemas.microsoft.com/office/drawing/2014/main" id="{2FC296AC-BE1B-4589-A349-E6C76C6BB865}"/>
                    </a:ext>
                  </a:extLst>
                </p:cNvPr>
                <p:cNvSpPr txBox="1"/>
                <p:nvPr/>
              </p:nvSpPr>
              <p:spPr bwMode="auto">
                <a:xfrm>
                  <a:off x="714" y="2932"/>
                  <a:ext cx="396" cy="251"/>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oMath>
                    </m:oMathPara>
                  </a14:m>
                  <a:endParaRPr lang="en-US" sz="2400" dirty="0">
                    <a:solidFill>
                      <a:schemeClr val="tx1"/>
                    </a:solidFill>
                  </a:endParaRPr>
                </a:p>
              </p:txBody>
            </p:sp>
          </mc:Choice>
          <mc:Fallback xmlns="">
            <p:sp>
              <p:nvSpPr>
                <p:cNvPr id="9231" name="Object 16">
                  <a:extLst>
                    <a:ext uri="{FF2B5EF4-FFF2-40B4-BE49-F238E27FC236}">
                      <a16:creationId xmlns:a16="http://schemas.microsoft.com/office/drawing/2014/main" id="{2FC296AC-BE1B-4589-A349-E6C76C6BB865}"/>
                    </a:ext>
                  </a:extLst>
                </p:cNvPr>
                <p:cNvSpPr txBox="1">
                  <a:spLocks noRot="1" noChangeAspect="1" noMove="1" noResize="1" noEditPoints="1" noAdjustHandles="1" noChangeArrowheads="1" noChangeShapeType="1" noTextEdit="1"/>
                </p:cNvSpPr>
                <p:nvPr/>
              </p:nvSpPr>
              <p:spPr bwMode="auto">
                <a:xfrm>
                  <a:off x="714" y="2932"/>
                  <a:ext cx="396" cy="251"/>
                </a:xfrm>
                <a:prstGeom prst="rect">
                  <a:avLst/>
                </a:prstGeom>
                <a:blipFill>
                  <a:blip r:embed="rId9"/>
                  <a:stretch>
                    <a:fillRect r="-15789"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34" name="Object 19">
                  <a:extLst>
                    <a:ext uri="{FF2B5EF4-FFF2-40B4-BE49-F238E27FC236}">
                      <a16:creationId xmlns:a16="http://schemas.microsoft.com/office/drawing/2014/main" id="{E24E1904-827D-49B9-9551-C0972DC8435F}"/>
                    </a:ext>
                  </a:extLst>
                </p:cNvPr>
                <p:cNvSpPr txBox="1"/>
                <p:nvPr/>
              </p:nvSpPr>
              <p:spPr bwMode="auto">
                <a:xfrm>
                  <a:off x="2624" y="2933"/>
                  <a:ext cx="388" cy="251"/>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rPr>
                          <m:t>𝑦</m:t>
                        </m:r>
                        <m:r>
                          <a:rPr lang="en-US" sz="2400" b="0" i="1" smtClean="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oMath>
                    </m:oMathPara>
                  </a14:m>
                  <a:endParaRPr lang="en-US" sz="2400" dirty="0">
                    <a:solidFill>
                      <a:schemeClr val="tx1"/>
                    </a:solidFill>
                  </a:endParaRPr>
                </a:p>
              </p:txBody>
            </p:sp>
          </mc:Choice>
          <mc:Fallback xmlns="">
            <p:sp>
              <p:nvSpPr>
                <p:cNvPr id="9234" name="Object 19">
                  <a:extLst>
                    <a:ext uri="{FF2B5EF4-FFF2-40B4-BE49-F238E27FC236}">
                      <a16:creationId xmlns:a16="http://schemas.microsoft.com/office/drawing/2014/main" id="{E24E1904-827D-49B9-9551-C0972DC8435F}"/>
                    </a:ext>
                  </a:extLst>
                </p:cNvPr>
                <p:cNvSpPr txBox="1">
                  <a:spLocks noRot="1" noChangeAspect="1" noMove="1" noResize="1" noEditPoints="1" noAdjustHandles="1" noChangeArrowheads="1" noChangeShapeType="1" noTextEdit="1"/>
                </p:cNvSpPr>
                <p:nvPr/>
              </p:nvSpPr>
              <p:spPr bwMode="auto">
                <a:xfrm>
                  <a:off x="2624" y="2933"/>
                  <a:ext cx="388" cy="251"/>
                </a:xfrm>
                <a:prstGeom prst="rect">
                  <a:avLst/>
                </a:prstGeom>
                <a:blipFill>
                  <a:blip r:embed="rId10"/>
                  <a:stretch>
                    <a:fillRect l="-2679" r="-17857" b="-19737"/>
                  </a:stretch>
                </a:blipFill>
                <a:ln>
                  <a:noFill/>
                </a:ln>
                <a:effectLst/>
              </p:spPr>
              <p:txBody>
                <a:bodyPr/>
                <a:lstStyle/>
                <a:p>
                  <a:r>
                    <a:rPr lang="en-US">
                      <a:noFill/>
                    </a:rPr>
                    <a:t> </a:t>
                  </a:r>
                </a:p>
              </p:txBody>
            </p:sp>
          </mc:Fallback>
        </mc:AlternateContent>
      </p:grpSp>
      <p:grpSp>
        <p:nvGrpSpPr>
          <p:cNvPr id="9239" name="Group 2">
            <a:extLst>
              <a:ext uri="{FF2B5EF4-FFF2-40B4-BE49-F238E27FC236}">
                <a16:creationId xmlns:a16="http://schemas.microsoft.com/office/drawing/2014/main" id="{16C640B0-8E32-43C3-9B8E-65CD8904721B}"/>
              </a:ext>
            </a:extLst>
          </p:cNvPr>
          <p:cNvGrpSpPr>
            <a:grpSpLocks/>
          </p:cNvGrpSpPr>
          <p:nvPr/>
        </p:nvGrpSpPr>
        <p:grpSpPr bwMode="auto">
          <a:xfrm>
            <a:off x="2906243" y="4294219"/>
            <a:ext cx="3770721" cy="1247751"/>
            <a:chOff x="1033" y="1058"/>
            <a:chExt cx="1975" cy="742"/>
          </a:xfrm>
        </p:grpSpPr>
        <p:sp>
          <p:nvSpPr>
            <p:cNvPr id="9240" name="Line 3">
              <a:extLst>
                <a:ext uri="{FF2B5EF4-FFF2-40B4-BE49-F238E27FC236}">
                  <a16:creationId xmlns:a16="http://schemas.microsoft.com/office/drawing/2014/main" id="{304155B4-7AFD-470B-9870-218D3C9CBC3A}"/>
                </a:ext>
              </a:extLst>
            </p:cNvPr>
            <p:cNvSpPr>
              <a:spLocks noChangeShapeType="1"/>
            </p:cNvSpPr>
            <p:nvPr/>
          </p:nvSpPr>
          <p:spPr bwMode="auto">
            <a:xfrm>
              <a:off x="1033" y="1361"/>
              <a:ext cx="47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9241" name="Rectangle 4">
                  <a:extLst>
                    <a:ext uri="{FF2B5EF4-FFF2-40B4-BE49-F238E27FC236}">
                      <a16:creationId xmlns:a16="http://schemas.microsoft.com/office/drawing/2014/main" id="{9D2E034B-5E9C-4049-9D53-FAF4E8CBFAB4}"/>
                    </a:ext>
                  </a:extLst>
                </p:cNvPr>
                <p:cNvSpPr>
                  <a:spLocks noChangeArrowheads="1"/>
                </p:cNvSpPr>
                <p:nvPr/>
              </p:nvSpPr>
              <p:spPr bwMode="auto">
                <a:xfrm>
                  <a:off x="1501" y="1226"/>
                  <a:ext cx="1032" cy="275"/>
                </a:xfrm>
                <a:prstGeom prst="rect">
                  <a:avLst/>
                </a:prstGeom>
                <a:solidFill>
                  <a:srgbClr val="00CCFF"/>
                </a:solidFill>
                <a:ln w="9525">
                  <a:solidFill>
                    <a:schemeClr val="tx1"/>
                  </a:solidFill>
                  <a:miter lim="800000"/>
                  <a:headEnd/>
                  <a:tailE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h</m:t>
                            </m:r>
                          </m:e>
                          <m:sub>
                            <m:r>
                              <a:rPr lang="en-US" sz="2400" i="1">
                                <a:solidFill>
                                  <a:schemeClr val="tx1"/>
                                </a:solidFill>
                                <a:latin typeface="Cambria Math" panose="02040503050406030204" pitchFamily="18" charset="0"/>
                              </a:rPr>
                              <m:t>1</m:t>
                            </m:r>
                          </m:sub>
                        </m:sSub>
                        <m:r>
                          <a:rPr lang="en-US" sz="2400" b="0" i="1" smtClean="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h</m:t>
                            </m:r>
                          </m:e>
                          <m:sub>
                            <m:r>
                              <a:rPr lang="en-US" sz="2400" i="1">
                                <a:solidFill>
                                  <a:schemeClr val="tx1"/>
                                </a:solidFill>
                                <a:latin typeface="Cambria Math" panose="02040503050406030204" pitchFamily="18" charset="0"/>
                              </a:rPr>
                              <m:t>2</m:t>
                            </m:r>
                          </m:sub>
                        </m:sSub>
                        <m:r>
                          <a:rPr lang="en-US" sz="2400" b="0" i="1" smtClean="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oMath>
                    </m:oMathPara>
                  </a14:m>
                  <a:endParaRPr kumimoji="0" lang="zh-CN" altLang="en-US" sz="2400" b="0" i="0" u="none" strike="noStrike" kern="1200" cap="none" spc="0" normalizeH="0" baseline="0" noProof="0" dirty="0">
                    <a:ln>
                      <a:noFill/>
                    </a:ln>
                    <a:solidFill>
                      <a:schemeClr val="tx1"/>
                    </a:solidFill>
                    <a:effectLst/>
                    <a:uLnTx/>
                    <a:uFillTx/>
                  </a:endParaRPr>
                </a:p>
              </p:txBody>
            </p:sp>
          </mc:Choice>
          <mc:Fallback xmlns="">
            <p:sp>
              <p:nvSpPr>
                <p:cNvPr id="9241" name="Rectangle 4">
                  <a:extLst>
                    <a:ext uri="{FF2B5EF4-FFF2-40B4-BE49-F238E27FC236}">
                      <a16:creationId xmlns:a16="http://schemas.microsoft.com/office/drawing/2014/main" id="{9D2E034B-5E9C-4049-9D53-FAF4E8CBFAB4}"/>
                    </a:ext>
                  </a:extLst>
                </p:cNvPr>
                <p:cNvSpPr>
                  <a:spLocks noRot="1" noChangeAspect="1" noMove="1" noResize="1" noEditPoints="1" noAdjustHandles="1" noChangeArrowheads="1" noChangeShapeType="1" noTextEdit="1"/>
                </p:cNvSpPr>
                <p:nvPr/>
              </p:nvSpPr>
              <p:spPr bwMode="auto">
                <a:xfrm>
                  <a:off x="1501" y="1226"/>
                  <a:ext cx="1032" cy="275"/>
                </a:xfrm>
                <a:prstGeom prst="rect">
                  <a:avLst/>
                </a:prstGeom>
                <a:blipFill>
                  <a:blip r:embed="rId11"/>
                  <a:stretch>
                    <a:fillRect b="-17949"/>
                  </a:stretch>
                </a:blipFill>
                <a:ln w="9525">
                  <a:solidFill>
                    <a:schemeClr val="tx1"/>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20" name="Object 5">
                  <a:extLst>
                    <a:ext uri="{FF2B5EF4-FFF2-40B4-BE49-F238E27FC236}">
                      <a16:creationId xmlns:a16="http://schemas.microsoft.com/office/drawing/2014/main" id="{C1D8AAAA-D0E3-425B-B9FF-98A49B16927D}"/>
                    </a:ext>
                  </a:extLst>
                </p:cNvPr>
                <p:cNvSpPr txBox="1"/>
                <p:nvPr/>
              </p:nvSpPr>
              <p:spPr bwMode="auto">
                <a:xfrm>
                  <a:off x="1521" y="1525"/>
                  <a:ext cx="999" cy="275"/>
                </a:xfrm>
                <a:prstGeom prst="rect">
                  <a:avLst/>
                </a:prstGeom>
                <a:no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sz="2400" i="1" smtClean="0">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h</m:t>
                            </m:r>
                          </m:e>
                          <m:sub>
                            <m:r>
                              <a:rPr lang="en-US" sz="2400" i="1">
                                <a:solidFill>
                                  <a:srgbClr val="0000FF"/>
                                </a:solidFill>
                                <a:latin typeface="Cambria Math" panose="02040503050406030204" pitchFamily="18" charset="0"/>
                              </a:rPr>
                              <m:t>1</m:t>
                            </m:r>
                          </m:sub>
                        </m:sSub>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sSub>
                          <m:sSubPr>
                            <m:ctrlPr>
                              <a:rPr lang="en-US" sz="2400" i="1">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h</m:t>
                            </m:r>
                          </m:e>
                          <m:sub>
                            <m:r>
                              <a:rPr lang="en-US" sz="2400" i="1">
                                <a:solidFill>
                                  <a:srgbClr val="0000FF"/>
                                </a:solidFill>
                                <a:latin typeface="Cambria Math" panose="02040503050406030204" pitchFamily="18" charset="0"/>
                              </a:rPr>
                              <m:t>2</m:t>
                            </m:r>
                          </m:sub>
                        </m:sSub>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oMath>
                    </m:oMathPara>
                  </a14:m>
                  <a:endParaRPr lang="en-US" sz="2400" dirty="0">
                    <a:solidFill>
                      <a:srgbClr val="0000FF"/>
                    </a:solidFill>
                  </a:endParaRPr>
                </a:p>
              </p:txBody>
            </p:sp>
          </mc:Choice>
          <mc:Fallback xmlns="">
            <p:sp>
              <p:nvSpPr>
                <p:cNvPr id="9220" name="Object 5">
                  <a:extLst>
                    <a:ext uri="{FF2B5EF4-FFF2-40B4-BE49-F238E27FC236}">
                      <a16:creationId xmlns:a16="http://schemas.microsoft.com/office/drawing/2014/main" id="{C1D8AAAA-D0E3-425B-B9FF-98A49B16927D}"/>
                    </a:ext>
                  </a:extLst>
                </p:cNvPr>
                <p:cNvSpPr txBox="1">
                  <a:spLocks noRot="1" noChangeAspect="1" noMove="1" noResize="1" noEditPoints="1" noAdjustHandles="1" noChangeArrowheads="1" noChangeShapeType="1" noTextEdit="1"/>
                </p:cNvSpPr>
                <p:nvPr/>
              </p:nvSpPr>
              <p:spPr bwMode="auto">
                <a:xfrm>
                  <a:off x="1521" y="1525"/>
                  <a:ext cx="999" cy="275"/>
                </a:xfrm>
                <a:prstGeom prst="rect">
                  <a:avLst/>
                </a:prstGeom>
                <a:blipFill>
                  <a:blip r:embed="rId12"/>
                  <a:stretch>
                    <a:fillRect r="-1282" b="-19737"/>
                  </a:stretch>
                </a:blipFill>
                <a:ln>
                  <a:noFill/>
                </a:ln>
                <a:effectLst/>
              </p:spPr>
              <p:txBody>
                <a:bodyPr/>
                <a:lstStyle/>
                <a:p>
                  <a:r>
                    <a:rPr lang="en-US">
                      <a:noFill/>
                    </a:rPr>
                    <a:t> </a:t>
                  </a:r>
                </a:p>
              </p:txBody>
            </p:sp>
          </mc:Fallback>
        </mc:AlternateContent>
        <p:sp>
          <p:nvSpPr>
            <p:cNvPr id="9242" name="Line 6">
              <a:extLst>
                <a:ext uri="{FF2B5EF4-FFF2-40B4-BE49-F238E27FC236}">
                  <a16:creationId xmlns:a16="http://schemas.microsoft.com/office/drawing/2014/main" id="{B33FA831-1B71-451A-9628-B7DF559960BD}"/>
                </a:ext>
              </a:extLst>
            </p:cNvPr>
            <p:cNvSpPr>
              <a:spLocks noChangeShapeType="1"/>
            </p:cNvSpPr>
            <p:nvPr/>
          </p:nvSpPr>
          <p:spPr bwMode="auto">
            <a:xfrm>
              <a:off x="2537" y="1371"/>
              <a:ext cx="47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9221" name="Object 7">
                  <a:extLst>
                    <a:ext uri="{FF2B5EF4-FFF2-40B4-BE49-F238E27FC236}">
                      <a16:creationId xmlns:a16="http://schemas.microsoft.com/office/drawing/2014/main" id="{420DE8E3-1E07-417C-BE71-B63238D5D6B9}"/>
                    </a:ext>
                  </a:extLst>
                </p:cNvPr>
                <p:cNvSpPr txBox="1"/>
                <p:nvPr/>
              </p:nvSpPr>
              <p:spPr bwMode="auto">
                <a:xfrm>
                  <a:off x="1076" y="1362"/>
                  <a:ext cx="349" cy="275"/>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smtClean="0">
                            <a:solidFill>
                              <a:srgbClr val="0000FF"/>
                            </a:solidFill>
                            <a:latin typeface="Cambria Math" panose="02040503050406030204" pitchFamily="18" charset="0"/>
                          </a:rPr>
                          <m:t>𝑥</m:t>
                        </m:r>
                        <m:r>
                          <a:rPr lang="en-US" sz="2400" i="1" smtClean="0">
                            <a:solidFill>
                              <a:srgbClr val="0000FF"/>
                            </a:solidFill>
                            <a:latin typeface="Cambria Math" panose="02040503050406030204" pitchFamily="18" charset="0"/>
                          </a:rPr>
                          <m:t>(</m:t>
                        </m:r>
                        <m:r>
                          <a:rPr lang="en-US" sz="2400" i="1" smtClean="0">
                            <a:solidFill>
                              <a:srgbClr val="0000FF"/>
                            </a:solidFill>
                            <a:latin typeface="Cambria Math" panose="02040503050406030204" pitchFamily="18" charset="0"/>
                          </a:rPr>
                          <m:t>𝑡</m:t>
                        </m:r>
                        <m:r>
                          <a:rPr lang="en-US" sz="2400" i="1" smtClean="0">
                            <a:solidFill>
                              <a:srgbClr val="0000FF"/>
                            </a:solidFill>
                            <a:latin typeface="Cambria Math" panose="02040503050406030204" pitchFamily="18" charset="0"/>
                          </a:rPr>
                          <m:t>)</m:t>
                        </m:r>
                      </m:oMath>
                    </m:oMathPara>
                  </a14:m>
                  <a:endParaRPr lang="en-US" sz="2400" dirty="0">
                    <a:solidFill>
                      <a:srgbClr val="0000FF"/>
                    </a:solidFill>
                  </a:endParaRPr>
                </a:p>
              </p:txBody>
            </p:sp>
          </mc:Choice>
          <mc:Fallback xmlns="">
            <p:sp>
              <p:nvSpPr>
                <p:cNvPr id="9221" name="Object 7">
                  <a:extLst>
                    <a:ext uri="{FF2B5EF4-FFF2-40B4-BE49-F238E27FC236}">
                      <a16:creationId xmlns:a16="http://schemas.microsoft.com/office/drawing/2014/main" id="{420DE8E3-1E07-417C-BE71-B63238D5D6B9}"/>
                    </a:ext>
                  </a:extLst>
                </p:cNvPr>
                <p:cNvSpPr txBox="1">
                  <a:spLocks noRot="1" noChangeAspect="1" noMove="1" noResize="1" noEditPoints="1" noAdjustHandles="1" noChangeArrowheads="1" noChangeShapeType="1" noTextEdit="1"/>
                </p:cNvSpPr>
                <p:nvPr/>
              </p:nvSpPr>
              <p:spPr bwMode="auto">
                <a:xfrm>
                  <a:off x="1076" y="1362"/>
                  <a:ext cx="349" cy="275"/>
                </a:xfrm>
                <a:prstGeom prst="rect">
                  <a:avLst/>
                </a:prstGeom>
                <a:blipFill>
                  <a:blip r:embed="rId13"/>
                  <a:stretch>
                    <a:fillRect r="-18182"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22" name="Object 8">
                  <a:extLst>
                    <a:ext uri="{FF2B5EF4-FFF2-40B4-BE49-F238E27FC236}">
                      <a16:creationId xmlns:a16="http://schemas.microsoft.com/office/drawing/2014/main" id="{E8DB1E3E-8D6B-4B02-8DE2-D18C08DD5C96}"/>
                    </a:ext>
                  </a:extLst>
                </p:cNvPr>
                <p:cNvSpPr txBox="1"/>
                <p:nvPr/>
              </p:nvSpPr>
              <p:spPr bwMode="auto">
                <a:xfrm>
                  <a:off x="1076" y="1058"/>
                  <a:ext cx="396" cy="275"/>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oMath>
                    </m:oMathPara>
                  </a14:m>
                  <a:endParaRPr lang="en-US" sz="2400" dirty="0">
                    <a:solidFill>
                      <a:schemeClr val="tx1"/>
                    </a:solidFill>
                  </a:endParaRPr>
                </a:p>
              </p:txBody>
            </p:sp>
          </mc:Choice>
          <mc:Fallback xmlns="">
            <p:sp>
              <p:nvSpPr>
                <p:cNvPr id="9222" name="Object 8">
                  <a:extLst>
                    <a:ext uri="{FF2B5EF4-FFF2-40B4-BE49-F238E27FC236}">
                      <a16:creationId xmlns:a16="http://schemas.microsoft.com/office/drawing/2014/main" id="{E8DB1E3E-8D6B-4B02-8DE2-D18C08DD5C96}"/>
                    </a:ext>
                  </a:extLst>
                </p:cNvPr>
                <p:cNvSpPr txBox="1">
                  <a:spLocks noRot="1" noChangeAspect="1" noMove="1" noResize="1" noEditPoints="1" noAdjustHandles="1" noChangeArrowheads="1" noChangeShapeType="1" noTextEdit="1"/>
                </p:cNvSpPr>
                <p:nvPr/>
              </p:nvSpPr>
              <p:spPr bwMode="auto">
                <a:xfrm>
                  <a:off x="1076" y="1058"/>
                  <a:ext cx="396" cy="275"/>
                </a:xfrm>
                <a:prstGeom prst="rect">
                  <a:avLst/>
                </a:prstGeom>
                <a:blipFill>
                  <a:blip r:embed="rId14"/>
                  <a:stretch>
                    <a:fillRect r="-6452"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23" name="Object 9">
                  <a:extLst>
                    <a:ext uri="{FF2B5EF4-FFF2-40B4-BE49-F238E27FC236}">
                      <a16:creationId xmlns:a16="http://schemas.microsoft.com/office/drawing/2014/main" id="{9A95C01C-F367-4CAA-936B-605257439902}"/>
                    </a:ext>
                  </a:extLst>
                </p:cNvPr>
                <p:cNvSpPr txBox="1"/>
                <p:nvPr/>
              </p:nvSpPr>
              <p:spPr bwMode="auto">
                <a:xfrm>
                  <a:off x="2579" y="1358"/>
                  <a:ext cx="390" cy="275"/>
                </a:xfrm>
                <a:prstGeom prst="rect">
                  <a:avLst/>
                </a:prstGeom>
                <a:noFill/>
                <a:ln>
                  <a:noFill/>
                </a:ln>
                <a:effectLst/>
              </p:spPr>
              <p:txBody>
                <a:bodyPr>
                  <a:spAutoFit/>
                </a:bodyPr>
                <a:lstStyle/>
                <a:p>
                  <a:pPr/>
                  <a14:m>
                    <m:oMathPara xmlns:m="http://schemas.openxmlformats.org/officeDocument/2006/math">
                      <m:oMathParaPr>
                        <m:jc m:val="center"/>
                      </m:oMathParaPr>
                      <m:oMath xmlns:m="http://schemas.openxmlformats.org/officeDocument/2006/math">
                        <m:r>
                          <a:rPr lang="en-US" sz="2400" i="1" smtClean="0">
                            <a:solidFill>
                              <a:srgbClr val="0000FF"/>
                            </a:solidFill>
                            <a:latin typeface="Cambria Math" panose="02040503050406030204" pitchFamily="18" charset="0"/>
                          </a:rPr>
                          <m:t>𝑦</m:t>
                        </m:r>
                        <m:r>
                          <a:rPr lang="en-US" sz="2400" i="1" smtClean="0">
                            <a:solidFill>
                              <a:srgbClr val="0000FF"/>
                            </a:solidFill>
                            <a:latin typeface="Cambria Math" panose="02040503050406030204" pitchFamily="18" charset="0"/>
                          </a:rPr>
                          <m:t>(</m:t>
                        </m:r>
                        <m:r>
                          <a:rPr lang="en-US" sz="2400" i="1" smtClean="0">
                            <a:solidFill>
                              <a:srgbClr val="0000FF"/>
                            </a:solidFill>
                            <a:latin typeface="Cambria Math" panose="02040503050406030204" pitchFamily="18" charset="0"/>
                          </a:rPr>
                          <m:t>𝑡</m:t>
                        </m:r>
                        <m:r>
                          <a:rPr lang="en-US" sz="2400" i="1" smtClean="0">
                            <a:solidFill>
                              <a:srgbClr val="0000FF"/>
                            </a:solidFill>
                            <a:latin typeface="Cambria Math" panose="02040503050406030204" pitchFamily="18" charset="0"/>
                          </a:rPr>
                          <m:t>)</m:t>
                        </m:r>
                      </m:oMath>
                    </m:oMathPara>
                  </a14:m>
                  <a:endParaRPr lang="en-US" sz="2400" dirty="0">
                    <a:solidFill>
                      <a:srgbClr val="0000FF"/>
                    </a:solidFill>
                  </a:endParaRPr>
                </a:p>
              </p:txBody>
            </p:sp>
          </mc:Choice>
          <mc:Fallback xmlns="">
            <p:sp>
              <p:nvSpPr>
                <p:cNvPr id="9223" name="Object 9">
                  <a:extLst>
                    <a:ext uri="{FF2B5EF4-FFF2-40B4-BE49-F238E27FC236}">
                      <a16:creationId xmlns:a16="http://schemas.microsoft.com/office/drawing/2014/main" id="{9A95C01C-F367-4CAA-936B-605257439902}"/>
                    </a:ext>
                  </a:extLst>
                </p:cNvPr>
                <p:cNvSpPr txBox="1">
                  <a:spLocks noRot="1" noChangeAspect="1" noMove="1" noResize="1" noEditPoints="1" noAdjustHandles="1" noChangeArrowheads="1" noChangeShapeType="1" noTextEdit="1"/>
                </p:cNvSpPr>
                <p:nvPr/>
              </p:nvSpPr>
              <p:spPr bwMode="auto">
                <a:xfrm>
                  <a:off x="2579" y="1358"/>
                  <a:ext cx="390" cy="275"/>
                </a:xfrm>
                <a:prstGeom prst="rect">
                  <a:avLst/>
                </a:prstGeom>
                <a:blipFill>
                  <a:blip r:embed="rId15"/>
                  <a:stretch>
                    <a:fillRect l="-2459" r="-6557"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24" name="Object 10">
                  <a:extLst>
                    <a:ext uri="{FF2B5EF4-FFF2-40B4-BE49-F238E27FC236}">
                      <a16:creationId xmlns:a16="http://schemas.microsoft.com/office/drawing/2014/main" id="{7DDA8CF6-CB1D-40AE-93E3-11BB717F0D96}"/>
                    </a:ext>
                  </a:extLst>
                </p:cNvPr>
                <p:cNvSpPr txBox="1"/>
                <p:nvPr/>
              </p:nvSpPr>
              <p:spPr bwMode="auto">
                <a:xfrm>
                  <a:off x="2579" y="1071"/>
                  <a:ext cx="373" cy="27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rPr>
                          <m:t>𝑦</m:t>
                        </m:r>
                        <m:r>
                          <a:rPr lang="en-US" sz="2400" b="0" i="1" smtClean="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oMath>
                    </m:oMathPara>
                  </a14:m>
                  <a:endParaRPr lang="en-US" sz="2400" dirty="0">
                    <a:solidFill>
                      <a:schemeClr val="tx1"/>
                    </a:solidFill>
                  </a:endParaRPr>
                </a:p>
              </p:txBody>
            </p:sp>
          </mc:Choice>
          <mc:Fallback xmlns="">
            <p:sp>
              <p:nvSpPr>
                <p:cNvPr id="9224" name="Object 10">
                  <a:extLst>
                    <a:ext uri="{FF2B5EF4-FFF2-40B4-BE49-F238E27FC236}">
                      <a16:creationId xmlns:a16="http://schemas.microsoft.com/office/drawing/2014/main" id="{7DDA8CF6-CB1D-40AE-93E3-11BB717F0D96}"/>
                    </a:ext>
                  </a:extLst>
                </p:cNvPr>
                <p:cNvSpPr txBox="1">
                  <a:spLocks noRot="1" noChangeAspect="1" noMove="1" noResize="1" noEditPoints="1" noAdjustHandles="1" noChangeArrowheads="1" noChangeShapeType="1" noTextEdit="1"/>
                </p:cNvSpPr>
                <p:nvPr/>
              </p:nvSpPr>
              <p:spPr bwMode="auto">
                <a:xfrm>
                  <a:off x="2579" y="1071"/>
                  <a:ext cx="373" cy="275"/>
                </a:xfrm>
                <a:prstGeom prst="rect">
                  <a:avLst/>
                </a:prstGeom>
                <a:blipFill>
                  <a:blip r:embed="rId16"/>
                  <a:stretch>
                    <a:fillRect l="-2564" r="-12821" b="-19737"/>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9219" name="Object 18">
                <a:extLst>
                  <a:ext uri="{FF2B5EF4-FFF2-40B4-BE49-F238E27FC236}">
                    <a16:creationId xmlns:a16="http://schemas.microsoft.com/office/drawing/2014/main" id="{5AD65131-1CD8-4C8C-A93A-C09F13156A1E}"/>
                  </a:ext>
                </a:extLst>
              </p:cNvPr>
              <p:cNvSpPr txBox="1"/>
              <p:nvPr/>
            </p:nvSpPr>
            <p:spPr bwMode="auto">
              <a:xfrm>
                <a:off x="4472517" y="3897175"/>
                <a:ext cx="638175" cy="584775"/>
              </a:xfrm>
              <a:prstGeom prst="rect">
                <a:avLst/>
              </a:prstGeom>
              <a:noFill/>
              <a:ln>
                <a:noFill/>
              </a:ln>
              <a:effectLst/>
            </p:spPr>
            <p:txBody>
              <a:bodyPr>
                <a:spAutoFit/>
              </a:bodyPr>
              <a:lstStyle/>
              <a:p>
                <a:pPr/>
                <a14:m>
                  <m:oMathPara xmlns:m="http://schemas.openxmlformats.org/officeDocument/2006/math">
                    <m:oMathParaPr>
                      <m:jc m:val="center"/>
                    </m:oMathParaPr>
                    <m:oMath xmlns:m="http://schemas.openxmlformats.org/officeDocument/2006/math">
                      <m:r>
                        <a:rPr lang="en-US" sz="3200" i="1" smtClean="0">
                          <a:solidFill>
                            <a:srgbClr val="000000"/>
                          </a:solidFill>
                          <a:latin typeface="Cambria Math" panose="02040503050406030204" pitchFamily="18" charset="0"/>
                          <a:ea typeface="Cambria Math" panose="02040503050406030204" pitchFamily="18" charset="0"/>
                        </a:rPr>
                        <m:t>⇕</m:t>
                      </m:r>
                    </m:oMath>
                  </m:oMathPara>
                </a14:m>
                <a:endParaRPr lang="en-US" sz="3200" dirty="0"/>
              </a:p>
            </p:txBody>
          </p:sp>
        </mc:Choice>
        <mc:Fallback xmlns="">
          <p:sp>
            <p:nvSpPr>
              <p:cNvPr id="9219" name="Object 18">
                <a:extLst>
                  <a:ext uri="{FF2B5EF4-FFF2-40B4-BE49-F238E27FC236}">
                    <a16:creationId xmlns:a16="http://schemas.microsoft.com/office/drawing/2014/main" id="{5AD65131-1CD8-4C8C-A93A-C09F13156A1E}"/>
                  </a:ext>
                </a:extLst>
              </p:cNvPr>
              <p:cNvSpPr txBox="1">
                <a:spLocks noRot="1" noChangeAspect="1" noMove="1" noResize="1" noEditPoints="1" noAdjustHandles="1" noChangeArrowheads="1" noChangeShapeType="1" noTextEdit="1"/>
              </p:cNvSpPr>
              <p:nvPr/>
            </p:nvSpPr>
            <p:spPr bwMode="auto">
              <a:xfrm>
                <a:off x="4472517" y="3897175"/>
                <a:ext cx="638175" cy="584775"/>
              </a:xfrm>
              <a:prstGeom prst="rect">
                <a:avLst/>
              </a:prstGeom>
              <a:blipFill>
                <a:blip r:embed="rId17"/>
                <a:stretch>
                  <a:fillRect/>
                </a:stretch>
              </a:blipFill>
              <a:ln>
                <a:noFill/>
              </a:ln>
              <a:effectLst/>
            </p:spPr>
            <p:txBody>
              <a:bodyPr/>
              <a:lstStyle/>
              <a:p>
                <a:r>
                  <a:rPr lang="en-US">
                    <a:noFill/>
                  </a:rPr>
                  <a:t> </a:t>
                </a:r>
              </a:p>
            </p:txBody>
          </p:sp>
        </mc:Fallback>
      </mc:AlternateContent>
      <p:sp>
        <p:nvSpPr>
          <p:cNvPr id="31" name="文本框 30">
            <a:extLst>
              <a:ext uri="{FF2B5EF4-FFF2-40B4-BE49-F238E27FC236}">
                <a16:creationId xmlns:a16="http://schemas.microsoft.com/office/drawing/2014/main" id="{6203AA8C-B9CD-4350-8946-61D424E66373}"/>
              </a:ext>
            </a:extLst>
          </p:cNvPr>
          <p:cNvSpPr txBox="1"/>
          <p:nvPr/>
        </p:nvSpPr>
        <p:spPr>
          <a:xfrm>
            <a:off x="458280" y="5661248"/>
            <a:ext cx="8228519" cy="830997"/>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级联的</a:t>
            </a:r>
            <a:r>
              <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LTI</a:t>
            </a: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系统其总的单位冲激</a:t>
            </a:r>
            <a:r>
              <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a:t>
            </a: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脉冲</a:t>
            </a:r>
            <a:r>
              <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a:t>
            </a: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响应等于各子系统单位冲激</a:t>
            </a:r>
            <a:r>
              <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a:t>
            </a: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脉冲</a:t>
            </a:r>
            <a:r>
              <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a:t>
            </a: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响应的卷积。</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0" name="标题 1">
            <a:extLst>
              <a:ext uri="{FF2B5EF4-FFF2-40B4-BE49-F238E27FC236}">
                <a16:creationId xmlns:a16="http://schemas.microsoft.com/office/drawing/2014/main" id="{5AB5E10A-F76F-4D2A-B760-5889DE335997}"/>
              </a:ext>
            </a:extLst>
          </p:cNvPr>
          <p:cNvSpPr>
            <a:spLocks noGrp="1"/>
          </p:cNvSpPr>
          <p:nvPr>
            <p:ph type="title"/>
          </p:nvPr>
        </p:nvSpPr>
        <p:spPr/>
        <p:txBody>
          <a:bodyPr/>
          <a:lstStyle/>
          <a:p>
            <a:r>
              <a:rPr lang="en-US" altLang="zh-CN"/>
              <a:t>2.3 </a:t>
            </a:r>
            <a:r>
              <a:rPr lang="zh-CN" altLang="en-US"/>
              <a:t>线性时不变系统的性质</a:t>
            </a:r>
          </a:p>
        </p:txBody>
      </p:sp>
      <p:sp>
        <p:nvSpPr>
          <p:cNvPr id="10261" name="内容占位符 2">
            <a:extLst>
              <a:ext uri="{FF2B5EF4-FFF2-40B4-BE49-F238E27FC236}">
                <a16:creationId xmlns:a16="http://schemas.microsoft.com/office/drawing/2014/main" id="{AAEC990B-C7C5-433F-A15A-A3B741BB0ED6}"/>
              </a:ext>
            </a:extLst>
          </p:cNvPr>
          <p:cNvSpPr>
            <a:spLocks noGrp="1"/>
          </p:cNvSpPr>
          <p:nvPr>
            <p:ph idx="1"/>
          </p:nvPr>
        </p:nvSpPr>
        <p:spPr>
          <a:xfrm>
            <a:off x="457200" y="1285875"/>
            <a:ext cx="8229600" cy="830997"/>
          </a:xfrm>
        </p:spPr>
        <p:txBody>
          <a:bodyPr>
            <a:spAutoFit/>
          </a:bodyPr>
          <a:lstStyle/>
          <a:p>
            <a:r>
              <a:rPr lang="zh-CN" altLang="en-US" sz="2400" b="0" dirty="0"/>
              <a:t>由于卷积运算还满足交换律，因此，系统级联的先后次序可以调换。</a:t>
            </a:r>
          </a:p>
        </p:txBody>
      </p:sp>
      <p:sp>
        <p:nvSpPr>
          <p:cNvPr id="4" name="灯片编号占位符 3">
            <a:extLst>
              <a:ext uri="{FF2B5EF4-FFF2-40B4-BE49-F238E27FC236}">
                <a16:creationId xmlns:a16="http://schemas.microsoft.com/office/drawing/2014/main" id="{E9EE4794-78EC-459A-9258-D66A407A450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692CA1C-70FE-44B6-AB0A-F80A746FCC3E}"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0242" name="Object 2">
                <a:extLst>
                  <a:ext uri="{FF2B5EF4-FFF2-40B4-BE49-F238E27FC236}">
                    <a16:creationId xmlns:a16="http://schemas.microsoft.com/office/drawing/2014/main" id="{BE50576B-3443-4A17-A7DF-B81AB7120E78}"/>
                  </a:ext>
                </a:extLst>
              </p:cNvPr>
              <p:cNvSpPr txBox="1"/>
              <p:nvPr/>
            </p:nvSpPr>
            <p:spPr bwMode="auto">
              <a:xfrm>
                <a:off x="1778962" y="2109080"/>
                <a:ext cx="5904656" cy="1200329"/>
              </a:xfrm>
              <a:prstGeom prst="rect">
                <a:avLst/>
              </a:prstGeom>
              <a:noFill/>
              <a:ln>
                <a:noFill/>
              </a:ln>
              <a:effectLst/>
            </p:spPr>
            <p:txBody>
              <a:bodyPr wrap="square">
                <a:spAutoFit/>
              </a:bodyPr>
              <a:lstStyle/>
              <a:p>
                <a:pPr>
                  <a:lnSpc>
                    <a:spcPct val="150000"/>
                  </a:lnSpc>
                </a:pPr>
                <a14:m>
                  <m:oMathPara xmlns:m="http://schemas.openxmlformats.org/officeDocument/2006/math">
                    <m:oMathParaPr>
                      <m:jc m:val="center"/>
                    </m:oMathParaPr>
                    <m:oMath xmlns:m="http://schemas.openxmlformats.org/officeDocument/2006/math">
                      <m:r>
                        <a:rPr lang="en-US" sz="240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1</m:t>
                          </m:r>
                        </m:sub>
                      </m:sSub>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2</m:t>
                          </m:r>
                        </m:sub>
                      </m:sSub>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2</m:t>
                          </m:r>
                        </m:sub>
                      </m:sSub>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1</m:t>
                          </m:r>
                        </m:sub>
                      </m:sSub>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oMath>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h</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0242" name="Object 2">
                <a:extLst>
                  <a:ext uri="{FF2B5EF4-FFF2-40B4-BE49-F238E27FC236}">
                    <a16:creationId xmlns:a16="http://schemas.microsoft.com/office/drawing/2014/main" id="{BE50576B-3443-4A17-A7DF-B81AB7120E78}"/>
                  </a:ext>
                </a:extLst>
              </p:cNvPr>
              <p:cNvSpPr txBox="1">
                <a:spLocks noRot="1" noChangeAspect="1" noMove="1" noResize="1" noEditPoints="1" noAdjustHandles="1" noChangeArrowheads="1" noChangeShapeType="1" noTextEdit="1"/>
              </p:cNvSpPr>
              <p:nvPr/>
            </p:nvSpPr>
            <p:spPr bwMode="auto">
              <a:xfrm>
                <a:off x="1778962" y="2109080"/>
                <a:ext cx="5904656" cy="1200329"/>
              </a:xfrm>
              <a:prstGeom prst="rect">
                <a:avLst/>
              </a:prstGeom>
              <a:blipFill>
                <a:blip r:embed="rId2"/>
                <a:stretch>
                  <a:fillRect/>
                </a:stretch>
              </a:blipFill>
              <a:ln>
                <a:noFill/>
              </a:ln>
              <a:effectLst/>
            </p:spPr>
            <p:txBody>
              <a:bodyPr/>
              <a:lstStyle/>
              <a:p>
                <a:r>
                  <a:rPr lang="en-US">
                    <a:noFill/>
                  </a:rPr>
                  <a:t> </a:t>
                </a:r>
              </a:p>
            </p:txBody>
          </p:sp>
        </mc:Fallback>
      </mc:AlternateContent>
      <p:grpSp>
        <p:nvGrpSpPr>
          <p:cNvPr id="10263" name="Group 3">
            <a:extLst>
              <a:ext uri="{FF2B5EF4-FFF2-40B4-BE49-F238E27FC236}">
                <a16:creationId xmlns:a16="http://schemas.microsoft.com/office/drawing/2014/main" id="{8930C8C5-C69E-4B86-AFC8-4A8328350186}"/>
              </a:ext>
            </a:extLst>
          </p:cNvPr>
          <p:cNvGrpSpPr>
            <a:grpSpLocks/>
          </p:cNvGrpSpPr>
          <p:nvPr/>
        </p:nvGrpSpPr>
        <p:grpSpPr bwMode="auto">
          <a:xfrm>
            <a:off x="2615036" y="3522385"/>
            <a:ext cx="4332584" cy="1185238"/>
            <a:chOff x="1379" y="2212"/>
            <a:chExt cx="2609" cy="846"/>
          </a:xfrm>
        </p:grpSpPr>
        <p:sp>
          <p:nvSpPr>
            <p:cNvPr id="10270" name="Line 4">
              <a:extLst>
                <a:ext uri="{FF2B5EF4-FFF2-40B4-BE49-F238E27FC236}">
                  <a16:creationId xmlns:a16="http://schemas.microsoft.com/office/drawing/2014/main" id="{0568424D-DA3B-4683-9636-7BD6DBB2D664}"/>
                </a:ext>
              </a:extLst>
            </p:cNvPr>
            <p:cNvSpPr>
              <a:spLocks noChangeShapeType="1"/>
            </p:cNvSpPr>
            <p:nvPr/>
          </p:nvSpPr>
          <p:spPr bwMode="auto">
            <a:xfrm>
              <a:off x="1381" y="2579"/>
              <a:ext cx="54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0271" name="Rectangle 5">
                  <a:extLst>
                    <a:ext uri="{FF2B5EF4-FFF2-40B4-BE49-F238E27FC236}">
                      <a16:creationId xmlns:a16="http://schemas.microsoft.com/office/drawing/2014/main" id="{71337DCC-230F-4FD0-B592-6780BCED1747}"/>
                    </a:ext>
                  </a:extLst>
                </p:cNvPr>
                <p:cNvSpPr>
                  <a:spLocks noChangeArrowheads="1"/>
                </p:cNvSpPr>
                <p:nvPr/>
              </p:nvSpPr>
              <p:spPr bwMode="auto">
                <a:xfrm>
                  <a:off x="1835" y="2414"/>
                  <a:ext cx="586" cy="330"/>
                </a:xfrm>
                <a:prstGeom prst="rect">
                  <a:avLst/>
                </a:prstGeom>
                <a:solidFill>
                  <a:srgbClr val="CCFFFF"/>
                </a:solidFill>
                <a:ln w="12700">
                  <a:solidFill>
                    <a:schemeClr val="tx1"/>
                  </a:solidFill>
                  <a:miter lim="800000"/>
                  <a:headEnd/>
                  <a:tailE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h</m:t>
                            </m:r>
                          </m:e>
                          <m:sub>
                            <m:r>
                              <a:rPr lang="en-US" sz="2400" i="1">
                                <a:solidFill>
                                  <a:schemeClr val="tx1"/>
                                </a:solidFill>
                                <a:latin typeface="Cambria Math" panose="02040503050406030204" pitchFamily="18" charset="0"/>
                              </a:rPr>
                              <m:t>1</m:t>
                            </m:r>
                          </m:sub>
                        </m:sSub>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𝑛</m:t>
                        </m:r>
                        <m:r>
                          <a:rPr lang="en-US" sz="2400" i="1" smtClean="0">
                            <a:solidFill>
                              <a:schemeClr val="tx1"/>
                            </a:solidFill>
                            <a:latin typeface="Cambria Math" panose="02040503050406030204" pitchFamily="18" charset="0"/>
                          </a:rPr>
                          <m:t>]</m:t>
                        </m:r>
                      </m:oMath>
                    </m:oMathPara>
                  </a14:m>
                  <a:endPar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mc:Choice>
          <mc:Fallback xmlns="">
            <p:sp>
              <p:nvSpPr>
                <p:cNvPr id="10271" name="Rectangle 5">
                  <a:extLst>
                    <a:ext uri="{FF2B5EF4-FFF2-40B4-BE49-F238E27FC236}">
                      <a16:creationId xmlns:a16="http://schemas.microsoft.com/office/drawing/2014/main" id="{71337DCC-230F-4FD0-B592-6780BCED1747}"/>
                    </a:ext>
                  </a:extLst>
                </p:cNvPr>
                <p:cNvSpPr>
                  <a:spLocks noRot="1" noChangeAspect="1" noMove="1" noResize="1" noEditPoints="1" noAdjustHandles="1" noChangeArrowheads="1" noChangeShapeType="1" noTextEdit="1"/>
                </p:cNvSpPr>
                <p:nvPr/>
              </p:nvSpPr>
              <p:spPr bwMode="auto">
                <a:xfrm>
                  <a:off x="1835" y="2414"/>
                  <a:ext cx="586" cy="330"/>
                </a:xfrm>
                <a:prstGeom prst="rect">
                  <a:avLst/>
                </a:prstGeom>
                <a:blipFill>
                  <a:blip r:embed="rId3"/>
                  <a:stretch>
                    <a:fillRect r="-617" b="-19231"/>
                  </a:stretch>
                </a:blipFill>
                <a:ln w="12700">
                  <a:solidFill>
                    <a:schemeClr val="tx1"/>
                  </a:solidFill>
                  <a:miter lim="800000"/>
                  <a:headEnd/>
                  <a:tailEnd/>
                </a:ln>
              </p:spPr>
              <p:txBody>
                <a:bodyPr/>
                <a:lstStyle/>
                <a:p>
                  <a:r>
                    <a:rPr lang="en-US">
                      <a:noFill/>
                    </a:rPr>
                    <a:t> </a:t>
                  </a:r>
                </a:p>
              </p:txBody>
            </p:sp>
          </mc:Fallback>
        </mc:AlternateContent>
        <p:sp>
          <p:nvSpPr>
            <p:cNvPr id="10272" name="Line 6">
              <a:extLst>
                <a:ext uri="{FF2B5EF4-FFF2-40B4-BE49-F238E27FC236}">
                  <a16:creationId xmlns:a16="http://schemas.microsoft.com/office/drawing/2014/main" id="{3C30AABF-448F-45FA-B772-7208AB8E08F0}"/>
                </a:ext>
              </a:extLst>
            </p:cNvPr>
            <p:cNvSpPr>
              <a:spLocks noChangeShapeType="1"/>
            </p:cNvSpPr>
            <p:nvPr/>
          </p:nvSpPr>
          <p:spPr bwMode="auto">
            <a:xfrm>
              <a:off x="2421" y="2592"/>
              <a:ext cx="43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0273" name="Rectangle 7">
                  <a:extLst>
                    <a:ext uri="{FF2B5EF4-FFF2-40B4-BE49-F238E27FC236}">
                      <a16:creationId xmlns:a16="http://schemas.microsoft.com/office/drawing/2014/main" id="{17D954C2-0974-415B-B95B-BCC98B87FB82}"/>
                    </a:ext>
                  </a:extLst>
                </p:cNvPr>
                <p:cNvSpPr>
                  <a:spLocks noChangeArrowheads="1"/>
                </p:cNvSpPr>
                <p:nvPr/>
              </p:nvSpPr>
              <p:spPr bwMode="auto">
                <a:xfrm>
                  <a:off x="2854" y="2414"/>
                  <a:ext cx="590" cy="330"/>
                </a:xfrm>
                <a:prstGeom prst="rect">
                  <a:avLst/>
                </a:prstGeom>
                <a:solidFill>
                  <a:srgbClr val="CCFFFF"/>
                </a:solidFill>
                <a:ln w="12700">
                  <a:solidFill>
                    <a:schemeClr val="tx1"/>
                  </a:solidFill>
                  <a:miter lim="800000"/>
                  <a:headEnd/>
                  <a:tailE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h</m:t>
                            </m:r>
                          </m:e>
                          <m:sub>
                            <m:r>
                              <a:rPr lang="en-US" sz="2400" i="1">
                                <a:solidFill>
                                  <a:schemeClr val="tx1"/>
                                </a:solidFill>
                                <a:latin typeface="Cambria Math" panose="02040503050406030204" pitchFamily="18" charset="0"/>
                              </a:rPr>
                              <m:t>2</m:t>
                            </m:r>
                          </m:sub>
                        </m:sSub>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𝑛</m:t>
                        </m:r>
                        <m:r>
                          <a:rPr lang="en-US" sz="2400" i="1" smtClean="0">
                            <a:solidFill>
                              <a:schemeClr val="tx1"/>
                            </a:solidFill>
                            <a:latin typeface="Cambria Math" panose="02040503050406030204" pitchFamily="18" charset="0"/>
                          </a:rPr>
                          <m:t>]</m:t>
                        </m:r>
                      </m:oMath>
                    </m:oMathPara>
                  </a14:m>
                  <a:endPar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mc:Choice>
          <mc:Fallback xmlns="">
            <p:sp>
              <p:nvSpPr>
                <p:cNvPr id="10273" name="Rectangle 7">
                  <a:extLst>
                    <a:ext uri="{FF2B5EF4-FFF2-40B4-BE49-F238E27FC236}">
                      <a16:creationId xmlns:a16="http://schemas.microsoft.com/office/drawing/2014/main" id="{17D954C2-0974-415B-B95B-BCC98B87FB82}"/>
                    </a:ext>
                  </a:extLst>
                </p:cNvPr>
                <p:cNvSpPr>
                  <a:spLocks noRot="1" noChangeAspect="1" noMove="1" noResize="1" noEditPoints="1" noAdjustHandles="1" noChangeArrowheads="1" noChangeShapeType="1" noTextEdit="1"/>
                </p:cNvSpPr>
                <p:nvPr/>
              </p:nvSpPr>
              <p:spPr bwMode="auto">
                <a:xfrm>
                  <a:off x="2854" y="2414"/>
                  <a:ext cx="590" cy="330"/>
                </a:xfrm>
                <a:prstGeom prst="rect">
                  <a:avLst/>
                </a:prstGeom>
                <a:blipFill>
                  <a:blip r:embed="rId4"/>
                  <a:stretch>
                    <a:fillRect b="-19231"/>
                  </a:stretch>
                </a:blipFill>
                <a:ln w="12700">
                  <a:solidFill>
                    <a:schemeClr val="tx1"/>
                  </a:solidFill>
                  <a:miter lim="800000"/>
                  <a:headEnd/>
                  <a:tailEnd/>
                </a:ln>
              </p:spPr>
              <p:txBody>
                <a:bodyPr/>
                <a:lstStyle/>
                <a:p>
                  <a:r>
                    <a:rPr lang="en-US">
                      <a:noFill/>
                    </a:rPr>
                    <a:t> </a:t>
                  </a:r>
                </a:p>
              </p:txBody>
            </p:sp>
          </mc:Fallback>
        </mc:AlternateContent>
        <p:sp>
          <p:nvSpPr>
            <p:cNvPr id="10274" name="Line 8">
              <a:extLst>
                <a:ext uri="{FF2B5EF4-FFF2-40B4-BE49-F238E27FC236}">
                  <a16:creationId xmlns:a16="http://schemas.microsoft.com/office/drawing/2014/main" id="{2D808181-8EA9-4EBA-BB14-B969AB4CF1FE}"/>
                </a:ext>
              </a:extLst>
            </p:cNvPr>
            <p:cNvSpPr>
              <a:spLocks noChangeShapeType="1"/>
            </p:cNvSpPr>
            <p:nvPr/>
          </p:nvSpPr>
          <p:spPr bwMode="auto">
            <a:xfrm>
              <a:off x="3446" y="2583"/>
              <a:ext cx="54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0252" name="Object 9">
                  <a:extLst>
                    <a:ext uri="{FF2B5EF4-FFF2-40B4-BE49-F238E27FC236}">
                      <a16:creationId xmlns:a16="http://schemas.microsoft.com/office/drawing/2014/main" id="{0692D121-4EAA-4556-94CA-783BE80A90F6}"/>
                    </a:ext>
                  </a:extLst>
                </p:cNvPr>
                <p:cNvSpPr txBox="1"/>
                <p:nvPr/>
              </p:nvSpPr>
              <p:spPr bwMode="auto">
                <a:xfrm>
                  <a:off x="1379" y="2212"/>
                  <a:ext cx="463" cy="330"/>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rPr>
                          <m:t>𝑥</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𝑛</m:t>
                        </m:r>
                        <m:r>
                          <a:rPr lang="en-US" sz="2400" i="1" smtClean="0">
                            <a:solidFill>
                              <a:schemeClr val="tx1"/>
                            </a:solidFill>
                            <a:latin typeface="Cambria Math" panose="02040503050406030204" pitchFamily="18" charset="0"/>
                          </a:rPr>
                          <m:t>]</m:t>
                        </m:r>
                      </m:oMath>
                    </m:oMathPara>
                  </a14:m>
                  <a:endParaRPr lang="en-US" sz="2400" dirty="0">
                    <a:solidFill>
                      <a:schemeClr val="tx1"/>
                    </a:solidFill>
                  </a:endParaRPr>
                </a:p>
              </p:txBody>
            </p:sp>
          </mc:Choice>
          <mc:Fallback xmlns="">
            <p:sp>
              <p:nvSpPr>
                <p:cNvPr id="10252" name="Object 9">
                  <a:extLst>
                    <a:ext uri="{FF2B5EF4-FFF2-40B4-BE49-F238E27FC236}">
                      <a16:creationId xmlns:a16="http://schemas.microsoft.com/office/drawing/2014/main" id="{0692D121-4EAA-4556-94CA-783BE80A90F6}"/>
                    </a:ext>
                  </a:extLst>
                </p:cNvPr>
                <p:cNvSpPr txBox="1">
                  <a:spLocks noRot="1" noChangeAspect="1" noMove="1" noResize="1" noEditPoints="1" noAdjustHandles="1" noChangeArrowheads="1" noChangeShapeType="1" noTextEdit="1"/>
                </p:cNvSpPr>
                <p:nvPr/>
              </p:nvSpPr>
              <p:spPr bwMode="auto">
                <a:xfrm>
                  <a:off x="1379" y="2212"/>
                  <a:ext cx="463" cy="330"/>
                </a:xfrm>
                <a:prstGeom prst="rect">
                  <a:avLst/>
                </a:prstGeom>
                <a:blipFill>
                  <a:blip r:embed="rId5"/>
                  <a:stretch>
                    <a:fillRect r="-3968"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53" name="Object 10">
                  <a:extLst>
                    <a:ext uri="{FF2B5EF4-FFF2-40B4-BE49-F238E27FC236}">
                      <a16:creationId xmlns:a16="http://schemas.microsoft.com/office/drawing/2014/main" id="{73431C32-994F-4E98-BECA-3546A6A8A82E}"/>
                    </a:ext>
                  </a:extLst>
                </p:cNvPr>
                <p:cNvSpPr txBox="1"/>
                <p:nvPr/>
              </p:nvSpPr>
              <p:spPr bwMode="auto">
                <a:xfrm>
                  <a:off x="3486" y="2223"/>
                  <a:ext cx="463" cy="330"/>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rPr>
                          <m:t>𝑦</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𝑛</m:t>
                        </m:r>
                        <m:r>
                          <a:rPr lang="en-US" sz="2400" i="1" smtClean="0">
                            <a:solidFill>
                              <a:schemeClr val="tx1"/>
                            </a:solidFill>
                            <a:latin typeface="Cambria Math" panose="02040503050406030204" pitchFamily="18" charset="0"/>
                          </a:rPr>
                          <m:t>]</m:t>
                        </m:r>
                      </m:oMath>
                    </m:oMathPara>
                  </a14:m>
                  <a:endParaRPr lang="en-US" sz="2400" dirty="0">
                    <a:solidFill>
                      <a:schemeClr val="tx1"/>
                    </a:solidFill>
                  </a:endParaRPr>
                </a:p>
              </p:txBody>
            </p:sp>
          </mc:Choice>
          <mc:Fallback xmlns="">
            <p:sp>
              <p:nvSpPr>
                <p:cNvPr id="10253" name="Object 10">
                  <a:extLst>
                    <a:ext uri="{FF2B5EF4-FFF2-40B4-BE49-F238E27FC236}">
                      <a16:creationId xmlns:a16="http://schemas.microsoft.com/office/drawing/2014/main" id="{73431C32-994F-4E98-BECA-3546A6A8A82E}"/>
                    </a:ext>
                  </a:extLst>
                </p:cNvPr>
                <p:cNvSpPr txBox="1">
                  <a:spLocks noRot="1" noChangeAspect="1" noMove="1" noResize="1" noEditPoints="1" noAdjustHandles="1" noChangeArrowheads="1" noChangeShapeType="1" noTextEdit="1"/>
                </p:cNvSpPr>
                <p:nvPr/>
              </p:nvSpPr>
              <p:spPr bwMode="auto">
                <a:xfrm>
                  <a:off x="3486" y="2223"/>
                  <a:ext cx="463" cy="330"/>
                </a:xfrm>
                <a:prstGeom prst="rect">
                  <a:avLst/>
                </a:prstGeom>
                <a:blipFill>
                  <a:blip r:embed="rId6"/>
                  <a:stretch>
                    <a:fillRect l="-2381" r="-4762"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56" name="Object 13">
                  <a:extLst>
                    <a:ext uri="{FF2B5EF4-FFF2-40B4-BE49-F238E27FC236}">
                      <a16:creationId xmlns:a16="http://schemas.microsoft.com/office/drawing/2014/main" id="{6C546A87-50B7-4C02-9C3F-1728134C8D12}"/>
                    </a:ext>
                  </a:extLst>
                </p:cNvPr>
                <p:cNvSpPr txBox="1"/>
                <p:nvPr/>
              </p:nvSpPr>
              <p:spPr bwMode="auto">
                <a:xfrm>
                  <a:off x="1384" y="2570"/>
                  <a:ext cx="407" cy="330"/>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smtClean="0">
                            <a:solidFill>
                              <a:srgbClr val="0000FF"/>
                            </a:solidFill>
                            <a:latin typeface="Cambria Math" panose="02040503050406030204" pitchFamily="18" charset="0"/>
                          </a:rPr>
                          <m:t>𝑥</m:t>
                        </m:r>
                        <m:r>
                          <a:rPr lang="en-US" sz="2400" i="1" smtClean="0">
                            <a:solidFill>
                              <a:srgbClr val="0000FF"/>
                            </a:solidFill>
                            <a:latin typeface="Cambria Math" panose="02040503050406030204" pitchFamily="18" charset="0"/>
                          </a:rPr>
                          <m:t>(</m:t>
                        </m:r>
                        <m:r>
                          <a:rPr lang="en-US" sz="2400" i="1" smtClean="0">
                            <a:solidFill>
                              <a:srgbClr val="0000FF"/>
                            </a:solidFill>
                            <a:latin typeface="Cambria Math" panose="02040503050406030204" pitchFamily="18" charset="0"/>
                          </a:rPr>
                          <m:t>𝑡</m:t>
                        </m:r>
                        <m:r>
                          <a:rPr lang="en-US" sz="2400" i="1" smtClean="0">
                            <a:solidFill>
                              <a:srgbClr val="0000FF"/>
                            </a:solidFill>
                            <a:latin typeface="Cambria Math" panose="02040503050406030204" pitchFamily="18" charset="0"/>
                          </a:rPr>
                          <m:t>)</m:t>
                        </m:r>
                      </m:oMath>
                    </m:oMathPara>
                  </a14:m>
                  <a:endParaRPr lang="en-US" sz="2400" dirty="0">
                    <a:solidFill>
                      <a:srgbClr val="0000FF"/>
                    </a:solidFill>
                  </a:endParaRPr>
                </a:p>
              </p:txBody>
            </p:sp>
          </mc:Choice>
          <mc:Fallback xmlns="">
            <p:sp>
              <p:nvSpPr>
                <p:cNvPr id="10256" name="Object 13">
                  <a:extLst>
                    <a:ext uri="{FF2B5EF4-FFF2-40B4-BE49-F238E27FC236}">
                      <a16:creationId xmlns:a16="http://schemas.microsoft.com/office/drawing/2014/main" id="{6C546A87-50B7-4C02-9C3F-1728134C8D12}"/>
                    </a:ext>
                  </a:extLst>
                </p:cNvPr>
                <p:cNvSpPr txBox="1">
                  <a:spLocks noRot="1" noChangeAspect="1" noMove="1" noResize="1" noEditPoints="1" noAdjustHandles="1" noChangeArrowheads="1" noChangeShapeType="1" noTextEdit="1"/>
                </p:cNvSpPr>
                <p:nvPr/>
              </p:nvSpPr>
              <p:spPr bwMode="auto">
                <a:xfrm>
                  <a:off x="1384" y="2570"/>
                  <a:ext cx="407" cy="330"/>
                </a:xfrm>
                <a:prstGeom prst="rect">
                  <a:avLst/>
                </a:prstGeom>
                <a:blipFill>
                  <a:blip r:embed="rId7"/>
                  <a:stretch>
                    <a:fillRect r="-17117"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57" name="Object 14">
                  <a:extLst>
                    <a:ext uri="{FF2B5EF4-FFF2-40B4-BE49-F238E27FC236}">
                      <a16:creationId xmlns:a16="http://schemas.microsoft.com/office/drawing/2014/main" id="{6C4BFF2B-4FAE-4B95-A845-B25DACA636A5}"/>
                    </a:ext>
                  </a:extLst>
                </p:cNvPr>
                <p:cNvSpPr txBox="1"/>
                <p:nvPr/>
              </p:nvSpPr>
              <p:spPr bwMode="auto">
                <a:xfrm>
                  <a:off x="3500" y="2567"/>
                  <a:ext cx="426" cy="330"/>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smtClean="0">
                            <a:solidFill>
                              <a:srgbClr val="0000FF"/>
                            </a:solidFill>
                            <a:latin typeface="Cambria Math" panose="02040503050406030204" pitchFamily="18" charset="0"/>
                          </a:rPr>
                          <m:t>𝑦</m:t>
                        </m:r>
                        <m:r>
                          <a:rPr lang="en-US" sz="2400" i="1" smtClean="0">
                            <a:solidFill>
                              <a:srgbClr val="0000FF"/>
                            </a:solidFill>
                            <a:latin typeface="Cambria Math" panose="02040503050406030204" pitchFamily="18" charset="0"/>
                          </a:rPr>
                          <m:t>(</m:t>
                        </m:r>
                        <m:r>
                          <a:rPr lang="en-US" sz="2400" i="1" smtClean="0">
                            <a:solidFill>
                              <a:srgbClr val="0000FF"/>
                            </a:solidFill>
                            <a:latin typeface="Cambria Math" panose="02040503050406030204" pitchFamily="18" charset="0"/>
                          </a:rPr>
                          <m:t>𝑡</m:t>
                        </m:r>
                        <m:r>
                          <a:rPr lang="en-US" sz="2400" i="1" smtClean="0">
                            <a:solidFill>
                              <a:srgbClr val="0000FF"/>
                            </a:solidFill>
                            <a:latin typeface="Cambria Math" panose="02040503050406030204" pitchFamily="18" charset="0"/>
                          </a:rPr>
                          <m:t>)</m:t>
                        </m:r>
                      </m:oMath>
                    </m:oMathPara>
                  </a14:m>
                  <a:endParaRPr lang="en-US" sz="2400" dirty="0">
                    <a:solidFill>
                      <a:srgbClr val="0000FF"/>
                    </a:solidFill>
                  </a:endParaRPr>
                </a:p>
              </p:txBody>
            </p:sp>
          </mc:Choice>
          <mc:Fallback xmlns="">
            <p:sp>
              <p:nvSpPr>
                <p:cNvPr id="10257" name="Object 14">
                  <a:extLst>
                    <a:ext uri="{FF2B5EF4-FFF2-40B4-BE49-F238E27FC236}">
                      <a16:creationId xmlns:a16="http://schemas.microsoft.com/office/drawing/2014/main" id="{6C4BFF2B-4FAE-4B95-A845-B25DACA636A5}"/>
                    </a:ext>
                  </a:extLst>
                </p:cNvPr>
                <p:cNvSpPr txBox="1">
                  <a:spLocks noRot="1" noChangeAspect="1" noMove="1" noResize="1" noEditPoints="1" noAdjustHandles="1" noChangeArrowheads="1" noChangeShapeType="1" noTextEdit="1"/>
                </p:cNvSpPr>
                <p:nvPr/>
              </p:nvSpPr>
              <p:spPr bwMode="auto">
                <a:xfrm>
                  <a:off x="3500" y="2567"/>
                  <a:ext cx="426" cy="330"/>
                </a:xfrm>
                <a:prstGeom prst="rect">
                  <a:avLst/>
                </a:prstGeom>
                <a:blipFill>
                  <a:blip r:embed="rId8"/>
                  <a:stretch>
                    <a:fillRect l="-2586" r="-12069"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58" name="Object 15">
                  <a:extLst>
                    <a:ext uri="{FF2B5EF4-FFF2-40B4-BE49-F238E27FC236}">
                      <a16:creationId xmlns:a16="http://schemas.microsoft.com/office/drawing/2014/main" id="{E355189E-9E39-4517-8571-17C86F083822}"/>
                    </a:ext>
                  </a:extLst>
                </p:cNvPr>
                <p:cNvSpPr txBox="1"/>
                <p:nvPr/>
              </p:nvSpPr>
              <p:spPr bwMode="auto">
                <a:xfrm>
                  <a:off x="1879" y="2728"/>
                  <a:ext cx="478" cy="330"/>
                </a:xfrm>
                <a:prstGeom prst="rect">
                  <a:avLst/>
                </a:prstGeom>
                <a:noFill/>
                <a:ln>
                  <a:noFill/>
                </a:ln>
                <a:effectLst/>
              </p:spPr>
              <p:txBody>
                <a:bodyPr>
                  <a:spAutoFit/>
                </a:bodyPr>
                <a:lstStyle/>
                <a:p>
                  <a:pPr/>
                  <a14:m>
                    <m:oMathPara xmlns:m="http://schemas.openxmlformats.org/officeDocument/2006/math">
                      <m:oMathParaPr>
                        <m:jc m:val="center"/>
                      </m:oMathParaPr>
                      <m:oMath xmlns:m="http://schemas.openxmlformats.org/officeDocument/2006/math">
                        <m:sSub>
                          <m:sSubPr>
                            <m:ctrlPr>
                              <a:rPr lang="en-US" sz="2400" i="1" smtClean="0">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h</m:t>
                            </m:r>
                          </m:e>
                          <m:sub>
                            <m:r>
                              <a:rPr lang="en-US" sz="2400" i="1">
                                <a:solidFill>
                                  <a:srgbClr val="0000FF"/>
                                </a:solidFill>
                                <a:latin typeface="Cambria Math" panose="02040503050406030204" pitchFamily="18" charset="0"/>
                              </a:rPr>
                              <m:t>1</m:t>
                            </m:r>
                          </m:sub>
                        </m:sSub>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oMath>
                    </m:oMathPara>
                  </a14:m>
                  <a:endParaRPr lang="en-US" sz="2400" dirty="0">
                    <a:solidFill>
                      <a:srgbClr val="0000FF"/>
                    </a:solidFill>
                  </a:endParaRPr>
                </a:p>
              </p:txBody>
            </p:sp>
          </mc:Choice>
          <mc:Fallback xmlns="">
            <p:sp>
              <p:nvSpPr>
                <p:cNvPr id="10258" name="Object 15">
                  <a:extLst>
                    <a:ext uri="{FF2B5EF4-FFF2-40B4-BE49-F238E27FC236}">
                      <a16:creationId xmlns:a16="http://schemas.microsoft.com/office/drawing/2014/main" id="{E355189E-9E39-4517-8571-17C86F083822}"/>
                    </a:ext>
                  </a:extLst>
                </p:cNvPr>
                <p:cNvSpPr txBox="1">
                  <a:spLocks noRot="1" noChangeAspect="1" noMove="1" noResize="1" noEditPoints="1" noAdjustHandles="1" noChangeArrowheads="1" noChangeShapeType="1" noTextEdit="1"/>
                </p:cNvSpPr>
                <p:nvPr/>
              </p:nvSpPr>
              <p:spPr bwMode="auto">
                <a:xfrm>
                  <a:off x="1879" y="2728"/>
                  <a:ext cx="478" cy="330"/>
                </a:xfrm>
                <a:prstGeom prst="rect">
                  <a:avLst/>
                </a:prstGeom>
                <a:blipFill>
                  <a:blip r:embed="rId9"/>
                  <a:stretch>
                    <a:fillRect l="-2308" r="-16923"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59" name="Object 16">
                  <a:extLst>
                    <a:ext uri="{FF2B5EF4-FFF2-40B4-BE49-F238E27FC236}">
                      <a16:creationId xmlns:a16="http://schemas.microsoft.com/office/drawing/2014/main" id="{F401AA7E-5B29-4E42-A856-549BACFC03E6}"/>
                    </a:ext>
                  </a:extLst>
                </p:cNvPr>
                <p:cNvSpPr txBox="1"/>
                <p:nvPr/>
              </p:nvSpPr>
              <p:spPr bwMode="auto">
                <a:xfrm>
                  <a:off x="2893" y="2728"/>
                  <a:ext cx="497" cy="330"/>
                </a:xfrm>
                <a:prstGeom prst="rect">
                  <a:avLst/>
                </a:prstGeom>
                <a:noFill/>
                <a:ln>
                  <a:noFill/>
                </a:ln>
                <a:effectLst/>
              </p:spPr>
              <p:txBody>
                <a:bodyPr>
                  <a:spAutoFit/>
                </a:bodyPr>
                <a:lstStyle/>
                <a:p>
                  <a:pPr/>
                  <a14:m>
                    <m:oMathPara xmlns:m="http://schemas.openxmlformats.org/officeDocument/2006/math">
                      <m:oMathParaPr>
                        <m:jc m:val="center"/>
                      </m:oMathParaPr>
                      <m:oMath xmlns:m="http://schemas.openxmlformats.org/officeDocument/2006/math">
                        <m:sSub>
                          <m:sSubPr>
                            <m:ctrlPr>
                              <a:rPr lang="en-US" sz="2400" i="1" smtClean="0">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h</m:t>
                            </m:r>
                          </m:e>
                          <m:sub>
                            <m:r>
                              <a:rPr lang="en-US" sz="2400" i="1">
                                <a:solidFill>
                                  <a:srgbClr val="0000FF"/>
                                </a:solidFill>
                                <a:latin typeface="Cambria Math" panose="02040503050406030204" pitchFamily="18" charset="0"/>
                              </a:rPr>
                              <m:t>2</m:t>
                            </m:r>
                          </m:sub>
                        </m:sSub>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oMath>
                    </m:oMathPara>
                  </a14:m>
                  <a:endParaRPr lang="en-US" sz="2400" dirty="0">
                    <a:solidFill>
                      <a:srgbClr val="0000FF"/>
                    </a:solidFill>
                  </a:endParaRPr>
                </a:p>
              </p:txBody>
            </p:sp>
          </mc:Choice>
          <mc:Fallback xmlns="">
            <p:sp>
              <p:nvSpPr>
                <p:cNvPr id="10259" name="Object 16">
                  <a:extLst>
                    <a:ext uri="{FF2B5EF4-FFF2-40B4-BE49-F238E27FC236}">
                      <a16:creationId xmlns:a16="http://schemas.microsoft.com/office/drawing/2014/main" id="{F401AA7E-5B29-4E42-A856-549BACFC03E6}"/>
                    </a:ext>
                  </a:extLst>
                </p:cNvPr>
                <p:cNvSpPr txBox="1">
                  <a:spLocks noRot="1" noChangeAspect="1" noMove="1" noResize="1" noEditPoints="1" noAdjustHandles="1" noChangeArrowheads="1" noChangeShapeType="1" noTextEdit="1"/>
                </p:cNvSpPr>
                <p:nvPr/>
              </p:nvSpPr>
              <p:spPr bwMode="auto">
                <a:xfrm>
                  <a:off x="2893" y="2728"/>
                  <a:ext cx="497" cy="330"/>
                </a:xfrm>
                <a:prstGeom prst="rect">
                  <a:avLst/>
                </a:prstGeom>
                <a:blipFill>
                  <a:blip r:embed="rId10"/>
                  <a:stretch>
                    <a:fillRect l="-2206" r="-12500" b="-19737"/>
                  </a:stretch>
                </a:blipFill>
                <a:ln>
                  <a:noFill/>
                </a:ln>
                <a:effectLst/>
              </p:spPr>
              <p:txBody>
                <a:bodyPr/>
                <a:lstStyle/>
                <a:p>
                  <a:r>
                    <a:rPr lang="en-US">
                      <a:noFill/>
                    </a:rPr>
                    <a:t> </a:t>
                  </a:r>
                </a:p>
              </p:txBody>
            </p:sp>
          </mc:Fallback>
        </mc:AlternateContent>
      </p:grpSp>
      <p:grpSp>
        <p:nvGrpSpPr>
          <p:cNvPr id="10264" name="Group 17">
            <a:extLst>
              <a:ext uri="{FF2B5EF4-FFF2-40B4-BE49-F238E27FC236}">
                <a16:creationId xmlns:a16="http://schemas.microsoft.com/office/drawing/2014/main" id="{0BB3EA36-4713-41CC-B6B8-6316DF9AB077}"/>
              </a:ext>
            </a:extLst>
          </p:cNvPr>
          <p:cNvGrpSpPr>
            <a:grpSpLocks/>
          </p:cNvGrpSpPr>
          <p:nvPr/>
        </p:nvGrpSpPr>
        <p:grpSpPr bwMode="auto">
          <a:xfrm>
            <a:off x="2609107" y="5209396"/>
            <a:ext cx="4346768" cy="1205320"/>
            <a:chOff x="1381" y="2989"/>
            <a:chExt cx="2551" cy="832"/>
          </a:xfrm>
        </p:grpSpPr>
        <p:sp>
          <p:nvSpPr>
            <p:cNvPr id="10265" name="Line 18">
              <a:extLst>
                <a:ext uri="{FF2B5EF4-FFF2-40B4-BE49-F238E27FC236}">
                  <a16:creationId xmlns:a16="http://schemas.microsoft.com/office/drawing/2014/main" id="{A9DBAF02-DB85-4654-B40D-24AB1D8BE461}"/>
                </a:ext>
              </a:extLst>
            </p:cNvPr>
            <p:cNvSpPr>
              <a:spLocks noChangeShapeType="1"/>
            </p:cNvSpPr>
            <p:nvPr/>
          </p:nvSpPr>
          <p:spPr bwMode="auto">
            <a:xfrm>
              <a:off x="1381" y="3350"/>
              <a:ext cx="52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FF"/>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0266" name="Rectangle 19">
                  <a:extLst>
                    <a:ext uri="{FF2B5EF4-FFF2-40B4-BE49-F238E27FC236}">
                      <a16:creationId xmlns:a16="http://schemas.microsoft.com/office/drawing/2014/main" id="{5CA06516-F940-4B1C-8FFD-3CC1F41C29A1}"/>
                    </a:ext>
                  </a:extLst>
                </p:cNvPr>
                <p:cNvSpPr>
                  <a:spLocks noChangeArrowheads="1"/>
                </p:cNvSpPr>
                <p:nvPr/>
              </p:nvSpPr>
              <p:spPr bwMode="auto">
                <a:xfrm>
                  <a:off x="1835" y="3190"/>
                  <a:ext cx="575" cy="319"/>
                </a:xfrm>
                <a:prstGeom prst="rect">
                  <a:avLst/>
                </a:prstGeom>
                <a:solidFill>
                  <a:srgbClr val="CCFFFF"/>
                </a:solidFill>
                <a:ln w="12700">
                  <a:solidFill>
                    <a:schemeClr val="tx1"/>
                  </a:solidFill>
                  <a:miter lim="800000"/>
                  <a:headEnd/>
                  <a:tailE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h</m:t>
                            </m:r>
                          </m:e>
                          <m:sub>
                            <m:r>
                              <a:rPr lang="en-US" sz="2400" i="1">
                                <a:solidFill>
                                  <a:schemeClr val="tx1"/>
                                </a:solidFill>
                                <a:latin typeface="Cambria Math" panose="02040503050406030204" pitchFamily="18" charset="0"/>
                              </a:rPr>
                              <m:t>2</m:t>
                            </m:r>
                          </m:sub>
                        </m:sSub>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𝑛</m:t>
                        </m:r>
                        <m:r>
                          <a:rPr lang="en-US" sz="2400" i="1" smtClean="0">
                            <a:solidFill>
                              <a:schemeClr val="tx1"/>
                            </a:solidFill>
                            <a:latin typeface="Cambria Math" panose="02040503050406030204" pitchFamily="18" charset="0"/>
                          </a:rPr>
                          <m:t>]</m:t>
                        </m:r>
                      </m:oMath>
                    </m:oMathPara>
                  </a14:m>
                  <a:endPar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mc:Choice>
          <mc:Fallback xmlns="">
            <p:sp>
              <p:nvSpPr>
                <p:cNvPr id="10266" name="Rectangle 19">
                  <a:extLst>
                    <a:ext uri="{FF2B5EF4-FFF2-40B4-BE49-F238E27FC236}">
                      <a16:creationId xmlns:a16="http://schemas.microsoft.com/office/drawing/2014/main" id="{5CA06516-F940-4B1C-8FFD-3CC1F41C29A1}"/>
                    </a:ext>
                  </a:extLst>
                </p:cNvPr>
                <p:cNvSpPr>
                  <a:spLocks noRot="1" noChangeAspect="1" noMove="1" noResize="1" noEditPoints="1" noAdjustHandles="1" noChangeArrowheads="1" noChangeShapeType="1" noTextEdit="1"/>
                </p:cNvSpPr>
                <p:nvPr/>
              </p:nvSpPr>
              <p:spPr bwMode="auto">
                <a:xfrm>
                  <a:off x="1835" y="3190"/>
                  <a:ext cx="575" cy="319"/>
                </a:xfrm>
                <a:prstGeom prst="rect">
                  <a:avLst/>
                </a:prstGeom>
                <a:blipFill>
                  <a:blip r:embed="rId11"/>
                  <a:stretch>
                    <a:fillRect r="-617" b="-19231"/>
                  </a:stretch>
                </a:blipFill>
                <a:ln w="12700">
                  <a:solidFill>
                    <a:schemeClr val="tx1"/>
                  </a:solidFill>
                  <a:miter lim="800000"/>
                  <a:headEnd/>
                  <a:tailEnd/>
                </a:ln>
              </p:spPr>
              <p:txBody>
                <a:bodyPr/>
                <a:lstStyle/>
                <a:p>
                  <a:r>
                    <a:rPr lang="en-US">
                      <a:noFill/>
                    </a:rPr>
                    <a:t> </a:t>
                  </a:r>
                </a:p>
              </p:txBody>
            </p:sp>
          </mc:Fallback>
        </mc:AlternateContent>
        <p:sp>
          <p:nvSpPr>
            <p:cNvPr id="10267" name="Line 20">
              <a:extLst>
                <a:ext uri="{FF2B5EF4-FFF2-40B4-BE49-F238E27FC236}">
                  <a16:creationId xmlns:a16="http://schemas.microsoft.com/office/drawing/2014/main" id="{4C63A94C-1ECC-4706-BEE7-48098634C499}"/>
                </a:ext>
              </a:extLst>
            </p:cNvPr>
            <p:cNvSpPr>
              <a:spLocks noChangeShapeType="1"/>
            </p:cNvSpPr>
            <p:nvPr/>
          </p:nvSpPr>
          <p:spPr bwMode="auto">
            <a:xfrm>
              <a:off x="2410" y="3362"/>
              <a:ext cx="42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FF"/>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0268" name="Rectangle 21">
                  <a:extLst>
                    <a:ext uri="{FF2B5EF4-FFF2-40B4-BE49-F238E27FC236}">
                      <a16:creationId xmlns:a16="http://schemas.microsoft.com/office/drawing/2014/main" id="{2DF0F54B-E8D3-4082-914C-4B92272F9A98}"/>
                    </a:ext>
                  </a:extLst>
                </p:cNvPr>
                <p:cNvSpPr>
                  <a:spLocks noChangeArrowheads="1"/>
                </p:cNvSpPr>
                <p:nvPr/>
              </p:nvSpPr>
              <p:spPr bwMode="auto">
                <a:xfrm>
                  <a:off x="2833" y="3193"/>
                  <a:ext cx="571" cy="319"/>
                </a:xfrm>
                <a:prstGeom prst="rect">
                  <a:avLst/>
                </a:prstGeom>
                <a:solidFill>
                  <a:srgbClr val="CCFFFF"/>
                </a:solidFill>
                <a:ln w="12700">
                  <a:solidFill>
                    <a:schemeClr val="tx1"/>
                  </a:solidFill>
                  <a:miter lim="800000"/>
                  <a:headEnd/>
                  <a:tailE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h</m:t>
                            </m:r>
                          </m:e>
                          <m:sub>
                            <m:r>
                              <a:rPr lang="en-US" sz="2400" i="1">
                                <a:solidFill>
                                  <a:schemeClr val="tx1"/>
                                </a:solidFill>
                                <a:latin typeface="Cambria Math" panose="02040503050406030204" pitchFamily="18" charset="0"/>
                              </a:rPr>
                              <m:t>1</m:t>
                            </m:r>
                          </m:sub>
                        </m:sSub>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𝑛</m:t>
                        </m:r>
                        <m:r>
                          <a:rPr lang="en-US" sz="2400" i="1" smtClean="0">
                            <a:solidFill>
                              <a:schemeClr val="tx1"/>
                            </a:solidFill>
                            <a:latin typeface="Cambria Math" panose="02040503050406030204" pitchFamily="18" charset="0"/>
                          </a:rPr>
                          <m:t>]</m:t>
                        </m:r>
                      </m:oMath>
                    </m:oMathPara>
                  </a14:m>
                  <a:endPar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mc:Choice>
          <mc:Fallback xmlns="">
            <p:sp>
              <p:nvSpPr>
                <p:cNvPr id="10268" name="Rectangle 21">
                  <a:extLst>
                    <a:ext uri="{FF2B5EF4-FFF2-40B4-BE49-F238E27FC236}">
                      <a16:creationId xmlns:a16="http://schemas.microsoft.com/office/drawing/2014/main" id="{2DF0F54B-E8D3-4082-914C-4B92272F9A98}"/>
                    </a:ext>
                  </a:extLst>
                </p:cNvPr>
                <p:cNvSpPr>
                  <a:spLocks noRot="1" noChangeAspect="1" noMove="1" noResize="1" noEditPoints="1" noAdjustHandles="1" noChangeArrowheads="1" noChangeShapeType="1" noTextEdit="1"/>
                </p:cNvSpPr>
                <p:nvPr/>
              </p:nvSpPr>
              <p:spPr bwMode="auto">
                <a:xfrm>
                  <a:off x="2833" y="3193"/>
                  <a:ext cx="571" cy="319"/>
                </a:xfrm>
                <a:prstGeom prst="rect">
                  <a:avLst/>
                </a:prstGeom>
                <a:blipFill>
                  <a:blip r:embed="rId12"/>
                  <a:stretch>
                    <a:fillRect r="-617" b="-17949"/>
                  </a:stretch>
                </a:blipFill>
                <a:ln w="12700">
                  <a:solidFill>
                    <a:schemeClr val="tx1"/>
                  </a:solidFill>
                  <a:miter lim="800000"/>
                  <a:headEnd/>
                  <a:tailEnd/>
                </a:ln>
              </p:spPr>
              <p:txBody>
                <a:bodyPr/>
                <a:lstStyle/>
                <a:p>
                  <a:r>
                    <a:rPr lang="en-US">
                      <a:noFill/>
                    </a:rPr>
                    <a:t> </a:t>
                  </a:r>
                </a:p>
              </p:txBody>
            </p:sp>
          </mc:Fallback>
        </mc:AlternateContent>
        <p:sp>
          <p:nvSpPr>
            <p:cNvPr id="10269" name="Line 22">
              <a:extLst>
                <a:ext uri="{FF2B5EF4-FFF2-40B4-BE49-F238E27FC236}">
                  <a16:creationId xmlns:a16="http://schemas.microsoft.com/office/drawing/2014/main" id="{426A26AE-5E34-4D8C-B20B-76272B84CCE6}"/>
                </a:ext>
              </a:extLst>
            </p:cNvPr>
            <p:cNvSpPr>
              <a:spLocks noChangeShapeType="1"/>
            </p:cNvSpPr>
            <p:nvPr/>
          </p:nvSpPr>
          <p:spPr bwMode="auto">
            <a:xfrm>
              <a:off x="3404" y="3362"/>
              <a:ext cx="52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FF"/>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0244" name="Object 23">
                  <a:extLst>
                    <a:ext uri="{FF2B5EF4-FFF2-40B4-BE49-F238E27FC236}">
                      <a16:creationId xmlns:a16="http://schemas.microsoft.com/office/drawing/2014/main" id="{8E81452E-354D-404E-AD21-FC30F3F1A6CF}"/>
                    </a:ext>
                  </a:extLst>
                </p:cNvPr>
                <p:cNvSpPr txBox="1"/>
                <p:nvPr/>
              </p:nvSpPr>
              <p:spPr bwMode="auto">
                <a:xfrm>
                  <a:off x="1392" y="2989"/>
                  <a:ext cx="463" cy="319"/>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rPr>
                          <m:t>𝑥</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𝑛</m:t>
                        </m:r>
                        <m:r>
                          <a:rPr lang="en-US" sz="2400" i="1" smtClean="0">
                            <a:solidFill>
                              <a:schemeClr val="tx1"/>
                            </a:solidFill>
                            <a:latin typeface="Cambria Math" panose="02040503050406030204" pitchFamily="18" charset="0"/>
                          </a:rPr>
                          <m:t>]</m:t>
                        </m:r>
                      </m:oMath>
                    </m:oMathPara>
                  </a14:m>
                  <a:endParaRPr lang="en-US" sz="2400" dirty="0">
                    <a:solidFill>
                      <a:schemeClr val="tx1"/>
                    </a:solidFill>
                  </a:endParaRPr>
                </a:p>
              </p:txBody>
            </p:sp>
          </mc:Choice>
          <mc:Fallback xmlns="">
            <p:sp>
              <p:nvSpPr>
                <p:cNvPr id="10244" name="Object 23">
                  <a:extLst>
                    <a:ext uri="{FF2B5EF4-FFF2-40B4-BE49-F238E27FC236}">
                      <a16:creationId xmlns:a16="http://schemas.microsoft.com/office/drawing/2014/main" id="{8E81452E-354D-404E-AD21-FC30F3F1A6CF}"/>
                    </a:ext>
                  </a:extLst>
                </p:cNvPr>
                <p:cNvSpPr txBox="1">
                  <a:spLocks noRot="1" noChangeAspect="1" noMove="1" noResize="1" noEditPoints="1" noAdjustHandles="1" noChangeArrowheads="1" noChangeShapeType="1" noTextEdit="1"/>
                </p:cNvSpPr>
                <p:nvPr/>
              </p:nvSpPr>
              <p:spPr bwMode="auto">
                <a:xfrm>
                  <a:off x="1392" y="2989"/>
                  <a:ext cx="463" cy="319"/>
                </a:xfrm>
                <a:prstGeom prst="rect">
                  <a:avLst/>
                </a:prstGeom>
                <a:blipFill>
                  <a:blip r:embed="rId13"/>
                  <a:stretch>
                    <a:fillRect r="-1550" b="-21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45" name="Object 24">
                  <a:extLst>
                    <a:ext uri="{FF2B5EF4-FFF2-40B4-BE49-F238E27FC236}">
                      <a16:creationId xmlns:a16="http://schemas.microsoft.com/office/drawing/2014/main" id="{8DEB020E-CADB-4DCF-9900-2E1FFB15E8A3}"/>
                    </a:ext>
                  </a:extLst>
                </p:cNvPr>
                <p:cNvSpPr txBox="1"/>
                <p:nvPr/>
              </p:nvSpPr>
              <p:spPr bwMode="auto">
                <a:xfrm>
                  <a:off x="3441" y="2999"/>
                  <a:ext cx="415" cy="319"/>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rPr>
                          <m:t>𝑦</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𝑛</m:t>
                        </m:r>
                        <m:r>
                          <a:rPr lang="en-US" sz="2400" i="1" smtClean="0">
                            <a:solidFill>
                              <a:schemeClr val="tx1"/>
                            </a:solidFill>
                            <a:latin typeface="Cambria Math" panose="02040503050406030204" pitchFamily="18" charset="0"/>
                          </a:rPr>
                          <m:t>]</m:t>
                        </m:r>
                      </m:oMath>
                    </m:oMathPara>
                  </a14:m>
                  <a:endParaRPr lang="en-US" sz="2400" dirty="0">
                    <a:solidFill>
                      <a:schemeClr val="tx1"/>
                    </a:solidFill>
                  </a:endParaRPr>
                </a:p>
              </p:txBody>
            </p:sp>
          </mc:Choice>
          <mc:Fallback xmlns="">
            <p:sp>
              <p:nvSpPr>
                <p:cNvPr id="10245" name="Object 24">
                  <a:extLst>
                    <a:ext uri="{FF2B5EF4-FFF2-40B4-BE49-F238E27FC236}">
                      <a16:creationId xmlns:a16="http://schemas.microsoft.com/office/drawing/2014/main" id="{8DEB020E-CADB-4DCF-9900-2E1FFB15E8A3}"/>
                    </a:ext>
                  </a:extLst>
                </p:cNvPr>
                <p:cNvSpPr txBox="1">
                  <a:spLocks noRot="1" noChangeAspect="1" noMove="1" noResize="1" noEditPoints="1" noAdjustHandles="1" noChangeArrowheads="1" noChangeShapeType="1" noTextEdit="1"/>
                </p:cNvSpPr>
                <p:nvPr/>
              </p:nvSpPr>
              <p:spPr bwMode="auto">
                <a:xfrm>
                  <a:off x="3441" y="2999"/>
                  <a:ext cx="415" cy="319"/>
                </a:xfrm>
                <a:prstGeom prst="rect">
                  <a:avLst/>
                </a:prstGeom>
                <a:blipFill>
                  <a:blip r:embed="rId14"/>
                  <a:stretch>
                    <a:fillRect l="-2586" r="-14655"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48" name="Object 27">
                  <a:extLst>
                    <a:ext uri="{FF2B5EF4-FFF2-40B4-BE49-F238E27FC236}">
                      <a16:creationId xmlns:a16="http://schemas.microsoft.com/office/drawing/2014/main" id="{F5B20BEE-A089-4979-8860-23845A3341BB}"/>
                    </a:ext>
                  </a:extLst>
                </p:cNvPr>
                <p:cNvSpPr txBox="1"/>
                <p:nvPr/>
              </p:nvSpPr>
              <p:spPr bwMode="auto">
                <a:xfrm>
                  <a:off x="1391" y="3349"/>
                  <a:ext cx="407" cy="319"/>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smtClean="0">
                            <a:solidFill>
                              <a:srgbClr val="0000FF"/>
                            </a:solidFill>
                            <a:latin typeface="Cambria Math" panose="02040503050406030204" pitchFamily="18" charset="0"/>
                          </a:rPr>
                          <m:t>𝑥</m:t>
                        </m:r>
                        <m:r>
                          <a:rPr lang="en-US" sz="2400" i="1" smtClean="0">
                            <a:solidFill>
                              <a:srgbClr val="0000FF"/>
                            </a:solidFill>
                            <a:latin typeface="Cambria Math" panose="02040503050406030204" pitchFamily="18" charset="0"/>
                          </a:rPr>
                          <m:t>(</m:t>
                        </m:r>
                        <m:r>
                          <a:rPr lang="en-US" sz="2400" i="1" smtClean="0">
                            <a:solidFill>
                              <a:srgbClr val="0000FF"/>
                            </a:solidFill>
                            <a:latin typeface="Cambria Math" panose="02040503050406030204" pitchFamily="18" charset="0"/>
                          </a:rPr>
                          <m:t>𝑡</m:t>
                        </m:r>
                        <m:r>
                          <a:rPr lang="en-US" sz="2400" i="1" smtClean="0">
                            <a:solidFill>
                              <a:srgbClr val="0000FF"/>
                            </a:solidFill>
                            <a:latin typeface="Cambria Math" panose="02040503050406030204" pitchFamily="18" charset="0"/>
                          </a:rPr>
                          <m:t>)</m:t>
                        </m:r>
                      </m:oMath>
                    </m:oMathPara>
                  </a14:m>
                  <a:endParaRPr lang="en-US" sz="2400" dirty="0">
                    <a:solidFill>
                      <a:srgbClr val="0000FF"/>
                    </a:solidFill>
                  </a:endParaRPr>
                </a:p>
              </p:txBody>
            </p:sp>
          </mc:Choice>
          <mc:Fallback xmlns="">
            <p:sp>
              <p:nvSpPr>
                <p:cNvPr id="10248" name="Object 27">
                  <a:extLst>
                    <a:ext uri="{FF2B5EF4-FFF2-40B4-BE49-F238E27FC236}">
                      <a16:creationId xmlns:a16="http://schemas.microsoft.com/office/drawing/2014/main" id="{F5B20BEE-A089-4979-8860-23845A3341BB}"/>
                    </a:ext>
                  </a:extLst>
                </p:cNvPr>
                <p:cNvSpPr txBox="1">
                  <a:spLocks noRot="1" noChangeAspect="1" noMove="1" noResize="1" noEditPoints="1" noAdjustHandles="1" noChangeArrowheads="1" noChangeShapeType="1" noTextEdit="1"/>
                </p:cNvSpPr>
                <p:nvPr/>
              </p:nvSpPr>
              <p:spPr bwMode="auto">
                <a:xfrm>
                  <a:off x="1391" y="3349"/>
                  <a:ext cx="407" cy="319"/>
                </a:xfrm>
                <a:prstGeom prst="rect">
                  <a:avLst/>
                </a:prstGeom>
                <a:blipFill>
                  <a:blip r:embed="rId15"/>
                  <a:stretch>
                    <a:fillRect r="-14035"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49" name="Object 28">
                  <a:extLst>
                    <a:ext uri="{FF2B5EF4-FFF2-40B4-BE49-F238E27FC236}">
                      <a16:creationId xmlns:a16="http://schemas.microsoft.com/office/drawing/2014/main" id="{290C6EE0-C5E9-4881-9DFF-4F666F2464FD}"/>
                    </a:ext>
                  </a:extLst>
                </p:cNvPr>
                <p:cNvSpPr txBox="1"/>
                <p:nvPr/>
              </p:nvSpPr>
              <p:spPr bwMode="auto">
                <a:xfrm>
                  <a:off x="3429" y="3362"/>
                  <a:ext cx="426" cy="319"/>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smtClean="0">
                            <a:solidFill>
                              <a:srgbClr val="0000FF"/>
                            </a:solidFill>
                            <a:latin typeface="Cambria Math" panose="02040503050406030204" pitchFamily="18" charset="0"/>
                          </a:rPr>
                          <m:t>𝑦</m:t>
                        </m:r>
                        <m:r>
                          <a:rPr lang="en-US" sz="2400" i="1" smtClean="0">
                            <a:solidFill>
                              <a:srgbClr val="0000FF"/>
                            </a:solidFill>
                            <a:latin typeface="Cambria Math" panose="02040503050406030204" pitchFamily="18" charset="0"/>
                          </a:rPr>
                          <m:t>(</m:t>
                        </m:r>
                        <m:r>
                          <a:rPr lang="en-US" sz="2400" i="1" smtClean="0">
                            <a:solidFill>
                              <a:srgbClr val="0000FF"/>
                            </a:solidFill>
                            <a:latin typeface="Cambria Math" panose="02040503050406030204" pitchFamily="18" charset="0"/>
                          </a:rPr>
                          <m:t>𝑡</m:t>
                        </m:r>
                        <m:r>
                          <a:rPr lang="en-US" sz="2400" i="1" smtClean="0">
                            <a:solidFill>
                              <a:srgbClr val="0000FF"/>
                            </a:solidFill>
                            <a:latin typeface="Cambria Math" panose="02040503050406030204" pitchFamily="18" charset="0"/>
                          </a:rPr>
                          <m:t>)</m:t>
                        </m:r>
                      </m:oMath>
                    </m:oMathPara>
                  </a14:m>
                  <a:endParaRPr lang="en-US" sz="2400" dirty="0">
                    <a:solidFill>
                      <a:srgbClr val="0000FF"/>
                    </a:solidFill>
                  </a:endParaRPr>
                </a:p>
              </p:txBody>
            </p:sp>
          </mc:Choice>
          <mc:Fallback xmlns="">
            <p:sp>
              <p:nvSpPr>
                <p:cNvPr id="10249" name="Object 28">
                  <a:extLst>
                    <a:ext uri="{FF2B5EF4-FFF2-40B4-BE49-F238E27FC236}">
                      <a16:creationId xmlns:a16="http://schemas.microsoft.com/office/drawing/2014/main" id="{290C6EE0-C5E9-4881-9DFF-4F666F2464FD}"/>
                    </a:ext>
                  </a:extLst>
                </p:cNvPr>
                <p:cNvSpPr txBox="1">
                  <a:spLocks noRot="1" noChangeAspect="1" noMove="1" noResize="1" noEditPoints="1" noAdjustHandles="1" noChangeArrowheads="1" noChangeShapeType="1" noTextEdit="1"/>
                </p:cNvSpPr>
                <p:nvPr/>
              </p:nvSpPr>
              <p:spPr bwMode="auto">
                <a:xfrm>
                  <a:off x="3429" y="3362"/>
                  <a:ext cx="426" cy="319"/>
                </a:xfrm>
                <a:prstGeom prst="rect">
                  <a:avLst/>
                </a:prstGeom>
                <a:blipFill>
                  <a:blip r:embed="rId16"/>
                  <a:stretch>
                    <a:fillRect l="-2521" r="-10084"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50" name="Object 29">
                  <a:extLst>
                    <a:ext uri="{FF2B5EF4-FFF2-40B4-BE49-F238E27FC236}">
                      <a16:creationId xmlns:a16="http://schemas.microsoft.com/office/drawing/2014/main" id="{D9F3DF02-3E88-4EA6-9D6F-1FAC26CE0681}"/>
                    </a:ext>
                  </a:extLst>
                </p:cNvPr>
                <p:cNvSpPr txBox="1"/>
                <p:nvPr/>
              </p:nvSpPr>
              <p:spPr bwMode="auto">
                <a:xfrm>
                  <a:off x="2869" y="3497"/>
                  <a:ext cx="478" cy="324"/>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sSub>
                          <m:sSubPr>
                            <m:ctrlPr>
                              <a:rPr lang="en-US" sz="2400" i="1" smtClean="0">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h</m:t>
                            </m:r>
                          </m:e>
                          <m:sub>
                            <m:r>
                              <a:rPr lang="en-US" sz="2400" i="1">
                                <a:solidFill>
                                  <a:srgbClr val="0000FF"/>
                                </a:solidFill>
                                <a:latin typeface="Cambria Math" panose="02040503050406030204" pitchFamily="18" charset="0"/>
                              </a:rPr>
                              <m:t>1</m:t>
                            </m:r>
                          </m:sub>
                        </m:sSub>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oMath>
                    </m:oMathPara>
                  </a14:m>
                  <a:endParaRPr lang="en-US" sz="2400" dirty="0">
                    <a:solidFill>
                      <a:srgbClr val="0000FF"/>
                    </a:solidFill>
                  </a:endParaRPr>
                </a:p>
              </p:txBody>
            </p:sp>
          </mc:Choice>
          <mc:Fallback xmlns="">
            <p:sp>
              <p:nvSpPr>
                <p:cNvPr id="10250" name="Object 29">
                  <a:extLst>
                    <a:ext uri="{FF2B5EF4-FFF2-40B4-BE49-F238E27FC236}">
                      <a16:creationId xmlns:a16="http://schemas.microsoft.com/office/drawing/2014/main" id="{D9F3DF02-3E88-4EA6-9D6F-1FAC26CE0681}"/>
                    </a:ext>
                  </a:extLst>
                </p:cNvPr>
                <p:cNvSpPr txBox="1">
                  <a:spLocks noRot="1" noChangeAspect="1" noMove="1" noResize="1" noEditPoints="1" noAdjustHandles="1" noChangeArrowheads="1" noChangeShapeType="1" noTextEdit="1"/>
                </p:cNvSpPr>
                <p:nvPr/>
              </p:nvSpPr>
              <p:spPr bwMode="auto">
                <a:xfrm>
                  <a:off x="2869" y="3497"/>
                  <a:ext cx="478" cy="324"/>
                </a:xfrm>
                <a:prstGeom prst="rect">
                  <a:avLst/>
                </a:prstGeom>
                <a:blipFill>
                  <a:blip r:embed="rId17"/>
                  <a:stretch>
                    <a:fillRect l="-2256" r="-13534" b="-1818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51" name="Object 30">
                  <a:extLst>
                    <a:ext uri="{FF2B5EF4-FFF2-40B4-BE49-F238E27FC236}">
                      <a16:creationId xmlns:a16="http://schemas.microsoft.com/office/drawing/2014/main" id="{B2551AA1-1775-4778-B1D8-538F2661E5BF}"/>
                    </a:ext>
                  </a:extLst>
                </p:cNvPr>
                <p:cNvSpPr txBox="1"/>
                <p:nvPr/>
              </p:nvSpPr>
              <p:spPr bwMode="auto">
                <a:xfrm>
                  <a:off x="1864" y="3485"/>
                  <a:ext cx="497" cy="324"/>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sSub>
                          <m:sSubPr>
                            <m:ctrlPr>
                              <a:rPr lang="en-US" sz="2400" i="1" smtClean="0">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h</m:t>
                            </m:r>
                          </m:e>
                          <m:sub>
                            <m:r>
                              <a:rPr lang="en-US" sz="2400" i="1">
                                <a:solidFill>
                                  <a:srgbClr val="0000FF"/>
                                </a:solidFill>
                                <a:latin typeface="Cambria Math" panose="02040503050406030204" pitchFamily="18" charset="0"/>
                              </a:rPr>
                              <m:t>2</m:t>
                            </m:r>
                          </m:sub>
                        </m:sSub>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oMath>
                    </m:oMathPara>
                  </a14:m>
                  <a:endParaRPr lang="en-US" sz="2400" dirty="0">
                    <a:solidFill>
                      <a:srgbClr val="0000FF"/>
                    </a:solidFill>
                  </a:endParaRPr>
                </a:p>
              </p:txBody>
            </p:sp>
          </mc:Choice>
          <mc:Fallback xmlns="">
            <p:sp>
              <p:nvSpPr>
                <p:cNvPr id="10251" name="Object 30">
                  <a:extLst>
                    <a:ext uri="{FF2B5EF4-FFF2-40B4-BE49-F238E27FC236}">
                      <a16:creationId xmlns:a16="http://schemas.microsoft.com/office/drawing/2014/main" id="{B2551AA1-1775-4778-B1D8-538F2661E5BF}"/>
                    </a:ext>
                  </a:extLst>
                </p:cNvPr>
                <p:cNvSpPr txBox="1">
                  <a:spLocks noRot="1" noChangeAspect="1" noMove="1" noResize="1" noEditPoints="1" noAdjustHandles="1" noChangeArrowheads="1" noChangeShapeType="1" noTextEdit="1"/>
                </p:cNvSpPr>
                <p:nvPr/>
              </p:nvSpPr>
              <p:spPr bwMode="auto">
                <a:xfrm>
                  <a:off x="1864" y="3485"/>
                  <a:ext cx="497" cy="324"/>
                </a:xfrm>
                <a:prstGeom prst="rect">
                  <a:avLst/>
                </a:prstGeom>
                <a:blipFill>
                  <a:blip r:embed="rId18"/>
                  <a:stretch>
                    <a:fillRect l="-2158" r="-9353" b="-18182"/>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9" name="Object 18">
                <a:extLst>
                  <a:ext uri="{FF2B5EF4-FFF2-40B4-BE49-F238E27FC236}">
                    <a16:creationId xmlns:a16="http://schemas.microsoft.com/office/drawing/2014/main" id="{74F9AF62-CFA2-49E3-8751-F8977A20D3A1}"/>
                  </a:ext>
                </a:extLst>
              </p:cNvPr>
              <p:cNvSpPr txBox="1"/>
              <p:nvPr/>
            </p:nvSpPr>
            <p:spPr bwMode="auto">
              <a:xfrm>
                <a:off x="4385268" y="4679983"/>
                <a:ext cx="638175" cy="584775"/>
              </a:xfrm>
              <a:prstGeom prst="rect">
                <a:avLst/>
              </a:prstGeom>
              <a:noFill/>
              <a:ln>
                <a:noFill/>
              </a:ln>
              <a:effectLst/>
            </p:spPr>
            <p:txBody>
              <a:bodyPr>
                <a:spAutoFit/>
              </a:bodyPr>
              <a:lstStyle/>
              <a:p>
                <a:pPr/>
                <a14:m>
                  <m:oMathPara xmlns:m="http://schemas.openxmlformats.org/officeDocument/2006/math">
                    <m:oMathParaPr>
                      <m:jc m:val="center"/>
                    </m:oMathParaPr>
                    <m:oMath xmlns:m="http://schemas.openxmlformats.org/officeDocument/2006/math">
                      <m:r>
                        <a:rPr lang="en-US" sz="3200" i="1" smtClean="0">
                          <a:solidFill>
                            <a:srgbClr val="000000"/>
                          </a:solidFill>
                          <a:latin typeface="Cambria Math" panose="02040503050406030204" pitchFamily="18" charset="0"/>
                          <a:ea typeface="Cambria Math" panose="02040503050406030204" pitchFamily="18" charset="0"/>
                        </a:rPr>
                        <m:t>⇕</m:t>
                      </m:r>
                    </m:oMath>
                  </m:oMathPara>
                </a14:m>
                <a:endParaRPr lang="en-US" sz="3200" dirty="0"/>
              </a:p>
            </p:txBody>
          </p:sp>
        </mc:Choice>
        <mc:Fallback xmlns="">
          <p:sp>
            <p:nvSpPr>
              <p:cNvPr id="69" name="Object 18">
                <a:extLst>
                  <a:ext uri="{FF2B5EF4-FFF2-40B4-BE49-F238E27FC236}">
                    <a16:creationId xmlns:a16="http://schemas.microsoft.com/office/drawing/2014/main" id="{74F9AF62-CFA2-49E3-8751-F8977A20D3A1}"/>
                  </a:ext>
                </a:extLst>
              </p:cNvPr>
              <p:cNvSpPr txBox="1">
                <a:spLocks noRot="1" noChangeAspect="1" noMove="1" noResize="1" noEditPoints="1" noAdjustHandles="1" noChangeArrowheads="1" noChangeShapeType="1" noTextEdit="1"/>
              </p:cNvSpPr>
              <p:nvPr/>
            </p:nvSpPr>
            <p:spPr bwMode="auto">
              <a:xfrm>
                <a:off x="4385268" y="4679983"/>
                <a:ext cx="638175" cy="584775"/>
              </a:xfrm>
              <a:prstGeom prst="rect">
                <a:avLst/>
              </a:prstGeom>
              <a:blipFill>
                <a:blip r:embed="rId19"/>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0" name="标题 1">
            <a:extLst>
              <a:ext uri="{FF2B5EF4-FFF2-40B4-BE49-F238E27FC236}">
                <a16:creationId xmlns:a16="http://schemas.microsoft.com/office/drawing/2014/main" id="{7883BF6E-241D-447C-AB02-12DE82A50F96}"/>
              </a:ext>
            </a:extLst>
          </p:cNvPr>
          <p:cNvSpPr>
            <a:spLocks noGrp="1"/>
          </p:cNvSpPr>
          <p:nvPr>
            <p:ph type="title"/>
          </p:nvPr>
        </p:nvSpPr>
        <p:spPr/>
        <p:txBody>
          <a:bodyPr/>
          <a:lstStyle/>
          <a:p>
            <a:r>
              <a:rPr lang="en-US" altLang="zh-CN"/>
              <a:t>2.3 </a:t>
            </a:r>
            <a:r>
              <a:rPr lang="zh-CN" altLang="en-US"/>
              <a:t>线性时不变系统的性质</a:t>
            </a:r>
          </a:p>
        </p:txBody>
      </p:sp>
      <p:sp>
        <p:nvSpPr>
          <p:cNvPr id="4" name="灯片编号占位符 3">
            <a:extLst>
              <a:ext uri="{FF2B5EF4-FFF2-40B4-BE49-F238E27FC236}">
                <a16:creationId xmlns:a16="http://schemas.microsoft.com/office/drawing/2014/main" id="{5225092F-30C6-409F-BF00-45C782D0F8C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69FD101-5A22-4FA5-B03B-F63F82D2CA31}"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272" name="Text Box 32">
            <a:extLst>
              <a:ext uri="{FF2B5EF4-FFF2-40B4-BE49-F238E27FC236}">
                <a16:creationId xmlns:a16="http://schemas.microsoft.com/office/drawing/2014/main" id="{0D0A2428-A77D-4B42-929C-FE18FD36651D}"/>
              </a:ext>
            </a:extLst>
          </p:cNvPr>
          <p:cNvSpPr txBox="1">
            <a:spLocks noChangeArrowheads="1"/>
          </p:cNvSpPr>
          <p:nvPr/>
        </p:nvSpPr>
        <p:spPr bwMode="auto">
          <a:xfrm>
            <a:off x="512147" y="1237459"/>
            <a:ext cx="41857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级联次序可交换的前提条件：</a:t>
            </a:r>
          </a:p>
        </p:txBody>
      </p:sp>
      <p:sp>
        <p:nvSpPr>
          <p:cNvPr id="11273" name="Text Box 33">
            <a:extLst>
              <a:ext uri="{FF2B5EF4-FFF2-40B4-BE49-F238E27FC236}">
                <a16:creationId xmlns:a16="http://schemas.microsoft.com/office/drawing/2014/main" id="{A368763C-5B03-4287-9280-037B35974AFC}"/>
              </a:ext>
            </a:extLst>
          </p:cNvPr>
          <p:cNvSpPr txBox="1">
            <a:spLocks noChangeArrowheads="1"/>
          </p:cNvSpPr>
          <p:nvPr/>
        </p:nvSpPr>
        <p:spPr bwMode="auto">
          <a:xfrm>
            <a:off x="831715" y="1699124"/>
            <a:ext cx="5109091" cy="1144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altLang="zh-CN"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①</a:t>
            </a: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系统是</a:t>
            </a:r>
            <a:r>
              <a:rPr kumimoji="0" lang="en-US" altLang="zh-CN"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LTI</a:t>
            </a: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的；</a:t>
            </a:r>
          </a:p>
          <a:p>
            <a:pPr marL="0" marR="0" lvl="0" indent="0" algn="l" defTabSz="914400" rtl="0" eaLnBrk="1" fontAlgn="base" latinLnBrk="0" hangingPunct="1">
              <a:lnSpc>
                <a:spcPct val="150000"/>
              </a:lnSpc>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②所有涉及到的卷积运算必须收敛。</a:t>
            </a:r>
          </a:p>
        </p:txBody>
      </p:sp>
      <p:grpSp>
        <p:nvGrpSpPr>
          <p:cNvPr id="11274" name="Group 2">
            <a:extLst>
              <a:ext uri="{FF2B5EF4-FFF2-40B4-BE49-F238E27FC236}">
                <a16:creationId xmlns:a16="http://schemas.microsoft.com/office/drawing/2014/main" id="{3BEEB4B8-709C-48A2-86C2-687E1E61F06E}"/>
              </a:ext>
            </a:extLst>
          </p:cNvPr>
          <p:cNvGrpSpPr>
            <a:grpSpLocks/>
          </p:cNvGrpSpPr>
          <p:nvPr/>
        </p:nvGrpSpPr>
        <p:grpSpPr bwMode="auto">
          <a:xfrm>
            <a:off x="1331640" y="2945185"/>
            <a:ext cx="6300111" cy="738641"/>
            <a:chOff x="703" y="401"/>
            <a:chExt cx="4068" cy="487"/>
          </a:xfrm>
        </p:grpSpPr>
        <p:sp>
          <p:nvSpPr>
            <p:cNvPr id="11285" name="Text Box 3">
              <a:extLst>
                <a:ext uri="{FF2B5EF4-FFF2-40B4-BE49-F238E27FC236}">
                  <a16:creationId xmlns:a16="http://schemas.microsoft.com/office/drawing/2014/main" id="{9A9FCB09-6794-4FD3-979C-B30EF5B0BA12}"/>
                </a:ext>
              </a:extLst>
            </p:cNvPr>
            <p:cNvSpPr txBox="1">
              <a:spLocks noChangeArrowheads="1"/>
            </p:cNvSpPr>
            <p:nvPr/>
          </p:nvSpPr>
          <p:spPr bwMode="auto">
            <a:xfrm>
              <a:off x="703" y="527"/>
              <a:ext cx="517"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如：</a:t>
              </a:r>
            </a:p>
          </p:txBody>
        </p:sp>
        <p:grpSp>
          <p:nvGrpSpPr>
            <p:cNvPr id="11286" name="Group 4">
              <a:extLst>
                <a:ext uri="{FF2B5EF4-FFF2-40B4-BE49-F238E27FC236}">
                  <a16:creationId xmlns:a16="http://schemas.microsoft.com/office/drawing/2014/main" id="{940D9567-8248-40E9-8456-24EBBFAF582E}"/>
                </a:ext>
              </a:extLst>
            </p:cNvPr>
            <p:cNvGrpSpPr>
              <a:grpSpLocks/>
            </p:cNvGrpSpPr>
            <p:nvPr/>
          </p:nvGrpSpPr>
          <p:grpSpPr bwMode="auto">
            <a:xfrm>
              <a:off x="1204" y="401"/>
              <a:ext cx="3567" cy="487"/>
              <a:chOff x="1612" y="583"/>
              <a:chExt cx="3567" cy="487"/>
            </a:xfrm>
          </p:grpSpPr>
          <p:sp>
            <p:nvSpPr>
              <p:cNvPr id="11287" name="Line 5">
                <a:extLst>
                  <a:ext uri="{FF2B5EF4-FFF2-40B4-BE49-F238E27FC236}">
                    <a16:creationId xmlns:a16="http://schemas.microsoft.com/office/drawing/2014/main" id="{48C5C861-EB3D-48F9-8DC3-88C80861DCE0}"/>
                  </a:ext>
                </a:extLst>
              </p:cNvPr>
              <p:cNvSpPr>
                <a:spLocks noChangeShapeType="1"/>
              </p:cNvSpPr>
              <p:nvPr/>
            </p:nvSpPr>
            <p:spPr bwMode="auto">
              <a:xfrm>
                <a:off x="1612" y="918"/>
                <a:ext cx="58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11288" name="Rectangle 6">
                <a:extLst>
                  <a:ext uri="{FF2B5EF4-FFF2-40B4-BE49-F238E27FC236}">
                    <a16:creationId xmlns:a16="http://schemas.microsoft.com/office/drawing/2014/main" id="{D7BAF238-25A9-4CEE-9065-05EB66F941CA}"/>
                  </a:ext>
                </a:extLst>
              </p:cNvPr>
              <p:cNvSpPr>
                <a:spLocks noChangeArrowheads="1"/>
              </p:cNvSpPr>
              <p:nvPr/>
            </p:nvSpPr>
            <p:spPr bwMode="auto">
              <a:xfrm>
                <a:off x="2193" y="766"/>
                <a:ext cx="581" cy="304"/>
              </a:xfrm>
              <a:prstGeom prst="rect">
                <a:avLst/>
              </a:prstGeom>
              <a:solidFill>
                <a:srgbClr val="CCFFFF"/>
              </a:solidFill>
              <a:ln w="9525">
                <a:solidFill>
                  <a:schemeClr val="tx1"/>
                </a:solidFill>
                <a:miter lim="800000"/>
                <a:headEnd/>
                <a:tailEnd/>
              </a:ln>
            </p:spPr>
            <p:txBody>
              <a:bodyPr wrap="none" anchor="ct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mn-cs"/>
                  </a:rPr>
                  <a:t>平方</a:t>
                </a:r>
              </a:p>
            </p:txBody>
          </p:sp>
          <p:sp>
            <p:nvSpPr>
              <p:cNvPr id="11289" name="Line 7">
                <a:extLst>
                  <a:ext uri="{FF2B5EF4-FFF2-40B4-BE49-F238E27FC236}">
                    <a16:creationId xmlns:a16="http://schemas.microsoft.com/office/drawing/2014/main" id="{6520A2AA-2C4E-4726-B9BA-ABA7D2EDDDFC}"/>
                  </a:ext>
                </a:extLst>
              </p:cNvPr>
              <p:cNvSpPr>
                <a:spLocks noChangeShapeType="1"/>
              </p:cNvSpPr>
              <p:nvPr/>
            </p:nvSpPr>
            <p:spPr bwMode="auto">
              <a:xfrm>
                <a:off x="2774" y="918"/>
                <a:ext cx="42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11290" name="Rectangle 8">
                <a:extLst>
                  <a:ext uri="{FF2B5EF4-FFF2-40B4-BE49-F238E27FC236}">
                    <a16:creationId xmlns:a16="http://schemas.microsoft.com/office/drawing/2014/main" id="{15456B82-5177-470B-8868-E1D460204A81}"/>
                  </a:ext>
                </a:extLst>
              </p:cNvPr>
              <p:cNvSpPr>
                <a:spLocks noChangeArrowheads="1"/>
              </p:cNvSpPr>
              <p:nvPr/>
            </p:nvSpPr>
            <p:spPr bwMode="auto">
              <a:xfrm>
                <a:off x="3199" y="766"/>
                <a:ext cx="581" cy="304"/>
              </a:xfrm>
              <a:prstGeom prst="rect">
                <a:avLst/>
              </a:prstGeom>
              <a:solidFill>
                <a:srgbClr val="CCFFFF"/>
              </a:solidFill>
              <a:ln w="9525">
                <a:solidFill>
                  <a:schemeClr val="tx1"/>
                </a:solidFill>
                <a:miter lim="800000"/>
                <a:headEnd/>
                <a:tailEnd/>
              </a:ln>
            </p:spPr>
            <p:txBody>
              <a:bodyPr wrap="none" anchor="ct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mn-cs"/>
                  </a:rPr>
                  <a:t>乘</a:t>
                </a:r>
                <a:r>
                  <a:rPr kumimoji="0" lang="en-US" altLang="zh-CN"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mn-cs"/>
                  </a:rPr>
                  <a:t>2</a:t>
                </a:r>
                <a:endPar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mn-cs"/>
                </a:endParaRPr>
              </a:p>
            </p:txBody>
          </p:sp>
          <p:sp>
            <p:nvSpPr>
              <p:cNvPr id="11291" name="Line 9">
                <a:extLst>
                  <a:ext uri="{FF2B5EF4-FFF2-40B4-BE49-F238E27FC236}">
                    <a16:creationId xmlns:a16="http://schemas.microsoft.com/office/drawing/2014/main" id="{F47A55F6-0215-4A52-86DA-6855447CCC8A}"/>
                  </a:ext>
                </a:extLst>
              </p:cNvPr>
              <p:cNvSpPr>
                <a:spLocks noChangeShapeType="1"/>
              </p:cNvSpPr>
              <p:nvPr/>
            </p:nvSpPr>
            <p:spPr bwMode="auto">
              <a:xfrm>
                <a:off x="3784" y="918"/>
                <a:ext cx="139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1268" name="Object 10">
                    <a:extLst>
                      <a:ext uri="{FF2B5EF4-FFF2-40B4-BE49-F238E27FC236}">
                        <a16:creationId xmlns:a16="http://schemas.microsoft.com/office/drawing/2014/main" id="{4F85E9F0-0A14-4D4A-AE56-95F48A20E0DD}"/>
                      </a:ext>
                    </a:extLst>
                  </p:cNvPr>
                  <p:cNvSpPr txBox="1"/>
                  <p:nvPr/>
                </p:nvSpPr>
                <p:spPr bwMode="auto">
                  <a:xfrm>
                    <a:off x="1672" y="592"/>
                    <a:ext cx="381" cy="304"/>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1268" name="Object 10">
                    <a:extLst>
                      <a:ext uri="{FF2B5EF4-FFF2-40B4-BE49-F238E27FC236}">
                        <a16:creationId xmlns:a16="http://schemas.microsoft.com/office/drawing/2014/main" id="{4F85E9F0-0A14-4D4A-AE56-95F48A20E0DD}"/>
                      </a:ext>
                    </a:extLst>
                  </p:cNvPr>
                  <p:cNvSpPr txBox="1">
                    <a:spLocks noRot="1" noChangeAspect="1" noMove="1" noResize="1" noEditPoints="1" noAdjustHandles="1" noChangeArrowheads="1" noChangeShapeType="1" noTextEdit="1"/>
                  </p:cNvSpPr>
                  <p:nvPr/>
                </p:nvSpPr>
                <p:spPr bwMode="auto">
                  <a:xfrm>
                    <a:off x="1672" y="592"/>
                    <a:ext cx="381" cy="304"/>
                  </a:xfrm>
                  <a:prstGeom prst="rect">
                    <a:avLst/>
                  </a:prstGeom>
                  <a:blipFill>
                    <a:blip r:embed="rId2"/>
                    <a:stretch>
                      <a:fillRect r="-32990"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69" name="Object 13">
                    <a:extLst>
                      <a:ext uri="{FF2B5EF4-FFF2-40B4-BE49-F238E27FC236}">
                        <a16:creationId xmlns:a16="http://schemas.microsoft.com/office/drawing/2014/main" id="{665AFE39-FE03-4AF4-B33F-45547541DA7A}"/>
                      </a:ext>
                    </a:extLst>
                  </p:cNvPr>
                  <p:cNvSpPr txBox="1"/>
                  <p:nvPr/>
                </p:nvSpPr>
                <p:spPr bwMode="auto">
                  <a:xfrm>
                    <a:off x="3833" y="583"/>
                    <a:ext cx="1323" cy="304"/>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)=2</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𝑥</m:t>
                              </m:r>
                            </m:e>
                            <m:sup>
                              <m:r>
                                <a:rPr lang="en-US" sz="2400" i="1">
                                  <a:solidFill>
                                    <a:srgbClr val="000000"/>
                                  </a:solidFill>
                                  <a:latin typeface="Cambria Math" panose="02040503050406030204" pitchFamily="18" charset="0"/>
                                </a:rPr>
                                <m:t>2</m:t>
                              </m:r>
                            </m:sup>
                          </m:s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1269" name="Object 13">
                    <a:extLst>
                      <a:ext uri="{FF2B5EF4-FFF2-40B4-BE49-F238E27FC236}">
                        <a16:creationId xmlns:a16="http://schemas.microsoft.com/office/drawing/2014/main" id="{665AFE39-FE03-4AF4-B33F-45547541DA7A}"/>
                      </a:ext>
                    </a:extLst>
                  </p:cNvPr>
                  <p:cNvSpPr txBox="1">
                    <a:spLocks noRot="1" noChangeAspect="1" noMove="1" noResize="1" noEditPoints="1" noAdjustHandles="1" noChangeArrowheads="1" noChangeShapeType="1" noTextEdit="1"/>
                  </p:cNvSpPr>
                  <p:nvPr/>
                </p:nvSpPr>
                <p:spPr bwMode="auto">
                  <a:xfrm>
                    <a:off x="3833" y="583"/>
                    <a:ext cx="1323" cy="304"/>
                  </a:xfrm>
                  <a:prstGeom prst="rect">
                    <a:avLst/>
                  </a:prstGeom>
                  <a:blipFill>
                    <a:blip r:embed="rId3"/>
                    <a:stretch>
                      <a:fillRect l="-893" r="-298" b="-19737"/>
                    </a:stretch>
                  </a:blipFill>
                  <a:ln>
                    <a:noFill/>
                  </a:ln>
                  <a:effectLst/>
                </p:spPr>
                <p:txBody>
                  <a:bodyPr/>
                  <a:lstStyle/>
                  <a:p>
                    <a:r>
                      <a:rPr lang="en-US">
                        <a:noFill/>
                      </a:rPr>
                      <a:t> </a:t>
                    </a:r>
                  </a:p>
                </p:txBody>
              </p:sp>
            </mc:Fallback>
          </mc:AlternateContent>
        </p:grpSp>
      </p:grpSp>
      <p:grpSp>
        <p:nvGrpSpPr>
          <p:cNvPr id="11275" name="Group 14">
            <a:extLst>
              <a:ext uri="{FF2B5EF4-FFF2-40B4-BE49-F238E27FC236}">
                <a16:creationId xmlns:a16="http://schemas.microsoft.com/office/drawing/2014/main" id="{951C0859-22CC-41C7-9E66-C9791D6F699B}"/>
              </a:ext>
            </a:extLst>
          </p:cNvPr>
          <p:cNvGrpSpPr>
            <a:grpSpLocks/>
          </p:cNvGrpSpPr>
          <p:nvPr/>
        </p:nvGrpSpPr>
        <p:grpSpPr bwMode="auto">
          <a:xfrm>
            <a:off x="2097967" y="4544634"/>
            <a:ext cx="5533784" cy="720368"/>
            <a:chOff x="1315" y="1651"/>
            <a:chExt cx="3548" cy="519"/>
          </a:xfrm>
        </p:grpSpPr>
        <p:sp>
          <p:nvSpPr>
            <p:cNvPr id="11278" name="Line 15">
              <a:extLst>
                <a:ext uri="{FF2B5EF4-FFF2-40B4-BE49-F238E27FC236}">
                  <a16:creationId xmlns:a16="http://schemas.microsoft.com/office/drawing/2014/main" id="{7B3C2610-9203-498F-B09A-2728CE8DBE0B}"/>
                </a:ext>
              </a:extLst>
            </p:cNvPr>
            <p:cNvSpPr>
              <a:spLocks noChangeShapeType="1"/>
            </p:cNvSpPr>
            <p:nvPr/>
          </p:nvSpPr>
          <p:spPr bwMode="auto">
            <a:xfrm>
              <a:off x="1315" y="2003"/>
              <a:ext cx="57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11279" name="Rectangle 16">
              <a:extLst>
                <a:ext uri="{FF2B5EF4-FFF2-40B4-BE49-F238E27FC236}">
                  <a16:creationId xmlns:a16="http://schemas.microsoft.com/office/drawing/2014/main" id="{C6C96D2C-F7E5-4AFD-93DC-C5EC382CD02D}"/>
                </a:ext>
              </a:extLst>
            </p:cNvPr>
            <p:cNvSpPr>
              <a:spLocks noChangeArrowheads="1"/>
            </p:cNvSpPr>
            <p:nvPr/>
          </p:nvSpPr>
          <p:spPr bwMode="auto">
            <a:xfrm>
              <a:off x="1892" y="1837"/>
              <a:ext cx="577" cy="333"/>
            </a:xfrm>
            <a:prstGeom prst="rect">
              <a:avLst/>
            </a:prstGeom>
            <a:solidFill>
              <a:srgbClr val="CCFFFF"/>
            </a:solidFill>
            <a:ln w="9525">
              <a:solidFill>
                <a:schemeClr val="tx1"/>
              </a:solidFill>
              <a:miter lim="800000"/>
              <a:headEnd/>
              <a:tailEnd/>
            </a:ln>
          </p:spPr>
          <p:txBody>
            <a:bodyPr wrap="none" anchor="ct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mn-cs"/>
                </a:rPr>
                <a:t>乘</a:t>
              </a:r>
              <a:r>
                <a:rPr kumimoji="0" lang="en-US" altLang="zh-CN"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mn-cs"/>
                </a:rPr>
                <a:t>2</a:t>
              </a:r>
              <a:endPar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mn-cs"/>
              </a:endParaRPr>
            </a:p>
          </p:txBody>
        </p:sp>
        <p:sp>
          <p:nvSpPr>
            <p:cNvPr id="11280" name="Line 17">
              <a:extLst>
                <a:ext uri="{FF2B5EF4-FFF2-40B4-BE49-F238E27FC236}">
                  <a16:creationId xmlns:a16="http://schemas.microsoft.com/office/drawing/2014/main" id="{5061D7F8-33F8-4484-B399-71A63B69A606}"/>
                </a:ext>
              </a:extLst>
            </p:cNvPr>
            <p:cNvSpPr>
              <a:spLocks noChangeShapeType="1"/>
            </p:cNvSpPr>
            <p:nvPr/>
          </p:nvSpPr>
          <p:spPr bwMode="auto">
            <a:xfrm>
              <a:off x="2480" y="2003"/>
              <a:ext cx="42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p:sp>
          <p:nvSpPr>
            <p:cNvPr id="11281" name="Rectangle 18">
              <a:extLst>
                <a:ext uri="{FF2B5EF4-FFF2-40B4-BE49-F238E27FC236}">
                  <a16:creationId xmlns:a16="http://schemas.microsoft.com/office/drawing/2014/main" id="{93473D3C-2292-4C9C-A954-5E6BD9FD1B44}"/>
                </a:ext>
              </a:extLst>
            </p:cNvPr>
            <p:cNvSpPr>
              <a:spLocks noChangeArrowheads="1"/>
            </p:cNvSpPr>
            <p:nvPr/>
          </p:nvSpPr>
          <p:spPr bwMode="auto">
            <a:xfrm>
              <a:off x="2904" y="1837"/>
              <a:ext cx="577" cy="333"/>
            </a:xfrm>
            <a:prstGeom prst="rect">
              <a:avLst/>
            </a:prstGeom>
            <a:solidFill>
              <a:srgbClr val="CCFFFF"/>
            </a:solidFill>
            <a:ln w="9525">
              <a:solidFill>
                <a:schemeClr val="tx1"/>
              </a:solidFill>
              <a:miter lim="800000"/>
              <a:headEnd/>
              <a:tailEnd/>
            </a:ln>
          </p:spPr>
          <p:txBody>
            <a:bodyPr wrap="none" anchor="ct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mn-cs"/>
                </a:rPr>
                <a:t>平方</a:t>
              </a:r>
            </a:p>
          </p:txBody>
        </p:sp>
        <p:sp>
          <p:nvSpPr>
            <p:cNvPr id="11282" name="Line 19">
              <a:extLst>
                <a:ext uri="{FF2B5EF4-FFF2-40B4-BE49-F238E27FC236}">
                  <a16:creationId xmlns:a16="http://schemas.microsoft.com/office/drawing/2014/main" id="{61B1AD07-AD06-42FF-A90C-94B2FCA6FF13}"/>
                </a:ext>
              </a:extLst>
            </p:cNvPr>
            <p:cNvSpPr>
              <a:spLocks noChangeShapeType="1"/>
            </p:cNvSpPr>
            <p:nvPr/>
          </p:nvSpPr>
          <p:spPr bwMode="auto">
            <a:xfrm>
              <a:off x="3478" y="2003"/>
              <a:ext cx="138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1266" name="Object 20">
                  <a:extLst>
                    <a:ext uri="{FF2B5EF4-FFF2-40B4-BE49-F238E27FC236}">
                      <a16:creationId xmlns:a16="http://schemas.microsoft.com/office/drawing/2014/main" id="{9C395013-7CDF-4821-A61D-72D8C81A7C16}"/>
                    </a:ext>
                  </a:extLst>
                </p:cNvPr>
                <p:cNvSpPr txBox="1"/>
                <p:nvPr/>
              </p:nvSpPr>
              <p:spPr bwMode="auto">
                <a:xfrm>
                  <a:off x="1355" y="1651"/>
                  <a:ext cx="378" cy="333"/>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1266" name="Object 20">
                  <a:extLst>
                    <a:ext uri="{FF2B5EF4-FFF2-40B4-BE49-F238E27FC236}">
                      <a16:creationId xmlns:a16="http://schemas.microsoft.com/office/drawing/2014/main" id="{9C395013-7CDF-4821-A61D-72D8C81A7C16}"/>
                    </a:ext>
                  </a:extLst>
                </p:cNvPr>
                <p:cNvSpPr txBox="1">
                  <a:spLocks noRot="1" noChangeAspect="1" noMove="1" noResize="1" noEditPoints="1" noAdjustHandles="1" noChangeArrowheads="1" noChangeShapeType="1" noTextEdit="1"/>
                </p:cNvSpPr>
                <p:nvPr/>
              </p:nvSpPr>
              <p:spPr bwMode="auto">
                <a:xfrm>
                  <a:off x="1355" y="1651"/>
                  <a:ext cx="378" cy="333"/>
                </a:xfrm>
                <a:prstGeom prst="rect">
                  <a:avLst/>
                </a:prstGeom>
                <a:blipFill>
                  <a:blip r:embed="rId4"/>
                  <a:stretch>
                    <a:fillRect r="-34021" b="-21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67" name="Object 23">
                  <a:extLst>
                    <a:ext uri="{FF2B5EF4-FFF2-40B4-BE49-F238E27FC236}">
                      <a16:creationId xmlns:a16="http://schemas.microsoft.com/office/drawing/2014/main" id="{69466D90-D954-4A0E-A582-1A770EC84691}"/>
                    </a:ext>
                  </a:extLst>
                </p:cNvPr>
                <p:cNvSpPr txBox="1"/>
                <p:nvPr/>
              </p:nvSpPr>
              <p:spPr bwMode="auto">
                <a:xfrm>
                  <a:off x="3514" y="1651"/>
                  <a:ext cx="1313" cy="33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)=4</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𝑥</m:t>
                            </m:r>
                          </m:e>
                          <m:sup>
                            <m:r>
                              <a:rPr lang="en-US" sz="2400" i="1">
                                <a:solidFill>
                                  <a:srgbClr val="000000"/>
                                </a:solidFill>
                                <a:latin typeface="Cambria Math" panose="02040503050406030204" pitchFamily="18" charset="0"/>
                              </a:rPr>
                              <m:t>2</m:t>
                            </m:r>
                          </m:sup>
                        </m:s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1267" name="Object 23">
                  <a:extLst>
                    <a:ext uri="{FF2B5EF4-FFF2-40B4-BE49-F238E27FC236}">
                      <a16:creationId xmlns:a16="http://schemas.microsoft.com/office/drawing/2014/main" id="{69466D90-D954-4A0E-A582-1A770EC84691}"/>
                    </a:ext>
                  </a:extLst>
                </p:cNvPr>
                <p:cNvSpPr txBox="1">
                  <a:spLocks noRot="1" noChangeAspect="1" noMove="1" noResize="1" noEditPoints="1" noAdjustHandles="1" noChangeArrowheads="1" noChangeShapeType="1" noTextEdit="1"/>
                </p:cNvSpPr>
                <p:nvPr/>
              </p:nvSpPr>
              <p:spPr bwMode="auto">
                <a:xfrm>
                  <a:off x="3514" y="1651"/>
                  <a:ext cx="1313" cy="333"/>
                </a:xfrm>
                <a:prstGeom prst="rect">
                  <a:avLst/>
                </a:prstGeom>
                <a:blipFill>
                  <a:blip r:embed="rId5"/>
                  <a:stretch>
                    <a:fillRect l="-893" r="-298" b="-21333"/>
                  </a:stretch>
                </a:blipFill>
                <a:ln>
                  <a:noFill/>
                </a:ln>
                <a:effectLst/>
              </p:spPr>
              <p:txBody>
                <a:bodyPr/>
                <a:lstStyle/>
                <a:p>
                  <a:r>
                    <a:rPr lang="en-US">
                      <a:noFill/>
                    </a:rPr>
                    <a:t> </a:t>
                  </a:r>
                </a:p>
              </p:txBody>
            </p:sp>
          </mc:Fallback>
        </mc:AlternateContent>
      </p:grpSp>
      <p:sp>
        <p:nvSpPr>
          <p:cNvPr id="11276" name="Text Box 24">
            <a:extLst>
              <a:ext uri="{FF2B5EF4-FFF2-40B4-BE49-F238E27FC236}">
                <a16:creationId xmlns:a16="http://schemas.microsoft.com/office/drawing/2014/main" id="{0E878A3B-F28C-400E-A62F-67FAA2705ACB}"/>
              </a:ext>
            </a:extLst>
          </p:cNvPr>
          <p:cNvSpPr txBox="1">
            <a:spLocks noChangeArrowheads="1"/>
          </p:cNvSpPr>
          <p:nvPr/>
        </p:nvSpPr>
        <p:spPr bwMode="auto">
          <a:xfrm>
            <a:off x="1115616" y="3939254"/>
            <a:ext cx="38782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若交换级联次序，即成为：</a:t>
            </a:r>
          </a:p>
        </p:txBody>
      </p:sp>
      <p:sp>
        <p:nvSpPr>
          <p:cNvPr id="11277" name="Rectangle 41">
            <a:extLst>
              <a:ext uri="{FF2B5EF4-FFF2-40B4-BE49-F238E27FC236}">
                <a16:creationId xmlns:a16="http://schemas.microsoft.com/office/drawing/2014/main" id="{4FEE1394-9652-46B3-AC65-86B425597227}"/>
              </a:ext>
            </a:extLst>
          </p:cNvPr>
          <p:cNvSpPr>
            <a:spLocks noChangeArrowheads="1"/>
          </p:cNvSpPr>
          <p:nvPr/>
        </p:nvSpPr>
        <p:spPr bwMode="auto">
          <a:xfrm>
            <a:off x="1115616" y="5615797"/>
            <a:ext cx="67896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显然与原来是不等价的</a:t>
            </a:r>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a:t>
            </a: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因为系统不是</a:t>
            </a:r>
            <a:r>
              <a:rPr kumimoji="0" lang="en-US" altLang="zh-CN"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LTI</a:t>
            </a: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系统。</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8" name="标题 1">
            <a:extLst>
              <a:ext uri="{FF2B5EF4-FFF2-40B4-BE49-F238E27FC236}">
                <a16:creationId xmlns:a16="http://schemas.microsoft.com/office/drawing/2014/main" id="{E64EA016-7032-4DAE-B025-62404244A687}"/>
              </a:ext>
            </a:extLst>
          </p:cNvPr>
          <p:cNvSpPr>
            <a:spLocks noGrp="1"/>
          </p:cNvSpPr>
          <p:nvPr>
            <p:ph type="title"/>
          </p:nvPr>
        </p:nvSpPr>
        <p:spPr/>
        <p:txBody>
          <a:bodyPr/>
          <a:lstStyle/>
          <a:p>
            <a:r>
              <a:rPr lang="en-US" altLang="zh-CN"/>
              <a:t>2.3 </a:t>
            </a:r>
            <a:r>
              <a:rPr lang="zh-CN" altLang="en-US"/>
              <a:t>线性时不变系统的性质</a:t>
            </a:r>
          </a:p>
        </p:txBody>
      </p:sp>
      <p:sp>
        <p:nvSpPr>
          <p:cNvPr id="4" name="灯片编号占位符 3">
            <a:extLst>
              <a:ext uri="{FF2B5EF4-FFF2-40B4-BE49-F238E27FC236}">
                <a16:creationId xmlns:a16="http://schemas.microsoft.com/office/drawing/2014/main" id="{3094A924-B871-4329-A78D-1DA7FCE1B6B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7EBADF8-B981-4C38-88B1-567E22D229DA}"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2300" name="Text Box 26">
                <a:extLst>
                  <a:ext uri="{FF2B5EF4-FFF2-40B4-BE49-F238E27FC236}">
                    <a16:creationId xmlns:a16="http://schemas.microsoft.com/office/drawing/2014/main" id="{24D282DF-85F0-4717-9783-81858C8F542B}"/>
                  </a:ext>
                </a:extLst>
              </p:cNvPr>
              <p:cNvSpPr txBox="1">
                <a:spLocks noChangeArrowheads="1"/>
              </p:cNvSpPr>
              <p:nvPr/>
            </p:nvSpPr>
            <p:spPr bwMode="auto">
              <a:xfrm>
                <a:off x="642938" y="1285875"/>
                <a:ext cx="7993062" cy="261251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just" eaLnBrk="1" hangingPunct="1">
                  <a:lnSpc>
                    <a:spcPct val="150000"/>
                  </a:lnSpc>
                  <a:defRPr/>
                </a:pPr>
                <a:r>
                  <a:rPr kumimoji="0" lang="zh-CN" altLang="en-US" sz="28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又如：若</a:t>
                </a:r>
                <a14:m>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h</m:t>
                        </m:r>
                      </m:e>
                      <m:sub>
                        <m:r>
                          <a:rPr lang="en-US" sz="2800" i="1">
                            <a:solidFill>
                              <a:schemeClr val="tx1"/>
                            </a:solidFill>
                            <a:latin typeface="Cambria Math" panose="02040503050406030204" pitchFamily="18" charset="0"/>
                          </a:rPr>
                          <m:t>1</m:t>
                        </m:r>
                      </m:sub>
                    </m:sSub>
                    <m:r>
                      <a:rPr lang="en-US" sz="2800" b="0" i="1" smtClean="0">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𝑛</m:t>
                    </m:r>
                    <m:r>
                      <a:rPr lang="en-US" sz="2800" b="0" i="1" smtClean="0">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𝛿</m:t>
                    </m:r>
                    <m:r>
                      <a:rPr lang="en-US" sz="2800" b="0" i="1" smtClean="0">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𝑛</m:t>
                    </m:r>
                    <m:r>
                      <a:rPr lang="en-US" sz="2800" b="0" i="1" smtClean="0">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𝛿</m:t>
                    </m:r>
                    <m:r>
                      <a:rPr lang="en-US" sz="2800" b="0" i="1" smtClean="0">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𝑛</m:t>
                    </m:r>
                    <m:r>
                      <a:rPr lang="en-US" sz="2800" i="1">
                        <a:solidFill>
                          <a:schemeClr val="tx1"/>
                        </a:solidFill>
                        <a:latin typeface="Cambria Math" panose="02040503050406030204" pitchFamily="18" charset="0"/>
                      </a:rPr>
                      <m:t>−1]</m:t>
                    </m:r>
                  </m:oMath>
                </a14:m>
                <a:r>
                  <a:rPr kumimoji="0" lang="zh-CN" altLang="en-US" sz="28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h</m:t>
                        </m:r>
                      </m:e>
                      <m:sub>
                        <m:r>
                          <a:rPr lang="en-US" sz="2800" i="1">
                            <a:latin typeface="Cambria Math" panose="02040503050406030204" pitchFamily="18" charset="0"/>
                          </a:rPr>
                          <m:t>2</m:t>
                        </m:r>
                      </m:sub>
                    </m:sSub>
                    <m:r>
                      <a:rPr lang="en-US" sz="2800" i="1">
                        <a:latin typeface="Cambria Math" panose="02040503050406030204" pitchFamily="18" charset="0"/>
                      </a:rPr>
                      <m:t>[</m:t>
                    </m:r>
                    <m:r>
                      <a:rPr lang="en-US" sz="2800" i="1">
                        <a:latin typeface="Cambria Math" panose="02040503050406030204" pitchFamily="18" charset="0"/>
                      </a:rPr>
                      <m:t>𝑛</m:t>
                    </m:r>
                    <m:r>
                      <a:rPr lang="en-US" sz="2800" i="1">
                        <a:latin typeface="Cambria Math" panose="02040503050406030204" pitchFamily="18" charset="0"/>
                      </a:rPr>
                      <m:t>]=</m:t>
                    </m:r>
                    <m:r>
                      <a:rPr lang="en-US" sz="2800" i="1">
                        <a:latin typeface="Cambria Math" panose="02040503050406030204" pitchFamily="18" charset="0"/>
                      </a:rPr>
                      <m:t>𝑢</m:t>
                    </m:r>
                    <m:r>
                      <a:rPr lang="en-US" sz="2800" i="1">
                        <a:latin typeface="Cambria Math" panose="02040503050406030204" pitchFamily="18" charset="0"/>
                      </a:rPr>
                      <m:t>[</m:t>
                    </m:r>
                    <m:r>
                      <a:rPr lang="en-US" sz="2800" i="1">
                        <a:latin typeface="Cambria Math" panose="02040503050406030204" pitchFamily="18" charset="0"/>
                      </a:rPr>
                      <m:t>𝑛</m:t>
                    </m:r>
                    <m:r>
                      <a:rPr lang="en-US" sz="2800" i="1">
                        <a:latin typeface="Cambria Math" panose="02040503050406030204" pitchFamily="18" charset="0"/>
                      </a:rPr>
                      <m:t>]</m:t>
                    </m:r>
                  </m:oMath>
                </a14:m>
                <a:r>
                  <a:rPr kumimoji="0" lang="zh-CN" altLang="en-US" sz="28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。虽然系统都是</a:t>
                </a:r>
                <a:r>
                  <a:rPr kumimoji="0" lang="en-US" altLang="zh-CN" sz="28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LTI</a:t>
                </a:r>
                <a:r>
                  <a:rPr kumimoji="0" lang="zh-CN" altLang="en-US" sz="28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的，但当</a:t>
                </a:r>
                <a14:m>
                  <m:oMath xmlns:m="http://schemas.openxmlformats.org/officeDocument/2006/math">
                    <m:r>
                      <a:rPr lang="en-US" sz="2800" i="1">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𝑛</m:t>
                    </m:r>
                    <m:r>
                      <a:rPr lang="en-US" sz="2800" b="0" i="1" smtClean="0">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=1</m:t>
                    </m:r>
                  </m:oMath>
                </a14:m>
                <a:r>
                  <a:rPr kumimoji="0" lang="zh-CN" altLang="en-US" sz="28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时，如果交换级联次序，则由于</a:t>
                </a:r>
                <a14:m>
                  <m:oMath xmlns:m="http://schemas.openxmlformats.org/officeDocument/2006/math">
                    <m:r>
                      <a:rPr lang="en-US" sz="2800" i="1">
                        <a:solidFill>
                          <a:schemeClr val="tx1"/>
                        </a:solidFill>
                        <a:latin typeface="Cambria Math" panose="02040503050406030204" pitchFamily="18" charset="0"/>
                      </a:rPr>
                      <m:t>𝑥</m:t>
                    </m:r>
                    <m:r>
                      <a:rPr lang="en-US" sz="2800" i="1" smtClean="0">
                        <a:solidFill>
                          <a:schemeClr val="tx1"/>
                        </a:solidFill>
                        <a:latin typeface="Cambria Math" panose="02040503050406030204" pitchFamily="18" charset="0"/>
                      </a:rPr>
                      <m:t>[</m:t>
                    </m:r>
                    <m:r>
                      <a:rPr lang="en-US" sz="2800" i="1" smtClean="0">
                        <a:solidFill>
                          <a:schemeClr val="tx1"/>
                        </a:solidFill>
                        <a:latin typeface="Cambria Math" panose="02040503050406030204" pitchFamily="18" charset="0"/>
                      </a:rPr>
                      <m:t>𝑛</m:t>
                    </m:r>
                    <m:r>
                      <a:rPr lang="en-US" sz="2800" i="1" smtClean="0">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𝑢</m:t>
                    </m:r>
                    <m:r>
                      <a:rPr lang="en-US" sz="2800" i="1" smtClean="0">
                        <a:solidFill>
                          <a:schemeClr val="tx1"/>
                        </a:solidFill>
                        <a:latin typeface="Cambria Math" panose="02040503050406030204" pitchFamily="18" charset="0"/>
                      </a:rPr>
                      <m:t>[</m:t>
                    </m:r>
                    <m:r>
                      <a:rPr lang="en-US" sz="2800" i="1" smtClean="0">
                        <a:solidFill>
                          <a:schemeClr val="tx1"/>
                        </a:solidFill>
                        <a:latin typeface="Cambria Math" panose="02040503050406030204" pitchFamily="18" charset="0"/>
                      </a:rPr>
                      <m:t>𝑛</m:t>
                    </m:r>
                    <m:r>
                      <a:rPr lang="en-US" sz="2800" i="1" smtClean="0">
                        <a:solidFill>
                          <a:schemeClr val="tx1"/>
                        </a:solidFill>
                        <a:latin typeface="Cambria Math" panose="02040503050406030204" pitchFamily="18" charset="0"/>
                      </a:rPr>
                      <m:t>]</m:t>
                    </m:r>
                  </m:oMath>
                </a14:m>
                <a:r>
                  <a:rPr kumimoji="0" lang="zh-CN" altLang="en-US" sz="28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不收敛，因而也是不允许的。</a:t>
                </a:r>
              </a:p>
            </p:txBody>
          </p:sp>
        </mc:Choice>
        <mc:Fallback xmlns="">
          <p:sp>
            <p:nvSpPr>
              <p:cNvPr id="12300" name="Text Box 26">
                <a:extLst>
                  <a:ext uri="{FF2B5EF4-FFF2-40B4-BE49-F238E27FC236}">
                    <a16:creationId xmlns:a16="http://schemas.microsoft.com/office/drawing/2014/main" id="{24D282DF-85F0-4717-9783-81858C8F542B}"/>
                  </a:ext>
                </a:extLst>
              </p:cNvPr>
              <p:cNvSpPr txBox="1">
                <a:spLocks noRot="1" noChangeAspect="1" noMove="1" noResize="1" noEditPoints="1" noAdjustHandles="1" noChangeArrowheads="1" noChangeShapeType="1" noTextEdit="1"/>
              </p:cNvSpPr>
              <p:nvPr/>
            </p:nvSpPr>
            <p:spPr bwMode="auto">
              <a:xfrm>
                <a:off x="642938" y="1285875"/>
                <a:ext cx="7993062" cy="2612510"/>
              </a:xfrm>
              <a:prstGeom prst="rect">
                <a:avLst/>
              </a:prstGeom>
              <a:blipFill>
                <a:blip r:embed="rId2"/>
                <a:stretch>
                  <a:fillRect l="-1524" r="-5945" b="-584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nvGrpSpPr>
          <p:cNvPr id="12301" name="Group 30">
            <a:extLst>
              <a:ext uri="{FF2B5EF4-FFF2-40B4-BE49-F238E27FC236}">
                <a16:creationId xmlns:a16="http://schemas.microsoft.com/office/drawing/2014/main" id="{28468EAE-38A8-4146-9186-9A890BDD6278}"/>
              </a:ext>
            </a:extLst>
          </p:cNvPr>
          <p:cNvGrpSpPr>
            <a:grpSpLocks/>
          </p:cNvGrpSpPr>
          <p:nvPr/>
        </p:nvGrpSpPr>
        <p:grpSpPr bwMode="auto">
          <a:xfrm>
            <a:off x="1547664" y="4276440"/>
            <a:ext cx="6308606" cy="850927"/>
            <a:chOff x="1359" y="3657"/>
            <a:chExt cx="3728" cy="383"/>
          </a:xfrm>
        </p:grpSpPr>
        <p:sp>
          <p:nvSpPr>
            <p:cNvPr id="12302" name="Line 31">
              <a:extLst>
                <a:ext uri="{FF2B5EF4-FFF2-40B4-BE49-F238E27FC236}">
                  <a16:creationId xmlns:a16="http://schemas.microsoft.com/office/drawing/2014/main" id="{BCA80AC8-6F15-461D-A802-879628CB33F1}"/>
                </a:ext>
              </a:extLst>
            </p:cNvPr>
            <p:cNvSpPr>
              <a:spLocks noChangeShapeType="1"/>
            </p:cNvSpPr>
            <p:nvPr/>
          </p:nvSpPr>
          <p:spPr bwMode="auto">
            <a:xfrm>
              <a:off x="1393" y="3922"/>
              <a:ext cx="85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2303" name="Rectangle 32">
                  <a:extLst>
                    <a:ext uri="{FF2B5EF4-FFF2-40B4-BE49-F238E27FC236}">
                      <a16:creationId xmlns:a16="http://schemas.microsoft.com/office/drawing/2014/main" id="{1448969A-6E20-4A24-89D9-88230E3BD4EA}"/>
                    </a:ext>
                  </a:extLst>
                </p:cNvPr>
                <p:cNvSpPr>
                  <a:spLocks noChangeArrowheads="1"/>
                </p:cNvSpPr>
                <p:nvPr/>
              </p:nvSpPr>
              <p:spPr bwMode="auto">
                <a:xfrm>
                  <a:off x="2244" y="3805"/>
                  <a:ext cx="681" cy="235"/>
                </a:xfrm>
                <a:prstGeom prst="rect">
                  <a:avLst/>
                </a:prstGeom>
                <a:solidFill>
                  <a:srgbClr val="CCFFFF"/>
                </a:solidFill>
                <a:ln w="9525">
                  <a:solidFill>
                    <a:schemeClr val="tx1"/>
                  </a:solidFill>
                  <a:miter lim="800000"/>
                  <a:headEnd/>
                  <a:tailEnd/>
                </a:ln>
              </p:spPr>
              <p:txBody>
                <a:bodyPr wrap="none" anchor="ct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h</m:t>
                            </m:r>
                          </m:e>
                          <m:sub>
                            <m:r>
                              <a:rPr lang="en-US" sz="2800" i="1">
                                <a:solidFill>
                                  <a:srgbClr val="000000"/>
                                </a:solidFill>
                                <a:latin typeface="Cambria Math" panose="02040503050406030204" pitchFamily="18" charset="0"/>
                              </a:rPr>
                              <m:t>1</m:t>
                            </m:r>
                          </m:sub>
                        </m:sSub>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𝑛</m:t>
                        </m:r>
                        <m:r>
                          <a:rPr lang="en-US" sz="2800" i="1" smtClean="0">
                            <a:solidFill>
                              <a:srgbClr val="000000"/>
                            </a:solidFill>
                            <a:latin typeface="Cambria Math" panose="02040503050406030204" pitchFamily="18" charset="0"/>
                          </a:rPr>
                          <m:t>]</m:t>
                        </m:r>
                      </m:oMath>
                    </m:oMathPara>
                  </a14:m>
                  <a:endParaRPr kumimoji="0" lang="zh-CN" altLang="en-US" sz="28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endParaRPr>
                </a:p>
              </p:txBody>
            </p:sp>
          </mc:Choice>
          <mc:Fallback xmlns="">
            <p:sp>
              <p:nvSpPr>
                <p:cNvPr id="12303" name="Rectangle 32">
                  <a:extLst>
                    <a:ext uri="{FF2B5EF4-FFF2-40B4-BE49-F238E27FC236}">
                      <a16:creationId xmlns:a16="http://schemas.microsoft.com/office/drawing/2014/main" id="{1448969A-6E20-4A24-89D9-88230E3BD4EA}"/>
                    </a:ext>
                  </a:extLst>
                </p:cNvPr>
                <p:cNvSpPr>
                  <a:spLocks noRot="1" noChangeAspect="1" noMove="1" noResize="1" noEditPoints="1" noAdjustHandles="1" noChangeArrowheads="1" noChangeShapeType="1" noTextEdit="1"/>
                </p:cNvSpPr>
                <p:nvPr/>
              </p:nvSpPr>
              <p:spPr bwMode="auto">
                <a:xfrm>
                  <a:off x="2244" y="3805"/>
                  <a:ext cx="681" cy="235"/>
                </a:xfrm>
                <a:prstGeom prst="rect">
                  <a:avLst/>
                </a:prstGeom>
                <a:blipFill>
                  <a:blip r:embed="rId3"/>
                  <a:stretch>
                    <a:fillRect/>
                  </a:stretch>
                </a:blipFill>
                <a:ln w="9525">
                  <a:solidFill>
                    <a:schemeClr val="tx1"/>
                  </a:solidFill>
                  <a:miter lim="800000"/>
                  <a:headEnd/>
                  <a:tailEnd/>
                </a:ln>
              </p:spPr>
              <p:txBody>
                <a:bodyPr/>
                <a:lstStyle/>
                <a:p>
                  <a:r>
                    <a:rPr lang="en-US">
                      <a:noFill/>
                    </a:rPr>
                    <a:t> </a:t>
                  </a:r>
                </a:p>
              </p:txBody>
            </p:sp>
          </mc:Fallback>
        </mc:AlternateContent>
        <p:sp>
          <p:nvSpPr>
            <p:cNvPr id="12304" name="Line 33">
              <a:extLst>
                <a:ext uri="{FF2B5EF4-FFF2-40B4-BE49-F238E27FC236}">
                  <a16:creationId xmlns:a16="http://schemas.microsoft.com/office/drawing/2014/main" id="{910DE673-700D-449A-A8B9-D6C2948342F7}"/>
                </a:ext>
              </a:extLst>
            </p:cNvPr>
            <p:cNvSpPr>
              <a:spLocks noChangeShapeType="1"/>
            </p:cNvSpPr>
            <p:nvPr/>
          </p:nvSpPr>
          <p:spPr bwMode="auto">
            <a:xfrm>
              <a:off x="2922" y="3922"/>
              <a:ext cx="416"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2305" name="Rectangle 34">
                  <a:extLst>
                    <a:ext uri="{FF2B5EF4-FFF2-40B4-BE49-F238E27FC236}">
                      <a16:creationId xmlns:a16="http://schemas.microsoft.com/office/drawing/2014/main" id="{19D898E5-FA4A-4B6E-81AE-62611377D782}"/>
                    </a:ext>
                  </a:extLst>
                </p:cNvPr>
                <p:cNvSpPr>
                  <a:spLocks noChangeArrowheads="1"/>
                </p:cNvSpPr>
                <p:nvPr/>
              </p:nvSpPr>
              <p:spPr bwMode="auto">
                <a:xfrm>
                  <a:off x="3338" y="3805"/>
                  <a:ext cx="681" cy="235"/>
                </a:xfrm>
                <a:prstGeom prst="rect">
                  <a:avLst/>
                </a:prstGeom>
                <a:solidFill>
                  <a:srgbClr val="CCFFFF"/>
                </a:solidFill>
                <a:ln w="9525">
                  <a:solidFill>
                    <a:schemeClr val="tx1"/>
                  </a:solidFill>
                  <a:miter lim="800000"/>
                  <a:headEnd/>
                  <a:tailEnd/>
                </a:ln>
              </p:spPr>
              <p:txBody>
                <a:bodyPr wrap="none" anchor="ct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h</m:t>
                            </m:r>
                          </m:e>
                          <m:sub>
                            <m:r>
                              <a:rPr lang="en-US" sz="2800" i="1">
                                <a:solidFill>
                                  <a:srgbClr val="000000"/>
                                </a:solidFill>
                                <a:latin typeface="Cambria Math" panose="02040503050406030204" pitchFamily="18" charset="0"/>
                              </a:rPr>
                              <m:t>2</m:t>
                            </m:r>
                          </m:sub>
                        </m:sSub>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𝑛</m:t>
                        </m:r>
                        <m:r>
                          <a:rPr lang="en-US" sz="2800" i="1" smtClean="0">
                            <a:solidFill>
                              <a:srgbClr val="000000"/>
                            </a:solidFill>
                            <a:latin typeface="Cambria Math" panose="02040503050406030204" pitchFamily="18" charset="0"/>
                          </a:rPr>
                          <m:t>]</m:t>
                        </m:r>
                      </m:oMath>
                    </m:oMathPara>
                  </a14:m>
                  <a:endParaRPr kumimoji="0" lang="zh-CN" altLang="en-US" sz="28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endParaRPr>
                </a:p>
              </p:txBody>
            </p:sp>
          </mc:Choice>
          <mc:Fallback xmlns="">
            <p:sp>
              <p:nvSpPr>
                <p:cNvPr id="12305" name="Rectangle 34">
                  <a:extLst>
                    <a:ext uri="{FF2B5EF4-FFF2-40B4-BE49-F238E27FC236}">
                      <a16:creationId xmlns:a16="http://schemas.microsoft.com/office/drawing/2014/main" id="{19D898E5-FA4A-4B6E-81AE-62611377D782}"/>
                    </a:ext>
                  </a:extLst>
                </p:cNvPr>
                <p:cNvSpPr>
                  <a:spLocks noRot="1" noChangeAspect="1" noMove="1" noResize="1" noEditPoints="1" noAdjustHandles="1" noChangeArrowheads="1" noChangeShapeType="1" noTextEdit="1"/>
                </p:cNvSpPr>
                <p:nvPr/>
              </p:nvSpPr>
              <p:spPr bwMode="auto">
                <a:xfrm>
                  <a:off x="3338" y="3805"/>
                  <a:ext cx="681" cy="235"/>
                </a:xfrm>
                <a:prstGeom prst="rect">
                  <a:avLst/>
                </a:prstGeom>
                <a:blipFill>
                  <a:blip r:embed="rId4"/>
                  <a:stretch>
                    <a:fillRect/>
                  </a:stretch>
                </a:blipFill>
                <a:ln w="9525">
                  <a:solidFill>
                    <a:schemeClr val="tx1"/>
                  </a:solidFill>
                  <a:miter lim="800000"/>
                  <a:headEnd/>
                  <a:tailEnd/>
                </a:ln>
              </p:spPr>
              <p:txBody>
                <a:bodyPr/>
                <a:lstStyle/>
                <a:p>
                  <a:r>
                    <a:rPr lang="en-US">
                      <a:noFill/>
                    </a:rPr>
                    <a:t> </a:t>
                  </a:r>
                </a:p>
              </p:txBody>
            </p:sp>
          </mc:Fallback>
        </mc:AlternateContent>
        <p:sp>
          <p:nvSpPr>
            <p:cNvPr id="12306" name="Line 35">
              <a:extLst>
                <a:ext uri="{FF2B5EF4-FFF2-40B4-BE49-F238E27FC236}">
                  <a16:creationId xmlns:a16="http://schemas.microsoft.com/office/drawing/2014/main" id="{F432586F-FBD4-45B5-98A4-0E58C20A5D72}"/>
                </a:ext>
              </a:extLst>
            </p:cNvPr>
            <p:cNvSpPr>
              <a:spLocks noChangeShapeType="1"/>
            </p:cNvSpPr>
            <p:nvPr/>
          </p:nvSpPr>
          <p:spPr bwMode="auto">
            <a:xfrm>
              <a:off x="4023" y="3922"/>
              <a:ext cx="106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2293" name="Object 36">
                  <a:extLst>
                    <a:ext uri="{FF2B5EF4-FFF2-40B4-BE49-F238E27FC236}">
                      <a16:creationId xmlns:a16="http://schemas.microsoft.com/office/drawing/2014/main" id="{E39585B2-51D3-40F5-99CD-E031FB1EF9C6}"/>
                    </a:ext>
                  </a:extLst>
                </p:cNvPr>
                <p:cNvSpPr txBox="1"/>
                <p:nvPr/>
              </p:nvSpPr>
              <p:spPr bwMode="auto">
                <a:xfrm>
                  <a:off x="1359" y="3657"/>
                  <a:ext cx="917" cy="235"/>
                </a:xfrm>
                <a:prstGeom prst="rect">
                  <a:avLst/>
                </a:prstGeom>
                <a:no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r>
                          <a:rPr lang="en-US" sz="2800" i="1">
                            <a:solidFill>
                              <a:srgbClr val="000000"/>
                            </a:solidFill>
                            <a:latin typeface="Cambria Math" panose="02040503050406030204" pitchFamily="18" charset="0"/>
                          </a:rPr>
                          <m:t>𝑥</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𝑛</m:t>
                        </m:r>
                        <m:r>
                          <a:rPr lang="en-US" sz="2800" i="1" smtClean="0">
                            <a:solidFill>
                              <a:srgbClr val="000000"/>
                            </a:solidFill>
                            <a:latin typeface="Cambria Math" panose="02040503050406030204" pitchFamily="18" charset="0"/>
                          </a:rPr>
                          <m:t>]=1</m:t>
                        </m:r>
                      </m:oMath>
                    </m:oMathPara>
                  </a14:m>
                  <a:endParaRPr lang="en-US" sz="2800" dirty="0"/>
                </a:p>
              </p:txBody>
            </p:sp>
          </mc:Choice>
          <mc:Fallback xmlns="">
            <p:sp>
              <p:nvSpPr>
                <p:cNvPr id="12293" name="Object 36">
                  <a:extLst>
                    <a:ext uri="{FF2B5EF4-FFF2-40B4-BE49-F238E27FC236}">
                      <a16:creationId xmlns:a16="http://schemas.microsoft.com/office/drawing/2014/main" id="{E39585B2-51D3-40F5-99CD-E031FB1EF9C6}"/>
                    </a:ext>
                  </a:extLst>
                </p:cNvPr>
                <p:cNvSpPr txBox="1">
                  <a:spLocks noRot="1" noChangeAspect="1" noMove="1" noResize="1" noEditPoints="1" noAdjustHandles="1" noChangeArrowheads="1" noChangeShapeType="1" noTextEdit="1"/>
                </p:cNvSpPr>
                <p:nvPr/>
              </p:nvSpPr>
              <p:spPr bwMode="auto">
                <a:xfrm>
                  <a:off x="1359" y="3657"/>
                  <a:ext cx="917" cy="235"/>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96" name="Object 39">
                  <a:extLst>
                    <a:ext uri="{FF2B5EF4-FFF2-40B4-BE49-F238E27FC236}">
                      <a16:creationId xmlns:a16="http://schemas.microsoft.com/office/drawing/2014/main" id="{694D8734-E860-4352-A378-B9FF1EE08BC1}"/>
                    </a:ext>
                  </a:extLst>
                </p:cNvPr>
                <p:cNvSpPr txBox="1"/>
                <p:nvPr/>
              </p:nvSpPr>
              <p:spPr bwMode="auto">
                <a:xfrm>
                  <a:off x="3017" y="3677"/>
                  <a:ext cx="226" cy="237"/>
                </a:xfrm>
                <a:prstGeom prst="rect">
                  <a:avLst/>
                </a:prstGeom>
                <a:no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r>
                          <a:rPr lang="en-US" sz="2800" i="1">
                            <a:solidFill>
                              <a:srgbClr val="000000"/>
                            </a:solidFill>
                            <a:latin typeface="Cambria Math" panose="02040503050406030204" pitchFamily="18" charset="0"/>
                          </a:rPr>
                          <m:t>0</m:t>
                        </m:r>
                      </m:oMath>
                    </m:oMathPara>
                  </a14:m>
                  <a:endParaRPr lang="en-US" sz="2800" dirty="0"/>
                </a:p>
              </p:txBody>
            </p:sp>
          </mc:Choice>
          <mc:Fallback xmlns="">
            <p:sp>
              <p:nvSpPr>
                <p:cNvPr id="12296" name="Object 39">
                  <a:extLst>
                    <a:ext uri="{FF2B5EF4-FFF2-40B4-BE49-F238E27FC236}">
                      <a16:creationId xmlns:a16="http://schemas.microsoft.com/office/drawing/2014/main" id="{694D8734-E860-4352-A378-B9FF1EE08BC1}"/>
                    </a:ext>
                  </a:extLst>
                </p:cNvPr>
                <p:cNvSpPr txBox="1">
                  <a:spLocks noRot="1" noChangeAspect="1" noMove="1" noResize="1" noEditPoints="1" noAdjustHandles="1" noChangeArrowheads="1" noChangeShapeType="1" noTextEdit="1"/>
                </p:cNvSpPr>
                <p:nvPr/>
              </p:nvSpPr>
              <p:spPr bwMode="auto">
                <a:xfrm>
                  <a:off x="3017" y="3677"/>
                  <a:ext cx="226" cy="237"/>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97" name="Object 40">
                  <a:extLst>
                    <a:ext uri="{FF2B5EF4-FFF2-40B4-BE49-F238E27FC236}">
                      <a16:creationId xmlns:a16="http://schemas.microsoft.com/office/drawing/2014/main" id="{AF145EF6-176E-4ADA-A964-B80F144BAE2C}"/>
                    </a:ext>
                  </a:extLst>
                </p:cNvPr>
                <p:cNvSpPr txBox="1"/>
                <p:nvPr/>
              </p:nvSpPr>
              <p:spPr bwMode="auto">
                <a:xfrm>
                  <a:off x="4076" y="3657"/>
                  <a:ext cx="917" cy="235"/>
                </a:xfrm>
                <a:prstGeom prst="rect">
                  <a:avLst/>
                </a:prstGeom>
                <a:no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r>
                          <a:rPr lang="en-US" sz="2800" i="1">
                            <a:solidFill>
                              <a:srgbClr val="000000"/>
                            </a:solidFill>
                            <a:latin typeface="Cambria Math" panose="02040503050406030204" pitchFamily="18" charset="0"/>
                          </a:rPr>
                          <m:t>𝑦</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𝑛</m:t>
                        </m:r>
                        <m:r>
                          <a:rPr lang="en-US" sz="2800" i="1" smtClean="0">
                            <a:solidFill>
                              <a:srgbClr val="000000"/>
                            </a:solidFill>
                            <a:latin typeface="Cambria Math" panose="02040503050406030204" pitchFamily="18" charset="0"/>
                          </a:rPr>
                          <m:t>]=0</m:t>
                        </m:r>
                      </m:oMath>
                    </m:oMathPara>
                  </a14:m>
                  <a:endParaRPr lang="en-US" sz="2800" dirty="0"/>
                </a:p>
              </p:txBody>
            </p:sp>
          </mc:Choice>
          <mc:Fallback xmlns="">
            <p:sp>
              <p:nvSpPr>
                <p:cNvPr id="12297" name="Object 40">
                  <a:extLst>
                    <a:ext uri="{FF2B5EF4-FFF2-40B4-BE49-F238E27FC236}">
                      <a16:creationId xmlns:a16="http://schemas.microsoft.com/office/drawing/2014/main" id="{AF145EF6-176E-4ADA-A964-B80F144BAE2C}"/>
                    </a:ext>
                  </a:extLst>
                </p:cNvPr>
                <p:cNvSpPr txBox="1">
                  <a:spLocks noRot="1" noChangeAspect="1" noMove="1" noResize="1" noEditPoints="1" noAdjustHandles="1" noChangeArrowheads="1" noChangeShapeType="1" noTextEdit="1"/>
                </p:cNvSpPr>
                <p:nvPr/>
              </p:nvSpPr>
              <p:spPr bwMode="auto">
                <a:xfrm>
                  <a:off x="4076" y="3657"/>
                  <a:ext cx="917" cy="235"/>
                </a:xfrm>
                <a:prstGeom prst="rect">
                  <a:avLst/>
                </a:prstGeom>
                <a:blipFill>
                  <a:blip r:embed="rId7"/>
                  <a:stretch>
                    <a:fillRect/>
                  </a:stretch>
                </a:blipFill>
                <a:ln>
                  <a:noFill/>
                </a:ln>
                <a:effectLst/>
              </p:spPr>
              <p:txBody>
                <a:bodyPr/>
                <a:lstStyle/>
                <a:p>
                  <a:r>
                    <a:rPr lang="en-US">
                      <a:noFill/>
                    </a:rPr>
                    <a:t> </a:t>
                  </a:r>
                </a:p>
              </p:txBody>
            </p:sp>
          </mc:Fallback>
        </mc:AlternateContent>
      </p:gr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标题 1">
            <a:extLst>
              <a:ext uri="{FF2B5EF4-FFF2-40B4-BE49-F238E27FC236}">
                <a16:creationId xmlns:a16="http://schemas.microsoft.com/office/drawing/2014/main" id="{A8B57C7A-BCC6-49D2-8DE1-1C71881B1E15}"/>
              </a:ext>
            </a:extLst>
          </p:cNvPr>
          <p:cNvSpPr>
            <a:spLocks noGrp="1"/>
          </p:cNvSpPr>
          <p:nvPr>
            <p:ph type="title"/>
          </p:nvPr>
        </p:nvSpPr>
        <p:spPr/>
        <p:txBody>
          <a:bodyPr/>
          <a:lstStyle/>
          <a:p>
            <a:r>
              <a:rPr lang="en-US" altLang="zh-CN"/>
              <a:t>2.3 </a:t>
            </a:r>
            <a:r>
              <a:rPr lang="zh-CN" altLang="en-US"/>
              <a:t>线性时不变系统的性质</a:t>
            </a:r>
          </a:p>
        </p:txBody>
      </p:sp>
      <p:sp>
        <p:nvSpPr>
          <p:cNvPr id="4" name="灯片编号占位符 3">
            <a:extLst>
              <a:ext uri="{FF2B5EF4-FFF2-40B4-BE49-F238E27FC236}">
                <a16:creationId xmlns:a16="http://schemas.microsoft.com/office/drawing/2014/main" id="{490EDEEF-4BBC-422C-9235-0CB9E713E67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E4CD1AD-C1A1-4E9C-BDCE-27F872624036}"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3315" name="Object 6">
                <a:extLst>
                  <a:ext uri="{FF2B5EF4-FFF2-40B4-BE49-F238E27FC236}">
                    <a16:creationId xmlns:a16="http://schemas.microsoft.com/office/drawing/2014/main" id="{BA2644C9-1D1A-42BB-AA77-C112C7EA4C96}"/>
                  </a:ext>
                </a:extLst>
              </p:cNvPr>
              <p:cNvSpPr txBox="1"/>
              <p:nvPr/>
            </p:nvSpPr>
            <p:spPr bwMode="auto">
              <a:xfrm>
                <a:off x="1547664" y="5792525"/>
                <a:ext cx="6265863" cy="461665"/>
              </a:xfrm>
              <a:prstGeom prst="rect">
                <a:avLst/>
              </a:prstGeom>
              <a:noFill/>
              <a:ln>
                <a:noFill/>
              </a:ln>
              <a:effectLst/>
            </p:spPr>
            <p:txBody>
              <a:bodyPr>
                <a:spAutoFit/>
              </a:bodyPr>
              <a:lstStyle/>
              <a:p>
                <a:pPr/>
                <a14:m>
                  <m:oMathPara xmlns:m="http://schemas.openxmlformats.org/officeDocument/2006/math">
                    <m:oMathParaPr>
                      <m:jc m:val="center"/>
                    </m:oMathParaPr>
                    <m:oMath xmlns:m="http://schemas.openxmlformats.org/officeDocument/2006/math">
                      <m:r>
                        <a:rPr lang="en-US" sz="2400" i="1" smtClean="0">
                          <a:solidFill>
                            <a:srgbClr val="FF0000"/>
                          </a:solidFill>
                          <a:latin typeface="Cambria Math" panose="02040503050406030204" pitchFamily="18" charset="0"/>
                        </a:rPr>
                        <m:t>𝑥</m:t>
                      </m:r>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𝑡</m:t>
                      </m:r>
                      <m:r>
                        <a:rPr lang="en-US" sz="2400" i="1" smtClean="0">
                          <a:solidFill>
                            <a:srgbClr val="FF0000"/>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𝑡</m:t>
                          </m:r>
                        </m:e>
                        <m:sub>
                          <m:r>
                            <a:rPr lang="en-US" sz="2400" i="1">
                              <a:solidFill>
                                <a:srgbClr val="FF0000"/>
                              </a:solidFill>
                              <a:latin typeface="Cambria Math" panose="02040503050406030204" pitchFamily="18" charset="0"/>
                            </a:rPr>
                            <m:t>0</m:t>
                          </m:r>
                        </m:sub>
                      </m:sSub>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h</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𝑥</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h</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𝑡</m:t>
                          </m:r>
                        </m:e>
                        <m:sub>
                          <m:r>
                            <a:rPr lang="en-US" sz="2400" i="1">
                              <a:solidFill>
                                <a:srgbClr val="FF0000"/>
                              </a:solidFill>
                              <a:latin typeface="Cambria Math" panose="02040503050406030204" pitchFamily="18" charset="0"/>
                            </a:rPr>
                            <m:t>0</m:t>
                          </m:r>
                        </m:sub>
                      </m:sSub>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𝑦</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𝑡</m:t>
                          </m:r>
                        </m:e>
                        <m:sub>
                          <m:r>
                            <a:rPr lang="en-US" sz="2400" i="1">
                              <a:solidFill>
                                <a:srgbClr val="FF0000"/>
                              </a:solidFill>
                              <a:latin typeface="Cambria Math" panose="02040503050406030204" pitchFamily="18" charset="0"/>
                            </a:rPr>
                            <m:t>0</m:t>
                          </m:r>
                        </m:sub>
                      </m:sSub>
                      <m:r>
                        <a:rPr lang="en-US" sz="2400" i="1">
                          <a:solidFill>
                            <a:srgbClr val="FF0000"/>
                          </a:solidFill>
                          <a:latin typeface="Cambria Math" panose="02040503050406030204" pitchFamily="18" charset="0"/>
                        </a:rPr>
                        <m:t>)</m:t>
                      </m:r>
                    </m:oMath>
                  </m:oMathPara>
                </a14:m>
                <a:endParaRPr lang="en-US" sz="2400" dirty="0">
                  <a:solidFill>
                    <a:srgbClr val="FF0000"/>
                  </a:solidFill>
                </a:endParaRPr>
              </a:p>
            </p:txBody>
          </p:sp>
        </mc:Choice>
        <mc:Fallback xmlns="">
          <p:sp>
            <p:nvSpPr>
              <p:cNvPr id="13315" name="Object 6">
                <a:extLst>
                  <a:ext uri="{FF2B5EF4-FFF2-40B4-BE49-F238E27FC236}">
                    <a16:creationId xmlns:a16="http://schemas.microsoft.com/office/drawing/2014/main" id="{BA2644C9-1D1A-42BB-AA77-C112C7EA4C96}"/>
                  </a:ext>
                </a:extLst>
              </p:cNvPr>
              <p:cNvSpPr txBox="1">
                <a:spLocks noRot="1" noChangeAspect="1" noMove="1" noResize="1" noEditPoints="1" noAdjustHandles="1" noChangeArrowheads="1" noChangeShapeType="1" noTextEdit="1"/>
              </p:cNvSpPr>
              <p:nvPr/>
            </p:nvSpPr>
            <p:spPr bwMode="auto">
              <a:xfrm>
                <a:off x="1547664" y="5792525"/>
                <a:ext cx="6265863" cy="461665"/>
              </a:xfrm>
              <a:prstGeom prst="rect">
                <a:avLst/>
              </a:prstGeom>
              <a:blipFill>
                <a:blip r:embed="rId2"/>
                <a:stretch>
                  <a:fillRect r="-97" b="-19737"/>
                </a:stretch>
              </a:blipFill>
              <a:ln>
                <a:noFill/>
              </a:ln>
              <a:effectLst/>
            </p:spPr>
            <p:txBody>
              <a:bodyPr/>
              <a:lstStyle/>
              <a:p>
                <a:r>
                  <a:rPr lang="en-US">
                    <a:noFill/>
                  </a:rPr>
                  <a:t> </a:t>
                </a:r>
              </a:p>
            </p:txBody>
          </p:sp>
        </mc:Fallback>
      </mc:AlternateContent>
      <p:sp>
        <p:nvSpPr>
          <p:cNvPr id="13321" name="内容占位符 2">
            <a:extLst>
              <a:ext uri="{FF2B5EF4-FFF2-40B4-BE49-F238E27FC236}">
                <a16:creationId xmlns:a16="http://schemas.microsoft.com/office/drawing/2014/main" id="{CF60DE53-AC45-403E-976C-D7A005D2967C}"/>
              </a:ext>
            </a:extLst>
          </p:cNvPr>
          <p:cNvSpPr>
            <a:spLocks noGrp="1"/>
          </p:cNvSpPr>
          <p:nvPr>
            <p:ph idx="1"/>
          </p:nvPr>
        </p:nvSpPr>
        <p:spPr>
          <a:xfrm>
            <a:off x="428625" y="1214438"/>
            <a:ext cx="8229600" cy="904863"/>
          </a:xfrm>
        </p:spPr>
        <p:txBody>
          <a:bodyPr>
            <a:spAutoFit/>
          </a:bodyPr>
          <a:lstStyle/>
          <a:p>
            <a:pPr marL="0" indent="0">
              <a:buNone/>
            </a:pPr>
            <a:r>
              <a:rPr lang="en-US" altLang="zh-CN" sz="2400" b="0" dirty="0"/>
              <a:t>4. </a:t>
            </a:r>
            <a:r>
              <a:rPr lang="zh-CN" altLang="en-US" sz="2400" b="0" dirty="0"/>
              <a:t>其他性质：</a:t>
            </a:r>
            <a:endParaRPr lang="en-US" altLang="zh-CN" sz="2400" b="0" dirty="0"/>
          </a:p>
          <a:p>
            <a:r>
              <a:rPr lang="zh-CN" altLang="en-US" sz="2400" b="0" dirty="0">
                <a:solidFill>
                  <a:srgbClr val="FF0000"/>
                </a:solidFill>
              </a:rPr>
              <a:t>卷积积分</a:t>
            </a:r>
            <a:r>
              <a:rPr lang="zh-CN" altLang="en-US" sz="2400" b="0" dirty="0"/>
              <a:t>满足</a:t>
            </a:r>
            <a:r>
              <a:rPr lang="zh-CN" altLang="en-US" sz="2400" b="0" dirty="0">
                <a:solidFill>
                  <a:srgbClr val="FF0000"/>
                </a:solidFill>
              </a:rPr>
              <a:t>微分</a:t>
            </a:r>
            <a:r>
              <a:rPr lang="zh-CN" altLang="en-US" sz="2400" b="0" dirty="0"/>
              <a:t>、</a:t>
            </a:r>
            <a:r>
              <a:rPr lang="zh-CN" altLang="en-US" sz="2400" b="0" dirty="0">
                <a:solidFill>
                  <a:srgbClr val="FF0000"/>
                </a:solidFill>
              </a:rPr>
              <a:t>积分</a:t>
            </a:r>
            <a:r>
              <a:rPr lang="zh-CN" altLang="en-US" sz="2400" b="0" dirty="0"/>
              <a:t>及</a:t>
            </a:r>
            <a:r>
              <a:rPr lang="zh-CN" altLang="en-US" sz="2400" b="0" dirty="0">
                <a:solidFill>
                  <a:srgbClr val="FF0000"/>
                </a:solidFill>
              </a:rPr>
              <a:t>时移</a:t>
            </a:r>
            <a:r>
              <a:rPr lang="zh-CN" altLang="en-US" sz="2400" b="0" dirty="0"/>
              <a:t>特性：</a:t>
            </a:r>
          </a:p>
        </p:txBody>
      </p:sp>
      <mc:AlternateContent xmlns:mc="http://schemas.openxmlformats.org/markup-compatibility/2006" xmlns:a14="http://schemas.microsoft.com/office/drawing/2010/main">
        <mc:Choice Requires="a14">
          <p:sp>
            <p:nvSpPr>
              <p:cNvPr id="13317" name="Object 10">
                <a:extLst>
                  <a:ext uri="{FF2B5EF4-FFF2-40B4-BE49-F238E27FC236}">
                    <a16:creationId xmlns:a16="http://schemas.microsoft.com/office/drawing/2014/main" id="{0B7C84E2-0BE5-4A88-BB96-D0CEF82F2BA4}"/>
                  </a:ext>
                </a:extLst>
              </p:cNvPr>
              <p:cNvSpPr txBox="1"/>
              <p:nvPr/>
            </p:nvSpPr>
            <p:spPr bwMode="auto">
              <a:xfrm>
                <a:off x="2349409" y="2852936"/>
                <a:ext cx="4662372" cy="646331"/>
              </a:xfrm>
              <a:prstGeom prst="rect">
                <a:avLst/>
              </a:prstGeom>
              <a:noFill/>
              <a:ln>
                <a:noFill/>
              </a:ln>
              <a:effectLst/>
            </p:spPr>
            <p:txBody>
              <a:bodyPr wrap="square">
                <a:spAutoFit/>
              </a:bodyPr>
              <a:lstStyle/>
              <a:p>
                <a:pPr>
                  <a:lnSpc>
                    <a:spcPct val="150000"/>
                  </a:lnSpc>
                </a:pPr>
                <a14:m>
                  <m:oMathPara xmlns:m="http://schemas.openxmlformats.org/officeDocument/2006/math">
                    <m:oMathParaPr>
                      <m:jc m:val="center"/>
                    </m:oMathParaPr>
                    <m:oMath xmlns:m="http://schemas.openxmlformats.org/officeDocument/2006/math">
                      <m:sSup>
                        <m:sSupPr>
                          <m:ctrlPr>
                            <a:rPr lang="en-US" sz="2400" i="1" smtClean="0">
                              <a:solidFill>
                                <a:srgbClr val="FF0000"/>
                              </a:solidFill>
                              <a:latin typeface="Cambria Math" panose="02040503050406030204" pitchFamily="18" charset="0"/>
                            </a:rPr>
                          </m:ctrlPr>
                        </m:sSupPr>
                        <m:e>
                          <m:r>
                            <a:rPr lang="en-US" sz="2400" i="1">
                              <a:solidFill>
                                <a:srgbClr val="FF0000"/>
                              </a:solidFill>
                              <a:latin typeface="Cambria Math" panose="02040503050406030204" pitchFamily="18" charset="0"/>
                            </a:rPr>
                            <m:t>𝑥</m:t>
                          </m:r>
                        </m:e>
                        <m:sup>
                          <m:r>
                            <a:rPr lang="en-US" sz="2400" i="1">
                              <a:solidFill>
                                <a:srgbClr val="FF0000"/>
                              </a:solidFill>
                              <a:latin typeface="Cambria Math" panose="02040503050406030204" pitchFamily="18" charset="0"/>
                            </a:rPr>
                            <m:t>′</m:t>
                          </m:r>
                        </m:sup>
                      </m:sSup>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h</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𝑥</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sSup>
                        <m:sSupPr>
                          <m:ctrlPr>
                            <a:rPr lang="en-US" sz="2400" i="1">
                              <a:solidFill>
                                <a:srgbClr val="FF0000"/>
                              </a:solidFill>
                              <a:latin typeface="Cambria Math" panose="02040503050406030204" pitchFamily="18" charset="0"/>
                            </a:rPr>
                          </m:ctrlPr>
                        </m:sSupPr>
                        <m:e>
                          <m:r>
                            <a:rPr lang="en-US" sz="2400" i="1">
                              <a:solidFill>
                                <a:srgbClr val="FF0000"/>
                              </a:solidFill>
                              <a:latin typeface="Cambria Math" panose="02040503050406030204" pitchFamily="18" charset="0"/>
                            </a:rPr>
                            <m:t>h</m:t>
                          </m:r>
                        </m:e>
                        <m:sup>
                          <m:r>
                            <a:rPr lang="en-US" sz="2400" i="1">
                              <a:solidFill>
                                <a:srgbClr val="FF0000"/>
                              </a:solidFill>
                              <a:latin typeface="Cambria Math" panose="02040503050406030204" pitchFamily="18" charset="0"/>
                            </a:rPr>
                            <m:t>′</m:t>
                          </m:r>
                        </m:sup>
                      </m:sSup>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sSup>
                        <m:sSupPr>
                          <m:ctrlPr>
                            <a:rPr lang="en-US" sz="2400" i="1">
                              <a:solidFill>
                                <a:srgbClr val="FF0000"/>
                              </a:solidFill>
                              <a:latin typeface="Cambria Math" panose="02040503050406030204" pitchFamily="18" charset="0"/>
                            </a:rPr>
                          </m:ctrlPr>
                        </m:sSupPr>
                        <m:e>
                          <m:r>
                            <a:rPr lang="en-US" sz="2400" i="1">
                              <a:solidFill>
                                <a:srgbClr val="FF0000"/>
                              </a:solidFill>
                              <a:latin typeface="Cambria Math" panose="02040503050406030204" pitchFamily="18" charset="0"/>
                            </a:rPr>
                            <m:t>𝑦</m:t>
                          </m:r>
                        </m:e>
                        <m:sup>
                          <m:r>
                            <a:rPr lang="en-US" sz="2400" i="1">
                              <a:solidFill>
                                <a:srgbClr val="FF0000"/>
                              </a:solidFill>
                              <a:latin typeface="Cambria Math" panose="02040503050406030204" pitchFamily="18" charset="0"/>
                            </a:rPr>
                            <m:t>′</m:t>
                          </m:r>
                        </m:sup>
                      </m:sSup>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oMath>
                  </m:oMathPara>
                </a14:m>
                <a:r>
                  <a:rPr lang="en-US" sz="2400" i="1" dirty="0">
                    <a:solidFill>
                      <a:srgbClr val="FF0000"/>
                    </a:solidFill>
                    <a:latin typeface="Cambria Math" panose="02040503050406030204" pitchFamily="18" charset="0"/>
                  </a:rPr>
                  <a:t/>
                </a:r>
                <a:br>
                  <a:rPr lang="en-US" sz="2400" i="1" dirty="0">
                    <a:solidFill>
                      <a:srgbClr val="FF0000"/>
                    </a:solidFill>
                    <a:latin typeface="Cambria Math" panose="02040503050406030204" pitchFamily="18" charset="0"/>
                  </a:rPr>
                </a:br>
                <a:endParaRPr lang="en-US" sz="2400" dirty="0">
                  <a:solidFill>
                    <a:srgbClr val="FF0000"/>
                  </a:solidFill>
                </a:endParaRPr>
              </a:p>
            </p:txBody>
          </p:sp>
        </mc:Choice>
        <mc:Fallback xmlns="">
          <p:sp>
            <p:nvSpPr>
              <p:cNvPr id="13317" name="Object 10">
                <a:extLst>
                  <a:ext uri="{FF2B5EF4-FFF2-40B4-BE49-F238E27FC236}">
                    <a16:creationId xmlns:a16="http://schemas.microsoft.com/office/drawing/2014/main" id="{0B7C84E2-0BE5-4A88-BB96-D0CEF82F2BA4}"/>
                  </a:ext>
                </a:extLst>
              </p:cNvPr>
              <p:cNvSpPr txBox="1">
                <a:spLocks noRot="1" noChangeAspect="1" noMove="1" noResize="1" noEditPoints="1" noAdjustHandles="1" noChangeArrowheads="1" noChangeShapeType="1" noTextEdit="1"/>
              </p:cNvSpPr>
              <p:nvPr/>
            </p:nvSpPr>
            <p:spPr bwMode="auto">
              <a:xfrm>
                <a:off x="2349409" y="2852936"/>
                <a:ext cx="4662372" cy="646331"/>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322" name="Rectangle 11">
                <a:extLst>
                  <a:ext uri="{FF2B5EF4-FFF2-40B4-BE49-F238E27FC236}">
                    <a16:creationId xmlns:a16="http://schemas.microsoft.com/office/drawing/2014/main" id="{A88951EA-3B24-4890-AB53-F592A7C4A694}"/>
                  </a:ext>
                </a:extLst>
              </p:cNvPr>
              <p:cNvSpPr>
                <a:spLocks noChangeArrowheads="1"/>
              </p:cNvSpPr>
              <p:nvPr/>
            </p:nvSpPr>
            <p:spPr bwMode="auto">
              <a:xfrm>
                <a:off x="758825" y="2262028"/>
                <a:ext cx="5618162" cy="535146"/>
              </a:xfrm>
              <a:prstGeom prst="rect">
                <a:avLst/>
              </a:prstGeom>
              <a:noFill/>
              <a:ln>
                <a:noFill/>
              </a:ln>
              <a:extLst>
                <a:ext uri="{909E8E84-426E-40DD-AFC4-6F175D3DCCD1}">
                  <a14:hiddenFill>
                    <a:solidFill>
                      <a:srgbClr val="FFFFFF"/>
                    </a:solidFill>
                  </a14:hiddenFill>
                </a:ext>
                <a:ext uri="{91240B29-F687-4F45-9708-019B960494DF}">
                  <a14:hiddenLine w="25400">
                    <a:solidFill>
                      <a:srgbClr val="000000"/>
                    </a:solidFill>
                    <a:miter lim="800000"/>
                    <a:headEnd/>
                    <a:tailEnd type="none" w="sm" len="lg"/>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30000"/>
                  </a:lnSpc>
                  <a:spcBef>
                    <a:spcPct val="5000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若</a:t>
                </a:r>
                <a14:m>
                  <m:oMath xmlns:m="http://schemas.openxmlformats.org/officeDocument/2006/math">
                    <m:r>
                      <a:rPr lang="en-US" sz="2400" i="1" smtClean="0">
                        <a:solidFill>
                          <a:srgbClr val="000000"/>
                        </a:solidFill>
                        <a:latin typeface="Cambria Math" panose="02040503050406030204" pitchFamily="18" charset="0"/>
                      </a:rPr>
                      <m:t>𝑥</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h</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𝑦</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m:t>
                    </m:r>
                  </m:oMath>
                </a14:m>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，则</a:t>
                </a:r>
              </a:p>
            </p:txBody>
          </p:sp>
        </mc:Choice>
        <mc:Fallback xmlns="">
          <p:sp>
            <p:nvSpPr>
              <p:cNvPr id="13322" name="Rectangle 11">
                <a:extLst>
                  <a:ext uri="{FF2B5EF4-FFF2-40B4-BE49-F238E27FC236}">
                    <a16:creationId xmlns:a16="http://schemas.microsoft.com/office/drawing/2014/main" id="{A88951EA-3B24-4890-AB53-F592A7C4A694}"/>
                  </a:ext>
                </a:extLst>
              </p:cNvPr>
              <p:cNvSpPr>
                <a:spLocks noRot="1" noChangeAspect="1" noMove="1" noResize="1" noEditPoints="1" noAdjustHandles="1" noChangeArrowheads="1" noChangeShapeType="1" noTextEdit="1"/>
              </p:cNvSpPr>
              <p:nvPr/>
            </p:nvSpPr>
            <p:spPr bwMode="auto">
              <a:xfrm>
                <a:off x="758825" y="2262028"/>
                <a:ext cx="5618162" cy="535146"/>
              </a:xfrm>
              <a:prstGeom prst="rect">
                <a:avLst/>
              </a:prstGeom>
              <a:blipFill>
                <a:blip r:embed="rId4"/>
                <a:stretch>
                  <a:fillRect l="-1627" b="-2613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lg"/>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84D4A503-B426-48AB-8D03-8D1A8E6CD010}"/>
                  </a:ext>
                </a:extLst>
              </p:cNvPr>
              <p:cNvSpPr txBox="1"/>
              <p:nvPr/>
            </p:nvSpPr>
            <p:spPr>
              <a:xfrm>
                <a:off x="900175" y="4567573"/>
                <a:ext cx="7560840" cy="929293"/>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d>
                        <m:dPr>
                          <m:ctrlP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dPr>
                        <m:e>
                          <m:nary>
                            <m:naryPr>
                              <m:ctrlP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ctrlPr>
                            </m:naryPr>
                            <m:sub>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sub>
                            <m:sup>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sup>
                            <m:e>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𝜏</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𝑑</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𝜏</m:t>
                              </m:r>
                            </m:e>
                          </m:nary>
                        </m:e>
                      </m:d>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h</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𝑥</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d>
                        <m:dPr>
                          <m:ctrlP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dPr>
                        <m:e>
                          <m:nary>
                            <m:naryPr>
                              <m:ctrlP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ctrlPr>
                            </m:naryPr>
                            <m:sub>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sub>
                            <m:sup>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sup>
                            <m:e>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h</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𝜏</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𝑑</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𝜏</m:t>
                              </m:r>
                            </m:e>
                          </m:nary>
                        </m:e>
                      </m:d>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nary>
                        <m:naryPr>
                          <m:ctrlP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ctrlPr>
                        </m:naryPr>
                        <m:sub>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sub>
                        <m:sup>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sup>
                        <m:e>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𝑦</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𝜏</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𝑑</m:t>
                          </m:r>
                          <m: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t>𝜏</m:t>
                          </m:r>
                        </m:e>
                      </m:nary>
                    </m:oMath>
                  </m:oMathPara>
                </a14:m>
                <a:endParaRPr lang="en-US" dirty="0">
                  <a:solidFill>
                    <a:srgbClr val="FF0000"/>
                  </a:solidFill>
                </a:endParaRPr>
              </a:p>
            </p:txBody>
          </p:sp>
        </mc:Choice>
        <mc:Fallback xmlns="">
          <p:sp>
            <p:nvSpPr>
              <p:cNvPr id="22" name="文本框 21">
                <a:extLst>
                  <a:ext uri="{FF2B5EF4-FFF2-40B4-BE49-F238E27FC236}">
                    <a16:creationId xmlns:a16="http://schemas.microsoft.com/office/drawing/2014/main" id="{84D4A503-B426-48AB-8D03-8D1A8E6CD010}"/>
                  </a:ext>
                </a:extLst>
              </p:cNvPr>
              <p:cNvSpPr txBox="1">
                <a:spLocks noRot="1" noChangeAspect="1" noMove="1" noResize="1" noEditPoints="1" noAdjustHandles="1" noChangeArrowheads="1" noChangeShapeType="1" noTextEdit="1"/>
              </p:cNvSpPr>
              <p:nvPr/>
            </p:nvSpPr>
            <p:spPr>
              <a:xfrm>
                <a:off x="900175" y="4567573"/>
                <a:ext cx="7560840" cy="92929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A3F02D8D-4BC3-4546-8A58-EDFC38482FEA}"/>
                  </a:ext>
                </a:extLst>
              </p:cNvPr>
              <p:cNvSpPr txBox="1"/>
              <p:nvPr/>
            </p:nvSpPr>
            <p:spPr>
              <a:xfrm>
                <a:off x="2635102" y="3794925"/>
                <a:ext cx="4090987" cy="47699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p>
                        <m:sSupPr>
                          <m:ctrlPr>
                            <a:rPr lang="en-US" sz="2400" i="1" smtClean="0">
                              <a:solidFill>
                                <a:srgbClr val="FF0000"/>
                              </a:solidFill>
                              <a:latin typeface="Cambria Math" panose="02040503050406030204" pitchFamily="18" charset="0"/>
                            </a:rPr>
                          </m:ctrlPr>
                        </m:sSupPr>
                        <m:e>
                          <m:r>
                            <a:rPr lang="en-US" sz="2400" i="1">
                              <a:solidFill>
                                <a:srgbClr val="FF0000"/>
                              </a:solidFill>
                              <a:latin typeface="Cambria Math" panose="02040503050406030204" pitchFamily="18" charset="0"/>
                            </a:rPr>
                            <m:t>𝑥</m:t>
                          </m:r>
                        </m:e>
                        <m:sup>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𝑚</m:t>
                          </m:r>
                          <m:r>
                            <a:rPr lang="en-US" sz="2400" i="1">
                              <a:solidFill>
                                <a:srgbClr val="FF0000"/>
                              </a:solidFill>
                              <a:latin typeface="Cambria Math" panose="02040503050406030204" pitchFamily="18" charset="0"/>
                            </a:rPr>
                            <m:t>)</m:t>
                          </m:r>
                        </m:sup>
                      </m:sSup>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sSup>
                        <m:sSupPr>
                          <m:ctrlPr>
                            <a:rPr lang="en-US" sz="2400" i="1">
                              <a:solidFill>
                                <a:srgbClr val="FF0000"/>
                              </a:solidFill>
                              <a:latin typeface="Cambria Math" panose="02040503050406030204" pitchFamily="18" charset="0"/>
                            </a:rPr>
                          </m:ctrlPr>
                        </m:sSupPr>
                        <m:e>
                          <m:r>
                            <a:rPr lang="en-US" sz="2400" i="1">
                              <a:solidFill>
                                <a:srgbClr val="FF0000"/>
                              </a:solidFill>
                              <a:latin typeface="Cambria Math" panose="02040503050406030204" pitchFamily="18" charset="0"/>
                            </a:rPr>
                            <m:t>h</m:t>
                          </m:r>
                        </m:e>
                        <m:sup>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𝑛</m:t>
                          </m:r>
                          <m:r>
                            <a:rPr lang="en-US" sz="2400" b="0" i="1" smtClean="0">
                              <a:solidFill>
                                <a:srgbClr val="FF0000"/>
                              </a:solidFill>
                              <a:latin typeface="Cambria Math" panose="02040503050406030204" pitchFamily="18" charset="0"/>
                            </a:rPr>
                            <m:t>)</m:t>
                          </m:r>
                        </m:sup>
                      </m:sSup>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sSup>
                        <m:sSupPr>
                          <m:ctrlPr>
                            <a:rPr lang="en-US" sz="2400" i="1">
                              <a:solidFill>
                                <a:srgbClr val="FF0000"/>
                              </a:solidFill>
                              <a:latin typeface="Cambria Math" panose="02040503050406030204" pitchFamily="18" charset="0"/>
                            </a:rPr>
                          </m:ctrlPr>
                        </m:sSupPr>
                        <m:e>
                          <m:r>
                            <a:rPr lang="en-US" sz="2400" i="1">
                              <a:solidFill>
                                <a:srgbClr val="FF0000"/>
                              </a:solidFill>
                              <a:latin typeface="Cambria Math" panose="02040503050406030204" pitchFamily="18" charset="0"/>
                            </a:rPr>
                            <m:t>𝑦</m:t>
                          </m:r>
                        </m:e>
                        <m:sup>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𝑚</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𝑛</m:t>
                          </m:r>
                          <m:r>
                            <a:rPr lang="en-US" sz="2400" i="1">
                              <a:solidFill>
                                <a:srgbClr val="FF0000"/>
                              </a:solidFill>
                              <a:latin typeface="Cambria Math" panose="02040503050406030204" pitchFamily="18" charset="0"/>
                            </a:rPr>
                            <m:t>)</m:t>
                          </m:r>
                        </m:sup>
                      </m:sSup>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oMath>
                  </m:oMathPara>
                </a14:m>
                <a:endParaRPr lang="en-US" sz="2400" dirty="0">
                  <a:solidFill>
                    <a:srgbClr val="FF0000"/>
                  </a:solidFill>
                </a:endParaRPr>
              </a:p>
            </p:txBody>
          </p:sp>
        </mc:Choice>
        <mc:Fallback xmlns="">
          <p:sp>
            <p:nvSpPr>
              <p:cNvPr id="27" name="文本框 26">
                <a:extLst>
                  <a:ext uri="{FF2B5EF4-FFF2-40B4-BE49-F238E27FC236}">
                    <a16:creationId xmlns:a16="http://schemas.microsoft.com/office/drawing/2014/main" id="{A3F02D8D-4BC3-4546-8A58-EDFC38482FEA}"/>
                  </a:ext>
                </a:extLst>
              </p:cNvPr>
              <p:cNvSpPr txBox="1">
                <a:spLocks noRot="1" noChangeAspect="1" noMove="1" noResize="1" noEditPoints="1" noAdjustHandles="1" noChangeArrowheads="1" noChangeShapeType="1" noTextEdit="1"/>
              </p:cNvSpPr>
              <p:nvPr/>
            </p:nvSpPr>
            <p:spPr>
              <a:xfrm>
                <a:off x="2635102" y="3794925"/>
                <a:ext cx="4090987" cy="476990"/>
              </a:xfrm>
              <a:prstGeom prst="rect">
                <a:avLst/>
              </a:prstGeom>
              <a:blipFill>
                <a:blip r:embed="rId6"/>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343" name="Rectangle 11">
                <a:extLst>
                  <a:ext uri="{FF2B5EF4-FFF2-40B4-BE49-F238E27FC236}">
                    <a16:creationId xmlns:a16="http://schemas.microsoft.com/office/drawing/2014/main" id="{1F0AD142-C79C-44D5-ACE0-D28B08FCE2CD}"/>
                  </a:ext>
                </a:extLst>
              </p:cNvPr>
              <p:cNvSpPr>
                <a:spLocks noChangeArrowheads="1"/>
              </p:cNvSpPr>
              <p:nvPr/>
            </p:nvSpPr>
            <p:spPr bwMode="auto">
              <a:xfrm>
                <a:off x="720940" y="2003748"/>
                <a:ext cx="3711593" cy="508473"/>
              </a:xfrm>
              <a:prstGeom prst="rect">
                <a:avLst/>
              </a:prstGeom>
              <a:noFill/>
              <a:ln>
                <a:noFill/>
              </a:ln>
              <a:extLst>
                <a:ext uri="{909E8E84-426E-40DD-AFC4-6F175D3DCCD1}">
                  <a14:hiddenFill>
                    <a:solidFill>
                      <a:srgbClr val="FFFFFF"/>
                    </a:solidFill>
                  </a14:hiddenFill>
                </a:ext>
                <a:ext uri="{91240B29-F687-4F45-9708-019B960494DF}">
                  <a14:hiddenLine w="25400">
                    <a:solidFill>
                      <a:srgbClr val="000000"/>
                    </a:solidFill>
                    <a:miter lim="800000"/>
                    <a:headEnd/>
                    <a:tailEnd type="none" w="sm"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0000"/>
                  </a:lnSpc>
                  <a:spcBef>
                    <a:spcPct val="0"/>
                  </a:spcBef>
                  <a:spcAft>
                    <a:spcPct val="0"/>
                  </a:spcAft>
                  <a:buClrTx/>
                  <a:buSzTx/>
                  <a:buFontTx/>
                  <a:buNone/>
                  <a:tabLst/>
                  <a:defRPr/>
                </a:pPr>
                <a:r>
                  <a:rPr kumimoji="0" lang="en-US" altLang="zh-CN" sz="240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楷体_GB2312" panose="02010609030101010101" pitchFamily="49" charset="-122"/>
                  </a:rPr>
                  <a:t> </a:t>
                </a:r>
                <a:r>
                  <a:rPr kumimoji="0" lang="zh-CN" altLang="en-US" sz="240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楷体_GB2312" panose="02010609030101010101" pitchFamily="49" charset="-122"/>
                  </a:rPr>
                  <a:t>若</a:t>
                </a:r>
                <a14:m>
                  <m:oMath xmlns:m="http://schemas.openxmlformats.org/officeDocument/2006/math">
                    <m:r>
                      <a:rPr lang="en-US" sz="2400" i="1" smtClean="0">
                        <a:solidFill>
                          <a:schemeClr val="tx1"/>
                        </a:solidFill>
                        <a:latin typeface="Cambria Math" panose="02040503050406030204" pitchFamily="18" charset="0"/>
                      </a:rPr>
                      <m:t>𝑥</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𝑛</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h</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𝑛</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𝑦</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𝑛</m:t>
                    </m:r>
                    <m:r>
                      <a:rPr lang="en-US" sz="2400" i="1" smtClean="0">
                        <a:solidFill>
                          <a:schemeClr val="tx1"/>
                        </a:solidFill>
                        <a:latin typeface="Cambria Math" panose="02040503050406030204" pitchFamily="18" charset="0"/>
                      </a:rPr>
                      <m:t>]</m:t>
                    </m:r>
                  </m:oMath>
                </a14:m>
                <a:r>
                  <a:rPr kumimoji="0" lang="zh-CN" altLang="en-US" sz="240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楷体_GB2312" panose="02010609030101010101" pitchFamily="49" charset="-122"/>
                  </a:rPr>
                  <a:t>，则</a:t>
                </a:r>
              </a:p>
            </p:txBody>
          </p:sp>
        </mc:Choice>
        <mc:Fallback xmlns="">
          <p:sp>
            <p:nvSpPr>
              <p:cNvPr id="14343" name="Rectangle 11">
                <a:extLst>
                  <a:ext uri="{FF2B5EF4-FFF2-40B4-BE49-F238E27FC236}">
                    <a16:creationId xmlns:a16="http://schemas.microsoft.com/office/drawing/2014/main" id="{1F0AD142-C79C-44D5-ACE0-D28B08FCE2CD}"/>
                  </a:ext>
                </a:extLst>
              </p:cNvPr>
              <p:cNvSpPr>
                <a:spLocks noRot="1" noChangeAspect="1" noMove="1" noResize="1" noEditPoints="1" noAdjustHandles="1" noChangeArrowheads="1" noChangeShapeType="1" noTextEdit="1"/>
              </p:cNvSpPr>
              <p:nvPr/>
            </p:nvSpPr>
            <p:spPr bwMode="auto">
              <a:xfrm>
                <a:off x="720940" y="2003748"/>
                <a:ext cx="3711593" cy="508473"/>
              </a:xfrm>
              <a:prstGeom prst="rect">
                <a:avLst/>
              </a:prstGeom>
              <a:blipFill>
                <a:blip r:embed="rId2"/>
                <a:stretch>
                  <a:fillRect l="-493" b="-2771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lg"/>
                  </a14:hiddenLine>
                </a:ext>
              </a:extLst>
            </p:spPr>
            <p:txBody>
              <a:bodyPr/>
              <a:lstStyle/>
              <a:p>
                <a:r>
                  <a:rPr lang="en-US">
                    <a:noFill/>
                  </a:rPr>
                  <a:t> </a:t>
                </a:r>
              </a:p>
            </p:txBody>
          </p:sp>
        </mc:Fallback>
      </mc:AlternateContent>
      <p:sp>
        <p:nvSpPr>
          <p:cNvPr id="14344" name="标题 1">
            <a:extLst>
              <a:ext uri="{FF2B5EF4-FFF2-40B4-BE49-F238E27FC236}">
                <a16:creationId xmlns:a16="http://schemas.microsoft.com/office/drawing/2014/main" id="{1803A5D4-1D6F-4FF8-A656-EE31333FF6AF}"/>
              </a:ext>
            </a:extLst>
          </p:cNvPr>
          <p:cNvSpPr>
            <a:spLocks noGrp="1"/>
          </p:cNvSpPr>
          <p:nvPr>
            <p:ph type="title"/>
          </p:nvPr>
        </p:nvSpPr>
        <p:spPr/>
        <p:txBody>
          <a:bodyPr/>
          <a:lstStyle/>
          <a:p>
            <a:r>
              <a:rPr lang="en-US" altLang="zh-CN"/>
              <a:t>2.3 </a:t>
            </a:r>
            <a:r>
              <a:rPr lang="zh-CN" altLang="en-US"/>
              <a:t>线性时不变系统的性质</a:t>
            </a:r>
          </a:p>
        </p:txBody>
      </p:sp>
      <p:sp>
        <p:nvSpPr>
          <p:cNvPr id="4" name="灯片编号占位符 3">
            <a:extLst>
              <a:ext uri="{FF2B5EF4-FFF2-40B4-BE49-F238E27FC236}">
                <a16:creationId xmlns:a16="http://schemas.microsoft.com/office/drawing/2014/main" id="{F14DD365-69EF-407C-9340-F3F9BBFAAE7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4029A25-F222-4050-8E4F-6746FA308966}"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4346" name="内容占位符 2">
            <a:extLst>
              <a:ext uri="{FF2B5EF4-FFF2-40B4-BE49-F238E27FC236}">
                <a16:creationId xmlns:a16="http://schemas.microsoft.com/office/drawing/2014/main" id="{30F6222A-996C-42DD-AF95-186C384DD259}"/>
              </a:ext>
            </a:extLst>
          </p:cNvPr>
          <p:cNvSpPr>
            <a:spLocks noGrp="1"/>
          </p:cNvSpPr>
          <p:nvPr>
            <p:ph idx="1"/>
          </p:nvPr>
        </p:nvSpPr>
        <p:spPr>
          <a:xfrm>
            <a:off x="457200" y="1357313"/>
            <a:ext cx="8229600" cy="461665"/>
          </a:xfrm>
        </p:spPr>
        <p:txBody>
          <a:bodyPr>
            <a:spAutoFit/>
          </a:bodyPr>
          <a:lstStyle/>
          <a:p>
            <a:r>
              <a:rPr lang="zh-CN" altLang="en-US" sz="2400" b="0" dirty="0">
                <a:solidFill>
                  <a:srgbClr val="FF0000"/>
                </a:solidFill>
              </a:rPr>
              <a:t>卷积和</a:t>
            </a:r>
            <a:r>
              <a:rPr lang="zh-CN" altLang="en-US" sz="2400" b="0" dirty="0"/>
              <a:t>满足</a:t>
            </a:r>
            <a:r>
              <a:rPr lang="zh-CN" altLang="en-US" sz="2400" b="0" dirty="0">
                <a:solidFill>
                  <a:srgbClr val="FF0000"/>
                </a:solidFill>
              </a:rPr>
              <a:t>差分</a:t>
            </a:r>
            <a:r>
              <a:rPr lang="zh-CN" altLang="en-US" sz="2400" b="0" dirty="0"/>
              <a:t>、</a:t>
            </a:r>
            <a:r>
              <a:rPr lang="zh-CN" altLang="en-US" sz="2400" b="0" dirty="0">
                <a:solidFill>
                  <a:srgbClr val="FF0000"/>
                </a:solidFill>
              </a:rPr>
              <a:t>求和</a:t>
            </a:r>
            <a:r>
              <a:rPr lang="zh-CN" altLang="en-US" sz="2400" b="0" dirty="0"/>
              <a:t>及</a:t>
            </a:r>
            <a:r>
              <a:rPr lang="zh-CN" altLang="en-US" sz="2400" b="0" dirty="0">
                <a:solidFill>
                  <a:srgbClr val="FF0000"/>
                </a:solidFill>
              </a:rPr>
              <a:t>时移</a:t>
            </a:r>
            <a:r>
              <a:rPr lang="zh-CN" altLang="en-US" sz="2400" b="0" dirty="0"/>
              <a:t>特性：</a:t>
            </a:r>
          </a:p>
        </p:txBody>
      </p:sp>
      <mc:AlternateContent xmlns:mc="http://schemas.openxmlformats.org/markup-compatibility/2006" xmlns:a14="http://schemas.microsoft.com/office/drawing/2010/main">
        <mc:Choice Requires="a14">
          <p:sp>
            <p:nvSpPr>
              <p:cNvPr id="14339" name="Object 10">
                <a:extLst>
                  <a:ext uri="{FF2B5EF4-FFF2-40B4-BE49-F238E27FC236}">
                    <a16:creationId xmlns:a16="http://schemas.microsoft.com/office/drawing/2014/main" id="{1288635B-1307-4F86-AA35-E81EB9A43CCC}"/>
                  </a:ext>
                </a:extLst>
              </p:cNvPr>
              <p:cNvSpPr txBox="1"/>
              <p:nvPr/>
            </p:nvSpPr>
            <p:spPr bwMode="auto">
              <a:xfrm>
                <a:off x="1282700" y="4056552"/>
                <a:ext cx="7321748" cy="1100558"/>
              </a:xfrm>
              <a:prstGeom prst="rect">
                <a:avLst/>
              </a:prstGeom>
              <a:no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d>
                        <m:dPr>
                          <m:ctrlPr>
                            <a:rPr lang="en-US" sz="2400" i="1" smtClean="0">
                              <a:solidFill>
                                <a:srgbClr val="FF0000"/>
                              </a:solidFill>
                              <a:latin typeface="Cambria Math" panose="02040503050406030204" pitchFamily="18" charset="0"/>
                            </a:rPr>
                          </m:ctrlPr>
                        </m:dPr>
                        <m:e>
                          <m:nary>
                            <m:naryPr>
                              <m:chr m:val="∑"/>
                              <m:ctrlPr>
                                <a:rPr lang="en-US" sz="2400" i="1">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𝑘</m:t>
                              </m:r>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𝑛</m:t>
                              </m:r>
                            </m:sup>
                            <m:e>
                              <m:r>
                                <a:rPr lang="en-US" sz="2400" i="1">
                                  <a:solidFill>
                                    <a:srgbClr val="FF0000"/>
                                  </a:solidFill>
                                  <a:latin typeface="Cambria Math" panose="02040503050406030204" pitchFamily="18" charset="0"/>
                                </a:rPr>
                                <m:t>𝑥</m:t>
                              </m:r>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𝑘</m:t>
                              </m:r>
                              <m:r>
                                <a:rPr lang="en-US" sz="2400" i="1" smtClean="0">
                                  <a:solidFill>
                                    <a:srgbClr val="FF0000"/>
                                  </a:solidFill>
                                  <a:latin typeface="Cambria Math" panose="02040503050406030204" pitchFamily="18" charset="0"/>
                                </a:rPr>
                                <m:t>]</m:t>
                              </m:r>
                            </m:e>
                          </m:nary>
                        </m:e>
                      </m:d>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h</m:t>
                      </m:r>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𝑛</m:t>
                      </m:r>
                      <m:r>
                        <a:rPr lang="en-US" sz="240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𝑥</m:t>
                      </m:r>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𝑛</m:t>
                      </m:r>
                      <m:r>
                        <a:rPr lang="en-US" sz="2400" i="1" smtClean="0">
                          <a:solidFill>
                            <a:srgbClr val="FF0000"/>
                          </a:solidFill>
                          <a:latin typeface="Cambria Math" panose="02040503050406030204" pitchFamily="18" charset="0"/>
                        </a:rPr>
                        <m:t>]∗</m:t>
                      </m:r>
                      <m:d>
                        <m:dPr>
                          <m:ctrlPr>
                            <a:rPr lang="en-US" sz="2400" i="1" smtClean="0">
                              <a:solidFill>
                                <a:srgbClr val="FF0000"/>
                              </a:solidFill>
                              <a:latin typeface="Cambria Math" panose="02040503050406030204" pitchFamily="18" charset="0"/>
                            </a:rPr>
                          </m:ctrlPr>
                        </m:dPr>
                        <m:e>
                          <m:nary>
                            <m:naryPr>
                              <m:chr m:val="∑"/>
                              <m:ctrlPr>
                                <a:rPr lang="en-US" sz="2400" i="1">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𝑘</m:t>
                              </m:r>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𝑛</m:t>
                              </m:r>
                            </m:sup>
                            <m:e>
                              <m:r>
                                <a:rPr lang="en-US" sz="2400" i="1">
                                  <a:solidFill>
                                    <a:srgbClr val="FF0000"/>
                                  </a:solidFill>
                                  <a:latin typeface="Cambria Math" panose="02040503050406030204" pitchFamily="18" charset="0"/>
                                </a:rPr>
                                <m:t>h</m:t>
                              </m:r>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𝑘</m:t>
                              </m:r>
                              <m:r>
                                <a:rPr lang="en-US" sz="2400" i="1" smtClean="0">
                                  <a:solidFill>
                                    <a:srgbClr val="FF0000"/>
                                  </a:solidFill>
                                  <a:latin typeface="Cambria Math" panose="02040503050406030204" pitchFamily="18" charset="0"/>
                                </a:rPr>
                                <m:t>]</m:t>
                              </m:r>
                            </m:e>
                          </m:nary>
                        </m:e>
                      </m:d>
                      <m:r>
                        <a:rPr lang="en-US" sz="2400" i="1">
                          <a:solidFill>
                            <a:srgbClr val="FF0000"/>
                          </a:solidFill>
                          <a:latin typeface="Cambria Math" panose="02040503050406030204" pitchFamily="18" charset="0"/>
                        </a:rPr>
                        <m:t>=</m:t>
                      </m:r>
                      <m:nary>
                        <m:naryPr>
                          <m:chr m:val="∑"/>
                          <m:ctrlPr>
                            <a:rPr lang="en-US" sz="2400" i="1">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𝑘</m:t>
                          </m:r>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𝑛</m:t>
                          </m:r>
                        </m:sup>
                        <m:e>
                          <m:r>
                            <a:rPr lang="en-US" sz="2400" i="1">
                              <a:solidFill>
                                <a:srgbClr val="FF0000"/>
                              </a:solidFill>
                              <a:latin typeface="Cambria Math" panose="02040503050406030204" pitchFamily="18" charset="0"/>
                            </a:rPr>
                            <m:t>𝑦</m:t>
                          </m:r>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𝑘</m:t>
                          </m:r>
                          <m:r>
                            <a:rPr lang="en-US" sz="2400" i="1" smtClean="0">
                              <a:solidFill>
                                <a:srgbClr val="FF0000"/>
                              </a:solidFill>
                              <a:latin typeface="Cambria Math" panose="02040503050406030204" pitchFamily="18" charset="0"/>
                            </a:rPr>
                            <m:t>]</m:t>
                          </m:r>
                        </m:e>
                      </m:nary>
                    </m:oMath>
                  </m:oMathPara>
                </a14:m>
                <a:endParaRPr lang="en-US" sz="2400" dirty="0">
                  <a:solidFill>
                    <a:srgbClr val="FF0000"/>
                  </a:solidFill>
                </a:endParaRPr>
              </a:p>
            </p:txBody>
          </p:sp>
        </mc:Choice>
        <mc:Fallback xmlns="">
          <p:sp>
            <p:nvSpPr>
              <p:cNvPr id="14339" name="Object 10">
                <a:extLst>
                  <a:ext uri="{FF2B5EF4-FFF2-40B4-BE49-F238E27FC236}">
                    <a16:creationId xmlns:a16="http://schemas.microsoft.com/office/drawing/2014/main" id="{1288635B-1307-4F86-AA35-E81EB9A43CCC}"/>
                  </a:ext>
                </a:extLst>
              </p:cNvPr>
              <p:cNvSpPr txBox="1">
                <a:spLocks noRot="1" noChangeAspect="1" noMove="1" noResize="1" noEditPoints="1" noAdjustHandles="1" noChangeArrowheads="1" noChangeShapeType="1" noTextEdit="1"/>
              </p:cNvSpPr>
              <p:nvPr/>
            </p:nvSpPr>
            <p:spPr bwMode="auto">
              <a:xfrm>
                <a:off x="1282700" y="4056552"/>
                <a:ext cx="7321748" cy="1100558"/>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340" name="Object 12">
                <a:extLst>
                  <a:ext uri="{FF2B5EF4-FFF2-40B4-BE49-F238E27FC236}">
                    <a16:creationId xmlns:a16="http://schemas.microsoft.com/office/drawing/2014/main" id="{506CDAE9-FA42-4A8A-B54E-50B4409A7F46}"/>
                  </a:ext>
                </a:extLst>
              </p:cNvPr>
              <p:cNvSpPr txBox="1"/>
              <p:nvPr/>
            </p:nvSpPr>
            <p:spPr bwMode="auto">
              <a:xfrm>
                <a:off x="1487326" y="2777965"/>
                <a:ext cx="6901098" cy="876074"/>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d>
                        <m:dPr>
                          <m:ctrlPr>
                            <a:rPr lang="en-US" sz="2400" b="0" i="1" smtClean="0">
                              <a:solidFill>
                                <a:srgbClr val="FF0000"/>
                              </a:solidFill>
                              <a:latin typeface="Cambria Math" panose="02040503050406030204" pitchFamily="18" charset="0"/>
                            </a:rPr>
                          </m:ctrlPr>
                        </m:dPr>
                        <m:e>
                          <m:r>
                            <a:rPr lang="en-US" sz="2400" i="1" smtClean="0">
                              <a:solidFill>
                                <a:srgbClr val="FF0000"/>
                              </a:solidFill>
                              <a:latin typeface="Cambria Math" panose="02040503050406030204" pitchFamily="18" charset="0"/>
                            </a:rPr>
                            <m:t>𝑥</m:t>
                          </m:r>
                          <m:d>
                            <m:dPr>
                              <m:begChr m:val="["/>
                              <m:endChr m:val="]"/>
                              <m:ctrlPr>
                                <a:rPr lang="en-US" sz="2400" i="1" smtClean="0">
                                  <a:solidFill>
                                    <a:srgbClr val="FF0000"/>
                                  </a:solidFill>
                                  <a:latin typeface="Cambria Math" panose="02040503050406030204" pitchFamily="18" charset="0"/>
                                </a:rPr>
                              </m:ctrlPr>
                            </m:dPr>
                            <m:e>
                              <m:r>
                                <a:rPr lang="en-US" sz="2400" i="1" smtClean="0">
                                  <a:solidFill>
                                    <a:srgbClr val="FF0000"/>
                                  </a:solidFill>
                                  <a:latin typeface="Cambria Math" panose="02040503050406030204" pitchFamily="18" charset="0"/>
                                </a:rPr>
                                <m:t>𝑛</m:t>
                              </m:r>
                            </m:e>
                          </m:d>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𝑥</m:t>
                          </m:r>
                          <m:d>
                            <m:dPr>
                              <m:begChr m:val="["/>
                              <m:endChr m:val="]"/>
                              <m:ctrlPr>
                                <a:rPr lang="en-US" sz="2400" b="0" i="1" smtClean="0">
                                  <a:solidFill>
                                    <a:srgbClr val="FF0000"/>
                                  </a:solidFill>
                                  <a:latin typeface="Cambria Math" panose="02040503050406030204" pitchFamily="18" charset="0"/>
                                </a:rPr>
                              </m:ctrlPr>
                            </m:dPr>
                            <m:e>
                              <m:r>
                                <a:rPr lang="en-US" sz="2400" i="1" smtClean="0">
                                  <a:solidFill>
                                    <a:srgbClr val="FF0000"/>
                                  </a:solidFill>
                                  <a:latin typeface="Cambria Math" panose="02040503050406030204" pitchFamily="18" charset="0"/>
                                </a:rPr>
                                <m:t>𝑛</m:t>
                              </m:r>
                              <m:r>
                                <a:rPr lang="en-US" sz="2400" i="1" smtClean="0">
                                  <a:solidFill>
                                    <a:srgbClr val="FF0000"/>
                                  </a:solidFill>
                                  <a:latin typeface="Cambria Math" panose="02040503050406030204" pitchFamily="18" charset="0"/>
                                </a:rPr>
                                <m:t>−1</m:t>
                              </m:r>
                            </m:e>
                          </m:d>
                        </m:e>
                      </m:d>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h</m:t>
                      </m:r>
                      <m:d>
                        <m:dPr>
                          <m:begChr m:val="["/>
                          <m:endChr m:val="]"/>
                          <m:ctrlPr>
                            <a:rPr lang="en-US" sz="2400" i="1" smtClean="0">
                              <a:solidFill>
                                <a:srgbClr val="FF0000"/>
                              </a:solidFill>
                              <a:latin typeface="Cambria Math" panose="02040503050406030204" pitchFamily="18" charset="0"/>
                            </a:rPr>
                          </m:ctrlPr>
                        </m:dPr>
                        <m:e>
                          <m:r>
                            <a:rPr lang="en-US" sz="2400" i="1" smtClean="0">
                              <a:solidFill>
                                <a:srgbClr val="FF0000"/>
                              </a:solidFill>
                              <a:latin typeface="Cambria Math" panose="02040503050406030204" pitchFamily="18" charset="0"/>
                            </a:rPr>
                            <m:t>𝑛</m:t>
                          </m:r>
                        </m:e>
                      </m:d>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𝑥</m:t>
                      </m:r>
                      <m:d>
                        <m:dPr>
                          <m:begChr m:val="["/>
                          <m:endChr m:val="]"/>
                          <m:ctrlPr>
                            <a:rPr lang="en-US" sz="2400" i="1" smtClean="0">
                              <a:solidFill>
                                <a:srgbClr val="FF0000"/>
                              </a:solidFill>
                              <a:latin typeface="Cambria Math" panose="02040503050406030204" pitchFamily="18" charset="0"/>
                            </a:rPr>
                          </m:ctrlPr>
                        </m:dPr>
                        <m:e>
                          <m:r>
                            <a:rPr lang="en-US" sz="2400" i="1" smtClean="0">
                              <a:solidFill>
                                <a:srgbClr val="FF0000"/>
                              </a:solidFill>
                              <a:latin typeface="Cambria Math" panose="02040503050406030204" pitchFamily="18" charset="0"/>
                            </a:rPr>
                            <m:t>𝑛</m:t>
                          </m:r>
                        </m:e>
                      </m:d>
                      <m:r>
                        <a:rPr lang="en-US" sz="240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h</m:t>
                      </m:r>
                      <m:d>
                        <m:dPr>
                          <m:begChr m:val="["/>
                          <m:endChr m:val="]"/>
                          <m:ctrlPr>
                            <a:rPr lang="en-US" sz="2400" i="1">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𝑛</m:t>
                          </m:r>
                        </m:e>
                      </m:d>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h</m:t>
                      </m:r>
                      <m:r>
                        <a:rPr lang="en-US" sz="2400" b="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𝑛</m:t>
                      </m:r>
                      <m:r>
                        <a:rPr lang="en-US" sz="2400" i="1">
                          <a:solidFill>
                            <a:srgbClr val="FF0000"/>
                          </a:solidFill>
                          <a:latin typeface="Cambria Math" panose="02040503050406030204" pitchFamily="18" charset="0"/>
                        </a:rPr>
                        <m:t>−1])</m:t>
                      </m:r>
                    </m:oMath>
                    <m:oMath xmlns:m="http://schemas.openxmlformats.org/officeDocument/2006/math">
                      <m:r>
                        <a:rPr lang="en-US" sz="2400" i="1">
                          <a:solidFill>
                            <a:srgbClr val="FF0000"/>
                          </a:solidFill>
                          <a:latin typeface="Cambria Math" panose="02040503050406030204" pitchFamily="18" charset="0"/>
                        </a:rPr>
                        <m:t>        </m:t>
                      </m:r>
                      <m:r>
                        <a:rPr lang="en-US" sz="2400" b="0" i="1">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 =</m:t>
                      </m:r>
                      <m:r>
                        <a:rPr lang="en-US" sz="2400" i="1">
                          <a:solidFill>
                            <a:srgbClr val="FF0000"/>
                          </a:solidFill>
                          <a:latin typeface="Cambria Math" panose="02040503050406030204" pitchFamily="18" charset="0"/>
                        </a:rPr>
                        <m:t>𝑦</m:t>
                      </m:r>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𝑛</m:t>
                      </m:r>
                      <m:r>
                        <a:rPr lang="en-US" sz="240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𝑦</m:t>
                      </m:r>
                      <m:r>
                        <a:rPr lang="en-US" sz="2400" b="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𝑛</m:t>
                      </m:r>
                      <m:r>
                        <a:rPr lang="en-US" sz="2400" i="1">
                          <a:solidFill>
                            <a:srgbClr val="FF0000"/>
                          </a:solidFill>
                          <a:latin typeface="Cambria Math" panose="02040503050406030204" pitchFamily="18" charset="0"/>
                        </a:rPr>
                        <m:t>−1]</m:t>
                      </m:r>
                    </m:oMath>
                  </m:oMathPara>
                </a14:m>
                <a:endParaRPr lang="en-US" sz="2400" dirty="0">
                  <a:solidFill>
                    <a:srgbClr val="FF0000"/>
                  </a:solidFill>
                </a:endParaRPr>
              </a:p>
            </p:txBody>
          </p:sp>
        </mc:Choice>
        <mc:Fallback xmlns="">
          <p:sp>
            <p:nvSpPr>
              <p:cNvPr id="14340" name="Object 12">
                <a:extLst>
                  <a:ext uri="{FF2B5EF4-FFF2-40B4-BE49-F238E27FC236}">
                    <a16:creationId xmlns:a16="http://schemas.microsoft.com/office/drawing/2014/main" id="{506CDAE9-FA42-4A8A-B54E-50B4409A7F46}"/>
                  </a:ext>
                </a:extLst>
              </p:cNvPr>
              <p:cNvSpPr txBox="1">
                <a:spLocks noRot="1" noChangeAspect="1" noMove="1" noResize="1" noEditPoints="1" noAdjustHandles="1" noChangeArrowheads="1" noChangeShapeType="1" noTextEdit="1"/>
              </p:cNvSpPr>
              <p:nvPr/>
            </p:nvSpPr>
            <p:spPr bwMode="auto">
              <a:xfrm>
                <a:off x="1487326" y="2777965"/>
                <a:ext cx="6901098" cy="876074"/>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342" name="Object 5">
                <a:extLst>
                  <a:ext uri="{FF2B5EF4-FFF2-40B4-BE49-F238E27FC236}">
                    <a16:creationId xmlns:a16="http://schemas.microsoft.com/office/drawing/2014/main" id="{67F9235C-FDD2-47EB-B6D3-894DFCF94C16}"/>
                  </a:ext>
                </a:extLst>
              </p:cNvPr>
              <p:cNvSpPr txBox="1"/>
              <p:nvPr/>
            </p:nvSpPr>
            <p:spPr bwMode="auto">
              <a:xfrm>
                <a:off x="1615976" y="5559623"/>
                <a:ext cx="6655196" cy="46166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FF0000"/>
                          </a:solidFill>
                          <a:latin typeface="Cambria Math" panose="02040503050406030204" pitchFamily="18" charset="0"/>
                        </a:rPr>
                        <m:t>𝑥</m:t>
                      </m:r>
                      <m:r>
                        <a:rPr lang="en-US" sz="2400" b="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𝑛</m:t>
                      </m:r>
                      <m:r>
                        <a:rPr lang="en-US" sz="2400" i="1">
                          <a:solidFill>
                            <a:srgbClr val="FF0000"/>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𝑛</m:t>
                          </m:r>
                        </m:e>
                        <m:sub>
                          <m:r>
                            <a:rPr lang="en-US" sz="2400" i="1">
                              <a:solidFill>
                                <a:srgbClr val="FF0000"/>
                              </a:solidFill>
                              <a:latin typeface="Cambria Math" panose="02040503050406030204" pitchFamily="18" charset="0"/>
                            </a:rPr>
                            <m:t>0</m:t>
                          </m:r>
                        </m:sub>
                      </m:sSub>
                      <m:r>
                        <a:rPr lang="en-US" sz="2400" b="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h</m:t>
                      </m:r>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𝑛</m:t>
                      </m:r>
                      <m:r>
                        <a:rPr lang="en-US" sz="240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𝑥</m:t>
                      </m:r>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𝑛</m:t>
                      </m:r>
                      <m:r>
                        <a:rPr lang="en-US" sz="240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h</m:t>
                      </m:r>
                      <m:r>
                        <a:rPr lang="en-US" sz="2400" b="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𝑛</m:t>
                      </m:r>
                      <m:r>
                        <a:rPr lang="en-US" sz="2400" i="1">
                          <a:solidFill>
                            <a:srgbClr val="FF0000"/>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𝑛</m:t>
                          </m:r>
                        </m:e>
                        <m:sub>
                          <m:r>
                            <a:rPr lang="en-US" sz="2400" i="1">
                              <a:solidFill>
                                <a:srgbClr val="FF0000"/>
                              </a:solidFill>
                              <a:latin typeface="Cambria Math" panose="02040503050406030204" pitchFamily="18" charset="0"/>
                            </a:rPr>
                            <m:t>0</m:t>
                          </m:r>
                        </m:sub>
                      </m:sSub>
                      <m:r>
                        <a:rPr lang="en-US" sz="2400" b="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𝑦</m:t>
                      </m:r>
                      <m:r>
                        <a:rPr lang="en-US" sz="2400" b="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𝑛</m:t>
                      </m:r>
                      <m:r>
                        <a:rPr lang="en-US" sz="2400" i="1">
                          <a:solidFill>
                            <a:srgbClr val="FF0000"/>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𝑛</m:t>
                          </m:r>
                        </m:e>
                        <m:sub>
                          <m:r>
                            <a:rPr lang="en-US" sz="2400" i="1">
                              <a:solidFill>
                                <a:srgbClr val="FF0000"/>
                              </a:solidFill>
                              <a:latin typeface="Cambria Math" panose="02040503050406030204" pitchFamily="18" charset="0"/>
                            </a:rPr>
                            <m:t>0</m:t>
                          </m:r>
                        </m:sub>
                      </m:sSub>
                      <m:r>
                        <a:rPr lang="en-US" sz="2400" b="0" i="1" smtClean="0">
                          <a:solidFill>
                            <a:srgbClr val="FF0000"/>
                          </a:solidFill>
                          <a:latin typeface="Cambria Math" panose="02040503050406030204" pitchFamily="18" charset="0"/>
                        </a:rPr>
                        <m:t>]</m:t>
                      </m:r>
                    </m:oMath>
                  </m:oMathPara>
                </a14:m>
                <a:endParaRPr lang="en-US" sz="2400" dirty="0">
                  <a:solidFill>
                    <a:srgbClr val="FF0000"/>
                  </a:solidFill>
                </a:endParaRPr>
              </a:p>
            </p:txBody>
          </p:sp>
        </mc:Choice>
        <mc:Fallback xmlns="">
          <p:sp>
            <p:nvSpPr>
              <p:cNvPr id="14342" name="Object 5">
                <a:extLst>
                  <a:ext uri="{FF2B5EF4-FFF2-40B4-BE49-F238E27FC236}">
                    <a16:creationId xmlns:a16="http://schemas.microsoft.com/office/drawing/2014/main" id="{67F9235C-FDD2-47EB-B6D3-894DFCF94C16}"/>
                  </a:ext>
                </a:extLst>
              </p:cNvPr>
              <p:cNvSpPr txBox="1">
                <a:spLocks noRot="1" noChangeAspect="1" noMove="1" noResize="1" noEditPoints="1" noAdjustHandles="1" noChangeArrowheads="1" noChangeShapeType="1" noTextEdit="1"/>
              </p:cNvSpPr>
              <p:nvPr/>
            </p:nvSpPr>
            <p:spPr bwMode="auto">
              <a:xfrm>
                <a:off x="1615976" y="5559623"/>
                <a:ext cx="6655196" cy="461665"/>
              </a:xfrm>
              <a:prstGeom prst="rect">
                <a:avLst/>
              </a:prstGeom>
              <a:blipFill>
                <a:blip r:embed="rId5"/>
                <a:stretch>
                  <a:fillRect b="-19737"/>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9" name="标题 1">
            <a:extLst>
              <a:ext uri="{FF2B5EF4-FFF2-40B4-BE49-F238E27FC236}">
                <a16:creationId xmlns:a16="http://schemas.microsoft.com/office/drawing/2014/main" id="{0B0BF9E6-57EC-4275-8555-A9A10451ED38}"/>
              </a:ext>
            </a:extLst>
          </p:cNvPr>
          <p:cNvSpPr>
            <a:spLocks noGrp="1"/>
          </p:cNvSpPr>
          <p:nvPr>
            <p:ph type="title"/>
          </p:nvPr>
        </p:nvSpPr>
        <p:spPr/>
        <p:txBody>
          <a:bodyPr/>
          <a:lstStyle/>
          <a:p>
            <a:r>
              <a:rPr lang="en-US" altLang="zh-CN"/>
              <a:t>2.3 </a:t>
            </a:r>
            <a:r>
              <a:rPr lang="zh-CN" altLang="en-US"/>
              <a:t>线性时不变系统的性质</a:t>
            </a:r>
          </a:p>
        </p:txBody>
      </p:sp>
      <mc:AlternateContent xmlns:mc="http://schemas.openxmlformats.org/markup-compatibility/2006" xmlns:a14="http://schemas.microsoft.com/office/drawing/2010/main">
        <mc:Choice Requires="a14">
          <p:sp>
            <p:nvSpPr>
              <p:cNvPr id="15370" name="内容占位符 2">
                <a:extLst>
                  <a:ext uri="{FF2B5EF4-FFF2-40B4-BE49-F238E27FC236}">
                    <a16:creationId xmlns:a16="http://schemas.microsoft.com/office/drawing/2014/main" id="{3A4411C9-8767-4970-8D9F-2D3E73A3A3A3}"/>
                  </a:ext>
                </a:extLst>
              </p:cNvPr>
              <p:cNvSpPr>
                <a:spLocks noGrp="1"/>
              </p:cNvSpPr>
              <p:nvPr>
                <p:ph idx="1"/>
              </p:nvPr>
            </p:nvSpPr>
            <p:spPr>
              <a:xfrm>
                <a:off x="457200" y="1285875"/>
                <a:ext cx="8229600" cy="4183709"/>
              </a:xfrm>
            </p:spPr>
            <p:txBody>
              <a:bodyPr>
                <a:spAutoFit/>
              </a:bodyPr>
              <a:lstStyle/>
              <a:p>
                <a:pPr marL="0" indent="0" algn="just">
                  <a:lnSpc>
                    <a:spcPct val="120000"/>
                  </a:lnSpc>
                  <a:buNone/>
                </a:pPr>
                <a:r>
                  <a:rPr lang="zh-CN" altLang="en-US" sz="2400" b="0" dirty="0"/>
                  <a:t>二</a:t>
                </a:r>
                <a:r>
                  <a:rPr lang="en-US" altLang="zh-CN" sz="2400" b="0" dirty="0"/>
                  <a:t>. LTI</a:t>
                </a:r>
                <a:r>
                  <a:rPr lang="zh-CN" altLang="en-US" sz="2400" b="0" dirty="0"/>
                  <a:t>系统的性质：</a:t>
                </a:r>
                <a:r>
                  <a:rPr lang="en-US" altLang="zh-CN" sz="2400" b="0" dirty="0"/>
                  <a:t>LTI </a:t>
                </a:r>
                <a:r>
                  <a:rPr lang="zh-CN" altLang="en-US" sz="2400" b="0" dirty="0"/>
                  <a:t>系统可以由它的单位冲激</a:t>
                </a:r>
                <a:r>
                  <a:rPr lang="en-US" altLang="zh-CN" sz="2400" b="0" dirty="0"/>
                  <a:t>/</a:t>
                </a:r>
                <a:r>
                  <a:rPr lang="zh-CN" altLang="en-US" sz="2400" b="0" dirty="0"/>
                  <a:t>脉冲响应来表征，因而其特性（记忆性、可逆性、因果性、稳定性）都应在其单位冲激</a:t>
                </a:r>
                <a:r>
                  <a:rPr lang="en-US" altLang="zh-CN" sz="2400" b="0" dirty="0"/>
                  <a:t>/</a:t>
                </a:r>
                <a:r>
                  <a:rPr lang="zh-CN" altLang="en-US" sz="2400" b="0" dirty="0"/>
                  <a:t>脉冲响应中有所体现。</a:t>
                </a:r>
                <a:endParaRPr lang="en-US" altLang="zh-CN" sz="2400" b="0" dirty="0"/>
              </a:p>
              <a:p>
                <a:pPr marL="0" indent="0" algn="just">
                  <a:lnSpc>
                    <a:spcPct val="120000"/>
                  </a:lnSpc>
                  <a:buNone/>
                </a:pPr>
                <a:r>
                  <a:rPr lang="en-US" altLang="zh-CN" sz="2400" b="0" dirty="0"/>
                  <a:t>1. </a:t>
                </a:r>
                <a:r>
                  <a:rPr lang="zh-CN" altLang="en-US" sz="2400" b="0" dirty="0">
                    <a:solidFill>
                      <a:srgbClr val="FF0000"/>
                    </a:solidFill>
                  </a:rPr>
                  <a:t>记忆性</a:t>
                </a:r>
                <a:r>
                  <a:rPr lang="zh-CN" altLang="en-US" sz="2400" b="0" dirty="0"/>
                  <a:t>：先考虑离散时间系统，根据</a:t>
                </a:r>
                <a:endParaRPr lang="en-US" sz="2400" i="1" dirty="0">
                  <a:solidFill>
                    <a:srgbClr val="000000"/>
                  </a:solidFill>
                  <a:latin typeface="Cambria Math" panose="02040503050406030204" pitchFamily="18" charset="0"/>
                </a:endParaRPr>
              </a:p>
              <a:p>
                <a:pPr marL="0" indent="0" algn="just">
                  <a:lnSpc>
                    <a:spcPct val="120000"/>
                  </a:lnSpc>
                  <a:buNone/>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rPr>
                        <m:t>𝑦</m:t>
                      </m:r>
                      <m:r>
                        <a:rPr lang="en-US" sz="2400" b="1"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b="1"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m:t>
                      </m:r>
                      <m:nary>
                        <m:naryPr>
                          <m:chr m:val="∑"/>
                          <m:limLoc m:val="subSup"/>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𝑥</m:t>
                          </m:r>
                          <m:d>
                            <m:dPr>
                              <m:begChr m:val="["/>
                              <m:endChr m:val="]"/>
                              <m:ctrlPr>
                                <a:rPr lang="en-US" sz="2400" b="1" i="1" smtClean="0">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𝑘</m:t>
                              </m:r>
                            </m:e>
                          </m:d>
                          <m:r>
                            <a:rPr lang="en-US" sz="2400" i="1">
                              <a:solidFill>
                                <a:srgbClr val="000000"/>
                              </a:solidFill>
                              <a:latin typeface="Cambria Math" panose="02040503050406030204" pitchFamily="18" charset="0"/>
                            </a:rPr>
                            <m:t>h</m:t>
                          </m:r>
                          <m:r>
                            <a:rPr lang="en-US" sz="2400" b="1"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b="1" i="1" smtClean="0">
                              <a:solidFill>
                                <a:srgbClr val="000000"/>
                              </a:solidFill>
                              <a:latin typeface="Cambria Math" panose="02040503050406030204" pitchFamily="18" charset="0"/>
                            </a:rPr>
                            <m:t>]</m:t>
                          </m:r>
                        </m:e>
                      </m:nary>
                    </m:oMath>
                  </m:oMathPara>
                </a14:m>
                <a:endParaRPr lang="en-US" altLang="zh-CN" sz="2400" b="0" dirty="0"/>
              </a:p>
              <a:p>
                <a:pPr marL="0" indent="0" algn="just">
                  <a:lnSpc>
                    <a:spcPct val="120000"/>
                  </a:lnSpc>
                  <a:buNone/>
                </a:pPr>
                <a:r>
                  <a:rPr lang="zh-CN" altLang="en-US" sz="2400" b="0" dirty="0"/>
                  <a:t>如果系统是无记忆的，则在任何时刻</a:t>
                </a:r>
                <a14:m>
                  <m:oMath xmlns:m="http://schemas.openxmlformats.org/officeDocument/2006/math">
                    <m:r>
                      <a:rPr lang="en-US" sz="2400" i="1">
                        <a:solidFill>
                          <a:srgbClr val="000000"/>
                        </a:solidFill>
                        <a:latin typeface="Cambria Math" panose="02040503050406030204" pitchFamily="18" charset="0"/>
                      </a:rPr>
                      <m:t>𝑛</m:t>
                    </m:r>
                  </m:oMath>
                </a14:m>
                <a:r>
                  <a:rPr lang="zh-CN" altLang="en-US" sz="2400" b="0" dirty="0"/>
                  <a:t>，</a:t>
                </a:r>
                <a14:m>
                  <m:oMath xmlns:m="http://schemas.openxmlformats.org/officeDocument/2006/math">
                    <m:r>
                      <a:rPr lang="en-US" sz="2400" i="1">
                        <a:solidFill>
                          <a:srgbClr val="000000"/>
                        </a:solidFill>
                        <a:latin typeface="Cambria Math" panose="02040503050406030204" pitchFamily="18" charset="0"/>
                      </a:rPr>
                      <m:t>𝑦</m:t>
                    </m:r>
                    <m:r>
                      <a:rPr lang="en-US" sz="2400" b="1"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1" i="1" smtClean="0">
                        <a:solidFill>
                          <a:srgbClr val="000000"/>
                        </a:solidFill>
                        <a:latin typeface="Cambria Math" panose="02040503050406030204" pitchFamily="18" charset="0"/>
                      </a:rPr>
                      <m:t>]</m:t>
                    </m:r>
                  </m:oMath>
                </a14:m>
                <a:r>
                  <a:rPr lang="zh-CN" altLang="en-US" sz="2400" b="0" dirty="0"/>
                  <a:t>都只能和</a:t>
                </a:r>
                <a14:m>
                  <m:oMath xmlns:m="http://schemas.openxmlformats.org/officeDocument/2006/math">
                    <m:r>
                      <a:rPr lang="en-US" sz="2400" i="1">
                        <a:solidFill>
                          <a:srgbClr val="000000"/>
                        </a:solidFill>
                        <a:latin typeface="Cambria Math" panose="02040503050406030204" pitchFamily="18" charset="0"/>
                      </a:rPr>
                      <m:t>𝑛</m:t>
                    </m:r>
                  </m:oMath>
                </a14:m>
                <a:r>
                  <a:rPr lang="zh-CN" altLang="en-US" sz="2400" b="0" dirty="0"/>
                  <a:t>时刻的输入有关，等式右边的和式中只能有</a:t>
                </a:r>
                <a14:m>
                  <m:oMath xmlns:m="http://schemas.openxmlformats.org/officeDocument/2006/math">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oMath>
                </a14:m>
                <a:r>
                  <a:rPr lang="zh-CN" altLang="en-US" sz="2400" b="0" dirty="0"/>
                  <a:t>时的一项非零，即必须有</a:t>
                </a:r>
                <a14:m>
                  <m:oMath xmlns:m="http://schemas.openxmlformats.org/officeDocument/2006/math">
                    <m:r>
                      <a:rPr lang="en-US" sz="2400" i="1">
                        <a:latin typeface="Cambria Math" panose="02040503050406030204" pitchFamily="18" charset="0"/>
                      </a:rPr>
                      <m:t>h</m:t>
                    </m:r>
                    <m:r>
                      <a:rPr lang="en-US" sz="2400" b="0" i="1">
                        <a:latin typeface="Cambria Math" panose="02040503050406030204" pitchFamily="18" charset="0"/>
                      </a:rPr>
                      <m:t>[</m:t>
                    </m:r>
                    <m:r>
                      <a:rPr lang="en-US" sz="2400" i="1">
                        <a:latin typeface="Cambria Math" panose="02040503050406030204" pitchFamily="18" charset="0"/>
                      </a:rPr>
                      <m:t>𝑛</m:t>
                    </m:r>
                    <m:r>
                      <a:rPr lang="en-US" sz="2400" i="1">
                        <a:latin typeface="Cambria Math" panose="02040503050406030204" pitchFamily="18" charset="0"/>
                      </a:rPr>
                      <m:t>−</m:t>
                    </m:r>
                    <m:r>
                      <a:rPr lang="en-US" sz="2400" i="1">
                        <a:latin typeface="Cambria Math" panose="02040503050406030204" pitchFamily="18" charset="0"/>
                      </a:rPr>
                      <m:t>𝑘</m:t>
                    </m:r>
                    <m:r>
                      <a:rPr lang="en-US" sz="2400" b="0" i="1">
                        <a:latin typeface="Cambria Math" panose="02040503050406030204" pitchFamily="18" charset="0"/>
                      </a:rPr>
                      <m:t>]</m:t>
                    </m:r>
                    <m:r>
                      <a:rPr lang="en-US" sz="2400" i="1">
                        <a:latin typeface="Cambria Math" panose="02040503050406030204" pitchFamily="18" charset="0"/>
                      </a:rPr>
                      <m:t>=0, </m:t>
                    </m:r>
                    <m:r>
                      <a:rPr lang="en-US" sz="2400" i="1">
                        <a:latin typeface="Cambria Math" panose="02040503050406030204" pitchFamily="18" charset="0"/>
                      </a:rPr>
                      <m:t>𝑘</m:t>
                    </m:r>
                    <m:r>
                      <a:rPr lang="en-US" sz="2400" i="1">
                        <a:latin typeface="Cambria Math" panose="02040503050406030204" pitchFamily="18" charset="0"/>
                      </a:rPr>
                      <m:t>≠</m:t>
                    </m:r>
                    <m:r>
                      <a:rPr lang="en-US" sz="2400" i="1">
                        <a:latin typeface="Cambria Math" panose="02040503050406030204" pitchFamily="18" charset="0"/>
                      </a:rPr>
                      <m:t>𝑛</m:t>
                    </m:r>
                  </m:oMath>
                </a14:m>
                <a:r>
                  <a:rPr lang="zh-CN" altLang="en-US" sz="2400" b="0" dirty="0"/>
                  <a:t>，也即：</a:t>
                </a:r>
              </a:p>
            </p:txBody>
          </p:sp>
        </mc:Choice>
        <mc:Fallback xmlns="">
          <p:sp>
            <p:nvSpPr>
              <p:cNvPr id="15370" name="内容占位符 2">
                <a:extLst>
                  <a:ext uri="{FF2B5EF4-FFF2-40B4-BE49-F238E27FC236}">
                    <a16:creationId xmlns:a16="http://schemas.microsoft.com/office/drawing/2014/main" id="{3A4411C9-8767-4970-8D9F-2D3E73A3A3A3}"/>
                  </a:ext>
                </a:extLst>
              </p:cNvPr>
              <p:cNvSpPr>
                <a:spLocks noGrp="1" noRot="1" noChangeAspect="1" noMove="1" noResize="1" noEditPoints="1" noAdjustHandles="1" noChangeArrowheads="1" noChangeShapeType="1" noTextEdit="1"/>
              </p:cNvSpPr>
              <p:nvPr>
                <p:ph idx="1"/>
              </p:nvPr>
            </p:nvSpPr>
            <p:spPr>
              <a:xfrm>
                <a:off x="457200" y="1285875"/>
                <a:ext cx="8229600" cy="4183709"/>
              </a:xfrm>
              <a:blipFill>
                <a:blip r:embed="rId2"/>
                <a:stretch>
                  <a:fillRect l="-1111" t="-292" r="-1111" b="-3499"/>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F22CBD8E-42A6-45DE-B68C-5A9CD1877CA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7F40588-2397-40D3-9EC0-F06141F9FE21}"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5368" name="Object 16">
                <a:extLst>
                  <a:ext uri="{FF2B5EF4-FFF2-40B4-BE49-F238E27FC236}">
                    <a16:creationId xmlns:a16="http://schemas.microsoft.com/office/drawing/2014/main" id="{04805E2C-DB48-41B8-BE07-AEE9CDDDB523}"/>
                  </a:ext>
                </a:extLst>
              </p:cNvPr>
              <p:cNvSpPr txBox="1"/>
              <p:nvPr/>
            </p:nvSpPr>
            <p:spPr bwMode="auto">
              <a:xfrm>
                <a:off x="3310035" y="5637536"/>
                <a:ext cx="2523929" cy="550862"/>
              </a:xfrm>
              <a:prstGeom prst="rect">
                <a:avLst/>
              </a:prstGeom>
              <a:solidFill>
                <a:srgbClr val="CCFFFF"/>
              </a:solidFill>
              <a:ln>
                <a:noFill/>
              </a:ln>
              <a:effectLst/>
            </p:spPr>
            <p:txBody>
              <a:bodyPr>
                <a:normAutofit/>
              </a:bodyPr>
              <a:lstStyle/>
              <a:p>
                <a:pPr/>
                <a14:m>
                  <m:oMathPara xmlns:m="http://schemas.openxmlformats.org/officeDocument/2006/math">
                    <m:oMathParaPr>
                      <m:jc m:val="center"/>
                    </m:oMathParaPr>
                    <m:oMath xmlns:m="http://schemas.openxmlformats.org/officeDocument/2006/math">
                      <m:r>
                        <a:rPr lang="en-US" sz="2400" i="1" smtClean="0">
                          <a:solidFill>
                            <a:schemeClr val="tx1"/>
                          </a:solidFill>
                          <a:latin typeface="Cambria Math" panose="02040503050406030204" pitchFamily="18" charset="0"/>
                        </a:rPr>
                        <m:t>h</m:t>
                      </m:r>
                      <m:r>
                        <a:rPr lang="en-US" sz="2400" b="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=0, </m:t>
                      </m:r>
                      <m:r>
                        <a:rPr lang="en-US" sz="2400" i="1" smtClean="0">
                          <a:solidFill>
                            <a:schemeClr val="tx1"/>
                          </a:solidFill>
                          <a:latin typeface="Cambria Math" panose="02040503050406030204" pitchFamily="18" charset="0"/>
                        </a:rPr>
                        <m:t>𝑛</m:t>
                      </m:r>
                      <m:r>
                        <a:rPr lang="en-US" sz="2400" i="1" smtClean="0">
                          <a:solidFill>
                            <a:schemeClr val="tx1"/>
                          </a:solidFill>
                          <a:latin typeface="Cambria Math" panose="02040503050406030204" pitchFamily="18" charset="0"/>
                        </a:rPr>
                        <m:t>≠0</m:t>
                      </m:r>
                    </m:oMath>
                  </m:oMathPara>
                </a14:m>
                <a:endParaRPr lang="en-US" sz="2400" dirty="0">
                  <a:solidFill>
                    <a:schemeClr val="tx1"/>
                  </a:solidFill>
                </a:endParaRPr>
              </a:p>
            </p:txBody>
          </p:sp>
        </mc:Choice>
        <mc:Fallback xmlns="">
          <p:sp>
            <p:nvSpPr>
              <p:cNvPr id="15368" name="Object 16">
                <a:extLst>
                  <a:ext uri="{FF2B5EF4-FFF2-40B4-BE49-F238E27FC236}">
                    <a16:creationId xmlns:a16="http://schemas.microsoft.com/office/drawing/2014/main" id="{04805E2C-DB48-41B8-BE07-AEE9CDDDB523}"/>
                  </a:ext>
                </a:extLst>
              </p:cNvPr>
              <p:cNvSpPr txBox="1">
                <a:spLocks noRot="1" noChangeAspect="1" noMove="1" noResize="1" noEditPoints="1" noAdjustHandles="1" noChangeArrowheads="1" noChangeShapeType="1" noTextEdit="1"/>
              </p:cNvSpPr>
              <p:nvPr/>
            </p:nvSpPr>
            <p:spPr bwMode="auto">
              <a:xfrm>
                <a:off x="3310035" y="5637536"/>
                <a:ext cx="2523929" cy="550862"/>
              </a:xfrm>
              <a:prstGeom prst="rect">
                <a:avLst/>
              </a:prstGeom>
              <a:blipFill>
                <a:blip r:embed="rId3"/>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标题 1">
            <a:extLst>
              <a:ext uri="{FF2B5EF4-FFF2-40B4-BE49-F238E27FC236}">
                <a16:creationId xmlns:a16="http://schemas.microsoft.com/office/drawing/2014/main" id="{B7E17737-F7A3-4816-9551-A09FC685E9A3}"/>
              </a:ext>
            </a:extLst>
          </p:cNvPr>
          <p:cNvSpPr>
            <a:spLocks noGrp="1"/>
          </p:cNvSpPr>
          <p:nvPr>
            <p:ph type="title"/>
          </p:nvPr>
        </p:nvSpPr>
        <p:spPr/>
        <p:txBody>
          <a:bodyPr/>
          <a:lstStyle/>
          <a:p>
            <a:r>
              <a:rPr lang="en-US" altLang="zh-CN"/>
              <a:t>2.3 </a:t>
            </a:r>
            <a:r>
              <a:rPr lang="zh-CN" altLang="en-US"/>
              <a:t>线性时不变系统的性质</a:t>
            </a:r>
          </a:p>
        </p:txBody>
      </p:sp>
      <p:sp>
        <p:nvSpPr>
          <p:cNvPr id="4" name="灯片编号占位符 3">
            <a:extLst>
              <a:ext uri="{FF2B5EF4-FFF2-40B4-BE49-F238E27FC236}">
                <a16:creationId xmlns:a16="http://schemas.microsoft.com/office/drawing/2014/main" id="{7DFFBEB2-0515-4DF6-81ED-5E9F88F5727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30B898B-CD28-4A4B-8F76-4C9B36F8AA26}"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6391" name="Text Box 3">
            <a:extLst>
              <a:ext uri="{FF2B5EF4-FFF2-40B4-BE49-F238E27FC236}">
                <a16:creationId xmlns:a16="http://schemas.microsoft.com/office/drawing/2014/main" id="{3B12E68E-42B7-499A-A515-C035CD9E9898}"/>
              </a:ext>
            </a:extLst>
          </p:cNvPr>
          <p:cNvSpPr txBox="1">
            <a:spLocks noChangeArrowheads="1"/>
          </p:cNvSpPr>
          <p:nvPr/>
        </p:nvSpPr>
        <p:spPr bwMode="auto">
          <a:xfrm>
            <a:off x="539552" y="1376363"/>
            <a:ext cx="66479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所以，</a:t>
            </a:r>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离散时间</a:t>
            </a: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无记忆系统的单位脉冲响应为：</a:t>
            </a:r>
          </a:p>
        </p:txBody>
      </p:sp>
      <mc:AlternateContent xmlns:mc="http://schemas.openxmlformats.org/markup-compatibility/2006" xmlns:a14="http://schemas.microsoft.com/office/drawing/2010/main">
        <mc:Choice Requires="a14">
          <p:sp>
            <p:nvSpPr>
              <p:cNvPr id="16386" name="Object 4">
                <a:extLst>
                  <a:ext uri="{FF2B5EF4-FFF2-40B4-BE49-F238E27FC236}">
                    <a16:creationId xmlns:a16="http://schemas.microsoft.com/office/drawing/2014/main" id="{C638C924-CE92-4AAF-A753-49BF0F326D47}"/>
                  </a:ext>
                </a:extLst>
              </p:cNvPr>
              <p:cNvSpPr txBox="1"/>
              <p:nvPr/>
            </p:nvSpPr>
            <p:spPr bwMode="auto">
              <a:xfrm>
                <a:off x="3534469" y="2086731"/>
                <a:ext cx="2075061" cy="520700"/>
              </a:xfrm>
              <a:prstGeom prst="rect">
                <a:avLst/>
              </a:prstGeom>
              <a:solidFill>
                <a:srgbClr val="CCFFFF"/>
              </a:solidFill>
              <a:ln>
                <a:noFill/>
              </a:ln>
              <a:effectLst/>
            </p:spPr>
            <p:txBody>
              <a:bodyPr>
                <a:normAutofit/>
              </a:bodyPr>
              <a:lstStyle/>
              <a:p>
                <a:pPr/>
                <a14:m>
                  <m:oMathPara xmlns:m="http://schemas.openxmlformats.org/officeDocument/2006/math">
                    <m:oMathParaPr>
                      <m:jc m:val="center"/>
                    </m:oMathParaPr>
                    <m:oMath xmlns:m="http://schemas.openxmlformats.org/officeDocument/2006/math">
                      <m:r>
                        <a:rPr lang="en-US" sz="2400" b="0" i="1" smtClean="0">
                          <a:solidFill>
                            <a:srgbClr val="FF0000"/>
                          </a:solidFill>
                          <a:latin typeface="Cambria Math" panose="02040503050406030204" pitchFamily="18" charset="0"/>
                        </a:rPr>
                        <m:t>h</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𝑛</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𝑘</m:t>
                      </m:r>
                      <m:r>
                        <a:rPr lang="en-US" sz="2400" b="0" i="1" smtClean="0">
                          <a:solidFill>
                            <a:srgbClr val="FF0000"/>
                          </a:solidFill>
                          <a:latin typeface="Cambria Math" panose="02040503050406030204" pitchFamily="18" charset="0"/>
                        </a:rPr>
                        <m:t>𝛿</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𝑛</m:t>
                      </m:r>
                      <m:r>
                        <a:rPr lang="en-US" sz="2400" b="0" i="1" smtClean="0">
                          <a:solidFill>
                            <a:srgbClr val="FF0000"/>
                          </a:solidFill>
                          <a:latin typeface="Cambria Math" panose="02040503050406030204" pitchFamily="18" charset="0"/>
                        </a:rPr>
                        <m:t>]</m:t>
                      </m:r>
                    </m:oMath>
                  </m:oMathPara>
                </a14:m>
                <a:endParaRPr lang="en-US" sz="2400" dirty="0">
                  <a:solidFill>
                    <a:srgbClr val="FF0000"/>
                  </a:solidFill>
                </a:endParaRPr>
              </a:p>
            </p:txBody>
          </p:sp>
        </mc:Choice>
        <mc:Fallback xmlns="">
          <p:sp>
            <p:nvSpPr>
              <p:cNvPr id="16386" name="Object 4">
                <a:extLst>
                  <a:ext uri="{FF2B5EF4-FFF2-40B4-BE49-F238E27FC236}">
                    <a16:creationId xmlns:a16="http://schemas.microsoft.com/office/drawing/2014/main" id="{C638C924-CE92-4AAF-A753-49BF0F326D47}"/>
                  </a:ext>
                </a:extLst>
              </p:cNvPr>
              <p:cNvSpPr txBox="1">
                <a:spLocks noRot="1" noChangeAspect="1" noMove="1" noResize="1" noEditPoints="1" noAdjustHandles="1" noChangeArrowheads="1" noChangeShapeType="1" noTextEdit="1"/>
              </p:cNvSpPr>
              <p:nvPr/>
            </p:nvSpPr>
            <p:spPr bwMode="auto">
              <a:xfrm>
                <a:off x="3534469" y="2086731"/>
                <a:ext cx="2075061" cy="520700"/>
              </a:xfrm>
              <a:prstGeom prst="rect">
                <a:avLst/>
              </a:prstGeom>
              <a:blipFill>
                <a:blip r:embed="rId2"/>
                <a:stretch>
                  <a:fillRect b="-5814"/>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393" name="Text Box 11">
                <a:extLst>
                  <a:ext uri="{FF2B5EF4-FFF2-40B4-BE49-F238E27FC236}">
                    <a16:creationId xmlns:a16="http://schemas.microsoft.com/office/drawing/2014/main" id="{5AEC73C4-8F6E-4457-9325-AB3F29F8C893}"/>
                  </a:ext>
                </a:extLst>
              </p:cNvPr>
              <p:cNvSpPr txBox="1">
                <a:spLocks noChangeArrowheads="1"/>
              </p:cNvSpPr>
              <p:nvPr/>
            </p:nvSpPr>
            <p:spPr bwMode="auto">
              <a:xfrm>
                <a:off x="539552" y="5415607"/>
                <a:ext cx="4011483"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当</a:t>
                </a:r>
                <a14:m>
                  <m:oMath xmlns:m="http://schemas.openxmlformats.org/officeDocument/2006/math">
                    <m:r>
                      <a:rPr lang="en-US" sz="2400" b="0" i="1" smtClean="0">
                        <a:solidFill>
                          <a:schemeClr val="tx1"/>
                        </a:solidFill>
                        <a:latin typeface="Cambria Math" panose="02040503050406030204" pitchFamily="18" charset="0"/>
                      </a:rPr>
                      <m:t>𝑘</m:t>
                    </m:r>
                    <m:r>
                      <a:rPr lang="en-US" sz="2400" b="0" i="1" smtClean="0">
                        <a:solidFill>
                          <a:schemeClr val="tx1"/>
                        </a:solidFill>
                        <a:latin typeface="Cambria Math" panose="02040503050406030204" pitchFamily="18" charset="0"/>
                      </a:rPr>
                      <m:t>=1</m:t>
                    </m:r>
                  </m:oMath>
                </a14:m>
                <a:r>
                  <a:rPr kumimoji="0"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时系统是恒等系统。</a:t>
                </a:r>
              </a:p>
            </p:txBody>
          </p:sp>
        </mc:Choice>
        <mc:Fallback xmlns="">
          <p:sp>
            <p:nvSpPr>
              <p:cNvPr id="16393" name="Text Box 11">
                <a:extLst>
                  <a:ext uri="{FF2B5EF4-FFF2-40B4-BE49-F238E27FC236}">
                    <a16:creationId xmlns:a16="http://schemas.microsoft.com/office/drawing/2014/main" id="{5AEC73C4-8F6E-4457-9325-AB3F29F8C893}"/>
                  </a:ext>
                </a:extLst>
              </p:cNvPr>
              <p:cNvSpPr txBox="1">
                <a:spLocks noRot="1" noChangeAspect="1" noMove="1" noResize="1" noEditPoints="1" noAdjustHandles="1" noChangeArrowheads="1" noChangeShapeType="1" noTextEdit="1"/>
              </p:cNvSpPr>
              <p:nvPr/>
            </p:nvSpPr>
            <p:spPr bwMode="auto">
              <a:xfrm>
                <a:off x="539552" y="5415607"/>
                <a:ext cx="4011483" cy="461665"/>
              </a:xfrm>
              <a:prstGeom prst="rect">
                <a:avLst/>
              </a:prstGeom>
              <a:blipFill>
                <a:blip r:embed="rId3"/>
                <a:stretch>
                  <a:fillRect l="-2432" t="-9211" r="-1368" b="-302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394" name="Rectangle 13">
                <a:extLst>
                  <a:ext uri="{FF2B5EF4-FFF2-40B4-BE49-F238E27FC236}">
                    <a16:creationId xmlns:a16="http://schemas.microsoft.com/office/drawing/2014/main" id="{475EFF67-23A2-4F30-9BAF-C56906481ED7}"/>
                  </a:ext>
                </a:extLst>
              </p:cNvPr>
              <p:cNvSpPr>
                <a:spLocks noChangeArrowheads="1"/>
              </p:cNvSpPr>
              <p:nvPr/>
            </p:nvSpPr>
            <p:spPr bwMode="auto">
              <a:xfrm>
                <a:off x="539552" y="4705237"/>
                <a:ext cx="6689075" cy="461665"/>
              </a:xfrm>
              <a:prstGeom prst="rect">
                <a:avLst/>
              </a:prstGeom>
              <a:noFill/>
              <a:ln>
                <a:noFill/>
              </a:ln>
              <a:extLst>
                <a:ext uri="{909E8E84-426E-40DD-AFC4-6F175D3DCCD1}">
                  <a14:hiddenFill>
                    <a:solidFill>
                      <a:srgbClr val="FFFFFF"/>
                    </a:solidFill>
                  </a14:hiddenFill>
                </a:ext>
                <a:ext uri="{91240B29-F687-4F45-9708-019B960494DF}">
                  <a14:hiddenLine w="25400">
                    <a:solidFill>
                      <a:srgbClr val="000000"/>
                    </a:solidFill>
                    <a:miter lim="800000"/>
                    <a:headEnd/>
                    <a:tailEnd type="none" w="sm"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eaLnBrk="1" hangingPunct="1">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此时，</a:t>
                </a:r>
                <a:r>
                  <a:rPr lang="en-US" sz="2400" b="0" dirty="0">
                    <a:solidFill>
                      <a:schemeClr val="tx1"/>
                    </a:solidFill>
                  </a:rPr>
                  <a:t> </a:t>
                </a:r>
                <a14:m>
                  <m:oMath xmlns:m="http://schemas.openxmlformats.org/officeDocument/2006/math">
                    <m:r>
                      <a:rPr lang="en-US" sz="2400" b="0" i="1" smtClean="0">
                        <a:solidFill>
                          <a:schemeClr val="tx1"/>
                        </a:solidFill>
                        <a:latin typeface="Cambria Math" panose="02040503050406030204" pitchFamily="18" charset="0"/>
                      </a:rPr>
                      <m:t>𝑥</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h</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𝑘𝑥</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𝑛</m:t>
                    </m:r>
                    <m:r>
                      <a:rPr lang="en-US" sz="2400" b="0" i="1" smtClean="0">
                        <a:solidFill>
                          <a:schemeClr val="tx1"/>
                        </a:solidFill>
                        <a:latin typeface="Cambria Math" panose="02040503050406030204" pitchFamily="18" charset="0"/>
                      </a:rPr>
                      <m:t>]</m:t>
                    </m:r>
                  </m:oMath>
                </a14:m>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14:m>
                  <m:oMath xmlns:m="http://schemas.openxmlformats.org/officeDocument/2006/math">
                    <m:r>
                      <a:rPr lang="en-US" sz="2400" i="1">
                        <a:latin typeface="Cambria Math" panose="02040503050406030204" pitchFamily="18" charset="0"/>
                      </a:rPr>
                      <m:t>𝑥</m:t>
                    </m:r>
                    <m:r>
                      <a:rPr lang="en-US" sz="2400" i="1">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rPr>
                      <m:t>h</m:t>
                    </m:r>
                    <m:r>
                      <a:rPr lang="en-US" sz="2400" i="1">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rPr>
                      <m:t>𝑘𝑥</m:t>
                    </m:r>
                    <m:r>
                      <a:rPr lang="en-US" sz="2400" i="1">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m:t>
                    </m:r>
                  </m:oMath>
                </a14:m>
                <a:endPar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mc:Choice>
        <mc:Fallback xmlns="">
          <p:sp>
            <p:nvSpPr>
              <p:cNvPr id="16394" name="Rectangle 13">
                <a:extLst>
                  <a:ext uri="{FF2B5EF4-FFF2-40B4-BE49-F238E27FC236}">
                    <a16:creationId xmlns:a16="http://schemas.microsoft.com/office/drawing/2014/main" id="{475EFF67-23A2-4F30-9BAF-C56906481ED7}"/>
                  </a:ext>
                </a:extLst>
              </p:cNvPr>
              <p:cNvSpPr>
                <a:spLocks noRot="1" noChangeAspect="1" noMove="1" noResize="1" noEditPoints="1" noAdjustHandles="1" noChangeArrowheads="1" noChangeShapeType="1" noTextEdit="1"/>
              </p:cNvSpPr>
              <p:nvPr/>
            </p:nvSpPr>
            <p:spPr bwMode="auto">
              <a:xfrm>
                <a:off x="539552" y="4705237"/>
                <a:ext cx="6689075" cy="461665"/>
              </a:xfrm>
              <a:prstGeom prst="rect">
                <a:avLst/>
              </a:prstGeom>
              <a:blipFill>
                <a:blip r:embed="rId4"/>
                <a:stretch>
                  <a:fillRect l="-1459" t="-9211" b="-302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lg"/>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bject 4">
                <a:extLst>
                  <a:ext uri="{FF2B5EF4-FFF2-40B4-BE49-F238E27FC236}">
                    <a16:creationId xmlns:a16="http://schemas.microsoft.com/office/drawing/2014/main" id="{A7A8979C-BD55-44AC-9D06-D4DC89515672}"/>
                  </a:ext>
                </a:extLst>
              </p:cNvPr>
              <p:cNvSpPr txBox="1"/>
              <p:nvPr/>
            </p:nvSpPr>
            <p:spPr bwMode="auto">
              <a:xfrm>
                <a:off x="3635894" y="3935834"/>
                <a:ext cx="1872209" cy="520700"/>
              </a:xfrm>
              <a:prstGeom prst="rect">
                <a:avLst/>
              </a:prstGeom>
              <a:solidFill>
                <a:srgbClr val="CCFFFF"/>
              </a:solidFill>
              <a:ln>
                <a:noFill/>
              </a:ln>
              <a:effectLst/>
            </p:spPr>
            <p:txBody>
              <a:bodyPr>
                <a:normAutofit/>
              </a:bodyPr>
              <a:lstStyle/>
              <a:p>
                <a:pPr/>
                <a14:m>
                  <m:oMathPara xmlns:m="http://schemas.openxmlformats.org/officeDocument/2006/math">
                    <m:oMathParaPr>
                      <m:jc m:val="center"/>
                    </m:oMathParaPr>
                    <m:oMath xmlns:m="http://schemas.openxmlformats.org/officeDocument/2006/math">
                      <m:r>
                        <a:rPr lang="en-US" sz="2400" b="0" i="1" smtClean="0">
                          <a:solidFill>
                            <a:srgbClr val="FF0000"/>
                          </a:solidFill>
                          <a:latin typeface="Cambria Math" panose="02040503050406030204" pitchFamily="18" charset="0"/>
                        </a:rPr>
                        <m:t>h</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𝑡</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𝑘</m:t>
                      </m:r>
                      <m:r>
                        <a:rPr lang="en-US" sz="2400" b="0" i="1" smtClean="0">
                          <a:solidFill>
                            <a:srgbClr val="FF0000"/>
                          </a:solidFill>
                          <a:latin typeface="Cambria Math" panose="02040503050406030204" pitchFamily="18" charset="0"/>
                        </a:rPr>
                        <m:t>𝛿</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𝑡</m:t>
                      </m:r>
                      <m:r>
                        <a:rPr lang="en-US" sz="2400" b="0" i="1" smtClean="0">
                          <a:solidFill>
                            <a:srgbClr val="FF0000"/>
                          </a:solidFill>
                          <a:latin typeface="Cambria Math" panose="02040503050406030204" pitchFamily="18" charset="0"/>
                        </a:rPr>
                        <m:t>)</m:t>
                      </m:r>
                    </m:oMath>
                  </m:oMathPara>
                </a14:m>
                <a:endParaRPr lang="en-US" sz="2400" dirty="0">
                  <a:solidFill>
                    <a:srgbClr val="FF0000"/>
                  </a:solidFill>
                </a:endParaRPr>
              </a:p>
            </p:txBody>
          </p:sp>
        </mc:Choice>
        <mc:Fallback xmlns="">
          <p:sp>
            <p:nvSpPr>
              <p:cNvPr id="17" name="Object 4">
                <a:extLst>
                  <a:ext uri="{FF2B5EF4-FFF2-40B4-BE49-F238E27FC236}">
                    <a16:creationId xmlns:a16="http://schemas.microsoft.com/office/drawing/2014/main" id="{A7A8979C-BD55-44AC-9D06-D4DC89515672}"/>
                  </a:ext>
                </a:extLst>
              </p:cNvPr>
              <p:cNvSpPr txBox="1">
                <a:spLocks noRot="1" noChangeAspect="1" noMove="1" noResize="1" noEditPoints="1" noAdjustHandles="1" noChangeArrowheads="1" noChangeShapeType="1" noTextEdit="1"/>
              </p:cNvSpPr>
              <p:nvPr/>
            </p:nvSpPr>
            <p:spPr bwMode="auto">
              <a:xfrm>
                <a:off x="3635894" y="3935834"/>
                <a:ext cx="1872209" cy="520700"/>
              </a:xfrm>
              <a:prstGeom prst="rect">
                <a:avLst/>
              </a:prstGeom>
              <a:blipFill>
                <a:blip r:embed="rId5"/>
                <a:stretch>
                  <a:fillRect l="-649" r="-2273" b="-7059"/>
                </a:stretch>
              </a:blipFill>
              <a:ln>
                <a:noFill/>
              </a:ln>
              <a:effectLst/>
            </p:spPr>
            <p:txBody>
              <a:bodyPr/>
              <a:lstStyle/>
              <a:p>
                <a:r>
                  <a:rPr lang="en-US">
                    <a:noFill/>
                  </a:rPr>
                  <a:t> </a:t>
                </a:r>
              </a:p>
            </p:txBody>
          </p:sp>
        </mc:Fallback>
      </mc:AlternateContent>
      <p:sp>
        <p:nvSpPr>
          <p:cNvPr id="18" name="Text Box 3">
            <a:extLst>
              <a:ext uri="{FF2B5EF4-FFF2-40B4-BE49-F238E27FC236}">
                <a16:creationId xmlns:a16="http://schemas.microsoft.com/office/drawing/2014/main" id="{3AB82FB8-35EC-469E-A076-A05DB01371C4}"/>
              </a:ext>
            </a:extLst>
          </p:cNvPr>
          <p:cNvSpPr txBox="1">
            <a:spLocks noChangeArrowheads="1"/>
          </p:cNvSpPr>
          <p:nvPr/>
        </p:nvSpPr>
        <p:spPr bwMode="auto">
          <a:xfrm>
            <a:off x="539552" y="2856134"/>
            <a:ext cx="814724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这是</a:t>
            </a:r>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离散时间系统</a:t>
            </a: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无记忆的</a:t>
            </a:r>
            <a:r>
              <a:rPr kumimoji="0" lang="zh-CN" altLang="en-US" sz="24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充要条件</a:t>
            </a: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类似地，连续时间系统</a:t>
            </a: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无记忆的充要条件</a:t>
            </a:r>
            <a:r>
              <a:rPr lang="zh-CN" altLang="en-US" sz="2400" dirty="0">
                <a:latin typeface="Times New Roman" panose="02020603050405020304" pitchFamily="18" charset="0"/>
                <a:ea typeface="华文楷体" panose="02010600040101010101" pitchFamily="2" charset="-122"/>
                <a:cs typeface="楷体_GB2312" panose="02010609030101010101" pitchFamily="49" charset="-122"/>
              </a:rPr>
              <a:t>则为：</a:t>
            </a:r>
            <a:endPar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8" name="标题 1">
            <a:extLst>
              <a:ext uri="{FF2B5EF4-FFF2-40B4-BE49-F238E27FC236}">
                <a16:creationId xmlns:a16="http://schemas.microsoft.com/office/drawing/2014/main" id="{A847AAEA-A9D5-4CE7-84F8-6A77711FC929}"/>
              </a:ext>
            </a:extLst>
          </p:cNvPr>
          <p:cNvSpPr>
            <a:spLocks noGrp="1"/>
          </p:cNvSpPr>
          <p:nvPr>
            <p:ph type="title"/>
          </p:nvPr>
        </p:nvSpPr>
        <p:spPr/>
        <p:txBody>
          <a:bodyPr/>
          <a:lstStyle/>
          <a:p>
            <a:r>
              <a:rPr lang="en-US" altLang="zh-CN"/>
              <a:t>2.3 </a:t>
            </a:r>
            <a:r>
              <a:rPr lang="zh-CN" altLang="en-US"/>
              <a:t>线性时不变系统的性质</a:t>
            </a:r>
          </a:p>
        </p:txBody>
      </p:sp>
      <p:sp>
        <p:nvSpPr>
          <p:cNvPr id="17419" name="内容占位符 2">
            <a:extLst>
              <a:ext uri="{FF2B5EF4-FFF2-40B4-BE49-F238E27FC236}">
                <a16:creationId xmlns:a16="http://schemas.microsoft.com/office/drawing/2014/main" id="{7E383719-ACB4-4C14-A395-DFD193E2790E}"/>
              </a:ext>
            </a:extLst>
          </p:cNvPr>
          <p:cNvSpPr>
            <a:spLocks noGrp="1"/>
          </p:cNvSpPr>
          <p:nvPr>
            <p:ph idx="1"/>
          </p:nvPr>
        </p:nvSpPr>
        <p:spPr>
          <a:xfrm>
            <a:off x="457200" y="1285875"/>
            <a:ext cx="8229600" cy="954107"/>
          </a:xfrm>
        </p:spPr>
        <p:txBody>
          <a:bodyPr wrap="square">
            <a:spAutoFit/>
          </a:bodyPr>
          <a:lstStyle/>
          <a:p>
            <a:pPr marL="0" indent="0" algn="just">
              <a:buNone/>
            </a:pPr>
            <a:r>
              <a:rPr lang="en-US" altLang="zh-CN" sz="2800" b="0" dirty="0"/>
              <a:t>2. </a:t>
            </a:r>
            <a:r>
              <a:rPr lang="zh-CN" altLang="en-US" sz="2800" b="0" dirty="0">
                <a:solidFill>
                  <a:srgbClr val="FF0000"/>
                </a:solidFill>
              </a:rPr>
              <a:t>可逆性</a:t>
            </a:r>
            <a:r>
              <a:rPr lang="zh-CN" altLang="en-US" sz="2800" b="0" dirty="0"/>
              <a:t>：如果</a:t>
            </a:r>
            <a:r>
              <a:rPr lang="en-US" altLang="zh-CN" sz="2800" b="0" dirty="0"/>
              <a:t>LTI</a:t>
            </a:r>
            <a:r>
              <a:rPr lang="zh-CN" altLang="en-US" sz="2800" b="0" dirty="0"/>
              <a:t>系统是可逆的，则其逆系统也是</a:t>
            </a:r>
            <a:r>
              <a:rPr lang="en-US" altLang="zh-CN" sz="2800" b="0" dirty="0"/>
              <a:t>LTI</a:t>
            </a:r>
            <a:r>
              <a:rPr lang="zh-CN" altLang="en-US" sz="2800" b="0" dirty="0" smtClean="0"/>
              <a:t>系统（习题</a:t>
            </a:r>
            <a:r>
              <a:rPr lang="en-US" altLang="zh-CN" sz="2800" b="0" smtClean="0"/>
              <a:t>2.50</a:t>
            </a:r>
            <a:r>
              <a:rPr lang="zh-CN" altLang="en-US" sz="2800" b="0" smtClean="0"/>
              <a:t>）。</a:t>
            </a:r>
            <a:endParaRPr lang="zh-CN" altLang="en-US" sz="2800" b="0" dirty="0"/>
          </a:p>
        </p:txBody>
      </p:sp>
      <p:sp>
        <p:nvSpPr>
          <p:cNvPr id="4" name="灯片编号占位符 3">
            <a:extLst>
              <a:ext uri="{FF2B5EF4-FFF2-40B4-BE49-F238E27FC236}">
                <a16:creationId xmlns:a16="http://schemas.microsoft.com/office/drawing/2014/main" id="{1A86ED07-D7F2-49EE-BE4A-29C587F9273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05A0A70-0D80-4285-B04E-C9895EED3A78}"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7422" name="Text Box 13">
            <a:extLst>
              <a:ext uri="{FF2B5EF4-FFF2-40B4-BE49-F238E27FC236}">
                <a16:creationId xmlns:a16="http://schemas.microsoft.com/office/drawing/2014/main" id="{B644B026-2412-4A04-AB30-3F1D5D4A68B0}"/>
              </a:ext>
            </a:extLst>
          </p:cNvPr>
          <p:cNvSpPr txBox="1">
            <a:spLocks noChangeArrowheads="1"/>
          </p:cNvSpPr>
          <p:nvPr/>
        </p:nvSpPr>
        <p:spPr bwMode="auto">
          <a:xfrm>
            <a:off x="827584" y="4036556"/>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此时有：</a:t>
            </a:r>
          </a:p>
        </p:txBody>
      </p:sp>
      <mc:AlternateContent xmlns:mc="http://schemas.openxmlformats.org/markup-compatibility/2006" xmlns:a14="http://schemas.microsoft.com/office/drawing/2010/main">
        <mc:Choice Requires="a14">
          <p:sp>
            <p:nvSpPr>
              <p:cNvPr id="17410" name="Object 14">
                <a:extLst>
                  <a:ext uri="{FF2B5EF4-FFF2-40B4-BE49-F238E27FC236}">
                    <a16:creationId xmlns:a16="http://schemas.microsoft.com/office/drawing/2014/main" id="{1B254B29-EE35-4ACC-B7FC-E0A78737F2CA}"/>
                  </a:ext>
                </a:extLst>
              </p:cNvPr>
              <p:cNvSpPr txBox="1"/>
              <p:nvPr/>
            </p:nvSpPr>
            <p:spPr bwMode="auto">
              <a:xfrm>
                <a:off x="3388518" y="4464904"/>
                <a:ext cx="2983682" cy="523220"/>
              </a:xfrm>
              <a:prstGeom prst="rect">
                <a:avLst/>
              </a:prstGeom>
              <a:no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r>
                        <a:rPr lang="en-US" sz="2800" i="1" smtClean="0">
                          <a:solidFill>
                            <a:srgbClr val="FF0000"/>
                          </a:solidFill>
                          <a:latin typeface="Cambria Math" panose="02040503050406030204" pitchFamily="18" charset="0"/>
                        </a:rPr>
                        <m:t>h</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𝑡</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𝑔</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𝑡</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𝛿</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𝑡</m:t>
                      </m:r>
                      <m:r>
                        <a:rPr lang="en-US" sz="2800" i="1" smtClean="0">
                          <a:solidFill>
                            <a:srgbClr val="FF0000"/>
                          </a:solidFill>
                          <a:latin typeface="Cambria Math" panose="02040503050406030204" pitchFamily="18" charset="0"/>
                        </a:rPr>
                        <m:t>)</m:t>
                      </m:r>
                    </m:oMath>
                  </m:oMathPara>
                </a14:m>
                <a:endParaRPr lang="en-US" sz="2800" dirty="0">
                  <a:solidFill>
                    <a:srgbClr val="FF0000"/>
                  </a:solidFill>
                </a:endParaRPr>
              </a:p>
            </p:txBody>
          </p:sp>
        </mc:Choice>
        <mc:Fallback xmlns="">
          <p:sp>
            <p:nvSpPr>
              <p:cNvPr id="17410" name="Object 14">
                <a:extLst>
                  <a:ext uri="{FF2B5EF4-FFF2-40B4-BE49-F238E27FC236}">
                    <a16:creationId xmlns:a16="http://schemas.microsoft.com/office/drawing/2014/main" id="{1B254B29-EE35-4ACC-B7FC-E0A78737F2CA}"/>
                  </a:ext>
                </a:extLst>
              </p:cNvPr>
              <p:cNvSpPr txBox="1">
                <a:spLocks noRot="1" noChangeAspect="1" noMove="1" noResize="1" noEditPoints="1" noAdjustHandles="1" noChangeArrowheads="1" noChangeShapeType="1" noTextEdit="1"/>
              </p:cNvSpPr>
              <p:nvPr/>
            </p:nvSpPr>
            <p:spPr bwMode="auto">
              <a:xfrm>
                <a:off x="3388518" y="4464904"/>
                <a:ext cx="2983682" cy="523220"/>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3913C9D6-14B2-492F-A0A1-B10A63D0F36A}"/>
                  </a:ext>
                </a:extLst>
              </p:cNvPr>
              <p:cNvSpPr txBox="1"/>
              <p:nvPr/>
            </p:nvSpPr>
            <p:spPr>
              <a:xfrm>
                <a:off x="3388518" y="5282044"/>
                <a:ext cx="298368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FF0000"/>
                          </a:solidFill>
                          <a:latin typeface="Cambria Math" panose="02040503050406030204" pitchFamily="18" charset="0"/>
                        </a:rPr>
                        <m:t>h</m:t>
                      </m:r>
                      <m:r>
                        <a:rPr lang="en-US" sz="2800" b="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𝑛</m:t>
                      </m:r>
                      <m:r>
                        <a:rPr lang="en-US" sz="2800" b="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𝑔</m:t>
                      </m:r>
                      <m:r>
                        <a:rPr lang="en-US" sz="2800" b="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𝑛</m:t>
                      </m:r>
                      <m:r>
                        <a:rPr lang="en-US" sz="2800" b="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𝛿</m:t>
                      </m:r>
                      <m:r>
                        <a:rPr lang="en-US" sz="2800" b="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𝑛</m:t>
                      </m:r>
                      <m:r>
                        <a:rPr lang="en-US" sz="2800" b="0" i="1" smtClean="0">
                          <a:solidFill>
                            <a:srgbClr val="FF0000"/>
                          </a:solidFill>
                          <a:latin typeface="Cambria Math" panose="02040503050406030204" pitchFamily="18" charset="0"/>
                        </a:rPr>
                        <m:t>]</m:t>
                      </m:r>
                    </m:oMath>
                  </m:oMathPara>
                </a14:m>
                <a:endParaRPr lang="en-US" sz="2800" dirty="0">
                  <a:solidFill>
                    <a:srgbClr val="FF0000"/>
                  </a:solidFill>
                </a:endParaRPr>
              </a:p>
            </p:txBody>
          </p:sp>
        </mc:Choice>
        <mc:Fallback xmlns="">
          <p:sp>
            <p:nvSpPr>
              <p:cNvPr id="38" name="文本框 37">
                <a:extLst>
                  <a:ext uri="{FF2B5EF4-FFF2-40B4-BE49-F238E27FC236}">
                    <a16:creationId xmlns:a16="http://schemas.microsoft.com/office/drawing/2014/main" id="{3913C9D6-14B2-492F-A0A1-B10A63D0F36A}"/>
                  </a:ext>
                </a:extLst>
              </p:cNvPr>
              <p:cNvSpPr txBox="1">
                <a:spLocks noRot="1" noChangeAspect="1" noMove="1" noResize="1" noEditPoints="1" noAdjustHandles="1" noChangeArrowheads="1" noChangeShapeType="1" noTextEdit="1"/>
              </p:cNvSpPr>
              <p:nvPr/>
            </p:nvSpPr>
            <p:spPr>
              <a:xfrm>
                <a:off x="3388518" y="5282044"/>
                <a:ext cx="2983681" cy="523220"/>
              </a:xfrm>
              <a:prstGeom prst="rect">
                <a:avLst/>
              </a:prstGeom>
              <a:blipFill>
                <a:blip r:embed="rId4"/>
                <a:stretch>
                  <a:fillRect/>
                </a:stretch>
              </a:blipFill>
            </p:spPr>
            <p:txBody>
              <a:bodyPr/>
              <a:lstStyle/>
              <a:p>
                <a:r>
                  <a:rPr lang="en-US">
                    <a:noFill/>
                  </a:rPr>
                  <a:t> </a:t>
                </a:r>
              </a:p>
            </p:txBody>
          </p:sp>
        </mc:Fallback>
      </mc:AlternateContent>
      <p:grpSp>
        <p:nvGrpSpPr>
          <p:cNvPr id="20" name="组合 19">
            <a:extLst>
              <a:ext uri="{FF2B5EF4-FFF2-40B4-BE49-F238E27FC236}">
                <a16:creationId xmlns:a16="http://schemas.microsoft.com/office/drawing/2014/main" id="{B3BD992D-72A3-4ACD-A0E5-587655C33759}"/>
              </a:ext>
            </a:extLst>
          </p:cNvPr>
          <p:cNvGrpSpPr/>
          <p:nvPr/>
        </p:nvGrpSpPr>
        <p:grpSpPr>
          <a:xfrm>
            <a:off x="2209590" y="2318466"/>
            <a:ext cx="5185583" cy="1433088"/>
            <a:chOff x="2238860" y="1921487"/>
            <a:chExt cx="5185583" cy="1433088"/>
          </a:xfrm>
        </p:grpSpPr>
        <p:sp>
          <p:nvSpPr>
            <p:cNvPr id="17424" name="Line 3">
              <a:extLst>
                <a:ext uri="{FF2B5EF4-FFF2-40B4-BE49-F238E27FC236}">
                  <a16:creationId xmlns:a16="http://schemas.microsoft.com/office/drawing/2014/main" id="{ECE7FB98-237A-434A-9150-EDD9B84E93AB}"/>
                </a:ext>
              </a:extLst>
            </p:cNvPr>
            <p:cNvSpPr>
              <a:spLocks noChangeShapeType="1"/>
            </p:cNvSpPr>
            <p:nvPr/>
          </p:nvSpPr>
          <p:spPr bwMode="auto">
            <a:xfrm>
              <a:off x="2238860" y="2527971"/>
              <a:ext cx="10800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7425" name="Rectangle 4">
                  <a:extLst>
                    <a:ext uri="{FF2B5EF4-FFF2-40B4-BE49-F238E27FC236}">
                      <a16:creationId xmlns:a16="http://schemas.microsoft.com/office/drawing/2014/main" id="{4D914EE0-B2D8-4108-8927-F61D331D2C83}"/>
                    </a:ext>
                  </a:extLst>
                </p:cNvPr>
                <p:cNvSpPr>
                  <a:spLocks noChangeArrowheads="1"/>
                </p:cNvSpPr>
                <p:nvPr/>
              </p:nvSpPr>
              <p:spPr bwMode="auto">
                <a:xfrm>
                  <a:off x="3320257" y="2239046"/>
                  <a:ext cx="1150938" cy="576262"/>
                </a:xfrm>
                <a:prstGeom prst="rect">
                  <a:avLst/>
                </a:prstGeom>
                <a:solidFill>
                  <a:srgbClr val="CC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lang="en-US" sz="2800" i="1" smtClean="0">
                            <a:solidFill>
                              <a:srgbClr val="000000"/>
                            </a:solidFill>
                            <a:latin typeface="Cambria Math" panose="02040503050406030204" pitchFamily="18" charset="0"/>
                          </a:rPr>
                          <m:t>h</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𝑡</m:t>
                        </m:r>
                        <m:r>
                          <a:rPr lang="en-US" sz="2800" i="1" smtClean="0">
                            <a:solidFill>
                              <a:srgbClr val="000000"/>
                            </a:solidFill>
                            <a:latin typeface="Cambria Math" panose="02040503050406030204" pitchFamily="18" charset="0"/>
                          </a:rPr>
                          <m:t>)</m:t>
                        </m:r>
                      </m:oMath>
                    </m:oMathPara>
                  </a14:m>
                  <a:endParaRPr kumimoji="0" lang="zh-CN" altLang="en-US" sz="28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endParaRPr>
                </a:p>
              </p:txBody>
            </p:sp>
          </mc:Choice>
          <mc:Fallback xmlns="">
            <p:sp>
              <p:nvSpPr>
                <p:cNvPr id="17425" name="Rectangle 4">
                  <a:extLst>
                    <a:ext uri="{FF2B5EF4-FFF2-40B4-BE49-F238E27FC236}">
                      <a16:creationId xmlns:a16="http://schemas.microsoft.com/office/drawing/2014/main" id="{4D914EE0-B2D8-4108-8927-F61D331D2C83}"/>
                    </a:ext>
                  </a:extLst>
                </p:cNvPr>
                <p:cNvSpPr>
                  <a:spLocks noRot="1" noChangeAspect="1" noMove="1" noResize="1" noEditPoints="1" noAdjustHandles="1" noChangeArrowheads="1" noChangeShapeType="1" noTextEdit="1"/>
                </p:cNvSpPr>
                <p:nvPr/>
              </p:nvSpPr>
              <p:spPr bwMode="auto">
                <a:xfrm>
                  <a:off x="3320257" y="2239046"/>
                  <a:ext cx="1150938" cy="576262"/>
                </a:xfrm>
                <a:prstGeom prst="rect">
                  <a:avLst/>
                </a:prstGeom>
                <a:blipFill>
                  <a:blip r:embed="rId5"/>
                  <a:stretch>
                    <a:fillRect/>
                  </a:stretch>
                </a:blipFill>
                <a:ln w="9525">
                  <a:solidFill>
                    <a:schemeClr val="tx1"/>
                  </a:solidFill>
                  <a:miter lim="800000"/>
                  <a:headEnd/>
                  <a:tailEnd/>
                </a:ln>
              </p:spPr>
              <p:txBody>
                <a:bodyPr/>
                <a:lstStyle/>
                <a:p>
                  <a:r>
                    <a:rPr lang="en-US">
                      <a:noFill/>
                    </a:rPr>
                    <a:t> </a:t>
                  </a:r>
                </a:p>
              </p:txBody>
            </p:sp>
          </mc:Fallback>
        </mc:AlternateContent>
        <p:sp>
          <p:nvSpPr>
            <p:cNvPr id="17426" name="Line 5">
              <a:extLst>
                <a:ext uri="{FF2B5EF4-FFF2-40B4-BE49-F238E27FC236}">
                  <a16:creationId xmlns:a16="http://schemas.microsoft.com/office/drawing/2014/main" id="{6B8D3EAF-4499-4982-B414-9DCAEFD4F4C0}"/>
                </a:ext>
              </a:extLst>
            </p:cNvPr>
            <p:cNvSpPr>
              <a:spLocks noChangeShapeType="1"/>
            </p:cNvSpPr>
            <p:nvPr/>
          </p:nvSpPr>
          <p:spPr bwMode="auto">
            <a:xfrm>
              <a:off x="4471194" y="2527971"/>
              <a:ext cx="72072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7427" name="Rectangle 6">
                  <a:extLst>
                    <a:ext uri="{FF2B5EF4-FFF2-40B4-BE49-F238E27FC236}">
                      <a16:creationId xmlns:a16="http://schemas.microsoft.com/office/drawing/2014/main" id="{2380B5C0-C88D-43F2-B2DF-A70567E8F389}"/>
                    </a:ext>
                  </a:extLst>
                </p:cNvPr>
                <p:cNvSpPr>
                  <a:spLocks noChangeArrowheads="1"/>
                </p:cNvSpPr>
                <p:nvPr/>
              </p:nvSpPr>
              <p:spPr bwMode="auto">
                <a:xfrm>
                  <a:off x="5191919" y="2239046"/>
                  <a:ext cx="1150938" cy="576262"/>
                </a:xfrm>
                <a:prstGeom prst="rect">
                  <a:avLst/>
                </a:prstGeom>
                <a:solidFill>
                  <a:srgbClr val="CC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lang="en-US" sz="2800" i="1" smtClean="0">
                            <a:solidFill>
                              <a:srgbClr val="000000"/>
                            </a:solidFill>
                            <a:latin typeface="Cambria Math" panose="02040503050406030204" pitchFamily="18" charset="0"/>
                          </a:rPr>
                          <m:t>𝑔</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𝑡</m:t>
                        </m:r>
                        <m:r>
                          <a:rPr lang="en-US" sz="2800" i="1" smtClean="0">
                            <a:solidFill>
                              <a:srgbClr val="000000"/>
                            </a:solidFill>
                            <a:latin typeface="Cambria Math" panose="02040503050406030204" pitchFamily="18" charset="0"/>
                          </a:rPr>
                          <m:t>)</m:t>
                        </m:r>
                      </m:oMath>
                    </m:oMathPara>
                  </a14:m>
                  <a:endParaRPr kumimoji="0" lang="zh-CN" altLang="en-US" sz="28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endParaRPr>
                </a:p>
              </p:txBody>
            </p:sp>
          </mc:Choice>
          <mc:Fallback xmlns="">
            <p:sp>
              <p:nvSpPr>
                <p:cNvPr id="17427" name="Rectangle 6">
                  <a:extLst>
                    <a:ext uri="{FF2B5EF4-FFF2-40B4-BE49-F238E27FC236}">
                      <a16:creationId xmlns:a16="http://schemas.microsoft.com/office/drawing/2014/main" id="{2380B5C0-C88D-43F2-B2DF-A70567E8F389}"/>
                    </a:ext>
                  </a:extLst>
                </p:cNvPr>
                <p:cNvSpPr>
                  <a:spLocks noRot="1" noChangeAspect="1" noMove="1" noResize="1" noEditPoints="1" noAdjustHandles="1" noChangeArrowheads="1" noChangeShapeType="1" noTextEdit="1"/>
                </p:cNvSpPr>
                <p:nvPr/>
              </p:nvSpPr>
              <p:spPr bwMode="auto">
                <a:xfrm>
                  <a:off x="5191919" y="2239046"/>
                  <a:ext cx="1150938" cy="576262"/>
                </a:xfrm>
                <a:prstGeom prst="rect">
                  <a:avLst/>
                </a:prstGeom>
                <a:blipFill>
                  <a:blip r:embed="rId6"/>
                  <a:stretch>
                    <a:fillRect/>
                  </a:stretch>
                </a:blipFill>
                <a:ln w="9525">
                  <a:solidFill>
                    <a:schemeClr val="tx1"/>
                  </a:solidFill>
                  <a:miter lim="800000"/>
                  <a:headEnd/>
                  <a:tailEnd/>
                </a:ln>
              </p:spPr>
              <p:txBody>
                <a:bodyPr/>
                <a:lstStyle/>
                <a:p>
                  <a:r>
                    <a:rPr lang="en-US">
                      <a:noFill/>
                    </a:rPr>
                    <a:t> </a:t>
                  </a:r>
                </a:p>
              </p:txBody>
            </p:sp>
          </mc:Fallback>
        </mc:AlternateContent>
        <p:sp>
          <p:nvSpPr>
            <p:cNvPr id="17428" name="Line 7">
              <a:extLst>
                <a:ext uri="{FF2B5EF4-FFF2-40B4-BE49-F238E27FC236}">
                  <a16:creationId xmlns:a16="http://schemas.microsoft.com/office/drawing/2014/main" id="{EF5236FF-DF99-4AE0-8774-178673F6E8CF}"/>
                </a:ext>
              </a:extLst>
            </p:cNvPr>
            <p:cNvSpPr>
              <a:spLocks noChangeShapeType="1"/>
            </p:cNvSpPr>
            <p:nvPr/>
          </p:nvSpPr>
          <p:spPr bwMode="auto">
            <a:xfrm>
              <a:off x="6344443" y="2527971"/>
              <a:ext cx="10800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7414" name="Object 8">
                  <a:extLst>
                    <a:ext uri="{FF2B5EF4-FFF2-40B4-BE49-F238E27FC236}">
                      <a16:creationId xmlns:a16="http://schemas.microsoft.com/office/drawing/2014/main" id="{AE72D246-64A2-420E-BA82-7CE7BCA8BF99}"/>
                    </a:ext>
                  </a:extLst>
                </p:cNvPr>
                <p:cNvSpPr txBox="1"/>
                <p:nvPr/>
              </p:nvSpPr>
              <p:spPr bwMode="auto">
                <a:xfrm>
                  <a:off x="2369022" y="1921487"/>
                  <a:ext cx="717550" cy="5207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17414" name="Object 8">
                  <a:extLst>
                    <a:ext uri="{FF2B5EF4-FFF2-40B4-BE49-F238E27FC236}">
                      <a16:creationId xmlns:a16="http://schemas.microsoft.com/office/drawing/2014/main" id="{AE72D246-64A2-420E-BA82-7CE7BCA8BF99}"/>
                    </a:ext>
                  </a:extLst>
                </p:cNvPr>
                <p:cNvSpPr txBox="1">
                  <a:spLocks noRot="1" noChangeAspect="1" noMove="1" noResize="1" noEditPoints="1" noAdjustHandles="1" noChangeArrowheads="1" noChangeShapeType="1" noTextEdit="1"/>
                </p:cNvSpPr>
                <p:nvPr/>
              </p:nvSpPr>
              <p:spPr bwMode="auto">
                <a:xfrm>
                  <a:off x="2369022" y="1921487"/>
                  <a:ext cx="717550" cy="520700"/>
                </a:xfrm>
                <a:prstGeom prst="rect">
                  <a:avLst/>
                </a:prstGeom>
                <a:blipFill>
                  <a:blip r:embed="rId7"/>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415" name="Object 9">
                  <a:extLst>
                    <a:ext uri="{FF2B5EF4-FFF2-40B4-BE49-F238E27FC236}">
                      <a16:creationId xmlns:a16="http://schemas.microsoft.com/office/drawing/2014/main" id="{2F43ABBF-5814-440E-9799-60DFA36F2370}"/>
                    </a:ext>
                  </a:extLst>
                </p:cNvPr>
                <p:cNvSpPr txBox="1"/>
                <p:nvPr/>
              </p:nvSpPr>
              <p:spPr bwMode="auto">
                <a:xfrm>
                  <a:off x="6473478" y="1921487"/>
                  <a:ext cx="717550" cy="5207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17415" name="Object 9">
                  <a:extLst>
                    <a:ext uri="{FF2B5EF4-FFF2-40B4-BE49-F238E27FC236}">
                      <a16:creationId xmlns:a16="http://schemas.microsoft.com/office/drawing/2014/main" id="{2F43ABBF-5814-440E-9799-60DFA36F2370}"/>
                    </a:ext>
                  </a:extLst>
                </p:cNvPr>
                <p:cNvSpPr txBox="1">
                  <a:spLocks noRot="1" noChangeAspect="1" noMove="1" noResize="1" noEditPoints="1" noAdjustHandles="1" noChangeArrowheads="1" noChangeShapeType="1" noTextEdit="1"/>
                </p:cNvSpPr>
                <p:nvPr/>
              </p:nvSpPr>
              <p:spPr bwMode="auto">
                <a:xfrm>
                  <a:off x="6473478" y="1921487"/>
                  <a:ext cx="717550" cy="520700"/>
                </a:xfrm>
                <a:prstGeom prst="rect">
                  <a:avLst/>
                </a:prstGeom>
                <a:blipFill>
                  <a:blip r:embed="rId8"/>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Object 8">
                  <a:extLst>
                    <a:ext uri="{FF2B5EF4-FFF2-40B4-BE49-F238E27FC236}">
                      <a16:creationId xmlns:a16="http://schemas.microsoft.com/office/drawing/2014/main" id="{8044D0EF-EEB0-48D2-81AE-E9B838F8867B}"/>
                    </a:ext>
                  </a:extLst>
                </p:cNvPr>
                <p:cNvSpPr txBox="1"/>
                <p:nvPr/>
              </p:nvSpPr>
              <p:spPr bwMode="auto">
                <a:xfrm>
                  <a:off x="2351608" y="2545919"/>
                  <a:ext cx="717550" cy="5207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smtClean="0">
                            <a:solidFill>
                              <a:srgbClr val="0000FF"/>
                            </a:solidFill>
                            <a:latin typeface="Cambria Math" panose="02040503050406030204" pitchFamily="18" charset="0"/>
                          </a:rPr>
                          <m:t>𝑥</m:t>
                        </m:r>
                        <m:r>
                          <a:rPr lang="en-US" sz="2800" b="0" i="1" smtClean="0">
                            <a:solidFill>
                              <a:srgbClr val="0000FF"/>
                            </a:solidFill>
                            <a:latin typeface="Cambria Math" panose="02040503050406030204" pitchFamily="18" charset="0"/>
                          </a:rPr>
                          <m:t>[</m:t>
                        </m:r>
                        <m:r>
                          <a:rPr lang="en-US" sz="2800" b="0" i="1" smtClean="0">
                            <a:solidFill>
                              <a:srgbClr val="0000FF"/>
                            </a:solidFill>
                            <a:latin typeface="Cambria Math" panose="02040503050406030204" pitchFamily="18" charset="0"/>
                          </a:rPr>
                          <m:t>𝑛</m:t>
                        </m:r>
                        <m:r>
                          <a:rPr lang="en-US" sz="2800" b="0" i="1" smtClean="0">
                            <a:solidFill>
                              <a:srgbClr val="0000FF"/>
                            </a:solidFill>
                            <a:latin typeface="Cambria Math" panose="02040503050406030204" pitchFamily="18" charset="0"/>
                          </a:rPr>
                          <m:t>]</m:t>
                        </m:r>
                      </m:oMath>
                    </m:oMathPara>
                  </a14:m>
                  <a:endParaRPr lang="en-US" sz="2800" dirty="0">
                    <a:solidFill>
                      <a:srgbClr val="0000FF"/>
                    </a:solidFill>
                  </a:endParaRPr>
                </a:p>
              </p:txBody>
            </p:sp>
          </mc:Choice>
          <mc:Fallback xmlns="">
            <p:sp>
              <p:nvSpPr>
                <p:cNvPr id="40" name="Object 8">
                  <a:extLst>
                    <a:ext uri="{FF2B5EF4-FFF2-40B4-BE49-F238E27FC236}">
                      <a16:creationId xmlns:a16="http://schemas.microsoft.com/office/drawing/2014/main" id="{8044D0EF-EEB0-48D2-81AE-E9B838F8867B}"/>
                    </a:ext>
                  </a:extLst>
                </p:cNvPr>
                <p:cNvSpPr txBox="1">
                  <a:spLocks noRot="1" noChangeAspect="1" noMove="1" noResize="1" noEditPoints="1" noAdjustHandles="1" noChangeArrowheads="1" noChangeShapeType="1" noTextEdit="1"/>
                </p:cNvSpPr>
                <p:nvPr/>
              </p:nvSpPr>
              <p:spPr bwMode="auto">
                <a:xfrm>
                  <a:off x="2351608" y="2545919"/>
                  <a:ext cx="717550" cy="520700"/>
                </a:xfrm>
                <a:prstGeom prst="rect">
                  <a:avLst/>
                </a:prstGeom>
                <a:blipFill>
                  <a:blip r:embed="rId9"/>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Object 8">
                  <a:extLst>
                    <a:ext uri="{FF2B5EF4-FFF2-40B4-BE49-F238E27FC236}">
                      <a16:creationId xmlns:a16="http://schemas.microsoft.com/office/drawing/2014/main" id="{A653B2C9-BF25-4A04-A463-69EE2D4E7B90}"/>
                    </a:ext>
                  </a:extLst>
                </p:cNvPr>
                <p:cNvSpPr txBox="1"/>
                <p:nvPr/>
              </p:nvSpPr>
              <p:spPr bwMode="auto">
                <a:xfrm>
                  <a:off x="3501473" y="2824412"/>
                  <a:ext cx="717550" cy="520700"/>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en-US" sz="2800" i="1" smtClean="0">
                            <a:solidFill>
                              <a:srgbClr val="0000FF"/>
                            </a:solidFill>
                            <a:latin typeface="Cambria Math" panose="02040503050406030204" pitchFamily="18" charset="0"/>
                          </a:rPr>
                          <m:t>h</m:t>
                        </m:r>
                        <m:r>
                          <a:rPr lang="en-US" sz="2800" i="1" smtClean="0">
                            <a:solidFill>
                              <a:srgbClr val="0000FF"/>
                            </a:solidFill>
                            <a:latin typeface="Cambria Math" panose="02040503050406030204" pitchFamily="18" charset="0"/>
                          </a:rPr>
                          <m:t>[</m:t>
                        </m:r>
                        <m:r>
                          <a:rPr lang="en-US" sz="2800" i="1" smtClean="0">
                            <a:solidFill>
                              <a:srgbClr val="0000FF"/>
                            </a:solidFill>
                            <a:latin typeface="Cambria Math" panose="02040503050406030204" pitchFamily="18" charset="0"/>
                          </a:rPr>
                          <m:t>𝑛</m:t>
                        </m:r>
                        <m:r>
                          <a:rPr lang="en-US" sz="2800" i="1" smtClean="0">
                            <a:solidFill>
                              <a:srgbClr val="0000FF"/>
                            </a:solidFill>
                            <a:latin typeface="Cambria Math" panose="02040503050406030204" pitchFamily="18" charset="0"/>
                          </a:rPr>
                          <m:t>]</m:t>
                        </m:r>
                      </m:oMath>
                    </m:oMathPara>
                  </a14:m>
                  <a:endParaRPr lang="en-US" sz="2800" dirty="0">
                    <a:solidFill>
                      <a:srgbClr val="0000FF"/>
                    </a:solidFill>
                  </a:endParaRPr>
                </a:p>
              </p:txBody>
            </p:sp>
          </mc:Choice>
          <mc:Fallback xmlns="">
            <p:sp>
              <p:nvSpPr>
                <p:cNvPr id="41" name="Object 8">
                  <a:extLst>
                    <a:ext uri="{FF2B5EF4-FFF2-40B4-BE49-F238E27FC236}">
                      <a16:creationId xmlns:a16="http://schemas.microsoft.com/office/drawing/2014/main" id="{A653B2C9-BF25-4A04-A463-69EE2D4E7B90}"/>
                    </a:ext>
                  </a:extLst>
                </p:cNvPr>
                <p:cNvSpPr txBox="1">
                  <a:spLocks noRot="1" noChangeAspect="1" noMove="1" noResize="1" noEditPoints="1" noAdjustHandles="1" noChangeArrowheads="1" noChangeShapeType="1" noTextEdit="1"/>
                </p:cNvSpPr>
                <p:nvPr/>
              </p:nvSpPr>
              <p:spPr bwMode="auto">
                <a:xfrm>
                  <a:off x="3501473" y="2824412"/>
                  <a:ext cx="717550" cy="520700"/>
                </a:xfrm>
                <a:prstGeom prst="rect">
                  <a:avLst/>
                </a:prstGeom>
                <a:blipFill>
                  <a:blip r:embed="rId10"/>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Object 8">
                  <a:extLst>
                    <a:ext uri="{FF2B5EF4-FFF2-40B4-BE49-F238E27FC236}">
                      <a16:creationId xmlns:a16="http://schemas.microsoft.com/office/drawing/2014/main" id="{0745A48F-D0B6-499A-B220-F3EF05E218C8}"/>
                    </a:ext>
                  </a:extLst>
                </p:cNvPr>
                <p:cNvSpPr txBox="1"/>
                <p:nvPr/>
              </p:nvSpPr>
              <p:spPr bwMode="auto">
                <a:xfrm>
                  <a:off x="5339486" y="2833875"/>
                  <a:ext cx="717550" cy="5207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b="0" i="1" smtClean="0">
                            <a:solidFill>
                              <a:srgbClr val="0000FF"/>
                            </a:solidFill>
                            <a:latin typeface="Cambria Math" panose="02040503050406030204" pitchFamily="18" charset="0"/>
                          </a:rPr>
                          <m:t>𝑔</m:t>
                        </m:r>
                        <m:r>
                          <a:rPr lang="en-US" sz="2800" i="1">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𝑛</m:t>
                        </m:r>
                        <m:r>
                          <a:rPr lang="en-US" sz="2800" i="1">
                            <a:solidFill>
                              <a:srgbClr val="0000FF"/>
                            </a:solidFill>
                            <a:latin typeface="Cambria Math" panose="02040503050406030204" pitchFamily="18" charset="0"/>
                          </a:rPr>
                          <m:t>]</m:t>
                        </m:r>
                      </m:oMath>
                    </m:oMathPara>
                  </a14:m>
                  <a:endParaRPr lang="en-US" sz="2800" dirty="0">
                    <a:solidFill>
                      <a:srgbClr val="0000FF"/>
                    </a:solidFill>
                  </a:endParaRPr>
                </a:p>
              </p:txBody>
            </p:sp>
          </mc:Choice>
          <mc:Fallback xmlns="">
            <p:sp>
              <p:nvSpPr>
                <p:cNvPr id="42" name="Object 8">
                  <a:extLst>
                    <a:ext uri="{FF2B5EF4-FFF2-40B4-BE49-F238E27FC236}">
                      <a16:creationId xmlns:a16="http://schemas.microsoft.com/office/drawing/2014/main" id="{0745A48F-D0B6-499A-B220-F3EF05E218C8}"/>
                    </a:ext>
                  </a:extLst>
                </p:cNvPr>
                <p:cNvSpPr txBox="1">
                  <a:spLocks noRot="1" noChangeAspect="1" noMove="1" noResize="1" noEditPoints="1" noAdjustHandles="1" noChangeArrowheads="1" noChangeShapeType="1" noTextEdit="1"/>
                </p:cNvSpPr>
                <p:nvPr/>
              </p:nvSpPr>
              <p:spPr bwMode="auto">
                <a:xfrm>
                  <a:off x="5339486" y="2833875"/>
                  <a:ext cx="717550" cy="520700"/>
                </a:xfrm>
                <a:prstGeom prst="rect">
                  <a:avLst/>
                </a:prstGeom>
                <a:blipFill>
                  <a:blip r:embed="rId11"/>
                  <a:stretch>
                    <a:fillRect r="-254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Object 8">
                  <a:extLst>
                    <a:ext uri="{FF2B5EF4-FFF2-40B4-BE49-F238E27FC236}">
                      <a16:creationId xmlns:a16="http://schemas.microsoft.com/office/drawing/2014/main" id="{74B1FF3E-D085-47C7-8CBB-B14856C70D5F}"/>
                    </a:ext>
                  </a:extLst>
                </p:cNvPr>
                <p:cNvSpPr txBox="1"/>
                <p:nvPr/>
              </p:nvSpPr>
              <p:spPr bwMode="auto">
                <a:xfrm>
                  <a:off x="6478609" y="2545919"/>
                  <a:ext cx="717550" cy="5207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800" i="1" smtClean="0">
                            <a:solidFill>
                              <a:srgbClr val="0000FF"/>
                            </a:solidFill>
                            <a:latin typeface="Cambria Math" panose="02040503050406030204" pitchFamily="18" charset="0"/>
                          </a:rPr>
                          <m:t>𝑥</m:t>
                        </m:r>
                        <m:r>
                          <a:rPr lang="en-US" sz="2800" b="0" i="1" smtClean="0">
                            <a:solidFill>
                              <a:srgbClr val="0000FF"/>
                            </a:solidFill>
                            <a:latin typeface="Cambria Math" panose="02040503050406030204" pitchFamily="18" charset="0"/>
                          </a:rPr>
                          <m:t>[</m:t>
                        </m:r>
                        <m:r>
                          <a:rPr lang="en-US" sz="2800" b="0" i="1" smtClean="0">
                            <a:solidFill>
                              <a:srgbClr val="0000FF"/>
                            </a:solidFill>
                            <a:latin typeface="Cambria Math" panose="02040503050406030204" pitchFamily="18" charset="0"/>
                          </a:rPr>
                          <m:t>𝑛</m:t>
                        </m:r>
                        <m:r>
                          <a:rPr lang="en-US" sz="2800" b="0" i="1" smtClean="0">
                            <a:solidFill>
                              <a:srgbClr val="0000FF"/>
                            </a:solidFill>
                            <a:latin typeface="Cambria Math" panose="02040503050406030204" pitchFamily="18" charset="0"/>
                          </a:rPr>
                          <m:t>]</m:t>
                        </m:r>
                      </m:oMath>
                    </m:oMathPara>
                  </a14:m>
                  <a:endParaRPr lang="en-US" sz="2800" dirty="0">
                    <a:solidFill>
                      <a:srgbClr val="0000FF"/>
                    </a:solidFill>
                  </a:endParaRPr>
                </a:p>
              </p:txBody>
            </p:sp>
          </mc:Choice>
          <mc:Fallback xmlns="">
            <p:sp>
              <p:nvSpPr>
                <p:cNvPr id="43" name="Object 8">
                  <a:extLst>
                    <a:ext uri="{FF2B5EF4-FFF2-40B4-BE49-F238E27FC236}">
                      <a16:creationId xmlns:a16="http://schemas.microsoft.com/office/drawing/2014/main" id="{74B1FF3E-D085-47C7-8CBB-B14856C70D5F}"/>
                    </a:ext>
                  </a:extLst>
                </p:cNvPr>
                <p:cNvSpPr txBox="1">
                  <a:spLocks noRot="1" noChangeAspect="1" noMove="1" noResize="1" noEditPoints="1" noAdjustHandles="1" noChangeArrowheads="1" noChangeShapeType="1" noTextEdit="1"/>
                </p:cNvSpPr>
                <p:nvPr/>
              </p:nvSpPr>
              <p:spPr bwMode="auto">
                <a:xfrm>
                  <a:off x="6478609" y="2545919"/>
                  <a:ext cx="717550" cy="520700"/>
                </a:xfrm>
                <a:prstGeom prst="rect">
                  <a:avLst/>
                </a:prstGeom>
                <a:blipFill>
                  <a:blip r:embed="rId12"/>
                  <a:stretch>
                    <a:fillRect/>
                  </a:stretch>
                </a:blipFill>
                <a:ln>
                  <a:noFill/>
                </a:ln>
                <a:effectLst/>
              </p:spPr>
              <p:txBody>
                <a:bodyPr/>
                <a:lstStyle/>
                <a:p>
                  <a:r>
                    <a:rPr lang="en-US">
                      <a:noFill/>
                    </a:rPr>
                    <a:t> </a:t>
                  </a:r>
                </a:p>
              </p:txBody>
            </p:sp>
          </mc:Fallback>
        </mc:AlternateContent>
      </p:gr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标题 1">
            <a:extLst>
              <a:ext uri="{FF2B5EF4-FFF2-40B4-BE49-F238E27FC236}">
                <a16:creationId xmlns:a16="http://schemas.microsoft.com/office/drawing/2014/main" id="{FDE60E12-BB64-4A06-9011-F960A248FC81}"/>
              </a:ext>
            </a:extLst>
          </p:cNvPr>
          <p:cNvSpPr>
            <a:spLocks noGrp="1"/>
          </p:cNvSpPr>
          <p:nvPr>
            <p:ph type="title"/>
          </p:nvPr>
        </p:nvSpPr>
        <p:spPr/>
        <p:txBody>
          <a:bodyPr/>
          <a:lstStyle/>
          <a:p>
            <a:r>
              <a:rPr lang="en-US" altLang="zh-CN"/>
              <a:t>2.3 </a:t>
            </a:r>
            <a:r>
              <a:rPr lang="zh-CN" altLang="en-US"/>
              <a:t>线性时不变系统的性质</a:t>
            </a:r>
          </a:p>
        </p:txBody>
      </p:sp>
      <p:sp>
        <p:nvSpPr>
          <p:cNvPr id="4" name="灯片编号占位符 3">
            <a:extLst>
              <a:ext uri="{FF2B5EF4-FFF2-40B4-BE49-F238E27FC236}">
                <a16:creationId xmlns:a16="http://schemas.microsoft.com/office/drawing/2014/main" id="{4DA575CF-4628-4002-BC5E-AF0632DE8AD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6901E23-EE66-4C5C-B9A8-B388E4CAF6EF}"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8440" name="Text Box 24">
                <a:extLst>
                  <a:ext uri="{FF2B5EF4-FFF2-40B4-BE49-F238E27FC236}">
                    <a16:creationId xmlns:a16="http://schemas.microsoft.com/office/drawing/2014/main" id="{20F68B17-9EED-46FC-8F30-EB69148F1C96}"/>
                  </a:ext>
                </a:extLst>
              </p:cNvPr>
              <p:cNvSpPr txBox="1">
                <a:spLocks noChangeArrowheads="1"/>
              </p:cNvSpPr>
              <p:nvPr/>
            </p:nvSpPr>
            <p:spPr bwMode="auto">
              <a:xfrm>
                <a:off x="584201" y="3476262"/>
                <a:ext cx="8102600" cy="101527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just" eaLnBrk="1" hangingPunct="1">
                  <a:lnSpc>
                    <a:spcPct val="130000"/>
                  </a:lnSpc>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又如：累加器是可逆的</a:t>
                </a:r>
                <a:r>
                  <a:rPr kumimoji="0" lang="en-US" altLang="zh-CN"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LTI</a:t>
                </a: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系统，其</a:t>
                </a:r>
                <a14:m>
                  <m:oMath xmlns:m="http://schemas.openxmlformats.org/officeDocument/2006/math">
                    <m:r>
                      <a:rPr lang="en-US" sz="2400" i="1" smtClean="0">
                        <a:solidFill>
                          <a:srgbClr val="000000"/>
                        </a:solidFill>
                        <a:latin typeface="Cambria Math" panose="02040503050406030204" pitchFamily="18" charset="0"/>
                      </a:rPr>
                      <m:t>h</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𝑢</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oMath>
                </a14:m>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，其逆系统是</a:t>
                </a:r>
                <a14:m>
                  <m:oMath xmlns:m="http://schemas.openxmlformats.org/officeDocument/2006/math">
                    <m:r>
                      <a:rPr lang="en-US" sz="2400" i="1">
                        <a:solidFill>
                          <a:srgbClr val="000000"/>
                        </a:solidFill>
                        <a:latin typeface="Cambria Math" panose="02040503050406030204" pitchFamily="18" charset="0"/>
                      </a:rPr>
                      <m:t>𝑔</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−1]</m:t>
                    </m:r>
                  </m:oMath>
                </a14:m>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，显然也有：</a:t>
                </a:r>
              </a:p>
            </p:txBody>
          </p:sp>
        </mc:Choice>
        <mc:Fallback xmlns="">
          <p:sp>
            <p:nvSpPr>
              <p:cNvPr id="18440" name="Text Box 24">
                <a:extLst>
                  <a:ext uri="{FF2B5EF4-FFF2-40B4-BE49-F238E27FC236}">
                    <a16:creationId xmlns:a16="http://schemas.microsoft.com/office/drawing/2014/main" id="{20F68B17-9EED-46FC-8F30-EB69148F1C96}"/>
                  </a:ext>
                </a:extLst>
              </p:cNvPr>
              <p:cNvSpPr txBox="1">
                <a:spLocks noRot="1" noChangeAspect="1" noMove="1" noResize="1" noEditPoints="1" noAdjustHandles="1" noChangeArrowheads="1" noChangeShapeType="1" noTextEdit="1"/>
              </p:cNvSpPr>
              <p:nvPr/>
            </p:nvSpPr>
            <p:spPr bwMode="auto">
              <a:xfrm>
                <a:off x="584201" y="3476262"/>
                <a:ext cx="8102600" cy="1015278"/>
              </a:xfrm>
              <a:prstGeom prst="rect">
                <a:avLst/>
              </a:prstGeom>
              <a:blipFill>
                <a:blip r:embed="rId2"/>
                <a:stretch>
                  <a:fillRect l="-1204" r="-1129" b="-1317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436" name="Object 27">
                <a:extLst>
                  <a:ext uri="{FF2B5EF4-FFF2-40B4-BE49-F238E27FC236}">
                    <a16:creationId xmlns:a16="http://schemas.microsoft.com/office/drawing/2014/main" id="{3D3EA8D7-CFD5-493B-97E8-04159E5F73A2}"/>
                  </a:ext>
                </a:extLst>
              </p:cNvPr>
              <p:cNvSpPr txBox="1"/>
              <p:nvPr/>
            </p:nvSpPr>
            <p:spPr bwMode="auto">
              <a:xfrm>
                <a:off x="1636531" y="4797152"/>
                <a:ext cx="5995689" cy="1200329"/>
              </a:xfrm>
              <a:prstGeom prst="rect">
                <a:avLst/>
              </a:prstGeom>
              <a:solidFill>
                <a:srgbClr val="CCFFFF"/>
              </a:solidFill>
              <a:ln>
                <a:noFill/>
              </a:ln>
              <a:effectLst/>
            </p:spPr>
            <p:txBody>
              <a:bodyPr wrap="square">
                <a:spAutoFit/>
              </a:bodyPr>
              <a:lstStyle/>
              <a:p>
                <a:pPr>
                  <a:lnSpc>
                    <a:spcPct val="150000"/>
                  </a:lnSpc>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h</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𝑔</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r>
                        <m:rPr>
                          <m:aln/>
                        </m:rP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𝑢</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−1])</m:t>
                      </m:r>
                    </m:oMath>
                    <m:oMath xmlns:m="http://schemas.openxmlformats.org/officeDocument/2006/math">
                      <m:r>
                        <m:rPr>
                          <m:aln/>
                        </m:rP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𝑢</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𝑢</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−1]=</m:t>
                      </m:r>
                      <m:r>
                        <a:rPr lang="en-US" sz="2400" i="1">
                          <a:solidFill>
                            <a:srgbClr val="000000"/>
                          </a:solidFill>
                          <a:latin typeface="Cambria Math" panose="02040503050406030204" pitchFamily="18" charset="0"/>
                        </a:rPr>
                        <m:t>𝛿</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oMath>
                  </m:oMathPara>
                </a14:m>
                <a:endParaRPr lang="en-US" sz="2400" dirty="0"/>
              </a:p>
            </p:txBody>
          </p:sp>
        </mc:Choice>
        <mc:Fallback xmlns="">
          <p:sp>
            <p:nvSpPr>
              <p:cNvPr id="18436" name="Object 27">
                <a:extLst>
                  <a:ext uri="{FF2B5EF4-FFF2-40B4-BE49-F238E27FC236}">
                    <a16:creationId xmlns:a16="http://schemas.microsoft.com/office/drawing/2014/main" id="{3D3EA8D7-CFD5-493B-97E8-04159E5F73A2}"/>
                  </a:ext>
                </a:extLst>
              </p:cNvPr>
              <p:cNvSpPr txBox="1">
                <a:spLocks noRot="1" noChangeAspect="1" noMove="1" noResize="1" noEditPoints="1" noAdjustHandles="1" noChangeArrowheads="1" noChangeShapeType="1" noTextEdit="1"/>
              </p:cNvSpPr>
              <p:nvPr/>
            </p:nvSpPr>
            <p:spPr bwMode="auto">
              <a:xfrm>
                <a:off x="1636531" y="4797152"/>
                <a:ext cx="5995689" cy="1200329"/>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 Box 18">
                <a:extLst>
                  <a:ext uri="{FF2B5EF4-FFF2-40B4-BE49-F238E27FC236}">
                    <a16:creationId xmlns:a16="http://schemas.microsoft.com/office/drawing/2014/main" id="{C0A617A0-81DE-48C2-B3A7-94D726AD009C}"/>
                  </a:ext>
                </a:extLst>
              </p:cNvPr>
              <p:cNvSpPr txBox="1">
                <a:spLocks noChangeArrowheads="1"/>
              </p:cNvSpPr>
              <p:nvPr/>
            </p:nvSpPr>
            <p:spPr bwMode="auto">
              <a:xfrm>
                <a:off x="584200" y="1388095"/>
                <a:ext cx="8102600" cy="101527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just" eaLnBrk="1" hangingPunct="1">
                  <a:lnSpc>
                    <a:spcPct val="130000"/>
                  </a:lnSpc>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例如：延时器是可逆的</a:t>
                </a:r>
                <a:r>
                  <a:rPr kumimoji="0" lang="en-US" altLang="zh-CN"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LTI</a:t>
                </a: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系统，</a:t>
                </a:r>
                <a14:m>
                  <m:oMath xmlns:m="http://schemas.openxmlformats.org/officeDocument/2006/math">
                    <m:r>
                      <a:rPr lang="en-US" sz="2400" i="1">
                        <a:solidFill>
                          <a:srgbClr val="000000"/>
                        </a:solidFill>
                        <a:latin typeface="Cambria Math" panose="02040503050406030204" pitchFamily="18" charset="0"/>
                      </a:rPr>
                      <m:t>h</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𝑡</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oMath>
                </a14:m>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，其逆系统是</a:t>
                </a:r>
                <a14:m>
                  <m:oMath xmlns:m="http://schemas.openxmlformats.org/officeDocument/2006/math">
                    <m:r>
                      <a:rPr lang="en-US" sz="2400" i="1">
                        <a:solidFill>
                          <a:srgbClr val="000000"/>
                        </a:solidFill>
                        <a:latin typeface="Cambria Math" panose="02040503050406030204" pitchFamily="18" charset="0"/>
                      </a:rPr>
                      <m:t>𝑔</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𝑡</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oMath>
                </a14:m>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，显然有：</a:t>
                </a:r>
              </a:p>
            </p:txBody>
          </p:sp>
        </mc:Choice>
        <mc:Fallback xmlns="">
          <p:sp>
            <p:nvSpPr>
              <p:cNvPr id="16" name="Text Box 18">
                <a:extLst>
                  <a:ext uri="{FF2B5EF4-FFF2-40B4-BE49-F238E27FC236}">
                    <a16:creationId xmlns:a16="http://schemas.microsoft.com/office/drawing/2014/main" id="{C0A617A0-81DE-48C2-B3A7-94D726AD009C}"/>
                  </a:ext>
                </a:extLst>
              </p:cNvPr>
              <p:cNvSpPr txBox="1">
                <a:spLocks noRot="1" noChangeAspect="1" noMove="1" noResize="1" noEditPoints="1" noAdjustHandles="1" noChangeArrowheads="1" noChangeShapeType="1" noTextEdit="1"/>
              </p:cNvSpPr>
              <p:nvPr/>
            </p:nvSpPr>
            <p:spPr bwMode="auto">
              <a:xfrm>
                <a:off x="584200" y="1388095"/>
                <a:ext cx="8102600" cy="1015278"/>
              </a:xfrm>
              <a:prstGeom prst="rect">
                <a:avLst/>
              </a:prstGeom>
              <a:blipFill>
                <a:blip r:embed="rId4"/>
                <a:stretch>
                  <a:fillRect l="-1204" r="-1129" b="-1385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bject 21">
                <a:extLst>
                  <a:ext uri="{FF2B5EF4-FFF2-40B4-BE49-F238E27FC236}">
                    <a16:creationId xmlns:a16="http://schemas.microsoft.com/office/drawing/2014/main" id="{90A34D44-6DC4-436D-86A3-40FB6B76AA9F}"/>
                  </a:ext>
                </a:extLst>
              </p:cNvPr>
              <p:cNvSpPr txBox="1"/>
              <p:nvPr/>
            </p:nvSpPr>
            <p:spPr bwMode="auto">
              <a:xfrm>
                <a:off x="1732744" y="2708985"/>
                <a:ext cx="5678512" cy="461665"/>
              </a:xfrm>
              <a:prstGeom prst="rect">
                <a:avLst/>
              </a:prstGeom>
              <a:solidFill>
                <a:srgbClr val="CCFFFF"/>
              </a:solid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r>
                        <a:rPr lang="en-US" sz="2400" i="1">
                          <a:solidFill>
                            <a:srgbClr val="000000"/>
                          </a:solidFill>
                          <a:latin typeface="Cambria Math" panose="02040503050406030204" pitchFamily="18" charset="0"/>
                        </a:rPr>
                        <m:t>h</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𝑔</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𝑡</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𝑡</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7" name="Object 21">
                <a:extLst>
                  <a:ext uri="{FF2B5EF4-FFF2-40B4-BE49-F238E27FC236}">
                    <a16:creationId xmlns:a16="http://schemas.microsoft.com/office/drawing/2014/main" id="{90A34D44-6DC4-436D-86A3-40FB6B76AA9F}"/>
                  </a:ext>
                </a:extLst>
              </p:cNvPr>
              <p:cNvSpPr txBox="1">
                <a:spLocks noRot="1" noChangeAspect="1" noMove="1" noResize="1" noEditPoints="1" noAdjustHandles="1" noChangeArrowheads="1" noChangeShapeType="1" noTextEdit="1"/>
              </p:cNvSpPr>
              <p:nvPr/>
            </p:nvSpPr>
            <p:spPr bwMode="auto">
              <a:xfrm>
                <a:off x="1732744" y="2708985"/>
                <a:ext cx="5678512" cy="461665"/>
              </a:xfrm>
              <a:prstGeom prst="rect">
                <a:avLst/>
              </a:prstGeom>
              <a:blipFill>
                <a:blip r:embed="rId5"/>
                <a:stretch>
                  <a:fillRect r="-107" b="-19737"/>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6" name="标题 1">
            <a:extLst>
              <a:ext uri="{FF2B5EF4-FFF2-40B4-BE49-F238E27FC236}">
                <a16:creationId xmlns:a16="http://schemas.microsoft.com/office/drawing/2014/main" id="{94130506-9505-40F3-9B71-00F6F158C49C}"/>
              </a:ext>
            </a:extLst>
          </p:cNvPr>
          <p:cNvSpPr>
            <a:spLocks noGrp="1"/>
          </p:cNvSpPr>
          <p:nvPr>
            <p:ph type="title"/>
          </p:nvPr>
        </p:nvSpPr>
        <p:spPr/>
        <p:txBody>
          <a:bodyPr/>
          <a:lstStyle/>
          <a:p>
            <a:r>
              <a:rPr lang="en-US" altLang="zh-CN"/>
              <a:t>2.3 </a:t>
            </a:r>
            <a:r>
              <a:rPr lang="zh-CN" altLang="en-US"/>
              <a:t>线性时不变系统的性质</a:t>
            </a:r>
          </a:p>
        </p:txBody>
      </p:sp>
      <p:sp>
        <p:nvSpPr>
          <p:cNvPr id="19467" name="内容占位符 2">
            <a:extLst>
              <a:ext uri="{FF2B5EF4-FFF2-40B4-BE49-F238E27FC236}">
                <a16:creationId xmlns:a16="http://schemas.microsoft.com/office/drawing/2014/main" id="{82ACC840-652F-4E34-8362-25E2844C5711}"/>
              </a:ext>
            </a:extLst>
          </p:cNvPr>
          <p:cNvSpPr>
            <a:spLocks noGrp="1"/>
          </p:cNvSpPr>
          <p:nvPr>
            <p:ph idx="1"/>
          </p:nvPr>
        </p:nvSpPr>
        <p:spPr>
          <a:xfrm>
            <a:off x="457200" y="1196752"/>
            <a:ext cx="8229600" cy="950645"/>
          </a:xfrm>
        </p:spPr>
        <p:txBody>
          <a:bodyPr wrap="square">
            <a:spAutoFit/>
          </a:bodyPr>
          <a:lstStyle/>
          <a:p>
            <a:pPr marL="0" indent="0">
              <a:lnSpc>
                <a:spcPct val="120000"/>
              </a:lnSpc>
              <a:buNone/>
            </a:pPr>
            <a:r>
              <a:rPr lang="en-US" altLang="zh-CN" sz="2400" b="0" dirty="0"/>
              <a:t>3. </a:t>
            </a:r>
            <a:r>
              <a:rPr lang="zh-CN" altLang="en-US" sz="2400" b="0" dirty="0">
                <a:solidFill>
                  <a:srgbClr val="FF0000"/>
                </a:solidFill>
              </a:rPr>
              <a:t>因果性</a:t>
            </a:r>
            <a:r>
              <a:rPr lang="zh-CN" altLang="en-US" sz="2400" b="0" dirty="0"/>
              <a:t>：因果系统在任何时刻的响应都只能取决于当前时刻及其以前的输入。</a:t>
            </a:r>
            <a:endParaRPr lang="en-US" altLang="zh-CN" sz="2400" b="0" dirty="0"/>
          </a:p>
        </p:txBody>
      </p:sp>
      <p:sp>
        <p:nvSpPr>
          <p:cNvPr id="4" name="灯片编号占位符 3">
            <a:extLst>
              <a:ext uri="{FF2B5EF4-FFF2-40B4-BE49-F238E27FC236}">
                <a16:creationId xmlns:a16="http://schemas.microsoft.com/office/drawing/2014/main" id="{0E106BCF-55AA-46BF-B71D-42332B037D9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D91C97F-96E6-4C0B-A64A-5D6B028175B7}"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9464" name="Object 11">
                <a:extLst>
                  <a:ext uri="{FF2B5EF4-FFF2-40B4-BE49-F238E27FC236}">
                    <a16:creationId xmlns:a16="http://schemas.microsoft.com/office/drawing/2014/main" id="{0A071F7B-11A7-4397-BF51-FC2C3BB69D17}"/>
                  </a:ext>
                </a:extLst>
              </p:cNvPr>
              <p:cNvSpPr txBox="1"/>
              <p:nvPr/>
            </p:nvSpPr>
            <p:spPr bwMode="auto">
              <a:xfrm>
                <a:off x="3223394" y="4472248"/>
                <a:ext cx="2697212" cy="546100"/>
              </a:xfrm>
              <a:prstGeom prst="rect">
                <a:avLst/>
              </a:prstGeom>
              <a:solidFill>
                <a:srgbClr val="CCFFFF"/>
              </a:solidFill>
              <a:ln>
                <a:noFill/>
              </a:ln>
              <a:effectLst/>
            </p:spPr>
            <p:txBody>
              <a:bodyPr>
                <a:normAutofit/>
              </a:bodyPr>
              <a:lstStyle/>
              <a:p>
                <a:pPr/>
                <a14:m>
                  <m:oMathPara xmlns:m="http://schemas.openxmlformats.org/officeDocument/2006/math">
                    <m:oMathParaPr>
                      <m:jc m:val="center"/>
                    </m:oMathParaPr>
                    <m:oMath xmlns:m="http://schemas.openxmlformats.org/officeDocument/2006/math">
                      <m:r>
                        <a:rPr lang="en-US" sz="2400" b="0" i="1" smtClean="0">
                          <a:solidFill>
                            <a:srgbClr val="FF0000"/>
                          </a:solidFill>
                          <a:latin typeface="Cambria Math" panose="02040503050406030204" pitchFamily="18" charset="0"/>
                        </a:rPr>
                        <m:t>h</m:t>
                      </m:r>
                      <m:r>
                        <a:rPr lang="en-US" sz="2400" b="0" i="1" smtClean="0">
                          <a:solidFill>
                            <a:srgbClr val="FF0000"/>
                          </a:solidFill>
                          <a:latin typeface="Cambria Math" panose="02040503050406030204" pitchFamily="18" charset="0"/>
                        </a:rPr>
                        <m:t>[</m:t>
                      </m:r>
                      <m:r>
                        <a:rPr lang="en-US" sz="2400" b="0" i="1">
                          <a:solidFill>
                            <a:srgbClr val="FF0000"/>
                          </a:solidFill>
                          <a:latin typeface="Cambria Math" panose="02040503050406030204" pitchFamily="18" charset="0"/>
                        </a:rPr>
                        <m:t>𝑛</m:t>
                      </m:r>
                      <m:r>
                        <a:rPr lang="en-US" sz="2400" b="0" i="1" smtClean="0">
                          <a:solidFill>
                            <a:srgbClr val="FF0000"/>
                          </a:solidFill>
                          <a:latin typeface="Cambria Math" panose="02040503050406030204" pitchFamily="18" charset="0"/>
                        </a:rPr>
                        <m:t>]</m:t>
                      </m:r>
                      <m:r>
                        <a:rPr lang="en-US" sz="2400" b="0" i="1">
                          <a:solidFill>
                            <a:srgbClr val="FF0000"/>
                          </a:solidFill>
                          <a:latin typeface="Cambria Math" panose="02040503050406030204" pitchFamily="18" charset="0"/>
                        </a:rPr>
                        <m:t>=0,</m:t>
                      </m:r>
                      <m:m>
                        <m:mPr>
                          <m:plcHide m:val="on"/>
                          <m:mcs>
                            <m:mc>
                              <m:mcPr>
                                <m:count m:val="2"/>
                                <m:mcJc m:val="center"/>
                              </m:mcPr>
                            </m:mc>
                          </m:mcs>
                          <m:ctrlPr>
                            <a:rPr lang="en-US" sz="2400" i="1">
                              <a:solidFill>
                                <a:srgbClr val="FF0000"/>
                              </a:solidFill>
                              <a:latin typeface="Cambria Math" panose="02040503050406030204" pitchFamily="18" charset="0"/>
                            </a:rPr>
                          </m:ctrlPr>
                        </m:mPr>
                        <m:mr>
                          <m:e/>
                          <m:e/>
                        </m:mr>
                      </m:m>
                      <m:r>
                        <a:rPr lang="en-US" sz="2400" b="0" i="1">
                          <a:solidFill>
                            <a:srgbClr val="FF0000"/>
                          </a:solidFill>
                          <a:latin typeface="Cambria Math" panose="02040503050406030204" pitchFamily="18" charset="0"/>
                        </a:rPr>
                        <m:t>𝑛</m:t>
                      </m:r>
                      <m:r>
                        <a:rPr lang="en-US" sz="2400" b="0" i="1">
                          <a:solidFill>
                            <a:srgbClr val="FF0000"/>
                          </a:solidFill>
                          <a:latin typeface="Cambria Math" panose="02040503050406030204" pitchFamily="18" charset="0"/>
                        </a:rPr>
                        <m:t>&lt;0</m:t>
                      </m:r>
                    </m:oMath>
                  </m:oMathPara>
                </a14:m>
                <a:endParaRPr lang="en-US" sz="2400" dirty="0">
                  <a:solidFill>
                    <a:srgbClr val="FF0000"/>
                  </a:solidFill>
                </a:endParaRPr>
              </a:p>
            </p:txBody>
          </p:sp>
        </mc:Choice>
        <mc:Fallback xmlns="">
          <p:sp>
            <p:nvSpPr>
              <p:cNvPr id="19464" name="Object 11">
                <a:extLst>
                  <a:ext uri="{FF2B5EF4-FFF2-40B4-BE49-F238E27FC236}">
                    <a16:creationId xmlns:a16="http://schemas.microsoft.com/office/drawing/2014/main" id="{0A071F7B-11A7-4397-BF51-FC2C3BB69D17}"/>
                  </a:ext>
                </a:extLst>
              </p:cNvPr>
              <p:cNvSpPr txBox="1">
                <a:spLocks noRot="1" noChangeAspect="1" noMove="1" noResize="1" noEditPoints="1" noAdjustHandles="1" noChangeArrowheads="1" noChangeShapeType="1" noTextEdit="1"/>
              </p:cNvSpPr>
              <p:nvPr/>
            </p:nvSpPr>
            <p:spPr bwMode="auto">
              <a:xfrm>
                <a:off x="3223394" y="4472248"/>
                <a:ext cx="2697212" cy="546100"/>
              </a:xfrm>
              <a:prstGeom prst="rect">
                <a:avLst/>
              </a:prstGeom>
              <a:blipFill>
                <a:blip r:embed="rId2"/>
                <a:stretch>
                  <a:fillRect b="-2247"/>
                </a:stretch>
              </a:blipFill>
              <a:ln>
                <a:noFill/>
              </a:ln>
              <a:effectLst/>
            </p:spPr>
            <p:txBody>
              <a:bodyPr/>
              <a:lstStyle/>
              <a:p>
                <a:r>
                  <a:rPr lang="en-US">
                    <a:noFill/>
                  </a:rPr>
                  <a:t> </a:t>
                </a:r>
              </a:p>
            </p:txBody>
          </p:sp>
        </mc:Fallback>
      </mc:AlternateContent>
      <p:sp>
        <p:nvSpPr>
          <p:cNvPr id="19470" name="Text Box 14">
            <a:extLst>
              <a:ext uri="{FF2B5EF4-FFF2-40B4-BE49-F238E27FC236}">
                <a16:creationId xmlns:a16="http://schemas.microsoft.com/office/drawing/2014/main" id="{630B49E1-2BCC-4AE2-BAF1-5C9A1E0A5B02}"/>
              </a:ext>
            </a:extLst>
          </p:cNvPr>
          <p:cNvSpPr txBox="1">
            <a:spLocks noChangeArrowheads="1"/>
          </p:cNvSpPr>
          <p:nvPr/>
        </p:nvSpPr>
        <p:spPr bwMode="auto">
          <a:xfrm>
            <a:off x="737350" y="5017131"/>
            <a:ext cx="3672800" cy="562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40000"/>
              </a:lnSpc>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对连续时间因果系统则有</a:t>
            </a:r>
            <a:r>
              <a:rPr kumimoji="0" lang="en-US" altLang="zh-CN"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mc:AlternateContent xmlns:mc="http://schemas.openxmlformats.org/markup-compatibility/2006" xmlns:a14="http://schemas.microsoft.com/office/drawing/2010/main">
        <mc:Choice Requires="a14">
          <p:sp>
            <p:nvSpPr>
              <p:cNvPr id="19465" name="Object 15">
                <a:extLst>
                  <a:ext uri="{FF2B5EF4-FFF2-40B4-BE49-F238E27FC236}">
                    <a16:creationId xmlns:a16="http://schemas.microsoft.com/office/drawing/2014/main" id="{3A694BCE-8DD9-4F06-924C-9B1848751EA2}"/>
                  </a:ext>
                </a:extLst>
              </p:cNvPr>
              <p:cNvSpPr txBox="1"/>
              <p:nvPr/>
            </p:nvSpPr>
            <p:spPr bwMode="auto">
              <a:xfrm>
                <a:off x="3276004" y="5637192"/>
                <a:ext cx="2591991" cy="549275"/>
              </a:xfrm>
              <a:prstGeom prst="rect">
                <a:avLst/>
              </a:prstGeom>
              <a:solidFill>
                <a:srgbClr val="CCFFFF"/>
              </a:solidFill>
              <a:ln>
                <a:noFill/>
              </a:ln>
              <a:effectLst/>
            </p:spPr>
            <p:txBody>
              <a:bodyPr>
                <a:normAutofit/>
              </a:bodyPr>
              <a:lstStyle/>
              <a:p>
                <a:pPr/>
                <a14:m>
                  <m:oMathPara xmlns:m="http://schemas.openxmlformats.org/officeDocument/2006/math">
                    <m:oMathParaPr>
                      <m:jc m:val="center"/>
                    </m:oMathParaPr>
                    <m:oMath xmlns:m="http://schemas.openxmlformats.org/officeDocument/2006/math">
                      <m:r>
                        <a:rPr lang="en-US" sz="2400" i="1" smtClean="0">
                          <a:solidFill>
                            <a:srgbClr val="FF0000"/>
                          </a:solidFill>
                          <a:latin typeface="Cambria Math" panose="02040503050406030204" pitchFamily="18" charset="0"/>
                        </a:rPr>
                        <m:t>h</m:t>
                      </m:r>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𝑡</m:t>
                      </m:r>
                      <m:r>
                        <a:rPr lang="en-US" sz="2400" i="1" smtClean="0">
                          <a:solidFill>
                            <a:srgbClr val="FF0000"/>
                          </a:solidFill>
                          <a:latin typeface="Cambria Math" panose="02040503050406030204" pitchFamily="18" charset="0"/>
                        </a:rPr>
                        <m:t>)=0,</m:t>
                      </m:r>
                      <m:m>
                        <m:mPr>
                          <m:plcHide m:val="on"/>
                          <m:mcs>
                            <m:mc>
                              <m:mcPr>
                                <m:count m:val="2"/>
                                <m:mcJc m:val="center"/>
                              </m:mcPr>
                            </m:mc>
                          </m:mcs>
                          <m:ctrlPr>
                            <a:rPr lang="en-US" sz="2400" i="1">
                              <a:solidFill>
                                <a:srgbClr val="FF0000"/>
                              </a:solidFill>
                              <a:latin typeface="Cambria Math" panose="02040503050406030204" pitchFamily="18" charset="0"/>
                            </a:rPr>
                          </m:ctrlPr>
                        </m:mPr>
                        <m:mr>
                          <m:e/>
                          <m:e/>
                        </m:mr>
                      </m:m>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&lt;0</m:t>
                      </m:r>
                    </m:oMath>
                  </m:oMathPara>
                </a14:m>
                <a:endParaRPr lang="en-US" sz="2400" dirty="0">
                  <a:solidFill>
                    <a:srgbClr val="FF0000"/>
                  </a:solidFill>
                </a:endParaRPr>
              </a:p>
            </p:txBody>
          </p:sp>
        </mc:Choice>
        <mc:Fallback xmlns="">
          <p:sp>
            <p:nvSpPr>
              <p:cNvPr id="19465" name="Object 15">
                <a:extLst>
                  <a:ext uri="{FF2B5EF4-FFF2-40B4-BE49-F238E27FC236}">
                    <a16:creationId xmlns:a16="http://schemas.microsoft.com/office/drawing/2014/main" id="{3A694BCE-8DD9-4F06-924C-9B1848751EA2}"/>
                  </a:ext>
                </a:extLst>
              </p:cNvPr>
              <p:cNvSpPr txBox="1">
                <a:spLocks noRot="1" noChangeAspect="1" noMove="1" noResize="1" noEditPoints="1" noAdjustHandles="1" noChangeArrowheads="1" noChangeShapeType="1" noTextEdit="1"/>
              </p:cNvSpPr>
              <p:nvPr/>
            </p:nvSpPr>
            <p:spPr bwMode="auto">
              <a:xfrm>
                <a:off x="3276004" y="5637192"/>
                <a:ext cx="2591991" cy="549275"/>
              </a:xfrm>
              <a:prstGeom prst="rect">
                <a:avLst/>
              </a:prstGeom>
              <a:blipFill>
                <a:blip r:embed="rId3"/>
                <a:stretch>
                  <a:fillRect b="-1111"/>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34530D1C-F334-40D8-93AE-05586F489C1A}"/>
                  </a:ext>
                </a:extLst>
              </p:cNvPr>
              <p:cNvSpPr txBox="1"/>
              <p:nvPr/>
            </p:nvSpPr>
            <p:spPr>
              <a:xfrm>
                <a:off x="737350" y="3501008"/>
                <a:ext cx="7949448" cy="950132"/>
              </a:xfrm>
              <a:prstGeom prst="rect">
                <a:avLst/>
              </a:prstGeom>
              <a:noFill/>
            </p:spPr>
            <p:txBody>
              <a:bodyPr wrap="square">
                <a:spAutoFit/>
              </a:bodyPr>
              <a:lstStyle/>
              <a:p>
                <a:pPr lvl="0" eaLnBrk="0" hangingPunct="0">
                  <a:lnSpc>
                    <a:spcPct val="120000"/>
                  </a:lnSpc>
                  <a:spcBef>
                    <a:spcPct val="20000"/>
                  </a:spcBef>
                  <a:defRPr/>
                </a:pPr>
                <a:r>
                  <a:rPr kumimoji="0" lang="zh-CN" altLang="en-US" sz="2400" i="0" u="none" strike="noStrike" kern="1200" cap="none" spc="0" normalizeH="0" baseline="0" noProof="0" dirty="0">
                    <a:ln>
                      <a:noFill/>
                    </a:ln>
                    <a:solidFill>
                      <a:prstClr val="black"/>
                    </a:solidFill>
                    <a:effectLst/>
                    <a:uLnTx/>
                    <a:uFillTx/>
                    <a:latin typeface="Times New Roman" pitchFamily="18" charset="0"/>
                    <a:ea typeface="华文楷体" pitchFamily="2" charset="-122"/>
                  </a:rPr>
                  <a:t>因果性意味着上式等号右边和式中所有</a:t>
                </a:r>
                <a14:m>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𝑘</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&gt;</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𝑛</m:t>
                    </m:r>
                  </m:oMath>
                </a14:m>
                <a:r>
                  <a:rPr kumimoji="0" lang="zh-CN" altLang="en-US" sz="2400" i="0" u="none" strike="noStrike" kern="1200" cap="none" spc="0" normalizeH="0" baseline="0" noProof="0" dirty="0">
                    <a:ln>
                      <a:noFill/>
                    </a:ln>
                    <a:solidFill>
                      <a:prstClr val="black"/>
                    </a:solidFill>
                    <a:effectLst/>
                    <a:uLnTx/>
                    <a:uFillTx/>
                    <a:latin typeface="Times New Roman" pitchFamily="18" charset="0"/>
                    <a:ea typeface="华文楷体" pitchFamily="2" charset="-122"/>
                  </a:rPr>
                  <a:t>的项都必须为零，即</a:t>
                </a:r>
                <a14:m>
                  <m:oMath xmlns:m="http://schemas.openxmlformats.org/officeDocument/2006/math">
                    <m:r>
                      <a:rPr lang="en-US" sz="2400" i="1">
                        <a:solidFill>
                          <a:srgbClr val="000000"/>
                        </a:solidFill>
                        <a:latin typeface="Cambria Math" panose="02040503050406030204" pitchFamily="18" charset="0"/>
                      </a:rPr>
                      <m:t>h</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]=0</m:t>
                    </m:r>
                  </m:oMath>
                </a14:m>
                <a:r>
                  <a:rPr kumimoji="0" lang="zh-CN" altLang="en-US" sz="2400" i="0" u="none" strike="noStrike" kern="1200" cap="none" spc="0" normalizeH="0" baseline="0" noProof="0" dirty="0">
                    <a:ln>
                      <a:noFill/>
                    </a:ln>
                    <a:solidFill>
                      <a:prstClr val="black"/>
                    </a:solidFill>
                    <a:effectLst/>
                    <a:uLnTx/>
                    <a:uFillTx/>
                    <a:latin typeface="Times New Roman" pitchFamily="18" charset="0"/>
                    <a:ea typeface="华文楷体" pitchFamily="2" charset="-122"/>
                  </a:rPr>
                  <a:t>，</a:t>
                </a:r>
                <a14:m>
                  <m:oMath xmlns:m="http://schemas.openxmlformats.org/officeDocument/2006/math">
                    <m:r>
                      <a:rPr lang="en-US" sz="2400" b="0" i="1">
                        <a:solidFill>
                          <a:srgbClr val="000000"/>
                        </a:solidFill>
                        <a:latin typeface="Cambria Math" panose="02040503050406030204" pitchFamily="18" charset="0"/>
                      </a:rPr>
                      <m:t>𝑘</m:t>
                    </m:r>
                    <m:r>
                      <a:rPr lang="en-US" sz="2400" b="0" i="1">
                        <a:solidFill>
                          <a:srgbClr val="000000"/>
                        </a:solidFill>
                        <a:latin typeface="Cambria Math" panose="02040503050406030204" pitchFamily="18" charset="0"/>
                      </a:rPr>
                      <m:t>&gt;</m:t>
                    </m:r>
                    <m:r>
                      <a:rPr lang="en-US" sz="2400" b="0" i="1">
                        <a:solidFill>
                          <a:srgbClr val="000000"/>
                        </a:solidFill>
                        <a:latin typeface="Cambria Math" panose="02040503050406030204" pitchFamily="18" charset="0"/>
                      </a:rPr>
                      <m:t>𝑛</m:t>
                    </m:r>
                  </m:oMath>
                </a14:m>
                <a:r>
                  <a:rPr kumimoji="0" lang="zh-CN" altLang="en-US" sz="2400" i="0" u="none" strike="noStrike" kern="1200" cap="none" spc="0" normalizeH="0" baseline="0" noProof="0" dirty="0">
                    <a:ln>
                      <a:noFill/>
                    </a:ln>
                    <a:solidFill>
                      <a:prstClr val="black"/>
                    </a:solidFill>
                    <a:effectLst/>
                    <a:uLnTx/>
                    <a:uFillTx/>
                    <a:latin typeface="Times New Roman" pitchFamily="18" charset="0"/>
                    <a:ea typeface="华文楷体" pitchFamily="2" charset="-122"/>
                  </a:rPr>
                  <a:t>，也即：</a:t>
                </a:r>
              </a:p>
            </p:txBody>
          </p:sp>
        </mc:Choice>
        <mc:Fallback xmlns="">
          <p:sp>
            <p:nvSpPr>
              <p:cNvPr id="23" name="文本框 22">
                <a:extLst>
                  <a:ext uri="{FF2B5EF4-FFF2-40B4-BE49-F238E27FC236}">
                    <a16:creationId xmlns:a16="http://schemas.microsoft.com/office/drawing/2014/main" id="{34530D1C-F334-40D8-93AE-05586F489C1A}"/>
                  </a:ext>
                </a:extLst>
              </p:cNvPr>
              <p:cNvSpPr txBox="1">
                <a:spLocks noRot="1" noChangeAspect="1" noMove="1" noResize="1" noEditPoints="1" noAdjustHandles="1" noChangeArrowheads="1" noChangeShapeType="1" noTextEdit="1"/>
              </p:cNvSpPr>
              <p:nvPr/>
            </p:nvSpPr>
            <p:spPr>
              <a:xfrm>
                <a:off x="737350" y="3501008"/>
                <a:ext cx="7949448" cy="950132"/>
              </a:xfrm>
              <a:prstGeom prst="rect">
                <a:avLst/>
              </a:prstGeom>
              <a:blipFill>
                <a:blip r:embed="rId4"/>
                <a:stretch>
                  <a:fillRect l="-1227" r="-1150" b="-141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36E1F82D-60E3-44E8-A9D1-7CCBC964DA7C}"/>
                  </a:ext>
                </a:extLst>
              </p:cNvPr>
              <p:cNvSpPr txBox="1"/>
              <p:nvPr/>
            </p:nvSpPr>
            <p:spPr>
              <a:xfrm>
                <a:off x="737350" y="2060848"/>
                <a:ext cx="7949449" cy="1404872"/>
              </a:xfrm>
              <a:prstGeom prst="rect">
                <a:avLst/>
              </a:prstGeom>
              <a:noFill/>
            </p:spPr>
            <p:txBody>
              <a:bodyPr wrap="square">
                <a:spAutoFit/>
              </a:bodyPr>
              <a:lstStyle/>
              <a:p>
                <a:pPr marR="0" lvl="0" algn="l" defTabSz="914400" rtl="0" eaLnBrk="0" fontAlgn="base" latinLnBrk="0" hangingPunct="0">
                  <a:lnSpc>
                    <a:spcPct val="120000"/>
                  </a:lnSpc>
                  <a:spcBef>
                    <a:spcPct val="20000"/>
                  </a:spcBef>
                  <a:spcAft>
                    <a:spcPct val="0"/>
                  </a:spcAft>
                  <a:buClrTx/>
                  <a:buSzTx/>
                  <a:tabLst/>
                  <a:defRPr/>
                </a:pPr>
                <a:r>
                  <a:rPr kumimoji="0" lang="zh-CN" altLang="en-US" sz="240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对于</a:t>
                </a:r>
                <a:r>
                  <a:rPr kumimoji="0" lang="en-US" altLang="zh-CN" sz="240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LTI</a:t>
                </a:r>
                <a:r>
                  <a:rPr kumimoji="0" lang="zh-CN" altLang="en-US" sz="240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系统，以离散时间为例：</a:t>
                </a:r>
                <a:endParaRPr kumimoji="0" lang="en-US" altLang="zh-CN" sz="240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endParaRPr>
              </a:p>
              <a:p>
                <a:pPr marL="0" marR="0" lvl="0" indent="0" algn="l" defTabSz="914400" rtl="0" eaLnBrk="0" fontAlgn="base" latinLnBrk="0" hangingPunct="0">
                  <a:lnSpc>
                    <a:spcPct val="120000"/>
                  </a:lnSpc>
                  <a:spcBef>
                    <a:spcPct val="20000"/>
                  </a:spcBef>
                  <a:spcAft>
                    <a:spcPct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𝑛</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nary>
                        <m:naryPr>
                          <m:chr m:val="∑"/>
                          <m:limLoc m:val="subSup"/>
                          <m:ctrlPr>
                            <a:rPr kumimoji="0" lang="en-US" sz="2400" i="1" u="none" strike="noStrike" kern="1200" cap="none" spc="0" normalizeH="0" baseline="0" noProof="0">
                              <a:ln>
                                <a:noFill/>
                              </a:ln>
                              <a:solidFill>
                                <a:srgbClr val="000000"/>
                              </a:solidFill>
                              <a:effectLst/>
                              <a:uLnTx/>
                              <a:uFillTx/>
                              <a:latin typeface="Cambria Math" panose="02040503050406030204" pitchFamily="18" charset="0"/>
                              <a:cs typeface="+mn-cs"/>
                            </a:rPr>
                          </m:ctrlPr>
                        </m:naryPr>
                        <m: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𝑘</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ub>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up>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𝑥</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𝑘</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h</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𝑛</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𝑘</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e>
                      </m:nary>
                    </m:oMath>
                  </m:oMathPara>
                </a14:m>
                <a:endParaRPr kumimoji="0" lang="en-US" altLang="zh-CN" sz="240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endParaRPr>
              </a:p>
            </p:txBody>
          </p:sp>
        </mc:Choice>
        <mc:Fallback xmlns="">
          <p:sp>
            <p:nvSpPr>
              <p:cNvPr id="27" name="文本框 26">
                <a:extLst>
                  <a:ext uri="{FF2B5EF4-FFF2-40B4-BE49-F238E27FC236}">
                    <a16:creationId xmlns:a16="http://schemas.microsoft.com/office/drawing/2014/main" id="{36E1F82D-60E3-44E8-A9D1-7CCBC964DA7C}"/>
                  </a:ext>
                </a:extLst>
              </p:cNvPr>
              <p:cNvSpPr txBox="1">
                <a:spLocks noRot="1" noChangeAspect="1" noMove="1" noResize="1" noEditPoints="1" noAdjustHandles="1" noChangeArrowheads="1" noChangeShapeType="1" noTextEdit="1"/>
              </p:cNvSpPr>
              <p:nvPr/>
            </p:nvSpPr>
            <p:spPr>
              <a:xfrm>
                <a:off x="737350" y="2060848"/>
                <a:ext cx="7949449" cy="1404872"/>
              </a:xfrm>
              <a:prstGeom prst="rect">
                <a:avLst/>
              </a:prstGeom>
              <a:blipFill>
                <a:blip r:embed="rId5"/>
                <a:stretch>
                  <a:fillRect l="-1227" t="-866"/>
                </a:stretch>
              </a:blipFill>
            </p:spPr>
            <p:txBody>
              <a:bodyPr/>
              <a:lstStyle/>
              <a:p>
                <a:r>
                  <a:rPr lang="en-US">
                    <a:noFill/>
                  </a:rPr>
                  <a:t> </a:t>
                </a:r>
              </a:p>
            </p:txBody>
          </p:sp>
        </mc:Fallback>
      </mc:AlternateContent>
      <p:sp>
        <p:nvSpPr>
          <p:cNvPr id="35" name="文本框 34">
            <a:extLst>
              <a:ext uri="{FF2B5EF4-FFF2-40B4-BE49-F238E27FC236}">
                <a16:creationId xmlns:a16="http://schemas.microsoft.com/office/drawing/2014/main" id="{B1E1DE70-7960-46F7-9240-54B4C44C3487}"/>
              </a:ext>
            </a:extLst>
          </p:cNvPr>
          <p:cNvSpPr txBox="1"/>
          <p:nvPr/>
        </p:nvSpPr>
        <p:spPr>
          <a:xfrm>
            <a:off x="737350" y="6155005"/>
            <a:ext cx="5346818" cy="562846"/>
          </a:xfrm>
          <a:prstGeom prst="rect">
            <a:avLst/>
          </a:prstGeom>
          <a:noFill/>
        </p:spPr>
        <p:txBody>
          <a:bodyPr wrap="square">
            <a:spAutoFit/>
          </a:bodyPr>
          <a:lstStyle/>
          <a:p>
            <a:pPr marL="0" marR="0" lvl="0" indent="0" algn="l" defTabSz="914400" rtl="0" eaLnBrk="1" fontAlgn="base" latinLnBrk="0" hangingPunct="1">
              <a:lnSpc>
                <a:spcPct val="140000"/>
              </a:lnSpc>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这是</a:t>
            </a:r>
            <a:r>
              <a:rPr kumimoji="0" lang="en-US" altLang="zh-CN"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LTI</a:t>
            </a: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系统具有因果性的</a:t>
            </a:r>
            <a:r>
              <a:rPr kumimoji="0" lang="zh-CN" altLang="en-US" sz="24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充要条件</a:t>
            </a: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p:sp>
        <p:nvSpPr>
          <p:cNvPr id="11" name="内容占位符 2">
            <a:extLst>
              <a:ext uri="{FF2B5EF4-FFF2-40B4-BE49-F238E27FC236}">
                <a16:creationId xmlns:a16="http://schemas.microsoft.com/office/drawing/2014/main" id="{E32313A3-B446-4164-B56C-194BC33F81B9}"/>
              </a:ext>
            </a:extLst>
          </p:cNvPr>
          <p:cNvSpPr txBox="1">
            <a:spLocks/>
          </p:cNvSpPr>
          <p:nvPr/>
        </p:nvSpPr>
        <p:spPr bwMode="auto">
          <a:xfrm>
            <a:off x="6050668" y="4486428"/>
            <a:ext cx="16176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altLang="zh-CN" sz="2400" b="0" dirty="0">
                <a:solidFill>
                  <a:srgbClr val="0000FF"/>
                </a:solidFill>
              </a:rPr>
              <a:t>(</a:t>
            </a:r>
            <a:r>
              <a:rPr lang="zh-CN" altLang="en-US" sz="2400" b="0" dirty="0">
                <a:solidFill>
                  <a:srgbClr val="0000FF"/>
                </a:solidFill>
              </a:rPr>
              <a:t>因果信号</a:t>
            </a:r>
            <a:r>
              <a:rPr lang="en-US" altLang="zh-CN" sz="2400" b="0" dirty="0">
                <a:solidFill>
                  <a:srgbClr val="0000FF"/>
                </a:solidFill>
              </a:rPr>
              <a:t>)</a:t>
            </a:r>
            <a:endParaRPr lang="en-US" altLang="zh-CN" sz="2800" b="0" dirty="0">
              <a:solidFill>
                <a:srgbClr val="0000FF"/>
              </a:solidFill>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6" name="标题 1">
            <a:extLst>
              <a:ext uri="{FF2B5EF4-FFF2-40B4-BE49-F238E27FC236}">
                <a16:creationId xmlns:a16="http://schemas.microsoft.com/office/drawing/2014/main" id="{94130506-9505-40F3-9B71-00F6F158C49C}"/>
              </a:ext>
            </a:extLst>
          </p:cNvPr>
          <p:cNvSpPr>
            <a:spLocks noGrp="1"/>
          </p:cNvSpPr>
          <p:nvPr>
            <p:ph type="title"/>
          </p:nvPr>
        </p:nvSpPr>
        <p:spPr/>
        <p:txBody>
          <a:bodyPr/>
          <a:lstStyle/>
          <a:p>
            <a:r>
              <a:rPr lang="en-US" altLang="zh-CN"/>
              <a:t>2.3 </a:t>
            </a:r>
            <a:r>
              <a:rPr lang="zh-CN" altLang="en-US"/>
              <a:t>线性时不变系统的性质</a:t>
            </a:r>
          </a:p>
        </p:txBody>
      </p:sp>
      <mc:AlternateContent xmlns:mc="http://schemas.openxmlformats.org/markup-compatibility/2006" xmlns:a14="http://schemas.microsoft.com/office/drawing/2010/main">
        <mc:Choice Requires="a14">
          <p:sp>
            <p:nvSpPr>
              <p:cNvPr id="19467" name="内容占位符 2">
                <a:extLst>
                  <a:ext uri="{FF2B5EF4-FFF2-40B4-BE49-F238E27FC236}">
                    <a16:creationId xmlns:a16="http://schemas.microsoft.com/office/drawing/2014/main" id="{82ACC840-652F-4E34-8362-25E2844C5711}"/>
                  </a:ext>
                </a:extLst>
              </p:cNvPr>
              <p:cNvSpPr>
                <a:spLocks noGrp="1"/>
              </p:cNvSpPr>
              <p:nvPr>
                <p:ph idx="1"/>
              </p:nvPr>
            </p:nvSpPr>
            <p:spPr>
              <a:xfrm>
                <a:off x="457200" y="1303927"/>
                <a:ext cx="8229600" cy="4606902"/>
              </a:xfrm>
            </p:spPr>
            <p:txBody>
              <a:bodyPr wrap="square">
                <a:spAutoFit/>
              </a:bodyPr>
              <a:lstStyle/>
              <a:p>
                <a:pPr>
                  <a:lnSpc>
                    <a:spcPct val="130000"/>
                  </a:lnSpc>
                  <a:spcBef>
                    <a:spcPts val="0"/>
                  </a:spcBef>
                  <a:spcAft>
                    <a:spcPts val="600"/>
                  </a:spcAft>
                </a:pPr>
                <a:r>
                  <a:rPr lang="zh-CN" altLang="en-US" sz="2800" b="0" dirty="0"/>
                  <a:t>对于</a:t>
                </a:r>
                <a:r>
                  <a:rPr lang="zh-CN" altLang="en-US" sz="2800" b="0" dirty="0">
                    <a:solidFill>
                      <a:srgbClr val="FF0000"/>
                    </a:solidFill>
                  </a:rPr>
                  <a:t>线性系统</a:t>
                </a:r>
                <a:r>
                  <a:rPr lang="zh-CN" altLang="en-US" sz="2800" b="0" dirty="0"/>
                  <a:t>而言，因果性与</a:t>
                </a:r>
                <a:r>
                  <a:rPr lang="zh-CN" altLang="en-US" sz="2800" dirty="0">
                    <a:solidFill>
                      <a:srgbClr val="FF0000"/>
                    </a:solidFill>
                  </a:rPr>
                  <a:t>初始松弛条件</a:t>
                </a:r>
                <a:r>
                  <a:rPr lang="zh-CN" altLang="en-US" sz="2800" b="0" dirty="0"/>
                  <a:t>等价。所谓系统满足初始松弛条件是指该系统具有如下表现：对于任意时刻，只要该时刻之前系统的输入为</a:t>
                </a:r>
                <a:r>
                  <a:rPr lang="en-US" altLang="zh-CN" sz="2800" b="0" dirty="0"/>
                  <a:t>0</a:t>
                </a:r>
                <a:r>
                  <a:rPr lang="zh-CN" altLang="en-US" sz="2800" b="0" dirty="0"/>
                  <a:t>，则该时刻之前系统的输出也必然为</a:t>
                </a:r>
                <a:r>
                  <a:rPr lang="en-US" altLang="zh-CN" sz="2800" b="0" dirty="0"/>
                  <a:t>0</a:t>
                </a:r>
                <a:r>
                  <a:rPr lang="zh-CN" altLang="en-US" sz="2800" b="0" dirty="0"/>
                  <a:t>。（参考教材习题</a:t>
                </a:r>
                <a:r>
                  <a:rPr lang="en-US" altLang="zh-CN" sz="2800" b="0" dirty="0"/>
                  <a:t>1.44(a)</a:t>
                </a:r>
                <a:r>
                  <a:rPr lang="zh-CN" altLang="en-US" sz="2800" b="0" dirty="0"/>
                  <a:t>）</a:t>
                </a:r>
                <a:endParaRPr lang="en-US" altLang="zh-CN" sz="2800" b="0" dirty="0"/>
              </a:p>
              <a:p>
                <a:pPr lvl="1">
                  <a:lnSpc>
                    <a:spcPct val="130000"/>
                  </a:lnSpc>
                  <a:spcBef>
                    <a:spcPts val="0"/>
                  </a:spcBef>
                  <a:spcAft>
                    <a:spcPts val="600"/>
                  </a:spcAft>
                </a:pPr>
                <a:r>
                  <a:rPr lang="zh-CN" altLang="en-US" b="0" dirty="0"/>
                  <a:t>该等价性的前提是系统为线性的。否则不一定成立。例如</a:t>
                </a:r>
                <a14:m>
                  <m:oMath xmlns:m="http://schemas.openxmlformats.org/officeDocument/2006/math">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d>
                      <m:dPr>
                        <m:begChr m:val="["/>
                        <m:endChr m:val="]"/>
                        <m:ctrlPr>
                          <a:rPr kumimoji="0" lang="en-US"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𝑛</m:t>
                        </m:r>
                      </m:e>
                    </m:d>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cs typeface="+mn-cs"/>
                      </a:rPr>
                      <m:t>=2</m:t>
                    </m:r>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𝑥</m:t>
                    </m:r>
                    <m:d>
                      <m:dPr>
                        <m:begChr m:val="["/>
                        <m:endChr m:val="]"/>
                        <m:ctrlPr>
                          <a:rPr kumimoji="0" lang="en-US"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dPr>
                      <m:e>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𝑛</m:t>
                        </m:r>
                      </m:e>
                    </m:d>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cs typeface="+mn-cs"/>
                      </a:rPr>
                      <m:t>+3</m:t>
                    </m:r>
                  </m:oMath>
                </a14:m>
                <a:r>
                  <a:rPr lang="zh-CN" altLang="en-US" b="0" dirty="0"/>
                  <a:t>是因果的，但显然不满足初始松弛条件。</a:t>
                </a:r>
                <a:endParaRPr lang="en-US" altLang="zh-CN" b="0" dirty="0"/>
              </a:p>
            </p:txBody>
          </p:sp>
        </mc:Choice>
        <mc:Fallback xmlns="">
          <p:sp>
            <p:nvSpPr>
              <p:cNvPr id="19467" name="内容占位符 2">
                <a:extLst>
                  <a:ext uri="{FF2B5EF4-FFF2-40B4-BE49-F238E27FC236}">
                    <a16:creationId xmlns:a16="http://schemas.microsoft.com/office/drawing/2014/main" id="{82ACC840-652F-4E34-8362-25E2844C5711}"/>
                  </a:ext>
                </a:extLst>
              </p:cNvPr>
              <p:cNvSpPr>
                <a:spLocks noGrp="1" noRot="1" noChangeAspect="1" noMove="1" noResize="1" noEditPoints="1" noAdjustHandles="1" noChangeArrowheads="1" noChangeShapeType="1" noTextEdit="1"/>
              </p:cNvSpPr>
              <p:nvPr>
                <p:ph idx="1"/>
              </p:nvPr>
            </p:nvSpPr>
            <p:spPr>
              <a:xfrm>
                <a:off x="457200" y="1303927"/>
                <a:ext cx="8229600" cy="4606902"/>
              </a:xfrm>
              <a:blipFill>
                <a:blip r:embed="rId2"/>
                <a:stretch>
                  <a:fillRect l="-1333" r="-222" b="-2778"/>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0E106BCF-55AA-46BF-B71D-42332B037D9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D91C97F-96E6-4C0B-A64A-5D6B028175B7}"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84363916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9" name="标题 1">
            <a:extLst>
              <a:ext uri="{FF2B5EF4-FFF2-40B4-BE49-F238E27FC236}">
                <a16:creationId xmlns:a16="http://schemas.microsoft.com/office/drawing/2014/main" id="{D06D6F66-8675-4953-AAC8-A2242B10CCA5}"/>
              </a:ext>
            </a:extLst>
          </p:cNvPr>
          <p:cNvSpPr>
            <a:spLocks noGrp="1"/>
          </p:cNvSpPr>
          <p:nvPr>
            <p:ph type="title"/>
          </p:nvPr>
        </p:nvSpPr>
        <p:spPr/>
        <p:txBody>
          <a:bodyPr/>
          <a:lstStyle/>
          <a:p>
            <a:r>
              <a:rPr lang="en-US" altLang="zh-CN"/>
              <a:t>2.3 </a:t>
            </a:r>
            <a:r>
              <a:rPr lang="zh-CN" altLang="en-US"/>
              <a:t>线性时不变系统的性质</a:t>
            </a:r>
          </a:p>
        </p:txBody>
      </p:sp>
      <mc:AlternateContent xmlns:mc="http://schemas.openxmlformats.org/markup-compatibility/2006" xmlns:a14="http://schemas.microsoft.com/office/drawing/2010/main">
        <mc:Choice Requires="a14">
          <p:sp>
            <p:nvSpPr>
              <p:cNvPr id="20490" name="内容占位符 2">
                <a:extLst>
                  <a:ext uri="{FF2B5EF4-FFF2-40B4-BE49-F238E27FC236}">
                    <a16:creationId xmlns:a16="http://schemas.microsoft.com/office/drawing/2014/main" id="{1E621A28-F0F2-4323-A906-169E5F354D78}"/>
                  </a:ext>
                </a:extLst>
              </p:cNvPr>
              <p:cNvSpPr>
                <a:spLocks noGrp="1"/>
              </p:cNvSpPr>
              <p:nvPr>
                <p:ph idx="1"/>
              </p:nvPr>
            </p:nvSpPr>
            <p:spPr>
              <a:xfrm>
                <a:off x="457200" y="1285875"/>
                <a:ext cx="8229600" cy="2974276"/>
              </a:xfrm>
            </p:spPr>
            <p:txBody>
              <a:bodyPr>
                <a:spAutoFit/>
              </a:bodyPr>
              <a:lstStyle/>
              <a:p>
                <a:pPr marL="0" indent="0" algn="just">
                  <a:buNone/>
                </a:pPr>
                <a:r>
                  <a:rPr lang="en-US" altLang="zh-CN" sz="2400" b="0" dirty="0"/>
                  <a:t>4. </a:t>
                </a:r>
                <a:r>
                  <a:rPr lang="zh-CN" altLang="en-US" sz="2400" b="0" dirty="0">
                    <a:solidFill>
                      <a:srgbClr val="FF0000"/>
                    </a:solidFill>
                  </a:rPr>
                  <a:t>稳定性</a:t>
                </a:r>
                <a:r>
                  <a:rPr lang="zh-CN" altLang="en-US" sz="2400" b="0" dirty="0"/>
                  <a:t>：稳定性意味着有界输入必然产生有界输出。</a:t>
                </a:r>
                <a:endParaRPr lang="en-US" altLang="zh-CN" sz="2400" b="0" dirty="0"/>
              </a:p>
              <a:p>
                <a:pPr marL="0" indent="0" algn="just">
                  <a:buNone/>
                </a:pPr>
                <a:r>
                  <a:rPr lang="zh-CN" altLang="en-US" sz="2400" b="0" dirty="0"/>
                  <a:t>以离散时间</a:t>
                </a:r>
                <a:r>
                  <a:rPr lang="en-US" altLang="zh-CN" sz="2400" b="0" dirty="0"/>
                  <a:t>LTI</a:t>
                </a:r>
                <a:r>
                  <a:rPr lang="zh-CN" altLang="en-US" sz="2400" b="0" dirty="0"/>
                  <a:t>系统为例，设</a:t>
                </a:r>
                <a14:m>
                  <m:oMath xmlns:m="http://schemas.openxmlformats.org/officeDocument/2006/math">
                    <m:r>
                      <a:rPr lang="en-US" sz="2400" b="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a14:m>
                <a:r>
                  <a:rPr lang="zh-CN" altLang="en-US" sz="2400" b="0" dirty="0"/>
                  <a:t>有界，</a:t>
                </a:r>
                <a14:m>
                  <m:oMath xmlns:m="http://schemas.openxmlformats.org/officeDocument/2006/math">
                    <m:d>
                      <m:dPr>
                        <m:begChr m:val="|"/>
                        <m:endChr m:val="|"/>
                        <m:ctrlPr>
                          <a:rPr lang="en-US" sz="2400" b="0" i="1">
                            <a:solidFill>
                              <a:srgbClr val="000000"/>
                            </a:solidFill>
                            <a:latin typeface="Cambria Math" panose="02040503050406030204" pitchFamily="18" charset="0"/>
                          </a:rPr>
                        </m:ctrlPr>
                      </m:dPr>
                      <m:e>
                        <m:r>
                          <a:rPr lang="en-US" sz="2400" b="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𝑘</m:t>
                        </m:r>
                        <m:r>
                          <a:rPr lang="en-US" sz="2400" b="0" i="1" smtClean="0">
                            <a:solidFill>
                              <a:srgbClr val="000000"/>
                            </a:solidFill>
                            <a:latin typeface="Cambria Math" panose="02040503050406030204" pitchFamily="18" charset="0"/>
                          </a:rPr>
                          <m:t>]</m:t>
                        </m:r>
                      </m:e>
                    </m:d>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𝐴</m:t>
                    </m:r>
                  </m:oMath>
                </a14:m>
                <a:r>
                  <a:rPr lang="zh-CN" altLang="en-US" sz="2400" b="0" dirty="0"/>
                  <a:t>。有</a:t>
                </a:r>
                <a:endParaRPr lang="en-US" altLang="zh-CN" sz="2400" b="0" dirty="0"/>
              </a:p>
              <a:p>
                <a:pPr marL="0" indent="0" algn="ctr">
                  <a:buNone/>
                </a:pPr>
                <a14:m>
                  <m:oMathPara xmlns:m="http://schemas.openxmlformats.org/officeDocument/2006/math">
                    <m:oMathParaPr>
                      <m:jc m:val="centerGroup"/>
                    </m:oMathParaPr>
                    <m:oMath xmlns:m="http://schemas.openxmlformats.org/officeDocument/2006/math">
                      <m:d>
                        <m:dPr>
                          <m:begChr m:val="|"/>
                          <m:endChr m:val="|"/>
                          <m:ctrlPr>
                            <a:rPr lang="en-US" sz="2400" b="0" i="1" smtClean="0">
                              <a:solidFill>
                                <a:srgbClr val="000000"/>
                              </a:solidFill>
                              <a:latin typeface="Cambria Math" panose="02040503050406030204" pitchFamily="18" charset="0"/>
                            </a:rPr>
                          </m:ctrlPr>
                        </m:dPr>
                        <m:e>
                          <m:r>
                            <a:rPr lang="en-US" sz="2400" b="0" i="1" smtClean="0">
                              <a:solidFill>
                                <a:srgbClr val="000000"/>
                              </a:solidFill>
                              <a:latin typeface="Cambria Math" panose="02040503050406030204" pitchFamily="18" charset="0"/>
                            </a:rPr>
                            <m:t>𝑦</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e>
                      </m:d>
                      <m:r>
                        <a:rPr lang="en-US" sz="2400" b="0" i="1" smtClean="0">
                          <a:solidFill>
                            <a:srgbClr val="000000"/>
                          </a:solidFill>
                          <a:latin typeface="Cambria Math" panose="02040503050406030204" pitchFamily="18" charset="0"/>
                        </a:rPr>
                        <m:t>=</m:t>
                      </m:r>
                      <m:d>
                        <m:dPr>
                          <m:begChr m:val="|"/>
                          <m:endChr m:val="|"/>
                          <m:ctrlPr>
                            <a:rPr lang="en-US" sz="2400" b="0" i="1">
                              <a:solidFill>
                                <a:srgbClr val="000000"/>
                              </a:solidFill>
                              <a:latin typeface="Cambria Math" panose="02040503050406030204" pitchFamily="18" charset="0"/>
                            </a:rPr>
                          </m:ctrlPr>
                        </m:dPr>
                        <m:e>
                          <m:nary>
                            <m:naryPr>
                              <m:chr m:val="∑"/>
                              <m:limLoc m:val="subSup"/>
                              <m:ctrlPr>
                                <a:rPr lang="en-US" sz="2400" b="0" i="1">
                                  <a:solidFill>
                                    <a:srgbClr val="000000"/>
                                  </a:solidFill>
                                  <a:latin typeface="Cambria Math" panose="02040503050406030204" pitchFamily="18" charset="0"/>
                                </a:rPr>
                              </m:ctrlPr>
                            </m:naryPr>
                            <m:sub>
                              <m:r>
                                <a:rPr lang="en-US" sz="2400" b="0" i="1" smtClean="0">
                                  <a:solidFill>
                                    <a:srgbClr val="000000"/>
                                  </a:solidFill>
                                  <a:latin typeface="Cambria Math" panose="02040503050406030204" pitchFamily="18" charset="0"/>
                                </a:rPr>
                                <m:t>𝑘</m:t>
                              </m:r>
                              <m:r>
                                <a:rPr lang="en-US" sz="2400" b="0" i="1" smtClean="0">
                                  <a:solidFill>
                                    <a:srgbClr val="000000"/>
                                  </a:solidFill>
                                  <a:latin typeface="Cambria Math" panose="02040503050406030204" pitchFamily="18" charset="0"/>
                                </a:rPr>
                                <m:t>=−∞</m:t>
                              </m:r>
                            </m:sub>
                            <m:sup>
                              <m:r>
                                <a:rPr lang="en-US" sz="2400" b="0" i="1" smtClean="0">
                                  <a:solidFill>
                                    <a:srgbClr val="000000"/>
                                  </a:solidFill>
                                  <a:latin typeface="Cambria Math" panose="02040503050406030204" pitchFamily="18" charset="0"/>
                                </a:rPr>
                                <m:t>∞</m:t>
                              </m:r>
                            </m:sup>
                            <m:e>
                              <m:r>
                                <a:rPr lang="en-US" sz="2400" b="0" i="1" smtClean="0">
                                  <a:solidFill>
                                    <a:srgbClr val="000000"/>
                                  </a:solidFill>
                                  <a:latin typeface="Cambria Math" panose="02040503050406030204" pitchFamily="18" charset="0"/>
                                </a:rPr>
                                <m:t>h</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𝑘</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𝑘</m:t>
                              </m:r>
                              <m:r>
                                <a:rPr lang="en-US" sz="2400" b="0" i="1" smtClean="0">
                                  <a:solidFill>
                                    <a:srgbClr val="000000"/>
                                  </a:solidFill>
                                  <a:latin typeface="Cambria Math" panose="02040503050406030204" pitchFamily="18" charset="0"/>
                                </a:rPr>
                                <m:t>]</m:t>
                              </m:r>
                            </m:e>
                          </m:nary>
                        </m:e>
                      </m:d>
                    </m:oMath>
                  </m:oMathPara>
                </a14:m>
                <a:endParaRPr lang="en-US" sz="2400" b="0" i="1" dirty="0">
                  <a:solidFill>
                    <a:srgbClr val="000000"/>
                  </a:solidFill>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sz="2400" b="0" i="1" smtClean="0">
                          <a:solidFill>
                            <a:srgbClr val="000000"/>
                          </a:solidFill>
                          <a:latin typeface="Cambria Math" panose="02040503050406030204" pitchFamily="18" charset="0"/>
                        </a:rPr>
                        <m:t>≤</m:t>
                      </m:r>
                      <m:nary>
                        <m:naryPr>
                          <m:chr m:val="∑"/>
                          <m:limLoc m:val="subSup"/>
                          <m:ctrlPr>
                            <a:rPr lang="en-US" sz="2400" b="0" i="1">
                              <a:solidFill>
                                <a:srgbClr val="000000"/>
                              </a:solidFill>
                              <a:latin typeface="Cambria Math" panose="02040503050406030204" pitchFamily="18" charset="0"/>
                            </a:rPr>
                          </m:ctrlPr>
                        </m:naryPr>
                        <m:sub>
                          <m:r>
                            <a:rPr lang="en-US" sz="2400" b="0" i="1" smtClean="0">
                              <a:solidFill>
                                <a:srgbClr val="000000"/>
                              </a:solidFill>
                              <a:latin typeface="Cambria Math" panose="02040503050406030204" pitchFamily="18" charset="0"/>
                            </a:rPr>
                            <m:t>𝑘</m:t>
                          </m:r>
                          <m:r>
                            <a:rPr lang="en-US" sz="2400" b="0" i="1" smtClean="0">
                              <a:solidFill>
                                <a:srgbClr val="000000"/>
                              </a:solidFill>
                              <a:latin typeface="Cambria Math" panose="02040503050406030204" pitchFamily="18" charset="0"/>
                            </a:rPr>
                            <m:t>=−∞</m:t>
                          </m:r>
                        </m:sub>
                        <m:sup>
                          <m:r>
                            <a:rPr lang="en-US" sz="2400" b="0" i="1" smtClean="0">
                              <a:solidFill>
                                <a:srgbClr val="000000"/>
                              </a:solidFill>
                              <a:latin typeface="Cambria Math" panose="02040503050406030204" pitchFamily="18" charset="0"/>
                            </a:rPr>
                            <m:t>∞</m:t>
                          </m:r>
                        </m:sup>
                        <m:e>
                          <m:d>
                            <m:dPr>
                              <m:begChr m:val="|"/>
                              <m:endChr m:val="|"/>
                              <m:ctrlPr>
                                <a:rPr lang="en-US" sz="2400" b="0" i="1">
                                  <a:solidFill>
                                    <a:srgbClr val="000000"/>
                                  </a:solidFill>
                                  <a:latin typeface="Cambria Math" panose="02040503050406030204" pitchFamily="18" charset="0"/>
                                </a:rPr>
                              </m:ctrlPr>
                            </m:dPr>
                            <m:e>
                              <m:r>
                                <a:rPr lang="en-US" sz="2400" b="0" i="1" smtClean="0">
                                  <a:solidFill>
                                    <a:srgbClr val="000000"/>
                                  </a:solidFill>
                                  <a:latin typeface="Cambria Math" panose="02040503050406030204" pitchFamily="18" charset="0"/>
                                </a:rPr>
                                <m:t>h</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𝑘</m:t>
                              </m:r>
                              <m:r>
                                <a:rPr lang="en-US" sz="2400" b="0" i="1" smtClean="0">
                                  <a:solidFill>
                                    <a:srgbClr val="000000"/>
                                  </a:solidFill>
                                  <a:latin typeface="Cambria Math" panose="02040503050406030204" pitchFamily="18" charset="0"/>
                                </a:rPr>
                                <m:t>]</m:t>
                              </m:r>
                            </m:e>
                          </m:d>
                          <m:d>
                            <m:dPr>
                              <m:begChr m:val="|"/>
                              <m:endChr m:val="|"/>
                              <m:ctrlPr>
                                <a:rPr lang="en-US" sz="2400" b="0" i="1">
                                  <a:solidFill>
                                    <a:srgbClr val="000000"/>
                                  </a:solidFill>
                                  <a:latin typeface="Cambria Math" panose="02040503050406030204" pitchFamily="18" charset="0"/>
                                </a:rPr>
                              </m:ctrlPr>
                            </m:dPr>
                            <m:e>
                              <m:r>
                                <a:rPr lang="en-US" sz="2400" b="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𝑘</m:t>
                              </m:r>
                              <m:r>
                                <a:rPr lang="en-US" sz="2400" b="0" i="1" smtClean="0">
                                  <a:solidFill>
                                    <a:srgbClr val="000000"/>
                                  </a:solidFill>
                                  <a:latin typeface="Cambria Math" panose="02040503050406030204" pitchFamily="18" charset="0"/>
                                </a:rPr>
                                <m:t>]</m:t>
                              </m:r>
                            </m:e>
                          </m:d>
                        </m:e>
                      </m:nary>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𝐴</m:t>
                      </m:r>
                      <m:nary>
                        <m:naryPr>
                          <m:chr m:val="∑"/>
                          <m:limLoc m:val="subSup"/>
                          <m:ctrlPr>
                            <a:rPr lang="en-US" sz="2400" b="0" i="1">
                              <a:solidFill>
                                <a:srgbClr val="000000"/>
                              </a:solidFill>
                              <a:latin typeface="Cambria Math" panose="02040503050406030204" pitchFamily="18" charset="0"/>
                            </a:rPr>
                          </m:ctrlPr>
                        </m:naryPr>
                        <m:sub>
                          <m:r>
                            <a:rPr lang="en-US" sz="2400" b="0" i="1" smtClean="0">
                              <a:solidFill>
                                <a:srgbClr val="000000"/>
                              </a:solidFill>
                              <a:latin typeface="Cambria Math" panose="02040503050406030204" pitchFamily="18" charset="0"/>
                            </a:rPr>
                            <m:t>𝑘</m:t>
                          </m:r>
                          <m:r>
                            <a:rPr lang="en-US" sz="2400" b="0" i="1" smtClean="0">
                              <a:solidFill>
                                <a:srgbClr val="000000"/>
                              </a:solidFill>
                              <a:latin typeface="Cambria Math" panose="02040503050406030204" pitchFamily="18" charset="0"/>
                            </a:rPr>
                            <m:t>=−∞</m:t>
                          </m:r>
                        </m:sub>
                        <m:sup>
                          <m:r>
                            <a:rPr lang="en-US" sz="2400" b="0" i="1" smtClean="0">
                              <a:solidFill>
                                <a:srgbClr val="000000"/>
                              </a:solidFill>
                              <a:latin typeface="Cambria Math" panose="02040503050406030204" pitchFamily="18" charset="0"/>
                            </a:rPr>
                            <m:t>∞</m:t>
                          </m:r>
                        </m:sup>
                        <m:e>
                          <m:d>
                            <m:dPr>
                              <m:begChr m:val="|"/>
                              <m:endChr m:val="|"/>
                              <m:ctrlPr>
                                <a:rPr lang="en-US" sz="2400" b="0" i="1">
                                  <a:solidFill>
                                    <a:srgbClr val="000000"/>
                                  </a:solidFill>
                                  <a:latin typeface="Cambria Math" panose="02040503050406030204" pitchFamily="18" charset="0"/>
                                </a:rPr>
                              </m:ctrlPr>
                            </m:dPr>
                            <m:e>
                              <m:r>
                                <a:rPr lang="en-US" sz="2400" b="0" i="1" smtClean="0">
                                  <a:solidFill>
                                    <a:srgbClr val="000000"/>
                                  </a:solidFill>
                                  <a:latin typeface="Cambria Math" panose="02040503050406030204" pitchFamily="18" charset="0"/>
                                </a:rPr>
                                <m:t>h</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𝑘</m:t>
                              </m:r>
                              <m:r>
                                <a:rPr lang="en-US" sz="2400" b="0" i="1" smtClean="0">
                                  <a:solidFill>
                                    <a:srgbClr val="000000"/>
                                  </a:solidFill>
                                  <a:latin typeface="Cambria Math" panose="02040503050406030204" pitchFamily="18" charset="0"/>
                                </a:rPr>
                                <m:t>]</m:t>
                              </m:r>
                            </m:e>
                          </m:d>
                        </m:e>
                      </m:nary>
                    </m:oMath>
                  </m:oMathPara>
                </a14:m>
                <a:endParaRPr lang="en-US" altLang="zh-CN" sz="2400" b="0" dirty="0"/>
              </a:p>
              <a:p>
                <a:pPr marL="0" indent="0" algn="just">
                  <a:spcBef>
                    <a:spcPts val="1200"/>
                  </a:spcBef>
                  <a:buNone/>
                </a:pPr>
                <a:r>
                  <a:rPr lang="zh-CN" altLang="en-US" sz="2400" b="0" dirty="0"/>
                  <a:t>如下式成立，</a:t>
                </a:r>
                <a:r>
                  <a:rPr lang="zh-CN" altLang="en-US" sz="2400" b="0" dirty="0">
                    <a:solidFill>
                      <a:prstClr val="black"/>
                    </a:solidFill>
                    <a:latin typeface="Times New Roman" pitchFamily="18" charset="0"/>
                    <a:ea typeface="华文楷体" pitchFamily="2" charset="-122"/>
                  </a:rPr>
                  <a:t>则</a:t>
                </a:r>
                <a14:m>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𝑛</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必有界</a:t>
                </a:r>
                <a:r>
                  <a:rPr lang="zh-CN" altLang="en-US" sz="2400" b="0" dirty="0">
                    <a:solidFill>
                      <a:prstClr val="black"/>
                    </a:solidFill>
                    <a:latin typeface="Times New Roman" pitchFamily="18" charset="0"/>
                    <a:ea typeface="华文楷体" pitchFamily="2" charset="-122"/>
                  </a:rPr>
                  <a:t>，从而系统稳定</a:t>
                </a:r>
                <a:r>
                  <a:rPr lang="zh-CN" altLang="en-US" sz="2400" b="0" dirty="0"/>
                  <a:t>：</a:t>
                </a:r>
              </a:p>
            </p:txBody>
          </p:sp>
        </mc:Choice>
        <mc:Fallback xmlns="">
          <p:sp>
            <p:nvSpPr>
              <p:cNvPr id="20490" name="内容占位符 2">
                <a:extLst>
                  <a:ext uri="{FF2B5EF4-FFF2-40B4-BE49-F238E27FC236}">
                    <a16:creationId xmlns:a16="http://schemas.microsoft.com/office/drawing/2014/main" id="{1E621A28-F0F2-4323-A906-169E5F354D78}"/>
                  </a:ext>
                </a:extLst>
              </p:cNvPr>
              <p:cNvSpPr>
                <a:spLocks noGrp="1" noRot="1" noChangeAspect="1" noMove="1" noResize="1" noEditPoints="1" noAdjustHandles="1" noChangeArrowheads="1" noChangeShapeType="1" noTextEdit="1"/>
              </p:cNvSpPr>
              <p:nvPr>
                <p:ph idx="1"/>
              </p:nvPr>
            </p:nvSpPr>
            <p:spPr>
              <a:xfrm>
                <a:off x="457200" y="1285875"/>
                <a:ext cx="8229600" cy="2974276"/>
              </a:xfrm>
              <a:blipFill>
                <a:blip r:embed="rId3"/>
                <a:stretch>
                  <a:fillRect l="-1111" t="-1844" b="-3893"/>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AA25FC6C-0B43-450A-9463-2AA0FDD8A3D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6D16DC4-4BE1-4755-BA11-4D6348FA871B}"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0487" name="Object 11">
                <a:extLst>
                  <a:ext uri="{FF2B5EF4-FFF2-40B4-BE49-F238E27FC236}">
                    <a16:creationId xmlns:a16="http://schemas.microsoft.com/office/drawing/2014/main" id="{EE1FBA62-430D-4866-87AD-6838437CBB23}"/>
                  </a:ext>
                </a:extLst>
              </p:cNvPr>
              <p:cNvSpPr txBox="1"/>
              <p:nvPr/>
            </p:nvSpPr>
            <p:spPr bwMode="auto">
              <a:xfrm>
                <a:off x="2976564" y="4295604"/>
                <a:ext cx="2805112" cy="816762"/>
              </a:xfrm>
              <a:prstGeom prst="rect">
                <a:avLst/>
              </a:prstGeom>
              <a:solidFill>
                <a:srgbClr val="CCFFFF"/>
              </a:solidFill>
              <a:ln>
                <a:noFill/>
              </a:ln>
              <a:effectLst/>
            </p:spPr>
            <p:txBody>
              <a:bodyPr>
                <a:spAutoFit/>
              </a:bodyPr>
              <a:lstStyle/>
              <a:p>
                <a:pPr/>
                <a14:m>
                  <m:oMathPara xmlns:m="http://schemas.openxmlformats.org/officeDocument/2006/math">
                    <m:oMathParaPr>
                      <m:jc m:val="left"/>
                    </m:oMathParaPr>
                    <m:oMath xmlns:m="http://schemas.openxmlformats.org/officeDocument/2006/math">
                      <m:nary>
                        <m:naryPr>
                          <m:chr m:val="∑"/>
                          <m:limLoc m:val="subSup"/>
                          <m:ctrlPr>
                            <a:rPr lang="en-US" sz="2400" i="1" smtClean="0">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𝑛</m:t>
                          </m:r>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m:t>
                          </m:r>
                        </m:sup>
                        <m:e>
                          <m:d>
                            <m:dPr>
                              <m:begChr m:val="|"/>
                              <m:endChr m:val="|"/>
                              <m:ctrlPr>
                                <a:rPr lang="en-US" sz="2400" i="1">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h</m:t>
                              </m:r>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𝑛</m:t>
                              </m:r>
                              <m:r>
                                <a:rPr lang="en-US" sz="2400" i="1" smtClean="0">
                                  <a:solidFill>
                                    <a:srgbClr val="FF0000"/>
                                  </a:solidFill>
                                  <a:latin typeface="Cambria Math" panose="02040503050406030204" pitchFamily="18" charset="0"/>
                                </a:rPr>
                                <m:t>]</m:t>
                              </m:r>
                            </m:e>
                          </m:d>
                        </m:e>
                      </m:nary>
                      <m:r>
                        <a:rPr lang="en-US" sz="2400" i="1">
                          <a:solidFill>
                            <a:srgbClr val="FF0000"/>
                          </a:solidFill>
                          <a:latin typeface="Cambria Math" panose="02040503050406030204" pitchFamily="18" charset="0"/>
                        </a:rPr>
                        <m:t>&lt;∞</m:t>
                      </m:r>
                    </m:oMath>
                  </m:oMathPara>
                </a14:m>
                <a:endParaRPr lang="en-US" sz="2400" dirty="0">
                  <a:solidFill>
                    <a:srgbClr val="FF0000"/>
                  </a:solidFill>
                </a:endParaRPr>
              </a:p>
            </p:txBody>
          </p:sp>
        </mc:Choice>
        <mc:Fallback xmlns="">
          <p:sp>
            <p:nvSpPr>
              <p:cNvPr id="20487" name="Object 11">
                <a:extLst>
                  <a:ext uri="{FF2B5EF4-FFF2-40B4-BE49-F238E27FC236}">
                    <a16:creationId xmlns:a16="http://schemas.microsoft.com/office/drawing/2014/main" id="{EE1FBA62-430D-4866-87AD-6838437CBB23}"/>
                  </a:ext>
                </a:extLst>
              </p:cNvPr>
              <p:cNvSpPr txBox="1">
                <a:spLocks noRot="1" noChangeAspect="1" noMove="1" noResize="1" noEditPoints="1" noAdjustHandles="1" noChangeArrowheads="1" noChangeShapeType="1" noTextEdit="1"/>
              </p:cNvSpPr>
              <p:nvPr/>
            </p:nvSpPr>
            <p:spPr bwMode="auto">
              <a:xfrm>
                <a:off x="2976564" y="4295604"/>
                <a:ext cx="2805112" cy="816762"/>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88" name="Object 14">
                <a:extLst>
                  <a:ext uri="{FF2B5EF4-FFF2-40B4-BE49-F238E27FC236}">
                    <a16:creationId xmlns:a16="http://schemas.microsoft.com/office/drawing/2014/main" id="{1EE19AAF-EBD4-4424-856D-893046D0224A}"/>
                  </a:ext>
                </a:extLst>
              </p:cNvPr>
              <p:cNvSpPr txBox="1"/>
              <p:nvPr/>
            </p:nvSpPr>
            <p:spPr bwMode="auto">
              <a:xfrm>
                <a:off x="3190876" y="5707781"/>
                <a:ext cx="2376488" cy="817563"/>
              </a:xfrm>
              <a:prstGeom prst="rect">
                <a:avLst/>
              </a:prstGeom>
              <a:solidFill>
                <a:srgbClr val="CCFFFF"/>
              </a:solid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nary>
                        <m:naryPr>
                          <m:ctrlPr>
                            <a:rPr lang="en-US" sz="2400" i="1" smtClean="0">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m:t>
                          </m:r>
                        </m:sup>
                        <m:e>
                          <m:d>
                            <m:dPr>
                              <m:begChr m:val="|"/>
                              <m:endChr m:val="|"/>
                              <m:ctrlPr>
                                <a:rPr lang="en-US" sz="2400" i="1">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h</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e>
                          </m:d>
                        </m:e>
                      </m:nary>
                      <m:r>
                        <a:rPr lang="en-US" sz="2400" i="1">
                          <a:solidFill>
                            <a:srgbClr val="FF0000"/>
                          </a:solidFill>
                          <a:latin typeface="Cambria Math" panose="02040503050406030204" pitchFamily="18" charset="0"/>
                        </a:rPr>
                        <m:t>𝑑𝑡</m:t>
                      </m:r>
                      <m:r>
                        <a:rPr lang="en-US" sz="2400" i="1">
                          <a:solidFill>
                            <a:srgbClr val="FF0000"/>
                          </a:solidFill>
                          <a:latin typeface="Cambria Math" panose="02040503050406030204" pitchFamily="18" charset="0"/>
                        </a:rPr>
                        <m:t>&lt;∞</m:t>
                      </m:r>
                    </m:oMath>
                  </m:oMathPara>
                </a14:m>
                <a:endParaRPr lang="en-US" sz="2400" dirty="0">
                  <a:solidFill>
                    <a:srgbClr val="FF0000"/>
                  </a:solidFill>
                </a:endParaRPr>
              </a:p>
            </p:txBody>
          </p:sp>
        </mc:Choice>
        <mc:Fallback xmlns="">
          <p:sp>
            <p:nvSpPr>
              <p:cNvPr id="20488" name="Object 14">
                <a:extLst>
                  <a:ext uri="{FF2B5EF4-FFF2-40B4-BE49-F238E27FC236}">
                    <a16:creationId xmlns:a16="http://schemas.microsoft.com/office/drawing/2014/main" id="{1EE19AAF-EBD4-4424-856D-893046D0224A}"/>
                  </a:ext>
                </a:extLst>
              </p:cNvPr>
              <p:cNvSpPr txBox="1">
                <a:spLocks noRot="1" noChangeAspect="1" noMove="1" noResize="1" noEditPoints="1" noAdjustHandles="1" noChangeArrowheads="1" noChangeShapeType="1" noTextEdit="1"/>
              </p:cNvSpPr>
              <p:nvPr/>
            </p:nvSpPr>
            <p:spPr bwMode="auto">
              <a:xfrm>
                <a:off x="3190876" y="5707781"/>
                <a:ext cx="2376488" cy="817563"/>
              </a:xfrm>
              <a:prstGeom prst="rect">
                <a:avLst/>
              </a:prstGeom>
              <a:blipFill>
                <a:blip r:embed="rId5"/>
                <a:stretch>
                  <a:fillRect/>
                </a:stretch>
              </a:blipFill>
              <a:ln>
                <a:noFill/>
              </a:ln>
              <a:effectLst/>
            </p:spPr>
            <p:txBody>
              <a:bodyPr/>
              <a:lstStyle/>
              <a:p>
                <a:r>
                  <a:rPr lang="en-US">
                    <a:noFill/>
                  </a:rPr>
                  <a:t> </a:t>
                </a:r>
              </a:p>
            </p:txBody>
          </p:sp>
        </mc:Fallback>
      </mc:AlternateContent>
      <p:sp>
        <p:nvSpPr>
          <p:cNvPr id="36" name="文本框 35">
            <a:extLst>
              <a:ext uri="{FF2B5EF4-FFF2-40B4-BE49-F238E27FC236}">
                <a16:creationId xmlns:a16="http://schemas.microsoft.com/office/drawing/2014/main" id="{CDE20FE9-AFAF-454B-9C4B-DB48095612E9}"/>
              </a:ext>
            </a:extLst>
          </p:cNvPr>
          <p:cNvSpPr txBox="1"/>
          <p:nvPr/>
        </p:nvSpPr>
        <p:spPr>
          <a:xfrm>
            <a:off x="457200" y="5179241"/>
            <a:ext cx="4546848" cy="461665"/>
          </a:xfrm>
          <a:prstGeom prst="rect">
            <a:avLst/>
          </a:prstGeom>
          <a:noFill/>
        </p:spPr>
        <p:txBody>
          <a:bodyPr wrap="square">
            <a:spAutoFit/>
          </a:bodyPr>
          <a:lstStyle/>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连续时间</a:t>
            </a:r>
            <a:r>
              <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LTI</a:t>
            </a: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系统稳定的条件为</a:t>
            </a:r>
            <a:r>
              <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 </a:t>
            </a:r>
            <a:endParaRPr lang="en-US" dirty="0"/>
          </a:p>
        </p:txBody>
      </p:sp>
      <p:grpSp>
        <p:nvGrpSpPr>
          <p:cNvPr id="2" name="组合 1">
            <a:extLst>
              <a:ext uri="{FF2B5EF4-FFF2-40B4-BE49-F238E27FC236}">
                <a16:creationId xmlns:a16="http://schemas.microsoft.com/office/drawing/2014/main" id="{0C37C466-1700-428F-B150-9A7E76F90961}"/>
              </a:ext>
            </a:extLst>
          </p:cNvPr>
          <p:cNvGrpSpPr/>
          <p:nvPr/>
        </p:nvGrpSpPr>
        <p:grpSpPr>
          <a:xfrm>
            <a:off x="5567364" y="4775993"/>
            <a:ext cx="2906922" cy="1525235"/>
            <a:chOff x="5567364" y="4508303"/>
            <a:chExt cx="2906922" cy="1525235"/>
          </a:xfrm>
        </p:grpSpPr>
        <p:sp>
          <p:nvSpPr>
            <p:cNvPr id="20492" name="Text Box 15">
              <a:extLst>
                <a:ext uri="{FF2B5EF4-FFF2-40B4-BE49-F238E27FC236}">
                  <a16:creationId xmlns:a16="http://schemas.microsoft.com/office/drawing/2014/main" id="{5CA10A94-9589-441B-95DE-A8F23698711A}"/>
                </a:ext>
              </a:extLst>
            </p:cNvPr>
            <p:cNvSpPr txBox="1">
              <a:spLocks noChangeArrowheads="1"/>
            </p:cNvSpPr>
            <p:nvPr/>
          </p:nvSpPr>
          <p:spPr bwMode="auto">
            <a:xfrm>
              <a:off x="6012160" y="4707509"/>
              <a:ext cx="223224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LTI</a:t>
              </a: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系统稳定的</a:t>
              </a:r>
              <a:endParaRPr kumimoji="0" lang="en-US" altLang="zh-CN"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充分必要条件</a:t>
              </a:r>
            </a:p>
          </p:txBody>
        </p:sp>
        <p:cxnSp>
          <p:nvCxnSpPr>
            <p:cNvPr id="14" name="直接箭头连接符 13">
              <a:extLst>
                <a:ext uri="{FF2B5EF4-FFF2-40B4-BE49-F238E27FC236}">
                  <a16:creationId xmlns:a16="http://schemas.microsoft.com/office/drawing/2014/main" id="{FD462AC8-EB47-406D-A8B1-EE80544C8B5A}"/>
                </a:ext>
              </a:extLst>
            </p:cNvPr>
            <p:cNvCxnSpPr>
              <a:cxnSpLocks/>
              <a:stCxn id="20487" idx="3"/>
              <a:endCxn id="20492" idx="1"/>
            </p:cNvCxnSpPr>
            <p:nvPr/>
          </p:nvCxnSpPr>
          <p:spPr>
            <a:xfrm>
              <a:off x="5781676" y="4508303"/>
              <a:ext cx="230484" cy="614705"/>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FF9FAC86-8DD6-40EA-9F0E-54DA64375437}"/>
                </a:ext>
              </a:extLst>
            </p:cNvPr>
            <p:cNvCxnSpPr>
              <a:cxnSpLocks/>
              <a:stCxn id="20488" idx="3"/>
              <a:endCxn id="20492" idx="1"/>
            </p:cNvCxnSpPr>
            <p:nvPr/>
          </p:nvCxnSpPr>
          <p:spPr>
            <a:xfrm flipV="1">
              <a:off x="5567364" y="5123008"/>
              <a:ext cx="444796" cy="797873"/>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3" name="左大括号 32">
              <a:extLst>
                <a:ext uri="{FF2B5EF4-FFF2-40B4-BE49-F238E27FC236}">
                  <a16:creationId xmlns:a16="http://schemas.microsoft.com/office/drawing/2014/main" id="{450D1CDD-98DF-4E51-B3EF-6A2CDFF05BBB}"/>
                </a:ext>
              </a:extLst>
            </p:cNvPr>
            <p:cNvSpPr/>
            <p:nvPr/>
          </p:nvSpPr>
          <p:spPr>
            <a:xfrm rot="16200000">
              <a:off x="7387771" y="4949920"/>
              <a:ext cx="92285" cy="1152129"/>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文本框 48">
              <a:extLst>
                <a:ext uri="{FF2B5EF4-FFF2-40B4-BE49-F238E27FC236}">
                  <a16:creationId xmlns:a16="http://schemas.microsoft.com/office/drawing/2014/main" id="{CF786219-7877-4182-8896-2D59A50FFA52}"/>
                </a:ext>
              </a:extLst>
            </p:cNvPr>
            <p:cNvSpPr txBox="1"/>
            <p:nvPr/>
          </p:nvSpPr>
          <p:spPr>
            <a:xfrm>
              <a:off x="6393540" y="5664206"/>
              <a:ext cx="2080746" cy="369332"/>
            </a:xfrm>
            <a:prstGeom prst="rect">
              <a:avLst/>
            </a:prstGeom>
            <a:noFill/>
          </p:spPr>
          <p:txBody>
            <a:bodyPr wrap="square">
              <a:spAutoFit/>
            </a:bodyPr>
            <a:lstStyle/>
            <a:p>
              <a:pPr algn="ctr"/>
              <a:r>
                <a:rPr kumimoji="0" lang="en-US" altLang="zh-CN"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a:t>
              </a:r>
              <a:r>
                <a:rPr kumimoji="0" lang="zh-CN" altLang="en-US"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参考教材习题</a:t>
              </a:r>
              <a:r>
                <a:rPr kumimoji="0" lang="en-US" altLang="zh-CN"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2.49)</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1" name="标题 1">
            <a:extLst>
              <a:ext uri="{FF2B5EF4-FFF2-40B4-BE49-F238E27FC236}">
                <a16:creationId xmlns:a16="http://schemas.microsoft.com/office/drawing/2014/main" id="{CA0600E9-0091-4B80-AEEA-A31F2F394370}"/>
              </a:ext>
            </a:extLst>
          </p:cNvPr>
          <p:cNvSpPr>
            <a:spLocks noGrp="1"/>
          </p:cNvSpPr>
          <p:nvPr>
            <p:ph type="title"/>
          </p:nvPr>
        </p:nvSpPr>
        <p:spPr/>
        <p:txBody>
          <a:bodyPr/>
          <a:lstStyle/>
          <a:p>
            <a:r>
              <a:rPr lang="en-US" altLang="zh-CN"/>
              <a:t>2.3 </a:t>
            </a:r>
            <a:r>
              <a:rPr lang="zh-CN" altLang="en-US"/>
              <a:t>线性时不变系统的性质</a:t>
            </a:r>
          </a:p>
        </p:txBody>
      </p:sp>
      <mc:AlternateContent xmlns:mc="http://schemas.openxmlformats.org/markup-compatibility/2006" xmlns:a14="http://schemas.microsoft.com/office/drawing/2010/main">
        <mc:Choice Requires="a14">
          <p:sp>
            <p:nvSpPr>
              <p:cNvPr id="21512" name="内容占位符 2">
                <a:extLst>
                  <a:ext uri="{FF2B5EF4-FFF2-40B4-BE49-F238E27FC236}">
                    <a16:creationId xmlns:a16="http://schemas.microsoft.com/office/drawing/2014/main" id="{E381B712-F6D9-4911-89AC-7C5D72A4FF26}"/>
                  </a:ext>
                </a:extLst>
              </p:cNvPr>
              <p:cNvSpPr>
                <a:spLocks noGrp="1"/>
              </p:cNvSpPr>
              <p:nvPr>
                <p:ph idx="1"/>
              </p:nvPr>
            </p:nvSpPr>
            <p:spPr>
              <a:xfrm>
                <a:off x="457200" y="1268760"/>
                <a:ext cx="8229600" cy="1200329"/>
              </a:xfrm>
            </p:spPr>
            <p:txBody>
              <a:bodyPr wrap="square">
                <a:spAutoFit/>
              </a:bodyPr>
              <a:lstStyle/>
              <a:p>
                <a:pPr marL="0" indent="0">
                  <a:buNone/>
                </a:pPr>
                <a:r>
                  <a:rPr lang="en-US" altLang="zh-CN" sz="2400" b="0" dirty="0"/>
                  <a:t>5. LTI</a:t>
                </a:r>
                <a:r>
                  <a:rPr lang="zh-CN" altLang="en-US" sz="2400" b="0" dirty="0"/>
                  <a:t>系统的</a:t>
                </a:r>
                <a:r>
                  <a:rPr lang="zh-CN" altLang="en-US" sz="2400" b="0" dirty="0">
                    <a:solidFill>
                      <a:srgbClr val="FF0000"/>
                    </a:solidFill>
                  </a:rPr>
                  <a:t>单位阶跃响应</a:t>
                </a:r>
                <a:r>
                  <a:rPr lang="zh-CN" altLang="en-US" sz="2400" b="0" dirty="0"/>
                  <a:t>：在工程实际中，也常用单位阶跃响应来描述</a:t>
                </a:r>
                <a:r>
                  <a:rPr lang="en-US" altLang="zh-CN" sz="2400" b="0" dirty="0"/>
                  <a:t>LTI</a:t>
                </a:r>
                <a:r>
                  <a:rPr lang="zh-CN" altLang="en-US" sz="2400" b="0" dirty="0"/>
                  <a:t>系统。单位阶跃响应就是系统对</a:t>
                </a:r>
                <a14:m>
                  <m:oMath xmlns:m="http://schemas.openxmlformats.org/officeDocument/2006/math">
                    <m:r>
                      <a:rPr lang="en-US" sz="2400" i="1" smtClean="0">
                        <a:solidFill>
                          <a:srgbClr val="000000"/>
                        </a:solidFill>
                        <a:latin typeface="Cambria Math" panose="02040503050406030204" pitchFamily="18" charset="0"/>
                      </a:rPr>
                      <m:t>𝑢</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m:t>
                    </m:r>
                  </m:oMath>
                </a14:m>
                <a:r>
                  <a:rPr lang="zh-CN" altLang="en-US" sz="2400" b="0" dirty="0"/>
                  <a:t>或</a:t>
                </a:r>
                <a14:m>
                  <m:oMath xmlns:m="http://schemas.openxmlformats.org/officeDocument/2006/math">
                    <m:r>
                      <a:rPr lang="en-US" sz="2400" i="1">
                        <a:solidFill>
                          <a:srgbClr val="000000"/>
                        </a:solidFill>
                        <a:latin typeface="Cambria Math" panose="02040503050406030204" pitchFamily="18" charset="0"/>
                      </a:rPr>
                      <m:t>𝑢</m:t>
                    </m:r>
                    <m:r>
                      <a:rPr lang="en-US" sz="2400" b="1"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1" i="1" smtClean="0">
                        <a:solidFill>
                          <a:srgbClr val="000000"/>
                        </a:solidFill>
                        <a:latin typeface="Cambria Math" panose="02040503050406030204" pitchFamily="18" charset="0"/>
                      </a:rPr>
                      <m:t>]</m:t>
                    </m:r>
                  </m:oMath>
                </a14:m>
                <a:r>
                  <a:rPr lang="zh-CN" altLang="en-US" sz="2400" b="0" dirty="0"/>
                  <a:t>所产生的响应，记为</a:t>
                </a:r>
                <a14:m>
                  <m:oMath xmlns:m="http://schemas.openxmlformats.org/officeDocument/2006/math">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lang="zh-CN" altLang="en-US" sz="2400" b="0" dirty="0"/>
                  <a:t>或</a:t>
                </a:r>
                <a14:m>
                  <m:oMath xmlns:m="http://schemas.openxmlformats.org/officeDocument/2006/math">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oMath>
                </a14:m>
                <a:r>
                  <a:rPr lang="zh-CN" altLang="en-US" sz="2400" b="0" dirty="0"/>
                  <a:t>。因此有</a:t>
                </a:r>
                <a:r>
                  <a:rPr lang="en-US" altLang="zh-CN" sz="2400" b="0" dirty="0"/>
                  <a:t>:</a:t>
                </a:r>
                <a:endParaRPr lang="zh-CN" altLang="en-US" sz="2400" b="0" dirty="0"/>
              </a:p>
            </p:txBody>
          </p:sp>
        </mc:Choice>
        <mc:Fallback xmlns="">
          <p:sp>
            <p:nvSpPr>
              <p:cNvPr id="21512" name="内容占位符 2">
                <a:extLst>
                  <a:ext uri="{FF2B5EF4-FFF2-40B4-BE49-F238E27FC236}">
                    <a16:creationId xmlns:a16="http://schemas.microsoft.com/office/drawing/2014/main" id="{E381B712-F6D9-4911-89AC-7C5D72A4FF26}"/>
                  </a:ext>
                </a:extLst>
              </p:cNvPr>
              <p:cNvSpPr>
                <a:spLocks noGrp="1" noRot="1" noChangeAspect="1" noMove="1" noResize="1" noEditPoints="1" noAdjustHandles="1" noChangeArrowheads="1" noChangeShapeType="1" noTextEdit="1"/>
              </p:cNvSpPr>
              <p:nvPr>
                <p:ph idx="1"/>
              </p:nvPr>
            </p:nvSpPr>
            <p:spPr>
              <a:xfrm>
                <a:off x="457200" y="1268760"/>
                <a:ext cx="8229600" cy="1200329"/>
              </a:xfrm>
              <a:blipFill>
                <a:blip r:embed="rId2"/>
                <a:stretch>
                  <a:fillRect l="-1111" t="-4569" b="-11168"/>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410576C2-576E-4D31-8259-037502E8C54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DCB009C-F592-4E3D-A8CC-F85BC17BC4E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21514" name="Text Box 10">
            <a:extLst>
              <a:ext uri="{FF2B5EF4-FFF2-40B4-BE49-F238E27FC236}">
                <a16:creationId xmlns:a16="http://schemas.microsoft.com/office/drawing/2014/main" id="{44015256-BD04-4FD4-A8AB-2B617201EED3}"/>
              </a:ext>
            </a:extLst>
          </p:cNvPr>
          <p:cNvSpPr txBox="1">
            <a:spLocks noChangeArrowheads="1"/>
          </p:cNvSpPr>
          <p:nvPr/>
        </p:nvSpPr>
        <p:spPr bwMode="auto">
          <a:xfrm>
            <a:off x="457200" y="5919663"/>
            <a:ext cx="69951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LTI</a:t>
            </a:r>
            <a:r>
              <a:rPr kumimoji="0"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系统的特性也可以用它的单位阶跃响应来描述。 </a:t>
            </a:r>
          </a:p>
        </p:txBody>
      </p:sp>
      <mc:AlternateContent xmlns:mc="http://schemas.openxmlformats.org/markup-compatibility/2006" xmlns:a14="http://schemas.microsoft.com/office/drawing/2010/main">
        <mc:Choice Requires="a14">
          <p:sp>
            <p:nvSpPr>
              <p:cNvPr id="11" name="Object 3">
                <a:extLst>
                  <a:ext uri="{FF2B5EF4-FFF2-40B4-BE49-F238E27FC236}">
                    <a16:creationId xmlns:a16="http://schemas.microsoft.com/office/drawing/2014/main" id="{AB93BC5F-7ADF-406A-ADC2-6E42BC0979BB}"/>
                  </a:ext>
                </a:extLst>
              </p:cNvPr>
              <p:cNvSpPr txBox="1"/>
              <p:nvPr/>
            </p:nvSpPr>
            <p:spPr bwMode="auto">
              <a:xfrm>
                <a:off x="2447764" y="2446051"/>
                <a:ext cx="4248472" cy="1546834"/>
              </a:xfrm>
              <a:prstGeom prst="rect">
                <a:avLst/>
              </a:prstGeom>
              <a:noFill/>
              <a:ln>
                <a:noFill/>
              </a:ln>
              <a:effectLst/>
            </p:spPr>
            <p:txBody>
              <a:bodyPr wrap="square">
                <a:spAutoFit/>
              </a:bodyPr>
              <a:lstStyle/>
              <a:p>
                <a:pPr>
                  <a:spcAft>
                    <a:spcPts val="600"/>
                  </a:spcAft>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h</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𝑛</m:t>
                          </m:r>
                        </m:sup>
                        <m:e>
                          <m:r>
                            <a:rPr lang="en-US" sz="2400" i="1">
                              <a:solidFill>
                                <a:srgbClr val="000000"/>
                              </a:solidFill>
                              <a:latin typeface="Cambria Math" panose="02040503050406030204" pitchFamily="18" charset="0"/>
                            </a:rPr>
                            <m:t>h</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e>
                      </m:nary>
                    </m:oMath>
                  </m:oMathPara>
                </a14:m>
                <a:endParaRPr lang="en-US" sz="2400" i="1" dirty="0">
                  <a:solidFill>
                    <a:srgbClr val="000000"/>
                  </a:solidFill>
                  <a:latin typeface="Cambria Math" panose="02040503050406030204" pitchFamily="18" charset="0"/>
                </a:endParaRPr>
              </a:p>
              <a:p>
                <a:pPr>
                  <a:spcAft>
                    <a:spcPts val="0"/>
                  </a:spcAft>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h</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−1]</m:t>
                      </m:r>
                    </m:oMath>
                  </m:oMathPara>
                </a14:m>
                <a:endParaRPr lang="en-US" sz="2400" dirty="0"/>
              </a:p>
            </p:txBody>
          </p:sp>
        </mc:Choice>
        <mc:Fallback xmlns="">
          <p:sp>
            <p:nvSpPr>
              <p:cNvPr id="11" name="Object 3">
                <a:extLst>
                  <a:ext uri="{FF2B5EF4-FFF2-40B4-BE49-F238E27FC236}">
                    <a16:creationId xmlns:a16="http://schemas.microsoft.com/office/drawing/2014/main" id="{AB93BC5F-7ADF-406A-ADC2-6E42BC0979BB}"/>
                  </a:ext>
                </a:extLst>
              </p:cNvPr>
              <p:cNvSpPr txBox="1">
                <a:spLocks noRot="1" noChangeAspect="1" noMove="1" noResize="1" noEditPoints="1" noAdjustHandles="1" noChangeArrowheads="1" noChangeShapeType="1" noTextEdit="1"/>
              </p:cNvSpPr>
              <p:nvPr/>
            </p:nvSpPr>
            <p:spPr bwMode="auto">
              <a:xfrm>
                <a:off x="2447764" y="2446051"/>
                <a:ext cx="4248472" cy="1546834"/>
              </a:xfrm>
              <a:prstGeom prst="rect">
                <a:avLst/>
              </a:prstGeom>
              <a:blipFill>
                <a:blip r:embed="rId3"/>
                <a:stretch>
                  <a:fillRect l="-431" b="-5118"/>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bject 4">
                <a:extLst>
                  <a:ext uri="{FF2B5EF4-FFF2-40B4-BE49-F238E27FC236}">
                    <a16:creationId xmlns:a16="http://schemas.microsoft.com/office/drawing/2014/main" id="{DC185520-1EDF-4CC6-8D6D-298891136424}"/>
                  </a:ext>
                </a:extLst>
              </p:cNvPr>
              <p:cNvSpPr txBox="1"/>
              <p:nvPr/>
            </p:nvSpPr>
            <p:spPr bwMode="auto">
              <a:xfrm>
                <a:off x="2447764" y="4131965"/>
                <a:ext cx="4356484" cy="1696362"/>
              </a:xfrm>
              <a:prstGeom prst="rect">
                <a:avLst/>
              </a:prstGeom>
              <a:noFill/>
              <a:ln>
                <a:noFill/>
              </a:ln>
              <a:effectLst/>
            </p:spPr>
            <p:txBody>
              <a:bodyPr wrap="square">
                <a:spAutoFit/>
              </a:bodyPr>
              <a:lstStyle/>
              <a:p>
                <a:pPr>
                  <a:spcAft>
                    <a:spcPts val="600"/>
                  </a:spcAft>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h</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𝑡</m:t>
                          </m:r>
                        </m:sup>
                        <m:e>
                          <m:r>
                            <a:rPr lang="en-US" sz="2400" i="1">
                              <a:solidFill>
                                <a:srgbClr val="000000"/>
                              </a:solidFill>
                              <a:latin typeface="Cambria Math" panose="02040503050406030204" pitchFamily="18" charset="0"/>
                            </a:rPr>
                            <m:t>h</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𝑑</m:t>
                          </m:r>
                          <m:r>
                            <a:rPr lang="en-US" sz="2400" i="1">
                              <a:solidFill>
                                <a:srgbClr val="000000"/>
                              </a:solidFill>
                              <a:latin typeface="Cambria Math" panose="02040503050406030204" pitchFamily="18" charset="0"/>
                            </a:rPr>
                            <m:t>𝜏</m:t>
                          </m:r>
                        </m:e>
                      </m:nary>
                    </m:oMath>
                  </m:oMathPara>
                </a14:m>
                <a:endParaRPr lang="en-US" sz="2400" i="1" dirty="0">
                  <a:solidFill>
                    <a:srgbClr val="000000"/>
                  </a:solidFill>
                  <a:latin typeface="Cambria Math" panose="02040503050406030204" pitchFamily="18" charset="0"/>
                </a:endParaRPr>
              </a:p>
              <a:p>
                <a:pPr>
                  <a:spcAft>
                    <a:spcPts val="0"/>
                  </a:spcAft>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h</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𝑑𝑠</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num>
                        <m:den>
                          <m:r>
                            <a:rPr lang="en-US" sz="2400" i="1">
                              <a:solidFill>
                                <a:srgbClr val="000000"/>
                              </a:solidFill>
                              <a:latin typeface="Cambria Math" panose="02040503050406030204" pitchFamily="18" charset="0"/>
                            </a:rPr>
                            <m:t>𝑑𝑡</m:t>
                          </m:r>
                        </m:den>
                      </m:f>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𝑠</m:t>
                          </m:r>
                        </m:e>
                        <m:sup>
                          <m:r>
                            <a:rPr lang="en-US" sz="2400" i="1">
                              <a:solidFill>
                                <a:srgbClr val="000000"/>
                              </a:solidFill>
                              <a:latin typeface="Cambria Math" panose="02040503050406030204" pitchFamily="18" charset="0"/>
                            </a:rPr>
                            <m:t>′</m:t>
                          </m:r>
                        </m:sup>
                      </m:s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2" name="Object 4">
                <a:extLst>
                  <a:ext uri="{FF2B5EF4-FFF2-40B4-BE49-F238E27FC236}">
                    <a16:creationId xmlns:a16="http://schemas.microsoft.com/office/drawing/2014/main" id="{DC185520-1EDF-4CC6-8D6D-298891136424}"/>
                  </a:ext>
                </a:extLst>
              </p:cNvPr>
              <p:cNvSpPr txBox="1">
                <a:spLocks noRot="1" noChangeAspect="1" noMove="1" noResize="1" noEditPoints="1" noAdjustHandles="1" noChangeArrowheads="1" noChangeShapeType="1" noTextEdit="1"/>
              </p:cNvSpPr>
              <p:nvPr/>
            </p:nvSpPr>
            <p:spPr bwMode="auto">
              <a:xfrm>
                <a:off x="2447764" y="4131965"/>
                <a:ext cx="4356484" cy="1696362"/>
              </a:xfrm>
              <a:prstGeom prst="rect">
                <a:avLst/>
              </a:prstGeom>
              <a:blipFill>
                <a:blip r:embed="rId4"/>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标题 1">
            <a:extLst>
              <a:ext uri="{FF2B5EF4-FFF2-40B4-BE49-F238E27FC236}">
                <a16:creationId xmlns:a16="http://schemas.microsoft.com/office/drawing/2014/main" id="{E3A958D9-77EB-426C-998C-70F35E707AA6}"/>
              </a:ext>
            </a:extLst>
          </p:cNvPr>
          <p:cNvSpPr>
            <a:spLocks noGrp="1"/>
          </p:cNvSpPr>
          <p:nvPr>
            <p:ph type="title"/>
          </p:nvPr>
        </p:nvSpPr>
        <p:spPr/>
        <p:txBody>
          <a:bodyPr/>
          <a:lstStyle/>
          <a:p>
            <a:r>
              <a:rPr lang="en-US" altLang="zh-CN" sz="3200" dirty="0"/>
              <a:t>2.4 </a:t>
            </a:r>
            <a:r>
              <a:rPr lang="zh-CN" altLang="en-US" sz="3200" dirty="0"/>
              <a:t>用微分和差分方程描述的因果</a:t>
            </a:r>
            <a:r>
              <a:rPr lang="en-US" altLang="zh-CN" sz="3200" dirty="0"/>
              <a:t>LTI</a:t>
            </a:r>
            <a:r>
              <a:rPr lang="zh-CN" altLang="en-US" sz="3200" dirty="0"/>
              <a:t>系统</a:t>
            </a:r>
          </a:p>
        </p:txBody>
      </p:sp>
      <p:sp>
        <p:nvSpPr>
          <p:cNvPr id="22533" name="内容占位符 2">
            <a:extLst>
              <a:ext uri="{FF2B5EF4-FFF2-40B4-BE49-F238E27FC236}">
                <a16:creationId xmlns:a16="http://schemas.microsoft.com/office/drawing/2014/main" id="{84DEA230-5768-4BDA-985F-0307D4DC2300}"/>
              </a:ext>
            </a:extLst>
          </p:cNvPr>
          <p:cNvSpPr>
            <a:spLocks noGrp="1"/>
          </p:cNvSpPr>
          <p:nvPr>
            <p:ph idx="1"/>
          </p:nvPr>
        </p:nvSpPr>
        <p:spPr>
          <a:xfrm>
            <a:off x="457200" y="1285875"/>
            <a:ext cx="8229600" cy="2332946"/>
          </a:xfrm>
        </p:spPr>
        <p:txBody>
          <a:bodyPr>
            <a:spAutoFit/>
          </a:bodyPr>
          <a:lstStyle/>
          <a:p>
            <a:pPr algn="just"/>
            <a:r>
              <a:rPr lang="zh-CN" altLang="en-US" sz="2800" b="0" dirty="0"/>
              <a:t>在工程实际中有相当普遍的一类系统，其数学模型可以用</a:t>
            </a:r>
            <a:r>
              <a:rPr lang="zh-CN" altLang="en-US" sz="2800" b="0" dirty="0">
                <a:solidFill>
                  <a:srgbClr val="FF0000"/>
                </a:solidFill>
              </a:rPr>
              <a:t>线性常系数微分方程</a:t>
            </a:r>
            <a:r>
              <a:rPr lang="zh-CN" altLang="en-US" sz="2800" b="0" dirty="0"/>
              <a:t>或</a:t>
            </a:r>
            <a:r>
              <a:rPr lang="zh-CN" altLang="en-US" sz="2800" b="0" dirty="0">
                <a:solidFill>
                  <a:srgbClr val="FF0000"/>
                </a:solidFill>
              </a:rPr>
              <a:t>线性常系数差分方程</a:t>
            </a:r>
            <a:r>
              <a:rPr lang="zh-CN" altLang="en-US" sz="2800" b="0" dirty="0"/>
              <a:t>来描述。</a:t>
            </a:r>
            <a:endParaRPr lang="en-US" altLang="zh-CN" sz="2800" b="0" dirty="0"/>
          </a:p>
          <a:p>
            <a:pPr algn="just"/>
            <a:r>
              <a:rPr lang="zh-CN" altLang="en-US" sz="2800" b="0" dirty="0"/>
              <a:t>在时域内分析这类</a:t>
            </a:r>
            <a:r>
              <a:rPr lang="en-US" altLang="zh-CN" sz="2800" b="0" dirty="0"/>
              <a:t>LTI</a:t>
            </a:r>
            <a:r>
              <a:rPr lang="zh-CN" altLang="en-US" sz="2800" b="0" dirty="0"/>
              <a:t>系统，就是要求解线性常系数微分方程或差分方程。 </a:t>
            </a:r>
          </a:p>
        </p:txBody>
      </p:sp>
      <p:sp>
        <p:nvSpPr>
          <p:cNvPr id="4" name="灯片编号占位符 3">
            <a:extLst>
              <a:ext uri="{FF2B5EF4-FFF2-40B4-BE49-F238E27FC236}">
                <a16:creationId xmlns:a16="http://schemas.microsoft.com/office/drawing/2014/main" id="{3258C335-94E2-4F81-9500-174B7F0D4C4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80FDC82-015D-43B3-852C-EF9B799931C8}"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2530" name="Object 6">
                <a:extLst>
                  <a:ext uri="{FF2B5EF4-FFF2-40B4-BE49-F238E27FC236}">
                    <a16:creationId xmlns:a16="http://schemas.microsoft.com/office/drawing/2014/main" id="{9F0E8C17-1A61-48DE-ABC4-A43DC4514B4D}"/>
                  </a:ext>
                </a:extLst>
              </p:cNvPr>
              <p:cNvSpPr txBox="1"/>
              <p:nvPr/>
            </p:nvSpPr>
            <p:spPr bwMode="auto">
              <a:xfrm>
                <a:off x="2339752" y="4398425"/>
                <a:ext cx="4753593" cy="1354038"/>
              </a:xfrm>
              <a:prstGeom prst="rect">
                <a:avLst/>
              </a:prstGeom>
              <a:solidFill>
                <a:srgbClr val="CCFFFF"/>
              </a:solidFill>
              <a:ln>
                <a:noFill/>
              </a:ln>
              <a:effectLst/>
            </p:spPr>
            <p:txBody>
              <a:bodyPr>
                <a:noAutofit/>
              </a:bodyPr>
              <a:lstStyle/>
              <a:p>
                <a:pPr/>
                <a14:m>
                  <m:oMathPara xmlns:m="http://schemas.openxmlformats.org/officeDocument/2006/math">
                    <m:oMathParaPr>
                      <m:jc m:val="center"/>
                    </m:oMathParaPr>
                    <m:oMath xmlns:m="http://schemas.openxmlformats.org/officeDocument/2006/math">
                      <m:nary>
                        <m:naryPr>
                          <m:chr m:val="∑"/>
                          <m:ctrlPr>
                            <a:rPr lang="en-US" sz="2800" i="1" smtClean="0">
                              <a:solidFill>
                                <a:srgbClr val="FF0000"/>
                              </a:solidFill>
                              <a:latin typeface="Cambria Math" panose="02040503050406030204" pitchFamily="18" charset="0"/>
                            </a:rPr>
                          </m:ctrlPr>
                        </m:naryPr>
                        <m:sub>
                          <m:r>
                            <a:rPr lang="en-US" sz="2800" i="1">
                              <a:solidFill>
                                <a:srgbClr val="FF0000"/>
                              </a:solidFill>
                              <a:latin typeface="Cambria Math" panose="02040503050406030204" pitchFamily="18" charset="0"/>
                            </a:rPr>
                            <m:t>𝑘</m:t>
                          </m:r>
                          <m:r>
                            <a:rPr lang="en-US" sz="2800" i="1">
                              <a:solidFill>
                                <a:srgbClr val="FF0000"/>
                              </a:solidFill>
                              <a:latin typeface="Cambria Math" panose="02040503050406030204" pitchFamily="18" charset="0"/>
                            </a:rPr>
                            <m:t>=0</m:t>
                          </m:r>
                        </m:sub>
                        <m:sup>
                          <m:r>
                            <a:rPr lang="en-US" sz="2800" i="1">
                              <a:solidFill>
                                <a:srgbClr val="FF0000"/>
                              </a:solidFill>
                              <a:latin typeface="Cambria Math" panose="02040503050406030204" pitchFamily="18" charset="0"/>
                            </a:rPr>
                            <m:t>𝑁</m:t>
                          </m:r>
                        </m:sup>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𝑎</m:t>
                              </m:r>
                            </m:e>
                            <m:sub>
                              <m:r>
                                <a:rPr lang="en-US" sz="2800" i="1">
                                  <a:solidFill>
                                    <a:srgbClr val="FF0000"/>
                                  </a:solidFill>
                                  <a:latin typeface="Cambria Math" panose="02040503050406030204" pitchFamily="18" charset="0"/>
                                </a:rPr>
                                <m:t>𝑘</m:t>
                              </m:r>
                            </m:sub>
                          </m:sSub>
                          <m:f>
                            <m:fPr>
                              <m:ctrlPr>
                                <a:rPr lang="en-US" sz="2800" i="1">
                                  <a:solidFill>
                                    <a:srgbClr val="FF0000"/>
                                  </a:solidFill>
                                  <a:latin typeface="Cambria Math" panose="02040503050406030204" pitchFamily="18" charset="0"/>
                                </a:rPr>
                              </m:ctrlPr>
                            </m:fPr>
                            <m:num>
                              <m:sSup>
                                <m:sSupPr>
                                  <m:ctrlPr>
                                    <a:rPr lang="en-US" sz="2800" i="1">
                                      <a:solidFill>
                                        <a:srgbClr val="FF0000"/>
                                      </a:solidFill>
                                      <a:latin typeface="Cambria Math" panose="02040503050406030204" pitchFamily="18" charset="0"/>
                                    </a:rPr>
                                  </m:ctrlPr>
                                </m:sSupPr>
                                <m:e>
                                  <m:r>
                                    <m:rPr>
                                      <m:sty m:val="p"/>
                                    </m:rPr>
                                    <a:rPr lang="en-US" sz="2800" i="0">
                                      <a:solidFill>
                                        <a:srgbClr val="FF0000"/>
                                      </a:solidFill>
                                      <a:latin typeface="Cambria Math" panose="02040503050406030204" pitchFamily="18" charset="0"/>
                                    </a:rPr>
                                    <m:t>d</m:t>
                                  </m:r>
                                </m:e>
                                <m:sup>
                                  <m:r>
                                    <a:rPr lang="en-US" sz="2800" i="1">
                                      <a:solidFill>
                                        <a:srgbClr val="FF0000"/>
                                      </a:solidFill>
                                      <a:latin typeface="Cambria Math" panose="02040503050406030204" pitchFamily="18" charset="0"/>
                                    </a:rPr>
                                    <m:t>𝑘</m:t>
                                  </m:r>
                                </m:sup>
                              </m:sSup>
                              <m:r>
                                <a:rPr lang="en-US" sz="2800" i="1">
                                  <a:solidFill>
                                    <a:srgbClr val="FF0000"/>
                                  </a:solidFill>
                                  <a:latin typeface="Cambria Math" panose="02040503050406030204" pitchFamily="18" charset="0"/>
                                </a:rPr>
                                <m:t>𝑦</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num>
                            <m:den>
                              <m:r>
                                <m:rPr>
                                  <m:sty m:val="p"/>
                                </m:rPr>
                                <a:rPr lang="en-US" sz="2800" i="0">
                                  <a:solidFill>
                                    <a:srgbClr val="FF0000"/>
                                  </a:solidFill>
                                  <a:latin typeface="Cambria Math" panose="02040503050406030204" pitchFamily="18" charset="0"/>
                                </a:rPr>
                                <m:t>d</m:t>
                              </m:r>
                              <m:sSup>
                                <m:sSupPr>
                                  <m:ctrlPr>
                                    <a:rPr lang="en-US" sz="2800" i="1">
                                      <a:solidFill>
                                        <a:srgbClr val="FF0000"/>
                                      </a:solidFill>
                                      <a:latin typeface="Cambria Math" panose="02040503050406030204" pitchFamily="18" charset="0"/>
                                    </a:rPr>
                                  </m:ctrlPr>
                                </m:sSupPr>
                                <m:e>
                                  <m:r>
                                    <a:rPr lang="en-US" sz="2800" i="1">
                                      <a:solidFill>
                                        <a:srgbClr val="FF0000"/>
                                      </a:solidFill>
                                      <a:latin typeface="Cambria Math" panose="02040503050406030204" pitchFamily="18" charset="0"/>
                                    </a:rPr>
                                    <m:t>𝑡</m:t>
                                  </m:r>
                                </m:e>
                                <m:sup>
                                  <m:r>
                                    <a:rPr lang="en-US" sz="2800" i="1">
                                      <a:solidFill>
                                        <a:srgbClr val="FF0000"/>
                                      </a:solidFill>
                                      <a:latin typeface="Cambria Math" panose="02040503050406030204" pitchFamily="18" charset="0"/>
                                    </a:rPr>
                                    <m:t>𝑘</m:t>
                                  </m:r>
                                </m:sup>
                              </m:sSup>
                            </m:den>
                          </m:f>
                        </m:e>
                      </m:nary>
                      <m:r>
                        <a:rPr lang="en-US" sz="2800" i="1">
                          <a:solidFill>
                            <a:srgbClr val="FF0000"/>
                          </a:solidFill>
                          <a:latin typeface="Cambria Math" panose="02040503050406030204" pitchFamily="18" charset="0"/>
                        </a:rPr>
                        <m:t>=</m:t>
                      </m:r>
                      <m:nary>
                        <m:naryPr>
                          <m:chr m:val="∑"/>
                          <m:ctrlPr>
                            <a:rPr lang="en-US" sz="2800" i="1">
                              <a:solidFill>
                                <a:srgbClr val="FF0000"/>
                              </a:solidFill>
                              <a:latin typeface="Cambria Math" panose="02040503050406030204" pitchFamily="18" charset="0"/>
                            </a:rPr>
                          </m:ctrlPr>
                        </m:naryPr>
                        <m:sub>
                          <m:r>
                            <a:rPr lang="en-US" sz="2800" i="1">
                              <a:solidFill>
                                <a:srgbClr val="FF0000"/>
                              </a:solidFill>
                              <a:latin typeface="Cambria Math" panose="02040503050406030204" pitchFamily="18" charset="0"/>
                            </a:rPr>
                            <m:t>𝑘</m:t>
                          </m:r>
                          <m:r>
                            <a:rPr lang="en-US" sz="2800" i="1">
                              <a:solidFill>
                                <a:srgbClr val="FF0000"/>
                              </a:solidFill>
                              <a:latin typeface="Cambria Math" panose="02040503050406030204" pitchFamily="18" charset="0"/>
                            </a:rPr>
                            <m:t>=0</m:t>
                          </m:r>
                        </m:sub>
                        <m:sup>
                          <m:r>
                            <a:rPr lang="en-US" sz="2800" i="1">
                              <a:solidFill>
                                <a:srgbClr val="FF0000"/>
                              </a:solidFill>
                              <a:latin typeface="Cambria Math" panose="02040503050406030204" pitchFamily="18" charset="0"/>
                            </a:rPr>
                            <m:t>𝑀</m:t>
                          </m:r>
                        </m:sup>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𝑏</m:t>
                              </m:r>
                            </m:e>
                            <m:sub>
                              <m:r>
                                <a:rPr lang="en-US" sz="2800" i="1">
                                  <a:solidFill>
                                    <a:srgbClr val="FF0000"/>
                                  </a:solidFill>
                                  <a:latin typeface="Cambria Math" panose="02040503050406030204" pitchFamily="18" charset="0"/>
                                </a:rPr>
                                <m:t>𝑘</m:t>
                              </m:r>
                            </m:sub>
                          </m:sSub>
                          <m:f>
                            <m:fPr>
                              <m:ctrlPr>
                                <a:rPr lang="en-US" sz="2800" i="1">
                                  <a:solidFill>
                                    <a:srgbClr val="FF0000"/>
                                  </a:solidFill>
                                  <a:latin typeface="Cambria Math" panose="02040503050406030204" pitchFamily="18" charset="0"/>
                                </a:rPr>
                              </m:ctrlPr>
                            </m:fPr>
                            <m:num>
                              <m:sSup>
                                <m:sSupPr>
                                  <m:ctrlPr>
                                    <a:rPr lang="en-US" sz="2800" i="1">
                                      <a:solidFill>
                                        <a:srgbClr val="FF0000"/>
                                      </a:solidFill>
                                      <a:latin typeface="Cambria Math" panose="02040503050406030204" pitchFamily="18" charset="0"/>
                                    </a:rPr>
                                  </m:ctrlPr>
                                </m:sSupPr>
                                <m:e>
                                  <m:r>
                                    <m:rPr>
                                      <m:sty m:val="p"/>
                                    </m:rPr>
                                    <a:rPr lang="en-US" sz="2800" i="0">
                                      <a:solidFill>
                                        <a:srgbClr val="FF0000"/>
                                      </a:solidFill>
                                      <a:latin typeface="Cambria Math" panose="02040503050406030204" pitchFamily="18" charset="0"/>
                                    </a:rPr>
                                    <m:t>d</m:t>
                                  </m:r>
                                </m:e>
                                <m:sup>
                                  <m:r>
                                    <a:rPr lang="en-US" sz="2800" i="1">
                                      <a:solidFill>
                                        <a:srgbClr val="FF0000"/>
                                      </a:solidFill>
                                      <a:latin typeface="Cambria Math" panose="02040503050406030204" pitchFamily="18" charset="0"/>
                                    </a:rPr>
                                    <m:t>𝑘</m:t>
                                  </m:r>
                                </m:sup>
                              </m:sSup>
                              <m:r>
                                <a:rPr lang="en-US" sz="2800" i="1">
                                  <a:solidFill>
                                    <a:srgbClr val="FF0000"/>
                                  </a:solidFill>
                                  <a:latin typeface="Cambria Math" panose="02040503050406030204" pitchFamily="18" charset="0"/>
                                </a:rPr>
                                <m:t>𝑥</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num>
                            <m:den>
                              <m:r>
                                <m:rPr>
                                  <m:sty m:val="p"/>
                                </m:rPr>
                                <a:rPr lang="en-US" sz="2800" i="0">
                                  <a:solidFill>
                                    <a:srgbClr val="FF0000"/>
                                  </a:solidFill>
                                  <a:latin typeface="Cambria Math" panose="02040503050406030204" pitchFamily="18" charset="0"/>
                                </a:rPr>
                                <m:t>d</m:t>
                              </m:r>
                              <m:sSup>
                                <m:sSupPr>
                                  <m:ctrlPr>
                                    <a:rPr lang="en-US" sz="2800" i="1">
                                      <a:solidFill>
                                        <a:srgbClr val="FF0000"/>
                                      </a:solidFill>
                                      <a:latin typeface="Cambria Math" panose="02040503050406030204" pitchFamily="18" charset="0"/>
                                    </a:rPr>
                                  </m:ctrlPr>
                                </m:sSupPr>
                                <m:e>
                                  <m:r>
                                    <a:rPr lang="en-US" sz="2800" i="1">
                                      <a:solidFill>
                                        <a:srgbClr val="FF0000"/>
                                      </a:solidFill>
                                      <a:latin typeface="Cambria Math" panose="02040503050406030204" pitchFamily="18" charset="0"/>
                                    </a:rPr>
                                    <m:t>𝑡</m:t>
                                  </m:r>
                                </m:e>
                                <m:sup>
                                  <m:r>
                                    <a:rPr lang="en-US" sz="2800" i="1">
                                      <a:solidFill>
                                        <a:srgbClr val="FF0000"/>
                                      </a:solidFill>
                                      <a:latin typeface="Cambria Math" panose="02040503050406030204" pitchFamily="18" charset="0"/>
                                    </a:rPr>
                                    <m:t>𝑘</m:t>
                                  </m:r>
                                </m:sup>
                              </m:sSup>
                            </m:den>
                          </m:f>
                        </m:e>
                      </m:nary>
                    </m:oMath>
                  </m:oMathPara>
                </a14:m>
                <a:endParaRPr lang="en-US" sz="2800" dirty="0"/>
              </a:p>
            </p:txBody>
          </p:sp>
        </mc:Choice>
        <mc:Fallback xmlns="">
          <p:sp>
            <p:nvSpPr>
              <p:cNvPr id="22530" name="Object 6">
                <a:extLst>
                  <a:ext uri="{FF2B5EF4-FFF2-40B4-BE49-F238E27FC236}">
                    <a16:creationId xmlns:a16="http://schemas.microsoft.com/office/drawing/2014/main" id="{9F0E8C17-1A61-48DE-ABC4-A43DC4514B4D}"/>
                  </a:ext>
                </a:extLst>
              </p:cNvPr>
              <p:cNvSpPr txBox="1">
                <a:spLocks noRot="1" noChangeAspect="1" noMove="1" noResize="1" noEditPoints="1" noAdjustHandles="1" noChangeArrowheads="1" noChangeShapeType="1" noTextEdit="1"/>
              </p:cNvSpPr>
              <p:nvPr/>
            </p:nvSpPr>
            <p:spPr bwMode="auto">
              <a:xfrm>
                <a:off x="2339752" y="4398425"/>
                <a:ext cx="4753593" cy="1354038"/>
              </a:xfrm>
              <a:prstGeom prst="rect">
                <a:avLst/>
              </a:prstGeom>
              <a:blipFill>
                <a:blip r:embed="rId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535" name="Text Box 8">
                <a:extLst>
                  <a:ext uri="{FF2B5EF4-FFF2-40B4-BE49-F238E27FC236}">
                    <a16:creationId xmlns:a16="http://schemas.microsoft.com/office/drawing/2014/main" id="{55A433CA-1DEF-4263-ACF8-29E2503CC2E6}"/>
                  </a:ext>
                </a:extLst>
              </p:cNvPr>
              <p:cNvSpPr txBox="1">
                <a:spLocks noChangeArrowheads="1"/>
              </p:cNvSpPr>
              <p:nvPr/>
            </p:nvSpPr>
            <p:spPr bwMode="auto">
              <a:xfrm>
                <a:off x="2339752" y="5930116"/>
                <a:ext cx="3218125"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2800" dirty="0">
                    <a:solidFill>
                      <a:schemeClr val="tx1"/>
                    </a:solidFill>
                    <a:latin typeface="楷体" panose="02010609060101010101" pitchFamily="49" charset="-122"/>
                    <a:ea typeface="楷体" panose="02010609060101010101" pitchFamily="49" charset="-122"/>
                  </a:rPr>
                  <a:t>其中</a:t>
                </a:r>
                <a14:m>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𝑎</m:t>
                        </m:r>
                      </m:e>
                      <m:sub>
                        <m:r>
                          <a:rPr lang="en-US" sz="2800" b="0" i="1">
                            <a:solidFill>
                              <a:schemeClr val="tx1"/>
                            </a:solidFill>
                            <a:latin typeface="Cambria Math" panose="02040503050406030204" pitchFamily="18" charset="0"/>
                          </a:rPr>
                          <m:t>𝑘</m:t>
                        </m:r>
                      </m:sub>
                    </m:sSub>
                    <m:r>
                      <a:rPr lang="en-US" sz="2800" b="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𝑏</m:t>
                        </m:r>
                      </m:e>
                      <m:sub>
                        <m:r>
                          <a:rPr lang="en-US" sz="2800" b="0" i="1">
                            <a:solidFill>
                              <a:schemeClr val="tx1"/>
                            </a:solidFill>
                            <a:latin typeface="Cambria Math" panose="02040503050406030204" pitchFamily="18" charset="0"/>
                          </a:rPr>
                          <m:t>𝑘</m:t>
                        </m:r>
                      </m:sub>
                    </m:sSub>
                  </m:oMath>
                </a14:m>
                <a:r>
                  <a:rPr kumimoji="0" lang="zh-CN" altLang="en-US" sz="280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楷体_GB2312" panose="02010609030101010101" pitchFamily="49" charset="-122"/>
                  </a:rPr>
                  <a:t>均为常数</a:t>
                </a:r>
              </a:p>
            </p:txBody>
          </p:sp>
        </mc:Choice>
        <mc:Fallback xmlns="">
          <p:sp>
            <p:nvSpPr>
              <p:cNvPr id="22535" name="Text Box 8">
                <a:extLst>
                  <a:ext uri="{FF2B5EF4-FFF2-40B4-BE49-F238E27FC236}">
                    <a16:creationId xmlns:a16="http://schemas.microsoft.com/office/drawing/2014/main" id="{55A433CA-1DEF-4263-ACF8-29E2503CC2E6}"/>
                  </a:ext>
                </a:extLst>
              </p:cNvPr>
              <p:cNvSpPr txBox="1">
                <a:spLocks noRot="1" noChangeAspect="1" noMove="1" noResize="1" noEditPoints="1" noAdjustHandles="1" noChangeArrowheads="1" noChangeShapeType="1" noTextEdit="1"/>
              </p:cNvSpPr>
              <p:nvPr/>
            </p:nvSpPr>
            <p:spPr bwMode="auto">
              <a:xfrm>
                <a:off x="2339752" y="5930116"/>
                <a:ext cx="3218125" cy="523220"/>
              </a:xfrm>
              <a:prstGeom prst="rect">
                <a:avLst/>
              </a:prstGeom>
              <a:blipFill>
                <a:blip r:embed="rId3"/>
                <a:stretch>
                  <a:fillRect l="-3977" t="-18605" r="-2462" b="-3255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1" name="文本框 10">
            <a:extLst>
              <a:ext uri="{FF2B5EF4-FFF2-40B4-BE49-F238E27FC236}">
                <a16:creationId xmlns:a16="http://schemas.microsoft.com/office/drawing/2014/main" id="{FE3B1875-BBEC-4C43-AEED-E14843A7B431}"/>
              </a:ext>
            </a:extLst>
          </p:cNvPr>
          <p:cNvSpPr txBox="1"/>
          <p:nvPr/>
        </p:nvSpPr>
        <p:spPr>
          <a:xfrm>
            <a:off x="457200" y="3769876"/>
            <a:ext cx="4572000" cy="523220"/>
          </a:xfrm>
          <a:prstGeom prst="rect">
            <a:avLst/>
          </a:prstGeom>
          <a:noFill/>
        </p:spPr>
        <p:txBody>
          <a:bodyPr wrap="square">
            <a:spAutoFit/>
          </a:bodyPr>
          <a:lstStyle/>
          <a:p>
            <a:pPr marR="0" lvl="0" algn="l" defTabSz="914400" rtl="0" eaLnBrk="0" fontAlgn="base" latinLnBrk="0" hangingPunct="0">
              <a:lnSpc>
                <a:spcPct val="100000"/>
              </a:lnSpc>
              <a:spcBef>
                <a:spcPct val="20000"/>
              </a:spcBef>
              <a:spcAft>
                <a:spcPct val="0"/>
              </a:spcAft>
              <a:buClrTx/>
              <a:buSzTx/>
              <a:tabLst/>
              <a:defRPr/>
            </a:pPr>
            <a:r>
              <a:rPr kumimoji="0" lang="zh-CN" altLang="en-US" sz="28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一</a:t>
            </a:r>
            <a:r>
              <a:rPr kumimoji="0" lang="en-US" altLang="zh-CN" sz="28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 </a:t>
            </a:r>
            <a:r>
              <a:rPr kumimoji="0" lang="zh-CN" altLang="en-US" sz="2800" b="0" i="0" u="none" strike="noStrike" kern="1200" cap="none" spc="0" normalizeH="0" baseline="0" noProof="0" dirty="0">
                <a:ln>
                  <a:noFill/>
                </a:ln>
                <a:solidFill>
                  <a:srgbClr val="0000FF"/>
                </a:solidFill>
                <a:effectLst/>
                <a:uLnTx/>
                <a:uFillTx/>
                <a:latin typeface="Times New Roman" pitchFamily="18" charset="0"/>
                <a:ea typeface="华文楷体" pitchFamily="2" charset="-122"/>
                <a:cs typeface="+mn-cs"/>
              </a:rPr>
              <a:t>线性常系数微分方程</a:t>
            </a:r>
          </a:p>
        </p:txBody>
      </p:sp>
    </p:spTree>
    <p:extLst>
      <p:ext uri="{BB962C8B-B14F-4D97-AF65-F5344CB8AC3E}">
        <p14:creationId xmlns:p14="http://schemas.microsoft.com/office/powerpoint/2010/main" val="260918884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5" name="标题 1">
            <a:extLst>
              <a:ext uri="{FF2B5EF4-FFF2-40B4-BE49-F238E27FC236}">
                <a16:creationId xmlns:a16="http://schemas.microsoft.com/office/drawing/2014/main" id="{6B88D7EF-A0B9-4778-A29E-DC2D15579F97}"/>
              </a:ext>
            </a:extLst>
          </p:cNvPr>
          <p:cNvSpPr>
            <a:spLocks noGrp="1"/>
          </p:cNvSpPr>
          <p:nvPr>
            <p:ph type="title"/>
          </p:nvPr>
        </p:nvSpPr>
        <p:spPr/>
        <p:txBody>
          <a:bodyPr/>
          <a:lstStyle/>
          <a:p>
            <a:r>
              <a:rPr lang="en-US" altLang="zh-CN" sz="3200" dirty="0"/>
              <a:t>2.4 </a:t>
            </a:r>
            <a:r>
              <a:rPr lang="zh-CN" altLang="en-US" sz="3200" dirty="0"/>
              <a:t>用微分和差分方程描述的因果</a:t>
            </a:r>
            <a:r>
              <a:rPr lang="en-US" altLang="zh-CN" sz="3200" dirty="0"/>
              <a:t>LTI</a:t>
            </a:r>
            <a:r>
              <a:rPr lang="zh-CN" altLang="en-US" sz="3200" dirty="0"/>
              <a:t>系统</a:t>
            </a:r>
          </a:p>
        </p:txBody>
      </p:sp>
      <mc:AlternateContent xmlns:mc="http://schemas.openxmlformats.org/markup-compatibility/2006" xmlns:a14="http://schemas.microsoft.com/office/drawing/2010/main">
        <mc:Choice Requires="a14">
          <p:sp>
            <p:nvSpPr>
              <p:cNvPr id="23566" name="内容占位符 2">
                <a:extLst>
                  <a:ext uri="{FF2B5EF4-FFF2-40B4-BE49-F238E27FC236}">
                    <a16:creationId xmlns:a16="http://schemas.microsoft.com/office/drawing/2014/main" id="{BD7C9382-1817-40C1-ABF3-19FA8D0CD38C}"/>
                  </a:ext>
                </a:extLst>
              </p:cNvPr>
              <p:cNvSpPr>
                <a:spLocks noGrp="1"/>
              </p:cNvSpPr>
              <p:nvPr>
                <p:ph idx="1"/>
              </p:nvPr>
            </p:nvSpPr>
            <p:spPr>
              <a:xfrm>
                <a:off x="457200" y="1285875"/>
                <a:ext cx="8229600" cy="4976427"/>
              </a:xfrm>
            </p:spPr>
            <p:txBody>
              <a:bodyPr>
                <a:spAutoFit/>
              </a:bodyPr>
              <a:lstStyle/>
              <a:p>
                <a:pPr algn="just"/>
                <a:r>
                  <a:rPr lang="zh-CN" altLang="en-US" sz="2200" b="0" dirty="0">
                    <a:solidFill>
                      <a:schemeClr val="tx1"/>
                    </a:solidFill>
                  </a:rPr>
                  <a:t>为求解该微分方程，通常先求出</a:t>
                </a:r>
                <a:r>
                  <a:rPr lang="zh-CN" altLang="en-US" sz="2200" b="0" dirty="0">
                    <a:solidFill>
                      <a:srgbClr val="FF0000"/>
                    </a:solidFill>
                  </a:rPr>
                  <a:t>齐次解</a:t>
                </a:r>
                <a:r>
                  <a:rPr lang="zh-CN" altLang="en-US" sz="2200" b="0" dirty="0">
                    <a:solidFill>
                      <a:schemeClr val="tx1"/>
                    </a:solidFill>
                  </a:rPr>
                  <a:t>（</a:t>
                </a:r>
                <a:r>
                  <a:rPr lang="zh-CN" altLang="en-US" sz="2200" b="0" dirty="0">
                    <a:solidFill>
                      <a:srgbClr val="FF0000"/>
                    </a:solidFill>
                  </a:rPr>
                  <a:t>通解</a:t>
                </a:r>
                <a:r>
                  <a:rPr lang="zh-CN" altLang="en-US" sz="2200" b="0" dirty="0">
                    <a:solidFill>
                      <a:schemeClr val="tx1"/>
                    </a:solidFill>
                  </a:rPr>
                  <a:t>）</a:t>
                </a:r>
                <a14:m>
                  <m:oMath xmlns:m="http://schemas.openxmlformats.org/officeDocument/2006/math">
                    <m:sSub>
                      <m:sSubPr>
                        <m:ctrlPr>
                          <a:rPr lang="en-US" sz="2200" b="0" i="1" smtClean="0">
                            <a:solidFill>
                              <a:srgbClr val="FF0000"/>
                            </a:solidFill>
                            <a:latin typeface="Cambria Math" panose="02040503050406030204" pitchFamily="18" charset="0"/>
                          </a:rPr>
                        </m:ctrlPr>
                      </m:sSubPr>
                      <m:e>
                        <m:r>
                          <a:rPr lang="en-US" sz="2200" b="0" i="1">
                            <a:solidFill>
                              <a:srgbClr val="FF0000"/>
                            </a:solidFill>
                            <a:latin typeface="Cambria Math" panose="02040503050406030204" pitchFamily="18" charset="0"/>
                          </a:rPr>
                          <m:t>𝑦</m:t>
                        </m:r>
                      </m:e>
                      <m:sub>
                        <m:r>
                          <a:rPr lang="en-US" sz="2200" b="0" i="1">
                            <a:solidFill>
                              <a:srgbClr val="FF0000"/>
                            </a:solidFill>
                            <a:latin typeface="Cambria Math" panose="02040503050406030204" pitchFamily="18" charset="0"/>
                          </a:rPr>
                          <m:t>h</m:t>
                        </m:r>
                      </m:sub>
                    </m:sSub>
                    <m:r>
                      <a:rPr lang="en-US" sz="2200" b="0" i="1">
                        <a:solidFill>
                          <a:srgbClr val="FF0000"/>
                        </a:solidFill>
                        <a:latin typeface="Cambria Math" panose="02040503050406030204" pitchFamily="18" charset="0"/>
                      </a:rPr>
                      <m:t>(</m:t>
                    </m:r>
                    <m:r>
                      <a:rPr lang="en-US" sz="2200" b="0" i="1">
                        <a:solidFill>
                          <a:srgbClr val="FF0000"/>
                        </a:solidFill>
                        <a:latin typeface="Cambria Math" panose="02040503050406030204" pitchFamily="18" charset="0"/>
                      </a:rPr>
                      <m:t>𝑡</m:t>
                    </m:r>
                    <m:r>
                      <a:rPr lang="en-US" sz="2200" b="0" i="1">
                        <a:solidFill>
                          <a:srgbClr val="FF0000"/>
                        </a:solidFill>
                        <a:latin typeface="Cambria Math" panose="02040503050406030204" pitchFamily="18" charset="0"/>
                      </a:rPr>
                      <m:t>)</m:t>
                    </m:r>
                  </m:oMath>
                </a14:m>
                <a:r>
                  <a:rPr lang="zh-CN" altLang="en-US" sz="2200" b="0" dirty="0">
                    <a:solidFill>
                      <a:schemeClr val="tx1"/>
                    </a:solidFill>
                  </a:rPr>
                  <a:t>和</a:t>
                </a:r>
                <a:r>
                  <a:rPr lang="zh-CN" altLang="en-US" sz="2200" b="0" dirty="0">
                    <a:solidFill>
                      <a:srgbClr val="FF0000"/>
                    </a:solidFill>
                  </a:rPr>
                  <a:t>特解</a:t>
                </a:r>
                <a14:m>
                  <m:oMath xmlns:m="http://schemas.openxmlformats.org/officeDocument/2006/math">
                    <m:sSub>
                      <m:sSubPr>
                        <m:ctrlPr>
                          <a:rPr lang="en-US" sz="2200" b="0" i="1">
                            <a:solidFill>
                              <a:srgbClr val="FF0000"/>
                            </a:solidFill>
                            <a:latin typeface="Cambria Math" panose="02040503050406030204" pitchFamily="18" charset="0"/>
                          </a:rPr>
                        </m:ctrlPr>
                      </m:sSubPr>
                      <m:e>
                        <m:r>
                          <a:rPr lang="en-US" sz="2200" b="0" i="1">
                            <a:solidFill>
                              <a:srgbClr val="FF0000"/>
                            </a:solidFill>
                            <a:latin typeface="Cambria Math" panose="02040503050406030204" pitchFamily="18" charset="0"/>
                          </a:rPr>
                          <m:t>𝑦</m:t>
                        </m:r>
                      </m:e>
                      <m:sub>
                        <m:r>
                          <a:rPr lang="en-US" sz="2200" b="0" i="1">
                            <a:solidFill>
                              <a:srgbClr val="FF0000"/>
                            </a:solidFill>
                            <a:latin typeface="Cambria Math" panose="02040503050406030204" pitchFamily="18" charset="0"/>
                          </a:rPr>
                          <m:t>𝑝</m:t>
                        </m:r>
                      </m:sub>
                    </m:sSub>
                    <m:r>
                      <a:rPr lang="en-US" sz="2200" b="0" i="1">
                        <a:solidFill>
                          <a:srgbClr val="FF0000"/>
                        </a:solidFill>
                        <a:latin typeface="Cambria Math" panose="02040503050406030204" pitchFamily="18" charset="0"/>
                      </a:rPr>
                      <m:t>(</m:t>
                    </m:r>
                    <m:r>
                      <a:rPr lang="en-US" sz="2200" b="0" i="1">
                        <a:solidFill>
                          <a:srgbClr val="FF0000"/>
                        </a:solidFill>
                        <a:latin typeface="Cambria Math" panose="02040503050406030204" pitchFamily="18" charset="0"/>
                      </a:rPr>
                      <m:t>𝑡</m:t>
                    </m:r>
                    <m:r>
                      <a:rPr lang="en-US" sz="2200" b="0" i="1">
                        <a:solidFill>
                          <a:srgbClr val="FF0000"/>
                        </a:solidFill>
                        <a:latin typeface="Cambria Math" panose="02040503050406030204" pitchFamily="18" charset="0"/>
                      </a:rPr>
                      <m:t>)</m:t>
                    </m:r>
                  </m:oMath>
                </a14:m>
                <a:r>
                  <a:rPr lang="zh-CN" altLang="en-US" sz="2200" b="0" dirty="0">
                    <a:solidFill>
                      <a:schemeClr val="tx1"/>
                    </a:solidFill>
                  </a:rPr>
                  <a:t>，则</a:t>
                </a:r>
                <a14:m>
                  <m:oMath xmlns:m="http://schemas.openxmlformats.org/officeDocument/2006/math">
                    <m:r>
                      <a:rPr lang="en-US" sz="2200" b="0" i="1" smtClean="0">
                        <a:solidFill>
                          <a:srgbClr val="FF0000"/>
                        </a:solidFill>
                        <a:latin typeface="Cambria Math" panose="02040503050406030204" pitchFamily="18" charset="0"/>
                      </a:rPr>
                      <m:t>𝑦</m:t>
                    </m:r>
                    <m:r>
                      <a:rPr lang="en-US" sz="2200" b="0" i="1" smtClean="0">
                        <a:solidFill>
                          <a:srgbClr val="FF0000"/>
                        </a:solidFill>
                        <a:latin typeface="Cambria Math" panose="02040503050406030204" pitchFamily="18" charset="0"/>
                      </a:rPr>
                      <m:t>(</m:t>
                    </m:r>
                    <m:r>
                      <a:rPr lang="en-US" sz="2200" b="0" i="1" smtClean="0">
                        <a:solidFill>
                          <a:srgbClr val="FF0000"/>
                        </a:solidFill>
                        <a:latin typeface="Cambria Math" panose="02040503050406030204" pitchFamily="18" charset="0"/>
                      </a:rPr>
                      <m:t>𝑡</m:t>
                    </m:r>
                    <m:r>
                      <a:rPr lang="en-US" sz="2200" b="0" i="1" smtClean="0">
                        <a:solidFill>
                          <a:srgbClr val="FF0000"/>
                        </a:solidFill>
                        <a:latin typeface="Cambria Math" panose="02040503050406030204" pitchFamily="18" charset="0"/>
                      </a:rPr>
                      <m:t>)=</m:t>
                    </m:r>
                    <m:sSub>
                      <m:sSubPr>
                        <m:ctrlPr>
                          <a:rPr lang="en-US" sz="2200" b="0" i="1">
                            <a:solidFill>
                              <a:srgbClr val="FF0000"/>
                            </a:solidFill>
                            <a:latin typeface="Cambria Math" panose="02040503050406030204" pitchFamily="18" charset="0"/>
                          </a:rPr>
                        </m:ctrlPr>
                      </m:sSubPr>
                      <m:e>
                        <m:r>
                          <a:rPr lang="en-US" sz="2200" b="0" i="1">
                            <a:solidFill>
                              <a:srgbClr val="FF0000"/>
                            </a:solidFill>
                            <a:latin typeface="Cambria Math" panose="02040503050406030204" pitchFamily="18" charset="0"/>
                          </a:rPr>
                          <m:t>𝑦</m:t>
                        </m:r>
                      </m:e>
                      <m:sub>
                        <m:r>
                          <a:rPr lang="en-US" sz="2200" b="0" i="1">
                            <a:solidFill>
                              <a:srgbClr val="FF0000"/>
                            </a:solidFill>
                            <a:latin typeface="Cambria Math" panose="02040503050406030204" pitchFamily="18" charset="0"/>
                          </a:rPr>
                          <m:t>𝑝</m:t>
                        </m:r>
                      </m:sub>
                    </m:sSub>
                    <m:r>
                      <a:rPr lang="en-US" sz="2200" b="0" i="1">
                        <a:solidFill>
                          <a:srgbClr val="FF0000"/>
                        </a:solidFill>
                        <a:latin typeface="Cambria Math" panose="02040503050406030204" pitchFamily="18" charset="0"/>
                      </a:rPr>
                      <m:t>(</m:t>
                    </m:r>
                    <m:r>
                      <a:rPr lang="en-US" sz="2200" b="0" i="1">
                        <a:solidFill>
                          <a:srgbClr val="FF0000"/>
                        </a:solidFill>
                        <a:latin typeface="Cambria Math" panose="02040503050406030204" pitchFamily="18" charset="0"/>
                      </a:rPr>
                      <m:t>𝑡</m:t>
                    </m:r>
                    <m:r>
                      <a:rPr lang="en-US" sz="2200" b="0" i="1">
                        <a:solidFill>
                          <a:srgbClr val="FF0000"/>
                        </a:solidFill>
                        <a:latin typeface="Cambria Math" panose="02040503050406030204" pitchFamily="18" charset="0"/>
                      </a:rPr>
                      <m:t>)+</m:t>
                    </m:r>
                    <m:sSub>
                      <m:sSubPr>
                        <m:ctrlPr>
                          <a:rPr lang="en-US" sz="2200" b="0" i="1">
                            <a:solidFill>
                              <a:srgbClr val="FF0000"/>
                            </a:solidFill>
                            <a:latin typeface="Cambria Math" panose="02040503050406030204" pitchFamily="18" charset="0"/>
                          </a:rPr>
                        </m:ctrlPr>
                      </m:sSubPr>
                      <m:e>
                        <m:r>
                          <a:rPr lang="en-US" sz="2200" b="0" i="1">
                            <a:solidFill>
                              <a:srgbClr val="FF0000"/>
                            </a:solidFill>
                            <a:latin typeface="Cambria Math" panose="02040503050406030204" pitchFamily="18" charset="0"/>
                          </a:rPr>
                          <m:t>𝑦</m:t>
                        </m:r>
                      </m:e>
                      <m:sub>
                        <m:r>
                          <a:rPr lang="en-US" sz="2200" b="0" i="1">
                            <a:solidFill>
                              <a:srgbClr val="FF0000"/>
                            </a:solidFill>
                            <a:latin typeface="Cambria Math" panose="02040503050406030204" pitchFamily="18" charset="0"/>
                          </a:rPr>
                          <m:t>h</m:t>
                        </m:r>
                      </m:sub>
                    </m:sSub>
                    <m:r>
                      <a:rPr lang="en-US" sz="2200" b="0" i="1">
                        <a:solidFill>
                          <a:srgbClr val="FF0000"/>
                        </a:solidFill>
                        <a:latin typeface="Cambria Math" panose="02040503050406030204" pitchFamily="18" charset="0"/>
                      </a:rPr>
                      <m:t>(</m:t>
                    </m:r>
                    <m:r>
                      <a:rPr lang="en-US" sz="2200" b="0" i="1">
                        <a:solidFill>
                          <a:srgbClr val="FF0000"/>
                        </a:solidFill>
                        <a:latin typeface="Cambria Math" panose="02040503050406030204" pitchFamily="18" charset="0"/>
                      </a:rPr>
                      <m:t>𝑡</m:t>
                    </m:r>
                    <m:r>
                      <a:rPr lang="en-US" sz="2200" b="0" i="1">
                        <a:solidFill>
                          <a:srgbClr val="FF0000"/>
                        </a:solidFill>
                        <a:latin typeface="Cambria Math" panose="02040503050406030204" pitchFamily="18" charset="0"/>
                      </a:rPr>
                      <m:t>)</m:t>
                    </m:r>
                  </m:oMath>
                </a14:m>
                <a:r>
                  <a:rPr lang="zh-CN" altLang="en-US" sz="2200" b="0" dirty="0">
                    <a:solidFill>
                      <a:schemeClr val="tx1"/>
                    </a:solidFill>
                  </a:rPr>
                  <a:t>。特解</a:t>
                </a:r>
                <a14:m>
                  <m:oMath xmlns:m="http://schemas.openxmlformats.org/officeDocument/2006/math">
                    <m:sSub>
                      <m:sSubPr>
                        <m:ctrlPr>
                          <a:rPr lang="en-US" sz="2200" b="0" i="1">
                            <a:solidFill>
                              <a:schemeClr val="tx1"/>
                            </a:solidFill>
                            <a:latin typeface="Cambria Math" panose="02040503050406030204" pitchFamily="18" charset="0"/>
                          </a:rPr>
                        </m:ctrlPr>
                      </m:sSubPr>
                      <m:e>
                        <m:r>
                          <a:rPr lang="en-US" sz="2200" b="0" i="1">
                            <a:solidFill>
                              <a:schemeClr val="tx1"/>
                            </a:solidFill>
                            <a:latin typeface="Cambria Math" panose="02040503050406030204" pitchFamily="18" charset="0"/>
                          </a:rPr>
                          <m:t>𝑦</m:t>
                        </m:r>
                      </m:e>
                      <m:sub>
                        <m:r>
                          <a:rPr lang="en-US" sz="2200" b="0" i="1">
                            <a:solidFill>
                              <a:schemeClr val="tx1"/>
                            </a:solidFill>
                            <a:latin typeface="Cambria Math" panose="02040503050406030204" pitchFamily="18" charset="0"/>
                          </a:rPr>
                          <m:t>𝑝</m:t>
                        </m:r>
                      </m:sub>
                    </m:sSub>
                    <m:r>
                      <a:rPr lang="en-US" sz="2200" b="0" i="1">
                        <a:solidFill>
                          <a:schemeClr val="tx1"/>
                        </a:solidFill>
                        <a:latin typeface="Cambria Math" panose="02040503050406030204" pitchFamily="18" charset="0"/>
                      </a:rPr>
                      <m:t>(</m:t>
                    </m:r>
                    <m:r>
                      <a:rPr lang="en-US" sz="2200" b="0" i="1">
                        <a:solidFill>
                          <a:schemeClr val="tx1"/>
                        </a:solidFill>
                        <a:latin typeface="Cambria Math" panose="02040503050406030204" pitchFamily="18" charset="0"/>
                      </a:rPr>
                      <m:t>𝑡</m:t>
                    </m:r>
                    <m:r>
                      <a:rPr lang="en-US" sz="2200" b="0" i="1">
                        <a:solidFill>
                          <a:schemeClr val="tx1"/>
                        </a:solidFill>
                        <a:latin typeface="Cambria Math" panose="02040503050406030204" pitchFamily="18" charset="0"/>
                      </a:rPr>
                      <m:t>)</m:t>
                    </m:r>
                  </m:oMath>
                </a14:m>
                <a:r>
                  <a:rPr lang="zh-CN" altLang="en-US" sz="2200" b="0" dirty="0">
                    <a:solidFill>
                      <a:schemeClr val="tx1"/>
                    </a:solidFill>
                  </a:rPr>
                  <a:t>是与输入</a:t>
                </a:r>
                <a14:m>
                  <m:oMath xmlns:m="http://schemas.openxmlformats.org/officeDocument/2006/math">
                    <m:r>
                      <a:rPr lang="en-US" sz="2200" b="0" i="1">
                        <a:solidFill>
                          <a:schemeClr val="tx1"/>
                        </a:solidFill>
                        <a:latin typeface="Cambria Math" panose="02040503050406030204" pitchFamily="18" charset="0"/>
                      </a:rPr>
                      <m:t>𝑥</m:t>
                    </m:r>
                    <m:r>
                      <a:rPr lang="en-US" sz="2200" b="0" i="1">
                        <a:solidFill>
                          <a:schemeClr val="tx1"/>
                        </a:solidFill>
                        <a:latin typeface="Cambria Math" panose="02040503050406030204" pitchFamily="18" charset="0"/>
                      </a:rPr>
                      <m:t>(</m:t>
                    </m:r>
                    <m:r>
                      <a:rPr lang="en-US" sz="2200" b="0" i="1">
                        <a:solidFill>
                          <a:schemeClr val="tx1"/>
                        </a:solidFill>
                        <a:latin typeface="Cambria Math" panose="02040503050406030204" pitchFamily="18" charset="0"/>
                      </a:rPr>
                      <m:t>𝑡</m:t>
                    </m:r>
                    <m:r>
                      <a:rPr lang="en-US" sz="2200" b="0" i="1">
                        <a:solidFill>
                          <a:schemeClr val="tx1"/>
                        </a:solidFill>
                        <a:latin typeface="Cambria Math" panose="02040503050406030204" pitchFamily="18" charset="0"/>
                      </a:rPr>
                      <m:t>)</m:t>
                    </m:r>
                  </m:oMath>
                </a14:m>
                <a:r>
                  <a:rPr lang="zh-CN" altLang="en-US" sz="2200" b="0" dirty="0">
                    <a:solidFill>
                      <a:schemeClr val="tx1"/>
                    </a:solidFill>
                  </a:rPr>
                  <a:t>同类型的</a:t>
                </a:r>
                <a:r>
                  <a:rPr lang="zh-CN" altLang="en-US" sz="2200" b="0">
                    <a:solidFill>
                      <a:schemeClr val="tx1"/>
                    </a:solidFill>
                  </a:rPr>
                  <a:t>函数，齐次解</a:t>
                </a:r>
                <a14:m>
                  <m:oMath xmlns:m="http://schemas.openxmlformats.org/officeDocument/2006/math">
                    <m:sSub>
                      <m:sSubPr>
                        <m:ctrlPr>
                          <a:rPr lang="en-US" sz="2200" b="0" i="1">
                            <a:solidFill>
                              <a:schemeClr val="tx1"/>
                            </a:solidFill>
                            <a:latin typeface="Cambria Math" panose="02040503050406030204" pitchFamily="18" charset="0"/>
                          </a:rPr>
                        </m:ctrlPr>
                      </m:sSubPr>
                      <m:e>
                        <m:r>
                          <a:rPr lang="en-US" sz="2200" b="0" i="1">
                            <a:solidFill>
                              <a:schemeClr val="tx1"/>
                            </a:solidFill>
                            <a:latin typeface="Cambria Math" panose="02040503050406030204" pitchFamily="18" charset="0"/>
                          </a:rPr>
                          <m:t>𝑦</m:t>
                        </m:r>
                      </m:e>
                      <m:sub>
                        <m:r>
                          <a:rPr lang="en-US" sz="2200" b="0" i="1">
                            <a:solidFill>
                              <a:schemeClr val="tx1"/>
                            </a:solidFill>
                            <a:latin typeface="Cambria Math" panose="02040503050406030204" pitchFamily="18" charset="0"/>
                          </a:rPr>
                          <m:t>h</m:t>
                        </m:r>
                      </m:sub>
                    </m:sSub>
                    <m:r>
                      <a:rPr lang="en-US" sz="2200" b="0" i="1">
                        <a:solidFill>
                          <a:schemeClr val="tx1"/>
                        </a:solidFill>
                        <a:latin typeface="Cambria Math" panose="02040503050406030204" pitchFamily="18" charset="0"/>
                      </a:rPr>
                      <m:t>(</m:t>
                    </m:r>
                    <m:r>
                      <a:rPr lang="en-US" sz="2200" b="0" i="1">
                        <a:solidFill>
                          <a:schemeClr val="tx1"/>
                        </a:solidFill>
                        <a:latin typeface="Cambria Math" panose="02040503050406030204" pitchFamily="18" charset="0"/>
                      </a:rPr>
                      <m:t>𝑡</m:t>
                    </m:r>
                    <m:r>
                      <a:rPr lang="en-US" sz="2200" b="0" i="1">
                        <a:solidFill>
                          <a:schemeClr val="tx1"/>
                        </a:solidFill>
                        <a:latin typeface="Cambria Math" panose="02040503050406030204" pitchFamily="18" charset="0"/>
                      </a:rPr>
                      <m:t>)</m:t>
                    </m:r>
                  </m:oMath>
                </a14:m>
                <a:r>
                  <a:rPr lang="zh-CN" altLang="en-US" sz="2200" b="0" dirty="0">
                    <a:solidFill>
                      <a:schemeClr val="tx1"/>
                    </a:solidFill>
                  </a:rPr>
                  <a:t>是以下齐次方程的解：</a:t>
                </a:r>
                <a:endParaRPr lang="en-US" altLang="zh-CN" sz="2200" b="0" dirty="0">
                  <a:solidFill>
                    <a:schemeClr val="tx1"/>
                  </a:solidFill>
                </a:endParaRPr>
              </a:p>
              <a:p>
                <a:pPr marL="0" indent="0" algn="just">
                  <a:buNone/>
                </a:pPr>
                <a14:m>
                  <m:oMathPara xmlns:m="http://schemas.openxmlformats.org/officeDocument/2006/math">
                    <m:oMathParaPr>
                      <m:jc m:val="centerGroup"/>
                    </m:oMathParaPr>
                    <m:oMath xmlns:m="http://schemas.openxmlformats.org/officeDocument/2006/math">
                      <m:nary>
                        <m:naryPr>
                          <m:chr m:val="∑"/>
                          <m:ctrlPr>
                            <a:rPr lang="en-US" sz="2200" b="0" i="1" smtClean="0">
                              <a:solidFill>
                                <a:schemeClr val="tx1"/>
                              </a:solidFill>
                              <a:latin typeface="Cambria Math" panose="02040503050406030204" pitchFamily="18" charset="0"/>
                            </a:rPr>
                          </m:ctrlPr>
                        </m:naryPr>
                        <m:sub>
                          <m:r>
                            <a:rPr lang="en-US" sz="2200" b="0" i="1">
                              <a:solidFill>
                                <a:schemeClr val="tx1"/>
                              </a:solidFill>
                              <a:latin typeface="Cambria Math" panose="02040503050406030204" pitchFamily="18" charset="0"/>
                            </a:rPr>
                            <m:t>𝑘</m:t>
                          </m:r>
                          <m:r>
                            <a:rPr lang="en-US" sz="2200" b="0" i="1">
                              <a:solidFill>
                                <a:schemeClr val="tx1"/>
                              </a:solidFill>
                              <a:latin typeface="Cambria Math" panose="02040503050406030204" pitchFamily="18" charset="0"/>
                            </a:rPr>
                            <m:t>=0</m:t>
                          </m:r>
                        </m:sub>
                        <m:sup>
                          <m:r>
                            <a:rPr lang="en-US" sz="2200" b="0" i="1">
                              <a:solidFill>
                                <a:schemeClr val="tx1"/>
                              </a:solidFill>
                              <a:latin typeface="Cambria Math" panose="02040503050406030204" pitchFamily="18" charset="0"/>
                            </a:rPr>
                            <m:t>𝑁</m:t>
                          </m:r>
                        </m:sup>
                        <m:e>
                          <m:sSub>
                            <m:sSubPr>
                              <m:ctrlPr>
                                <a:rPr lang="en-US" sz="2200" b="0" i="1">
                                  <a:solidFill>
                                    <a:schemeClr val="tx1"/>
                                  </a:solidFill>
                                  <a:latin typeface="Cambria Math" panose="02040503050406030204" pitchFamily="18" charset="0"/>
                                </a:rPr>
                              </m:ctrlPr>
                            </m:sSubPr>
                            <m:e>
                              <m:r>
                                <a:rPr lang="en-US" sz="2200" b="0" i="1">
                                  <a:solidFill>
                                    <a:schemeClr val="tx1"/>
                                  </a:solidFill>
                                  <a:latin typeface="Cambria Math" panose="02040503050406030204" pitchFamily="18" charset="0"/>
                                </a:rPr>
                                <m:t>𝑎</m:t>
                              </m:r>
                            </m:e>
                            <m:sub>
                              <m:r>
                                <a:rPr lang="en-US" sz="2200" b="0" i="1">
                                  <a:solidFill>
                                    <a:schemeClr val="tx1"/>
                                  </a:solidFill>
                                  <a:latin typeface="Cambria Math" panose="02040503050406030204" pitchFamily="18" charset="0"/>
                                </a:rPr>
                                <m:t>𝑘</m:t>
                              </m:r>
                            </m:sub>
                          </m:sSub>
                          <m:f>
                            <m:fPr>
                              <m:ctrlPr>
                                <a:rPr lang="en-US" sz="2200" b="0" i="1">
                                  <a:solidFill>
                                    <a:schemeClr val="tx1"/>
                                  </a:solidFill>
                                  <a:latin typeface="Cambria Math" panose="02040503050406030204" pitchFamily="18" charset="0"/>
                                </a:rPr>
                              </m:ctrlPr>
                            </m:fPr>
                            <m:num>
                              <m:sSup>
                                <m:sSupPr>
                                  <m:ctrlPr>
                                    <a:rPr lang="en-US" sz="2200" b="0" i="1">
                                      <a:solidFill>
                                        <a:schemeClr val="tx1"/>
                                      </a:solidFill>
                                      <a:latin typeface="Cambria Math" panose="02040503050406030204" pitchFamily="18" charset="0"/>
                                    </a:rPr>
                                  </m:ctrlPr>
                                </m:sSupPr>
                                <m:e>
                                  <m:r>
                                    <m:rPr>
                                      <m:sty m:val="p"/>
                                    </m:rPr>
                                    <a:rPr lang="en-US" sz="2200" b="0" i="0">
                                      <a:solidFill>
                                        <a:schemeClr val="tx1"/>
                                      </a:solidFill>
                                      <a:latin typeface="Cambria Math" panose="02040503050406030204" pitchFamily="18" charset="0"/>
                                    </a:rPr>
                                    <m:t>d</m:t>
                                  </m:r>
                                </m:e>
                                <m:sup>
                                  <m:r>
                                    <a:rPr lang="en-US" sz="2200" b="0" i="1">
                                      <a:solidFill>
                                        <a:schemeClr val="tx1"/>
                                      </a:solidFill>
                                      <a:latin typeface="Cambria Math" panose="02040503050406030204" pitchFamily="18" charset="0"/>
                                    </a:rPr>
                                    <m:t>𝑘</m:t>
                                  </m:r>
                                </m:sup>
                              </m:sSup>
                              <m:r>
                                <a:rPr lang="en-US" sz="2200" b="0" i="1">
                                  <a:solidFill>
                                    <a:schemeClr val="tx1"/>
                                  </a:solidFill>
                                  <a:latin typeface="Cambria Math" panose="02040503050406030204" pitchFamily="18" charset="0"/>
                                </a:rPr>
                                <m:t>𝑦</m:t>
                              </m:r>
                              <m:r>
                                <a:rPr lang="en-US" sz="2200" b="0" i="1">
                                  <a:solidFill>
                                    <a:schemeClr val="tx1"/>
                                  </a:solidFill>
                                  <a:latin typeface="Cambria Math" panose="02040503050406030204" pitchFamily="18" charset="0"/>
                                </a:rPr>
                                <m:t>(</m:t>
                              </m:r>
                              <m:r>
                                <a:rPr lang="en-US" sz="2200" b="0" i="1">
                                  <a:solidFill>
                                    <a:schemeClr val="tx1"/>
                                  </a:solidFill>
                                  <a:latin typeface="Cambria Math" panose="02040503050406030204" pitchFamily="18" charset="0"/>
                                </a:rPr>
                                <m:t>𝑡</m:t>
                              </m:r>
                              <m:r>
                                <a:rPr lang="en-US" sz="2200" b="0" i="1">
                                  <a:solidFill>
                                    <a:schemeClr val="tx1"/>
                                  </a:solidFill>
                                  <a:latin typeface="Cambria Math" panose="02040503050406030204" pitchFamily="18" charset="0"/>
                                </a:rPr>
                                <m:t>)</m:t>
                              </m:r>
                            </m:num>
                            <m:den>
                              <m:r>
                                <m:rPr>
                                  <m:sty m:val="p"/>
                                </m:rPr>
                                <a:rPr lang="en-US" sz="2200" b="0" i="0">
                                  <a:solidFill>
                                    <a:schemeClr val="tx1"/>
                                  </a:solidFill>
                                  <a:latin typeface="Cambria Math" panose="02040503050406030204" pitchFamily="18" charset="0"/>
                                </a:rPr>
                                <m:t>d</m:t>
                              </m:r>
                              <m:sSup>
                                <m:sSupPr>
                                  <m:ctrlPr>
                                    <a:rPr lang="en-US" sz="2200" b="0" i="1">
                                      <a:solidFill>
                                        <a:schemeClr val="tx1"/>
                                      </a:solidFill>
                                      <a:latin typeface="Cambria Math" panose="02040503050406030204" pitchFamily="18" charset="0"/>
                                    </a:rPr>
                                  </m:ctrlPr>
                                </m:sSupPr>
                                <m:e>
                                  <m:r>
                                    <a:rPr lang="en-US" sz="2200" b="0" i="1">
                                      <a:solidFill>
                                        <a:schemeClr val="tx1"/>
                                      </a:solidFill>
                                      <a:latin typeface="Cambria Math" panose="02040503050406030204" pitchFamily="18" charset="0"/>
                                    </a:rPr>
                                    <m:t>𝑡</m:t>
                                  </m:r>
                                </m:e>
                                <m:sup>
                                  <m:r>
                                    <a:rPr lang="en-US" sz="2200" b="0" i="1">
                                      <a:solidFill>
                                        <a:schemeClr val="tx1"/>
                                      </a:solidFill>
                                      <a:latin typeface="Cambria Math" panose="02040503050406030204" pitchFamily="18" charset="0"/>
                                    </a:rPr>
                                    <m:t>𝑘</m:t>
                                  </m:r>
                                </m:sup>
                              </m:sSup>
                            </m:den>
                          </m:f>
                        </m:e>
                      </m:nary>
                      <m:r>
                        <a:rPr lang="en-US" sz="2200" b="0" i="1">
                          <a:solidFill>
                            <a:schemeClr val="tx1"/>
                          </a:solidFill>
                          <a:latin typeface="Cambria Math" panose="02040503050406030204" pitchFamily="18" charset="0"/>
                        </a:rPr>
                        <m:t>=0</m:t>
                      </m:r>
                    </m:oMath>
                  </m:oMathPara>
                </a14:m>
                <a:endParaRPr lang="en-US" altLang="zh-CN" sz="2200" b="0" dirty="0">
                  <a:solidFill>
                    <a:schemeClr val="tx1"/>
                  </a:solidFill>
                </a:endParaRPr>
              </a:p>
              <a:p>
                <a:pPr marL="357188" indent="0" algn="just">
                  <a:buNone/>
                </a:pPr>
                <a:r>
                  <a:rPr lang="zh-CN" altLang="en-US" sz="2200" b="0" dirty="0">
                    <a:solidFill>
                      <a:schemeClr val="tx1"/>
                    </a:solidFill>
                  </a:rPr>
                  <a:t>欲求得齐次解，可建立特征方程求出</a:t>
                </a:r>
                <a:r>
                  <a:rPr lang="zh-CN" altLang="en-US" sz="2200" b="0" dirty="0">
                    <a:solidFill>
                      <a:srgbClr val="FF0000"/>
                    </a:solidFill>
                  </a:rPr>
                  <a:t>特征根</a:t>
                </a:r>
                <a14:m>
                  <m:oMath xmlns:m="http://schemas.openxmlformats.org/officeDocument/2006/math">
                    <m:sSub>
                      <m:sSubPr>
                        <m:ctrlPr>
                          <a:rPr lang="en-US" sz="2200" b="0" i="1" smtClean="0">
                            <a:solidFill>
                              <a:srgbClr val="FF0000"/>
                            </a:solidFill>
                            <a:latin typeface="Cambria Math" panose="02040503050406030204" pitchFamily="18" charset="0"/>
                          </a:rPr>
                        </m:ctrlPr>
                      </m:sSubPr>
                      <m:e>
                        <m:r>
                          <a:rPr lang="en-US" sz="2200" b="0" i="1">
                            <a:solidFill>
                              <a:srgbClr val="FF0000"/>
                            </a:solidFill>
                            <a:latin typeface="Cambria Math" panose="02040503050406030204" pitchFamily="18" charset="0"/>
                          </a:rPr>
                          <m:t>𝜆</m:t>
                        </m:r>
                      </m:e>
                      <m:sub>
                        <m:r>
                          <a:rPr lang="en-US" sz="2200" b="0" i="1">
                            <a:solidFill>
                              <a:srgbClr val="FF0000"/>
                            </a:solidFill>
                            <a:latin typeface="Cambria Math" panose="02040503050406030204" pitchFamily="18" charset="0"/>
                          </a:rPr>
                          <m:t>𝑘</m:t>
                        </m:r>
                      </m:sub>
                    </m:sSub>
                  </m:oMath>
                </a14:m>
                <a:r>
                  <a:rPr lang="zh-CN" altLang="en-US" sz="2200" b="0" dirty="0">
                    <a:solidFill>
                      <a:schemeClr val="tx1"/>
                    </a:solidFill>
                  </a:rPr>
                  <a:t>：</a:t>
                </a:r>
                <a:r>
                  <a:rPr lang="en-US" sz="2200" b="0" dirty="0">
                    <a:solidFill>
                      <a:schemeClr val="tx1"/>
                    </a:solidFill>
                  </a:rPr>
                  <a:t> </a:t>
                </a:r>
              </a:p>
              <a:p>
                <a:pPr marL="0" indent="0" algn="just">
                  <a:buNone/>
                </a:pPr>
                <a14:m>
                  <m:oMathPara xmlns:m="http://schemas.openxmlformats.org/officeDocument/2006/math">
                    <m:oMathParaPr>
                      <m:jc m:val="centerGroup"/>
                    </m:oMathParaPr>
                    <m:oMath xmlns:m="http://schemas.openxmlformats.org/officeDocument/2006/math">
                      <m:nary>
                        <m:naryPr>
                          <m:chr m:val="∑"/>
                          <m:limLoc m:val="subSup"/>
                          <m:ctrlPr>
                            <a:rPr lang="en-US" sz="2200" b="0" i="1">
                              <a:solidFill>
                                <a:schemeClr val="tx1"/>
                              </a:solidFill>
                              <a:latin typeface="Cambria Math" panose="02040503050406030204" pitchFamily="18" charset="0"/>
                            </a:rPr>
                          </m:ctrlPr>
                        </m:naryPr>
                        <m:sub>
                          <m:r>
                            <a:rPr lang="en-US" sz="2200" b="0" i="1">
                              <a:solidFill>
                                <a:schemeClr val="tx1"/>
                              </a:solidFill>
                              <a:latin typeface="Cambria Math" panose="02040503050406030204" pitchFamily="18" charset="0"/>
                            </a:rPr>
                            <m:t>𝑘</m:t>
                          </m:r>
                          <m:r>
                            <a:rPr lang="en-US" sz="2200" b="0" i="1">
                              <a:solidFill>
                                <a:schemeClr val="tx1"/>
                              </a:solidFill>
                              <a:latin typeface="Cambria Math" panose="02040503050406030204" pitchFamily="18" charset="0"/>
                            </a:rPr>
                            <m:t>=0</m:t>
                          </m:r>
                        </m:sub>
                        <m:sup>
                          <m:r>
                            <a:rPr lang="en-US" sz="2200" b="0" i="1">
                              <a:solidFill>
                                <a:schemeClr val="tx1"/>
                              </a:solidFill>
                              <a:latin typeface="Cambria Math" panose="02040503050406030204" pitchFamily="18" charset="0"/>
                            </a:rPr>
                            <m:t>𝑁</m:t>
                          </m:r>
                        </m:sup>
                        <m:e>
                          <m:sSub>
                            <m:sSubPr>
                              <m:ctrlPr>
                                <a:rPr lang="en-US" sz="2200" b="0" i="1">
                                  <a:solidFill>
                                    <a:schemeClr val="tx1"/>
                                  </a:solidFill>
                                  <a:latin typeface="Cambria Math" panose="02040503050406030204" pitchFamily="18" charset="0"/>
                                </a:rPr>
                              </m:ctrlPr>
                            </m:sSubPr>
                            <m:e>
                              <m:r>
                                <a:rPr lang="en-US" sz="2200" b="0" i="1">
                                  <a:solidFill>
                                    <a:schemeClr val="tx1"/>
                                  </a:solidFill>
                                  <a:latin typeface="Cambria Math" panose="02040503050406030204" pitchFamily="18" charset="0"/>
                                </a:rPr>
                                <m:t>𝑎</m:t>
                              </m:r>
                            </m:e>
                            <m:sub>
                              <m:r>
                                <a:rPr lang="en-US" sz="2200" b="0" i="1">
                                  <a:solidFill>
                                    <a:schemeClr val="tx1"/>
                                  </a:solidFill>
                                  <a:latin typeface="Cambria Math" panose="02040503050406030204" pitchFamily="18" charset="0"/>
                                </a:rPr>
                                <m:t>𝑘</m:t>
                              </m:r>
                            </m:sub>
                          </m:sSub>
                          <m:sSup>
                            <m:sSupPr>
                              <m:ctrlPr>
                                <a:rPr lang="en-US" sz="2200" b="0" i="1">
                                  <a:solidFill>
                                    <a:schemeClr val="tx1"/>
                                  </a:solidFill>
                                  <a:latin typeface="Cambria Math" panose="02040503050406030204" pitchFamily="18" charset="0"/>
                                </a:rPr>
                              </m:ctrlPr>
                            </m:sSupPr>
                            <m:e>
                              <m:r>
                                <a:rPr lang="en-US" sz="2200" b="0" i="1">
                                  <a:solidFill>
                                    <a:schemeClr val="tx1"/>
                                  </a:solidFill>
                                  <a:latin typeface="Cambria Math" panose="02040503050406030204" pitchFamily="18" charset="0"/>
                                </a:rPr>
                                <m:t>𝜆</m:t>
                              </m:r>
                            </m:e>
                            <m:sup>
                              <m:r>
                                <a:rPr lang="en-US" sz="2200" b="0" i="1">
                                  <a:solidFill>
                                    <a:schemeClr val="tx1"/>
                                  </a:solidFill>
                                  <a:latin typeface="Cambria Math" panose="02040503050406030204" pitchFamily="18" charset="0"/>
                                </a:rPr>
                                <m:t>𝑘</m:t>
                              </m:r>
                            </m:sup>
                          </m:sSup>
                        </m:e>
                      </m:nary>
                      <m:r>
                        <a:rPr lang="en-US" sz="2200" b="0" i="1">
                          <a:solidFill>
                            <a:schemeClr val="tx1"/>
                          </a:solidFill>
                          <a:latin typeface="Cambria Math" panose="02040503050406030204" pitchFamily="18" charset="0"/>
                        </a:rPr>
                        <m:t>=0</m:t>
                      </m:r>
                    </m:oMath>
                  </m:oMathPara>
                </a14:m>
                <a:endParaRPr lang="en-US" altLang="zh-CN" sz="2200" b="0" dirty="0">
                  <a:solidFill>
                    <a:schemeClr val="tx1"/>
                  </a:solidFill>
                </a:endParaRPr>
              </a:p>
              <a:p>
                <a:pPr marL="357188" indent="0" algn="just">
                  <a:buNone/>
                </a:pPr>
                <a:r>
                  <a:rPr lang="zh-CN" altLang="en-US" sz="2200" b="0" dirty="0">
                    <a:solidFill>
                      <a:schemeClr val="tx1"/>
                    </a:solidFill>
                  </a:rPr>
                  <a:t>在特征根均为单阶根时，齐次解形式为：</a:t>
                </a:r>
                <a:endParaRPr lang="en-US" altLang="zh-CN" sz="2200" b="0" dirty="0">
                  <a:solidFill>
                    <a:schemeClr val="tx1"/>
                  </a:solidFill>
                </a:endParaRPr>
              </a:p>
              <a:p>
                <a:pPr marL="0" indent="0" algn="just">
                  <a:buNone/>
                </a:pPr>
                <a14:m>
                  <m:oMathPara xmlns:m="http://schemas.openxmlformats.org/officeDocument/2006/math">
                    <m:oMathParaPr>
                      <m:jc m:val="centerGroup"/>
                    </m:oMathParaPr>
                    <m:oMath xmlns:m="http://schemas.openxmlformats.org/officeDocument/2006/math">
                      <m:sSub>
                        <m:sSubPr>
                          <m:ctrlPr>
                            <a:rPr lang="en-US" sz="2200" b="0" i="1" smtClean="0">
                              <a:solidFill>
                                <a:schemeClr val="tx1"/>
                              </a:solidFill>
                              <a:latin typeface="Cambria Math" panose="02040503050406030204" pitchFamily="18" charset="0"/>
                            </a:rPr>
                          </m:ctrlPr>
                        </m:sSubPr>
                        <m:e>
                          <m:r>
                            <a:rPr lang="en-US" sz="2200" b="0" i="1">
                              <a:solidFill>
                                <a:schemeClr val="tx1"/>
                              </a:solidFill>
                              <a:latin typeface="Cambria Math" panose="02040503050406030204" pitchFamily="18" charset="0"/>
                            </a:rPr>
                            <m:t>𝑦</m:t>
                          </m:r>
                        </m:e>
                        <m:sub>
                          <m:r>
                            <a:rPr lang="en-US" sz="2200" b="0" i="1">
                              <a:solidFill>
                                <a:schemeClr val="tx1"/>
                              </a:solidFill>
                              <a:latin typeface="Cambria Math" panose="02040503050406030204" pitchFamily="18" charset="0"/>
                            </a:rPr>
                            <m:t>h</m:t>
                          </m:r>
                        </m:sub>
                      </m:sSub>
                      <m:r>
                        <a:rPr lang="en-US" sz="2200" b="0" i="1">
                          <a:solidFill>
                            <a:schemeClr val="tx1"/>
                          </a:solidFill>
                          <a:latin typeface="Cambria Math" panose="02040503050406030204" pitchFamily="18" charset="0"/>
                        </a:rPr>
                        <m:t>(</m:t>
                      </m:r>
                      <m:r>
                        <a:rPr lang="en-US" sz="2200" b="0" i="1">
                          <a:solidFill>
                            <a:schemeClr val="tx1"/>
                          </a:solidFill>
                          <a:latin typeface="Cambria Math" panose="02040503050406030204" pitchFamily="18" charset="0"/>
                        </a:rPr>
                        <m:t>𝑡</m:t>
                      </m:r>
                      <m:r>
                        <a:rPr lang="en-US" sz="2200" b="0" i="1">
                          <a:solidFill>
                            <a:schemeClr val="tx1"/>
                          </a:solidFill>
                          <a:latin typeface="Cambria Math" panose="02040503050406030204" pitchFamily="18" charset="0"/>
                        </a:rPr>
                        <m:t>)=</m:t>
                      </m:r>
                      <m:nary>
                        <m:naryPr>
                          <m:chr m:val="∑"/>
                          <m:ctrlPr>
                            <a:rPr lang="en-US" sz="2200" b="0" i="1">
                              <a:solidFill>
                                <a:schemeClr val="tx1"/>
                              </a:solidFill>
                              <a:latin typeface="Cambria Math" panose="02040503050406030204" pitchFamily="18" charset="0"/>
                            </a:rPr>
                          </m:ctrlPr>
                        </m:naryPr>
                        <m:sub>
                          <m:r>
                            <a:rPr lang="en-US" sz="2200" b="0" i="1">
                              <a:solidFill>
                                <a:schemeClr val="tx1"/>
                              </a:solidFill>
                              <a:latin typeface="Cambria Math" panose="02040503050406030204" pitchFamily="18" charset="0"/>
                            </a:rPr>
                            <m:t>𝑘</m:t>
                          </m:r>
                          <m:r>
                            <a:rPr lang="en-US" sz="2200" b="0" i="1">
                              <a:solidFill>
                                <a:schemeClr val="tx1"/>
                              </a:solidFill>
                              <a:latin typeface="Cambria Math" panose="02040503050406030204" pitchFamily="18" charset="0"/>
                            </a:rPr>
                            <m:t>=1</m:t>
                          </m:r>
                        </m:sub>
                        <m:sup>
                          <m:r>
                            <a:rPr lang="en-US" sz="2200" b="0" i="1">
                              <a:solidFill>
                                <a:schemeClr val="tx1"/>
                              </a:solidFill>
                              <a:latin typeface="Cambria Math" panose="02040503050406030204" pitchFamily="18" charset="0"/>
                            </a:rPr>
                            <m:t>𝑁</m:t>
                          </m:r>
                        </m:sup>
                        <m:e>
                          <m:sSub>
                            <m:sSubPr>
                              <m:ctrlPr>
                                <a:rPr lang="en-US" sz="2200" b="0" i="1">
                                  <a:solidFill>
                                    <a:schemeClr val="tx1"/>
                                  </a:solidFill>
                                  <a:latin typeface="Cambria Math" panose="02040503050406030204" pitchFamily="18" charset="0"/>
                                </a:rPr>
                              </m:ctrlPr>
                            </m:sSubPr>
                            <m:e>
                              <m:r>
                                <a:rPr lang="en-US" sz="2200" b="0" i="1">
                                  <a:solidFill>
                                    <a:schemeClr val="tx1"/>
                                  </a:solidFill>
                                  <a:latin typeface="Cambria Math" panose="02040503050406030204" pitchFamily="18" charset="0"/>
                                </a:rPr>
                                <m:t>𝐶</m:t>
                              </m:r>
                            </m:e>
                            <m:sub>
                              <m:r>
                                <a:rPr lang="en-US" sz="2200" b="0" i="1">
                                  <a:solidFill>
                                    <a:schemeClr val="tx1"/>
                                  </a:solidFill>
                                  <a:latin typeface="Cambria Math" panose="02040503050406030204" pitchFamily="18" charset="0"/>
                                </a:rPr>
                                <m:t>𝑘</m:t>
                              </m:r>
                            </m:sub>
                          </m:sSub>
                          <m:sSup>
                            <m:sSupPr>
                              <m:ctrlPr>
                                <a:rPr lang="en-US" sz="2200" b="0" i="1">
                                  <a:solidFill>
                                    <a:schemeClr val="tx1"/>
                                  </a:solidFill>
                                  <a:latin typeface="Cambria Math" panose="02040503050406030204" pitchFamily="18" charset="0"/>
                                </a:rPr>
                              </m:ctrlPr>
                            </m:sSupPr>
                            <m:e>
                              <m:r>
                                <a:rPr lang="en-US" sz="2200" b="0" i="1">
                                  <a:solidFill>
                                    <a:schemeClr val="tx1"/>
                                  </a:solidFill>
                                  <a:latin typeface="Cambria Math" panose="02040503050406030204" pitchFamily="18" charset="0"/>
                                </a:rPr>
                                <m:t>𝑒</m:t>
                              </m:r>
                            </m:e>
                            <m:sup>
                              <m:sSub>
                                <m:sSubPr>
                                  <m:ctrlPr>
                                    <a:rPr lang="en-US" sz="2200" b="0" i="1">
                                      <a:solidFill>
                                        <a:schemeClr val="tx1"/>
                                      </a:solidFill>
                                      <a:latin typeface="Cambria Math" panose="02040503050406030204" pitchFamily="18" charset="0"/>
                                    </a:rPr>
                                  </m:ctrlPr>
                                </m:sSubPr>
                                <m:e>
                                  <m:r>
                                    <a:rPr lang="en-US" sz="2200" b="0" i="1">
                                      <a:solidFill>
                                        <a:schemeClr val="tx1"/>
                                      </a:solidFill>
                                      <a:latin typeface="Cambria Math" panose="02040503050406030204" pitchFamily="18" charset="0"/>
                                    </a:rPr>
                                    <m:t>𝜆</m:t>
                                  </m:r>
                                </m:e>
                                <m:sub>
                                  <m:r>
                                    <a:rPr lang="en-US" sz="2200" b="0" i="1">
                                      <a:solidFill>
                                        <a:schemeClr val="tx1"/>
                                      </a:solidFill>
                                      <a:latin typeface="Cambria Math" panose="02040503050406030204" pitchFamily="18" charset="0"/>
                                    </a:rPr>
                                    <m:t>𝑘</m:t>
                                  </m:r>
                                </m:sub>
                              </m:sSub>
                              <m:r>
                                <a:rPr lang="en-US" sz="2200" b="0" i="1">
                                  <a:solidFill>
                                    <a:schemeClr val="tx1"/>
                                  </a:solidFill>
                                  <a:latin typeface="Cambria Math" panose="02040503050406030204" pitchFamily="18" charset="0"/>
                                </a:rPr>
                                <m:t>𝑡</m:t>
                              </m:r>
                            </m:sup>
                          </m:sSup>
                        </m:e>
                      </m:nary>
                      <m:r>
                        <a:rPr lang="en-US" sz="2200" b="0" i="1">
                          <a:solidFill>
                            <a:schemeClr val="tx1"/>
                          </a:solidFill>
                          <a:latin typeface="Cambria Math" panose="02040503050406030204" pitchFamily="18" charset="0"/>
                        </a:rPr>
                        <m:t>,</m:t>
                      </m:r>
                    </m:oMath>
                  </m:oMathPara>
                </a14:m>
                <a:endParaRPr lang="en-US" altLang="zh-CN" sz="2200" b="0" dirty="0">
                  <a:solidFill>
                    <a:schemeClr val="tx1"/>
                  </a:solidFill>
                </a:endParaRPr>
              </a:p>
              <a:p>
                <a:pPr marL="357188" indent="0" algn="just">
                  <a:buNone/>
                </a:pPr>
                <a:r>
                  <a:rPr kumimoji="0" lang="zh-CN" altLang="en-US" sz="2200" b="0" i="0" u="none" strike="noStrike" kern="1200" cap="none" spc="0" normalizeH="0" baseline="0" noProof="0" dirty="0">
                    <a:ln>
                      <a:noFill/>
                    </a:ln>
                    <a:solidFill>
                      <a:schemeClr val="tx1"/>
                    </a:solidFill>
                    <a:effectLst/>
                    <a:uLnTx/>
                    <a:uFillTx/>
                    <a:latin typeface="华文楷体" panose="02010600040101010101" pitchFamily="2" charset="-122"/>
                    <a:cs typeface="楷体_GB2312" panose="02010609030101010101" pitchFamily="49" charset="-122"/>
                  </a:rPr>
                  <a:t>其中</a:t>
                </a:r>
                <a14:m>
                  <m:oMath xmlns:m="http://schemas.openxmlformats.org/officeDocument/2006/math">
                    <m:sSub>
                      <m:sSubPr>
                        <m:ctrlPr>
                          <a:rPr lang="en-US" sz="2200" b="0" i="1" smtClean="0">
                            <a:solidFill>
                              <a:schemeClr val="tx1"/>
                            </a:solidFill>
                            <a:latin typeface="Cambria Math" panose="02040503050406030204" pitchFamily="18" charset="0"/>
                          </a:rPr>
                        </m:ctrlPr>
                      </m:sSubPr>
                      <m:e>
                        <m:r>
                          <a:rPr lang="en-US" sz="2200" b="0" i="1">
                            <a:solidFill>
                              <a:schemeClr val="tx1"/>
                            </a:solidFill>
                            <a:latin typeface="Cambria Math" panose="02040503050406030204" pitchFamily="18" charset="0"/>
                          </a:rPr>
                          <m:t>𝐶</m:t>
                        </m:r>
                      </m:e>
                      <m:sub>
                        <m:r>
                          <a:rPr lang="en-US" sz="2200" b="0" i="1">
                            <a:solidFill>
                              <a:schemeClr val="tx1"/>
                            </a:solidFill>
                            <a:latin typeface="Cambria Math" panose="02040503050406030204" pitchFamily="18" charset="0"/>
                          </a:rPr>
                          <m:t>𝑘</m:t>
                        </m:r>
                      </m:sub>
                    </m:sSub>
                  </m:oMath>
                </a14:m>
                <a:r>
                  <a:rPr kumimoji="0" lang="zh-CN" altLang="en-US" sz="2200" b="0" i="0" u="none" strike="noStrike" kern="1200" cap="none" spc="0" normalizeH="0" baseline="0" noProof="0" dirty="0">
                    <a:ln>
                      <a:noFill/>
                    </a:ln>
                    <a:solidFill>
                      <a:schemeClr val="tx1"/>
                    </a:solidFill>
                    <a:effectLst/>
                    <a:uLnTx/>
                    <a:uFillTx/>
                    <a:latin typeface="华文楷体" panose="02010600040101010101" pitchFamily="2" charset="-122"/>
                    <a:cs typeface="楷体_GB2312" panose="02010609030101010101" pitchFamily="49" charset="-122"/>
                  </a:rPr>
                  <a:t>是待定常数，需根据</a:t>
                </a:r>
                <a:r>
                  <a:rPr kumimoji="0" lang="zh-CN" altLang="en-US" sz="2200" b="0" i="0" u="none" strike="noStrike" kern="1200" cap="none" spc="0" normalizeH="0" baseline="0" noProof="0" dirty="0">
                    <a:ln>
                      <a:noFill/>
                    </a:ln>
                    <a:solidFill>
                      <a:srgbClr val="FF0000"/>
                    </a:solidFill>
                    <a:effectLst/>
                    <a:uLnTx/>
                    <a:uFillTx/>
                    <a:latin typeface="华文楷体" panose="02010600040101010101" pitchFamily="2" charset="-122"/>
                    <a:cs typeface="楷体_GB2312" panose="02010609030101010101" pitchFamily="49" charset="-122"/>
                  </a:rPr>
                  <a:t>附加条件</a:t>
                </a:r>
                <a:r>
                  <a:rPr kumimoji="0" lang="zh-CN" altLang="en-US" sz="2200" b="0" i="0" u="none" strike="noStrike" kern="1200" cap="none" spc="0" normalizeH="0" baseline="0" noProof="0" dirty="0">
                    <a:ln>
                      <a:noFill/>
                    </a:ln>
                    <a:solidFill>
                      <a:schemeClr val="tx1"/>
                    </a:solidFill>
                    <a:effectLst/>
                    <a:uLnTx/>
                    <a:uFillTx/>
                    <a:latin typeface="华文楷体" panose="02010600040101010101" pitchFamily="2" charset="-122"/>
                    <a:cs typeface="楷体_GB2312" panose="02010609030101010101" pitchFamily="49" charset="-122"/>
                  </a:rPr>
                  <a:t>确定。</a:t>
                </a:r>
                <a:endParaRPr lang="zh-CN" altLang="en-US" sz="2200" b="0" dirty="0">
                  <a:solidFill>
                    <a:schemeClr val="tx1"/>
                  </a:solidFill>
                </a:endParaRPr>
              </a:p>
            </p:txBody>
          </p:sp>
        </mc:Choice>
        <mc:Fallback xmlns="">
          <p:sp>
            <p:nvSpPr>
              <p:cNvPr id="23566" name="内容占位符 2">
                <a:extLst>
                  <a:ext uri="{FF2B5EF4-FFF2-40B4-BE49-F238E27FC236}">
                    <a16:creationId xmlns:a16="http://schemas.microsoft.com/office/drawing/2014/main" id="{BD7C9382-1817-40C1-ABF3-19FA8D0CD38C}"/>
                  </a:ext>
                </a:extLst>
              </p:cNvPr>
              <p:cNvSpPr>
                <a:spLocks noGrp="1" noRot="1" noChangeAspect="1" noMove="1" noResize="1" noEditPoints="1" noAdjustHandles="1" noChangeArrowheads="1" noChangeShapeType="1" noTextEdit="1"/>
              </p:cNvSpPr>
              <p:nvPr>
                <p:ph idx="1"/>
              </p:nvPr>
            </p:nvSpPr>
            <p:spPr>
              <a:xfrm>
                <a:off x="457200" y="1285875"/>
                <a:ext cx="8229600" cy="4976427"/>
              </a:xfrm>
              <a:blipFill>
                <a:blip r:embed="rId3"/>
                <a:stretch>
                  <a:fillRect l="-815" t="-735" r="-963" b="-1103"/>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DCE744BB-24FA-4A0E-8791-EAD7F2297A4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3496C11-4771-44BA-AD6E-DF8F5BDFCD8E}"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23560" name="Object 10">
            <a:extLst>
              <a:ext uri="{FF2B5EF4-FFF2-40B4-BE49-F238E27FC236}">
                <a16:creationId xmlns:a16="http://schemas.microsoft.com/office/drawing/2014/main" id="{4DDB7F49-CA73-4AEE-A88D-52F866C3F78D}"/>
              </a:ext>
            </a:extLst>
          </p:cNvPr>
          <p:cNvGraphicFramePr>
            <a:graphicFrameLocks noChangeAspect="1"/>
          </p:cNvGraphicFramePr>
          <p:nvPr>
            <p:extLst>
              <p:ext uri="{D42A27DB-BD31-4B8C-83A1-F6EECF244321}">
                <p14:modId xmlns:p14="http://schemas.microsoft.com/office/powerpoint/2010/main" val="19898517"/>
              </p:ext>
            </p:extLst>
          </p:nvPr>
        </p:nvGraphicFramePr>
        <p:xfrm>
          <a:off x="4524375" y="5738813"/>
          <a:ext cx="114300" cy="177800"/>
        </p:xfrm>
        <a:graphic>
          <a:graphicData uri="http://schemas.openxmlformats.org/presentationml/2006/ole">
            <mc:AlternateContent xmlns:mc="http://schemas.openxmlformats.org/markup-compatibility/2006">
              <mc:Choice xmlns:v="urn:schemas-microsoft-com:vml" Requires="v">
                <p:oleObj spid="_x0000_s6220" name="Equation" r:id="rId4" imgW="114120" imgH="177480" progId="Equation.DSMT4">
                  <p:embed/>
                </p:oleObj>
              </mc:Choice>
              <mc:Fallback>
                <p:oleObj name="Equation" r:id="rId4" imgW="114120" imgH="177480" progId="Equation.DSMT4">
                  <p:embed/>
                  <p:pic>
                    <p:nvPicPr>
                      <p:cNvPr id="23560" name="Object 10">
                        <a:extLst>
                          <a:ext uri="{FF2B5EF4-FFF2-40B4-BE49-F238E27FC236}">
                            <a16:creationId xmlns:a16="http://schemas.microsoft.com/office/drawing/2014/main" id="{4DDB7F49-CA73-4AEE-A88D-52F866C3F7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24375" y="5738813"/>
                        <a:ext cx="114300" cy="17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3" name="标题 1">
            <a:extLst>
              <a:ext uri="{FF2B5EF4-FFF2-40B4-BE49-F238E27FC236}">
                <a16:creationId xmlns:a16="http://schemas.microsoft.com/office/drawing/2014/main" id="{A21438A0-2D2B-4DF1-A85A-E979572D56A8}"/>
              </a:ext>
            </a:extLst>
          </p:cNvPr>
          <p:cNvSpPr>
            <a:spLocks noGrp="1"/>
          </p:cNvSpPr>
          <p:nvPr>
            <p:ph type="title"/>
          </p:nvPr>
        </p:nvSpPr>
        <p:spPr/>
        <p:txBody>
          <a:bodyPr/>
          <a:lstStyle/>
          <a:p>
            <a:r>
              <a:rPr lang="en-US" altLang="zh-CN" sz="3200"/>
              <a:t>2.4 </a:t>
            </a:r>
            <a:r>
              <a:rPr lang="zh-CN" altLang="en-US" sz="3200"/>
              <a:t>用微分和差分方程描述的因果</a:t>
            </a:r>
            <a:r>
              <a:rPr lang="en-US" altLang="zh-CN" sz="3200"/>
              <a:t>LTI</a:t>
            </a:r>
            <a:r>
              <a:rPr lang="zh-CN" altLang="en-US" sz="3200"/>
              <a:t>系统</a:t>
            </a:r>
          </a:p>
        </p:txBody>
      </p:sp>
      <mc:AlternateContent xmlns:mc="http://schemas.openxmlformats.org/markup-compatibility/2006" xmlns:a14="http://schemas.microsoft.com/office/drawing/2010/main">
        <mc:Choice Requires="a14">
          <p:sp>
            <p:nvSpPr>
              <p:cNvPr id="24584" name="内容占位符 2">
                <a:extLst>
                  <a:ext uri="{FF2B5EF4-FFF2-40B4-BE49-F238E27FC236}">
                    <a16:creationId xmlns:a16="http://schemas.microsoft.com/office/drawing/2014/main" id="{B1AFAC00-1322-4077-B02F-BEF746271D25}"/>
                  </a:ext>
                </a:extLst>
              </p:cNvPr>
              <p:cNvSpPr>
                <a:spLocks noGrp="1"/>
              </p:cNvSpPr>
              <p:nvPr>
                <p:ph idx="1"/>
              </p:nvPr>
            </p:nvSpPr>
            <p:spPr>
              <a:xfrm>
                <a:off x="457200" y="1285875"/>
                <a:ext cx="8229600" cy="5092548"/>
              </a:xfrm>
            </p:spPr>
            <p:txBody>
              <a:bodyPr>
                <a:spAutoFit/>
              </a:bodyPr>
              <a:lstStyle/>
              <a:p>
                <a:pPr marL="0" indent="0">
                  <a:lnSpc>
                    <a:spcPct val="110000"/>
                  </a:lnSpc>
                  <a:spcBef>
                    <a:spcPts val="0"/>
                  </a:spcBef>
                  <a:spcAft>
                    <a:spcPts val="600"/>
                  </a:spcAft>
                  <a:buNone/>
                </a:pPr>
                <a:r>
                  <a:rPr lang="zh-CN" altLang="en-US" sz="2400" b="0" dirty="0">
                    <a:solidFill>
                      <a:srgbClr val="0000FF"/>
                    </a:solidFill>
                  </a:rPr>
                  <a:t>考虑如下微分方程</a:t>
                </a:r>
                <a:r>
                  <a:rPr lang="zh-CN" altLang="en-US" sz="2400" b="0" dirty="0"/>
                  <a:t>：</a:t>
                </a:r>
                <a:endParaRPr lang="en-US" altLang="zh-CN" sz="2400" b="0" dirty="0"/>
              </a:p>
              <a:p>
                <a:pPr marL="0" indent="0">
                  <a:lnSpc>
                    <a:spcPct val="110000"/>
                  </a:lnSpc>
                  <a:spcBef>
                    <a:spcPts val="0"/>
                  </a:spcBef>
                  <a:spcAft>
                    <a:spcPts val="600"/>
                  </a:spcAft>
                  <a:buNone/>
                </a:pPr>
                <a14:m>
                  <m:oMathPara xmlns:m="http://schemas.openxmlformats.org/officeDocument/2006/math">
                    <m:oMathParaPr>
                      <m:jc m:val="centerGroup"/>
                    </m:oMathParaPr>
                    <m:oMath xmlns:m="http://schemas.openxmlformats.org/officeDocument/2006/math">
                      <m:f>
                        <m:fPr>
                          <m:ctrlPr>
                            <a:rPr lang="en-US" sz="2400" i="1" smtClean="0">
                              <a:solidFill>
                                <a:srgbClr val="0000FF"/>
                              </a:solidFill>
                              <a:latin typeface="Cambria Math" panose="02040503050406030204" pitchFamily="18" charset="0"/>
                            </a:rPr>
                          </m:ctrlPr>
                        </m:fPr>
                        <m:num>
                          <m:r>
                            <m:rPr>
                              <m:sty m:val="p"/>
                            </m:rPr>
                            <a:rPr lang="en-US" sz="2400" i="0">
                              <a:solidFill>
                                <a:srgbClr val="0000FF"/>
                              </a:solidFill>
                              <a:latin typeface="Cambria Math" panose="02040503050406030204" pitchFamily="18" charset="0"/>
                            </a:rPr>
                            <m:t>d</m:t>
                          </m:r>
                          <m:r>
                            <a:rPr lang="en-US" sz="2400" i="1">
                              <a:solidFill>
                                <a:srgbClr val="0000FF"/>
                              </a:solidFill>
                              <a:latin typeface="Cambria Math" panose="02040503050406030204" pitchFamily="18" charset="0"/>
                            </a:rPr>
                            <m:t>𝑦</m:t>
                          </m:r>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num>
                        <m:den>
                          <m:r>
                            <m:rPr>
                              <m:sty m:val="p"/>
                            </m:rPr>
                            <a:rPr lang="en-US" sz="2400" i="0">
                              <a:solidFill>
                                <a:srgbClr val="0000FF"/>
                              </a:solidFill>
                              <a:latin typeface="Cambria Math" panose="02040503050406030204" pitchFamily="18" charset="0"/>
                            </a:rPr>
                            <m:t>d</m:t>
                          </m:r>
                          <m:r>
                            <a:rPr lang="en-US" sz="2400" i="1">
                              <a:solidFill>
                                <a:srgbClr val="0000FF"/>
                              </a:solidFill>
                              <a:latin typeface="Cambria Math" panose="02040503050406030204" pitchFamily="18" charset="0"/>
                            </a:rPr>
                            <m:t>𝑡</m:t>
                          </m:r>
                        </m:den>
                      </m:f>
                      <m:r>
                        <a:rPr lang="en-US" sz="2400" i="1">
                          <a:solidFill>
                            <a:srgbClr val="0000FF"/>
                          </a:solidFill>
                          <a:latin typeface="Cambria Math" panose="02040503050406030204" pitchFamily="18" charset="0"/>
                        </a:rPr>
                        <m:t>+2</m:t>
                      </m:r>
                      <m:r>
                        <a:rPr lang="en-US" sz="2400" i="1">
                          <a:solidFill>
                            <a:srgbClr val="0000FF"/>
                          </a:solidFill>
                          <a:latin typeface="Cambria Math" panose="02040503050406030204" pitchFamily="18" charset="0"/>
                        </a:rPr>
                        <m:t>𝑦</m:t>
                      </m:r>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𝑥</m:t>
                      </m:r>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oMath>
                  </m:oMathPara>
                </a14:m>
                <a:endParaRPr lang="en-US" altLang="zh-CN" sz="2400" b="0" dirty="0">
                  <a:solidFill>
                    <a:srgbClr val="0000FF"/>
                  </a:solidFill>
                </a:endParaRPr>
              </a:p>
              <a:p>
                <a:pPr>
                  <a:lnSpc>
                    <a:spcPct val="110000"/>
                  </a:lnSpc>
                  <a:spcBef>
                    <a:spcPts val="0"/>
                  </a:spcBef>
                  <a:spcAft>
                    <a:spcPts val="600"/>
                  </a:spcAft>
                </a:pPr>
                <a:r>
                  <a:rPr lang="zh-CN" altLang="en-US" sz="2400" b="0" dirty="0"/>
                  <a:t>该方程描述输出信号</a:t>
                </a:r>
                <a14:m>
                  <m:oMath xmlns:m="http://schemas.openxmlformats.org/officeDocument/2006/math">
                    <m:r>
                      <a:rPr lang="en-US" sz="2400" b="0">
                        <a:latin typeface="Cambria Math" panose="02040503050406030204" pitchFamily="18" charset="0"/>
                      </a:rPr>
                      <m:t>𝑦</m:t>
                    </m:r>
                    <m:r>
                      <a:rPr lang="en-US" sz="2400" b="0">
                        <a:latin typeface="Cambria Math" panose="02040503050406030204" pitchFamily="18" charset="0"/>
                      </a:rPr>
                      <m:t>(</m:t>
                    </m:r>
                    <m:r>
                      <a:rPr lang="en-US" sz="2400" b="0">
                        <a:latin typeface="Cambria Math" panose="02040503050406030204" pitchFamily="18" charset="0"/>
                      </a:rPr>
                      <m:t>𝑡</m:t>
                    </m:r>
                    <m:r>
                      <a:rPr lang="en-US" sz="2400" b="0">
                        <a:latin typeface="Cambria Math" panose="02040503050406030204" pitchFamily="18" charset="0"/>
                      </a:rPr>
                      <m:t>)</m:t>
                    </m:r>
                  </m:oMath>
                </a14:m>
                <a:r>
                  <a:rPr lang="zh-CN" altLang="en-US" sz="2400" b="0" dirty="0"/>
                  <a:t>与输入信号</a:t>
                </a:r>
                <a14:m>
                  <m:oMath xmlns:m="http://schemas.openxmlformats.org/officeDocument/2006/math">
                    <m:r>
                      <a:rPr lang="en-US" sz="2400" b="0">
                        <a:latin typeface="Cambria Math" panose="02040503050406030204" pitchFamily="18" charset="0"/>
                      </a:rPr>
                      <m:t>𝑥</m:t>
                    </m:r>
                    <m:r>
                      <a:rPr lang="en-US" sz="2400" b="0">
                        <a:latin typeface="Cambria Math" panose="02040503050406030204" pitchFamily="18" charset="0"/>
                      </a:rPr>
                      <m:t>(</m:t>
                    </m:r>
                    <m:r>
                      <a:rPr lang="en-US" sz="2400" b="0">
                        <a:latin typeface="Cambria Math" panose="02040503050406030204" pitchFamily="18" charset="0"/>
                      </a:rPr>
                      <m:t>𝑡</m:t>
                    </m:r>
                    <m:r>
                      <a:rPr lang="en-US" sz="2400" b="0">
                        <a:latin typeface="Cambria Math" panose="02040503050406030204" pitchFamily="18" charset="0"/>
                      </a:rPr>
                      <m:t>)</m:t>
                    </m:r>
                  </m:oMath>
                </a14:m>
                <a:r>
                  <a:rPr lang="zh-CN" altLang="en-US" sz="2400" b="0" dirty="0"/>
                  <a:t>之间的关系，而非</a:t>
                </a:r>
                <a14:m>
                  <m:oMath xmlns:m="http://schemas.openxmlformats.org/officeDocument/2006/math">
                    <m:r>
                      <a:rPr lang="en-US" sz="2400" b="0" i="1" smtClean="0">
                        <a:latin typeface="Cambria Math" panose="02040503050406030204" pitchFamily="18" charset="0"/>
                      </a:rPr>
                      <m:t>𝑦</m:t>
                    </m:r>
                    <m:r>
                      <a:rPr lang="en-US" sz="2400" b="0">
                        <a:latin typeface="Cambria Math" panose="02040503050406030204" pitchFamily="18" charset="0"/>
                      </a:rPr>
                      <m:t>(</m:t>
                    </m:r>
                    <m:r>
                      <a:rPr lang="en-US" sz="2400" b="0">
                        <a:latin typeface="Cambria Math" panose="02040503050406030204" pitchFamily="18" charset="0"/>
                      </a:rPr>
                      <m:t>𝑡</m:t>
                    </m:r>
                    <m:r>
                      <a:rPr lang="en-US" sz="2400" b="0">
                        <a:latin typeface="Cambria Math" panose="02040503050406030204" pitchFamily="18" charset="0"/>
                      </a:rPr>
                      <m:t>)</m:t>
                    </m:r>
                  </m:oMath>
                </a14:m>
                <a:r>
                  <a:rPr lang="zh-CN" altLang="en-US" sz="2400" b="0" dirty="0"/>
                  <a:t>的显式表达。为获得</a:t>
                </a:r>
                <a14:m>
                  <m:oMath xmlns:m="http://schemas.openxmlformats.org/officeDocument/2006/math">
                    <m:r>
                      <a:rPr lang="en-US" sz="2400" b="0">
                        <a:latin typeface="Cambria Math" panose="02040503050406030204" pitchFamily="18" charset="0"/>
                      </a:rPr>
                      <m:t>𝑦</m:t>
                    </m:r>
                    <m:r>
                      <a:rPr lang="en-US" sz="2400" b="0">
                        <a:latin typeface="Cambria Math" panose="02040503050406030204" pitchFamily="18" charset="0"/>
                      </a:rPr>
                      <m:t>(</m:t>
                    </m:r>
                    <m:r>
                      <a:rPr lang="en-US" sz="2400" b="0">
                        <a:latin typeface="Cambria Math" panose="02040503050406030204" pitchFamily="18" charset="0"/>
                      </a:rPr>
                      <m:t>𝑡</m:t>
                    </m:r>
                    <m:r>
                      <a:rPr lang="en-US" sz="2400" b="0">
                        <a:latin typeface="Cambria Math" panose="02040503050406030204" pitchFamily="18" charset="0"/>
                      </a:rPr>
                      <m:t>)</m:t>
                    </m:r>
                  </m:oMath>
                </a14:m>
                <a:r>
                  <a:rPr lang="zh-CN" altLang="en-US" sz="2400" b="0" dirty="0"/>
                  <a:t>的显式表达，需要求解该微分方程。</a:t>
                </a:r>
                <a:endParaRPr lang="en-US" altLang="zh-CN" sz="2400" b="0" dirty="0"/>
              </a:p>
              <a:p>
                <a:pPr>
                  <a:lnSpc>
                    <a:spcPct val="110000"/>
                  </a:lnSpc>
                  <a:spcBef>
                    <a:spcPts val="0"/>
                  </a:spcBef>
                  <a:spcAft>
                    <a:spcPts val="600"/>
                  </a:spcAft>
                </a:pPr>
                <a:r>
                  <a:rPr lang="zh-CN" altLang="en-US" sz="2400" b="0" dirty="0"/>
                  <a:t>为求解该微分方程，需要附加条件。</a:t>
                </a:r>
                <a:endParaRPr lang="en-US" altLang="zh-CN" sz="2400" b="0" dirty="0"/>
              </a:p>
              <a:p>
                <a:pPr>
                  <a:lnSpc>
                    <a:spcPct val="110000"/>
                  </a:lnSpc>
                  <a:spcBef>
                    <a:spcPts val="0"/>
                  </a:spcBef>
                  <a:spcAft>
                    <a:spcPts val="600"/>
                  </a:spcAft>
                </a:pPr>
                <a:r>
                  <a:rPr lang="zh-CN" altLang="en-US" sz="2400" b="0" dirty="0"/>
                  <a:t>此处我们重点关注由微分方程描述的</a:t>
                </a:r>
                <a:r>
                  <a:rPr lang="zh-CN" altLang="en-US" sz="2400" b="0" dirty="0">
                    <a:solidFill>
                      <a:srgbClr val="FF0000"/>
                    </a:solidFill>
                  </a:rPr>
                  <a:t>因果</a:t>
                </a:r>
                <a:r>
                  <a:rPr lang="en-US" altLang="zh-CN" sz="2400" b="0" dirty="0">
                    <a:solidFill>
                      <a:srgbClr val="FF0000"/>
                    </a:solidFill>
                  </a:rPr>
                  <a:t>LTI</a:t>
                </a:r>
                <a:r>
                  <a:rPr lang="zh-CN" altLang="en-US" sz="2400" b="0" dirty="0">
                    <a:solidFill>
                      <a:srgbClr val="FF0000"/>
                    </a:solidFill>
                  </a:rPr>
                  <a:t>系统</a:t>
                </a:r>
                <a:r>
                  <a:rPr lang="zh-CN" altLang="en-US" sz="2400" b="0" dirty="0"/>
                  <a:t>，此时附加条件形式为</a:t>
                </a:r>
                <a:r>
                  <a:rPr lang="zh-CN" altLang="en-US" sz="2400" b="0" dirty="0">
                    <a:solidFill>
                      <a:srgbClr val="FF0000"/>
                    </a:solidFill>
                  </a:rPr>
                  <a:t>初始松弛条件</a:t>
                </a:r>
                <a:r>
                  <a:rPr lang="zh-CN" altLang="en-US" sz="2400" b="0" dirty="0"/>
                  <a:t>。</a:t>
                </a:r>
                <a:endParaRPr lang="en-US" altLang="zh-CN" sz="2400" b="0" dirty="0"/>
              </a:p>
              <a:p>
                <a:pPr>
                  <a:lnSpc>
                    <a:spcPct val="110000"/>
                  </a:lnSpc>
                  <a:spcBef>
                    <a:spcPts val="0"/>
                  </a:spcBef>
                  <a:spcAft>
                    <a:spcPts val="600"/>
                  </a:spcAft>
                </a:pPr>
                <a:r>
                  <a:rPr lang="zh-CN" altLang="en-US" sz="2400" b="0" dirty="0"/>
                  <a:t>其解包括</a:t>
                </a:r>
                <a:r>
                  <a:rPr lang="zh-CN" altLang="en-US" sz="2400" b="0" dirty="0">
                    <a:solidFill>
                      <a:srgbClr val="FF0000"/>
                    </a:solidFill>
                  </a:rPr>
                  <a:t>齐次解</a:t>
                </a:r>
                <a:r>
                  <a:rPr lang="en-US" altLang="zh-CN" sz="2400" b="0" dirty="0">
                    <a:solidFill>
                      <a:srgbClr val="FF0000"/>
                    </a:solidFill>
                  </a:rPr>
                  <a:t>+</a:t>
                </a:r>
                <a:r>
                  <a:rPr lang="zh-CN" altLang="en-US" sz="2400" b="0" dirty="0">
                    <a:solidFill>
                      <a:srgbClr val="FF0000"/>
                    </a:solidFill>
                  </a:rPr>
                  <a:t>特解</a:t>
                </a:r>
                <a:r>
                  <a:rPr lang="zh-CN" altLang="en-US" sz="2400" b="0" dirty="0"/>
                  <a:t>两部分：</a:t>
                </a:r>
                <a:endParaRPr lang="en-US" altLang="zh-CN" sz="2400" b="0" dirty="0"/>
              </a:p>
              <a:p>
                <a:pPr marL="0" indent="0">
                  <a:lnSpc>
                    <a:spcPct val="110000"/>
                  </a:lnSpc>
                  <a:spcBef>
                    <a:spcPts val="0"/>
                  </a:spcBef>
                  <a:spcAft>
                    <a:spcPts val="600"/>
                  </a:spcAft>
                  <a:buNone/>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rPr>
                        <m:t>𝑦</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h</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𝑝</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zh-CN" altLang="en-US" sz="2400" b="0" dirty="0"/>
              </a:p>
            </p:txBody>
          </p:sp>
        </mc:Choice>
        <mc:Fallback xmlns="">
          <p:sp>
            <p:nvSpPr>
              <p:cNvPr id="24584" name="内容占位符 2">
                <a:extLst>
                  <a:ext uri="{FF2B5EF4-FFF2-40B4-BE49-F238E27FC236}">
                    <a16:creationId xmlns:a16="http://schemas.microsoft.com/office/drawing/2014/main" id="{B1AFAC00-1322-4077-B02F-BEF746271D25}"/>
                  </a:ext>
                </a:extLst>
              </p:cNvPr>
              <p:cNvSpPr>
                <a:spLocks noGrp="1" noRot="1" noChangeAspect="1" noMove="1" noResize="1" noEditPoints="1" noAdjustHandles="1" noChangeArrowheads="1" noChangeShapeType="1" noTextEdit="1"/>
              </p:cNvSpPr>
              <p:nvPr>
                <p:ph idx="1"/>
              </p:nvPr>
            </p:nvSpPr>
            <p:spPr>
              <a:xfrm>
                <a:off x="457200" y="1285875"/>
                <a:ext cx="8229600" cy="5092548"/>
              </a:xfrm>
              <a:blipFill>
                <a:blip r:embed="rId2"/>
                <a:stretch>
                  <a:fillRect l="-1111" t="-479"/>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AD7EE39D-E590-4C5B-8F45-D4B890411E3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737084-AF1A-4664-ACC8-918B82288C8A}"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3" name="标题 1">
            <a:extLst>
              <a:ext uri="{FF2B5EF4-FFF2-40B4-BE49-F238E27FC236}">
                <a16:creationId xmlns:a16="http://schemas.microsoft.com/office/drawing/2014/main" id="{A21438A0-2D2B-4DF1-A85A-E979572D56A8}"/>
              </a:ext>
            </a:extLst>
          </p:cNvPr>
          <p:cNvSpPr>
            <a:spLocks noGrp="1"/>
          </p:cNvSpPr>
          <p:nvPr>
            <p:ph type="title"/>
          </p:nvPr>
        </p:nvSpPr>
        <p:spPr/>
        <p:txBody>
          <a:bodyPr/>
          <a:lstStyle/>
          <a:p>
            <a:r>
              <a:rPr lang="en-US" altLang="zh-CN" sz="3200"/>
              <a:t>2.4 </a:t>
            </a:r>
            <a:r>
              <a:rPr lang="zh-CN" altLang="en-US" sz="3200"/>
              <a:t>用微分和差分方程描述的因果</a:t>
            </a:r>
            <a:r>
              <a:rPr lang="en-US" altLang="zh-CN" sz="3200"/>
              <a:t>LTI</a:t>
            </a:r>
            <a:r>
              <a:rPr lang="zh-CN" altLang="en-US" sz="3200"/>
              <a:t>系统</a:t>
            </a:r>
          </a:p>
        </p:txBody>
      </p:sp>
      <mc:AlternateContent xmlns:mc="http://schemas.openxmlformats.org/markup-compatibility/2006" xmlns:a14="http://schemas.microsoft.com/office/drawing/2010/main">
        <mc:Choice Requires="a14">
          <p:sp>
            <p:nvSpPr>
              <p:cNvPr id="24584" name="内容占位符 2">
                <a:extLst>
                  <a:ext uri="{FF2B5EF4-FFF2-40B4-BE49-F238E27FC236}">
                    <a16:creationId xmlns:a16="http://schemas.microsoft.com/office/drawing/2014/main" id="{B1AFAC00-1322-4077-B02F-BEF746271D25}"/>
                  </a:ext>
                </a:extLst>
              </p:cNvPr>
              <p:cNvSpPr>
                <a:spLocks noGrp="1"/>
              </p:cNvSpPr>
              <p:nvPr>
                <p:ph idx="1"/>
              </p:nvPr>
            </p:nvSpPr>
            <p:spPr>
              <a:xfrm>
                <a:off x="457200" y="1285875"/>
                <a:ext cx="8229600" cy="5013360"/>
              </a:xfrm>
            </p:spPr>
            <p:txBody>
              <a:bodyPr>
                <a:spAutoFit/>
              </a:bodyPr>
              <a:lstStyle/>
              <a:p>
                <a:pPr marL="0" indent="0">
                  <a:lnSpc>
                    <a:spcPct val="120000"/>
                  </a:lnSpc>
                  <a:spcBef>
                    <a:spcPts val="0"/>
                  </a:spcBef>
                  <a:spcAft>
                    <a:spcPts val="600"/>
                  </a:spcAft>
                  <a:buNone/>
                </a:pPr>
                <a:r>
                  <a:rPr lang="zh-CN" altLang="en-US" sz="2400" b="0" dirty="0">
                    <a:solidFill>
                      <a:srgbClr val="0000FF"/>
                    </a:solidFill>
                  </a:rPr>
                  <a:t>齐次解</a:t>
                </a:r>
                <a14:m>
                  <m:oMath xmlns:m="http://schemas.openxmlformats.org/officeDocument/2006/math">
                    <m:sSub>
                      <m:sSubPr>
                        <m:ctrlPr>
                          <a:rPr lang="en-US" sz="2400" i="1" smtClean="0">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𝑦</m:t>
                        </m:r>
                      </m:e>
                      <m:sub>
                        <m:r>
                          <a:rPr lang="en-US" sz="2400" i="1">
                            <a:solidFill>
                              <a:srgbClr val="0000FF"/>
                            </a:solidFill>
                            <a:latin typeface="Cambria Math" panose="02040503050406030204" pitchFamily="18" charset="0"/>
                          </a:rPr>
                          <m:t>h</m:t>
                        </m:r>
                      </m:sub>
                    </m:sSub>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oMath>
                </a14:m>
                <a:r>
                  <a:rPr lang="zh-CN" altLang="en-US" sz="2400" b="0" dirty="0"/>
                  <a:t>：</a:t>
                </a:r>
                <a:endParaRPr lang="en-US" altLang="zh-CN" sz="2400" b="0" dirty="0"/>
              </a:p>
              <a:p>
                <a:pPr>
                  <a:lnSpc>
                    <a:spcPct val="120000"/>
                  </a:lnSpc>
                  <a:spcBef>
                    <a:spcPts val="0"/>
                  </a:spcBef>
                  <a:spcAft>
                    <a:spcPts val="600"/>
                  </a:spcAft>
                </a:pPr>
                <a:r>
                  <a:rPr lang="zh-CN" altLang="en-US" sz="2400" b="0" dirty="0"/>
                  <a:t>也称为系统的</a:t>
                </a:r>
                <a:r>
                  <a:rPr lang="zh-CN" altLang="en-US" sz="2400" b="0" dirty="0">
                    <a:solidFill>
                      <a:srgbClr val="FF0000"/>
                    </a:solidFill>
                  </a:rPr>
                  <a:t>自然响应</a:t>
                </a:r>
                <a:r>
                  <a:rPr lang="zh-CN" altLang="en-US" sz="2400" b="0" dirty="0"/>
                  <a:t>，是以下齐次微分方程的解：</a:t>
                </a:r>
                <a:endParaRPr lang="en-US" altLang="zh-CN" sz="2400" b="0" dirty="0"/>
              </a:p>
              <a:p>
                <a:pPr marL="0" indent="0">
                  <a:lnSpc>
                    <a:spcPct val="120000"/>
                  </a:lnSpc>
                  <a:spcBef>
                    <a:spcPts val="0"/>
                  </a:spcBef>
                  <a:spcAft>
                    <a:spcPts val="600"/>
                  </a:spcAft>
                  <a:buNone/>
                </a:pPr>
                <a14:m>
                  <m:oMathPara xmlns:m="http://schemas.openxmlformats.org/officeDocument/2006/math">
                    <m:oMathParaPr>
                      <m:jc m:val="centerGroup"/>
                    </m:oMathParaPr>
                    <m:oMath xmlns:m="http://schemas.openxmlformats.org/officeDocument/2006/math">
                      <m:f>
                        <m:fPr>
                          <m:ctrlPr>
                            <a:rPr lang="en-US" sz="2400" i="1" smtClean="0">
                              <a:solidFill>
                                <a:srgbClr val="0000FF"/>
                              </a:solidFill>
                              <a:latin typeface="Cambria Math" panose="02040503050406030204" pitchFamily="18" charset="0"/>
                            </a:rPr>
                          </m:ctrlPr>
                        </m:fPr>
                        <m:num>
                          <m:r>
                            <m:rPr>
                              <m:sty m:val="p"/>
                            </m:rPr>
                            <a:rPr lang="en-US" sz="2400" i="0">
                              <a:solidFill>
                                <a:srgbClr val="0000FF"/>
                              </a:solidFill>
                              <a:latin typeface="Cambria Math" panose="02040503050406030204" pitchFamily="18" charset="0"/>
                            </a:rPr>
                            <m:t>d</m:t>
                          </m:r>
                          <m:r>
                            <a:rPr lang="en-US" sz="2400" i="1">
                              <a:solidFill>
                                <a:srgbClr val="0000FF"/>
                              </a:solidFill>
                              <a:latin typeface="Cambria Math" panose="02040503050406030204" pitchFamily="18" charset="0"/>
                            </a:rPr>
                            <m:t>𝑦</m:t>
                          </m:r>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num>
                        <m:den>
                          <m:r>
                            <m:rPr>
                              <m:sty m:val="p"/>
                            </m:rPr>
                            <a:rPr lang="en-US" sz="2400" i="0">
                              <a:solidFill>
                                <a:srgbClr val="0000FF"/>
                              </a:solidFill>
                              <a:latin typeface="Cambria Math" panose="02040503050406030204" pitchFamily="18" charset="0"/>
                            </a:rPr>
                            <m:t>d</m:t>
                          </m:r>
                          <m:r>
                            <a:rPr lang="en-US" sz="2400" i="1">
                              <a:solidFill>
                                <a:srgbClr val="0000FF"/>
                              </a:solidFill>
                              <a:latin typeface="Cambria Math" panose="02040503050406030204" pitchFamily="18" charset="0"/>
                            </a:rPr>
                            <m:t>𝑡</m:t>
                          </m:r>
                        </m:den>
                      </m:f>
                      <m:r>
                        <a:rPr lang="en-US" sz="2400" i="1">
                          <a:solidFill>
                            <a:srgbClr val="0000FF"/>
                          </a:solidFill>
                          <a:latin typeface="Cambria Math" panose="02040503050406030204" pitchFamily="18" charset="0"/>
                        </a:rPr>
                        <m:t>+2</m:t>
                      </m:r>
                      <m:r>
                        <a:rPr lang="en-US" sz="2400" i="1">
                          <a:solidFill>
                            <a:srgbClr val="0000FF"/>
                          </a:solidFill>
                          <a:latin typeface="Cambria Math" panose="02040503050406030204" pitchFamily="18" charset="0"/>
                        </a:rPr>
                        <m:t>𝑦</m:t>
                      </m:r>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)=0</m:t>
                      </m:r>
                    </m:oMath>
                  </m:oMathPara>
                </a14:m>
                <a:endParaRPr lang="en-US" altLang="zh-CN" sz="2400" b="0" dirty="0">
                  <a:solidFill>
                    <a:srgbClr val="0000FF"/>
                  </a:solidFill>
                </a:endParaRPr>
              </a:p>
              <a:p>
                <a:pPr marL="355600" indent="0">
                  <a:lnSpc>
                    <a:spcPct val="120000"/>
                  </a:lnSpc>
                  <a:spcBef>
                    <a:spcPts val="0"/>
                  </a:spcBef>
                  <a:spcAft>
                    <a:spcPts val="600"/>
                  </a:spcAft>
                  <a:buNone/>
                </a:pPr>
                <a:r>
                  <a:rPr lang="zh-CN" altLang="en-US" sz="2400" b="0" dirty="0"/>
                  <a:t>齐次解的形式为形如</a:t>
                </a:r>
                <a14:m>
                  <m:oMath xmlns:m="http://schemas.openxmlformats.org/officeDocument/2006/math">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𝑒</m:t>
                        </m:r>
                      </m:e>
                      <m:sup>
                        <m:r>
                          <a:rPr lang="zh-CN" altLang="en-US" sz="2400" b="0" i="1" smtClean="0">
                            <a:latin typeface="Cambria Math" panose="02040503050406030204" pitchFamily="18" charset="0"/>
                          </a:rPr>
                          <m:t>𝜆</m:t>
                        </m:r>
                        <m:r>
                          <a:rPr lang="en-US" altLang="zh-CN" sz="2400" b="0" i="1" smtClean="0">
                            <a:latin typeface="Cambria Math" panose="02040503050406030204" pitchFamily="18" charset="0"/>
                          </a:rPr>
                          <m:t>𝑡</m:t>
                        </m:r>
                      </m:sup>
                    </m:sSup>
                  </m:oMath>
                </a14:m>
                <a:r>
                  <a:rPr lang="zh-CN" altLang="en-US" sz="2400" b="0" dirty="0"/>
                  <a:t>的复指数函数线性组合，其中</a:t>
                </a:r>
                <a14:m>
                  <m:oMath xmlns:m="http://schemas.openxmlformats.org/officeDocument/2006/math">
                    <m:r>
                      <a:rPr lang="zh-CN" altLang="en-US" sz="2400" b="0" i="1">
                        <a:latin typeface="Cambria Math" panose="02040503050406030204" pitchFamily="18" charset="0"/>
                      </a:rPr>
                      <m:t>𝜆</m:t>
                    </m:r>
                  </m:oMath>
                </a14:m>
                <a:r>
                  <a:rPr lang="zh-CN" altLang="en-US" sz="2400" b="0" dirty="0"/>
                  <a:t>为特征值。此处对应的特征方程为：</a:t>
                </a:r>
                <a:endParaRPr lang="en-US" altLang="zh-CN" sz="2400" b="0" dirty="0"/>
              </a:p>
              <a:p>
                <a:pPr marL="0" indent="0">
                  <a:lnSpc>
                    <a:spcPct val="120000"/>
                  </a:lnSpc>
                  <a:spcBef>
                    <a:spcPts val="0"/>
                  </a:spcBef>
                  <a:spcAft>
                    <a:spcPts val="600"/>
                  </a:spcAft>
                  <a:buNone/>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rPr>
                        <m:t>𝜆</m:t>
                      </m:r>
                      <m:r>
                        <a:rPr lang="en-US" sz="2400" i="1" smtClean="0">
                          <a:solidFill>
                            <a:srgbClr val="000000"/>
                          </a:solidFill>
                          <a:latin typeface="Cambria Math" panose="02040503050406030204" pitchFamily="18" charset="0"/>
                        </a:rPr>
                        <m:t>+2=0</m:t>
                      </m:r>
                    </m:oMath>
                  </m:oMathPara>
                </a14:m>
                <a:endParaRPr lang="en-US" altLang="zh-CN" sz="2400" b="0" dirty="0"/>
              </a:p>
              <a:p>
                <a:pPr marL="355600" indent="0">
                  <a:lnSpc>
                    <a:spcPct val="120000"/>
                  </a:lnSpc>
                  <a:spcBef>
                    <a:spcPts val="0"/>
                  </a:spcBef>
                  <a:spcAft>
                    <a:spcPts val="600"/>
                  </a:spcAft>
                  <a:buNone/>
                </a:pPr>
                <a:r>
                  <a:rPr lang="zh-CN" altLang="en-US" sz="2400" b="0" dirty="0"/>
                  <a:t>对应的齐次解（自然响应）即为：</a:t>
                </a:r>
                <a:endParaRPr lang="en-US" altLang="zh-CN" sz="2400" b="0" dirty="0"/>
              </a:p>
              <a:p>
                <a:pPr marL="0" indent="0">
                  <a:lnSpc>
                    <a:spcPct val="120000"/>
                  </a:lnSpc>
                  <a:spcBef>
                    <a:spcPts val="0"/>
                  </a:spcBef>
                  <a:spcAft>
                    <a:spcPts val="600"/>
                  </a:spcAft>
                  <a:buNone/>
                </a:pPr>
                <a14:m>
                  <m:oMathPara xmlns:m="http://schemas.openxmlformats.org/officeDocument/2006/math">
                    <m:oMathParaPr>
                      <m:jc m:val="centerGroup"/>
                    </m:oMathParaPr>
                    <m:oMath xmlns:m="http://schemas.openxmlformats.org/officeDocument/2006/math">
                      <m:sSub>
                        <m:sSubPr>
                          <m:ctrlPr>
                            <a:rPr lang="en-US" sz="2400" i="1" smtClean="0">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𝑦</m:t>
                          </m:r>
                        </m:e>
                        <m:sub>
                          <m:r>
                            <a:rPr lang="en-US" sz="2400" i="1">
                              <a:solidFill>
                                <a:srgbClr val="0000FF"/>
                              </a:solidFill>
                              <a:latin typeface="Cambria Math" panose="02040503050406030204" pitchFamily="18" charset="0"/>
                            </a:rPr>
                            <m:t>h</m:t>
                          </m:r>
                        </m:sub>
                      </m:sSub>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𝐶</m:t>
                      </m:r>
                      <m:sSup>
                        <m:sSupPr>
                          <m:ctrlPr>
                            <a:rPr lang="en-US" sz="2400" i="1">
                              <a:solidFill>
                                <a:srgbClr val="0000FF"/>
                              </a:solidFill>
                              <a:latin typeface="Cambria Math" panose="02040503050406030204" pitchFamily="18" charset="0"/>
                            </a:rPr>
                          </m:ctrlPr>
                        </m:sSupPr>
                        <m:e>
                          <m:r>
                            <a:rPr lang="en-US" sz="2400" i="1">
                              <a:solidFill>
                                <a:srgbClr val="0000FF"/>
                              </a:solidFill>
                              <a:latin typeface="Cambria Math" panose="02040503050406030204" pitchFamily="18" charset="0"/>
                            </a:rPr>
                            <m:t>𝑒</m:t>
                          </m:r>
                        </m:e>
                        <m:sup>
                          <m:r>
                            <a:rPr lang="en-US" sz="2400" i="1">
                              <a:solidFill>
                                <a:srgbClr val="0000FF"/>
                              </a:solidFill>
                              <a:latin typeface="Cambria Math" panose="02040503050406030204" pitchFamily="18" charset="0"/>
                            </a:rPr>
                            <m:t>−2</m:t>
                          </m:r>
                          <m:r>
                            <a:rPr lang="en-US" sz="2400" i="1">
                              <a:solidFill>
                                <a:srgbClr val="0000FF"/>
                              </a:solidFill>
                              <a:latin typeface="Cambria Math" panose="02040503050406030204" pitchFamily="18" charset="0"/>
                            </a:rPr>
                            <m:t>𝑡</m:t>
                          </m:r>
                        </m:sup>
                      </m:sSup>
                    </m:oMath>
                  </m:oMathPara>
                </a14:m>
                <a:endParaRPr lang="en-US" altLang="zh-CN" sz="2400" b="0" dirty="0"/>
              </a:p>
              <a:p>
                <a:pPr marL="355600" indent="0">
                  <a:lnSpc>
                    <a:spcPct val="120000"/>
                  </a:lnSpc>
                  <a:spcBef>
                    <a:spcPts val="0"/>
                  </a:spcBef>
                  <a:spcAft>
                    <a:spcPts val="600"/>
                  </a:spcAft>
                  <a:buNone/>
                </a:pPr>
                <a:r>
                  <a:rPr lang="zh-CN" altLang="en-US" sz="2400" b="0" dirty="0"/>
                  <a:t>其中</a:t>
                </a:r>
                <a14:m>
                  <m:oMath xmlns:m="http://schemas.openxmlformats.org/officeDocument/2006/math">
                    <m:r>
                      <a:rPr lang="en-US" sz="2400" i="1" smtClean="0">
                        <a:solidFill>
                          <a:srgbClr val="000000"/>
                        </a:solidFill>
                        <a:latin typeface="Cambria Math" panose="02040503050406030204" pitchFamily="18" charset="0"/>
                      </a:rPr>
                      <m:t>𝐶</m:t>
                    </m:r>
                  </m:oMath>
                </a14:m>
                <a:r>
                  <a:rPr lang="zh-CN" altLang="en-US" sz="2400" b="0" dirty="0"/>
                  <a:t>为待定系数。</a:t>
                </a:r>
              </a:p>
            </p:txBody>
          </p:sp>
        </mc:Choice>
        <mc:Fallback xmlns="">
          <p:sp>
            <p:nvSpPr>
              <p:cNvPr id="24584" name="内容占位符 2">
                <a:extLst>
                  <a:ext uri="{FF2B5EF4-FFF2-40B4-BE49-F238E27FC236}">
                    <a16:creationId xmlns:a16="http://schemas.microsoft.com/office/drawing/2014/main" id="{B1AFAC00-1322-4077-B02F-BEF746271D25}"/>
                  </a:ext>
                </a:extLst>
              </p:cNvPr>
              <p:cNvSpPr>
                <a:spLocks noGrp="1" noRot="1" noChangeAspect="1" noMove="1" noResize="1" noEditPoints="1" noAdjustHandles="1" noChangeArrowheads="1" noChangeShapeType="1" noTextEdit="1"/>
              </p:cNvSpPr>
              <p:nvPr>
                <p:ph idx="1"/>
              </p:nvPr>
            </p:nvSpPr>
            <p:spPr>
              <a:xfrm>
                <a:off x="457200" y="1285875"/>
                <a:ext cx="8229600" cy="5013360"/>
              </a:xfrm>
              <a:blipFill>
                <a:blip r:embed="rId2"/>
                <a:stretch>
                  <a:fillRect l="-1111" b="-1946"/>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AD7EE39D-E590-4C5B-8F45-D4B890411E3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737084-AF1A-4664-ACC8-918B82288C8A}"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57</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00328450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3" name="标题 1">
            <a:extLst>
              <a:ext uri="{FF2B5EF4-FFF2-40B4-BE49-F238E27FC236}">
                <a16:creationId xmlns:a16="http://schemas.microsoft.com/office/drawing/2014/main" id="{A21438A0-2D2B-4DF1-A85A-E979572D56A8}"/>
              </a:ext>
            </a:extLst>
          </p:cNvPr>
          <p:cNvSpPr>
            <a:spLocks noGrp="1"/>
          </p:cNvSpPr>
          <p:nvPr>
            <p:ph type="title"/>
          </p:nvPr>
        </p:nvSpPr>
        <p:spPr/>
        <p:txBody>
          <a:bodyPr/>
          <a:lstStyle/>
          <a:p>
            <a:r>
              <a:rPr lang="en-US" altLang="zh-CN" sz="3200"/>
              <a:t>2.4 </a:t>
            </a:r>
            <a:r>
              <a:rPr lang="zh-CN" altLang="en-US" sz="3200"/>
              <a:t>用微分和差分方程描述的因果</a:t>
            </a:r>
            <a:r>
              <a:rPr lang="en-US" altLang="zh-CN" sz="3200"/>
              <a:t>LTI</a:t>
            </a:r>
            <a:r>
              <a:rPr lang="zh-CN" altLang="en-US" sz="3200"/>
              <a:t>系统</a:t>
            </a:r>
          </a:p>
        </p:txBody>
      </p:sp>
      <mc:AlternateContent xmlns:mc="http://schemas.openxmlformats.org/markup-compatibility/2006" xmlns:a14="http://schemas.microsoft.com/office/drawing/2010/main">
        <mc:Choice Requires="a14">
          <p:sp>
            <p:nvSpPr>
              <p:cNvPr id="24584" name="内容占位符 2">
                <a:extLst>
                  <a:ext uri="{FF2B5EF4-FFF2-40B4-BE49-F238E27FC236}">
                    <a16:creationId xmlns:a16="http://schemas.microsoft.com/office/drawing/2014/main" id="{B1AFAC00-1322-4077-B02F-BEF746271D25}"/>
                  </a:ext>
                </a:extLst>
              </p:cNvPr>
              <p:cNvSpPr>
                <a:spLocks noGrp="1"/>
              </p:cNvSpPr>
              <p:nvPr>
                <p:ph idx="1"/>
              </p:nvPr>
            </p:nvSpPr>
            <p:spPr>
              <a:xfrm>
                <a:off x="457200" y="1285875"/>
                <a:ext cx="8229600" cy="5220725"/>
              </a:xfrm>
            </p:spPr>
            <p:txBody>
              <a:bodyPr>
                <a:spAutoFit/>
              </a:bodyPr>
              <a:lstStyle/>
              <a:p>
                <a:pPr marL="0" indent="0">
                  <a:lnSpc>
                    <a:spcPct val="110000"/>
                  </a:lnSpc>
                  <a:spcBef>
                    <a:spcPts val="0"/>
                  </a:spcBef>
                  <a:spcAft>
                    <a:spcPts val="600"/>
                  </a:spcAft>
                  <a:buNone/>
                </a:pPr>
                <a:r>
                  <a:rPr lang="zh-CN" altLang="en-US" sz="2400" b="0" dirty="0">
                    <a:solidFill>
                      <a:srgbClr val="0000FF"/>
                    </a:solidFill>
                  </a:rPr>
                  <a:t>特解</a:t>
                </a:r>
                <a14:m>
                  <m:oMath xmlns:m="http://schemas.openxmlformats.org/officeDocument/2006/math">
                    <m:sSub>
                      <m:sSubPr>
                        <m:ctrlPr>
                          <a:rPr lang="en-US" sz="2400" i="1" smtClean="0">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𝑦</m:t>
                        </m:r>
                      </m:e>
                      <m:sub>
                        <m:r>
                          <a:rPr lang="en-US" sz="2400" b="0" i="1" smtClean="0">
                            <a:solidFill>
                              <a:srgbClr val="0000FF"/>
                            </a:solidFill>
                            <a:latin typeface="Cambria Math" panose="02040503050406030204" pitchFamily="18" charset="0"/>
                          </a:rPr>
                          <m:t>𝑝</m:t>
                        </m:r>
                      </m:sub>
                    </m:sSub>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oMath>
                </a14:m>
                <a:r>
                  <a:rPr lang="zh-CN" altLang="en-US" sz="2400" b="0" dirty="0"/>
                  <a:t>：</a:t>
                </a:r>
                <a:endParaRPr lang="en-US" altLang="zh-CN" sz="2400" b="0" dirty="0"/>
              </a:p>
              <a:p>
                <a:pPr>
                  <a:lnSpc>
                    <a:spcPct val="110000"/>
                  </a:lnSpc>
                  <a:spcBef>
                    <a:spcPts val="0"/>
                  </a:spcBef>
                  <a:spcAft>
                    <a:spcPts val="600"/>
                  </a:spcAft>
                </a:pPr>
                <a:r>
                  <a:rPr lang="zh-CN" altLang="en-US" sz="2400" b="0" dirty="0"/>
                  <a:t>也称系统的</a:t>
                </a:r>
                <a:r>
                  <a:rPr lang="zh-CN" altLang="en-US" sz="2400" b="0" dirty="0">
                    <a:solidFill>
                      <a:srgbClr val="FF0000"/>
                    </a:solidFill>
                  </a:rPr>
                  <a:t>受迫响应</a:t>
                </a:r>
                <a:r>
                  <a:rPr lang="zh-CN" altLang="en-US" sz="2400" b="0" dirty="0"/>
                  <a:t>，其形式与输入信号有关。设：</a:t>
                </a:r>
                <a:endParaRPr lang="en-US" altLang="zh-CN" sz="2400" b="0" dirty="0"/>
              </a:p>
              <a:p>
                <a:pPr marL="0" indent="0">
                  <a:lnSpc>
                    <a:spcPct val="110000"/>
                  </a:lnSpc>
                  <a:spcBef>
                    <a:spcPts val="0"/>
                  </a:spcBef>
                  <a:spcAft>
                    <a:spcPts val="600"/>
                  </a:spcAft>
                  <a:buNone/>
                </a:pPr>
                <a14:m>
                  <m:oMathPara xmlns:m="http://schemas.openxmlformats.org/officeDocument/2006/math">
                    <m:oMathParaPr>
                      <m:jc m:val="centerGroup"/>
                    </m:oMathParaPr>
                    <m:oMath xmlns:m="http://schemas.openxmlformats.org/officeDocument/2006/math">
                      <m:r>
                        <a:rPr lang="en-US" sz="2400" i="1" smtClean="0">
                          <a:solidFill>
                            <a:srgbClr val="0000FF"/>
                          </a:solidFill>
                          <a:latin typeface="Cambria Math" panose="02040503050406030204" pitchFamily="18" charset="0"/>
                        </a:rPr>
                        <m:t>𝑥</m:t>
                      </m:r>
                      <m:r>
                        <a:rPr lang="en-US" sz="2400" i="1" smtClean="0">
                          <a:solidFill>
                            <a:srgbClr val="0000FF"/>
                          </a:solidFill>
                          <a:latin typeface="Cambria Math" panose="02040503050406030204" pitchFamily="18" charset="0"/>
                        </a:rPr>
                        <m:t>(</m:t>
                      </m:r>
                      <m:r>
                        <a:rPr lang="en-US" sz="2400" i="1" smtClean="0">
                          <a:solidFill>
                            <a:srgbClr val="0000FF"/>
                          </a:solidFill>
                          <a:latin typeface="Cambria Math" panose="02040503050406030204" pitchFamily="18" charset="0"/>
                        </a:rPr>
                        <m:t>𝑡</m:t>
                      </m:r>
                      <m:r>
                        <a:rPr lang="en-US" sz="2400" i="1" smtClean="0">
                          <a:solidFill>
                            <a:srgbClr val="0000FF"/>
                          </a:solidFill>
                          <a:latin typeface="Cambria Math" panose="02040503050406030204" pitchFamily="18" charset="0"/>
                        </a:rPr>
                        <m:t>)=</m:t>
                      </m:r>
                      <m:r>
                        <a:rPr lang="en-US" sz="2400" i="1" smtClean="0">
                          <a:solidFill>
                            <a:srgbClr val="0000FF"/>
                          </a:solidFill>
                          <a:latin typeface="Cambria Math" panose="02040503050406030204" pitchFamily="18" charset="0"/>
                        </a:rPr>
                        <m:t>𝐾</m:t>
                      </m:r>
                      <m:sSup>
                        <m:sSupPr>
                          <m:ctrlPr>
                            <a:rPr lang="en-US" sz="2400" i="1">
                              <a:solidFill>
                                <a:srgbClr val="0000FF"/>
                              </a:solidFill>
                              <a:latin typeface="Cambria Math" panose="02040503050406030204" pitchFamily="18" charset="0"/>
                            </a:rPr>
                          </m:ctrlPr>
                        </m:sSupPr>
                        <m:e>
                          <m:r>
                            <a:rPr lang="en-US" sz="2400" i="1">
                              <a:solidFill>
                                <a:srgbClr val="0000FF"/>
                              </a:solidFill>
                              <a:latin typeface="Cambria Math" panose="02040503050406030204" pitchFamily="18" charset="0"/>
                            </a:rPr>
                            <m:t>𝑒</m:t>
                          </m:r>
                        </m:e>
                        <m:sup>
                          <m:r>
                            <a:rPr lang="en-US" sz="2400" i="1">
                              <a:solidFill>
                                <a:srgbClr val="0000FF"/>
                              </a:solidFill>
                              <a:latin typeface="Cambria Math" panose="02040503050406030204" pitchFamily="18" charset="0"/>
                            </a:rPr>
                            <m:t>3</m:t>
                          </m:r>
                          <m:r>
                            <a:rPr lang="en-US" sz="2400" i="1">
                              <a:solidFill>
                                <a:srgbClr val="0000FF"/>
                              </a:solidFill>
                              <a:latin typeface="Cambria Math" panose="02040503050406030204" pitchFamily="18" charset="0"/>
                            </a:rPr>
                            <m:t>𝑡</m:t>
                          </m:r>
                        </m:sup>
                      </m:sSup>
                      <m:r>
                        <a:rPr lang="en-US" sz="2400" i="1">
                          <a:solidFill>
                            <a:srgbClr val="0000FF"/>
                          </a:solidFill>
                          <a:latin typeface="Cambria Math" panose="02040503050406030204" pitchFamily="18" charset="0"/>
                        </a:rPr>
                        <m:t>𝑢</m:t>
                      </m:r>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oMath>
                  </m:oMathPara>
                </a14:m>
                <a:endParaRPr lang="en-US" altLang="zh-CN" sz="2400" b="0" dirty="0">
                  <a:solidFill>
                    <a:srgbClr val="0000FF"/>
                  </a:solidFill>
                </a:endParaRPr>
              </a:p>
              <a:p>
                <a:pPr marL="355600" indent="0">
                  <a:lnSpc>
                    <a:spcPct val="110000"/>
                  </a:lnSpc>
                  <a:spcBef>
                    <a:spcPts val="0"/>
                  </a:spcBef>
                  <a:spcAft>
                    <a:spcPts val="600"/>
                  </a:spcAft>
                  <a:buNone/>
                </a:pPr>
                <a14:m>
                  <m:oMath xmlns:m="http://schemas.openxmlformats.org/officeDocument/2006/math">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&gt;0</m:t>
                    </m:r>
                  </m:oMath>
                </a14:m>
                <a:r>
                  <a:rPr lang="zh-CN" altLang="en-US" sz="2400" b="0" dirty="0"/>
                  <a:t>时，特解具有如下形式：</a:t>
                </a:r>
                <a:endParaRPr lang="en-US" altLang="zh-CN" sz="2400" b="0" dirty="0"/>
              </a:p>
              <a:p>
                <a:pPr marL="0" indent="0">
                  <a:lnSpc>
                    <a:spcPct val="110000"/>
                  </a:lnSpc>
                  <a:spcBef>
                    <a:spcPts val="0"/>
                  </a:spcBef>
                  <a:spcAft>
                    <a:spcPts val="600"/>
                  </a:spcAft>
                  <a:buNone/>
                </a:pPr>
                <a14:m>
                  <m:oMathPara xmlns:m="http://schemas.openxmlformats.org/officeDocument/2006/math">
                    <m:oMathParaPr>
                      <m:jc m:val="centerGroup"/>
                    </m:oMathParaPr>
                    <m:oMath xmlns:m="http://schemas.openxmlformats.org/officeDocument/2006/math">
                      <m:sSub>
                        <m:sSubPr>
                          <m:ctrlPr>
                            <a:rPr lang="en-US" sz="2400" i="1" smtClean="0">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𝑦</m:t>
                          </m:r>
                        </m:e>
                        <m:sub>
                          <m:r>
                            <a:rPr lang="en-US" sz="2400" i="1">
                              <a:solidFill>
                                <a:srgbClr val="0000FF"/>
                              </a:solidFill>
                              <a:latin typeface="Cambria Math" panose="02040503050406030204" pitchFamily="18" charset="0"/>
                            </a:rPr>
                            <m:t>𝑝</m:t>
                          </m:r>
                        </m:sub>
                      </m:sSub>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𝑌</m:t>
                      </m:r>
                      <m:sSup>
                        <m:sSupPr>
                          <m:ctrlPr>
                            <a:rPr lang="en-US" sz="2400" i="1">
                              <a:solidFill>
                                <a:srgbClr val="0000FF"/>
                              </a:solidFill>
                              <a:latin typeface="Cambria Math" panose="02040503050406030204" pitchFamily="18" charset="0"/>
                            </a:rPr>
                          </m:ctrlPr>
                        </m:sSupPr>
                        <m:e>
                          <m:r>
                            <a:rPr lang="en-US" sz="2400" i="1">
                              <a:solidFill>
                                <a:srgbClr val="0000FF"/>
                              </a:solidFill>
                              <a:latin typeface="Cambria Math" panose="02040503050406030204" pitchFamily="18" charset="0"/>
                            </a:rPr>
                            <m:t>𝑒</m:t>
                          </m:r>
                        </m:e>
                        <m:sup>
                          <m:r>
                            <a:rPr lang="en-US" sz="2400" i="1">
                              <a:solidFill>
                                <a:srgbClr val="0000FF"/>
                              </a:solidFill>
                              <a:latin typeface="Cambria Math" panose="02040503050406030204" pitchFamily="18" charset="0"/>
                            </a:rPr>
                            <m:t>3</m:t>
                          </m:r>
                          <m:r>
                            <a:rPr lang="en-US" sz="2400" i="1">
                              <a:solidFill>
                                <a:srgbClr val="0000FF"/>
                              </a:solidFill>
                              <a:latin typeface="Cambria Math" panose="02040503050406030204" pitchFamily="18" charset="0"/>
                            </a:rPr>
                            <m:t>𝑡</m:t>
                          </m:r>
                        </m:sup>
                      </m:sSup>
                    </m:oMath>
                  </m:oMathPara>
                </a14:m>
                <a:endParaRPr lang="en-US" altLang="zh-CN" sz="2400" b="0" dirty="0"/>
              </a:p>
              <a:p>
                <a:pPr marL="355600" indent="0">
                  <a:lnSpc>
                    <a:spcPct val="110000"/>
                  </a:lnSpc>
                  <a:spcBef>
                    <a:spcPts val="0"/>
                  </a:spcBef>
                  <a:spcAft>
                    <a:spcPts val="600"/>
                  </a:spcAft>
                  <a:buNone/>
                </a:pPr>
                <a:r>
                  <a:rPr lang="zh-CN" altLang="en-US" sz="2400" b="0" dirty="0"/>
                  <a:t>将输入信号与特解代入微分方程，有：</a:t>
                </a:r>
                <a:endParaRPr lang="en-US" altLang="zh-CN" sz="2400" b="0" dirty="0"/>
              </a:p>
              <a:p>
                <a:pPr marL="0" indent="0">
                  <a:lnSpc>
                    <a:spcPct val="110000"/>
                  </a:lnSpc>
                  <a:spcBef>
                    <a:spcPts val="0"/>
                  </a:spcBef>
                  <a:spcAft>
                    <a:spcPts val="600"/>
                  </a:spcAft>
                  <a:buNone/>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3</m:t>
                      </m:r>
                      <m:r>
                        <a:rPr lang="en-US" sz="2400" i="1">
                          <a:solidFill>
                            <a:srgbClr val="000000"/>
                          </a:solidFill>
                          <a:latin typeface="Cambria Math" panose="02040503050406030204" pitchFamily="18" charset="0"/>
                        </a:rPr>
                        <m:t>𝑌</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𝑒</m:t>
                          </m:r>
                        </m:e>
                        <m:sup>
                          <m:r>
                            <a:rPr lang="en-US" sz="2400" i="1">
                              <a:solidFill>
                                <a:srgbClr val="000000"/>
                              </a:solidFill>
                              <a:latin typeface="Cambria Math" panose="02040503050406030204" pitchFamily="18" charset="0"/>
                            </a:rPr>
                            <m:t>3</m:t>
                          </m:r>
                          <m:r>
                            <a:rPr lang="en-US" sz="2400" i="1">
                              <a:solidFill>
                                <a:srgbClr val="000000"/>
                              </a:solidFill>
                              <a:latin typeface="Cambria Math" panose="02040503050406030204" pitchFamily="18" charset="0"/>
                            </a:rPr>
                            <m:t>𝑡</m:t>
                          </m:r>
                        </m:sup>
                      </m:sSup>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𝑌</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𝑒</m:t>
                          </m:r>
                        </m:e>
                        <m:sup>
                          <m:r>
                            <a:rPr lang="en-US" sz="2400" i="1">
                              <a:solidFill>
                                <a:srgbClr val="000000"/>
                              </a:solidFill>
                              <a:latin typeface="Cambria Math" panose="02040503050406030204" pitchFamily="18" charset="0"/>
                            </a:rPr>
                            <m:t>3</m:t>
                          </m:r>
                          <m:r>
                            <a:rPr lang="en-US" sz="2400" i="1">
                              <a:solidFill>
                                <a:srgbClr val="000000"/>
                              </a:solidFill>
                              <a:latin typeface="Cambria Math" panose="02040503050406030204" pitchFamily="18" charset="0"/>
                            </a:rPr>
                            <m:t>𝑡</m:t>
                          </m:r>
                        </m:sup>
                      </m:s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𝐾</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𝑒</m:t>
                          </m:r>
                        </m:e>
                        <m:sup>
                          <m:r>
                            <a:rPr lang="en-US" sz="2400" i="1">
                              <a:solidFill>
                                <a:srgbClr val="000000"/>
                              </a:solidFill>
                              <a:latin typeface="Cambria Math" panose="02040503050406030204" pitchFamily="18" charset="0"/>
                            </a:rPr>
                            <m:t>3</m:t>
                          </m:r>
                          <m:r>
                            <a:rPr lang="en-US" sz="2400" i="1">
                              <a:solidFill>
                                <a:srgbClr val="000000"/>
                              </a:solidFill>
                              <a:latin typeface="Cambria Math" panose="02040503050406030204" pitchFamily="18" charset="0"/>
                            </a:rPr>
                            <m:t>𝑡</m:t>
                          </m:r>
                        </m:sup>
                      </m:s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𝑌</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𝐾</m:t>
                          </m:r>
                        </m:num>
                        <m:den>
                          <m:r>
                            <a:rPr lang="en-US" sz="2400" i="1">
                              <a:solidFill>
                                <a:srgbClr val="000000"/>
                              </a:solidFill>
                              <a:latin typeface="Cambria Math" panose="02040503050406030204" pitchFamily="18" charset="0"/>
                            </a:rPr>
                            <m:t>5</m:t>
                          </m:r>
                        </m:den>
                      </m:f>
                    </m:oMath>
                  </m:oMathPara>
                </a14:m>
                <a:endParaRPr lang="en-US" altLang="zh-CN" sz="2400" b="0" dirty="0">
                  <a:solidFill>
                    <a:srgbClr val="0000FF"/>
                  </a:solidFill>
                </a:endParaRPr>
              </a:p>
              <a:p>
                <a:pPr marL="355600" indent="0">
                  <a:lnSpc>
                    <a:spcPct val="110000"/>
                  </a:lnSpc>
                  <a:spcBef>
                    <a:spcPts val="0"/>
                  </a:spcBef>
                  <a:spcAft>
                    <a:spcPts val="600"/>
                  </a:spcAft>
                  <a:buNone/>
                </a:pPr>
                <a:r>
                  <a:rPr lang="zh-CN" altLang="en-US" sz="2400" b="0" dirty="0"/>
                  <a:t>故特解为：</a:t>
                </a:r>
                <a:endParaRPr lang="en-US" altLang="zh-CN" sz="2400" b="0" dirty="0"/>
              </a:p>
              <a:p>
                <a:pPr marL="0" indent="0">
                  <a:lnSpc>
                    <a:spcPct val="110000"/>
                  </a:lnSpc>
                  <a:spcBef>
                    <a:spcPts val="0"/>
                  </a:spcBef>
                  <a:spcAft>
                    <a:spcPts val="600"/>
                  </a:spcAft>
                  <a:buNone/>
                </a:pPr>
                <a14:m>
                  <m:oMathPara xmlns:m="http://schemas.openxmlformats.org/officeDocument/2006/math">
                    <m:oMathParaPr>
                      <m:jc m:val="centerGroup"/>
                    </m:oMathParaPr>
                    <m:oMath xmlns:m="http://schemas.openxmlformats.org/officeDocument/2006/math">
                      <m:sSub>
                        <m:sSubPr>
                          <m:ctrlPr>
                            <a:rPr lang="en-US" sz="2400" i="1" smtClean="0">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𝑦</m:t>
                          </m:r>
                        </m:e>
                        <m:sub>
                          <m:r>
                            <a:rPr lang="en-US" sz="2400" i="1">
                              <a:solidFill>
                                <a:srgbClr val="0000FF"/>
                              </a:solidFill>
                              <a:latin typeface="Cambria Math" panose="02040503050406030204" pitchFamily="18" charset="0"/>
                            </a:rPr>
                            <m:t>𝑝</m:t>
                          </m:r>
                        </m:sub>
                      </m:sSub>
                      <m:r>
                        <a:rPr lang="en-US" sz="2400" i="1">
                          <a:solidFill>
                            <a:srgbClr val="0000FF"/>
                          </a:solidFill>
                          <a:latin typeface="Cambria Math" panose="02040503050406030204" pitchFamily="18" charset="0"/>
                        </a:rPr>
                        <m:t>(</m:t>
                      </m:r>
                      <m:r>
                        <a:rPr lang="en-US" sz="2400" i="1">
                          <a:solidFill>
                            <a:srgbClr val="0000FF"/>
                          </a:solidFill>
                          <a:latin typeface="Cambria Math" panose="02040503050406030204" pitchFamily="18" charset="0"/>
                        </a:rPr>
                        <m:t>𝑡</m:t>
                      </m:r>
                      <m:r>
                        <a:rPr lang="en-US" sz="2400" i="1">
                          <a:solidFill>
                            <a:srgbClr val="0000FF"/>
                          </a:solidFill>
                          <a:latin typeface="Cambria Math" panose="02040503050406030204" pitchFamily="18" charset="0"/>
                        </a:rPr>
                        <m:t>)=</m:t>
                      </m:r>
                      <m:f>
                        <m:fPr>
                          <m:ctrlPr>
                            <a:rPr lang="en-US" sz="2400" i="1">
                              <a:solidFill>
                                <a:srgbClr val="0000FF"/>
                              </a:solidFill>
                              <a:latin typeface="Cambria Math" panose="02040503050406030204" pitchFamily="18" charset="0"/>
                            </a:rPr>
                          </m:ctrlPr>
                        </m:fPr>
                        <m:num>
                          <m:r>
                            <a:rPr lang="en-US" sz="2400" i="1">
                              <a:solidFill>
                                <a:srgbClr val="0000FF"/>
                              </a:solidFill>
                              <a:latin typeface="Cambria Math" panose="02040503050406030204" pitchFamily="18" charset="0"/>
                            </a:rPr>
                            <m:t>𝐾</m:t>
                          </m:r>
                        </m:num>
                        <m:den>
                          <m:r>
                            <a:rPr lang="en-US" sz="2400" i="1">
                              <a:solidFill>
                                <a:srgbClr val="0000FF"/>
                              </a:solidFill>
                              <a:latin typeface="Cambria Math" panose="02040503050406030204" pitchFamily="18" charset="0"/>
                            </a:rPr>
                            <m:t>5</m:t>
                          </m:r>
                        </m:den>
                      </m:f>
                      <m:sSup>
                        <m:sSupPr>
                          <m:ctrlPr>
                            <a:rPr lang="en-US" sz="2400" i="1">
                              <a:solidFill>
                                <a:srgbClr val="0000FF"/>
                              </a:solidFill>
                              <a:latin typeface="Cambria Math" panose="02040503050406030204" pitchFamily="18" charset="0"/>
                            </a:rPr>
                          </m:ctrlPr>
                        </m:sSupPr>
                        <m:e>
                          <m:r>
                            <a:rPr lang="en-US" sz="2400" i="1">
                              <a:solidFill>
                                <a:srgbClr val="0000FF"/>
                              </a:solidFill>
                              <a:latin typeface="Cambria Math" panose="02040503050406030204" pitchFamily="18" charset="0"/>
                            </a:rPr>
                            <m:t>𝑒</m:t>
                          </m:r>
                        </m:e>
                        <m:sup>
                          <m:r>
                            <a:rPr lang="en-US" sz="2400" i="1">
                              <a:solidFill>
                                <a:srgbClr val="0000FF"/>
                              </a:solidFill>
                              <a:latin typeface="Cambria Math" panose="02040503050406030204" pitchFamily="18" charset="0"/>
                            </a:rPr>
                            <m:t>3</m:t>
                          </m:r>
                          <m:r>
                            <a:rPr lang="en-US" sz="2400" i="1">
                              <a:solidFill>
                                <a:srgbClr val="0000FF"/>
                              </a:solidFill>
                              <a:latin typeface="Cambria Math" panose="02040503050406030204" pitchFamily="18" charset="0"/>
                            </a:rPr>
                            <m:t>𝑡</m:t>
                          </m:r>
                        </m:sup>
                      </m:sSup>
                      <m:r>
                        <a:rPr lang="en-US" sz="2400" i="1">
                          <a:solidFill>
                            <a:srgbClr val="000000"/>
                          </a:solidFill>
                          <a:latin typeface="Cambria Math" panose="02040503050406030204" pitchFamily="18" charset="0"/>
                        </a:rPr>
                        <m:t>,</m:t>
                      </m:r>
                      <m:r>
                        <m:rPr>
                          <m:nor/>
                        </m:rPr>
                        <a:rPr lang="en-US" sz="2400">
                          <a:solidFill>
                            <a:srgbClr val="000000"/>
                          </a:solidFill>
                          <a:latin typeface="Cambria Math" panose="02040503050406030204" pitchFamily="18" charset="0"/>
                        </a:rPr>
                        <m:t> </m:t>
                      </m:r>
                      <m:r>
                        <m:rPr>
                          <m:nor/>
                        </m:rPr>
                        <a:rPr lang="en-US" sz="2400" b="1" i="0" smtClean="0">
                          <a:solidFill>
                            <a:srgbClr val="000000"/>
                          </a:solidFill>
                          <a:latin typeface="Cambria Math" panose="02040503050406030204" pitchFamily="18" charset="0"/>
                        </a:rPr>
                        <m:t> </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&gt;0</m:t>
                      </m:r>
                    </m:oMath>
                  </m:oMathPara>
                </a14:m>
                <a:endParaRPr lang="zh-CN" altLang="en-US" sz="2400" b="0" dirty="0"/>
              </a:p>
            </p:txBody>
          </p:sp>
        </mc:Choice>
        <mc:Fallback xmlns="">
          <p:sp>
            <p:nvSpPr>
              <p:cNvPr id="24584" name="内容占位符 2">
                <a:extLst>
                  <a:ext uri="{FF2B5EF4-FFF2-40B4-BE49-F238E27FC236}">
                    <a16:creationId xmlns:a16="http://schemas.microsoft.com/office/drawing/2014/main" id="{B1AFAC00-1322-4077-B02F-BEF746271D25}"/>
                  </a:ext>
                </a:extLst>
              </p:cNvPr>
              <p:cNvSpPr>
                <a:spLocks noGrp="1" noRot="1" noChangeAspect="1" noMove="1" noResize="1" noEditPoints="1" noAdjustHandles="1" noChangeArrowheads="1" noChangeShapeType="1" noTextEdit="1"/>
              </p:cNvSpPr>
              <p:nvPr>
                <p:ph idx="1"/>
              </p:nvPr>
            </p:nvSpPr>
            <p:spPr>
              <a:xfrm>
                <a:off x="457200" y="1285875"/>
                <a:ext cx="8229600" cy="5220725"/>
              </a:xfrm>
              <a:blipFill>
                <a:blip r:embed="rId2"/>
                <a:stretch>
                  <a:fillRect l="-1111" t="-117"/>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AD7EE39D-E590-4C5B-8F45-D4B890411E3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737084-AF1A-4664-ACC8-918B82288C8A}"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58</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62081795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3" name="标题 1">
            <a:extLst>
              <a:ext uri="{FF2B5EF4-FFF2-40B4-BE49-F238E27FC236}">
                <a16:creationId xmlns:a16="http://schemas.microsoft.com/office/drawing/2014/main" id="{A21438A0-2D2B-4DF1-A85A-E979572D56A8}"/>
              </a:ext>
            </a:extLst>
          </p:cNvPr>
          <p:cNvSpPr>
            <a:spLocks noGrp="1"/>
          </p:cNvSpPr>
          <p:nvPr>
            <p:ph type="title"/>
          </p:nvPr>
        </p:nvSpPr>
        <p:spPr/>
        <p:txBody>
          <a:bodyPr/>
          <a:lstStyle/>
          <a:p>
            <a:r>
              <a:rPr lang="en-US" altLang="zh-CN" sz="3200"/>
              <a:t>2.4 </a:t>
            </a:r>
            <a:r>
              <a:rPr lang="zh-CN" altLang="en-US" sz="3200"/>
              <a:t>用微分和差分方程描述的因果</a:t>
            </a:r>
            <a:r>
              <a:rPr lang="en-US" altLang="zh-CN" sz="3200"/>
              <a:t>LTI</a:t>
            </a:r>
            <a:r>
              <a:rPr lang="zh-CN" altLang="en-US" sz="3200"/>
              <a:t>系统</a:t>
            </a:r>
          </a:p>
        </p:txBody>
      </p:sp>
      <mc:AlternateContent xmlns:mc="http://schemas.openxmlformats.org/markup-compatibility/2006" xmlns:a14="http://schemas.microsoft.com/office/drawing/2010/main">
        <mc:Choice Requires="a14">
          <p:sp>
            <p:nvSpPr>
              <p:cNvPr id="24584" name="内容占位符 2">
                <a:extLst>
                  <a:ext uri="{FF2B5EF4-FFF2-40B4-BE49-F238E27FC236}">
                    <a16:creationId xmlns:a16="http://schemas.microsoft.com/office/drawing/2014/main" id="{B1AFAC00-1322-4077-B02F-BEF746271D25}"/>
                  </a:ext>
                </a:extLst>
              </p:cNvPr>
              <p:cNvSpPr>
                <a:spLocks noGrp="1"/>
              </p:cNvSpPr>
              <p:nvPr>
                <p:ph idx="1"/>
              </p:nvPr>
            </p:nvSpPr>
            <p:spPr>
              <a:xfrm>
                <a:off x="457200" y="1285875"/>
                <a:ext cx="8229600" cy="4998100"/>
              </a:xfrm>
            </p:spPr>
            <p:txBody>
              <a:bodyPr>
                <a:spAutoFit/>
              </a:bodyPr>
              <a:lstStyle/>
              <a:p>
                <a:pPr marL="0" indent="0" algn="just">
                  <a:spcBef>
                    <a:spcPts val="0"/>
                  </a:spcBef>
                  <a:spcAft>
                    <a:spcPts val="600"/>
                  </a:spcAft>
                  <a:buNone/>
                </a:pPr>
                <a:r>
                  <a:rPr lang="zh-CN" altLang="en-US" sz="2400" b="0" dirty="0">
                    <a:solidFill>
                      <a:srgbClr val="0000FF"/>
                    </a:solidFill>
                  </a:rPr>
                  <a:t>完全解</a:t>
                </a:r>
                <a:r>
                  <a:rPr lang="zh-CN" altLang="en-US" sz="2400" b="0" dirty="0"/>
                  <a:t>：</a:t>
                </a:r>
                <a:endParaRPr lang="en-US" altLang="zh-CN" sz="2400" b="0" dirty="0"/>
              </a:p>
              <a:p>
                <a:pPr algn="just">
                  <a:spcBef>
                    <a:spcPts val="0"/>
                  </a:spcBef>
                  <a:spcAft>
                    <a:spcPts val="600"/>
                  </a:spcAft>
                </a:pPr>
                <a14:m>
                  <m:oMath xmlns:m="http://schemas.openxmlformats.org/officeDocument/2006/math">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&gt;0</m:t>
                    </m:r>
                  </m:oMath>
                </a14:m>
                <a:r>
                  <a:rPr lang="zh-CN" altLang="en-US" sz="2400" b="0" dirty="0"/>
                  <a:t>时，完全解为：</a:t>
                </a:r>
                <a:endParaRPr lang="en-US" altLang="zh-CN" sz="2400" b="0" dirty="0"/>
              </a:p>
              <a:p>
                <a:pPr marL="0" indent="0" algn="just">
                  <a:spcBef>
                    <a:spcPts val="0"/>
                  </a:spcBef>
                  <a:spcAft>
                    <a:spcPts val="600"/>
                  </a:spcAft>
                  <a:buNone/>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h</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𝑝</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𝐶</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𝑒</m:t>
                          </m:r>
                        </m:e>
                        <m:sup>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𝑡</m:t>
                          </m:r>
                        </m:sup>
                      </m:sSup>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𝐾</m:t>
                          </m:r>
                        </m:num>
                        <m:den>
                          <m:r>
                            <a:rPr lang="en-US" sz="2400" i="1">
                              <a:solidFill>
                                <a:srgbClr val="000000"/>
                              </a:solidFill>
                              <a:latin typeface="Cambria Math" panose="02040503050406030204" pitchFamily="18" charset="0"/>
                            </a:rPr>
                            <m:t>5</m:t>
                          </m:r>
                        </m:den>
                      </m:f>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𝑒</m:t>
                          </m:r>
                        </m:e>
                        <m:sup>
                          <m:r>
                            <a:rPr lang="en-US" sz="2400" i="1">
                              <a:solidFill>
                                <a:srgbClr val="000000"/>
                              </a:solidFill>
                              <a:latin typeface="Cambria Math" panose="02040503050406030204" pitchFamily="18" charset="0"/>
                            </a:rPr>
                            <m:t>3</m:t>
                          </m:r>
                          <m:r>
                            <a:rPr lang="en-US" sz="2400" i="1">
                              <a:solidFill>
                                <a:srgbClr val="000000"/>
                              </a:solidFill>
                              <a:latin typeface="Cambria Math" panose="02040503050406030204" pitchFamily="18" charset="0"/>
                            </a:rPr>
                            <m:t>𝑡</m:t>
                          </m:r>
                        </m:sup>
                      </m:sSup>
                    </m:oMath>
                  </m:oMathPara>
                </a14:m>
                <a:endParaRPr lang="en-US" altLang="zh-CN" sz="2400" b="0" dirty="0">
                  <a:solidFill>
                    <a:srgbClr val="0000FF"/>
                  </a:solidFill>
                </a:endParaRPr>
              </a:p>
              <a:p>
                <a:pPr marL="355600" indent="0" algn="just">
                  <a:spcBef>
                    <a:spcPts val="0"/>
                  </a:spcBef>
                  <a:spcAft>
                    <a:spcPts val="600"/>
                  </a:spcAft>
                  <a:buNone/>
                </a:pPr>
                <a14:m>
                  <m:oMath xmlns:m="http://schemas.openxmlformats.org/officeDocument/2006/math">
                    <m:r>
                      <a:rPr lang="zh-CN" altLang="en-US" sz="2400" b="0" i="1" smtClean="0">
                        <a:latin typeface="Cambria Math" panose="02040503050406030204" pitchFamily="18" charset="0"/>
                      </a:rPr>
                      <m:t>其中</m:t>
                    </m:r>
                  </m:oMath>
                </a14:m>
                <a:r>
                  <a:rPr lang="zh-CN" altLang="en-US" sz="2400" b="0" dirty="0"/>
                  <a:t>的待定系数</a:t>
                </a:r>
                <a14:m>
                  <m:oMath xmlns:m="http://schemas.openxmlformats.org/officeDocument/2006/math">
                    <m:r>
                      <a:rPr lang="en-US" sz="2400" i="1">
                        <a:solidFill>
                          <a:srgbClr val="000000"/>
                        </a:solidFill>
                        <a:latin typeface="Cambria Math" panose="02040503050406030204" pitchFamily="18" charset="0"/>
                      </a:rPr>
                      <m:t>𝐶</m:t>
                    </m:r>
                  </m:oMath>
                </a14:m>
                <a:r>
                  <a:rPr lang="zh-CN" altLang="en-US" sz="2400" b="0" dirty="0"/>
                  <a:t>由附加条件决定。</a:t>
                </a:r>
                <a:endParaRPr lang="en-US" altLang="zh-CN" sz="2400" b="0" dirty="0"/>
              </a:p>
              <a:p>
                <a:pPr algn="just">
                  <a:spcBef>
                    <a:spcPts val="0"/>
                  </a:spcBef>
                  <a:spcAft>
                    <a:spcPts val="600"/>
                  </a:spcAft>
                </a:pPr>
                <a:r>
                  <a:rPr lang="zh-CN" altLang="en-US" sz="2400" b="0" dirty="0"/>
                  <a:t>对于因果</a:t>
                </a:r>
                <a:r>
                  <a:rPr lang="en-US" altLang="zh-CN" sz="2400" b="0" dirty="0"/>
                  <a:t>LTI</a:t>
                </a:r>
                <a:r>
                  <a:rPr lang="zh-CN" altLang="en-US" sz="2400" b="0" dirty="0"/>
                  <a:t>系统，若</a:t>
                </a:r>
                <a14:m>
                  <m:oMath xmlns:m="http://schemas.openxmlformats.org/officeDocument/2006/math">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&lt;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0</m:t>
                        </m:r>
                      </m:sub>
                    </m:sSub>
                  </m:oMath>
                </a14:m>
                <a:r>
                  <a:rPr lang="zh-CN" altLang="en-US" sz="2400" b="0" dirty="0"/>
                  <a:t>时</a:t>
                </a:r>
                <a14:m>
                  <m:oMath xmlns:m="http://schemas.openxmlformats.org/officeDocument/2006/math">
                    <m:r>
                      <a:rPr lang="en-US" altLang="zh-CN" sz="2400" b="0" i="1" dirty="0" smtClean="0">
                        <a:latin typeface="Cambria Math" panose="02040503050406030204" pitchFamily="18" charset="0"/>
                      </a:rPr>
                      <m:t>𝑥</m:t>
                    </m:r>
                    <m:d>
                      <m:dPr>
                        <m:ctrlPr>
                          <a:rPr lang="en-US" altLang="zh-CN" sz="2400" b="0" i="1" dirty="0" smtClean="0">
                            <a:latin typeface="Cambria Math" panose="02040503050406030204" pitchFamily="18" charset="0"/>
                          </a:rPr>
                        </m:ctrlPr>
                      </m:dPr>
                      <m:e>
                        <m:r>
                          <a:rPr lang="en-US" altLang="zh-CN" sz="2400" b="0" i="1" dirty="0" smtClean="0">
                            <a:latin typeface="Cambria Math" panose="02040503050406030204" pitchFamily="18" charset="0"/>
                          </a:rPr>
                          <m:t>𝑡</m:t>
                        </m:r>
                      </m:e>
                    </m:d>
                    <m:r>
                      <a:rPr lang="en-US" altLang="zh-CN" sz="2400" b="0" i="1" dirty="0" smtClean="0">
                        <a:latin typeface="Cambria Math" panose="02040503050406030204" pitchFamily="18" charset="0"/>
                      </a:rPr>
                      <m:t>=0</m:t>
                    </m:r>
                  </m:oMath>
                </a14:m>
                <a:r>
                  <a:rPr lang="zh-CN" altLang="en-US" sz="2400" b="0" dirty="0"/>
                  <a:t>，则</a:t>
                </a:r>
                <a14:m>
                  <m:oMath xmlns:m="http://schemas.openxmlformats.org/officeDocument/2006/math">
                    <m:r>
                      <a:rPr lang="en-US" altLang="zh-CN" sz="2400" b="0" i="1">
                        <a:latin typeface="Cambria Math" panose="02040503050406030204" pitchFamily="18" charset="0"/>
                      </a:rPr>
                      <m:t>𝑡</m:t>
                    </m:r>
                    <m:r>
                      <a:rPr lang="en-US" altLang="zh-CN" sz="2400" b="0" i="1">
                        <a:latin typeface="Cambria Math" panose="02040503050406030204" pitchFamily="18" charset="0"/>
                      </a:rPr>
                      <m:t>&lt;</m:t>
                    </m:r>
                    <m:sSub>
                      <m:sSubPr>
                        <m:ctrlPr>
                          <a:rPr lang="en-US" altLang="zh-CN" sz="2400" b="0" i="1">
                            <a:latin typeface="Cambria Math" panose="02040503050406030204" pitchFamily="18" charset="0"/>
                          </a:rPr>
                        </m:ctrlPr>
                      </m:sSubPr>
                      <m:e>
                        <m:r>
                          <a:rPr lang="en-US" altLang="zh-CN" sz="2400" b="0" i="1">
                            <a:latin typeface="Cambria Math" panose="02040503050406030204" pitchFamily="18" charset="0"/>
                          </a:rPr>
                          <m:t>𝑡</m:t>
                        </m:r>
                      </m:e>
                      <m:sub>
                        <m:r>
                          <a:rPr lang="en-US" altLang="zh-CN" sz="2400" b="0" i="1">
                            <a:latin typeface="Cambria Math" panose="02040503050406030204" pitchFamily="18" charset="0"/>
                          </a:rPr>
                          <m:t>0</m:t>
                        </m:r>
                      </m:sub>
                    </m:sSub>
                  </m:oMath>
                </a14:m>
                <a:r>
                  <a:rPr lang="zh-CN" altLang="en-US" sz="2400" b="0" dirty="0"/>
                  <a:t>时也将有</a:t>
                </a:r>
                <a14:m>
                  <m:oMath xmlns:m="http://schemas.openxmlformats.org/officeDocument/2006/math">
                    <m:r>
                      <a:rPr lang="en-US" altLang="zh-CN" sz="2400" b="0" i="1" dirty="0" smtClean="0">
                        <a:latin typeface="Cambria Math" panose="02040503050406030204" pitchFamily="18" charset="0"/>
                      </a:rPr>
                      <m:t>𝑦</m:t>
                    </m:r>
                    <m:d>
                      <m:dPr>
                        <m:ctrlPr>
                          <a:rPr lang="en-US" altLang="zh-CN" sz="2400" b="0" i="1" dirty="0">
                            <a:latin typeface="Cambria Math" panose="02040503050406030204" pitchFamily="18" charset="0"/>
                          </a:rPr>
                        </m:ctrlPr>
                      </m:dPr>
                      <m:e>
                        <m:r>
                          <a:rPr lang="en-US" altLang="zh-CN" sz="2400" b="0" i="1" dirty="0">
                            <a:latin typeface="Cambria Math" panose="02040503050406030204" pitchFamily="18" charset="0"/>
                          </a:rPr>
                          <m:t>𝑡</m:t>
                        </m:r>
                      </m:e>
                    </m:d>
                    <m:r>
                      <a:rPr lang="en-US" altLang="zh-CN" sz="2400" b="0" i="1" dirty="0">
                        <a:latin typeface="Cambria Math" panose="02040503050406030204" pitchFamily="18" charset="0"/>
                      </a:rPr>
                      <m:t>=0</m:t>
                    </m:r>
                  </m:oMath>
                </a14:m>
                <a:r>
                  <a:rPr lang="zh-CN" altLang="en-US" sz="2400" b="0" dirty="0"/>
                  <a:t>。因此令</a:t>
                </a:r>
                <a14:m>
                  <m:oMath xmlns:m="http://schemas.openxmlformats.org/officeDocument/2006/math">
                    <m:r>
                      <a:rPr lang="en-US" altLang="zh-CN" sz="2400" b="0" i="1">
                        <a:latin typeface="Cambria Math" panose="02040503050406030204" pitchFamily="18" charset="0"/>
                      </a:rPr>
                      <m:t>𝑡</m:t>
                    </m:r>
                    <m:r>
                      <a:rPr lang="en-US" altLang="zh-CN" sz="2400" b="0" i="1" smtClean="0">
                        <a:latin typeface="Cambria Math" panose="02040503050406030204" pitchFamily="18" charset="0"/>
                      </a:rPr>
                      <m:t>=0</m:t>
                    </m:r>
                  </m:oMath>
                </a14:m>
                <a:r>
                  <a:rPr lang="zh-CN" altLang="en-US" sz="2400" b="0" dirty="0"/>
                  <a:t>时</a:t>
                </a:r>
                <a14:m>
                  <m:oMath xmlns:m="http://schemas.openxmlformats.org/officeDocument/2006/math">
                    <m:r>
                      <a:rPr lang="en-US" altLang="zh-CN" sz="2400" b="0" i="1" dirty="0">
                        <a:latin typeface="Cambria Math" panose="02040503050406030204" pitchFamily="18" charset="0"/>
                      </a:rPr>
                      <m:t>𝑦</m:t>
                    </m:r>
                    <m:d>
                      <m:dPr>
                        <m:ctrlPr>
                          <a:rPr lang="en-US" altLang="zh-CN" sz="2400" b="0" i="1" dirty="0">
                            <a:latin typeface="Cambria Math" panose="02040503050406030204" pitchFamily="18" charset="0"/>
                          </a:rPr>
                        </m:ctrlPr>
                      </m:dPr>
                      <m:e>
                        <m:r>
                          <a:rPr lang="en-US" altLang="zh-CN" sz="2400" b="0" i="1" dirty="0" smtClean="0">
                            <a:latin typeface="Cambria Math" panose="02040503050406030204" pitchFamily="18" charset="0"/>
                          </a:rPr>
                          <m:t>0</m:t>
                        </m:r>
                      </m:e>
                    </m:d>
                    <m:r>
                      <a:rPr lang="en-US" altLang="zh-CN" sz="2400" b="0" i="1" dirty="0">
                        <a:latin typeface="Cambria Math" panose="02040503050406030204" pitchFamily="18" charset="0"/>
                      </a:rPr>
                      <m:t>=0</m:t>
                    </m:r>
                  </m:oMath>
                </a14:m>
                <a:r>
                  <a:rPr lang="zh-CN" altLang="en-US" sz="2400" b="0" dirty="0"/>
                  <a:t>，解出：</a:t>
                </a:r>
                <a:endParaRPr lang="en-US" altLang="zh-CN" sz="2400" b="0" dirty="0"/>
              </a:p>
              <a:p>
                <a:pPr marL="0" indent="0" algn="just">
                  <a:spcBef>
                    <a:spcPts val="0"/>
                  </a:spcBef>
                  <a:spcAft>
                    <a:spcPts val="600"/>
                  </a:spcAft>
                  <a:buNone/>
                </a:pPr>
                <a14:m>
                  <m:oMathPara xmlns:m="http://schemas.openxmlformats.org/officeDocument/2006/math">
                    <m:oMathParaPr>
                      <m:jc m:val="centerGroup"/>
                    </m:oMathParaPr>
                    <m:oMath xmlns:m="http://schemas.openxmlformats.org/officeDocument/2006/math">
                      <m:r>
                        <a:rPr lang="en-US" sz="2400" b="0" i="1" smtClean="0">
                          <a:solidFill>
                            <a:srgbClr val="000000"/>
                          </a:solidFill>
                          <a:latin typeface="Cambria Math" panose="02040503050406030204" pitchFamily="18" charset="0"/>
                        </a:rPr>
                        <m:t>𝐶</m:t>
                      </m:r>
                      <m:r>
                        <a:rPr lang="en-US" sz="2400" b="0" i="1" smtClean="0">
                          <a:solidFill>
                            <a:srgbClr val="000000"/>
                          </a:solidFill>
                          <a:latin typeface="Cambria Math" panose="02040503050406030204" pitchFamily="18" charset="0"/>
                        </a:rPr>
                        <m:t>=−</m:t>
                      </m:r>
                      <m:f>
                        <m:fPr>
                          <m:ctrlPr>
                            <a:rPr lang="en-US" sz="2400" b="0" i="1">
                              <a:solidFill>
                                <a:srgbClr val="000000"/>
                              </a:solidFill>
                              <a:latin typeface="Cambria Math" panose="02040503050406030204" pitchFamily="18" charset="0"/>
                            </a:rPr>
                          </m:ctrlPr>
                        </m:fPr>
                        <m:num>
                          <m:r>
                            <a:rPr lang="en-US" sz="2400" b="0" i="1">
                              <a:solidFill>
                                <a:srgbClr val="000000"/>
                              </a:solidFill>
                              <a:latin typeface="Cambria Math" panose="02040503050406030204" pitchFamily="18" charset="0"/>
                            </a:rPr>
                            <m:t>𝐾</m:t>
                          </m:r>
                        </m:num>
                        <m:den>
                          <m:r>
                            <a:rPr lang="en-US" sz="2400" b="0" i="1">
                              <a:solidFill>
                                <a:srgbClr val="000000"/>
                              </a:solidFill>
                              <a:latin typeface="Cambria Math" panose="02040503050406030204" pitchFamily="18" charset="0"/>
                            </a:rPr>
                            <m:t>5</m:t>
                          </m:r>
                        </m:den>
                      </m:f>
                    </m:oMath>
                  </m:oMathPara>
                </a14:m>
                <a:endParaRPr lang="en-US" altLang="zh-CN" sz="2400" b="0" dirty="0"/>
              </a:p>
              <a:p>
                <a:pPr marL="355600" indent="0" algn="just">
                  <a:spcBef>
                    <a:spcPts val="0"/>
                  </a:spcBef>
                  <a:spcAft>
                    <a:spcPts val="600"/>
                  </a:spcAft>
                  <a:buNone/>
                </a:pPr>
                <a:r>
                  <a:rPr lang="zh-CN" altLang="en-US" sz="2400" b="0" dirty="0"/>
                  <a:t>根据初始松弛条件，最终完全解为：</a:t>
                </a:r>
                <a:endParaRPr lang="en-US" altLang="zh-CN" sz="2400" b="0" dirty="0"/>
              </a:p>
              <a:p>
                <a:pPr marL="0" indent="0" algn="just">
                  <a:spcBef>
                    <a:spcPts val="0"/>
                  </a:spcBef>
                  <a:spcAft>
                    <a:spcPts val="600"/>
                  </a:spcAft>
                  <a:buNone/>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𝐾</m:t>
                          </m:r>
                        </m:num>
                        <m:den>
                          <m:r>
                            <a:rPr lang="en-US" sz="2400" i="1">
                              <a:solidFill>
                                <a:srgbClr val="000000"/>
                              </a:solidFill>
                              <a:latin typeface="Cambria Math" panose="02040503050406030204" pitchFamily="18" charset="0"/>
                            </a:rPr>
                            <m:t>5</m:t>
                          </m:r>
                        </m:den>
                      </m:f>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𝑒</m:t>
                          </m:r>
                        </m:e>
                        <m:sup>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𝑡</m:t>
                          </m:r>
                        </m:sup>
                      </m:sSup>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𝐾</m:t>
                          </m:r>
                        </m:num>
                        <m:den>
                          <m:r>
                            <a:rPr lang="en-US" sz="2400" i="1">
                              <a:solidFill>
                                <a:srgbClr val="000000"/>
                              </a:solidFill>
                              <a:latin typeface="Cambria Math" panose="02040503050406030204" pitchFamily="18" charset="0"/>
                            </a:rPr>
                            <m:t>5</m:t>
                          </m:r>
                        </m:den>
                      </m:f>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𝑒</m:t>
                          </m:r>
                        </m:e>
                        <m:sup>
                          <m:r>
                            <a:rPr lang="en-US" sz="2400" i="1">
                              <a:solidFill>
                                <a:srgbClr val="000000"/>
                              </a:solidFill>
                              <a:latin typeface="Cambria Math" panose="02040503050406030204" pitchFamily="18" charset="0"/>
                            </a:rPr>
                            <m:t>3</m:t>
                          </m:r>
                          <m:r>
                            <a:rPr lang="en-US" sz="2400" i="1">
                              <a:solidFill>
                                <a:srgbClr val="000000"/>
                              </a:solidFill>
                              <a:latin typeface="Cambria Math" panose="02040503050406030204" pitchFamily="18" charset="0"/>
                            </a:rPr>
                            <m:t>𝑡</m:t>
                          </m:r>
                        </m:sup>
                      </m:s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zh-CN" altLang="en-US" sz="2400" b="0" dirty="0"/>
              </a:p>
            </p:txBody>
          </p:sp>
        </mc:Choice>
        <mc:Fallback xmlns="">
          <p:sp>
            <p:nvSpPr>
              <p:cNvPr id="24584" name="内容占位符 2">
                <a:extLst>
                  <a:ext uri="{FF2B5EF4-FFF2-40B4-BE49-F238E27FC236}">
                    <a16:creationId xmlns:a16="http://schemas.microsoft.com/office/drawing/2014/main" id="{B1AFAC00-1322-4077-B02F-BEF746271D25}"/>
                  </a:ext>
                </a:extLst>
              </p:cNvPr>
              <p:cNvSpPr>
                <a:spLocks noGrp="1" noRot="1" noChangeAspect="1" noMove="1" noResize="1" noEditPoints="1" noAdjustHandles="1" noChangeArrowheads="1" noChangeShapeType="1" noTextEdit="1"/>
              </p:cNvSpPr>
              <p:nvPr>
                <p:ph idx="1"/>
              </p:nvPr>
            </p:nvSpPr>
            <p:spPr>
              <a:xfrm>
                <a:off x="457200" y="1285875"/>
                <a:ext cx="8229600" cy="4998100"/>
              </a:xfrm>
              <a:blipFill>
                <a:blip r:embed="rId2"/>
                <a:stretch>
                  <a:fillRect l="-1111" t="-854" r="-1111"/>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AD7EE39D-E590-4C5B-8F45-D4B890411E3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0737084-AF1A-4664-ACC8-918B82288C8A}"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59</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70552578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30AD8-5AFE-48AB-9C71-9149836067B8}"/>
              </a:ext>
            </a:extLst>
          </p:cNvPr>
          <p:cNvSpPr>
            <a:spLocks noGrp="1"/>
          </p:cNvSpPr>
          <p:nvPr>
            <p:ph type="title"/>
          </p:nvPr>
        </p:nvSpPr>
        <p:spPr/>
        <p:txBody>
          <a:bodyPr/>
          <a:lstStyle/>
          <a:p>
            <a:r>
              <a:rPr lang="zh-CN" altLang="en-US" dirty="0"/>
              <a:t>课后作业</a:t>
            </a:r>
            <a:endParaRPr lang="en-US" dirty="0"/>
          </a:p>
        </p:txBody>
      </p:sp>
      <p:sp>
        <p:nvSpPr>
          <p:cNvPr id="3" name="内容占位符 2">
            <a:extLst>
              <a:ext uri="{FF2B5EF4-FFF2-40B4-BE49-F238E27FC236}">
                <a16:creationId xmlns:a16="http://schemas.microsoft.com/office/drawing/2014/main" id="{2D1D437D-C598-40E2-B0B9-F3A9C6B201DE}"/>
              </a:ext>
            </a:extLst>
          </p:cNvPr>
          <p:cNvSpPr>
            <a:spLocks noGrp="1"/>
          </p:cNvSpPr>
          <p:nvPr>
            <p:ph idx="1"/>
          </p:nvPr>
        </p:nvSpPr>
        <p:spPr>
          <a:xfrm>
            <a:off x="457200" y="1285875"/>
            <a:ext cx="8229600" cy="608885"/>
          </a:xfrm>
        </p:spPr>
        <p:txBody>
          <a:bodyPr>
            <a:spAutoFit/>
          </a:bodyPr>
          <a:lstStyle/>
          <a:p>
            <a:pPr>
              <a:lnSpc>
                <a:spcPct val="130000"/>
              </a:lnSpc>
              <a:spcBef>
                <a:spcPts val="0"/>
              </a:spcBef>
              <a:spcAft>
                <a:spcPts val="600"/>
              </a:spcAft>
            </a:pPr>
            <a:r>
              <a:rPr lang="en-US" altLang="zh-CN" sz="2800" b="0" dirty="0"/>
              <a:t>2.47(b, d, f)</a:t>
            </a:r>
            <a:r>
              <a:rPr lang="zh-CN" altLang="en-US" sz="2800" b="0" dirty="0"/>
              <a:t>、</a:t>
            </a:r>
            <a:r>
              <a:rPr lang="en-US" altLang="zh-CN" sz="2800" b="0" dirty="0"/>
              <a:t>2.28(c)</a:t>
            </a:r>
            <a:r>
              <a:rPr lang="zh-CN" altLang="en-US" sz="2800" b="0" dirty="0"/>
              <a:t>、</a:t>
            </a:r>
            <a:r>
              <a:rPr lang="en-US" altLang="zh-CN" sz="2800" b="0" dirty="0"/>
              <a:t>2.29(g)</a:t>
            </a:r>
            <a:endParaRPr lang="en-US" sz="2800" b="0" dirty="0"/>
          </a:p>
        </p:txBody>
      </p:sp>
      <p:sp>
        <p:nvSpPr>
          <p:cNvPr id="4" name="灯片编号占位符 3">
            <a:extLst>
              <a:ext uri="{FF2B5EF4-FFF2-40B4-BE49-F238E27FC236}">
                <a16:creationId xmlns:a16="http://schemas.microsoft.com/office/drawing/2014/main" id="{C018AEBB-9A02-4033-B315-77405E85549F}"/>
              </a:ext>
            </a:extLst>
          </p:cNvPr>
          <p:cNvSpPr>
            <a:spLocks noGrp="1"/>
          </p:cNvSpPr>
          <p:nvPr>
            <p:ph type="sldNum" sz="quarter" idx="12"/>
          </p:nvPr>
        </p:nvSpPr>
        <p:spPr/>
        <p:txBody>
          <a:bodyPr/>
          <a:lstStyle/>
          <a:p>
            <a:fld id="{D6CC5206-228A-4188-B6B3-2BFCD2AC1E6E}" type="slidenum">
              <a:rPr lang="zh-CN" altLang="en-US" smtClean="0"/>
              <a:pPr/>
              <a:t>60</a:t>
            </a:fld>
            <a:endParaRPr lang="zh-CN" altLang="en-US"/>
          </a:p>
        </p:txBody>
      </p:sp>
    </p:spTree>
    <p:extLst>
      <p:ext uri="{BB962C8B-B14F-4D97-AF65-F5344CB8AC3E}">
        <p14:creationId xmlns:p14="http://schemas.microsoft.com/office/powerpoint/2010/main" val="398904261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标题 1">
            <a:extLst>
              <a:ext uri="{FF2B5EF4-FFF2-40B4-BE49-F238E27FC236}">
                <a16:creationId xmlns:a16="http://schemas.microsoft.com/office/drawing/2014/main" id="{8DC3A18C-1835-479E-BA00-558AE7B9E708}"/>
              </a:ext>
            </a:extLst>
          </p:cNvPr>
          <p:cNvSpPr>
            <a:spLocks noGrp="1"/>
          </p:cNvSpPr>
          <p:nvPr>
            <p:ph type="title"/>
          </p:nvPr>
        </p:nvSpPr>
        <p:spPr/>
        <p:txBody>
          <a:bodyPr/>
          <a:lstStyle/>
          <a:p>
            <a:r>
              <a:rPr lang="en-US" altLang="zh-CN" sz="3200">
                <a:solidFill>
                  <a:srgbClr val="000000"/>
                </a:solidFill>
              </a:rPr>
              <a:t>2.4 </a:t>
            </a:r>
            <a:r>
              <a:rPr lang="zh-CN" altLang="en-US" sz="3200">
                <a:solidFill>
                  <a:srgbClr val="000000"/>
                </a:solidFill>
              </a:rPr>
              <a:t>用微分和差分方程描述的因果</a:t>
            </a:r>
            <a:r>
              <a:rPr lang="en-US" altLang="zh-CN" sz="3200">
                <a:solidFill>
                  <a:srgbClr val="000000"/>
                </a:solidFill>
              </a:rPr>
              <a:t>LTI</a:t>
            </a:r>
            <a:r>
              <a:rPr lang="zh-CN" altLang="en-US" sz="3200">
                <a:solidFill>
                  <a:srgbClr val="000000"/>
                </a:solidFill>
              </a:rPr>
              <a:t>系统</a:t>
            </a:r>
            <a:endParaRPr lang="zh-CN" altLang="en-US"/>
          </a:p>
        </p:txBody>
      </p:sp>
      <mc:AlternateContent xmlns:mc="http://schemas.openxmlformats.org/markup-compatibility/2006" xmlns:a14="http://schemas.microsoft.com/office/drawing/2010/main">
        <mc:Choice Requires="a14">
          <p:sp>
            <p:nvSpPr>
              <p:cNvPr id="14342" name="内容占位符 2">
                <a:extLst>
                  <a:ext uri="{FF2B5EF4-FFF2-40B4-BE49-F238E27FC236}">
                    <a16:creationId xmlns:a16="http://schemas.microsoft.com/office/drawing/2014/main" id="{ADA5D2EF-6C9C-4231-9EAC-9B6BE60848F2}"/>
                  </a:ext>
                </a:extLst>
              </p:cNvPr>
              <p:cNvSpPr>
                <a:spLocks noGrp="1"/>
              </p:cNvSpPr>
              <p:nvPr>
                <p:ph idx="1"/>
              </p:nvPr>
            </p:nvSpPr>
            <p:spPr>
              <a:xfrm>
                <a:off x="457200" y="1285875"/>
                <a:ext cx="8229600" cy="5143844"/>
              </a:xfrm>
            </p:spPr>
            <p:txBody>
              <a:bodyPr>
                <a:spAutoFit/>
              </a:bodyPr>
              <a:lstStyle/>
              <a:p>
                <a:pPr marL="0" indent="0" algn="just">
                  <a:lnSpc>
                    <a:spcPct val="110000"/>
                  </a:lnSpc>
                  <a:spcBef>
                    <a:spcPts val="0"/>
                  </a:spcBef>
                  <a:spcAft>
                    <a:spcPts val="600"/>
                  </a:spcAft>
                  <a:buNone/>
                </a:pPr>
                <a:r>
                  <a:rPr lang="zh-CN" altLang="en-US" sz="2400" b="0" dirty="0"/>
                  <a:t>二</a:t>
                </a:r>
                <a:r>
                  <a:rPr lang="en-US" altLang="zh-CN" sz="2400" b="0" dirty="0"/>
                  <a:t>. </a:t>
                </a:r>
                <a:r>
                  <a:rPr lang="zh-CN" altLang="en-US" sz="2400" b="0" dirty="0"/>
                  <a:t>线性常系数差分方程</a:t>
                </a:r>
                <a:r>
                  <a:rPr lang="en-US" altLang="zh-CN" sz="2400" b="0" dirty="0"/>
                  <a:t>:</a:t>
                </a:r>
              </a:p>
              <a:p>
                <a:pPr algn="just">
                  <a:lnSpc>
                    <a:spcPct val="110000"/>
                  </a:lnSpc>
                  <a:spcBef>
                    <a:spcPts val="0"/>
                  </a:spcBef>
                  <a:spcAft>
                    <a:spcPts val="600"/>
                  </a:spcAft>
                </a:pPr>
                <a:r>
                  <a:rPr lang="zh-CN" altLang="en-US" sz="2400" b="0" dirty="0"/>
                  <a:t>一般的线性常系数差分方程可表示为：</a:t>
                </a:r>
                <a:endParaRPr lang="en-US" altLang="zh-CN" sz="2400" b="0" dirty="0"/>
              </a:p>
              <a:p>
                <a:pPr marL="0" indent="0" algn="just">
                  <a:lnSpc>
                    <a:spcPct val="110000"/>
                  </a:lnSpc>
                  <a:spcBef>
                    <a:spcPts val="0"/>
                  </a:spcBef>
                  <a:spcAft>
                    <a:spcPts val="600"/>
                  </a:spcAft>
                  <a:buNone/>
                </a:pPr>
                <a:endParaRPr lang="en-US" altLang="zh-CN" sz="2400" b="0" dirty="0"/>
              </a:p>
              <a:p>
                <a:pPr marL="0" indent="0" algn="just">
                  <a:lnSpc>
                    <a:spcPct val="110000"/>
                  </a:lnSpc>
                  <a:spcBef>
                    <a:spcPts val="0"/>
                  </a:spcBef>
                  <a:spcAft>
                    <a:spcPts val="600"/>
                  </a:spcAft>
                  <a:buNone/>
                </a:pPr>
                <a:endParaRPr lang="en-US" altLang="zh-CN" sz="2400" b="0" dirty="0"/>
              </a:p>
              <a:p>
                <a:pPr marL="0" indent="0" algn="just">
                  <a:lnSpc>
                    <a:spcPct val="110000"/>
                  </a:lnSpc>
                  <a:spcBef>
                    <a:spcPts val="0"/>
                  </a:spcBef>
                  <a:spcAft>
                    <a:spcPts val="600"/>
                  </a:spcAft>
                  <a:buNone/>
                </a:pPr>
                <a:endParaRPr lang="en-US" altLang="zh-CN" sz="2400" b="0" dirty="0"/>
              </a:p>
              <a:p>
                <a:pPr algn="just">
                  <a:lnSpc>
                    <a:spcPct val="110000"/>
                  </a:lnSpc>
                  <a:spcBef>
                    <a:spcPts val="0"/>
                  </a:spcBef>
                  <a:spcAft>
                    <a:spcPts val="600"/>
                  </a:spcAft>
                </a:pPr>
                <a:r>
                  <a:rPr lang="zh-CN" altLang="en-US" sz="2400" b="0" dirty="0"/>
                  <a:t>其求解过程与微分方程的求解过程相似，可以通过求</a:t>
                </a:r>
                <a:r>
                  <a:rPr lang="zh-CN" altLang="en-US" sz="2400" b="0" dirty="0">
                    <a:solidFill>
                      <a:srgbClr val="FF0000"/>
                    </a:solidFill>
                  </a:rPr>
                  <a:t>齐次解</a:t>
                </a:r>
                <a14:m>
                  <m:oMath xmlns:m="http://schemas.openxmlformats.org/officeDocument/2006/math">
                    <m:sSub>
                      <m:sSubPr>
                        <m:ctrlPr>
                          <a:rPr lang="en-US" sz="2400" b="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𝑦</m:t>
                        </m:r>
                      </m:e>
                      <m:sub>
                        <m:r>
                          <a:rPr lang="en-US" sz="2400" b="0" i="1">
                            <a:solidFill>
                              <a:srgbClr val="000000"/>
                            </a:solidFill>
                            <a:latin typeface="Cambria Math" panose="02040503050406030204" pitchFamily="18" charset="0"/>
                          </a:rPr>
                          <m:t>h</m:t>
                        </m:r>
                      </m:sub>
                    </m:sSub>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𝑛</m:t>
                    </m:r>
                    <m:r>
                      <a:rPr lang="en-US" sz="2400" b="0" i="1">
                        <a:solidFill>
                          <a:srgbClr val="000000"/>
                        </a:solidFill>
                        <a:latin typeface="Cambria Math" panose="02040503050406030204" pitchFamily="18" charset="0"/>
                      </a:rPr>
                      <m:t>]</m:t>
                    </m:r>
                  </m:oMath>
                </a14:m>
                <a:r>
                  <a:rPr lang="zh-CN" altLang="en-US" sz="2400" b="0" dirty="0"/>
                  <a:t>和</a:t>
                </a:r>
                <a:r>
                  <a:rPr lang="zh-CN" altLang="en-US" sz="2400" b="0" dirty="0">
                    <a:solidFill>
                      <a:srgbClr val="FF0000"/>
                    </a:solidFill>
                  </a:rPr>
                  <a:t>特解</a:t>
                </a:r>
                <a14:m>
                  <m:oMath xmlns:m="http://schemas.openxmlformats.org/officeDocument/2006/math">
                    <m:sSub>
                      <m:sSubPr>
                        <m:ctrlPr>
                          <a:rPr lang="en-US" sz="2400" b="0" i="1" smtClean="0">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𝑦</m:t>
                        </m:r>
                      </m:e>
                      <m:sub>
                        <m:r>
                          <a:rPr lang="en-US" sz="2400" b="0" i="1" smtClean="0">
                            <a:solidFill>
                              <a:srgbClr val="000000"/>
                            </a:solidFill>
                            <a:latin typeface="Cambria Math" panose="02040503050406030204" pitchFamily="18" charset="0"/>
                          </a:rPr>
                          <m:t>𝑝</m:t>
                        </m:r>
                      </m:sub>
                    </m:sSub>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a14:m>
                <a:r>
                  <a:rPr lang="zh-CN" altLang="en-US" sz="2400" b="0" dirty="0"/>
                  <a:t>来进行：</a:t>
                </a:r>
                <a:endParaRPr lang="en-US" altLang="zh-CN" sz="2400" b="0" dirty="0"/>
              </a:p>
              <a:p>
                <a:pPr marL="0" indent="0" algn="just">
                  <a:lnSpc>
                    <a:spcPct val="110000"/>
                  </a:lnSpc>
                  <a:spcBef>
                    <a:spcPts val="0"/>
                  </a:spcBef>
                  <a:spcAft>
                    <a:spcPts val="600"/>
                  </a:spcAft>
                  <a:buNone/>
                </a:pPr>
                <a14:m>
                  <m:oMathPara xmlns:m="http://schemas.openxmlformats.org/officeDocument/2006/math">
                    <m:oMathParaPr>
                      <m:jc m:val="centerGroup"/>
                    </m:oMathParaPr>
                    <m:oMath xmlns:m="http://schemas.openxmlformats.org/officeDocument/2006/math">
                      <m:r>
                        <a:rPr lang="en-US" sz="2400" b="0" i="1" smtClean="0">
                          <a:solidFill>
                            <a:srgbClr val="000000"/>
                          </a:solidFill>
                          <a:latin typeface="Cambria Math" panose="02040503050406030204" pitchFamily="18" charset="0"/>
                        </a:rPr>
                        <m:t>𝑦</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sSub>
                        <m:sSubPr>
                          <m:ctrlPr>
                            <a:rPr lang="en-US" sz="2400" b="0" i="1">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𝑦</m:t>
                          </m:r>
                        </m:e>
                        <m:sub>
                          <m:r>
                            <a:rPr lang="en-US" sz="2400" b="0" i="1" smtClean="0">
                              <a:solidFill>
                                <a:srgbClr val="000000"/>
                              </a:solidFill>
                              <a:latin typeface="Cambria Math" panose="02040503050406030204" pitchFamily="18" charset="0"/>
                            </a:rPr>
                            <m:t>h</m:t>
                          </m:r>
                        </m:sub>
                      </m:sSub>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sSub>
                        <m:sSubPr>
                          <m:ctrlPr>
                            <a:rPr lang="en-US" sz="2400" b="0" i="1">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𝑦</m:t>
                          </m:r>
                        </m:e>
                        <m:sub>
                          <m:r>
                            <a:rPr lang="en-US" sz="2400" b="0" i="1" smtClean="0">
                              <a:solidFill>
                                <a:srgbClr val="000000"/>
                              </a:solidFill>
                              <a:latin typeface="Cambria Math" panose="02040503050406030204" pitchFamily="18" charset="0"/>
                            </a:rPr>
                            <m:t>𝑝</m:t>
                          </m:r>
                        </m:sub>
                      </m:sSub>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lang="en-US" altLang="zh-CN" sz="2400" b="0" dirty="0"/>
              </a:p>
              <a:p>
                <a:pPr algn="just">
                  <a:lnSpc>
                    <a:spcPct val="110000"/>
                  </a:lnSpc>
                  <a:spcBef>
                    <a:spcPts val="0"/>
                  </a:spcBef>
                  <a:spcAft>
                    <a:spcPts val="600"/>
                  </a:spcAft>
                </a:pPr>
                <a:r>
                  <a:rPr lang="zh-CN" altLang="en-US" sz="2400" b="0" dirty="0"/>
                  <a:t>要确定齐次解中的待定系数，也需要有一组附加条件。同样地，当线性常系数差分方程满足</a:t>
                </a:r>
                <a:r>
                  <a:rPr lang="zh-CN" altLang="en-US" sz="2400" b="0" dirty="0">
                    <a:solidFill>
                      <a:srgbClr val="FF0000"/>
                    </a:solidFill>
                  </a:rPr>
                  <a:t>初始松弛条件</a:t>
                </a:r>
                <a:r>
                  <a:rPr lang="zh-CN" altLang="en-US" sz="2400" b="0" dirty="0"/>
                  <a:t>时，所描述的系统是</a:t>
                </a:r>
                <a:r>
                  <a:rPr lang="zh-CN" altLang="en-US" sz="2400" b="0" dirty="0">
                    <a:solidFill>
                      <a:srgbClr val="FF0000"/>
                    </a:solidFill>
                  </a:rPr>
                  <a:t>因果</a:t>
                </a:r>
                <a:r>
                  <a:rPr lang="en-US" altLang="zh-CN" sz="2400" b="0" dirty="0">
                    <a:solidFill>
                      <a:srgbClr val="FF0000"/>
                    </a:solidFill>
                  </a:rPr>
                  <a:t>LTI</a:t>
                </a:r>
                <a:r>
                  <a:rPr lang="zh-CN" altLang="en-US" sz="2400" b="0" dirty="0"/>
                  <a:t>的。</a:t>
                </a:r>
              </a:p>
            </p:txBody>
          </p:sp>
        </mc:Choice>
        <mc:Fallback xmlns="">
          <p:sp>
            <p:nvSpPr>
              <p:cNvPr id="14342" name="内容占位符 2">
                <a:extLst>
                  <a:ext uri="{FF2B5EF4-FFF2-40B4-BE49-F238E27FC236}">
                    <a16:creationId xmlns:a16="http://schemas.microsoft.com/office/drawing/2014/main" id="{ADA5D2EF-6C9C-4231-9EAC-9B6BE60848F2}"/>
                  </a:ext>
                </a:extLst>
              </p:cNvPr>
              <p:cNvSpPr>
                <a:spLocks noGrp="1" noRot="1" noChangeAspect="1" noMove="1" noResize="1" noEditPoints="1" noAdjustHandles="1" noChangeArrowheads="1" noChangeShapeType="1" noTextEdit="1"/>
              </p:cNvSpPr>
              <p:nvPr>
                <p:ph idx="1"/>
              </p:nvPr>
            </p:nvSpPr>
            <p:spPr>
              <a:xfrm>
                <a:off x="457200" y="1285875"/>
                <a:ext cx="8229600" cy="5143844"/>
              </a:xfrm>
              <a:blipFill>
                <a:blip r:embed="rId3"/>
                <a:stretch>
                  <a:fillRect l="-1111" t="-711" r="-1111" b="-1777"/>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67100EA2-B432-46DC-9B22-2C6D926F14B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75A606D-CCFB-4942-A4A4-97795960D6CA}"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61</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8" name="Object 6">
                <a:extLst>
                  <a:ext uri="{FF2B5EF4-FFF2-40B4-BE49-F238E27FC236}">
                    <a16:creationId xmlns:a16="http://schemas.microsoft.com/office/drawing/2014/main" id="{014CB3B2-B2F5-49D7-9ABC-CF97C5E5D8D9}"/>
                  </a:ext>
                </a:extLst>
              </p:cNvPr>
              <p:cNvSpPr txBox="1"/>
              <p:nvPr/>
            </p:nvSpPr>
            <p:spPr bwMode="auto">
              <a:xfrm>
                <a:off x="2195736" y="2276872"/>
                <a:ext cx="5112568" cy="1354038"/>
              </a:xfrm>
              <a:prstGeom prst="rect">
                <a:avLst/>
              </a:prstGeom>
              <a:solidFill>
                <a:srgbClr val="CCFFFF"/>
              </a:solidFill>
              <a:ln>
                <a:noFill/>
              </a:ln>
              <a:effectLst/>
            </p:spPr>
            <p:txBody>
              <a:bodyPr>
                <a:noAutofit/>
              </a:bodyPr>
              <a:lstStyle/>
              <a:p>
                <a:pPr/>
                <a14:m>
                  <m:oMathPara xmlns:m="http://schemas.openxmlformats.org/officeDocument/2006/math">
                    <m:oMathParaPr>
                      <m:jc m:val="center"/>
                    </m:oMathParaPr>
                    <m:oMath xmlns:m="http://schemas.openxmlformats.org/officeDocument/2006/math">
                      <m:nary>
                        <m:naryPr>
                          <m:chr m:val="∑"/>
                          <m:ctrlPr>
                            <a:rPr lang="en-US" sz="2800" i="1">
                              <a:solidFill>
                                <a:srgbClr val="FF0000"/>
                              </a:solidFill>
                              <a:latin typeface="Cambria Math" panose="02040503050406030204" pitchFamily="18" charset="0"/>
                            </a:rPr>
                          </m:ctrlPr>
                        </m:naryPr>
                        <m:sub>
                          <m:r>
                            <a:rPr lang="en-US" sz="2800" i="1">
                              <a:solidFill>
                                <a:srgbClr val="FF0000"/>
                              </a:solidFill>
                              <a:latin typeface="Cambria Math" panose="02040503050406030204" pitchFamily="18" charset="0"/>
                            </a:rPr>
                            <m:t>𝑘</m:t>
                          </m:r>
                          <m:r>
                            <a:rPr lang="en-US" sz="2800" i="1">
                              <a:solidFill>
                                <a:srgbClr val="FF0000"/>
                              </a:solidFill>
                              <a:latin typeface="Cambria Math" panose="02040503050406030204" pitchFamily="18" charset="0"/>
                            </a:rPr>
                            <m:t>=0</m:t>
                          </m:r>
                        </m:sub>
                        <m:sup>
                          <m:r>
                            <a:rPr lang="en-US" sz="2800" i="1">
                              <a:solidFill>
                                <a:srgbClr val="FF0000"/>
                              </a:solidFill>
                              <a:latin typeface="Cambria Math" panose="02040503050406030204" pitchFamily="18" charset="0"/>
                            </a:rPr>
                            <m:t>𝑁</m:t>
                          </m:r>
                        </m:sup>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𝑎</m:t>
                              </m:r>
                            </m:e>
                            <m:sub>
                              <m:r>
                                <a:rPr lang="en-US" sz="2800" i="1">
                                  <a:solidFill>
                                    <a:srgbClr val="FF0000"/>
                                  </a:solidFill>
                                  <a:latin typeface="Cambria Math" panose="02040503050406030204" pitchFamily="18" charset="0"/>
                                </a:rPr>
                                <m:t>𝑘</m:t>
                              </m:r>
                            </m:sub>
                          </m:sSub>
                          <m:r>
                            <a:rPr lang="en-US" sz="2800" i="1">
                              <a:solidFill>
                                <a:srgbClr val="FF0000"/>
                              </a:solidFill>
                              <a:latin typeface="Cambria Math" panose="02040503050406030204" pitchFamily="18" charset="0"/>
                            </a:rPr>
                            <m:t>𝑦</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𝑛</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𝑘</m:t>
                          </m:r>
                          <m:r>
                            <a:rPr lang="en-US" sz="2800" i="1">
                              <a:solidFill>
                                <a:srgbClr val="FF0000"/>
                              </a:solidFill>
                              <a:latin typeface="Cambria Math" panose="02040503050406030204" pitchFamily="18" charset="0"/>
                            </a:rPr>
                            <m:t>]</m:t>
                          </m:r>
                        </m:e>
                      </m:nary>
                      <m:r>
                        <a:rPr lang="en-US" sz="2800" i="1">
                          <a:solidFill>
                            <a:srgbClr val="FF0000"/>
                          </a:solidFill>
                          <a:latin typeface="Cambria Math" panose="02040503050406030204" pitchFamily="18" charset="0"/>
                        </a:rPr>
                        <m:t>=</m:t>
                      </m:r>
                      <m:nary>
                        <m:naryPr>
                          <m:chr m:val="∑"/>
                          <m:ctrlPr>
                            <a:rPr lang="en-US" sz="2800" i="1">
                              <a:solidFill>
                                <a:srgbClr val="FF0000"/>
                              </a:solidFill>
                              <a:latin typeface="Cambria Math" panose="02040503050406030204" pitchFamily="18" charset="0"/>
                            </a:rPr>
                          </m:ctrlPr>
                        </m:naryPr>
                        <m:sub>
                          <m:r>
                            <a:rPr lang="en-US" sz="2800" i="1">
                              <a:solidFill>
                                <a:srgbClr val="FF0000"/>
                              </a:solidFill>
                              <a:latin typeface="Cambria Math" panose="02040503050406030204" pitchFamily="18" charset="0"/>
                            </a:rPr>
                            <m:t>𝑘</m:t>
                          </m:r>
                          <m:r>
                            <a:rPr lang="en-US" sz="2800" i="1">
                              <a:solidFill>
                                <a:srgbClr val="FF0000"/>
                              </a:solidFill>
                              <a:latin typeface="Cambria Math" panose="02040503050406030204" pitchFamily="18" charset="0"/>
                            </a:rPr>
                            <m:t>=0</m:t>
                          </m:r>
                        </m:sub>
                        <m:sup>
                          <m:r>
                            <a:rPr lang="en-US" sz="2800" i="1">
                              <a:solidFill>
                                <a:srgbClr val="FF0000"/>
                              </a:solidFill>
                              <a:latin typeface="Cambria Math" panose="02040503050406030204" pitchFamily="18" charset="0"/>
                            </a:rPr>
                            <m:t>𝑀</m:t>
                          </m:r>
                        </m:sup>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𝑏</m:t>
                              </m:r>
                            </m:e>
                            <m:sub>
                              <m:r>
                                <a:rPr lang="en-US" sz="2800" i="1">
                                  <a:solidFill>
                                    <a:srgbClr val="FF0000"/>
                                  </a:solidFill>
                                  <a:latin typeface="Cambria Math" panose="02040503050406030204" pitchFamily="18" charset="0"/>
                                </a:rPr>
                                <m:t>𝑘</m:t>
                              </m:r>
                            </m:sub>
                          </m:sSub>
                          <m:r>
                            <a:rPr lang="en-US" sz="2800" i="1">
                              <a:solidFill>
                                <a:srgbClr val="FF0000"/>
                              </a:solidFill>
                              <a:latin typeface="Cambria Math" panose="02040503050406030204" pitchFamily="18" charset="0"/>
                            </a:rPr>
                            <m:t>𝑥</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𝑛</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𝑘</m:t>
                          </m:r>
                          <m:r>
                            <a:rPr lang="en-US" sz="2800" i="1">
                              <a:solidFill>
                                <a:srgbClr val="FF0000"/>
                              </a:solidFill>
                              <a:latin typeface="Cambria Math" panose="02040503050406030204" pitchFamily="18" charset="0"/>
                            </a:rPr>
                            <m:t>]</m:t>
                          </m:r>
                        </m:e>
                      </m:nary>
                    </m:oMath>
                  </m:oMathPara>
                </a14:m>
                <a:endParaRPr lang="en-US" sz="2800" dirty="0"/>
              </a:p>
            </p:txBody>
          </p:sp>
        </mc:Choice>
        <mc:Fallback xmlns="">
          <p:sp>
            <p:nvSpPr>
              <p:cNvPr id="18" name="Object 6">
                <a:extLst>
                  <a:ext uri="{FF2B5EF4-FFF2-40B4-BE49-F238E27FC236}">
                    <a16:creationId xmlns:a16="http://schemas.microsoft.com/office/drawing/2014/main" id="{014CB3B2-B2F5-49D7-9ABC-CF97C5E5D8D9}"/>
                  </a:ext>
                </a:extLst>
              </p:cNvPr>
              <p:cNvSpPr txBox="1">
                <a:spLocks noRot="1" noChangeAspect="1" noMove="1" noResize="1" noEditPoints="1" noAdjustHandles="1" noChangeArrowheads="1" noChangeShapeType="1" noTextEdit="1"/>
              </p:cNvSpPr>
              <p:nvPr/>
            </p:nvSpPr>
            <p:spPr bwMode="auto">
              <a:xfrm>
                <a:off x="2195736" y="2276872"/>
                <a:ext cx="5112568" cy="1354038"/>
              </a:xfrm>
              <a:prstGeom prst="rect">
                <a:avLst/>
              </a:prstGeom>
              <a:blipFill>
                <a:blip r:embed="rId4"/>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标题 1">
            <a:extLst>
              <a:ext uri="{FF2B5EF4-FFF2-40B4-BE49-F238E27FC236}">
                <a16:creationId xmlns:a16="http://schemas.microsoft.com/office/drawing/2014/main" id="{691FB387-2B1D-4C70-BAC2-8ABCF9E820C4}"/>
              </a:ext>
            </a:extLst>
          </p:cNvPr>
          <p:cNvSpPr>
            <a:spLocks noGrp="1"/>
          </p:cNvSpPr>
          <p:nvPr>
            <p:ph type="title"/>
          </p:nvPr>
        </p:nvSpPr>
        <p:spPr/>
        <p:txBody>
          <a:bodyPr/>
          <a:lstStyle/>
          <a:p>
            <a:r>
              <a:rPr lang="en-US" altLang="zh-CN" sz="3200">
                <a:solidFill>
                  <a:srgbClr val="000000"/>
                </a:solidFill>
              </a:rPr>
              <a:t>2.4 </a:t>
            </a:r>
            <a:r>
              <a:rPr lang="zh-CN" altLang="en-US" sz="3200">
                <a:solidFill>
                  <a:srgbClr val="000000"/>
                </a:solidFill>
              </a:rPr>
              <a:t>用微分和差分方程描述的因果</a:t>
            </a:r>
            <a:r>
              <a:rPr lang="en-US" altLang="zh-CN" sz="3200">
                <a:solidFill>
                  <a:srgbClr val="000000"/>
                </a:solidFill>
              </a:rPr>
              <a:t>LTI</a:t>
            </a:r>
            <a:r>
              <a:rPr lang="zh-CN" altLang="en-US" sz="3200">
                <a:solidFill>
                  <a:srgbClr val="000000"/>
                </a:solidFill>
              </a:rPr>
              <a:t>系统</a:t>
            </a:r>
            <a:endParaRPr lang="zh-CN" altLang="en-US"/>
          </a:p>
        </p:txBody>
      </p:sp>
      <mc:AlternateContent xmlns:mc="http://schemas.openxmlformats.org/markup-compatibility/2006" xmlns:a14="http://schemas.microsoft.com/office/drawing/2010/main">
        <mc:Choice Requires="a14">
          <p:sp>
            <p:nvSpPr>
              <p:cNvPr id="15364" name="内容占位符 2">
                <a:extLst>
                  <a:ext uri="{FF2B5EF4-FFF2-40B4-BE49-F238E27FC236}">
                    <a16:creationId xmlns:a16="http://schemas.microsoft.com/office/drawing/2014/main" id="{E93A086C-88CE-4EF8-ABD2-B84A439B2131}"/>
                  </a:ext>
                </a:extLst>
              </p:cNvPr>
              <p:cNvSpPr>
                <a:spLocks noGrp="1"/>
              </p:cNvSpPr>
              <p:nvPr>
                <p:ph idx="1"/>
              </p:nvPr>
            </p:nvSpPr>
            <p:spPr>
              <a:xfrm>
                <a:off x="457200" y="1285875"/>
                <a:ext cx="8229600" cy="5124223"/>
              </a:xfrm>
            </p:spPr>
            <p:txBody>
              <a:bodyPr>
                <a:spAutoFit/>
              </a:bodyPr>
              <a:lstStyle/>
              <a:p>
                <a:pPr algn="just">
                  <a:lnSpc>
                    <a:spcPct val="110000"/>
                  </a:lnSpc>
                  <a:spcBef>
                    <a:spcPts val="0"/>
                  </a:spcBef>
                  <a:spcAft>
                    <a:spcPts val="600"/>
                  </a:spcAft>
                </a:pPr>
                <a:r>
                  <a:rPr lang="zh-CN" altLang="en-US" sz="2400" b="0" dirty="0"/>
                  <a:t>对于差分方程，还可以将其改写为递归形式：</a:t>
                </a:r>
                <a:endParaRPr lang="en-US" altLang="zh-CN" sz="2400" b="0" dirty="0"/>
              </a:p>
              <a:p>
                <a:pPr marL="0" indent="0" algn="just">
                  <a:lnSpc>
                    <a:spcPct val="110000"/>
                  </a:lnSpc>
                  <a:spcBef>
                    <a:spcPts val="0"/>
                  </a:spcBef>
                  <a:spcAft>
                    <a:spcPts val="600"/>
                  </a:spcAft>
                  <a:buNone/>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rPr>
                        <m:t>𝑦</m:t>
                      </m:r>
                      <m:r>
                        <a:rPr lang="en-US" sz="2400" b="1"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b="1"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0</m:t>
                              </m:r>
                            </m:sub>
                          </m:sSub>
                        </m:den>
                      </m:f>
                      <m:d>
                        <m:dPr>
                          <m:ctrlPr>
                            <a:rPr lang="en-US" sz="2400" i="1" smtClean="0">
                              <a:solidFill>
                                <a:srgbClr val="000000"/>
                              </a:solidFill>
                              <a:latin typeface="Cambria Math" panose="02040503050406030204" pitchFamily="18" charset="0"/>
                            </a:rPr>
                          </m:ctrlPr>
                        </m:dPr>
                        <m:e>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=0</m:t>
                              </m:r>
                            </m:sub>
                            <m:sup>
                              <m:r>
                                <a:rPr lang="en-US" sz="2400" i="1">
                                  <a:solidFill>
                                    <a:srgbClr val="000000"/>
                                  </a:solidFill>
                                  <a:latin typeface="Cambria Math" panose="02040503050406030204" pitchFamily="18" charset="0"/>
                                </a:rPr>
                                <m:t>𝑀</m:t>
                              </m:r>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𝑏</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=1</m:t>
                                  </m:r>
                                </m:sub>
                                <m:sup>
                                  <m:r>
                                    <a:rPr lang="en-US" sz="2400" i="1">
                                      <a:solidFill>
                                        <a:srgbClr val="000000"/>
                                      </a:solidFill>
                                      <a:latin typeface="Cambria Math" panose="02040503050406030204" pitchFamily="18" charset="0"/>
                                    </a:rPr>
                                    <m:t>𝑁</m:t>
                                  </m:r>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e>
                              </m:nary>
                            </m:e>
                          </m:nary>
                        </m:e>
                      </m:d>
                    </m:oMath>
                  </m:oMathPara>
                </a14:m>
                <a:endParaRPr lang="en-US" altLang="zh-CN" sz="2400" b="0" dirty="0"/>
              </a:p>
              <a:p>
                <a:pPr algn="just">
                  <a:lnSpc>
                    <a:spcPct val="110000"/>
                  </a:lnSpc>
                  <a:spcBef>
                    <a:spcPts val="0"/>
                  </a:spcBef>
                  <a:spcAft>
                    <a:spcPts val="600"/>
                  </a:spcAft>
                </a:pPr>
                <a:r>
                  <a:rPr lang="zh-CN" altLang="en-US" sz="2400" b="0" dirty="0"/>
                  <a:t>可见给定输入的情况下要求出</a:t>
                </a:r>
                <a14:m>
                  <m:oMath xmlns:m="http://schemas.openxmlformats.org/officeDocument/2006/math">
                    <m:r>
                      <a:rPr lang="en-US" sz="2400" b="0" i="1" smtClean="0">
                        <a:solidFill>
                          <a:srgbClr val="000000"/>
                        </a:solidFill>
                        <a:latin typeface="Cambria Math" panose="02040503050406030204" pitchFamily="18" charset="0"/>
                      </a:rPr>
                      <m:t>𝑦</m:t>
                    </m:r>
                    <m:r>
                      <a:rPr lang="en-US" sz="2400" b="0" i="1" smtClean="0">
                        <a:solidFill>
                          <a:srgbClr val="000000"/>
                        </a:solidFill>
                        <a:latin typeface="Cambria Math" panose="02040503050406030204" pitchFamily="18" charset="0"/>
                      </a:rPr>
                      <m:t>[0]</m:t>
                    </m:r>
                  </m:oMath>
                </a14:m>
                <a:r>
                  <a:rPr lang="zh-CN" altLang="en-US" sz="2400" b="0" dirty="0"/>
                  <a:t>，要知道</a:t>
                </a:r>
                <a14:m>
                  <m:oMath xmlns:m="http://schemas.openxmlformats.org/officeDocument/2006/math">
                    <m:r>
                      <a:rPr lang="en-US" sz="2400" b="0" i="1">
                        <a:solidFill>
                          <a:srgbClr val="000000"/>
                        </a:solidFill>
                        <a:latin typeface="Cambria Math" panose="02040503050406030204" pitchFamily="18" charset="0"/>
                      </a:rPr>
                      <m:t>𝑦</m:t>
                    </m:r>
                    <m:r>
                      <a:rPr lang="en-US" sz="2400" b="0" i="1">
                        <a:solidFill>
                          <a:srgbClr val="000000"/>
                        </a:solidFill>
                        <a:latin typeface="Cambria Math" panose="02040503050406030204" pitchFamily="18" charset="0"/>
                      </a:rPr>
                      <m:t>[−1]</m:t>
                    </m:r>
                  </m:oMath>
                </a14:m>
                <a:r>
                  <a:rPr lang="en-US" altLang="zh-CN" sz="2400" b="0" dirty="0"/>
                  <a:t>, </a:t>
                </a:r>
                <a14:m>
                  <m:oMath xmlns:m="http://schemas.openxmlformats.org/officeDocument/2006/math">
                    <m:r>
                      <a:rPr lang="en-US" sz="2400" b="0" i="1">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m:t>
                    </m:r>
                  </m:oMath>
                </a14:m>
                <a:r>
                  <a:rPr lang="en-US" altLang="zh-CN" sz="2400" b="0" dirty="0"/>
                  <a:t>, </a:t>
                </a:r>
                <a:r>
                  <a:rPr lang="zh-CN" altLang="en-US" sz="2400" b="0" dirty="0"/>
                  <a:t> </a:t>
                </a:r>
                <a14:m>
                  <m:oMath xmlns:m="http://schemas.openxmlformats.org/officeDocument/2006/math">
                    <m:r>
                      <a:rPr lang="en-US" sz="2400" b="0" i="1">
                        <a:solidFill>
                          <a:srgbClr val="000000"/>
                        </a:solidFill>
                        <a:latin typeface="Cambria Math" panose="02040503050406030204" pitchFamily="18" charset="0"/>
                      </a:rPr>
                      <m:t>𝑦</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𝑁</m:t>
                    </m:r>
                    <m:r>
                      <a:rPr lang="en-US" sz="2400" b="0" i="1">
                        <a:solidFill>
                          <a:srgbClr val="000000"/>
                        </a:solidFill>
                        <a:latin typeface="Cambria Math" panose="02040503050406030204" pitchFamily="18" charset="0"/>
                      </a:rPr>
                      <m:t>]</m:t>
                    </m:r>
                  </m:oMath>
                </a14:m>
                <a:r>
                  <a:rPr lang="zh-CN" altLang="en-US" sz="2400" b="0" dirty="0"/>
                  <a:t>，这就是一组初始条件。进一步，又可以通过</a:t>
                </a:r>
                <a14:m>
                  <m:oMath xmlns:m="http://schemas.openxmlformats.org/officeDocument/2006/math">
                    <m:r>
                      <a:rPr lang="en-US" sz="2400" b="0" i="1">
                        <a:solidFill>
                          <a:srgbClr val="000000"/>
                        </a:solidFill>
                        <a:latin typeface="Cambria Math" panose="02040503050406030204" pitchFamily="18" charset="0"/>
                      </a:rPr>
                      <m:t>𝑦</m:t>
                    </m:r>
                    <m:r>
                      <a:rPr lang="en-US" sz="2400" b="0" i="1">
                        <a:solidFill>
                          <a:srgbClr val="000000"/>
                        </a:solidFill>
                        <a:latin typeface="Cambria Math" panose="02040503050406030204" pitchFamily="18" charset="0"/>
                      </a:rPr>
                      <m:t>[0]</m:t>
                    </m:r>
                  </m:oMath>
                </a14:m>
                <a:r>
                  <a:rPr lang="en-US" altLang="zh-CN" sz="2400" b="0" dirty="0"/>
                  <a:t>, </a:t>
                </a:r>
                <a14:m>
                  <m:oMath xmlns:m="http://schemas.openxmlformats.org/officeDocument/2006/math">
                    <m:r>
                      <a:rPr lang="en-US" sz="2400" b="0" i="1">
                        <a:solidFill>
                          <a:srgbClr val="000000"/>
                        </a:solidFill>
                        <a:latin typeface="Cambria Math" panose="02040503050406030204" pitchFamily="18" charset="0"/>
                      </a:rPr>
                      <m:t>⋯⋯</m:t>
                    </m:r>
                  </m:oMath>
                </a14:m>
                <a:r>
                  <a:rPr lang="en-US" altLang="zh-CN" sz="2400" b="0" dirty="0"/>
                  <a:t>, </a:t>
                </a:r>
                <a14:m>
                  <m:oMath xmlns:m="http://schemas.openxmlformats.org/officeDocument/2006/math">
                    <m:r>
                      <a:rPr lang="en-US" sz="2400" b="0" i="1">
                        <a:solidFill>
                          <a:srgbClr val="000000"/>
                        </a:solidFill>
                        <a:latin typeface="Cambria Math" panose="02040503050406030204" pitchFamily="18" charset="0"/>
                      </a:rPr>
                      <m:t>𝑦</m:t>
                    </m:r>
                    <m:r>
                      <a:rPr lang="en-US" sz="2400" b="0" i="1" smtClean="0">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𝑁</m:t>
                    </m:r>
                    <m:r>
                      <a:rPr lang="en-US" sz="2400" b="0" i="1">
                        <a:solidFill>
                          <a:srgbClr val="000000"/>
                        </a:solidFill>
                        <a:latin typeface="Cambria Math" panose="02040503050406030204" pitchFamily="18" charset="0"/>
                      </a:rPr>
                      <m:t>+1]</m:t>
                    </m:r>
                  </m:oMath>
                </a14:m>
                <a:r>
                  <a:rPr lang="zh-CN" altLang="en-US" sz="2400" b="0" dirty="0"/>
                  <a:t>求得</a:t>
                </a:r>
                <a14:m>
                  <m:oMath xmlns:m="http://schemas.openxmlformats.org/officeDocument/2006/math">
                    <m:r>
                      <a:rPr lang="en-US" sz="2400" b="0" i="1">
                        <a:solidFill>
                          <a:srgbClr val="000000"/>
                        </a:solidFill>
                        <a:latin typeface="Cambria Math" panose="02040503050406030204" pitchFamily="18" charset="0"/>
                      </a:rPr>
                      <m:t>𝑦</m:t>
                    </m:r>
                    <m:r>
                      <a:rPr lang="en-US" sz="2400" b="0" i="1" smtClean="0">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1</m:t>
                    </m:r>
                    <m:r>
                      <a:rPr lang="en-US" sz="2400" b="0" i="1" smtClean="0">
                        <a:solidFill>
                          <a:srgbClr val="000000"/>
                        </a:solidFill>
                        <a:latin typeface="Cambria Math" panose="02040503050406030204" pitchFamily="18" charset="0"/>
                      </a:rPr>
                      <m:t>]</m:t>
                    </m:r>
                  </m:oMath>
                </a14:m>
                <a:r>
                  <a:rPr lang="en-US" altLang="zh-CN" sz="2400" b="0" dirty="0"/>
                  <a:t>, </a:t>
                </a:r>
                <a14:m>
                  <m:oMath xmlns:m="http://schemas.openxmlformats.org/officeDocument/2006/math">
                    <m:r>
                      <a:rPr lang="en-US" sz="2400" b="0" i="1">
                        <a:solidFill>
                          <a:srgbClr val="000000"/>
                        </a:solidFill>
                        <a:latin typeface="Cambria Math" panose="02040503050406030204" pitchFamily="18" charset="0"/>
                      </a:rPr>
                      <m:t>⋯⋯</m:t>
                    </m:r>
                  </m:oMath>
                </a14:m>
                <a:endParaRPr lang="en-US" altLang="zh-CN" sz="2400" b="0" dirty="0"/>
              </a:p>
              <a:p>
                <a:pPr algn="just">
                  <a:lnSpc>
                    <a:spcPct val="110000"/>
                  </a:lnSpc>
                  <a:spcBef>
                    <a:spcPts val="0"/>
                  </a:spcBef>
                  <a:spcAft>
                    <a:spcPts val="600"/>
                  </a:spcAft>
                </a:pPr>
                <a:r>
                  <a:rPr lang="zh-CN" altLang="en-US" sz="2400" b="0" dirty="0"/>
                  <a:t>还可将差分方程改写另一个方向的递归求解形式：</a:t>
                </a:r>
              </a:p>
              <a:p>
                <a:pPr marL="0" indent="0" algn="just">
                  <a:lnSpc>
                    <a:spcPct val="110000"/>
                  </a:lnSpc>
                  <a:spcBef>
                    <a:spcPts val="0"/>
                  </a:spcBef>
                  <a:spcAft>
                    <a:spcPts val="600"/>
                  </a:spcAft>
                  <a:buNone/>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rPr>
                        <m:t>𝑦</m:t>
                      </m:r>
                      <m:r>
                        <a:rPr lang="en-US" sz="2400" b="1"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𝑁</m:t>
                      </m:r>
                      <m:r>
                        <a:rPr lang="en-US" sz="2400" b="1"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𝑁</m:t>
                              </m:r>
                            </m:sub>
                          </m:sSub>
                        </m:den>
                      </m:f>
                      <m:d>
                        <m:dPr>
                          <m:ctrlPr>
                            <a:rPr lang="en-US" sz="2400" i="1" smtClean="0">
                              <a:solidFill>
                                <a:srgbClr val="000000"/>
                              </a:solidFill>
                              <a:latin typeface="Cambria Math" panose="02040503050406030204" pitchFamily="18" charset="0"/>
                            </a:rPr>
                          </m:ctrlPr>
                        </m:dPr>
                        <m:e>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=0</m:t>
                              </m:r>
                            </m:sub>
                            <m:sup>
                              <m:r>
                                <a:rPr lang="en-US" sz="2400" i="1">
                                  <a:solidFill>
                                    <a:srgbClr val="000000"/>
                                  </a:solidFill>
                                  <a:latin typeface="Cambria Math" panose="02040503050406030204" pitchFamily="18" charset="0"/>
                                </a:rPr>
                                <m:t>𝑀</m:t>
                              </m:r>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𝑏</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e>
                          </m:nary>
                          <m: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=0</m:t>
                              </m:r>
                            </m:sub>
                            <m:sup>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−1</m:t>
                              </m:r>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e>
                          </m:nary>
                        </m:e>
                      </m:d>
                    </m:oMath>
                  </m:oMathPara>
                </a14:m>
                <a:endParaRPr lang="zh-CN" altLang="en-US" sz="2400" b="0" dirty="0"/>
              </a:p>
            </p:txBody>
          </p:sp>
        </mc:Choice>
        <mc:Fallback xmlns="">
          <p:sp>
            <p:nvSpPr>
              <p:cNvPr id="15364" name="内容占位符 2">
                <a:extLst>
                  <a:ext uri="{FF2B5EF4-FFF2-40B4-BE49-F238E27FC236}">
                    <a16:creationId xmlns:a16="http://schemas.microsoft.com/office/drawing/2014/main" id="{E93A086C-88CE-4EF8-ABD2-B84A439B2131}"/>
                  </a:ext>
                </a:extLst>
              </p:cNvPr>
              <p:cNvSpPr>
                <a:spLocks noGrp="1" noRot="1" noChangeAspect="1" noMove="1" noResize="1" noEditPoints="1" noAdjustHandles="1" noChangeArrowheads="1" noChangeShapeType="1" noTextEdit="1"/>
              </p:cNvSpPr>
              <p:nvPr>
                <p:ph idx="1"/>
              </p:nvPr>
            </p:nvSpPr>
            <p:spPr>
              <a:xfrm>
                <a:off x="457200" y="1285875"/>
                <a:ext cx="8229600" cy="5124223"/>
              </a:xfrm>
              <a:blipFill>
                <a:blip r:embed="rId2"/>
                <a:stretch>
                  <a:fillRect l="-963" t="-476" r="-1111"/>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C0E037D1-8BA0-4C3D-B527-5D6DDD69E74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0CF81E0-ECCE-4E7E-90D6-94A89C4EC7C1}"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62</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标题 1">
            <a:extLst>
              <a:ext uri="{FF2B5EF4-FFF2-40B4-BE49-F238E27FC236}">
                <a16:creationId xmlns:a16="http://schemas.microsoft.com/office/drawing/2014/main" id="{691FB387-2B1D-4C70-BAC2-8ABCF9E820C4}"/>
              </a:ext>
            </a:extLst>
          </p:cNvPr>
          <p:cNvSpPr>
            <a:spLocks noGrp="1"/>
          </p:cNvSpPr>
          <p:nvPr>
            <p:ph type="title"/>
          </p:nvPr>
        </p:nvSpPr>
        <p:spPr/>
        <p:txBody>
          <a:bodyPr/>
          <a:lstStyle/>
          <a:p>
            <a:r>
              <a:rPr lang="en-US" altLang="zh-CN" sz="3200">
                <a:solidFill>
                  <a:srgbClr val="000000"/>
                </a:solidFill>
              </a:rPr>
              <a:t>2.4 </a:t>
            </a:r>
            <a:r>
              <a:rPr lang="zh-CN" altLang="en-US" sz="3200">
                <a:solidFill>
                  <a:srgbClr val="000000"/>
                </a:solidFill>
              </a:rPr>
              <a:t>用微分和差分方程描述的因果</a:t>
            </a:r>
            <a:r>
              <a:rPr lang="en-US" altLang="zh-CN" sz="3200">
                <a:solidFill>
                  <a:srgbClr val="000000"/>
                </a:solidFill>
              </a:rPr>
              <a:t>LTI</a:t>
            </a:r>
            <a:r>
              <a:rPr lang="zh-CN" altLang="en-US" sz="3200">
                <a:solidFill>
                  <a:srgbClr val="000000"/>
                </a:solidFill>
              </a:rPr>
              <a:t>系统</a:t>
            </a:r>
            <a:endParaRPr lang="zh-CN" altLang="en-US"/>
          </a:p>
        </p:txBody>
      </p:sp>
      <mc:AlternateContent xmlns:mc="http://schemas.openxmlformats.org/markup-compatibility/2006">
        <mc:Choice xmlns:a14="http://schemas.microsoft.com/office/drawing/2010/main" Requires="a14">
          <p:sp>
            <p:nvSpPr>
              <p:cNvPr id="15364" name="内容占位符 2">
                <a:extLst>
                  <a:ext uri="{FF2B5EF4-FFF2-40B4-BE49-F238E27FC236}">
                    <a16:creationId xmlns:a16="http://schemas.microsoft.com/office/drawing/2014/main" id="{E93A086C-88CE-4EF8-ABD2-B84A439B2131}"/>
                  </a:ext>
                </a:extLst>
              </p:cNvPr>
              <p:cNvSpPr>
                <a:spLocks noGrp="1"/>
              </p:cNvSpPr>
              <p:nvPr>
                <p:ph idx="1"/>
              </p:nvPr>
            </p:nvSpPr>
            <p:spPr>
              <a:xfrm>
                <a:off x="457200" y="1285875"/>
                <a:ext cx="8229600" cy="3436390"/>
              </a:xfrm>
            </p:spPr>
            <p:txBody>
              <a:bodyPr>
                <a:spAutoFit/>
              </a:bodyPr>
              <a:lstStyle/>
              <a:p>
                <a:pPr algn="just">
                  <a:lnSpc>
                    <a:spcPct val="110000"/>
                  </a:lnSpc>
                  <a:spcBef>
                    <a:spcPts val="0"/>
                  </a:spcBef>
                  <a:spcAft>
                    <a:spcPts val="600"/>
                  </a:spcAft>
                </a:pPr>
                <a:r>
                  <a:rPr lang="zh-CN" altLang="en-US" sz="2400" b="0" dirty="0" smtClean="0"/>
                  <a:t>考虑如下差分方程：</a:t>
                </a:r>
                <a:endParaRPr lang="en-US" altLang="zh-CN" sz="2400" b="0" dirty="0" smtClean="0"/>
              </a:p>
              <a:p>
                <a:pPr marL="0" indent="0" algn="just">
                  <a:lnSpc>
                    <a:spcPct val="110000"/>
                  </a:lnSpc>
                  <a:spcBef>
                    <a:spcPts val="0"/>
                  </a:spcBef>
                  <a:spcAft>
                    <a:spcPts val="600"/>
                  </a:spcAft>
                  <a:buNone/>
                </a:pPr>
                <a14:m>
                  <m:oMathPara xmlns:m="http://schemas.openxmlformats.org/officeDocument/2006/math">
                    <m:oMathParaPr>
                      <m:jc m:val="centerGroup"/>
                    </m:oMathParaPr>
                    <m:oMath xmlns:m="http://schemas.openxmlformats.org/officeDocument/2006/math">
                      <m:r>
                        <a:rPr lang="en-US" altLang="zh-CN" sz="2400" i="1">
                          <a:solidFill>
                            <a:srgbClr val="000000"/>
                          </a:solidFill>
                          <a:latin typeface="Cambria Math" panose="02040503050406030204" pitchFamily="18" charset="0"/>
                        </a:rPr>
                        <m:t>𝑦</m:t>
                      </m:r>
                      <m:d>
                        <m:dPr>
                          <m:begChr m:val="["/>
                          <m:endChr m:val="]"/>
                          <m:ctrlPr>
                            <a:rPr lang="en-US" altLang="zh-CN"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𝑛</m:t>
                          </m:r>
                        </m:e>
                      </m:d>
                      <m:r>
                        <a:rPr lang="en-US" altLang="zh-CN" sz="2400" b="1" i="1" smtClean="0">
                          <a:solidFill>
                            <a:srgbClr val="000000"/>
                          </a:solidFill>
                          <a:latin typeface="Cambria Math" panose="02040503050406030204" pitchFamily="18" charset="0"/>
                        </a:rPr>
                        <m:t>−</m:t>
                      </m:r>
                      <m:f>
                        <m:fPr>
                          <m:ctrlPr>
                            <a:rPr lang="en-US" altLang="zh-CN" sz="2400" i="1">
                              <a:solidFill>
                                <a:srgbClr val="000000"/>
                              </a:solidFill>
                              <a:latin typeface="Cambria Math" panose="02040503050406030204" pitchFamily="18" charset="0"/>
                            </a:rPr>
                          </m:ctrlPr>
                        </m:fPr>
                        <m:num>
                          <m:r>
                            <a:rPr lang="en-US" altLang="zh-CN" sz="2400" i="1">
                              <a:solidFill>
                                <a:srgbClr val="000000"/>
                              </a:solidFill>
                              <a:latin typeface="Cambria Math" panose="02040503050406030204" pitchFamily="18" charset="0"/>
                            </a:rPr>
                            <m:t>1</m:t>
                          </m:r>
                        </m:num>
                        <m:den>
                          <m:r>
                            <a:rPr lang="en-US" altLang="zh-CN" sz="2400" b="1" i="1" smtClean="0">
                              <a:solidFill>
                                <a:srgbClr val="000000"/>
                              </a:solidFill>
                              <a:latin typeface="Cambria Math" panose="02040503050406030204" pitchFamily="18" charset="0"/>
                            </a:rPr>
                            <m:t>𝟐</m:t>
                          </m:r>
                        </m:den>
                      </m:f>
                      <m:r>
                        <a:rPr lang="en-US" altLang="zh-CN" sz="2400" i="1">
                          <a:solidFill>
                            <a:srgbClr val="000000"/>
                          </a:solidFill>
                          <a:latin typeface="Cambria Math" panose="02040503050406030204" pitchFamily="18" charset="0"/>
                        </a:rPr>
                        <m:t>𝑦</m:t>
                      </m:r>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𝑛</m:t>
                      </m:r>
                      <m:r>
                        <a:rPr lang="en-US" altLang="zh-CN" sz="2400" i="1">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𝟏</m:t>
                      </m:r>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𝑥</m:t>
                      </m:r>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𝑛</m:t>
                      </m:r>
                      <m:r>
                        <a:rPr lang="en-US" altLang="zh-CN" sz="2400" i="1">
                          <a:solidFill>
                            <a:srgbClr val="000000"/>
                          </a:solidFill>
                          <a:latin typeface="Cambria Math" panose="02040503050406030204" pitchFamily="18" charset="0"/>
                        </a:rPr>
                        <m:t>]</m:t>
                      </m:r>
                    </m:oMath>
                  </m:oMathPara>
                </a14:m>
                <a:endParaRPr lang="en-US" altLang="zh-CN" sz="2400" b="0" dirty="0" smtClean="0"/>
              </a:p>
              <a:p>
                <a:pPr marL="0" indent="0" algn="just">
                  <a:lnSpc>
                    <a:spcPct val="110000"/>
                  </a:lnSpc>
                  <a:spcBef>
                    <a:spcPts val="0"/>
                  </a:spcBef>
                  <a:spcAft>
                    <a:spcPts val="600"/>
                  </a:spcAft>
                  <a:buNone/>
                </a:pPr>
                <a:r>
                  <a:rPr lang="zh-CN" altLang="en-US" sz="2400" b="0" dirty="0" smtClean="0"/>
                  <a:t>可以表示为：</a:t>
                </a:r>
                <a:endParaRPr lang="en-US" altLang="zh-CN" sz="2400" b="0" dirty="0"/>
              </a:p>
              <a:p>
                <a:pPr marL="0" indent="0" algn="ctr">
                  <a:lnSpc>
                    <a:spcPct val="110000"/>
                  </a:lnSpc>
                  <a:spcBef>
                    <a:spcPts val="0"/>
                  </a:spcBef>
                  <a:spcAft>
                    <a:spcPts val="600"/>
                  </a:spcAft>
                  <a:buNone/>
                </a:pPr>
                <a14:m>
                  <m:oMath xmlns:m="http://schemas.openxmlformats.org/officeDocument/2006/math">
                    <m:r>
                      <a:rPr lang="en-US" altLang="zh-CN" sz="2400" i="1">
                        <a:solidFill>
                          <a:srgbClr val="000000"/>
                        </a:solidFill>
                        <a:latin typeface="Cambria Math" panose="02040503050406030204" pitchFamily="18" charset="0"/>
                      </a:rPr>
                      <m:t>𝑦</m:t>
                    </m:r>
                    <m:d>
                      <m:dPr>
                        <m:begChr m:val="["/>
                        <m:endChr m:val="]"/>
                        <m:ctrlPr>
                          <a:rPr lang="en-US" altLang="zh-CN"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𝑛</m:t>
                        </m:r>
                      </m:e>
                    </m:d>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𝑥</m:t>
                    </m:r>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𝑛</m:t>
                    </m:r>
                    <m:r>
                      <a:rPr lang="en-US" altLang="zh-CN" sz="2400" i="1">
                        <a:solidFill>
                          <a:srgbClr val="000000"/>
                        </a:solidFill>
                        <a:latin typeface="Cambria Math" panose="02040503050406030204" pitchFamily="18" charset="0"/>
                      </a:rPr>
                      <m:t>]</m:t>
                    </m:r>
                  </m:oMath>
                </a14:m>
                <a:r>
                  <a:rPr lang="en-US" altLang="zh-CN" sz="2400" dirty="0">
                    <a:solidFill>
                      <a:srgbClr val="000000"/>
                    </a:solidFill>
                  </a:rPr>
                  <a:t> </a:t>
                </a:r>
                <a14:m>
                  <m:oMath xmlns:m="http://schemas.openxmlformats.org/officeDocument/2006/math">
                    <m:r>
                      <a:rPr lang="en-US" altLang="zh-CN" sz="2400" i="1" dirty="0">
                        <a:solidFill>
                          <a:srgbClr val="000000"/>
                        </a:solidFill>
                        <a:latin typeface="Cambria Math" panose="02040503050406030204" pitchFamily="18" charset="0"/>
                      </a:rPr>
                      <m:t>+</m:t>
                    </m:r>
                    <m:f>
                      <m:fPr>
                        <m:ctrlPr>
                          <a:rPr lang="en-US" altLang="zh-CN" sz="2400" i="1">
                            <a:solidFill>
                              <a:srgbClr val="000000"/>
                            </a:solidFill>
                            <a:latin typeface="Cambria Math" panose="02040503050406030204" pitchFamily="18" charset="0"/>
                          </a:rPr>
                        </m:ctrlPr>
                      </m:fPr>
                      <m:num>
                        <m:r>
                          <a:rPr lang="en-US" altLang="zh-CN" sz="2400" i="1">
                            <a:solidFill>
                              <a:srgbClr val="000000"/>
                            </a:solidFill>
                            <a:latin typeface="Cambria Math" panose="02040503050406030204" pitchFamily="18" charset="0"/>
                          </a:rPr>
                          <m:t>1</m:t>
                        </m:r>
                      </m:num>
                      <m:den>
                        <m:r>
                          <a:rPr lang="en-US" altLang="zh-CN" sz="2400" i="1">
                            <a:solidFill>
                              <a:srgbClr val="000000"/>
                            </a:solidFill>
                            <a:latin typeface="Cambria Math" panose="02040503050406030204" pitchFamily="18" charset="0"/>
                          </a:rPr>
                          <m:t>𝟐</m:t>
                        </m:r>
                      </m:den>
                    </m:f>
                    <m:r>
                      <a:rPr lang="en-US" altLang="zh-CN" sz="2400" i="1">
                        <a:solidFill>
                          <a:srgbClr val="000000"/>
                        </a:solidFill>
                        <a:latin typeface="Cambria Math" panose="02040503050406030204" pitchFamily="18" charset="0"/>
                      </a:rPr>
                      <m:t>𝑦</m:t>
                    </m:r>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𝑛</m:t>
                    </m:r>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𝟏</m:t>
                    </m:r>
                    <m:r>
                      <a:rPr lang="en-US" altLang="zh-CN" sz="2400" i="1">
                        <a:solidFill>
                          <a:srgbClr val="000000"/>
                        </a:solidFill>
                        <a:latin typeface="Cambria Math" panose="02040503050406030204" pitchFamily="18" charset="0"/>
                      </a:rPr>
                      <m:t>]</m:t>
                    </m:r>
                  </m:oMath>
                </a14:m>
                <a:r>
                  <a:rPr lang="en-US" altLang="zh-CN" sz="2400" dirty="0">
                    <a:solidFill>
                      <a:srgbClr val="000000"/>
                    </a:solidFill>
                  </a:rPr>
                  <a:t> </a:t>
                </a:r>
                <a:endParaRPr lang="en-US" altLang="zh-CN" sz="2400" b="0" dirty="0" smtClean="0"/>
              </a:p>
              <a:p>
                <a:pPr marL="0" indent="0" algn="just">
                  <a:lnSpc>
                    <a:spcPct val="110000"/>
                  </a:lnSpc>
                  <a:spcBef>
                    <a:spcPts val="0"/>
                  </a:spcBef>
                  <a:spcAft>
                    <a:spcPts val="600"/>
                  </a:spcAft>
                  <a:buNone/>
                </a:pPr>
                <a:endParaRPr lang="en-US" altLang="zh-CN" sz="2400" b="0" dirty="0"/>
              </a:p>
              <a:p>
                <a:pPr marL="0" indent="0" algn="just">
                  <a:lnSpc>
                    <a:spcPct val="110000"/>
                  </a:lnSpc>
                  <a:spcBef>
                    <a:spcPts val="0"/>
                  </a:spcBef>
                  <a:spcAft>
                    <a:spcPts val="600"/>
                  </a:spcAft>
                  <a:buNone/>
                </a:pPr>
                <a:r>
                  <a:rPr lang="zh-CN" altLang="en-US" sz="2400" b="0" dirty="0" smtClean="0"/>
                  <a:t>如何求出系统的单位脉冲响应</a:t>
                </a:r>
                <a14:m>
                  <m:oMath xmlns:m="http://schemas.openxmlformats.org/officeDocument/2006/math">
                    <m:r>
                      <m:rPr>
                        <m:sty m:val="p"/>
                      </m:rPr>
                      <a:rPr lang="en-US" altLang="zh-CN" sz="2400" b="0" i="1" dirty="0">
                        <a:solidFill>
                          <a:srgbClr val="000000"/>
                        </a:solidFill>
                        <a:latin typeface="Cambria Math" panose="02040503050406030204" pitchFamily="18" charset="0"/>
                      </a:rPr>
                      <m:t>h</m:t>
                    </m:r>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𝑛</m:t>
                    </m:r>
                    <m:r>
                      <a:rPr lang="en-US" altLang="zh-CN" sz="2400" i="1">
                        <a:solidFill>
                          <a:srgbClr val="000000"/>
                        </a:solidFill>
                        <a:latin typeface="Cambria Math" panose="02040503050406030204" pitchFamily="18" charset="0"/>
                      </a:rPr>
                      <m:t>]</m:t>
                    </m:r>
                  </m:oMath>
                </a14:m>
                <a:r>
                  <a:rPr lang="en-US" altLang="zh-CN" sz="2400" dirty="0">
                    <a:solidFill>
                      <a:srgbClr val="000000"/>
                    </a:solidFill>
                  </a:rPr>
                  <a:t> </a:t>
                </a:r>
                <a:r>
                  <a:rPr lang="zh-CN" altLang="en-US" sz="2400" dirty="0" smtClean="0">
                    <a:solidFill>
                      <a:srgbClr val="000000"/>
                    </a:solidFill>
                  </a:rPr>
                  <a:t>？</a:t>
                </a:r>
                <a:endParaRPr lang="zh-CN" altLang="en-US" sz="2400" b="0" dirty="0"/>
              </a:p>
            </p:txBody>
          </p:sp>
        </mc:Choice>
        <mc:Fallback>
          <p:sp>
            <p:nvSpPr>
              <p:cNvPr id="15364" name="内容占位符 2">
                <a:extLst>
                  <a:ext uri="{FF2B5EF4-FFF2-40B4-BE49-F238E27FC236}">
                    <a16:creationId xmlns:a16="http://schemas.microsoft.com/office/drawing/2014/main" id="{E93A086C-88CE-4EF8-ABD2-B84A439B2131}"/>
                  </a:ext>
                </a:extLst>
              </p:cNvPr>
              <p:cNvSpPr>
                <a:spLocks noGrp="1" noRot="1" noChangeAspect="1" noMove="1" noResize="1" noEditPoints="1" noAdjustHandles="1" noChangeArrowheads="1" noChangeShapeType="1" noTextEdit="1"/>
              </p:cNvSpPr>
              <p:nvPr>
                <p:ph idx="1"/>
              </p:nvPr>
            </p:nvSpPr>
            <p:spPr>
              <a:xfrm>
                <a:off x="457200" y="1285875"/>
                <a:ext cx="8229600" cy="3436390"/>
              </a:xfrm>
              <a:blipFill>
                <a:blip r:embed="rId2"/>
                <a:stretch>
                  <a:fillRect l="-1111" t="-709" b="-2660"/>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C0E037D1-8BA0-4C3D-B527-5D6DDD69E74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0CF81E0-ECCE-4E7E-90D6-94A89C4EC7C1}"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63</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90793919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标题 1">
            <a:extLst>
              <a:ext uri="{FF2B5EF4-FFF2-40B4-BE49-F238E27FC236}">
                <a16:creationId xmlns:a16="http://schemas.microsoft.com/office/drawing/2014/main" id="{691FB387-2B1D-4C70-BAC2-8ABCF9E820C4}"/>
              </a:ext>
            </a:extLst>
          </p:cNvPr>
          <p:cNvSpPr>
            <a:spLocks noGrp="1"/>
          </p:cNvSpPr>
          <p:nvPr>
            <p:ph type="title"/>
          </p:nvPr>
        </p:nvSpPr>
        <p:spPr/>
        <p:txBody>
          <a:bodyPr/>
          <a:lstStyle/>
          <a:p>
            <a:r>
              <a:rPr lang="en-US" altLang="zh-CN" sz="3200">
                <a:solidFill>
                  <a:srgbClr val="000000"/>
                </a:solidFill>
              </a:rPr>
              <a:t>2.4 </a:t>
            </a:r>
            <a:r>
              <a:rPr lang="zh-CN" altLang="en-US" sz="3200">
                <a:solidFill>
                  <a:srgbClr val="000000"/>
                </a:solidFill>
              </a:rPr>
              <a:t>用微分和差分方程描述的因果</a:t>
            </a:r>
            <a:r>
              <a:rPr lang="en-US" altLang="zh-CN" sz="3200">
                <a:solidFill>
                  <a:srgbClr val="000000"/>
                </a:solidFill>
              </a:rPr>
              <a:t>LTI</a:t>
            </a:r>
            <a:r>
              <a:rPr lang="zh-CN" altLang="en-US" sz="3200">
                <a:solidFill>
                  <a:srgbClr val="000000"/>
                </a:solidFill>
              </a:rPr>
              <a:t>系统</a:t>
            </a:r>
            <a:endParaRPr lang="zh-CN" altLang="en-US"/>
          </a:p>
        </p:txBody>
      </p:sp>
      <mc:AlternateContent xmlns:mc="http://schemas.openxmlformats.org/markup-compatibility/2006">
        <mc:Choice xmlns:a14="http://schemas.microsoft.com/office/drawing/2010/main" Requires="a14">
          <p:sp>
            <p:nvSpPr>
              <p:cNvPr id="15364" name="内容占位符 2">
                <a:extLst>
                  <a:ext uri="{FF2B5EF4-FFF2-40B4-BE49-F238E27FC236}">
                    <a16:creationId xmlns:a16="http://schemas.microsoft.com/office/drawing/2014/main" id="{E93A086C-88CE-4EF8-ABD2-B84A439B2131}"/>
                  </a:ext>
                </a:extLst>
              </p:cNvPr>
              <p:cNvSpPr>
                <a:spLocks noGrp="1"/>
              </p:cNvSpPr>
              <p:nvPr>
                <p:ph idx="1"/>
              </p:nvPr>
            </p:nvSpPr>
            <p:spPr>
              <a:xfrm>
                <a:off x="457200" y="1285875"/>
                <a:ext cx="8229600" cy="5033942"/>
              </a:xfrm>
            </p:spPr>
            <p:txBody>
              <a:bodyPr>
                <a:spAutoFit/>
              </a:bodyPr>
              <a:lstStyle/>
              <a:p>
                <a:pPr algn="just">
                  <a:lnSpc>
                    <a:spcPct val="110000"/>
                  </a:lnSpc>
                  <a:spcBef>
                    <a:spcPts val="0"/>
                  </a:spcBef>
                  <a:spcAft>
                    <a:spcPts val="600"/>
                  </a:spcAft>
                </a:pPr>
                <a:r>
                  <a:rPr lang="zh-CN" altLang="en-US" sz="2400" b="0" dirty="0" smtClean="0"/>
                  <a:t>假设满足初始松弛的条件，并考虑</a:t>
                </a:r>
                <a:endParaRPr lang="en-US" altLang="zh-CN" sz="2400" b="0" dirty="0" smtClean="0"/>
              </a:p>
              <a:p>
                <a:pPr marL="0" indent="0" algn="just">
                  <a:lnSpc>
                    <a:spcPct val="110000"/>
                  </a:lnSpc>
                  <a:spcBef>
                    <a:spcPts val="0"/>
                  </a:spcBef>
                  <a:spcAft>
                    <a:spcPts val="600"/>
                  </a:spcAft>
                  <a:buNone/>
                </a:pPr>
                <a14:m>
                  <m:oMathPara xmlns:m="http://schemas.openxmlformats.org/officeDocument/2006/math">
                    <m:oMathParaPr>
                      <m:jc m:val="centerGroup"/>
                    </m:oMathParaPr>
                    <m:oMath xmlns:m="http://schemas.openxmlformats.org/officeDocument/2006/math">
                      <m:r>
                        <a:rPr lang="en-US" altLang="zh-CN" sz="2400" i="1">
                          <a:solidFill>
                            <a:srgbClr val="000000"/>
                          </a:solidFill>
                          <a:latin typeface="Cambria Math" panose="02040503050406030204" pitchFamily="18" charset="0"/>
                        </a:rPr>
                        <m:t>𝑥</m:t>
                      </m:r>
                      <m:d>
                        <m:dPr>
                          <m:begChr m:val="["/>
                          <m:endChr m:val="]"/>
                          <m:ctrlPr>
                            <a:rPr lang="en-US" altLang="zh-CN"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𝑛</m:t>
                          </m:r>
                        </m:e>
                      </m:d>
                      <m:r>
                        <a:rPr lang="en-US" altLang="zh-CN" sz="2400" b="1" i="1" smtClean="0">
                          <a:solidFill>
                            <a:srgbClr val="000000"/>
                          </a:solidFill>
                          <a:latin typeface="Cambria Math" panose="02040503050406030204" pitchFamily="18" charset="0"/>
                        </a:rPr>
                        <m:t>=</m:t>
                      </m:r>
                      <m:r>
                        <m:rPr>
                          <m:sty m:val="p"/>
                        </m:rPr>
                        <a:rPr lang="en-US" altLang="zh-CN" sz="2400" i="1">
                          <a:solidFill>
                            <a:srgbClr val="000000"/>
                          </a:solidFill>
                          <a:latin typeface="Cambria Math" panose="02040503050406030204" pitchFamily="18" charset="0"/>
                        </a:rPr>
                        <m:t>K</m:t>
                      </m:r>
                      <m:r>
                        <m:rPr>
                          <m:sty m:val="p"/>
                        </m:rPr>
                        <a:rPr lang="el-GR" altLang="zh-CN" sz="2400" i="1" smtClean="0">
                          <a:solidFill>
                            <a:srgbClr val="000000"/>
                          </a:solidFill>
                          <a:latin typeface="Cambria Math" panose="02040503050406030204" pitchFamily="18" charset="0"/>
                        </a:rPr>
                        <m:t>δ</m:t>
                      </m:r>
                      <m:d>
                        <m:dPr>
                          <m:begChr m:val="["/>
                          <m:endChr m:val="]"/>
                          <m:ctrlPr>
                            <a:rPr lang="en-US" altLang="zh-CN"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𝑛</m:t>
                          </m:r>
                        </m:e>
                      </m:d>
                    </m:oMath>
                  </m:oMathPara>
                </a14:m>
                <a:endParaRPr lang="en-US" altLang="zh-CN" sz="2400" b="0" dirty="0" smtClean="0"/>
              </a:p>
              <a:p>
                <a:pPr marL="0" indent="0" algn="just">
                  <a:lnSpc>
                    <a:spcPct val="110000"/>
                  </a:lnSpc>
                  <a:spcBef>
                    <a:spcPts val="0"/>
                  </a:spcBef>
                  <a:spcAft>
                    <a:spcPts val="600"/>
                  </a:spcAft>
                  <a:buNone/>
                </a:pPr>
                <a:r>
                  <a:rPr lang="zh-CN" altLang="en-US" sz="2400" b="0" dirty="0" smtClean="0"/>
                  <a:t>因为</a:t>
                </a:r>
                <a:r>
                  <a:rPr lang="en-US" altLang="zh-CN" sz="2400" b="0" dirty="0" smtClean="0"/>
                  <a:t>n</a:t>
                </a:r>
                <a14:m>
                  <m:oMath xmlns:m="http://schemas.openxmlformats.org/officeDocument/2006/math">
                    <m:r>
                      <a:rPr lang="en-US" altLang="zh-CN" sz="2400" i="1" smtClean="0">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𝟏</m:t>
                    </m:r>
                    <m:r>
                      <a:rPr lang="zh-CN" altLang="en-US" sz="2400" i="1">
                        <a:solidFill>
                          <a:srgbClr val="000000"/>
                        </a:solidFill>
                        <a:latin typeface="Cambria Math" panose="02040503050406030204" pitchFamily="18" charset="0"/>
                      </a:rPr>
                      <m:t>时</m:t>
                    </m:r>
                    <m:r>
                      <a:rPr lang="en-US" altLang="zh-CN" sz="2400" b="1" i="1" smtClean="0">
                        <a:solidFill>
                          <a:srgbClr val="000000"/>
                        </a:solidFill>
                        <a:latin typeface="Cambria Math" panose="02040503050406030204" pitchFamily="18" charset="0"/>
                      </a:rPr>
                      <m:t>,</m:t>
                    </m:r>
                    <m:r>
                      <a:rPr lang="en-US" altLang="zh-CN" sz="2400" i="1" smtClean="0">
                        <a:solidFill>
                          <a:srgbClr val="000000"/>
                        </a:solidFill>
                        <a:latin typeface="Cambria Math" panose="02040503050406030204" pitchFamily="18" charset="0"/>
                      </a:rPr>
                      <m:t> </m:t>
                    </m:r>
                    <m:r>
                      <a:rPr lang="en-US" altLang="zh-CN" sz="2400" b="1" i="1" smtClean="0">
                        <a:solidFill>
                          <a:srgbClr val="000000"/>
                        </a:solidFill>
                        <a:latin typeface="Cambria Math" panose="02040503050406030204" pitchFamily="18" charset="0"/>
                      </a:rPr>
                      <m:t> </m:t>
                    </m:r>
                    <m:r>
                      <a:rPr lang="en-US" altLang="zh-CN" sz="2400" i="1">
                        <a:solidFill>
                          <a:srgbClr val="000000"/>
                        </a:solidFill>
                        <a:latin typeface="Cambria Math" panose="02040503050406030204" pitchFamily="18" charset="0"/>
                      </a:rPr>
                      <m:t>𝑥</m:t>
                    </m:r>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𝑛</m:t>
                    </m:r>
                    <m:r>
                      <a:rPr lang="en-US" altLang="zh-CN" sz="2400" i="1">
                        <a:solidFill>
                          <a:srgbClr val="000000"/>
                        </a:solidFill>
                        <a:latin typeface="Cambria Math" panose="02040503050406030204" pitchFamily="18" charset="0"/>
                      </a:rPr>
                      <m:t>]</m:t>
                    </m:r>
                  </m:oMath>
                </a14:m>
                <a:r>
                  <a:rPr lang="en-US" altLang="zh-CN" sz="2400" dirty="0">
                    <a:solidFill>
                      <a:srgbClr val="000000"/>
                    </a:solidFill>
                  </a:rPr>
                  <a:t> </a:t>
                </a:r>
                <a14:m>
                  <m:oMath xmlns:m="http://schemas.openxmlformats.org/officeDocument/2006/math">
                    <m:r>
                      <a:rPr lang="en-US" altLang="zh-CN" sz="2400" b="1" i="1" dirty="0" smtClean="0">
                        <a:solidFill>
                          <a:srgbClr val="000000"/>
                        </a:solidFill>
                        <a:latin typeface="Cambria Math" panose="02040503050406030204" pitchFamily="18" charset="0"/>
                      </a:rPr>
                      <m:t>=</m:t>
                    </m:r>
                    <m:r>
                      <a:rPr lang="en-US" altLang="zh-CN" sz="2400" b="1" i="1" dirty="0" smtClean="0">
                        <a:solidFill>
                          <a:srgbClr val="000000"/>
                        </a:solidFill>
                        <a:latin typeface="Cambria Math" panose="02040503050406030204" pitchFamily="18" charset="0"/>
                      </a:rPr>
                      <m:t>𝟎</m:t>
                    </m:r>
                    <m:r>
                      <a:rPr lang="en-US" altLang="zh-CN" sz="2400" b="1" i="1" dirty="0" smtClean="0">
                        <a:solidFill>
                          <a:srgbClr val="000000"/>
                        </a:solidFill>
                        <a:latin typeface="Cambria Math" panose="02040503050406030204" pitchFamily="18" charset="0"/>
                      </a:rPr>
                      <m:t>, </m:t>
                    </m:r>
                    <m:r>
                      <a:rPr lang="zh-CN" altLang="en-US" sz="2400" i="1" dirty="0">
                        <a:solidFill>
                          <a:srgbClr val="000000"/>
                        </a:solidFill>
                        <a:latin typeface="Cambria Math" panose="02040503050406030204" pitchFamily="18" charset="0"/>
                      </a:rPr>
                      <m:t>由</m:t>
                    </m:r>
                  </m:oMath>
                </a14:m>
                <a:r>
                  <a:rPr lang="zh-CN" altLang="en-US" sz="2400" b="0" dirty="0"/>
                  <a:t>初始松弛的</a:t>
                </a:r>
                <a:r>
                  <a:rPr lang="zh-CN" altLang="en-US" sz="2400" b="0" dirty="0" smtClean="0"/>
                  <a:t>条件，有</a:t>
                </a:r>
                <a:endParaRPr lang="en-US" altLang="zh-CN" sz="2400" b="0" dirty="0" smtClean="0"/>
              </a:p>
              <a:p>
                <a:pPr marL="0" indent="0" algn="just">
                  <a:lnSpc>
                    <a:spcPct val="110000"/>
                  </a:lnSpc>
                  <a:spcBef>
                    <a:spcPts val="0"/>
                  </a:spcBef>
                  <a:spcAft>
                    <a:spcPts val="600"/>
                  </a:spcAft>
                  <a:buNone/>
                </a:pPr>
                <a:r>
                  <a:rPr lang="en-US" altLang="zh-CN" sz="2400" b="0" dirty="0" smtClean="0"/>
                  <a:t>        </a:t>
                </a:r>
                <a:r>
                  <a:rPr lang="en-US" altLang="zh-CN" sz="2400" b="0" dirty="0"/>
                  <a:t>n</a:t>
                </a:r>
                <a14:m>
                  <m:oMath xmlns:m="http://schemas.openxmlformats.org/officeDocument/2006/math">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𝟏</m:t>
                    </m:r>
                    <m:r>
                      <a:rPr lang="zh-CN" altLang="en-US" sz="2400" i="1" smtClean="0">
                        <a:solidFill>
                          <a:srgbClr val="000000"/>
                        </a:solidFill>
                        <a:latin typeface="Cambria Math" panose="02040503050406030204" pitchFamily="18" charset="0"/>
                      </a:rPr>
                      <m:t>时</m:t>
                    </m:r>
                    <m:r>
                      <a:rPr lang="en-US" altLang="zh-CN" sz="2400" i="1">
                        <a:solidFill>
                          <a:srgbClr val="000000"/>
                        </a:solidFill>
                        <a:latin typeface="Cambria Math" panose="02040503050406030204" pitchFamily="18" charset="0"/>
                      </a:rPr>
                      <m:t>,  </m:t>
                    </m:r>
                    <m:r>
                      <m:rPr>
                        <m:sty m:val="p"/>
                      </m:rPr>
                      <a:rPr lang="en-US" altLang="zh-CN" sz="2400" i="1" smtClean="0">
                        <a:solidFill>
                          <a:srgbClr val="000000"/>
                        </a:solidFill>
                        <a:latin typeface="Cambria Math" panose="02040503050406030204" pitchFamily="18" charset="0"/>
                      </a:rPr>
                      <m:t>y</m:t>
                    </m:r>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𝑛</m:t>
                    </m:r>
                    <m:r>
                      <a:rPr lang="en-US" altLang="zh-CN" sz="2400" i="1">
                        <a:solidFill>
                          <a:srgbClr val="000000"/>
                        </a:solidFill>
                        <a:latin typeface="Cambria Math" panose="02040503050406030204" pitchFamily="18" charset="0"/>
                      </a:rPr>
                      <m:t>]</m:t>
                    </m:r>
                  </m:oMath>
                </a14:m>
                <a:r>
                  <a:rPr lang="en-US" altLang="zh-CN" sz="2400" dirty="0">
                    <a:solidFill>
                      <a:srgbClr val="000000"/>
                    </a:solidFill>
                  </a:rPr>
                  <a:t> </a:t>
                </a:r>
                <a14:m>
                  <m:oMath xmlns:m="http://schemas.openxmlformats.org/officeDocument/2006/math">
                    <m:r>
                      <a:rPr lang="en-US" altLang="zh-CN" sz="2400" i="1" dirty="0">
                        <a:solidFill>
                          <a:srgbClr val="000000"/>
                        </a:solidFill>
                        <a:latin typeface="Cambria Math" panose="02040503050406030204" pitchFamily="18" charset="0"/>
                      </a:rPr>
                      <m:t>=</m:t>
                    </m:r>
                    <m:r>
                      <a:rPr lang="en-US" altLang="zh-CN" sz="2400" i="1" dirty="0">
                        <a:solidFill>
                          <a:srgbClr val="000000"/>
                        </a:solidFill>
                        <a:latin typeface="Cambria Math" panose="02040503050406030204" pitchFamily="18" charset="0"/>
                      </a:rPr>
                      <m:t>𝟎</m:t>
                    </m:r>
                  </m:oMath>
                </a14:m>
                <a:r>
                  <a:rPr lang="en-US" altLang="zh-CN" sz="2400" b="0" dirty="0" smtClean="0"/>
                  <a:t>  </a:t>
                </a:r>
              </a:p>
              <a:p>
                <a:pPr marL="0" indent="0" algn="just">
                  <a:lnSpc>
                    <a:spcPct val="110000"/>
                  </a:lnSpc>
                  <a:spcBef>
                    <a:spcPts val="0"/>
                  </a:spcBef>
                  <a:spcAft>
                    <a:spcPts val="600"/>
                  </a:spcAft>
                  <a:buNone/>
                </a:pPr>
                <a:r>
                  <a:rPr lang="zh-CN" altLang="en-US" sz="2400" b="0" dirty="0" smtClean="0"/>
                  <a:t>故：</a:t>
                </a:r>
                <a:r>
                  <a:rPr lang="en-US" altLang="zh-CN" sz="2400" dirty="0">
                    <a:solidFill>
                      <a:srgbClr val="000000"/>
                    </a:solidFill>
                  </a:rPr>
                  <a:t> </a:t>
                </a:r>
                <a14:m>
                  <m:oMath xmlns:m="http://schemas.openxmlformats.org/officeDocument/2006/math">
                    <m:r>
                      <m:rPr>
                        <m:sty m:val="p"/>
                      </m:rPr>
                      <a:rPr lang="en-US" altLang="zh-CN" sz="2400" i="1">
                        <a:solidFill>
                          <a:srgbClr val="000000"/>
                        </a:solidFill>
                        <a:latin typeface="Cambria Math" panose="02040503050406030204" pitchFamily="18" charset="0"/>
                      </a:rPr>
                      <m:t>y</m:t>
                    </m:r>
                    <m:r>
                      <a:rPr lang="en-US" altLang="zh-CN" sz="2400" i="1">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𝟏</m:t>
                    </m:r>
                    <m:r>
                      <a:rPr lang="en-US" altLang="zh-CN" sz="2400" i="1">
                        <a:solidFill>
                          <a:srgbClr val="000000"/>
                        </a:solidFill>
                        <a:latin typeface="Cambria Math" panose="02040503050406030204" pitchFamily="18" charset="0"/>
                      </a:rPr>
                      <m:t>]</m:t>
                    </m:r>
                  </m:oMath>
                </a14:m>
                <a:r>
                  <a:rPr lang="en-US" altLang="zh-CN" sz="2400" dirty="0">
                    <a:solidFill>
                      <a:srgbClr val="000000"/>
                    </a:solidFill>
                  </a:rPr>
                  <a:t> </a:t>
                </a:r>
                <a14:m>
                  <m:oMath xmlns:m="http://schemas.openxmlformats.org/officeDocument/2006/math">
                    <m:r>
                      <a:rPr lang="en-US" altLang="zh-CN" sz="2400" i="1" dirty="0">
                        <a:solidFill>
                          <a:srgbClr val="000000"/>
                        </a:solidFill>
                        <a:latin typeface="Cambria Math" panose="02040503050406030204" pitchFamily="18" charset="0"/>
                      </a:rPr>
                      <m:t>=</m:t>
                    </m:r>
                    <m:r>
                      <a:rPr lang="en-US" altLang="zh-CN" sz="2400" i="1" dirty="0">
                        <a:solidFill>
                          <a:srgbClr val="000000"/>
                        </a:solidFill>
                        <a:latin typeface="Cambria Math" panose="02040503050406030204" pitchFamily="18" charset="0"/>
                      </a:rPr>
                      <m:t>𝟎</m:t>
                    </m:r>
                  </m:oMath>
                </a14:m>
                <a:r>
                  <a:rPr lang="en-US" altLang="zh-CN" sz="2400" b="0" dirty="0"/>
                  <a:t> </a:t>
                </a:r>
                <a:endParaRPr lang="en-US" altLang="zh-CN" sz="2400" b="0" dirty="0"/>
              </a:p>
              <a:p>
                <a:pPr marL="0" indent="0" algn="just">
                  <a:lnSpc>
                    <a:spcPct val="110000"/>
                  </a:lnSpc>
                  <a:spcBef>
                    <a:spcPts val="0"/>
                  </a:spcBef>
                  <a:spcAft>
                    <a:spcPts val="600"/>
                  </a:spcAft>
                  <a:buNone/>
                </a:pPr>
                <a:r>
                  <a:rPr lang="zh-CN" altLang="en-US" sz="2400" b="0" dirty="0" smtClean="0"/>
                  <a:t>于是：</a:t>
                </a:r>
                <a14:m>
                  <m:oMath xmlns:m="http://schemas.openxmlformats.org/officeDocument/2006/math">
                    <m:r>
                      <a:rPr lang="en-US" altLang="zh-CN" sz="2400" i="1">
                        <a:solidFill>
                          <a:srgbClr val="000000"/>
                        </a:solidFill>
                        <a:latin typeface="Cambria Math" panose="02040503050406030204" pitchFamily="18" charset="0"/>
                      </a:rPr>
                      <m:t>𝑦</m:t>
                    </m:r>
                    <m:d>
                      <m:dPr>
                        <m:begChr m:val="["/>
                        <m:endChr m:val="]"/>
                        <m:ctrlPr>
                          <a:rPr lang="en-US" altLang="zh-CN" sz="2400" i="1">
                            <a:solidFill>
                              <a:srgbClr val="000000"/>
                            </a:solidFill>
                            <a:latin typeface="Cambria Math" panose="02040503050406030204" pitchFamily="18" charset="0"/>
                          </a:rPr>
                        </m:ctrlPr>
                      </m:dPr>
                      <m:e>
                        <m:r>
                          <a:rPr lang="en-US" altLang="zh-CN" sz="2400" b="1" i="1" smtClean="0">
                            <a:solidFill>
                              <a:srgbClr val="000000"/>
                            </a:solidFill>
                            <a:latin typeface="Cambria Math" panose="02040503050406030204" pitchFamily="18" charset="0"/>
                          </a:rPr>
                          <m:t>𝟎</m:t>
                        </m:r>
                      </m:e>
                    </m:d>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𝑥</m:t>
                    </m:r>
                    <m:r>
                      <a:rPr lang="en-US" altLang="zh-CN" sz="2400" i="1">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𝟎</m:t>
                    </m:r>
                    <m:r>
                      <a:rPr lang="en-US" altLang="zh-CN" sz="2400" i="1">
                        <a:solidFill>
                          <a:srgbClr val="000000"/>
                        </a:solidFill>
                        <a:latin typeface="Cambria Math" panose="02040503050406030204" pitchFamily="18" charset="0"/>
                      </a:rPr>
                      <m:t>]</m:t>
                    </m:r>
                  </m:oMath>
                </a14:m>
                <a:r>
                  <a:rPr lang="en-US" altLang="zh-CN" sz="2400" dirty="0">
                    <a:solidFill>
                      <a:srgbClr val="000000"/>
                    </a:solidFill>
                  </a:rPr>
                  <a:t> </a:t>
                </a:r>
                <a14:m>
                  <m:oMath xmlns:m="http://schemas.openxmlformats.org/officeDocument/2006/math">
                    <m:r>
                      <a:rPr lang="en-US" altLang="zh-CN" sz="2400" b="1" i="0" smtClean="0">
                        <a:solidFill>
                          <a:srgbClr val="000000"/>
                        </a:solidFill>
                        <a:latin typeface="Cambria Math" panose="02040503050406030204" pitchFamily="18" charset="0"/>
                      </a:rPr>
                      <m:t>+</m:t>
                    </m:r>
                    <m:f>
                      <m:fPr>
                        <m:ctrlPr>
                          <a:rPr lang="en-US" altLang="zh-CN" sz="2400" i="1">
                            <a:solidFill>
                              <a:srgbClr val="000000"/>
                            </a:solidFill>
                            <a:latin typeface="Cambria Math" panose="02040503050406030204" pitchFamily="18" charset="0"/>
                          </a:rPr>
                        </m:ctrlPr>
                      </m:fPr>
                      <m:num>
                        <m:r>
                          <a:rPr lang="en-US" altLang="zh-CN" sz="2400" i="1">
                            <a:solidFill>
                              <a:srgbClr val="000000"/>
                            </a:solidFill>
                            <a:latin typeface="Cambria Math" panose="02040503050406030204" pitchFamily="18" charset="0"/>
                          </a:rPr>
                          <m:t>1</m:t>
                        </m:r>
                      </m:num>
                      <m:den>
                        <m:r>
                          <a:rPr lang="en-US" altLang="zh-CN" sz="2400" i="1">
                            <a:solidFill>
                              <a:srgbClr val="000000"/>
                            </a:solidFill>
                            <a:latin typeface="Cambria Math" panose="02040503050406030204" pitchFamily="18" charset="0"/>
                          </a:rPr>
                          <m:t>𝟐</m:t>
                        </m:r>
                      </m:den>
                    </m:f>
                    <m:r>
                      <a:rPr lang="en-US" altLang="zh-CN" sz="2400" i="1">
                        <a:solidFill>
                          <a:srgbClr val="000000"/>
                        </a:solidFill>
                        <a:latin typeface="Cambria Math" panose="02040503050406030204" pitchFamily="18" charset="0"/>
                      </a:rPr>
                      <m:t>𝑦</m:t>
                    </m:r>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𝟏</m:t>
                    </m:r>
                    <m:r>
                      <a:rPr lang="en-US" altLang="zh-CN" sz="2400" i="1">
                        <a:solidFill>
                          <a:srgbClr val="000000"/>
                        </a:solidFill>
                        <a:latin typeface="Cambria Math" panose="02040503050406030204" pitchFamily="18" charset="0"/>
                      </a:rPr>
                      <m:t>]</m:t>
                    </m:r>
                  </m:oMath>
                </a14:m>
                <a:r>
                  <a:rPr lang="en-US" altLang="zh-CN" sz="2400" b="0" dirty="0" smtClean="0"/>
                  <a:t>=K</a:t>
                </a:r>
              </a:p>
              <a:p>
                <a:pPr marL="0" indent="0" algn="just">
                  <a:lnSpc>
                    <a:spcPct val="110000"/>
                  </a:lnSpc>
                  <a:spcBef>
                    <a:spcPts val="0"/>
                  </a:spcBef>
                  <a:spcAft>
                    <a:spcPts val="600"/>
                  </a:spcAft>
                  <a:buNone/>
                </a:pPr>
                <a:r>
                  <a:rPr lang="en-US" altLang="zh-CN" sz="2400" b="0" dirty="0"/>
                  <a:t> </a:t>
                </a:r>
                <a:r>
                  <a:rPr lang="en-US" altLang="zh-CN" sz="2400" b="0" dirty="0" smtClean="0"/>
                  <a:t>           </a:t>
                </a:r>
                <a14:m>
                  <m:oMath xmlns:m="http://schemas.openxmlformats.org/officeDocument/2006/math">
                    <m:r>
                      <a:rPr lang="en-US" altLang="zh-CN" sz="2400" i="1">
                        <a:solidFill>
                          <a:srgbClr val="000000"/>
                        </a:solidFill>
                        <a:latin typeface="Cambria Math" panose="02040503050406030204" pitchFamily="18" charset="0"/>
                      </a:rPr>
                      <m:t>𝑦</m:t>
                    </m:r>
                    <m:d>
                      <m:dPr>
                        <m:begChr m:val="["/>
                        <m:endChr m:val="]"/>
                        <m:ctrlPr>
                          <a:rPr lang="en-US" altLang="zh-CN" sz="2400" i="1">
                            <a:solidFill>
                              <a:srgbClr val="000000"/>
                            </a:solidFill>
                            <a:latin typeface="Cambria Math" panose="02040503050406030204" pitchFamily="18" charset="0"/>
                          </a:rPr>
                        </m:ctrlPr>
                      </m:dPr>
                      <m:e>
                        <m:r>
                          <a:rPr lang="en-US" altLang="zh-CN" sz="2400" b="1" i="1" smtClean="0">
                            <a:solidFill>
                              <a:srgbClr val="000000"/>
                            </a:solidFill>
                            <a:latin typeface="Cambria Math" panose="02040503050406030204" pitchFamily="18" charset="0"/>
                          </a:rPr>
                          <m:t>𝟏</m:t>
                        </m:r>
                      </m:e>
                    </m:d>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𝑥</m:t>
                    </m:r>
                    <m:r>
                      <a:rPr lang="en-US" altLang="zh-CN" sz="2400" i="1">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𝟏</m:t>
                    </m:r>
                    <m:r>
                      <a:rPr lang="en-US" altLang="zh-CN" sz="2400" i="1">
                        <a:solidFill>
                          <a:srgbClr val="000000"/>
                        </a:solidFill>
                        <a:latin typeface="Cambria Math" panose="02040503050406030204" pitchFamily="18" charset="0"/>
                      </a:rPr>
                      <m:t>]</m:t>
                    </m:r>
                  </m:oMath>
                </a14:m>
                <a:r>
                  <a:rPr lang="en-US" altLang="zh-CN" sz="2400" dirty="0">
                    <a:solidFill>
                      <a:srgbClr val="000000"/>
                    </a:solidFill>
                  </a:rPr>
                  <a:t> </a:t>
                </a:r>
                <a14:m>
                  <m:oMath xmlns:m="http://schemas.openxmlformats.org/officeDocument/2006/math">
                    <m:r>
                      <a:rPr lang="en-US" altLang="zh-CN" sz="2400">
                        <a:solidFill>
                          <a:srgbClr val="000000"/>
                        </a:solidFill>
                        <a:latin typeface="Cambria Math" panose="02040503050406030204" pitchFamily="18" charset="0"/>
                      </a:rPr>
                      <m:t>+</m:t>
                    </m:r>
                    <m:f>
                      <m:fPr>
                        <m:ctrlPr>
                          <a:rPr lang="en-US" altLang="zh-CN" sz="2400" i="1">
                            <a:solidFill>
                              <a:srgbClr val="000000"/>
                            </a:solidFill>
                            <a:latin typeface="Cambria Math" panose="02040503050406030204" pitchFamily="18" charset="0"/>
                          </a:rPr>
                        </m:ctrlPr>
                      </m:fPr>
                      <m:num>
                        <m:r>
                          <a:rPr lang="en-US" altLang="zh-CN" sz="2400" i="1">
                            <a:solidFill>
                              <a:srgbClr val="000000"/>
                            </a:solidFill>
                            <a:latin typeface="Cambria Math" panose="02040503050406030204" pitchFamily="18" charset="0"/>
                          </a:rPr>
                          <m:t>1</m:t>
                        </m:r>
                      </m:num>
                      <m:den>
                        <m:r>
                          <a:rPr lang="en-US" altLang="zh-CN" sz="2400" i="1">
                            <a:solidFill>
                              <a:srgbClr val="000000"/>
                            </a:solidFill>
                            <a:latin typeface="Cambria Math" panose="02040503050406030204" pitchFamily="18" charset="0"/>
                          </a:rPr>
                          <m:t>𝟐</m:t>
                        </m:r>
                      </m:den>
                    </m:f>
                    <m:r>
                      <a:rPr lang="en-US" altLang="zh-CN" sz="2400" i="1">
                        <a:solidFill>
                          <a:srgbClr val="000000"/>
                        </a:solidFill>
                        <a:latin typeface="Cambria Math" panose="02040503050406030204" pitchFamily="18" charset="0"/>
                      </a:rPr>
                      <m:t>𝑦</m:t>
                    </m:r>
                    <m:r>
                      <a:rPr lang="en-US" altLang="zh-CN" sz="2400" i="1">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𝟎</m:t>
                    </m:r>
                    <m:r>
                      <a:rPr lang="en-US" altLang="zh-CN" sz="2400" i="1">
                        <a:solidFill>
                          <a:srgbClr val="000000"/>
                        </a:solidFill>
                        <a:latin typeface="Cambria Math" panose="02040503050406030204" pitchFamily="18" charset="0"/>
                      </a:rPr>
                      <m:t>]</m:t>
                    </m:r>
                  </m:oMath>
                </a14:m>
                <a:r>
                  <a:rPr lang="en-US" altLang="zh-CN" sz="2400" b="0" dirty="0"/>
                  <a:t>=</a:t>
                </a:r>
                <a14:m>
                  <m:oMath xmlns:m="http://schemas.openxmlformats.org/officeDocument/2006/math">
                    <m:f>
                      <m:fPr>
                        <m:ctrlPr>
                          <a:rPr lang="en-US" altLang="zh-CN" sz="2400" i="1">
                            <a:solidFill>
                              <a:srgbClr val="000000"/>
                            </a:solidFill>
                            <a:latin typeface="Cambria Math" panose="02040503050406030204" pitchFamily="18" charset="0"/>
                          </a:rPr>
                        </m:ctrlPr>
                      </m:fPr>
                      <m:num>
                        <m:r>
                          <a:rPr lang="en-US" altLang="zh-CN" sz="2400" i="1">
                            <a:solidFill>
                              <a:srgbClr val="000000"/>
                            </a:solidFill>
                            <a:latin typeface="Cambria Math" panose="02040503050406030204" pitchFamily="18" charset="0"/>
                          </a:rPr>
                          <m:t>1</m:t>
                        </m:r>
                      </m:num>
                      <m:den>
                        <m:r>
                          <a:rPr lang="en-US" altLang="zh-CN" sz="2400" i="1">
                            <a:solidFill>
                              <a:srgbClr val="000000"/>
                            </a:solidFill>
                            <a:latin typeface="Cambria Math" panose="02040503050406030204" pitchFamily="18" charset="0"/>
                          </a:rPr>
                          <m:t>𝟐</m:t>
                        </m:r>
                      </m:den>
                    </m:f>
                  </m:oMath>
                </a14:m>
                <a:r>
                  <a:rPr lang="en-US" altLang="zh-CN" sz="2400" b="0" dirty="0" smtClean="0"/>
                  <a:t>K</a:t>
                </a:r>
              </a:p>
              <a:p>
                <a:pPr marL="0" indent="0" algn="just">
                  <a:lnSpc>
                    <a:spcPct val="110000"/>
                  </a:lnSpc>
                  <a:spcBef>
                    <a:spcPts val="0"/>
                  </a:spcBef>
                  <a:spcAft>
                    <a:spcPts val="600"/>
                  </a:spcAft>
                  <a:buNone/>
                </a:pPr>
                <a:r>
                  <a:rPr lang="en-US" altLang="zh-CN" sz="2400" b="0" dirty="0"/>
                  <a:t> </a:t>
                </a:r>
                <a:r>
                  <a:rPr lang="en-US" altLang="zh-CN" sz="2400" b="0" dirty="0" smtClean="0"/>
                  <a:t>           </a:t>
                </a:r>
                <a14:m>
                  <m:oMath xmlns:m="http://schemas.openxmlformats.org/officeDocument/2006/math">
                    <m:r>
                      <a:rPr lang="en-US" altLang="zh-CN" sz="2400" i="1">
                        <a:solidFill>
                          <a:srgbClr val="000000"/>
                        </a:solidFill>
                        <a:latin typeface="Cambria Math" panose="02040503050406030204" pitchFamily="18" charset="0"/>
                      </a:rPr>
                      <m:t>𝑦</m:t>
                    </m:r>
                    <m:d>
                      <m:dPr>
                        <m:begChr m:val="["/>
                        <m:endChr m:val="]"/>
                        <m:ctrlPr>
                          <a:rPr lang="en-US" altLang="zh-CN" sz="2400" i="1">
                            <a:solidFill>
                              <a:srgbClr val="000000"/>
                            </a:solidFill>
                            <a:latin typeface="Cambria Math" panose="02040503050406030204" pitchFamily="18" charset="0"/>
                          </a:rPr>
                        </m:ctrlPr>
                      </m:dPr>
                      <m:e>
                        <m:r>
                          <a:rPr lang="en-US" altLang="zh-CN" sz="2400" b="1" i="1" smtClean="0">
                            <a:solidFill>
                              <a:srgbClr val="000000"/>
                            </a:solidFill>
                            <a:latin typeface="Cambria Math" panose="02040503050406030204" pitchFamily="18" charset="0"/>
                          </a:rPr>
                          <m:t>𝟐</m:t>
                        </m:r>
                      </m:e>
                    </m:d>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𝑥</m:t>
                    </m:r>
                    <m:r>
                      <a:rPr lang="en-US" altLang="zh-CN" sz="2400" i="1">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𝟐</m:t>
                    </m:r>
                    <m:r>
                      <a:rPr lang="en-US" altLang="zh-CN" sz="2400" i="1">
                        <a:solidFill>
                          <a:srgbClr val="000000"/>
                        </a:solidFill>
                        <a:latin typeface="Cambria Math" panose="02040503050406030204" pitchFamily="18" charset="0"/>
                      </a:rPr>
                      <m:t>]</m:t>
                    </m:r>
                  </m:oMath>
                </a14:m>
                <a:r>
                  <a:rPr lang="en-US" altLang="zh-CN" sz="2400" dirty="0">
                    <a:solidFill>
                      <a:srgbClr val="000000"/>
                    </a:solidFill>
                  </a:rPr>
                  <a:t> </a:t>
                </a:r>
                <a14:m>
                  <m:oMath xmlns:m="http://schemas.openxmlformats.org/officeDocument/2006/math">
                    <m:r>
                      <a:rPr lang="en-US" altLang="zh-CN" sz="2400">
                        <a:solidFill>
                          <a:srgbClr val="000000"/>
                        </a:solidFill>
                        <a:latin typeface="Cambria Math" panose="02040503050406030204" pitchFamily="18" charset="0"/>
                      </a:rPr>
                      <m:t>+</m:t>
                    </m:r>
                    <m:f>
                      <m:fPr>
                        <m:ctrlPr>
                          <a:rPr lang="en-US" altLang="zh-CN" sz="2400" i="1">
                            <a:solidFill>
                              <a:srgbClr val="000000"/>
                            </a:solidFill>
                            <a:latin typeface="Cambria Math" panose="02040503050406030204" pitchFamily="18" charset="0"/>
                          </a:rPr>
                        </m:ctrlPr>
                      </m:fPr>
                      <m:num>
                        <m:r>
                          <a:rPr lang="en-US" altLang="zh-CN" sz="2400" i="1">
                            <a:solidFill>
                              <a:srgbClr val="000000"/>
                            </a:solidFill>
                            <a:latin typeface="Cambria Math" panose="02040503050406030204" pitchFamily="18" charset="0"/>
                          </a:rPr>
                          <m:t>1</m:t>
                        </m:r>
                      </m:num>
                      <m:den>
                        <m:r>
                          <a:rPr lang="en-US" altLang="zh-CN" sz="2400" i="1">
                            <a:solidFill>
                              <a:srgbClr val="000000"/>
                            </a:solidFill>
                            <a:latin typeface="Cambria Math" panose="02040503050406030204" pitchFamily="18" charset="0"/>
                          </a:rPr>
                          <m:t>𝟐</m:t>
                        </m:r>
                      </m:den>
                    </m:f>
                    <m:r>
                      <a:rPr lang="en-US" altLang="zh-CN" sz="2400" i="1">
                        <a:solidFill>
                          <a:srgbClr val="000000"/>
                        </a:solidFill>
                        <a:latin typeface="Cambria Math" panose="02040503050406030204" pitchFamily="18" charset="0"/>
                      </a:rPr>
                      <m:t>𝑦</m:t>
                    </m:r>
                    <m:r>
                      <a:rPr lang="en-US" altLang="zh-CN" sz="2400" i="1">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𝟏</m:t>
                    </m:r>
                    <m:r>
                      <a:rPr lang="en-US" altLang="zh-CN" sz="2400" i="1">
                        <a:solidFill>
                          <a:srgbClr val="000000"/>
                        </a:solidFill>
                        <a:latin typeface="Cambria Math" panose="02040503050406030204" pitchFamily="18" charset="0"/>
                      </a:rPr>
                      <m:t>]</m:t>
                    </m:r>
                  </m:oMath>
                </a14:m>
                <a:r>
                  <a:rPr lang="en-US" altLang="zh-CN" sz="2400" b="0" dirty="0"/>
                  <a:t>=</a:t>
                </a:r>
                <a:r>
                  <a:rPr lang="en-US" altLang="zh-CN" sz="2400" b="0" dirty="0" smtClean="0"/>
                  <a:t>(</a:t>
                </a:r>
                <a14:m>
                  <m:oMath xmlns:m="http://schemas.openxmlformats.org/officeDocument/2006/math">
                    <m:f>
                      <m:fPr>
                        <m:ctrlPr>
                          <a:rPr lang="en-US" altLang="zh-CN" sz="2400" i="1">
                            <a:solidFill>
                              <a:srgbClr val="000000"/>
                            </a:solidFill>
                            <a:latin typeface="Cambria Math" panose="02040503050406030204" pitchFamily="18" charset="0"/>
                          </a:rPr>
                        </m:ctrlPr>
                      </m:fPr>
                      <m:num>
                        <m:r>
                          <a:rPr lang="en-US" altLang="zh-CN" sz="2400" i="1">
                            <a:solidFill>
                              <a:srgbClr val="000000"/>
                            </a:solidFill>
                            <a:latin typeface="Cambria Math" panose="02040503050406030204" pitchFamily="18" charset="0"/>
                          </a:rPr>
                          <m:t>1</m:t>
                        </m:r>
                      </m:num>
                      <m:den>
                        <m:r>
                          <a:rPr lang="en-US" altLang="zh-CN" sz="2400" i="1">
                            <a:solidFill>
                              <a:srgbClr val="000000"/>
                            </a:solidFill>
                            <a:latin typeface="Cambria Math" panose="02040503050406030204" pitchFamily="18" charset="0"/>
                          </a:rPr>
                          <m:t>𝟐</m:t>
                        </m:r>
                      </m:den>
                    </m:f>
                    <m:r>
                      <a:rPr lang="en-US" altLang="zh-CN" sz="2400" b="0" i="0" smtClean="0">
                        <a:solidFill>
                          <a:srgbClr val="000000"/>
                        </a:solidFill>
                        <a:latin typeface="Cambria Math" panose="02040503050406030204" pitchFamily="18" charset="0"/>
                      </a:rPr>
                      <m:t>)</m:t>
                    </m:r>
                  </m:oMath>
                </a14:m>
                <a:r>
                  <a:rPr lang="en-US" altLang="zh-CN" sz="2400" b="0" baseline="30000" dirty="0" smtClean="0"/>
                  <a:t>2</a:t>
                </a:r>
                <a:r>
                  <a:rPr lang="en-US" altLang="zh-CN" sz="2400" b="0" dirty="0" smtClean="0"/>
                  <a:t>K</a:t>
                </a:r>
              </a:p>
              <a:p>
                <a:pPr marL="0" indent="0" algn="just">
                  <a:lnSpc>
                    <a:spcPct val="110000"/>
                  </a:lnSpc>
                  <a:spcBef>
                    <a:spcPts val="0"/>
                  </a:spcBef>
                  <a:spcAft>
                    <a:spcPts val="600"/>
                  </a:spcAft>
                  <a:buNone/>
                </a:pPr>
                <a14:m>
                  <m:oMath xmlns:m="http://schemas.openxmlformats.org/officeDocument/2006/math">
                    <m:r>
                      <a:rPr lang="en-US" altLang="zh-CN" sz="2400" b="1" i="1" smtClean="0">
                        <a:solidFill>
                          <a:srgbClr val="000000"/>
                        </a:solidFill>
                        <a:latin typeface="Cambria Math" panose="02040503050406030204" pitchFamily="18" charset="0"/>
                      </a:rPr>
                      <m:t>               </m:t>
                    </m:r>
                    <m:r>
                      <a:rPr lang="en-US" altLang="zh-CN" sz="2400" i="1">
                        <a:solidFill>
                          <a:srgbClr val="000000"/>
                        </a:solidFill>
                        <a:latin typeface="Cambria Math" panose="02040503050406030204" pitchFamily="18" charset="0"/>
                      </a:rPr>
                      <m:t>𝑦</m:t>
                    </m:r>
                    <m:d>
                      <m:dPr>
                        <m:begChr m:val="["/>
                        <m:endChr m:val="]"/>
                        <m:ctrlPr>
                          <a:rPr lang="en-US" altLang="zh-CN" sz="2400" i="1">
                            <a:solidFill>
                              <a:srgbClr val="000000"/>
                            </a:solidFill>
                            <a:latin typeface="Cambria Math" panose="02040503050406030204" pitchFamily="18" charset="0"/>
                          </a:rPr>
                        </m:ctrlPr>
                      </m:dPr>
                      <m:e>
                        <m:r>
                          <a:rPr lang="en-US" altLang="zh-CN" sz="2400" b="1" i="1" smtClean="0">
                            <a:solidFill>
                              <a:srgbClr val="000000"/>
                            </a:solidFill>
                            <a:latin typeface="Cambria Math" panose="02040503050406030204" pitchFamily="18" charset="0"/>
                          </a:rPr>
                          <m:t>𝒏</m:t>
                        </m:r>
                      </m:e>
                    </m:d>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𝑥</m:t>
                    </m:r>
                    <m:r>
                      <a:rPr lang="en-US" altLang="zh-CN" sz="2400" i="1" smtClean="0">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𝒏</m:t>
                    </m:r>
                    <m:r>
                      <a:rPr lang="en-US" altLang="zh-CN" sz="2400" i="1">
                        <a:solidFill>
                          <a:srgbClr val="000000"/>
                        </a:solidFill>
                        <a:latin typeface="Cambria Math" panose="02040503050406030204" pitchFamily="18" charset="0"/>
                      </a:rPr>
                      <m:t>]</m:t>
                    </m:r>
                  </m:oMath>
                </a14:m>
                <a:r>
                  <a:rPr lang="en-US" altLang="zh-CN" sz="2400" dirty="0">
                    <a:solidFill>
                      <a:srgbClr val="000000"/>
                    </a:solidFill>
                  </a:rPr>
                  <a:t> </a:t>
                </a:r>
                <a14:m>
                  <m:oMath xmlns:m="http://schemas.openxmlformats.org/officeDocument/2006/math">
                    <m:r>
                      <a:rPr lang="en-US" altLang="zh-CN" sz="2400">
                        <a:solidFill>
                          <a:srgbClr val="000000"/>
                        </a:solidFill>
                        <a:latin typeface="Cambria Math" panose="02040503050406030204" pitchFamily="18" charset="0"/>
                      </a:rPr>
                      <m:t>+</m:t>
                    </m:r>
                    <m:f>
                      <m:fPr>
                        <m:ctrlPr>
                          <a:rPr lang="en-US" altLang="zh-CN" sz="2400" i="1">
                            <a:solidFill>
                              <a:srgbClr val="000000"/>
                            </a:solidFill>
                            <a:latin typeface="Cambria Math" panose="02040503050406030204" pitchFamily="18" charset="0"/>
                          </a:rPr>
                        </m:ctrlPr>
                      </m:fPr>
                      <m:num>
                        <m:r>
                          <a:rPr lang="en-US" altLang="zh-CN" sz="2400" i="1">
                            <a:solidFill>
                              <a:srgbClr val="000000"/>
                            </a:solidFill>
                            <a:latin typeface="Cambria Math" panose="02040503050406030204" pitchFamily="18" charset="0"/>
                          </a:rPr>
                          <m:t>1</m:t>
                        </m:r>
                      </m:num>
                      <m:den>
                        <m:r>
                          <a:rPr lang="en-US" altLang="zh-CN" sz="2400" i="1">
                            <a:solidFill>
                              <a:srgbClr val="000000"/>
                            </a:solidFill>
                            <a:latin typeface="Cambria Math" panose="02040503050406030204" pitchFamily="18" charset="0"/>
                          </a:rPr>
                          <m:t>𝟐</m:t>
                        </m:r>
                      </m:den>
                    </m:f>
                    <m:r>
                      <a:rPr lang="en-US" altLang="zh-CN" sz="2400" i="1">
                        <a:solidFill>
                          <a:srgbClr val="000000"/>
                        </a:solidFill>
                        <a:latin typeface="Cambria Math" panose="02040503050406030204" pitchFamily="18" charset="0"/>
                      </a:rPr>
                      <m:t>𝑦</m:t>
                    </m:r>
                    <m:r>
                      <a:rPr lang="en-US" altLang="zh-CN" sz="2400" i="1">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𝒏</m:t>
                    </m:r>
                    <m:r>
                      <a:rPr lang="en-US" altLang="zh-CN" sz="2400" b="1" i="1" smtClean="0">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𝟏</m:t>
                    </m:r>
                    <m:r>
                      <a:rPr lang="en-US" altLang="zh-CN" sz="2400" i="1">
                        <a:solidFill>
                          <a:srgbClr val="000000"/>
                        </a:solidFill>
                        <a:latin typeface="Cambria Math" panose="02040503050406030204" pitchFamily="18" charset="0"/>
                      </a:rPr>
                      <m:t>]</m:t>
                    </m:r>
                  </m:oMath>
                </a14:m>
                <a:r>
                  <a:rPr lang="en-US" altLang="zh-CN" sz="2400" b="0" dirty="0"/>
                  <a:t>=</a:t>
                </a:r>
                <a:r>
                  <a:rPr lang="en-US" altLang="zh-CN" sz="2400" b="0" dirty="0"/>
                  <a:t>(</a:t>
                </a:r>
                <a14:m>
                  <m:oMath xmlns:m="http://schemas.openxmlformats.org/officeDocument/2006/math">
                    <m:f>
                      <m:fPr>
                        <m:ctrlPr>
                          <a:rPr lang="en-US" altLang="zh-CN" sz="2400" i="1">
                            <a:solidFill>
                              <a:srgbClr val="000000"/>
                            </a:solidFill>
                            <a:latin typeface="Cambria Math" panose="02040503050406030204" pitchFamily="18" charset="0"/>
                          </a:rPr>
                        </m:ctrlPr>
                      </m:fPr>
                      <m:num>
                        <m:r>
                          <a:rPr lang="en-US" altLang="zh-CN" sz="2400" i="1">
                            <a:solidFill>
                              <a:srgbClr val="000000"/>
                            </a:solidFill>
                            <a:latin typeface="Cambria Math" panose="02040503050406030204" pitchFamily="18" charset="0"/>
                          </a:rPr>
                          <m:t>1</m:t>
                        </m:r>
                      </m:num>
                      <m:den>
                        <m:r>
                          <a:rPr lang="en-US" altLang="zh-CN" sz="2400" i="1">
                            <a:solidFill>
                              <a:srgbClr val="000000"/>
                            </a:solidFill>
                            <a:latin typeface="Cambria Math" panose="02040503050406030204" pitchFamily="18" charset="0"/>
                          </a:rPr>
                          <m:t>𝟐</m:t>
                        </m:r>
                      </m:den>
                    </m:f>
                    <m:r>
                      <a:rPr lang="en-US" altLang="zh-CN" sz="2400" b="0">
                        <a:solidFill>
                          <a:srgbClr val="000000"/>
                        </a:solidFill>
                        <a:latin typeface="Cambria Math" panose="02040503050406030204" pitchFamily="18" charset="0"/>
                      </a:rPr>
                      <m:t>)</m:t>
                    </m:r>
                  </m:oMath>
                </a14:m>
                <a:r>
                  <a:rPr lang="en-US" altLang="zh-CN" sz="2400" b="0" baseline="30000" dirty="0" smtClean="0"/>
                  <a:t>n</a:t>
                </a:r>
                <a:r>
                  <a:rPr lang="en-US" altLang="zh-CN" sz="2400" b="0" dirty="0" smtClean="0"/>
                  <a:t>K</a:t>
                </a:r>
                <a:endParaRPr lang="zh-CN" altLang="en-US" sz="2400" b="0" dirty="0"/>
              </a:p>
            </p:txBody>
          </p:sp>
        </mc:Choice>
        <mc:Fallback>
          <p:sp>
            <p:nvSpPr>
              <p:cNvPr id="15364" name="内容占位符 2">
                <a:extLst>
                  <a:ext uri="{FF2B5EF4-FFF2-40B4-BE49-F238E27FC236}">
                    <a16:creationId xmlns:a16="http://schemas.microsoft.com/office/drawing/2014/main" id="{E93A086C-88CE-4EF8-ABD2-B84A439B2131}"/>
                  </a:ext>
                </a:extLst>
              </p:cNvPr>
              <p:cNvSpPr>
                <a:spLocks noGrp="1" noRot="1" noChangeAspect="1" noMove="1" noResize="1" noEditPoints="1" noAdjustHandles="1" noChangeArrowheads="1" noChangeShapeType="1" noTextEdit="1"/>
              </p:cNvSpPr>
              <p:nvPr>
                <p:ph idx="1"/>
              </p:nvPr>
            </p:nvSpPr>
            <p:spPr>
              <a:xfrm>
                <a:off x="457200" y="1285875"/>
                <a:ext cx="8229600" cy="5033942"/>
              </a:xfrm>
              <a:blipFill>
                <a:blip r:embed="rId2"/>
                <a:stretch>
                  <a:fillRect l="-1111" t="-484" b="-242"/>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C0E037D1-8BA0-4C3D-B527-5D6DDD69E74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0CF81E0-ECCE-4E7E-90D6-94A89C4EC7C1}"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64</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mc:Choice xmlns:a14="http://schemas.microsoft.com/office/drawing/2010/main" Requires="a14">
          <p:sp>
            <p:nvSpPr>
              <p:cNvPr id="2" name="矩形 1"/>
              <p:cNvSpPr/>
              <p:nvPr/>
            </p:nvSpPr>
            <p:spPr>
              <a:xfrm>
                <a:off x="3150681" y="3167711"/>
                <a:ext cx="2842638" cy="522579"/>
              </a:xfrm>
              <a:prstGeom prst="rect">
                <a:avLst/>
              </a:prstGeom>
            </p:spPr>
            <p:txBody>
              <a:bodyPr wrap="none">
                <a:spAutoFit/>
              </a:bodyPr>
              <a:lstStyle/>
              <a:p>
                <a:pPr marL="0" indent="0" algn="just">
                  <a:lnSpc>
                    <a:spcPct val="110000"/>
                  </a:lnSpc>
                  <a:spcBef>
                    <a:spcPts val="0"/>
                  </a:spcBef>
                  <a:spcAft>
                    <a:spcPts val="600"/>
                  </a:spcAft>
                  <a:buNone/>
                </a:pPr>
                <a14:m>
                  <m:oMath xmlns:m="http://schemas.openxmlformats.org/officeDocument/2006/math">
                    <m:r>
                      <a:rPr lang="en-US" altLang="zh-CN" i="1">
                        <a:solidFill>
                          <a:srgbClr val="000000"/>
                        </a:solidFill>
                        <a:latin typeface="Cambria Math" panose="02040503050406030204" pitchFamily="18" charset="0"/>
                      </a:rPr>
                      <m:t>𝑦</m:t>
                    </m:r>
                    <m:d>
                      <m:dPr>
                        <m:begChr m:val="["/>
                        <m:endChr m:val="]"/>
                        <m:ctrlPr>
                          <a:rPr lang="en-US" altLang="zh-CN" i="1">
                            <a:solidFill>
                              <a:srgbClr val="000000"/>
                            </a:solidFill>
                            <a:latin typeface="Cambria Math" panose="02040503050406030204" pitchFamily="18" charset="0"/>
                          </a:rPr>
                        </m:ctrlPr>
                      </m:dPr>
                      <m:e>
                        <m:r>
                          <a:rPr lang="en-US" altLang="zh-CN" b="1" i="1">
                            <a:solidFill>
                              <a:srgbClr val="000000"/>
                            </a:solidFill>
                            <a:latin typeface="Cambria Math" panose="02040503050406030204" pitchFamily="18" charset="0"/>
                          </a:rPr>
                          <m:t>𝟐</m:t>
                        </m:r>
                      </m:e>
                    </m:d>
                    <m:r>
                      <a:rPr lang="en-US" altLang="zh-CN"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𝑥</m:t>
                    </m:r>
                    <m:r>
                      <a:rPr lang="en-US" altLang="zh-CN" i="1">
                        <a:solidFill>
                          <a:srgbClr val="000000"/>
                        </a:solidFill>
                        <a:latin typeface="Cambria Math" panose="02040503050406030204" pitchFamily="18" charset="0"/>
                      </a:rPr>
                      <m:t>[</m:t>
                    </m:r>
                    <m:r>
                      <a:rPr lang="en-US" altLang="zh-CN" b="1" i="1">
                        <a:solidFill>
                          <a:srgbClr val="000000"/>
                        </a:solidFill>
                        <a:latin typeface="Cambria Math" panose="02040503050406030204" pitchFamily="18" charset="0"/>
                      </a:rPr>
                      <m:t>𝟐</m:t>
                    </m:r>
                    <m:r>
                      <a:rPr lang="en-US" altLang="zh-CN" i="1">
                        <a:solidFill>
                          <a:srgbClr val="000000"/>
                        </a:solidFill>
                        <a:latin typeface="Cambria Math" panose="02040503050406030204" pitchFamily="18" charset="0"/>
                      </a:rPr>
                      <m:t>]</m:t>
                    </m:r>
                  </m:oMath>
                </a14:m>
                <a:r>
                  <a:rPr lang="en-US" altLang="zh-CN" dirty="0">
                    <a:solidFill>
                      <a:srgbClr val="000000"/>
                    </a:solidFill>
                  </a:rPr>
                  <a:t> </a:t>
                </a:r>
                <a14:m>
                  <m:oMath xmlns:m="http://schemas.openxmlformats.org/officeDocument/2006/math">
                    <m:r>
                      <a:rPr lang="en-US" altLang="zh-CN">
                        <a:solidFill>
                          <a:srgbClr val="000000"/>
                        </a:solidFill>
                        <a:latin typeface="Cambria Math" panose="02040503050406030204" pitchFamily="18" charset="0"/>
                      </a:rPr>
                      <m:t>+</m:t>
                    </m:r>
                    <m:f>
                      <m:fPr>
                        <m:ctrlPr>
                          <a:rPr lang="en-US" altLang="zh-CN" i="1">
                            <a:solidFill>
                              <a:srgbClr val="000000"/>
                            </a:solidFill>
                            <a:latin typeface="Cambria Math" panose="02040503050406030204" pitchFamily="18" charset="0"/>
                          </a:rPr>
                        </m:ctrlPr>
                      </m:fPr>
                      <m:num>
                        <m:r>
                          <a:rPr lang="en-US" altLang="zh-CN" i="1">
                            <a:solidFill>
                              <a:srgbClr val="000000"/>
                            </a:solidFill>
                            <a:latin typeface="Cambria Math" panose="02040503050406030204" pitchFamily="18" charset="0"/>
                          </a:rPr>
                          <m:t>1</m:t>
                        </m:r>
                      </m:num>
                      <m:den>
                        <m:r>
                          <a:rPr lang="en-US" altLang="zh-CN" i="1">
                            <a:solidFill>
                              <a:srgbClr val="000000"/>
                            </a:solidFill>
                            <a:latin typeface="Cambria Math" panose="02040503050406030204" pitchFamily="18" charset="0"/>
                          </a:rPr>
                          <m:t>𝟐</m:t>
                        </m:r>
                      </m:den>
                    </m:f>
                    <m:r>
                      <a:rPr lang="en-US" altLang="zh-CN" i="1">
                        <a:solidFill>
                          <a:srgbClr val="000000"/>
                        </a:solidFill>
                        <a:latin typeface="Cambria Math" panose="02040503050406030204" pitchFamily="18" charset="0"/>
                      </a:rPr>
                      <m:t>𝑦</m:t>
                    </m:r>
                    <m:r>
                      <a:rPr lang="en-US" altLang="zh-CN" i="1">
                        <a:solidFill>
                          <a:srgbClr val="000000"/>
                        </a:solidFill>
                        <a:latin typeface="Cambria Math" panose="02040503050406030204" pitchFamily="18" charset="0"/>
                      </a:rPr>
                      <m:t>[</m:t>
                    </m:r>
                    <m:r>
                      <a:rPr lang="en-US" altLang="zh-CN" b="1" i="1">
                        <a:solidFill>
                          <a:srgbClr val="000000"/>
                        </a:solidFill>
                        <a:latin typeface="Cambria Math" panose="02040503050406030204" pitchFamily="18" charset="0"/>
                      </a:rPr>
                      <m:t>𝟏</m:t>
                    </m:r>
                    <m:r>
                      <a:rPr lang="en-US" altLang="zh-CN" i="1">
                        <a:solidFill>
                          <a:srgbClr val="000000"/>
                        </a:solidFill>
                        <a:latin typeface="Cambria Math" panose="02040503050406030204" pitchFamily="18" charset="0"/>
                      </a:rPr>
                      <m:t>]</m:t>
                    </m:r>
                  </m:oMath>
                </a14:m>
                <a:r>
                  <a:rPr lang="en-US" altLang="zh-CN" dirty="0"/>
                  <a:t>=</a:t>
                </a:r>
                <a:r>
                  <a:rPr lang="en-US" altLang="zh-CN" dirty="0"/>
                  <a:t>(</a:t>
                </a:r>
                <a14:m>
                  <m:oMath xmlns:m="http://schemas.openxmlformats.org/officeDocument/2006/math">
                    <m:f>
                      <m:fPr>
                        <m:ctrlPr>
                          <a:rPr lang="en-US" altLang="zh-CN" i="1">
                            <a:solidFill>
                              <a:srgbClr val="000000"/>
                            </a:solidFill>
                            <a:latin typeface="Cambria Math" panose="02040503050406030204" pitchFamily="18" charset="0"/>
                          </a:rPr>
                        </m:ctrlPr>
                      </m:fPr>
                      <m:num>
                        <m:r>
                          <a:rPr lang="en-US" altLang="zh-CN" i="1">
                            <a:solidFill>
                              <a:srgbClr val="000000"/>
                            </a:solidFill>
                            <a:latin typeface="Cambria Math" panose="02040503050406030204" pitchFamily="18" charset="0"/>
                          </a:rPr>
                          <m:t>1</m:t>
                        </m:r>
                      </m:num>
                      <m:den>
                        <m:r>
                          <a:rPr lang="en-US" altLang="zh-CN" i="1">
                            <a:solidFill>
                              <a:srgbClr val="000000"/>
                            </a:solidFill>
                            <a:latin typeface="Cambria Math" panose="02040503050406030204" pitchFamily="18" charset="0"/>
                          </a:rPr>
                          <m:t>𝟐</m:t>
                        </m:r>
                      </m:den>
                    </m:f>
                    <m:r>
                      <a:rPr lang="en-US" altLang="zh-CN">
                        <a:solidFill>
                          <a:srgbClr val="000000"/>
                        </a:solidFill>
                        <a:latin typeface="Cambria Math" panose="02040503050406030204" pitchFamily="18" charset="0"/>
                      </a:rPr>
                      <m:t>)</m:t>
                    </m:r>
                  </m:oMath>
                </a14:m>
                <a:r>
                  <a:rPr lang="en-US" altLang="zh-CN" baseline="30000" dirty="0"/>
                  <a:t>2</a:t>
                </a:r>
                <a:r>
                  <a:rPr lang="en-US" altLang="zh-CN" dirty="0"/>
                  <a:t>K</a:t>
                </a:r>
                <a:endParaRPr lang="zh-CN" altLang="en-US" dirty="0"/>
              </a:p>
            </p:txBody>
          </p:sp>
        </mc:Choice>
        <mc:Fallback>
          <p:sp>
            <p:nvSpPr>
              <p:cNvPr id="2" name="矩形 1"/>
              <p:cNvSpPr>
                <a:spLocks noRot="1" noChangeAspect="1" noMove="1" noResize="1" noEditPoints="1" noAdjustHandles="1" noChangeArrowheads="1" noChangeShapeType="1" noTextEdit="1"/>
              </p:cNvSpPr>
              <p:nvPr/>
            </p:nvSpPr>
            <p:spPr>
              <a:xfrm>
                <a:off x="3150681" y="3167711"/>
                <a:ext cx="2842638" cy="522579"/>
              </a:xfrm>
              <a:prstGeom prst="rect">
                <a:avLst/>
              </a:prstGeom>
              <a:blipFill>
                <a:blip r:embed="rId3"/>
                <a:stretch>
                  <a:fillRect r="-858" b="-705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9539725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标题 1">
            <a:extLst>
              <a:ext uri="{FF2B5EF4-FFF2-40B4-BE49-F238E27FC236}">
                <a16:creationId xmlns:a16="http://schemas.microsoft.com/office/drawing/2014/main" id="{691FB387-2B1D-4C70-BAC2-8ABCF9E820C4}"/>
              </a:ext>
            </a:extLst>
          </p:cNvPr>
          <p:cNvSpPr>
            <a:spLocks noGrp="1"/>
          </p:cNvSpPr>
          <p:nvPr>
            <p:ph type="title"/>
          </p:nvPr>
        </p:nvSpPr>
        <p:spPr/>
        <p:txBody>
          <a:bodyPr/>
          <a:lstStyle/>
          <a:p>
            <a:r>
              <a:rPr lang="en-US" altLang="zh-CN" sz="3200">
                <a:solidFill>
                  <a:srgbClr val="000000"/>
                </a:solidFill>
              </a:rPr>
              <a:t>2.4 </a:t>
            </a:r>
            <a:r>
              <a:rPr lang="zh-CN" altLang="en-US" sz="3200">
                <a:solidFill>
                  <a:srgbClr val="000000"/>
                </a:solidFill>
              </a:rPr>
              <a:t>用微分和差分方程描述的因果</a:t>
            </a:r>
            <a:r>
              <a:rPr lang="en-US" altLang="zh-CN" sz="3200">
                <a:solidFill>
                  <a:srgbClr val="000000"/>
                </a:solidFill>
              </a:rPr>
              <a:t>LTI</a:t>
            </a:r>
            <a:r>
              <a:rPr lang="zh-CN" altLang="en-US" sz="3200">
                <a:solidFill>
                  <a:srgbClr val="000000"/>
                </a:solidFill>
              </a:rPr>
              <a:t>系统</a:t>
            </a:r>
            <a:endParaRPr lang="zh-CN" altLang="en-US"/>
          </a:p>
        </p:txBody>
      </p:sp>
      <mc:AlternateContent xmlns:mc="http://schemas.openxmlformats.org/markup-compatibility/2006">
        <mc:Choice xmlns:a14="http://schemas.microsoft.com/office/drawing/2010/main" Requires="a14">
          <p:sp>
            <p:nvSpPr>
              <p:cNvPr id="15364" name="内容占位符 2">
                <a:extLst>
                  <a:ext uri="{FF2B5EF4-FFF2-40B4-BE49-F238E27FC236}">
                    <a16:creationId xmlns:a16="http://schemas.microsoft.com/office/drawing/2014/main" id="{E93A086C-88CE-4EF8-ABD2-B84A439B2131}"/>
                  </a:ext>
                </a:extLst>
              </p:cNvPr>
              <p:cNvSpPr>
                <a:spLocks noGrp="1"/>
              </p:cNvSpPr>
              <p:nvPr>
                <p:ph idx="1"/>
              </p:nvPr>
            </p:nvSpPr>
            <p:spPr>
              <a:xfrm>
                <a:off x="457200" y="1285875"/>
                <a:ext cx="8229600" cy="1149225"/>
              </a:xfrm>
            </p:spPr>
            <p:txBody>
              <a:bodyPr>
                <a:spAutoFit/>
              </a:bodyPr>
              <a:lstStyle/>
              <a:p>
                <a:pPr algn="just">
                  <a:lnSpc>
                    <a:spcPct val="110000"/>
                  </a:lnSpc>
                  <a:spcBef>
                    <a:spcPts val="0"/>
                  </a:spcBef>
                  <a:spcAft>
                    <a:spcPts val="600"/>
                  </a:spcAft>
                </a:pPr>
                <a:r>
                  <a:rPr lang="zh-CN" altLang="en-US" sz="2400" b="0" dirty="0" smtClean="0"/>
                  <a:t>令</a:t>
                </a:r>
                <a:r>
                  <a:rPr lang="en-US" altLang="zh-CN" sz="2400" b="0" dirty="0" smtClean="0"/>
                  <a:t>K=1</a:t>
                </a:r>
                <a:endParaRPr lang="en-US" altLang="zh-CN" sz="2400" b="0" dirty="0" smtClean="0"/>
              </a:p>
              <a:p>
                <a:pPr marL="0" indent="0" algn="just">
                  <a:lnSpc>
                    <a:spcPct val="110000"/>
                  </a:lnSpc>
                  <a:spcBef>
                    <a:spcPts val="0"/>
                  </a:spcBef>
                  <a:spcAft>
                    <a:spcPts val="600"/>
                  </a:spcAft>
                  <a:buNone/>
                </a:pPr>
                <a:r>
                  <a:rPr lang="en-US" altLang="zh-CN" sz="2400" b="1" dirty="0" smtClean="0">
                    <a:solidFill>
                      <a:srgbClr val="000000"/>
                    </a:solidFill>
                  </a:rPr>
                  <a:t>                            </a:t>
                </a:r>
                <a14:m>
                  <m:oMath xmlns:m="http://schemas.openxmlformats.org/officeDocument/2006/math">
                    <m:r>
                      <a:rPr lang="en-US" altLang="zh-CN" sz="2400" b="1" i="1" smtClean="0">
                        <a:solidFill>
                          <a:srgbClr val="000000"/>
                        </a:solidFill>
                        <a:latin typeface="Cambria Math" panose="02040503050406030204" pitchFamily="18" charset="0"/>
                      </a:rPr>
                      <m:t>𝒉</m:t>
                    </m:r>
                    <m:d>
                      <m:dPr>
                        <m:begChr m:val="["/>
                        <m:endChr m:val="]"/>
                        <m:ctrlPr>
                          <a:rPr lang="en-US" altLang="zh-CN" sz="2400" i="1">
                            <a:solidFill>
                              <a:srgbClr val="000000"/>
                            </a:solidFill>
                            <a:latin typeface="Cambria Math" panose="02040503050406030204" pitchFamily="18" charset="0"/>
                          </a:rPr>
                        </m:ctrlPr>
                      </m:dPr>
                      <m:e>
                        <m:r>
                          <a:rPr lang="en-US" altLang="zh-CN" sz="2400" b="1" i="1" smtClean="0">
                            <a:solidFill>
                              <a:srgbClr val="000000"/>
                            </a:solidFill>
                            <a:latin typeface="Cambria Math" panose="02040503050406030204" pitchFamily="18" charset="0"/>
                          </a:rPr>
                          <m:t>𝒏</m:t>
                        </m:r>
                      </m:e>
                    </m:d>
                    <m:r>
                      <a:rPr lang="en-US" altLang="zh-CN" sz="2400" i="1">
                        <a:solidFill>
                          <a:srgbClr val="000000"/>
                        </a:solidFill>
                        <a:latin typeface="Cambria Math" panose="02040503050406030204" pitchFamily="18" charset="0"/>
                      </a:rPr>
                      <m:t>=</m:t>
                    </m:r>
                    <m:r>
                      <a:rPr lang="en-US" altLang="zh-CN" sz="2400" i="1" smtClean="0">
                        <a:solidFill>
                          <a:srgbClr val="000000"/>
                        </a:solidFill>
                        <a:latin typeface="Cambria Math" panose="02040503050406030204" pitchFamily="18" charset="0"/>
                      </a:rPr>
                      <m:t> </m:t>
                    </m:r>
                  </m:oMath>
                </a14:m>
                <a:r>
                  <a:rPr lang="en-US" altLang="zh-CN" sz="2400" b="0" dirty="0" smtClean="0"/>
                  <a:t>(</a:t>
                </a:r>
                <a14:m>
                  <m:oMath xmlns:m="http://schemas.openxmlformats.org/officeDocument/2006/math">
                    <m:f>
                      <m:fPr>
                        <m:ctrlPr>
                          <a:rPr lang="en-US" altLang="zh-CN" sz="2400" i="1">
                            <a:solidFill>
                              <a:srgbClr val="000000"/>
                            </a:solidFill>
                            <a:latin typeface="Cambria Math" panose="02040503050406030204" pitchFamily="18" charset="0"/>
                          </a:rPr>
                        </m:ctrlPr>
                      </m:fPr>
                      <m:num>
                        <m:r>
                          <a:rPr lang="en-US" altLang="zh-CN" sz="2400" i="1">
                            <a:solidFill>
                              <a:srgbClr val="000000"/>
                            </a:solidFill>
                            <a:latin typeface="Cambria Math" panose="02040503050406030204" pitchFamily="18" charset="0"/>
                          </a:rPr>
                          <m:t>1</m:t>
                        </m:r>
                      </m:num>
                      <m:den>
                        <m:r>
                          <a:rPr lang="en-US" altLang="zh-CN" sz="2400" i="1">
                            <a:solidFill>
                              <a:srgbClr val="000000"/>
                            </a:solidFill>
                            <a:latin typeface="Cambria Math" panose="02040503050406030204" pitchFamily="18" charset="0"/>
                          </a:rPr>
                          <m:t>𝟐</m:t>
                        </m:r>
                      </m:den>
                    </m:f>
                    <m:r>
                      <a:rPr lang="en-US" altLang="zh-CN" sz="2400" b="0">
                        <a:solidFill>
                          <a:srgbClr val="000000"/>
                        </a:solidFill>
                        <a:latin typeface="Cambria Math" panose="02040503050406030204" pitchFamily="18" charset="0"/>
                      </a:rPr>
                      <m:t>)</m:t>
                    </m:r>
                  </m:oMath>
                </a14:m>
                <a:r>
                  <a:rPr lang="en-US" altLang="zh-CN" sz="2400" b="0" baseline="30000" dirty="0" smtClean="0"/>
                  <a:t>n</a:t>
                </a:r>
                <a14:m>
                  <m:oMath xmlns:m="http://schemas.openxmlformats.org/officeDocument/2006/math">
                    <m:r>
                      <a:rPr lang="en-US" altLang="zh-CN" sz="2400" b="1" i="1" smtClean="0">
                        <a:solidFill>
                          <a:srgbClr val="000000"/>
                        </a:solidFill>
                        <a:latin typeface="Cambria Math" panose="02040503050406030204" pitchFamily="18" charset="0"/>
                      </a:rPr>
                      <m:t>𝒖</m:t>
                    </m:r>
                    <m:d>
                      <m:dPr>
                        <m:begChr m:val="["/>
                        <m:endChr m:val="]"/>
                        <m:ctrlPr>
                          <a:rPr lang="en-US" altLang="zh-CN"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𝒏</m:t>
                        </m:r>
                      </m:e>
                    </m:d>
                  </m:oMath>
                </a14:m>
                <a:endParaRPr lang="zh-CN" altLang="en-US" sz="2400" b="0" dirty="0"/>
              </a:p>
            </p:txBody>
          </p:sp>
        </mc:Choice>
        <mc:Fallback>
          <p:sp>
            <p:nvSpPr>
              <p:cNvPr id="15364" name="内容占位符 2">
                <a:extLst>
                  <a:ext uri="{FF2B5EF4-FFF2-40B4-BE49-F238E27FC236}">
                    <a16:creationId xmlns:a16="http://schemas.microsoft.com/office/drawing/2014/main" id="{E93A086C-88CE-4EF8-ABD2-B84A439B2131}"/>
                  </a:ext>
                </a:extLst>
              </p:cNvPr>
              <p:cNvSpPr>
                <a:spLocks noGrp="1" noRot="1" noChangeAspect="1" noMove="1" noResize="1" noEditPoints="1" noAdjustHandles="1" noChangeArrowheads="1" noChangeShapeType="1" noTextEdit="1"/>
              </p:cNvSpPr>
              <p:nvPr>
                <p:ph idx="1"/>
              </p:nvPr>
            </p:nvSpPr>
            <p:spPr>
              <a:xfrm>
                <a:off x="457200" y="1285875"/>
                <a:ext cx="8229600" cy="1149225"/>
              </a:xfrm>
              <a:blipFill>
                <a:blip r:embed="rId2"/>
                <a:stretch>
                  <a:fillRect l="-963" t="-3191" b="-4787"/>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C0E037D1-8BA0-4C3D-B527-5D6DDD69E74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0CF81E0-ECCE-4E7E-90D6-94A89C4EC7C1}"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65</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39394565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7" name="标题 1">
            <a:extLst>
              <a:ext uri="{FF2B5EF4-FFF2-40B4-BE49-F238E27FC236}">
                <a16:creationId xmlns:a16="http://schemas.microsoft.com/office/drawing/2014/main" id="{A7D083C9-7350-4ABF-927B-5788335379D1}"/>
              </a:ext>
            </a:extLst>
          </p:cNvPr>
          <p:cNvSpPr>
            <a:spLocks noGrp="1"/>
          </p:cNvSpPr>
          <p:nvPr>
            <p:ph type="title"/>
          </p:nvPr>
        </p:nvSpPr>
        <p:spPr/>
        <p:txBody>
          <a:bodyPr/>
          <a:lstStyle/>
          <a:p>
            <a:r>
              <a:rPr lang="en-US" altLang="zh-CN" sz="3200">
                <a:solidFill>
                  <a:srgbClr val="000000"/>
                </a:solidFill>
              </a:rPr>
              <a:t>2.4 </a:t>
            </a:r>
            <a:r>
              <a:rPr lang="zh-CN" altLang="en-US" sz="3200">
                <a:solidFill>
                  <a:srgbClr val="000000"/>
                </a:solidFill>
              </a:rPr>
              <a:t>用微分和差分方程描述的因果</a:t>
            </a:r>
            <a:r>
              <a:rPr lang="en-US" altLang="zh-CN" sz="3200">
                <a:solidFill>
                  <a:srgbClr val="000000"/>
                </a:solidFill>
              </a:rPr>
              <a:t>LTI</a:t>
            </a:r>
            <a:r>
              <a:rPr lang="zh-CN" altLang="en-US" sz="3200">
                <a:solidFill>
                  <a:srgbClr val="000000"/>
                </a:solidFill>
              </a:rPr>
              <a:t>系统</a:t>
            </a:r>
            <a:endParaRPr lang="zh-CN" altLang="en-US"/>
          </a:p>
        </p:txBody>
      </p:sp>
      <mc:AlternateContent xmlns:mc="http://schemas.openxmlformats.org/markup-compatibility/2006" xmlns:a14="http://schemas.microsoft.com/office/drawing/2010/main">
        <mc:Choice Requires="a14">
          <p:sp>
            <p:nvSpPr>
              <p:cNvPr id="17418" name="内容占位符 2">
                <a:extLst>
                  <a:ext uri="{FF2B5EF4-FFF2-40B4-BE49-F238E27FC236}">
                    <a16:creationId xmlns:a16="http://schemas.microsoft.com/office/drawing/2014/main" id="{8AB274F2-70D2-41B6-B1F4-FC6161A387DA}"/>
                  </a:ext>
                </a:extLst>
              </p:cNvPr>
              <p:cNvSpPr>
                <a:spLocks noGrp="1"/>
              </p:cNvSpPr>
              <p:nvPr>
                <p:ph idx="1"/>
              </p:nvPr>
            </p:nvSpPr>
            <p:spPr>
              <a:xfrm>
                <a:off x="457200" y="1285875"/>
                <a:ext cx="8229600" cy="5225405"/>
              </a:xfrm>
            </p:spPr>
            <p:txBody>
              <a:bodyPr>
                <a:spAutoFit/>
              </a:bodyPr>
              <a:lstStyle/>
              <a:p>
                <a:pPr algn="just">
                  <a:spcBef>
                    <a:spcPts val="0"/>
                  </a:spcBef>
                  <a:spcAft>
                    <a:spcPts val="600"/>
                  </a:spcAft>
                </a:pPr>
                <a:r>
                  <a:rPr lang="zh-CN" altLang="en-US" sz="2800" b="0" dirty="0"/>
                  <a:t>当</a:t>
                </a:r>
                <a14:m>
                  <m:oMath xmlns:m="http://schemas.openxmlformats.org/officeDocument/2006/math">
                    <m:sSub>
                      <m:sSubPr>
                        <m:ctrlPr>
                          <a:rPr lang="en-US" sz="2800" b="0" i="1" smtClean="0">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𝑎</m:t>
                        </m:r>
                      </m:e>
                      <m:sub>
                        <m:r>
                          <a:rPr lang="en-US" sz="2800" b="0" i="1">
                            <a:solidFill>
                              <a:srgbClr val="000000"/>
                            </a:solidFill>
                            <a:latin typeface="Cambria Math" panose="02040503050406030204" pitchFamily="18" charset="0"/>
                          </a:rPr>
                          <m:t>𝑘</m:t>
                        </m:r>
                      </m:sub>
                    </m:sSub>
                    <m:r>
                      <a:rPr lang="en-US" sz="2800" b="0" i="1">
                        <a:solidFill>
                          <a:srgbClr val="000000"/>
                        </a:solidFill>
                        <a:latin typeface="Cambria Math" panose="02040503050406030204" pitchFamily="18" charset="0"/>
                      </a:rPr>
                      <m:t>=0,</m:t>
                    </m:r>
                    <m:r>
                      <a:rPr lang="en-US" sz="2800" b="0" i="1">
                        <a:solidFill>
                          <a:srgbClr val="000000"/>
                        </a:solidFill>
                        <a:latin typeface="Cambria Math" panose="02040503050406030204" pitchFamily="18" charset="0"/>
                      </a:rPr>
                      <m:t>𝑘</m:t>
                    </m:r>
                    <m:r>
                      <a:rPr lang="en-US" sz="2800" b="0" i="1">
                        <a:solidFill>
                          <a:srgbClr val="000000"/>
                        </a:solidFill>
                        <a:latin typeface="Cambria Math" panose="02040503050406030204" pitchFamily="18" charset="0"/>
                      </a:rPr>
                      <m:t>≠0</m:t>
                    </m:r>
                  </m:oMath>
                </a14:m>
                <a:r>
                  <a:rPr lang="zh-CN" altLang="en-US" sz="2800" b="0" dirty="0"/>
                  <a:t>时，差分方程变为：</a:t>
                </a:r>
                <a:endParaRPr lang="en-US" altLang="zh-CN" sz="2800" b="0" dirty="0"/>
              </a:p>
              <a:p>
                <a:pPr marL="0" indent="0" algn="just">
                  <a:spcBef>
                    <a:spcPts val="0"/>
                  </a:spcBef>
                  <a:spcAft>
                    <a:spcPts val="600"/>
                  </a:spcAft>
                  <a:buNone/>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nary>
                        <m:naryPr>
                          <m:chr m:val="∑"/>
                          <m:ctrlPr>
                            <a:rPr lang="en-US" sz="2800" b="0" i="1">
                              <a:solidFill>
                                <a:srgbClr val="000000"/>
                              </a:solidFill>
                              <a:latin typeface="Cambria Math" panose="02040503050406030204" pitchFamily="18" charset="0"/>
                            </a:rPr>
                          </m:ctrlPr>
                        </m:naryPr>
                        <m:sub>
                          <m:r>
                            <a:rPr lang="en-US" sz="2800" b="0" i="1">
                              <a:solidFill>
                                <a:srgbClr val="000000"/>
                              </a:solidFill>
                              <a:latin typeface="Cambria Math" panose="02040503050406030204" pitchFamily="18" charset="0"/>
                            </a:rPr>
                            <m:t>𝑘</m:t>
                          </m:r>
                          <m:r>
                            <a:rPr lang="en-US" sz="2800" b="0" i="1">
                              <a:solidFill>
                                <a:srgbClr val="000000"/>
                              </a:solidFill>
                              <a:latin typeface="Cambria Math" panose="02040503050406030204" pitchFamily="18" charset="0"/>
                            </a:rPr>
                            <m:t>=0</m:t>
                          </m:r>
                        </m:sub>
                        <m:sup>
                          <m:r>
                            <a:rPr lang="en-US" sz="2800" b="0" i="1">
                              <a:solidFill>
                                <a:srgbClr val="000000"/>
                              </a:solidFill>
                              <a:latin typeface="Cambria Math" panose="02040503050406030204" pitchFamily="18" charset="0"/>
                            </a:rPr>
                            <m:t>𝑀</m:t>
                          </m:r>
                        </m:sup>
                        <m:e>
                          <m:f>
                            <m:fPr>
                              <m:ctrlPr>
                                <a:rPr lang="en-US" sz="2800" b="0" i="1">
                                  <a:solidFill>
                                    <a:srgbClr val="000000"/>
                                  </a:solidFill>
                                  <a:latin typeface="Cambria Math" panose="02040503050406030204" pitchFamily="18" charset="0"/>
                                </a:rPr>
                              </m:ctrlPr>
                            </m:fPr>
                            <m:num>
                              <m:sSub>
                                <m:sSubPr>
                                  <m:ctrlPr>
                                    <a:rPr lang="en-US" sz="2800" b="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𝑏</m:t>
                                  </m:r>
                                </m:e>
                                <m:sub>
                                  <m:r>
                                    <a:rPr lang="en-US" sz="2800" b="0" i="1">
                                      <a:solidFill>
                                        <a:srgbClr val="000000"/>
                                      </a:solidFill>
                                      <a:latin typeface="Cambria Math" panose="02040503050406030204" pitchFamily="18" charset="0"/>
                                    </a:rPr>
                                    <m:t>𝑘</m:t>
                                  </m:r>
                                </m:sub>
                              </m:sSub>
                            </m:num>
                            <m:den>
                              <m:sSub>
                                <m:sSubPr>
                                  <m:ctrlPr>
                                    <a:rPr lang="en-US" sz="2800" b="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𝑎</m:t>
                                  </m:r>
                                </m:e>
                                <m:sub>
                                  <m:r>
                                    <a:rPr lang="en-US" sz="2800" b="0" i="1">
                                      <a:solidFill>
                                        <a:srgbClr val="000000"/>
                                      </a:solidFill>
                                      <a:latin typeface="Cambria Math" panose="02040503050406030204" pitchFamily="18" charset="0"/>
                                    </a:rPr>
                                    <m:t>0</m:t>
                                  </m:r>
                                </m:sub>
                              </m:sSub>
                            </m:den>
                          </m:f>
                          <m:r>
                            <a:rPr lang="en-US" sz="2800" b="0" i="1">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𝑛</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𝑘</m:t>
                          </m:r>
                          <m:r>
                            <a:rPr lang="en-US" sz="2800" b="0" i="1" smtClean="0">
                              <a:solidFill>
                                <a:srgbClr val="000000"/>
                              </a:solidFill>
                              <a:latin typeface="Cambria Math" panose="02040503050406030204" pitchFamily="18" charset="0"/>
                            </a:rPr>
                            <m:t>]</m:t>
                          </m:r>
                        </m:e>
                      </m:nary>
                    </m:oMath>
                  </m:oMathPara>
                </a14:m>
                <a:endParaRPr lang="en-US" altLang="zh-CN" sz="2800" b="0" dirty="0"/>
              </a:p>
              <a:p>
                <a:pPr marL="355600" indent="0" algn="just">
                  <a:spcBef>
                    <a:spcPts val="0"/>
                  </a:spcBef>
                  <a:spcAft>
                    <a:spcPts val="600"/>
                  </a:spcAft>
                  <a:buNone/>
                </a:pPr>
                <a:r>
                  <a:rPr lang="zh-CN" altLang="en-US" sz="2800" b="0" dirty="0"/>
                  <a:t>此时为</a:t>
                </a:r>
                <a:r>
                  <a:rPr lang="zh-CN" altLang="en-US" sz="2800" b="0" dirty="0">
                    <a:solidFill>
                      <a:srgbClr val="FF0000"/>
                    </a:solidFill>
                  </a:rPr>
                  <a:t>非递归方程</a:t>
                </a:r>
                <a:r>
                  <a:rPr lang="zh-CN" altLang="en-US" sz="2800" b="0" dirty="0"/>
                  <a:t>。显然这是一个卷积和的形式，其中</a:t>
                </a:r>
                <a14:m>
                  <m:oMath xmlns:m="http://schemas.openxmlformats.org/officeDocument/2006/math">
                    <m:r>
                      <a:rPr lang="en-US" sz="2800" b="0" i="1" smtClean="0">
                        <a:solidFill>
                          <a:srgbClr val="000000"/>
                        </a:solidFill>
                        <a:latin typeface="Cambria Math" panose="02040503050406030204" pitchFamily="18" charset="0"/>
                      </a:rPr>
                      <m:t>h</m:t>
                    </m:r>
                    <m:d>
                      <m:dPr>
                        <m:begChr m:val="["/>
                        <m:endChr m:val="]"/>
                        <m:ctrlPr>
                          <a:rPr lang="en-US" sz="2800" b="0" i="1" smtClean="0">
                            <a:solidFill>
                              <a:srgbClr val="000000"/>
                            </a:solidFill>
                            <a:latin typeface="Cambria Math" panose="02040503050406030204" pitchFamily="18" charset="0"/>
                          </a:rPr>
                        </m:ctrlPr>
                      </m:dPr>
                      <m:e>
                        <m:r>
                          <a:rPr lang="en-US" sz="2800" b="0" i="1" smtClean="0">
                            <a:solidFill>
                              <a:srgbClr val="000000"/>
                            </a:solidFill>
                            <a:latin typeface="Cambria Math" panose="02040503050406030204" pitchFamily="18" charset="0"/>
                          </a:rPr>
                          <m:t>𝑛</m:t>
                        </m:r>
                      </m:e>
                    </m:d>
                    <m:r>
                      <a:rPr lang="en-US" sz="2800" b="0" i="1" smtClean="0">
                        <a:solidFill>
                          <a:srgbClr val="000000"/>
                        </a:solidFill>
                        <a:latin typeface="Cambria Math" panose="02040503050406030204" pitchFamily="18" charset="0"/>
                      </a:rPr>
                      <m:t>=</m:t>
                    </m:r>
                    <m:f>
                      <m:fPr>
                        <m:ctrlPr>
                          <a:rPr lang="en-US" sz="2800" b="0" i="1">
                            <a:solidFill>
                              <a:srgbClr val="000000"/>
                            </a:solidFill>
                            <a:latin typeface="Cambria Math" panose="02040503050406030204" pitchFamily="18" charset="0"/>
                          </a:rPr>
                        </m:ctrlPr>
                      </m:fPr>
                      <m:num>
                        <m:sSub>
                          <m:sSubPr>
                            <m:ctrlPr>
                              <a:rPr lang="en-US" sz="2800" b="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𝑏</m:t>
                            </m:r>
                          </m:e>
                          <m:sub>
                            <m:r>
                              <a:rPr lang="en-US" sz="2800" b="0" i="1">
                                <a:solidFill>
                                  <a:srgbClr val="000000"/>
                                </a:solidFill>
                                <a:latin typeface="Cambria Math" panose="02040503050406030204" pitchFamily="18" charset="0"/>
                              </a:rPr>
                              <m:t>𝑛</m:t>
                            </m:r>
                          </m:sub>
                        </m:sSub>
                      </m:num>
                      <m:den>
                        <m:sSub>
                          <m:sSubPr>
                            <m:ctrlPr>
                              <a:rPr lang="en-US" sz="2800" b="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𝑎</m:t>
                            </m:r>
                          </m:e>
                          <m:sub>
                            <m:r>
                              <a:rPr lang="en-US" sz="2800" b="0" i="1">
                                <a:solidFill>
                                  <a:srgbClr val="000000"/>
                                </a:solidFill>
                                <a:latin typeface="Cambria Math" panose="02040503050406030204" pitchFamily="18" charset="0"/>
                              </a:rPr>
                              <m:t>0</m:t>
                            </m:r>
                          </m:sub>
                        </m:sSub>
                      </m:den>
                    </m:f>
                  </m:oMath>
                </a14:m>
                <a:r>
                  <a:rPr lang="en-US" altLang="zh-CN" sz="2800" b="0" dirty="0"/>
                  <a:t>, </a:t>
                </a:r>
                <a14:m>
                  <m:oMath xmlns:m="http://schemas.openxmlformats.org/officeDocument/2006/math">
                    <m:r>
                      <a:rPr lang="en-US" sz="2800" b="0" i="1">
                        <a:solidFill>
                          <a:srgbClr val="000000"/>
                        </a:solidFill>
                        <a:latin typeface="Cambria Math" panose="02040503050406030204" pitchFamily="18" charset="0"/>
                      </a:rPr>
                      <m:t>0≤</m:t>
                    </m:r>
                    <m:r>
                      <a:rPr lang="en-US" sz="2800" b="0" i="1">
                        <a:solidFill>
                          <a:srgbClr val="000000"/>
                        </a:solidFill>
                        <a:latin typeface="Cambria Math" panose="02040503050406030204" pitchFamily="18" charset="0"/>
                      </a:rPr>
                      <m:t>𝑛</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𝑀</m:t>
                    </m:r>
                  </m:oMath>
                </a14:m>
                <a:r>
                  <a:rPr lang="zh-CN" altLang="en-US" sz="2800" b="0" dirty="0"/>
                  <a:t>。由于</a:t>
                </a:r>
                <a14:m>
                  <m:oMath xmlns:m="http://schemas.openxmlformats.org/officeDocument/2006/math">
                    <m:r>
                      <a:rPr lang="en-US" sz="2800" b="0" i="1">
                        <a:solidFill>
                          <a:srgbClr val="000000"/>
                        </a:solidFill>
                        <a:latin typeface="Cambria Math" panose="02040503050406030204" pitchFamily="18" charset="0"/>
                      </a:rPr>
                      <m:t>h</m:t>
                    </m:r>
                    <m:r>
                      <a:rPr lang="en-US" sz="2800" b="0" i="1" smtClean="0">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𝑛</m:t>
                    </m:r>
                    <m:r>
                      <a:rPr lang="en-US" sz="2800" b="0" i="1" smtClean="0">
                        <a:solidFill>
                          <a:srgbClr val="000000"/>
                        </a:solidFill>
                        <a:latin typeface="Cambria Math" panose="02040503050406030204" pitchFamily="18" charset="0"/>
                      </a:rPr>
                      <m:t>]</m:t>
                    </m:r>
                  </m:oMath>
                </a14:m>
                <a:r>
                  <a:rPr lang="zh-CN" altLang="en-US" sz="2800" b="0" dirty="0"/>
                  <a:t>是有限长的，该系统称为</a:t>
                </a:r>
                <a:r>
                  <a:rPr lang="zh-CN" altLang="en-US" sz="2800" b="0" dirty="0">
                    <a:solidFill>
                      <a:srgbClr val="FF0000"/>
                    </a:solidFill>
                  </a:rPr>
                  <a:t>有限脉冲响应</a:t>
                </a:r>
                <a:r>
                  <a:rPr lang="zh-CN" altLang="en-US" sz="2800" b="0" dirty="0"/>
                  <a:t>（</a:t>
                </a:r>
                <a:r>
                  <a:rPr lang="en-US" altLang="zh-CN" sz="2800" b="0" dirty="0"/>
                  <a:t>Finite Impulse Response</a:t>
                </a:r>
                <a:r>
                  <a:rPr lang="zh-CN" altLang="en-US" sz="2800" b="0" dirty="0"/>
                  <a:t>，</a:t>
                </a:r>
                <a:r>
                  <a:rPr lang="en-US" altLang="zh-CN" sz="2800" b="0" dirty="0">
                    <a:solidFill>
                      <a:srgbClr val="FF0000"/>
                    </a:solidFill>
                  </a:rPr>
                  <a:t>FIR</a:t>
                </a:r>
                <a:r>
                  <a:rPr lang="zh-CN" altLang="en-US" sz="2800" b="0" dirty="0"/>
                  <a:t>）系统。</a:t>
                </a:r>
                <a:endParaRPr lang="en-US" altLang="zh-CN" sz="2800" b="0" dirty="0"/>
              </a:p>
              <a:p>
                <a:pPr algn="just">
                  <a:spcBef>
                    <a:spcPts val="0"/>
                  </a:spcBef>
                  <a:spcAft>
                    <a:spcPts val="600"/>
                  </a:spcAft>
                </a:pPr>
                <a:r>
                  <a:rPr lang="zh-CN" altLang="en-US" sz="2800" b="0" dirty="0"/>
                  <a:t>而递归方程描述的系统结合初始松弛条件具有无限长的单位脉冲响应，因而称为</a:t>
                </a:r>
                <a:r>
                  <a:rPr lang="zh-CN" altLang="en-US" sz="2800" b="0" dirty="0">
                    <a:solidFill>
                      <a:srgbClr val="FF0000"/>
                    </a:solidFill>
                  </a:rPr>
                  <a:t>无限脉冲响应</a:t>
                </a:r>
                <a:r>
                  <a:rPr lang="zh-CN" altLang="en-US" sz="2800" b="0" dirty="0"/>
                  <a:t>（</a:t>
                </a:r>
                <a:r>
                  <a:rPr lang="en-US" altLang="zh-CN" sz="2800" b="0" dirty="0"/>
                  <a:t>Infinite Impulse Response</a:t>
                </a:r>
                <a:r>
                  <a:rPr lang="zh-CN" altLang="en-US" sz="2800" b="0" dirty="0"/>
                  <a:t>，</a:t>
                </a:r>
                <a:r>
                  <a:rPr lang="en-US" altLang="zh-CN" sz="2800" b="0" dirty="0">
                    <a:solidFill>
                      <a:srgbClr val="FF0000"/>
                    </a:solidFill>
                  </a:rPr>
                  <a:t>IIR</a:t>
                </a:r>
                <a:r>
                  <a:rPr lang="zh-CN" altLang="en-US" sz="2800" b="0" dirty="0"/>
                  <a:t>）系统。</a:t>
                </a:r>
              </a:p>
            </p:txBody>
          </p:sp>
        </mc:Choice>
        <mc:Fallback xmlns="">
          <p:sp>
            <p:nvSpPr>
              <p:cNvPr id="17418" name="内容占位符 2">
                <a:extLst>
                  <a:ext uri="{FF2B5EF4-FFF2-40B4-BE49-F238E27FC236}">
                    <a16:creationId xmlns:a16="http://schemas.microsoft.com/office/drawing/2014/main" id="{8AB274F2-70D2-41B6-B1F4-FC6161A387DA}"/>
                  </a:ext>
                </a:extLst>
              </p:cNvPr>
              <p:cNvSpPr>
                <a:spLocks noGrp="1" noRot="1" noChangeAspect="1" noMove="1" noResize="1" noEditPoints="1" noAdjustHandles="1" noChangeArrowheads="1" noChangeShapeType="1" noTextEdit="1"/>
              </p:cNvSpPr>
              <p:nvPr>
                <p:ph idx="1"/>
              </p:nvPr>
            </p:nvSpPr>
            <p:spPr>
              <a:xfrm>
                <a:off x="457200" y="1285875"/>
                <a:ext cx="8229600" cy="5225405"/>
              </a:xfrm>
              <a:blipFill>
                <a:blip r:embed="rId2"/>
                <a:stretch>
                  <a:fillRect l="-1333" t="-1284" r="-1481" b="-2334"/>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B9957D68-7D33-4C48-8C2C-39674715307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5DB9FA6-2A66-4EAD-937C-757694C0AB14}"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66</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a:extLst>
              <a:ext uri="{FF2B5EF4-FFF2-40B4-BE49-F238E27FC236}">
                <a16:creationId xmlns:a16="http://schemas.microsoft.com/office/drawing/2014/main" id="{F9056E3E-FD1C-46DA-82F9-064BD29F0786}"/>
              </a:ext>
            </a:extLst>
          </p:cNvPr>
          <p:cNvSpPr>
            <a:spLocks noGrp="1"/>
          </p:cNvSpPr>
          <p:nvPr>
            <p:ph type="title"/>
          </p:nvPr>
        </p:nvSpPr>
        <p:spPr/>
        <p:txBody>
          <a:bodyPr/>
          <a:lstStyle/>
          <a:p>
            <a:r>
              <a:rPr lang="en-US" altLang="zh-CN" sz="3200">
                <a:solidFill>
                  <a:srgbClr val="000000"/>
                </a:solidFill>
              </a:rPr>
              <a:t>2.4 </a:t>
            </a:r>
            <a:r>
              <a:rPr lang="zh-CN" altLang="en-US" sz="3200">
                <a:solidFill>
                  <a:srgbClr val="000000"/>
                </a:solidFill>
              </a:rPr>
              <a:t>用微分和差分方程描述的因果</a:t>
            </a:r>
            <a:r>
              <a:rPr lang="en-US" altLang="zh-CN" sz="3200">
                <a:solidFill>
                  <a:srgbClr val="000000"/>
                </a:solidFill>
              </a:rPr>
              <a:t>LTI</a:t>
            </a:r>
            <a:r>
              <a:rPr lang="zh-CN" altLang="en-US" sz="3200">
                <a:solidFill>
                  <a:srgbClr val="000000"/>
                </a:solidFill>
              </a:rPr>
              <a:t>系统</a:t>
            </a:r>
            <a:endParaRPr lang="zh-CN" altLang="en-US"/>
          </a:p>
        </p:txBody>
      </p:sp>
      <p:sp>
        <p:nvSpPr>
          <p:cNvPr id="49155" name="内容占位符 2">
            <a:extLst>
              <a:ext uri="{FF2B5EF4-FFF2-40B4-BE49-F238E27FC236}">
                <a16:creationId xmlns:a16="http://schemas.microsoft.com/office/drawing/2014/main" id="{D31BDCD7-D81B-4603-BE95-4B2353A983E1}"/>
              </a:ext>
            </a:extLst>
          </p:cNvPr>
          <p:cNvSpPr>
            <a:spLocks noGrp="1"/>
          </p:cNvSpPr>
          <p:nvPr>
            <p:ph idx="1"/>
          </p:nvPr>
        </p:nvSpPr>
        <p:spPr>
          <a:xfrm>
            <a:off x="457200" y="1285875"/>
            <a:ext cx="8229600" cy="3262432"/>
          </a:xfrm>
        </p:spPr>
        <p:txBody>
          <a:bodyPr>
            <a:spAutoFit/>
          </a:bodyPr>
          <a:lstStyle/>
          <a:p>
            <a:pPr>
              <a:spcBef>
                <a:spcPts val="0"/>
              </a:spcBef>
              <a:spcAft>
                <a:spcPts val="1200"/>
              </a:spcAft>
            </a:pPr>
            <a:r>
              <a:rPr lang="zh-CN" altLang="en-US" sz="2800" b="0" dirty="0"/>
              <a:t>与微分方程类似，差分方程的特解具有与输入信号相同的函数形式，称为</a:t>
            </a:r>
            <a:r>
              <a:rPr lang="zh-CN" altLang="en-US" sz="2800" b="0" dirty="0">
                <a:solidFill>
                  <a:srgbClr val="FF0000"/>
                </a:solidFill>
              </a:rPr>
              <a:t>受迫响应</a:t>
            </a:r>
            <a:r>
              <a:rPr lang="zh-CN" altLang="en-US" sz="2800" b="0" dirty="0"/>
              <a:t>或</a:t>
            </a:r>
            <a:r>
              <a:rPr lang="zh-CN" altLang="en-US" sz="2800" b="0" dirty="0">
                <a:solidFill>
                  <a:srgbClr val="FF0000"/>
                </a:solidFill>
              </a:rPr>
              <a:t>强迫响应</a:t>
            </a:r>
            <a:r>
              <a:rPr lang="zh-CN" altLang="en-US" sz="2800" b="0" dirty="0"/>
              <a:t>。齐次解与输入信号的形式无关，称为系统的</a:t>
            </a:r>
            <a:r>
              <a:rPr lang="zh-CN" altLang="en-US" sz="2800" b="0" dirty="0">
                <a:solidFill>
                  <a:srgbClr val="FF0000"/>
                </a:solidFill>
              </a:rPr>
              <a:t>自然响应</a:t>
            </a:r>
            <a:r>
              <a:rPr lang="zh-CN" altLang="en-US" sz="2800" b="0" dirty="0"/>
              <a:t>或</a:t>
            </a:r>
            <a:r>
              <a:rPr lang="zh-CN" altLang="en-US" sz="2800" b="0" dirty="0">
                <a:solidFill>
                  <a:srgbClr val="FF0000"/>
                </a:solidFill>
              </a:rPr>
              <a:t>自由响应</a:t>
            </a:r>
            <a:r>
              <a:rPr lang="zh-CN" altLang="en-US" sz="2800" b="0" dirty="0"/>
              <a:t>。</a:t>
            </a:r>
          </a:p>
          <a:p>
            <a:pPr>
              <a:spcBef>
                <a:spcPts val="0"/>
              </a:spcBef>
              <a:spcAft>
                <a:spcPts val="1200"/>
              </a:spcAft>
            </a:pPr>
            <a:r>
              <a:rPr lang="zh-CN" altLang="en-US" sz="2800" b="0" dirty="0"/>
              <a:t>具有非零起始状态的线性常系数微分或差分方程对应增量线性系统，其响应由</a:t>
            </a:r>
            <a:r>
              <a:rPr lang="zh-CN" altLang="en-US" sz="2800" b="0" dirty="0">
                <a:solidFill>
                  <a:srgbClr val="FF0000"/>
                </a:solidFill>
              </a:rPr>
              <a:t>零状态响应</a:t>
            </a:r>
            <a:r>
              <a:rPr lang="zh-CN" altLang="en-US" sz="2800" b="0" dirty="0"/>
              <a:t>和</a:t>
            </a:r>
            <a:r>
              <a:rPr lang="zh-CN" altLang="en-US" sz="2800" b="0" dirty="0">
                <a:solidFill>
                  <a:srgbClr val="FF0000"/>
                </a:solidFill>
              </a:rPr>
              <a:t>零输入响应</a:t>
            </a:r>
            <a:r>
              <a:rPr lang="zh-CN" altLang="en-US" sz="2800" b="0"/>
              <a:t>组成</a:t>
            </a:r>
            <a:r>
              <a:rPr lang="zh-CN" altLang="en-US" sz="2800" b="0" smtClean="0"/>
              <a:t>。</a:t>
            </a:r>
            <a:endParaRPr lang="en-US" altLang="zh-CN" sz="2800" b="0" dirty="0"/>
          </a:p>
        </p:txBody>
      </p:sp>
      <p:sp>
        <p:nvSpPr>
          <p:cNvPr id="4" name="灯片编号占位符 3">
            <a:extLst>
              <a:ext uri="{FF2B5EF4-FFF2-40B4-BE49-F238E27FC236}">
                <a16:creationId xmlns:a16="http://schemas.microsoft.com/office/drawing/2014/main" id="{AAD0BA3B-0AA4-4787-8873-7400D46DF17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DB2C57A-EC9C-4D93-9270-C3BEFFF0DACE}"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67</a:t>
            </a:fld>
            <a:endParaRPr kumimoji="0" lang="zh-CN" altLang="en-US" sz="1200" b="0" i="0" u="none" strike="noStrike" kern="1200" cap="none" spc="0" normalizeH="0" baseline="0" noProof="0" dirty="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a:extLst>
              <a:ext uri="{FF2B5EF4-FFF2-40B4-BE49-F238E27FC236}">
                <a16:creationId xmlns:a16="http://schemas.microsoft.com/office/drawing/2014/main" id="{EC21EC3C-B594-4482-98A1-01563AC981B1}"/>
              </a:ext>
            </a:extLst>
          </p:cNvPr>
          <p:cNvSpPr>
            <a:spLocks noGrp="1"/>
          </p:cNvSpPr>
          <p:nvPr>
            <p:ph type="title"/>
          </p:nvPr>
        </p:nvSpPr>
        <p:spPr/>
        <p:txBody>
          <a:bodyPr/>
          <a:lstStyle/>
          <a:p>
            <a:r>
              <a:rPr lang="en-US" altLang="zh-CN" sz="3200">
                <a:solidFill>
                  <a:srgbClr val="000000"/>
                </a:solidFill>
              </a:rPr>
              <a:t>2.4 </a:t>
            </a:r>
            <a:r>
              <a:rPr lang="zh-CN" altLang="en-US" sz="3200">
                <a:solidFill>
                  <a:srgbClr val="000000"/>
                </a:solidFill>
              </a:rPr>
              <a:t>用微分和差分方程描述的因果</a:t>
            </a:r>
            <a:r>
              <a:rPr lang="en-US" altLang="zh-CN" sz="3200">
                <a:solidFill>
                  <a:srgbClr val="000000"/>
                </a:solidFill>
              </a:rPr>
              <a:t>LTI</a:t>
            </a:r>
            <a:r>
              <a:rPr lang="zh-CN" altLang="en-US" sz="3200">
                <a:solidFill>
                  <a:srgbClr val="000000"/>
                </a:solidFill>
              </a:rPr>
              <a:t>系统</a:t>
            </a:r>
            <a:endParaRPr lang="zh-CN" altLang="en-US"/>
          </a:p>
        </p:txBody>
      </p:sp>
      <p:sp>
        <p:nvSpPr>
          <p:cNvPr id="50179" name="内容占位符 2">
            <a:extLst>
              <a:ext uri="{FF2B5EF4-FFF2-40B4-BE49-F238E27FC236}">
                <a16:creationId xmlns:a16="http://schemas.microsoft.com/office/drawing/2014/main" id="{EF2A3A9D-8A2D-41DB-A89F-AE740ED698ED}"/>
              </a:ext>
            </a:extLst>
          </p:cNvPr>
          <p:cNvSpPr>
            <a:spLocks noGrp="1"/>
          </p:cNvSpPr>
          <p:nvPr>
            <p:ph idx="1"/>
          </p:nvPr>
        </p:nvSpPr>
        <p:spPr>
          <a:xfrm>
            <a:off x="457200" y="1285875"/>
            <a:ext cx="8229600" cy="4837735"/>
          </a:xfrm>
        </p:spPr>
        <p:txBody>
          <a:bodyPr>
            <a:spAutoFit/>
          </a:bodyPr>
          <a:lstStyle/>
          <a:p>
            <a:pPr marL="0" indent="0" algn="just">
              <a:lnSpc>
                <a:spcPct val="130000"/>
              </a:lnSpc>
              <a:spcBef>
                <a:spcPts val="0"/>
              </a:spcBef>
              <a:spcAft>
                <a:spcPts val="1200"/>
              </a:spcAft>
              <a:buNone/>
            </a:pPr>
            <a:r>
              <a:rPr lang="zh-CN" altLang="en-US" sz="2800" b="0" dirty="0"/>
              <a:t>三</a:t>
            </a:r>
            <a:r>
              <a:rPr lang="en-US" altLang="zh-CN" sz="2800" b="0" dirty="0"/>
              <a:t>. </a:t>
            </a:r>
            <a:r>
              <a:rPr lang="zh-CN" altLang="en-US" sz="2800" b="0" dirty="0"/>
              <a:t>由微分和差分方程描述的</a:t>
            </a:r>
            <a:r>
              <a:rPr lang="en-US" altLang="zh-CN" sz="2800" b="0" dirty="0"/>
              <a:t>LTI</a:t>
            </a:r>
            <a:r>
              <a:rPr lang="zh-CN" altLang="en-US" sz="2800" b="0" dirty="0"/>
              <a:t>系统的方框图表示</a:t>
            </a:r>
            <a:endParaRPr lang="en-US" altLang="zh-CN" sz="2800" b="0" dirty="0"/>
          </a:p>
          <a:p>
            <a:pPr lvl="1" algn="just">
              <a:lnSpc>
                <a:spcPct val="130000"/>
              </a:lnSpc>
              <a:spcBef>
                <a:spcPts val="0"/>
              </a:spcBef>
              <a:spcAft>
                <a:spcPts val="1200"/>
              </a:spcAft>
            </a:pPr>
            <a:r>
              <a:rPr lang="zh-CN" altLang="en-US" b="0" dirty="0"/>
              <a:t>由</a:t>
            </a:r>
            <a:r>
              <a:rPr lang="zh-CN" altLang="en-US" b="0" dirty="0">
                <a:solidFill>
                  <a:srgbClr val="FF0000"/>
                </a:solidFill>
              </a:rPr>
              <a:t>线性常系数微分和差分方程</a:t>
            </a:r>
            <a:r>
              <a:rPr lang="zh-CN" altLang="en-US" b="0" dirty="0"/>
              <a:t>描述的系统，其数学模型是由一些基本运算来实现的，如果能用一种图形表示方程的运算关系，就会更加形象直观，从而便于理解系统的行为与特性；</a:t>
            </a:r>
            <a:endParaRPr lang="en-US" altLang="zh-CN" b="0" dirty="0"/>
          </a:p>
          <a:p>
            <a:pPr lvl="1" algn="just">
              <a:lnSpc>
                <a:spcPct val="130000"/>
              </a:lnSpc>
              <a:spcBef>
                <a:spcPts val="0"/>
              </a:spcBef>
              <a:spcAft>
                <a:spcPts val="1200"/>
              </a:spcAft>
            </a:pPr>
            <a:r>
              <a:rPr lang="zh-CN" altLang="en-US" b="0" dirty="0"/>
              <a:t>另一方面，分析系统很重要的目的是为了设计或实现一个系统，用图形表示系统的数学模型对系统的仿真与实现具有重要意义。</a:t>
            </a:r>
          </a:p>
        </p:txBody>
      </p:sp>
      <p:sp>
        <p:nvSpPr>
          <p:cNvPr id="4" name="灯片编号占位符 3">
            <a:extLst>
              <a:ext uri="{FF2B5EF4-FFF2-40B4-BE49-F238E27FC236}">
                <a16:creationId xmlns:a16="http://schemas.microsoft.com/office/drawing/2014/main" id="{5C78E03A-FD7E-4186-B397-F2B46C7691E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9C06FB2-1B80-4562-992A-E4E22AEE54EC}"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68</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6" name="标题 1">
            <a:extLst>
              <a:ext uri="{FF2B5EF4-FFF2-40B4-BE49-F238E27FC236}">
                <a16:creationId xmlns:a16="http://schemas.microsoft.com/office/drawing/2014/main" id="{60D67D24-B523-482D-8B73-3BADB0AD42BE}"/>
              </a:ext>
            </a:extLst>
          </p:cNvPr>
          <p:cNvSpPr>
            <a:spLocks noGrp="1"/>
          </p:cNvSpPr>
          <p:nvPr>
            <p:ph type="title"/>
          </p:nvPr>
        </p:nvSpPr>
        <p:spPr/>
        <p:txBody>
          <a:bodyPr/>
          <a:lstStyle/>
          <a:p>
            <a:r>
              <a:rPr lang="en-US" altLang="zh-CN" sz="3200">
                <a:solidFill>
                  <a:srgbClr val="000000"/>
                </a:solidFill>
              </a:rPr>
              <a:t>2.4 </a:t>
            </a:r>
            <a:r>
              <a:rPr lang="zh-CN" altLang="en-US" sz="3200">
                <a:solidFill>
                  <a:srgbClr val="000000"/>
                </a:solidFill>
              </a:rPr>
              <a:t>用微分和差分方程描述的因果</a:t>
            </a:r>
            <a:r>
              <a:rPr lang="en-US" altLang="zh-CN" sz="3200">
                <a:solidFill>
                  <a:srgbClr val="000000"/>
                </a:solidFill>
              </a:rPr>
              <a:t>LTI</a:t>
            </a:r>
            <a:r>
              <a:rPr lang="zh-CN" altLang="en-US" sz="3200">
                <a:solidFill>
                  <a:srgbClr val="000000"/>
                </a:solidFill>
              </a:rPr>
              <a:t>系统</a:t>
            </a:r>
            <a:endParaRPr lang="zh-CN" altLang="en-US"/>
          </a:p>
        </p:txBody>
      </p:sp>
      <mc:AlternateContent xmlns:mc="http://schemas.openxmlformats.org/markup-compatibility/2006" xmlns:a14="http://schemas.microsoft.com/office/drawing/2010/main">
        <mc:Choice Requires="a14">
          <p:sp>
            <p:nvSpPr>
              <p:cNvPr id="19467" name="内容占位符 2">
                <a:extLst>
                  <a:ext uri="{FF2B5EF4-FFF2-40B4-BE49-F238E27FC236}">
                    <a16:creationId xmlns:a16="http://schemas.microsoft.com/office/drawing/2014/main" id="{917EAF12-F779-4EFF-9583-A9DE19F38BE4}"/>
                  </a:ext>
                </a:extLst>
              </p:cNvPr>
              <p:cNvSpPr>
                <a:spLocks noGrp="1"/>
              </p:cNvSpPr>
              <p:nvPr>
                <p:ph idx="1"/>
              </p:nvPr>
            </p:nvSpPr>
            <p:spPr>
              <a:xfrm>
                <a:off x="457200" y="1285875"/>
                <a:ext cx="8229600" cy="2906437"/>
              </a:xfrm>
            </p:spPr>
            <p:txBody>
              <a:bodyPr>
                <a:spAutoFit/>
              </a:bodyPr>
              <a:lstStyle/>
              <a:p>
                <a:pPr marL="0" indent="0" algn="just">
                  <a:buNone/>
                </a:pPr>
                <a:r>
                  <a:rPr lang="en-US" altLang="zh-CN" sz="2400" b="0" dirty="0"/>
                  <a:t>1. </a:t>
                </a:r>
                <a:r>
                  <a:rPr lang="zh-CN" altLang="en-US" sz="2400" b="0" dirty="0">
                    <a:solidFill>
                      <a:srgbClr val="0000FF"/>
                    </a:solidFill>
                  </a:rPr>
                  <a:t>由差分方程描述的</a:t>
                </a:r>
                <a:r>
                  <a:rPr lang="en-US" altLang="zh-CN" sz="2400" b="0" dirty="0">
                    <a:solidFill>
                      <a:srgbClr val="0000FF"/>
                    </a:solidFill>
                  </a:rPr>
                  <a:t>LTI</a:t>
                </a:r>
                <a:r>
                  <a:rPr lang="zh-CN" altLang="en-US" sz="2400" b="0" dirty="0">
                    <a:solidFill>
                      <a:srgbClr val="0000FF"/>
                    </a:solidFill>
                  </a:rPr>
                  <a:t>系统的方框图表示</a:t>
                </a:r>
                <a:endParaRPr lang="en-US" altLang="zh-CN" sz="2400" b="0" dirty="0">
                  <a:solidFill>
                    <a:srgbClr val="0000FF"/>
                  </a:solidFill>
                </a:endParaRPr>
              </a:p>
              <a:p>
                <a:pPr algn="just"/>
                <a:r>
                  <a:rPr lang="zh-CN" altLang="en-US" sz="2400" b="0" dirty="0"/>
                  <a:t>将差分方程写为下面形式：</a:t>
                </a:r>
                <a:endParaRPr lang="en-US" altLang="zh-CN" sz="2400" b="0" dirty="0"/>
              </a:p>
              <a:p>
                <a:pPr marL="0" indent="0" algn="just">
                  <a:buNone/>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rPr>
                        <m:t>𝑦</m:t>
                      </m:r>
                      <m:r>
                        <a:rPr lang="en-US" sz="2400" b="1"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b="1"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0</m:t>
                              </m:r>
                            </m:sub>
                          </m:sSub>
                        </m:den>
                      </m:f>
                      <m:d>
                        <m:dPr>
                          <m:ctrlPr>
                            <a:rPr lang="en-US" sz="2400" i="1" smtClean="0">
                              <a:solidFill>
                                <a:srgbClr val="000000"/>
                              </a:solidFill>
                              <a:latin typeface="Cambria Math" panose="02040503050406030204" pitchFamily="18" charset="0"/>
                            </a:rPr>
                          </m:ctrlPr>
                        </m:dPr>
                        <m:e>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=0</m:t>
                              </m:r>
                            </m:sub>
                            <m:sup>
                              <m:r>
                                <a:rPr lang="en-US" sz="2400" i="1">
                                  <a:solidFill>
                                    <a:srgbClr val="000000"/>
                                  </a:solidFill>
                                  <a:latin typeface="Cambria Math" panose="02040503050406030204" pitchFamily="18" charset="0"/>
                                </a:rPr>
                                <m:t>𝑀</m:t>
                              </m:r>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𝑏</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e>
                          </m:nary>
                          <m: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=1</m:t>
                              </m:r>
                            </m:sub>
                            <m:sup>
                              <m:r>
                                <a:rPr lang="en-US" sz="2400" i="1">
                                  <a:solidFill>
                                    <a:srgbClr val="000000"/>
                                  </a:solidFill>
                                  <a:latin typeface="Cambria Math" panose="02040503050406030204" pitchFamily="18" charset="0"/>
                                </a:rPr>
                                <m:t>𝑁</m:t>
                              </m:r>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e>
                          </m:nary>
                        </m:e>
                      </m:d>
                    </m:oMath>
                  </m:oMathPara>
                </a14:m>
                <a:endParaRPr lang="en-US" altLang="zh-CN" sz="2400" b="0" dirty="0"/>
              </a:p>
              <a:p>
                <a:pPr algn="just"/>
                <a:r>
                  <a:rPr lang="zh-CN" altLang="en-US" sz="2400" b="0" dirty="0"/>
                  <a:t>可看出：方程中包括三种基本运算：</a:t>
                </a:r>
                <a:r>
                  <a:rPr lang="zh-CN" altLang="en-US" sz="2400" b="0" dirty="0">
                    <a:solidFill>
                      <a:srgbClr val="FF0000"/>
                    </a:solidFill>
                  </a:rPr>
                  <a:t>移位</a:t>
                </a:r>
                <a:r>
                  <a:rPr lang="zh-CN" altLang="en-US" sz="2400" b="0" dirty="0"/>
                  <a:t>（</a:t>
                </a:r>
                <a:r>
                  <a:rPr lang="zh-CN" altLang="en-US" sz="2400" b="0" dirty="0">
                    <a:solidFill>
                      <a:srgbClr val="FF0000"/>
                    </a:solidFill>
                  </a:rPr>
                  <a:t>延迟</a:t>
                </a:r>
                <a:r>
                  <a:rPr lang="zh-CN" altLang="en-US" sz="2400" b="0" dirty="0"/>
                  <a:t>）、</a:t>
                </a:r>
                <a:r>
                  <a:rPr lang="zh-CN" altLang="en-US" sz="2400" b="0" dirty="0">
                    <a:solidFill>
                      <a:srgbClr val="FF0000"/>
                    </a:solidFill>
                  </a:rPr>
                  <a:t>乘系数</a:t>
                </a:r>
                <a:r>
                  <a:rPr lang="zh-CN" altLang="en-US" sz="2400" b="0" dirty="0"/>
                  <a:t>、</a:t>
                </a:r>
                <a:r>
                  <a:rPr lang="zh-CN" altLang="en-US" sz="2400" b="0" dirty="0">
                    <a:solidFill>
                      <a:srgbClr val="FF0000"/>
                    </a:solidFill>
                  </a:rPr>
                  <a:t>相加</a:t>
                </a:r>
                <a:r>
                  <a:rPr lang="zh-CN" altLang="en-US" sz="2400" b="0" dirty="0"/>
                  <a:t>。这些运算可用以下三种图形表示：</a:t>
                </a:r>
              </a:p>
            </p:txBody>
          </p:sp>
        </mc:Choice>
        <mc:Fallback xmlns="">
          <p:sp>
            <p:nvSpPr>
              <p:cNvPr id="19467" name="内容占位符 2">
                <a:extLst>
                  <a:ext uri="{FF2B5EF4-FFF2-40B4-BE49-F238E27FC236}">
                    <a16:creationId xmlns:a16="http://schemas.microsoft.com/office/drawing/2014/main" id="{917EAF12-F779-4EFF-9583-A9DE19F38BE4}"/>
                  </a:ext>
                </a:extLst>
              </p:cNvPr>
              <p:cNvSpPr>
                <a:spLocks noGrp="1" noRot="1" noChangeAspect="1" noMove="1" noResize="1" noEditPoints="1" noAdjustHandles="1" noChangeArrowheads="1" noChangeShapeType="1" noTextEdit="1"/>
              </p:cNvSpPr>
              <p:nvPr>
                <p:ph idx="1"/>
              </p:nvPr>
            </p:nvSpPr>
            <p:spPr>
              <a:xfrm>
                <a:off x="457200" y="1285875"/>
                <a:ext cx="8229600" cy="2906437"/>
              </a:xfrm>
              <a:blipFill>
                <a:blip r:embed="rId3"/>
                <a:stretch>
                  <a:fillRect l="-1111" t="-1887" r="-1111" b="-3983"/>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2E2DA50C-5A39-4FDA-B555-9AC7869E6DE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2FC80D0-45BA-4688-AF60-BB90D2FA94E6}"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69</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20" name="组合 19">
            <a:extLst>
              <a:ext uri="{FF2B5EF4-FFF2-40B4-BE49-F238E27FC236}">
                <a16:creationId xmlns:a16="http://schemas.microsoft.com/office/drawing/2014/main" id="{7FF11CF9-E62D-477B-9AB3-16CB251B3A28}"/>
              </a:ext>
            </a:extLst>
          </p:cNvPr>
          <p:cNvGrpSpPr/>
          <p:nvPr/>
        </p:nvGrpSpPr>
        <p:grpSpPr>
          <a:xfrm>
            <a:off x="1122131" y="4348843"/>
            <a:ext cx="3178857" cy="806748"/>
            <a:chOff x="5552300" y="5110460"/>
            <a:chExt cx="3178857" cy="806748"/>
          </a:xfrm>
        </p:grpSpPr>
        <p:sp>
          <p:nvSpPr>
            <p:cNvPr id="19474" name="Line 21">
              <a:extLst>
                <a:ext uri="{FF2B5EF4-FFF2-40B4-BE49-F238E27FC236}">
                  <a16:creationId xmlns:a16="http://schemas.microsoft.com/office/drawing/2014/main" id="{F4A20F47-B4BB-4C2D-B25D-695E6DDAF671}"/>
                </a:ext>
              </a:extLst>
            </p:cNvPr>
            <p:cNvSpPr>
              <a:spLocks noChangeShapeType="1"/>
            </p:cNvSpPr>
            <p:nvPr/>
          </p:nvSpPr>
          <p:spPr bwMode="auto">
            <a:xfrm>
              <a:off x="5552300" y="5616191"/>
              <a:ext cx="900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9475" name="Rectangle 22">
              <a:extLst>
                <a:ext uri="{FF2B5EF4-FFF2-40B4-BE49-F238E27FC236}">
                  <a16:creationId xmlns:a16="http://schemas.microsoft.com/office/drawing/2014/main" id="{EFB03651-CF65-4A0E-AFAB-880DDAC64039}"/>
                </a:ext>
              </a:extLst>
            </p:cNvPr>
            <p:cNvSpPr>
              <a:spLocks noChangeArrowheads="1"/>
            </p:cNvSpPr>
            <p:nvPr/>
          </p:nvSpPr>
          <p:spPr bwMode="auto">
            <a:xfrm>
              <a:off x="6453347" y="5316828"/>
              <a:ext cx="984023" cy="600380"/>
            </a:xfrm>
            <a:prstGeom prst="rect">
              <a:avLst/>
            </a:prstGeom>
            <a:solidFill>
              <a:srgbClr val="CCFFFF"/>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D</a:t>
              </a:r>
            </a:p>
          </p:txBody>
        </p:sp>
        <p:sp>
          <p:nvSpPr>
            <p:cNvPr id="19476" name="Line 23">
              <a:extLst>
                <a:ext uri="{FF2B5EF4-FFF2-40B4-BE49-F238E27FC236}">
                  <a16:creationId xmlns:a16="http://schemas.microsoft.com/office/drawing/2014/main" id="{073CC7BC-92FE-4EF9-A92D-9DE652FD78E8}"/>
                </a:ext>
              </a:extLst>
            </p:cNvPr>
            <p:cNvSpPr>
              <a:spLocks noChangeShapeType="1"/>
            </p:cNvSpPr>
            <p:nvPr/>
          </p:nvSpPr>
          <p:spPr bwMode="auto">
            <a:xfrm>
              <a:off x="7437369" y="5616191"/>
              <a:ext cx="1260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9459" name="Object 24">
                  <a:extLst>
                    <a:ext uri="{FF2B5EF4-FFF2-40B4-BE49-F238E27FC236}">
                      <a16:creationId xmlns:a16="http://schemas.microsoft.com/office/drawing/2014/main" id="{5CF2B36D-5CB6-44A0-8788-7DBA6450FD74}"/>
                    </a:ext>
                  </a:extLst>
                </p:cNvPr>
                <p:cNvSpPr txBox="1"/>
                <p:nvPr/>
              </p:nvSpPr>
              <p:spPr bwMode="auto">
                <a:xfrm>
                  <a:off x="5586441" y="5110460"/>
                  <a:ext cx="703538" cy="461665"/>
                </a:xfrm>
                <a:prstGeom prst="rect">
                  <a:avLst/>
                </a:prstGeom>
                <a:noFill/>
                <a:ln>
                  <a:noFill/>
                </a:ln>
                <a:effectLst/>
              </p:spPr>
              <p:txBody>
                <a:bodyPr>
                  <a:spAutoFit/>
                </a:bodyPr>
                <a:lstStyle/>
                <a:p>
                  <a:pPr/>
                  <a14:m>
                    <m:oMathPara xmlns:m="http://schemas.openxmlformats.org/officeDocument/2006/math">
                      <m:oMathParaPr>
                        <m:jc m:val="center"/>
                      </m:oMathParaPr>
                      <m:oMath xmlns:m="http://schemas.openxmlformats.org/officeDocument/2006/math">
                        <m:r>
                          <a:rPr lang="en-US" sz="240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19459" name="Object 24">
                  <a:extLst>
                    <a:ext uri="{FF2B5EF4-FFF2-40B4-BE49-F238E27FC236}">
                      <a16:creationId xmlns:a16="http://schemas.microsoft.com/office/drawing/2014/main" id="{5CF2B36D-5CB6-44A0-8788-7DBA6450FD74}"/>
                    </a:ext>
                  </a:extLst>
                </p:cNvPr>
                <p:cNvSpPr txBox="1">
                  <a:spLocks noRot="1" noChangeAspect="1" noMove="1" noResize="1" noEditPoints="1" noAdjustHandles="1" noChangeArrowheads="1" noChangeShapeType="1" noTextEdit="1"/>
                </p:cNvSpPr>
                <p:nvPr/>
              </p:nvSpPr>
              <p:spPr bwMode="auto">
                <a:xfrm>
                  <a:off x="5586441" y="5110460"/>
                  <a:ext cx="703538" cy="461665"/>
                </a:xfrm>
                <a:prstGeom prst="rect">
                  <a:avLst/>
                </a:prstGeom>
                <a:blipFill>
                  <a:blip r:embed="rId4"/>
                  <a:stretch>
                    <a:fillRect r="-13913"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460" name="Object 25">
                  <a:extLst>
                    <a:ext uri="{FF2B5EF4-FFF2-40B4-BE49-F238E27FC236}">
                      <a16:creationId xmlns:a16="http://schemas.microsoft.com/office/drawing/2014/main" id="{788A8074-815F-404F-8CDE-A627D0C84E28}"/>
                    </a:ext>
                  </a:extLst>
                </p:cNvPr>
                <p:cNvSpPr txBox="1"/>
                <p:nvPr/>
              </p:nvSpPr>
              <p:spPr bwMode="auto">
                <a:xfrm>
                  <a:off x="7417788" y="5110460"/>
                  <a:ext cx="1313369" cy="461665"/>
                </a:xfrm>
                <a:prstGeom prst="rect">
                  <a:avLst/>
                </a:prstGeom>
                <a:no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r>
                          <a:rPr lang="en-US" sz="240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−1]</m:t>
                        </m:r>
                      </m:oMath>
                    </m:oMathPara>
                  </a14:m>
                  <a:endParaRPr lang="en-US" sz="2400" dirty="0"/>
                </a:p>
              </p:txBody>
            </p:sp>
          </mc:Choice>
          <mc:Fallback xmlns="">
            <p:sp>
              <p:nvSpPr>
                <p:cNvPr id="19460" name="Object 25">
                  <a:extLst>
                    <a:ext uri="{FF2B5EF4-FFF2-40B4-BE49-F238E27FC236}">
                      <a16:creationId xmlns:a16="http://schemas.microsoft.com/office/drawing/2014/main" id="{788A8074-815F-404F-8CDE-A627D0C84E28}"/>
                    </a:ext>
                  </a:extLst>
                </p:cNvPr>
                <p:cNvSpPr txBox="1">
                  <a:spLocks noRot="1" noChangeAspect="1" noMove="1" noResize="1" noEditPoints="1" noAdjustHandles="1" noChangeArrowheads="1" noChangeShapeType="1" noTextEdit="1"/>
                </p:cNvSpPr>
                <p:nvPr/>
              </p:nvSpPr>
              <p:spPr bwMode="auto">
                <a:xfrm>
                  <a:off x="7417788" y="5110460"/>
                  <a:ext cx="1313369" cy="461665"/>
                </a:xfrm>
                <a:prstGeom prst="rect">
                  <a:avLst/>
                </a:prstGeom>
                <a:blipFill>
                  <a:blip r:embed="rId5"/>
                  <a:stretch>
                    <a:fillRect r="-2778" b="-19737"/>
                  </a:stretch>
                </a:blipFill>
                <a:ln>
                  <a:noFill/>
                </a:ln>
                <a:effectLst/>
              </p:spPr>
              <p:txBody>
                <a:bodyPr/>
                <a:lstStyle/>
                <a:p>
                  <a:r>
                    <a:rPr lang="en-US">
                      <a:noFill/>
                    </a:rPr>
                    <a:t> </a:t>
                  </a:r>
                </a:p>
              </p:txBody>
            </p:sp>
          </mc:Fallback>
        </mc:AlternateContent>
      </p:grpSp>
      <p:grpSp>
        <p:nvGrpSpPr>
          <p:cNvPr id="18" name="组合 17">
            <a:extLst>
              <a:ext uri="{FF2B5EF4-FFF2-40B4-BE49-F238E27FC236}">
                <a16:creationId xmlns:a16="http://schemas.microsoft.com/office/drawing/2014/main" id="{2A76A3D3-423D-4A23-9D4A-4E65AF487985}"/>
              </a:ext>
            </a:extLst>
          </p:cNvPr>
          <p:cNvGrpSpPr/>
          <p:nvPr/>
        </p:nvGrpSpPr>
        <p:grpSpPr>
          <a:xfrm>
            <a:off x="1216346" y="5549727"/>
            <a:ext cx="3043418" cy="692497"/>
            <a:chOff x="6054" y="5110460"/>
            <a:chExt cx="3043418" cy="692497"/>
          </a:xfrm>
        </p:grpSpPr>
        <p:sp>
          <p:nvSpPr>
            <p:cNvPr id="19480" name="Line 8">
              <a:extLst>
                <a:ext uri="{FF2B5EF4-FFF2-40B4-BE49-F238E27FC236}">
                  <a16:creationId xmlns:a16="http://schemas.microsoft.com/office/drawing/2014/main" id="{AF81C8A9-507B-4976-91E0-FF86FADA73B0}"/>
                </a:ext>
              </a:extLst>
            </p:cNvPr>
            <p:cNvSpPr>
              <a:spLocks noChangeShapeType="1"/>
            </p:cNvSpPr>
            <p:nvPr/>
          </p:nvSpPr>
          <p:spPr bwMode="auto">
            <a:xfrm>
              <a:off x="714375" y="5598120"/>
              <a:ext cx="72072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9481" name="Line 9">
              <a:extLst>
                <a:ext uri="{FF2B5EF4-FFF2-40B4-BE49-F238E27FC236}">
                  <a16:creationId xmlns:a16="http://schemas.microsoft.com/office/drawing/2014/main" id="{6230773E-9D33-4260-9F96-09398618B4B2}"/>
                </a:ext>
              </a:extLst>
            </p:cNvPr>
            <p:cNvSpPr>
              <a:spLocks noChangeShapeType="1"/>
            </p:cNvSpPr>
            <p:nvPr/>
          </p:nvSpPr>
          <p:spPr bwMode="auto">
            <a:xfrm>
              <a:off x="1362075" y="5598120"/>
              <a:ext cx="7191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9465" name="Object 10">
                  <a:extLst>
                    <a:ext uri="{FF2B5EF4-FFF2-40B4-BE49-F238E27FC236}">
                      <a16:creationId xmlns:a16="http://schemas.microsoft.com/office/drawing/2014/main" id="{2970AB6D-44C0-40DC-BAE8-2D32B582ED11}"/>
                    </a:ext>
                  </a:extLst>
                </p:cNvPr>
                <p:cNvSpPr txBox="1"/>
                <p:nvPr/>
              </p:nvSpPr>
              <p:spPr bwMode="auto">
                <a:xfrm>
                  <a:off x="1197768" y="5110460"/>
                  <a:ext cx="328613" cy="461665"/>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𝑎</m:t>
                        </m:r>
                      </m:oMath>
                    </m:oMathPara>
                  </a14:m>
                  <a:endParaRPr lang="en-US" sz="2400" dirty="0"/>
                </a:p>
              </p:txBody>
            </p:sp>
          </mc:Choice>
          <mc:Fallback xmlns="">
            <p:sp>
              <p:nvSpPr>
                <p:cNvPr id="19465" name="Object 10">
                  <a:extLst>
                    <a:ext uri="{FF2B5EF4-FFF2-40B4-BE49-F238E27FC236}">
                      <a16:creationId xmlns:a16="http://schemas.microsoft.com/office/drawing/2014/main" id="{2970AB6D-44C0-40DC-BAE8-2D32B582ED11}"/>
                    </a:ext>
                  </a:extLst>
                </p:cNvPr>
                <p:cNvSpPr txBox="1">
                  <a:spLocks noRot="1" noChangeAspect="1" noMove="1" noResize="1" noEditPoints="1" noAdjustHandles="1" noChangeArrowheads="1" noChangeShapeType="1" noTextEdit="1"/>
                </p:cNvSpPr>
                <p:nvPr/>
              </p:nvSpPr>
              <p:spPr bwMode="auto">
                <a:xfrm>
                  <a:off x="1197768" y="5110460"/>
                  <a:ext cx="328613" cy="461665"/>
                </a:xfrm>
                <a:prstGeom prst="rect">
                  <a:avLst/>
                </a:prstGeom>
                <a:blipFill>
                  <a:blip r:embed="rId6"/>
                  <a:stretch>
                    <a:fillRect r="-3704"/>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Object 24">
                  <a:extLst>
                    <a:ext uri="{FF2B5EF4-FFF2-40B4-BE49-F238E27FC236}">
                      <a16:creationId xmlns:a16="http://schemas.microsoft.com/office/drawing/2014/main" id="{7AB5978A-34DC-4683-A1FF-36F46ED5EB7F}"/>
                    </a:ext>
                  </a:extLst>
                </p:cNvPr>
                <p:cNvSpPr txBox="1"/>
                <p:nvPr/>
              </p:nvSpPr>
              <p:spPr bwMode="auto">
                <a:xfrm>
                  <a:off x="6054" y="5315080"/>
                  <a:ext cx="703538" cy="461665"/>
                </a:xfrm>
                <a:prstGeom prst="rect">
                  <a:avLst/>
                </a:prstGeom>
                <a:noFill/>
                <a:ln>
                  <a:noFill/>
                </a:ln>
                <a:effectLst/>
              </p:spPr>
              <p:txBody>
                <a:bodyPr>
                  <a:spAutoFit/>
                </a:bodyPr>
                <a:lstStyle/>
                <a:p>
                  <a:pPr/>
                  <a14:m>
                    <m:oMathPara xmlns:m="http://schemas.openxmlformats.org/officeDocument/2006/math">
                      <m:oMathParaPr>
                        <m:jc m:val="center"/>
                      </m:oMathParaPr>
                      <m:oMath xmlns:m="http://schemas.openxmlformats.org/officeDocument/2006/math">
                        <m:r>
                          <a:rPr lang="en-US" sz="240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40" name="Object 24">
                  <a:extLst>
                    <a:ext uri="{FF2B5EF4-FFF2-40B4-BE49-F238E27FC236}">
                      <a16:creationId xmlns:a16="http://schemas.microsoft.com/office/drawing/2014/main" id="{7AB5978A-34DC-4683-A1FF-36F46ED5EB7F}"/>
                    </a:ext>
                  </a:extLst>
                </p:cNvPr>
                <p:cNvSpPr txBox="1">
                  <a:spLocks noRot="1" noChangeAspect="1" noMove="1" noResize="1" noEditPoints="1" noAdjustHandles="1" noChangeArrowheads="1" noChangeShapeType="1" noTextEdit="1"/>
                </p:cNvSpPr>
                <p:nvPr/>
              </p:nvSpPr>
              <p:spPr bwMode="auto">
                <a:xfrm>
                  <a:off x="6054" y="5315080"/>
                  <a:ext cx="703538" cy="461665"/>
                </a:xfrm>
                <a:prstGeom prst="rect">
                  <a:avLst/>
                </a:prstGeom>
                <a:blipFill>
                  <a:blip r:embed="rId7"/>
                  <a:stretch>
                    <a:fillRect r="-13913"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Object 24">
                  <a:extLst>
                    <a:ext uri="{FF2B5EF4-FFF2-40B4-BE49-F238E27FC236}">
                      <a16:creationId xmlns:a16="http://schemas.microsoft.com/office/drawing/2014/main" id="{04654FD7-4446-4D1D-A7E5-BBF92F67113F}"/>
                    </a:ext>
                  </a:extLst>
                </p:cNvPr>
                <p:cNvSpPr txBox="1"/>
                <p:nvPr/>
              </p:nvSpPr>
              <p:spPr bwMode="auto">
                <a:xfrm>
                  <a:off x="2130943" y="5341292"/>
                  <a:ext cx="918529" cy="461665"/>
                </a:xfrm>
                <a:prstGeom prst="rect">
                  <a:avLst/>
                </a:prstGeom>
                <a:no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r>
                          <a:rPr lang="en-US" sz="2400" b="0" i="1" smtClean="0">
                            <a:solidFill>
                              <a:srgbClr val="000000"/>
                            </a:solidFill>
                            <a:latin typeface="Cambria Math" panose="02040503050406030204" pitchFamily="18" charset="0"/>
                          </a:rPr>
                          <m:t>𝑎</m:t>
                        </m:r>
                        <m:r>
                          <a:rPr lang="en-US" sz="240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41" name="Object 24">
                  <a:extLst>
                    <a:ext uri="{FF2B5EF4-FFF2-40B4-BE49-F238E27FC236}">
                      <a16:creationId xmlns:a16="http://schemas.microsoft.com/office/drawing/2014/main" id="{04654FD7-4446-4D1D-A7E5-BBF92F67113F}"/>
                    </a:ext>
                  </a:extLst>
                </p:cNvPr>
                <p:cNvSpPr txBox="1">
                  <a:spLocks noRot="1" noChangeAspect="1" noMove="1" noResize="1" noEditPoints="1" noAdjustHandles="1" noChangeArrowheads="1" noChangeShapeType="1" noTextEdit="1"/>
                </p:cNvSpPr>
                <p:nvPr/>
              </p:nvSpPr>
              <p:spPr bwMode="auto">
                <a:xfrm>
                  <a:off x="2130943" y="5341292"/>
                  <a:ext cx="918529" cy="461665"/>
                </a:xfrm>
                <a:prstGeom prst="rect">
                  <a:avLst/>
                </a:prstGeom>
                <a:blipFill>
                  <a:blip r:embed="rId8"/>
                  <a:stretch>
                    <a:fillRect r="-5960" b="-19737"/>
                  </a:stretch>
                </a:blipFill>
                <a:ln>
                  <a:noFill/>
                </a:ln>
                <a:effectLst/>
              </p:spPr>
              <p:txBody>
                <a:bodyPr/>
                <a:lstStyle/>
                <a:p>
                  <a:r>
                    <a:rPr lang="en-US">
                      <a:noFill/>
                    </a:rPr>
                    <a:t> </a:t>
                  </a:r>
                </a:p>
              </p:txBody>
            </p:sp>
          </mc:Fallback>
        </mc:AlternateContent>
      </p:grpSp>
      <p:grpSp>
        <p:nvGrpSpPr>
          <p:cNvPr id="19" name="组合 18">
            <a:extLst>
              <a:ext uri="{FF2B5EF4-FFF2-40B4-BE49-F238E27FC236}">
                <a16:creationId xmlns:a16="http://schemas.microsoft.com/office/drawing/2014/main" id="{83B439C9-29BA-486B-B064-5185AEA5BFF3}"/>
              </a:ext>
            </a:extLst>
          </p:cNvPr>
          <p:cNvGrpSpPr/>
          <p:nvPr/>
        </p:nvGrpSpPr>
        <p:grpSpPr>
          <a:xfrm>
            <a:off x="4843013" y="4623519"/>
            <a:ext cx="3545411" cy="1443533"/>
            <a:chOff x="781031" y="5035210"/>
            <a:chExt cx="3545411" cy="1443533"/>
          </a:xfrm>
        </p:grpSpPr>
        <p:sp>
          <p:nvSpPr>
            <p:cNvPr id="19477" name="Line 12">
              <a:extLst>
                <a:ext uri="{FF2B5EF4-FFF2-40B4-BE49-F238E27FC236}">
                  <a16:creationId xmlns:a16="http://schemas.microsoft.com/office/drawing/2014/main" id="{CD0A6D10-B88B-4021-BB50-6A5DBA315774}"/>
                </a:ext>
              </a:extLst>
            </p:cNvPr>
            <p:cNvSpPr>
              <a:spLocks noChangeShapeType="1"/>
            </p:cNvSpPr>
            <p:nvPr/>
          </p:nvSpPr>
          <p:spPr bwMode="auto">
            <a:xfrm>
              <a:off x="1585681" y="5305954"/>
              <a:ext cx="650875" cy="40005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19478" name="Line 13">
              <a:extLst>
                <a:ext uri="{FF2B5EF4-FFF2-40B4-BE49-F238E27FC236}">
                  <a16:creationId xmlns:a16="http://schemas.microsoft.com/office/drawing/2014/main" id="{646CF0A8-AF82-4507-8CEA-49D6C47147FE}"/>
                </a:ext>
              </a:extLst>
            </p:cNvPr>
            <p:cNvSpPr>
              <a:spLocks noChangeShapeType="1"/>
            </p:cNvSpPr>
            <p:nvPr/>
          </p:nvSpPr>
          <p:spPr bwMode="auto">
            <a:xfrm flipV="1">
              <a:off x="1585681" y="5907617"/>
              <a:ext cx="650875" cy="40005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graphicFrame>
              <p:nvGraphicFramePr>
                <p:cNvPr id="19461" name="Object 14">
                  <a:extLst>
                    <a:ext uri="{FF2B5EF4-FFF2-40B4-BE49-F238E27FC236}">
                      <a16:creationId xmlns:a16="http://schemas.microsoft.com/office/drawing/2014/main" id="{88EB0C18-C9E3-427C-8744-46E8DFAE508D}"/>
                    </a:ext>
                  </a:extLst>
                </p:cNvPr>
                <p:cNvGraphicFramePr>
                  <a:graphicFrameLocks noChangeAspect="1"/>
                </p:cNvGraphicFramePr>
                <p:nvPr>
                  <p:extLst>
                    <p:ext uri="{D42A27DB-BD31-4B8C-83A1-F6EECF244321}">
                      <p14:modId xmlns:p14="http://schemas.microsoft.com/office/powerpoint/2010/main" val="609015926"/>
                    </p:ext>
                  </p:extLst>
                </p:nvPr>
              </p:nvGraphicFramePr>
              <p:xfrm>
                <a:off x="2106381" y="5574242"/>
                <a:ext cx="423863" cy="465138"/>
              </p:xfrm>
              <a:graphic>
                <a:graphicData uri="http://schemas.openxmlformats.org/presentationml/2006/ole">
                  <mc:AlternateContent>
                    <mc:Choice xmlns:v="urn:schemas-microsoft-com:vml" Requires="v">
                      <p:oleObj spid="_x0000_s7245" name="Equation" r:id="rId9" imgW="164880" imgH="177480" progId="Equation.DSMT4">
                        <p:embed/>
                      </p:oleObj>
                    </mc:Choice>
                    <mc:Fallback>
                      <p:oleObj name="Equation" r:id="rId9" imgW="164880" imgH="177480" progId="Equation.DSMT4">
                        <p:embed/>
                        <p:pic>
                          <p:nvPicPr>
                            <p:cNvPr id="19461" name="Object 14">
                              <a:extLst>
                                <a:ext uri="{FF2B5EF4-FFF2-40B4-BE49-F238E27FC236}">
                                  <a16:creationId xmlns:a16="http://schemas.microsoft.com/office/drawing/2014/main" id="{88EB0C18-C9E3-427C-8744-46E8DFAE508D}"/>
                                </a:ext>
                              </a:extLst>
                            </p:cNvPr>
                            <p:cNvPicPr>
                              <a:picLocks noChangeAspect="1" noChangeArrowheads="1"/>
                            </p:cNvPicPr>
                            <p:nvPr/>
                          </p:nvPicPr>
                          <p:blipFill>
                            <a:blip r:embed="rId10">
                              <a:extLst>
                                <a:ext uri="{28A0092B-C50C-407E-A947-70E740481C1C}">
                                  <a14:useLocalDpi val="0"/>
                                </a:ext>
                              </a:extLst>
                            </a:blip>
                            <a:srcRect/>
                            <a:stretch>
                              <a:fillRect/>
                            </a:stretch>
                          </p:blipFill>
                          <p:spPr bwMode="auto">
                            <a:xfrm>
                              <a:off x="2106381" y="5574242"/>
                              <a:ext cx="423863" cy="465138"/>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19461" name="Object 14">
                  <a:extLst>
                    <a:ext uri="{FF2B5EF4-FFF2-40B4-BE49-F238E27FC236}">
                      <a16:creationId xmlns:a16="http://schemas.microsoft.com/office/drawing/2014/main" id="{88EB0C18-C9E3-427C-8744-46E8DFAE508D}"/>
                    </a:ext>
                  </a:extLst>
                </p:cNvPr>
                <p:cNvGraphicFramePr>
                  <a:graphicFrameLocks noChangeAspect="1"/>
                </p:cNvGraphicFramePr>
                <p:nvPr>
                  <p:extLst>
                    <p:ext uri="{D42A27DB-BD31-4B8C-83A1-F6EECF244321}">
                      <p14:modId xmlns:p14="http://schemas.microsoft.com/office/powerpoint/2010/main" val="609015926"/>
                    </p:ext>
                  </p:extLst>
                </p:nvPr>
              </p:nvGraphicFramePr>
              <p:xfrm>
                <a:off x="2106381" y="5574242"/>
                <a:ext cx="423863" cy="465138"/>
              </p:xfrm>
              <a:graphic>
                <a:graphicData uri="http://schemas.openxmlformats.org/presentationml/2006/ole">
                  <mc:AlternateContent>
                    <mc:Choice xmlns:v="urn:schemas-microsoft-com:vml" Requires="v">
                      <p:oleObj name="Equation" r:id="rId11" imgW="164880" imgH="177480" progId="Equation.DSMT4">
                        <p:embed/>
                      </p:oleObj>
                    </mc:Choice>
                    <mc:Fallback>
                      <p:oleObj name="Equation" r:id="rId11" imgW="164880" imgH="177480" progId="Equation.DSMT4">
                        <p:embed/>
                        <p:pic>
                          <p:nvPicPr>
                            <p:cNvPr id="19461" name="Object 14">
                              <a:extLst>
                                <a:ext uri="{FF2B5EF4-FFF2-40B4-BE49-F238E27FC236}">
                                  <a16:creationId xmlns:a16="http://schemas.microsoft.com/office/drawing/2014/main" id="{88EB0C18-C9E3-427C-8744-46E8DFAE508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06381" y="5574242"/>
                              <a:ext cx="423863"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sp>
          <p:nvSpPr>
            <p:cNvPr id="19479" name="Line 15">
              <a:extLst>
                <a:ext uri="{FF2B5EF4-FFF2-40B4-BE49-F238E27FC236}">
                  <a16:creationId xmlns:a16="http://schemas.microsoft.com/office/drawing/2014/main" id="{605E8CEF-13CC-4777-BB62-09FC0AB2C1E5}"/>
                </a:ext>
              </a:extLst>
            </p:cNvPr>
            <p:cNvSpPr>
              <a:spLocks noChangeShapeType="1"/>
            </p:cNvSpPr>
            <p:nvPr/>
          </p:nvSpPr>
          <p:spPr bwMode="auto">
            <a:xfrm>
              <a:off x="2431819" y="5798079"/>
              <a:ext cx="1800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44" name="Object 24">
                  <a:extLst>
                    <a:ext uri="{FF2B5EF4-FFF2-40B4-BE49-F238E27FC236}">
                      <a16:creationId xmlns:a16="http://schemas.microsoft.com/office/drawing/2014/main" id="{9F468B02-367B-4801-B907-8B435634E9A2}"/>
                    </a:ext>
                  </a:extLst>
                </p:cNvPr>
                <p:cNvSpPr txBox="1"/>
                <p:nvPr/>
              </p:nvSpPr>
              <p:spPr bwMode="auto">
                <a:xfrm>
                  <a:off x="781031" y="5035210"/>
                  <a:ext cx="703538" cy="461665"/>
                </a:xfrm>
                <a:prstGeom prst="rect">
                  <a:avLst/>
                </a:prstGeom>
                <a:noFill/>
                <a:ln>
                  <a:noFill/>
                </a:ln>
                <a:effectLst/>
              </p:spPr>
              <p:txBody>
                <a:bodyPr>
                  <a:spAutoFit/>
                </a:bodyPr>
                <a:lstStyle/>
                <a:p>
                  <a:pPr/>
                  <a14:m>
                    <m:oMathPara xmlns:m="http://schemas.openxmlformats.org/officeDocument/2006/math">
                      <m:oMathParaPr>
                        <m:jc m:val="center"/>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𝑥</m:t>
                            </m:r>
                          </m:e>
                          <m:sub>
                            <m:r>
                              <a:rPr lang="en-US" sz="2400" b="0" i="1" smtClean="0">
                                <a:solidFill>
                                  <a:srgbClr val="000000"/>
                                </a:solidFill>
                                <a:latin typeface="Cambria Math" panose="02040503050406030204" pitchFamily="18" charset="0"/>
                              </a:rPr>
                              <m:t>1</m:t>
                            </m:r>
                          </m:sub>
                        </m:sSub>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44" name="Object 24">
                  <a:extLst>
                    <a:ext uri="{FF2B5EF4-FFF2-40B4-BE49-F238E27FC236}">
                      <a16:creationId xmlns:a16="http://schemas.microsoft.com/office/drawing/2014/main" id="{9F468B02-367B-4801-B907-8B435634E9A2}"/>
                    </a:ext>
                  </a:extLst>
                </p:cNvPr>
                <p:cNvSpPr txBox="1">
                  <a:spLocks noRot="1" noChangeAspect="1" noMove="1" noResize="1" noEditPoints="1" noAdjustHandles="1" noChangeArrowheads="1" noChangeShapeType="1" noTextEdit="1"/>
                </p:cNvSpPr>
                <p:nvPr/>
              </p:nvSpPr>
              <p:spPr bwMode="auto">
                <a:xfrm>
                  <a:off x="781031" y="5035210"/>
                  <a:ext cx="703538" cy="461665"/>
                </a:xfrm>
                <a:prstGeom prst="rect">
                  <a:avLst/>
                </a:prstGeom>
                <a:blipFill>
                  <a:blip r:embed="rId13"/>
                  <a:stretch>
                    <a:fillRect r="-31034"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Object 24">
                  <a:extLst>
                    <a:ext uri="{FF2B5EF4-FFF2-40B4-BE49-F238E27FC236}">
                      <a16:creationId xmlns:a16="http://schemas.microsoft.com/office/drawing/2014/main" id="{41D2A751-691C-47E1-A67B-A8E598F44D92}"/>
                    </a:ext>
                  </a:extLst>
                </p:cNvPr>
                <p:cNvSpPr txBox="1"/>
                <p:nvPr/>
              </p:nvSpPr>
              <p:spPr bwMode="auto">
                <a:xfrm>
                  <a:off x="781031" y="6017078"/>
                  <a:ext cx="703538" cy="461665"/>
                </a:xfrm>
                <a:prstGeom prst="rect">
                  <a:avLst/>
                </a:prstGeom>
                <a:noFill/>
                <a:ln>
                  <a:noFill/>
                </a:ln>
                <a:effectLst/>
              </p:spPr>
              <p:txBody>
                <a:bodyPr>
                  <a:spAutoFit/>
                </a:bodyPr>
                <a:lstStyle/>
                <a:p>
                  <a:pPr/>
                  <a14:m>
                    <m:oMathPara xmlns:m="http://schemas.openxmlformats.org/officeDocument/2006/math">
                      <m:oMathParaPr>
                        <m:jc m:val="center"/>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𝑥</m:t>
                            </m:r>
                          </m:e>
                          <m:sub>
                            <m:r>
                              <a:rPr lang="en-US" sz="2400" b="0" i="1" smtClean="0">
                                <a:solidFill>
                                  <a:srgbClr val="000000"/>
                                </a:solidFill>
                                <a:latin typeface="Cambria Math" panose="02040503050406030204" pitchFamily="18" charset="0"/>
                              </a:rPr>
                              <m:t>2</m:t>
                            </m:r>
                          </m:sub>
                        </m:sSub>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45" name="Object 24">
                  <a:extLst>
                    <a:ext uri="{FF2B5EF4-FFF2-40B4-BE49-F238E27FC236}">
                      <a16:creationId xmlns:a16="http://schemas.microsoft.com/office/drawing/2014/main" id="{41D2A751-691C-47E1-A67B-A8E598F44D92}"/>
                    </a:ext>
                  </a:extLst>
                </p:cNvPr>
                <p:cNvSpPr txBox="1">
                  <a:spLocks noRot="1" noChangeAspect="1" noMove="1" noResize="1" noEditPoints="1" noAdjustHandles="1" noChangeArrowheads="1" noChangeShapeType="1" noTextEdit="1"/>
                </p:cNvSpPr>
                <p:nvPr/>
              </p:nvSpPr>
              <p:spPr bwMode="auto">
                <a:xfrm>
                  <a:off x="781031" y="6017078"/>
                  <a:ext cx="703538" cy="461665"/>
                </a:xfrm>
                <a:prstGeom prst="rect">
                  <a:avLst/>
                </a:prstGeom>
                <a:blipFill>
                  <a:blip r:embed="rId14"/>
                  <a:stretch>
                    <a:fillRect r="-31897" b="-21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Object 24">
                  <a:extLst>
                    <a:ext uri="{FF2B5EF4-FFF2-40B4-BE49-F238E27FC236}">
                      <a16:creationId xmlns:a16="http://schemas.microsoft.com/office/drawing/2014/main" id="{867D1B59-F682-4B28-95AD-393EEACB69D7}"/>
                    </a:ext>
                  </a:extLst>
                </p:cNvPr>
                <p:cNvSpPr txBox="1"/>
                <p:nvPr/>
              </p:nvSpPr>
              <p:spPr bwMode="auto">
                <a:xfrm>
                  <a:off x="2345866" y="5288313"/>
                  <a:ext cx="1980576" cy="461665"/>
                </a:xfrm>
                <a:prstGeom prst="rect">
                  <a:avLst/>
                </a:prstGeom>
                <a:no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b="0" i="1" smtClean="0">
                                <a:solidFill>
                                  <a:srgbClr val="000000"/>
                                </a:solidFill>
                                <a:latin typeface="Cambria Math" panose="02040503050406030204" pitchFamily="18" charset="0"/>
                              </a:rPr>
                              <m:t>1</m:t>
                            </m:r>
                          </m:sub>
                        </m:sSub>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𝑛</m:t>
                            </m:r>
                          </m:e>
                        </m:d>
                        <m:r>
                          <a:rPr lang="en-US" sz="2400" b="0" i="1" smtClean="0">
                            <a:solidFill>
                              <a:srgbClr val="000000"/>
                            </a:solidFill>
                            <a:latin typeface="Cambria Math" panose="02040503050406030204" pitchFamily="18" charset="0"/>
                          </a:rPr>
                          <m:t>+</m:t>
                        </m:r>
                        <m:sSub>
                          <m:sSubPr>
                            <m:ctrlPr>
                              <a:rPr lang="en-US" sz="2400" i="1" smtClean="0">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𝑥</m:t>
                            </m:r>
                          </m:e>
                          <m:sub>
                            <m:r>
                              <a:rPr lang="en-US" sz="2400" b="0" i="1" smtClean="0">
                                <a:solidFill>
                                  <a:srgbClr val="000000"/>
                                </a:solidFill>
                                <a:latin typeface="Cambria Math" panose="02040503050406030204" pitchFamily="18" charset="0"/>
                              </a:rPr>
                              <m:t>2</m:t>
                            </m:r>
                          </m:sub>
                        </m:sSub>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46" name="Object 24">
                  <a:extLst>
                    <a:ext uri="{FF2B5EF4-FFF2-40B4-BE49-F238E27FC236}">
                      <a16:creationId xmlns:a16="http://schemas.microsoft.com/office/drawing/2014/main" id="{867D1B59-F682-4B28-95AD-393EEACB69D7}"/>
                    </a:ext>
                  </a:extLst>
                </p:cNvPr>
                <p:cNvSpPr txBox="1">
                  <a:spLocks noRot="1" noChangeAspect="1" noMove="1" noResize="1" noEditPoints="1" noAdjustHandles="1" noChangeArrowheads="1" noChangeShapeType="1" noTextEdit="1"/>
                </p:cNvSpPr>
                <p:nvPr/>
              </p:nvSpPr>
              <p:spPr bwMode="auto">
                <a:xfrm>
                  <a:off x="2345866" y="5288313"/>
                  <a:ext cx="1980576" cy="461665"/>
                </a:xfrm>
                <a:prstGeom prst="rect">
                  <a:avLst/>
                </a:prstGeom>
                <a:blipFill>
                  <a:blip r:embed="rId15"/>
                  <a:stretch>
                    <a:fillRect r="-1538" b="-19737"/>
                  </a:stretch>
                </a:blipFill>
                <a:ln>
                  <a:noFill/>
                </a:ln>
                <a:effectLst/>
              </p:spPr>
              <p:txBody>
                <a:bodyPr/>
                <a:lstStyle/>
                <a:p>
                  <a:r>
                    <a:rPr lang="en-US">
                      <a:noFill/>
                    </a:rPr>
                    <a:t> </a:t>
                  </a:r>
                </a:p>
              </p:txBody>
            </p:sp>
          </mc:Fallback>
        </mc:AlternateContent>
      </p:gr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0" name="标题 1">
            <a:extLst>
              <a:ext uri="{FF2B5EF4-FFF2-40B4-BE49-F238E27FC236}">
                <a16:creationId xmlns:a16="http://schemas.microsoft.com/office/drawing/2014/main" id="{6191D840-9247-4EE4-8DA7-54D82F9887DD}"/>
              </a:ext>
            </a:extLst>
          </p:cNvPr>
          <p:cNvSpPr>
            <a:spLocks noGrp="1"/>
          </p:cNvSpPr>
          <p:nvPr>
            <p:ph type="title"/>
          </p:nvPr>
        </p:nvSpPr>
        <p:spPr/>
        <p:txBody>
          <a:bodyPr/>
          <a:lstStyle/>
          <a:p>
            <a:r>
              <a:rPr lang="en-US" altLang="zh-CN" sz="3200">
                <a:solidFill>
                  <a:srgbClr val="000000"/>
                </a:solidFill>
              </a:rPr>
              <a:t>2.4 </a:t>
            </a:r>
            <a:r>
              <a:rPr lang="zh-CN" altLang="en-US" sz="3200">
                <a:solidFill>
                  <a:srgbClr val="000000"/>
                </a:solidFill>
              </a:rPr>
              <a:t>用微分和差分方程描述的因果</a:t>
            </a:r>
            <a:r>
              <a:rPr lang="en-US" altLang="zh-CN" sz="3200">
                <a:solidFill>
                  <a:srgbClr val="000000"/>
                </a:solidFill>
              </a:rPr>
              <a:t>LTI</a:t>
            </a:r>
            <a:r>
              <a:rPr lang="zh-CN" altLang="en-US" sz="3200">
                <a:solidFill>
                  <a:srgbClr val="000000"/>
                </a:solidFill>
              </a:rPr>
              <a:t>系统</a:t>
            </a:r>
            <a:endParaRPr lang="zh-CN" altLang="en-US"/>
          </a:p>
        </p:txBody>
      </p:sp>
      <mc:AlternateContent xmlns:mc="http://schemas.openxmlformats.org/markup-compatibility/2006" xmlns:a14="http://schemas.microsoft.com/office/drawing/2010/main">
        <mc:Choice Requires="a14">
          <p:sp>
            <p:nvSpPr>
              <p:cNvPr id="20511" name="内容占位符 2">
                <a:extLst>
                  <a:ext uri="{FF2B5EF4-FFF2-40B4-BE49-F238E27FC236}">
                    <a16:creationId xmlns:a16="http://schemas.microsoft.com/office/drawing/2014/main" id="{8AD79305-97EF-486E-8F6D-D48E1E2CA8DB}"/>
                  </a:ext>
                </a:extLst>
              </p:cNvPr>
              <p:cNvSpPr>
                <a:spLocks noGrp="1"/>
              </p:cNvSpPr>
              <p:nvPr>
                <p:ph idx="1"/>
              </p:nvPr>
            </p:nvSpPr>
            <p:spPr>
              <a:xfrm>
                <a:off x="457200" y="1285875"/>
                <a:ext cx="8229600" cy="1742785"/>
              </a:xfrm>
            </p:spPr>
            <p:txBody>
              <a:bodyPr>
                <a:spAutoFit/>
              </a:bodyPr>
              <a:lstStyle/>
              <a:p>
                <a:r>
                  <a:rPr lang="zh-CN" altLang="en-US" sz="2400" b="0" dirty="0"/>
                  <a:t>若令</a:t>
                </a:r>
                <a14:m>
                  <m:oMath xmlns:m="http://schemas.openxmlformats.org/officeDocument/2006/math">
                    <m:r>
                      <a:rPr lang="en-US" sz="2400" i="1" smtClean="0">
                        <a:solidFill>
                          <a:srgbClr val="000000"/>
                        </a:solidFill>
                        <a:latin typeface="Cambria Math" panose="02040503050406030204" pitchFamily="18" charset="0"/>
                      </a:rPr>
                      <m:t>𝑤</m:t>
                    </m:r>
                    <m:r>
                      <a:rPr lang="en-US" sz="2400" b="1"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b="1"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=0</m:t>
                        </m:r>
                      </m:sub>
                      <m:sup>
                        <m:r>
                          <a:rPr lang="en-US" sz="2400" i="1">
                            <a:solidFill>
                              <a:srgbClr val="000000"/>
                            </a:solidFill>
                            <a:latin typeface="Cambria Math" panose="02040503050406030204" pitchFamily="18" charset="0"/>
                          </a:rPr>
                          <m:t>𝑀</m:t>
                        </m:r>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𝑏</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𝑥</m:t>
                        </m:r>
                        <m:r>
                          <a:rPr lang="en-US" sz="2400" b="1"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b="1" i="1" smtClean="0">
                            <a:solidFill>
                              <a:srgbClr val="000000"/>
                            </a:solidFill>
                            <a:latin typeface="Cambria Math" panose="02040503050406030204" pitchFamily="18" charset="0"/>
                          </a:rPr>
                          <m:t>]</m:t>
                        </m:r>
                      </m:e>
                    </m:nary>
                  </m:oMath>
                </a14:m>
                <a:r>
                  <a:rPr lang="en-US" altLang="zh-CN" sz="2400" b="0" dirty="0"/>
                  <a:t>, </a:t>
                </a:r>
                <a:r>
                  <a:rPr lang="zh-CN" altLang="en-US" sz="2400" b="0" dirty="0"/>
                  <a:t>则</a:t>
                </a:r>
                <a:endParaRPr lang="en-US" altLang="zh-CN" sz="2400" b="0" dirty="0"/>
              </a:p>
              <a:p>
                <a:pPr marL="0" indent="0">
                  <a:spcBef>
                    <a:spcPts val="0"/>
                  </a:spcBef>
                  <a:spcAft>
                    <a:spcPts val="600"/>
                  </a:spcAft>
                  <a:buNone/>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rPr>
                        <m:t>𝑦</m:t>
                      </m:r>
                      <m:r>
                        <a:rPr lang="en-US" sz="2400" b="1"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b="1"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0</m:t>
                              </m:r>
                            </m:sub>
                          </m:sSub>
                        </m:den>
                      </m:f>
                      <m:d>
                        <m:dPr>
                          <m:ctrlPr>
                            <a:rPr lang="en-US" sz="2400" i="1" smtClean="0">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𝑤</m:t>
                          </m:r>
                          <m:r>
                            <a:rPr lang="en-US" sz="2400" b="1"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1"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=1</m:t>
                              </m:r>
                            </m:sub>
                            <m:sup>
                              <m:r>
                                <a:rPr lang="en-US" sz="2400" i="1">
                                  <a:solidFill>
                                    <a:srgbClr val="000000"/>
                                  </a:solidFill>
                                  <a:latin typeface="Cambria Math" panose="02040503050406030204" pitchFamily="18" charset="0"/>
                                </a:rPr>
                                <m:t>𝑁</m:t>
                              </m:r>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e>
                          </m:nary>
                        </m:e>
                      </m:d>
                    </m:oMath>
                  </m:oMathPara>
                </a14:m>
                <a:endParaRPr lang="zh-CN" altLang="en-US" sz="2400" b="0" dirty="0"/>
              </a:p>
            </p:txBody>
          </p:sp>
        </mc:Choice>
        <mc:Fallback xmlns="">
          <p:sp>
            <p:nvSpPr>
              <p:cNvPr id="20511" name="内容占位符 2">
                <a:extLst>
                  <a:ext uri="{FF2B5EF4-FFF2-40B4-BE49-F238E27FC236}">
                    <a16:creationId xmlns:a16="http://schemas.microsoft.com/office/drawing/2014/main" id="{8AD79305-97EF-486E-8F6D-D48E1E2CA8DB}"/>
                  </a:ext>
                </a:extLst>
              </p:cNvPr>
              <p:cNvSpPr>
                <a:spLocks noGrp="1" noRot="1" noChangeAspect="1" noMove="1" noResize="1" noEditPoints="1" noAdjustHandles="1" noChangeArrowheads="1" noChangeShapeType="1" noTextEdit="1"/>
              </p:cNvSpPr>
              <p:nvPr>
                <p:ph idx="1"/>
              </p:nvPr>
            </p:nvSpPr>
            <p:spPr>
              <a:xfrm>
                <a:off x="457200" y="1285875"/>
                <a:ext cx="8229600" cy="1742785"/>
              </a:xfrm>
              <a:blipFill>
                <a:blip r:embed="rId2"/>
                <a:stretch>
                  <a:fillRect l="-963" t="-33916"/>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47E64B21-D350-4269-9633-0C08BD97129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5B105F9-E39B-48F3-8BF9-BC5A45645EBA}"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70</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2" name="Group 3">
            <a:extLst>
              <a:ext uri="{FF2B5EF4-FFF2-40B4-BE49-F238E27FC236}">
                <a16:creationId xmlns:a16="http://schemas.microsoft.com/office/drawing/2014/main" id="{ACF80000-9110-44A0-8993-0C9720706788}"/>
              </a:ext>
            </a:extLst>
          </p:cNvPr>
          <p:cNvGrpSpPr>
            <a:grpSpLocks/>
          </p:cNvGrpSpPr>
          <p:nvPr/>
        </p:nvGrpSpPr>
        <p:grpSpPr bwMode="auto">
          <a:xfrm>
            <a:off x="945477" y="2999793"/>
            <a:ext cx="3435555" cy="3586629"/>
            <a:chOff x="856" y="1757"/>
            <a:chExt cx="1886" cy="1992"/>
          </a:xfrm>
        </p:grpSpPr>
        <p:sp>
          <p:nvSpPr>
            <p:cNvPr id="20541" name="Line 4">
              <a:extLst>
                <a:ext uri="{FF2B5EF4-FFF2-40B4-BE49-F238E27FC236}">
                  <a16:creationId xmlns:a16="http://schemas.microsoft.com/office/drawing/2014/main" id="{83A7DA38-91EA-43B1-895A-48A330D3072C}"/>
                </a:ext>
              </a:extLst>
            </p:cNvPr>
            <p:cNvSpPr>
              <a:spLocks noChangeShapeType="1"/>
            </p:cNvSpPr>
            <p:nvPr/>
          </p:nvSpPr>
          <p:spPr bwMode="auto">
            <a:xfrm>
              <a:off x="1001" y="2026"/>
              <a:ext cx="38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nvGrpSpPr>
            <p:cNvPr id="20542" name="Group 5">
              <a:extLst>
                <a:ext uri="{FF2B5EF4-FFF2-40B4-BE49-F238E27FC236}">
                  <a16:creationId xmlns:a16="http://schemas.microsoft.com/office/drawing/2014/main" id="{684B32AE-575A-4119-8297-66F02DC1209C}"/>
                </a:ext>
              </a:extLst>
            </p:cNvPr>
            <p:cNvGrpSpPr>
              <a:grpSpLocks/>
            </p:cNvGrpSpPr>
            <p:nvPr/>
          </p:nvGrpSpPr>
          <p:grpSpPr bwMode="auto">
            <a:xfrm>
              <a:off x="1207" y="2024"/>
              <a:ext cx="363" cy="1718"/>
              <a:chOff x="645" y="1570"/>
              <a:chExt cx="363" cy="2042"/>
            </a:xfrm>
          </p:grpSpPr>
          <p:sp>
            <p:nvSpPr>
              <p:cNvPr id="20557" name="Line 6">
                <a:extLst>
                  <a:ext uri="{FF2B5EF4-FFF2-40B4-BE49-F238E27FC236}">
                    <a16:creationId xmlns:a16="http://schemas.microsoft.com/office/drawing/2014/main" id="{15EBC43B-6FF6-4687-9CA8-F8EA1D6E4C4D}"/>
                  </a:ext>
                </a:extLst>
              </p:cNvPr>
              <p:cNvSpPr>
                <a:spLocks noChangeShapeType="1"/>
              </p:cNvSpPr>
              <p:nvPr/>
            </p:nvSpPr>
            <p:spPr bwMode="auto">
              <a:xfrm>
                <a:off x="827" y="1570"/>
                <a:ext cx="0" cy="18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58" name="Rectangle 7">
                <a:extLst>
                  <a:ext uri="{FF2B5EF4-FFF2-40B4-BE49-F238E27FC236}">
                    <a16:creationId xmlns:a16="http://schemas.microsoft.com/office/drawing/2014/main" id="{3C5DB034-C0EC-4DA1-9EA8-D9FF03996869}"/>
                  </a:ext>
                </a:extLst>
              </p:cNvPr>
              <p:cNvSpPr>
                <a:spLocks noChangeArrowheads="1"/>
              </p:cNvSpPr>
              <p:nvPr/>
            </p:nvSpPr>
            <p:spPr bwMode="auto">
              <a:xfrm>
                <a:off x="645" y="1752"/>
                <a:ext cx="363" cy="272"/>
              </a:xfrm>
              <a:prstGeom prst="rect">
                <a:avLst/>
              </a:prstGeom>
              <a:solidFill>
                <a:srgbClr val="CCFFFF"/>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40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D</a:t>
                </a:r>
              </a:p>
            </p:txBody>
          </p:sp>
          <p:sp>
            <p:nvSpPr>
              <p:cNvPr id="20559" name="Line 8">
                <a:extLst>
                  <a:ext uri="{FF2B5EF4-FFF2-40B4-BE49-F238E27FC236}">
                    <a16:creationId xmlns:a16="http://schemas.microsoft.com/office/drawing/2014/main" id="{9D1678A7-1AE9-4E98-AF3A-664D05F76E11}"/>
                  </a:ext>
                </a:extLst>
              </p:cNvPr>
              <p:cNvSpPr>
                <a:spLocks noChangeShapeType="1"/>
              </p:cNvSpPr>
              <p:nvPr/>
            </p:nvSpPr>
            <p:spPr bwMode="auto">
              <a:xfrm>
                <a:off x="827" y="2024"/>
                <a:ext cx="0" cy="18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60" name="Rectangle 9">
                <a:extLst>
                  <a:ext uri="{FF2B5EF4-FFF2-40B4-BE49-F238E27FC236}">
                    <a16:creationId xmlns:a16="http://schemas.microsoft.com/office/drawing/2014/main" id="{72AF4F30-087B-4F64-98F1-40B9D742DBE4}"/>
                  </a:ext>
                </a:extLst>
              </p:cNvPr>
              <p:cNvSpPr>
                <a:spLocks noChangeArrowheads="1"/>
              </p:cNvSpPr>
              <p:nvPr/>
            </p:nvSpPr>
            <p:spPr bwMode="auto">
              <a:xfrm>
                <a:off x="645" y="2205"/>
                <a:ext cx="363" cy="272"/>
              </a:xfrm>
              <a:prstGeom prst="rect">
                <a:avLst/>
              </a:prstGeom>
              <a:solidFill>
                <a:srgbClr val="CCFFFF"/>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40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D</a:t>
                </a:r>
              </a:p>
            </p:txBody>
          </p:sp>
          <mc:AlternateContent xmlns:mc="http://schemas.openxmlformats.org/markup-compatibility/2006" xmlns:a14="http://schemas.microsoft.com/office/drawing/2010/main">
            <mc:Choice Requires="a14">
              <p:sp>
                <p:nvSpPr>
                  <p:cNvPr id="20509" name="Object 10">
                    <a:extLst>
                      <a:ext uri="{FF2B5EF4-FFF2-40B4-BE49-F238E27FC236}">
                        <a16:creationId xmlns:a16="http://schemas.microsoft.com/office/drawing/2014/main" id="{5EFDFA0D-D65B-4F52-B490-E53341A10E91}"/>
                      </a:ext>
                    </a:extLst>
                  </p:cNvPr>
                  <p:cNvSpPr txBox="1"/>
                  <p:nvPr/>
                </p:nvSpPr>
                <p:spPr bwMode="auto">
                  <a:xfrm>
                    <a:off x="752" y="2657"/>
                    <a:ext cx="161" cy="305"/>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b="0" i="1">
                              <a:solidFill>
                                <a:srgbClr val="000000"/>
                              </a:solidFill>
                              <a:latin typeface="Cambria Math" panose="02040503050406030204" pitchFamily="18" charset="0"/>
                            </a:rPr>
                            <m:t>⋮</m:t>
                          </m:r>
                        </m:oMath>
                      </m:oMathPara>
                    </a14:m>
                    <a:endParaRPr lang="en-US" sz="2400" dirty="0"/>
                  </a:p>
                </p:txBody>
              </p:sp>
            </mc:Choice>
            <mc:Fallback xmlns="">
              <p:sp>
                <p:nvSpPr>
                  <p:cNvPr id="20509" name="Object 10">
                    <a:extLst>
                      <a:ext uri="{FF2B5EF4-FFF2-40B4-BE49-F238E27FC236}">
                        <a16:creationId xmlns:a16="http://schemas.microsoft.com/office/drawing/2014/main" id="{5EFDFA0D-D65B-4F52-B490-E53341A10E91}"/>
                      </a:ext>
                    </a:extLst>
                  </p:cNvPr>
                  <p:cNvSpPr txBox="1">
                    <a:spLocks noRot="1" noChangeAspect="1" noMove="1" noResize="1" noEditPoints="1" noAdjustHandles="1" noChangeArrowheads="1" noChangeShapeType="1" noTextEdit="1"/>
                  </p:cNvSpPr>
                  <p:nvPr/>
                </p:nvSpPr>
                <p:spPr bwMode="auto">
                  <a:xfrm>
                    <a:off x="752" y="2657"/>
                    <a:ext cx="161" cy="305"/>
                  </a:xfrm>
                  <a:prstGeom prst="rect">
                    <a:avLst/>
                  </a:prstGeom>
                  <a:blipFill>
                    <a:blip r:embed="rId3"/>
                    <a:stretch>
                      <a:fillRect l="-4167"/>
                    </a:stretch>
                  </a:blipFill>
                  <a:ln>
                    <a:noFill/>
                  </a:ln>
                  <a:effectLst/>
                </p:spPr>
                <p:txBody>
                  <a:bodyPr/>
                  <a:lstStyle/>
                  <a:p>
                    <a:r>
                      <a:rPr lang="en-US">
                        <a:noFill/>
                      </a:rPr>
                      <a:t> </a:t>
                    </a:r>
                  </a:p>
                </p:txBody>
              </p:sp>
            </mc:Fallback>
          </mc:AlternateContent>
          <p:sp>
            <p:nvSpPr>
              <p:cNvPr id="20561" name="Line 11">
                <a:extLst>
                  <a:ext uri="{FF2B5EF4-FFF2-40B4-BE49-F238E27FC236}">
                    <a16:creationId xmlns:a16="http://schemas.microsoft.com/office/drawing/2014/main" id="{4E54F02B-C777-419E-9AB2-3F3B9B10EF38}"/>
                  </a:ext>
                </a:extLst>
              </p:cNvPr>
              <p:cNvSpPr>
                <a:spLocks noChangeShapeType="1"/>
              </p:cNvSpPr>
              <p:nvPr/>
            </p:nvSpPr>
            <p:spPr bwMode="auto">
              <a:xfrm>
                <a:off x="827" y="2478"/>
                <a:ext cx="0" cy="18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62" name="Line 12">
                <a:extLst>
                  <a:ext uri="{FF2B5EF4-FFF2-40B4-BE49-F238E27FC236}">
                    <a16:creationId xmlns:a16="http://schemas.microsoft.com/office/drawing/2014/main" id="{E0172C61-1E55-47A3-A786-9390AE634E71}"/>
                  </a:ext>
                </a:extLst>
              </p:cNvPr>
              <p:cNvSpPr>
                <a:spLocks noChangeShapeType="1"/>
              </p:cNvSpPr>
              <p:nvPr/>
            </p:nvSpPr>
            <p:spPr bwMode="auto">
              <a:xfrm>
                <a:off x="827" y="2977"/>
                <a:ext cx="0" cy="18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63" name="Rectangle 13">
                <a:extLst>
                  <a:ext uri="{FF2B5EF4-FFF2-40B4-BE49-F238E27FC236}">
                    <a16:creationId xmlns:a16="http://schemas.microsoft.com/office/drawing/2014/main" id="{D40D550B-856B-4612-A574-B51AB326861D}"/>
                  </a:ext>
                </a:extLst>
              </p:cNvPr>
              <p:cNvSpPr>
                <a:spLocks noChangeArrowheads="1"/>
              </p:cNvSpPr>
              <p:nvPr/>
            </p:nvSpPr>
            <p:spPr bwMode="auto">
              <a:xfrm>
                <a:off x="645" y="3158"/>
                <a:ext cx="363" cy="272"/>
              </a:xfrm>
              <a:prstGeom prst="rect">
                <a:avLst/>
              </a:prstGeom>
              <a:solidFill>
                <a:srgbClr val="CCFFFF"/>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40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D</a:t>
                </a:r>
              </a:p>
            </p:txBody>
          </p:sp>
          <p:sp>
            <p:nvSpPr>
              <p:cNvPr id="20564" name="Line 14">
                <a:extLst>
                  <a:ext uri="{FF2B5EF4-FFF2-40B4-BE49-F238E27FC236}">
                    <a16:creationId xmlns:a16="http://schemas.microsoft.com/office/drawing/2014/main" id="{03A95BA9-6CCA-446A-8846-8B60883713D3}"/>
                  </a:ext>
                </a:extLst>
              </p:cNvPr>
              <p:cNvSpPr>
                <a:spLocks noChangeShapeType="1"/>
              </p:cNvSpPr>
              <p:nvPr/>
            </p:nvSpPr>
            <p:spPr bwMode="auto">
              <a:xfrm>
                <a:off x="827" y="3430"/>
                <a:ext cx="0" cy="18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sp>
          <p:nvSpPr>
            <p:cNvPr id="20543" name="Line 15">
              <a:extLst>
                <a:ext uri="{FF2B5EF4-FFF2-40B4-BE49-F238E27FC236}">
                  <a16:creationId xmlns:a16="http://schemas.microsoft.com/office/drawing/2014/main" id="{B66FB027-22D9-40BD-BBFE-D16A4FA58AD4}"/>
                </a:ext>
              </a:extLst>
            </p:cNvPr>
            <p:cNvSpPr>
              <a:spLocks noChangeShapeType="1"/>
            </p:cNvSpPr>
            <p:nvPr/>
          </p:nvSpPr>
          <p:spPr bwMode="auto">
            <a:xfrm>
              <a:off x="1383" y="2027"/>
              <a:ext cx="381"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44" name="Line 16">
              <a:extLst>
                <a:ext uri="{FF2B5EF4-FFF2-40B4-BE49-F238E27FC236}">
                  <a16:creationId xmlns:a16="http://schemas.microsoft.com/office/drawing/2014/main" id="{BF410302-6924-4320-8E55-B3247770628B}"/>
                </a:ext>
              </a:extLst>
            </p:cNvPr>
            <p:cNvSpPr>
              <a:spLocks noChangeShapeType="1"/>
            </p:cNvSpPr>
            <p:nvPr/>
          </p:nvSpPr>
          <p:spPr bwMode="auto">
            <a:xfrm>
              <a:off x="1726" y="2027"/>
              <a:ext cx="30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45" name="Line 17">
              <a:extLst>
                <a:ext uri="{FF2B5EF4-FFF2-40B4-BE49-F238E27FC236}">
                  <a16:creationId xmlns:a16="http://schemas.microsoft.com/office/drawing/2014/main" id="{C3030E60-F464-470D-952E-5E80D91855AF}"/>
                </a:ext>
              </a:extLst>
            </p:cNvPr>
            <p:cNvSpPr>
              <a:spLocks noChangeShapeType="1"/>
            </p:cNvSpPr>
            <p:nvPr/>
          </p:nvSpPr>
          <p:spPr bwMode="auto">
            <a:xfrm>
              <a:off x="1383" y="2486"/>
              <a:ext cx="381"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46" name="Line 18">
              <a:extLst>
                <a:ext uri="{FF2B5EF4-FFF2-40B4-BE49-F238E27FC236}">
                  <a16:creationId xmlns:a16="http://schemas.microsoft.com/office/drawing/2014/main" id="{E4A1EACA-A715-41B6-B3AA-7A4F026BC066}"/>
                </a:ext>
              </a:extLst>
            </p:cNvPr>
            <p:cNvSpPr>
              <a:spLocks noChangeShapeType="1"/>
            </p:cNvSpPr>
            <p:nvPr/>
          </p:nvSpPr>
          <p:spPr bwMode="auto">
            <a:xfrm>
              <a:off x="1726" y="2486"/>
              <a:ext cx="30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47" name="Line 19">
              <a:extLst>
                <a:ext uri="{FF2B5EF4-FFF2-40B4-BE49-F238E27FC236}">
                  <a16:creationId xmlns:a16="http://schemas.microsoft.com/office/drawing/2014/main" id="{4BD8F595-445F-41F4-AE74-C25C53C94D7C}"/>
                </a:ext>
              </a:extLst>
            </p:cNvPr>
            <p:cNvSpPr>
              <a:spLocks noChangeShapeType="1"/>
            </p:cNvSpPr>
            <p:nvPr/>
          </p:nvSpPr>
          <p:spPr bwMode="auto">
            <a:xfrm>
              <a:off x="1383" y="2868"/>
              <a:ext cx="381"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48" name="Line 20">
              <a:extLst>
                <a:ext uri="{FF2B5EF4-FFF2-40B4-BE49-F238E27FC236}">
                  <a16:creationId xmlns:a16="http://schemas.microsoft.com/office/drawing/2014/main" id="{47D3B3D9-69F1-4BAF-A5A6-26748548BA10}"/>
                </a:ext>
              </a:extLst>
            </p:cNvPr>
            <p:cNvSpPr>
              <a:spLocks noChangeShapeType="1"/>
            </p:cNvSpPr>
            <p:nvPr/>
          </p:nvSpPr>
          <p:spPr bwMode="auto">
            <a:xfrm>
              <a:off x="1726" y="2868"/>
              <a:ext cx="30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49" name="Line 21">
              <a:extLst>
                <a:ext uri="{FF2B5EF4-FFF2-40B4-BE49-F238E27FC236}">
                  <a16:creationId xmlns:a16="http://schemas.microsoft.com/office/drawing/2014/main" id="{94DC55F1-BE47-4CEF-A815-6B27EB7521AF}"/>
                </a:ext>
              </a:extLst>
            </p:cNvPr>
            <p:cNvSpPr>
              <a:spLocks noChangeShapeType="1"/>
            </p:cNvSpPr>
            <p:nvPr/>
          </p:nvSpPr>
          <p:spPr bwMode="auto">
            <a:xfrm>
              <a:off x="1383" y="3289"/>
              <a:ext cx="381"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50" name="Line 22">
              <a:extLst>
                <a:ext uri="{FF2B5EF4-FFF2-40B4-BE49-F238E27FC236}">
                  <a16:creationId xmlns:a16="http://schemas.microsoft.com/office/drawing/2014/main" id="{93A850D0-3275-4C50-B172-40E2096AD6E8}"/>
                </a:ext>
              </a:extLst>
            </p:cNvPr>
            <p:cNvSpPr>
              <a:spLocks noChangeShapeType="1"/>
            </p:cNvSpPr>
            <p:nvPr/>
          </p:nvSpPr>
          <p:spPr bwMode="auto">
            <a:xfrm>
              <a:off x="1726" y="3289"/>
              <a:ext cx="30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51" name="Line 23">
              <a:extLst>
                <a:ext uri="{FF2B5EF4-FFF2-40B4-BE49-F238E27FC236}">
                  <a16:creationId xmlns:a16="http://schemas.microsoft.com/office/drawing/2014/main" id="{2DFE199E-D3DE-4382-AB1A-FCAF33096788}"/>
                </a:ext>
              </a:extLst>
            </p:cNvPr>
            <p:cNvSpPr>
              <a:spLocks noChangeShapeType="1"/>
            </p:cNvSpPr>
            <p:nvPr/>
          </p:nvSpPr>
          <p:spPr bwMode="auto">
            <a:xfrm>
              <a:off x="1383" y="3749"/>
              <a:ext cx="426"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52" name="Line 24">
              <a:extLst>
                <a:ext uri="{FF2B5EF4-FFF2-40B4-BE49-F238E27FC236}">
                  <a16:creationId xmlns:a16="http://schemas.microsoft.com/office/drawing/2014/main" id="{8F82E814-B0E3-4D39-AC78-AE704F9F2E27}"/>
                </a:ext>
              </a:extLst>
            </p:cNvPr>
            <p:cNvSpPr>
              <a:spLocks noChangeShapeType="1"/>
            </p:cNvSpPr>
            <p:nvPr/>
          </p:nvSpPr>
          <p:spPr bwMode="auto">
            <a:xfrm>
              <a:off x="1767" y="3749"/>
              <a:ext cx="34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0497" name="Object 25">
                  <a:extLst>
                    <a:ext uri="{FF2B5EF4-FFF2-40B4-BE49-F238E27FC236}">
                      <a16:creationId xmlns:a16="http://schemas.microsoft.com/office/drawing/2014/main" id="{A85D55D8-C9FF-4A12-8CF2-A48D3163E73D}"/>
                    </a:ext>
                  </a:extLst>
                </p:cNvPr>
                <p:cNvSpPr txBox="1"/>
                <p:nvPr/>
              </p:nvSpPr>
              <p:spPr bwMode="auto">
                <a:xfrm>
                  <a:off x="1981" y="1887"/>
                  <a:ext cx="265" cy="286"/>
                </a:xfrm>
                <a:prstGeom prst="rect">
                  <a:avLst/>
                </a:prstGeom>
                <a:noFill/>
                <a:ln>
                  <a:noFill/>
                </a:ln>
                <a:effectLst/>
              </p:spPr>
              <p:txBody>
                <a:bodyPr>
                  <a:noAutofit/>
                </a:bodyPr>
                <a:lstStyle/>
                <a:p>
                  <a:pPr/>
                  <a14:m>
                    <m:oMathPara xmlns:m="http://schemas.openxmlformats.org/officeDocument/2006/math">
                      <m:oMathParaPr>
                        <m:jc m:val="center"/>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0497" name="Object 25">
                  <a:extLst>
                    <a:ext uri="{FF2B5EF4-FFF2-40B4-BE49-F238E27FC236}">
                      <a16:creationId xmlns:a16="http://schemas.microsoft.com/office/drawing/2014/main" id="{A85D55D8-C9FF-4A12-8CF2-A48D3163E73D}"/>
                    </a:ext>
                  </a:extLst>
                </p:cNvPr>
                <p:cNvSpPr txBox="1">
                  <a:spLocks noRot="1" noChangeAspect="1" noMove="1" noResize="1" noEditPoints="1" noAdjustHandles="1" noChangeArrowheads="1" noChangeShapeType="1" noTextEdit="1"/>
                </p:cNvSpPr>
                <p:nvPr/>
              </p:nvSpPr>
              <p:spPr bwMode="auto">
                <a:xfrm>
                  <a:off x="1981" y="1887"/>
                  <a:ext cx="265" cy="286"/>
                </a:xfrm>
                <a:prstGeom prst="rect">
                  <a:avLst/>
                </a:prstGeom>
                <a:blipFill>
                  <a:blip r:embed="rId4"/>
                  <a:stretch>
                    <a:fillRect l="-7595" r="-1012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98" name="Object 26">
                  <a:extLst>
                    <a:ext uri="{FF2B5EF4-FFF2-40B4-BE49-F238E27FC236}">
                      <a16:creationId xmlns:a16="http://schemas.microsoft.com/office/drawing/2014/main" id="{70AE5C16-1A53-418C-8426-3D78B4850FB5}"/>
                    </a:ext>
                  </a:extLst>
                </p:cNvPr>
                <p:cNvSpPr txBox="1"/>
                <p:nvPr/>
              </p:nvSpPr>
              <p:spPr bwMode="auto">
                <a:xfrm>
                  <a:off x="1984" y="2345"/>
                  <a:ext cx="244" cy="256"/>
                </a:xfrm>
                <a:prstGeom prst="rect">
                  <a:avLst/>
                </a:prstGeom>
                <a:noFill/>
                <a:ln>
                  <a:noFill/>
                </a:ln>
                <a:effectLst/>
              </p:spPr>
              <p:txBody>
                <a:bodyPr>
                  <a:noAutofit/>
                </a:bodyPr>
                <a:lstStyle/>
                <a:p>
                  <a:pPr/>
                  <a14:m>
                    <m:oMathPara xmlns:m="http://schemas.openxmlformats.org/officeDocument/2006/math">
                      <m:oMathParaPr>
                        <m:jc m:val="center"/>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0498" name="Object 26">
                  <a:extLst>
                    <a:ext uri="{FF2B5EF4-FFF2-40B4-BE49-F238E27FC236}">
                      <a16:creationId xmlns:a16="http://schemas.microsoft.com/office/drawing/2014/main" id="{70AE5C16-1A53-418C-8426-3D78B4850FB5}"/>
                    </a:ext>
                  </a:extLst>
                </p:cNvPr>
                <p:cNvSpPr txBox="1">
                  <a:spLocks noRot="1" noChangeAspect="1" noMove="1" noResize="1" noEditPoints="1" noAdjustHandles="1" noChangeArrowheads="1" noChangeShapeType="1" noTextEdit="1"/>
                </p:cNvSpPr>
                <p:nvPr/>
              </p:nvSpPr>
              <p:spPr bwMode="auto">
                <a:xfrm>
                  <a:off x="1984" y="2345"/>
                  <a:ext cx="244" cy="256"/>
                </a:xfrm>
                <a:prstGeom prst="rect">
                  <a:avLst/>
                </a:prstGeom>
                <a:blipFill>
                  <a:blip r:embed="rId5"/>
                  <a:stretch>
                    <a:fillRect l="-8219" r="-19178" b="-13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99" name="Object 27">
                  <a:extLst>
                    <a:ext uri="{FF2B5EF4-FFF2-40B4-BE49-F238E27FC236}">
                      <a16:creationId xmlns:a16="http://schemas.microsoft.com/office/drawing/2014/main" id="{CD797A43-E091-474F-8144-9AA43D0E4B3D}"/>
                    </a:ext>
                  </a:extLst>
                </p:cNvPr>
                <p:cNvSpPr txBox="1"/>
                <p:nvPr/>
              </p:nvSpPr>
              <p:spPr bwMode="auto">
                <a:xfrm>
                  <a:off x="1977" y="2728"/>
                  <a:ext cx="244" cy="277"/>
                </a:xfrm>
                <a:prstGeom prst="rect">
                  <a:avLst/>
                </a:prstGeom>
                <a:noFill/>
                <a:ln>
                  <a:noFill/>
                </a:ln>
                <a:effectLst/>
              </p:spPr>
              <p:txBody>
                <a:bodyPr>
                  <a:noAutofit/>
                </a:bodyPr>
                <a:lstStyle/>
                <a:p>
                  <a:pPr/>
                  <a14:m>
                    <m:oMathPara xmlns:m="http://schemas.openxmlformats.org/officeDocument/2006/math">
                      <m:oMathParaPr>
                        <m:jc m:val="center"/>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0499" name="Object 27">
                  <a:extLst>
                    <a:ext uri="{FF2B5EF4-FFF2-40B4-BE49-F238E27FC236}">
                      <a16:creationId xmlns:a16="http://schemas.microsoft.com/office/drawing/2014/main" id="{CD797A43-E091-474F-8144-9AA43D0E4B3D}"/>
                    </a:ext>
                  </a:extLst>
                </p:cNvPr>
                <p:cNvSpPr txBox="1">
                  <a:spLocks noRot="1" noChangeAspect="1" noMove="1" noResize="1" noEditPoints="1" noAdjustHandles="1" noChangeArrowheads="1" noChangeShapeType="1" noTextEdit="1"/>
                </p:cNvSpPr>
                <p:nvPr/>
              </p:nvSpPr>
              <p:spPr bwMode="auto">
                <a:xfrm>
                  <a:off x="1977" y="2728"/>
                  <a:ext cx="244" cy="277"/>
                </a:xfrm>
                <a:prstGeom prst="rect">
                  <a:avLst/>
                </a:prstGeom>
                <a:blipFill>
                  <a:blip r:embed="rId6"/>
                  <a:stretch>
                    <a:fillRect l="-8219" r="-19178" b="-3659"/>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00" name="Object 35">
                  <a:extLst>
                    <a:ext uri="{FF2B5EF4-FFF2-40B4-BE49-F238E27FC236}">
                      <a16:creationId xmlns:a16="http://schemas.microsoft.com/office/drawing/2014/main" id="{E5BFBEEE-FC8F-489D-919E-67A93B1FB0A2}"/>
                    </a:ext>
                  </a:extLst>
                </p:cNvPr>
                <p:cNvSpPr txBox="1"/>
                <p:nvPr/>
              </p:nvSpPr>
              <p:spPr bwMode="auto">
                <a:xfrm>
                  <a:off x="1967" y="3147"/>
                  <a:ext cx="290" cy="277"/>
                </a:xfrm>
                <a:prstGeom prst="rect">
                  <a:avLst/>
                </a:prstGeom>
                <a:noFill/>
                <a:ln>
                  <a:noFill/>
                </a:ln>
                <a:effectLst/>
              </p:spPr>
              <p:txBody>
                <a:bodyPr>
                  <a:noAutofit/>
                </a:bodyPr>
                <a:lstStyle/>
                <a:p>
                  <a:pPr/>
                  <a14:m>
                    <m:oMathPara xmlns:m="http://schemas.openxmlformats.org/officeDocument/2006/math">
                      <m:oMathParaPr>
                        <m:jc m:val="center"/>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0500" name="Object 35">
                  <a:extLst>
                    <a:ext uri="{FF2B5EF4-FFF2-40B4-BE49-F238E27FC236}">
                      <a16:creationId xmlns:a16="http://schemas.microsoft.com/office/drawing/2014/main" id="{E5BFBEEE-FC8F-489D-919E-67A93B1FB0A2}"/>
                    </a:ext>
                  </a:extLst>
                </p:cNvPr>
                <p:cNvSpPr txBox="1">
                  <a:spLocks noRot="1" noChangeAspect="1" noMove="1" noResize="1" noEditPoints="1" noAdjustHandles="1" noChangeArrowheads="1" noChangeShapeType="1" noTextEdit="1"/>
                </p:cNvSpPr>
                <p:nvPr/>
              </p:nvSpPr>
              <p:spPr bwMode="auto">
                <a:xfrm>
                  <a:off x="1967" y="3147"/>
                  <a:ext cx="290" cy="277"/>
                </a:xfrm>
                <a:prstGeom prst="rect">
                  <a:avLst/>
                </a:prstGeom>
                <a:blipFill>
                  <a:blip r:embed="rId7"/>
                  <a:stretch>
                    <a:fillRect l="-3448" r="-3448" b="-4938"/>
                  </a:stretch>
                </a:blipFill>
                <a:ln>
                  <a:noFill/>
                </a:ln>
                <a:effectLst/>
              </p:spPr>
              <p:txBody>
                <a:bodyPr/>
                <a:lstStyle/>
                <a:p>
                  <a:r>
                    <a:rPr lang="en-US">
                      <a:noFill/>
                    </a:rPr>
                    <a:t> </a:t>
                  </a:r>
                </a:p>
              </p:txBody>
            </p:sp>
          </mc:Fallback>
        </mc:AlternateContent>
        <p:sp>
          <p:nvSpPr>
            <p:cNvPr id="20553" name="Line 29">
              <a:extLst>
                <a:ext uri="{FF2B5EF4-FFF2-40B4-BE49-F238E27FC236}">
                  <a16:creationId xmlns:a16="http://schemas.microsoft.com/office/drawing/2014/main" id="{A5AEDEBC-9514-44F8-955E-69FF12A5D45A}"/>
                </a:ext>
              </a:extLst>
            </p:cNvPr>
            <p:cNvSpPr>
              <a:spLocks noChangeShapeType="1"/>
            </p:cNvSpPr>
            <p:nvPr/>
          </p:nvSpPr>
          <p:spPr bwMode="auto">
            <a:xfrm>
              <a:off x="2108" y="2103"/>
              <a:ext cx="0" cy="307"/>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54" name="Line 30">
              <a:extLst>
                <a:ext uri="{FF2B5EF4-FFF2-40B4-BE49-F238E27FC236}">
                  <a16:creationId xmlns:a16="http://schemas.microsoft.com/office/drawing/2014/main" id="{2840D6AE-9113-484D-8D5B-21D7804462CC}"/>
                </a:ext>
              </a:extLst>
            </p:cNvPr>
            <p:cNvSpPr>
              <a:spLocks noChangeShapeType="1"/>
            </p:cNvSpPr>
            <p:nvPr/>
          </p:nvSpPr>
          <p:spPr bwMode="auto">
            <a:xfrm>
              <a:off x="2108" y="2562"/>
              <a:ext cx="0" cy="231"/>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55" name="Line 31">
              <a:extLst>
                <a:ext uri="{FF2B5EF4-FFF2-40B4-BE49-F238E27FC236}">
                  <a16:creationId xmlns:a16="http://schemas.microsoft.com/office/drawing/2014/main" id="{A796B524-CC2C-4ECD-8E4D-C5FE87285D08}"/>
                </a:ext>
              </a:extLst>
            </p:cNvPr>
            <p:cNvSpPr>
              <a:spLocks noChangeShapeType="1"/>
            </p:cNvSpPr>
            <p:nvPr/>
          </p:nvSpPr>
          <p:spPr bwMode="auto">
            <a:xfrm>
              <a:off x="2108" y="3366"/>
              <a:ext cx="0" cy="383"/>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0501" name="Object 32">
                  <a:extLst>
                    <a:ext uri="{FF2B5EF4-FFF2-40B4-BE49-F238E27FC236}">
                      <a16:creationId xmlns:a16="http://schemas.microsoft.com/office/drawing/2014/main" id="{24C4D90F-04E0-41B4-AF61-118BF895EDAC}"/>
                    </a:ext>
                  </a:extLst>
                </p:cNvPr>
                <p:cNvSpPr txBox="1"/>
                <p:nvPr/>
              </p:nvSpPr>
              <p:spPr bwMode="auto">
                <a:xfrm>
                  <a:off x="2024" y="2943"/>
                  <a:ext cx="135" cy="256"/>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b="0" i="1">
                            <a:solidFill>
                              <a:srgbClr val="000000"/>
                            </a:solidFill>
                            <a:latin typeface="Cambria Math" panose="02040503050406030204" pitchFamily="18" charset="0"/>
                          </a:rPr>
                          <m:t>⋮</m:t>
                        </m:r>
                      </m:oMath>
                    </m:oMathPara>
                  </a14:m>
                  <a:endParaRPr lang="en-US" sz="2400" dirty="0"/>
                </a:p>
              </p:txBody>
            </p:sp>
          </mc:Choice>
          <mc:Fallback xmlns="">
            <p:sp>
              <p:nvSpPr>
                <p:cNvPr id="20501" name="Object 32">
                  <a:extLst>
                    <a:ext uri="{FF2B5EF4-FFF2-40B4-BE49-F238E27FC236}">
                      <a16:creationId xmlns:a16="http://schemas.microsoft.com/office/drawing/2014/main" id="{24C4D90F-04E0-41B4-AF61-118BF895EDAC}"/>
                    </a:ext>
                  </a:extLst>
                </p:cNvPr>
                <p:cNvSpPr txBox="1">
                  <a:spLocks noRot="1" noChangeAspect="1" noMove="1" noResize="1" noEditPoints="1" noAdjustHandles="1" noChangeArrowheads="1" noChangeShapeType="1" noTextEdit="1"/>
                </p:cNvSpPr>
                <p:nvPr/>
              </p:nvSpPr>
              <p:spPr bwMode="auto">
                <a:xfrm>
                  <a:off x="2024" y="2943"/>
                  <a:ext cx="135" cy="256"/>
                </a:xfrm>
                <a:prstGeom prst="rect">
                  <a:avLst/>
                </a:prstGeom>
                <a:blipFill>
                  <a:blip r:embed="rId8"/>
                  <a:stretch>
                    <a:fillRect l="-2500" r="-20000"/>
                  </a:stretch>
                </a:blipFill>
                <a:ln>
                  <a:noFill/>
                </a:ln>
                <a:effectLst/>
              </p:spPr>
              <p:txBody>
                <a:bodyPr/>
                <a:lstStyle/>
                <a:p>
                  <a:r>
                    <a:rPr lang="en-US">
                      <a:noFill/>
                    </a:rPr>
                    <a:t> </a:t>
                  </a:r>
                </a:p>
              </p:txBody>
            </p:sp>
          </mc:Fallback>
        </mc:AlternateContent>
        <p:sp>
          <p:nvSpPr>
            <p:cNvPr id="20556" name="Line 33">
              <a:extLst>
                <a:ext uri="{FF2B5EF4-FFF2-40B4-BE49-F238E27FC236}">
                  <a16:creationId xmlns:a16="http://schemas.microsoft.com/office/drawing/2014/main" id="{81E7206C-DE63-435F-A483-3814EB2FC234}"/>
                </a:ext>
              </a:extLst>
            </p:cNvPr>
            <p:cNvSpPr>
              <a:spLocks noChangeShapeType="1"/>
            </p:cNvSpPr>
            <p:nvPr/>
          </p:nvSpPr>
          <p:spPr bwMode="auto">
            <a:xfrm>
              <a:off x="2147" y="2027"/>
              <a:ext cx="381"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0502" name="Object 34">
                  <a:extLst>
                    <a:ext uri="{FF2B5EF4-FFF2-40B4-BE49-F238E27FC236}">
                      <a16:creationId xmlns:a16="http://schemas.microsoft.com/office/drawing/2014/main" id="{BEDD4C60-ECC1-4058-BE31-3D1AD223E8D3}"/>
                    </a:ext>
                  </a:extLst>
                </p:cNvPr>
                <p:cNvSpPr txBox="1"/>
                <p:nvPr/>
              </p:nvSpPr>
              <p:spPr bwMode="auto">
                <a:xfrm>
                  <a:off x="856" y="1757"/>
                  <a:ext cx="390" cy="256"/>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b="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20502" name="Object 34">
                  <a:extLst>
                    <a:ext uri="{FF2B5EF4-FFF2-40B4-BE49-F238E27FC236}">
                      <a16:creationId xmlns:a16="http://schemas.microsoft.com/office/drawing/2014/main" id="{BEDD4C60-ECC1-4058-BE31-3D1AD223E8D3}"/>
                    </a:ext>
                  </a:extLst>
                </p:cNvPr>
                <p:cNvSpPr txBox="1">
                  <a:spLocks noRot="1" noChangeAspect="1" noMove="1" noResize="1" noEditPoints="1" noAdjustHandles="1" noChangeArrowheads="1" noChangeShapeType="1" noTextEdit="1"/>
                </p:cNvSpPr>
                <p:nvPr/>
              </p:nvSpPr>
              <p:spPr bwMode="auto">
                <a:xfrm>
                  <a:off x="856" y="1757"/>
                  <a:ext cx="390" cy="256"/>
                </a:xfrm>
                <a:prstGeom prst="rect">
                  <a:avLst/>
                </a:prstGeom>
                <a:blipFill>
                  <a:blip r:embed="rId9"/>
                  <a:stretch>
                    <a:fillRect r="-12821"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03" name="Object 11">
                  <a:extLst>
                    <a:ext uri="{FF2B5EF4-FFF2-40B4-BE49-F238E27FC236}">
                      <a16:creationId xmlns:a16="http://schemas.microsoft.com/office/drawing/2014/main" id="{BF5BFB29-23CB-48C5-8077-1608836D1AE6}"/>
                    </a:ext>
                  </a:extLst>
                </p:cNvPr>
                <p:cNvSpPr txBox="1"/>
                <p:nvPr/>
              </p:nvSpPr>
              <p:spPr bwMode="auto">
                <a:xfrm>
                  <a:off x="2336" y="1757"/>
                  <a:ext cx="406" cy="256"/>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b="0" i="1" smtClean="0">
                            <a:solidFill>
                              <a:srgbClr val="000000"/>
                            </a:solidFill>
                            <a:latin typeface="Cambria Math" panose="02040503050406030204" pitchFamily="18" charset="0"/>
                          </a:rPr>
                          <m:t>𝑤</m:t>
                        </m:r>
                        <m:r>
                          <a:rPr lang="en-US" sz="2400" b="0" i="1" smtClean="0">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20503" name="Object 11">
                  <a:extLst>
                    <a:ext uri="{FF2B5EF4-FFF2-40B4-BE49-F238E27FC236}">
                      <a16:creationId xmlns:a16="http://schemas.microsoft.com/office/drawing/2014/main" id="{BF5BFB29-23CB-48C5-8077-1608836D1AE6}"/>
                    </a:ext>
                  </a:extLst>
                </p:cNvPr>
                <p:cNvSpPr txBox="1">
                  <a:spLocks noRot="1" noChangeAspect="1" noMove="1" noResize="1" noEditPoints="1" noAdjustHandles="1" noChangeArrowheads="1" noChangeShapeType="1" noTextEdit="1"/>
                </p:cNvSpPr>
                <p:nvPr/>
              </p:nvSpPr>
              <p:spPr bwMode="auto">
                <a:xfrm>
                  <a:off x="2336" y="1757"/>
                  <a:ext cx="406" cy="256"/>
                </a:xfrm>
                <a:prstGeom prst="rect">
                  <a:avLst/>
                </a:prstGeom>
                <a:blipFill>
                  <a:blip r:embed="rId10"/>
                  <a:stretch>
                    <a:fillRect r="-16393"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04" name="Object 36">
                  <a:extLst>
                    <a:ext uri="{FF2B5EF4-FFF2-40B4-BE49-F238E27FC236}">
                      <a16:creationId xmlns:a16="http://schemas.microsoft.com/office/drawing/2014/main" id="{79495CA4-B49B-4B69-83AA-25D591C4DE72}"/>
                    </a:ext>
                  </a:extLst>
                </p:cNvPr>
                <p:cNvSpPr txBox="1"/>
                <p:nvPr/>
              </p:nvSpPr>
              <p:spPr bwMode="auto">
                <a:xfrm>
                  <a:off x="1623" y="1775"/>
                  <a:ext cx="230" cy="256"/>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𝑏</m:t>
                            </m:r>
                          </m:e>
                          <m:sub>
                            <m:r>
                              <a:rPr lang="en-US" sz="2400" b="0" i="1">
                                <a:solidFill>
                                  <a:srgbClr val="000000"/>
                                </a:solidFill>
                                <a:latin typeface="Cambria Math" panose="02040503050406030204" pitchFamily="18" charset="0"/>
                              </a:rPr>
                              <m:t>0</m:t>
                            </m:r>
                          </m:sub>
                        </m:sSub>
                      </m:oMath>
                    </m:oMathPara>
                  </a14:m>
                  <a:endParaRPr lang="en-US" sz="2400" dirty="0"/>
                </a:p>
              </p:txBody>
            </p:sp>
          </mc:Choice>
          <mc:Fallback xmlns="">
            <p:sp>
              <p:nvSpPr>
                <p:cNvPr id="20504" name="Object 36">
                  <a:extLst>
                    <a:ext uri="{FF2B5EF4-FFF2-40B4-BE49-F238E27FC236}">
                      <a16:creationId xmlns:a16="http://schemas.microsoft.com/office/drawing/2014/main" id="{79495CA4-B49B-4B69-83AA-25D591C4DE72}"/>
                    </a:ext>
                  </a:extLst>
                </p:cNvPr>
                <p:cNvSpPr txBox="1">
                  <a:spLocks noRot="1" noChangeAspect="1" noMove="1" noResize="1" noEditPoints="1" noAdjustHandles="1" noChangeArrowheads="1" noChangeShapeType="1" noTextEdit="1"/>
                </p:cNvSpPr>
                <p:nvPr/>
              </p:nvSpPr>
              <p:spPr bwMode="auto">
                <a:xfrm>
                  <a:off x="1623" y="1775"/>
                  <a:ext cx="230" cy="256"/>
                </a:xfrm>
                <a:prstGeom prst="rect">
                  <a:avLst/>
                </a:prstGeom>
                <a:blipFill>
                  <a:blip r:embed="rId11"/>
                  <a:stretch>
                    <a:fillRect l="-4348" r="-5797" b="-394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05" name="Object 37">
                  <a:extLst>
                    <a:ext uri="{FF2B5EF4-FFF2-40B4-BE49-F238E27FC236}">
                      <a16:creationId xmlns:a16="http://schemas.microsoft.com/office/drawing/2014/main" id="{B5AC1F50-70B9-4798-AA3D-CAE5B6B1DD89}"/>
                    </a:ext>
                  </a:extLst>
                </p:cNvPr>
                <p:cNvSpPr txBox="1"/>
                <p:nvPr/>
              </p:nvSpPr>
              <p:spPr bwMode="auto">
                <a:xfrm>
                  <a:off x="1623" y="2201"/>
                  <a:ext cx="230" cy="256"/>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𝑏</m:t>
                            </m:r>
                          </m:e>
                          <m:sub>
                            <m:r>
                              <a:rPr lang="en-US" sz="2400" b="0" i="1">
                                <a:solidFill>
                                  <a:srgbClr val="000000"/>
                                </a:solidFill>
                                <a:latin typeface="Cambria Math" panose="02040503050406030204" pitchFamily="18" charset="0"/>
                              </a:rPr>
                              <m:t>1</m:t>
                            </m:r>
                          </m:sub>
                        </m:sSub>
                      </m:oMath>
                    </m:oMathPara>
                  </a14:m>
                  <a:endParaRPr lang="en-US" sz="2400" dirty="0"/>
                </a:p>
              </p:txBody>
            </p:sp>
          </mc:Choice>
          <mc:Fallback xmlns="">
            <p:sp>
              <p:nvSpPr>
                <p:cNvPr id="20505" name="Object 37">
                  <a:extLst>
                    <a:ext uri="{FF2B5EF4-FFF2-40B4-BE49-F238E27FC236}">
                      <a16:creationId xmlns:a16="http://schemas.microsoft.com/office/drawing/2014/main" id="{B5AC1F50-70B9-4798-AA3D-CAE5B6B1DD89}"/>
                    </a:ext>
                  </a:extLst>
                </p:cNvPr>
                <p:cNvSpPr txBox="1">
                  <a:spLocks noRot="1" noChangeAspect="1" noMove="1" noResize="1" noEditPoints="1" noAdjustHandles="1" noChangeArrowheads="1" noChangeShapeType="1" noTextEdit="1"/>
                </p:cNvSpPr>
                <p:nvPr/>
              </p:nvSpPr>
              <p:spPr bwMode="auto">
                <a:xfrm>
                  <a:off x="1623" y="2201"/>
                  <a:ext cx="230" cy="256"/>
                </a:xfrm>
                <a:prstGeom prst="rect">
                  <a:avLst/>
                </a:prstGeom>
                <a:blipFill>
                  <a:blip r:embed="rId12"/>
                  <a:stretch>
                    <a:fillRect l="-4348" r="-4348" b="-394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06" name="Object 38">
                  <a:extLst>
                    <a:ext uri="{FF2B5EF4-FFF2-40B4-BE49-F238E27FC236}">
                      <a16:creationId xmlns:a16="http://schemas.microsoft.com/office/drawing/2014/main" id="{F598178E-6124-449A-B79E-37D36E0FFCEF}"/>
                    </a:ext>
                  </a:extLst>
                </p:cNvPr>
                <p:cNvSpPr txBox="1"/>
                <p:nvPr/>
              </p:nvSpPr>
              <p:spPr bwMode="auto">
                <a:xfrm>
                  <a:off x="1623" y="2594"/>
                  <a:ext cx="222" cy="256"/>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𝑏</m:t>
                            </m:r>
                          </m:e>
                          <m:sub>
                            <m:r>
                              <a:rPr lang="en-US" sz="2400" b="0" i="1">
                                <a:solidFill>
                                  <a:srgbClr val="000000"/>
                                </a:solidFill>
                                <a:latin typeface="Cambria Math" panose="02040503050406030204" pitchFamily="18" charset="0"/>
                              </a:rPr>
                              <m:t>2</m:t>
                            </m:r>
                          </m:sub>
                        </m:sSub>
                      </m:oMath>
                    </m:oMathPara>
                  </a14:m>
                  <a:endParaRPr lang="en-US" sz="2400" dirty="0"/>
                </a:p>
              </p:txBody>
            </p:sp>
          </mc:Choice>
          <mc:Fallback xmlns="">
            <p:sp>
              <p:nvSpPr>
                <p:cNvPr id="20506" name="Object 38">
                  <a:extLst>
                    <a:ext uri="{FF2B5EF4-FFF2-40B4-BE49-F238E27FC236}">
                      <a16:creationId xmlns:a16="http://schemas.microsoft.com/office/drawing/2014/main" id="{F598178E-6124-449A-B79E-37D36E0FFCEF}"/>
                    </a:ext>
                  </a:extLst>
                </p:cNvPr>
                <p:cNvSpPr txBox="1">
                  <a:spLocks noRot="1" noChangeAspect="1" noMove="1" noResize="1" noEditPoints="1" noAdjustHandles="1" noChangeArrowheads="1" noChangeShapeType="1" noTextEdit="1"/>
                </p:cNvSpPr>
                <p:nvPr/>
              </p:nvSpPr>
              <p:spPr bwMode="auto">
                <a:xfrm>
                  <a:off x="1623" y="2594"/>
                  <a:ext cx="222" cy="256"/>
                </a:xfrm>
                <a:prstGeom prst="rect">
                  <a:avLst/>
                </a:prstGeom>
                <a:blipFill>
                  <a:blip r:embed="rId13"/>
                  <a:stretch>
                    <a:fillRect l="-4478" r="-8955" b="-394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07" name="Object 39">
                  <a:extLst>
                    <a:ext uri="{FF2B5EF4-FFF2-40B4-BE49-F238E27FC236}">
                      <a16:creationId xmlns:a16="http://schemas.microsoft.com/office/drawing/2014/main" id="{21C05D48-2B6C-4A0A-BD22-B49AC6A7CC57}"/>
                    </a:ext>
                  </a:extLst>
                </p:cNvPr>
                <p:cNvSpPr txBox="1"/>
                <p:nvPr/>
              </p:nvSpPr>
              <p:spPr bwMode="auto">
                <a:xfrm>
                  <a:off x="1623" y="3015"/>
                  <a:ext cx="426" cy="256"/>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𝑏</m:t>
                            </m:r>
                          </m:e>
                          <m:sub>
                            <m:r>
                              <a:rPr lang="en-US" sz="2400" b="0" i="1">
                                <a:solidFill>
                                  <a:srgbClr val="000000"/>
                                </a:solidFill>
                                <a:latin typeface="Cambria Math" panose="02040503050406030204" pitchFamily="18" charset="0"/>
                              </a:rPr>
                              <m:t>𝑀</m:t>
                            </m:r>
                            <m:r>
                              <a:rPr lang="en-US" sz="2400" b="0" i="1">
                                <a:solidFill>
                                  <a:srgbClr val="000000"/>
                                </a:solidFill>
                                <a:latin typeface="Cambria Math" panose="02040503050406030204" pitchFamily="18" charset="0"/>
                              </a:rPr>
                              <m:t>−1</m:t>
                            </m:r>
                          </m:sub>
                        </m:sSub>
                      </m:oMath>
                    </m:oMathPara>
                  </a14:m>
                  <a:endParaRPr lang="en-US" sz="2400" dirty="0"/>
                </a:p>
              </p:txBody>
            </p:sp>
          </mc:Choice>
          <mc:Fallback xmlns="">
            <p:sp>
              <p:nvSpPr>
                <p:cNvPr id="20507" name="Object 39">
                  <a:extLst>
                    <a:ext uri="{FF2B5EF4-FFF2-40B4-BE49-F238E27FC236}">
                      <a16:creationId xmlns:a16="http://schemas.microsoft.com/office/drawing/2014/main" id="{21C05D48-2B6C-4A0A-BD22-B49AC6A7CC57}"/>
                    </a:ext>
                  </a:extLst>
                </p:cNvPr>
                <p:cNvSpPr txBox="1">
                  <a:spLocks noRot="1" noChangeAspect="1" noMove="1" noResize="1" noEditPoints="1" noAdjustHandles="1" noChangeArrowheads="1" noChangeShapeType="1" noTextEdit="1"/>
                </p:cNvSpPr>
                <p:nvPr/>
              </p:nvSpPr>
              <p:spPr bwMode="auto">
                <a:xfrm>
                  <a:off x="1623" y="3015"/>
                  <a:ext cx="426" cy="256"/>
                </a:xfrm>
                <a:prstGeom prst="rect">
                  <a:avLst/>
                </a:prstGeom>
                <a:blipFill>
                  <a:blip r:embed="rId14"/>
                  <a:stretch>
                    <a:fillRect l="-2344" r="-3906" b="-400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08" name="Object 40">
                  <a:extLst>
                    <a:ext uri="{FF2B5EF4-FFF2-40B4-BE49-F238E27FC236}">
                      <a16:creationId xmlns:a16="http://schemas.microsoft.com/office/drawing/2014/main" id="{72C16AAC-98B8-4705-9864-58D9DC56AB5A}"/>
                    </a:ext>
                  </a:extLst>
                </p:cNvPr>
                <p:cNvSpPr txBox="1"/>
                <p:nvPr/>
              </p:nvSpPr>
              <p:spPr bwMode="auto">
                <a:xfrm>
                  <a:off x="1623" y="3474"/>
                  <a:ext cx="270" cy="256"/>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𝑏</m:t>
                            </m:r>
                          </m:e>
                          <m:sub>
                            <m:r>
                              <a:rPr lang="en-US" sz="2400" b="0" i="1">
                                <a:solidFill>
                                  <a:srgbClr val="000000"/>
                                </a:solidFill>
                                <a:latin typeface="Cambria Math" panose="02040503050406030204" pitchFamily="18" charset="0"/>
                              </a:rPr>
                              <m:t>𝑀</m:t>
                            </m:r>
                          </m:sub>
                        </m:sSub>
                      </m:oMath>
                    </m:oMathPara>
                  </a14:m>
                  <a:endParaRPr lang="en-US" sz="2400" dirty="0"/>
                </a:p>
              </p:txBody>
            </p:sp>
          </mc:Choice>
          <mc:Fallback xmlns="">
            <p:sp>
              <p:nvSpPr>
                <p:cNvPr id="20508" name="Object 40">
                  <a:extLst>
                    <a:ext uri="{FF2B5EF4-FFF2-40B4-BE49-F238E27FC236}">
                      <a16:creationId xmlns:a16="http://schemas.microsoft.com/office/drawing/2014/main" id="{72C16AAC-98B8-4705-9864-58D9DC56AB5A}"/>
                    </a:ext>
                  </a:extLst>
                </p:cNvPr>
                <p:cNvSpPr txBox="1">
                  <a:spLocks noRot="1" noChangeAspect="1" noMove="1" noResize="1" noEditPoints="1" noAdjustHandles="1" noChangeArrowheads="1" noChangeShapeType="1" noTextEdit="1"/>
                </p:cNvSpPr>
                <p:nvPr/>
              </p:nvSpPr>
              <p:spPr bwMode="auto">
                <a:xfrm>
                  <a:off x="1623" y="3474"/>
                  <a:ext cx="270" cy="256"/>
                </a:xfrm>
                <a:prstGeom prst="rect">
                  <a:avLst/>
                </a:prstGeom>
                <a:blipFill>
                  <a:blip r:embed="rId15"/>
                  <a:stretch>
                    <a:fillRect l="-3704" r="-4938" b="-3947"/>
                  </a:stretch>
                </a:blipFill>
                <a:ln>
                  <a:noFill/>
                </a:ln>
                <a:effectLst/>
              </p:spPr>
              <p:txBody>
                <a:bodyPr/>
                <a:lstStyle/>
                <a:p>
                  <a:r>
                    <a:rPr lang="en-US">
                      <a:noFill/>
                    </a:rPr>
                    <a:t> </a:t>
                  </a:r>
                </a:p>
              </p:txBody>
            </p:sp>
          </mc:Fallback>
        </mc:AlternateContent>
      </p:grpSp>
      <p:grpSp>
        <p:nvGrpSpPr>
          <p:cNvPr id="5" name="Group 41">
            <a:extLst>
              <a:ext uri="{FF2B5EF4-FFF2-40B4-BE49-F238E27FC236}">
                <a16:creationId xmlns:a16="http://schemas.microsoft.com/office/drawing/2014/main" id="{5D758697-A601-43C8-B264-38DC03054FA4}"/>
              </a:ext>
            </a:extLst>
          </p:cNvPr>
          <p:cNvGrpSpPr>
            <a:grpSpLocks/>
          </p:cNvGrpSpPr>
          <p:nvPr/>
        </p:nvGrpSpPr>
        <p:grpSpPr bwMode="auto">
          <a:xfrm>
            <a:off x="4946799" y="2996653"/>
            <a:ext cx="3449943" cy="3567466"/>
            <a:chOff x="3462" y="1709"/>
            <a:chExt cx="1952" cy="2041"/>
          </a:xfrm>
        </p:grpSpPr>
        <p:grpSp>
          <p:nvGrpSpPr>
            <p:cNvPr id="20517" name="Group 42">
              <a:extLst>
                <a:ext uri="{FF2B5EF4-FFF2-40B4-BE49-F238E27FC236}">
                  <a16:creationId xmlns:a16="http://schemas.microsoft.com/office/drawing/2014/main" id="{F9DB9BCA-17BE-4302-83DF-37827D40735C}"/>
                </a:ext>
              </a:extLst>
            </p:cNvPr>
            <p:cNvGrpSpPr>
              <a:grpSpLocks/>
            </p:cNvGrpSpPr>
            <p:nvPr/>
          </p:nvGrpSpPr>
          <p:grpSpPr bwMode="auto">
            <a:xfrm>
              <a:off x="4657" y="1987"/>
              <a:ext cx="363" cy="1763"/>
              <a:chOff x="663" y="1570"/>
              <a:chExt cx="363" cy="2042"/>
            </a:xfrm>
          </p:grpSpPr>
          <p:sp>
            <p:nvSpPr>
              <p:cNvPr id="20533" name="Line 43">
                <a:extLst>
                  <a:ext uri="{FF2B5EF4-FFF2-40B4-BE49-F238E27FC236}">
                    <a16:creationId xmlns:a16="http://schemas.microsoft.com/office/drawing/2014/main" id="{0F329179-5E35-4643-910A-99A8A289D74B}"/>
                  </a:ext>
                </a:extLst>
              </p:cNvPr>
              <p:cNvSpPr>
                <a:spLocks noChangeShapeType="1"/>
              </p:cNvSpPr>
              <p:nvPr/>
            </p:nvSpPr>
            <p:spPr bwMode="auto">
              <a:xfrm>
                <a:off x="845" y="1570"/>
                <a:ext cx="0" cy="18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34" name="Rectangle 44">
                <a:extLst>
                  <a:ext uri="{FF2B5EF4-FFF2-40B4-BE49-F238E27FC236}">
                    <a16:creationId xmlns:a16="http://schemas.microsoft.com/office/drawing/2014/main" id="{C6915BF7-F8BC-4B7C-82E8-048904EB3437}"/>
                  </a:ext>
                </a:extLst>
              </p:cNvPr>
              <p:cNvSpPr>
                <a:spLocks noChangeArrowheads="1"/>
              </p:cNvSpPr>
              <p:nvPr/>
            </p:nvSpPr>
            <p:spPr bwMode="auto">
              <a:xfrm>
                <a:off x="663" y="1752"/>
                <a:ext cx="363" cy="272"/>
              </a:xfrm>
              <a:prstGeom prst="rect">
                <a:avLst/>
              </a:prstGeom>
              <a:solidFill>
                <a:srgbClr val="CCFFFF"/>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40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D</a:t>
                </a:r>
              </a:p>
            </p:txBody>
          </p:sp>
          <p:sp>
            <p:nvSpPr>
              <p:cNvPr id="20535" name="Line 45">
                <a:extLst>
                  <a:ext uri="{FF2B5EF4-FFF2-40B4-BE49-F238E27FC236}">
                    <a16:creationId xmlns:a16="http://schemas.microsoft.com/office/drawing/2014/main" id="{BE9E60A9-2DC9-49A8-B244-476971514A3A}"/>
                  </a:ext>
                </a:extLst>
              </p:cNvPr>
              <p:cNvSpPr>
                <a:spLocks noChangeShapeType="1"/>
              </p:cNvSpPr>
              <p:nvPr/>
            </p:nvSpPr>
            <p:spPr bwMode="auto">
              <a:xfrm>
                <a:off x="845" y="2024"/>
                <a:ext cx="0" cy="18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36" name="Rectangle 46">
                <a:extLst>
                  <a:ext uri="{FF2B5EF4-FFF2-40B4-BE49-F238E27FC236}">
                    <a16:creationId xmlns:a16="http://schemas.microsoft.com/office/drawing/2014/main" id="{5F845D77-0876-48EC-99D0-8E8D7A939A52}"/>
                  </a:ext>
                </a:extLst>
              </p:cNvPr>
              <p:cNvSpPr>
                <a:spLocks noChangeArrowheads="1"/>
              </p:cNvSpPr>
              <p:nvPr/>
            </p:nvSpPr>
            <p:spPr bwMode="auto">
              <a:xfrm>
                <a:off x="663" y="2205"/>
                <a:ext cx="363" cy="272"/>
              </a:xfrm>
              <a:prstGeom prst="rect">
                <a:avLst/>
              </a:prstGeom>
              <a:solidFill>
                <a:srgbClr val="CCFFFF"/>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40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D</a:t>
                </a:r>
              </a:p>
            </p:txBody>
          </p:sp>
          <mc:AlternateContent xmlns:mc="http://schemas.openxmlformats.org/markup-compatibility/2006" xmlns:a14="http://schemas.microsoft.com/office/drawing/2010/main">
            <mc:Choice Requires="a14">
              <p:sp>
                <p:nvSpPr>
                  <p:cNvPr id="20496" name="Object 47">
                    <a:extLst>
                      <a:ext uri="{FF2B5EF4-FFF2-40B4-BE49-F238E27FC236}">
                        <a16:creationId xmlns:a16="http://schemas.microsoft.com/office/drawing/2014/main" id="{F4D407CA-AE0F-4CD9-9D26-CB39BB6FF7C2}"/>
                      </a:ext>
                    </a:extLst>
                  </p:cNvPr>
                  <p:cNvSpPr txBox="1"/>
                  <p:nvPr/>
                </p:nvSpPr>
                <p:spPr bwMode="auto">
                  <a:xfrm>
                    <a:off x="767" y="2656"/>
                    <a:ext cx="161" cy="306"/>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0496" name="Object 47">
                    <a:extLst>
                      <a:ext uri="{FF2B5EF4-FFF2-40B4-BE49-F238E27FC236}">
                        <a16:creationId xmlns:a16="http://schemas.microsoft.com/office/drawing/2014/main" id="{F4D407CA-AE0F-4CD9-9D26-CB39BB6FF7C2}"/>
                      </a:ext>
                    </a:extLst>
                  </p:cNvPr>
                  <p:cNvSpPr txBox="1">
                    <a:spLocks noRot="1" noChangeAspect="1" noMove="1" noResize="1" noEditPoints="1" noAdjustHandles="1" noChangeArrowheads="1" noChangeShapeType="1" noTextEdit="1"/>
                  </p:cNvSpPr>
                  <p:nvPr/>
                </p:nvSpPr>
                <p:spPr bwMode="auto">
                  <a:xfrm>
                    <a:off x="767" y="2656"/>
                    <a:ext cx="161" cy="306"/>
                  </a:xfrm>
                  <a:prstGeom prst="rect">
                    <a:avLst/>
                  </a:prstGeom>
                  <a:blipFill>
                    <a:blip r:embed="rId16"/>
                    <a:stretch>
                      <a:fillRect l="-2128" r="-2128"/>
                    </a:stretch>
                  </a:blipFill>
                  <a:ln>
                    <a:noFill/>
                  </a:ln>
                  <a:effectLst/>
                </p:spPr>
                <p:txBody>
                  <a:bodyPr/>
                  <a:lstStyle/>
                  <a:p>
                    <a:r>
                      <a:rPr lang="en-US">
                        <a:noFill/>
                      </a:rPr>
                      <a:t> </a:t>
                    </a:r>
                  </a:p>
                </p:txBody>
              </p:sp>
            </mc:Fallback>
          </mc:AlternateContent>
          <p:sp>
            <p:nvSpPr>
              <p:cNvPr id="20537" name="Line 48">
                <a:extLst>
                  <a:ext uri="{FF2B5EF4-FFF2-40B4-BE49-F238E27FC236}">
                    <a16:creationId xmlns:a16="http://schemas.microsoft.com/office/drawing/2014/main" id="{168EA6D9-6B23-4A2B-8371-737CD74850FC}"/>
                  </a:ext>
                </a:extLst>
              </p:cNvPr>
              <p:cNvSpPr>
                <a:spLocks noChangeShapeType="1"/>
              </p:cNvSpPr>
              <p:nvPr/>
            </p:nvSpPr>
            <p:spPr bwMode="auto">
              <a:xfrm>
                <a:off x="845" y="2478"/>
                <a:ext cx="0" cy="18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38" name="Line 49">
                <a:extLst>
                  <a:ext uri="{FF2B5EF4-FFF2-40B4-BE49-F238E27FC236}">
                    <a16:creationId xmlns:a16="http://schemas.microsoft.com/office/drawing/2014/main" id="{097AD14E-6EC3-4C88-822A-317B4F7AA0E6}"/>
                  </a:ext>
                </a:extLst>
              </p:cNvPr>
              <p:cNvSpPr>
                <a:spLocks noChangeShapeType="1"/>
              </p:cNvSpPr>
              <p:nvPr/>
            </p:nvSpPr>
            <p:spPr bwMode="auto">
              <a:xfrm>
                <a:off x="845" y="2977"/>
                <a:ext cx="0" cy="18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39" name="Rectangle 50">
                <a:extLst>
                  <a:ext uri="{FF2B5EF4-FFF2-40B4-BE49-F238E27FC236}">
                    <a16:creationId xmlns:a16="http://schemas.microsoft.com/office/drawing/2014/main" id="{556DA9C9-ECF8-477D-B07D-FF2DEC753AE0}"/>
                  </a:ext>
                </a:extLst>
              </p:cNvPr>
              <p:cNvSpPr>
                <a:spLocks noChangeArrowheads="1"/>
              </p:cNvSpPr>
              <p:nvPr/>
            </p:nvSpPr>
            <p:spPr bwMode="auto">
              <a:xfrm>
                <a:off x="663" y="3158"/>
                <a:ext cx="363" cy="272"/>
              </a:xfrm>
              <a:prstGeom prst="rect">
                <a:avLst/>
              </a:prstGeom>
              <a:solidFill>
                <a:srgbClr val="CCFFFF"/>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40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D</a:t>
                </a:r>
              </a:p>
            </p:txBody>
          </p:sp>
          <p:sp>
            <p:nvSpPr>
              <p:cNvPr id="20540" name="Line 51">
                <a:extLst>
                  <a:ext uri="{FF2B5EF4-FFF2-40B4-BE49-F238E27FC236}">
                    <a16:creationId xmlns:a16="http://schemas.microsoft.com/office/drawing/2014/main" id="{7A653EB3-2AE8-463B-9A93-1D28B05DB514}"/>
                  </a:ext>
                </a:extLst>
              </p:cNvPr>
              <p:cNvSpPr>
                <a:spLocks noChangeShapeType="1"/>
              </p:cNvSpPr>
              <p:nvPr/>
            </p:nvSpPr>
            <p:spPr bwMode="auto">
              <a:xfrm>
                <a:off x="845" y="3430"/>
                <a:ext cx="0" cy="18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mc:AlternateContent xmlns:mc="http://schemas.openxmlformats.org/markup-compatibility/2006" xmlns:a14="http://schemas.microsoft.com/office/drawing/2010/main">
          <mc:Choice Requires="a14">
            <p:sp>
              <p:nvSpPr>
                <p:cNvPr id="20484" name="Object 52">
                  <a:extLst>
                    <a:ext uri="{FF2B5EF4-FFF2-40B4-BE49-F238E27FC236}">
                      <a16:creationId xmlns:a16="http://schemas.microsoft.com/office/drawing/2014/main" id="{6CD7848C-2F3D-490E-81FF-EDABB45DF8FD}"/>
                    </a:ext>
                  </a:extLst>
                </p:cNvPr>
                <p:cNvSpPr txBox="1"/>
                <p:nvPr/>
              </p:nvSpPr>
              <p:spPr bwMode="auto">
                <a:xfrm>
                  <a:off x="3963" y="1843"/>
                  <a:ext cx="234" cy="244"/>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0484" name="Object 52">
                  <a:extLst>
                    <a:ext uri="{FF2B5EF4-FFF2-40B4-BE49-F238E27FC236}">
                      <a16:creationId xmlns:a16="http://schemas.microsoft.com/office/drawing/2014/main" id="{6CD7848C-2F3D-490E-81FF-EDABB45DF8FD}"/>
                    </a:ext>
                  </a:extLst>
                </p:cNvPr>
                <p:cNvSpPr txBox="1">
                  <a:spLocks noRot="1" noChangeAspect="1" noMove="1" noResize="1" noEditPoints="1" noAdjustHandles="1" noChangeArrowheads="1" noChangeShapeType="1" noTextEdit="1"/>
                </p:cNvSpPr>
                <p:nvPr/>
              </p:nvSpPr>
              <p:spPr bwMode="auto">
                <a:xfrm>
                  <a:off x="3963" y="1843"/>
                  <a:ext cx="234" cy="244"/>
                </a:xfrm>
                <a:prstGeom prst="rect">
                  <a:avLst/>
                </a:prstGeom>
                <a:blipFill>
                  <a:blip r:embed="rId17"/>
                  <a:stretch>
                    <a:fillRect l="-10294" r="-26471" b="-21429"/>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85" name="Object 53">
                  <a:extLst>
                    <a:ext uri="{FF2B5EF4-FFF2-40B4-BE49-F238E27FC236}">
                      <a16:creationId xmlns:a16="http://schemas.microsoft.com/office/drawing/2014/main" id="{96A24BF5-6C72-47D5-B5A1-726E817BA0CD}"/>
                    </a:ext>
                  </a:extLst>
                </p:cNvPr>
                <p:cNvSpPr txBox="1"/>
                <p:nvPr/>
              </p:nvSpPr>
              <p:spPr bwMode="auto">
                <a:xfrm>
                  <a:off x="3956" y="2310"/>
                  <a:ext cx="225" cy="244"/>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0485" name="Object 53">
                  <a:extLst>
                    <a:ext uri="{FF2B5EF4-FFF2-40B4-BE49-F238E27FC236}">
                      <a16:creationId xmlns:a16="http://schemas.microsoft.com/office/drawing/2014/main" id="{96A24BF5-6C72-47D5-B5A1-726E817BA0CD}"/>
                    </a:ext>
                  </a:extLst>
                </p:cNvPr>
                <p:cNvSpPr txBox="1">
                  <a:spLocks noRot="1" noChangeAspect="1" noMove="1" noResize="1" noEditPoints="1" noAdjustHandles="1" noChangeArrowheads="1" noChangeShapeType="1" noTextEdit="1"/>
                </p:cNvSpPr>
                <p:nvPr/>
              </p:nvSpPr>
              <p:spPr bwMode="auto">
                <a:xfrm>
                  <a:off x="3956" y="2310"/>
                  <a:ext cx="225" cy="244"/>
                </a:xfrm>
                <a:prstGeom prst="rect">
                  <a:avLst/>
                </a:prstGeom>
                <a:blipFill>
                  <a:blip r:embed="rId18"/>
                  <a:stretch>
                    <a:fillRect l="-10769" r="-32308" b="-21429"/>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86" name="Object 54">
                  <a:extLst>
                    <a:ext uri="{FF2B5EF4-FFF2-40B4-BE49-F238E27FC236}">
                      <a16:creationId xmlns:a16="http://schemas.microsoft.com/office/drawing/2014/main" id="{7898B5FF-93A4-478D-AE1D-2ED18F77BBD2}"/>
                    </a:ext>
                  </a:extLst>
                </p:cNvPr>
                <p:cNvSpPr txBox="1"/>
                <p:nvPr/>
              </p:nvSpPr>
              <p:spPr bwMode="auto">
                <a:xfrm>
                  <a:off x="3956" y="2703"/>
                  <a:ext cx="225" cy="244"/>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0486" name="Object 54">
                  <a:extLst>
                    <a:ext uri="{FF2B5EF4-FFF2-40B4-BE49-F238E27FC236}">
                      <a16:creationId xmlns:a16="http://schemas.microsoft.com/office/drawing/2014/main" id="{7898B5FF-93A4-478D-AE1D-2ED18F77BBD2}"/>
                    </a:ext>
                  </a:extLst>
                </p:cNvPr>
                <p:cNvSpPr txBox="1">
                  <a:spLocks noRot="1" noChangeAspect="1" noMove="1" noResize="1" noEditPoints="1" noAdjustHandles="1" noChangeArrowheads="1" noChangeShapeType="1" noTextEdit="1"/>
                </p:cNvSpPr>
                <p:nvPr/>
              </p:nvSpPr>
              <p:spPr bwMode="auto">
                <a:xfrm>
                  <a:off x="3956" y="2703"/>
                  <a:ext cx="225" cy="244"/>
                </a:xfrm>
                <a:prstGeom prst="rect">
                  <a:avLst/>
                </a:prstGeom>
                <a:blipFill>
                  <a:blip r:embed="rId19"/>
                  <a:stretch>
                    <a:fillRect l="-10769" r="-32308" b="-21429"/>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87" name="Object 55">
                  <a:extLst>
                    <a:ext uri="{FF2B5EF4-FFF2-40B4-BE49-F238E27FC236}">
                      <a16:creationId xmlns:a16="http://schemas.microsoft.com/office/drawing/2014/main" id="{C1168BAD-E00D-422A-BF15-47612043A6DF}"/>
                    </a:ext>
                  </a:extLst>
                </p:cNvPr>
                <p:cNvSpPr txBox="1"/>
                <p:nvPr/>
              </p:nvSpPr>
              <p:spPr bwMode="auto">
                <a:xfrm>
                  <a:off x="3961" y="3131"/>
                  <a:ext cx="225" cy="24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0487" name="Object 55">
                  <a:extLst>
                    <a:ext uri="{FF2B5EF4-FFF2-40B4-BE49-F238E27FC236}">
                      <a16:creationId xmlns:a16="http://schemas.microsoft.com/office/drawing/2014/main" id="{C1168BAD-E00D-422A-BF15-47612043A6DF}"/>
                    </a:ext>
                  </a:extLst>
                </p:cNvPr>
                <p:cNvSpPr txBox="1">
                  <a:spLocks noRot="1" noChangeAspect="1" noMove="1" noResize="1" noEditPoints="1" noAdjustHandles="1" noChangeArrowheads="1" noChangeShapeType="1" noTextEdit="1"/>
                </p:cNvSpPr>
                <p:nvPr/>
              </p:nvSpPr>
              <p:spPr bwMode="auto">
                <a:xfrm>
                  <a:off x="3961" y="3131"/>
                  <a:ext cx="225" cy="245"/>
                </a:xfrm>
                <a:prstGeom prst="rect">
                  <a:avLst/>
                </a:prstGeom>
                <a:blipFill>
                  <a:blip r:embed="rId20"/>
                  <a:stretch>
                    <a:fillRect l="-9231" r="-33846" b="-19718"/>
                  </a:stretch>
                </a:blipFill>
                <a:ln>
                  <a:noFill/>
                </a:ln>
                <a:effectLst/>
              </p:spPr>
              <p:txBody>
                <a:bodyPr/>
                <a:lstStyle/>
                <a:p>
                  <a:r>
                    <a:rPr lang="en-US">
                      <a:noFill/>
                    </a:rPr>
                    <a:t> </a:t>
                  </a:r>
                </a:p>
              </p:txBody>
            </p:sp>
          </mc:Fallback>
        </mc:AlternateContent>
        <p:sp>
          <p:nvSpPr>
            <p:cNvPr id="20518" name="Line 56">
              <a:extLst>
                <a:ext uri="{FF2B5EF4-FFF2-40B4-BE49-F238E27FC236}">
                  <a16:creationId xmlns:a16="http://schemas.microsoft.com/office/drawing/2014/main" id="{157F4179-0D47-48CF-AAAB-F6A110B48425}"/>
                </a:ext>
              </a:extLst>
            </p:cNvPr>
            <p:cNvSpPr>
              <a:spLocks noChangeShapeType="1"/>
            </p:cNvSpPr>
            <p:nvPr/>
          </p:nvSpPr>
          <p:spPr bwMode="auto">
            <a:xfrm>
              <a:off x="4093" y="2065"/>
              <a:ext cx="0" cy="313"/>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19" name="Line 57">
              <a:extLst>
                <a:ext uri="{FF2B5EF4-FFF2-40B4-BE49-F238E27FC236}">
                  <a16:creationId xmlns:a16="http://schemas.microsoft.com/office/drawing/2014/main" id="{6EF8ED2E-98E5-4CA5-903D-219B95AC4A17}"/>
                </a:ext>
              </a:extLst>
            </p:cNvPr>
            <p:cNvSpPr>
              <a:spLocks noChangeShapeType="1"/>
            </p:cNvSpPr>
            <p:nvPr/>
          </p:nvSpPr>
          <p:spPr bwMode="auto">
            <a:xfrm>
              <a:off x="4093" y="2534"/>
              <a:ext cx="0" cy="236"/>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20" name="Line 58">
              <a:extLst>
                <a:ext uri="{FF2B5EF4-FFF2-40B4-BE49-F238E27FC236}">
                  <a16:creationId xmlns:a16="http://schemas.microsoft.com/office/drawing/2014/main" id="{91CE3EC4-CAE9-4683-9978-1FADC77F9F2E}"/>
                </a:ext>
              </a:extLst>
            </p:cNvPr>
            <p:cNvSpPr>
              <a:spLocks noChangeShapeType="1"/>
            </p:cNvSpPr>
            <p:nvPr/>
          </p:nvSpPr>
          <p:spPr bwMode="auto">
            <a:xfrm>
              <a:off x="4093" y="3356"/>
              <a:ext cx="0" cy="392"/>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0488" name="Object 59">
                  <a:extLst>
                    <a:ext uri="{FF2B5EF4-FFF2-40B4-BE49-F238E27FC236}">
                      <a16:creationId xmlns:a16="http://schemas.microsoft.com/office/drawing/2014/main" id="{A15A4C64-6DD5-4889-9B94-FFE5D0BCADAC}"/>
                    </a:ext>
                  </a:extLst>
                </p:cNvPr>
                <p:cNvSpPr txBox="1"/>
                <p:nvPr/>
              </p:nvSpPr>
              <p:spPr bwMode="auto">
                <a:xfrm>
                  <a:off x="4016" y="2925"/>
                  <a:ext cx="138" cy="264"/>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0488" name="Object 59">
                  <a:extLst>
                    <a:ext uri="{FF2B5EF4-FFF2-40B4-BE49-F238E27FC236}">
                      <a16:creationId xmlns:a16="http://schemas.microsoft.com/office/drawing/2014/main" id="{A15A4C64-6DD5-4889-9B94-FFE5D0BCADAC}"/>
                    </a:ext>
                  </a:extLst>
                </p:cNvPr>
                <p:cNvSpPr txBox="1">
                  <a:spLocks noRot="1" noChangeAspect="1" noMove="1" noResize="1" noEditPoints="1" noAdjustHandles="1" noChangeArrowheads="1" noChangeShapeType="1" noTextEdit="1"/>
                </p:cNvSpPr>
                <p:nvPr/>
              </p:nvSpPr>
              <p:spPr bwMode="auto">
                <a:xfrm>
                  <a:off x="4016" y="2925"/>
                  <a:ext cx="138" cy="264"/>
                </a:xfrm>
                <a:prstGeom prst="rect">
                  <a:avLst/>
                </a:prstGeom>
                <a:blipFill>
                  <a:blip r:embed="rId21"/>
                  <a:stretch>
                    <a:fillRect l="-2500" r="-20000"/>
                  </a:stretch>
                </a:blipFill>
                <a:ln>
                  <a:noFill/>
                </a:ln>
                <a:effectLst/>
              </p:spPr>
              <p:txBody>
                <a:bodyPr/>
                <a:lstStyle/>
                <a:p>
                  <a:r>
                    <a:rPr lang="en-US">
                      <a:noFill/>
                    </a:rPr>
                    <a:t> </a:t>
                  </a:r>
                </a:p>
              </p:txBody>
            </p:sp>
          </mc:Fallback>
        </mc:AlternateContent>
        <p:sp>
          <p:nvSpPr>
            <p:cNvPr id="20521" name="Line 60">
              <a:extLst>
                <a:ext uri="{FF2B5EF4-FFF2-40B4-BE49-F238E27FC236}">
                  <a16:creationId xmlns:a16="http://schemas.microsoft.com/office/drawing/2014/main" id="{573A5005-9109-4B77-8596-0A897A019329}"/>
                </a:ext>
              </a:extLst>
            </p:cNvPr>
            <p:cNvSpPr>
              <a:spLocks noChangeShapeType="1"/>
            </p:cNvSpPr>
            <p:nvPr/>
          </p:nvSpPr>
          <p:spPr bwMode="auto">
            <a:xfrm>
              <a:off x="3626" y="1986"/>
              <a:ext cx="38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22" name="Line 61">
              <a:extLst>
                <a:ext uri="{FF2B5EF4-FFF2-40B4-BE49-F238E27FC236}">
                  <a16:creationId xmlns:a16="http://schemas.microsoft.com/office/drawing/2014/main" id="{E52C7AAD-4EEC-4496-A658-BE59B3347CC5}"/>
                </a:ext>
              </a:extLst>
            </p:cNvPr>
            <p:cNvSpPr>
              <a:spLocks noChangeShapeType="1"/>
            </p:cNvSpPr>
            <p:nvPr/>
          </p:nvSpPr>
          <p:spPr bwMode="auto">
            <a:xfrm>
              <a:off x="4170" y="1986"/>
              <a:ext cx="389"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23" name="Line 62">
              <a:extLst>
                <a:ext uri="{FF2B5EF4-FFF2-40B4-BE49-F238E27FC236}">
                  <a16:creationId xmlns:a16="http://schemas.microsoft.com/office/drawing/2014/main" id="{044A1913-6B93-44C3-BDC0-4B53E41AE0BD}"/>
                </a:ext>
              </a:extLst>
            </p:cNvPr>
            <p:cNvSpPr>
              <a:spLocks noChangeShapeType="1"/>
            </p:cNvSpPr>
            <p:nvPr/>
          </p:nvSpPr>
          <p:spPr bwMode="auto">
            <a:xfrm>
              <a:off x="4520" y="1986"/>
              <a:ext cx="3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24" name="Line 63">
              <a:extLst>
                <a:ext uri="{FF2B5EF4-FFF2-40B4-BE49-F238E27FC236}">
                  <a16:creationId xmlns:a16="http://schemas.microsoft.com/office/drawing/2014/main" id="{3F3AA541-7A16-49BB-A7E6-C4CEA0EB51CB}"/>
                </a:ext>
              </a:extLst>
            </p:cNvPr>
            <p:cNvSpPr>
              <a:spLocks noChangeShapeType="1"/>
            </p:cNvSpPr>
            <p:nvPr/>
          </p:nvSpPr>
          <p:spPr bwMode="auto">
            <a:xfrm flipH="1">
              <a:off x="4404" y="2457"/>
              <a:ext cx="42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25" name="Line 64">
              <a:extLst>
                <a:ext uri="{FF2B5EF4-FFF2-40B4-BE49-F238E27FC236}">
                  <a16:creationId xmlns:a16="http://schemas.microsoft.com/office/drawing/2014/main" id="{094B00E7-6D7E-4638-B27A-096312FF2D34}"/>
                </a:ext>
              </a:extLst>
            </p:cNvPr>
            <p:cNvSpPr>
              <a:spLocks noChangeShapeType="1"/>
            </p:cNvSpPr>
            <p:nvPr/>
          </p:nvSpPr>
          <p:spPr bwMode="auto">
            <a:xfrm flipH="1">
              <a:off x="4132" y="2457"/>
              <a:ext cx="311" cy="0"/>
            </a:xfrm>
            <a:prstGeom prst="line">
              <a:avLst/>
            </a:prstGeom>
            <a:noFill/>
            <a:ln w="25400">
              <a:solidFill>
                <a:schemeClr val="tx1"/>
              </a:solidFill>
              <a:round/>
              <a:headEnd/>
              <a:tailEnd type="none"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26" name="Line 65">
              <a:extLst>
                <a:ext uri="{FF2B5EF4-FFF2-40B4-BE49-F238E27FC236}">
                  <a16:creationId xmlns:a16="http://schemas.microsoft.com/office/drawing/2014/main" id="{2B9DCBE3-91C0-4A93-A93C-A2B005C7DE8B}"/>
                </a:ext>
              </a:extLst>
            </p:cNvPr>
            <p:cNvSpPr>
              <a:spLocks noChangeShapeType="1"/>
            </p:cNvSpPr>
            <p:nvPr/>
          </p:nvSpPr>
          <p:spPr bwMode="auto">
            <a:xfrm flipH="1">
              <a:off x="4404" y="2847"/>
              <a:ext cx="42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27" name="Line 66">
              <a:extLst>
                <a:ext uri="{FF2B5EF4-FFF2-40B4-BE49-F238E27FC236}">
                  <a16:creationId xmlns:a16="http://schemas.microsoft.com/office/drawing/2014/main" id="{187DB452-D817-469D-A69A-98967DDC7370}"/>
                </a:ext>
              </a:extLst>
            </p:cNvPr>
            <p:cNvSpPr>
              <a:spLocks noChangeShapeType="1"/>
            </p:cNvSpPr>
            <p:nvPr/>
          </p:nvSpPr>
          <p:spPr bwMode="auto">
            <a:xfrm flipH="1">
              <a:off x="4132" y="2847"/>
              <a:ext cx="311" cy="0"/>
            </a:xfrm>
            <a:prstGeom prst="line">
              <a:avLst/>
            </a:prstGeom>
            <a:noFill/>
            <a:ln w="25400">
              <a:solidFill>
                <a:schemeClr val="tx1"/>
              </a:solidFill>
              <a:round/>
              <a:headEnd/>
              <a:tailEnd type="none"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28" name="Line 67">
              <a:extLst>
                <a:ext uri="{FF2B5EF4-FFF2-40B4-BE49-F238E27FC236}">
                  <a16:creationId xmlns:a16="http://schemas.microsoft.com/office/drawing/2014/main" id="{A064000B-23DA-4CD8-B88A-6AE12E210FDF}"/>
                </a:ext>
              </a:extLst>
            </p:cNvPr>
            <p:cNvSpPr>
              <a:spLocks noChangeShapeType="1"/>
            </p:cNvSpPr>
            <p:nvPr/>
          </p:nvSpPr>
          <p:spPr bwMode="auto">
            <a:xfrm flipH="1">
              <a:off x="4404" y="3278"/>
              <a:ext cx="42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29" name="Line 68">
              <a:extLst>
                <a:ext uri="{FF2B5EF4-FFF2-40B4-BE49-F238E27FC236}">
                  <a16:creationId xmlns:a16="http://schemas.microsoft.com/office/drawing/2014/main" id="{C04041CC-24C4-4F5D-B8A8-E4535B8E50B2}"/>
                </a:ext>
              </a:extLst>
            </p:cNvPr>
            <p:cNvSpPr>
              <a:spLocks noChangeShapeType="1"/>
            </p:cNvSpPr>
            <p:nvPr/>
          </p:nvSpPr>
          <p:spPr bwMode="auto">
            <a:xfrm flipH="1">
              <a:off x="4132" y="3278"/>
              <a:ext cx="31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30" name="Line 69">
              <a:extLst>
                <a:ext uri="{FF2B5EF4-FFF2-40B4-BE49-F238E27FC236}">
                  <a16:creationId xmlns:a16="http://schemas.microsoft.com/office/drawing/2014/main" id="{37E58108-9478-4AE9-BDE9-5DC9DFEB2F04}"/>
                </a:ext>
              </a:extLst>
            </p:cNvPr>
            <p:cNvSpPr>
              <a:spLocks noChangeShapeType="1"/>
            </p:cNvSpPr>
            <p:nvPr/>
          </p:nvSpPr>
          <p:spPr bwMode="auto">
            <a:xfrm flipH="1">
              <a:off x="4379" y="3748"/>
              <a:ext cx="453"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31" name="Line 70">
              <a:extLst>
                <a:ext uri="{FF2B5EF4-FFF2-40B4-BE49-F238E27FC236}">
                  <a16:creationId xmlns:a16="http://schemas.microsoft.com/office/drawing/2014/main" id="{BA86F02B-F390-4CB2-BA6A-0FCD7D0A7559}"/>
                </a:ext>
              </a:extLst>
            </p:cNvPr>
            <p:cNvSpPr>
              <a:spLocks noChangeShapeType="1"/>
            </p:cNvSpPr>
            <p:nvPr/>
          </p:nvSpPr>
          <p:spPr bwMode="auto">
            <a:xfrm flipH="1">
              <a:off x="4092" y="3748"/>
              <a:ext cx="328" cy="0"/>
            </a:xfrm>
            <a:prstGeom prst="line">
              <a:avLst/>
            </a:prstGeom>
            <a:noFill/>
            <a:ln w="25400">
              <a:solidFill>
                <a:schemeClr val="tx1"/>
              </a:solidFill>
              <a:round/>
              <a:headEnd/>
              <a:tailEnd type="none"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0532" name="Line 71">
              <a:extLst>
                <a:ext uri="{FF2B5EF4-FFF2-40B4-BE49-F238E27FC236}">
                  <a16:creationId xmlns:a16="http://schemas.microsoft.com/office/drawing/2014/main" id="{6C8B777F-06A3-4A8B-B1CF-7A43A75CA3F4}"/>
                </a:ext>
              </a:extLst>
            </p:cNvPr>
            <p:cNvSpPr>
              <a:spLocks noChangeShapeType="1"/>
            </p:cNvSpPr>
            <p:nvPr/>
          </p:nvSpPr>
          <p:spPr bwMode="auto">
            <a:xfrm>
              <a:off x="4832" y="1986"/>
              <a:ext cx="38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0489" name="Object 72">
                  <a:extLst>
                    <a:ext uri="{FF2B5EF4-FFF2-40B4-BE49-F238E27FC236}">
                      <a16:creationId xmlns:a16="http://schemas.microsoft.com/office/drawing/2014/main" id="{F81F4E60-0C8A-46D5-BB69-76C1DACF29FF}"/>
                    </a:ext>
                  </a:extLst>
                </p:cNvPr>
                <p:cNvSpPr txBox="1"/>
                <p:nvPr/>
              </p:nvSpPr>
              <p:spPr bwMode="auto">
                <a:xfrm>
                  <a:off x="3462" y="1711"/>
                  <a:ext cx="413" cy="264"/>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b="0" i="1" smtClean="0">
                            <a:solidFill>
                              <a:srgbClr val="000000"/>
                            </a:solidFill>
                            <a:latin typeface="Cambria Math" panose="02040503050406030204" pitchFamily="18" charset="0"/>
                          </a:rPr>
                          <m:t>𝑤</m:t>
                        </m:r>
                        <m:r>
                          <a:rPr lang="en-US" sz="2400" b="0" i="1" smtClean="0">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20489" name="Object 72">
                  <a:extLst>
                    <a:ext uri="{FF2B5EF4-FFF2-40B4-BE49-F238E27FC236}">
                      <a16:creationId xmlns:a16="http://schemas.microsoft.com/office/drawing/2014/main" id="{F81F4E60-0C8A-46D5-BB69-76C1DACF29FF}"/>
                    </a:ext>
                  </a:extLst>
                </p:cNvPr>
                <p:cNvSpPr txBox="1">
                  <a:spLocks noRot="1" noChangeAspect="1" noMove="1" noResize="1" noEditPoints="1" noAdjustHandles="1" noChangeArrowheads="1" noChangeShapeType="1" noTextEdit="1"/>
                </p:cNvSpPr>
                <p:nvPr/>
              </p:nvSpPr>
              <p:spPr bwMode="auto">
                <a:xfrm>
                  <a:off x="3462" y="1711"/>
                  <a:ext cx="413" cy="264"/>
                </a:xfrm>
                <a:prstGeom prst="rect">
                  <a:avLst/>
                </a:prstGeom>
                <a:blipFill>
                  <a:blip r:embed="rId22"/>
                  <a:stretch>
                    <a:fillRect r="-18333"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90" name="Object 73">
                  <a:extLst>
                    <a:ext uri="{FF2B5EF4-FFF2-40B4-BE49-F238E27FC236}">
                      <a16:creationId xmlns:a16="http://schemas.microsoft.com/office/drawing/2014/main" id="{03594EED-0495-4DD6-BF0C-21E6FE5A55D5}"/>
                    </a:ext>
                  </a:extLst>
                </p:cNvPr>
                <p:cNvSpPr txBox="1"/>
                <p:nvPr/>
              </p:nvSpPr>
              <p:spPr bwMode="auto">
                <a:xfrm>
                  <a:off x="5016" y="1714"/>
                  <a:ext cx="398" cy="264"/>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b="0" i="1" smtClean="0">
                            <a:solidFill>
                              <a:srgbClr val="000000"/>
                            </a:solidFill>
                            <a:latin typeface="Cambria Math" panose="02040503050406030204" pitchFamily="18" charset="0"/>
                          </a:rPr>
                          <m:t>𝑦</m:t>
                        </m:r>
                        <m:r>
                          <a:rPr lang="en-US" sz="2400" b="0" i="1" smtClean="0">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20490" name="Object 73">
                  <a:extLst>
                    <a:ext uri="{FF2B5EF4-FFF2-40B4-BE49-F238E27FC236}">
                      <a16:creationId xmlns:a16="http://schemas.microsoft.com/office/drawing/2014/main" id="{03594EED-0495-4DD6-BF0C-21E6FE5A55D5}"/>
                    </a:ext>
                  </a:extLst>
                </p:cNvPr>
                <p:cNvSpPr txBox="1">
                  <a:spLocks noRot="1" noChangeAspect="1" noMove="1" noResize="1" noEditPoints="1" noAdjustHandles="1" noChangeArrowheads="1" noChangeShapeType="1" noTextEdit="1"/>
                </p:cNvSpPr>
                <p:nvPr/>
              </p:nvSpPr>
              <p:spPr bwMode="auto">
                <a:xfrm>
                  <a:off x="5016" y="1714"/>
                  <a:ext cx="398" cy="264"/>
                </a:xfrm>
                <a:prstGeom prst="rect">
                  <a:avLst/>
                </a:prstGeom>
                <a:blipFill>
                  <a:blip r:embed="rId23"/>
                  <a:stretch>
                    <a:fillRect l="-2609" r="-15652"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91" name="Object 74">
                  <a:extLst>
                    <a:ext uri="{FF2B5EF4-FFF2-40B4-BE49-F238E27FC236}">
                      <a16:creationId xmlns:a16="http://schemas.microsoft.com/office/drawing/2014/main" id="{38396C4D-CBFF-4F25-97AC-A1B047CF41AC}"/>
                    </a:ext>
                  </a:extLst>
                </p:cNvPr>
                <p:cNvSpPr txBox="1"/>
                <p:nvPr/>
              </p:nvSpPr>
              <p:spPr bwMode="auto">
                <a:xfrm>
                  <a:off x="4274" y="1709"/>
                  <a:ext cx="466" cy="264"/>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b="0" i="1">
                            <a:solidFill>
                              <a:srgbClr val="000000"/>
                            </a:solidFill>
                            <a:latin typeface="Cambria Math" panose="02040503050406030204" pitchFamily="18" charset="0"/>
                          </a:rPr>
                          <m:t>1/</m:t>
                        </m:r>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𝑎</m:t>
                            </m:r>
                          </m:e>
                          <m:sub>
                            <m:r>
                              <a:rPr lang="en-US" sz="2400" b="0" i="1">
                                <a:solidFill>
                                  <a:srgbClr val="000000"/>
                                </a:solidFill>
                                <a:latin typeface="Cambria Math" panose="02040503050406030204" pitchFamily="18" charset="0"/>
                              </a:rPr>
                              <m:t>0</m:t>
                            </m:r>
                          </m:sub>
                        </m:sSub>
                      </m:oMath>
                    </m:oMathPara>
                  </a14:m>
                  <a:endParaRPr lang="en-US" sz="2400" dirty="0"/>
                </a:p>
              </p:txBody>
            </p:sp>
          </mc:Choice>
          <mc:Fallback xmlns="">
            <p:sp>
              <p:nvSpPr>
                <p:cNvPr id="20491" name="Object 74">
                  <a:extLst>
                    <a:ext uri="{FF2B5EF4-FFF2-40B4-BE49-F238E27FC236}">
                      <a16:creationId xmlns:a16="http://schemas.microsoft.com/office/drawing/2014/main" id="{38396C4D-CBFF-4F25-97AC-A1B047CF41AC}"/>
                    </a:ext>
                  </a:extLst>
                </p:cNvPr>
                <p:cNvSpPr txBox="1">
                  <a:spLocks noRot="1" noChangeAspect="1" noMove="1" noResize="1" noEditPoints="1" noAdjustHandles="1" noChangeArrowheads="1" noChangeShapeType="1" noTextEdit="1"/>
                </p:cNvSpPr>
                <p:nvPr/>
              </p:nvSpPr>
              <p:spPr bwMode="auto">
                <a:xfrm>
                  <a:off x="4274" y="1709"/>
                  <a:ext cx="466" cy="264"/>
                </a:xfrm>
                <a:prstGeom prst="rect">
                  <a:avLst/>
                </a:prstGeom>
                <a:blipFill>
                  <a:blip r:embed="rId24"/>
                  <a:stretch>
                    <a:fillRect l="-2222" b="-21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92" name="Object 75">
                  <a:extLst>
                    <a:ext uri="{FF2B5EF4-FFF2-40B4-BE49-F238E27FC236}">
                      <a16:creationId xmlns:a16="http://schemas.microsoft.com/office/drawing/2014/main" id="{467E2276-8F25-41C5-9295-2C5F4A86E819}"/>
                    </a:ext>
                  </a:extLst>
                </p:cNvPr>
                <p:cNvSpPr txBox="1"/>
                <p:nvPr/>
              </p:nvSpPr>
              <p:spPr bwMode="auto">
                <a:xfrm>
                  <a:off x="4274" y="2179"/>
                  <a:ext cx="363" cy="264"/>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b="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𝑎</m:t>
                            </m:r>
                          </m:e>
                          <m:sub>
                            <m:r>
                              <a:rPr lang="en-US" sz="2400" b="0" i="1">
                                <a:solidFill>
                                  <a:srgbClr val="000000"/>
                                </a:solidFill>
                                <a:latin typeface="Cambria Math" panose="02040503050406030204" pitchFamily="18" charset="0"/>
                              </a:rPr>
                              <m:t>1</m:t>
                            </m:r>
                          </m:sub>
                        </m:sSub>
                      </m:oMath>
                    </m:oMathPara>
                  </a14:m>
                  <a:endParaRPr lang="en-US" sz="2400" dirty="0"/>
                </a:p>
              </p:txBody>
            </p:sp>
          </mc:Choice>
          <mc:Fallback xmlns="">
            <p:sp>
              <p:nvSpPr>
                <p:cNvPr id="20492" name="Object 75">
                  <a:extLst>
                    <a:ext uri="{FF2B5EF4-FFF2-40B4-BE49-F238E27FC236}">
                      <a16:creationId xmlns:a16="http://schemas.microsoft.com/office/drawing/2014/main" id="{467E2276-8F25-41C5-9295-2C5F4A86E819}"/>
                    </a:ext>
                  </a:extLst>
                </p:cNvPr>
                <p:cNvSpPr txBox="1">
                  <a:spLocks noRot="1" noChangeAspect="1" noMove="1" noResize="1" noEditPoints="1" noAdjustHandles="1" noChangeArrowheads="1" noChangeShapeType="1" noTextEdit="1"/>
                </p:cNvSpPr>
                <p:nvPr/>
              </p:nvSpPr>
              <p:spPr bwMode="auto">
                <a:xfrm>
                  <a:off x="4274" y="2179"/>
                  <a:ext cx="363" cy="264"/>
                </a:xfrm>
                <a:prstGeom prst="rect">
                  <a:avLst/>
                </a:prstGeom>
                <a:blipFill>
                  <a:blip r:embed="rId25"/>
                  <a:stretch>
                    <a:fillRect r="-6667" b="-394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93" name="Object 76">
                  <a:extLst>
                    <a:ext uri="{FF2B5EF4-FFF2-40B4-BE49-F238E27FC236}">
                      <a16:creationId xmlns:a16="http://schemas.microsoft.com/office/drawing/2014/main" id="{CA42061B-A9BE-4B0C-A647-BD293596C798}"/>
                    </a:ext>
                  </a:extLst>
                </p:cNvPr>
                <p:cNvSpPr txBox="1"/>
                <p:nvPr/>
              </p:nvSpPr>
              <p:spPr bwMode="auto">
                <a:xfrm>
                  <a:off x="4274" y="2570"/>
                  <a:ext cx="363" cy="264"/>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b="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𝑎</m:t>
                            </m:r>
                          </m:e>
                          <m:sub>
                            <m:r>
                              <a:rPr lang="en-US" sz="2400" b="0" i="1">
                                <a:solidFill>
                                  <a:srgbClr val="000000"/>
                                </a:solidFill>
                                <a:latin typeface="Cambria Math" panose="02040503050406030204" pitchFamily="18" charset="0"/>
                              </a:rPr>
                              <m:t>2</m:t>
                            </m:r>
                          </m:sub>
                        </m:sSub>
                      </m:oMath>
                    </m:oMathPara>
                  </a14:m>
                  <a:endParaRPr lang="en-US" sz="2400" dirty="0"/>
                </a:p>
              </p:txBody>
            </p:sp>
          </mc:Choice>
          <mc:Fallback xmlns="">
            <p:sp>
              <p:nvSpPr>
                <p:cNvPr id="20493" name="Object 76">
                  <a:extLst>
                    <a:ext uri="{FF2B5EF4-FFF2-40B4-BE49-F238E27FC236}">
                      <a16:creationId xmlns:a16="http://schemas.microsoft.com/office/drawing/2014/main" id="{CA42061B-A9BE-4B0C-A647-BD293596C798}"/>
                    </a:ext>
                  </a:extLst>
                </p:cNvPr>
                <p:cNvSpPr txBox="1">
                  <a:spLocks noRot="1" noChangeAspect="1" noMove="1" noResize="1" noEditPoints="1" noAdjustHandles="1" noChangeArrowheads="1" noChangeShapeType="1" noTextEdit="1"/>
                </p:cNvSpPr>
                <p:nvPr/>
              </p:nvSpPr>
              <p:spPr bwMode="auto">
                <a:xfrm>
                  <a:off x="4274" y="2570"/>
                  <a:ext cx="363" cy="264"/>
                </a:xfrm>
                <a:prstGeom prst="rect">
                  <a:avLst/>
                </a:prstGeom>
                <a:blipFill>
                  <a:blip r:embed="rId26"/>
                  <a:stretch>
                    <a:fillRect r="-7619" b="-394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94" name="Object 77">
                  <a:extLst>
                    <a:ext uri="{FF2B5EF4-FFF2-40B4-BE49-F238E27FC236}">
                      <a16:creationId xmlns:a16="http://schemas.microsoft.com/office/drawing/2014/main" id="{E10ACD35-961D-46F0-B405-EE53ABBFCB28}"/>
                    </a:ext>
                  </a:extLst>
                </p:cNvPr>
                <p:cNvSpPr txBox="1"/>
                <p:nvPr/>
              </p:nvSpPr>
              <p:spPr bwMode="auto">
                <a:xfrm>
                  <a:off x="4274" y="3000"/>
                  <a:ext cx="556" cy="264"/>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b="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𝑎</m:t>
                            </m:r>
                          </m:e>
                          <m:sub>
                            <m:r>
                              <a:rPr lang="en-US" sz="2400" b="0" i="1">
                                <a:solidFill>
                                  <a:srgbClr val="000000"/>
                                </a:solidFill>
                                <a:latin typeface="Cambria Math" panose="02040503050406030204" pitchFamily="18" charset="0"/>
                              </a:rPr>
                              <m:t>𝑁</m:t>
                            </m:r>
                            <m:r>
                              <a:rPr lang="en-US" sz="2400" b="0" i="1">
                                <a:solidFill>
                                  <a:srgbClr val="000000"/>
                                </a:solidFill>
                                <a:latin typeface="Cambria Math" panose="02040503050406030204" pitchFamily="18" charset="0"/>
                              </a:rPr>
                              <m:t>−1</m:t>
                            </m:r>
                          </m:sub>
                        </m:sSub>
                      </m:oMath>
                    </m:oMathPara>
                  </a14:m>
                  <a:endParaRPr lang="en-US" sz="2400" dirty="0"/>
                </a:p>
              </p:txBody>
            </p:sp>
          </mc:Choice>
          <mc:Fallback xmlns="">
            <p:sp>
              <p:nvSpPr>
                <p:cNvPr id="20494" name="Object 77">
                  <a:extLst>
                    <a:ext uri="{FF2B5EF4-FFF2-40B4-BE49-F238E27FC236}">
                      <a16:creationId xmlns:a16="http://schemas.microsoft.com/office/drawing/2014/main" id="{E10ACD35-961D-46F0-B405-EE53ABBFCB28}"/>
                    </a:ext>
                  </a:extLst>
                </p:cNvPr>
                <p:cNvSpPr txBox="1">
                  <a:spLocks noRot="1" noChangeAspect="1" noMove="1" noResize="1" noEditPoints="1" noAdjustHandles="1" noChangeArrowheads="1" noChangeShapeType="1" noTextEdit="1"/>
                </p:cNvSpPr>
                <p:nvPr/>
              </p:nvSpPr>
              <p:spPr bwMode="auto">
                <a:xfrm>
                  <a:off x="4274" y="3000"/>
                  <a:ext cx="556" cy="264"/>
                </a:xfrm>
                <a:prstGeom prst="rect">
                  <a:avLst/>
                </a:prstGeom>
                <a:blipFill>
                  <a:blip r:embed="rId27"/>
                  <a:stretch>
                    <a:fillRect r="-4969" b="-400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95" name="Object 78">
                  <a:extLst>
                    <a:ext uri="{FF2B5EF4-FFF2-40B4-BE49-F238E27FC236}">
                      <a16:creationId xmlns:a16="http://schemas.microsoft.com/office/drawing/2014/main" id="{078C4586-8B29-4A0B-A928-A60D38B3C5C9}"/>
                    </a:ext>
                  </a:extLst>
                </p:cNvPr>
                <p:cNvSpPr txBox="1"/>
                <p:nvPr/>
              </p:nvSpPr>
              <p:spPr bwMode="auto">
                <a:xfrm>
                  <a:off x="4274" y="3470"/>
                  <a:ext cx="426" cy="264"/>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b="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𝑎</m:t>
                            </m:r>
                          </m:e>
                          <m:sub>
                            <m:r>
                              <a:rPr lang="en-US" sz="2400" b="0" i="1">
                                <a:solidFill>
                                  <a:srgbClr val="000000"/>
                                </a:solidFill>
                                <a:latin typeface="Cambria Math" panose="02040503050406030204" pitchFamily="18" charset="0"/>
                              </a:rPr>
                              <m:t>𝑁</m:t>
                            </m:r>
                          </m:sub>
                        </m:sSub>
                      </m:oMath>
                    </m:oMathPara>
                  </a14:m>
                  <a:endParaRPr lang="en-US" sz="2400" dirty="0"/>
                </a:p>
              </p:txBody>
            </p:sp>
          </mc:Choice>
          <mc:Fallback xmlns="">
            <p:sp>
              <p:nvSpPr>
                <p:cNvPr id="20495" name="Object 78">
                  <a:extLst>
                    <a:ext uri="{FF2B5EF4-FFF2-40B4-BE49-F238E27FC236}">
                      <a16:creationId xmlns:a16="http://schemas.microsoft.com/office/drawing/2014/main" id="{078C4586-8B29-4A0B-A928-A60D38B3C5C9}"/>
                    </a:ext>
                  </a:extLst>
                </p:cNvPr>
                <p:cNvSpPr txBox="1">
                  <a:spLocks noRot="1" noChangeAspect="1" noMove="1" noResize="1" noEditPoints="1" noAdjustHandles="1" noChangeArrowheads="1" noChangeShapeType="1" noTextEdit="1"/>
                </p:cNvSpPr>
                <p:nvPr/>
              </p:nvSpPr>
              <p:spPr bwMode="auto">
                <a:xfrm>
                  <a:off x="4274" y="3470"/>
                  <a:ext cx="426" cy="264"/>
                </a:xfrm>
                <a:prstGeom prst="rect">
                  <a:avLst/>
                </a:prstGeom>
                <a:blipFill>
                  <a:blip r:embed="rId28"/>
                  <a:stretch>
                    <a:fillRect b="-4000"/>
                  </a:stretch>
                </a:blipFill>
                <a:ln>
                  <a:noFill/>
                </a:ln>
                <a:effectLst/>
              </p:spPr>
              <p:txBody>
                <a:bodyPr/>
                <a:lstStyle/>
                <a:p>
                  <a:r>
                    <a:rPr lang="en-US">
                      <a:noFill/>
                    </a:rPr>
                    <a:t> </a:t>
                  </a:r>
                </a:p>
              </p:txBody>
            </p:sp>
          </mc:Fallback>
        </mc:AlternateContent>
      </p:grpSp>
      <p:sp>
        <p:nvSpPr>
          <p:cNvPr id="162" name="Text Box 79">
            <a:extLst>
              <a:ext uri="{FF2B5EF4-FFF2-40B4-BE49-F238E27FC236}">
                <a16:creationId xmlns:a16="http://schemas.microsoft.com/office/drawing/2014/main" id="{B8F28419-6AB1-4835-B086-A8B70BF44344}"/>
              </a:ext>
            </a:extLst>
          </p:cNvPr>
          <p:cNvSpPr txBox="1">
            <a:spLocks noChangeArrowheads="1"/>
          </p:cNvSpPr>
          <p:nvPr/>
        </p:nvSpPr>
        <p:spPr bwMode="auto">
          <a:xfrm>
            <a:off x="3985243" y="5911052"/>
            <a:ext cx="128343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lg"/>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直接</a:t>
            </a:r>
            <a:r>
              <a:rPr kumimoji="0" lang="en-US" altLang="zh-CN" sz="24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Ⅰ</a:t>
            </a:r>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型</a:t>
            </a:r>
          </a:p>
        </p:txBody>
      </p:sp>
      <p:sp>
        <p:nvSpPr>
          <p:cNvPr id="163" name="Line 82">
            <a:extLst>
              <a:ext uri="{FF2B5EF4-FFF2-40B4-BE49-F238E27FC236}">
                <a16:creationId xmlns:a16="http://schemas.microsoft.com/office/drawing/2014/main" id="{D6449F5A-5988-4DE7-8F68-75426D8593EA}"/>
              </a:ext>
            </a:extLst>
          </p:cNvPr>
          <p:cNvSpPr>
            <a:spLocks noChangeShapeType="1"/>
          </p:cNvSpPr>
          <p:nvPr/>
        </p:nvSpPr>
        <p:spPr bwMode="auto">
          <a:xfrm>
            <a:off x="4025900" y="3481388"/>
            <a:ext cx="1150938" cy="0"/>
          </a:xfrm>
          <a:prstGeom prst="line">
            <a:avLst/>
          </a:prstGeom>
          <a:noFill/>
          <a:ln w="25400">
            <a:solidFill>
              <a:schemeClr val="tx1"/>
            </a:solidFill>
            <a:prstDash val="dash"/>
            <a:round/>
            <a:headEnd/>
            <a:tailEnd type="none"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6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28" name="标题 1">
            <a:extLst>
              <a:ext uri="{FF2B5EF4-FFF2-40B4-BE49-F238E27FC236}">
                <a16:creationId xmlns:a16="http://schemas.microsoft.com/office/drawing/2014/main" id="{940D8DAA-DD14-42D2-8D65-B1B04773EBEF}"/>
              </a:ext>
            </a:extLst>
          </p:cNvPr>
          <p:cNvSpPr>
            <a:spLocks noGrp="1"/>
          </p:cNvSpPr>
          <p:nvPr>
            <p:ph type="title"/>
          </p:nvPr>
        </p:nvSpPr>
        <p:spPr/>
        <p:txBody>
          <a:bodyPr/>
          <a:lstStyle/>
          <a:p>
            <a:r>
              <a:rPr lang="en-US" altLang="zh-CN" sz="3200">
                <a:solidFill>
                  <a:srgbClr val="000000"/>
                </a:solidFill>
              </a:rPr>
              <a:t>2.4 </a:t>
            </a:r>
            <a:r>
              <a:rPr lang="zh-CN" altLang="en-US" sz="3200">
                <a:solidFill>
                  <a:srgbClr val="000000"/>
                </a:solidFill>
              </a:rPr>
              <a:t>用微分和差分方程描述的因果</a:t>
            </a:r>
            <a:r>
              <a:rPr lang="en-US" altLang="zh-CN" sz="3200">
                <a:solidFill>
                  <a:srgbClr val="000000"/>
                </a:solidFill>
              </a:rPr>
              <a:t>LTI</a:t>
            </a:r>
            <a:r>
              <a:rPr lang="zh-CN" altLang="en-US" sz="3200">
                <a:solidFill>
                  <a:srgbClr val="000000"/>
                </a:solidFill>
              </a:rPr>
              <a:t>系统</a:t>
            </a:r>
            <a:endParaRPr lang="zh-CN" altLang="en-US"/>
          </a:p>
        </p:txBody>
      </p:sp>
      <p:sp>
        <p:nvSpPr>
          <p:cNvPr id="21529" name="内容占位符 2">
            <a:extLst>
              <a:ext uri="{FF2B5EF4-FFF2-40B4-BE49-F238E27FC236}">
                <a16:creationId xmlns:a16="http://schemas.microsoft.com/office/drawing/2014/main" id="{C445D0D5-AAAC-4527-9326-C70105DA87AC}"/>
              </a:ext>
            </a:extLst>
          </p:cNvPr>
          <p:cNvSpPr>
            <a:spLocks noGrp="1"/>
          </p:cNvSpPr>
          <p:nvPr>
            <p:ph idx="1"/>
          </p:nvPr>
        </p:nvSpPr>
        <p:spPr>
          <a:xfrm>
            <a:off x="457200" y="1285875"/>
            <a:ext cx="8229600" cy="1200329"/>
          </a:xfrm>
        </p:spPr>
        <p:txBody>
          <a:bodyPr>
            <a:spAutoFit/>
          </a:bodyPr>
          <a:lstStyle/>
          <a:p>
            <a:pPr algn="just"/>
            <a:r>
              <a:rPr lang="zh-CN" altLang="en-US" sz="2400" b="0" dirty="0"/>
              <a:t>将其级联起来，就成为线性常系数差分方程描述的系统，它具有与差分方程完全相同的运算功能。可以调换级联次序，并将移位单元合并，于是得到：</a:t>
            </a:r>
          </a:p>
        </p:txBody>
      </p:sp>
      <p:sp>
        <p:nvSpPr>
          <p:cNvPr id="4" name="灯片编号占位符 3">
            <a:extLst>
              <a:ext uri="{FF2B5EF4-FFF2-40B4-BE49-F238E27FC236}">
                <a16:creationId xmlns:a16="http://schemas.microsoft.com/office/drawing/2014/main" id="{45969413-FA8B-4F81-B48A-CC843A699EB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2C978FA-C57E-4ADC-AC62-6E946EA9BB53}"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71</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Text Box 3">
            <a:extLst>
              <a:ext uri="{FF2B5EF4-FFF2-40B4-BE49-F238E27FC236}">
                <a16:creationId xmlns:a16="http://schemas.microsoft.com/office/drawing/2014/main" id="{7FE600BA-857E-4FD0-9B88-DE490B1AFE36}"/>
              </a:ext>
            </a:extLst>
          </p:cNvPr>
          <p:cNvSpPr txBox="1">
            <a:spLocks noChangeArrowheads="1"/>
          </p:cNvSpPr>
          <p:nvPr/>
        </p:nvSpPr>
        <p:spPr bwMode="auto">
          <a:xfrm>
            <a:off x="1643419" y="5307186"/>
            <a:ext cx="13067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直接</a:t>
            </a:r>
            <a:r>
              <a:rPr kumimoji="0" lang="en-US" altLang="zh-CN" sz="24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Ⅱ</a:t>
            </a:r>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型</a:t>
            </a:r>
          </a:p>
        </p:txBody>
      </p:sp>
      <p:grpSp>
        <p:nvGrpSpPr>
          <p:cNvPr id="2" name="Group 4">
            <a:extLst>
              <a:ext uri="{FF2B5EF4-FFF2-40B4-BE49-F238E27FC236}">
                <a16:creationId xmlns:a16="http://schemas.microsoft.com/office/drawing/2014/main" id="{3C014E18-CD13-4BBA-A482-A5EAA5B6525B}"/>
              </a:ext>
            </a:extLst>
          </p:cNvPr>
          <p:cNvGrpSpPr>
            <a:grpSpLocks/>
          </p:cNvGrpSpPr>
          <p:nvPr/>
        </p:nvGrpSpPr>
        <p:grpSpPr bwMode="auto">
          <a:xfrm>
            <a:off x="2627784" y="2701075"/>
            <a:ext cx="4831265" cy="3341443"/>
            <a:chOff x="1263" y="2048"/>
            <a:chExt cx="2914" cy="2011"/>
          </a:xfrm>
        </p:grpSpPr>
        <p:sp>
          <p:nvSpPr>
            <p:cNvPr id="21533" name="Line 5">
              <a:extLst>
                <a:ext uri="{FF2B5EF4-FFF2-40B4-BE49-F238E27FC236}">
                  <a16:creationId xmlns:a16="http://schemas.microsoft.com/office/drawing/2014/main" id="{A2EAFE2D-44CE-4BE9-99B7-FA98C34A4D73}"/>
                </a:ext>
              </a:extLst>
            </p:cNvPr>
            <p:cNvSpPr>
              <a:spLocks noChangeShapeType="1"/>
            </p:cNvSpPr>
            <p:nvPr/>
          </p:nvSpPr>
          <p:spPr bwMode="auto">
            <a:xfrm flipV="1">
              <a:off x="2004" y="2343"/>
              <a:ext cx="413"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34" name="Line 6">
              <a:extLst>
                <a:ext uri="{FF2B5EF4-FFF2-40B4-BE49-F238E27FC236}">
                  <a16:creationId xmlns:a16="http://schemas.microsoft.com/office/drawing/2014/main" id="{E93166B5-9EB6-40B6-B0CE-8B59E5AF75E6}"/>
                </a:ext>
              </a:extLst>
            </p:cNvPr>
            <p:cNvSpPr>
              <a:spLocks noChangeShapeType="1"/>
            </p:cNvSpPr>
            <p:nvPr/>
          </p:nvSpPr>
          <p:spPr bwMode="auto">
            <a:xfrm flipV="1">
              <a:off x="2369" y="2343"/>
              <a:ext cx="34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35" name="Line 7">
              <a:extLst>
                <a:ext uri="{FF2B5EF4-FFF2-40B4-BE49-F238E27FC236}">
                  <a16:creationId xmlns:a16="http://schemas.microsoft.com/office/drawing/2014/main" id="{7F82F376-4103-4F89-8474-BE18E655565F}"/>
                </a:ext>
              </a:extLst>
            </p:cNvPr>
            <p:cNvSpPr>
              <a:spLocks noChangeShapeType="1"/>
            </p:cNvSpPr>
            <p:nvPr/>
          </p:nvSpPr>
          <p:spPr bwMode="auto">
            <a:xfrm flipH="1">
              <a:off x="2266" y="2796"/>
              <a:ext cx="45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36" name="Line 8">
              <a:extLst>
                <a:ext uri="{FF2B5EF4-FFF2-40B4-BE49-F238E27FC236}">
                  <a16:creationId xmlns:a16="http://schemas.microsoft.com/office/drawing/2014/main" id="{9575D6B1-26CD-4DE5-8B02-2A0E4C36176A}"/>
                </a:ext>
              </a:extLst>
            </p:cNvPr>
            <p:cNvSpPr>
              <a:spLocks noChangeShapeType="1"/>
            </p:cNvSpPr>
            <p:nvPr/>
          </p:nvSpPr>
          <p:spPr bwMode="auto">
            <a:xfrm flipH="1">
              <a:off x="1980" y="2796"/>
              <a:ext cx="327" cy="0"/>
            </a:xfrm>
            <a:prstGeom prst="line">
              <a:avLst/>
            </a:prstGeom>
            <a:noFill/>
            <a:ln w="25400">
              <a:solidFill>
                <a:schemeClr val="tx1"/>
              </a:solidFill>
              <a:round/>
              <a:headEnd/>
              <a:tailEnd type="none"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nvGrpSpPr>
            <p:cNvPr id="21537" name="Group 9">
              <a:extLst>
                <a:ext uri="{FF2B5EF4-FFF2-40B4-BE49-F238E27FC236}">
                  <a16:creationId xmlns:a16="http://schemas.microsoft.com/office/drawing/2014/main" id="{18AEBF1E-8DB4-46A1-A5B1-C3864920B911}"/>
                </a:ext>
              </a:extLst>
            </p:cNvPr>
            <p:cNvGrpSpPr>
              <a:grpSpLocks/>
            </p:cNvGrpSpPr>
            <p:nvPr/>
          </p:nvGrpSpPr>
          <p:grpSpPr bwMode="auto">
            <a:xfrm>
              <a:off x="2534" y="2344"/>
              <a:ext cx="363" cy="1704"/>
              <a:chOff x="699" y="1570"/>
              <a:chExt cx="363" cy="2042"/>
            </a:xfrm>
          </p:grpSpPr>
          <p:sp>
            <p:nvSpPr>
              <p:cNvPr id="21558" name="Line 10">
                <a:extLst>
                  <a:ext uri="{FF2B5EF4-FFF2-40B4-BE49-F238E27FC236}">
                    <a16:creationId xmlns:a16="http://schemas.microsoft.com/office/drawing/2014/main" id="{DB0B0443-658C-4BBC-B259-4B9A4C6FE492}"/>
                  </a:ext>
                </a:extLst>
              </p:cNvPr>
              <p:cNvSpPr>
                <a:spLocks noChangeShapeType="1"/>
              </p:cNvSpPr>
              <p:nvPr/>
            </p:nvSpPr>
            <p:spPr bwMode="auto">
              <a:xfrm>
                <a:off x="881" y="1570"/>
                <a:ext cx="0" cy="18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59" name="Rectangle 11">
                <a:extLst>
                  <a:ext uri="{FF2B5EF4-FFF2-40B4-BE49-F238E27FC236}">
                    <a16:creationId xmlns:a16="http://schemas.microsoft.com/office/drawing/2014/main" id="{4B10DEEC-CA29-470A-A631-AC291E89AA40}"/>
                  </a:ext>
                </a:extLst>
              </p:cNvPr>
              <p:cNvSpPr>
                <a:spLocks noChangeArrowheads="1"/>
              </p:cNvSpPr>
              <p:nvPr/>
            </p:nvSpPr>
            <p:spPr bwMode="auto">
              <a:xfrm>
                <a:off x="699" y="1752"/>
                <a:ext cx="363" cy="272"/>
              </a:xfrm>
              <a:prstGeom prst="rect">
                <a:avLst/>
              </a:prstGeom>
              <a:solidFill>
                <a:srgbClr val="CCFFFF"/>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D</a:t>
                </a:r>
              </a:p>
            </p:txBody>
          </p:sp>
          <p:sp>
            <p:nvSpPr>
              <p:cNvPr id="21560" name="Line 12">
                <a:extLst>
                  <a:ext uri="{FF2B5EF4-FFF2-40B4-BE49-F238E27FC236}">
                    <a16:creationId xmlns:a16="http://schemas.microsoft.com/office/drawing/2014/main" id="{ED5FA391-A1CC-40B3-B24D-1713A830953E}"/>
                  </a:ext>
                </a:extLst>
              </p:cNvPr>
              <p:cNvSpPr>
                <a:spLocks noChangeShapeType="1"/>
              </p:cNvSpPr>
              <p:nvPr/>
            </p:nvSpPr>
            <p:spPr bwMode="auto">
              <a:xfrm>
                <a:off x="881" y="2024"/>
                <a:ext cx="0" cy="18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61" name="Rectangle 13">
                <a:extLst>
                  <a:ext uri="{FF2B5EF4-FFF2-40B4-BE49-F238E27FC236}">
                    <a16:creationId xmlns:a16="http://schemas.microsoft.com/office/drawing/2014/main" id="{E7F4CC85-2C8B-4F2B-BCD2-80735E61C9DE}"/>
                  </a:ext>
                </a:extLst>
              </p:cNvPr>
              <p:cNvSpPr>
                <a:spLocks noChangeArrowheads="1"/>
              </p:cNvSpPr>
              <p:nvPr/>
            </p:nvSpPr>
            <p:spPr bwMode="auto">
              <a:xfrm>
                <a:off x="699" y="2205"/>
                <a:ext cx="363" cy="272"/>
              </a:xfrm>
              <a:prstGeom prst="rect">
                <a:avLst/>
              </a:prstGeom>
              <a:solidFill>
                <a:srgbClr val="CCFFFF"/>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D</a:t>
                </a:r>
              </a:p>
            </p:txBody>
          </p:sp>
          <mc:AlternateContent xmlns:mc="http://schemas.openxmlformats.org/markup-compatibility/2006" xmlns:a14="http://schemas.microsoft.com/office/drawing/2010/main">
            <mc:Choice Requires="a14">
              <p:sp>
                <p:nvSpPr>
                  <p:cNvPr id="21527" name="Object 14">
                    <a:extLst>
                      <a:ext uri="{FF2B5EF4-FFF2-40B4-BE49-F238E27FC236}">
                        <a16:creationId xmlns:a16="http://schemas.microsoft.com/office/drawing/2014/main" id="{3A552264-5EEE-4DD9-9B58-CF70EE0BFDEC}"/>
                      </a:ext>
                    </a:extLst>
                  </p:cNvPr>
                  <p:cNvSpPr txBox="1"/>
                  <p:nvPr/>
                </p:nvSpPr>
                <p:spPr bwMode="auto">
                  <a:xfrm>
                    <a:off x="884" y="2614"/>
                    <a:ext cx="161" cy="333"/>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a:p>
                </p:txBody>
              </p:sp>
            </mc:Choice>
            <mc:Fallback xmlns="">
              <p:sp>
                <p:nvSpPr>
                  <p:cNvPr id="21527" name="Object 14">
                    <a:extLst>
                      <a:ext uri="{FF2B5EF4-FFF2-40B4-BE49-F238E27FC236}">
                        <a16:creationId xmlns:a16="http://schemas.microsoft.com/office/drawing/2014/main" id="{3A552264-5EEE-4DD9-9B58-CF70EE0BFDEC}"/>
                      </a:ext>
                    </a:extLst>
                  </p:cNvPr>
                  <p:cNvSpPr txBox="1">
                    <a:spLocks noRot="1" noChangeAspect="1" noMove="1" noResize="1" noEditPoints="1" noAdjustHandles="1" noChangeArrowheads="1" noChangeShapeType="1" noTextEdit="1"/>
                  </p:cNvSpPr>
                  <p:nvPr/>
                </p:nvSpPr>
                <p:spPr bwMode="auto">
                  <a:xfrm>
                    <a:off x="884" y="2614"/>
                    <a:ext cx="161" cy="333"/>
                  </a:xfrm>
                  <a:prstGeom prst="rect">
                    <a:avLst/>
                  </a:prstGeom>
                  <a:blipFill>
                    <a:blip r:embed="rId2"/>
                    <a:stretch>
                      <a:fillRect l="-2273" r="-9091"/>
                    </a:stretch>
                  </a:blipFill>
                  <a:ln>
                    <a:noFill/>
                  </a:ln>
                  <a:effectLst/>
                </p:spPr>
                <p:txBody>
                  <a:bodyPr/>
                  <a:lstStyle/>
                  <a:p>
                    <a:r>
                      <a:rPr lang="en-US">
                        <a:noFill/>
                      </a:rPr>
                      <a:t> </a:t>
                    </a:r>
                  </a:p>
                </p:txBody>
              </p:sp>
            </mc:Fallback>
          </mc:AlternateContent>
          <p:sp>
            <p:nvSpPr>
              <p:cNvPr id="21562" name="Line 15">
                <a:extLst>
                  <a:ext uri="{FF2B5EF4-FFF2-40B4-BE49-F238E27FC236}">
                    <a16:creationId xmlns:a16="http://schemas.microsoft.com/office/drawing/2014/main" id="{60086580-0409-495B-BFE5-54DAD7F3ECF9}"/>
                  </a:ext>
                </a:extLst>
              </p:cNvPr>
              <p:cNvSpPr>
                <a:spLocks noChangeShapeType="1"/>
              </p:cNvSpPr>
              <p:nvPr/>
            </p:nvSpPr>
            <p:spPr bwMode="auto">
              <a:xfrm>
                <a:off x="881" y="2478"/>
                <a:ext cx="0" cy="18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63" name="Line 16">
                <a:extLst>
                  <a:ext uri="{FF2B5EF4-FFF2-40B4-BE49-F238E27FC236}">
                    <a16:creationId xmlns:a16="http://schemas.microsoft.com/office/drawing/2014/main" id="{F32E9744-CF7F-441A-8CB4-0C2ECBAEF7D3}"/>
                  </a:ext>
                </a:extLst>
              </p:cNvPr>
              <p:cNvSpPr>
                <a:spLocks noChangeShapeType="1"/>
              </p:cNvSpPr>
              <p:nvPr/>
            </p:nvSpPr>
            <p:spPr bwMode="auto">
              <a:xfrm>
                <a:off x="881" y="2977"/>
                <a:ext cx="0" cy="18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64" name="Rectangle 17">
                <a:extLst>
                  <a:ext uri="{FF2B5EF4-FFF2-40B4-BE49-F238E27FC236}">
                    <a16:creationId xmlns:a16="http://schemas.microsoft.com/office/drawing/2014/main" id="{EF251AF6-B47E-4A3A-B136-9E8687DADE97}"/>
                  </a:ext>
                </a:extLst>
              </p:cNvPr>
              <p:cNvSpPr>
                <a:spLocks noChangeArrowheads="1"/>
              </p:cNvSpPr>
              <p:nvPr/>
            </p:nvSpPr>
            <p:spPr bwMode="auto">
              <a:xfrm>
                <a:off x="699" y="3158"/>
                <a:ext cx="363" cy="272"/>
              </a:xfrm>
              <a:prstGeom prst="rect">
                <a:avLst/>
              </a:prstGeom>
              <a:solidFill>
                <a:srgbClr val="CCFFFF"/>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D</a:t>
                </a:r>
              </a:p>
            </p:txBody>
          </p:sp>
          <p:sp>
            <p:nvSpPr>
              <p:cNvPr id="21565" name="Line 18">
                <a:extLst>
                  <a:ext uri="{FF2B5EF4-FFF2-40B4-BE49-F238E27FC236}">
                    <a16:creationId xmlns:a16="http://schemas.microsoft.com/office/drawing/2014/main" id="{11039621-54CB-4451-BF96-31ECD7A7DD27}"/>
                  </a:ext>
                </a:extLst>
              </p:cNvPr>
              <p:cNvSpPr>
                <a:spLocks noChangeShapeType="1"/>
              </p:cNvSpPr>
              <p:nvPr/>
            </p:nvSpPr>
            <p:spPr bwMode="auto">
              <a:xfrm>
                <a:off x="881" y="3430"/>
                <a:ext cx="0" cy="18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mc:AlternateContent xmlns:mc="http://schemas.openxmlformats.org/markup-compatibility/2006" xmlns:a14="http://schemas.microsoft.com/office/drawing/2010/main">
          <mc:Choice Requires="a14">
            <p:sp>
              <p:nvSpPr>
                <p:cNvPr id="21506" name="Object 19">
                  <a:extLst>
                    <a:ext uri="{FF2B5EF4-FFF2-40B4-BE49-F238E27FC236}">
                      <a16:creationId xmlns:a16="http://schemas.microsoft.com/office/drawing/2014/main" id="{C35E3051-C15C-4BB5-843A-FA02E1A85815}"/>
                    </a:ext>
                  </a:extLst>
                </p:cNvPr>
                <p:cNvSpPr txBox="1"/>
                <p:nvPr/>
              </p:nvSpPr>
              <p:spPr bwMode="auto">
                <a:xfrm>
                  <a:off x="1790" y="2191"/>
                  <a:ext cx="274" cy="278"/>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1506" name="Object 19">
                  <a:extLst>
                    <a:ext uri="{FF2B5EF4-FFF2-40B4-BE49-F238E27FC236}">
                      <a16:creationId xmlns:a16="http://schemas.microsoft.com/office/drawing/2014/main" id="{C35E3051-C15C-4BB5-843A-FA02E1A85815}"/>
                    </a:ext>
                  </a:extLst>
                </p:cNvPr>
                <p:cNvSpPr txBox="1">
                  <a:spLocks noRot="1" noChangeAspect="1" noMove="1" noResize="1" noEditPoints="1" noAdjustHandles="1" noChangeArrowheads="1" noChangeShapeType="1" noTextEdit="1"/>
                </p:cNvSpPr>
                <p:nvPr/>
              </p:nvSpPr>
              <p:spPr bwMode="auto">
                <a:xfrm>
                  <a:off x="1790" y="2191"/>
                  <a:ext cx="274" cy="278"/>
                </a:xfrm>
                <a:prstGeom prst="rect">
                  <a:avLst/>
                </a:prstGeom>
                <a:blipFill>
                  <a:blip r:embed="rId3"/>
                  <a:stretch>
                    <a:fillRect l="-8000" r="-16000" b="-1184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507" name="Object 20">
                  <a:extLst>
                    <a:ext uri="{FF2B5EF4-FFF2-40B4-BE49-F238E27FC236}">
                      <a16:creationId xmlns:a16="http://schemas.microsoft.com/office/drawing/2014/main" id="{B2E7ADE2-0AD3-4C2D-B473-78543A742BB8}"/>
                    </a:ext>
                  </a:extLst>
                </p:cNvPr>
                <p:cNvSpPr txBox="1"/>
                <p:nvPr/>
              </p:nvSpPr>
              <p:spPr bwMode="auto">
                <a:xfrm>
                  <a:off x="1787" y="2644"/>
                  <a:ext cx="283" cy="27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1507" name="Object 20">
                  <a:extLst>
                    <a:ext uri="{FF2B5EF4-FFF2-40B4-BE49-F238E27FC236}">
                      <a16:creationId xmlns:a16="http://schemas.microsoft.com/office/drawing/2014/main" id="{B2E7ADE2-0AD3-4C2D-B473-78543A742BB8}"/>
                    </a:ext>
                  </a:extLst>
                </p:cNvPr>
                <p:cNvSpPr txBox="1">
                  <a:spLocks noRot="1" noChangeAspect="1" noMove="1" noResize="1" noEditPoints="1" noAdjustHandles="1" noChangeArrowheads="1" noChangeShapeType="1" noTextEdit="1"/>
                </p:cNvSpPr>
                <p:nvPr/>
              </p:nvSpPr>
              <p:spPr bwMode="auto">
                <a:xfrm>
                  <a:off x="1787" y="2644"/>
                  <a:ext cx="283" cy="278"/>
                </a:xfrm>
                <a:prstGeom prst="rect">
                  <a:avLst/>
                </a:prstGeom>
                <a:blipFill>
                  <a:blip r:embed="rId4"/>
                  <a:stretch>
                    <a:fillRect l="-9091" r="-11688" b="-13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508" name="Object 21">
                  <a:extLst>
                    <a:ext uri="{FF2B5EF4-FFF2-40B4-BE49-F238E27FC236}">
                      <a16:creationId xmlns:a16="http://schemas.microsoft.com/office/drawing/2014/main" id="{18651324-E9EE-4357-B030-D92FF60E2567}"/>
                    </a:ext>
                  </a:extLst>
                </p:cNvPr>
                <p:cNvSpPr txBox="1"/>
                <p:nvPr/>
              </p:nvSpPr>
              <p:spPr bwMode="auto">
                <a:xfrm>
                  <a:off x="1791" y="3022"/>
                  <a:ext cx="293" cy="27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1508" name="Object 21">
                  <a:extLst>
                    <a:ext uri="{FF2B5EF4-FFF2-40B4-BE49-F238E27FC236}">
                      <a16:creationId xmlns:a16="http://schemas.microsoft.com/office/drawing/2014/main" id="{18651324-E9EE-4357-B030-D92FF60E2567}"/>
                    </a:ext>
                  </a:extLst>
                </p:cNvPr>
                <p:cNvSpPr txBox="1">
                  <a:spLocks noRot="1" noChangeAspect="1" noMove="1" noResize="1" noEditPoints="1" noAdjustHandles="1" noChangeArrowheads="1" noChangeShapeType="1" noTextEdit="1"/>
                </p:cNvSpPr>
                <p:nvPr/>
              </p:nvSpPr>
              <p:spPr bwMode="auto">
                <a:xfrm>
                  <a:off x="1791" y="3022"/>
                  <a:ext cx="293" cy="278"/>
                </a:xfrm>
                <a:prstGeom prst="rect">
                  <a:avLst/>
                </a:prstGeom>
                <a:blipFill>
                  <a:blip r:embed="rId5"/>
                  <a:stretch>
                    <a:fillRect l="-8861" r="-8861" b="-13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509" name="Object 22">
                  <a:extLst>
                    <a:ext uri="{FF2B5EF4-FFF2-40B4-BE49-F238E27FC236}">
                      <a16:creationId xmlns:a16="http://schemas.microsoft.com/office/drawing/2014/main" id="{2F2E8CE2-14FF-4B90-944B-47E8CCF9CF19}"/>
                    </a:ext>
                  </a:extLst>
                </p:cNvPr>
                <p:cNvSpPr txBox="1"/>
                <p:nvPr/>
              </p:nvSpPr>
              <p:spPr bwMode="auto">
                <a:xfrm>
                  <a:off x="1785" y="3437"/>
                  <a:ext cx="269" cy="27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1509" name="Object 22">
                  <a:extLst>
                    <a:ext uri="{FF2B5EF4-FFF2-40B4-BE49-F238E27FC236}">
                      <a16:creationId xmlns:a16="http://schemas.microsoft.com/office/drawing/2014/main" id="{2F2E8CE2-14FF-4B90-944B-47E8CCF9CF19}"/>
                    </a:ext>
                  </a:extLst>
                </p:cNvPr>
                <p:cNvSpPr txBox="1">
                  <a:spLocks noRot="1" noChangeAspect="1" noMove="1" noResize="1" noEditPoints="1" noAdjustHandles="1" noChangeArrowheads="1" noChangeShapeType="1" noTextEdit="1"/>
                </p:cNvSpPr>
                <p:nvPr/>
              </p:nvSpPr>
              <p:spPr bwMode="auto">
                <a:xfrm>
                  <a:off x="1785" y="3437"/>
                  <a:ext cx="269" cy="278"/>
                </a:xfrm>
                <a:prstGeom prst="rect">
                  <a:avLst/>
                </a:prstGeom>
                <a:blipFill>
                  <a:blip r:embed="rId6"/>
                  <a:stretch>
                    <a:fillRect l="-8219" r="-19178" b="-13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510" name="Object 23">
                  <a:extLst>
                    <a:ext uri="{FF2B5EF4-FFF2-40B4-BE49-F238E27FC236}">
                      <a16:creationId xmlns:a16="http://schemas.microsoft.com/office/drawing/2014/main" id="{5FD1FDDF-9959-4382-801E-DB8261E3A6DA}"/>
                    </a:ext>
                  </a:extLst>
                </p:cNvPr>
                <p:cNvSpPr txBox="1"/>
                <p:nvPr/>
              </p:nvSpPr>
              <p:spPr bwMode="auto">
                <a:xfrm>
                  <a:off x="1851" y="3224"/>
                  <a:ext cx="183" cy="27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1510" name="Object 23">
                  <a:extLst>
                    <a:ext uri="{FF2B5EF4-FFF2-40B4-BE49-F238E27FC236}">
                      <a16:creationId xmlns:a16="http://schemas.microsoft.com/office/drawing/2014/main" id="{5FD1FDDF-9959-4382-801E-DB8261E3A6DA}"/>
                    </a:ext>
                  </a:extLst>
                </p:cNvPr>
                <p:cNvSpPr txBox="1">
                  <a:spLocks noRot="1" noChangeAspect="1" noMove="1" noResize="1" noEditPoints="1" noAdjustHandles="1" noChangeArrowheads="1" noChangeShapeType="1" noTextEdit="1"/>
                </p:cNvSpPr>
                <p:nvPr/>
              </p:nvSpPr>
              <p:spPr bwMode="auto">
                <a:xfrm>
                  <a:off x="1851" y="3224"/>
                  <a:ext cx="183" cy="278"/>
                </a:xfrm>
                <a:prstGeom prst="rect">
                  <a:avLst/>
                </a:prstGeom>
                <a:blipFill>
                  <a:blip r:embed="rId7"/>
                  <a:stretch>
                    <a:fillRect l="-4000"/>
                  </a:stretch>
                </a:blipFill>
                <a:ln>
                  <a:noFill/>
                </a:ln>
                <a:effectLst/>
              </p:spPr>
              <p:txBody>
                <a:bodyPr/>
                <a:lstStyle/>
                <a:p>
                  <a:r>
                    <a:rPr lang="en-US">
                      <a:noFill/>
                    </a:rPr>
                    <a:t> </a:t>
                  </a:r>
                </a:p>
              </p:txBody>
            </p:sp>
          </mc:Fallback>
        </mc:AlternateContent>
        <p:sp>
          <p:nvSpPr>
            <p:cNvPr id="21538" name="Line 24">
              <a:extLst>
                <a:ext uri="{FF2B5EF4-FFF2-40B4-BE49-F238E27FC236}">
                  <a16:creationId xmlns:a16="http://schemas.microsoft.com/office/drawing/2014/main" id="{AD330623-CD06-4800-BD07-1E5BB2B4B3A3}"/>
                </a:ext>
              </a:extLst>
            </p:cNvPr>
            <p:cNvSpPr>
              <a:spLocks noChangeShapeType="1"/>
            </p:cNvSpPr>
            <p:nvPr/>
          </p:nvSpPr>
          <p:spPr bwMode="auto">
            <a:xfrm flipV="1">
              <a:off x="1933" y="2419"/>
              <a:ext cx="0" cy="34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39" name="Line 25">
              <a:extLst>
                <a:ext uri="{FF2B5EF4-FFF2-40B4-BE49-F238E27FC236}">
                  <a16:creationId xmlns:a16="http://schemas.microsoft.com/office/drawing/2014/main" id="{52A5D132-A95A-42A8-8701-7F0590B6A4D7}"/>
                </a:ext>
              </a:extLst>
            </p:cNvPr>
            <p:cNvSpPr>
              <a:spLocks noChangeShapeType="1"/>
            </p:cNvSpPr>
            <p:nvPr/>
          </p:nvSpPr>
          <p:spPr bwMode="auto">
            <a:xfrm flipV="1">
              <a:off x="1933" y="2872"/>
              <a:ext cx="0" cy="26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40" name="Line 26">
              <a:extLst>
                <a:ext uri="{FF2B5EF4-FFF2-40B4-BE49-F238E27FC236}">
                  <a16:creationId xmlns:a16="http://schemas.microsoft.com/office/drawing/2014/main" id="{646637F8-3511-4E11-9D52-554CCDE0BEE1}"/>
                </a:ext>
              </a:extLst>
            </p:cNvPr>
            <p:cNvSpPr>
              <a:spLocks noChangeShapeType="1"/>
            </p:cNvSpPr>
            <p:nvPr/>
          </p:nvSpPr>
          <p:spPr bwMode="auto">
            <a:xfrm flipH="1" flipV="1">
              <a:off x="1926" y="3643"/>
              <a:ext cx="1" cy="416"/>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41" name="Line 27">
              <a:extLst>
                <a:ext uri="{FF2B5EF4-FFF2-40B4-BE49-F238E27FC236}">
                  <a16:creationId xmlns:a16="http://schemas.microsoft.com/office/drawing/2014/main" id="{7EC2CB9A-8F0F-4F67-89E5-321D61AFEA2D}"/>
                </a:ext>
              </a:extLst>
            </p:cNvPr>
            <p:cNvSpPr>
              <a:spLocks noChangeShapeType="1"/>
            </p:cNvSpPr>
            <p:nvPr/>
          </p:nvSpPr>
          <p:spPr bwMode="auto">
            <a:xfrm>
              <a:off x="1364" y="2345"/>
              <a:ext cx="491"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42" name="Line 28">
              <a:extLst>
                <a:ext uri="{FF2B5EF4-FFF2-40B4-BE49-F238E27FC236}">
                  <a16:creationId xmlns:a16="http://schemas.microsoft.com/office/drawing/2014/main" id="{A858B7BB-EA12-4E30-920C-2D7654C538B1}"/>
                </a:ext>
              </a:extLst>
            </p:cNvPr>
            <p:cNvSpPr>
              <a:spLocks noChangeShapeType="1"/>
            </p:cNvSpPr>
            <p:nvPr/>
          </p:nvSpPr>
          <p:spPr bwMode="auto">
            <a:xfrm>
              <a:off x="2716" y="2342"/>
              <a:ext cx="40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43" name="Line 29">
              <a:extLst>
                <a:ext uri="{FF2B5EF4-FFF2-40B4-BE49-F238E27FC236}">
                  <a16:creationId xmlns:a16="http://schemas.microsoft.com/office/drawing/2014/main" id="{DEA466DE-C109-4295-A5A0-CA42F04DC75C}"/>
                </a:ext>
              </a:extLst>
            </p:cNvPr>
            <p:cNvSpPr>
              <a:spLocks noChangeShapeType="1"/>
            </p:cNvSpPr>
            <p:nvPr/>
          </p:nvSpPr>
          <p:spPr bwMode="auto">
            <a:xfrm>
              <a:off x="3084" y="2342"/>
              <a:ext cx="3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1511" name="Object 30">
                  <a:extLst>
                    <a:ext uri="{FF2B5EF4-FFF2-40B4-BE49-F238E27FC236}">
                      <a16:creationId xmlns:a16="http://schemas.microsoft.com/office/drawing/2014/main" id="{4D8516A5-CE93-4D0F-8C7A-2D29D8C722B4}"/>
                    </a:ext>
                  </a:extLst>
                </p:cNvPr>
                <p:cNvSpPr txBox="1"/>
                <p:nvPr/>
              </p:nvSpPr>
              <p:spPr bwMode="auto">
                <a:xfrm>
                  <a:off x="3347" y="2195"/>
                  <a:ext cx="271" cy="27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1511" name="Object 30">
                  <a:extLst>
                    <a:ext uri="{FF2B5EF4-FFF2-40B4-BE49-F238E27FC236}">
                      <a16:creationId xmlns:a16="http://schemas.microsoft.com/office/drawing/2014/main" id="{4D8516A5-CE93-4D0F-8C7A-2D29D8C722B4}"/>
                    </a:ext>
                  </a:extLst>
                </p:cNvPr>
                <p:cNvSpPr txBox="1">
                  <a:spLocks noRot="1" noChangeAspect="1" noMove="1" noResize="1" noEditPoints="1" noAdjustHandles="1" noChangeArrowheads="1" noChangeShapeType="1" noTextEdit="1"/>
                </p:cNvSpPr>
                <p:nvPr/>
              </p:nvSpPr>
              <p:spPr bwMode="auto">
                <a:xfrm>
                  <a:off x="3347" y="2195"/>
                  <a:ext cx="271" cy="278"/>
                </a:xfrm>
                <a:prstGeom prst="rect">
                  <a:avLst/>
                </a:prstGeom>
                <a:blipFill>
                  <a:blip r:embed="rId8"/>
                  <a:stretch>
                    <a:fillRect l="-9459" r="-16216" b="-1184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512" name="Object 31">
                  <a:extLst>
                    <a:ext uri="{FF2B5EF4-FFF2-40B4-BE49-F238E27FC236}">
                      <a16:creationId xmlns:a16="http://schemas.microsoft.com/office/drawing/2014/main" id="{292848F4-0FBE-472A-9202-AB3A03D61593}"/>
                    </a:ext>
                  </a:extLst>
                </p:cNvPr>
                <p:cNvSpPr txBox="1"/>
                <p:nvPr/>
              </p:nvSpPr>
              <p:spPr bwMode="auto">
                <a:xfrm>
                  <a:off x="3343" y="2645"/>
                  <a:ext cx="262" cy="27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1512" name="Object 31">
                  <a:extLst>
                    <a:ext uri="{FF2B5EF4-FFF2-40B4-BE49-F238E27FC236}">
                      <a16:creationId xmlns:a16="http://schemas.microsoft.com/office/drawing/2014/main" id="{292848F4-0FBE-472A-9202-AB3A03D61593}"/>
                    </a:ext>
                  </a:extLst>
                </p:cNvPr>
                <p:cNvSpPr txBox="1">
                  <a:spLocks noRot="1" noChangeAspect="1" noMove="1" noResize="1" noEditPoints="1" noAdjustHandles="1" noChangeArrowheads="1" noChangeShapeType="1" noTextEdit="1"/>
                </p:cNvSpPr>
                <p:nvPr/>
              </p:nvSpPr>
              <p:spPr bwMode="auto">
                <a:xfrm>
                  <a:off x="3343" y="2645"/>
                  <a:ext cx="262" cy="278"/>
                </a:xfrm>
                <a:prstGeom prst="rect">
                  <a:avLst/>
                </a:prstGeom>
                <a:blipFill>
                  <a:blip r:embed="rId9"/>
                  <a:stretch>
                    <a:fillRect l="-9859" r="-21127" b="-1184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513" name="Object 32">
                  <a:extLst>
                    <a:ext uri="{FF2B5EF4-FFF2-40B4-BE49-F238E27FC236}">
                      <a16:creationId xmlns:a16="http://schemas.microsoft.com/office/drawing/2014/main" id="{354BE9DB-3F0D-402F-AF16-C567494892B9}"/>
                    </a:ext>
                  </a:extLst>
                </p:cNvPr>
                <p:cNvSpPr txBox="1"/>
                <p:nvPr/>
              </p:nvSpPr>
              <p:spPr bwMode="auto">
                <a:xfrm>
                  <a:off x="3341" y="3026"/>
                  <a:ext cx="271" cy="27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1513" name="Object 32">
                  <a:extLst>
                    <a:ext uri="{FF2B5EF4-FFF2-40B4-BE49-F238E27FC236}">
                      <a16:creationId xmlns:a16="http://schemas.microsoft.com/office/drawing/2014/main" id="{354BE9DB-3F0D-402F-AF16-C567494892B9}"/>
                    </a:ext>
                  </a:extLst>
                </p:cNvPr>
                <p:cNvSpPr txBox="1">
                  <a:spLocks noRot="1" noChangeAspect="1" noMove="1" noResize="1" noEditPoints="1" noAdjustHandles="1" noChangeArrowheads="1" noChangeShapeType="1" noTextEdit="1"/>
                </p:cNvSpPr>
                <p:nvPr/>
              </p:nvSpPr>
              <p:spPr bwMode="auto">
                <a:xfrm>
                  <a:off x="3341" y="3026"/>
                  <a:ext cx="271" cy="278"/>
                </a:xfrm>
                <a:prstGeom prst="rect">
                  <a:avLst/>
                </a:prstGeom>
                <a:blipFill>
                  <a:blip r:embed="rId10"/>
                  <a:stretch>
                    <a:fillRect l="-8108" r="-17568" b="-13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514" name="Object 33">
                  <a:extLst>
                    <a:ext uri="{FF2B5EF4-FFF2-40B4-BE49-F238E27FC236}">
                      <a16:creationId xmlns:a16="http://schemas.microsoft.com/office/drawing/2014/main" id="{B79834F1-DCAE-4FB8-B29D-E9AAA9CDFEFB}"/>
                    </a:ext>
                  </a:extLst>
                </p:cNvPr>
                <p:cNvSpPr txBox="1"/>
                <p:nvPr/>
              </p:nvSpPr>
              <p:spPr bwMode="auto">
                <a:xfrm>
                  <a:off x="3347" y="3435"/>
                  <a:ext cx="279" cy="27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1514" name="Object 33">
                  <a:extLst>
                    <a:ext uri="{FF2B5EF4-FFF2-40B4-BE49-F238E27FC236}">
                      <a16:creationId xmlns:a16="http://schemas.microsoft.com/office/drawing/2014/main" id="{B79834F1-DCAE-4FB8-B29D-E9AAA9CDFEFB}"/>
                    </a:ext>
                  </a:extLst>
                </p:cNvPr>
                <p:cNvSpPr txBox="1">
                  <a:spLocks noRot="1" noChangeAspect="1" noMove="1" noResize="1" noEditPoints="1" noAdjustHandles="1" noChangeArrowheads="1" noChangeShapeType="1" noTextEdit="1"/>
                </p:cNvSpPr>
                <p:nvPr/>
              </p:nvSpPr>
              <p:spPr bwMode="auto">
                <a:xfrm>
                  <a:off x="3347" y="3435"/>
                  <a:ext cx="279" cy="278"/>
                </a:xfrm>
                <a:prstGeom prst="rect">
                  <a:avLst/>
                </a:prstGeom>
                <a:blipFill>
                  <a:blip r:embed="rId11"/>
                  <a:stretch>
                    <a:fillRect l="-9211" r="-13158" b="-1184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515" name="Object 34">
                  <a:extLst>
                    <a:ext uri="{FF2B5EF4-FFF2-40B4-BE49-F238E27FC236}">
                      <a16:creationId xmlns:a16="http://schemas.microsoft.com/office/drawing/2014/main" id="{5FA37C2D-52E6-4C5D-BFB4-B4DB888C6A2B}"/>
                    </a:ext>
                  </a:extLst>
                </p:cNvPr>
                <p:cNvSpPr txBox="1"/>
                <p:nvPr/>
              </p:nvSpPr>
              <p:spPr bwMode="auto">
                <a:xfrm>
                  <a:off x="3407" y="3221"/>
                  <a:ext cx="161" cy="27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1515" name="Object 34">
                  <a:extLst>
                    <a:ext uri="{FF2B5EF4-FFF2-40B4-BE49-F238E27FC236}">
                      <a16:creationId xmlns:a16="http://schemas.microsoft.com/office/drawing/2014/main" id="{5FA37C2D-52E6-4C5D-BFB4-B4DB888C6A2B}"/>
                    </a:ext>
                  </a:extLst>
                </p:cNvPr>
                <p:cNvSpPr txBox="1">
                  <a:spLocks noRot="1" noChangeAspect="1" noMove="1" noResize="1" noEditPoints="1" noAdjustHandles="1" noChangeArrowheads="1" noChangeShapeType="1" noTextEdit="1"/>
                </p:cNvSpPr>
                <p:nvPr/>
              </p:nvSpPr>
              <p:spPr bwMode="auto">
                <a:xfrm>
                  <a:off x="3407" y="3221"/>
                  <a:ext cx="161" cy="278"/>
                </a:xfrm>
                <a:prstGeom prst="rect">
                  <a:avLst/>
                </a:prstGeom>
                <a:blipFill>
                  <a:blip r:embed="rId12"/>
                  <a:stretch>
                    <a:fillRect l="-2273" r="-9091"/>
                  </a:stretch>
                </a:blipFill>
                <a:ln>
                  <a:noFill/>
                </a:ln>
                <a:effectLst/>
              </p:spPr>
              <p:txBody>
                <a:bodyPr/>
                <a:lstStyle/>
                <a:p>
                  <a:r>
                    <a:rPr lang="en-US">
                      <a:noFill/>
                    </a:rPr>
                    <a:t> </a:t>
                  </a:r>
                </a:p>
              </p:txBody>
            </p:sp>
          </mc:Fallback>
        </mc:AlternateContent>
        <p:sp>
          <p:nvSpPr>
            <p:cNvPr id="21544" name="Line 35">
              <a:extLst>
                <a:ext uri="{FF2B5EF4-FFF2-40B4-BE49-F238E27FC236}">
                  <a16:creationId xmlns:a16="http://schemas.microsoft.com/office/drawing/2014/main" id="{B4270356-6B2D-4132-9D06-9533F38AE00A}"/>
                </a:ext>
              </a:extLst>
            </p:cNvPr>
            <p:cNvSpPr>
              <a:spLocks noChangeShapeType="1"/>
            </p:cNvSpPr>
            <p:nvPr/>
          </p:nvSpPr>
          <p:spPr bwMode="auto">
            <a:xfrm flipV="1">
              <a:off x="3484" y="2400"/>
              <a:ext cx="0" cy="34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45" name="Line 36">
              <a:extLst>
                <a:ext uri="{FF2B5EF4-FFF2-40B4-BE49-F238E27FC236}">
                  <a16:creationId xmlns:a16="http://schemas.microsoft.com/office/drawing/2014/main" id="{39A1259B-F08F-4E0A-8020-AD3478D6BA33}"/>
                </a:ext>
              </a:extLst>
            </p:cNvPr>
            <p:cNvSpPr>
              <a:spLocks noChangeShapeType="1"/>
            </p:cNvSpPr>
            <p:nvPr/>
          </p:nvSpPr>
          <p:spPr bwMode="auto">
            <a:xfrm flipV="1">
              <a:off x="3484" y="2853"/>
              <a:ext cx="0" cy="26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46" name="Line 38">
              <a:extLst>
                <a:ext uri="{FF2B5EF4-FFF2-40B4-BE49-F238E27FC236}">
                  <a16:creationId xmlns:a16="http://schemas.microsoft.com/office/drawing/2014/main" id="{2C3AECC8-3567-435A-A897-7C3980592AB8}"/>
                </a:ext>
              </a:extLst>
            </p:cNvPr>
            <p:cNvSpPr>
              <a:spLocks noChangeShapeType="1"/>
            </p:cNvSpPr>
            <p:nvPr/>
          </p:nvSpPr>
          <p:spPr bwMode="auto">
            <a:xfrm flipH="1">
              <a:off x="2266" y="3173"/>
              <a:ext cx="45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47" name="Line 39">
              <a:extLst>
                <a:ext uri="{FF2B5EF4-FFF2-40B4-BE49-F238E27FC236}">
                  <a16:creationId xmlns:a16="http://schemas.microsoft.com/office/drawing/2014/main" id="{2C3B8366-58C1-4ACC-930C-06B4683481F4}"/>
                </a:ext>
              </a:extLst>
            </p:cNvPr>
            <p:cNvSpPr>
              <a:spLocks noChangeShapeType="1"/>
            </p:cNvSpPr>
            <p:nvPr/>
          </p:nvSpPr>
          <p:spPr bwMode="auto">
            <a:xfrm flipH="1">
              <a:off x="1980" y="3173"/>
              <a:ext cx="327" cy="0"/>
            </a:xfrm>
            <a:prstGeom prst="line">
              <a:avLst/>
            </a:prstGeom>
            <a:noFill/>
            <a:ln w="25400">
              <a:solidFill>
                <a:schemeClr val="tx1"/>
              </a:solidFill>
              <a:round/>
              <a:headEnd/>
              <a:tailEnd type="none"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48" name="Line 40">
              <a:extLst>
                <a:ext uri="{FF2B5EF4-FFF2-40B4-BE49-F238E27FC236}">
                  <a16:creationId xmlns:a16="http://schemas.microsoft.com/office/drawing/2014/main" id="{63C1DBBF-92B9-4C9E-963F-3962F96D9109}"/>
                </a:ext>
              </a:extLst>
            </p:cNvPr>
            <p:cNvSpPr>
              <a:spLocks noChangeShapeType="1"/>
            </p:cNvSpPr>
            <p:nvPr/>
          </p:nvSpPr>
          <p:spPr bwMode="auto">
            <a:xfrm flipH="1">
              <a:off x="2266" y="3589"/>
              <a:ext cx="45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49" name="Line 41">
              <a:extLst>
                <a:ext uri="{FF2B5EF4-FFF2-40B4-BE49-F238E27FC236}">
                  <a16:creationId xmlns:a16="http://schemas.microsoft.com/office/drawing/2014/main" id="{B3371BD3-768D-4A93-B92C-043688A23FBF}"/>
                </a:ext>
              </a:extLst>
            </p:cNvPr>
            <p:cNvSpPr>
              <a:spLocks noChangeShapeType="1"/>
            </p:cNvSpPr>
            <p:nvPr/>
          </p:nvSpPr>
          <p:spPr bwMode="auto">
            <a:xfrm flipH="1">
              <a:off x="1980" y="3589"/>
              <a:ext cx="327" cy="0"/>
            </a:xfrm>
            <a:prstGeom prst="line">
              <a:avLst/>
            </a:prstGeom>
            <a:noFill/>
            <a:ln w="25400">
              <a:solidFill>
                <a:schemeClr val="tx1"/>
              </a:solidFill>
              <a:round/>
              <a:headEnd/>
              <a:tailEnd type="none"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50" name="Line 42">
              <a:extLst>
                <a:ext uri="{FF2B5EF4-FFF2-40B4-BE49-F238E27FC236}">
                  <a16:creationId xmlns:a16="http://schemas.microsoft.com/office/drawing/2014/main" id="{96AECBEC-E31E-416E-B794-EF4832205DEB}"/>
                </a:ext>
              </a:extLst>
            </p:cNvPr>
            <p:cNvSpPr>
              <a:spLocks noChangeShapeType="1"/>
            </p:cNvSpPr>
            <p:nvPr/>
          </p:nvSpPr>
          <p:spPr bwMode="auto">
            <a:xfrm flipV="1">
              <a:off x="2716" y="2797"/>
              <a:ext cx="426"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51" name="Line 43">
              <a:extLst>
                <a:ext uri="{FF2B5EF4-FFF2-40B4-BE49-F238E27FC236}">
                  <a16:creationId xmlns:a16="http://schemas.microsoft.com/office/drawing/2014/main" id="{9D3C49AD-85A0-4603-9C6C-14278454285A}"/>
                </a:ext>
              </a:extLst>
            </p:cNvPr>
            <p:cNvSpPr>
              <a:spLocks noChangeShapeType="1"/>
            </p:cNvSpPr>
            <p:nvPr/>
          </p:nvSpPr>
          <p:spPr bwMode="auto">
            <a:xfrm flipV="1">
              <a:off x="3100" y="2797"/>
              <a:ext cx="34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52" name="Line 44">
              <a:extLst>
                <a:ext uri="{FF2B5EF4-FFF2-40B4-BE49-F238E27FC236}">
                  <a16:creationId xmlns:a16="http://schemas.microsoft.com/office/drawing/2014/main" id="{EC47FD4F-606D-426E-8329-30D5082036F5}"/>
                </a:ext>
              </a:extLst>
            </p:cNvPr>
            <p:cNvSpPr>
              <a:spLocks noChangeShapeType="1"/>
            </p:cNvSpPr>
            <p:nvPr/>
          </p:nvSpPr>
          <p:spPr bwMode="auto">
            <a:xfrm>
              <a:off x="2716" y="3173"/>
              <a:ext cx="40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53" name="Line 45">
              <a:extLst>
                <a:ext uri="{FF2B5EF4-FFF2-40B4-BE49-F238E27FC236}">
                  <a16:creationId xmlns:a16="http://schemas.microsoft.com/office/drawing/2014/main" id="{EEE38E1F-2232-4A3A-93C6-2FE60F386CB0}"/>
                </a:ext>
              </a:extLst>
            </p:cNvPr>
            <p:cNvSpPr>
              <a:spLocks noChangeShapeType="1"/>
            </p:cNvSpPr>
            <p:nvPr/>
          </p:nvSpPr>
          <p:spPr bwMode="auto">
            <a:xfrm>
              <a:off x="3084" y="3173"/>
              <a:ext cx="3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54" name="Line 46">
              <a:extLst>
                <a:ext uri="{FF2B5EF4-FFF2-40B4-BE49-F238E27FC236}">
                  <a16:creationId xmlns:a16="http://schemas.microsoft.com/office/drawing/2014/main" id="{34434574-B67A-434B-B8D2-0DF2084A68BD}"/>
                </a:ext>
              </a:extLst>
            </p:cNvPr>
            <p:cNvSpPr>
              <a:spLocks noChangeShapeType="1"/>
            </p:cNvSpPr>
            <p:nvPr/>
          </p:nvSpPr>
          <p:spPr bwMode="auto">
            <a:xfrm>
              <a:off x="2716" y="3589"/>
              <a:ext cx="40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55" name="Line 47">
              <a:extLst>
                <a:ext uri="{FF2B5EF4-FFF2-40B4-BE49-F238E27FC236}">
                  <a16:creationId xmlns:a16="http://schemas.microsoft.com/office/drawing/2014/main" id="{B465ED6B-C5A6-42AE-B421-3C4D68B57B8F}"/>
                </a:ext>
              </a:extLst>
            </p:cNvPr>
            <p:cNvSpPr>
              <a:spLocks noChangeShapeType="1"/>
            </p:cNvSpPr>
            <p:nvPr/>
          </p:nvSpPr>
          <p:spPr bwMode="auto">
            <a:xfrm>
              <a:off x="3084" y="3589"/>
              <a:ext cx="3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1556" name="Line 48">
              <a:extLst>
                <a:ext uri="{FF2B5EF4-FFF2-40B4-BE49-F238E27FC236}">
                  <a16:creationId xmlns:a16="http://schemas.microsoft.com/office/drawing/2014/main" id="{CE5A90D2-7ABB-45E2-AD11-A574F405743C}"/>
                </a:ext>
              </a:extLst>
            </p:cNvPr>
            <p:cNvSpPr>
              <a:spLocks noChangeShapeType="1"/>
            </p:cNvSpPr>
            <p:nvPr/>
          </p:nvSpPr>
          <p:spPr bwMode="auto">
            <a:xfrm>
              <a:off x="3548" y="2342"/>
              <a:ext cx="492"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1516" name="Object 49">
                  <a:extLst>
                    <a:ext uri="{FF2B5EF4-FFF2-40B4-BE49-F238E27FC236}">
                      <a16:creationId xmlns:a16="http://schemas.microsoft.com/office/drawing/2014/main" id="{E07D4B0C-A103-4E56-98FF-AFAB29961164}"/>
                    </a:ext>
                  </a:extLst>
                </p:cNvPr>
                <p:cNvSpPr txBox="1"/>
                <p:nvPr/>
              </p:nvSpPr>
              <p:spPr bwMode="auto">
                <a:xfrm>
                  <a:off x="1263" y="2064"/>
                  <a:ext cx="417" cy="278"/>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21516" name="Object 49">
                  <a:extLst>
                    <a:ext uri="{FF2B5EF4-FFF2-40B4-BE49-F238E27FC236}">
                      <a16:creationId xmlns:a16="http://schemas.microsoft.com/office/drawing/2014/main" id="{E07D4B0C-A103-4E56-98FF-AFAB29961164}"/>
                    </a:ext>
                  </a:extLst>
                </p:cNvPr>
                <p:cNvSpPr txBox="1">
                  <a:spLocks noRot="1" noChangeAspect="1" noMove="1" noResize="1" noEditPoints="1" noAdjustHandles="1" noChangeArrowheads="1" noChangeShapeType="1" noTextEdit="1"/>
                </p:cNvSpPr>
                <p:nvPr/>
              </p:nvSpPr>
              <p:spPr bwMode="auto">
                <a:xfrm>
                  <a:off x="1263" y="2064"/>
                  <a:ext cx="417" cy="278"/>
                </a:xfrm>
                <a:prstGeom prst="rect">
                  <a:avLst/>
                </a:prstGeom>
                <a:blipFill>
                  <a:blip r:embed="rId13"/>
                  <a:stretch>
                    <a:fillRect r="-16814"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517" name="Object 50">
                  <a:extLst>
                    <a:ext uri="{FF2B5EF4-FFF2-40B4-BE49-F238E27FC236}">
                      <a16:creationId xmlns:a16="http://schemas.microsoft.com/office/drawing/2014/main" id="{160DCB0F-0712-4D38-82A1-33595FFE5369}"/>
                    </a:ext>
                  </a:extLst>
                </p:cNvPr>
                <p:cNvSpPr txBox="1"/>
                <p:nvPr/>
              </p:nvSpPr>
              <p:spPr bwMode="auto">
                <a:xfrm>
                  <a:off x="3759" y="2064"/>
                  <a:ext cx="418" cy="278"/>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𝑦</m:t>
                        </m:r>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21517" name="Object 50">
                  <a:extLst>
                    <a:ext uri="{FF2B5EF4-FFF2-40B4-BE49-F238E27FC236}">
                      <a16:creationId xmlns:a16="http://schemas.microsoft.com/office/drawing/2014/main" id="{160DCB0F-0712-4D38-82A1-33595FFE5369}"/>
                    </a:ext>
                  </a:extLst>
                </p:cNvPr>
                <p:cNvSpPr txBox="1">
                  <a:spLocks noRot="1" noChangeAspect="1" noMove="1" noResize="1" noEditPoints="1" noAdjustHandles="1" noChangeArrowheads="1" noChangeShapeType="1" noTextEdit="1"/>
                </p:cNvSpPr>
                <p:nvPr/>
              </p:nvSpPr>
              <p:spPr bwMode="auto">
                <a:xfrm>
                  <a:off x="3759" y="2064"/>
                  <a:ext cx="418" cy="278"/>
                </a:xfrm>
                <a:prstGeom prst="rect">
                  <a:avLst/>
                </a:prstGeom>
                <a:blipFill>
                  <a:blip r:embed="rId14"/>
                  <a:stretch>
                    <a:fillRect l="-2632" r="-15789"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518" name="Object 51">
                  <a:extLst>
                    <a:ext uri="{FF2B5EF4-FFF2-40B4-BE49-F238E27FC236}">
                      <a16:creationId xmlns:a16="http://schemas.microsoft.com/office/drawing/2014/main" id="{7797953F-EBD7-471E-BCD4-406399B8169F}"/>
                    </a:ext>
                  </a:extLst>
                </p:cNvPr>
                <p:cNvSpPr txBox="1"/>
                <p:nvPr/>
              </p:nvSpPr>
              <p:spPr bwMode="auto">
                <a:xfrm>
                  <a:off x="3008" y="2057"/>
                  <a:ext cx="254" cy="27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𝑏</m:t>
                            </m:r>
                          </m:e>
                          <m:sub>
                            <m:r>
                              <a:rPr lang="en-US" sz="2400" i="1">
                                <a:solidFill>
                                  <a:srgbClr val="000000"/>
                                </a:solidFill>
                                <a:latin typeface="Cambria Math" panose="02040503050406030204" pitchFamily="18" charset="0"/>
                              </a:rPr>
                              <m:t>0</m:t>
                            </m:r>
                          </m:sub>
                        </m:sSub>
                      </m:oMath>
                    </m:oMathPara>
                  </a14:m>
                  <a:endParaRPr lang="en-US" sz="2400" dirty="0"/>
                </a:p>
              </p:txBody>
            </p:sp>
          </mc:Choice>
          <mc:Fallback xmlns="">
            <p:sp>
              <p:nvSpPr>
                <p:cNvPr id="21518" name="Object 51">
                  <a:extLst>
                    <a:ext uri="{FF2B5EF4-FFF2-40B4-BE49-F238E27FC236}">
                      <a16:creationId xmlns:a16="http://schemas.microsoft.com/office/drawing/2014/main" id="{7797953F-EBD7-471E-BCD4-406399B8169F}"/>
                    </a:ext>
                  </a:extLst>
                </p:cNvPr>
                <p:cNvSpPr txBox="1">
                  <a:spLocks noRot="1" noChangeAspect="1" noMove="1" noResize="1" noEditPoints="1" noAdjustHandles="1" noChangeArrowheads="1" noChangeShapeType="1" noTextEdit="1"/>
                </p:cNvSpPr>
                <p:nvPr/>
              </p:nvSpPr>
              <p:spPr bwMode="auto">
                <a:xfrm>
                  <a:off x="3008" y="2057"/>
                  <a:ext cx="254" cy="278"/>
                </a:xfrm>
                <a:prstGeom prst="rect">
                  <a:avLst/>
                </a:prstGeom>
                <a:blipFill>
                  <a:blip r:embed="rId15"/>
                  <a:stretch>
                    <a:fillRect l="-4348" r="-5797" b="-400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519" name="Object 52">
                  <a:extLst>
                    <a:ext uri="{FF2B5EF4-FFF2-40B4-BE49-F238E27FC236}">
                      <a16:creationId xmlns:a16="http://schemas.microsoft.com/office/drawing/2014/main" id="{8C27292D-3558-4301-8199-8E3759AA8AF3}"/>
                    </a:ext>
                  </a:extLst>
                </p:cNvPr>
                <p:cNvSpPr txBox="1"/>
                <p:nvPr/>
              </p:nvSpPr>
              <p:spPr bwMode="auto">
                <a:xfrm>
                  <a:off x="3008" y="2510"/>
                  <a:ext cx="251" cy="27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𝑏</m:t>
                            </m:r>
                          </m:e>
                          <m:sub>
                            <m:r>
                              <a:rPr lang="en-US" sz="2400" i="1">
                                <a:solidFill>
                                  <a:srgbClr val="000000"/>
                                </a:solidFill>
                                <a:latin typeface="Cambria Math" panose="02040503050406030204" pitchFamily="18" charset="0"/>
                              </a:rPr>
                              <m:t>1</m:t>
                            </m:r>
                          </m:sub>
                        </m:sSub>
                      </m:oMath>
                    </m:oMathPara>
                  </a14:m>
                  <a:endParaRPr lang="en-US" sz="2400" dirty="0"/>
                </a:p>
              </p:txBody>
            </p:sp>
          </mc:Choice>
          <mc:Fallback xmlns="">
            <p:sp>
              <p:nvSpPr>
                <p:cNvPr id="21519" name="Object 52">
                  <a:extLst>
                    <a:ext uri="{FF2B5EF4-FFF2-40B4-BE49-F238E27FC236}">
                      <a16:creationId xmlns:a16="http://schemas.microsoft.com/office/drawing/2014/main" id="{8C27292D-3558-4301-8199-8E3759AA8AF3}"/>
                    </a:ext>
                  </a:extLst>
                </p:cNvPr>
                <p:cNvSpPr txBox="1">
                  <a:spLocks noRot="1" noChangeAspect="1" noMove="1" noResize="1" noEditPoints="1" noAdjustHandles="1" noChangeArrowheads="1" noChangeShapeType="1" noTextEdit="1"/>
                </p:cNvSpPr>
                <p:nvPr/>
              </p:nvSpPr>
              <p:spPr bwMode="auto">
                <a:xfrm>
                  <a:off x="3008" y="2510"/>
                  <a:ext cx="251" cy="278"/>
                </a:xfrm>
                <a:prstGeom prst="rect">
                  <a:avLst/>
                </a:prstGeom>
                <a:blipFill>
                  <a:blip r:embed="rId16"/>
                  <a:stretch>
                    <a:fillRect l="-4412" r="-5882" b="-394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520" name="Object 53">
                  <a:extLst>
                    <a:ext uri="{FF2B5EF4-FFF2-40B4-BE49-F238E27FC236}">
                      <a16:creationId xmlns:a16="http://schemas.microsoft.com/office/drawing/2014/main" id="{5428C707-F8F5-472B-A9D3-BBEAC061C30D}"/>
                    </a:ext>
                  </a:extLst>
                </p:cNvPr>
                <p:cNvSpPr txBox="1"/>
                <p:nvPr/>
              </p:nvSpPr>
              <p:spPr bwMode="auto">
                <a:xfrm>
                  <a:off x="3008" y="2884"/>
                  <a:ext cx="262" cy="27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𝑏</m:t>
                            </m:r>
                          </m:e>
                          <m:sub>
                            <m:r>
                              <a:rPr lang="en-US" sz="2400" i="1">
                                <a:solidFill>
                                  <a:srgbClr val="000000"/>
                                </a:solidFill>
                                <a:latin typeface="Cambria Math" panose="02040503050406030204" pitchFamily="18" charset="0"/>
                              </a:rPr>
                              <m:t>2</m:t>
                            </m:r>
                          </m:sub>
                        </m:sSub>
                      </m:oMath>
                    </m:oMathPara>
                  </a14:m>
                  <a:endParaRPr lang="en-US" sz="2400" dirty="0"/>
                </a:p>
              </p:txBody>
            </p:sp>
          </mc:Choice>
          <mc:Fallback xmlns="">
            <p:sp>
              <p:nvSpPr>
                <p:cNvPr id="21520" name="Object 53">
                  <a:extLst>
                    <a:ext uri="{FF2B5EF4-FFF2-40B4-BE49-F238E27FC236}">
                      <a16:creationId xmlns:a16="http://schemas.microsoft.com/office/drawing/2014/main" id="{5428C707-F8F5-472B-A9D3-BBEAC061C30D}"/>
                    </a:ext>
                  </a:extLst>
                </p:cNvPr>
                <p:cNvSpPr txBox="1">
                  <a:spLocks noRot="1" noChangeAspect="1" noMove="1" noResize="1" noEditPoints="1" noAdjustHandles="1" noChangeArrowheads="1" noChangeShapeType="1" noTextEdit="1"/>
                </p:cNvSpPr>
                <p:nvPr/>
              </p:nvSpPr>
              <p:spPr bwMode="auto">
                <a:xfrm>
                  <a:off x="3008" y="2884"/>
                  <a:ext cx="262" cy="278"/>
                </a:xfrm>
                <a:prstGeom prst="rect">
                  <a:avLst/>
                </a:prstGeom>
                <a:blipFill>
                  <a:blip r:embed="rId17"/>
                  <a:stretch>
                    <a:fillRect l="-4225" r="-2817" b="-263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521" name="Object 54">
                  <a:extLst>
                    <a:ext uri="{FF2B5EF4-FFF2-40B4-BE49-F238E27FC236}">
                      <a16:creationId xmlns:a16="http://schemas.microsoft.com/office/drawing/2014/main" id="{774AD506-8EFD-4CA2-BCD7-A7A76812E7BD}"/>
                    </a:ext>
                  </a:extLst>
                </p:cNvPr>
                <p:cNvSpPr txBox="1"/>
                <p:nvPr/>
              </p:nvSpPr>
              <p:spPr bwMode="auto">
                <a:xfrm>
                  <a:off x="3008" y="3316"/>
                  <a:ext cx="305" cy="27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𝑏</m:t>
                            </m:r>
                          </m:e>
                          <m:sub>
                            <m:r>
                              <a:rPr lang="en-US" sz="2400" i="1">
                                <a:solidFill>
                                  <a:srgbClr val="000000"/>
                                </a:solidFill>
                                <a:latin typeface="Cambria Math" panose="02040503050406030204" pitchFamily="18" charset="0"/>
                              </a:rPr>
                              <m:t>𝑀</m:t>
                            </m:r>
                          </m:sub>
                        </m:sSub>
                      </m:oMath>
                    </m:oMathPara>
                  </a14:m>
                  <a:endParaRPr lang="en-US" sz="2400" dirty="0"/>
                </a:p>
              </p:txBody>
            </p:sp>
          </mc:Choice>
          <mc:Fallback xmlns="">
            <p:sp>
              <p:nvSpPr>
                <p:cNvPr id="21521" name="Object 54">
                  <a:extLst>
                    <a:ext uri="{FF2B5EF4-FFF2-40B4-BE49-F238E27FC236}">
                      <a16:creationId xmlns:a16="http://schemas.microsoft.com/office/drawing/2014/main" id="{774AD506-8EFD-4CA2-BCD7-A7A76812E7BD}"/>
                    </a:ext>
                  </a:extLst>
                </p:cNvPr>
                <p:cNvSpPr txBox="1">
                  <a:spLocks noRot="1" noChangeAspect="1" noMove="1" noResize="1" noEditPoints="1" noAdjustHandles="1" noChangeArrowheads="1" noChangeShapeType="1" noTextEdit="1"/>
                </p:cNvSpPr>
                <p:nvPr/>
              </p:nvSpPr>
              <p:spPr bwMode="auto">
                <a:xfrm>
                  <a:off x="3008" y="3316"/>
                  <a:ext cx="305" cy="278"/>
                </a:xfrm>
                <a:prstGeom prst="rect">
                  <a:avLst/>
                </a:prstGeom>
                <a:blipFill>
                  <a:blip r:embed="rId18"/>
                  <a:stretch>
                    <a:fillRect l="-3614" r="-2410" b="-400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522" name="Object 56">
                  <a:extLst>
                    <a:ext uri="{FF2B5EF4-FFF2-40B4-BE49-F238E27FC236}">
                      <a16:creationId xmlns:a16="http://schemas.microsoft.com/office/drawing/2014/main" id="{CF78AE3D-E584-456F-9CDC-7127AE6FD661}"/>
                    </a:ext>
                  </a:extLst>
                </p:cNvPr>
                <p:cNvSpPr txBox="1"/>
                <p:nvPr/>
              </p:nvSpPr>
              <p:spPr bwMode="auto">
                <a:xfrm>
                  <a:off x="2102" y="2048"/>
                  <a:ext cx="501" cy="27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1/</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0</m:t>
                            </m:r>
                          </m:sub>
                        </m:sSub>
                      </m:oMath>
                    </m:oMathPara>
                  </a14:m>
                  <a:endParaRPr lang="en-US" sz="2400" dirty="0"/>
                </a:p>
              </p:txBody>
            </p:sp>
          </mc:Choice>
          <mc:Fallback xmlns="">
            <p:sp>
              <p:nvSpPr>
                <p:cNvPr id="21522" name="Object 56">
                  <a:extLst>
                    <a:ext uri="{FF2B5EF4-FFF2-40B4-BE49-F238E27FC236}">
                      <a16:creationId xmlns:a16="http://schemas.microsoft.com/office/drawing/2014/main" id="{CF78AE3D-E584-456F-9CDC-7127AE6FD661}"/>
                    </a:ext>
                  </a:extLst>
                </p:cNvPr>
                <p:cNvSpPr txBox="1">
                  <a:spLocks noRot="1" noChangeAspect="1" noMove="1" noResize="1" noEditPoints="1" noAdjustHandles="1" noChangeArrowheads="1" noChangeShapeType="1" noTextEdit="1"/>
                </p:cNvSpPr>
                <p:nvPr/>
              </p:nvSpPr>
              <p:spPr bwMode="auto">
                <a:xfrm>
                  <a:off x="2102" y="2048"/>
                  <a:ext cx="501" cy="278"/>
                </a:xfrm>
                <a:prstGeom prst="rect">
                  <a:avLst/>
                </a:prstGeom>
                <a:blipFill>
                  <a:blip r:embed="rId19"/>
                  <a:stretch>
                    <a:fillRect l="-1460"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523" name="Object 57">
                  <a:extLst>
                    <a:ext uri="{FF2B5EF4-FFF2-40B4-BE49-F238E27FC236}">
                      <a16:creationId xmlns:a16="http://schemas.microsoft.com/office/drawing/2014/main" id="{715AA933-7FA5-482B-94CB-CFFC341C8EAE}"/>
                    </a:ext>
                  </a:extLst>
                </p:cNvPr>
                <p:cNvSpPr txBox="1"/>
                <p:nvPr/>
              </p:nvSpPr>
              <p:spPr bwMode="auto">
                <a:xfrm>
                  <a:off x="2102" y="2506"/>
                  <a:ext cx="383" cy="27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1</m:t>
                            </m:r>
                          </m:sub>
                        </m:sSub>
                      </m:oMath>
                    </m:oMathPara>
                  </a14:m>
                  <a:endParaRPr lang="en-US" sz="2400" dirty="0"/>
                </a:p>
              </p:txBody>
            </p:sp>
          </mc:Choice>
          <mc:Fallback xmlns="">
            <p:sp>
              <p:nvSpPr>
                <p:cNvPr id="21523" name="Object 57">
                  <a:extLst>
                    <a:ext uri="{FF2B5EF4-FFF2-40B4-BE49-F238E27FC236}">
                      <a16:creationId xmlns:a16="http://schemas.microsoft.com/office/drawing/2014/main" id="{715AA933-7FA5-482B-94CB-CFFC341C8EAE}"/>
                    </a:ext>
                  </a:extLst>
                </p:cNvPr>
                <p:cNvSpPr txBox="1">
                  <a:spLocks noRot="1" noChangeAspect="1" noMove="1" noResize="1" noEditPoints="1" noAdjustHandles="1" noChangeArrowheads="1" noChangeShapeType="1" noTextEdit="1"/>
                </p:cNvSpPr>
                <p:nvPr/>
              </p:nvSpPr>
              <p:spPr bwMode="auto">
                <a:xfrm>
                  <a:off x="2102" y="2506"/>
                  <a:ext cx="383" cy="278"/>
                </a:xfrm>
                <a:prstGeom prst="rect">
                  <a:avLst/>
                </a:prstGeom>
                <a:blipFill>
                  <a:blip r:embed="rId20"/>
                  <a:stretch>
                    <a:fillRect r="-7692" b="-263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524" name="Object 58">
                  <a:extLst>
                    <a:ext uri="{FF2B5EF4-FFF2-40B4-BE49-F238E27FC236}">
                      <a16:creationId xmlns:a16="http://schemas.microsoft.com/office/drawing/2014/main" id="{3A2086C2-5DC1-4ED1-8B2A-92544EE8DD1D}"/>
                    </a:ext>
                  </a:extLst>
                </p:cNvPr>
                <p:cNvSpPr txBox="1"/>
                <p:nvPr/>
              </p:nvSpPr>
              <p:spPr bwMode="auto">
                <a:xfrm>
                  <a:off x="2102" y="2899"/>
                  <a:ext cx="392" cy="27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2</m:t>
                            </m:r>
                          </m:sub>
                        </m:sSub>
                      </m:oMath>
                    </m:oMathPara>
                  </a14:m>
                  <a:endParaRPr lang="en-US" sz="2400" dirty="0"/>
                </a:p>
              </p:txBody>
            </p:sp>
          </mc:Choice>
          <mc:Fallback xmlns="">
            <p:sp>
              <p:nvSpPr>
                <p:cNvPr id="21524" name="Object 58">
                  <a:extLst>
                    <a:ext uri="{FF2B5EF4-FFF2-40B4-BE49-F238E27FC236}">
                      <a16:creationId xmlns:a16="http://schemas.microsoft.com/office/drawing/2014/main" id="{3A2086C2-5DC1-4ED1-8B2A-92544EE8DD1D}"/>
                    </a:ext>
                  </a:extLst>
                </p:cNvPr>
                <p:cNvSpPr txBox="1">
                  <a:spLocks noRot="1" noChangeAspect="1" noMove="1" noResize="1" noEditPoints="1" noAdjustHandles="1" noChangeArrowheads="1" noChangeShapeType="1" noTextEdit="1"/>
                </p:cNvSpPr>
                <p:nvPr/>
              </p:nvSpPr>
              <p:spPr bwMode="auto">
                <a:xfrm>
                  <a:off x="2102" y="2899"/>
                  <a:ext cx="392" cy="278"/>
                </a:xfrm>
                <a:prstGeom prst="rect">
                  <a:avLst/>
                </a:prstGeom>
                <a:blipFill>
                  <a:blip r:embed="rId21"/>
                  <a:stretch>
                    <a:fillRect r="-5607" b="-394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525" name="Object 59">
                  <a:extLst>
                    <a:ext uri="{FF2B5EF4-FFF2-40B4-BE49-F238E27FC236}">
                      <a16:creationId xmlns:a16="http://schemas.microsoft.com/office/drawing/2014/main" id="{932392DB-B458-4E6F-89C4-280A248DB4BE}"/>
                    </a:ext>
                  </a:extLst>
                </p:cNvPr>
                <p:cNvSpPr txBox="1"/>
                <p:nvPr/>
              </p:nvSpPr>
              <p:spPr bwMode="auto">
                <a:xfrm>
                  <a:off x="2102" y="3290"/>
                  <a:ext cx="595" cy="27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−1</m:t>
                            </m:r>
                          </m:sub>
                        </m:sSub>
                      </m:oMath>
                    </m:oMathPara>
                  </a14:m>
                  <a:endParaRPr lang="en-US" sz="2400" dirty="0"/>
                </a:p>
              </p:txBody>
            </p:sp>
          </mc:Choice>
          <mc:Fallback xmlns="">
            <p:sp>
              <p:nvSpPr>
                <p:cNvPr id="21525" name="Object 59">
                  <a:extLst>
                    <a:ext uri="{FF2B5EF4-FFF2-40B4-BE49-F238E27FC236}">
                      <a16:creationId xmlns:a16="http://schemas.microsoft.com/office/drawing/2014/main" id="{932392DB-B458-4E6F-89C4-280A248DB4BE}"/>
                    </a:ext>
                  </a:extLst>
                </p:cNvPr>
                <p:cNvSpPr txBox="1">
                  <a:spLocks noRot="1" noChangeAspect="1" noMove="1" noResize="1" noEditPoints="1" noAdjustHandles="1" noChangeArrowheads="1" noChangeShapeType="1" noTextEdit="1"/>
                </p:cNvSpPr>
                <p:nvPr/>
              </p:nvSpPr>
              <p:spPr bwMode="auto">
                <a:xfrm>
                  <a:off x="2102" y="3290"/>
                  <a:ext cx="595" cy="278"/>
                </a:xfrm>
                <a:prstGeom prst="rect">
                  <a:avLst/>
                </a:prstGeom>
                <a:blipFill>
                  <a:blip r:embed="rId22"/>
                  <a:stretch>
                    <a:fillRect r="-4321" b="-400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526" name="Object 60">
                  <a:extLst>
                    <a:ext uri="{FF2B5EF4-FFF2-40B4-BE49-F238E27FC236}">
                      <a16:creationId xmlns:a16="http://schemas.microsoft.com/office/drawing/2014/main" id="{6944F320-3597-437A-84AA-70EA572594A0}"/>
                    </a:ext>
                  </a:extLst>
                </p:cNvPr>
                <p:cNvSpPr txBox="1"/>
                <p:nvPr/>
              </p:nvSpPr>
              <p:spPr bwMode="auto">
                <a:xfrm>
                  <a:off x="2102" y="3739"/>
                  <a:ext cx="449" cy="27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𝑁</m:t>
                            </m:r>
                          </m:sub>
                        </m:sSub>
                      </m:oMath>
                    </m:oMathPara>
                  </a14:m>
                  <a:endParaRPr lang="en-US" sz="2400" dirty="0"/>
                </a:p>
              </p:txBody>
            </p:sp>
          </mc:Choice>
          <mc:Fallback xmlns="">
            <p:sp>
              <p:nvSpPr>
                <p:cNvPr id="21526" name="Object 60">
                  <a:extLst>
                    <a:ext uri="{FF2B5EF4-FFF2-40B4-BE49-F238E27FC236}">
                      <a16:creationId xmlns:a16="http://schemas.microsoft.com/office/drawing/2014/main" id="{6944F320-3597-437A-84AA-70EA572594A0}"/>
                    </a:ext>
                  </a:extLst>
                </p:cNvPr>
                <p:cNvSpPr txBox="1">
                  <a:spLocks noRot="1" noChangeAspect="1" noMove="1" noResize="1" noEditPoints="1" noAdjustHandles="1" noChangeArrowheads="1" noChangeShapeType="1" noTextEdit="1"/>
                </p:cNvSpPr>
                <p:nvPr/>
              </p:nvSpPr>
              <p:spPr bwMode="auto">
                <a:xfrm>
                  <a:off x="2102" y="3739"/>
                  <a:ext cx="449" cy="278"/>
                </a:xfrm>
                <a:prstGeom prst="rect">
                  <a:avLst/>
                </a:prstGeom>
                <a:blipFill>
                  <a:blip r:embed="rId23"/>
                  <a:stretch>
                    <a:fillRect b="-3947"/>
                  </a:stretch>
                </a:blipFill>
                <a:ln>
                  <a:noFill/>
                </a:ln>
                <a:effectLst/>
              </p:spPr>
              <p:txBody>
                <a:bodyPr/>
                <a:lstStyle/>
                <a:p>
                  <a:r>
                    <a:rPr lang="en-US">
                      <a:noFill/>
                    </a:rPr>
                    <a:t> </a:t>
                  </a:r>
                </a:p>
              </p:txBody>
            </p:sp>
          </mc:Fallback>
        </mc:AlternateContent>
        <p:sp>
          <p:nvSpPr>
            <p:cNvPr id="21557" name="Line 61">
              <a:extLst>
                <a:ext uri="{FF2B5EF4-FFF2-40B4-BE49-F238E27FC236}">
                  <a16:creationId xmlns:a16="http://schemas.microsoft.com/office/drawing/2014/main" id="{DEF1B6A0-9FD3-4439-94F3-9C705F1C8837}"/>
                </a:ext>
              </a:extLst>
            </p:cNvPr>
            <p:cNvSpPr>
              <a:spLocks noChangeShapeType="1"/>
            </p:cNvSpPr>
            <p:nvPr/>
          </p:nvSpPr>
          <p:spPr bwMode="auto">
            <a:xfrm>
              <a:off x="1936" y="4056"/>
              <a:ext cx="782" cy="0"/>
            </a:xfrm>
            <a:prstGeom prst="line">
              <a:avLst/>
            </a:prstGeom>
            <a:noFill/>
            <a:ln w="25400">
              <a:solidFill>
                <a:schemeClr val="tx1"/>
              </a:solidFill>
              <a:round/>
              <a:headEnd/>
              <a:tailEnd type="none"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标题 1">
            <a:extLst>
              <a:ext uri="{FF2B5EF4-FFF2-40B4-BE49-F238E27FC236}">
                <a16:creationId xmlns:a16="http://schemas.microsoft.com/office/drawing/2014/main" id="{DC760048-0AAD-4178-BBCD-9219CECF6889}"/>
              </a:ext>
            </a:extLst>
          </p:cNvPr>
          <p:cNvSpPr>
            <a:spLocks noGrp="1"/>
          </p:cNvSpPr>
          <p:nvPr>
            <p:ph type="title"/>
          </p:nvPr>
        </p:nvSpPr>
        <p:spPr/>
        <p:txBody>
          <a:bodyPr/>
          <a:lstStyle/>
          <a:p>
            <a:r>
              <a:rPr lang="en-US" altLang="zh-CN" sz="3200">
                <a:solidFill>
                  <a:srgbClr val="000000"/>
                </a:solidFill>
              </a:rPr>
              <a:t>2.4 </a:t>
            </a:r>
            <a:r>
              <a:rPr lang="zh-CN" altLang="en-US" sz="3200">
                <a:solidFill>
                  <a:srgbClr val="000000"/>
                </a:solidFill>
              </a:rPr>
              <a:t>用微分和差分方程描述的因果</a:t>
            </a:r>
            <a:r>
              <a:rPr lang="en-US" altLang="zh-CN" sz="3200">
                <a:solidFill>
                  <a:srgbClr val="000000"/>
                </a:solidFill>
              </a:rPr>
              <a:t>LTI</a:t>
            </a:r>
            <a:r>
              <a:rPr lang="zh-CN" altLang="en-US" sz="3200">
                <a:solidFill>
                  <a:srgbClr val="000000"/>
                </a:solidFill>
              </a:rPr>
              <a:t>系统</a:t>
            </a:r>
            <a:endParaRPr lang="zh-CN" altLang="en-US"/>
          </a:p>
        </p:txBody>
      </p:sp>
      <mc:AlternateContent xmlns:mc="http://schemas.openxmlformats.org/markup-compatibility/2006" xmlns:a14="http://schemas.microsoft.com/office/drawing/2010/main">
        <mc:Choice Requires="a14">
          <p:sp>
            <p:nvSpPr>
              <p:cNvPr id="22533" name="内容占位符 2">
                <a:extLst>
                  <a:ext uri="{FF2B5EF4-FFF2-40B4-BE49-F238E27FC236}">
                    <a16:creationId xmlns:a16="http://schemas.microsoft.com/office/drawing/2014/main" id="{D2B57F76-EBFE-44CF-8CB2-A882438CE4BA}"/>
                  </a:ext>
                </a:extLst>
              </p:cNvPr>
              <p:cNvSpPr>
                <a:spLocks noGrp="1"/>
              </p:cNvSpPr>
              <p:nvPr>
                <p:ph idx="1"/>
              </p:nvPr>
            </p:nvSpPr>
            <p:spPr>
              <a:xfrm>
                <a:off x="457200" y="1285875"/>
                <a:ext cx="8229600" cy="4870692"/>
              </a:xfrm>
            </p:spPr>
            <p:txBody>
              <a:bodyPr>
                <a:spAutoFit/>
              </a:bodyPr>
              <a:lstStyle/>
              <a:p>
                <a:pPr algn="just">
                  <a:lnSpc>
                    <a:spcPct val="110000"/>
                  </a:lnSpc>
                  <a:spcBef>
                    <a:spcPts val="0"/>
                  </a:spcBef>
                  <a:spcAft>
                    <a:spcPts val="600"/>
                  </a:spcAft>
                </a:pPr>
                <a:r>
                  <a:rPr lang="en-US" altLang="zh-CN" sz="2400" b="0" dirty="0"/>
                  <a:t>2. </a:t>
                </a:r>
                <a:r>
                  <a:rPr lang="zh-CN" altLang="en-US" sz="2400" b="0" dirty="0">
                    <a:solidFill>
                      <a:srgbClr val="0000FF"/>
                    </a:solidFill>
                  </a:rPr>
                  <a:t>由微分方程描述的</a:t>
                </a:r>
                <a:r>
                  <a:rPr lang="en-US" altLang="zh-CN" sz="2400" b="0" dirty="0">
                    <a:solidFill>
                      <a:srgbClr val="0000FF"/>
                    </a:solidFill>
                  </a:rPr>
                  <a:t>LTI</a:t>
                </a:r>
                <a:r>
                  <a:rPr lang="zh-CN" altLang="en-US" sz="2400" b="0" dirty="0">
                    <a:solidFill>
                      <a:srgbClr val="0000FF"/>
                    </a:solidFill>
                  </a:rPr>
                  <a:t>系统的方框图表示</a:t>
                </a:r>
                <a:endParaRPr lang="en-US" altLang="zh-CN" sz="2400" b="0" dirty="0">
                  <a:solidFill>
                    <a:srgbClr val="0000FF"/>
                  </a:solidFill>
                </a:endParaRPr>
              </a:p>
              <a:p>
                <a:pPr lvl="1" algn="just">
                  <a:lnSpc>
                    <a:spcPct val="110000"/>
                  </a:lnSpc>
                  <a:spcBef>
                    <a:spcPts val="0"/>
                  </a:spcBef>
                  <a:spcAft>
                    <a:spcPts val="600"/>
                  </a:spcAft>
                </a:pPr>
                <a:r>
                  <a:rPr lang="zh-CN" altLang="en-US" sz="2400" b="0" dirty="0"/>
                  <a:t>微分方程也包括三种基本运算：</a:t>
                </a:r>
                <a:r>
                  <a:rPr lang="zh-CN" altLang="en-US" sz="2400" b="0" dirty="0">
                    <a:solidFill>
                      <a:srgbClr val="FF0000"/>
                    </a:solidFill>
                  </a:rPr>
                  <a:t>微分</a:t>
                </a:r>
                <a:r>
                  <a:rPr lang="zh-CN" altLang="en-US" sz="2400" b="0" dirty="0"/>
                  <a:t>、</a:t>
                </a:r>
                <a:r>
                  <a:rPr lang="zh-CN" altLang="en-US" sz="2400" b="0" dirty="0">
                    <a:solidFill>
                      <a:srgbClr val="FF0000"/>
                    </a:solidFill>
                  </a:rPr>
                  <a:t>乘系数</a:t>
                </a:r>
                <a:r>
                  <a:rPr lang="zh-CN" altLang="en-US" sz="2400" b="0" dirty="0"/>
                  <a:t>、</a:t>
                </a:r>
                <a:r>
                  <a:rPr lang="zh-CN" altLang="en-US" sz="2400" b="0" dirty="0">
                    <a:solidFill>
                      <a:srgbClr val="FF0000"/>
                    </a:solidFill>
                  </a:rPr>
                  <a:t>相加</a:t>
                </a:r>
                <a:endParaRPr lang="en-US" altLang="zh-CN" sz="2400" b="0" dirty="0"/>
              </a:p>
              <a:p>
                <a:pPr marL="457200" lvl="1" indent="0" algn="just">
                  <a:lnSpc>
                    <a:spcPct val="110000"/>
                  </a:lnSpc>
                  <a:spcBef>
                    <a:spcPts val="0"/>
                  </a:spcBef>
                  <a:spcAft>
                    <a:spcPts val="600"/>
                  </a:spcAft>
                  <a:buNone/>
                </a:pPr>
                <a14:m>
                  <m:oMathPara xmlns:m="http://schemas.openxmlformats.org/officeDocument/2006/math">
                    <m:oMathParaPr>
                      <m:jc m:val="centerGroup"/>
                    </m:oMathParaPr>
                    <m:oMath xmlns:m="http://schemas.openxmlformats.org/officeDocument/2006/math">
                      <m:nary>
                        <m:naryPr>
                          <m:chr m:val="∑"/>
                          <m:ctrlPr>
                            <a:rPr lang="en-US" sz="2400" i="1" smtClean="0">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=0</m:t>
                          </m:r>
                        </m:sub>
                        <m:sup>
                          <m:r>
                            <a:rPr lang="en-US" sz="2400" i="1">
                              <a:solidFill>
                                <a:srgbClr val="000000"/>
                              </a:solidFill>
                              <a:latin typeface="Cambria Math" panose="02040503050406030204" pitchFamily="18" charset="0"/>
                            </a:rPr>
                            <m:t>𝑁</m:t>
                          </m:r>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f>
                            <m:fPr>
                              <m:ctrlPr>
                                <a:rPr lang="en-US" sz="2400" i="1">
                                  <a:solidFill>
                                    <a:srgbClr val="000000"/>
                                  </a:solidFill>
                                  <a:latin typeface="Cambria Math" panose="02040503050406030204" pitchFamily="18" charset="0"/>
                                </a:rPr>
                              </m:ctrlPr>
                            </m:fPr>
                            <m:num>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d</m:t>
                                  </m:r>
                                </m:e>
                                <m:sup>
                                  <m:r>
                                    <a:rPr lang="en-US" sz="2400" i="1">
                                      <a:solidFill>
                                        <a:srgbClr val="000000"/>
                                      </a:solidFill>
                                      <a:latin typeface="Cambria Math" panose="02040503050406030204" pitchFamily="18" charset="0"/>
                                    </a:rPr>
                                    <m:t>𝑘</m:t>
                                  </m:r>
                                </m:sup>
                              </m:sSup>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num>
                            <m:den>
                              <m:r>
                                <m:rPr>
                                  <m:sty m:val="p"/>
                                </m:rPr>
                                <a:rPr lang="en-US" sz="2400" i="0">
                                  <a:solidFill>
                                    <a:srgbClr val="000000"/>
                                  </a:solidFill>
                                  <a:latin typeface="Cambria Math" panose="02040503050406030204" pitchFamily="18" charset="0"/>
                                </a:rPr>
                                <m:t>d</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𝑡</m:t>
                                  </m:r>
                                </m:e>
                                <m:sup>
                                  <m:r>
                                    <a:rPr lang="en-US" sz="2400" i="1">
                                      <a:solidFill>
                                        <a:srgbClr val="000000"/>
                                      </a:solidFill>
                                      <a:latin typeface="Cambria Math" panose="02040503050406030204" pitchFamily="18" charset="0"/>
                                    </a:rPr>
                                    <m:t>𝑘</m:t>
                                  </m:r>
                                </m:sup>
                              </m:sSup>
                            </m:den>
                          </m:f>
                        </m:e>
                      </m:nary>
                      <m: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=0</m:t>
                          </m:r>
                        </m:sub>
                        <m:sup>
                          <m:r>
                            <a:rPr lang="en-US" sz="2400" i="1">
                              <a:solidFill>
                                <a:srgbClr val="000000"/>
                              </a:solidFill>
                              <a:latin typeface="Cambria Math" panose="02040503050406030204" pitchFamily="18" charset="0"/>
                            </a:rPr>
                            <m:t>𝑀</m:t>
                          </m:r>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𝑏</m:t>
                              </m:r>
                            </m:e>
                            <m:sub>
                              <m:r>
                                <a:rPr lang="en-US" sz="2400" i="1">
                                  <a:solidFill>
                                    <a:srgbClr val="000000"/>
                                  </a:solidFill>
                                  <a:latin typeface="Cambria Math" panose="02040503050406030204" pitchFamily="18" charset="0"/>
                                </a:rPr>
                                <m:t>𝑘</m:t>
                              </m:r>
                            </m:sub>
                          </m:sSub>
                          <m:f>
                            <m:fPr>
                              <m:ctrlPr>
                                <a:rPr lang="en-US" sz="2400" i="1">
                                  <a:solidFill>
                                    <a:srgbClr val="000000"/>
                                  </a:solidFill>
                                  <a:latin typeface="Cambria Math" panose="02040503050406030204" pitchFamily="18" charset="0"/>
                                </a:rPr>
                              </m:ctrlPr>
                            </m:fPr>
                            <m:num>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d</m:t>
                                  </m:r>
                                </m:e>
                                <m:sup>
                                  <m:r>
                                    <a:rPr lang="en-US" sz="2400" i="1">
                                      <a:solidFill>
                                        <a:srgbClr val="000000"/>
                                      </a:solidFill>
                                      <a:latin typeface="Cambria Math" panose="02040503050406030204" pitchFamily="18" charset="0"/>
                                    </a:rPr>
                                    <m:t>𝑘</m:t>
                                  </m:r>
                                </m:sup>
                              </m:sSup>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num>
                            <m:den>
                              <m:r>
                                <m:rPr>
                                  <m:sty m:val="p"/>
                                </m:rPr>
                                <a:rPr lang="en-US" sz="2400" i="0">
                                  <a:solidFill>
                                    <a:srgbClr val="000000"/>
                                  </a:solidFill>
                                  <a:latin typeface="Cambria Math" panose="02040503050406030204" pitchFamily="18" charset="0"/>
                                </a:rPr>
                                <m:t>d</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𝑡</m:t>
                                  </m:r>
                                </m:e>
                                <m:sup>
                                  <m:r>
                                    <a:rPr lang="en-US" sz="2400" i="1">
                                      <a:solidFill>
                                        <a:srgbClr val="000000"/>
                                      </a:solidFill>
                                      <a:latin typeface="Cambria Math" panose="02040503050406030204" pitchFamily="18" charset="0"/>
                                    </a:rPr>
                                    <m:t>𝑘</m:t>
                                  </m:r>
                                </m:sup>
                              </m:sSup>
                            </m:den>
                          </m:f>
                        </m:e>
                      </m:nary>
                    </m:oMath>
                  </m:oMathPara>
                </a14:m>
                <a:endParaRPr lang="en-US" altLang="zh-CN" sz="2400" b="0" dirty="0"/>
              </a:p>
              <a:p>
                <a:pPr lvl="1" algn="just">
                  <a:lnSpc>
                    <a:spcPct val="110000"/>
                  </a:lnSpc>
                  <a:spcBef>
                    <a:spcPts val="0"/>
                  </a:spcBef>
                  <a:spcAft>
                    <a:spcPts val="600"/>
                  </a:spcAft>
                </a:pPr>
                <a:r>
                  <a:rPr lang="zh-CN" altLang="en-US" sz="2400" b="0" dirty="0"/>
                  <a:t>但微分器不仅在工程实现上有困难，而且对误差及噪声极为敏感，因此，通常使用积分器而不用微分器。</a:t>
                </a:r>
              </a:p>
              <a:p>
                <a:pPr lvl="1" algn="just">
                  <a:lnSpc>
                    <a:spcPct val="110000"/>
                  </a:lnSpc>
                  <a:spcBef>
                    <a:spcPts val="0"/>
                  </a:spcBef>
                  <a:spcAft>
                    <a:spcPts val="600"/>
                  </a:spcAft>
                </a:pPr>
                <a:r>
                  <a:rPr lang="zh-CN" altLang="en-US" sz="2400" b="0" dirty="0"/>
                  <a:t>微分方程两边同时积分</a:t>
                </a:r>
                <a14:m>
                  <m:oMath xmlns:m="http://schemas.openxmlformats.org/officeDocument/2006/math">
                    <m:r>
                      <a:rPr lang="en-US" sz="2400" i="1" smtClean="0">
                        <a:solidFill>
                          <a:srgbClr val="000000"/>
                        </a:solidFill>
                        <a:latin typeface="Cambria Math" panose="02040503050406030204" pitchFamily="18" charset="0"/>
                      </a:rPr>
                      <m:t>𝑁</m:t>
                    </m:r>
                  </m:oMath>
                </a14:m>
                <a:r>
                  <a:rPr lang="zh-CN" altLang="en-US" sz="2400" b="0" dirty="0"/>
                  <a:t>次，即可得到积分方程：</a:t>
                </a:r>
                <a:endParaRPr lang="en-US" altLang="zh-CN" sz="2400" b="0" dirty="0"/>
              </a:p>
              <a:p>
                <a:pPr marL="457200" lvl="1" indent="0" algn="just">
                  <a:lnSpc>
                    <a:spcPct val="110000"/>
                  </a:lnSpc>
                  <a:spcBef>
                    <a:spcPts val="0"/>
                  </a:spcBef>
                  <a:spcAft>
                    <a:spcPts val="600"/>
                  </a:spcAft>
                  <a:buNone/>
                </a:pPr>
                <a14:m>
                  <m:oMathPara xmlns:m="http://schemas.openxmlformats.org/officeDocument/2006/math">
                    <m:oMathParaPr>
                      <m:jc m:val="centerGroup"/>
                    </m:oMathParaPr>
                    <m:oMath xmlns:m="http://schemas.openxmlformats.org/officeDocument/2006/math">
                      <m:nary>
                        <m:naryPr>
                          <m:chr m:val="∑"/>
                          <m:ctrlPr>
                            <a:rPr lang="en-US" sz="2400" i="1" smtClean="0">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=0</m:t>
                          </m:r>
                        </m:sub>
                        <m:sup>
                          <m:r>
                            <a:rPr lang="en-US" sz="2400" i="1">
                              <a:solidFill>
                                <a:srgbClr val="000000"/>
                              </a:solidFill>
                              <a:latin typeface="Cambria Math" panose="02040503050406030204" pitchFamily="18" charset="0"/>
                            </a:rPr>
                            <m:t>𝑁</m:t>
                          </m:r>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e>
                      </m:nary>
                      <m: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=0</m:t>
                          </m:r>
                        </m:sub>
                        <m:sup>
                          <m:r>
                            <a:rPr lang="en-US" sz="2400" i="1">
                              <a:solidFill>
                                <a:srgbClr val="000000"/>
                              </a:solidFill>
                              <a:latin typeface="Cambria Math" panose="02040503050406030204" pitchFamily="18" charset="0"/>
                            </a:rPr>
                            <m:t>𝑀</m:t>
                          </m:r>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𝑏</m:t>
                              </m:r>
                            </m:e>
                            <m:sub>
                              <m:r>
                                <a:rPr lang="en-US" sz="2400" i="1">
                                  <a:solidFill>
                                    <a:srgbClr val="000000"/>
                                  </a:solidFill>
                                  <a:latin typeface="Cambria Math" panose="02040503050406030204" pitchFamily="18" charset="0"/>
                                </a:rPr>
                                <m:t>𝑘</m:t>
                              </m:r>
                            </m:sub>
                          </m:sSub>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e>
                      </m:nary>
                    </m:oMath>
                  </m:oMathPara>
                </a14:m>
                <a:endParaRPr lang="zh-CN" altLang="en-US" sz="2400" b="0" dirty="0"/>
              </a:p>
            </p:txBody>
          </p:sp>
        </mc:Choice>
        <mc:Fallback xmlns="">
          <p:sp>
            <p:nvSpPr>
              <p:cNvPr id="22533" name="内容占位符 2">
                <a:extLst>
                  <a:ext uri="{FF2B5EF4-FFF2-40B4-BE49-F238E27FC236}">
                    <a16:creationId xmlns:a16="http://schemas.microsoft.com/office/drawing/2014/main" id="{D2B57F76-EBFE-44CF-8CB2-A882438CE4BA}"/>
                  </a:ext>
                </a:extLst>
              </p:cNvPr>
              <p:cNvSpPr>
                <a:spLocks noGrp="1" noRot="1" noChangeAspect="1" noMove="1" noResize="1" noEditPoints="1" noAdjustHandles="1" noChangeArrowheads="1" noChangeShapeType="1" noTextEdit="1"/>
              </p:cNvSpPr>
              <p:nvPr>
                <p:ph idx="1"/>
              </p:nvPr>
            </p:nvSpPr>
            <p:spPr>
              <a:xfrm>
                <a:off x="457200" y="1285875"/>
                <a:ext cx="8229600" cy="4870692"/>
              </a:xfrm>
              <a:blipFill>
                <a:blip r:embed="rId3"/>
                <a:stretch>
                  <a:fillRect l="-963" t="-751" r="-1111"/>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7AE53779-DC00-4000-BD85-9BFBA5D92FF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D0B8B96-2AA1-4DE1-8AC7-D9439B464D02}"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72</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 name="矩形 1"/>
              <p:cNvSpPr/>
              <p:nvPr/>
            </p:nvSpPr>
            <p:spPr>
              <a:xfrm>
                <a:off x="1259632" y="6273354"/>
                <a:ext cx="882165" cy="396006"/>
              </a:xfrm>
              <a:prstGeom prst="rect">
                <a:avLst/>
              </a:prstGeom>
            </p:spPr>
            <p:txBody>
              <a:bodyPr wrap="none">
                <a:spAutoFit/>
              </a:bodyPr>
              <a:lstStyle/>
              <a:p>
                <a14:m>
                  <m:oMath xmlns:m="http://schemas.openxmlformats.org/officeDocument/2006/math">
                    <m:sSub>
                      <m:sSubPr>
                        <m:ctrlPr>
                          <a:rPr lang="en-US" altLang="zh-CN" i="1" smtClean="0">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𝑦</m:t>
                        </m:r>
                      </m:e>
                      <m:sub>
                        <m:r>
                          <a:rPr lang="en-US" altLang="zh-CN"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𝑁</m:t>
                        </m:r>
                        <m:r>
                          <a:rPr lang="en-US" altLang="zh-CN"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𝑘</m:t>
                        </m:r>
                        <m:r>
                          <a:rPr lang="en-US" altLang="zh-CN" i="1">
                            <a:solidFill>
                              <a:srgbClr val="000000"/>
                            </a:solidFill>
                            <a:latin typeface="Cambria Math" panose="02040503050406030204" pitchFamily="18" charset="0"/>
                          </a:rPr>
                          <m:t>)</m:t>
                        </m:r>
                      </m:sub>
                    </m:sSub>
                  </m:oMath>
                </a14:m>
                <a:r>
                  <a:rPr lang="zh-CN" altLang="en-US" dirty="0" smtClean="0"/>
                  <a:t> </a:t>
                </a:r>
                <a:endParaRPr lang="zh-CN" altLang="en-US" dirty="0"/>
              </a:p>
            </p:txBody>
          </p:sp>
        </mc:Choice>
        <mc:Fallback xmlns="">
          <p:sp>
            <p:nvSpPr>
              <p:cNvPr id="2" name="矩形 1"/>
              <p:cNvSpPr>
                <a:spLocks noRot="1" noChangeAspect="1" noMove="1" noResize="1" noEditPoints="1" noAdjustHandles="1" noChangeArrowheads="1" noChangeShapeType="1" noTextEdit="1"/>
              </p:cNvSpPr>
              <p:nvPr/>
            </p:nvSpPr>
            <p:spPr>
              <a:xfrm>
                <a:off x="1259632" y="6273354"/>
                <a:ext cx="882165" cy="396006"/>
              </a:xfrm>
              <a:prstGeom prst="rect">
                <a:avLst/>
              </a:prstGeom>
              <a:blipFill>
                <a:blip r:embed="rId4"/>
                <a:stretch>
                  <a:fillRect b="-92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2051720" y="6345669"/>
                <a:ext cx="2487412" cy="369332"/>
              </a:xfrm>
              <a:prstGeom prst="rect">
                <a:avLst/>
              </a:prstGeom>
            </p:spPr>
            <p:txBody>
              <a:bodyPr wrap="none">
                <a:spAutoFit/>
              </a:bodyPr>
              <a:lstStyle/>
              <a:p>
                <a:r>
                  <a:rPr lang="zh-CN" altLang="en-US" dirty="0" smtClean="0"/>
                  <a:t>表示对</a:t>
                </a:r>
                <a:r>
                  <a:rPr lang="en-US" altLang="zh-CN" dirty="0" smtClean="0"/>
                  <a:t>y</a:t>
                </a:r>
                <a:r>
                  <a:rPr lang="zh-CN" altLang="en-US" dirty="0" smtClean="0"/>
                  <a:t>的</a:t>
                </a:r>
                <a14:m>
                  <m:oMath xmlns:m="http://schemas.openxmlformats.org/officeDocument/2006/math">
                    <m:r>
                      <a:rPr lang="en-US" altLang="zh-CN" i="1">
                        <a:solidFill>
                          <a:srgbClr val="000000"/>
                        </a:solidFill>
                        <a:latin typeface="Cambria Math" panose="02040503050406030204" pitchFamily="18" charset="0"/>
                      </a:rPr>
                      <m:t>𝑁</m:t>
                    </m:r>
                    <m:r>
                      <a:rPr lang="en-US" altLang="zh-CN" b="0" i="1" smtClean="0">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k</m:t>
                    </m:r>
                  </m:oMath>
                </a14:m>
                <a:r>
                  <a:rPr lang="zh-CN" altLang="en-US" dirty="0" smtClean="0"/>
                  <a:t>次</a:t>
                </a:r>
                <a:r>
                  <a:rPr lang="zh-CN" altLang="en-US" dirty="0"/>
                  <a:t>积分</a:t>
                </a:r>
              </a:p>
            </p:txBody>
          </p:sp>
        </mc:Choice>
        <mc:Fallback xmlns="">
          <p:sp>
            <p:nvSpPr>
              <p:cNvPr id="3" name="矩形 2"/>
              <p:cNvSpPr>
                <a:spLocks noRot="1" noChangeAspect="1" noMove="1" noResize="1" noEditPoints="1" noAdjustHandles="1" noChangeArrowheads="1" noChangeShapeType="1" noTextEdit="1"/>
              </p:cNvSpPr>
              <p:nvPr/>
            </p:nvSpPr>
            <p:spPr>
              <a:xfrm>
                <a:off x="2051720" y="6345669"/>
                <a:ext cx="2487412" cy="369332"/>
              </a:xfrm>
              <a:prstGeom prst="rect">
                <a:avLst/>
              </a:prstGeom>
              <a:blipFill>
                <a:blip r:embed="rId5"/>
                <a:stretch>
                  <a:fillRect l="-2206" t="-13115" r="-1716" b="-26230"/>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89" name="标题 1">
            <a:extLst>
              <a:ext uri="{FF2B5EF4-FFF2-40B4-BE49-F238E27FC236}">
                <a16:creationId xmlns:a16="http://schemas.microsoft.com/office/drawing/2014/main" id="{E41577D2-CCE4-433A-A767-291D823E3DDE}"/>
              </a:ext>
            </a:extLst>
          </p:cNvPr>
          <p:cNvSpPr>
            <a:spLocks noGrp="1"/>
          </p:cNvSpPr>
          <p:nvPr>
            <p:ph type="title"/>
          </p:nvPr>
        </p:nvSpPr>
        <p:spPr/>
        <p:txBody>
          <a:bodyPr/>
          <a:lstStyle/>
          <a:p>
            <a:r>
              <a:rPr lang="en-US" altLang="zh-CN" sz="3200">
                <a:solidFill>
                  <a:srgbClr val="000000"/>
                </a:solidFill>
              </a:rPr>
              <a:t>2.4 </a:t>
            </a:r>
            <a:r>
              <a:rPr lang="zh-CN" altLang="en-US" sz="3200">
                <a:solidFill>
                  <a:srgbClr val="000000"/>
                </a:solidFill>
              </a:rPr>
              <a:t>用微分和差分方程描述的因果</a:t>
            </a:r>
            <a:r>
              <a:rPr lang="en-US" altLang="zh-CN" sz="3200">
                <a:solidFill>
                  <a:srgbClr val="000000"/>
                </a:solidFill>
              </a:rPr>
              <a:t>LTI</a:t>
            </a:r>
            <a:r>
              <a:rPr lang="zh-CN" altLang="en-US" sz="3200">
                <a:solidFill>
                  <a:srgbClr val="000000"/>
                </a:solidFill>
              </a:rPr>
              <a:t>系统</a:t>
            </a:r>
            <a:endParaRPr lang="zh-CN" altLang="en-US"/>
          </a:p>
        </p:txBody>
      </p:sp>
      <p:sp useBgFill="1">
        <p:nvSpPr>
          <p:cNvPr id="23590" name="内容占位符 2">
            <a:extLst>
              <a:ext uri="{FF2B5EF4-FFF2-40B4-BE49-F238E27FC236}">
                <a16:creationId xmlns:a16="http://schemas.microsoft.com/office/drawing/2014/main" id="{5567BBCC-C2C0-46DE-859A-C129BB66FDF8}"/>
              </a:ext>
            </a:extLst>
          </p:cNvPr>
          <p:cNvSpPr>
            <a:spLocks noGrp="1"/>
          </p:cNvSpPr>
          <p:nvPr>
            <p:ph idx="1"/>
          </p:nvPr>
        </p:nvSpPr>
        <p:spPr>
          <a:xfrm>
            <a:off x="457200" y="1285875"/>
            <a:ext cx="8229600" cy="461665"/>
          </a:xfrm>
        </p:spPr>
        <p:txBody>
          <a:bodyPr>
            <a:spAutoFit/>
          </a:bodyPr>
          <a:lstStyle/>
          <a:p>
            <a:r>
              <a:rPr lang="zh-CN" altLang="en-US" sz="2400" b="0" dirty="0"/>
              <a:t>对此积分方程完全按照差分方程的办法有：</a:t>
            </a:r>
          </a:p>
        </p:txBody>
      </p:sp>
      <p:sp>
        <p:nvSpPr>
          <p:cNvPr id="4" name="灯片编号占位符 3">
            <a:extLst>
              <a:ext uri="{FF2B5EF4-FFF2-40B4-BE49-F238E27FC236}">
                <a16:creationId xmlns:a16="http://schemas.microsoft.com/office/drawing/2014/main" id="{797220E5-7A37-456A-9D9B-AC363596D57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43BA2B3-8111-48E3-BFFB-4C6D7CE291AE}"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73</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65538" name="Object 2">
                <a:extLst>
                  <a:ext uri="{FF2B5EF4-FFF2-40B4-BE49-F238E27FC236}">
                    <a16:creationId xmlns:a16="http://schemas.microsoft.com/office/drawing/2014/main" id="{92266712-D612-417A-AC33-4466F5270B81}"/>
                  </a:ext>
                </a:extLst>
              </p:cNvPr>
              <p:cNvSpPr txBox="1"/>
              <p:nvPr/>
            </p:nvSpPr>
            <p:spPr bwMode="auto">
              <a:xfrm>
                <a:off x="1392427" y="1786680"/>
                <a:ext cx="6651065" cy="1484574"/>
              </a:xfrm>
              <a:prstGeom prst="rect">
                <a:avLst/>
              </a:prstGeom>
              <a:noFill/>
              <a:ln>
                <a:noFill/>
              </a:ln>
              <a:effectLst/>
            </p:spPr>
            <p:txBody>
              <a:bodyPr>
                <a:spAutoFit/>
              </a:bodyPr>
              <a:lstStyle/>
              <a:p>
                <a:pPr/>
                <a14:m>
                  <m:oMathPara xmlns:m="http://schemas.openxmlformats.org/officeDocument/2006/math">
                    <m:oMathParaPr>
                      <m:jc m:val="center"/>
                    </m:oMathParaPr>
                    <m:oMath xmlns:m="http://schemas.openxmlformats.org/officeDocument/2006/math">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𝑁</m:t>
                              </m:r>
                            </m:sub>
                          </m:sSub>
                        </m:den>
                      </m:f>
                      <m:d>
                        <m:dPr>
                          <m:ctrlPr>
                            <a:rPr lang="en-US" sz="2400" i="1" smtClean="0">
                              <a:solidFill>
                                <a:srgbClr val="000000"/>
                              </a:solidFill>
                              <a:latin typeface="Cambria Math" panose="02040503050406030204" pitchFamily="18" charset="0"/>
                            </a:rPr>
                          </m:ctrlPr>
                        </m:dPr>
                        <m:e>
                          <m:limLow>
                            <m:limLowPr>
                              <m:ctrlPr>
                                <a:rPr lang="en-US" sz="2400" i="1">
                                  <a:solidFill>
                                    <a:srgbClr val="FF0080"/>
                                  </a:solidFill>
                                  <a:latin typeface="Cambria Math" panose="02040503050406030204" pitchFamily="18" charset="0"/>
                                </a:rPr>
                              </m:ctrlPr>
                            </m:limLowPr>
                            <m:e>
                              <m:groupChr>
                                <m:groupChrPr>
                                  <m:chr m:val="⏟"/>
                                  <m:ctrlPr>
                                    <a:rPr lang="en-US" sz="2400" i="1">
                                      <a:solidFill>
                                        <a:srgbClr val="FF0080"/>
                                      </a:solidFill>
                                      <a:latin typeface="Cambria Math" panose="02040503050406030204" pitchFamily="18" charset="0"/>
                                    </a:rPr>
                                  </m:ctrlPr>
                                </m:groupChrPr>
                                <m:e>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=0</m:t>
                                      </m:r>
                                    </m:sub>
                                    <m:sup>
                                      <m:r>
                                        <a:rPr lang="en-US" sz="2400" i="1">
                                          <a:solidFill>
                                            <a:srgbClr val="000000"/>
                                          </a:solidFill>
                                          <a:latin typeface="Cambria Math" panose="02040503050406030204" pitchFamily="18" charset="0"/>
                                        </a:rPr>
                                        <m:t>𝑀</m:t>
                                      </m:r>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𝑏</m:t>
                                          </m:r>
                                        </m:e>
                                        <m:sub>
                                          <m:r>
                                            <a:rPr lang="en-US" sz="2400" i="1">
                                              <a:solidFill>
                                                <a:srgbClr val="000000"/>
                                              </a:solidFill>
                                              <a:latin typeface="Cambria Math" panose="02040503050406030204" pitchFamily="18" charset="0"/>
                                            </a:rPr>
                                            <m:t>𝑘</m:t>
                                          </m:r>
                                        </m:sub>
                                      </m:sSub>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e>
                                  </m:nary>
                                </m:e>
                              </m:groupChr>
                            </m:e>
                            <m:lim>
                              <m:r>
                                <a:rPr lang="en-US" sz="2400" i="1">
                                  <a:solidFill>
                                    <a:srgbClr val="FF0080"/>
                                  </a:solidFill>
                                  <a:latin typeface="Cambria Math" panose="02040503050406030204" pitchFamily="18" charset="0"/>
                                </a:rPr>
                                <m:t>𝑤</m:t>
                              </m:r>
                              <m:r>
                                <a:rPr lang="en-US" sz="2400" i="1">
                                  <a:solidFill>
                                    <a:srgbClr val="FF0080"/>
                                  </a:solidFill>
                                  <a:latin typeface="Cambria Math" panose="02040503050406030204" pitchFamily="18" charset="0"/>
                                </a:rPr>
                                <m:t>(</m:t>
                              </m:r>
                              <m:r>
                                <a:rPr lang="en-US" sz="2400" i="1">
                                  <a:solidFill>
                                    <a:srgbClr val="FF0080"/>
                                  </a:solidFill>
                                  <a:latin typeface="Cambria Math" panose="02040503050406030204" pitchFamily="18" charset="0"/>
                                </a:rPr>
                                <m:t>𝑡</m:t>
                              </m:r>
                              <m:r>
                                <a:rPr lang="en-US" sz="2400" i="1">
                                  <a:solidFill>
                                    <a:srgbClr val="FF0080"/>
                                  </a:solidFill>
                                  <a:latin typeface="Cambria Math" panose="02040503050406030204" pitchFamily="18" charset="0"/>
                                </a:rPr>
                                <m:t>)</m:t>
                              </m:r>
                            </m:lim>
                          </m:limLow>
                          <m:r>
                            <m:rPr>
                              <m:nor/>
                            </m:rPr>
                            <a:rPr lang="en-US" sz="2400" dirty="0"/>
                            <m:t> </m:t>
                          </m:r>
                          <m: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=0</m:t>
                              </m:r>
                            </m:sub>
                            <m:sup>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−1</m:t>
                              </m:r>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e>
                          </m:nary>
                        </m:e>
                      </m:d>
                    </m:oMath>
                  </m:oMathPara>
                </a14:m>
                <a:endParaRPr lang="en-US" sz="2400" dirty="0"/>
              </a:p>
            </p:txBody>
          </p:sp>
        </mc:Choice>
        <mc:Fallback xmlns="">
          <p:sp>
            <p:nvSpPr>
              <p:cNvPr id="65538" name="Object 2">
                <a:extLst>
                  <a:ext uri="{FF2B5EF4-FFF2-40B4-BE49-F238E27FC236}">
                    <a16:creationId xmlns:a16="http://schemas.microsoft.com/office/drawing/2014/main" id="{92266712-D612-417A-AC33-4466F5270B81}"/>
                  </a:ext>
                </a:extLst>
              </p:cNvPr>
              <p:cNvSpPr txBox="1">
                <a:spLocks noRot="1" noChangeAspect="1" noMove="1" noResize="1" noEditPoints="1" noAdjustHandles="1" noChangeArrowheads="1" noChangeShapeType="1" noTextEdit="1"/>
              </p:cNvSpPr>
              <p:nvPr/>
            </p:nvSpPr>
            <p:spPr bwMode="auto">
              <a:xfrm>
                <a:off x="1392427" y="1786680"/>
                <a:ext cx="6651065" cy="1484574"/>
              </a:xfrm>
              <a:prstGeom prst="rect">
                <a:avLst/>
              </a:prstGeom>
              <a:blipFill>
                <a:blip r:embed="rId3"/>
                <a:stretch>
                  <a:fillRect/>
                </a:stretch>
              </a:blipFill>
              <a:ln>
                <a:noFill/>
              </a:ln>
              <a:effectLst/>
            </p:spPr>
            <p:txBody>
              <a:bodyPr/>
              <a:lstStyle/>
              <a:p>
                <a:r>
                  <a:rPr lang="en-US">
                    <a:noFill/>
                  </a:rPr>
                  <a:t> </a:t>
                </a:r>
              </a:p>
            </p:txBody>
          </p:sp>
        </mc:Fallback>
      </mc:AlternateContent>
      <p:grpSp>
        <p:nvGrpSpPr>
          <p:cNvPr id="2" name="Group 4">
            <a:extLst>
              <a:ext uri="{FF2B5EF4-FFF2-40B4-BE49-F238E27FC236}">
                <a16:creationId xmlns:a16="http://schemas.microsoft.com/office/drawing/2014/main" id="{86285834-932A-4BFD-AEC8-AFB73815DE84}"/>
              </a:ext>
            </a:extLst>
          </p:cNvPr>
          <p:cNvGrpSpPr>
            <a:grpSpLocks/>
          </p:cNvGrpSpPr>
          <p:nvPr/>
        </p:nvGrpSpPr>
        <p:grpSpPr bwMode="auto">
          <a:xfrm>
            <a:off x="5233050" y="3219557"/>
            <a:ext cx="3103489" cy="3370764"/>
            <a:chOff x="3552" y="1910"/>
            <a:chExt cx="1785" cy="1995"/>
          </a:xfrm>
        </p:grpSpPr>
        <mc:AlternateContent xmlns:mc="http://schemas.openxmlformats.org/markup-compatibility/2006" xmlns:a14="http://schemas.microsoft.com/office/drawing/2010/main">
          <mc:Choice Requires="a14">
            <p:sp>
              <p:nvSpPr>
                <p:cNvPr id="23573" name="Object 5">
                  <a:extLst>
                    <a:ext uri="{FF2B5EF4-FFF2-40B4-BE49-F238E27FC236}">
                      <a16:creationId xmlns:a16="http://schemas.microsoft.com/office/drawing/2014/main" id="{786AB8EB-2DB1-4D6E-8777-B5D7256D921E}"/>
                    </a:ext>
                  </a:extLst>
                </p:cNvPr>
                <p:cNvSpPr txBox="1"/>
                <p:nvPr/>
              </p:nvSpPr>
              <p:spPr bwMode="auto">
                <a:xfrm>
                  <a:off x="3552" y="1918"/>
                  <a:ext cx="427" cy="27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𝑤</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3573" name="Object 5">
                  <a:extLst>
                    <a:ext uri="{FF2B5EF4-FFF2-40B4-BE49-F238E27FC236}">
                      <a16:creationId xmlns:a16="http://schemas.microsoft.com/office/drawing/2014/main" id="{786AB8EB-2DB1-4D6E-8777-B5D7256D921E}"/>
                    </a:ext>
                  </a:extLst>
                </p:cNvPr>
                <p:cNvSpPr txBox="1">
                  <a:spLocks noRot="1" noChangeAspect="1" noMove="1" noResize="1" noEditPoints="1" noAdjustHandles="1" noChangeArrowheads="1" noChangeShapeType="1" noTextEdit="1"/>
                </p:cNvSpPr>
                <p:nvPr/>
              </p:nvSpPr>
              <p:spPr bwMode="auto">
                <a:xfrm>
                  <a:off x="3552" y="1918"/>
                  <a:ext cx="427" cy="273"/>
                </a:xfrm>
                <a:prstGeom prst="rect">
                  <a:avLst/>
                </a:prstGeom>
                <a:blipFill>
                  <a:blip r:embed="rId4"/>
                  <a:stretch>
                    <a:fillRect r="-14754"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74" name="Object 6">
                  <a:extLst>
                    <a:ext uri="{FF2B5EF4-FFF2-40B4-BE49-F238E27FC236}">
                      <a16:creationId xmlns:a16="http://schemas.microsoft.com/office/drawing/2014/main" id="{947B66F9-AECC-4626-A0C5-99AC31CA8168}"/>
                    </a:ext>
                  </a:extLst>
                </p:cNvPr>
                <p:cNvSpPr txBox="1"/>
                <p:nvPr/>
              </p:nvSpPr>
              <p:spPr bwMode="auto">
                <a:xfrm>
                  <a:off x="4922" y="1910"/>
                  <a:ext cx="415" cy="27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3574" name="Object 6">
                  <a:extLst>
                    <a:ext uri="{FF2B5EF4-FFF2-40B4-BE49-F238E27FC236}">
                      <a16:creationId xmlns:a16="http://schemas.microsoft.com/office/drawing/2014/main" id="{947B66F9-AECC-4626-A0C5-99AC31CA8168}"/>
                    </a:ext>
                  </a:extLst>
                </p:cNvPr>
                <p:cNvSpPr txBox="1">
                  <a:spLocks noRot="1" noChangeAspect="1" noMove="1" noResize="1" noEditPoints="1" noAdjustHandles="1" noChangeArrowheads="1" noChangeShapeType="1" noTextEdit="1"/>
                </p:cNvSpPr>
                <p:nvPr/>
              </p:nvSpPr>
              <p:spPr bwMode="auto">
                <a:xfrm>
                  <a:off x="4922" y="1910"/>
                  <a:ext cx="415" cy="273"/>
                </a:xfrm>
                <a:prstGeom prst="rect">
                  <a:avLst/>
                </a:prstGeom>
                <a:blipFill>
                  <a:blip r:embed="rId5"/>
                  <a:stretch>
                    <a:fillRect l="-2521" r="-10084"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75" name="Object 7">
                  <a:extLst>
                    <a:ext uri="{FF2B5EF4-FFF2-40B4-BE49-F238E27FC236}">
                      <a16:creationId xmlns:a16="http://schemas.microsoft.com/office/drawing/2014/main" id="{FE0BE85C-BB6C-4713-8578-E2F594415A5F}"/>
                    </a:ext>
                  </a:extLst>
                </p:cNvPr>
                <p:cNvSpPr txBox="1"/>
                <p:nvPr/>
              </p:nvSpPr>
              <p:spPr bwMode="auto">
                <a:xfrm>
                  <a:off x="4197" y="1910"/>
                  <a:ext cx="499" cy="27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1/</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𝑁</m:t>
                            </m:r>
                          </m:sub>
                        </m:sSub>
                      </m:oMath>
                    </m:oMathPara>
                  </a14:m>
                  <a:endParaRPr lang="en-US" sz="2400" dirty="0"/>
                </a:p>
              </p:txBody>
            </p:sp>
          </mc:Choice>
          <mc:Fallback xmlns="">
            <p:sp>
              <p:nvSpPr>
                <p:cNvPr id="23575" name="Object 7">
                  <a:extLst>
                    <a:ext uri="{FF2B5EF4-FFF2-40B4-BE49-F238E27FC236}">
                      <a16:creationId xmlns:a16="http://schemas.microsoft.com/office/drawing/2014/main" id="{FE0BE85C-BB6C-4713-8578-E2F594415A5F}"/>
                    </a:ext>
                  </a:extLst>
                </p:cNvPr>
                <p:cNvSpPr txBox="1">
                  <a:spLocks noRot="1" noChangeAspect="1" noMove="1" noResize="1" noEditPoints="1" noAdjustHandles="1" noChangeArrowheads="1" noChangeShapeType="1" noTextEdit="1"/>
                </p:cNvSpPr>
                <p:nvPr/>
              </p:nvSpPr>
              <p:spPr bwMode="auto">
                <a:xfrm>
                  <a:off x="4197" y="1910"/>
                  <a:ext cx="499" cy="273"/>
                </a:xfrm>
                <a:prstGeom prst="rect">
                  <a:avLst/>
                </a:prstGeom>
                <a:blipFill>
                  <a:blip r:embed="rId6"/>
                  <a:stretch>
                    <a:fillRect l="-1399" b="-19737"/>
                  </a:stretch>
                </a:blipFill>
                <a:ln>
                  <a:noFill/>
                </a:ln>
                <a:effectLst/>
              </p:spPr>
              <p:txBody>
                <a:bodyPr/>
                <a:lstStyle/>
                <a:p>
                  <a:r>
                    <a:rPr lang="en-US">
                      <a:noFill/>
                    </a:rPr>
                    <a:t> </a:t>
                  </a:r>
                </a:p>
              </p:txBody>
            </p:sp>
          </mc:Fallback>
        </mc:AlternateContent>
        <p:sp>
          <p:nvSpPr>
            <p:cNvPr id="23624" name="Line 8">
              <a:extLst>
                <a:ext uri="{FF2B5EF4-FFF2-40B4-BE49-F238E27FC236}">
                  <a16:creationId xmlns:a16="http://schemas.microsoft.com/office/drawing/2014/main" id="{13F49989-866C-449B-AA05-AAD9A0C8185B}"/>
                </a:ext>
              </a:extLst>
            </p:cNvPr>
            <p:cNvSpPr>
              <a:spLocks noChangeShapeType="1"/>
            </p:cNvSpPr>
            <p:nvPr/>
          </p:nvSpPr>
          <p:spPr bwMode="auto">
            <a:xfrm>
              <a:off x="4823" y="2196"/>
              <a:ext cx="0" cy="15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25" name="Line 9">
              <a:extLst>
                <a:ext uri="{FF2B5EF4-FFF2-40B4-BE49-F238E27FC236}">
                  <a16:creationId xmlns:a16="http://schemas.microsoft.com/office/drawing/2014/main" id="{50520176-1E43-4606-8148-910CC314F0C7}"/>
                </a:ext>
              </a:extLst>
            </p:cNvPr>
            <p:cNvSpPr>
              <a:spLocks noChangeShapeType="1"/>
            </p:cNvSpPr>
            <p:nvPr/>
          </p:nvSpPr>
          <p:spPr bwMode="auto">
            <a:xfrm>
              <a:off x="4823" y="2576"/>
              <a:ext cx="0" cy="15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3576" name="Object 10">
                  <a:extLst>
                    <a:ext uri="{FF2B5EF4-FFF2-40B4-BE49-F238E27FC236}">
                      <a16:creationId xmlns:a16="http://schemas.microsoft.com/office/drawing/2014/main" id="{2EB3E5D4-DF2E-4847-9D7F-0378239A72F9}"/>
                    </a:ext>
                  </a:extLst>
                </p:cNvPr>
                <p:cNvSpPr txBox="1"/>
                <p:nvPr/>
              </p:nvSpPr>
              <p:spPr bwMode="auto">
                <a:xfrm>
                  <a:off x="4743" y="3107"/>
                  <a:ext cx="141" cy="314"/>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3576" name="Object 10">
                  <a:extLst>
                    <a:ext uri="{FF2B5EF4-FFF2-40B4-BE49-F238E27FC236}">
                      <a16:creationId xmlns:a16="http://schemas.microsoft.com/office/drawing/2014/main" id="{2EB3E5D4-DF2E-4847-9D7F-0378239A72F9}"/>
                    </a:ext>
                  </a:extLst>
                </p:cNvPr>
                <p:cNvSpPr txBox="1">
                  <a:spLocks noRot="1" noChangeAspect="1" noMove="1" noResize="1" noEditPoints="1" noAdjustHandles="1" noChangeArrowheads="1" noChangeShapeType="1" noTextEdit="1"/>
                </p:cNvSpPr>
                <p:nvPr/>
              </p:nvSpPr>
              <p:spPr bwMode="auto">
                <a:xfrm>
                  <a:off x="4743" y="3107"/>
                  <a:ext cx="141" cy="314"/>
                </a:xfrm>
                <a:prstGeom prst="rect">
                  <a:avLst/>
                </a:prstGeom>
                <a:blipFill>
                  <a:blip r:embed="rId7"/>
                  <a:stretch>
                    <a:fillRect l="-2500" r="-20000"/>
                  </a:stretch>
                </a:blipFill>
                <a:ln>
                  <a:noFill/>
                </a:ln>
                <a:effectLst/>
              </p:spPr>
              <p:txBody>
                <a:bodyPr/>
                <a:lstStyle/>
                <a:p>
                  <a:r>
                    <a:rPr lang="en-US">
                      <a:noFill/>
                    </a:rPr>
                    <a:t> </a:t>
                  </a:r>
                </a:p>
              </p:txBody>
            </p:sp>
          </mc:Fallback>
        </mc:AlternateContent>
        <p:sp>
          <p:nvSpPr>
            <p:cNvPr id="23626" name="Line 11">
              <a:extLst>
                <a:ext uri="{FF2B5EF4-FFF2-40B4-BE49-F238E27FC236}">
                  <a16:creationId xmlns:a16="http://schemas.microsoft.com/office/drawing/2014/main" id="{D3D3A467-8F6B-43DE-BAAB-FD2A9747E69E}"/>
                </a:ext>
              </a:extLst>
            </p:cNvPr>
            <p:cNvSpPr>
              <a:spLocks noChangeShapeType="1"/>
            </p:cNvSpPr>
            <p:nvPr/>
          </p:nvSpPr>
          <p:spPr bwMode="auto">
            <a:xfrm>
              <a:off x="4823" y="2956"/>
              <a:ext cx="0" cy="15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27" name="Line 12">
              <a:extLst>
                <a:ext uri="{FF2B5EF4-FFF2-40B4-BE49-F238E27FC236}">
                  <a16:creationId xmlns:a16="http://schemas.microsoft.com/office/drawing/2014/main" id="{1B249156-7208-4819-BF32-614A51B5EEE9}"/>
                </a:ext>
              </a:extLst>
            </p:cNvPr>
            <p:cNvSpPr>
              <a:spLocks noChangeShapeType="1"/>
            </p:cNvSpPr>
            <p:nvPr/>
          </p:nvSpPr>
          <p:spPr bwMode="auto">
            <a:xfrm>
              <a:off x="4823" y="3374"/>
              <a:ext cx="0" cy="15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28" name="Line 13">
              <a:extLst>
                <a:ext uri="{FF2B5EF4-FFF2-40B4-BE49-F238E27FC236}">
                  <a16:creationId xmlns:a16="http://schemas.microsoft.com/office/drawing/2014/main" id="{9864CF03-E066-439A-9D40-C14A1B8A1FEF}"/>
                </a:ext>
              </a:extLst>
            </p:cNvPr>
            <p:cNvSpPr>
              <a:spLocks noChangeShapeType="1"/>
            </p:cNvSpPr>
            <p:nvPr/>
          </p:nvSpPr>
          <p:spPr bwMode="auto">
            <a:xfrm>
              <a:off x="4823" y="3753"/>
              <a:ext cx="0" cy="15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3577" name="Object 14">
                  <a:extLst>
                    <a:ext uri="{FF2B5EF4-FFF2-40B4-BE49-F238E27FC236}">
                      <a16:creationId xmlns:a16="http://schemas.microsoft.com/office/drawing/2014/main" id="{3EA3B6EB-A36A-4417-BABF-E6FF1DD08836}"/>
                    </a:ext>
                  </a:extLst>
                </p:cNvPr>
                <p:cNvSpPr txBox="1"/>
                <p:nvPr/>
              </p:nvSpPr>
              <p:spPr bwMode="auto">
                <a:xfrm>
                  <a:off x="3966" y="2053"/>
                  <a:ext cx="249" cy="273"/>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3577" name="Object 14">
                  <a:extLst>
                    <a:ext uri="{FF2B5EF4-FFF2-40B4-BE49-F238E27FC236}">
                      <a16:creationId xmlns:a16="http://schemas.microsoft.com/office/drawing/2014/main" id="{3EA3B6EB-A36A-4417-BABF-E6FF1DD08836}"/>
                    </a:ext>
                  </a:extLst>
                </p:cNvPr>
                <p:cNvSpPr txBox="1">
                  <a:spLocks noRot="1" noChangeAspect="1" noMove="1" noResize="1" noEditPoints="1" noAdjustHandles="1" noChangeArrowheads="1" noChangeShapeType="1" noTextEdit="1"/>
                </p:cNvSpPr>
                <p:nvPr/>
              </p:nvSpPr>
              <p:spPr bwMode="auto">
                <a:xfrm>
                  <a:off x="3966" y="2053"/>
                  <a:ext cx="249" cy="273"/>
                </a:xfrm>
                <a:prstGeom prst="rect">
                  <a:avLst/>
                </a:prstGeom>
                <a:blipFill>
                  <a:blip r:embed="rId8"/>
                  <a:stretch>
                    <a:fillRect l="-9859" r="-21127" b="-13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78" name="Object 15">
                  <a:extLst>
                    <a:ext uri="{FF2B5EF4-FFF2-40B4-BE49-F238E27FC236}">
                      <a16:creationId xmlns:a16="http://schemas.microsoft.com/office/drawing/2014/main" id="{901C2F8D-865E-406E-AD8A-54A20C0056C3}"/>
                    </a:ext>
                  </a:extLst>
                </p:cNvPr>
                <p:cNvSpPr txBox="1"/>
                <p:nvPr/>
              </p:nvSpPr>
              <p:spPr bwMode="auto">
                <a:xfrm>
                  <a:off x="3968" y="2500"/>
                  <a:ext cx="234" cy="273"/>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3578" name="Object 15">
                  <a:extLst>
                    <a:ext uri="{FF2B5EF4-FFF2-40B4-BE49-F238E27FC236}">
                      <a16:creationId xmlns:a16="http://schemas.microsoft.com/office/drawing/2014/main" id="{901C2F8D-865E-406E-AD8A-54A20C0056C3}"/>
                    </a:ext>
                  </a:extLst>
                </p:cNvPr>
                <p:cNvSpPr txBox="1">
                  <a:spLocks noRot="1" noChangeAspect="1" noMove="1" noResize="1" noEditPoints="1" noAdjustHandles="1" noChangeArrowheads="1" noChangeShapeType="1" noTextEdit="1"/>
                </p:cNvSpPr>
                <p:nvPr/>
              </p:nvSpPr>
              <p:spPr bwMode="auto">
                <a:xfrm>
                  <a:off x="3968" y="2500"/>
                  <a:ext cx="234" cy="273"/>
                </a:xfrm>
                <a:prstGeom prst="rect">
                  <a:avLst/>
                </a:prstGeom>
                <a:blipFill>
                  <a:blip r:embed="rId9"/>
                  <a:stretch>
                    <a:fillRect l="-8955" r="-29851" b="-13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79" name="Object 16">
                  <a:extLst>
                    <a:ext uri="{FF2B5EF4-FFF2-40B4-BE49-F238E27FC236}">
                      <a16:creationId xmlns:a16="http://schemas.microsoft.com/office/drawing/2014/main" id="{2C994EC1-85D7-4BC5-9FC6-1A6A7F65E858}"/>
                    </a:ext>
                  </a:extLst>
                </p:cNvPr>
                <p:cNvSpPr txBox="1"/>
                <p:nvPr/>
              </p:nvSpPr>
              <p:spPr bwMode="auto">
                <a:xfrm>
                  <a:off x="3966" y="2884"/>
                  <a:ext cx="257" cy="27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3579" name="Object 16">
                  <a:extLst>
                    <a:ext uri="{FF2B5EF4-FFF2-40B4-BE49-F238E27FC236}">
                      <a16:creationId xmlns:a16="http://schemas.microsoft.com/office/drawing/2014/main" id="{2C994EC1-85D7-4BC5-9FC6-1A6A7F65E858}"/>
                    </a:ext>
                  </a:extLst>
                </p:cNvPr>
                <p:cNvSpPr txBox="1">
                  <a:spLocks noRot="1" noChangeAspect="1" noMove="1" noResize="1" noEditPoints="1" noAdjustHandles="1" noChangeArrowheads="1" noChangeShapeType="1" noTextEdit="1"/>
                </p:cNvSpPr>
                <p:nvPr/>
              </p:nvSpPr>
              <p:spPr bwMode="auto">
                <a:xfrm>
                  <a:off x="3966" y="2884"/>
                  <a:ext cx="257" cy="273"/>
                </a:xfrm>
                <a:prstGeom prst="rect">
                  <a:avLst/>
                </a:prstGeom>
                <a:blipFill>
                  <a:blip r:embed="rId10"/>
                  <a:stretch>
                    <a:fillRect l="-9589" r="-17808" b="-1184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80" name="Object 17">
                  <a:extLst>
                    <a:ext uri="{FF2B5EF4-FFF2-40B4-BE49-F238E27FC236}">
                      <a16:creationId xmlns:a16="http://schemas.microsoft.com/office/drawing/2014/main" id="{F13F2A50-0F22-4310-B32E-07790209AD5F}"/>
                    </a:ext>
                  </a:extLst>
                </p:cNvPr>
                <p:cNvSpPr txBox="1"/>
                <p:nvPr/>
              </p:nvSpPr>
              <p:spPr bwMode="auto">
                <a:xfrm>
                  <a:off x="3967" y="3299"/>
                  <a:ext cx="257" cy="277"/>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3580" name="Object 17">
                  <a:extLst>
                    <a:ext uri="{FF2B5EF4-FFF2-40B4-BE49-F238E27FC236}">
                      <a16:creationId xmlns:a16="http://schemas.microsoft.com/office/drawing/2014/main" id="{F13F2A50-0F22-4310-B32E-07790209AD5F}"/>
                    </a:ext>
                  </a:extLst>
                </p:cNvPr>
                <p:cNvSpPr txBox="1">
                  <a:spLocks noRot="1" noChangeAspect="1" noMove="1" noResize="1" noEditPoints="1" noAdjustHandles="1" noChangeArrowheads="1" noChangeShapeType="1" noTextEdit="1"/>
                </p:cNvSpPr>
                <p:nvPr/>
              </p:nvSpPr>
              <p:spPr bwMode="auto">
                <a:xfrm>
                  <a:off x="3967" y="3299"/>
                  <a:ext cx="257" cy="277"/>
                </a:xfrm>
                <a:prstGeom prst="rect">
                  <a:avLst/>
                </a:prstGeom>
                <a:blipFill>
                  <a:blip r:embed="rId11"/>
                  <a:stretch>
                    <a:fillRect l="-9589" r="-17808" b="-10390"/>
                  </a:stretch>
                </a:blipFill>
                <a:ln>
                  <a:noFill/>
                </a:ln>
                <a:effectLst/>
              </p:spPr>
              <p:txBody>
                <a:bodyPr/>
                <a:lstStyle/>
                <a:p>
                  <a:r>
                    <a:rPr lang="en-US">
                      <a:noFill/>
                    </a:rPr>
                    <a:t> </a:t>
                  </a:r>
                </a:p>
              </p:txBody>
            </p:sp>
          </mc:Fallback>
        </mc:AlternateContent>
        <p:sp>
          <p:nvSpPr>
            <p:cNvPr id="23629" name="Line 18">
              <a:extLst>
                <a:ext uri="{FF2B5EF4-FFF2-40B4-BE49-F238E27FC236}">
                  <a16:creationId xmlns:a16="http://schemas.microsoft.com/office/drawing/2014/main" id="{CBC0BED1-7BC8-4663-A454-48843442EA13}"/>
                </a:ext>
              </a:extLst>
            </p:cNvPr>
            <p:cNvSpPr>
              <a:spLocks noChangeShapeType="1"/>
            </p:cNvSpPr>
            <p:nvPr/>
          </p:nvSpPr>
          <p:spPr bwMode="auto">
            <a:xfrm>
              <a:off x="4101" y="2272"/>
              <a:ext cx="0" cy="304"/>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30" name="Line 19">
              <a:extLst>
                <a:ext uri="{FF2B5EF4-FFF2-40B4-BE49-F238E27FC236}">
                  <a16:creationId xmlns:a16="http://schemas.microsoft.com/office/drawing/2014/main" id="{8AF0F678-42F7-4D74-95A3-F7E7C4C9F601}"/>
                </a:ext>
              </a:extLst>
            </p:cNvPr>
            <p:cNvSpPr>
              <a:spLocks noChangeShapeType="1"/>
            </p:cNvSpPr>
            <p:nvPr/>
          </p:nvSpPr>
          <p:spPr bwMode="auto">
            <a:xfrm>
              <a:off x="4101" y="2727"/>
              <a:ext cx="0" cy="229"/>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31" name="Line 20">
              <a:extLst>
                <a:ext uri="{FF2B5EF4-FFF2-40B4-BE49-F238E27FC236}">
                  <a16:creationId xmlns:a16="http://schemas.microsoft.com/office/drawing/2014/main" id="{D956E329-A265-4B92-AFF6-68BEBED64AFA}"/>
                </a:ext>
              </a:extLst>
            </p:cNvPr>
            <p:cNvSpPr>
              <a:spLocks noChangeShapeType="1"/>
            </p:cNvSpPr>
            <p:nvPr/>
          </p:nvSpPr>
          <p:spPr bwMode="auto">
            <a:xfrm>
              <a:off x="4101" y="3525"/>
              <a:ext cx="0" cy="38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3581" name="Object 21">
                  <a:extLst>
                    <a:ext uri="{FF2B5EF4-FFF2-40B4-BE49-F238E27FC236}">
                      <a16:creationId xmlns:a16="http://schemas.microsoft.com/office/drawing/2014/main" id="{AA7037D3-6D73-4AEE-A876-03F4F14D69D8}"/>
                    </a:ext>
                  </a:extLst>
                </p:cNvPr>
                <p:cNvSpPr txBox="1"/>
                <p:nvPr/>
              </p:nvSpPr>
              <p:spPr bwMode="auto">
                <a:xfrm>
                  <a:off x="4024" y="3084"/>
                  <a:ext cx="141" cy="314"/>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3581" name="Object 21">
                  <a:extLst>
                    <a:ext uri="{FF2B5EF4-FFF2-40B4-BE49-F238E27FC236}">
                      <a16:creationId xmlns:a16="http://schemas.microsoft.com/office/drawing/2014/main" id="{AA7037D3-6D73-4AEE-A876-03F4F14D69D8}"/>
                    </a:ext>
                  </a:extLst>
                </p:cNvPr>
                <p:cNvSpPr txBox="1">
                  <a:spLocks noRot="1" noChangeAspect="1" noMove="1" noResize="1" noEditPoints="1" noAdjustHandles="1" noChangeArrowheads="1" noChangeShapeType="1" noTextEdit="1"/>
                </p:cNvSpPr>
                <p:nvPr/>
              </p:nvSpPr>
              <p:spPr bwMode="auto">
                <a:xfrm>
                  <a:off x="4024" y="3084"/>
                  <a:ext cx="141" cy="314"/>
                </a:xfrm>
                <a:prstGeom prst="rect">
                  <a:avLst/>
                </a:prstGeom>
                <a:blipFill>
                  <a:blip r:embed="rId12"/>
                  <a:stretch>
                    <a:fillRect l="-2500" r="-20000"/>
                  </a:stretch>
                </a:blipFill>
                <a:ln>
                  <a:noFill/>
                </a:ln>
                <a:effectLst/>
              </p:spPr>
              <p:txBody>
                <a:bodyPr/>
                <a:lstStyle/>
                <a:p>
                  <a:r>
                    <a:rPr lang="en-US">
                      <a:noFill/>
                    </a:rPr>
                    <a:t> </a:t>
                  </a:r>
                </a:p>
              </p:txBody>
            </p:sp>
          </mc:Fallback>
        </mc:AlternateContent>
        <p:sp>
          <p:nvSpPr>
            <p:cNvPr id="23632" name="Line 22">
              <a:extLst>
                <a:ext uri="{FF2B5EF4-FFF2-40B4-BE49-F238E27FC236}">
                  <a16:creationId xmlns:a16="http://schemas.microsoft.com/office/drawing/2014/main" id="{1684EB75-BA61-436D-9CC8-EEC5C7E4D1C2}"/>
                </a:ext>
              </a:extLst>
            </p:cNvPr>
            <p:cNvSpPr>
              <a:spLocks noChangeShapeType="1"/>
            </p:cNvSpPr>
            <p:nvPr/>
          </p:nvSpPr>
          <p:spPr bwMode="auto">
            <a:xfrm>
              <a:off x="3645" y="2196"/>
              <a:ext cx="379"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33" name="Line 23">
              <a:extLst>
                <a:ext uri="{FF2B5EF4-FFF2-40B4-BE49-F238E27FC236}">
                  <a16:creationId xmlns:a16="http://schemas.microsoft.com/office/drawing/2014/main" id="{7C21A14E-5A0F-407C-8AFF-85238155719E}"/>
                </a:ext>
              </a:extLst>
            </p:cNvPr>
            <p:cNvSpPr>
              <a:spLocks noChangeShapeType="1"/>
            </p:cNvSpPr>
            <p:nvPr/>
          </p:nvSpPr>
          <p:spPr bwMode="auto">
            <a:xfrm>
              <a:off x="4150" y="2196"/>
              <a:ext cx="38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34" name="Line 24">
              <a:extLst>
                <a:ext uri="{FF2B5EF4-FFF2-40B4-BE49-F238E27FC236}">
                  <a16:creationId xmlns:a16="http://schemas.microsoft.com/office/drawing/2014/main" id="{D0DEB774-9008-4223-9960-411909534031}"/>
                </a:ext>
              </a:extLst>
            </p:cNvPr>
            <p:cNvSpPr>
              <a:spLocks noChangeShapeType="1"/>
            </p:cNvSpPr>
            <p:nvPr/>
          </p:nvSpPr>
          <p:spPr bwMode="auto">
            <a:xfrm>
              <a:off x="4492" y="2196"/>
              <a:ext cx="3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35" name="Line 25">
              <a:extLst>
                <a:ext uri="{FF2B5EF4-FFF2-40B4-BE49-F238E27FC236}">
                  <a16:creationId xmlns:a16="http://schemas.microsoft.com/office/drawing/2014/main" id="{0A4F2F90-54C4-49E4-8A2D-52CDFA2A633E}"/>
                </a:ext>
              </a:extLst>
            </p:cNvPr>
            <p:cNvSpPr>
              <a:spLocks noChangeShapeType="1"/>
            </p:cNvSpPr>
            <p:nvPr/>
          </p:nvSpPr>
          <p:spPr bwMode="auto">
            <a:xfrm flipH="1">
              <a:off x="4405" y="2652"/>
              <a:ext cx="41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36" name="Line 26">
              <a:extLst>
                <a:ext uri="{FF2B5EF4-FFF2-40B4-BE49-F238E27FC236}">
                  <a16:creationId xmlns:a16="http://schemas.microsoft.com/office/drawing/2014/main" id="{7E73B3C5-E12C-4348-883A-373DC3D8AC50}"/>
                </a:ext>
              </a:extLst>
            </p:cNvPr>
            <p:cNvSpPr>
              <a:spLocks noChangeShapeType="1"/>
            </p:cNvSpPr>
            <p:nvPr/>
          </p:nvSpPr>
          <p:spPr bwMode="auto">
            <a:xfrm flipH="1">
              <a:off x="4139" y="2652"/>
              <a:ext cx="303" cy="0"/>
            </a:xfrm>
            <a:prstGeom prst="line">
              <a:avLst/>
            </a:prstGeom>
            <a:noFill/>
            <a:ln w="25400">
              <a:solidFill>
                <a:schemeClr val="tx1"/>
              </a:solidFill>
              <a:round/>
              <a:headEnd/>
              <a:tailEnd type="none" w="sm" len="lg"/>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37" name="Line 27">
              <a:extLst>
                <a:ext uri="{FF2B5EF4-FFF2-40B4-BE49-F238E27FC236}">
                  <a16:creationId xmlns:a16="http://schemas.microsoft.com/office/drawing/2014/main" id="{067B152B-B086-47AB-9007-8AF4DE26CA4E}"/>
                </a:ext>
              </a:extLst>
            </p:cNvPr>
            <p:cNvSpPr>
              <a:spLocks noChangeShapeType="1"/>
            </p:cNvSpPr>
            <p:nvPr/>
          </p:nvSpPr>
          <p:spPr bwMode="auto">
            <a:xfrm flipH="1">
              <a:off x="4405" y="3031"/>
              <a:ext cx="41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38" name="Line 28">
              <a:extLst>
                <a:ext uri="{FF2B5EF4-FFF2-40B4-BE49-F238E27FC236}">
                  <a16:creationId xmlns:a16="http://schemas.microsoft.com/office/drawing/2014/main" id="{8BECE212-FB8A-4D38-B44C-D4544CE68796}"/>
                </a:ext>
              </a:extLst>
            </p:cNvPr>
            <p:cNvSpPr>
              <a:spLocks noChangeShapeType="1"/>
            </p:cNvSpPr>
            <p:nvPr/>
          </p:nvSpPr>
          <p:spPr bwMode="auto">
            <a:xfrm flipH="1">
              <a:off x="4139" y="3031"/>
              <a:ext cx="303" cy="0"/>
            </a:xfrm>
            <a:prstGeom prst="line">
              <a:avLst/>
            </a:prstGeom>
            <a:noFill/>
            <a:ln w="25400">
              <a:solidFill>
                <a:schemeClr val="tx1"/>
              </a:solidFill>
              <a:round/>
              <a:headEnd/>
              <a:tailEnd type="none" w="sm" len="lg"/>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39" name="Line 29">
              <a:extLst>
                <a:ext uri="{FF2B5EF4-FFF2-40B4-BE49-F238E27FC236}">
                  <a16:creationId xmlns:a16="http://schemas.microsoft.com/office/drawing/2014/main" id="{B359C973-4531-4B4F-B291-ED6050F10F37}"/>
                </a:ext>
              </a:extLst>
            </p:cNvPr>
            <p:cNvSpPr>
              <a:spLocks noChangeShapeType="1"/>
            </p:cNvSpPr>
            <p:nvPr/>
          </p:nvSpPr>
          <p:spPr bwMode="auto">
            <a:xfrm flipH="1">
              <a:off x="4405" y="3449"/>
              <a:ext cx="41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40" name="Line 30">
              <a:extLst>
                <a:ext uri="{FF2B5EF4-FFF2-40B4-BE49-F238E27FC236}">
                  <a16:creationId xmlns:a16="http://schemas.microsoft.com/office/drawing/2014/main" id="{C2C2A9DA-B312-4427-8F6C-F8D7C606F92A}"/>
                </a:ext>
              </a:extLst>
            </p:cNvPr>
            <p:cNvSpPr>
              <a:spLocks noChangeShapeType="1"/>
            </p:cNvSpPr>
            <p:nvPr/>
          </p:nvSpPr>
          <p:spPr bwMode="auto">
            <a:xfrm flipH="1">
              <a:off x="4139" y="3449"/>
              <a:ext cx="303" cy="0"/>
            </a:xfrm>
            <a:prstGeom prst="line">
              <a:avLst/>
            </a:prstGeom>
            <a:noFill/>
            <a:ln w="25400">
              <a:solidFill>
                <a:schemeClr val="tx1"/>
              </a:solidFill>
              <a:round/>
              <a:headEnd/>
              <a:tailEnd type="none" w="sm" len="lg"/>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41" name="Line 31">
              <a:extLst>
                <a:ext uri="{FF2B5EF4-FFF2-40B4-BE49-F238E27FC236}">
                  <a16:creationId xmlns:a16="http://schemas.microsoft.com/office/drawing/2014/main" id="{E9E89A5C-A14C-406D-BEC0-CC1291FC3A68}"/>
                </a:ext>
              </a:extLst>
            </p:cNvPr>
            <p:cNvSpPr>
              <a:spLocks noChangeShapeType="1"/>
            </p:cNvSpPr>
            <p:nvPr/>
          </p:nvSpPr>
          <p:spPr bwMode="auto">
            <a:xfrm flipH="1">
              <a:off x="4381" y="3905"/>
              <a:ext cx="442"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42" name="Line 32">
              <a:extLst>
                <a:ext uri="{FF2B5EF4-FFF2-40B4-BE49-F238E27FC236}">
                  <a16:creationId xmlns:a16="http://schemas.microsoft.com/office/drawing/2014/main" id="{9BC2A037-CAB7-4E12-9FB4-38E8CFCC9C33}"/>
                </a:ext>
              </a:extLst>
            </p:cNvPr>
            <p:cNvSpPr>
              <a:spLocks noChangeShapeType="1"/>
            </p:cNvSpPr>
            <p:nvPr/>
          </p:nvSpPr>
          <p:spPr bwMode="auto">
            <a:xfrm flipH="1">
              <a:off x="4101" y="3905"/>
              <a:ext cx="320" cy="0"/>
            </a:xfrm>
            <a:prstGeom prst="line">
              <a:avLst/>
            </a:prstGeom>
            <a:noFill/>
            <a:ln w="25400">
              <a:solidFill>
                <a:schemeClr val="tx1"/>
              </a:solidFill>
              <a:round/>
              <a:headEnd/>
              <a:tailEnd type="none" w="sm" len="lg"/>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43" name="Line 33">
              <a:extLst>
                <a:ext uri="{FF2B5EF4-FFF2-40B4-BE49-F238E27FC236}">
                  <a16:creationId xmlns:a16="http://schemas.microsoft.com/office/drawing/2014/main" id="{D8E3C8DA-F986-4EA8-B204-2C7E7AC60B96}"/>
                </a:ext>
              </a:extLst>
            </p:cNvPr>
            <p:cNvSpPr>
              <a:spLocks noChangeShapeType="1"/>
            </p:cNvSpPr>
            <p:nvPr/>
          </p:nvSpPr>
          <p:spPr bwMode="auto">
            <a:xfrm>
              <a:off x="4787" y="2196"/>
              <a:ext cx="379"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3582" name="Object 34">
                  <a:extLst>
                    <a:ext uri="{FF2B5EF4-FFF2-40B4-BE49-F238E27FC236}">
                      <a16:creationId xmlns:a16="http://schemas.microsoft.com/office/drawing/2014/main" id="{4AE91CC4-9DCF-4CC4-A223-172D533B9D10}"/>
                    </a:ext>
                  </a:extLst>
                </p:cNvPr>
                <p:cNvSpPr txBox="1"/>
                <p:nvPr/>
              </p:nvSpPr>
              <p:spPr bwMode="auto">
                <a:xfrm>
                  <a:off x="4098" y="2365"/>
                  <a:ext cx="579" cy="27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−1</m:t>
                            </m:r>
                          </m:sub>
                        </m:sSub>
                      </m:oMath>
                    </m:oMathPara>
                  </a14:m>
                  <a:endParaRPr lang="en-US" sz="2400" dirty="0"/>
                </a:p>
              </p:txBody>
            </p:sp>
          </mc:Choice>
          <mc:Fallback xmlns="">
            <p:sp>
              <p:nvSpPr>
                <p:cNvPr id="23582" name="Object 34">
                  <a:extLst>
                    <a:ext uri="{FF2B5EF4-FFF2-40B4-BE49-F238E27FC236}">
                      <a16:creationId xmlns:a16="http://schemas.microsoft.com/office/drawing/2014/main" id="{4AE91CC4-9DCF-4CC4-A223-172D533B9D10}"/>
                    </a:ext>
                  </a:extLst>
                </p:cNvPr>
                <p:cNvSpPr txBox="1">
                  <a:spLocks noRot="1" noChangeAspect="1" noMove="1" noResize="1" noEditPoints="1" noAdjustHandles="1" noChangeArrowheads="1" noChangeShapeType="1" noTextEdit="1"/>
                </p:cNvSpPr>
                <p:nvPr/>
              </p:nvSpPr>
              <p:spPr bwMode="auto">
                <a:xfrm>
                  <a:off x="4098" y="2365"/>
                  <a:ext cx="579" cy="273"/>
                </a:xfrm>
                <a:prstGeom prst="rect">
                  <a:avLst/>
                </a:prstGeom>
                <a:blipFill>
                  <a:blip r:embed="rId13"/>
                  <a:stretch>
                    <a:fillRect r="-2424" b="-394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83" name="Object 35">
                  <a:extLst>
                    <a:ext uri="{FF2B5EF4-FFF2-40B4-BE49-F238E27FC236}">
                      <a16:creationId xmlns:a16="http://schemas.microsoft.com/office/drawing/2014/main" id="{4DECD62D-F1EC-4336-90E9-8F18556257D9}"/>
                    </a:ext>
                  </a:extLst>
                </p:cNvPr>
                <p:cNvSpPr txBox="1"/>
                <p:nvPr/>
              </p:nvSpPr>
              <p:spPr bwMode="auto">
                <a:xfrm>
                  <a:off x="4110" y="2745"/>
                  <a:ext cx="555" cy="27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−2</m:t>
                            </m:r>
                          </m:sub>
                        </m:sSub>
                      </m:oMath>
                    </m:oMathPara>
                  </a14:m>
                  <a:endParaRPr lang="en-US" sz="2400" dirty="0"/>
                </a:p>
              </p:txBody>
            </p:sp>
          </mc:Choice>
          <mc:Fallback xmlns="">
            <p:sp>
              <p:nvSpPr>
                <p:cNvPr id="23583" name="Object 35">
                  <a:extLst>
                    <a:ext uri="{FF2B5EF4-FFF2-40B4-BE49-F238E27FC236}">
                      <a16:creationId xmlns:a16="http://schemas.microsoft.com/office/drawing/2014/main" id="{4DECD62D-F1EC-4336-90E9-8F18556257D9}"/>
                    </a:ext>
                  </a:extLst>
                </p:cNvPr>
                <p:cNvSpPr txBox="1">
                  <a:spLocks noRot="1" noChangeAspect="1" noMove="1" noResize="1" noEditPoints="1" noAdjustHandles="1" noChangeArrowheads="1" noChangeShapeType="1" noTextEdit="1"/>
                </p:cNvSpPr>
                <p:nvPr/>
              </p:nvSpPr>
              <p:spPr bwMode="auto">
                <a:xfrm>
                  <a:off x="4110" y="2745"/>
                  <a:ext cx="555" cy="273"/>
                </a:xfrm>
                <a:prstGeom prst="rect">
                  <a:avLst/>
                </a:prstGeom>
                <a:blipFill>
                  <a:blip r:embed="rId14"/>
                  <a:stretch>
                    <a:fillRect r="-6962" b="-400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84" name="Object 36">
                  <a:extLst>
                    <a:ext uri="{FF2B5EF4-FFF2-40B4-BE49-F238E27FC236}">
                      <a16:creationId xmlns:a16="http://schemas.microsoft.com/office/drawing/2014/main" id="{18E8B098-363C-4BC7-82E7-B173E1EBC1A9}"/>
                    </a:ext>
                  </a:extLst>
                </p:cNvPr>
                <p:cNvSpPr txBox="1"/>
                <p:nvPr/>
              </p:nvSpPr>
              <p:spPr bwMode="auto">
                <a:xfrm>
                  <a:off x="4206" y="3170"/>
                  <a:ext cx="364" cy="27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1</m:t>
                            </m:r>
                          </m:sub>
                        </m:sSub>
                      </m:oMath>
                    </m:oMathPara>
                  </a14:m>
                  <a:endParaRPr lang="en-US" sz="2400" dirty="0"/>
                </a:p>
              </p:txBody>
            </p:sp>
          </mc:Choice>
          <mc:Fallback xmlns="">
            <p:sp>
              <p:nvSpPr>
                <p:cNvPr id="23584" name="Object 36">
                  <a:extLst>
                    <a:ext uri="{FF2B5EF4-FFF2-40B4-BE49-F238E27FC236}">
                      <a16:creationId xmlns:a16="http://schemas.microsoft.com/office/drawing/2014/main" id="{18E8B098-363C-4BC7-82E7-B173E1EBC1A9}"/>
                    </a:ext>
                  </a:extLst>
                </p:cNvPr>
                <p:cNvSpPr txBox="1">
                  <a:spLocks noRot="1" noChangeAspect="1" noMove="1" noResize="1" noEditPoints="1" noAdjustHandles="1" noChangeArrowheads="1" noChangeShapeType="1" noTextEdit="1"/>
                </p:cNvSpPr>
                <p:nvPr/>
              </p:nvSpPr>
              <p:spPr bwMode="auto">
                <a:xfrm>
                  <a:off x="4206" y="3170"/>
                  <a:ext cx="364" cy="273"/>
                </a:xfrm>
                <a:prstGeom prst="rect">
                  <a:avLst/>
                </a:prstGeom>
                <a:blipFill>
                  <a:blip r:embed="rId15"/>
                  <a:stretch>
                    <a:fillRect r="-7692" b="-394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85" name="Object 37">
                  <a:extLst>
                    <a:ext uri="{FF2B5EF4-FFF2-40B4-BE49-F238E27FC236}">
                      <a16:creationId xmlns:a16="http://schemas.microsoft.com/office/drawing/2014/main" id="{4515FA56-A354-4609-A345-271826A0C115}"/>
                    </a:ext>
                  </a:extLst>
                </p:cNvPr>
                <p:cNvSpPr txBox="1"/>
                <p:nvPr/>
              </p:nvSpPr>
              <p:spPr bwMode="auto">
                <a:xfrm>
                  <a:off x="4198" y="3612"/>
                  <a:ext cx="380" cy="27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0</m:t>
                            </m:r>
                          </m:sub>
                        </m:sSub>
                      </m:oMath>
                    </m:oMathPara>
                  </a14:m>
                  <a:endParaRPr lang="en-US" sz="2400" dirty="0"/>
                </a:p>
              </p:txBody>
            </p:sp>
          </mc:Choice>
          <mc:Fallback xmlns="">
            <p:sp>
              <p:nvSpPr>
                <p:cNvPr id="23585" name="Object 37">
                  <a:extLst>
                    <a:ext uri="{FF2B5EF4-FFF2-40B4-BE49-F238E27FC236}">
                      <a16:creationId xmlns:a16="http://schemas.microsoft.com/office/drawing/2014/main" id="{4515FA56-A354-4609-A345-271826A0C115}"/>
                    </a:ext>
                  </a:extLst>
                </p:cNvPr>
                <p:cNvSpPr txBox="1">
                  <a:spLocks noRot="1" noChangeAspect="1" noMove="1" noResize="1" noEditPoints="1" noAdjustHandles="1" noChangeArrowheads="1" noChangeShapeType="1" noTextEdit="1"/>
                </p:cNvSpPr>
                <p:nvPr/>
              </p:nvSpPr>
              <p:spPr bwMode="auto">
                <a:xfrm>
                  <a:off x="4198" y="3612"/>
                  <a:ext cx="380" cy="273"/>
                </a:xfrm>
                <a:prstGeom prst="rect">
                  <a:avLst/>
                </a:prstGeom>
                <a:blipFill>
                  <a:blip r:embed="rId16"/>
                  <a:stretch>
                    <a:fillRect r="-4630" b="-263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649" name="Rectangle 39">
                  <a:extLst>
                    <a:ext uri="{FF2B5EF4-FFF2-40B4-BE49-F238E27FC236}">
                      <a16:creationId xmlns:a16="http://schemas.microsoft.com/office/drawing/2014/main" id="{AA3B201B-8519-441D-A7EF-AAE9218D884C}"/>
                    </a:ext>
                  </a:extLst>
                </p:cNvPr>
                <p:cNvSpPr>
                  <a:spLocks noChangeArrowheads="1"/>
                </p:cNvSpPr>
                <p:nvPr/>
              </p:nvSpPr>
              <p:spPr bwMode="auto">
                <a:xfrm>
                  <a:off x="4676" y="2348"/>
                  <a:ext cx="291" cy="282"/>
                </a:xfrm>
                <a:prstGeom prst="rect">
                  <a:avLst/>
                </a:prstGeom>
                <a:solidFill>
                  <a:srgbClr val="CCFFFF"/>
                </a:solidFill>
                <a:ln w="19050">
                  <a:solidFill>
                    <a:schemeClr val="tx1"/>
                  </a:solidFill>
                  <a:miter lim="800000"/>
                  <a:headEnd/>
                  <a:tailE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right"/>
                      </m:oMathParaPr>
                      <m:oMath xmlns:m="http://schemas.openxmlformats.org/officeDocument/2006/math">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oMath>
                    </m:oMathPara>
                  </a14:m>
                  <a:endParaRPr kumimoji="0" lang="zh-CN"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mc:Choice>
          <mc:Fallback xmlns="">
            <p:sp>
              <p:nvSpPr>
                <p:cNvPr id="23649" name="Rectangle 39">
                  <a:extLst>
                    <a:ext uri="{FF2B5EF4-FFF2-40B4-BE49-F238E27FC236}">
                      <a16:creationId xmlns:a16="http://schemas.microsoft.com/office/drawing/2014/main" id="{AA3B201B-8519-441D-A7EF-AAE9218D884C}"/>
                    </a:ext>
                  </a:extLst>
                </p:cNvPr>
                <p:cNvSpPr>
                  <a:spLocks noRot="1" noChangeAspect="1" noMove="1" noResize="1" noEditPoints="1" noAdjustHandles="1" noChangeArrowheads="1" noChangeShapeType="1" noTextEdit="1"/>
                </p:cNvSpPr>
                <p:nvPr/>
              </p:nvSpPr>
              <p:spPr bwMode="auto">
                <a:xfrm>
                  <a:off x="4676" y="2348"/>
                  <a:ext cx="291" cy="282"/>
                </a:xfrm>
                <a:prstGeom prst="rect">
                  <a:avLst/>
                </a:prstGeom>
                <a:blipFill>
                  <a:blip r:embed="rId17"/>
                  <a:stretch>
                    <a:fillRect/>
                  </a:stretch>
                </a:blipFill>
                <a:ln w="19050">
                  <a:solidFill>
                    <a:schemeClr val="tx1"/>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648" name="Rectangle 42">
                  <a:extLst>
                    <a:ext uri="{FF2B5EF4-FFF2-40B4-BE49-F238E27FC236}">
                      <a16:creationId xmlns:a16="http://schemas.microsoft.com/office/drawing/2014/main" id="{388F6EF3-18F3-490C-82E3-CDBB86DC9E0D}"/>
                    </a:ext>
                  </a:extLst>
                </p:cNvPr>
                <p:cNvSpPr>
                  <a:spLocks noChangeArrowheads="1"/>
                </p:cNvSpPr>
                <p:nvPr/>
              </p:nvSpPr>
              <p:spPr bwMode="auto">
                <a:xfrm>
                  <a:off x="4668" y="2723"/>
                  <a:ext cx="291" cy="282"/>
                </a:xfrm>
                <a:prstGeom prst="rect">
                  <a:avLst/>
                </a:prstGeom>
                <a:solidFill>
                  <a:srgbClr val="CCFFFF"/>
                </a:solidFill>
                <a:ln w="19050">
                  <a:solidFill>
                    <a:schemeClr val="tx1"/>
                  </a:solidFill>
                  <a:miter lim="800000"/>
                  <a:headEnd/>
                  <a:tailE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right"/>
                      </m:oMathParaPr>
                      <m:oMath xmlns:m="http://schemas.openxmlformats.org/officeDocument/2006/math">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oMath>
                    </m:oMathPara>
                  </a14:m>
                  <a:endParaRPr kumimoji="0" lang="zh-CN"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mc:Choice>
          <mc:Fallback xmlns="">
            <p:sp>
              <p:nvSpPr>
                <p:cNvPr id="23648" name="Rectangle 42">
                  <a:extLst>
                    <a:ext uri="{FF2B5EF4-FFF2-40B4-BE49-F238E27FC236}">
                      <a16:creationId xmlns:a16="http://schemas.microsoft.com/office/drawing/2014/main" id="{388F6EF3-18F3-490C-82E3-CDBB86DC9E0D}"/>
                    </a:ext>
                  </a:extLst>
                </p:cNvPr>
                <p:cNvSpPr>
                  <a:spLocks noRot="1" noChangeAspect="1" noMove="1" noResize="1" noEditPoints="1" noAdjustHandles="1" noChangeArrowheads="1" noChangeShapeType="1" noTextEdit="1"/>
                </p:cNvSpPr>
                <p:nvPr/>
              </p:nvSpPr>
              <p:spPr bwMode="auto">
                <a:xfrm>
                  <a:off x="4668" y="2723"/>
                  <a:ext cx="291" cy="282"/>
                </a:xfrm>
                <a:prstGeom prst="rect">
                  <a:avLst/>
                </a:prstGeom>
                <a:blipFill>
                  <a:blip r:embed="rId18"/>
                  <a:stretch>
                    <a:fillRect/>
                  </a:stretch>
                </a:blipFill>
                <a:ln w="19050">
                  <a:solidFill>
                    <a:schemeClr val="tx1"/>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647" name="Rectangle 45">
                  <a:extLst>
                    <a:ext uri="{FF2B5EF4-FFF2-40B4-BE49-F238E27FC236}">
                      <a16:creationId xmlns:a16="http://schemas.microsoft.com/office/drawing/2014/main" id="{F674C243-1296-479B-B19D-21E86F0A6F74}"/>
                    </a:ext>
                  </a:extLst>
                </p:cNvPr>
                <p:cNvSpPr>
                  <a:spLocks noChangeArrowheads="1"/>
                </p:cNvSpPr>
                <p:nvPr/>
              </p:nvSpPr>
              <p:spPr bwMode="auto">
                <a:xfrm>
                  <a:off x="4671" y="3520"/>
                  <a:ext cx="291" cy="282"/>
                </a:xfrm>
                <a:prstGeom prst="rect">
                  <a:avLst/>
                </a:prstGeom>
                <a:solidFill>
                  <a:srgbClr val="CCFFFF"/>
                </a:solidFill>
                <a:ln w="19050">
                  <a:solidFill>
                    <a:schemeClr val="tx1"/>
                  </a:solidFill>
                  <a:miter lim="800000"/>
                  <a:headEnd/>
                  <a:tailE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right"/>
                      </m:oMathParaPr>
                      <m:oMath xmlns:m="http://schemas.openxmlformats.org/officeDocument/2006/math">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oMath>
                    </m:oMathPara>
                  </a14:m>
                  <a:endParaRPr kumimoji="0" lang="zh-CN"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mc:Choice>
          <mc:Fallback xmlns="">
            <p:sp>
              <p:nvSpPr>
                <p:cNvPr id="23647" name="Rectangle 45">
                  <a:extLst>
                    <a:ext uri="{FF2B5EF4-FFF2-40B4-BE49-F238E27FC236}">
                      <a16:creationId xmlns:a16="http://schemas.microsoft.com/office/drawing/2014/main" id="{F674C243-1296-479B-B19D-21E86F0A6F74}"/>
                    </a:ext>
                  </a:extLst>
                </p:cNvPr>
                <p:cNvSpPr>
                  <a:spLocks noRot="1" noChangeAspect="1" noMove="1" noResize="1" noEditPoints="1" noAdjustHandles="1" noChangeArrowheads="1" noChangeShapeType="1" noTextEdit="1"/>
                </p:cNvSpPr>
                <p:nvPr/>
              </p:nvSpPr>
              <p:spPr bwMode="auto">
                <a:xfrm>
                  <a:off x="4671" y="3520"/>
                  <a:ext cx="291" cy="282"/>
                </a:xfrm>
                <a:prstGeom prst="rect">
                  <a:avLst/>
                </a:prstGeom>
                <a:blipFill>
                  <a:blip r:embed="rId19"/>
                  <a:stretch>
                    <a:fillRect/>
                  </a:stretch>
                </a:blipFill>
                <a:ln w="19050">
                  <a:solidFill>
                    <a:schemeClr val="tx1"/>
                  </a:solidFill>
                  <a:miter lim="800000"/>
                  <a:headEnd/>
                  <a:tailEnd/>
                </a:ln>
              </p:spPr>
              <p:txBody>
                <a:bodyPr/>
                <a:lstStyle/>
                <a:p>
                  <a:r>
                    <a:rPr lang="en-US">
                      <a:noFill/>
                    </a:rPr>
                    <a:t> </a:t>
                  </a:r>
                </a:p>
              </p:txBody>
            </p:sp>
          </mc:Fallback>
        </mc:AlternateContent>
      </p:grpSp>
      <p:grpSp>
        <p:nvGrpSpPr>
          <p:cNvPr id="7" name="Group 47">
            <a:extLst>
              <a:ext uri="{FF2B5EF4-FFF2-40B4-BE49-F238E27FC236}">
                <a16:creationId xmlns:a16="http://schemas.microsoft.com/office/drawing/2014/main" id="{DF39FF5B-69D6-420F-B7B8-8EBFDBDF9946}"/>
              </a:ext>
            </a:extLst>
          </p:cNvPr>
          <p:cNvGrpSpPr>
            <a:grpSpLocks/>
          </p:cNvGrpSpPr>
          <p:nvPr/>
        </p:nvGrpSpPr>
        <p:grpSpPr bwMode="auto">
          <a:xfrm>
            <a:off x="992485" y="3226393"/>
            <a:ext cx="3507981" cy="3363928"/>
            <a:chOff x="875" y="1915"/>
            <a:chExt cx="2041" cy="1990"/>
          </a:xfrm>
        </p:grpSpPr>
        <mc:AlternateContent xmlns:mc="http://schemas.openxmlformats.org/markup-compatibility/2006" xmlns:a14="http://schemas.microsoft.com/office/drawing/2010/main">
          <mc:Choice Requires="a14">
            <p:graphicFrame>
              <p:nvGraphicFramePr>
                <p:cNvPr id="23556" name="Object 48">
                  <a:extLst>
                    <a:ext uri="{FF2B5EF4-FFF2-40B4-BE49-F238E27FC236}">
                      <a16:creationId xmlns:a16="http://schemas.microsoft.com/office/drawing/2014/main" id="{7F30B6B7-717C-45D7-B597-C8FCF1B6AF79}"/>
                    </a:ext>
                  </a:extLst>
                </p:cNvPr>
                <p:cNvGraphicFramePr>
                  <a:graphicFrameLocks noChangeAspect="1"/>
                </p:cNvGraphicFramePr>
                <p:nvPr/>
              </p:nvGraphicFramePr>
              <p:xfrm>
                <a:off x="2844" y="2103"/>
                <a:ext cx="72" cy="112"/>
              </p:xfrm>
              <a:graphic>
                <a:graphicData uri="http://schemas.openxmlformats.org/presentationml/2006/ole">
                  <mc:AlternateContent>
                    <mc:Choice xmlns:v="urn:schemas-microsoft-com:vml" Requires="v">
                      <p:oleObj spid="_x0000_s8267" name="Equation" r:id="rId20" imgW="114120" imgH="177480" progId="Equation.DSMT4">
                        <p:embed/>
                      </p:oleObj>
                    </mc:Choice>
                    <mc:Fallback>
                      <p:oleObj name="Equation" r:id="rId20" imgW="114120" imgH="177480" progId="Equation.DSMT4">
                        <p:embed/>
                        <p:pic>
                          <p:nvPicPr>
                            <p:cNvPr id="23556" name="Object 48">
                              <a:extLst>
                                <a:ext uri="{FF2B5EF4-FFF2-40B4-BE49-F238E27FC236}">
                                  <a16:creationId xmlns:a16="http://schemas.microsoft.com/office/drawing/2014/main" id="{7F30B6B7-717C-45D7-B597-C8FCF1B6AF79}"/>
                                </a:ext>
                              </a:extLst>
                            </p:cNvPr>
                            <p:cNvPicPr>
                              <a:picLocks noChangeAspect="1" noChangeArrowheads="1"/>
                            </p:cNvPicPr>
                            <p:nvPr/>
                          </p:nvPicPr>
                          <p:blipFill>
                            <a:blip r:embed="rId21">
                              <a:extLst>
                                <a:ext uri="{28A0092B-C50C-407E-A947-70E740481C1C}">
                                  <a14:useLocalDpi val="0"/>
                                </a:ext>
                              </a:extLst>
                            </a:blip>
                            <a:srcRect/>
                            <a:stretch>
                              <a:fillRect/>
                            </a:stretch>
                          </p:blipFill>
                          <p:spPr bwMode="auto">
                            <a:xfrm>
                              <a:off x="2844" y="2103"/>
                              <a:ext cx="72" cy="112"/>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23556" name="Object 48">
                  <a:extLst>
                    <a:ext uri="{FF2B5EF4-FFF2-40B4-BE49-F238E27FC236}">
                      <a16:creationId xmlns:a16="http://schemas.microsoft.com/office/drawing/2014/main" id="{7F30B6B7-717C-45D7-B597-C8FCF1B6AF79}"/>
                    </a:ext>
                  </a:extLst>
                </p:cNvPr>
                <p:cNvGraphicFramePr>
                  <a:graphicFrameLocks noChangeAspect="1"/>
                </p:cNvGraphicFramePr>
                <p:nvPr/>
              </p:nvGraphicFramePr>
              <p:xfrm>
                <a:off x="2844" y="2103"/>
                <a:ext cx="72" cy="112"/>
              </p:xfrm>
              <a:graphic>
                <a:graphicData uri="http://schemas.openxmlformats.org/presentationml/2006/ole">
                  <mc:AlternateContent>
                    <mc:Choice xmlns:v="urn:schemas-microsoft-com:vml" Requires="v">
                      <p:oleObj name="Equation" r:id="rId22" imgW="114120" imgH="177480" progId="Equation.DSMT4">
                        <p:embed/>
                      </p:oleObj>
                    </mc:Choice>
                    <mc:Fallback>
                      <p:oleObj name="Equation" r:id="rId22" imgW="114120" imgH="177480" progId="Equation.DSMT4">
                        <p:embed/>
                        <p:pic>
                          <p:nvPicPr>
                            <p:cNvPr id="23556" name="Object 48">
                              <a:extLst>
                                <a:ext uri="{FF2B5EF4-FFF2-40B4-BE49-F238E27FC236}">
                                  <a16:creationId xmlns:a16="http://schemas.microsoft.com/office/drawing/2014/main" id="{7F30B6B7-717C-45D7-B597-C8FCF1B6AF79}"/>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844" y="2103"/>
                              <a:ext cx="72" cy="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sp>
          <p:nvSpPr>
            <p:cNvPr id="23597" name="Line 49">
              <a:extLst>
                <a:ext uri="{FF2B5EF4-FFF2-40B4-BE49-F238E27FC236}">
                  <a16:creationId xmlns:a16="http://schemas.microsoft.com/office/drawing/2014/main" id="{898BE90A-47FA-40BF-961C-A26AB7E8538D}"/>
                </a:ext>
              </a:extLst>
            </p:cNvPr>
            <p:cNvSpPr>
              <a:spLocks noChangeShapeType="1"/>
            </p:cNvSpPr>
            <p:nvPr/>
          </p:nvSpPr>
          <p:spPr bwMode="auto">
            <a:xfrm>
              <a:off x="962" y="2193"/>
              <a:ext cx="3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598" name="Line 50">
              <a:extLst>
                <a:ext uri="{FF2B5EF4-FFF2-40B4-BE49-F238E27FC236}">
                  <a16:creationId xmlns:a16="http://schemas.microsoft.com/office/drawing/2014/main" id="{EB5160D3-9F4D-4A6B-B74B-0F370FFD5109}"/>
                </a:ext>
              </a:extLst>
            </p:cNvPr>
            <p:cNvSpPr>
              <a:spLocks noChangeShapeType="1"/>
            </p:cNvSpPr>
            <p:nvPr/>
          </p:nvSpPr>
          <p:spPr bwMode="auto">
            <a:xfrm>
              <a:off x="1343" y="2196"/>
              <a:ext cx="0" cy="15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599" name="Line 51">
              <a:extLst>
                <a:ext uri="{FF2B5EF4-FFF2-40B4-BE49-F238E27FC236}">
                  <a16:creationId xmlns:a16="http://schemas.microsoft.com/office/drawing/2014/main" id="{D8CAED87-B8C2-423D-AB2C-37491B62A4C2}"/>
                </a:ext>
              </a:extLst>
            </p:cNvPr>
            <p:cNvSpPr>
              <a:spLocks noChangeShapeType="1"/>
            </p:cNvSpPr>
            <p:nvPr/>
          </p:nvSpPr>
          <p:spPr bwMode="auto">
            <a:xfrm>
              <a:off x="1343" y="2576"/>
              <a:ext cx="0" cy="15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3557" name="Object 52">
                  <a:extLst>
                    <a:ext uri="{FF2B5EF4-FFF2-40B4-BE49-F238E27FC236}">
                      <a16:creationId xmlns:a16="http://schemas.microsoft.com/office/drawing/2014/main" id="{A9571A0F-D710-4646-829F-8D704BFC8AC6}"/>
                    </a:ext>
                  </a:extLst>
                </p:cNvPr>
                <p:cNvSpPr txBox="1"/>
                <p:nvPr/>
              </p:nvSpPr>
              <p:spPr bwMode="auto">
                <a:xfrm>
                  <a:off x="1266" y="3070"/>
                  <a:ext cx="187" cy="27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3557" name="Object 52">
                  <a:extLst>
                    <a:ext uri="{FF2B5EF4-FFF2-40B4-BE49-F238E27FC236}">
                      <a16:creationId xmlns:a16="http://schemas.microsoft.com/office/drawing/2014/main" id="{A9571A0F-D710-4646-829F-8D704BFC8AC6}"/>
                    </a:ext>
                  </a:extLst>
                </p:cNvPr>
                <p:cNvSpPr txBox="1">
                  <a:spLocks noRot="1" noChangeAspect="1" noMove="1" noResize="1" noEditPoints="1" noAdjustHandles="1" noChangeArrowheads="1" noChangeShapeType="1" noTextEdit="1"/>
                </p:cNvSpPr>
                <p:nvPr/>
              </p:nvSpPr>
              <p:spPr bwMode="auto">
                <a:xfrm>
                  <a:off x="1266" y="3070"/>
                  <a:ext cx="187" cy="273"/>
                </a:xfrm>
                <a:prstGeom prst="rect">
                  <a:avLst/>
                </a:prstGeom>
                <a:blipFill>
                  <a:blip r:embed="rId24"/>
                  <a:stretch>
                    <a:fillRect l="-1887"/>
                  </a:stretch>
                </a:blipFill>
                <a:ln>
                  <a:noFill/>
                </a:ln>
                <a:effectLst/>
              </p:spPr>
              <p:txBody>
                <a:bodyPr/>
                <a:lstStyle/>
                <a:p>
                  <a:r>
                    <a:rPr lang="en-US">
                      <a:noFill/>
                    </a:rPr>
                    <a:t> </a:t>
                  </a:r>
                </a:p>
              </p:txBody>
            </p:sp>
          </mc:Fallback>
        </mc:AlternateContent>
        <p:sp>
          <p:nvSpPr>
            <p:cNvPr id="23600" name="Line 53">
              <a:extLst>
                <a:ext uri="{FF2B5EF4-FFF2-40B4-BE49-F238E27FC236}">
                  <a16:creationId xmlns:a16="http://schemas.microsoft.com/office/drawing/2014/main" id="{84B4A869-59DD-4CB6-B3EA-9A50BB87CB07}"/>
                </a:ext>
              </a:extLst>
            </p:cNvPr>
            <p:cNvSpPr>
              <a:spLocks noChangeShapeType="1"/>
            </p:cNvSpPr>
            <p:nvPr/>
          </p:nvSpPr>
          <p:spPr bwMode="auto">
            <a:xfrm>
              <a:off x="1343" y="2956"/>
              <a:ext cx="0" cy="15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01" name="Line 54">
              <a:extLst>
                <a:ext uri="{FF2B5EF4-FFF2-40B4-BE49-F238E27FC236}">
                  <a16:creationId xmlns:a16="http://schemas.microsoft.com/office/drawing/2014/main" id="{02BF438C-7C73-4013-9D43-8EAECD30695F}"/>
                </a:ext>
              </a:extLst>
            </p:cNvPr>
            <p:cNvSpPr>
              <a:spLocks noChangeShapeType="1"/>
            </p:cNvSpPr>
            <p:nvPr/>
          </p:nvSpPr>
          <p:spPr bwMode="auto">
            <a:xfrm>
              <a:off x="1343" y="3374"/>
              <a:ext cx="0" cy="15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02" name="Line 55">
              <a:extLst>
                <a:ext uri="{FF2B5EF4-FFF2-40B4-BE49-F238E27FC236}">
                  <a16:creationId xmlns:a16="http://schemas.microsoft.com/office/drawing/2014/main" id="{C952CC94-9A45-4097-9971-46FAA39F5748}"/>
                </a:ext>
              </a:extLst>
            </p:cNvPr>
            <p:cNvSpPr>
              <a:spLocks noChangeShapeType="1"/>
            </p:cNvSpPr>
            <p:nvPr/>
          </p:nvSpPr>
          <p:spPr bwMode="auto">
            <a:xfrm>
              <a:off x="1343" y="3753"/>
              <a:ext cx="0" cy="15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03" name="Line 56">
              <a:extLst>
                <a:ext uri="{FF2B5EF4-FFF2-40B4-BE49-F238E27FC236}">
                  <a16:creationId xmlns:a16="http://schemas.microsoft.com/office/drawing/2014/main" id="{A6BCC3CF-4FAC-4A5B-AF90-6E8529FAC2F2}"/>
                </a:ext>
              </a:extLst>
            </p:cNvPr>
            <p:cNvSpPr>
              <a:spLocks noChangeShapeType="1"/>
            </p:cNvSpPr>
            <p:nvPr/>
          </p:nvSpPr>
          <p:spPr bwMode="auto">
            <a:xfrm>
              <a:off x="1343" y="2196"/>
              <a:ext cx="379"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04" name="Line 57">
              <a:extLst>
                <a:ext uri="{FF2B5EF4-FFF2-40B4-BE49-F238E27FC236}">
                  <a16:creationId xmlns:a16="http://schemas.microsoft.com/office/drawing/2014/main" id="{5157D960-AC87-4AE7-B382-156BA155F4C1}"/>
                </a:ext>
              </a:extLst>
            </p:cNvPr>
            <p:cNvSpPr>
              <a:spLocks noChangeShapeType="1"/>
            </p:cNvSpPr>
            <p:nvPr/>
          </p:nvSpPr>
          <p:spPr bwMode="auto">
            <a:xfrm>
              <a:off x="1684" y="2196"/>
              <a:ext cx="3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05" name="Line 58">
              <a:extLst>
                <a:ext uri="{FF2B5EF4-FFF2-40B4-BE49-F238E27FC236}">
                  <a16:creationId xmlns:a16="http://schemas.microsoft.com/office/drawing/2014/main" id="{435B4C55-095C-45A9-B688-AC9FA95820A6}"/>
                </a:ext>
              </a:extLst>
            </p:cNvPr>
            <p:cNvSpPr>
              <a:spLocks noChangeShapeType="1"/>
            </p:cNvSpPr>
            <p:nvPr/>
          </p:nvSpPr>
          <p:spPr bwMode="auto">
            <a:xfrm>
              <a:off x="1343" y="2652"/>
              <a:ext cx="379"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06" name="Line 59">
              <a:extLst>
                <a:ext uri="{FF2B5EF4-FFF2-40B4-BE49-F238E27FC236}">
                  <a16:creationId xmlns:a16="http://schemas.microsoft.com/office/drawing/2014/main" id="{4FD3EE96-3CED-4974-8C96-DA03FD2DAFC8}"/>
                </a:ext>
              </a:extLst>
            </p:cNvPr>
            <p:cNvSpPr>
              <a:spLocks noChangeShapeType="1"/>
            </p:cNvSpPr>
            <p:nvPr/>
          </p:nvSpPr>
          <p:spPr bwMode="auto">
            <a:xfrm>
              <a:off x="1684" y="2652"/>
              <a:ext cx="3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07" name="Line 60">
              <a:extLst>
                <a:ext uri="{FF2B5EF4-FFF2-40B4-BE49-F238E27FC236}">
                  <a16:creationId xmlns:a16="http://schemas.microsoft.com/office/drawing/2014/main" id="{97BE13F9-A9D3-45BC-B7DD-89E7D0885C30}"/>
                </a:ext>
              </a:extLst>
            </p:cNvPr>
            <p:cNvSpPr>
              <a:spLocks noChangeShapeType="1"/>
            </p:cNvSpPr>
            <p:nvPr/>
          </p:nvSpPr>
          <p:spPr bwMode="auto">
            <a:xfrm>
              <a:off x="1343" y="3031"/>
              <a:ext cx="379"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08" name="Line 61">
              <a:extLst>
                <a:ext uri="{FF2B5EF4-FFF2-40B4-BE49-F238E27FC236}">
                  <a16:creationId xmlns:a16="http://schemas.microsoft.com/office/drawing/2014/main" id="{FF711069-B9AF-4F19-82D0-FFC3BBF64CCD}"/>
                </a:ext>
              </a:extLst>
            </p:cNvPr>
            <p:cNvSpPr>
              <a:spLocks noChangeShapeType="1"/>
            </p:cNvSpPr>
            <p:nvPr/>
          </p:nvSpPr>
          <p:spPr bwMode="auto">
            <a:xfrm>
              <a:off x="1684" y="3031"/>
              <a:ext cx="3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09" name="Line 62">
              <a:extLst>
                <a:ext uri="{FF2B5EF4-FFF2-40B4-BE49-F238E27FC236}">
                  <a16:creationId xmlns:a16="http://schemas.microsoft.com/office/drawing/2014/main" id="{59974188-98A6-483B-9A17-9358B201971B}"/>
                </a:ext>
              </a:extLst>
            </p:cNvPr>
            <p:cNvSpPr>
              <a:spLocks noChangeShapeType="1"/>
            </p:cNvSpPr>
            <p:nvPr/>
          </p:nvSpPr>
          <p:spPr bwMode="auto">
            <a:xfrm>
              <a:off x="1343" y="3449"/>
              <a:ext cx="379"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10" name="Line 63">
              <a:extLst>
                <a:ext uri="{FF2B5EF4-FFF2-40B4-BE49-F238E27FC236}">
                  <a16:creationId xmlns:a16="http://schemas.microsoft.com/office/drawing/2014/main" id="{88430B2A-A368-4426-B849-4B48C4ECCD87}"/>
                </a:ext>
              </a:extLst>
            </p:cNvPr>
            <p:cNvSpPr>
              <a:spLocks noChangeShapeType="1"/>
            </p:cNvSpPr>
            <p:nvPr/>
          </p:nvSpPr>
          <p:spPr bwMode="auto">
            <a:xfrm>
              <a:off x="1684" y="3449"/>
              <a:ext cx="3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11" name="Line 64">
              <a:extLst>
                <a:ext uri="{FF2B5EF4-FFF2-40B4-BE49-F238E27FC236}">
                  <a16:creationId xmlns:a16="http://schemas.microsoft.com/office/drawing/2014/main" id="{3AACA55A-27DD-4F0D-8C08-D04812A95AD9}"/>
                </a:ext>
              </a:extLst>
            </p:cNvPr>
            <p:cNvSpPr>
              <a:spLocks noChangeShapeType="1"/>
            </p:cNvSpPr>
            <p:nvPr/>
          </p:nvSpPr>
          <p:spPr bwMode="auto">
            <a:xfrm>
              <a:off x="1343" y="3905"/>
              <a:ext cx="424"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12" name="Line 65">
              <a:extLst>
                <a:ext uri="{FF2B5EF4-FFF2-40B4-BE49-F238E27FC236}">
                  <a16:creationId xmlns:a16="http://schemas.microsoft.com/office/drawing/2014/main" id="{7C6AAFD1-5A61-4DD1-BBD4-68C07FD1BE7C}"/>
                </a:ext>
              </a:extLst>
            </p:cNvPr>
            <p:cNvSpPr>
              <a:spLocks noChangeShapeType="1"/>
            </p:cNvSpPr>
            <p:nvPr/>
          </p:nvSpPr>
          <p:spPr bwMode="auto">
            <a:xfrm>
              <a:off x="1725" y="3905"/>
              <a:ext cx="33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3558" name="Object 66">
                  <a:extLst>
                    <a:ext uri="{FF2B5EF4-FFF2-40B4-BE49-F238E27FC236}">
                      <a16:creationId xmlns:a16="http://schemas.microsoft.com/office/drawing/2014/main" id="{44CB18DF-41D2-42B3-9EC3-3933A53B4BE9}"/>
                    </a:ext>
                  </a:extLst>
                </p:cNvPr>
                <p:cNvSpPr txBox="1"/>
                <p:nvPr/>
              </p:nvSpPr>
              <p:spPr bwMode="auto">
                <a:xfrm>
                  <a:off x="1921" y="2048"/>
                  <a:ext cx="271" cy="27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3558" name="Object 66">
                  <a:extLst>
                    <a:ext uri="{FF2B5EF4-FFF2-40B4-BE49-F238E27FC236}">
                      <a16:creationId xmlns:a16="http://schemas.microsoft.com/office/drawing/2014/main" id="{44CB18DF-41D2-42B3-9EC3-3933A53B4BE9}"/>
                    </a:ext>
                  </a:extLst>
                </p:cNvPr>
                <p:cNvSpPr txBox="1">
                  <a:spLocks noRot="1" noChangeAspect="1" noMove="1" noResize="1" noEditPoints="1" noAdjustHandles="1" noChangeArrowheads="1" noChangeShapeType="1" noTextEdit="1"/>
                </p:cNvSpPr>
                <p:nvPr/>
              </p:nvSpPr>
              <p:spPr bwMode="auto">
                <a:xfrm>
                  <a:off x="1921" y="2048"/>
                  <a:ext cx="271" cy="273"/>
                </a:xfrm>
                <a:prstGeom prst="rect">
                  <a:avLst/>
                </a:prstGeom>
                <a:blipFill>
                  <a:blip r:embed="rId25"/>
                  <a:stretch>
                    <a:fillRect l="-9211" r="-13158" b="-1184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59" name="Object 67">
                  <a:extLst>
                    <a:ext uri="{FF2B5EF4-FFF2-40B4-BE49-F238E27FC236}">
                      <a16:creationId xmlns:a16="http://schemas.microsoft.com/office/drawing/2014/main" id="{08BDE98E-F135-4918-AB13-E2E20090892F}"/>
                    </a:ext>
                  </a:extLst>
                </p:cNvPr>
                <p:cNvSpPr txBox="1"/>
                <p:nvPr/>
              </p:nvSpPr>
              <p:spPr bwMode="auto">
                <a:xfrm>
                  <a:off x="1923" y="2504"/>
                  <a:ext cx="260" cy="27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3559" name="Object 67">
                  <a:extLst>
                    <a:ext uri="{FF2B5EF4-FFF2-40B4-BE49-F238E27FC236}">
                      <a16:creationId xmlns:a16="http://schemas.microsoft.com/office/drawing/2014/main" id="{08BDE98E-F135-4918-AB13-E2E20090892F}"/>
                    </a:ext>
                  </a:extLst>
                </p:cNvPr>
                <p:cNvSpPr txBox="1">
                  <a:spLocks noRot="1" noChangeAspect="1" noMove="1" noResize="1" noEditPoints="1" noAdjustHandles="1" noChangeArrowheads="1" noChangeShapeType="1" noTextEdit="1"/>
                </p:cNvSpPr>
                <p:nvPr/>
              </p:nvSpPr>
              <p:spPr bwMode="auto">
                <a:xfrm>
                  <a:off x="1923" y="2504"/>
                  <a:ext cx="260" cy="273"/>
                </a:xfrm>
                <a:prstGeom prst="rect">
                  <a:avLst/>
                </a:prstGeom>
                <a:blipFill>
                  <a:blip r:embed="rId26"/>
                  <a:stretch>
                    <a:fillRect l="-8108" r="-17568" b="-13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60" name="Object 68">
                  <a:extLst>
                    <a:ext uri="{FF2B5EF4-FFF2-40B4-BE49-F238E27FC236}">
                      <a16:creationId xmlns:a16="http://schemas.microsoft.com/office/drawing/2014/main" id="{17FB4C7D-42E3-422B-AE58-00E7A963C50C}"/>
                    </a:ext>
                  </a:extLst>
                </p:cNvPr>
                <p:cNvSpPr txBox="1"/>
                <p:nvPr/>
              </p:nvSpPr>
              <p:spPr bwMode="auto">
                <a:xfrm>
                  <a:off x="1922" y="2878"/>
                  <a:ext cx="260" cy="27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3560" name="Object 68">
                  <a:extLst>
                    <a:ext uri="{FF2B5EF4-FFF2-40B4-BE49-F238E27FC236}">
                      <a16:creationId xmlns:a16="http://schemas.microsoft.com/office/drawing/2014/main" id="{17FB4C7D-42E3-422B-AE58-00E7A963C50C}"/>
                    </a:ext>
                  </a:extLst>
                </p:cNvPr>
                <p:cNvSpPr txBox="1">
                  <a:spLocks noRot="1" noChangeAspect="1" noMove="1" noResize="1" noEditPoints="1" noAdjustHandles="1" noChangeArrowheads="1" noChangeShapeType="1" noTextEdit="1"/>
                </p:cNvSpPr>
                <p:nvPr/>
              </p:nvSpPr>
              <p:spPr bwMode="auto">
                <a:xfrm>
                  <a:off x="1922" y="2878"/>
                  <a:ext cx="260" cy="273"/>
                </a:xfrm>
                <a:prstGeom prst="rect">
                  <a:avLst/>
                </a:prstGeom>
                <a:blipFill>
                  <a:blip r:embed="rId27"/>
                  <a:stretch>
                    <a:fillRect l="-8219" r="-19178" b="-1184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61" name="Object 69">
                  <a:extLst>
                    <a:ext uri="{FF2B5EF4-FFF2-40B4-BE49-F238E27FC236}">
                      <a16:creationId xmlns:a16="http://schemas.microsoft.com/office/drawing/2014/main" id="{515994AA-164F-4D1F-B9E5-A64E0D84ECA6}"/>
                    </a:ext>
                  </a:extLst>
                </p:cNvPr>
                <p:cNvSpPr txBox="1"/>
                <p:nvPr/>
              </p:nvSpPr>
              <p:spPr bwMode="auto">
                <a:xfrm>
                  <a:off x="1922" y="3298"/>
                  <a:ext cx="276" cy="277"/>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3561" name="Object 69">
                  <a:extLst>
                    <a:ext uri="{FF2B5EF4-FFF2-40B4-BE49-F238E27FC236}">
                      <a16:creationId xmlns:a16="http://schemas.microsoft.com/office/drawing/2014/main" id="{515994AA-164F-4D1F-B9E5-A64E0D84ECA6}"/>
                    </a:ext>
                  </a:extLst>
                </p:cNvPr>
                <p:cNvSpPr txBox="1">
                  <a:spLocks noRot="1" noChangeAspect="1" noMove="1" noResize="1" noEditPoints="1" noAdjustHandles="1" noChangeArrowheads="1" noChangeShapeType="1" noTextEdit="1"/>
                </p:cNvSpPr>
                <p:nvPr/>
              </p:nvSpPr>
              <p:spPr bwMode="auto">
                <a:xfrm>
                  <a:off x="1922" y="3298"/>
                  <a:ext cx="276" cy="277"/>
                </a:xfrm>
                <a:prstGeom prst="rect">
                  <a:avLst/>
                </a:prstGeom>
                <a:blipFill>
                  <a:blip r:embed="rId28"/>
                  <a:stretch>
                    <a:fillRect l="-7692" r="-11538" b="-10390"/>
                  </a:stretch>
                </a:blipFill>
                <a:ln>
                  <a:noFill/>
                </a:ln>
                <a:effectLst/>
              </p:spPr>
              <p:txBody>
                <a:bodyPr/>
                <a:lstStyle/>
                <a:p>
                  <a:r>
                    <a:rPr lang="en-US">
                      <a:noFill/>
                    </a:rPr>
                    <a:t> </a:t>
                  </a:r>
                </a:p>
              </p:txBody>
            </p:sp>
          </mc:Fallback>
        </mc:AlternateContent>
        <p:sp>
          <p:nvSpPr>
            <p:cNvPr id="23613" name="Line 70">
              <a:extLst>
                <a:ext uri="{FF2B5EF4-FFF2-40B4-BE49-F238E27FC236}">
                  <a16:creationId xmlns:a16="http://schemas.microsoft.com/office/drawing/2014/main" id="{4DABA3C4-1A2F-4B28-BD51-9BB91C1DA28F}"/>
                </a:ext>
              </a:extLst>
            </p:cNvPr>
            <p:cNvSpPr>
              <a:spLocks noChangeShapeType="1"/>
            </p:cNvSpPr>
            <p:nvPr/>
          </p:nvSpPr>
          <p:spPr bwMode="auto">
            <a:xfrm>
              <a:off x="2064" y="2272"/>
              <a:ext cx="0" cy="304"/>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14" name="Line 71">
              <a:extLst>
                <a:ext uri="{FF2B5EF4-FFF2-40B4-BE49-F238E27FC236}">
                  <a16:creationId xmlns:a16="http://schemas.microsoft.com/office/drawing/2014/main" id="{573AA6E9-BD9A-4F5F-9619-E4163434D135}"/>
                </a:ext>
              </a:extLst>
            </p:cNvPr>
            <p:cNvSpPr>
              <a:spLocks noChangeShapeType="1"/>
            </p:cNvSpPr>
            <p:nvPr/>
          </p:nvSpPr>
          <p:spPr bwMode="auto">
            <a:xfrm>
              <a:off x="2064" y="2727"/>
              <a:ext cx="0" cy="229"/>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3615" name="Line 72">
              <a:extLst>
                <a:ext uri="{FF2B5EF4-FFF2-40B4-BE49-F238E27FC236}">
                  <a16:creationId xmlns:a16="http://schemas.microsoft.com/office/drawing/2014/main" id="{1012AD1F-0FBF-43FC-AD2D-E4E6750F28BE}"/>
                </a:ext>
              </a:extLst>
            </p:cNvPr>
            <p:cNvSpPr>
              <a:spLocks noChangeShapeType="1"/>
            </p:cNvSpPr>
            <p:nvPr/>
          </p:nvSpPr>
          <p:spPr bwMode="auto">
            <a:xfrm>
              <a:off x="2064" y="3525"/>
              <a:ext cx="0" cy="380"/>
            </a:xfrm>
            <a:prstGeom prst="line">
              <a:avLst/>
            </a:prstGeom>
            <a:noFill/>
            <a:ln w="25400">
              <a:solidFill>
                <a:schemeClr val="tx1"/>
              </a:solidFill>
              <a:round/>
              <a:headEnd type="triangle" w="med" len="me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3562" name="Object 73">
                  <a:extLst>
                    <a:ext uri="{FF2B5EF4-FFF2-40B4-BE49-F238E27FC236}">
                      <a16:creationId xmlns:a16="http://schemas.microsoft.com/office/drawing/2014/main" id="{A59E4C1C-33B4-417D-882B-3A085AA85229}"/>
                    </a:ext>
                  </a:extLst>
                </p:cNvPr>
                <p:cNvSpPr txBox="1"/>
                <p:nvPr/>
              </p:nvSpPr>
              <p:spPr bwMode="auto">
                <a:xfrm>
                  <a:off x="1988" y="3070"/>
                  <a:ext cx="135" cy="273"/>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3562" name="Object 73">
                  <a:extLst>
                    <a:ext uri="{FF2B5EF4-FFF2-40B4-BE49-F238E27FC236}">
                      <a16:creationId xmlns:a16="http://schemas.microsoft.com/office/drawing/2014/main" id="{A59E4C1C-33B4-417D-882B-3A085AA85229}"/>
                    </a:ext>
                  </a:extLst>
                </p:cNvPr>
                <p:cNvSpPr txBox="1">
                  <a:spLocks noRot="1" noChangeAspect="1" noMove="1" noResize="1" noEditPoints="1" noAdjustHandles="1" noChangeArrowheads="1" noChangeShapeType="1" noTextEdit="1"/>
                </p:cNvSpPr>
                <p:nvPr/>
              </p:nvSpPr>
              <p:spPr bwMode="auto">
                <a:xfrm>
                  <a:off x="1988" y="3070"/>
                  <a:ext cx="135" cy="273"/>
                </a:xfrm>
                <a:prstGeom prst="rect">
                  <a:avLst/>
                </a:prstGeom>
                <a:blipFill>
                  <a:blip r:embed="rId29"/>
                  <a:stretch>
                    <a:fillRect l="-5263" r="-23684"/>
                  </a:stretch>
                </a:blipFill>
                <a:ln>
                  <a:noFill/>
                </a:ln>
                <a:effectLst/>
              </p:spPr>
              <p:txBody>
                <a:bodyPr/>
                <a:lstStyle/>
                <a:p>
                  <a:r>
                    <a:rPr lang="en-US">
                      <a:noFill/>
                    </a:rPr>
                    <a:t> </a:t>
                  </a:r>
                </a:p>
              </p:txBody>
            </p:sp>
          </mc:Fallback>
        </mc:AlternateContent>
        <p:sp>
          <p:nvSpPr>
            <p:cNvPr id="23616" name="Line 74">
              <a:extLst>
                <a:ext uri="{FF2B5EF4-FFF2-40B4-BE49-F238E27FC236}">
                  <a16:creationId xmlns:a16="http://schemas.microsoft.com/office/drawing/2014/main" id="{4FA2302A-0DC5-4901-90E5-762F75140028}"/>
                </a:ext>
              </a:extLst>
            </p:cNvPr>
            <p:cNvSpPr>
              <a:spLocks noChangeShapeType="1"/>
            </p:cNvSpPr>
            <p:nvPr/>
          </p:nvSpPr>
          <p:spPr bwMode="auto">
            <a:xfrm>
              <a:off x="2120" y="2200"/>
              <a:ext cx="38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3563" name="Object 75">
                  <a:extLst>
                    <a:ext uri="{FF2B5EF4-FFF2-40B4-BE49-F238E27FC236}">
                      <a16:creationId xmlns:a16="http://schemas.microsoft.com/office/drawing/2014/main" id="{B3FA66FC-1F41-42F0-8FEA-9D849F8AD33A}"/>
                    </a:ext>
                  </a:extLst>
                </p:cNvPr>
                <p:cNvSpPr txBox="1"/>
                <p:nvPr/>
              </p:nvSpPr>
              <p:spPr bwMode="auto">
                <a:xfrm>
                  <a:off x="875" y="1917"/>
                  <a:ext cx="413" cy="27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3563" name="Object 75">
                  <a:extLst>
                    <a:ext uri="{FF2B5EF4-FFF2-40B4-BE49-F238E27FC236}">
                      <a16:creationId xmlns:a16="http://schemas.microsoft.com/office/drawing/2014/main" id="{B3FA66FC-1F41-42F0-8FEA-9D849F8AD33A}"/>
                    </a:ext>
                  </a:extLst>
                </p:cNvPr>
                <p:cNvSpPr txBox="1">
                  <a:spLocks noRot="1" noChangeAspect="1" noMove="1" noResize="1" noEditPoints="1" noAdjustHandles="1" noChangeArrowheads="1" noChangeShapeType="1" noTextEdit="1"/>
                </p:cNvSpPr>
                <p:nvPr/>
              </p:nvSpPr>
              <p:spPr bwMode="auto">
                <a:xfrm>
                  <a:off x="875" y="1917"/>
                  <a:ext cx="413" cy="273"/>
                </a:xfrm>
                <a:prstGeom prst="rect">
                  <a:avLst/>
                </a:prstGeom>
                <a:blipFill>
                  <a:blip r:embed="rId30"/>
                  <a:stretch>
                    <a:fillRect r="-11207"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64" name="Object 76">
                  <a:extLst>
                    <a:ext uri="{FF2B5EF4-FFF2-40B4-BE49-F238E27FC236}">
                      <a16:creationId xmlns:a16="http://schemas.microsoft.com/office/drawing/2014/main" id="{9E571241-1145-4E09-9F02-07D3112761BA}"/>
                    </a:ext>
                  </a:extLst>
                </p:cNvPr>
                <p:cNvSpPr txBox="1"/>
                <p:nvPr/>
              </p:nvSpPr>
              <p:spPr bwMode="auto">
                <a:xfrm>
                  <a:off x="2271" y="1919"/>
                  <a:ext cx="432" cy="27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𝑤</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3564" name="Object 76">
                  <a:extLst>
                    <a:ext uri="{FF2B5EF4-FFF2-40B4-BE49-F238E27FC236}">
                      <a16:creationId xmlns:a16="http://schemas.microsoft.com/office/drawing/2014/main" id="{9E571241-1145-4E09-9F02-07D3112761BA}"/>
                    </a:ext>
                  </a:extLst>
                </p:cNvPr>
                <p:cNvSpPr txBox="1">
                  <a:spLocks noRot="1" noChangeAspect="1" noMove="1" noResize="1" noEditPoints="1" noAdjustHandles="1" noChangeArrowheads="1" noChangeShapeType="1" noTextEdit="1"/>
                </p:cNvSpPr>
                <p:nvPr/>
              </p:nvSpPr>
              <p:spPr bwMode="auto">
                <a:xfrm>
                  <a:off x="2271" y="1919"/>
                  <a:ext cx="432" cy="273"/>
                </a:xfrm>
                <a:prstGeom prst="rect">
                  <a:avLst/>
                </a:prstGeom>
                <a:blipFill>
                  <a:blip r:embed="rId31"/>
                  <a:stretch>
                    <a:fillRect r="-14754"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65" name="Object 77">
                  <a:extLst>
                    <a:ext uri="{FF2B5EF4-FFF2-40B4-BE49-F238E27FC236}">
                      <a16:creationId xmlns:a16="http://schemas.microsoft.com/office/drawing/2014/main" id="{879CFC76-E7A3-4D78-933D-ABB72313FE6A}"/>
                    </a:ext>
                  </a:extLst>
                </p:cNvPr>
                <p:cNvSpPr txBox="1"/>
                <p:nvPr/>
              </p:nvSpPr>
              <p:spPr bwMode="auto">
                <a:xfrm>
                  <a:off x="1625" y="1915"/>
                  <a:ext cx="262" cy="27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𝑏</m:t>
                            </m:r>
                          </m:e>
                          <m:sub>
                            <m:r>
                              <a:rPr lang="en-US" sz="2400" i="1">
                                <a:solidFill>
                                  <a:srgbClr val="000000"/>
                                </a:solidFill>
                                <a:latin typeface="Cambria Math" panose="02040503050406030204" pitchFamily="18" charset="0"/>
                              </a:rPr>
                              <m:t>𝑁</m:t>
                            </m:r>
                          </m:sub>
                        </m:sSub>
                      </m:oMath>
                    </m:oMathPara>
                  </a14:m>
                  <a:endParaRPr lang="en-US" sz="2400" dirty="0"/>
                </a:p>
              </p:txBody>
            </p:sp>
          </mc:Choice>
          <mc:Fallback xmlns="">
            <p:sp>
              <p:nvSpPr>
                <p:cNvPr id="23565" name="Object 77">
                  <a:extLst>
                    <a:ext uri="{FF2B5EF4-FFF2-40B4-BE49-F238E27FC236}">
                      <a16:creationId xmlns:a16="http://schemas.microsoft.com/office/drawing/2014/main" id="{879CFC76-E7A3-4D78-933D-ABB72313FE6A}"/>
                    </a:ext>
                  </a:extLst>
                </p:cNvPr>
                <p:cNvSpPr txBox="1">
                  <a:spLocks noRot="1" noChangeAspect="1" noMove="1" noResize="1" noEditPoints="1" noAdjustHandles="1" noChangeArrowheads="1" noChangeShapeType="1" noTextEdit="1"/>
                </p:cNvSpPr>
                <p:nvPr/>
              </p:nvSpPr>
              <p:spPr bwMode="auto">
                <a:xfrm>
                  <a:off x="1625" y="1915"/>
                  <a:ext cx="262" cy="273"/>
                </a:xfrm>
                <a:prstGeom prst="rect">
                  <a:avLst/>
                </a:prstGeom>
                <a:blipFill>
                  <a:blip r:embed="rId32"/>
                  <a:stretch>
                    <a:fillRect l="-4054" r="-8108" b="-394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66" name="Object 78">
                  <a:extLst>
                    <a:ext uri="{FF2B5EF4-FFF2-40B4-BE49-F238E27FC236}">
                      <a16:creationId xmlns:a16="http://schemas.microsoft.com/office/drawing/2014/main" id="{3401780B-FF76-4F40-A894-2713CF814BA6}"/>
                    </a:ext>
                  </a:extLst>
                </p:cNvPr>
                <p:cNvSpPr txBox="1"/>
                <p:nvPr/>
              </p:nvSpPr>
              <p:spPr bwMode="auto">
                <a:xfrm>
                  <a:off x="1540" y="2367"/>
                  <a:ext cx="433" cy="27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𝑏</m:t>
                            </m:r>
                          </m:e>
                          <m:sub>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−1</m:t>
                            </m:r>
                          </m:sub>
                        </m:sSub>
                      </m:oMath>
                    </m:oMathPara>
                  </a14:m>
                  <a:endParaRPr lang="en-US" sz="2400" dirty="0"/>
                </a:p>
              </p:txBody>
            </p:sp>
          </mc:Choice>
          <mc:Fallback xmlns="">
            <p:sp>
              <p:nvSpPr>
                <p:cNvPr id="23566" name="Object 78">
                  <a:extLst>
                    <a:ext uri="{FF2B5EF4-FFF2-40B4-BE49-F238E27FC236}">
                      <a16:creationId xmlns:a16="http://schemas.microsoft.com/office/drawing/2014/main" id="{3401780B-FF76-4F40-A894-2713CF814BA6}"/>
                    </a:ext>
                  </a:extLst>
                </p:cNvPr>
                <p:cNvSpPr txBox="1">
                  <a:spLocks noRot="1" noChangeAspect="1" noMove="1" noResize="1" noEditPoints="1" noAdjustHandles="1" noChangeArrowheads="1" noChangeShapeType="1" noTextEdit="1"/>
                </p:cNvSpPr>
                <p:nvPr/>
              </p:nvSpPr>
              <p:spPr bwMode="auto">
                <a:xfrm>
                  <a:off x="1540" y="2367"/>
                  <a:ext cx="433" cy="273"/>
                </a:xfrm>
                <a:prstGeom prst="rect">
                  <a:avLst/>
                </a:prstGeom>
                <a:blipFill>
                  <a:blip r:embed="rId33"/>
                  <a:stretch>
                    <a:fillRect l="-2459" r="-5738" b="-400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67" name="Object 79">
                  <a:extLst>
                    <a:ext uri="{FF2B5EF4-FFF2-40B4-BE49-F238E27FC236}">
                      <a16:creationId xmlns:a16="http://schemas.microsoft.com/office/drawing/2014/main" id="{F98876D3-21C8-42AB-B901-A86C03184D8B}"/>
                    </a:ext>
                  </a:extLst>
                </p:cNvPr>
                <p:cNvSpPr txBox="1"/>
                <p:nvPr/>
              </p:nvSpPr>
              <p:spPr bwMode="auto">
                <a:xfrm>
                  <a:off x="1544" y="2751"/>
                  <a:ext cx="425" cy="27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𝑏</m:t>
                            </m:r>
                          </m:e>
                          <m:sub>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−2</m:t>
                            </m:r>
                          </m:sub>
                        </m:sSub>
                      </m:oMath>
                    </m:oMathPara>
                  </a14:m>
                  <a:endParaRPr lang="en-US" sz="2400" dirty="0"/>
                </a:p>
              </p:txBody>
            </p:sp>
          </mc:Choice>
          <mc:Fallback xmlns="">
            <p:sp>
              <p:nvSpPr>
                <p:cNvPr id="23567" name="Object 79">
                  <a:extLst>
                    <a:ext uri="{FF2B5EF4-FFF2-40B4-BE49-F238E27FC236}">
                      <a16:creationId xmlns:a16="http://schemas.microsoft.com/office/drawing/2014/main" id="{F98876D3-21C8-42AB-B901-A86C03184D8B}"/>
                    </a:ext>
                  </a:extLst>
                </p:cNvPr>
                <p:cNvSpPr txBox="1">
                  <a:spLocks noRot="1" noChangeAspect="1" noMove="1" noResize="1" noEditPoints="1" noAdjustHandles="1" noChangeArrowheads="1" noChangeShapeType="1" noTextEdit="1"/>
                </p:cNvSpPr>
                <p:nvPr/>
              </p:nvSpPr>
              <p:spPr bwMode="auto">
                <a:xfrm>
                  <a:off x="1544" y="2751"/>
                  <a:ext cx="425" cy="273"/>
                </a:xfrm>
                <a:prstGeom prst="rect">
                  <a:avLst/>
                </a:prstGeom>
                <a:blipFill>
                  <a:blip r:embed="rId34"/>
                  <a:stretch>
                    <a:fillRect l="-2500" r="-7500" b="-394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68" name="Object 80">
                  <a:extLst>
                    <a:ext uri="{FF2B5EF4-FFF2-40B4-BE49-F238E27FC236}">
                      <a16:creationId xmlns:a16="http://schemas.microsoft.com/office/drawing/2014/main" id="{93C6163B-2852-4D7D-8647-75D850BBBF9F}"/>
                    </a:ext>
                  </a:extLst>
                </p:cNvPr>
                <p:cNvSpPr txBox="1"/>
                <p:nvPr/>
              </p:nvSpPr>
              <p:spPr bwMode="auto">
                <a:xfrm>
                  <a:off x="1637" y="3163"/>
                  <a:ext cx="238" cy="27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𝑏</m:t>
                            </m:r>
                          </m:e>
                          <m:sub>
                            <m:r>
                              <a:rPr lang="en-US" sz="2400" i="1">
                                <a:solidFill>
                                  <a:srgbClr val="000000"/>
                                </a:solidFill>
                                <a:latin typeface="Cambria Math" panose="02040503050406030204" pitchFamily="18" charset="0"/>
                              </a:rPr>
                              <m:t>1</m:t>
                            </m:r>
                          </m:sub>
                        </m:sSub>
                      </m:oMath>
                    </m:oMathPara>
                  </a14:m>
                  <a:endParaRPr lang="en-US" sz="2400" dirty="0"/>
                </a:p>
              </p:txBody>
            </p:sp>
          </mc:Choice>
          <mc:Fallback xmlns="">
            <p:sp>
              <p:nvSpPr>
                <p:cNvPr id="23568" name="Object 80">
                  <a:extLst>
                    <a:ext uri="{FF2B5EF4-FFF2-40B4-BE49-F238E27FC236}">
                      <a16:creationId xmlns:a16="http://schemas.microsoft.com/office/drawing/2014/main" id="{93C6163B-2852-4D7D-8647-75D850BBBF9F}"/>
                    </a:ext>
                  </a:extLst>
                </p:cNvPr>
                <p:cNvSpPr txBox="1">
                  <a:spLocks noRot="1" noChangeAspect="1" noMove="1" noResize="1" noEditPoints="1" noAdjustHandles="1" noChangeArrowheads="1" noChangeShapeType="1" noTextEdit="1"/>
                </p:cNvSpPr>
                <p:nvPr/>
              </p:nvSpPr>
              <p:spPr bwMode="auto">
                <a:xfrm>
                  <a:off x="1637" y="3163"/>
                  <a:ext cx="238" cy="273"/>
                </a:xfrm>
                <a:prstGeom prst="rect">
                  <a:avLst/>
                </a:prstGeom>
                <a:blipFill>
                  <a:blip r:embed="rId35"/>
                  <a:stretch>
                    <a:fillRect l="-4478" r="-7463" b="-394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69" name="Object 81">
                  <a:extLst>
                    <a:ext uri="{FF2B5EF4-FFF2-40B4-BE49-F238E27FC236}">
                      <a16:creationId xmlns:a16="http://schemas.microsoft.com/office/drawing/2014/main" id="{6B79B6BD-EC70-4180-A642-92BE610DD1FE}"/>
                    </a:ext>
                  </a:extLst>
                </p:cNvPr>
                <p:cNvSpPr txBox="1"/>
                <p:nvPr/>
              </p:nvSpPr>
              <p:spPr bwMode="auto">
                <a:xfrm>
                  <a:off x="1639" y="3632"/>
                  <a:ext cx="235" cy="27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𝑏</m:t>
                            </m:r>
                          </m:e>
                          <m:sub>
                            <m:r>
                              <a:rPr lang="en-US" sz="2400" i="1">
                                <a:solidFill>
                                  <a:srgbClr val="000000"/>
                                </a:solidFill>
                                <a:latin typeface="Cambria Math" panose="02040503050406030204" pitchFamily="18" charset="0"/>
                              </a:rPr>
                              <m:t>0</m:t>
                            </m:r>
                          </m:sub>
                        </m:sSub>
                      </m:oMath>
                    </m:oMathPara>
                  </a14:m>
                  <a:endParaRPr lang="en-US" sz="2400" dirty="0"/>
                </a:p>
              </p:txBody>
            </p:sp>
          </mc:Choice>
          <mc:Fallback xmlns="">
            <p:sp>
              <p:nvSpPr>
                <p:cNvPr id="23569" name="Object 81">
                  <a:extLst>
                    <a:ext uri="{FF2B5EF4-FFF2-40B4-BE49-F238E27FC236}">
                      <a16:creationId xmlns:a16="http://schemas.microsoft.com/office/drawing/2014/main" id="{6B79B6BD-EC70-4180-A642-92BE610DD1FE}"/>
                    </a:ext>
                  </a:extLst>
                </p:cNvPr>
                <p:cNvSpPr txBox="1">
                  <a:spLocks noRot="1" noChangeAspect="1" noMove="1" noResize="1" noEditPoints="1" noAdjustHandles="1" noChangeArrowheads="1" noChangeShapeType="1" noTextEdit="1"/>
                </p:cNvSpPr>
                <p:nvPr/>
              </p:nvSpPr>
              <p:spPr bwMode="auto">
                <a:xfrm>
                  <a:off x="1639" y="3632"/>
                  <a:ext cx="235" cy="273"/>
                </a:xfrm>
                <a:prstGeom prst="rect">
                  <a:avLst/>
                </a:prstGeom>
                <a:blipFill>
                  <a:blip r:embed="rId36"/>
                  <a:stretch>
                    <a:fillRect l="-4545" r="-10606" b="-394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623" name="Rectangle 83">
                  <a:extLst>
                    <a:ext uri="{FF2B5EF4-FFF2-40B4-BE49-F238E27FC236}">
                      <a16:creationId xmlns:a16="http://schemas.microsoft.com/office/drawing/2014/main" id="{52E6687B-35D3-4661-AF22-46EE8BB8678A}"/>
                    </a:ext>
                  </a:extLst>
                </p:cNvPr>
                <p:cNvSpPr>
                  <a:spLocks noChangeArrowheads="1"/>
                </p:cNvSpPr>
                <p:nvPr/>
              </p:nvSpPr>
              <p:spPr bwMode="auto">
                <a:xfrm>
                  <a:off x="1200" y="2340"/>
                  <a:ext cx="294" cy="281"/>
                </a:xfrm>
                <a:prstGeom prst="rect">
                  <a:avLst/>
                </a:prstGeom>
                <a:solidFill>
                  <a:srgbClr val="CCFFFF"/>
                </a:solidFill>
                <a:ln w="19050">
                  <a:solidFill>
                    <a:schemeClr val="tx1"/>
                  </a:solidFill>
                  <a:miter lim="800000"/>
                  <a:headEnd/>
                  <a:tailE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R="0" lvl="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right"/>
                      </m:oMathParaPr>
                      <m:oMath xmlns:m="http://schemas.openxmlformats.org/officeDocument/2006/math">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oMath>
                    </m:oMathPara>
                  </a14:m>
                  <a:endParaRPr kumimoji="0" lang="zh-CN" altLang="zh-CN" sz="2400" b="0" i="0" u="none" strike="noStrike" kern="1200" cap="none" spc="0" normalizeH="0" baseline="0" noProof="0" dirty="0">
                    <a:ln>
                      <a:noFill/>
                    </a:ln>
                    <a:solidFill>
                      <a:prstClr val="black"/>
                    </a:solidFill>
                    <a:effectLst/>
                    <a:uLnTx/>
                    <a:uFillTx/>
                    <a:latin typeface="Times New Roman" panose="02020603050405020304" pitchFamily="18" charset="0"/>
                  </a:endParaRPr>
                </a:p>
              </p:txBody>
            </p:sp>
          </mc:Choice>
          <mc:Fallback xmlns="">
            <p:sp>
              <p:nvSpPr>
                <p:cNvPr id="23623" name="Rectangle 83">
                  <a:extLst>
                    <a:ext uri="{FF2B5EF4-FFF2-40B4-BE49-F238E27FC236}">
                      <a16:creationId xmlns:a16="http://schemas.microsoft.com/office/drawing/2014/main" id="{52E6687B-35D3-4661-AF22-46EE8BB8678A}"/>
                    </a:ext>
                  </a:extLst>
                </p:cNvPr>
                <p:cNvSpPr>
                  <a:spLocks noRot="1" noChangeAspect="1" noMove="1" noResize="1" noEditPoints="1" noAdjustHandles="1" noChangeArrowheads="1" noChangeShapeType="1" noTextEdit="1"/>
                </p:cNvSpPr>
                <p:nvPr/>
              </p:nvSpPr>
              <p:spPr bwMode="auto">
                <a:xfrm>
                  <a:off x="1200" y="2340"/>
                  <a:ext cx="294" cy="281"/>
                </a:xfrm>
                <a:prstGeom prst="rect">
                  <a:avLst/>
                </a:prstGeom>
                <a:blipFill>
                  <a:blip r:embed="rId37"/>
                  <a:stretch>
                    <a:fillRect/>
                  </a:stretch>
                </a:blipFill>
                <a:ln w="19050">
                  <a:solidFill>
                    <a:schemeClr val="tx1"/>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622" name="Rectangle 86">
                  <a:extLst>
                    <a:ext uri="{FF2B5EF4-FFF2-40B4-BE49-F238E27FC236}">
                      <a16:creationId xmlns:a16="http://schemas.microsoft.com/office/drawing/2014/main" id="{58ECF497-530C-44BA-89A2-EADFA931AB33}"/>
                    </a:ext>
                  </a:extLst>
                </p:cNvPr>
                <p:cNvSpPr>
                  <a:spLocks noChangeArrowheads="1"/>
                </p:cNvSpPr>
                <p:nvPr/>
              </p:nvSpPr>
              <p:spPr bwMode="auto">
                <a:xfrm>
                  <a:off x="1195" y="2729"/>
                  <a:ext cx="294" cy="281"/>
                </a:xfrm>
                <a:prstGeom prst="rect">
                  <a:avLst/>
                </a:prstGeom>
                <a:solidFill>
                  <a:srgbClr val="CCFFFF"/>
                </a:solidFill>
                <a:ln w="19050">
                  <a:solidFill>
                    <a:schemeClr val="tx1"/>
                  </a:solidFill>
                  <a:miter lim="800000"/>
                  <a:headEnd/>
                  <a:tailE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right"/>
                      </m:oMathParaPr>
                      <m:oMath xmlns:m="http://schemas.openxmlformats.org/officeDocument/2006/math">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oMath>
                    </m:oMathPara>
                  </a14:m>
                  <a:endParaRPr kumimoji="0" lang="zh-CN"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mc:Choice>
          <mc:Fallback xmlns="">
            <p:sp>
              <p:nvSpPr>
                <p:cNvPr id="23622" name="Rectangle 86">
                  <a:extLst>
                    <a:ext uri="{FF2B5EF4-FFF2-40B4-BE49-F238E27FC236}">
                      <a16:creationId xmlns:a16="http://schemas.microsoft.com/office/drawing/2014/main" id="{58ECF497-530C-44BA-89A2-EADFA931AB33}"/>
                    </a:ext>
                  </a:extLst>
                </p:cNvPr>
                <p:cNvSpPr>
                  <a:spLocks noRot="1" noChangeAspect="1" noMove="1" noResize="1" noEditPoints="1" noAdjustHandles="1" noChangeArrowheads="1" noChangeShapeType="1" noTextEdit="1"/>
                </p:cNvSpPr>
                <p:nvPr/>
              </p:nvSpPr>
              <p:spPr bwMode="auto">
                <a:xfrm>
                  <a:off x="1195" y="2729"/>
                  <a:ext cx="294" cy="281"/>
                </a:xfrm>
                <a:prstGeom prst="rect">
                  <a:avLst/>
                </a:prstGeom>
                <a:blipFill>
                  <a:blip r:embed="rId38"/>
                  <a:stretch>
                    <a:fillRect/>
                  </a:stretch>
                </a:blipFill>
                <a:ln w="19050">
                  <a:solidFill>
                    <a:schemeClr val="tx1"/>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621" name="Rectangle 89">
                  <a:extLst>
                    <a:ext uri="{FF2B5EF4-FFF2-40B4-BE49-F238E27FC236}">
                      <a16:creationId xmlns:a16="http://schemas.microsoft.com/office/drawing/2014/main" id="{95A84322-EBD9-4C9E-AF2D-352C6E6FC350}"/>
                    </a:ext>
                  </a:extLst>
                </p:cNvPr>
                <p:cNvSpPr>
                  <a:spLocks noChangeArrowheads="1"/>
                </p:cNvSpPr>
                <p:nvPr/>
              </p:nvSpPr>
              <p:spPr bwMode="auto">
                <a:xfrm>
                  <a:off x="1187" y="3524"/>
                  <a:ext cx="294" cy="281"/>
                </a:xfrm>
                <a:prstGeom prst="rect">
                  <a:avLst/>
                </a:prstGeom>
                <a:solidFill>
                  <a:srgbClr val="CCFFFF"/>
                </a:solidFill>
                <a:ln w="19050">
                  <a:solidFill>
                    <a:schemeClr val="tx1"/>
                  </a:solidFill>
                  <a:miter lim="800000"/>
                  <a:headEnd/>
                  <a:tailE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right"/>
                      </m:oMathParaPr>
                      <m:oMath xmlns:m="http://schemas.openxmlformats.org/officeDocument/2006/math">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oMath>
                    </m:oMathPara>
                  </a14:m>
                  <a:endParaRPr kumimoji="0" lang="zh-CN"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mc:Choice>
          <mc:Fallback xmlns="">
            <p:sp>
              <p:nvSpPr>
                <p:cNvPr id="23621" name="Rectangle 89">
                  <a:extLst>
                    <a:ext uri="{FF2B5EF4-FFF2-40B4-BE49-F238E27FC236}">
                      <a16:creationId xmlns:a16="http://schemas.microsoft.com/office/drawing/2014/main" id="{95A84322-EBD9-4C9E-AF2D-352C6E6FC350}"/>
                    </a:ext>
                  </a:extLst>
                </p:cNvPr>
                <p:cNvSpPr>
                  <a:spLocks noRot="1" noChangeAspect="1" noMove="1" noResize="1" noEditPoints="1" noAdjustHandles="1" noChangeArrowheads="1" noChangeShapeType="1" noTextEdit="1"/>
                </p:cNvSpPr>
                <p:nvPr/>
              </p:nvSpPr>
              <p:spPr bwMode="auto">
                <a:xfrm>
                  <a:off x="1187" y="3524"/>
                  <a:ext cx="294" cy="281"/>
                </a:xfrm>
                <a:prstGeom prst="rect">
                  <a:avLst/>
                </a:prstGeom>
                <a:blipFill>
                  <a:blip r:embed="rId39"/>
                  <a:stretch>
                    <a:fillRect/>
                  </a:stretch>
                </a:blipFill>
                <a:ln w="19050">
                  <a:solidFill>
                    <a:schemeClr val="tx1"/>
                  </a:solidFill>
                  <a:miter lim="800000"/>
                  <a:headEnd/>
                  <a:tailEnd/>
                </a:ln>
              </p:spPr>
              <p:txBody>
                <a:bodyPr/>
                <a:lstStyle/>
                <a:p>
                  <a:r>
                    <a:rPr lang="en-US">
                      <a:noFill/>
                    </a:rPr>
                    <a:t> </a:t>
                  </a:r>
                </a:p>
              </p:txBody>
            </p:sp>
          </mc:Fallback>
        </mc:AlternateContent>
        <p:sp>
          <p:nvSpPr>
            <p:cNvPr id="23620" name="Text Box 91">
              <a:extLst>
                <a:ext uri="{FF2B5EF4-FFF2-40B4-BE49-F238E27FC236}">
                  <a16:creationId xmlns:a16="http://schemas.microsoft.com/office/drawing/2014/main" id="{771C6A13-8A27-4852-8E51-1197F5628779}"/>
                </a:ext>
              </a:extLst>
            </p:cNvPr>
            <p:cNvSpPr txBox="1">
              <a:spLocks noChangeArrowheads="1"/>
            </p:cNvSpPr>
            <p:nvPr/>
          </p:nvSpPr>
          <p:spPr bwMode="auto">
            <a:xfrm>
              <a:off x="2323" y="3426"/>
              <a:ext cx="107"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zh-CN" sz="2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sp>
        <p:nvSpPr>
          <p:cNvPr id="95" name="Text Box 92">
            <a:extLst>
              <a:ext uri="{FF2B5EF4-FFF2-40B4-BE49-F238E27FC236}">
                <a16:creationId xmlns:a16="http://schemas.microsoft.com/office/drawing/2014/main" id="{29C87418-E4A8-4BEF-ABC1-8912A92C8A58}"/>
              </a:ext>
            </a:extLst>
          </p:cNvPr>
          <p:cNvSpPr txBox="1">
            <a:spLocks noChangeArrowheads="1"/>
          </p:cNvSpPr>
          <p:nvPr/>
        </p:nvSpPr>
        <p:spPr bwMode="auto">
          <a:xfrm>
            <a:off x="3890606" y="5864232"/>
            <a:ext cx="13502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lg"/>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直接</a:t>
            </a:r>
            <a:r>
              <a:rPr kumimoji="0" lang="en-US" altLang="zh-CN" sz="24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Ⅰ</a:t>
            </a:r>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型</a:t>
            </a:r>
          </a:p>
        </p:txBody>
      </p:sp>
      <p:sp>
        <p:nvSpPr>
          <p:cNvPr id="96" name="Line 94">
            <a:extLst>
              <a:ext uri="{FF2B5EF4-FFF2-40B4-BE49-F238E27FC236}">
                <a16:creationId xmlns:a16="http://schemas.microsoft.com/office/drawing/2014/main" id="{E487CE83-9F5B-4035-8965-D0E8466B62C7}"/>
              </a:ext>
            </a:extLst>
          </p:cNvPr>
          <p:cNvSpPr>
            <a:spLocks noChangeShapeType="1"/>
          </p:cNvSpPr>
          <p:nvPr/>
        </p:nvSpPr>
        <p:spPr bwMode="auto">
          <a:xfrm>
            <a:off x="3994150" y="3724275"/>
            <a:ext cx="1223963" cy="0"/>
          </a:xfrm>
          <a:prstGeom prst="line">
            <a:avLst/>
          </a:prstGeom>
          <a:noFill/>
          <a:ln w="25400">
            <a:solidFill>
              <a:schemeClr val="tx1"/>
            </a:solidFill>
            <a:prstDash val="dash"/>
            <a:round/>
            <a:headEnd/>
            <a:tailEnd type="none" w="sm" len="lg"/>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3596" name="TextBox 96">
                <a:extLst>
                  <a:ext uri="{FF2B5EF4-FFF2-40B4-BE49-F238E27FC236}">
                    <a16:creationId xmlns:a16="http://schemas.microsoft.com/office/drawing/2014/main" id="{C9317C56-550A-4629-8BA5-C7D3DBA17B76}"/>
                  </a:ext>
                </a:extLst>
              </p:cNvPr>
              <p:cNvSpPr txBox="1">
                <a:spLocks noChangeArrowheads="1"/>
              </p:cNvSpPr>
              <p:nvPr/>
            </p:nvSpPr>
            <p:spPr bwMode="auto">
              <a:xfrm>
                <a:off x="3700332" y="5171135"/>
                <a:ext cx="1724661"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（若</a:t>
                </a:r>
                <a14:m>
                  <m:oMath xmlns:m="http://schemas.openxmlformats.org/officeDocument/2006/math">
                    <m:r>
                      <a:rPr lang="en-US" sz="2400" i="1" smtClean="0">
                        <a:solidFill>
                          <a:srgbClr val="000000"/>
                        </a:solidFill>
                        <a:latin typeface="Cambria Math" panose="02040503050406030204" pitchFamily="18" charset="0"/>
                      </a:rPr>
                      <m:t>𝑀</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𝑁</m:t>
                    </m:r>
                  </m:oMath>
                </a14:m>
                <a:r>
                  <a:rPr kumimoji="0" lang="zh-CN" altLang="en-US"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a:t>
                </a:r>
              </a:p>
            </p:txBody>
          </p:sp>
        </mc:Choice>
        <mc:Fallback xmlns="">
          <p:sp>
            <p:nvSpPr>
              <p:cNvPr id="23596" name="TextBox 96">
                <a:extLst>
                  <a:ext uri="{FF2B5EF4-FFF2-40B4-BE49-F238E27FC236}">
                    <a16:creationId xmlns:a16="http://schemas.microsoft.com/office/drawing/2014/main" id="{C9317C56-550A-4629-8BA5-C7D3DBA17B76}"/>
                  </a:ext>
                </a:extLst>
              </p:cNvPr>
              <p:cNvSpPr txBox="1">
                <a:spLocks noRot="1" noChangeAspect="1" noMove="1" noResize="1" noEditPoints="1" noAdjustHandles="1" noChangeArrowheads="1" noChangeShapeType="1" noTextEdit="1"/>
              </p:cNvSpPr>
              <p:nvPr/>
            </p:nvSpPr>
            <p:spPr bwMode="auto">
              <a:xfrm>
                <a:off x="3700332" y="5171135"/>
                <a:ext cx="1724661" cy="461665"/>
              </a:xfrm>
              <a:prstGeom prst="rect">
                <a:avLst/>
              </a:prstGeom>
              <a:blipFill>
                <a:blip r:embed="rId40"/>
                <a:stretch>
                  <a:fillRect l="-14134" t="-9211" r="-14488" b="-302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59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p:bldP spid="23596"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04" name="标题 1">
            <a:extLst>
              <a:ext uri="{FF2B5EF4-FFF2-40B4-BE49-F238E27FC236}">
                <a16:creationId xmlns:a16="http://schemas.microsoft.com/office/drawing/2014/main" id="{A9EC976D-5E71-4977-97AC-B356C0BB7AE7}"/>
              </a:ext>
            </a:extLst>
          </p:cNvPr>
          <p:cNvSpPr>
            <a:spLocks noGrp="1"/>
          </p:cNvSpPr>
          <p:nvPr>
            <p:ph type="title"/>
          </p:nvPr>
        </p:nvSpPr>
        <p:spPr/>
        <p:txBody>
          <a:bodyPr/>
          <a:lstStyle/>
          <a:p>
            <a:r>
              <a:rPr lang="en-US" altLang="zh-CN" sz="3200">
                <a:solidFill>
                  <a:srgbClr val="000000"/>
                </a:solidFill>
              </a:rPr>
              <a:t>2.4 </a:t>
            </a:r>
            <a:r>
              <a:rPr lang="zh-CN" altLang="en-US" sz="3200">
                <a:solidFill>
                  <a:srgbClr val="000000"/>
                </a:solidFill>
              </a:rPr>
              <a:t>用微分和差分方程描述的因果</a:t>
            </a:r>
            <a:r>
              <a:rPr lang="en-US" altLang="zh-CN" sz="3200">
                <a:solidFill>
                  <a:srgbClr val="000000"/>
                </a:solidFill>
              </a:rPr>
              <a:t>LTI</a:t>
            </a:r>
            <a:r>
              <a:rPr lang="zh-CN" altLang="en-US" sz="3200">
                <a:solidFill>
                  <a:srgbClr val="000000"/>
                </a:solidFill>
              </a:rPr>
              <a:t>系统</a:t>
            </a:r>
            <a:endParaRPr lang="zh-CN" altLang="en-US"/>
          </a:p>
        </p:txBody>
      </p:sp>
      <p:sp>
        <p:nvSpPr>
          <p:cNvPr id="24605" name="内容占位符 2">
            <a:extLst>
              <a:ext uri="{FF2B5EF4-FFF2-40B4-BE49-F238E27FC236}">
                <a16:creationId xmlns:a16="http://schemas.microsoft.com/office/drawing/2014/main" id="{FA93A5BE-016A-47F9-8B74-13BA70C725F4}"/>
              </a:ext>
            </a:extLst>
          </p:cNvPr>
          <p:cNvSpPr>
            <a:spLocks noGrp="1"/>
          </p:cNvSpPr>
          <p:nvPr>
            <p:ph idx="1"/>
          </p:nvPr>
        </p:nvSpPr>
        <p:spPr>
          <a:xfrm>
            <a:off x="457200" y="1285875"/>
            <a:ext cx="8229600" cy="461665"/>
          </a:xfrm>
        </p:spPr>
        <p:txBody>
          <a:bodyPr>
            <a:spAutoFit/>
          </a:bodyPr>
          <a:lstStyle/>
          <a:p>
            <a:r>
              <a:rPr lang="zh-CN" altLang="en-US" sz="2400" b="0" dirty="0"/>
              <a:t>通过交换级联次序，合并积分器可得直接</a:t>
            </a:r>
            <a:r>
              <a:rPr lang="en-US" altLang="zh-CN" sz="2400" b="0" dirty="0"/>
              <a:t>Ⅱ</a:t>
            </a:r>
            <a:r>
              <a:rPr lang="zh-CN" altLang="en-US" sz="2400" b="0" dirty="0"/>
              <a:t>型：</a:t>
            </a:r>
          </a:p>
        </p:txBody>
      </p:sp>
      <p:sp>
        <p:nvSpPr>
          <p:cNvPr id="4" name="灯片编号占位符 3">
            <a:extLst>
              <a:ext uri="{FF2B5EF4-FFF2-40B4-BE49-F238E27FC236}">
                <a16:creationId xmlns:a16="http://schemas.microsoft.com/office/drawing/2014/main" id="{52D7C55B-8327-4BA3-9672-625F7A73A48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2330307-E1CD-4949-9D5D-24201B9B417A}"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74</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2" name="Group 2">
            <a:extLst>
              <a:ext uri="{FF2B5EF4-FFF2-40B4-BE49-F238E27FC236}">
                <a16:creationId xmlns:a16="http://schemas.microsoft.com/office/drawing/2014/main" id="{E7720838-1D9C-428B-A22A-17279F77FCEA}"/>
              </a:ext>
            </a:extLst>
          </p:cNvPr>
          <p:cNvGrpSpPr>
            <a:grpSpLocks/>
          </p:cNvGrpSpPr>
          <p:nvPr/>
        </p:nvGrpSpPr>
        <p:grpSpPr bwMode="auto">
          <a:xfrm>
            <a:off x="2051720" y="1796954"/>
            <a:ext cx="5371544" cy="4006171"/>
            <a:chOff x="1097" y="1156"/>
            <a:chExt cx="3280" cy="2458"/>
          </a:xfrm>
        </p:grpSpPr>
        <p:sp>
          <p:nvSpPr>
            <p:cNvPr id="24609" name="Line 3">
              <a:extLst>
                <a:ext uri="{FF2B5EF4-FFF2-40B4-BE49-F238E27FC236}">
                  <a16:creationId xmlns:a16="http://schemas.microsoft.com/office/drawing/2014/main" id="{4CA224A3-8B95-44DB-8E14-64C2B88DDF0E}"/>
                </a:ext>
              </a:extLst>
            </p:cNvPr>
            <p:cNvSpPr>
              <a:spLocks noChangeShapeType="1"/>
            </p:cNvSpPr>
            <p:nvPr/>
          </p:nvSpPr>
          <p:spPr bwMode="auto">
            <a:xfrm>
              <a:off x="1900" y="1450"/>
              <a:ext cx="46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10" name="Line 4">
              <a:extLst>
                <a:ext uri="{FF2B5EF4-FFF2-40B4-BE49-F238E27FC236}">
                  <a16:creationId xmlns:a16="http://schemas.microsoft.com/office/drawing/2014/main" id="{707880BC-8549-48E5-A9A4-E668511546C6}"/>
                </a:ext>
              </a:extLst>
            </p:cNvPr>
            <p:cNvSpPr>
              <a:spLocks noChangeShapeType="1"/>
            </p:cNvSpPr>
            <p:nvPr/>
          </p:nvSpPr>
          <p:spPr bwMode="auto">
            <a:xfrm>
              <a:off x="2322" y="1450"/>
              <a:ext cx="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11" name="Line 5">
              <a:extLst>
                <a:ext uri="{FF2B5EF4-FFF2-40B4-BE49-F238E27FC236}">
                  <a16:creationId xmlns:a16="http://schemas.microsoft.com/office/drawing/2014/main" id="{AB64FC7E-6D6A-4517-9C6D-EC43E00EC109}"/>
                </a:ext>
              </a:extLst>
            </p:cNvPr>
            <p:cNvSpPr>
              <a:spLocks noChangeShapeType="1"/>
            </p:cNvSpPr>
            <p:nvPr/>
          </p:nvSpPr>
          <p:spPr bwMode="auto">
            <a:xfrm flipH="1">
              <a:off x="2181" y="2026"/>
              <a:ext cx="516"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12" name="Line 6">
              <a:extLst>
                <a:ext uri="{FF2B5EF4-FFF2-40B4-BE49-F238E27FC236}">
                  <a16:creationId xmlns:a16="http://schemas.microsoft.com/office/drawing/2014/main" id="{9877E803-E89A-4EC0-8CCB-7D502920ED37}"/>
                </a:ext>
              </a:extLst>
            </p:cNvPr>
            <p:cNvSpPr>
              <a:spLocks noChangeShapeType="1"/>
            </p:cNvSpPr>
            <p:nvPr/>
          </p:nvSpPr>
          <p:spPr bwMode="auto">
            <a:xfrm flipH="1">
              <a:off x="1853" y="2026"/>
              <a:ext cx="374" cy="0"/>
            </a:xfrm>
            <a:prstGeom prst="line">
              <a:avLst/>
            </a:prstGeom>
            <a:noFill/>
            <a:ln w="25400">
              <a:solidFill>
                <a:schemeClr val="tx1"/>
              </a:solidFill>
              <a:round/>
              <a:headEnd/>
              <a:tailEnd type="none" w="sm" len="lg"/>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13" name="Line 7">
              <a:extLst>
                <a:ext uri="{FF2B5EF4-FFF2-40B4-BE49-F238E27FC236}">
                  <a16:creationId xmlns:a16="http://schemas.microsoft.com/office/drawing/2014/main" id="{931F981A-7067-453C-BD23-58C4BA103D27}"/>
                </a:ext>
              </a:extLst>
            </p:cNvPr>
            <p:cNvSpPr>
              <a:spLocks noChangeShapeType="1"/>
            </p:cNvSpPr>
            <p:nvPr/>
          </p:nvSpPr>
          <p:spPr bwMode="auto">
            <a:xfrm>
              <a:off x="2698" y="1450"/>
              <a:ext cx="0" cy="19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14" name="Line 8">
              <a:extLst>
                <a:ext uri="{FF2B5EF4-FFF2-40B4-BE49-F238E27FC236}">
                  <a16:creationId xmlns:a16="http://schemas.microsoft.com/office/drawing/2014/main" id="{FABCB8B7-9BCF-4377-879E-0BC6F0F5B1BC}"/>
                </a:ext>
              </a:extLst>
            </p:cNvPr>
            <p:cNvSpPr>
              <a:spLocks noChangeShapeType="1"/>
            </p:cNvSpPr>
            <p:nvPr/>
          </p:nvSpPr>
          <p:spPr bwMode="auto">
            <a:xfrm>
              <a:off x="2698" y="1930"/>
              <a:ext cx="0" cy="19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4578" name="Object 9">
                  <a:extLst>
                    <a:ext uri="{FF2B5EF4-FFF2-40B4-BE49-F238E27FC236}">
                      <a16:creationId xmlns:a16="http://schemas.microsoft.com/office/drawing/2014/main" id="{60F5D11C-6FAA-44E8-80EC-A520934B9611}"/>
                    </a:ext>
                  </a:extLst>
                </p:cNvPr>
                <p:cNvSpPr txBox="1"/>
                <p:nvPr/>
              </p:nvSpPr>
              <p:spPr bwMode="auto">
                <a:xfrm>
                  <a:off x="2614" y="2608"/>
                  <a:ext cx="166" cy="283"/>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4578" name="Object 9">
                  <a:extLst>
                    <a:ext uri="{FF2B5EF4-FFF2-40B4-BE49-F238E27FC236}">
                      <a16:creationId xmlns:a16="http://schemas.microsoft.com/office/drawing/2014/main" id="{60F5D11C-6FAA-44E8-80EC-A520934B9611}"/>
                    </a:ext>
                  </a:extLst>
                </p:cNvPr>
                <p:cNvSpPr txBox="1">
                  <a:spLocks noRot="1" noChangeAspect="1" noMove="1" noResize="1" noEditPoints="1" noAdjustHandles="1" noChangeArrowheads="1" noChangeShapeType="1" noTextEdit="1"/>
                </p:cNvSpPr>
                <p:nvPr/>
              </p:nvSpPr>
              <p:spPr bwMode="auto">
                <a:xfrm>
                  <a:off x="2614" y="2608"/>
                  <a:ext cx="166" cy="283"/>
                </a:xfrm>
                <a:prstGeom prst="rect">
                  <a:avLst/>
                </a:prstGeom>
                <a:blipFill>
                  <a:blip r:embed="rId2"/>
                  <a:stretch>
                    <a:fillRect l="-2222" r="-6667"/>
                  </a:stretch>
                </a:blipFill>
                <a:ln>
                  <a:noFill/>
                </a:ln>
                <a:effectLst/>
              </p:spPr>
              <p:txBody>
                <a:bodyPr/>
                <a:lstStyle/>
                <a:p>
                  <a:r>
                    <a:rPr lang="en-US">
                      <a:noFill/>
                    </a:rPr>
                    <a:t> </a:t>
                  </a:r>
                </a:p>
              </p:txBody>
            </p:sp>
          </mc:Fallback>
        </mc:AlternateContent>
        <p:sp>
          <p:nvSpPr>
            <p:cNvPr id="24615" name="Line 10">
              <a:extLst>
                <a:ext uri="{FF2B5EF4-FFF2-40B4-BE49-F238E27FC236}">
                  <a16:creationId xmlns:a16="http://schemas.microsoft.com/office/drawing/2014/main" id="{A6E27209-4B50-4BDC-96DF-3876CB706F2F}"/>
                </a:ext>
              </a:extLst>
            </p:cNvPr>
            <p:cNvSpPr>
              <a:spLocks noChangeShapeType="1"/>
            </p:cNvSpPr>
            <p:nvPr/>
          </p:nvSpPr>
          <p:spPr bwMode="auto">
            <a:xfrm>
              <a:off x="2698" y="2410"/>
              <a:ext cx="0" cy="19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16" name="Line 11">
              <a:extLst>
                <a:ext uri="{FF2B5EF4-FFF2-40B4-BE49-F238E27FC236}">
                  <a16:creationId xmlns:a16="http://schemas.microsoft.com/office/drawing/2014/main" id="{9BF9E50D-B9F9-4209-BB95-B1D6E862A319}"/>
                </a:ext>
              </a:extLst>
            </p:cNvPr>
            <p:cNvSpPr>
              <a:spLocks noChangeShapeType="1"/>
            </p:cNvSpPr>
            <p:nvPr/>
          </p:nvSpPr>
          <p:spPr bwMode="auto">
            <a:xfrm>
              <a:off x="2698" y="2937"/>
              <a:ext cx="0" cy="193"/>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17" name="Line 12">
              <a:extLst>
                <a:ext uri="{FF2B5EF4-FFF2-40B4-BE49-F238E27FC236}">
                  <a16:creationId xmlns:a16="http://schemas.microsoft.com/office/drawing/2014/main" id="{6C98BBFE-09D1-4503-A4E9-307B17538819}"/>
                </a:ext>
              </a:extLst>
            </p:cNvPr>
            <p:cNvSpPr>
              <a:spLocks noChangeShapeType="1"/>
            </p:cNvSpPr>
            <p:nvPr/>
          </p:nvSpPr>
          <p:spPr bwMode="auto">
            <a:xfrm>
              <a:off x="2698" y="3416"/>
              <a:ext cx="0" cy="193"/>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4579" name="Object 13">
                  <a:extLst>
                    <a:ext uri="{FF2B5EF4-FFF2-40B4-BE49-F238E27FC236}">
                      <a16:creationId xmlns:a16="http://schemas.microsoft.com/office/drawing/2014/main" id="{D70E0157-5DDE-4F61-A66C-EB66BE9284DA}"/>
                    </a:ext>
                  </a:extLst>
                </p:cNvPr>
                <p:cNvSpPr txBox="1"/>
                <p:nvPr/>
              </p:nvSpPr>
              <p:spPr bwMode="auto">
                <a:xfrm>
                  <a:off x="1660" y="1297"/>
                  <a:ext cx="282" cy="283"/>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4579" name="Object 13">
                  <a:extLst>
                    <a:ext uri="{FF2B5EF4-FFF2-40B4-BE49-F238E27FC236}">
                      <a16:creationId xmlns:a16="http://schemas.microsoft.com/office/drawing/2014/main" id="{D70E0157-5DDE-4F61-A66C-EB66BE9284DA}"/>
                    </a:ext>
                  </a:extLst>
                </p:cNvPr>
                <p:cNvSpPr txBox="1">
                  <a:spLocks noRot="1" noChangeAspect="1" noMove="1" noResize="1" noEditPoints="1" noAdjustHandles="1" noChangeArrowheads="1" noChangeShapeType="1" noTextEdit="1"/>
                </p:cNvSpPr>
                <p:nvPr/>
              </p:nvSpPr>
              <p:spPr bwMode="auto">
                <a:xfrm>
                  <a:off x="1660" y="1297"/>
                  <a:ext cx="282" cy="283"/>
                </a:xfrm>
                <a:prstGeom prst="rect">
                  <a:avLst/>
                </a:prstGeom>
                <a:blipFill>
                  <a:blip r:embed="rId3"/>
                  <a:stretch>
                    <a:fillRect l="-9211" r="-13158" b="-1184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80" name="Object 14">
                  <a:extLst>
                    <a:ext uri="{FF2B5EF4-FFF2-40B4-BE49-F238E27FC236}">
                      <a16:creationId xmlns:a16="http://schemas.microsoft.com/office/drawing/2014/main" id="{E1D76549-1706-4A74-9A07-97E26AC37F53}"/>
                    </a:ext>
                  </a:extLst>
                </p:cNvPr>
                <p:cNvSpPr txBox="1"/>
                <p:nvPr/>
              </p:nvSpPr>
              <p:spPr bwMode="auto">
                <a:xfrm>
                  <a:off x="1660" y="1869"/>
                  <a:ext cx="272" cy="283"/>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4580" name="Object 14">
                  <a:extLst>
                    <a:ext uri="{FF2B5EF4-FFF2-40B4-BE49-F238E27FC236}">
                      <a16:creationId xmlns:a16="http://schemas.microsoft.com/office/drawing/2014/main" id="{E1D76549-1706-4A74-9A07-97E26AC37F53}"/>
                    </a:ext>
                  </a:extLst>
                </p:cNvPr>
                <p:cNvSpPr txBox="1">
                  <a:spLocks noRot="1" noChangeAspect="1" noMove="1" noResize="1" noEditPoints="1" noAdjustHandles="1" noChangeArrowheads="1" noChangeShapeType="1" noTextEdit="1"/>
                </p:cNvSpPr>
                <p:nvPr/>
              </p:nvSpPr>
              <p:spPr bwMode="auto">
                <a:xfrm>
                  <a:off x="1660" y="1869"/>
                  <a:ext cx="272" cy="283"/>
                </a:xfrm>
                <a:prstGeom prst="rect">
                  <a:avLst/>
                </a:prstGeom>
                <a:blipFill>
                  <a:blip r:embed="rId4"/>
                  <a:stretch>
                    <a:fillRect l="-9589" r="-17808" b="-1184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81" name="Object 15">
                  <a:extLst>
                    <a:ext uri="{FF2B5EF4-FFF2-40B4-BE49-F238E27FC236}">
                      <a16:creationId xmlns:a16="http://schemas.microsoft.com/office/drawing/2014/main" id="{0A3F1D44-264D-4BB1-8DBB-169709BCC39A}"/>
                    </a:ext>
                  </a:extLst>
                </p:cNvPr>
                <p:cNvSpPr txBox="1"/>
                <p:nvPr/>
              </p:nvSpPr>
              <p:spPr bwMode="auto">
                <a:xfrm>
                  <a:off x="1659" y="2347"/>
                  <a:ext cx="272" cy="283"/>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4581" name="Object 15">
                  <a:extLst>
                    <a:ext uri="{FF2B5EF4-FFF2-40B4-BE49-F238E27FC236}">
                      <a16:creationId xmlns:a16="http://schemas.microsoft.com/office/drawing/2014/main" id="{0A3F1D44-264D-4BB1-8DBB-169709BCC39A}"/>
                    </a:ext>
                  </a:extLst>
                </p:cNvPr>
                <p:cNvSpPr txBox="1">
                  <a:spLocks noRot="1" noChangeAspect="1" noMove="1" noResize="1" noEditPoints="1" noAdjustHandles="1" noChangeArrowheads="1" noChangeShapeType="1" noTextEdit="1"/>
                </p:cNvSpPr>
                <p:nvPr/>
              </p:nvSpPr>
              <p:spPr bwMode="auto">
                <a:xfrm>
                  <a:off x="1659" y="2347"/>
                  <a:ext cx="272" cy="283"/>
                </a:xfrm>
                <a:prstGeom prst="rect">
                  <a:avLst/>
                </a:prstGeom>
                <a:blipFill>
                  <a:blip r:embed="rId5"/>
                  <a:stretch>
                    <a:fillRect l="-9589" r="-17808" b="-1184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82" name="Object 16">
                  <a:extLst>
                    <a:ext uri="{FF2B5EF4-FFF2-40B4-BE49-F238E27FC236}">
                      <a16:creationId xmlns:a16="http://schemas.microsoft.com/office/drawing/2014/main" id="{69749E0E-8ABD-4FC5-BF8C-7251B4D729F9}"/>
                    </a:ext>
                  </a:extLst>
                </p:cNvPr>
                <p:cNvSpPr txBox="1"/>
                <p:nvPr/>
              </p:nvSpPr>
              <p:spPr bwMode="auto">
                <a:xfrm>
                  <a:off x="1664" y="2875"/>
                  <a:ext cx="272" cy="283"/>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4582" name="Object 16">
                  <a:extLst>
                    <a:ext uri="{FF2B5EF4-FFF2-40B4-BE49-F238E27FC236}">
                      <a16:creationId xmlns:a16="http://schemas.microsoft.com/office/drawing/2014/main" id="{69749E0E-8ABD-4FC5-BF8C-7251B4D729F9}"/>
                    </a:ext>
                  </a:extLst>
                </p:cNvPr>
                <p:cNvSpPr txBox="1">
                  <a:spLocks noRot="1" noChangeAspect="1" noMove="1" noResize="1" noEditPoints="1" noAdjustHandles="1" noChangeArrowheads="1" noChangeShapeType="1" noTextEdit="1"/>
                </p:cNvSpPr>
                <p:nvPr/>
              </p:nvSpPr>
              <p:spPr bwMode="auto">
                <a:xfrm>
                  <a:off x="1664" y="2875"/>
                  <a:ext cx="272" cy="283"/>
                </a:xfrm>
                <a:prstGeom prst="rect">
                  <a:avLst/>
                </a:prstGeom>
                <a:blipFill>
                  <a:blip r:embed="rId6"/>
                  <a:stretch>
                    <a:fillRect l="-9589" r="-17808" b="-1184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83" name="Object 17">
                  <a:extLst>
                    <a:ext uri="{FF2B5EF4-FFF2-40B4-BE49-F238E27FC236}">
                      <a16:creationId xmlns:a16="http://schemas.microsoft.com/office/drawing/2014/main" id="{964C3EBA-E9EB-4822-B163-207B5A064E54}"/>
                    </a:ext>
                  </a:extLst>
                </p:cNvPr>
                <p:cNvSpPr txBox="1"/>
                <p:nvPr/>
              </p:nvSpPr>
              <p:spPr bwMode="auto">
                <a:xfrm>
                  <a:off x="1723" y="2623"/>
                  <a:ext cx="166" cy="283"/>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4583" name="Object 17">
                  <a:extLst>
                    <a:ext uri="{FF2B5EF4-FFF2-40B4-BE49-F238E27FC236}">
                      <a16:creationId xmlns:a16="http://schemas.microsoft.com/office/drawing/2014/main" id="{964C3EBA-E9EB-4822-B163-207B5A064E54}"/>
                    </a:ext>
                  </a:extLst>
                </p:cNvPr>
                <p:cNvSpPr txBox="1">
                  <a:spLocks noRot="1" noChangeAspect="1" noMove="1" noResize="1" noEditPoints="1" noAdjustHandles="1" noChangeArrowheads="1" noChangeShapeType="1" noTextEdit="1"/>
                </p:cNvSpPr>
                <p:nvPr/>
              </p:nvSpPr>
              <p:spPr bwMode="auto">
                <a:xfrm>
                  <a:off x="1723" y="2623"/>
                  <a:ext cx="166" cy="283"/>
                </a:xfrm>
                <a:prstGeom prst="rect">
                  <a:avLst/>
                </a:prstGeom>
                <a:blipFill>
                  <a:blip r:embed="rId7"/>
                  <a:stretch>
                    <a:fillRect l="-4545" r="-6818"/>
                  </a:stretch>
                </a:blipFill>
                <a:ln>
                  <a:noFill/>
                </a:ln>
                <a:effectLst/>
              </p:spPr>
              <p:txBody>
                <a:bodyPr/>
                <a:lstStyle/>
                <a:p>
                  <a:r>
                    <a:rPr lang="en-US">
                      <a:noFill/>
                    </a:rPr>
                    <a:t> </a:t>
                  </a:r>
                </a:p>
              </p:txBody>
            </p:sp>
          </mc:Fallback>
        </mc:AlternateContent>
        <p:sp>
          <p:nvSpPr>
            <p:cNvPr id="24618" name="Line 18">
              <a:extLst>
                <a:ext uri="{FF2B5EF4-FFF2-40B4-BE49-F238E27FC236}">
                  <a16:creationId xmlns:a16="http://schemas.microsoft.com/office/drawing/2014/main" id="{3FD0B314-789A-40AF-8DAE-355B65B79FE8}"/>
                </a:ext>
              </a:extLst>
            </p:cNvPr>
            <p:cNvSpPr>
              <a:spLocks noChangeShapeType="1"/>
            </p:cNvSpPr>
            <p:nvPr/>
          </p:nvSpPr>
          <p:spPr bwMode="auto">
            <a:xfrm flipV="1">
              <a:off x="1806" y="1523"/>
              <a:ext cx="0" cy="43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19" name="Line 19">
              <a:extLst>
                <a:ext uri="{FF2B5EF4-FFF2-40B4-BE49-F238E27FC236}">
                  <a16:creationId xmlns:a16="http://schemas.microsoft.com/office/drawing/2014/main" id="{B8483C21-D7AB-4550-B139-9D5786C06410}"/>
                </a:ext>
              </a:extLst>
            </p:cNvPr>
            <p:cNvSpPr>
              <a:spLocks noChangeShapeType="1"/>
            </p:cNvSpPr>
            <p:nvPr/>
          </p:nvSpPr>
          <p:spPr bwMode="auto">
            <a:xfrm flipV="1">
              <a:off x="1806" y="2098"/>
              <a:ext cx="0" cy="337"/>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20" name="Line 20">
              <a:extLst>
                <a:ext uri="{FF2B5EF4-FFF2-40B4-BE49-F238E27FC236}">
                  <a16:creationId xmlns:a16="http://schemas.microsoft.com/office/drawing/2014/main" id="{06EA43C6-9BEE-4EC3-AD2A-491265BFEB38}"/>
                </a:ext>
              </a:extLst>
            </p:cNvPr>
            <p:cNvSpPr>
              <a:spLocks noChangeShapeType="1"/>
            </p:cNvSpPr>
            <p:nvPr/>
          </p:nvSpPr>
          <p:spPr bwMode="auto">
            <a:xfrm flipH="1" flipV="1">
              <a:off x="1806" y="3106"/>
              <a:ext cx="1" cy="508"/>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21" name="Line 21">
              <a:extLst>
                <a:ext uri="{FF2B5EF4-FFF2-40B4-BE49-F238E27FC236}">
                  <a16:creationId xmlns:a16="http://schemas.microsoft.com/office/drawing/2014/main" id="{5799E3E2-1079-4917-9BC6-A561936952F0}"/>
                </a:ext>
              </a:extLst>
            </p:cNvPr>
            <p:cNvSpPr>
              <a:spLocks noChangeShapeType="1"/>
            </p:cNvSpPr>
            <p:nvPr/>
          </p:nvSpPr>
          <p:spPr bwMode="auto">
            <a:xfrm>
              <a:off x="1149" y="1450"/>
              <a:ext cx="564"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22" name="Line 22">
              <a:extLst>
                <a:ext uri="{FF2B5EF4-FFF2-40B4-BE49-F238E27FC236}">
                  <a16:creationId xmlns:a16="http://schemas.microsoft.com/office/drawing/2014/main" id="{5ABD8C88-220E-40F7-AF40-C5E7346B5ED9}"/>
                </a:ext>
              </a:extLst>
            </p:cNvPr>
            <p:cNvSpPr>
              <a:spLocks noChangeShapeType="1"/>
            </p:cNvSpPr>
            <p:nvPr/>
          </p:nvSpPr>
          <p:spPr bwMode="auto">
            <a:xfrm>
              <a:off x="2697" y="1450"/>
              <a:ext cx="46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23" name="Line 23">
              <a:extLst>
                <a:ext uri="{FF2B5EF4-FFF2-40B4-BE49-F238E27FC236}">
                  <a16:creationId xmlns:a16="http://schemas.microsoft.com/office/drawing/2014/main" id="{BAC660DC-561A-45C2-A8DA-842886C09431}"/>
                </a:ext>
              </a:extLst>
            </p:cNvPr>
            <p:cNvSpPr>
              <a:spLocks noChangeShapeType="1"/>
            </p:cNvSpPr>
            <p:nvPr/>
          </p:nvSpPr>
          <p:spPr bwMode="auto">
            <a:xfrm>
              <a:off x="3119" y="1450"/>
              <a:ext cx="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4584" name="Object 24">
                  <a:extLst>
                    <a:ext uri="{FF2B5EF4-FFF2-40B4-BE49-F238E27FC236}">
                      <a16:creationId xmlns:a16="http://schemas.microsoft.com/office/drawing/2014/main" id="{49C2C414-6A11-494F-8A85-39D91DC2B63D}"/>
                    </a:ext>
                  </a:extLst>
                </p:cNvPr>
                <p:cNvSpPr txBox="1"/>
                <p:nvPr/>
              </p:nvSpPr>
              <p:spPr bwMode="auto">
                <a:xfrm>
                  <a:off x="3442" y="1297"/>
                  <a:ext cx="282" cy="283"/>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4584" name="Object 24">
                  <a:extLst>
                    <a:ext uri="{FF2B5EF4-FFF2-40B4-BE49-F238E27FC236}">
                      <a16:creationId xmlns:a16="http://schemas.microsoft.com/office/drawing/2014/main" id="{49C2C414-6A11-494F-8A85-39D91DC2B63D}"/>
                    </a:ext>
                  </a:extLst>
                </p:cNvPr>
                <p:cNvSpPr txBox="1">
                  <a:spLocks noRot="1" noChangeAspect="1" noMove="1" noResize="1" noEditPoints="1" noAdjustHandles="1" noChangeArrowheads="1" noChangeShapeType="1" noTextEdit="1"/>
                </p:cNvSpPr>
                <p:nvPr/>
              </p:nvSpPr>
              <p:spPr bwMode="auto">
                <a:xfrm>
                  <a:off x="3442" y="1297"/>
                  <a:ext cx="282" cy="283"/>
                </a:xfrm>
                <a:prstGeom prst="rect">
                  <a:avLst/>
                </a:prstGeom>
                <a:blipFill>
                  <a:blip r:embed="rId8"/>
                  <a:stretch>
                    <a:fillRect l="-9333" r="-14667" b="-1184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85" name="Object 25">
                  <a:extLst>
                    <a:ext uri="{FF2B5EF4-FFF2-40B4-BE49-F238E27FC236}">
                      <a16:creationId xmlns:a16="http://schemas.microsoft.com/office/drawing/2014/main" id="{62543546-52D8-4D57-ACFC-EB8DF8386C2C}"/>
                    </a:ext>
                  </a:extLst>
                </p:cNvPr>
                <p:cNvSpPr txBox="1"/>
                <p:nvPr/>
              </p:nvSpPr>
              <p:spPr bwMode="auto">
                <a:xfrm>
                  <a:off x="3443" y="1874"/>
                  <a:ext cx="271" cy="283"/>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4585" name="Object 25">
                  <a:extLst>
                    <a:ext uri="{FF2B5EF4-FFF2-40B4-BE49-F238E27FC236}">
                      <a16:creationId xmlns:a16="http://schemas.microsoft.com/office/drawing/2014/main" id="{62543546-52D8-4D57-ACFC-EB8DF8386C2C}"/>
                    </a:ext>
                  </a:extLst>
                </p:cNvPr>
                <p:cNvSpPr txBox="1">
                  <a:spLocks noRot="1" noChangeAspect="1" noMove="1" noResize="1" noEditPoints="1" noAdjustHandles="1" noChangeArrowheads="1" noChangeShapeType="1" noTextEdit="1"/>
                </p:cNvSpPr>
                <p:nvPr/>
              </p:nvSpPr>
              <p:spPr bwMode="auto">
                <a:xfrm>
                  <a:off x="3443" y="1874"/>
                  <a:ext cx="271" cy="283"/>
                </a:xfrm>
                <a:prstGeom prst="rect">
                  <a:avLst/>
                </a:prstGeom>
                <a:blipFill>
                  <a:blip r:embed="rId9"/>
                  <a:stretch>
                    <a:fillRect l="-9589" r="-17808" b="-13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86" name="Object 26">
                  <a:extLst>
                    <a:ext uri="{FF2B5EF4-FFF2-40B4-BE49-F238E27FC236}">
                      <a16:creationId xmlns:a16="http://schemas.microsoft.com/office/drawing/2014/main" id="{756B1373-3B68-45CE-9C88-9B8DFC97B5F1}"/>
                    </a:ext>
                  </a:extLst>
                </p:cNvPr>
                <p:cNvSpPr txBox="1"/>
                <p:nvPr/>
              </p:nvSpPr>
              <p:spPr bwMode="auto">
                <a:xfrm>
                  <a:off x="3443" y="2347"/>
                  <a:ext cx="271" cy="283"/>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4586" name="Object 26">
                  <a:extLst>
                    <a:ext uri="{FF2B5EF4-FFF2-40B4-BE49-F238E27FC236}">
                      <a16:creationId xmlns:a16="http://schemas.microsoft.com/office/drawing/2014/main" id="{756B1373-3B68-45CE-9C88-9B8DFC97B5F1}"/>
                    </a:ext>
                  </a:extLst>
                </p:cNvPr>
                <p:cNvSpPr txBox="1">
                  <a:spLocks noRot="1" noChangeAspect="1" noMove="1" noResize="1" noEditPoints="1" noAdjustHandles="1" noChangeArrowheads="1" noChangeShapeType="1" noTextEdit="1"/>
                </p:cNvSpPr>
                <p:nvPr/>
              </p:nvSpPr>
              <p:spPr bwMode="auto">
                <a:xfrm>
                  <a:off x="3443" y="2347"/>
                  <a:ext cx="271" cy="283"/>
                </a:xfrm>
                <a:prstGeom prst="rect">
                  <a:avLst/>
                </a:prstGeom>
                <a:blipFill>
                  <a:blip r:embed="rId10"/>
                  <a:stretch>
                    <a:fillRect l="-9589" r="-17808" b="-1184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87" name="Object 27">
                  <a:extLst>
                    <a:ext uri="{FF2B5EF4-FFF2-40B4-BE49-F238E27FC236}">
                      <a16:creationId xmlns:a16="http://schemas.microsoft.com/office/drawing/2014/main" id="{B03FE8F7-D6A7-434E-A652-AA9AE512753F}"/>
                    </a:ext>
                  </a:extLst>
                </p:cNvPr>
                <p:cNvSpPr txBox="1"/>
                <p:nvPr/>
              </p:nvSpPr>
              <p:spPr bwMode="auto">
                <a:xfrm>
                  <a:off x="3442" y="2875"/>
                  <a:ext cx="271" cy="283"/>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4587" name="Object 27">
                  <a:extLst>
                    <a:ext uri="{FF2B5EF4-FFF2-40B4-BE49-F238E27FC236}">
                      <a16:creationId xmlns:a16="http://schemas.microsoft.com/office/drawing/2014/main" id="{B03FE8F7-D6A7-434E-A652-AA9AE512753F}"/>
                    </a:ext>
                  </a:extLst>
                </p:cNvPr>
                <p:cNvSpPr txBox="1">
                  <a:spLocks noRot="1" noChangeAspect="1" noMove="1" noResize="1" noEditPoints="1" noAdjustHandles="1" noChangeArrowheads="1" noChangeShapeType="1" noTextEdit="1"/>
                </p:cNvSpPr>
                <p:nvPr/>
              </p:nvSpPr>
              <p:spPr bwMode="auto">
                <a:xfrm>
                  <a:off x="3442" y="2875"/>
                  <a:ext cx="271" cy="283"/>
                </a:xfrm>
                <a:prstGeom prst="rect">
                  <a:avLst/>
                </a:prstGeom>
                <a:blipFill>
                  <a:blip r:embed="rId11"/>
                  <a:stretch>
                    <a:fillRect l="-9722" r="-19444" b="-1184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88" name="Object 28">
                  <a:extLst>
                    <a:ext uri="{FF2B5EF4-FFF2-40B4-BE49-F238E27FC236}">
                      <a16:creationId xmlns:a16="http://schemas.microsoft.com/office/drawing/2014/main" id="{2855E5F6-1CFD-4AE6-B8F8-6CEC7367CAAD}"/>
                    </a:ext>
                  </a:extLst>
                </p:cNvPr>
                <p:cNvSpPr txBox="1"/>
                <p:nvPr/>
              </p:nvSpPr>
              <p:spPr bwMode="auto">
                <a:xfrm>
                  <a:off x="3499" y="2592"/>
                  <a:ext cx="167" cy="283"/>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4588" name="Object 28">
                  <a:extLst>
                    <a:ext uri="{FF2B5EF4-FFF2-40B4-BE49-F238E27FC236}">
                      <a16:creationId xmlns:a16="http://schemas.microsoft.com/office/drawing/2014/main" id="{2855E5F6-1CFD-4AE6-B8F8-6CEC7367CAAD}"/>
                    </a:ext>
                  </a:extLst>
                </p:cNvPr>
                <p:cNvSpPr txBox="1">
                  <a:spLocks noRot="1" noChangeAspect="1" noMove="1" noResize="1" noEditPoints="1" noAdjustHandles="1" noChangeArrowheads="1" noChangeShapeType="1" noTextEdit="1"/>
                </p:cNvSpPr>
                <p:nvPr/>
              </p:nvSpPr>
              <p:spPr bwMode="auto">
                <a:xfrm>
                  <a:off x="3499" y="2592"/>
                  <a:ext cx="167" cy="283"/>
                </a:xfrm>
                <a:prstGeom prst="rect">
                  <a:avLst/>
                </a:prstGeom>
                <a:blipFill>
                  <a:blip r:embed="rId12"/>
                  <a:stretch>
                    <a:fillRect l="-4444" r="-4444"/>
                  </a:stretch>
                </a:blipFill>
                <a:ln>
                  <a:noFill/>
                </a:ln>
                <a:effectLst/>
              </p:spPr>
              <p:txBody>
                <a:bodyPr/>
                <a:lstStyle/>
                <a:p>
                  <a:r>
                    <a:rPr lang="en-US">
                      <a:noFill/>
                    </a:rPr>
                    <a:t> </a:t>
                  </a:r>
                </a:p>
              </p:txBody>
            </p:sp>
          </mc:Fallback>
        </mc:AlternateContent>
        <p:sp>
          <p:nvSpPr>
            <p:cNvPr id="24624" name="Line 29">
              <a:extLst>
                <a:ext uri="{FF2B5EF4-FFF2-40B4-BE49-F238E27FC236}">
                  <a16:creationId xmlns:a16="http://schemas.microsoft.com/office/drawing/2014/main" id="{F1D5204D-4069-4935-8830-6DC88ABE7437}"/>
                </a:ext>
              </a:extLst>
            </p:cNvPr>
            <p:cNvSpPr>
              <a:spLocks noChangeShapeType="1"/>
            </p:cNvSpPr>
            <p:nvPr/>
          </p:nvSpPr>
          <p:spPr bwMode="auto">
            <a:xfrm flipV="1">
              <a:off x="3588" y="1518"/>
              <a:ext cx="0" cy="43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25" name="Line 30">
              <a:extLst>
                <a:ext uri="{FF2B5EF4-FFF2-40B4-BE49-F238E27FC236}">
                  <a16:creationId xmlns:a16="http://schemas.microsoft.com/office/drawing/2014/main" id="{E0A09628-2A57-41F7-8D7F-38B3E4FDE32E}"/>
                </a:ext>
              </a:extLst>
            </p:cNvPr>
            <p:cNvSpPr>
              <a:spLocks noChangeShapeType="1"/>
            </p:cNvSpPr>
            <p:nvPr/>
          </p:nvSpPr>
          <p:spPr bwMode="auto">
            <a:xfrm flipV="1">
              <a:off x="3588" y="2098"/>
              <a:ext cx="0" cy="337"/>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26" name="Line 31">
              <a:extLst>
                <a:ext uri="{FF2B5EF4-FFF2-40B4-BE49-F238E27FC236}">
                  <a16:creationId xmlns:a16="http://schemas.microsoft.com/office/drawing/2014/main" id="{11600647-70D1-4166-80FD-723AF10CAE71}"/>
                </a:ext>
              </a:extLst>
            </p:cNvPr>
            <p:cNvSpPr>
              <a:spLocks noChangeShapeType="1"/>
            </p:cNvSpPr>
            <p:nvPr/>
          </p:nvSpPr>
          <p:spPr bwMode="auto">
            <a:xfrm flipV="1">
              <a:off x="3588" y="3106"/>
              <a:ext cx="0" cy="508"/>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27" name="Line 32">
              <a:extLst>
                <a:ext uri="{FF2B5EF4-FFF2-40B4-BE49-F238E27FC236}">
                  <a16:creationId xmlns:a16="http://schemas.microsoft.com/office/drawing/2014/main" id="{2CEA6BE6-624D-4103-9940-9EC9288EAA8A}"/>
                </a:ext>
              </a:extLst>
            </p:cNvPr>
            <p:cNvSpPr>
              <a:spLocks noChangeShapeType="1"/>
            </p:cNvSpPr>
            <p:nvPr/>
          </p:nvSpPr>
          <p:spPr bwMode="auto">
            <a:xfrm flipH="1">
              <a:off x="2181" y="2505"/>
              <a:ext cx="516"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28" name="Line 33">
              <a:extLst>
                <a:ext uri="{FF2B5EF4-FFF2-40B4-BE49-F238E27FC236}">
                  <a16:creationId xmlns:a16="http://schemas.microsoft.com/office/drawing/2014/main" id="{39E05748-727F-4A60-AAAB-FA4626022DCD}"/>
                </a:ext>
              </a:extLst>
            </p:cNvPr>
            <p:cNvSpPr>
              <a:spLocks noChangeShapeType="1"/>
            </p:cNvSpPr>
            <p:nvPr/>
          </p:nvSpPr>
          <p:spPr bwMode="auto">
            <a:xfrm flipH="1">
              <a:off x="1853" y="2505"/>
              <a:ext cx="374" cy="0"/>
            </a:xfrm>
            <a:prstGeom prst="line">
              <a:avLst/>
            </a:prstGeom>
            <a:noFill/>
            <a:ln w="25400">
              <a:solidFill>
                <a:schemeClr val="tx1"/>
              </a:solidFill>
              <a:round/>
              <a:headEnd/>
              <a:tailEnd type="none" w="sm" len="lg"/>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29" name="Line 34">
              <a:extLst>
                <a:ext uri="{FF2B5EF4-FFF2-40B4-BE49-F238E27FC236}">
                  <a16:creationId xmlns:a16="http://schemas.microsoft.com/office/drawing/2014/main" id="{4BA0E875-B3DE-457D-BD71-0FA12DE00792}"/>
                </a:ext>
              </a:extLst>
            </p:cNvPr>
            <p:cNvSpPr>
              <a:spLocks noChangeShapeType="1"/>
            </p:cNvSpPr>
            <p:nvPr/>
          </p:nvSpPr>
          <p:spPr bwMode="auto">
            <a:xfrm flipH="1">
              <a:off x="2181" y="3032"/>
              <a:ext cx="516"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30" name="Line 35">
              <a:extLst>
                <a:ext uri="{FF2B5EF4-FFF2-40B4-BE49-F238E27FC236}">
                  <a16:creationId xmlns:a16="http://schemas.microsoft.com/office/drawing/2014/main" id="{0C9A1610-FFF2-4A48-8486-A053CF44C519}"/>
                </a:ext>
              </a:extLst>
            </p:cNvPr>
            <p:cNvSpPr>
              <a:spLocks noChangeShapeType="1"/>
            </p:cNvSpPr>
            <p:nvPr/>
          </p:nvSpPr>
          <p:spPr bwMode="auto">
            <a:xfrm flipH="1">
              <a:off x="1853" y="3032"/>
              <a:ext cx="374" cy="0"/>
            </a:xfrm>
            <a:prstGeom prst="line">
              <a:avLst/>
            </a:prstGeom>
            <a:noFill/>
            <a:ln w="25400">
              <a:solidFill>
                <a:schemeClr val="tx1"/>
              </a:solidFill>
              <a:round/>
              <a:headEnd/>
              <a:tailEnd type="none" w="sm" len="lg"/>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31" name="Line 36">
              <a:extLst>
                <a:ext uri="{FF2B5EF4-FFF2-40B4-BE49-F238E27FC236}">
                  <a16:creationId xmlns:a16="http://schemas.microsoft.com/office/drawing/2014/main" id="{D390C9C8-5F25-400D-9E32-5557493A428C}"/>
                </a:ext>
              </a:extLst>
            </p:cNvPr>
            <p:cNvSpPr>
              <a:spLocks noChangeShapeType="1"/>
            </p:cNvSpPr>
            <p:nvPr/>
          </p:nvSpPr>
          <p:spPr bwMode="auto">
            <a:xfrm>
              <a:off x="1807" y="3609"/>
              <a:ext cx="1781" cy="0"/>
            </a:xfrm>
            <a:prstGeom prst="line">
              <a:avLst/>
            </a:prstGeom>
            <a:noFill/>
            <a:ln w="25400">
              <a:solidFill>
                <a:schemeClr val="tx1"/>
              </a:solidFill>
              <a:round/>
              <a:headEnd/>
              <a:tailEnd type="none" w="sm" len="lg"/>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32" name="Line 37">
              <a:extLst>
                <a:ext uri="{FF2B5EF4-FFF2-40B4-BE49-F238E27FC236}">
                  <a16:creationId xmlns:a16="http://schemas.microsoft.com/office/drawing/2014/main" id="{285886E8-F115-406E-A81B-B4072897D400}"/>
                </a:ext>
              </a:extLst>
            </p:cNvPr>
            <p:cNvSpPr>
              <a:spLocks noChangeShapeType="1"/>
            </p:cNvSpPr>
            <p:nvPr/>
          </p:nvSpPr>
          <p:spPr bwMode="auto">
            <a:xfrm>
              <a:off x="2697" y="2026"/>
              <a:ext cx="46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33" name="Line 38">
              <a:extLst>
                <a:ext uri="{FF2B5EF4-FFF2-40B4-BE49-F238E27FC236}">
                  <a16:creationId xmlns:a16="http://schemas.microsoft.com/office/drawing/2014/main" id="{E2019069-795A-4D53-A969-F4FA19159BAB}"/>
                </a:ext>
              </a:extLst>
            </p:cNvPr>
            <p:cNvSpPr>
              <a:spLocks noChangeShapeType="1"/>
            </p:cNvSpPr>
            <p:nvPr/>
          </p:nvSpPr>
          <p:spPr bwMode="auto">
            <a:xfrm>
              <a:off x="3119" y="2026"/>
              <a:ext cx="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34" name="Line 39">
              <a:extLst>
                <a:ext uri="{FF2B5EF4-FFF2-40B4-BE49-F238E27FC236}">
                  <a16:creationId xmlns:a16="http://schemas.microsoft.com/office/drawing/2014/main" id="{ABF1A767-E78F-432D-AC53-38F3DB37FB4F}"/>
                </a:ext>
              </a:extLst>
            </p:cNvPr>
            <p:cNvSpPr>
              <a:spLocks noChangeShapeType="1"/>
            </p:cNvSpPr>
            <p:nvPr/>
          </p:nvSpPr>
          <p:spPr bwMode="auto">
            <a:xfrm>
              <a:off x="2697" y="2505"/>
              <a:ext cx="46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35" name="Line 40">
              <a:extLst>
                <a:ext uri="{FF2B5EF4-FFF2-40B4-BE49-F238E27FC236}">
                  <a16:creationId xmlns:a16="http://schemas.microsoft.com/office/drawing/2014/main" id="{CD39423B-A76B-4D04-BAD6-041D98B3C8BF}"/>
                </a:ext>
              </a:extLst>
            </p:cNvPr>
            <p:cNvSpPr>
              <a:spLocks noChangeShapeType="1"/>
            </p:cNvSpPr>
            <p:nvPr/>
          </p:nvSpPr>
          <p:spPr bwMode="auto">
            <a:xfrm>
              <a:off x="3119" y="2505"/>
              <a:ext cx="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36" name="Line 41">
              <a:extLst>
                <a:ext uri="{FF2B5EF4-FFF2-40B4-BE49-F238E27FC236}">
                  <a16:creationId xmlns:a16="http://schemas.microsoft.com/office/drawing/2014/main" id="{B1ADAF36-3FD0-4255-921C-68337A33A99E}"/>
                </a:ext>
              </a:extLst>
            </p:cNvPr>
            <p:cNvSpPr>
              <a:spLocks noChangeShapeType="1"/>
            </p:cNvSpPr>
            <p:nvPr/>
          </p:nvSpPr>
          <p:spPr bwMode="auto">
            <a:xfrm>
              <a:off x="2697" y="3032"/>
              <a:ext cx="46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37" name="Line 42">
              <a:extLst>
                <a:ext uri="{FF2B5EF4-FFF2-40B4-BE49-F238E27FC236}">
                  <a16:creationId xmlns:a16="http://schemas.microsoft.com/office/drawing/2014/main" id="{6793E98D-47EC-4D6D-99D6-9DBD719F3190}"/>
                </a:ext>
              </a:extLst>
            </p:cNvPr>
            <p:cNvSpPr>
              <a:spLocks noChangeShapeType="1"/>
            </p:cNvSpPr>
            <p:nvPr/>
          </p:nvSpPr>
          <p:spPr bwMode="auto">
            <a:xfrm>
              <a:off x="3119" y="3032"/>
              <a:ext cx="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24638" name="Line 43">
              <a:extLst>
                <a:ext uri="{FF2B5EF4-FFF2-40B4-BE49-F238E27FC236}">
                  <a16:creationId xmlns:a16="http://schemas.microsoft.com/office/drawing/2014/main" id="{E697E0EB-F282-41F9-9058-F2D0FD9F2A59}"/>
                </a:ext>
              </a:extLst>
            </p:cNvPr>
            <p:cNvSpPr>
              <a:spLocks noChangeShapeType="1"/>
            </p:cNvSpPr>
            <p:nvPr/>
          </p:nvSpPr>
          <p:spPr bwMode="auto">
            <a:xfrm>
              <a:off x="3682" y="1450"/>
              <a:ext cx="564"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4589" name="Object 44">
                  <a:extLst>
                    <a:ext uri="{FF2B5EF4-FFF2-40B4-BE49-F238E27FC236}">
                      <a16:creationId xmlns:a16="http://schemas.microsoft.com/office/drawing/2014/main" id="{9C4EF1E7-6FEB-4FEC-9171-47AE825A92CC}"/>
                    </a:ext>
                  </a:extLst>
                </p:cNvPr>
                <p:cNvSpPr txBox="1"/>
                <p:nvPr/>
              </p:nvSpPr>
              <p:spPr bwMode="auto">
                <a:xfrm>
                  <a:off x="1097" y="1156"/>
                  <a:ext cx="421" cy="283"/>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4589" name="Object 44">
                  <a:extLst>
                    <a:ext uri="{FF2B5EF4-FFF2-40B4-BE49-F238E27FC236}">
                      <a16:creationId xmlns:a16="http://schemas.microsoft.com/office/drawing/2014/main" id="{9C4EF1E7-6FEB-4FEC-9171-47AE825A92CC}"/>
                    </a:ext>
                  </a:extLst>
                </p:cNvPr>
                <p:cNvSpPr txBox="1">
                  <a:spLocks noRot="1" noChangeAspect="1" noMove="1" noResize="1" noEditPoints="1" noAdjustHandles="1" noChangeArrowheads="1" noChangeShapeType="1" noTextEdit="1"/>
                </p:cNvSpPr>
                <p:nvPr/>
              </p:nvSpPr>
              <p:spPr bwMode="auto">
                <a:xfrm>
                  <a:off x="1097" y="1156"/>
                  <a:ext cx="421" cy="283"/>
                </a:xfrm>
                <a:prstGeom prst="rect">
                  <a:avLst/>
                </a:prstGeom>
                <a:blipFill>
                  <a:blip r:embed="rId13"/>
                  <a:stretch>
                    <a:fillRect r="-14159" b="-21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90" name="Object 45">
                  <a:extLst>
                    <a:ext uri="{FF2B5EF4-FFF2-40B4-BE49-F238E27FC236}">
                      <a16:creationId xmlns:a16="http://schemas.microsoft.com/office/drawing/2014/main" id="{4F058799-A04B-4D6A-A0F9-6D22F9546361}"/>
                    </a:ext>
                  </a:extLst>
                </p:cNvPr>
                <p:cNvSpPr txBox="1"/>
                <p:nvPr/>
              </p:nvSpPr>
              <p:spPr bwMode="auto">
                <a:xfrm>
                  <a:off x="3936" y="1162"/>
                  <a:ext cx="441" cy="283"/>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24590" name="Object 45">
                  <a:extLst>
                    <a:ext uri="{FF2B5EF4-FFF2-40B4-BE49-F238E27FC236}">
                      <a16:creationId xmlns:a16="http://schemas.microsoft.com/office/drawing/2014/main" id="{4F058799-A04B-4D6A-A0F9-6D22F9546361}"/>
                    </a:ext>
                  </a:extLst>
                </p:cNvPr>
                <p:cNvSpPr txBox="1">
                  <a:spLocks noRot="1" noChangeAspect="1" noMove="1" noResize="1" noEditPoints="1" noAdjustHandles="1" noChangeArrowheads="1" noChangeShapeType="1" noTextEdit="1"/>
                </p:cNvSpPr>
                <p:nvPr/>
              </p:nvSpPr>
              <p:spPr bwMode="auto">
                <a:xfrm>
                  <a:off x="3936" y="1162"/>
                  <a:ext cx="441" cy="283"/>
                </a:xfrm>
                <a:prstGeom prst="rect">
                  <a:avLst/>
                </a:prstGeom>
                <a:blipFill>
                  <a:blip r:embed="rId14"/>
                  <a:stretch>
                    <a:fillRect l="-2521" r="-10084"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91" name="Object 46">
                  <a:extLst>
                    <a:ext uri="{FF2B5EF4-FFF2-40B4-BE49-F238E27FC236}">
                      <a16:creationId xmlns:a16="http://schemas.microsoft.com/office/drawing/2014/main" id="{C04CD1A1-B2A5-42DF-8B20-9A5D144D21A8}"/>
                    </a:ext>
                  </a:extLst>
                </p:cNvPr>
                <p:cNvSpPr txBox="1"/>
                <p:nvPr/>
              </p:nvSpPr>
              <p:spPr bwMode="auto">
                <a:xfrm>
                  <a:off x="1994" y="1162"/>
                  <a:ext cx="529" cy="28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1/</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𝑁</m:t>
                            </m:r>
                          </m:sub>
                        </m:sSub>
                      </m:oMath>
                    </m:oMathPara>
                  </a14:m>
                  <a:endParaRPr lang="en-US" sz="2400" dirty="0"/>
                </a:p>
              </p:txBody>
            </p:sp>
          </mc:Choice>
          <mc:Fallback xmlns="">
            <p:sp>
              <p:nvSpPr>
                <p:cNvPr id="24591" name="Object 46">
                  <a:extLst>
                    <a:ext uri="{FF2B5EF4-FFF2-40B4-BE49-F238E27FC236}">
                      <a16:creationId xmlns:a16="http://schemas.microsoft.com/office/drawing/2014/main" id="{C04CD1A1-B2A5-42DF-8B20-9A5D144D21A8}"/>
                    </a:ext>
                  </a:extLst>
                </p:cNvPr>
                <p:cNvSpPr txBox="1">
                  <a:spLocks noRot="1" noChangeAspect="1" noMove="1" noResize="1" noEditPoints="1" noAdjustHandles="1" noChangeArrowheads="1" noChangeShapeType="1" noTextEdit="1"/>
                </p:cNvSpPr>
                <p:nvPr/>
              </p:nvSpPr>
              <p:spPr bwMode="auto">
                <a:xfrm>
                  <a:off x="1994" y="1162"/>
                  <a:ext cx="529" cy="283"/>
                </a:xfrm>
                <a:prstGeom prst="rect">
                  <a:avLst/>
                </a:prstGeom>
                <a:blipFill>
                  <a:blip r:embed="rId15"/>
                  <a:stretch>
                    <a:fillRect l="-2113"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92" name="Object 47">
                  <a:extLst>
                    <a:ext uri="{FF2B5EF4-FFF2-40B4-BE49-F238E27FC236}">
                      <a16:creationId xmlns:a16="http://schemas.microsoft.com/office/drawing/2014/main" id="{786B68BB-D86D-4B6C-A614-8339C4626489}"/>
                    </a:ext>
                  </a:extLst>
                </p:cNvPr>
                <p:cNvSpPr txBox="1"/>
                <p:nvPr/>
              </p:nvSpPr>
              <p:spPr bwMode="auto">
                <a:xfrm>
                  <a:off x="1930" y="1730"/>
                  <a:ext cx="609" cy="28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−1</m:t>
                            </m:r>
                          </m:sub>
                        </m:sSub>
                      </m:oMath>
                    </m:oMathPara>
                  </a14:m>
                  <a:endParaRPr lang="en-US" sz="2400" dirty="0"/>
                </a:p>
              </p:txBody>
            </p:sp>
          </mc:Choice>
          <mc:Fallback xmlns="">
            <p:sp>
              <p:nvSpPr>
                <p:cNvPr id="24592" name="Object 47">
                  <a:extLst>
                    <a:ext uri="{FF2B5EF4-FFF2-40B4-BE49-F238E27FC236}">
                      <a16:creationId xmlns:a16="http://schemas.microsoft.com/office/drawing/2014/main" id="{786B68BB-D86D-4B6C-A614-8339C4626489}"/>
                    </a:ext>
                  </a:extLst>
                </p:cNvPr>
                <p:cNvSpPr txBox="1">
                  <a:spLocks noRot="1" noChangeAspect="1" noMove="1" noResize="1" noEditPoints="1" noAdjustHandles="1" noChangeArrowheads="1" noChangeShapeType="1" noTextEdit="1"/>
                </p:cNvSpPr>
                <p:nvPr/>
              </p:nvSpPr>
              <p:spPr bwMode="auto">
                <a:xfrm>
                  <a:off x="1930" y="1730"/>
                  <a:ext cx="609" cy="283"/>
                </a:xfrm>
                <a:prstGeom prst="rect">
                  <a:avLst/>
                </a:prstGeom>
                <a:blipFill>
                  <a:blip r:embed="rId16"/>
                  <a:stretch>
                    <a:fillRect r="-3049" b="-394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93" name="Object 48">
                  <a:extLst>
                    <a:ext uri="{FF2B5EF4-FFF2-40B4-BE49-F238E27FC236}">
                      <a16:creationId xmlns:a16="http://schemas.microsoft.com/office/drawing/2014/main" id="{6CDD2F0D-F6AE-45EF-90B8-834BD02FA0D3}"/>
                    </a:ext>
                  </a:extLst>
                </p:cNvPr>
                <p:cNvSpPr txBox="1"/>
                <p:nvPr/>
              </p:nvSpPr>
              <p:spPr bwMode="auto">
                <a:xfrm>
                  <a:off x="1926" y="2209"/>
                  <a:ext cx="617" cy="28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−2</m:t>
                            </m:r>
                          </m:sub>
                        </m:sSub>
                      </m:oMath>
                    </m:oMathPara>
                  </a14:m>
                  <a:endParaRPr lang="en-US" sz="2400" dirty="0"/>
                </a:p>
              </p:txBody>
            </p:sp>
          </mc:Choice>
          <mc:Fallback xmlns="">
            <p:sp>
              <p:nvSpPr>
                <p:cNvPr id="24593" name="Object 48">
                  <a:extLst>
                    <a:ext uri="{FF2B5EF4-FFF2-40B4-BE49-F238E27FC236}">
                      <a16:creationId xmlns:a16="http://schemas.microsoft.com/office/drawing/2014/main" id="{6CDD2F0D-F6AE-45EF-90B8-834BD02FA0D3}"/>
                    </a:ext>
                  </a:extLst>
                </p:cNvPr>
                <p:cNvSpPr txBox="1">
                  <a:spLocks noRot="1" noChangeAspect="1" noMove="1" noResize="1" noEditPoints="1" noAdjustHandles="1" noChangeArrowheads="1" noChangeShapeType="1" noTextEdit="1"/>
                </p:cNvSpPr>
                <p:nvPr/>
              </p:nvSpPr>
              <p:spPr bwMode="auto">
                <a:xfrm>
                  <a:off x="1926" y="2209"/>
                  <a:ext cx="617" cy="283"/>
                </a:xfrm>
                <a:prstGeom prst="rect">
                  <a:avLst/>
                </a:prstGeom>
                <a:blipFill>
                  <a:blip r:embed="rId17"/>
                  <a:stretch>
                    <a:fillRect r="-1807" b="-394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94" name="Object 49">
                  <a:extLst>
                    <a:ext uri="{FF2B5EF4-FFF2-40B4-BE49-F238E27FC236}">
                      <a16:creationId xmlns:a16="http://schemas.microsoft.com/office/drawing/2014/main" id="{DAEA1B90-2C11-4111-90C4-3DE38328517B}"/>
                    </a:ext>
                  </a:extLst>
                </p:cNvPr>
                <p:cNvSpPr txBox="1"/>
                <p:nvPr/>
              </p:nvSpPr>
              <p:spPr bwMode="auto">
                <a:xfrm>
                  <a:off x="2048" y="2745"/>
                  <a:ext cx="374" cy="28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1</m:t>
                            </m:r>
                          </m:sub>
                        </m:sSub>
                      </m:oMath>
                    </m:oMathPara>
                  </a14:m>
                  <a:endParaRPr lang="en-US" sz="2400" dirty="0"/>
                </a:p>
              </p:txBody>
            </p:sp>
          </mc:Choice>
          <mc:Fallback xmlns="">
            <p:sp>
              <p:nvSpPr>
                <p:cNvPr id="24594" name="Object 49">
                  <a:extLst>
                    <a:ext uri="{FF2B5EF4-FFF2-40B4-BE49-F238E27FC236}">
                      <a16:creationId xmlns:a16="http://schemas.microsoft.com/office/drawing/2014/main" id="{DAEA1B90-2C11-4111-90C4-3DE38328517B}"/>
                    </a:ext>
                  </a:extLst>
                </p:cNvPr>
                <p:cNvSpPr txBox="1">
                  <a:spLocks noRot="1" noChangeAspect="1" noMove="1" noResize="1" noEditPoints="1" noAdjustHandles="1" noChangeArrowheads="1" noChangeShapeType="1" noTextEdit="1"/>
                </p:cNvSpPr>
                <p:nvPr/>
              </p:nvSpPr>
              <p:spPr bwMode="auto">
                <a:xfrm>
                  <a:off x="2048" y="2745"/>
                  <a:ext cx="374" cy="283"/>
                </a:xfrm>
                <a:prstGeom prst="rect">
                  <a:avLst/>
                </a:prstGeom>
                <a:blipFill>
                  <a:blip r:embed="rId18"/>
                  <a:stretch>
                    <a:fillRect r="-10891" b="-400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95" name="Object 50">
                  <a:extLst>
                    <a:ext uri="{FF2B5EF4-FFF2-40B4-BE49-F238E27FC236}">
                      <a16:creationId xmlns:a16="http://schemas.microsoft.com/office/drawing/2014/main" id="{C1275395-27A4-4C42-BC82-CC7152BB3375}"/>
                    </a:ext>
                  </a:extLst>
                </p:cNvPr>
                <p:cNvSpPr txBox="1"/>
                <p:nvPr/>
              </p:nvSpPr>
              <p:spPr bwMode="auto">
                <a:xfrm>
                  <a:off x="2027" y="3320"/>
                  <a:ext cx="414" cy="28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0</m:t>
                            </m:r>
                          </m:sub>
                        </m:sSub>
                      </m:oMath>
                    </m:oMathPara>
                  </a14:m>
                  <a:endParaRPr lang="en-US" sz="2400" dirty="0"/>
                </a:p>
              </p:txBody>
            </p:sp>
          </mc:Choice>
          <mc:Fallback xmlns="">
            <p:sp>
              <p:nvSpPr>
                <p:cNvPr id="24595" name="Object 50">
                  <a:extLst>
                    <a:ext uri="{FF2B5EF4-FFF2-40B4-BE49-F238E27FC236}">
                      <a16:creationId xmlns:a16="http://schemas.microsoft.com/office/drawing/2014/main" id="{C1275395-27A4-4C42-BC82-CC7152BB3375}"/>
                    </a:ext>
                  </a:extLst>
                </p:cNvPr>
                <p:cNvSpPr txBox="1">
                  <a:spLocks noRot="1" noChangeAspect="1" noMove="1" noResize="1" noEditPoints="1" noAdjustHandles="1" noChangeArrowheads="1" noChangeShapeType="1" noTextEdit="1"/>
                </p:cNvSpPr>
                <p:nvPr/>
              </p:nvSpPr>
              <p:spPr bwMode="auto">
                <a:xfrm>
                  <a:off x="2027" y="3320"/>
                  <a:ext cx="414" cy="283"/>
                </a:xfrm>
                <a:prstGeom prst="rect">
                  <a:avLst/>
                </a:prstGeom>
                <a:blipFill>
                  <a:blip r:embed="rId19"/>
                  <a:stretch>
                    <a:fillRect r="-893" b="-394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96" name="Object 51">
                  <a:extLst>
                    <a:ext uri="{FF2B5EF4-FFF2-40B4-BE49-F238E27FC236}">
                      <a16:creationId xmlns:a16="http://schemas.microsoft.com/office/drawing/2014/main" id="{7E0BDE2D-992E-4EA4-BF4B-9CF529238134}"/>
                    </a:ext>
                  </a:extLst>
                </p:cNvPr>
                <p:cNvSpPr txBox="1"/>
                <p:nvPr/>
              </p:nvSpPr>
              <p:spPr bwMode="auto">
                <a:xfrm>
                  <a:off x="3095" y="1162"/>
                  <a:ext cx="282" cy="28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𝑏</m:t>
                            </m:r>
                          </m:e>
                          <m:sub>
                            <m:r>
                              <a:rPr lang="en-US" sz="2400" i="1">
                                <a:solidFill>
                                  <a:srgbClr val="000000"/>
                                </a:solidFill>
                                <a:latin typeface="Cambria Math" panose="02040503050406030204" pitchFamily="18" charset="0"/>
                              </a:rPr>
                              <m:t>𝑁</m:t>
                            </m:r>
                          </m:sub>
                        </m:sSub>
                      </m:oMath>
                    </m:oMathPara>
                  </a14:m>
                  <a:endParaRPr lang="en-US" sz="2400" dirty="0"/>
                </a:p>
              </p:txBody>
            </p:sp>
          </mc:Choice>
          <mc:Fallback xmlns="">
            <p:sp>
              <p:nvSpPr>
                <p:cNvPr id="24596" name="Object 51">
                  <a:extLst>
                    <a:ext uri="{FF2B5EF4-FFF2-40B4-BE49-F238E27FC236}">
                      <a16:creationId xmlns:a16="http://schemas.microsoft.com/office/drawing/2014/main" id="{7E0BDE2D-992E-4EA4-BF4B-9CF529238134}"/>
                    </a:ext>
                  </a:extLst>
                </p:cNvPr>
                <p:cNvSpPr txBox="1">
                  <a:spLocks noRot="1" noChangeAspect="1" noMove="1" noResize="1" noEditPoints="1" noAdjustHandles="1" noChangeArrowheads="1" noChangeShapeType="1" noTextEdit="1"/>
                </p:cNvSpPr>
                <p:nvPr/>
              </p:nvSpPr>
              <p:spPr bwMode="auto">
                <a:xfrm>
                  <a:off x="3095" y="1162"/>
                  <a:ext cx="282" cy="283"/>
                </a:xfrm>
                <a:prstGeom prst="rect">
                  <a:avLst/>
                </a:prstGeom>
                <a:blipFill>
                  <a:blip r:embed="rId20"/>
                  <a:stretch>
                    <a:fillRect l="-3947" r="-5263" b="-394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97" name="Object 52">
                  <a:extLst>
                    <a:ext uri="{FF2B5EF4-FFF2-40B4-BE49-F238E27FC236}">
                      <a16:creationId xmlns:a16="http://schemas.microsoft.com/office/drawing/2014/main" id="{1E609727-443C-4294-A7AC-2818B8F7C568}"/>
                    </a:ext>
                  </a:extLst>
                </p:cNvPr>
                <p:cNvSpPr txBox="1"/>
                <p:nvPr/>
              </p:nvSpPr>
              <p:spPr bwMode="auto">
                <a:xfrm>
                  <a:off x="3010" y="1738"/>
                  <a:ext cx="452" cy="28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𝑏</m:t>
                            </m:r>
                          </m:e>
                          <m:sub>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−1</m:t>
                            </m:r>
                          </m:sub>
                        </m:sSub>
                      </m:oMath>
                    </m:oMathPara>
                  </a14:m>
                  <a:endParaRPr lang="en-US" sz="2400" dirty="0"/>
                </a:p>
              </p:txBody>
            </p:sp>
          </mc:Choice>
          <mc:Fallback xmlns="">
            <p:sp>
              <p:nvSpPr>
                <p:cNvPr id="24597" name="Object 52">
                  <a:extLst>
                    <a:ext uri="{FF2B5EF4-FFF2-40B4-BE49-F238E27FC236}">
                      <a16:creationId xmlns:a16="http://schemas.microsoft.com/office/drawing/2014/main" id="{1E609727-443C-4294-A7AC-2818B8F7C568}"/>
                    </a:ext>
                  </a:extLst>
                </p:cNvPr>
                <p:cNvSpPr txBox="1">
                  <a:spLocks noRot="1" noChangeAspect="1" noMove="1" noResize="1" noEditPoints="1" noAdjustHandles="1" noChangeArrowheads="1" noChangeShapeType="1" noTextEdit="1"/>
                </p:cNvSpPr>
                <p:nvPr/>
              </p:nvSpPr>
              <p:spPr bwMode="auto">
                <a:xfrm>
                  <a:off x="3010" y="1738"/>
                  <a:ext cx="452" cy="283"/>
                </a:xfrm>
                <a:prstGeom prst="rect">
                  <a:avLst/>
                </a:prstGeom>
                <a:blipFill>
                  <a:blip r:embed="rId21"/>
                  <a:stretch>
                    <a:fillRect l="-2459" r="-5738" b="-394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98" name="Object 53">
                  <a:extLst>
                    <a:ext uri="{FF2B5EF4-FFF2-40B4-BE49-F238E27FC236}">
                      <a16:creationId xmlns:a16="http://schemas.microsoft.com/office/drawing/2014/main" id="{B0C61CF8-AABF-4ABC-AEE6-ACE859C5CDDE}"/>
                    </a:ext>
                  </a:extLst>
                </p:cNvPr>
                <p:cNvSpPr txBox="1"/>
                <p:nvPr/>
              </p:nvSpPr>
              <p:spPr bwMode="auto">
                <a:xfrm>
                  <a:off x="3005" y="2217"/>
                  <a:ext cx="463" cy="28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𝑏</m:t>
                            </m:r>
                          </m:e>
                          <m:sub>
                            <m:r>
                              <a:rPr lang="en-US" sz="2400" i="1">
                                <a:solidFill>
                                  <a:srgbClr val="000000"/>
                                </a:solidFill>
                                <a:latin typeface="Cambria Math" panose="02040503050406030204" pitchFamily="18" charset="0"/>
                              </a:rPr>
                              <m:t>𝑁</m:t>
                            </m:r>
                            <m:r>
                              <a:rPr lang="en-US" sz="2400" i="1">
                                <a:solidFill>
                                  <a:srgbClr val="000000"/>
                                </a:solidFill>
                                <a:latin typeface="Cambria Math" panose="02040503050406030204" pitchFamily="18" charset="0"/>
                              </a:rPr>
                              <m:t>−2</m:t>
                            </m:r>
                          </m:sub>
                        </m:sSub>
                      </m:oMath>
                    </m:oMathPara>
                  </a14:m>
                  <a:endParaRPr lang="en-US" sz="2400" dirty="0"/>
                </a:p>
              </p:txBody>
            </p:sp>
          </mc:Choice>
          <mc:Fallback xmlns="">
            <p:sp>
              <p:nvSpPr>
                <p:cNvPr id="24598" name="Object 53">
                  <a:extLst>
                    <a:ext uri="{FF2B5EF4-FFF2-40B4-BE49-F238E27FC236}">
                      <a16:creationId xmlns:a16="http://schemas.microsoft.com/office/drawing/2014/main" id="{B0C61CF8-AABF-4ABC-AEE6-ACE859C5CDDE}"/>
                    </a:ext>
                  </a:extLst>
                </p:cNvPr>
                <p:cNvSpPr txBox="1">
                  <a:spLocks noRot="1" noChangeAspect="1" noMove="1" noResize="1" noEditPoints="1" noAdjustHandles="1" noChangeArrowheads="1" noChangeShapeType="1" noTextEdit="1"/>
                </p:cNvSpPr>
                <p:nvPr/>
              </p:nvSpPr>
              <p:spPr bwMode="auto">
                <a:xfrm>
                  <a:off x="3005" y="2217"/>
                  <a:ext cx="463" cy="283"/>
                </a:xfrm>
                <a:prstGeom prst="rect">
                  <a:avLst/>
                </a:prstGeom>
                <a:blipFill>
                  <a:blip r:embed="rId22"/>
                  <a:stretch>
                    <a:fillRect l="-2400" r="-3200" b="-394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99" name="Object 54">
                  <a:extLst>
                    <a:ext uri="{FF2B5EF4-FFF2-40B4-BE49-F238E27FC236}">
                      <a16:creationId xmlns:a16="http://schemas.microsoft.com/office/drawing/2014/main" id="{30C97FD8-7DD7-4DF4-8A7B-57CB4313128C}"/>
                    </a:ext>
                  </a:extLst>
                </p:cNvPr>
                <p:cNvSpPr txBox="1"/>
                <p:nvPr/>
              </p:nvSpPr>
              <p:spPr bwMode="auto">
                <a:xfrm>
                  <a:off x="3101" y="2745"/>
                  <a:ext cx="271" cy="28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𝑏</m:t>
                            </m:r>
                          </m:e>
                          <m:sub>
                            <m:r>
                              <a:rPr lang="en-US" sz="2400" i="1">
                                <a:solidFill>
                                  <a:srgbClr val="000000"/>
                                </a:solidFill>
                                <a:latin typeface="Cambria Math" panose="02040503050406030204" pitchFamily="18" charset="0"/>
                              </a:rPr>
                              <m:t>1</m:t>
                            </m:r>
                          </m:sub>
                        </m:sSub>
                      </m:oMath>
                    </m:oMathPara>
                  </a14:m>
                  <a:endParaRPr lang="en-US" sz="2400" dirty="0"/>
                </a:p>
              </p:txBody>
            </p:sp>
          </mc:Choice>
          <mc:Fallback xmlns="">
            <p:sp>
              <p:nvSpPr>
                <p:cNvPr id="24599" name="Object 54">
                  <a:extLst>
                    <a:ext uri="{FF2B5EF4-FFF2-40B4-BE49-F238E27FC236}">
                      <a16:creationId xmlns:a16="http://schemas.microsoft.com/office/drawing/2014/main" id="{30C97FD8-7DD7-4DF4-8A7B-57CB4313128C}"/>
                    </a:ext>
                  </a:extLst>
                </p:cNvPr>
                <p:cNvSpPr txBox="1">
                  <a:spLocks noRot="1" noChangeAspect="1" noMove="1" noResize="1" noEditPoints="1" noAdjustHandles="1" noChangeArrowheads="1" noChangeShapeType="1" noTextEdit="1"/>
                </p:cNvSpPr>
                <p:nvPr/>
              </p:nvSpPr>
              <p:spPr bwMode="auto">
                <a:xfrm>
                  <a:off x="3101" y="2745"/>
                  <a:ext cx="271" cy="283"/>
                </a:xfrm>
                <a:prstGeom prst="rect">
                  <a:avLst/>
                </a:prstGeom>
                <a:blipFill>
                  <a:blip r:embed="rId23"/>
                  <a:stretch>
                    <a:fillRect l="-4110" b="-400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600" name="Object 55">
                  <a:extLst>
                    <a:ext uri="{FF2B5EF4-FFF2-40B4-BE49-F238E27FC236}">
                      <a16:creationId xmlns:a16="http://schemas.microsoft.com/office/drawing/2014/main" id="{6DB870D7-0204-4057-9DAA-9F706E5C9631}"/>
                    </a:ext>
                  </a:extLst>
                </p:cNvPr>
                <p:cNvSpPr txBox="1"/>
                <p:nvPr/>
              </p:nvSpPr>
              <p:spPr bwMode="auto">
                <a:xfrm>
                  <a:off x="3101" y="3320"/>
                  <a:ext cx="271" cy="28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𝑏</m:t>
                            </m:r>
                          </m:e>
                          <m:sub>
                            <m:r>
                              <a:rPr lang="en-US" sz="2400" i="1">
                                <a:solidFill>
                                  <a:srgbClr val="000000"/>
                                </a:solidFill>
                                <a:latin typeface="Cambria Math" panose="02040503050406030204" pitchFamily="18" charset="0"/>
                              </a:rPr>
                              <m:t>0</m:t>
                            </m:r>
                          </m:sub>
                        </m:sSub>
                      </m:oMath>
                    </m:oMathPara>
                  </a14:m>
                  <a:endParaRPr lang="en-US" sz="2400" dirty="0"/>
                </a:p>
              </p:txBody>
            </p:sp>
          </mc:Choice>
          <mc:Fallback xmlns="">
            <p:sp>
              <p:nvSpPr>
                <p:cNvPr id="24600" name="Object 55">
                  <a:extLst>
                    <a:ext uri="{FF2B5EF4-FFF2-40B4-BE49-F238E27FC236}">
                      <a16:creationId xmlns:a16="http://schemas.microsoft.com/office/drawing/2014/main" id="{6DB870D7-0204-4057-9DAA-9F706E5C9631}"/>
                    </a:ext>
                  </a:extLst>
                </p:cNvPr>
                <p:cNvSpPr txBox="1">
                  <a:spLocks noRot="1" noChangeAspect="1" noMove="1" noResize="1" noEditPoints="1" noAdjustHandles="1" noChangeArrowheads="1" noChangeShapeType="1" noTextEdit="1"/>
                </p:cNvSpPr>
                <p:nvPr/>
              </p:nvSpPr>
              <p:spPr bwMode="auto">
                <a:xfrm>
                  <a:off x="3101" y="3320"/>
                  <a:ext cx="271" cy="283"/>
                </a:xfrm>
                <a:prstGeom prst="rect">
                  <a:avLst/>
                </a:prstGeom>
                <a:blipFill>
                  <a:blip r:embed="rId24"/>
                  <a:stretch>
                    <a:fillRect l="-4110" b="-394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644" name="Rectangle 57">
                  <a:extLst>
                    <a:ext uri="{FF2B5EF4-FFF2-40B4-BE49-F238E27FC236}">
                      <a16:creationId xmlns:a16="http://schemas.microsoft.com/office/drawing/2014/main" id="{447D7001-69F3-45EA-BE03-3CAA3C1F15D1}"/>
                    </a:ext>
                  </a:extLst>
                </p:cNvPr>
                <p:cNvSpPr>
                  <a:spLocks noChangeArrowheads="1"/>
                </p:cNvSpPr>
                <p:nvPr/>
              </p:nvSpPr>
              <p:spPr bwMode="auto">
                <a:xfrm>
                  <a:off x="2543" y="1639"/>
                  <a:ext cx="308" cy="292"/>
                </a:xfrm>
                <a:prstGeom prst="rect">
                  <a:avLst/>
                </a:prstGeom>
                <a:solidFill>
                  <a:srgbClr val="CCFFFF"/>
                </a:solidFill>
                <a:ln w="19050">
                  <a:solidFill>
                    <a:schemeClr val="tx1"/>
                  </a:solidFill>
                  <a:miter lim="800000"/>
                  <a:headEnd/>
                  <a:tailE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华文楷体" panose="02010600040101010101" pitchFamily="2" charset="-122"/>
                          </a:rPr>
                          <m:t>∫</m:t>
                        </m:r>
                      </m:oMath>
                    </m:oMathPara>
                  </a14:m>
                  <a:endParaRPr kumimoji="0" lang="zh-CN"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endParaRPr>
                </a:p>
              </p:txBody>
            </p:sp>
          </mc:Choice>
          <mc:Fallback xmlns="">
            <p:sp>
              <p:nvSpPr>
                <p:cNvPr id="24644" name="Rectangle 57">
                  <a:extLst>
                    <a:ext uri="{FF2B5EF4-FFF2-40B4-BE49-F238E27FC236}">
                      <a16:creationId xmlns:a16="http://schemas.microsoft.com/office/drawing/2014/main" id="{447D7001-69F3-45EA-BE03-3CAA3C1F15D1}"/>
                    </a:ext>
                  </a:extLst>
                </p:cNvPr>
                <p:cNvSpPr>
                  <a:spLocks noRot="1" noChangeAspect="1" noMove="1" noResize="1" noEditPoints="1" noAdjustHandles="1" noChangeArrowheads="1" noChangeShapeType="1" noTextEdit="1"/>
                </p:cNvSpPr>
                <p:nvPr/>
              </p:nvSpPr>
              <p:spPr bwMode="auto">
                <a:xfrm>
                  <a:off x="2543" y="1639"/>
                  <a:ext cx="308" cy="292"/>
                </a:xfrm>
                <a:prstGeom prst="rect">
                  <a:avLst/>
                </a:prstGeom>
                <a:blipFill>
                  <a:blip r:embed="rId25"/>
                  <a:stretch>
                    <a:fillRect/>
                  </a:stretch>
                </a:blipFill>
                <a:ln w="19050">
                  <a:solidFill>
                    <a:schemeClr val="tx1"/>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643" name="Rectangle 60">
                  <a:extLst>
                    <a:ext uri="{FF2B5EF4-FFF2-40B4-BE49-F238E27FC236}">
                      <a16:creationId xmlns:a16="http://schemas.microsoft.com/office/drawing/2014/main" id="{1D663478-4DCE-46F0-A194-6792B4CAE12E}"/>
                    </a:ext>
                  </a:extLst>
                </p:cNvPr>
                <p:cNvSpPr>
                  <a:spLocks noChangeArrowheads="1"/>
                </p:cNvSpPr>
                <p:nvPr/>
              </p:nvSpPr>
              <p:spPr bwMode="auto">
                <a:xfrm>
                  <a:off x="2543" y="2119"/>
                  <a:ext cx="308" cy="292"/>
                </a:xfrm>
                <a:prstGeom prst="rect">
                  <a:avLst/>
                </a:prstGeom>
                <a:solidFill>
                  <a:srgbClr val="CCFFFF"/>
                </a:solidFill>
                <a:ln w="19050">
                  <a:solidFill>
                    <a:schemeClr val="tx1"/>
                  </a:solidFill>
                  <a:miter lim="800000"/>
                  <a:headEnd/>
                  <a:tailE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defRPr/>
                  </a:pPr>
                  <a14:m>
                    <m:oMathPara xmlns:m="http://schemas.openxmlformats.org/officeDocument/2006/math">
                      <m:oMathParaPr>
                        <m:jc m:val="centerGroup"/>
                      </m:oMathParaPr>
                      <m:oMath xmlns:m="http://schemas.openxmlformats.org/officeDocument/2006/math">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华文楷体" panose="02010600040101010101" pitchFamily="2" charset="-122"/>
                          </a:rPr>
                          <m:t>∫</m:t>
                        </m:r>
                      </m:oMath>
                    </m:oMathPara>
                  </a14:m>
                  <a:endParaRPr kumimoji="0" lang="zh-CN"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endParaRPr>
                </a:p>
              </p:txBody>
            </p:sp>
          </mc:Choice>
          <mc:Fallback xmlns="">
            <p:sp>
              <p:nvSpPr>
                <p:cNvPr id="24643" name="Rectangle 60">
                  <a:extLst>
                    <a:ext uri="{FF2B5EF4-FFF2-40B4-BE49-F238E27FC236}">
                      <a16:creationId xmlns:a16="http://schemas.microsoft.com/office/drawing/2014/main" id="{1D663478-4DCE-46F0-A194-6792B4CAE12E}"/>
                    </a:ext>
                  </a:extLst>
                </p:cNvPr>
                <p:cNvSpPr>
                  <a:spLocks noRot="1" noChangeAspect="1" noMove="1" noResize="1" noEditPoints="1" noAdjustHandles="1" noChangeArrowheads="1" noChangeShapeType="1" noTextEdit="1"/>
                </p:cNvSpPr>
                <p:nvPr/>
              </p:nvSpPr>
              <p:spPr bwMode="auto">
                <a:xfrm>
                  <a:off x="2543" y="2119"/>
                  <a:ext cx="308" cy="292"/>
                </a:xfrm>
                <a:prstGeom prst="rect">
                  <a:avLst/>
                </a:prstGeom>
                <a:blipFill>
                  <a:blip r:embed="rId26"/>
                  <a:stretch>
                    <a:fillRect/>
                  </a:stretch>
                </a:blipFill>
                <a:ln w="19050">
                  <a:solidFill>
                    <a:schemeClr val="tx1"/>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642" name="Rectangle 63">
                  <a:extLst>
                    <a:ext uri="{FF2B5EF4-FFF2-40B4-BE49-F238E27FC236}">
                      <a16:creationId xmlns:a16="http://schemas.microsoft.com/office/drawing/2014/main" id="{09893AFD-4E29-4A9B-9F35-4502F01B78D9}"/>
                    </a:ext>
                  </a:extLst>
                </p:cNvPr>
                <p:cNvSpPr>
                  <a:spLocks noChangeArrowheads="1"/>
                </p:cNvSpPr>
                <p:nvPr/>
              </p:nvSpPr>
              <p:spPr bwMode="auto">
                <a:xfrm>
                  <a:off x="2543" y="3125"/>
                  <a:ext cx="308" cy="292"/>
                </a:xfrm>
                <a:prstGeom prst="rect">
                  <a:avLst/>
                </a:prstGeom>
                <a:solidFill>
                  <a:srgbClr val="CCFFFF"/>
                </a:solidFill>
                <a:ln w="19050">
                  <a:solidFill>
                    <a:schemeClr val="tx1"/>
                  </a:solidFill>
                  <a:miter lim="800000"/>
                  <a:headEnd/>
                  <a:tailE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defRPr/>
                  </a:pPr>
                  <a14:m>
                    <m:oMathPara xmlns:m="http://schemas.openxmlformats.org/officeDocument/2006/math">
                      <m:oMathParaPr>
                        <m:jc m:val="centerGroup"/>
                      </m:oMathParaPr>
                      <m:oMath xmlns:m="http://schemas.openxmlformats.org/officeDocument/2006/math">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华文楷体" panose="02010600040101010101" pitchFamily="2" charset="-122"/>
                          </a:rPr>
                          <m:t>∫</m:t>
                        </m:r>
                      </m:oMath>
                    </m:oMathPara>
                  </a14:m>
                  <a:endParaRPr kumimoji="0" lang="zh-CN"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endParaRPr>
                </a:p>
              </p:txBody>
            </p:sp>
          </mc:Choice>
          <mc:Fallback xmlns="">
            <p:sp>
              <p:nvSpPr>
                <p:cNvPr id="24642" name="Rectangle 63">
                  <a:extLst>
                    <a:ext uri="{FF2B5EF4-FFF2-40B4-BE49-F238E27FC236}">
                      <a16:creationId xmlns:a16="http://schemas.microsoft.com/office/drawing/2014/main" id="{09893AFD-4E29-4A9B-9F35-4502F01B78D9}"/>
                    </a:ext>
                  </a:extLst>
                </p:cNvPr>
                <p:cNvSpPr>
                  <a:spLocks noRot="1" noChangeAspect="1" noMove="1" noResize="1" noEditPoints="1" noAdjustHandles="1" noChangeArrowheads="1" noChangeShapeType="1" noTextEdit="1"/>
                </p:cNvSpPr>
                <p:nvPr/>
              </p:nvSpPr>
              <p:spPr bwMode="auto">
                <a:xfrm>
                  <a:off x="2543" y="3125"/>
                  <a:ext cx="308" cy="292"/>
                </a:xfrm>
                <a:prstGeom prst="rect">
                  <a:avLst/>
                </a:prstGeom>
                <a:blipFill>
                  <a:blip r:embed="rId27"/>
                  <a:stretch>
                    <a:fillRect/>
                  </a:stretch>
                </a:blipFill>
                <a:ln w="19050">
                  <a:solidFill>
                    <a:schemeClr val="tx1"/>
                  </a:solidFill>
                  <a:miter lim="800000"/>
                  <a:headEnd/>
                  <a:tailEnd/>
                </a:ln>
              </p:spPr>
              <p:txBody>
                <a:bodyPr/>
                <a:lstStyle/>
                <a:p>
                  <a:r>
                    <a:rPr lang="en-US">
                      <a:noFill/>
                    </a:rPr>
                    <a:t> </a:t>
                  </a:r>
                </a:p>
              </p:txBody>
            </p:sp>
          </mc:Fallback>
        </mc:AlternateContent>
      </p:grpSp>
      <p:sp>
        <p:nvSpPr>
          <p:cNvPr id="68" name="Text Box 65">
            <a:extLst>
              <a:ext uri="{FF2B5EF4-FFF2-40B4-BE49-F238E27FC236}">
                <a16:creationId xmlns:a16="http://schemas.microsoft.com/office/drawing/2014/main" id="{62AE24F7-F0F0-4CA6-A884-094036C81866}"/>
              </a:ext>
            </a:extLst>
          </p:cNvPr>
          <p:cNvSpPr txBox="1">
            <a:spLocks noChangeArrowheads="1"/>
          </p:cNvSpPr>
          <p:nvPr/>
        </p:nvSpPr>
        <p:spPr bwMode="auto">
          <a:xfrm>
            <a:off x="3930410" y="6020501"/>
            <a:ext cx="15626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lg"/>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直接</a:t>
            </a:r>
            <a:r>
              <a:rPr kumimoji="0" lang="en-US" altLang="zh-CN" sz="24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Ⅱ</a:t>
            </a:r>
            <a:r>
              <a:rPr kumimoji="0" lang="zh-CN" altLang="en-US" sz="2400"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12" name="标题 1">
            <a:extLst>
              <a:ext uri="{FF2B5EF4-FFF2-40B4-BE49-F238E27FC236}">
                <a16:creationId xmlns:a16="http://schemas.microsoft.com/office/drawing/2014/main" id="{94995969-C923-499A-9334-43DB89764B0D}"/>
              </a:ext>
            </a:extLst>
          </p:cNvPr>
          <p:cNvSpPr>
            <a:spLocks noGrp="1"/>
          </p:cNvSpPr>
          <p:nvPr>
            <p:ph type="title"/>
          </p:nvPr>
        </p:nvSpPr>
        <p:spPr/>
        <p:txBody>
          <a:bodyPr/>
          <a:lstStyle/>
          <a:p>
            <a:r>
              <a:rPr lang="en-US" altLang="zh-CN" dirty="0"/>
              <a:t>2.5 </a:t>
            </a:r>
            <a:r>
              <a:rPr lang="zh-CN" altLang="en-US" dirty="0"/>
              <a:t>奇异函数</a:t>
            </a:r>
          </a:p>
        </p:txBody>
      </p:sp>
      <mc:AlternateContent xmlns:mc="http://schemas.openxmlformats.org/markup-compatibility/2006" xmlns:a14="http://schemas.microsoft.com/office/drawing/2010/main">
        <mc:Choice Requires="a14">
          <p:sp>
            <p:nvSpPr>
              <p:cNvPr id="25613" name="内容占位符 2">
                <a:extLst>
                  <a:ext uri="{FF2B5EF4-FFF2-40B4-BE49-F238E27FC236}">
                    <a16:creationId xmlns:a16="http://schemas.microsoft.com/office/drawing/2014/main" id="{23803DBB-6A04-44C8-9C23-2860BF499AF3}"/>
                  </a:ext>
                </a:extLst>
              </p:cNvPr>
              <p:cNvSpPr>
                <a:spLocks noGrp="1"/>
              </p:cNvSpPr>
              <p:nvPr>
                <p:ph idx="1"/>
              </p:nvPr>
            </p:nvSpPr>
            <p:spPr>
              <a:xfrm>
                <a:off x="457200" y="1285875"/>
                <a:ext cx="8229600" cy="4844275"/>
              </a:xfrm>
            </p:spPr>
            <p:txBody>
              <a:bodyPr>
                <a:spAutoFit/>
              </a:bodyPr>
              <a:lstStyle/>
              <a:p>
                <a:pPr algn="just">
                  <a:lnSpc>
                    <a:spcPct val="200000"/>
                  </a:lnSpc>
                  <a:spcBef>
                    <a:spcPts val="0"/>
                  </a:spcBef>
                  <a:spcAft>
                    <a:spcPts val="600"/>
                  </a:spcAft>
                </a:pPr>
                <a:r>
                  <a:rPr lang="zh-CN" altLang="en-US" sz="2400" b="0" dirty="0"/>
                  <a:t>在第一章中介绍单位冲激时，开始将</a:t>
                </a:r>
                <a14:m>
                  <m:oMath xmlns:m="http://schemas.openxmlformats.org/officeDocument/2006/math">
                    <m:r>
                      <a:rPr lang="en-US" sz="2400" i="1" smtClean="0">
                        <a:solidFill>
                          <a:srgbClr val="000000"/>
                        </a:solidFill>
                        <a:latin typeface="Cambria Math" panose="02040503050406030204" pitchFamily="18" charset="0"/>
                      </a:rPr>
                      <m:t>𝛿</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m:t>
                    </m:r>
                  </m:oMath>
                </a14:m>
                <a:r>
                  <a:rPr lang="zh-CN" altLang="en-US" sz="2400" b="0" dirty="0"/>
                  <a:t>定义为</a:t>
                </a:r>
                <a14:m>
                  <m:oMath xmlns:m="http://schemas.openxmlformats.org/officeDocument/2006/math">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m:rPr>
                            <m:sty m:val="p"/>
                          </m:rPr>
                          <a:rPr lang="en-US" sz="240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num>
                      <m:den>
                        <m:r>
                          <m:rPr>
                            <m:sty m:val="p"/>
                          </m:rPr>
                          <a:rPr lang="en-US" sz="240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den>
                    </m:f>
                  </m:oMath>
                </a14:m>
                <a:r>
                  <a:rPr lang="zh-CN" altLang="en-US" sz="2400" b="0" dirty="0"/>
                  <a:t>是不严密的，因为</a:t>
                </a:r>
                <a14:m>
                  <m:oMath xmlns:m="http://schemas.openxmlformats.org/officeDocument/2006/math">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lang="zh-CN" altLang="en-US" sz="2400" b="0" dirty="0"/>
                  <a:t>在</a:t>
                </a:r>
                <a14:m>
                  <m:oMath xmlns:m="http://schemas.openxmlformats.org/officeDocument/2006/math">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=0</m:t>
                    </m:r>
                  </m:oMath>
                </a14:m>
                <a:r>
                  <a:rPr lang="zh-CN" altLang="en-US" sz="2400" b="0" dirty="0"/>
                  <a:t>不连续。</a:t>
                </a:r>
                <a:endParaRPr lang="en-US" altLang="zh-CN" sz="2400" b="0" dirty="0"/>
              </a:p>
              <a:p>
                <a:pPr algn="just">
                  <a:lnSpc>
                    <a:spcPct val="200000"/>
                  </a:lnSpc>
                  <a:spcBef>
                    <a:spcPts val="0"/>
                  </a:spcBef>
                  <a:spcAft>
                    <a:spcPts val="600"/>
                  </a:spcAft>
                </a:pPr>
                <a:r>
                  <a:rPr lang="zh-CN" altLang="en-US" sz="2400" b="0" dirty="0"/>
                  <a:t>进而采用极限的观点，将</a:t>
                </a:r>
                <a14:m>
                  <m:oMath xmlns:m="http://schemas.openxmlformats.org/officeDocument/2006/math">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lang="zh-CN" altLang="en-US" sz="2400" b="0" dirty="0"/>
                  <a:t>视为</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𝛿</m:t>
                        </m:r>
                      </m:e>
                      <m:sub>
                        <m:r>
                          <m:rPr>
                            <m:sty m:val="p"/>
                          </m:rPr>
                          <a:rPr lang="en-US" sz="2400" i="1">
                            <a:solidFill>
                              <a:srgbClr val="000000"/>
                            </a:solidFill>
                            <a:latin typeface="Cambria Math" panose="02040503050406030204" pitchFamily="18" charset="0"/>
                          </a:rPr>
                          <m:t>Δ</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lang="zh-CN" altLang="en-US" sz="2400" b="0" dirty="0"/>
                  <a:t>在</a:t>
                </a:r>
                <a14:m>
                  <m:oMath xmlns:m="http://schemas.openxmlformats.org/officeDocument/2006/math">
                    <m:r>
                      <m:rPr>
                        <m:sty m:val="p"/>
                      </m:rPr>
                      <a:rPr lang="en-US" sz="2400" i="1">
                        <a:solidFill>
                          <a:srgbClr val="000000"/>
                        </a:solidFill>
                        <a:latin typeface="Cambria Math" panose="02040503050406030204" pitchFamily="18" charset="0"/>
                      </a:rPr>
                      <m:t>Δ</m:t>
                    </m:r>
                    <m:r>
                      <a:rPr lang="en-US" sz="2400" i="1">
                        <a:solidFill>
                          <a:srgbClr val="000000"/>
                        </a:solidFill>
                        <a:latin typeface="Cambria Math" panose="02040503050406030204" pitchFamily="18" charset="0"/>
                      </a:rPr>
                      <m:t>→0</m:t>
                    </m:r>
                  </m:oMath>
                </a14:m>
                <a:r>
                  <a:rPr lang="zh-CN" altLang="en-US" sz="2400" b="0" dirty="0"/>
                  <a:t>时的极限。但这种定义或描述</a:t>
                </a:r>
                <a14:m>
                  <m:oMath xmlns:m="http://schemas.openxmlformats.org/officeDocument/2006/math">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lang="zh-CN" altLang="en-US" sz="2400" b="0" dirty="0"/>
                  <a:t>的方法在数学上仍然是不严格的，因为有许多不同的函数在</a:t>
                </a:r>
                <a14:m>
                  <m:oMath xmlns:m="http://schemas.openxmlformats.org/officeDocument/2006/math">
                    <m:r>
                      <m:rPr>
                        <m:sty m:val="p"/>
                      </m:rPr>
                      <a:rPr lang="en-US" sz="2400" i="1">
                        <a:solidFill>
                          <a:srgbClr val="000000"/>
                        </a:solidFill>
                        <a:latin typeface="Cambria Math" panose="02040503050406030204" pitchFamily="18" charset="0"/>
                      </a:rPr>
                      <m:t>Δ</m:t>
                    </m:r>
                    <m:r>
                      <a:rPr lang="en-US" sz="2400" i="1">
                        <a:solidFill>
                          <a:srgbClr val="000000"/>
                        </a:solidFill>
                        <a:latin typeface="Cambria Math" panose="02040503050406030204" pitchFamily="18" charset="0"/>
                      </a:rPr>
                      <m:t>→0</m:t>
                    </m:r>
                  </m:oMath>
                </a14:m>
                <a:r>
                  <a:rPr lang="zh-CN" altLang="en-US" sz="2400" b="0" dirty="0"/>
                  <a:t>时都表现为与</a:t>
                </a: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𝛿</m:t>
                        </m:r>
                      </m:e>
                      <m:sub>
                        <m:r>
                          <m:rPr>
                            <m:sty m:val="p"/>
                          </m:rPr>
                          <a:rPr lang="en-US" sz="2400" i="1">
                            <a:solidFill>
                              <a:srgbClr val="000000"/>
                            </a:solidFill>
                            <a:latin typeface="Cambria Math" panose="02040503050406030204" pitchFamily="18" charset="0"/>
                          </a:rPr>
                          <m:t>Δ</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lang="zh-CN" altLang="en-US" sz="2400" b="0" dirty="0"/>
                  <a:t>有相同的特性。</a:t>
                </a:r>
              </a:p>
            </p:txBody>
          </p:sp>
        </mc:Choice>
        <mc:Fallback xmlns="">
          <p:sp>
            <p:nvSpPr>
              <p:cNvPr id="25613" name="内容占位符 2">
                <a:extLst>
                  <a:ext uri="{FF2B5EF4-FFF2-40B4-BE49-F238E27FC236}">
                    <a16:creationId xmlns:a16="http://schemas.microsoft.com/office/drawing/2014/main" id="{23803DBB-6A04-44C8-9C23-2860BF499AF3}"/>
                  </a:ext>
                </a:extLst>
              </p:cNvPr>
              <p:cNvSpPr>
                <a:spLocks noGrp="1" noRot="1" noChangeAspect="1" noMove="1" noResize="1" noEditPoints="1" noAdjustHandles="1" noChangeArrowheads="1" noChangeShapeType="1" noTextEdit="1"/>
              </p:cNvSpPr>
              <p:nvPr>
                <p:ph idx="1"/>
              </p:nvPr>
            </p:nvSpPr>
            <p:spPr>
              <a:xfrm>
                <a:off x="457200" y="1285875"/>
                <a:ext cx="8229600" cy="4844275"/>
              </a:xfrm>
              <a:blipFill>
                <a:blip r:embed="rId2"/>
                <a:stretch>
                  <a:fillRect l="-963" r="-1111" b="-2013"/>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4334F023-E288-4C5C-8512-AF26F3BF588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B6A2908-663E-4F92-B56C-746C7DA96497}"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75</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58" name="标题 1">
            <a:extLst>
              <a:ext uri="{FF2B5EF4-FFF2-40B4-BE49-F238E27FC236}">
                <a16:creationId xmlns:a16="http://schemas.microsoft.com/office/drawing/2014/main" id="{815254C7-D56D-4888-BC18-60C86597D87C}"/>
              </a:ext>
            </a:extLst>
          </p:cNvPr>
          <p:cNvSpPr>
            <a:spLocks noGrp="1"/>
          </p:cNvSpPr>
          <p:nvPr>
            <p:ph type="title"/>
          </p:nvPr>
        </p:nvSpPr>
        <p:spPr/>
        <p:txBody>
          <a:bodyPr/>
          <a:lstStyle/>
          <a:p>
            <a:r>
              <a:rPr lang="en-US" altLang="zh-CN"/>
              <a:t>2.5 </a:t>
            </a:r>
            <a:r>
              <a:rPr lang="zh-CN" altLang="en-US"/>
              <a:t>奇异函数</a:t>
            </a:r>
          </a:p>
        </p:txBody>
      </p:sp>
      <p:sp>
        <p:nvSpPr>
          <p:cNvPr id="26659" name="内容占位符 2">
            <a:extLst>
              <a:ext uri="{FF2B5EF4-FFF2-40B4-BE49-F238E27FC236}">
                <a16:creationId xmlns:a16="http://schemas.microsoft.com/office/drawing/2014/main" id="{7C7D4A18-5094-4079-9F5F-4EE80AE04BA6}"/>
              </a:ext>
            </a:extLst>
          </p:cNvPr>
          <p:cNvSpPr>
            <a:spLocks noGrp="1"/>
          </p:cNvSpPr>
          <p:nvPr>
            <p:ph idx="1"/>
          </p:nvPr>
        </p:nvSpPr>
        <p:spPr>
          <a:xfrm>
            <a:off x="457200" y="5766355"/>
            <a:ext cx="8229600" cy="830997"/>
          </a:xfrm>
        </p:spPr>
        <p:txBody>
          <a:bodyPr>
            <a:spAutoFit/>
          </a:bodyPr>
          <a:lstStyle/>
          <a:p>
            <a:r>
              <a:rPr lang="zh-CN" altLang="en-US" sz="2400" b="0" dirty="0"/>
              <a:t>存在无穷多个看起来不同的信号，极限情况下都表现为单位冲激。</a:t>
            </a:r>
          </a:p>
        </p:txBody>
      </p:sp>
      <p:sp>
        <p:nvSpPr>
          <p:cNvPr id="4" name="灯片编号占位符 3">
            <a:extLst>
              <a:ext uri="{FF2B5EF4-FFF2-40B4-BE49-F238E27FC236}">
                <a16:creationId xmlns:a16="http://schemas.microsoft.com/office/drawing/2014/main" id="{E183CB70-11C4-4C1E-97AC-9FEEC1126F4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3EA1EE-F6A9-4E09-B355-309690CC01A9}"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76</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64" name="Picture 10" descr="01-34">
            <a:extLst>
              <a:ext uri="{FF2B5EF4-FFF2-40B4-BE49-F238E27FC236}">
                <a16:creationId xmlns:a16="http://schemas.microsoft.com/office/drawing/2014/main" id="{4DC77CDF-D5E8-4B47-B806-2F3223FCFC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861" y="1268760"/>
            <a:ext cx="2962275"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 name="Picture 11" descr="02-33">
            <a:extLst>
              <a:ext uri="{FF2B5EF4-FFF2-40B4-BE49-F238E27FC236}">
                <a16:creationId xmlns:a16="http://schemas.microsoft.com/office/drawing/2014/main" id="{3061BA4E-F55B-43E3-951A-3F24655B57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8024" y="3195985"/>
            <a:ext cx="3424237" cy="162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66" name="Object 4">
                <a:extLst>
                  <a:ext uri="{FF2B5EF4-FFF2-40B4-BE49-F238E27FC236}">
                    <a16:creationId xmlns:a16="http://schemas.microsoft.com/office/drawing/2014/main" id="{4B2B24DC-FDEB-4217-9F81-1A48C8A5DADC}"/>
                  </a:ext>
                </a:extLst>
              </p:cNvPr>
              <p:cNvSpPr txBox="1"/>
              <p:nvPr/>
            </p:nvSpPr>
            <p:spPr bwMode="auto">
              <a:xfrm>
                <a:off x="1120705" y="1975147"/>
                <a:ext cx="2439988" cy="571500"/>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func>
                        <m:funcPr>
                          <m:ctrlPr>
                            <a:rPr lang="en-US" sz="2400" i="1">
                              <a:solidFill>
                                <a:srgbClr val="000000"/>
                              </a:solidFill>
                              <a:latin typeface="Cambria Math" panose="02040503050406030204" pitchFamily="18" charset="0"/>
                            </a:rPr>
                          </m:ctrlPr>
                        </m:funcPr>
                        <m:fName>
                          <m:limLow>
                            <m:limLowPr>
                              <m:ctrlPr>
                                <a:rPr lang="en-US" sz="2400" i="1">
                                  <a:solidFill>
                                    <a:srgbClr val="000000"/>
                                  </a:solidFill>
                                  <a:latin typeface="Cambria Math" panose="02040503050406030204" pitchFamily="18" charset="0"/>
                                </a:rPr>
                              </m:ctrlPr>
                            </m:limLowPr>
                            <m:e>
                              <m:r>
                                <m:rPr>
                                  <m:sty m:val="p"/>
                                </m:rPr>
                                <a:rPr lang="en-US" sz="2400" i="0">
                                  <a:solidFill>
                                    <a:srgbClr val="000000"/>
                                  </a:solidFill>
                                  <a:latin typeface="Cambria Math" panose="02040503050406030204" pitchFamily="18" charset="0"/>
                                </a:rPr>
                                <m:t>lim</m:t>
                              </m:r>
                            </m:e>
                            <m:lim>
                              <m:r>
                                <m:rPr>
                                  <m:sty m:val="p"/>
                                </m:rPr>
                                <a:rPr lang="en-US" sz="2400" i="1">
                                  <a:solidFill>
                                    <a:srgbClr val="000000"/>
                                  </a:solidFill>
                                  <a:latin typeface="Cambria Math" panose="02040503050406030204" pitchFamily="18" charset="0"/>
                                </a:rPr>
                                <m:t>Δ</m:t>
                              </m:r>
                              <m:r>
                                <a:rPr lang="en-US" sz="2400" i="1">
                                  <a:solidFill>
                                    <a:srgbClr val="000000"/>
                                  </a:solidFill>
                                  <a:latin typeface="Cambria Math" panose="02040503050406030204" pitchFamily="18" charset="0"/>
                                </a:rPr>
                                <m:t>→0</m:t>
                              </m:r>
                            </m:lim>
                          </m:limLow>
                        </m:fName>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𝛿</m:t>
                              </m:r>
                            </m:e>
                            <m:sub>
                              <m:r>
                                <m:rPr>
                                  <m:sty m:val="p"/>
                                </m:rPr>
                                <a:rPr lang="en-US" sz="2400" i="1">
                                  <a:solidFill>
                                    <a:srgbClr val="000000"/>
                                  </a:solidFill>
                                  <a:latin typeface="Cambria Math" panose="02040503050406030204" pitchFamily="18" charset="0"/>
                                </a:rPr>
                                <m:t>Δ</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e>
                      </m:func>
                    </m:oMath>
                  </m:oMathPara>
                </a14:m>
                <a:endParaRPr lang="en-US" sz="2400" dirty="0"/>
              </a:p>
            </p:txBody>
          </p:sp>
        </mc:Choice>
        <mc:Fallback xmlns="">
          <p:sp>
            <p:nvSpPr>
              <p:cNvPr id="66" name="Object 4">
                <a:extLst>
                  <a:ext uri="{FF2B5EF4-FFF2-40B4-BE49-F238E27FC236}">
                    <a16:creationId xmlns:a16="http://schemas.microsoft.com/office/drawing/2014/main" id="{4B2B24DC-FDEB-4217-9F81-1A48C8A5DADC}"/>
                  </a:ext>
                </a:extLst>
              </p:cNvPr>
              <p:cNvSpPr txBox="1">
                <a:spLocks noRot="1" noChangeAspect="1" noMove="1" noResize="1" noEditPoints="1" noAdjustHandles="1" noChangeArrowheads="1" noChangeShapeType="1" noTextEdit="1"/>
              </p:cNvSpPr>
              <p:nvPr/>
            </p:nvSpPr>
            <p:spPr bwMode="auto">
              <a:xfrm>
                <a:off x="1120705" y="1975147"/>
                <a:ext cx="2439988" cy="571500"/>
              </a:xfrm>
              <a:prstGeom prst="rect">
                <a:avLst/>
              </a:prstGeom>
              <a:blipFill>
                <a:blip r:embed="rId5"/>
                <a:stretch>
                  <a:fillRect l="-750" b="-5319"/>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Object 8">
                <a:extLst>
                  <a:ext uri="{FF2B5EF4-FFF2-40B4-BE49-F238E27FC236}">
                    <a16:creationId xmlns:a16="http://schemas.microsoft.com/office/drawing/2014/main" id="{043F6E6E-9783-4A8F-9ACE-AD3F6AAEE986}"/>
                  </a:ext>
                </a:extLst>
              </p:cNvPr>
              <p:cNvSpPr txBox="1"/>
              <p:nvPr/>
            </p:nvSpPr>
            <p:spPr bwMode="auto">
              <a:xfrm>
                <a:off x="1120705" y="3774629"/>
                <a:ext cx="2947239" cy="468312"/>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𝑟</m:t>
                          </m:r>
                        </m:e>
                        <m:sub>
                          <m:r>
                            <m:rPr>
                              <m:sty m:val="p"/>
                            </m:rPr>
                            <a:rPr lang="en-US" sz="2400" i="1">
                              <a:solidFill>
                                <a:srgbClr val="000000"/>
                              </a:solidFill>
                              <a:latin typeface="Cambria Math" panose="02040503050406030204" pitchFamily="18" charset="0"/>
                            </a:rPr>
                            <m:t>Δ</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𝛿</m:t>
                          </m:r>
                        </m:e>
                        <m:sub>
                          <m:r>
                            <m:rPr>
                              <m:sty m:val="p"/>
                            </m:rPr>
                            <a:rPr lang="en-US" sz="2400" i="1">
                              <a:solidFill>
                                <a:srgbClr val="000000"/>
                              </a:solidFill>
                              <a:latin typeface="Cambria Math" panose="02040503050406030204" pitchFamily="18" charset="0"/>
                            </a:rPr>
                            <m:t>Δ</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𝛿</m:t>
                          </m:r>
                        </m:e>
                        <m:sub>
                          <m:r>
                            <m:rPr>
                              <m:sty m:val="p"/>
                            </m:rPr>
                            <a:rPr lang="en-US" sz="2400" i="1">
                              <a:solidFill>
                                <a:srgbClr val="000000"/>
                              </a:solidFill>
                              <a:latin typeface="Cambria Math" panose="02040503050406030204" pitchFamily="18" charset="0"/>
                            </a:rPr>
                            <m:t>Δ</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67" name="Object 8">
                <a:extLst>
                  <a:ext uri="{FF2B5EF4-FFF2-40B4-BE49-F238E27FC236}">
                    <a16:creationId xmlns:a16="http://schemas.microsoft.com/office/drawing/2014/main" id="{043F6E6E-9783-4A8F-9ACE-AD3F6AAEE986}"/>
                  </a:ext>
                </a:extLst>
              </p:cNvPr>
              <p:cNvSpPr txBox="1">
                <a:spLocks noRot="1" noChangeAspect="1" noMove="1" noResize="1" noEditPoints="1" noAdjustHandles="1" noChangeArrowheads="1" noChangeShapeType="1" noTextEdit="1"/>
              </p:cNvSpPr>
              <p:nvPr/>
            </p:nvSpPr>
            <p:spPr bwMode="auto">
              <a:xfrm>
                <a:off x="1120705" y="3774629"/>
                <a:ext cx="2947239" cy="468312"/>
              </a:xfrm>
              <a:prstGeom prst="rect">
                <a:avLst/>
              </a:prstGeom>
              <a:blipFill>
                <a:blip r:embed="rId6"/>
                <a:stretch>
                  <a:fillRect r="-621" b="-1818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Object 11">
                <a:extLst>
                  <a:ext uri="{FF2B5EF4-FFF2-40B4-BE49-F238E27FC236}">
                    <a16:creationId xmlns:a16="http://schemas.microsoft.com/office/drawing/2014/main" id="{86133458-7854-4103-962B-43371B9ADFA6}"/>
                  </a:ext>
                </a:extLst>
              </p:cNvPr>
              <p:cNvSpPr txBox="1"/>
              <p:nvPr/>
            </p:nvSpPr>
            <p:spPr bwMode="auto">
              <a:xfrm>
                <a:off x="1126128" y="5041730"/>
                <a:ext cx="6953071" cy="573427"/>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func>
                        <m:funcPr>
                          <m:ctrlPr>
                            <a:rPr lang="en-US" sz="2400" i="1">
                              <a:solidFill>
                                <a:srgbClr val="000000"/>
                              </a:solidFill>
                              <a:latin typeface="Cambria Math" panose="02040503050406030204" pitchFamily="18" charset="0"/>
                            </a:rPr>
                          </m:ctrlPr>
                        </m:funcPr>
                        <m:fName>
                          <m:limLow>
                            <m:limLowPr>
                              <m:ctrlPr>
                                <a:rPr lang="en-US" sz="2400" i="1">
                                  <a:solidFill>
                                    <a:srgbClr val="000000"/>
                                  </a:solidFill>
                                  <a:latin typeface="Cambria Math" panose="02040503050406030204" pitchFamily="18" charset="0"/>
                                </a:rPr>
                              </m:ctrlPr>
                            </m:limLowPr>
                            <m:e>
                              <m:r>
                                <m:rPr>
                                  <m:sty m:val="p"/>
                                </m:rPr>
                                <a:rPr lang="en-US" sz="2400" i="0">
                                  <a:solidFill>
                                    <a:srgbClr val="000000"/>
                                  </a:solidFill>
                                  <a:latin typeface="Cambria Math" panose="02040503050406030204" pitchFamily="18" charset="0"/>
                                </a:rPr>
                                <m:t>lim</m:t>
                              </m:r>
                            </m:e>
                            <m:lim>
                              <m:r>
                                <m:rPr>
                                  <m:sty m:val="p"/>
                                </m:rPr>
                                <a:rPr lang="en-US" sz="2400" i="1">
                                  <a:solidFill>
                                    <a:srgbClr val="000000"/>
                                  </a:solidFill>
                                  <a:latin typeface="Cambria Math" panose="02040503050406030204" pitchFamily="18" charset="0"/>
                                </a:rPr>
                                <m:t>Δ</m:t>
                              </m:r>
                              <m:r>
                                <a:rPr lang="en-US" sz="2400" i="1">
                                  <a:solidFill>
                                    <a:srgbClr val="000000"/>
                                  </a:solidFill>
                                  <a:latin typeface="Cambria Math" panose="02040503050406030204" pitchFamily="18" charset="0"/>
                                </a:rPr>
                                <m:t>→0</m:t>
                              </m:r>
                            </m:lim>
                          </m:limLow>
                        </m:fName>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𝑟</m:t>
                              </m:r>
                            </m:e>
                            <m:sub>
                              <m:r>
                                <m:rPr>
                                  <m:sty m:val="p"/>
                                </m:rPr>
                                <a:rPr lang="en-US" sz="2400" i="1">
                                  <a:solidFill>
                                    <a:srgbClr val="000000"/>
                                  </a:solidFill>
                                  <a:latin typeface="Cambria Math" panose="02040503050406030204" pitchFamily="18" charset="0"/>
                                </a:rPr>
                                <m:t>Δ</m:t>
                              </m:r>
                            </m:sub>
                          </m:sSub>
                        </m:e>
                      </m:func>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func>
                        <m:funcPr>
                          <m:ctrlPr>
                            <a:rPr lang="en-US" sz="2400" i="1">
                              <a:solidFill>
                                <a:srgbClr val="000000"/>
                              </a:solidFill>
                              <a:latin typeface="Cambria Math" panose="02040503050406030204" pitchFamily="18" charset="0"/>
                            </a:rPr>
                          </m:ctrlPr>
                        </m:funcPr>
                        <m:fName>
                          <m:limLow>
                            <m:limLowPr>
                              <m:ctrlPr>
                                <a:rPr lang="en-US" sz="2400" i="1">
                                  <a:solidFill>
                                    <a:srgbClr val="000000"/>
                                  </a:solidFill>
                                  <a:latin typeface="Cambria Math" panose="02040503050406030204" pitchFamily="18" charset="0"/>
                                </a:rPr>
                              </m:ctrlPr>
                            </m:limLowPr>
                            <m:e>
                              <m:r>
                                <m:rPr>
                                  <m:sty m:val="p"/>
                                </m:rPr>
                                <a:rPr lang="en-US" sz="2400" i="0">
                                  <a:solidFill>
                                    <a:srgbClr val="000000"/>
                                  </a:solidFill>
                                  <a:latin typeface="Cambria Math" panose="02040503050406030204" pitchFamily="18" charset="0"/>
                                </a:rPr>
                                <m:t>lim</m:t>
                              </m:r>
                            </m:e>
                            <m:lim>
                              <m:r>
                                <m:rPr>
                                  <m:sty m:val="p"/>
                                </m:rPr>
                                <a:rPr lang="en-US" sz="2400" i="1">
                                  <a:solidFill>
                                    <a:srgbClr val="000000"/>
                                  </a:solidFill>
                                  <a:latin typeface="Cambria Math" panose="02040503050406030204" pitchFamily="18" charset="0"/>
                                </a:rPr>
                                <m:t>Δ</m:t>
                              </m:r>
                              <m:r>
                                <a:rPr lang="en-US" sz="2400" i="1">
                                  <a:solidFill>
                                    <a:srgbClr val="000000"/>
                                  </a:solidFill>
                                  <a:latin typeface="Cambria Math" panose="02040503050406030204" pitchFamily="18" charset="0"/>
                                </a:rPr>
                                <m:t>→0</m:t>
                              </m:r>
                            </m:lim>
                          </m:limLow>
                        </m:fName>
                        <m:e>
                          <m:d>
                            <m:dPr>
                              <m:begChr m:val="["/>
                              <m:endChr m:val="]"/>
                              <m:ctrlPr>
                                <a:rPr lang="en-US" sz="2400" i="1">
                                  <a:solidFill>
                                    <a:srgbClr val="000000"/>
                                  </a:solidFill>
                                  <a:latin typeface="Cambria Math" panose="02040503050406030204" pitchFamily="18" charset="0"/>
                                </a:rPr>
                              </m:ctrlPr>
                            </m:dPr>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𝛿</m:t>
                                  </m:r>
                                </m:e>
                                <m:sub>
                                  <m:r>
                                    <m:rPr>
                                      <m:sty m:val="p"/>
                                    </m:rPr>
                                    <a:rPr lang="en-US" sz="2400" i="1">
                                      <a:solidFill>
                                        <a:srgbClr val="000000"/>
                                      </a:solidFill>
                                      <a:latin typeface="Cambria Math" panose="02040503050406030204" pitchFamily="18" charset="0"/>
                                    </a:rPr>
                                    <m:t>Δ</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𝛿</m:t>
                                  </m:r>
                                </m:e>
                                <m:sub>
                                  <m:r>
                                    <m:rPr>
                                      <m:sty m:val="p"/>
                                    </m:rPr>
                                    <a:rPr lang="en-US" sz="2400" i="1">
                                      <a:solidFill>
                                        <a:srgbClr val="000000"/>
                                      </a:solidFill>
                                      <a:latin typeface="Cambria Math" panose="02040503050406030204" pitchFamily="18" charset="0"/>
                                    </a:rPr>
                                    <m:t>Δ</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e>
                          </m:d>
                        </m:e>
                      </m:func>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68" name="Object 11">
                <a:extLst>
                  <a:ext uri="{FF2B5EF4-FFF2-40B4-BE49-F238E27FC236}">
                    <a16:creationId xmlns:a16="http://schemas.microsoft.com/office/drawing/2014/main" id="{86133458-7854-4103-962B-43371B9ADFA6}"/>
                  </a:ext>
                </a:extLst>
              </p:cNvPr>
              <p:cNvSpPr txBox="1">
                <a:spLocks noRot="1" noChangeAspect="1" noMove="1" noResize="1" noEditPoints="1" noAdjustHandles="1" noChangeArrowheads="1" noChangeShapeType="1" noTextEdit="1"/>
              </p:cNvSpPr>
              <p:nvPr/>
            </p:nvSpPr>
            <p:spPr bwMode="auto">
              <a:xfrm>
                <a:off x="1126128" y="5041730"/>
                <a:ext cx="6953071" cy="573427"/>
              </a:xfrm>
              <a:prstGeom prst="rect">
                <a:avLst/>
              </a:prstGeom>
              <a:blipFill>
                <a:blip r:embed="rId7"/>
                <a:stretch>
                  <a:fillRect r="-88" b="-5319"/>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7" name="标题 1">
            <a:extLst>
              <a:ext uri="{FF2B5EF4-FFF2-40B4-BE49-F238E27FC236}">
                <a16:creationId xmlns:a16="http://schemas.microsoft.com/office/drawing/2014/main" id="{199E30E3-90C7-4FB5-9090-8FA6F0B75759}"/>
              </a:ext>
            </a:extLst>
          </p:cNvPr>
          <p:cNvSpPr>
            <a:spLocks noGrp="1"/>
          </p:cNvSpPr>
          <p:nvPr>
            <p:ph type="title"/>
          </p:nvPr>
        </p:nvSpPr>
        <p:spPr/>
        <p:txBody>
          <a:bodyPr/>
          <a:lstStyle/>
          <a:p>
            <a:r>
              <a:rPr lang="en-US" altLang="zh-CN"/>
              <a:t>2.5 </a:t>
            </a:r>
            <a:r>
              <a:rPr lang="zh-CN" altLang="en-US"/>
              <a:t>奇异函数</a:t>
            </a:r>
          </a:p>
        </p:txBody>
      </p:sp>
      <mc:AlternateContent xmlns:mc="http://schemas.openxmlformats.org/markup-compatibility/2006" xmlns:a14="http://schemas.microsoft.com/office/drawing/2010/main">
        <mc:Choice Requires="a14">
          <p:sp>
            <p:nvSpPr>
              <p:cNvPr id="27658" name="内容占位符 2">
                <a:extLst>
                  <a:ext uri="{FF2B5EF4-FFF2-40B4-BE49-F238E27FC236}">
                    <a16:creationId xmlns:a16="http://schemas.microsoft.com/office/drawing/2014/main" id="{8DB4CD85-0290-498A-94B8-3ADB3F65EB08}"/>
                  </a:ext>
                </a:extLst>
              </p:cNvPr>
              <p:cNvSpPr>
                <a:spLocks noGrp="1"/>
              </p:cNvSpPr>
              <p:nvPr>
                <p:ph idx="1"/>
              </p:nvPr>
            </p:nvSpPr>
            <p:spPr>
              <a:xfrm>
                <a:off x="457200" y="1285875"/>
                <a:ext cx="8229600" cy="1200329"/>
              </a:xfrm>
            </p:spPr>
            <p:txBody>
              <a:bodyPr>
                <a:spAutoFit/>
              </a:bodyPr>
              <a:lstStyle/>
              <a:p>
                <a:r>
                  <a:rPr lang="zh-CN" altLang="en-US" sz="2400" b="0" dirty="0"/>
                  <a:t>上述现象出现的原因在于</a:t>
                </a:r>
                <a14:m>
                  <m:oMath xmlns:m="http://schemas.openxmlformats.org/officeDocument/2006/math">
                    <m:r>
                      <a:rPr lang="en-US" sz="2400" b="0" i="1" smtClean="0">
                        <a:solidFill>
                          <a:srgbClr val="000000"/>
                        </a:solidFill>
                        <a:latin typeface="Cambria Math" panose="02040503050406030204" pitchFamily="18" charset="0"/>
                      </a:rPr>
                      <m:t>𝛿</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𝑡</m:t>
                    </m:r>
                    <m:r>
                      <a:rPr lang="en-US" sz="2400" b="0" i="1" smtClean="0">
                        <a:solidFill>
                          <a:srgbClr val="000000"/>
                        </a:solidFill>
                        <a:latin typeface="Cambria Math" panose="02040503050406030204" pitchFamily="18" charset="0"/>
                      </a:rPr>
                      <m:t>)</m:t>
                    </m:r>
                  </m:oMath>
                </a14:m>
                <a:r>
                  <a:rPr lang="zh-CN" altLang="en-US" sz="2400" b="0" dirty="0"/>
                  <a:t>是一个理想化的非常规函数，被称为</a:t>
                </a:r>
                <a:r>
                  <a:rPr lang="zh-CN" altLang="en-US" sz="2400" dirty="0">
                    <a:solidFill>
                      <a:srgbClr val="FF0000"/>
                    </a:solidFill>
                  </a:rPr>
                  <a:t>奇异函数</a:t>
                </a:r>
                <a:r>
                  <a:rPr lang="zh-CN" altLang="en-US" sz="2400" b="0" dirty="0"/>
                  <a:t>。通常采用在卷积或积分运算下表现的特性来定义奇异函数。</a:t>
                </a:r>
                <a:endParaRPr lang="en-US" altLang="zh-CN" sz="2400" b="0" dirty="0"/>
              </a:p>
            </p:txBody>
          </p:sp>
        </mc:Choice>
        <mc:Fallback xmlns="">
          <p:sp>
            <p:nvSpPr>
              <p:cNvPr id="27658" name="内容占位符 2">
                <a:extLst>
                  <a:ext uri="{FF2B5EF4-FFF2-40B4-BE49-F238E27FC236}">
                    <a16:creationId xmlns:a16="http://schemas.microsoft.com/office/drawing/2014/main" id="{8DB4CD85-0290-498A-94B8-3ADB3F65EB08}"/>
                  </a:ext>
                </a:extLst>
              </p:cNvPr>
              <p:cNvSpPr>
                <a:spLocks noGrp="1" noRot="1" noChangeAspect="1" noMove="1" noResize="1" noEditPoints="1" noAdjustHandles="1" noChangeArrowheads="1" noChangeShapeType="1" noTextEdit="1"/>
              </p:cNvSpPr>
              <p:nvPr>
                <p:ph idx="1"/>
              </p:nvPr>
            </p:nvSpPr>
            <p:spPr>
              <a:xfrm>
                <a:off x="457200" y="1285875"/>
                <a:ext cx="8229600" cy="1200329"/>
              </a:xfrm>
              <a:blipFill>
                <a:blip r:embed="rId2"/>
                <a:stretch>
                  <a:fillRect l="-963" t="-4061" r="-296" b="-11168"/>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6B68D6C9-0EF3-4B8B-BBFD-39A4043AC74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903AD73-D26D-4BD8-906D-B8C28CD9DC62}"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77</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6" name="图片 5">
            <a:extLst>
              <a:ext uri="{FF2B5EF4-FFF2-40B4-BE49-F238E27FC236}">
                <a16:creationId xmlns:a16="http://schemas.microsoft.com/office/drawing/2014/main" id="{14721345-F195-412D-8EDD-AA6302B385D7}"/>
              </a:ext>
            </a:extLst>
          </p:cNvPr>
          <p:cNvPicPr>
            <a:picLocks noChangeAspect="1"/>
          </p:cNvPicPr>
          <p:nvPr/>
        </p:nvPicPr>
        <p:blipFill>
          <a:blip r:embed="rId3"/>
          <a:stretch>
            <a:fillRect/>
          </a:stretch>
        </p:blipFill>
        <p:spPr>
          <a:xfrm>
            <a:off x="1547664" y="3337804"/>
            <a:ext cx="6450972" cy="2592288"/>
          </a:xfrm>
          <a:prstGeom prst="rect">
            <a:avLst/>
          </a:prstGeom>
        </p:spPr>
      </p:pic>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C8C751A4-B524-48E6-8AFF-2627791FCC41}"/>
                  </a:ext>
                </a:extLst>
              </p:cNvPr>
              <p:cNvSpPr txBox="1"/>
              <p:nvPr/>
            </p:nvSpPr>
            <p:spPr>
              <a:xfrm>
                <a:off x="820522" y="2529964"/>
                <a:ext cx="6559789" cy="633058"/>
              </a:xfrm>
              <a:prstGeom prst="rect">
                <a:avLst/>
              </a:prstGeom>
              <a:noFill/>
            </p:spPr>
            <p:txBody>
              <a:bodyPr wrap="square">
                <a:spAutoFit/>
              </a:bodyPr>
              <a:lstStyle/>
              <a:p>
                <a:pPr marL="0" marR="0" lvl="0" indent="0" algn="just" defTabSz="914400" rtl="0" eaLnBrk="0" fontAlgn="base" latinLnBrk="0" hangingPunct="0">
                  <a:lnSpc>
                    <a:spcPct val="100000"/>
                  </a:lnSpc>
                  <a:spcBef>
                    <a:spcPts val="0"/>
                  </a:spcBef>
                  <a:spcAft>
                    <a:spcPts val="600"/>
                  </a:spcAft>
                  <a:buClrTx/>
                  <a:buSzTx/>
                  <a:buFont typeface="Arial" panose="020B0604020202020204" pitchFamily="34" charset="0"/>
                  <a:buNone/>
                  <a:tabLst/>
                  <a:defRPr/>
                </a:pPr>
                <a:r>
                  <a:rPr kumimoji="0" lang="zh-CN" altLang="en-US" sz="2400" b="0" i="0" u="none" strike="noStrike" kern="1200" cap="none" spc="0" normalizeH="0" baseline="0" noProof="0" dirty="0">
                    <a:ln>
                      <a:noFill/>
                    </a:ln>
                    <a:solidFill>
                      <a:srgbClr val="0000FF"/>
                    </a:solidFill>
                    <a:effectLst/>
                    <a:uLnTx/>
                    <a:uFillTx/>
                    <a:latin typeface="Times New Roman" pitchFamily="18" charset="0"/>
                    <a:ea typeface="华文楷体" pitchFamily="2" charset="-122"/>
                    <a:cs typeface="+mn-cs"/>
                  </a:rPr>
                  <a:t>例如</a:t>
                </a: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a:t>
                </a:r>
                <a:r>
                  <a:rPr lang="zh-CN" altLang="en-US" sz="2400" dirty="0">
                    <a:solidFill>
                      <a:prstClr val="black"/>
                    </a:solidFill>
                    <a:latin typeface="Times New Roman" pitchFamily="18" charset="0"/>
                    <a:ea typeface="华文楷体" pitchFamily="2" charset="-122"/>
                  </a:rPr>
                  <a:t>考虑初始松弛的系统</a:t>
                </a:r>
                <a14:m>
                  <m:oMath xmlns:m="http://schemas.openxmlformats.org/officeDocument/2006/math">
                    <m:f>
                      <m:fPr>
                        <m:ctrlPr>
                          <a:rPr lang="en-US" sz="2400" i="1">
                            <a:solidFill>
                              <a:srgbClr val="000000"/>
                            </a:solidFill>
                            <a:latin typeface="Cambria Math" panose="02040503050406030204" pitchFamily="18" charset="0"/>
                          </a:rPr>
                        </m:ctrlPr>
                      </m:fPr>
                      <m:num>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num>
                      <m:den>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den>
                    </m:f>
                    <m:r>
                      <a:rPr lang="en-US" sz="2400" i="1">
                        <a:solidFill>
                          <a:srgbClr val="000000"/>
                        </a:solidFill>
                        <a:latin typeface="Cambria Math" panose="02040503050406030204" pitchFamily="18" charset="0"/>
                      </a:rPr>
                      <m:t>+2</m:t>
                    </m:r>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endPar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endParaRPr>
              </a:p>
            </p:txBody>
          </p:sp>
        </mc:Choice>
        <mc:Fallback xmlns="">
          <p:sp>
            <p:nvSpPr>
              <p:cNvPr id="22" name="文本框 21">
                <a:extLst>
                  <a:ext uri="{FF2B5EF4-FFF2-40B4-BE49-F238E27FC236}">
                    <a16:creationId xmlns:a16="http://schemas.microsoft.com/office/drawing/2014/main" id="{C8C751A4-B524-48E6-8AFF-2627791FCC41}"/>
                  </a:ext>
                </a:extLst>
              </p:cNvPr>
              <p:cNvSpPr txBox="1">
                <a:spLocks noRot="1" noChangeAspect="1" noMove="1" noResize="1" noEditPoints="1" noAdjustHandles="1" noChangeArrowheads="1" noChangeShapeType="1" noTextEdit="1"/>
              </p:cNvSpPr>
              <p:nvPr/>
            </p:nvSpPr>
            <p:spPr>
              <a:xfrm>
                <a:off x="820522" y="2529964"/>
                <a:ext cx="6559789" cy="633058"/>
              </a:xfrm>
              <a:prstGeom prst="rect">
                <a:avLst/>
              </a:prstGeom>
              <a:blipFill>
                <a:blip r:embed="rId4"/>
                <a:stretch>
                  <a:fillRect l="-1487" b="-105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30CFEC24-575C-4268-A77E-38EB334F9385}"/>
                  </a:ext>
                </a:extLst>
              </p:cNvPr>
              <p:cNvSpPr txBox="1"/>
              <p:nvPr/>
            </p:nvSpPr>
            <p:spPr>
              <a:xfrm>
                <a:off x="2267744" y="6006733"/>
                <a:ext cx="1738536" cy="369332"/>
              </a:xfrm>
              <a:prstGeom prst="rect">
                <a:avLst/>
              </a:prstGeom>
              <a:noFill/>
            </p:spPr>
            <p:txBody>
              <a:bodyPr wrap="square">
                <a:spAutoFit/>
              </a:bodyPr>
              <a:lstStyle/>
              <a:p>
                <a:pPr algn="ctr"/>
                <a:r>
                  <a:rPr kumimoji="0" lang="zh-CN" altLang="en-US" b="0" u="none" strike="noStrike" kern="1200" cap="none" spc="0" normalizeH="0" baseline="0" noProof="0" dirty="0">
                    <a:ln>
                      <a:noFill/>
                    </a:ln>
                    <a:solidFill>
                      <a:srgbClr val="000000"/>
                    </a:solidFill>
                    <a:effectLst/>
                    <a:uLnTx/>
                    <a:uFillTx/>
                    <a:latin typeface="Cambria Math" panose="02040503050406030204" pitchFamily="18" charset="0"/>
                    <a:ea typeface="楷体" panose="02010609060101010101" pitchFamily="49" charset="-122"/>
                  </a:rPr>
                  <a:t>对</a:t>
                </a:r>
                <a14:m>
                  <m:oMath xmlns:m="http://schemas.openxmlformats.org/officeDocument/2006/math">
                    <m:sSub>
                      <m:sSubPr>
                        <m:ctrlPr>
                          <a:rPr kumimoji="0" lang="en-US" b="0" i="1" u="none" strike="noStrike" kern="1200" cap="none" spc="0" normalizeH="0" baseline="0" noProof="0" smtClean="0">
                            <a:ln>
                              <a:noFill/>
                            </a:ln>
                            <a:solidFill>
                              <a:srgbClr val="000000"/>
                            </a:solidFill>
                            <a:effectLst/>
                            <a:uLnTx/>
                            <a:uFillTx/>
                            <a:latin typeface="Cambria Math" panose="02040503050406030204" pitchFamily="18" charset="0"/>
                          </a:rPr>
                        </m:ctrlPr>
                      </m:sSubPr>
                      <m:e>
                        <m:r>
                          <a:rPr kumimoji="0" lang="en-US" b="0" i="1" u="none" strike="noStrike" kern="1200" cap="none" spc="0" normalizeH="0" baseline="0" noProof="0">
                            <a:ln>
                              <a:noFill/>
                            </a:ln>
                            <a:solidFill>
                              <a:srgbClr val="000000"/>
                            </a:solidFill>
                            <a:effectLst/>
                            <a:uLnTx/>
                            <a:uFillTx/>
                            <a:latin typeface="Cambria Math" panose="02040503050406030204" pitchFamily="18" charset="0"/>
                          </a:rPr>
                          <m:t>𝛿</m:t>
                        </m:r>
                      </m:e>
                      <m:sub>
                        <m:r>
                          <m:rPr>
                            <m:sty m:val="p"/>
                          </m:rPr>
                          <a:rPr kumimoji="0" lang="en-US" b="0" i="1" u="none" strike="noStrike" kern="1200" cap="none" spc="0" normalizeH="0" baseline="0" noProof="0">
                            <a:ln>
                              <a:noFill/>
                            </a:ln>
                            <a:solidFill>
                              <a:srgbClr val="000000"/>
                            </a:solidFill>
                            <a:effectLst/>
                            <a:uLnTx/>
                            <a:uFillTx/>
                            <a:latin typeface="Cambria Math" panose="02040503050406030204" pitchFamily="18" charset="0"/>
                          </a:rPr>
                          <m:t>Δ</m:t>
                        </m:r>
                      </m:sub>
                    </m:sSub>
                    <m:r>
                      <a:rPr kumimoji="0" lang="en-US" b="0" i="1" u="none" strike="noStrike" kern="1200" cap="none" spc="0" normalizeH="0" baseline="0" noProof="0">
                        <a:ln>
                          <a:noFill/>
                        </a:ln>
                        <a:solidFill>
                          <a:srgbClr val="000000"/>
                        </a:solidFill>
                        <a:effectLst/>
                        <a:uLnTx/>
                        <a:uFillTx/>
                        <a:latin typeface="Cambria Math" panose="02040503050406030204" pitchFamily="18" charset="0"/>
                      </a:rPr>
                      <m:t>(</m:t>
                    </m:r>
                    <m:r>
                      <a:rPr kumimoji="0" lang="en-US" b="0" i="1" u="none" strike="noStrike" kern="1200" cap="none" spc="0" normalizeH="0" baseline="0" noProof="0">
                        <a:ln>
                          <a:noFill/>
                        </a:ln>
                        <a:solidFill>
                          <a:srgbClr val="000000"/>
                        </a:solidFill>
                        <a:effectLst/>
                        <a:uLnTx/>
                        <a:uFillTx/>
                        <a:latin typeface="Cambria Math" panose="02040503050406030204" pitchFamily="18" charset="0"/>
                      </a:rPr>
                      <m:t>𝑡</m:t>
                    </m:r>
                    <m:r>
                      <a:rPr kumimoji="0" lang="en-US" b="0" i="1" u="none" strike="noStrike" kern="1200" cap="none" spc="0" normalizeH="0" baseline="0" noProof="0">
                        <a:ln>
                          <a:noFill/>
                        </a:ln>
                        <a:solidFill>
                          <a:srgbClr val="000000"/>
                        </a:solidFill>
                        <a:effectLst/>
                        <a:uLnTx/>
                        <a:uFillTx/>
                        <a:latin typeface="Cambria Math" panose="02040503050406030204" pitchFamily="18" charset="0"/>
                      </a:rPr>
                      <m:t>)</m:t>
                    </m:r>
                  </m:oMath>
                </a14:m>
                <a:r>
                  <a:rPr lang="zh-CN" altLang="en-US" dirty="0">
                    <a:latin typeface="Cambria Math" panose="02040503050406030204" pitchFamily="18" charset="0"/>
                    <a:ea typeface="楷体" panose="02010609060101010101" pitchFamily="49" charset="-122"/>
                  </a:rPr>
                  <a:t>的响应</a:t>
                </a:r>
                <a:endParaRPr lang="en-US" dirty="0">
                  <a:latin typeface="Cambria Math" panose="02040503050406030204" pitchFamily="18" charset="0"/>
                  <a:ea typeface="楷体" panose="02010609060101010101" pitchFamily="49" charset="-122"/>
                </a:endParaRPr>
              </a:p>
            </p:txBody>
          </p:sp>
        </mc:Choice>
        <mc:Fallback xmlns="">
          <p:sp>
            <p:nvSpPr>
              <p:cNvPr id="28" name="文本框 27">
                <a:extLst>
                  <a:ext uri="{FF2B5EF4-FFF2-40B4-BE49-F238E27FC236}">
                    <a16:creationId xmlns:a16="http://schemas.microsoft.com/office/drawing/2014/main" id="{30CFEC24-575C-4268-A77E-38EB334F9385}"/>
                  </a:ext>
                </a:extLst>
              </p:cNvPr>
              <p:cNvSpPr txBox="1">
                <a:spLocks noRot="1" noChangeAspect="1" noMove="1" noResize="1" noEditPoints="1" noAdjustHandles="1" noChangeArrowheads="1" noChangeShapeType="1" noTextEdit="1"/>
              </p:cNvSpPr>
              <p:nvPr/>
            </p:nvSpPr>
            <p:spPr>
              <a:xfrm>
                <a:off x="2267744" y="6006733"/>
                <a:ext cx="1738536" cy="369332"/>
              </a:xfrm>
              <a:prstGeom prst="rect">
                <a:avLst/>
              </a:prstGeom>
              <a:blipFill>
                <a:blip r:embed="rId5"/>
                <a:stretch>
                  <a:fillRect t="-11475" b="-213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3F02B554-9E25-494E-A1E6-9B0AF206EB8A}"/>
                  </a:ext>
                </a:extLst>
              </p:cNvPr>
              <p:cNvSpPr txBox="1"/>
              <p:nvPr/>
            </p:nvSpPr>
            <p:spPr>
              <a:xfrm>
                <a:off x="5580112" y="6006733"/>
                <a:ext cx="1656184" cy="369332"/>
              </a:xfrm>
              <a:prstGeom prst="rect">
                <a:avLst/>
              </a:prstGeom>
              <a:noFill/>
            </p:spPr>
            <p:txBody>
              <a:bodyPr wrap="square">
                <a:spAutoFit/>
              </a:bodyPr>
              <a:lstStyle/>
              <a:p>
                <a:pPr algn="ctr"/>
                <a:r>
                  <a:rPr kumimoji="0" lang="zh-CN" altLang="en-US" b="0" u="none" strike="noStrike" kern="1200" cap="none" spc="0" normalizeH="0" baseline="0" noProof="0" dirty="0">
                    <a:ln>
                      <a:noFill/>
                    </a:ln>
                    <a:solidFill>
                      <a:srgbClr val="000000"/>
                    </a:solidFill>
                    <a:effectLst/>
                    <a:uLnTx/>
                    <a:uFillTx/>
                    <a:latin typeface="Cambria Math" panose="02040503050406030204" pitchFamily="18" charset="0"/>
                    <a:ea typeface="楷体" panose="02010609060101010101" pitchFamily="49" charset="-122"/>
                  </a:rPr>
                  <a:t>对</a:t>
                </a:r>
                <a14:m>
                  <m:oMath xmlns:m="http://schemas.openxmlformats.org/officeDocument/2006/math">
                    <m:sSub>
                      <m:sSubPr>
                        <m:ctrlPr>
                          <a:rPr kumimoji="0" lang="en-US" b="0" i="1" u="none" strike="noStrike" kern="1200" cap="none" spc="0" normalizeH="0" baseline="0" noProof="0" smtClean="0">
                            <a:ln>
                              <a:noFill/>
                            </a:ln>
                            <a:solidFill>
                              <a:srgbClr val="000000"/>
                            </a:solidFill>
                            <a:effectLst/>
                            <a:uLnTx/>
                            <a:uFillTx/>
                            <a:latin typeface="Cambria Math" panose="02040503050406030204" pitchFamily="18" charset="0"/>
                          </a:rPr>
                        </m:ctrlPr>
                      </m:sSubPr>
                      <m:e>
                        <m:r>
                          <a:rPr kumimoji="0" lang="en-US" b="0" i="1" u="none" strike="noStrike" kern="1200" cap="none" spc="0" normalizeH="0" baseline="0" noProof="0" smtClean="0">
                            <a:ln>
                              <a:noFill/>
                            </a:ln>
                            <a:solidFill>
                              <a:srgbClr val="000000"/>
                            </a:solidFill>
                            <a:effectLst/>
                            <a:uLnTx/>
                            <a:uFillTx/>
                            <a:latin typeface="Cambria Math" panose="02040503050406030204" pitchFamily="18" charset="0"/>
                          </a:rPr>
                          <m:t>𝑟</m:t>
                        </m:r>
                      </m:e>
                      <m:sub>
                        <m:r>
                          <m:rPr>
                            <m:sty m:val="p"/>
                          </m:rPr>
                          <a:rPr kumimoji="0" lang="en-US" b="0" i="1" u="none" strike="noStrike" kern="1200" cap="none" spc="0" normalizeH="0" baseline="0" noProof="0">
                            <a:ln>
                              <a:noFill/>
                            </a:ln>
                            <a:solidFill>
                              <a:srgbClr val="000000"/>
                            </a:solidFill>
                            <a:effectLst/>
                            <a:uLnTx/>
                            <a:uFillTx/>
                            <a:latin typeface="Cambria Math" panose="02040503050406030204" pitchFamily="18" charset="0"/>
                          </a:rPr>
                          <m:t>Δ</m:t>
                        </m:r>
                      </m:sub>
                    </m:sSub>
                    <m:r>
                      <a:rPr kumimoji="0" lang="en-US" b="0" i="1" u="none" strike="noStrike" kern="1200" cap="none" spc="0" normalizeH="0" baseline="0" noProof="0">
                        <a:ln>
                          <a:noFill/>
                        </a:ln>
                        <a:solidFill>
                          <a:srgbClr val="000000"/>
                        </a:solidFill>
                        <a:effectLst/>
                        <a:uLnTx/>
                        <a:uFillTx/>
                        <a:latin typeface="Cambria Math" panose="02040503050406030204" pitchFamily="18" charset="0"/>
                      </a:rPr>
                      <m:t>(</m:t>
                    </m:r>
                    <m:r>
                      <a:rPr kumimoji="0" lang="en-US" b="0" i="1" u="none" strike="noStrike" kern="1200" cap="none" spc="0" normalizeH="0" baseline="0" noProof="0">
                        <a:ln>
                          <a:noFill/>
                        </a:ln>
                        <a:solidFill>
                          <a:srgbClr val="000000"/>
                        </a:solidFill>
                        <a:effectLst/>
                        <a:uLnTx/>
                        <a:uFillTx/>
                        <a:latin typeface="Cambria Math" panose="02040503050406030204" pitchFamily="18" charset="0"/>
                      </a:rPr>
                      <m:t>𝑡</m:t>
                    </m:r>
                    <m:r>
                      <a:rPr kumimoji="0" lang="en-US" b="0" i="1" u="none" strike="noStrike" kern="1200" cap="none" spc="0" normalizeH="0" baseline="0" noProof="0">
                        <a:ln>
                          <a:noFill/>
                        </a:ln>
                        <a:solidFill>
                          <a:srgbClr val="000000"/>
                        </a:solidFill>
                        <a:effectLst/>
                        <a:uLnTx/>
                        <a:uFillTx/>
                        <a:latin typeface="Cambria Math" panose="02040503050406030204" pitchFamily="18" charset="0"/>
                      </a:rPr>
                      <m:t>)</m:t>
                    </m:r>
                  </m:oMath>
                </a14:m>
                <a:r>
                  <a:rPr lang="zh-CN" altLang="en-US" dirty="0">
                    <a:latin typeface="Cambria Math" panose="02040503050406030204" pitchFamily="18" charset="0"/>
                    <a:ea typeface="楷体" panose="02010609060101010101" pitchFamily="49" charset="-122"/>
                  </a:rPr>
                  <a:t>的响应</a:t>
                </a:r>
                <a:endParaRPr lang="en-US" dirty="0">
                  <a:latin typeface="Cambria Math" panose="02040503050406030204" pitchFamily="18" charset="0"/>
                  <a:ea typeface="楷体" panose="02010609060101010101" pitchFamily="49" charset="-122"/>
                </a:endParaRPr>
              </a:p>
            </p:txBody>
          </p:sp>
        </mc:Choice>
        <mc:Fallback xmlns="">
          <p:sp>
            <p:nvSpPr>
              <p:cNvPr id="29" name="文本框 28">
                <a:extLst>
                  <a:ext uri="{FF2B5EF4-FFF2-40B4-BE49-F238E27FC236}">
                    <a16:creationId xmlns:a16="http://schemas.microsoft.com/office/drawing/2014/main" id="{3F02B554-9E25-494E-A1E6-9B0AF206EB8A}"/>
                  </a:ext>
                </a:extLst>
              </p:cNvPr>
              <p:cNvSpPr txBox="1">
                <a:spLocks noRot="1" noChangeAspect="1" noMove="1" noResize="1" noEditPoints="1" noAdjustHandles="1" noChangeArrowheads="1" noChangeShapeType="1" noTextEdit="1"/>
              </p:cNvSpPr>
              <p:nvPr/>
            </p:nvSpPr>
            <p:spPr>
              <a:xfrm>
                <a:off x="5580112" y="6006733"/>
                <a:ext cx="1656184" cy="369332"/>
              </a:xfrm>
              <a:prstGeom prst="rect">
                <a:avLst/>
              </a:prstGeom>
              <a:blipFill>
                <a:blip r:embed="rId6"/>
                <a:stretch>
                  <a:fillRect l="-735" t="-11475" r="-1103" b="-21311"/>
                </a:stretch>
              </a:blipFill>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7" name="标题 1">
            <a:extLst>
              <a:ext uri="{FF2B5EF4-FFF2-40B4-BE49-F238E27FC236}">
                <a16:creationId xmlns:a16="http://schemas.microsoft.com/office/drawing/2014/main" id="{199E30E3-90C7-4FB5-9090-8FA6F0B75759}"/>
              </a:ext>
            </a:extLst>
          </p:cNvPr>
          <p:cNvSpPr>
            <a:spLocks noGrp="1"/>
          </p:cNvSpPr>
          <p:nvPr>
            <p:ph type="title"/>
          </p:nvPr>
        </p:nvSpPr>
        <p:spPr/>
        <p:txBody>
          <a:bodyPr/>
          <a:lstStyle/>
          <a:p>
            <a:r>
              <a:rPr lang="en-US" altLang="zh-CN"/>
              <a:t>2.5 </a:t>
            </a:r>
            <a:r>
              <a:rPr lang="zh-CN" altLang="en-US"/>
              <a:t>奇异函数</a:t>
            </a:r>
          </a:p>
        </p:txBody>
      </p:sp>
      <p:sp>
        <p:nvSpPr>
          <p:cNvPr id="4" name="灯片编号占位符 3">
            <a:extLst>
              <a:ext uri="{FF2B5EF4-FFF2-40B4-BE49-F238E27FC236}">
                <a16:creationId xmlns:a16="http://schemas.microsoft.com/office/drawing/2014/main" id="{6B68D6C9-0EF3-4B8B-BBFD-39A4043AC74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903AD73-D26D-4BD8-906D-B8C28CD9DC62}"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78</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5" name="图片 4">
            <a:extLst>
              <a:ext uri="{FF2B5EF4-FFF2-40B4-BE49-F238E27FC236}">
                <a16:creationId xmlns:a16="http://schemas.microsoft.com/office/drawing/2014/main" id="{E1F4BA79-FF7F-4A9C-B160-E818F936C1C8}"/>
              </a:ext>
            </a:extLst>
          </p:cNvPr>
          <p:cNvPicPr>
            <a:picLocks noChangeAspect="1"/>
          </p:cNvPicPr>
          <p:nvPr/>
        </p:nvPicPr>
        <p:blipFill>
          <a:blip r:embed="rId3"/>
          <a:stretch>
            <a:fillRect/>
          </a:stretch>
        </p:blipFill>
        <p:spPr>
          <a:xfrm>
            <a:off x="1702135" y="1196752"/>
            <a:ext cx="5739730" cy="2326459"/>
          </a:xfrm>
          <a:prstGeom prst="rect">
            <a:avLst/>
          </a:prstGeom>
        </p:spPr>
      </p:pic>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506637F-E0E6-4070-B52B-CAB7E7182E1F}"/>
                  </a:ext>
                </a:extLst>
              </p:cNvPr>
              <p:cNvSpPr txBox="1"/>
              <p:nvPr/>
            </p:nvSpPr>
            <p:spPr>
              <a:xfrm>
                <a:off x="1850859" y="3501008"/>
                <a:ext cx="2725849" cy="338554"/>
              </a:xfrm>
              <a:prstGeom prst="rect">
                <a:avLst/>
              </a:prstGeom>
              <a:noFill/>
            </p:spPr>
            <p:txBody>
              <a:bodyPr wrap="square">
                <a:spAutoFit/>
              </a:bodyPr>
              <a:lstStyle/>
              <a:p>
                <a:pPr algn="ctr"/>
                <a:r>
                  <a:rPr kumimoji="0" lang="zh-CN" altLang="en-US" sz="1600" b="0" u="none" strike="noStrike" kern="1200" cap="none" spc="0" normalizeH="0" baseline="0" noProof="0" dirty="0">
                    <a:ln>
                      <a:noFill/>
                    </a:ln>
                    <a:solidFill>
                      <a:srgbClr val="000000"/>
                    </a:solidFill>
                    <a:effectLst/>
                    <a:uLnTx/>
                    <a:uFillTx/>
                    <a:latin typeface="Cambria Math" panose="02040503050406030204" pitchFamily="18" charset="0"/>
                    <a:ea typeface="楷体" panose="02010609060101010101" pitchFamily="49" charset="-122"/>
                  </a:rPr>
                  <a:t>对</a:t>
                </a:r>
                <a14:m>
                  <m:oMath xmlns:m="http://schemas.openxmlformats.org/officeDocument/2006/math">
                    <m: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rPr>
                      <m:t>𝑥</m:t>
                    </m:r>
                    <m:d>
                      <m:dPr>
                        <m:ctrlP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rPr>
                        </m:ctrlPr>
                      </m:dPr>
                      <m:e>
                        <m: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rPr>
                          <m:t>𝑡</m:t>
                        </m:r>
                      </m:e>
                    </m:d>
                    <m: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rPr>
                      <m:t>=</m:t>
                    </m:r>
                    <m:sSub>
                      <m:sSubPr>
                        <m:ctrlP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rPr>
                        </m:ctrlPr>
                      </m:sSubPr>
                      <m:e>
                        <m:r>
                          <a:rPr kumimoji="0" lang="en-US" sz="1600" b="0" i="1" u="none" strike="noStrike" kern="1200" cap="none" spc="0" normalizeH="0" baseline="0" noProof="0">
                            <a:ln>
                              <a:noFill/>
                            </a:ln>
                            <a:solidFill>
                              <a:srgbClr val="000000"/>
                            </a:solidFill>
                            <a:effectLst/>
                            <a:uLnTx/>
                            <a:uFillTx/>
                            <a:latin typeface="Cambria Math" panose="02040503050406030204" pitchFamily="18" charset="0"/>
                          </a:rPr>
                          <m:t>𝛿</m:t>
                        </m:r>
                      </m:e>
                      <m:sub>
                        <m:r>
                          <m:rPr>
                            <m:sty m:val="p"/>
                          </m:rPr>
                          <a:rPr kumimoji="0" lang="en-US" sz="1600" b="0" i="1" u="none" strike="noStrike" kern="1200" cap="none" spc="0" normalizeH="0" baseline="0" noProof="0">
                            <a:ln>
                              <a:noFill/>
                            </a:ln>
                            <a:solidFill>
                              <a:srgbClr val="000000"/>
                            </a:solidFill>
                            <a:effectLst/>
                            <a:uLnTx/>
                            <a:uFillTx/>
                            <a:latin typeface="Cambria Math" panose="02040503050406030204" pitchFamily="18" charset="0"/>
                          </a:rPr>
                          <m:t>Δ</m:t>
                        </m:r>
                      </m:sub>
                    </m:sSub>
                    <m:d>
                      <m:d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rPr>
                        </m:ctrlPr>
                      </m:dPr>
                      <m:e>
                        <m:r>
                          <a:rPr kumimoji="0" lang="en-US" sz="1600" b="0" i="1" u="none" strike="noStrike" kern="1200" cap="none" spc="0" normalizeH="0" baseline="0" noProof="0">
                            <a:ln>
                              <a:noFill/>
                            </a:ln>
                            <a:solidFill>
                              <a:srgbClr val="000000"/>
                            </a:solidFill>
                            <a:effectLst/>
                            <a:uLnTx/>
                            <a:uFillTx/>
                            <a:latin typeface="Cambria Math" panose="02040503050406030204" pitchFamily="18" charset="0"/>
                          </a:rPr>
                          <m:t>𝑡</m:t>
                        </m:r>
                      </m:e>
                    </m:d>
                    <m: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rPr>
                      <m:t>∗</m:t>
                    </m:r>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𝑟</m:t>
                        </m:r>
                      </m:e>
                      <m:sub>
                        <m:r>
                          <m:rPr>
                            <m:sty m:val="p"/>
                          </m:rPr>
                          <a:rPr lang="en-US" sz="1600" i="1">
                            <a:solidFill>
                              <a:srgbClr val="000000"/>
                            </a:solidFill>
                            <a:latin typeface="Cambria Math" panose="02040503050406030204" pitchFamily="18" charset="0"/>
                          </a:rPr>
                          <m:t>Δ</m:t>
                        </m:r>
                      </m:sub>
                    </m:sSub>
                    <m:r>
                      <a:rPr lang="en-US" sz="1600" i="1">
                        <a:solidFill>
                          <a:srgbClr val="000000"/>
                        </a:solidFill>
                        <a:latin typeface="Cambria Math" panose="02040503050406030204" pitchFamily="18" charset="0"/>
                      </a:rPr>
                      <m:t>(</m:t>
                    </m:r>
                    <m:r>
                      <a:rPr lang="en-US" sz="1600" i="1">
                        <a:solidFill>
                          <a:srgbClr val="000000"/>
                        </a:solidFill>
                        <a:latin typeface="Cambria Math" panose="02040503050406030204" pitchFamily="18" charset="0"/>
                      </a:rPr>
                      <m:t>𝑡</m:t>
                    </m:r>
                    <m:r>
                      <a:rPr lang="en-US" sz="1600" i="1">
                        <a:solidFill>
                          <a:srgbClr val="000000"/>
                        </a:solidFill>
                        <a:latin typeface="Cambria Math" panose="02040503050406030204" pitchFamily="18" charset="0"/>
                      </a:rPr>
                      <m:t>)</m:t>
                    </m:r>
                  </m:oMath>
                </a14:m>
                <a:r>
                  <a:rPr lang="zh-CN" altLang="en-US" sz="1600" dirty="0">
                    <a:latin typeface="Cambria Math" panose="02040503050406030204" pitchFamily="18" charset="0"/>
                    <a:ea typeface="楷体" panose="02010609060101010101" pitchFamily="49" charset="-122"/>
                  </a:rPr>
                  <a:t>的响应</a:t>
                </a:r>
                <a:endParaRPr lang="en-US" sz="1600" dirty="0">
                  <a:latin typeface="Cambria Math" panose="02040503050406030204" pitchFamily="18" charset="0"/>
                  <a:ea typeface="楷体" panose="02010609060101010101" pitchFamily="49" charset="-122"/>
                </a:endParaRPr>
              </a:p>
            </p:txBody>
          </p:sp>
        </mc:Choice>
        <mc:Fallback xmlns="">
          <p:sp>
            <p:nvSpPr>
              <p:cNvPr id="12" name="文本框 11">
                <a:extLst>
                  <a:ext uri="{FF2B5EF4-FFF2-40B4-BE49-F238E27FC236}">
                    <a16:creationId xmlns:a16="http://schemas.microsoft.com/office/drawing/2014/main" id="{2506637F-E0E6-4070-B52B-CAB7E7182E1F}"/>
                  </a:ext>
                </a:extLst>
              </p:cNvPr>
              <p:cNvSpPr txBox="1">
                <a:spLocks noRot="1" noChangeAspect="1" noMove="1" noResize="1" noEditPoints="1" noAdjustHandles="1" noChangeArrowheads="1" noChangeShapeType="1" noTextEdit="1"/>
              </p:cNvSpPr>
              <p:nvPr/>
            </p:nvSpPr>
            <p:spPr>
              <a:xfrm>
                <a:off x="1850859" y="3501008"/>
                <a:ext cx="2725849" cy="338554"/>
              </a:xfrm>
              <a:prstGeom prst="rect">
                <a:avLst/>
              </a:prstGeom>
              <a:blipFill>
                <a:blip r:embed="rId4"/>
                <a:stretch>
                  <a:fillRect l="-1342" t="-7143" r="-895" b="-196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143DB0D0-8A5E-4B54-BD18-9CB9F64D09A5}"/>
                  </a:ext>
                </a:extLst>
              </p:cNvPr>
              <p:cNvSpPr txBox="1"/>
              <p:nvPr/>
            </p:nvSpPr>
            <p:spPr>
              <a:xfrm>
                <a:off x="4716016" y="3504264"/>
                <a:ext cx="2725849" cy="338554"/>
              </a:xfrm>
              <a:prstGeom prst="rect">
                <a:avLst/>
              </a:prstGeom>
              <a:noFill/>
            </p:spPr>
            <p:txBody>
              <a:bodyPr wrap="square">
                <a:spAutoFit/>
              </a:bodyPr>
              <a:lstStyle/>
              <a:p>
                <a:pPr algn="ctr"/>
                <a:r>
                  <a:rPr kumimoji="0" lang="zh-CN" altLang="en-US" sz="1600" b="0" u="none" strike="noStrike" kern="1200" cap="none" spc="0" normalizeH="0" baseline="0" noProof="0" dirty="0">
                    <a:ln>
                      <a:noFill/>
                    </a:ln>
                    <a:solidFill>
                      <a:srgbClr val="000000"/>
                    </a:solidFill>
                    <a:effectLst/>
                    <a:uLnTx/>
                    <a:uFillTx/>
                    <a:latin typeface="Cambria Math" panose="02040503050406030204" pitchFamily="18" charset="0"/>
                    <a:ea typeface="楷体" panose="02010609060101010101" pitchFamily="49" charset="-122"/>
                  </a:rPr>
                  <a:t>对</a:t>
                </a:r>
                <a14:m>
                  <m:oMath xmlns:m="http://schemas.openxmlformats.org/officeDocument/2006/math">
                    <m: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rPr>
                      <m:t>𝑥</m:t>
                    </m:r>
                    <m:d>
                      <m:dPr>
                        <m:ctrlP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rPr>
                        </m:ctrlPr>
                      </m:dPr>
                      <m:e>
                        <m: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rPr>
                          <m:t>𝑡</m:t>
                        </m:r>
                      </m:e>
                    </m:d>
                    <m: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rPr>
                      <m:t>=</m:t>
                    </m:r>
                    <m:sSub>
                      <m:sSubPr>
                        <m:ctrlP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rPr>
                        </m:ctrlPr>
                      </m:sSubPr>
                      <m:e>
                        <m: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rPr>
                          <m:t>𝑟</m:t>
                        </m:r>
                      </m:e>
                      <m:sub>
                        <m:r>
                          <m:rPr>
                            <m:sty m:val="p"/>
                          </m:rPr>
                          <a:rPr kumimoji="0" lang="en-US" sz="1600" b="0" i="1" u="none" strike="noStrike" kern="1200" cap="none" spc="0" normalizeH="0" baseline="0" noProof="0">
                            <a:ln>
                              <a:noFill/>
                            </a:ln>
                            <a:solidFill>
                              <a:srgbClr val="000000"/>
                            </a:solidFill>
                            <a:effectLst/>
                            <a:uLnTx/>
                            <a:uFillTx/>
                            <a:latin typeface="Cambria Math" panose="02040503050406030204" pitchFamily="18" charset="0"/>
                          </a:rPr>
                          <m:t>Δ</m:t>
                        </m:r>
                      </m:sub>
                    </m:sSub>
                    <m:d>
                      <m:dPr>
                        <m:ctrlPr>
                          <a:rPr kumimoji="0" lang="en-US" sz="1600" b="0" i="1" u="none" strike="noStrike" kern="1200" cap="none" spc="0" normalizeH="0" baseline="0" noProof="0">
                            <a:ln>
                              <a:noFill/>
                            </a:ln>
                            <a:solidFill>
                              <a:srgbClr val="000000"/>
                            </a:solidFill>
                            <a:effectLst/>
                            <a:uLnTx/>
                            <a:uFillTx/>
                            <a:latin typeface="Cambria Math" panose="02040503050406030204" pitchFamily="18" charset="0"/>
                          </a:rPr>
                        </m:ctrlPr>
                      </m:dPr>
                      <m:e>
                        <m:r>
                          <a:rPr kumimoji="0" lang="en-US" sz="1600" b="0" i="1" u="none" strike="noStrike" kern="1200" cap="none" spc="0" normalizeH="0" baseline="0" noProof="0">
                            <a:ln>
                              <a:noFill/>
                            </a:ln>
                            <a:solidFill>
                              <a:srgbClr val="000000"/>
                            </a:solidFill>
                            <a:effectLst/>
                            <a:uLnTx/>
                            <a:uFillTx/>
                            <a:latin typeface="Cambria Math" panose="02040503050406030204" pitchFamily="18" charset="0"/>
                          </a:rPr>
                          <m:t>𝑡</m:t>
                        </m:r>
                      </m:e>
                    </m:d>
                    <m:r>
                      <a:rPr kumimoji="0" lang="en-US" sz="1600" b="0" i="1" u="none" strike="noStrike" kern="1200" cap="none" spc="0" normalizeH="0" baseline="0" noProof="0" smtClean="0">
                        <a:ln>
                          <a:noFill/>
                        </a:ln>
                        <a:solidFill>
                          <a:srgbClr val="000000"/>
                        </a:solidFill>
                        <a:effectLst/>
                        <a:uLnTx/>
                        <a:uFillTx/>
                        <a:latin typeface="Cambria Math" panose="02040503050406030204" pitchFamily="18" charset="0"/>
                      </a:rPr>
                      <m:t>∗</m:t>
                    </m:r>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𝑟</m:t>
                        </m:r>
                      </m:e>
                      <m:sub>
                        <m:r>
                          <m:rPr>
                            <m:sty m:val="p"/>
                          </m:rPr>
                          <a:rPr lang="en-US" sz="1600" i="1">
                            <a:solidFill>
                              <a:srgbClr val="000000"/>
                            </a:solidFill>
                            <a:latin typeface="Cambria Math" panose="02040503050406030204" pitchFamily="18" charset="0"/>
                          </a:rPr>
                          <m:t>Δ</m:t>
                        </m:r>
                      </m:sub>
                    </m:sSub>
                    <m:r>
                      <a:rPr lang="en-US" sz="1600" i="1">
                        <a:solidFill>
                          <a:srgbClr val="000000"/>
                        </a:solidFill>
                        <a:latin typeface="Cambria Math" panose="02040503050406030204" pitchFamily="18" charset="0"/>
                      </a:rPr>
                      <m:t>(</m:t>
                    </m:r>
                    <m:r>
                      <a:rPr lang="en-US" sz="1600" i="1">
                        <a:solidFill>
                          <a:srgbClr val="000000"/>
                        </a:solidFill>
                        <a:latin typeface="Cambria Math" panose="02040503050406030204" pitchFamily="18" charset="0"/>
                      </a:rPr>
                      <m:t>𝑡</m:t>
                    </m:r>
                    <m:r>
                      <a:rPr lang="en-US" sz="1600" i="1">
                        <a:solidFill>
                          <a:srgbClr val="000000"/>
                        </a:solidFill>
                        <a:latin typeface="Cambria Math" panose="02040503050406030204" pitchFamily="18" charset="0"/>
                      </a:rPr>
                      <m:t>)</m:t>
                    </m:r>
                  </m:oMath>
                </a14:m>
                <a:r>
                  <a:rPr lang="zh-CN" altLang="en-US" sz="1600" dirty="0">
                    <a:latin typeface="Cambria Math" panose="02040503050406030204" pitchFamily="18" charset="0"/>
                    <a:ea typeface="楷体" panose="02010609060101010101" pitchFamily="49" charset="-122"/>
                  </a:rPr>
                  <a:t>的响应</a:t>
                </a:r>
                <a:endParaRPr lang="en-US" sz="1600" dirty="0">
                  <a:latin typeface="Cambria Math" panose="02040503050406030204" pitchFamily="18" charset="0"/>
                  <a:ea typeface="楷体" panose="02010609060101010101" pitchFamily="49" charset="-122"/>
                </a:endParaRPr>
              </a:p>
            </p:txBody>
          </p:sp>
        </mc:Choice>
        <mc:Fallback xmlns="">
          <p:sp>
            <p:nvSpPr>
              <p:cNvPr id="13" name="文本框 12">
                <a:extLst>
                  <a:ext uri="{FF2B5EF4-FFF2-40B4-BE49-F238E27FC236}">
                    <a16:creationId xmlns:a16="http://schemas.microsoft.com/office/drawing/2014/main" id="{143DB0D0-8A5E-4B54-BD18-9CB9F64D09A5}"/>
                  </a:ext>
                </a:extLst>
              </p:cNvPr>
              <p:cNvSpPr txBox="1">
                <a:spLocks noRot="1" noChangeAspect="1" noMove="1" noResize="1" noEditPoints="1" noAdjustHandles="1" noChangeArrowheads="1" noChangeShapeType="1" noTextEdit="1"/>
              </p:cNvSpPr>
              <p:nvPr/>
            </p:nvSpPr>
            <p:spPr>
              <a:xfrm>
                <a:off x="4716016" y="3504264"/>
                <a:ext cx="2725849" cy="338554"/>
              </a:xfrm>
              <a:prstGeom prst="rect">
                <a:avLst/>
              </a:prstGeom>
              <a:blipFill>
                <a:blip r:embed="rId5"/>
                <a:stretch>
                  <a:fillRect l="-671" t="-7273" r="-447" b="-21818"/>
                </a:stretch>
              </a:blipFill>
            </p:spPr>
            <p:txBody>
              <a:bodyPr/>
              <a:lstStyle/>
              <a:p>
                <a:r>
                  <a:rPr lang="en-US">
                    <a:noFill/>
                  </a:rPr>
                  <a:t> </a:t>
                </a:r>
              </a:p>
            </p:txBody>
          </p:sp>
        </mc:Fallback>
      </mc:AlternateContent>
      <p:pic>
        <p:nvPicPr>
          <p:cNvPr id="8" name="图片 7">
            <a:extLst>
              <a:ext uri="{FF2B5EF4-FFF2-40B4-BE49-F238E27FC236}">
                <a16:creationId xmlns:a16="http://schemas.microsoft.com/office/drawing/2014/main" id="{777031FD-E6E4-40F4-9AB6-C8D7A413A87B}"/>
              </a:ext>
            </a:extLst>
          </p:cNvPr>
          <p:cNvPicPr>
            <a:picLocks noChangeAspect="1"/>
          </p:cNvPicPr>
          <p:nvPr/>
        </p:nvPicPr>
        <p:blipFill>
          <a:blip r:embed="rId6"/>
          <a:stretch>
            <a:fillRect/>
          </a:stretch>
        </p:blipFill>
        <p:spPr>
          <a:xfrm>
            <a:off x="3298355" y="3933056"/>
            <a:ext cx="2835321" cy="2210282"/>
          </a:xfrm>
          <a:prstGeom prst="rect">
            <a:avLst/>
          </a:prstGeom>
        </p:spPr>
      </p:pic>
      <mc:AlternateContent xmlns:mc="http://schemas.openxmlformats.org/markup-compatibility/2006" xmlns:a14="http://schemas.microsoft.com/office/drawing/2010/main">
        <mc:Choice Requires="a14">
          <p:sp>
            <p:nvSpPr>
              <p:cNvPr id="16" name="Text Box 3">
                <a:extLst>
                  <a:ext uri="{FF2B5EF4-FFF2-40B4-BE49-F238E27FC236}">
                    <a16:creationId xmlns:a16="http://schemas.microsoft.com/office/drawing/2014/main" id="{CADD464E-BF30-40B6-9D81-640A49BDCBD1}"/>
                  </a:ext>
                </a:extLst>
              </p:cNvPr>
              <p:cNvSpPr txBox="1">
                <a:spLocks noChangeArrowheads="1"/>
              </p:cNvSpPr>
              <p:nvPr/>
            </p:nvSpPr>
            <p:spPr bwMode="auto">
              <a:xfrm>
                <a:off x="2123728" y="6237312"/>
                <a:ext cx="5672724" cy="400110"/>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miter lim="800000"/>
                    <a:headEnd/>
                    <a:tailEnd/>
                  </a14:hiddenLine>
                </a:ext>
              </a:extLst>
            </p:spPr>
            <p:txBody>
              <a:bodyPr wrap="square">
                <a:spAutoFit/>
              </a:bodyPr>
              <a:lstStyle>
                <a:lvl1pPr>
                  <a:spcBef>
                    <a:spcPct val="20000"/>
                  </a:spcBef>
                  <a:buChar char="•"/>
                  <a:defRPr sz="3100">
                    <a:solidFill>
                      <a:srgbClr val="CC0099"/>
                    </a:solidFill>
                    <a:latin typeface="Times New Roman" panose="02020603050405020304" pitchFamily="18" charset="0"/>
                  </a:defRPr>
                </a:lvl1pPr>
                <a:lvl2pPr marL="742950" indent="-285750">
                  <a:spcBef>
                    <a:spcPct val="20000"/>
                  </a:spcBef>
                  <a:buChar char="–"/>
                  <a:defRPr sz="2800">
                    <a:solidFill>
                      <a:srgbClr val="800000"/>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100">
                    <a:solidFill>
                      <a:schemeClr val="tx1"/>
                    </a:solidFill>
                    <a:latin typeface="Times New Roman" panose="02020603050405020304" pitchFamily="18" charset="0"/>
                  </a:defRPr>
                </a:lvl4pPr>
                <a:lvl5pPr marL="2057400" indent="-228600">
                  <a:spcBef>
                    <a:spcPct val="20000"/>
                  </a:spcBef>
                  <a:buChar char="»"/>
                  <a:defRPr sz="21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1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1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1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100">
                    <a:solidFill>
                      <a:schemeClr val="tx1"/>
                    </a:solidFill>
                    <a:latin typeface="Times New Roman" panose="02020603050405020304" pitchFamily="18" charset="0"/>
                  </a:defRPr>
                </a:lvl9pPr>
              </a:lstStyle>
              <a:p>
                <a:pPr eaLnBrk="1" hangingPunct="1">
                  <a:spcBef>
                    <a:spcPct val="50000"/>
                  </a:spcBef>
                  <a:buFontTx/>
                  <a:buNone/>
                </a:pPr>
                <a:r>
                  <a:rPr lang="zh-CN" altLang="en-US" sz="2000" dirty="0">
                    <a:solidFill>
                      <a:srgbClr val="000000"/>
                    </a:solidFill>
                    <a:latin typeface="Cambria Math" panose="02040503050406030204" pitchFamily="18" charset="0"/>
                    <a:ea typeface="楷体" panose="02010609060101010101" pitchFamily="49" charset="-122"/>
                  </a:rPr>
                  <a:t>以上响应都在</a:t>
                </a:r>
                <a:r>
                  <a:rPr lang="el-GR" altLang="zh-CN" sz="2000" dirty="0">
                    <a:solidFill>
                      <a:srgbClr val="000000"/>
                    </a:solidFill>
                    <a:ea typeface="宋体" panose="02010600030101010101" pitchFamily="2" charset="-122"/>
                  </a:rPr>
                  <a:t>Δ</a:t>
                </a:r>
                <a:r>
                  <a:rPr lang="en-US" altLang="zh-CN" sz="2000" dirty="0">
                    <a:solidFill>
                      <a:srgbClr val="000000"/>
                    </a:solidFill>
                    <a:ea typeface="宋体" panose="02010600030101010101" pitchFamily="2" charset="-122"/>
                  </a:rPr>
                  <a:t> → 0</a:t>
                </a:r>
                <a:r>
                  <a:rPr lang="zh-CN" altLang="en-US" sz="2000" dirty="0">
                    <a:solidFill>
                      <a:srgbClr val="000000"/>
                    </a:solidFill>
                    <a:latin typeface="Cambria Math" panose="02040503050406030204" pitchFamily="18" charset="0"/>
                    <a:ea typeface="楷体" panose="02010609060101010101" pitchFamily="49" charset="-122"/>
                  </a:rPr>
                  <a:t>时向单位冲激响应</a:t>
                </a:r>
                <a14:m>
                  <m:oMath xmlns:m="http://schemas.openxmlformats.org/officeDocument/2006/math">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rPr>
                      <m:t>h</m:t>
                    </m:r>
                    <m:d>
                      <m:d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rPr>
                        </m:ctrlPr>
                      </m:dPr>
                      <m:e>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rPr>
                          <m:t>𝑡</m:t>
                        </m:r>
                      </m:e>
                    </m:d>
                  </m:oMath>
                </a14:m>
                <a:r>
                  <a:rPr lang="zh-CN" altLang="en-US" sz="2000" dirty="0">
                    <a:solidFill>
                      <a:srgbClr val="000000"/>
                    </a:solidFill>
                    <a:latin typeface="Cambria Math" panose="02040503050406030204" pitchFamily="18" charset="0"/>
                    <a:ea typeface="楷体" panose="02010609060101010101" pitchFamily="49" charset="-122"/>
                  </a:rPr>
                  <a:t>收敛。</a:t>
                </a:r>
                <a:endParaRPr lang="en-US" altLang="zh-CN" sz="2000" dirty="0">
                  <a:solidFill>
                    <a:srgbClr val="000000"/>
                  </a:solidFill>
                  <a:latin typeface="Cambria Math" panose="02040503050406030204" pitchFamily="18" charset="0"/>
                  <a:ea typeface="楷体" panose="02010609060101010101" pitchFamily="49" charset="-122"/>
                </a:endParaRPr>
              </a:p>
            </p:txBody>
          </p:sp>
        </mc:Choice>
        <mc:Fallback xmlns="">
          <p:sp>
            <p:nvSpPr>
              <p:cNvPr id="16" name="Text Box 3">
                <a:extLst>
                  <a:ext uri="{FF2B5EF4-FFF2-40B4-BE49-F238E27FC236}">
                    <a16:creationId xmlns:a16="http://schemas.microsoft.com/office/drawing/2014/main" id="{CADD464E-BF30-40B6-9D81-640A49BDCBD1}"/>
                  </a:ext>
                </a:extLst>
              </p:cNvPr>
              <p:cNvSpPr txBox="1">
                <a:spLocks noRot="1" noChangeAspect="1" noMove="1" noResize="1" noEditPoints="1" noAdjustHandles="1" noChangeArrowheads="1" noChangeShapeType="1" noTextEdit="1"/>
              </p:cNvSpPr>
              <p:nvPr/>
            </p:nvSpPr>
            <p:spPr bwMode="auto">
              <a:xfrm>
                <a:off x="2123728" y="6237312"/>
                <a:ext cx="5672724" cy="400110"/>
              </a:xfrm>
              <a:prstGeom prst="rect">
                <a:avLst/>
              </a:prstGeom>
              <a:blipFill>
                <a:blip r:embed="rId7"/>
                <a:stretch>
                  <a:fillRect l="-1074" t="-10606" r="-537" b="-2727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413553051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7" name="标题 1">
            <a:extLst>
              <a:ext uri="{FF2B5EF4-FFF2-40B4-BE49-F238E27FC236}">
                <a16:creationId xmlns:a16="http://schemas.microsoft.com/office/drawing/2014/main" id="{199E30E3-90C7-4FB5-9090-8FA6F0B75759}"/>
              </a:ext>
            </a:extLst>
          </p:cNvPr>
          <p:cNvSpPr>
            <a:spLocks noGrp="1"/>
          </p:cNvSpPr>
          <p:nvPr>
            <p:ph type="title"/>
          </p:nvPr>
        </p:nvSpPr>
        <p:spPr/>
        <p:txBody>
          <a:bodyPr/>
          <a:lstStyle/>
          <a:p>
            <a:r>
              <a:rPr lang="en-US" altLang="zh-CN"/>
              <a:t>2.5 </a:t>
            </a:r>
            <a:r>
              <a:rPr lang="zh-CN" altLang="en-US"/>
              <a:t>奇异函数</a:t>
            </a:r>
          </a:p>
        </p:txBody>
      </p:sp>
      <mc:AlternateContent xmlns:mc="http://schemas.openxmlformats.org/markup-compatibility/2006" xmlns:a14="http://schemas.microsoft.com/office/drawing/2010/main">
        <mc:Choice Requires="a14">
          <p:sp>
            <p:nvSpPr>
              <p:cNvPr id="27658" name="内容占位符 2">
                <a:extLst>
                  <a:ext uri="{FF2B5EF4-FFF2-40B4-BE49-F238E27FC236}">
                    <a16:creationId xmlns:a16="http://schemas.microsoft.com/office/drawing/2014/main" id="{8DB4CD85-0290-498A-94B8-3ADB3F65EB08}"/>
                  </a:ext>
                </a:extLst>
              </p:cNvPr>
              <p:cNvSpPr>
                <a:spLocks noGrp="1"/>
              </p:cNvSpPr>
              <p:nvPr>
                <p:ph idx="1"/>
              </p:nvPr>
            </p:nvSpPr>
            <p:spPr>
              <a:xfrm>
                <a:off x="457200" y="1285875"/>
                <a:ext cx="8229600" cy="1384995"/>
              </a:xfrm>
            </p:spPr>
            <p:txBody>
              <a:bodyPr>
                <a:spAutoFit/>
              </a:bodyPr>
              <a:lstStyle/>
              <a:p>
                <a:pPr marL="0" indent="0">
                  <a:buNone/>
                </a:pPr>
                <a:r>
                  <a:rPr lang="zh-CN" altLang="en-US" sz="2800" b="0" dirty="0"/>
                  <a:t>一</a:t>
                </a:r>
                <a:r>
                  <a:rPr lang="en-US" altLang="zh-CN" sz="2800" b="0" dirty="0"/>
                  <a:t>. </a:t>
                </a:r>
                <a:r>
                  <a:rPr lang="zh-CN" altLang="en-US" sz="2800" b="0" dirty="0">
                    <a:solidFill>
                      <a:srgbClr val="0000FF"/>
                    </a:solidFill>
                  </a:rPr>
                  <a:t>通过卷积定义</a:t>
                </a:r>
                <a14:m>
                  <m:oMath xmlns:m="http://schemas.openxmlformats.org/officeDocument/2006/math">
                    <m:r>
                      <a:rPr lang="en-US" sz="2800" b="0" i="1" smtClean="0">
                        <a:solidFill>
                          <a:srgbClr val="0000FF"/>
                        </a:solidFill>
                        <a:latin typeface="Cambria Math" panose="02040503050406030204" pitchFamily="18" charset="0"/>
                      </a:rPr>
                      <m:t>𝛿</m:t>
                    </m:r>
                    <m:r>
                      <a:rPr lang="en-US" sz="2800" b="0" i="1" smtClean="0">
                        <a:solidFill>
                          <a:srgbClr val="0000FF"/>
                        </a:solidFill>
                        <a:latin typeface="Cambria Math" panose="02040503050406030204" pitchFamily="18" charset="0"/>
                      </a:rPr>
                      <m:t>(</m:t>
                    </m:r>
                    <m:r>
                      <a:rPr lang="en-US" sz="2800" b="0" i="1" smtClean="0">
                        <a:solidFill>
                          <a:srgbClr val="0000FF"/>
                        </a:solidFill>
                        <a:latin typeface="Cambria Math" panose="02040503050406030204" pitchFamily="18" charset="0"/>
                      </a:rPr>
                      <m:t>𝑡</m:t>
                    </m:r>
                    <m:r>
                      <a:rPr lang="en-US" sz="2800" b="0" i="1" smtClean="0">
                        <a:solidFill>
                          <a:srgbClr val="0000FF"/>
                        </a:solidFill>
                        <a:latin typeface="Cambria Math" panose="02040503050406030204" pitchFamily="18" charset="0"/>
                      </a:rPr>
                      <m:t>)</m:t>
                    </m:r>
                  </m:oMath>
                </a14:m>
                <a:r>
                  <a:rPr lang="zh-CN" altLang="en-US" sz="2800" b="0" dirty="0"/>
                  <a:t>：从系统的角度，将</a:t>
                </a:r>
                <a14:m>
                  <m:oMath xmlns:m="http://schemas.openxmlformats.org/officeDocument/2006/math">
                    <m:r>
                      <a:rPr lang="en-US" sz="2800" b="0" i="1">
                        <a:solidFill>
                          <a:srgbClr val="000000"/>
                        </a:solidFill>
                        <a:latin typeface="Cambria Math" panose="02040503050406030204" pitchFamily="18" charset="0"/>
                      </a:rPr>
                      <m:t>𝛿</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𝑡</m:t>
                    </m:r>
                    <m:r>
                      <a:rPr lang="en-US" sz="2800" b="0" i="1">
                        <a:solidFill>
                          <a:srgbClr val="000000"/>
                        </a:solidFill>
                        <a:latin typeface="Cambria Math" panose="02040503050406030204" pitchFamily="18" charset="0"/>
                      </a:rPr>
                      <m:t>)</m:t>
                    </m:r>
                  </m:oMath>
                </a14:m>
                <a:r>
                  <a:rPr lang="zh-CN" altLang="en-US" sz="2800" b="0" dirty="0"/>
                  <a:t>定义为恒等系统的单位冲激响应，即对任意</a:t>
                </a:r>
                <a14:m>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r>
                  <a:rPr lang="zh-CN" altLang="en-US" sz="2800" b="0" dirty="0"/>
                  <a:t>，</a:t>
                </a:r>
                <a:r>
                  <a:rPr lang="en-US" sz="2800" dirty="0">
                    <a:solidFill>
                      <a:srgbClr val="000000"/>
                    </a:solidFill>
                  </a:rPr>
                  <a:t> </a:t>
                </a:r>
                <a14:m>
                  <m:oMath xmlns:m="http://schemas.openxmlformats.org/officeDocument/2006/math">
                    <m:r>
                      <a:rPr lang="en-US" sz="2800" i="1">
                        <a:solidFill>
                          <a:srgbClr val="000000"/>
                        </a:solidFill>
                        <a:latin typeface="Cambria Math" panose="02040503050406030204" pitchFamily="18" charset="0"/>
                      </a:rPr>
                      <m:t>𝛿</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r>
                  <a:rPr lang="zh-CN" altLang="en-US" sz="2800" b="0" dirty="0"/>
                  <a:t>应满足：</a:t>
                </a:r>
                <a:endParaRPr lang="en-US" altLang="zh-CN" sz="2800" b="0" dirty="0"/>
              </a:p>
            </p:txBody>
          </p:sp>
        </mc:Choice>
        <mc:Fallback xmlns="">
          <p:sp>
            <p:nvSpPr>
              <p:cNvPr id="27658" name="内容占位符 2">
                <a:extLst>
                  <a:ext uri="{FF2B5EF4-FFF2-40B4-BE49-F238E27FC236}">
                    <a16:creationId xmlns:a16="http://schemas.microsoft.com/office/drawing/2014/main" id="{8DB4CD85-0290-498A-94B8-3ADB3F65EB08}"/>
                  </a:ext>
                </a:extLst>
              </p:cNvPr>
              <p:cNvSpPr>
                <a:spLocks noGrp="1" noRot="1" noChangeAspect="1" noMove="1" noResize="1" noEditPoints="1" noAdjustHandles="1" noChangeArrowheads="1" noChangeShapeType="1" noTextEdit="1"/>
              </p:cNvSpPr>
              <p:nvPr>
                <p:ph idx="1"/>
              </p:nvPr>
            </p:nvSpPr>
            <p:spPr>
              <a:xfrm>
                <a:off x="457200" y="1285875"/>
                <a:ext cx="8229600" cy="1384995"/>
              </a:xfrm>
              <a:blipFill>
                <a:blip r:embed="rId2"/>
                <a:stretch>
                  <a:fillRect l="-1481" t="-5727" b="-11454"/>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6B68D6C9-0EF3-4B8B-BBFD-39A4043AC74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903AD73-D26D-4BD8-906D-B8C28CD9DC62}"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79</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22" name="Object 3">
                <a:extLst>
                  <a:ext uri="{FF2B5EF4-FFF2-40B4-BE49-F238E27FC236}">
                    <a16:creationId xmlns:a16="http://schemas.microsoft.com/office/drawing/2014/main" id="{22C8C4EE-3177-456B-9C1A-B2C139F1F2EC}"/>
                  </a:ext>
                </a:extLst>
              </p:cNvPr>
              <p:cNvSpPr txBox="1"/>
              <p:nvPr/>
            </p:nvSpPr>
            <p:spPr bwMode="auto">
              <a:xfrm>
                <a:off x="3023828" y="2852936"/>
                <a:ext cx="3096344" cy="725195"/>
              </a:xfrm>
              <a:prstGeom prst="rect">
                <a:avLst/>
              </a:prstGeom>
              <a:solidFill>
                <a:srgbClr val="CCFFFF"/>
              </a:solidFill>
              <a:ln w="25400">
                <a:solidFill>
                  <a:srgbClr val="FF0000"/>
                </a:solidFill>
                <a:miter lim="800000"/>
                <a:headEnd/>
                <a:tailEnd/>
              </a:ln>
              <a:effectLst/>
            </p:spPr>
            <p:txBody>
              <a:bodyPr wrap="square" anchor="ctr">
                <a:noAutofit/>
              </a:bodyPr>
              <a:lstStyle/>
              <a:p>
                <a:pPr/>
                <a14:m>
                  <m:oMathPara xmlns:m="http://schemas.openxmlformats.org/officeDocument/2006/math">
                    <m:oMathParaPr>
                      <m:jc m:val="center"/>
                    </m:oMathParaPr>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𝛿</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22" name="Object 3">
                <a:extLst>
                  <a:ext uri="{FF2B5EF4-FFF2-40B4-BE49-F238E27FC236}">
                    <a16:creationId xmlns:a16="http://schemas.microsoft.com/office/drawing/2014/main" id="{22C8C4EE-3177-456B-9C1A-B2C139F1F2EC}"/>
                  </a:ext>
                </a:extLst>
              </p:cNvPr>
              <p:cNvSpPr txBox="1">
                <a:spLocks noRot="1" noChangeAspect="1" noMove="1" noResize="1" noEditPoints="1" noAdjustHandles="1" noChangeArrowheads="1" noChangeShapeType="1" noTextEdit="1"/>
              </p:cNvSpPr>
              <p:nvPr/>
            </p:nvSpPr>
            <p:spPr bwMode="auto">
              <a:xfrm>
                <a:off x="3023828" y="2852936"/>
                <a:ext cx="3096344" cy="725195"/>
              </a:xfrm>
              <a:prstGeom prst="rect">
                <a:avLst/>
              </a:prstGeom>
              <a:blipFill>
                <a:blip r:embed="rId3"/>
                <a:stretch>
                  <a:fillRect/>
                </a:stretch>
              </a:blipFill>
              <a:ln w="25400">
                <a:solidFill>
                  <a:srgbClr val="FF0000"/>
                </a:solidFill>
                <a:miter lim="800000"/>
                <a:headEnd/>
                <a:tailEnd/>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372A3C7C-9407-4D08-BF5B-77CD1784ED57}"/>
                  </a:ext>
                </a:extLst>
              </p:cNvPr>
              <p:cNvSpPr txBox="1"/>
              <p:nvPr/>
            </p:nvSpPr>
            <p:spPr>
              <a:xfrm>
                <a:off x="457200" y="4077072"/>
                <a:ext cx="8229600" cy="523220"/>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zh-CN" altLang="en-US" sz="28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根据定义可以得出</a:t>
                </a:r>
                <a14:m>
                  <m:oMath xmlns:m="http://schemas.openxmlformats.org/officeDocument/2006/math">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𝛿</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𝑡</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oMath>
                </a14:m>
                <a:r>
                  <a:rPr kumimoji="0" lang="zh-CN" altLang="en-US" sz="28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的如下性质：</a:t>
                </a:r>
              </a:p>
            </p:txBody>
          </p:sp>
        </mc:Choice>
        <mc:Fallback xmlns="">
          <p:sp>
            <p:nvSpPr>
              <p:cNvPr id="28" name="文本框 27">
                <a:extLst>
                  <a:ext uri="{FF2B5EF4-FFF2-40B4-BE49-F238E27FC236}">
                    <a16:creationId xmlns:a16="http://schemas.microsoft.com/office/drawing/2014/main" id="{372A3C7C-9407-4D08-BF5B-77CD1784ED57}"/>
                  </a:ext>
                </a:extLst>
              </p:cNvPr>
              <p:cNvSpPr txBox="1">
                <a:spLocks noRot="1" noChangeAspect="1" noMove="1" noResize="1" noEditPoints="1" noAdjustHandles="1" noChangeArrowheads="1" noChangeShapeType="1" noTextEdit="1"/>
              </p:cNvSpPr>
              <p:nvPr/>
            </p:nvSpPr>
            <p:spPr>
              <a:xfrm>
                <a:off x="457200" y="4077072"/>
                <a:ext cx="8229600" cy="523220"/>
              </a:xfrm>
              <a:prstGeom prst="rect">
                <a:avLst/>
              </a:prstGeom>
              <a:blipFill>
                <a:blip r:embed="rId4"/>
                <a:stretch>
                  <a:fillRect l="-1333" t="-12791"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bject 7">
                <a:extLst>
                  <a:ext uri="{FF2B5EF4-FFF2-40B4-BE49-F238E27FC236}">
                    <a16:creationId xmlns:a16="http://schemas.microsoft.com/office/drawing/2014/main" id="{AD865252-E9E6-4AA3-9E55-9AA085E85153}"/>
                  </a:ext>
                </a:extLst>
              </p:cNvPr>
              <p:cNvSpPr txBox="1"/>
              <p:nvPr/>
            </p:nvSpPr>
            <p:spPr bwMode="auto">
              <a:xfrm>
                <a:off x="2411760" y="4859229"/>
                <a:ext cx="4320480" cy="104471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1=1∗</m:t>
                      </m:r>
                      <m:r>
                        <a:rPr lang="en-US" sz="2800" i="1">
                          <a:solidFill>
                            <a:srgbClr val="000000"/>
                          </a:solidFill>
                          <a:latin typeface="Cambria Math" panose="02040503050406030204" pitchFamily="18" charset="0"/>
                        </a:rPr>
                        <m:t>𝛿</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nary>
                        <m:naryPr>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m:t>
                          </m:r>
                        </m:sub>
                        <m:sup>
                          <m:r>
                            <a:rPr lang="en-US" sz="2800" i="1">
                              <a:solidFill>
                                <a:srgbClr val="000000"/>
                              </a:solidFill>
                              <a:latin typeface="Cambria Math" panose="02040503050406030204" pitchFamily="18" charset="0"/>
                            </a:rPr>
                            <m:t>+∞</m:t>
                          </m:r>
                        </m:sup>
                        <m:e>
                          <m:r>
                            <a:rPr lang="en-US" sz="2800" i="1">
                              <a:solidFill>
                                <a:srgbClr val="000000"/>
                              </a:solidFill>
                              <a:latin typeface="Cambria Math" panose="02040503050406030204" pitchFamily="18" charset="0"/>
                            </a:rPr>
                            <m:t>𝛿</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𝜏</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𝑑</m:t>
                          </m:r>
                          <m:r>
                            <a:rPr lang="en-US" sz="2800" i="1">
                              <a:solidFill>
                                <a:srgbClr val="000000"/>
                              </a:solidFill>
                              <a:latin typeface="Cambria Math" panose="02040503050406030204" pitchFamily="18" charset="0"/>
                            </a:rPr>
                            <m:t>𝜏</m:t>
                          </m:r>
                        </m:e>
                      </m:nary>
                    </m:oMath>
                  </m:oMathPara>
                </a14:m>
                <a:endParaRPr lang="en-US" sz="2800" dirty="0"/>
              </a:p>
            </p:txBody>
          </p:sp>
        </mc:Choice>
        <mc:Fallback xmlns="">
          <p:sp>
            <p:nvSpPr>
              <p:cNvPr id="29" name="Object 7">
                <a:extLst>
                  <a:ext uri="{FF2B5EF4-FFF2-40B4-BE49-F238E27FC236}">
                    <a16:creationId xmlns:a16="http://schemas.microsoft.com/office/drawing/2014/main" id="{AD865252-E9E6-4AA3-9E55-9AA085E85153}"/>
                  </a:ext>
                </a:extLst>
              </p:cNvPr>
              <p:cNvSpPr txBox="1">
                <a:spLocks noRot="1" noChangeAspect="1" noMove="1" noResize="1" noEditPoints="1" noAdjustHandles="1" noChangeArrowheads="1" noChangeShapeType="1" noTextEdit="1"/>
              </p:cNvSpPr>
              <p:nvPr/>
            </p:nvSpPr>
            <p:spPr bwMode="auto">
              <a:xfrm>
                <a:off x="2411760" y="4859229"/>
                <a:ext cx="4320480" cy="1044710"/>
              </a:xfrm>
              <a:prstGeom prst="rect">
                <a:avLst/>
              </a:prstGeom>
              <a:blipFill>
                <a:blip r:embed="rId5"/>
                <a:stretch>
                  <a:fillRect/>
                </a:stretch>
              </a:blipFill>
              <a:ln>
                <a:noFill/>
              </a:ln>
              <a:effectLst/>
            </p:spPr>
            <p:txBody>
              <a:bodyPr/>
              <a:lstStyle/>
              <a:p>
                <a:r>
                  <a:rPr lang="en-US">
                    <a:noFill/>
                  </a:rPr>
                  <a:t> </a:t>
                </a:r>
              </a:p>
            </p:txBody>
          </p:sp>
        </mc:Fallback>
      </mc:AlternateContent>
      <p:sp>
        <p:nvSpPr>
          <p:cNvPr id="39" name="内容占位符 2">
            <a:extLst>
              <a:ext uri="{FF2B5EF4-FFF2-40B4-BE49-F238E27FC236}">
                <a16:creationId xmlns:a16="http://schemas.microsoft.com/office/drawing/2014/main" id="{9AD1F563-FA82-427A-B5B2-465E46DB0D6E}"/>
              </a:ext>
            </a:extLst>
          </p:cNvPr>
          <p:cNvSpPr txBox="1">
            <a:spLocks/>
          </p:cNvSpPr>
          <p:nvPr/>
        </p:nvSpPr>
        <p:spPr bwMode="auto">
          <a:xfrm>
            <a:off x="6300192" y="2956620"/>
            <a:ext cx="18722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20000"/>
              </a:spcBef>
              <a:spcAft>
                <a:spcPct val="0"/>
              </a:spcAft>
              <a:buFont typeface="Arial" panose="020B0604020202020204" pitchFamily="34" charset="0"/>
              <a:buChar char="•"/>
              <a:defRPr sz="3200" b="1" i="0" kern="1200" baseline="0">
                <a:solidFill>
                  <a:schemeClr val="tx1"/>
                </a:solidFill>
                <a:latin typeface="Times New Roman" pitchFamily="18" charset="0"/>
                <a:ea typeface="华文楷体"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i="0" kern="1200" baseline="0">
                <a:solidFill>
                  <a:schemeClr val="tx1"/>
                </a:solidFill>
                <a:latin typeface="Times New Roman" pitchFamily="18" charset="0"/>
                <a:ea typeface="华文楷体"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b="1" i="0" kern="1200" baseline="0">
                <a:solidFill>
                  <a:schemeClr val="tx1"/>
                </a:solidFill>
                <a:latin typeface="Times New Roman" pitchFamily="18" charset="0"/>
                <a:ea typeface="华文楷体"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b="1" i="0" kern="1200" baseline="0">
                <a:solidFill>
                  <a:schemeClr val="tx1"/>
                </a:solidFill>
                <a:latin typeface="Times New Roman" pitchFamily="18" charset="0"/>
                <a:ea typeface="华文楷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altLang="zh-CN" sz="2800" b="0" dirty="0">
                <a:solidFill>
                  <a:srgbClr val="0000FF"/>
                </a:solidFill>
              </a:rPr>
              <a:t>(</a:t>
            </a:r>
            <a:r>
              <a:rPr lang="zh-CN" altLang="en-US" sz="2800" b="0" dirty="0">
                <a:solidFill>
                  <a:srgbClr val="0000FF"/>
                </a:solidFill>
              </a:rPr>
              <a:t>运算定义</a:t>
            </a:r>
            <a:r>
              <a:rPr lang="en-US" altLang="zh-CN" sz="2800" b="0" dirty="0">
                <a:solidFill>
                  <a:srgbClr val="0000FF"/>
                </a:solidFill>
              </a:rPr>
              <a:t>)</a:t>
            </a:r>
            <a:endParaRPr lang="en-US" altLang="zh-CN" b="0" dirty="0">
              <a:solidFill>
                <a:srgbClr val="0000FF"/>
              </a:solidFill>
            </a:endParaRPr>
          </a:p>
        </p:txBody>
      </p:sp>
    </p:spTree>
    <p:extLst>
      <p:ext uri="{BB962C8B-B14F-4D97-AF65-F5344CB8AC3E}">
        <p14:creationId xmlns:p14="http://schemas.microsoft.com/office/powerpoint/2010/main" val="347695370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8" name="标题 1">
            <a:extLst>
              <a:ext uri="{FF2B5EF4-FFF2-40B4-BE49-F238E27FC236}">
                <a16:creationId xmlns:a16="http://schemas.microsoft.com/office/drawing/2014/main" id="{18E9468E-B1D5-4C70-B87A-B4BCE62779BD}"/>
              </a:ext>
            </a:extLst>
          </p:cNvPr>
          <p:cNvSpPr>
            <a:spLocks noGrp="1"/>
          </p:cNvSpPr>
          <p:nvPr>
            <p:ph type="title"/>
          </p:nvPr>
        </p:nvSpPr>
        <p:spPr/>
        <p:txBody>
          <a:bodyPr/>
          <a:lstStyle/>
          <a:p>
            <a:r>
              <a:rPr lang="en-US" altLang="zh-CN"/>
              <a:t>2.5 </a:t>
            </a:r>
            <a:r>
              <a:rPr lang="zh-CN" altLang="en-US"/>
              <a:t>奇异函数</a:t>
            </a:r>
          </a:p>
        </p:txBody>
      </p:sp>
      <p:sp>
        <p:nvSpPr>
          <p:cNvPr id="4" name="灯片编号占位符 3">
            <a:extLst>
              <a:ext uri="{FF2B5EF4-FFF2-40B4-BE49-F238E27FC236}">
                <a16:creationId xmlns:a16="http://schemas.microsoft.com/office/drawing/2014/main" id="{319F84EE-8204-431C-9653-ED85B7D2237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DE18827-7AA6-41EF-94BB-351ACF25D7DB}"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80</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6" name="Object 10">
                <a:extLst>
                  <a:ext uri="{FF2B5EF4-FFF2-40B4-BE49-F238E27FC236}">
                    <a16:creationId xmlns:a16="http://schemas.microsoft.com/office/drawing/2014/main" id="{DF8AD86A-D9F5-4851-A4BD-D865E15A5D42}"/>
                  </a:ext>
                </a:extLst>
              </p:cNvPr>
              <p:cNvSpPr txBox="1"/>
              <p:nvPr/>
            </p:nvSpPr>
            <p:spPr bwMode="auto">
              <a:xfrm>
                <a:off x="1331640" y="2026542"/>
                <a:ext cx="6923112" cy="1021946"/>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𝑔</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𝑔</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𝛿</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nary>
                        <m:naryPr>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m:t>
                          </m:r>
                        </m:sub>
                        <m:sup>
                          <m:r>
                            <a:rPr lang="en-US" sz="2800" i="1">
                              <a:solidFill>
                                <a:srgbClr val="000000"/>
                              </a:solidFill>
                              <a:latin typeface="Cambria Math" panose="02040503050406030204" pitchFamily="18" charset="0"/>
                            </a:rPr>
                            <m:t>∞</m:t>
                          </m:r>
                        </m:sup>
                        <m:e>
                          <m:r>
                            <a:rPr lang="en-US" sz="2800" i="1">
                              <a:solidFill>
                                <a:srgbClr val="000000"/>
                              </a:solidFill>
                              <a:latin typeface="Cambria Math" panose="02040503050406030204" pitchFamily="18" charset="0"/>
                            </a:rPr>
                            <m:t>𝑔</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𝜏</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𝛿</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𝜏</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𝑑</m:t>
                          </m:r>
                          <m:r>
                            <a:rPr lang="en-US" sz="2800" i="1">
                              <a:solidFill>
                                <a:srgbClr val="000000"/>
                              </a:solidFill>
                              <a:latin typeface="Cambria Math" panose="02040503050406030204" pitchFamily="18" charset="0"/>
                            </a:rPr>
                            <m:t>𝜏</m:t>
                          </m:r>
                        </m:e>
                      </m:nary>
                    </m:oMath>
                  </m:oMathPara>
                </a14:m>
                <a:endParaRPr lang="en-US" sz="2800" dirty="0"/>
              </a:p>
            </p:txBody>
          </p:sp>
        </mc:Choice>
        <mc:Fallback xmlns="">
          <p:sp>
            <p:nvSpPr>
              <p:cNvPr id="16" name="Object 10">
                <a:extLst>
                  <a:ext uri="{FF2B5EF4-FFF2-40B4-BE49-F238E27FC236}">
                    <a16:creationId xmlns:a16="http://schemas.microsoft.com/office/drawing/2014/main" id="{DF8AD86A-D9F5-4851-A4BD-D865E15A5D42}"/>
                  </a:ext>
                </a:extLst>
              </p:cNvPr>
              <p:cNvSpPr txBox="1">
                <a:spLocks noRot="1" noChangeAspect="1" noMove="1" noResize="1" noEditPoints="1" noAdjustHandles="1" noChangeArrowheads="1" noChangeShapeType="1" noTextEdit="1"/>
              </p:cNvSpPr>
              <p:nvPr/>
            </p:nvSpPr>
            <p:spPr bwMode="auto">
              <a:xfrm>
                <a:off x="1331640" y="2026542"/>
                <a:ext cx="6923112" cy="1021946"/>
              </a:xfrm>
              <a:prstGeom prst="rect">
                <a:avLst/>
              </a:prstGeom>
              <a:blipFill>
                <a:blip r:embed="rId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bject 11">
                <a:extLst>
                  <a:ext uri="{FF2B5EF4-FFF2-40B4-BE49-F238E27FC236}">
                    <a16:creationId xmlns:a16="http://schemas.microsoft.com/office/drawing/2014/main" id="{8CD28B6B-6A01-409A-86E8-55C9AE20B5E1}"/>
                  </a:ext>
                </a:extLst>
              </p:cNvPr>
              <p:cNvSpPr txBox="1"/>
              <p:nvPr/>
            </p:nvSpPr>
            <p:spPr bwMode="auto">
              <a:xfrm>
                <a:off x="2704964" y="3396112"/>
                <a:ext cx="4176464" cy="1373220"/>
              </a:xfrm>
              <a:prstGeom prst="rect">
                <a:avLst/>
              </a:prstGeom>
              <a:solidFill>
                <a:srgbClr val="CCFFFF"/>
              </a:solidFill>
              <a:ln w="25400">
                <a:solidFill>
                  <a:srgbClr val="FF0000"/>
                </a:solidFill>
                <a:miter lim="800000"/>
                <a:headEnd/>
                <a:tailEnd/>
              </a:ln>
              <a:effectLst/>
            </p:spPr>
            <p:txBody>
              <a:bodyPr wrap="square" anchor="ctr">
                <a:noAutofit/>
              </a:bodyPr>
              <a:lstStyle/>
              <a:p>
                <a:pPr/>
                <a14:m>
                  <m:oMathPara xmlns:m="http://schemas.openxmlformats.org/officeDocument/2006/math">
                    <m:oMathParaPr>
                      <m:jc m:val="center"/>
                    </m:oMathParaPr>
                    <m:oMath xmlns:m="http://schemas.openxmlformats.org/officeDocument/2006/math">
                      <m:r>
                        <a:rPr lang="en-US" sz="2800" i="1">
                          <a:solidFill>
                            <a:srgbClr val="000000"/>
                          </a:solidFill>
                          <a:latin typeface="Cambria Math" panose="02040503050406030204" pitchFamily="18" charset="0"/>
                        </a:rPr>
                        <m:t>𝑔</m:t>
                      </m:r>
                      <m:r>
                        <a:rPr lang="en-US" sz="2800" i="1">
                          <a:solidFill>
                            <a:srgbClr val="000000"/>
                          </a:solidFill>
                          <a:latin typeface="Cambria Math" panose="02040503050406030204" pitchFamily="18" charset="0"/>
                        </a:rPr>
                        <m:t>(0)=</m:t>
                      </m:r>
                      <m:nary>
                        <m:naryPr>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m:t>
                          </m:r>
                        </m:sub>
                        <m:sup>
                          <m:r>
                            <a:rPr lang="en-US" sz="2800" i="1">
                              <a:solidFill>
                                <a:srgbClr val="000000"/>
                              </a:solidFill>
                              <a:latin typeface="Cambria Math" panose="02040503050406030204" pitchFamily="18" charset="0"/>
                            </a:rPr>
                            <m:t>∞</m:t>
                          </m:r>
                        </m:sup>
                        <m:e>
                          <m:r>
                            <a:rPr lang="en-US" sz="2800" i="1">
                              <a:solidFill>
                                <a:srgbClr val="000000"/>
                              </a:solidFill>
                              <a:latin typeface="Cambria Math" panose="02040503050406030204" pitchFamily="18" charset="0"/>
                            </a:rPr>
                            <m:t>𝑔</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𝜏</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𝛿</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𝜏</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𝑑</m:t>
                          </m:r>
                          <m:r>
                            <a:rPr lang="en-US" sz="2800" i="1">
                              <a:solidFill>
                                <a:srgbClr val="000000"/>
                              </a:solidFill>
                              <a:latin typeface="Cambria Math" panose="02040503050406030204" pitchFamily="18" charset="0"/>
                            </a:rPr>
                            <m:t>𝜏</m:t>
                          </m:r>
                        </m:e>
                      </m:nary>
                    </m:oMath>
                  </m:oMathPara>
                </a14:m>
                <a:endParaRPr lang="en-US" sz="2800" dirty="0"/>
              </a:p>
            </p:txBody>
          </p:sp>
        </mc:Choice>
        <mc:Fallback xmlns="">
          <p:sp>
            <p:nvSpPr>
              <p:cNvPr id="17" name="Object 11">
                <a:extLst>
                  <a:ext uri="{FF2B5EF4-FFF2-40B4-BE49-F238E27FC236}">
                    <a16:creationId xmlns:a16="http://schemas.microsoft.com/office/drawing/2014/main" id="{8CD28B6B-6A01-409A-86E8-55C9AE20B5E1}"/>
                  </a:ext>
                </a:extLst>
              </p:cNvPr>
              <p:cNvSpPr txBox="1">
                <a:spLocks noRot="1" noChangeAspect="1" noMove="1" noResize="1" noEditPoints="1" noAdjustHandles="1" noChangeArrowheads="1" noChangeShapeType="1" noTextEdit="1"/>
              </p:cNvSpPr>
              <p:nvPr/>
            </p:nvSpPr>
            <p:spPr bwMode="auto">
              <a:xfrm>
                <a:off x="2704964" y="3396112"/>
                <a:ext cx="4176464" cy="1373220"/>
              </a:xfrm>
              <a:prstGeom prst="rect">
                <a:avLst/>
              </a:prstGeom>
              <a:blipFill>
                <a:blip r:embed="rId3"/>
                <a:stretch>
                  <a:fillRect/>
                </a:stretch>
              </a:blipFill>
              <a:ln w="25400">
                <a:solidFill>
                  <a:srgbClr val="FF0000"/>
                </a:solidFill>
                <a:miter lim="800000"/>
                <a:headEnd/>
                <a:tailEnd/>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内容占位符 2">
                <a:extLst>
                  <a:ext uri="{FF2B5EF4-FFF2-40B4-BE49-F238E27FC236}">
                    <a16:creationId xmlns:a16="http://schemas.microsoft.com/office/drawing/2014/main" id="{1721EF0B-768F-406F-8924-542F2E6B3180}"/>
                  </a:ext>
                </a:extLst>
              </p:cNvPr>
              <p:cNvSpPr>
                <a:spLocks noGrp="1"/>
              </p:cNvSpPr>
              <p:nvPr>
                <p:ph idx="1"/>
              </p:nvPr>
            </p:nvSpPr>
            <p:spPr>
              <a:xfrm>
                <a:off x="457200" y="1285875"/>
                <a:ext cx="8229600" cy="523220"/>
              </a:xfrm>
            </p:spPr>
            <p:txBody>
              <a:bodyPr>
                <a:spAutoFit/>
              </a:bodyPr>
              <a:lstStyle/>
              <a:p>
                <a:pPr marL="0" indent="0">
                  <a:buNone/>
                </a:pPr>
                <a:r>
                  <a:rPr lang="zh-CN" altLang="en-US" sz="2800" b="0" dirty="0"/>
                  <a:t>二</a:t>
                </a:r>
                <a:r>
                  <a:rPr lang="en-US" altLang="zh-CN" sz="2800" b="0" dirty="0"/>
                  <a:t>. </a:t>
                </a:r>
                <a:r>
                  <a:rPr lang="zh-CN" altLang="en-US" sz="2800" b="0" dirty="0">
                    <a:solidFill>
                      <a:srgbClr val="0000FF"/>
                    </a:solidFill>
                  </a:rPr>
                  <a:t>通过积分定义</a:t>
                </a:r>
                <a14:m>
                  <m:oMath xmlns:m="http://schemas.openxmlformats.org/officeDocument/2006/math">
                    <m:r>
                      <a:rPr lang="en-US" sz="2800" b="0" i="1" smtClean="0">
                        <a:solidFill>
                          <a:srgbClr val="0000FF"/>
                        </a:solidFill>
                        <a:latin typeface="Cambria Math" panose="02040503050406030204" pitchFamily="18" charset="0"/>
                      </a:rPr>
                      <m:t>𝛿</m:t>
                    </m:r>
                    <m:r>
                      <a:rPr lang="en-US" sz="2800" b="0" i="1" smtClean="0">
                        <a:solidFill>
                          <a:srgbClr val="0000FF"/>
                        </a:solidFill>
                        <a:latin typeface="Cambria Math" panose="02040503050406030204" pitchFamily="18" charset="0"/>
                      </a:rPr>
                      <m:t>(</m:t>
                    </m:r>
                    <m:r>
                      <a:rPr lang="en-US" sz="2800" b="0" i="1" smtClean="0">
                        <a:solidFill>
                          <a:srgbClr val="0000FF"/>
                        </a:solidFill>
                        <a:latin typeface="Cambria Math" panose="02040503050406030204" pitchFamily="18" charset="0"/>
                      </a:rPr>
                      <m:t>𝑡</m:t>
                    </m:r>
                    <m:r>
                      <a:rPr lang="en-US" sz="2800" b="0" i="1" smtClean="0">
                        <a:solidFill>
                          <a:srgbClr val="0000FF"/>
                        </a:solidFill>
                        <a:latin typeface="Cambria Math" panose="02040503050406030204" pitchFamily="18" charset="0"/>
                      </a:rPr>
                      <m:t>)</m:t>
                    </m:r>
                  </m:oMath>
                </a14:m>
                <a:r>
                  <a:rPr lang="zh-CN" altLang="en-US" sz="2800" b="0" dirty="0"/>
                  <a:t>：由</a:t>
                </a:r>
                <a14:m>
                  <m:oMath xmlns:m="http://schemas.openxmlformats.org/officeDocument/2006/math">
                    <m:r>
                      <a:rPr lang="en-US" sz="2800" b="0" i="1">
                        <a:solidFill>
                          <a:srgbClr val="000000"/>
                        </a:solidFill>
                        <a:latin typeface="Cambria Math" panose="02040503050406030204" pitchFamily="18" charset="0"/>
                      </a:rPr>
                      <m:t>𝛿</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𝑡</m:t>
                    </m:r>
                    <m:r>
                      <a:rPr lang="en-US" sz="2800" b="0" i="1">
                        <a:solidFill>
                          <a:srgbClr val="000000"/>
                        </a:solidFill>
                        <a:latin typeface="Cambria Math" panose="02040503050406030204" pitchFamily="18" charset="0"/>
                      </a:rPr>
                      <m:t>)</m:t>
                    </m:r>
                  </m:oMath>
                </a14:m>
                <a:r>
                  <a:rPr lang="zh-CN" altLang="en-US" sz="2800" b="0" dirty="0"/>
                  <a:t>的卷积定义，有</a:t>
                </a:r>
                <a:endParaRPr lang="en-US" altLang="zh-CN" sz="2800" b="0" dirty="0"/>
              </a:p>
            </p:txBody>
          </p:sp>
        </mc:Choice>
        <mc:Fallback xmlns="">
          <p:sp>
            <p:nvSpPr>
              <p:cNvPr id="18" name="内容占位符 2">
                <a:extLst>
                  <a:ext uri="{FF2B5EF4-FFF2-40B4-BE49-F238E27FC236}">
                    <a16:creationId xmlns:a16="http://schemas.microsoft.com/office/drawing/2014/main" id="{1721EF0B-768F-406F-8924-542F2E6B3180}"/>
                  </a:ext>
                </a:extLst>
              </p:cNvPr>
              <p:cNvSpPr>
                <a:spLocks noGrp="1" noRot="1" noChangeAspect="1" noMove="1" noResize="1" noEditPoints="1" noAdjustHandles="1" noChangeArrowheads="1" noChangeShapeType="1" noTextEdit="1"/>
              </p:cNvSpPr>
              <p:nvPr>
                <p:ph idx="1"/>
              </p:nvPr>
            </p:nvSpPr>
            <p:spPr>
              <a:xfrm>
                <a:off x="457200" y="1285875"/>
                <a:ext cx="8229600" cy="523220"/>
              </a:xfrm>
              <a:blipFill>
                <a:blip r:embed="rId4"/>
                <a:stretch>
                  <a:fillRect l="-1481" t="-15116"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 Box 12">
                <a:extLst>
                  <a:ext uri="{FF2B5EF4-FFF2-40B4-BE49-F238E27FC236}">
                    <a16:creationId xmlns:a16="http://schemas.microsoft.com/office/drawing/2014/main" id="{1AC4618B-FE28-4C97-946F-332A0CFAAC1B}"/>
                  </a:ext>
                </a:extLst>
              </p:cNvPr>
              <p:cNvSpPr txBox="1">
                <a:spLocks noChangeArrowheads="1"/>
              </p:cNvSpPr>
              <p:nvPr/>
            </p:nvSpPr>
            <p:spPr bwMode="auto">
              <a:xfrm>
                <a:off x="971600" y="5229200"/>
                <a:ext cx="7056784" cy="523220"/>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miter lim="800000"/>
                    <a:headEnd/>
                    <a:tailEnd/>
                  </a14:hiddenLine>
                </a:ext>
              </a:extLst>
            </p:spPr>
            <p:txBody>
              <a:bodyPr wrap="square">
                <a:spAutoFit/>
              </a:bodyPr>
              <a:lstStyle>
                <a:lvl1pPr>
                  <a:spcBef>
                    <a:spcPct val="20000"/>
                  </a:spcBef>
                  <a:buChar char="•"/>
                  <a:defRPr sz="3100">
                    <a:solidFill>
                      <a:srgbClr val="CC0099"/>
                    </a:solidFill>
                    <a:latin typeface="Times New Roman" panose="02020603050405020304" pitchFamily="18" charset="0"/>
                  </a:defRPr>
                </a:lvl1pPr>
                <a:lvl2pPr marL="742950" indent="-285750">
                  <a:spcBef>
                    <a:spcPct val="20000"/>
                  </a:spcBef>
                  <a:buChar char="–"/>
                  <a:defRPr sz="2800">
                    <a:solidFill>
                      <a:srgbClr val="800000"/>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100">
                    <a:solidFill>
                      <a:schemeClr val="tx1"/>
                    </a:solidFill>
                    <a:latin typeface="Times New Roman" panose="02020603050405020304" pitchFamily="18" charset="0"/>
                  </a:defRPr>
                </a:lvl4pPr>
                <a:lvl5pPr marL="2057400" indent="-228600">
                  <a:spcBef>
                    <a:spcPct val="20000"/>
                  </a:spcBef>
                  <a:buChar char="»"/>
                  <a:defRPr sz="21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1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1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1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100">
                    <a:solidFill>
                      <a:schemeClr val="tx1"/>
                    </a:solidFill>
                    <a:latin typeface="Times New Roman" panose="02020603050405020304" pitchFamily="18" charset="0"/>
                  </a:defRPr>
                </a:lvl9pPr>
              </a:lstStyle>
              <a:p>
                <a:pPr eaLnBrk="1" hangingPunct="1">
                  <a:spcBef>
                    <a:spcPct val="50000"/>
                  </a:spcBef>
                  <a:buFontTx/>
                  <a:buNone/>
                </a:pPr>
                <a:r>
                  <a:rPr lang="zh-CN" altLang="en-US" sz="2800" dirty="0">
                    <a:solidFill>
                      <a:srgbClr val="000000"/>
                    </a:solidFill>
                    <a:latin typeface="Cambria Math" panose="02040503050406030204" pitchFamily="18" charset="0"/>
                    <a:ea typeface="楷体" panose="02010609060101010101" pitchFamily="49" charset="-122"/>
                  </a:rPr>
                  <a:t>上式为</a:t>
                </a:r>
                <a14:m>
                  <m:oMath xmlns:m="http://schemas.openxmlformats.org/officeDocument/2006/math">
                    <m:r>
                      <a:rPr lang="en-US" sz="2800" i="1">
                        <a:solidFill>
                          <a:srgbClr val="000000"/>
                        </a:solidFill>
                        <a:latin typeface="Cambria Math" panose="02040503050406030204" pitchFamily="18" charset="0"/>
                      </a:rPr>
                      <m:t>𝛿</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r>
                  <a:rPr lang="zh-CN" altLang="en-US" sz="2800" dirty="0">
                    <a:solidFill>
                      <a:srgbClr val="000000"/>
                    </a:solidFill>
                    <a:latin typeface="Cambria Math" panose="02040503050406030204" pitchFamily="18" charset="0"/>
                    <a:ea typeface="楷体" panose="02010609060101010101" pitchFamily="49" charset="-122"/>
                  </a:rPr>
                  <a:t>的积分定义，与卷积定义等价。</a:t>
                </a:r>
                <a:endParaRPr lang="en-US" altLang="zh-CN" sz="2800" dirty="0">
                  <a:solidFill>
                    <a:srgbClr val="000000"/>
                  </a:solidFill>
                  <a:latin typeface="Cambria Math" panose="02040503050406030204" pitchFamily="18" charset="0"/>
                  <a:ea typeface="楷体" panose="02010609060101010101" pitchFamily="49" charset="-122"/>
                </a:endParaRPr>
              </a:p>
            </p:txBody>
          </p:sp>
        </mc:Choice>
        <mc:Fallback xmlns="">
          <p:sp>
            <p:nvSpPr>
              <p:cNvPr id="19" name="Text Box 12">
                <a:extLst>
                  <a:ext uri="{FF2B5EF4-FFF2-40B4-BE49-F238E27FC236}">
                    <a16:creationId xmlns:a16="http://schemas.microsoft.com/office/drawing/2014/main" id="{1AC4618B-FE28-4C97-946F-332A0CFAAC1B}"/>
                  </a:ext>
                </a:extLst>
              </p:cNvPr>
              <p:cNvSpPr txBox="1">
                <a:spLocks noRot="1" noChangeAspect="1" noMove="1" noResize="1" noEditPoints="1" noAdjustHandles="1" noChangeArrowheads="1" noChangeShapeType="1" noTextEdit="1"/>
              </p:cNvSpPr>
              <p:nvPr/>
            </p:nvSpPr>
            <p:spPr bwMode="auto">
              <a:xfrm>
                <a:off x="971600" y="5229200"/>
                <a:ext cx="7056784" cy="523220"/>
              </a:xfrm>
              <a:prstGeom prst="rect">
                <a:avLst/>
              </a:prstGeom>
              <a:blipFill>
                <a:blip r:embed="rId5"/>
                <a:stretch>
                  <a:fillRect l="-1727" t="-16279" b="-2790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6" name="标题 1">
            <a:extLst>
              <a:ext uri="{FF2B5EF4-FFF2-40B4-BE49-F238E27FC236}">
                <a16:creationId xmlns:a16="http://schemas.microsoft.com/office/drawing/2014/main" id="{5DB740C6-C4E3-43A1-997E-F4933FB7431B}"/>
              </a:ext>
            </a:extLst>
          </p:cNvPr>
          <p:cNvSpPr>
            <a:spLocks noGrp="1"/>
          </p:cNvSpPr>
          <p:nvPr>
            <p:ph type="title"/>
          </p:nvPr>
        </p:nvSpPr>
        <p:spPr/>
        <p:txBody>
          <a:bodyPr/>
          <a:lstStyle/>
          <a:p>
            <a:r>
              <a:rPr lang="en-US" altLang="zh-CN"/>
              <a:t>2.5 </a:t>
            </a:r>
            <a:r>
              <a:rPr lang="zh-CN" altLang="en-US"/>
              <a:t>奇异函数</a:t>
            </a:r>
          </a:p>
        </p:txBody>
      </p:sp>
      <p:sp>
        <p:nvSpPr>
          <p:cNvPr id="4" name="灯片编号占位符 3">
            <a:extLst>
              <a:ext uri="{FF2B5EF4-FFF2-40B4-BE49-F238E27FC236}">
                <a16:creationId xmlns:a16="http://schemas.microsoft.com/office/drawing/2014/main" id="{F1167C92-0233-4E42-B4B5-5B7E2BB43C7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471B693-3CFA-4045-8A41-908F01A5EFB9}"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81</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0" name="Text Box 12">
                <a:extLst>
                  <a:ext uri="{FF2B5EF4-FFF2-40B4-BE49-F238E27FC236}">
                    <a16:creationId xmlns:a16="http://schemas.microsoft.com/office/drawing/2014/main" id="{8AFA2141-527D-4CD7-9D6D-903BA185EA2A}"/>
                  </a:ext>
                </a:extLst>
              </p:cNvPr>
              <p:cNvSpPr txBox="1">
                <a:spLocks noChangeArrowheads="1"/>
              </p:cNvSpPr>
              <p:nvPr/>
            </p:nvSpPr>
            <p:spPr bwMode="auto">
              <a:xfrm>
                <a:off x="539553" y="1340768"/>
                <a:ext cx="2376264" cy="461665"/>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miter lim="800000"/>
                    <a:headEnd/>
                    <a:tailEnd/>
                  </a14:hiddenLine>
                </a:ext>
              </a:extLst>
            </p:spPr>
            <p:txBody>
              <a:bodyPr wrap="square">
                <a:spAutoFit/>
              </a:bodyPr>
              <a:lstStyle>
                <a:lvl1pPr>
                  <a:spcBef>
                    <a:spcPct val="20000"/>
                  </a:spcBef>
                  <a:buChar char="•"/>
                  <a:defRPr sz="3100">
                    <a:solidFill>
                      <a:srgbClr val="CC0099"/>
                    </a:solidFill>
                    <a:latin typeface="Times New Roman" panose="02020603050405020304" pitchFamily="18" charset="0"/>
                  </a:defRPr>
                </a:lvl1pPr>
                <a:lvl2pPr marL="742950" indent="-285750">
                  <a:spcBef>
                    <a:spcPct val="20000"/>
                  </a:spcBef>
                  <a:buChar char="–"/>
                  <a:defRPr sz="2800">
                    <a:solidFill>
                      <a:srgbClr val="800000"/>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100">
                    <a:solidFill>
                      <a:schemeClr val="tx1"/>
                    </a:solidFill>
                    <a:latin typeface="Times New Roman" panose="02020603050405020304" pitchFamily="18" charset="0"/>
                  </a:defRPr>
                </a:lvl4pPr>
                <a:lvl5pPr marL="2057400" indent="-228600">
                  <a:spcBef>
                    <a:spcPct val="20000"/>
                  </a:spcBef>
                  <a:buChar char="»"/>
                  <a:defRPr sz="21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1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1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1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100">
                    <a:solidFill>
                      <a:schemeClr val="tx1"/>
                    </a:solidFill>
                    <a:latin typeface="Times New Roman" panose="02020603050405020304" pitchFamily="18" charset="0"/>
                  </a:defRPr>
                </a:lvl9pPr>
              </a:lstStyle>
              <a:p>
                <a:pPr eaLnBrk="1" hangingPunct="1">
                  <a:spcBef>
                    <a:spcPct val="50000"/>
                  </a:spcBef>
                  <a:buFontTx/>
                  <a:buNone/>
                </a:pPr>
                <a14:m>
                  <m:oMath xmlns:m="http://schemas.openxmlformats.org/officeDocument/2006/math">
                    <m:r>
                      <a:rPr lang="en-US" sz="2400" i="1" smtClean="0">
                        <a:solidFill>
                          <a:srgbClr val="0000FF"/>
                        </a:solidFill>
                        <a:latin typeface="Cambria Math" panose="02040503050406030204" pitchFamily="18" charset="0"/>
                      </a:rPr>
                      <m:t>𝛿</m:t>
                    </m:r>
                    <m:r>
                      <a:rPr lang="en-US" sz="2400" i="1" smtClean="0">
                        <a:solidFill>
                          <a:srgbClr val="0000FF"/>
                        </a:solidFill>
                        <a:latin typeface="Cambria Math" panose="02040503050406030204" pitchFamily="18" charset="0"/>
                      </a:rPr>
                      <m:t>(</m:t>
                    </m:r>
                    <m:r>
                      <a:rPr lang="en-US" sz="2400" i="1" smtClean="0">
                        <a:solidFill>
                          <a:srgbClr val="0000FF"/>
                        </a:solidFill>
                        <a:latin typeface="Cambria Math" panose="02040503050406030204" pitchFamily="18" charset="0"/>
                      </a:rPr>
                      <m:t>𝑡</m:t>
                    </m:r>
                    <m:r>
                      <a:rPr lang="en-US" sz="2400" i="1" smtClean="0">
                        <a:solidFill>
                          <a:srgbClr val="0000FF"/>
                        </a:solidFill>
                        <a:latin typeface="Cambria Math" panose="02040503050406030204" pitchFamily="18" charset="0"/>
                      </a:rPr>
                      <m:t>)</m:t>
                    </m:r>
                  </m:oMath>
                </a14:m>
                <a:r>
                  <a:rPr lang="zh-CN" altLang="en-US" sz="2400" dirty="0">
                    <a:solidFill>
                      <a:srgbClr val="0000FF"/>
                    </a:solidFill>
                    <a:latin typeface="Cambria Math" panose="02040503050406030204" pitchFamily="18" charset="0"/>
                    <a:ea typeface="楷体" panose="02010609060101010101" pitchFamily="49" charset="-122"/>
                  </a:rPr>
                  <a:t>的一些性质</a:t>
                </a:r>
                <a:endParaRPr lang="en-US" altLang="zh-CN" sz="2400" dirty="0">
                  <a:solidFill>
                    <a:srgbClr val="000000"/>
                  </a:solidFill>
                  <a:latin typeface="Cambria Math" panose="02040503050406030204" pitchFamily="18" charset="0"/>
                  <a:ea typeface="楷体" panose="02010609060101010101" pitchFamily="49" charset="-122"/>
                </a:endParaRPr>
              </a:p>
            </p:txBody>
          </p:sp>
        </mc:Choice>
        <mc:Fallback xmlns="">
          <p:sp>
            <p:nvSpPr>
              <p:cNvPr id="10" name="Text Box 12">
                <a:extLst>
                  <a:ext uri="{FF2B5EF4-FFF2-40B4-BE49-F238E27FC236}">
                    <a16:creationId xmlns:a16="http://schemas.microsoft.com/office/drawing/2014/main" id="{8AFA2141-527D-4CD7-9D6D-903BA185EA2A}"/>
                  </a:ext>
                </a:extLst>
              </p:cNvPr>
              <p:cNvSpPr txBox="1">
                <a:spLocks noRot="1" noChangeAspect="1" noMove="1" noResize="1" noEditPoints="1" noAdjustHandles="1" noChangeArrowheads="1" noChangeShapeType="1" noTextEdit="1"/>
              </p:cNvSpPr>
              <p:nvPr/>
            </p:nvSpPr>
            <p:spPr bwMode="auto">
              <a:xfrm>
                <a:off x="539553" y="1340768"/>
                <a:ext cx="2376264" cy="461665"/>
              </a:xfrm>
              <a:prstGeom prst="rect">
                <a:avLst/>
              </a:prstGeom>
              <a:blipFill>
                <a:blip r:embed="rId2"/>
                <a:stretch>
                  <a:fillRect l="-771" t="-14474" b="-25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bject 4">
                <a:extLst>
                  <a:ext uri="{FF2B5EF4-FFF2-40B4-BE49-F238E27FC236}">
                    <a16:creationId xmlns:a16="http://schemas.microsoft.com/office/drawing/2014/main" id="{154AF54D-F25C-4C61-A7F1-183F9C05ED01}"/>
                  </a:ext>
                </a:extLst>
              </p:cNvPr>
              <p:cNvSpPr txBox="1"/>
              <p:nvPr/>
            </p:nvSpPr>
            <p:spPr bwMode="auto">
              <a:xfrm>
                <a:off x="1403648" y="3414507"/>
                <a:ext cx="4333875" cy="889154"/>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𝑔</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smtClean="0">
                              <a:solidFill>
                                <a:srgbClr val="0000FF"/>
                              </a:solidFill>
                              <a:latin typeface="Cambria Math" panose="02040503050406030204" pitchFamily="18" charset="0"/>
                            </a:rPr>
                            <m:t>𝑓</m:t>
                          </m:r>
                          <m:r>
                            <a:rPr lang="en-US" sz="2400" i="1" smtClean="0">
                              <a:solidFill>
                                <a:srgbClr val="0000FF"/>
                              </a:solidFill>
                              <a:latin typeface="Cambria Math" panose="02040503050406030204" pitchFamily="18" charset="0"/>
                            </a:rPr>
                            <m:t>(</m:t>
                          </m:r>
                          <m:r>
                            <a:rPr lang="en-US" sz="2400" i="1" smtClean="0">
                              <a:solidFill>
                                <a:srgbClr val="0000FF"/>
                              </a:solidFill>
                              <a:latin typeface="Cambria Math" panose="02040503050406030204" pitchFamily="18" charset="0"/>
                            </a:rPr>
                            <m:t>𝑡</m:t>
                          </m:r>
                          <m:r>
                            <a:rPr lang="en-US" sz="2400" i="1" smtClean="0">
                              <a:solidFill>
                                <a:srgbClr val="0000FF"/>
                              </a:solidFill>
                              <a:latin typeface="Cambria Math" panose="02040503050406030204" pitchFamily="18" charset="0"/>
                            </a:rPr>
                            <m:t>)</m:t>
                          </m:r>
                          <m:r>
                            <a:rPr lang="en-US" sz="2400" i="1" smtClean="0">
                              <a:solidFill>
                                <a:srgbClr val="0000FF"/>
                              </a:solidFill>
                              <a:latin typeface="Cambria Math" panose="02040503050406030204" pitchFamily="18" charset="0"/>
                            </a:rPr>
                            <m:t>𝛿</m:t>
                          </m:r>
                          <m:r>
                            <a:rPr lang="en-US" sz="2400" i="1" smtClean="0">
                              <a:solidFill>
                                <a:srgbClr val="0000FF"/>
                              </a:solidFill>
                              <a:latin typeface="Cambria Math" panose="02040503050406030204" pitchFamily="18" charset="0"/>
                            </a:rPr>
                            <m:t>(</m:t>
                          </m:r>
                          <m:r>
                            <a:rPr lang="en-US" sz="2400" i="1" smtClean="0">
                              <a:solidFill>
                                <a:srgbClr val="0000FF"/>
                              </a:solidFill>
                              <a:latin typeface="Cambria Math" panose="02040503050406030204" pitchFamily="18" charset="0"/>
                            </a:rPr>
                            <m:t>𝑡</m:t>
                          </m:r>
                          <m:r>
                            <a:rPr lang="en-US" sz="2400" i="1" smtClean="0">
                              <a:solidFill>
                                <a:srgbClr val="0000FF"/>
                              </a:solidFill>
                              <a:latin typeface="Cambria Math" panose="02040503050406030204" pitchFamily="18" charset="0"/>
                            </a:rPr>
                            <m:t>)</m:t>
                          </m:r>
                          <m:r>
                            <a:rPr lang="en-US" sz="2400" i="1">
                              <a:solidFill>
                                <a:srgbClr val="000000"/>
                              </a:solidFill>
                              <a:latin typeface="Cambria Math" panose="02040503050406030204" pitchFamily="18" charset="0"/>
                            </a:rPr>
                            <m:t>𝑑𝑡</m:t>
                          </m:r>
                        </m:e>
                      </m:nary>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𝑔</m:t>
                      </m:r>
                      <m:r>
                        <a:rPr lang="en-US" sz="2400" i="1">
                          <a:solidFill>
                            <a:srgbClr val="000000"/>
                          </a:solidFill>
                          <a:latin typeface="Cambria Math" panose="02040503050406030204" pitchFamily="18" charset="0"/>
                        </a:rPr>
                        <m:t>(0)</m:t>
                      </m:r>
                      <m:r>
                        <a:rPr lang="en-US" sz="2400" i="1">
                          <a:solidFill>
                            <a:srgbClr val="000000"/>
                          </a:solidFill>
                          <a:latin typeface="Cambria Math" panose="02040503050406030204" pitchFamily="18" charset="0"/>
                        </a:rPr>
                        <m:t>𝑓</m:t>
                      </m:r>
                      <m:r>
                        <a:rPr lang="en-US" sz="2400" i="1">
                          <a:solidFill>
                            <a:srgbClr val="000000"/>
                          </a:solidFill>
                          <a:latin typeface="Cambria Math" panose="02040503050406030204" pitchFamily="18" charset="0"/>
                        </a:rPr>
                        <m:t>(0)</m:t>
                      </m:r>
                    </m:oMath>
                  </m:oMathPara>
                </a14:m>
                <a:endParaRPr lang="en-US" sz="2400" dirty="0"/>
              </a:p>
            </p:txBody>
          </p:sp>
        </mc:Choice>
        <mc:Fallback xmlns="">
          <p:sp>
            <p:nvSpPr>
              <p:cNvPr id="11" name="Object 4">
                <a:extLst>
                  <a:ext uri="{FF2B5EF4-FFF2-40B4-BE49-F238E27FC236}">
                    <a16:creationId xmlns:a16="http://schemas.microsoft.com/office/drawing/2014/main" id="{154AF54D-F25C-4C61-A7F1-183F9C05ED01}"/>
                  </a:ext>
                </a:extLst>
              </p:cNvPr>
              <p:cNvSpPr txBox="1">
                <a:spLocks noRot="1" noChangeAspect="1" noMove="1" noResize="1" noEditPoints="1" noAdjustHandles="1" noChangeArrowheads="1" noChangeShapeType="1" noTextEdit="1"/>
              </p:cNvSpPr>
              <p:nvPr/>
            </p:nvSpPr>
            <p:spPr bwMode="auto">
              <a:xfrm>
                <a:off x="1403648" y="3414507"/>
                <a:ext cx="4333875" cy="889154"/>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bject 5">
                <a:extLst>
                  <a:ext uri="{FF2B5EF4-FFF2-40B4-BE49-F238E27FC236}">
                    <a16:creationId xmlns:a16="http://schemas.microsoft.com/office/drawing/2014/main" id="{C45BD7F3-B1B5-4B7F-90A2-2CA44C4C872C}"/>
                  </a:ext>
                </a:extLst>
              </p:cNvPr>
              <p:cNvSpPr txBox="1"/>
              <p:nvPr/>
            </p:nvSpPr>
            <p:spPr bwMode="auto">
              <a:xfrm>
                <a:off x="3253370" y="1980351"/>
                <a:ext cx="2875384" cy="461665"/>
              </a:xfrm>
              <a:prstGeom prst="rect">
                <a:avLst/>
              </a:prstGeom>
              <a:solidFill>
                <a:srgbClr val="CCFFFF"/>
              </a:solid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r>
                        <a:rPr lang="en-US" sz="2400" i="1">
                          <a:solidFill>
                            <a:srgbClr val="000000"/>
                          </a:solidFill>
                          <a:latin typeface="Cambria Math" panose="02040503050406030204" pitchFamily="18" charset="0"/>
                        </a:rPr>
                        <m:t>𝑓</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𝑓</m:t>
                      </m:r>
                      <m:r>
                        <a:rPr lang="en-US" sz="2400" i="1">
                          <a:solidFill>
                            <a:srgbClr val="000000"/>
                          </a:solidFill>
                          <a:latin typeface="Cambria Math" panose="02040503050406030204" pitchFamily="18" charset="0"/>
                        </a:rPr>
                        <m:t>(0)</m:t>
                      </m:r>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2" name="Object 5">
                <a:extLst>
                  <a:ext uri="{FF2B5EF4-FFF2-40B4-BE49-F238E27FC236}">
                    <a16:creationId xmlns:a16="http://schemas.microsoft.com/office/drawing/2014/main" id="{C45BD7F3-B1B5-4B7F-90A2-2CA44C4C872C}"/>
                  </a:ext>
                </a:extLst>
              </p:cNvPr>
              <p:cNvSpPr txBox="1">
                <a:spLocks noRot="1" noChangeAspect="1" noMove="1" noResize="1" noEditPoints="1" noAdjustHandles="1" noChangeArrowheads="1" noChangeShapeType="1" noTextEdit="1"/>
              </p:cNvSpPr>
              <p:nvPr/>
            </p:nvSpPr>
            <p:spPr bwMode="auto">
              <a:xfrm>
                <a:off x="3253370" y="1980351"/>
                <a:ext cx="2875384" cy="461665"/>
              </a:xfrm>
              <a:prstGeom prst="rect">
                <a:avLst/>
              </a:prstGeom>
              <a:blipFill>
                <a:blip r:embed="rId4"/>
                <a:stretch>
                  <a:fillRect l="-1486" r="-1486"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C85609EF-27DC-4CBD-A0C4-2B704FAD9556}"/>
                  </a:ext>
                </a:extLst>
              </p:cNvPr>
              <p:cNvSpPr>
                <a:spLocks noChangeArrowheads="1"/>
              </p:cNvSpPr>
              <p:nvPr/>
            </p:nvSpPr>
            <p:spPr bwMode="auto">
              <a:xfrm>
                <a:off x="457200" y="2697429"/>
                <a:ext cx="3233936"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har char="•"/>
                  <a:defRPr sz="3100">
                    <a:solidFill>
                      <a:srgbClr val="CC0099"/>
                    </a:solidFill>
                    <a:latin typeface="Times New Roman" panose="02020603050405020304" pitchFamily="18" charset="0"/>
                  </a:defRPr>
                </a:lvl1pPr>
                <a:lvl2pPr marL="742950" indent="-285750">
                  <a:spcBef>
                    <a:spcPct val="20000"/>
                  </a:spcBef>
                  <a:buChar char="–"/>
                  <a:defRPr sz="2800">
                    <a:solidFill>
                      <a:srgbClr val="800000"/>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100">
                    <a:solidFill>
                      <a:schemeClr val="tx1"/>
                    </a:solidFill>
                    <a:latin typeface="Times New Roman" panose="02020603050405020304" pitchFamily="18" charset="0"/>
                  </a:defRPr>
                </a:lvl4pPr>
                <a:lvl5pPr marL="2057400" indent="-228600">
                  <a:spcBef>
                    <a:spcPct val="20000"/>
                  </a:spcBef>
                  <a:buChar char="»"/>
                  <a:defRPr sz="21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1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1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1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100">
                    <a:solidFill>
                      <a:schemeClr val="tx1"/>
                    </a:solidFill>
                    <a:latin typeface="Times New Roman" panose="02020603050405020304" pitchFamily="18" charset="0"/>
                  </a:defRPr>
                </a:lvl9pPr>
              </a:lstStyle>
              <a:p>
                <a:pPr eaLnBrk="1" hangingPunct="1">
                  <a:buFontTx/>
                  <a:buNone/>
                </a:pPr>
                <a:r>
                  <a:rPr lang="zh-CN" altLang="en-US" sz="2400" dirty="0">
                    <a:solidFill>
                      <a:srgbClr val="000000"/>
                    </a:solidFill>
                    <a:latin typeface="Cambria Math" panose="02040503050406030204" pitchFamily="18" charset="0"/>
                    <a:ea typeface="楷体" panose="02010609060101010101" pitchFamily="49" charset="-122"/>
                  </a:rPr>
                  <a:t>对任意信号</a:t>
                </a:r>
                <a14:m>
                  <m:oMath xmlns:m="http://schemas.openxmlformats.org/officeDocument/2006/math">
                    <m:r>
                      <a:rPr lang="en-US" sz="2400" i="1">
                        <a:solidFill>
                          <a:srgbClr val="000000"/>
                        </a:solidFill>
                        <a:latin typeface="Cambria Math" panose="02040503050406030204" pitchFamily="18" charset="0"/>
                      </a:rPr>
                      <m:t>𝑔</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lang="zh-CN" altLang="en-US" sz="2400" dirty="0">
                    <a:solidFill>
                      <a:srgbClr val="000000"/>
                    </a:solidFill>
                    <a:latin typeface="Cambria Math" panose="02040503050406030204" pitchFamily="18" charset="0"/>
                    <a:ea typeface="楷体" panose="02010609060101010101" pitchFamily="49" charset="-122"/>
                  </a:rPr>
                  <a:t>，有：</a:t>
                </a:r>
              </a:p>
            </p:txBody>
          </p:sp>
        </mc:Choice>
        <mc:Fallback xmlns="">
          <p:sp>
            <p:nvSpPr>
              <p:cNvPr id="13" name="矩形 12">
                <a:extLst>
                  <a:ext uri="{FF2B5EF4-FFF2-40B4-BE49-F238E27FC236}">
                    <a16:creationId xmlns:a16="http://schemas.microsoft.com/office/drawing/2014/main" id="{C85609EF-27DC-4CBD-A0C4-2B704FAD9556}"/>
                  </a:ext>
                </a:extLst>
              </p:cNvPr>
              <p:cNvSpPr>
                <a:spLocks noRot="1" noChangeAspect="1" noMove="1" noResize="1" noEditPoints="1" noAdjustHandles="1" noChangeArrowheads="1" noChangeShapeType="1" noTextEdit="1"/>
              </p:cNvSpPr>
              <p:nvPr/>
            </p:nvSpPr>
            <p:spPr bwMode="auto">
              <a:xfrm>
                <a:off x="457200" y="2697429"/>
                <a:ext cx="3233936" cy="461665"/>
              </a:xfrm>
              <a:prstGeom prst="rect">
                <a:avLst/>
              </a:prstGeom>
              <a:blipFill>
                <a:blip r:embed="rId5"/>
                <a:stretch>
                  <a:fillRect l="-2825" t="-14474" r="-1507" b="-25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bject 6">
                <a:extLst>
                  <a:ext uri="{FF2B5EF4-FFF2-40B4-BE49-F238E27FC236}">
                    <a16:creationId xmlns:a16="http://schemas.microsoft.com/office/drawing/2014/main" id="{1A62279B-BB40-4BEB-9347-5E557F984DFA}"/>
                  </a:ext>
                </a:extLst>
              </p:cNvPr>
              <p:cNvSpPr txBox="1"/>
              <p:nvPr/>
            </p:nvSpPr>
            <p:spPr bwMode="auto">
              <a:xfrm>
                <a:off x="1403648" y="4559074"/>
                <a:ext cx="7330380" cy="889154"/>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𝑔</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smtClean="0">
                              <a:solidFill>
                                <a:srgbClr val="0000FF"/>
                              </a:solidFill>
                              <a:latin typeface="Cambria Math" panose="02040503050406030204" pitchFamily="18" charset="0"/>
                            </a:rPr>
                            <m:t>𝑓</m:t>
                          </m:r>
                          <m:r>
                            <a:rPr lang="en-US" sz="2400" i="1" smtClean="0">
                              <a:solidFill>
                                <a:srgbClr val="0000FF"/>
                              </a:solidFill>
                              <a:latin typeface="Cambria Math" panose="02040503050406030204" pitchFamily="18" charset="0"/>
                            </a:rPr>
                            <m:t>(0)</m:t>
                          </m:r>
                          <m:r>
                            <a:rPr lang="en-US" sz="2400" i="1" smtClean="0">
                              <a:solidFill>
                                <a:srgbClr val="0000FF"/>
                              </a:solidFill>
                              <a:latin typeface="Cambria Math" panose="02040503050406030204" pitchFamily="18" charset="0"/>
                            </a:rPr>
                            <m:t>𝛿</m:t>
                          </m:r>
                          <m:r>
                            <a:rPr lang="en-US" sz="2400" i="1" smtClean="0">
                              <a:solidFill>
                                <a:srgbClr val="0000FF"/>
                              </a:solidFill>
                              <a:latin typeface="Cambria Math" panose="02040503050406030204" pitchFamily="18" charset="0"/>
                            </a:rPr>
                            <m:t>(</m:t>
                          </m:r>
                          <m:r>
                            <a:rPr lang="en-US" sz="2400" i="1" smtClean="0">
                              <a:solidFill>
                                <a:srgbClr val="0000FF"/>
                              </a:solidFill>
                              <a:latin typeface="Cambria Math" panose="02040503050406030204" pitchFamily="18" charset="0"/>
                            </a:rPr>
                            <m:t>𝑡</m:t>
                          </m:r>
                          <m:r>
                            <a:rPr lang="en-US" sz="2400" i="1" smtClean="0">
                              <a:solidFill>
                                <a:srgbClr val="0000FF"/>
                              </a:solidFill>
                              <a:latin typeface="Cambria Math" panose="02040503050406030204" pitchFamily="18" charset="0"/>
                            </a:rPr>
                            <m:t>)</m:t>
                          </m:r>
                          <m:r>
                            <a:rPr lang="en-US" sz="2400" i="1">
                              <a:solidFill>
                                <a:srgbClr val="000000"/>
                              </a:solidFill>
                              <a:latin typeface="Cambria Math" panose="02040503050406030204" pitchFamily="18" charset="0"/>
                            </a:rPr>
                            <m:t>𝑑𝑡</m:t>
                          </m:r>
                        </m:e>
                      </m:nary>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𝑓</m:t>
                      </m:r>
                      <m:r>
                        <a:rPr lang="en-US" sz="2400" i="1">
                          <a:solidFill>
                            <a:srgbClr val="000000"/>
                          </a:solidFill>
                          <a:latin typeface="Cambria Math" panose="02040503050406030204" pitchFamily="18" charset="0"/>
                        </a:rPr>
                        <m:t>(0)</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𝑔</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𝑑𝑡</m:t>
                          </m:r>
                        </m:e>
                      </m:nary>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𝑔</m:t>
                      </m:r>
                      <m:r>
                        <a:rPr lang="en-US" sz="2400" i="1">
                          <a:solidFill>
                            <a:srgbClr val="000000"/>
                          </a:solidFill>
                          <a:latin typeface="Cambria Math" panose="02040503050406030204" pitchFamily="18" charset="0"/>
                        </a:rPr>
                        <m:t>(0)</m:t>
                      </m:r>
                      <m:r>
                        <a:rPr lang="en-US" sz="2400" i="1">
                          <a:solidFill>
                            <a:srgbClr val="000000"/>
                          </a:solidFill>
                          <a:latin typeface="Cambria Math" panose="02040503050406030204" pitchFamily="18" charset="0"/>
                        </a:rPr>
                        <m:t>𝑓</m:t>
                      </m:r>
                      <m:r>
                        <a:rPr lang="en-US" sz="2400" i="1">
                          <a:solidFill>
                            <a:srgbClr val="000000"/>
                          </a:solidFill>
                          <a:latin typeface="Cambria Math" panose="02040503050406030204" pitchFamily="18" charset="0"/>
                        </a:rPr>
                        <m:t>(0)</m:t>
                      </m:r>
                    </m:oMath>
                  </m:oMathPara>
                </a14:m>
                <a:endParaRPr lang="en-US" sz="2400" dirty="0"/>
              </a:p>
            </p:txBody>
          </p:sp>
        </mc:Choice>
        <mc:Fallback xmlns="">
          <p:sp>
            <p:nvSpPr>
              <p:cNvPr id="14" name="Object 6">
                <a:extLst>
                  <a:ext uri="{FF2B5EF4-FFF2-40B4-BE49-F238E27FC236}">
                    <a16:creationId xmlns:a16="http://schemas.microsoft.com/office/drawing/2014/main" id="{1A62279B-BB40-4BEB-9347-5E557F984DFA}"/>
                  </a:ext>
                </a:extLst>
              </p:cNvPr>
              <p:cNvSpPr txBox="1">
                <a:spLocks noRot="1" noChangeAspect="1" noMove="1" noResize="1" noEditPoints="1" noAdjustHandles="1" noChangeArrowheads="1" noChangeShapeType="1" noTextEdit="1"/>
              </p:cNvSpPr>
              <p:nvPr/>
            </p:nvSpPr>
            <p:spPr bwMode="auto">
              <a:xfrm>
                <a:off x="1403648" y="4559074"/>
                <a:ext cx="7330380" cy="889154"/>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0">
                <a:extLst>
                  <a:ext uri="{FF2B5EF4-FFF2-40B4-BE49-F238E27FC236}">
                    <a16:creationId xmlns:a16="http://schemas.microsoft.com/office/drawing/2014/main" id="{70E00F99-B89A-4874-A5FD-1301CD029804}"/>
                  </a:ext>
                </a:extLst>
              </p:cNvPr>
              <p:cNvSpPr txBox="1">
                <a:spLocks noChangeArrowheads="1"/>
              </p:cNvSpPr>
              <p:nvPr/>
            </p:nvSpPr>
            <p:spPr bwMode="auto">
              <a:xfrm>
                <a:off x="539552" y="5703639"/>
                <a:ext cx="8147247"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har char="•"/>
                  <a:defRPr sz="3100">
                    <a:solidFill>
                      <a:srgbClr val="CC0099"/>
                    </a:solidFill>
                    <a:latin typeface="Times New Roman" panose="02020603050405020304" pitchFamily="18" charset="0"/>
                  </a:defRPr>
                </a:lvl1pPr>
                <a:lvl2pPr marL="742950" indent="-285750">
                  <a:spcBef>
                    <a:spcPct val="20000"/>
                  </a:spcBef>
                  <a:buChar char="–"/>
                  <a:defRPr sz="2800">
                    <a:solidFill>
                      <a:srgbClr val="800000"/>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100">
                    <a:solidFill>
                      <a:schemeClr val="tx1"/>
                    </a:solidFill>
                    <a:latin typeface="Times New Roman" panose="02020603050405020304" pitchFamily="18" charset="0"/>
                  </a:defRPr>
                </a:lvl4pPr>
                <a:lvl5pPr marL="2057400" indent="-228600">
                  <a:spcBef>
                    <a:spcPct val="20000"/>
                  </a:spcBef>
                  <a:buChar char="»"/>
                  <a:defRPr sz="21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1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1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1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100">
                    <a:solidFill>
                      <a:schemeClr val="tx1"/>
                    </a:solidFill>
                    <a:latin typeface="Times New Roman" panose="02020603050405020304" pitchFamily="18" charset="0"/>
                  </a:defRPr>
                </a:lvl9pPr>
              </a:lstStyle>
              <a:p>
                <a:pPr eaLnBrk="1" hangingPunct="1">
                  <a:buFontTx/>
                  <a:buNone/>
                </a:pPr>
                <a:r>
                  <a:rPr lang="zh-CN" altLang="en-US" sz="2400" dirty="0">
                    <a:solidFill>
                      <a:srgbClr val="000000"/>
                    </a:solidFill>
                    <a:latin typeface="Cambria Math" panose="02040503050406030204" pitchFamily="18" charset="0"/>
                    <a:ea typeface="楷体" panose="02010609060101010101" pitchFamily="49" charset="-122"/>
                  </a:rPr>
                  <a:t>因此，从运算定义的角度来看，</a:t>
                </a:r>
                <a14:m>
                  <m:oMath xmlns:m="http://schemas.openxmlformats.org/officeDocument/2006/math">
                    <m:r>
                      <a:rPr lang="en-US" sz="2400" i="1" smtClean="0">
                        <a:solidFill>
                          <a:srgbClr val="000000"/>
                        </a:solidFill>
                        <a:latin typeface="Cambria Math" panose="02040503050406030204" pitchFamily="18" charset="0"/>
                      </a:rPr>
                      <m:t>𝑓</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𝛿</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m:t>
                    </m:r>
                  </m:oMath>
                </a14:m>
                <a:r>
                  <a:rPr lang="zh-CN" altLang="en-US" sz="2400" dirty="0">
                    <a:solidFill>
                      <a:srgbClr val="000000"/>
                    </a:solidFill>
                    <a:latin typeface="Cambria Math" panose="02040503050406030204" pitchFamily="18" charset="0"/>
                    <a:ea typeface="楷体" panose="02010609060101010101" pitchFamily="49" charset="-122"/>
                  </a:rPr>
                  <a:t>与</a:t>
                </a:r>
                <a14:m>
                  <m:oMath xmlns:m="http://schemas.openxmlformats.org/officeDocument/2006/math">
                    <m:r>
                      <a:rPr lang="en-US" sz="2400" i="1">
                        <a:solidFill>
                          <a:srgbClr val="000000"/>
                        </a:solidFill>
                        <a:latin typeface="Cambria Math" panose="02040503050406030204" pitchFamily="18" charset="0"/>
                      </a:rPr>
                      <m:t>𝑓</m:t>
                    </m:r>
                    <m:r>
                      <a:rPr lang="en-US" sz="2400" i="1">
                        <a:solidFill>
                          <a:srgbClr val="000000"/>
                        </a:solidFill>
                        <a:latin typeface="Cambria Math" panose="02040503050406030204" pitchFamily="18" charset="0"/>
                      </a:rPr>
                      <m:t>(0)</m:t>
                    </m:r>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lang="zh-CN" altLang="en-US" sz="2400" dirty="0">
                    <a:solidFill>
                      <a:srgbClr val="000000"/>
                    </a:solidFill>
                    <a:latin typeface="Cambria Math" panose="02040503050406030204" pitchFamily="18" charset="0"/>
                    <a:ea typeface="楷体" panose="02010609060101010101" pitchFamily="49" charset="-122"/>
                  </a:rPr>
                  <a:t>等价。</a:t>
                </a:r>
              </a:p>
            </p:txBody>
          </p:sp>
        </mc:Choice>
        <mc:Fallback xmlns="">
          <p:sp>
            <p:nvSpPr>
              <p:cNvPr id="16" name="TextBox 10">
                <a:extLst>
                  <a:ext uri="{FF2B5EF4-FFF2-40B4-BE49-F238E27FC236}">
                    <a16:creationId xmlns:a16="http://schemas.microsoft.com/office/drawing/2014/main" id="{70E00F99-B89A-4874-A5FD-1301CD029804}"/>
                  </a:ext>
                </a:extLst>
              </p:cNvPr>
              <p:cNvSpPr txBox="1">
                <a:spLocks noRot="1" noChangeAspect="1" noMove="1" noResize="1" noEditPoints="1" noAdjustHandles="1" noChangeArrowheads="1" noChangeShapeType="1" noTextEdit="1"/>
              </p:cNvSpPr>
              <p:nvPr/>
            </p:nvSpPr>
            <p:spPr bwMode="auto">
              <a:xfrm>
                <a:off x="539552" y="5703639"/>
                <a:ext cx="8147247" cy="461665"/>
              </a:xfrm>
              <a:prstGeom prst="rect">
                <a:avLst/>
              </a:prstGeom>
              <a:blipFill>
                <a:blip r:embed="rId7"/>
                <a:stretch>
                  <a:fillRect l="-1198" t="-14667" b="-26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2" name="矩形 1"/>
          <p:cNvSpPr/>
          <p:nvPr/>
        </p:nvSpPr>
        <p:spPr>
          <a:xfrm>
            <a:off x="6372200" y="3674419"/>
            <a:ext cx="2031325" cy="461665"/>
          </a:xfrm>
          <a:prstGeom prst="rect">
            <a:avLst/>
          </a:prstGeom>
        </p:spPr>
        <p:txBody>
          <a:bodyPr wrap="none">
            <a:spAutoFit/>
          </a:bodyPr>
          <a:lstStyle/>
          <a:p>
            <a:r>
              <a:rPr lang="zh-CN" altLang="en-US" sz="2400" dirty="0" smtClean="0">
                <a:solidFill>
                  <a:srgbClr val="000000"/>
                </a:solidFill>
                <a:latin typeface="Cambria Math" panose="02040503050406030204" pitchFamily="18" charset="0"/>
                <a:ea typeface="楷体" panose="02010609060101010101" pitchFamily="49" charset="-122"/>
              </a:rPr>
              <a:t>利用积分定义</a:t>
            </a:r>
            <a:endParaRPr lang="zh-CN" altLang="en-US" sz="2400" dirty="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6" name="标题 1">
            <a:extLst>
              <a:ext uri="{FF2B5EF4-FFF2-40B4-BE49-F238E27FC236}">
                <a16:creationId xmlns:a16="http://schemas.microsoft.com/office/drawing/2014/main" id="{5DB740C6-C4E3-43A1-997E-F4933FB7431B}"/>
              </a:ext>
            </a:extLst>
          </p:cNvPr>
          <p:cNvSpPr>
            <a:spLocks noGrp="1"/>
          </p:cNvSpPr>
          <p:nvPr>
            <p:ph type="title"/>
          </p:nvPr>
        </p:nvSpPr>
        <p:spPr/>
        <p:txBody>
          <a:bodyPr/>
          <a:lstStyle/>
          <a:p>
            <a:r>
              <a:rPr lang="en-US" altLang="zh-CN"/>
              <a:t>2.5 </a:t>
            </a:r>
            <a:r>
              <a:rPr lang="zh-CN" altLang="en-US"/>
              <a:t>奇异函数</a:t>
            </a:r>
          </a:p>
        </p:txBody>
      </p:sp>
      <p:sp>
        <p:nvSpPr>
          <p:cNvPr id="4" name="灯片编号占位符 3">
            <a:extLst>
              <a:ext uri="{FF2B5EF4-FFF2-40B4-BE49-F238E27FC236}">
                <a16:creationId xmlns:a16="http://schemas.microsoft.com/office/drawing/2014/main" id="{F1167C92-0233-4E42-B4B5-5B7E2BB43C7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471B693-3CFA-4045-8A41-908F01A5EFB9}"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82</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2" name="Object 5">
                <a:extLst>
                  <a:ext uri="{FF2B5EF4-FFF2-40B4-BE49-F238E27FC236}">
                    <a16:creationId xmlns:a16="http://schemas.microsoft.com/office/drawing/2014/main" id="{C45BD7F3-B1B5-4B7F-90A2-2CA44C4C872C}"/>
                  </a:ext>
                </a:extLst>
              </p:cNvPr>
              <p:cNvSpPr txBox="1"/>
              <p:nvPr/>
            </p:nvSpPr>
            <p:spPr bwMode="auto">
              <a:xfrm>
                <a:off x="3671589" y="2211757"/>
                <a:ext cx="2286462" cy="523220"/>
              </a:xfrm>
              <a:prstGeom prst="rect">
                <a:avLst/>
              </a:prstGeom>
              <a:solidFill>
                <a:srgbClr val="CCFFFF"/>
              </a:solid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r>
                        <a:rPr lang="en-US" sz="2800" i="1" smtClean="0">
                          <a:solidFill>
                            <a:srgbClr val="000000"/>
                          </a:solidFill>
                          <a:latin typeface="Cambria Math" panose="02040503050406030204" pitchFamily="18" charset="0"/>
                        </a:rPr>
                        <m:t>𝛿</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𝑡</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𝛿</m:t>
                      </m:r>
                      <m:r>
                        <a:rPr lang="en-US" sz="280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12" name="Object 5">
                <a:extLst>
                  <a:ext uri="{FF2B5EF4-FFF2-40B4-BE49-F238E27FC236}">
                    <a16:creationId xmlns:a16="http://schemas.microsoft.com/office/drawing/2014/main" id="{C45BD7F3-B1B5-4B7F-90A2-2CA44C4C872C}"/>
                  </a:ext>
                </a:extLst>
              </p:cNvPr>
              <p:cNvSpPr txBox="1">
                <a:spLocks noRot="1" noChangeAspect="1" noMove="1" noResize="1" noEditPoints="1" noAdjustHandles="1" noChangeArrowheads="1" noChangeShapeType="1" noTextEdit="1"/>
              </p:cNvSpPr>
              <p:nvPr/>
            </p:nvSpPr>
            <p:spPr bwMode="auto">
              <a:xfrm>
                <a:off x="3671589" y="2211757"/>
                <a:ext cx="2286462" cy="523220"/>
              </a:xfrm>
              <a:prstGeom prst="rect">
                <a:avLst/>
              </a:prstGeom>
              <a:blipFill>
                <a:blip r:embed="rId2"/>
                <a:stretch>
                  <a:fillRect/>
                </a:stretch>
              </a:blipFill>
              <a:ln>
                <a:noFill/>
              </a:ln>
              <a:effectLst/>
            </p:spPr>
            <p:txBody>
              <a:bodyPr/>
              <a:lstStyle/>
              <a:p>
                <a:r>
                  <a:rPr lang="en-US">
                    <a:noFill/>
                  </a:rPr>
                  <a:t> </a:t>
                </a:r>
              </a:p>
            </p:txBody>
          </p:sp>
        </mc:Fallback>
      </mc:AlternateContent>
      <p:sp>
        <p:nvSpPr>
          <p:cNvPr id="13" name="矩形 12">
            <a:extLst>
              <a:ext uri="{FF2B5EF4-FFF2-40B4-BE49-F238E27FC236}">
                <a16:creationId xmlns:a16="http://schemas.microsoft.com/office/drawing/2014/main" id="{C85609EF-27DC-4CBD-A0C4-2B704FAD9556}"/>
              </a:ext>
            </a:extLst>
          </p:cNvPr>
          <p:cNvSpPr>
            <a:spLocks noChangeArrowheads="1"/>
          </p:cNvSpPr>
          <p:nvPr/>
        </p:nvSpPr>
        <p:spPr bwMode="auto">
          <a:xfrm>
            <a:off x="455406" y="3036403"/>
            <a:ext cx="152430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100">
                <a:solidFill>
                  <a:srgbClr val="CC0099"/>
                </a:solidFill>
                <a:latin typeface="Times New Roman" panose="02020603050405020304" pitchFamily="18" charset="0"/>
              </a:defRPr>
            </a:lvl1pPr>
            <a:lvl2pPr marL="742950" indent="-285750">
              <a:spcBef>
                <a:spcPct val="20000"/>
              </a:spcBef>
              <a:buChar char="–"/>
              <a:defRPr sz="2800">
                <a:solidFill>
                  <a:srgbClr val="800000"/>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100">
                <a:solidFill>
                  <a:schemeClr val="tx1"/>
                </a:solidFill>
                <a:latin typeface="Times New Roman" panose="02020603050405020304" pitchFamily="18" charset="0"/>
              </a:defRPr>
            </a:lvl4pPr>
            <a:lvl5pPr marL="2057400" indent="-228600">
              <a:spcBef>
                <a:spcPct val="20000"/>
              </a:spcBef>
              <a:buChar char="»"/>
              <a:defRPr sz="21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1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1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1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100">
                <a:solidFill>
                  <a:schemeClr val="tx1"/>
                </a:solidFill>
                <a:latin typeface="Times New Roman" panose="02020603050405020304" pitchFamily="18" charset="0"/>
              </a:defRPr>
            </a:lvl9pPr>
          </a:lstStyle>
          <a:p>
            <a:pPr eaLnBrk="1" hangingPunct="1">
              <a:buFontTx/>
              <a:buNone/>
            </a:pPr>
            <a:r>
              <a:rPr lang="zh-CN" altLang="en-US" sz="2800" dirty="0">
                <a:solidFill>
                  <a:srgbClr val="000000"/>
                </a:solidFill>
                <a:latin typeface="Cambria Math" panose="02040503050406030204" pitchFamily="18" charset="0"/>
                <a:ea typeface="楷体" panose="02010609060101010101" pitchFamily="49" charset="-122"/>
              </a:rPr>
              <a:t>证明：</a:t>
            </a:r>
          </a:p>
        </p:txBody>
      </p:sp>
      <mc:AlternateContent xmlns:mc="http://schemas.openxmlformats.org/markup-compatibility/2006" xmlns:a14="http://schemas.microsoft.com/office/drawing/2010/main">
        <mc:Choice Requires="a14">
          <p:sp>
            <p:nvSpPr>
              <p:cNvPr id="16" name="TextBox 10">
                <a:extLst>
                  <a:ext uri="{FF2B5EF4-FFF2-40B4-BE49-F238E27FC236}">
                    <a16:creationId xmlns:a16="http://schemas.microsoft.com/office/drawing/2014/main" id="{70E00F99-B89A-4874-A5FD-1301CD029804}"/>
                  </a:ext>
                </a:extLst>
              </p:cNvPr>
              <p:cNvSpPr txBox="1">
                <a:spLocks noChangeArrowheads="1"/>
              </p:cNvSpPr>
              <p:nvPr/>
            </p:nvSpPr>
            <p:spPr bwMode="auto">
              <a:xfrm>
                <a:off x="455406" y="1387111"/>
                <a:ext cx="8147247" cy="5232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har char="•"/>
                  <a:defRPr sz="3100">
                    <a:solidFill>
                      <a:srgbClr val="CC0099"/>
                    </a:solidFill>
                    <a:latin typeface="Times New Roman" panose="02020603050405020304" pitchFamily="18" charset="0"/>
                  </a:defRPr>
                </a:lvl1pPr>
                <a:lvl2pPr marL="742950" indent="-285750">
                  <a:spcBef>
                    <a:spcPct val="20000"/>
                  </a:spcBef>
                  <a:buChar char="–"/>
                  <a:defRPr sz="2800">
                    <a:solidFill>
                      <a:srgbClr val="800000"/>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100">
                    <a:solidFill>
                      <a:schemeClr val="tx1"/>
                    </a:solidFill>
                    <a:latin typeface="Times New Roman" panose="02020603050405020304" pitchFamily="18" charset="0"/>
                  </a:defRPr>
                </a:lvl4pPr>
                <a:lvl5pPr marL="2057400" indent="-228600">
                  <a:spcBef>
                    <a:spcPct val="20000"/>
                  </a:spcBef>
                  <a:buChar char="»"/>
                  <a:defRPr sz="21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1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1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1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100">
                    <a:solidFill>
                      <a:schemeClr val="tx1"/>
                    </a:solidFill>
                    <a:latin typeface="Times New Roman" panose="02020603050405020304" pitchFamily="18" charset="0"/>
                  </a:defRPr>
                </a:lvl9pPr>
              </a:lstStyle>
              <a:p>
                <a:pPr eaLnBrk="1" hangingPunct="1">
                  <a:buFontTx/>
                  <a:buNone/>
                </a:pPr>
                <a:r>
                  <a:rPr lang="zh-CN" altLang="en-US" sz="2800" dirty="0">
                    <a:solidFill>
                      <a:srgbClr val="000000"/>
                    </a:solidFill>
                    <a:latin typeface="Cambria Math" panose="02040503050406030204" pitchFamily="18" charset="0"/>
                    <a:ea typeface="楷体" panose="02010609060101010101" pitchFamily="49" charset="-122"/>
                  </a:rPr>
                  <a:t>单位冲激信号</a:t>
                </a:r>
                <a14:m>
                  <m:oMath xmlns:m="http://schemas.openxmlformats.org/officeDocument/2006/math">
                    <m:r>
                      <a:rPr lang="en-US" sz="2800" i="1" smtClean="0">
                        <a:solidFill>
                          <a:srgbClr val="000000"/>
                        </a:solidFill>
                        <a:latin typeface="Cambria Math" panose="02040503050406030204" pitchFamily="18" charset="0"/>
                      </a:rPr>
                      <m:t>𝛿</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𝑡</m:t>
                    </m:r>
                    <m:r>
                      <a:rPr lang="en-US" sz="2800" i="1" smtClean="0">
                        <a:solidFill>
                          <a:srgbClr val="000000"/>
                        </a:solidFill>
                        <a:latin typeface="Cambria Math" panose="02040503050406030204" pitchFamily="18" charset="0"/>
                      </a:rPr>
                      <m:t>)</m:t>
                    </m:r>
                  </m:oMath>
                </a14:m>
                <a:r>
                  <a:rPr lang="zh-CN" altLang="en-US" sz="2800" dirty="0">
                    <a:solidFill>
                      <a:srgbClr val="000000"/>
                    </a:solidFill>
                    <a:latin typeface="Cambria Math" panose="02040503050406030204" pitchFamily="18" charset="0"/>
                    <a:ea typeface="楷体" panose="02010609060101010101" pitchFamily="49" charset="-122"/>
                  </a:rPr>
                  <a:t>是偶函数。</a:t>
                </a:r>
              </a:p>
            </p:txBody>
          </p:sp>
        </mc:Choice>
        <mc:Fallback xmlns="">
          <p:sp>
            <p:nvSpPr>
              <p:cNvPr id="16" name="TextBox 10">
                <a:extLst>
                  <a:ext uri="{FF2B5EF4-FFF2-40B4-BE49-F238E27FC236}">
                    <a16:creationId xmlns:a16="http://schemas.microsoft.com/office/drawing/2014/main" id="{70E00F99-B89A-4874-A5FD-1301CD029804}"/>
                  </a:ext>
                </a:extLst>
              </p:cNvPr>
              <p:cNvSpPr txBox="1">
                <a:spLocks noRot="1" noChangeAspect="1" noMove="1" noResize="1" noEditPoints="1" noAdjustHandles="1" noChangeArrowheads="1" noChangeShapeType="1" noTextEdit="1"/>
              </p:cNvSpPr>
              <p:nvPr/>
            </p:nvSpPr>
            <p:spPr bwMode="auto">
              <a:xfrm>
                <a:off x="455406" y="1387111"/>
                <a:ext cx="8147247" cy="523220"/>
              </a:xfrm>
              <a:prstGeom prst="rect">
                <a:avLst/>
              </a:prstGeom>
              <a:blipFill>
                <a:blip r:embed="rId3"/>
                <a:stretch>
                  <a:fillRect l="-1572" t="-16471" b="-2941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bject 4">
                <a:extLst>
                  <a:ext uri="{FF2B5EF4-FFF2-40B4-BE49-F238E27FC236}">
                    <a16:creationId xmlns:a16="http://schemas.microsoft.com/office/drawing/2014/main" id="{C63FC324-3359-4CFF-953D-E6C5C359C3C2}"/>
                  </a:ext>
                </a:extLst>
              </p:cNvPr>
              <p:cNvSpPr txBox="1"/>
              <p:nvPr/>
            </p:nvSpPr>
            <p:spPr bwMode="auto">
              <a:xfrm>
                <a:off x="1550288" y="3861048"/>
                <a:ext cx="6529064" cy="195156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nary>
                        <m:naryPr>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m:t>
                          </m:r>
                        </m:sub>
                        <m:sup>
                          <m:r>
                            <a:rPr lang="en-US" sz="2800" i="1">
                              <a:solidFill>
                                <a:srgbClr val="000000"/>
                              </a:solidFill>
                              <a:latin typeface="Cambria Math" panose="02040503050406030204" pitchFamily="18" charset="0"/>
                            </a:rPr>
                            <m:t>∞</m:t>
                          </m:r>
                        </m:sup>
                        <m:e>
                          <m:r>
                            <a:rPr lang="en-US" sz="2800" i="1">
                              <a:solidFill>
                                <a:srgbClr val="000000"/>
                              </a:solidFill>
                              <a:latin typeface="Cambria Math" panose="02040503050406030204" pitchFamily="18" charset="0"/>
                            </a:rPr>
                            <m:t>𝛿</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𝑓</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𝑑𝑡</m:t>
                          </m:r>
                        </m:e>
                      </m:nary>
                      <m:r>
                        <a:rPr lang="en-US" sz="2800" i="1">
                          <a:solidFill>
                            <a:srgbClr val="000000"/>
                          </a:solidFill>
                          <a:latin typeface="Cambria Math" panose="02040503050406030204" pitchFamily="18" charset="0"/>
                        </a:rPr>
                        <m:t>=</m:t>
                      </m:r>
                      <m:nary>
                        <m:naryPr>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m:t>
                          </m:r>
                        </m:sub>
                        <m:sup>
                          <m:r>
                            <a:rPr lang="en-US" sz="2800" i="1">
                              <a:solidFill>
                                <a:srgbClr val="000000"/>
                              </a:solidFill>
                              <a:latin typeface="Cambria Math" panose="02040503050406030204" pitchFamily="18" charset="0"/>
                            </a:rPr>
                            <m:t>−∞</m:t>
                          </m:r>
                        </m:sup>
                        <m:e>
                          <m:r>
                            <a:rPr lang="en-US" sz="2800" i="1">
                              <a:solidFill>
                                <a:srgbClr val="000000"/>
                              </a:solidFill>
                              <a:latin typeface="Cambria Math" panose="02040503050406030204" pitchFamily="18" charset="0"/>
                            </a:rPr>
                            <m:t>𝛿</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𝜏</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𝑓</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𝜏</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𝑑</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𝜏</m:t>
                          </m:r>
                          <m:r>
                            <a:rPr lang="en-US" sz="2800" i="1">
                              <a:solidFill>
                                <a:srgbClr val="000000"/>
                              </a:solidFill>
                              <a:latin typeface="Cambria Math" panose="02040503050406030204" pitchFamily="18" charset="0"/>
                            </a:rPr>
                            <m:t>)</m:t>
                          </m:r>
                        </m:e>
                      </m:nary>
                    </m:oMath>
                    <m:oMath xmlns:m="http://schemas.openxmlformats.org/officeDocument/2006/math">
                      <m:r>
                        <a:rPr lang="en-US" sz="2800" i="1">
                          <a:solidFill>
                            <a:srgbClr val="000000"/>
                          </a:solidFill>
                          <a:latin typeface="Cambria Math" panose="02040503050406030204" pitchFamily="18" charset="0"/>
                        </a:rPr>
                        <m:t>=</m:t>
                      </m:r>
                      <m:nary>
                        <m:naryPr>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m:t>
                          </m:r>
                        </m:sub>
                        <m:sup>
                          <m:r>
                            <a:rPr lang="en-US" sz="2800" i="1">
                              <a:solidFill>
                                <a:srgbClr val="000000"/>
                              </a:solidFill>
                              <a:latin typeface="Cambria Math" panose="02040503050406030204" pitchFamily="18" charset="0"/>
                            </a:rPr>
                            <m:t>∞</m:t>
                          </m:r>
                        </m:sup>
                        <m:e>
                          <m:r>
                            <a:rPr lang="en-US" sz="2800" i="1">
                              <a:solidFill>
                                <a:srgbClr val="000000"/>
                              </a:solidFill>
                              <a:latin typeface="Cambria Math" panose="02040503050406030204" pitchFamily="18" charset="0"/>
                            </a:rPr>
                            <m:t>𝛿</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𝜏</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𝑓</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𝜏</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𝑑</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𝜏</m:t>
                          </m:r>
                          <m:r>
                            <a:rPr lang="en-US" sz="2800" i="1">
                              <a:solidFill>
                                <a:srgbClr val="000000"/>
                              </a:solidFill>
                              <a:latin typeface="Cambria Math" panose="02040503050406030204" pitchFamily="18" charset="0"/>
                            </a:rPr>
                            <m:t>)</m:t>
                          </m:r>
                        </m:e>
                      </m:nary>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𝑓</m:t>
                      </m:r>
                      <m:r>
                        <a:rPr lang="en-US" sz="2800" i="1">
                          <a:solidFill>
                            <a:srgbClr val="000000"/>
                          </a:solidFill>
                          <a:latin typeface="Cambria Math" panose="02040503050406030204" pitchFamily="18" charset="0"/>
                        </a:rPr>
                        <m:t>(0)</m:t>
                      </m:r>
                    </m:oMath>
                  </m:oMathPara>
                </a14:m>
                <a:endParaRPr lang="en-US" sz="2800" dirty="0"/>
              </a:p>
            </p:txBody>
          </p:sp>
        </mc:Choice>
        <mc:Fallback xmlns="">
          <p:sp>
            <p:nvSpPr>
              <p:cNvPr id="15" name="Object 4">
                <a:extLst>
                  <a:ext uri="{FF2B5EF4-FFF2-40B4-BE49-F238E27FC236}">
                    <a16:creationId xmlns:a16="http://schemas.microsoft.com/office/drawing/2014/main" id="{C63FC324-3359-4CFF-953D-E6C5C359C3C2}"/>
                  </a:ext>
                </a:extLst>
              </p:cNvPr>
              <p:cNvSpPr txBox="1">
                <a:spLocks noRot="1" noChangeAspect="1" noMove="1" noResize="1" noEditPoints="1" noAdjustHandles="1" noChangeArrowheads="1" noChangeShapeType="1" noTextEdit="1"/>
              </p:cNvSpPr>
              <p:nvPr/>
            </p:nvSpPr>
            <p:spPr bwMode="auto">
              <a:xfrm>
                <a:off x="1550288" y="3861048"/>
                <a:ext cx="6529064" cy="1951560"/>
              </a:xfrm>
              <a:prstGeom prst="rect">
                <a:avLst/>
              </a:prstGeom>
              <a:blipFill>
                <a:blip r:embed="rId4"/>
                <a:stretch>
                  <a:fillRect/>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3545652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6" name="标题 1">
            <a:extLst>
              <a:ext uri="{FF2B5EF4-FFF2-40B4-BE49-F238E27FC236}">
                <a16:creationId xmlns:a16="http://schemas.microsoft.com/office/drawing/2014/main" id="{5DB740C6-C4E3-43A1-997E-F4933FB7431B}"/>
              </a:ext>
            </a:extLst>
          </p:cNvPr>
          <p:cNvSpPr>
            <a:spLocks noGrp="1"/>
          </p:cNvSpPr>
          <p:nvPr>
            <p:ph type="title"/>
          </p:nvPr>
        </p:nvSpPr>
        <p:spPr/>
        <p:txBody>
          <a:bodyPr/>
          <a:lstStyle/>
          <a:p>
            <a:r>
              <a:rPr lang="en-US" altLang="zh-CN"/>
              <a:t>2.5 </a:t>
            </a:r>
            <a:r>
              <a:rPr lang="zh-CN" altLang="en-US"/>
              <a:t>奇异函数</a:t>
            </a:r>
          </a:p>
        </p:txBody>
      </p:sp>
      <p:sp>
        <p:nvSpPr>
          <p:cNvPr id="4" name="灯片编号占位符 3">
            <a:extLst>
              <a:ext uri="{FF2B5EF4-FFF2-40B4-BE49-F238E27FC236}">
                <a16:creationId xmlns:a16="http://schemas.microsoft.com/office/drawing/2014/main" id="{F1167C92-0233-4E42-B4B5-5B7E2BB43C7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471B693-3CFA-4045-8A41-908F01A5EFB9}"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83</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3" name="矩形 12">
            <a:extLst>
              <a:ext uri="{FF2B5EF4-FFF2-40B4-BE49-F238E27FC236}">
                <a16:creationId xmlns:a16="http://schemas.microsoft.com/office/drawing/2014/main" id="{C85609EF-27DC-4CBD-A0C4-2B704FAD9556}"/>
              </a:ext>
            </a:extLst>
          </p:cNvPr>
          <p:cNvSpPr>
            <a:spLocks noChangeArrowheads="1"/>
          </p:cNvSpPr>
          <p:nvPr/>
        </p:nvSpPr>
        <p:spPr bwMode="auto">
          <a:xfrm>
            <a:off x="455406" y="3027865"/>
            <a:ext cx="30364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100">
                <a:solidFill>
                  <a:srgbClr val="CC0099"/>
                </a:solidFill>
                <a:latin typeface="Times New Roman" panose="02020603050405020304" pitchFamily="18" charset="0"/>
              </a:defRPr>
            </a:lvl1pPr>
            <a:lvl2pPr marL="742950" indent="-285750">
              <a:spcBef>
                <a:spcPct val="20000"/>
              </a:spcBef>
              <a:buChar char="–"/>
              <a:defRPr sz="2800">
                <a:solidFill>
                  <a:srgbClr val="800000"/>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100">
                <a:solidFill>
                  <a:schemeClr val="tx1"/>
                </a:solidFill>
                <a:latin typeface="Times New Roman" panose="02020603050405020304" pitchFamily="18" charset="0"/>
              </a:defRPr>
            </a:lvl4pPr>
            <a:lvl5pPr marL="2057400" indent="-228600">
              <a:spcBef>
                <a:spcPct val="20000"/>
              </a:spcBef>
              <a:buChar char="»"/>
              <a:defRPr sz="21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1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1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1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100">
                <a:solidFill>
                  <a:schemeClr val="tx1"/>
                </a:solidFill>
                <a:latin typeface="Times New Roman" panose="02020603050405020304" pitchFamily="18" charset="0"/>
              </a:defRPr>
            </a:lvl9pPr>
          </a:lstStyle>
          <a:p>
            <a:pPr eaLnBrk="1" hangingPunct="1">
              <a:buFontTx/>
              <a:buNone/>
            </a:pPr>
            <a:r>
              <a:rPr lang="zh-CN" altLang="en-US" sz="2400" dirty="0">
                <a:solidFill>
                  <a:srgbClr val="000000"/>
                </a:solidFill>
                <a:latin typeface="Cambria Math" panose="02040503050406030204" pitchFamily="18" charset="0"/>
                <a:ea typeface="楷体" panose="02010609060101010101" pitchFamily="49" charset="-122"/>
              </a:rPr>
              <a:t>验证信号下方面积：</a:t>
            </a:r>
          </a:p>
        </p:txBody>
      </p:sp>
      <p:sp>
        <p:nvSpPr>
          <p:cNvPr id="16" name="TextBox 10">
            <a:extLst>
              <a:ext uri="{FF2B5EF4-FFF2-40B4-BE49-F238E27FC236}">
                <a16:creationId xmlns:a16="http://schemas.microsoft.com/office/drawing/2014/main" id="{70E00F99-B89A-4874-A5FD-1301CD029804}"/>
              </a:ext>
            </a:extLst>
          </p:cNvPr>
          <p:cNvSpPr txBox="1">
            <a:spLocks noChangeArrowheads="1"/>
          </p:cNvSpPr>
          <p:nvPr/>
        </p:nvSpPr>
        <p:spPr bwMode="auto">
          <a:xfrm>
            <a:off x="455406" y="1268760"/>
            <a:ext cx="81472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100">
                <a:solidFill>
                  <a:srgbClr val="CC0099"/>
                </a:solidFill>
                <a:latin typeface="Times New Roman" panose="02020603050405020304" pitchFamily="18" charset="0"/>
              </a:defRPr>
            </a:lvl1pPr>
            <a:lvl2pPr marL="742950" indent="-285750">
              <a:spcBef>
                <a:spcPct val="20000"/>
              </a:spcBef>
              <a:buChar char="–"/>
              <a:defRPr sz="2800">
                <a:solidFill>
                  <a:srgbClr val="800000"/>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100">
                <a:solidFill>
                  <a:schemeClr val="tx1"/>
                </a:solidFill>
                <a:latin typeface="Times New Roman" panose="02020603050405020304" pitchFamily="18" charset="0"/>
              </a:defRPr>
            </a:lvl4pPr>
            <a:lvl5pPr marL="2057400" indent="-228600">
              <a:spcBef>
                <a:spcPct val="20000"/>
              </a:spcBef>
              <a:buChar char="»"/>
              <a:defRPr sz="21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1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1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1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100">
                <a:solidFill>
                  <a:schemeClr val="tx1"/>
                </a:solidFill>
                <a:latin typeface="Times New Roman" panose="02020603050405020304" pitchFamily="18" charset="0"/>
              </a:defRPr>
            </a:lvl9pPr>
          </a:lstStyle>
          <a:p>
            <a:pPr eaLnBrk="1" hangingPunct="1">
              <a:buFontTx/>
              <a:buNone/>
            </a:pPr>
            <a:r>
              <a:rPr lang="zh-CN" altLang="en-US" sz="2400" dirty="0">
                <a:solidFill>
                  <a:srgbClr val="000000"/>
                </a:solidFill>
                <a:latin typeface="Cambria Math" panose="02040503050406030204" pitchFamily="18" charset="0"/>
                <a:ea typeface="楷体" panose="02010609060101010101" pitchFamily="49" charset="-122"/>
              </a:rPr>
              <a:t>单位冲激信号的时间尺度变换：</a:t>
            </a:r>
          </a:p>
        </p:txBody>
      </p:sp>
      <mc:AlternateContent xmlns:mc="http://schemas.openxmlformats.org/markup-compatibility/2006" xmlns:a14="http://schemas.microsoft.com/office/drawing/2010/main">
        <mc:Choice Requires="a14">
          <p:sp>
            <p:nvSpPr>
              <p:cNvPr id="8" name="Object 3">
                <a:extLst>
                  <a:ext uri="{FF2B5EF4-FFF2-40B4-BE49-F238E27FC236}">
                    <a16:creationId xmlns:a16="http://schemas.microsoft.com/office/drawing/2014/main" id="{8397565E-522D-4B30-B64C-04E8646B302C}"/>
                  </a:ext>
                </a:extLst>
              </p:cNvPr>
              <p:cNvSpPr txBox="1"/>
              <p:nvPr/>
            </p:nvSpPr>
            <p:spPr bwMode="auto">
              <a:xfrm>
                <a:off x="3491880" y="1961274"/>
                <a:ext cx="2304256" cy="835742"/>
              </a:xfrm>
              <a:prstGeom prst="rect">
                <a:avLst/>
              </a:prstGeom>
              <a:solidFill>
                <a:srgbClr val="CCFFFF"/>
              </a:solidFill>
              <a:ln>
                <a:noFill/>
              </a:ln>
              <a:effectLst/>
            </p:spPr>
            <p:txBody>
              <a:bodyPr>
                <a:spAutoFit/>
              </a:bodyPr>
              <a:lstStyle/>
              <a:p>
                <a:pPr/>
                <a14:m>
                  <m:oMathPara xmlns:m="http://schemas.openxmlformats.org/officeDocument/2006/math">
                    <m:oMathParaPr>
                      <m:jc m:val="center"/>
                    </m:oMathParaPr>
                    <m:oMath xmlns:m="http://schemas.openxmlformats.org/officeDocument/2006/math">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𝑎𝑡</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𝑎</m:t>
                              </m:r>
                            </m:e>
                          </m:d>
                        </m:den>
                      </m:f>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8" name="Object 3">
                <a:extLst>
                  <a:ext uri="{FF2B5EF4-FFF2-40B4-BE49-F238E27FC236}">
                    <a16:creationId xmlns:a16="http://schemas.microsoft.com/office/drawing/2014/main" id="{8397565E-522D-4B30-B64C-04E8646B302C}"/>
                  </a:ext>
                </a:extLst>
              </p:cNvPr>
              <p:cNvSpPr txBox="1">
                <a:spLocks noRot="1" noChangeAspect="1" noMove="1" noResize="1" noEditPoints="1" noAdjustHandles="1" noChangeArrowheads="1" noChangeShapeType="1" noTextEdit="1"/>
              </p:cNvSpPr>
              <p:nvPr/>
            </p:nvSpPr>
            <p:spPr bwMode="auto">
              <a:xfrm>
                <a:off x="3491880" y="1961274"/>
                <a:ext cx="2304256" cy="835742"/>
              </a:xfrm>
              <a:prstGeom prst="rect">
                <a:avLst/>
              </a:prstGeom>
              <a:blipFill>
                <a:blip r:embed="rId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bject 4">
                <a:extLst>
                  <a:ext uri="{FF2B5EF4-FFF2-40B4-BE49-F238E27FC236}">
                    <a16:creationId xmlns:a16="http://schemas.microsoft.com/office/drawing/2014/main" id="{E555C154-2CF5-438E-B40A-3A0D3A5740F7}"/>
                  </a:ext>
                </a:extLst>
              </p:cNvPr>
              <p:cNvSpPr txBox="1"/>
              <p:nvPr/>
            </p:nvSpPr>
            <p:spPr bwMode="auto">
              <a:xfrm>
                <a:off x="953732" y="3720379"/>
                <a:ext cx="7200800" cy="889154"/>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𝑎</m:t>
                      </m:r>
                      <m:r>
                        <a:rPr lang="en-US" sz="2400" i="1" smtClean="0">
                          <a:solidFill>
                            <a:srgbClr val="000000"/>
                          </a:solidFill>
                          <a:latin typeface="Cambria Math" panose="02040503050406030204" pitchFamily="18" charset="0"/>
                        </a:rPr>
                        <m:t>&gt;0:  </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𝑎</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𝑑</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𝑎</m:t>
                              </m:r>
                            </m:den>
                          </m:f>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𝑎</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𝑑</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𝑎</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𝑎</m:t>
                                  </m:r>
                                </m:den>
                              </m:f>
                            </m:e>
                          </m:nary>
                        </m:e>
                      </m:nary>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𝑎</m:t>
                              </m:r>
                            </m:e>
                          </m:d>
                        </m:den>
                      </m:f>
                    </m:oMath>
                  </m:oMathPara>
                </a14:m>
                <a:endParaRPr lang="en-US" sz="2400" dirty="0"/>
              </a:p>
            </p:txBody>
          </p:sp>
        </mc:Choice>
        <mc:Fallback xmlns="">
          <p:sp>
            <p:nvSpPr>
              <p:cNvPr id="11" name="Object 4">
                <a:extLst>
                  <a:ext uri="{FF2B5EF4-FFF2-40B4-BE49-F238E27FC236}">
                    <a16:creationId xmlns:a16="http://schemas.microsoft.com/office/drawing/2014/main" id="{E555C154-2CF5-438E-B40A-3A0D3A5740F7}"/>
                  </a:ext>
                </a:extLst>
              </p:cNvPr>
              <p:cNvSpPr txBox="1">
                <a:spLocks noRot="1" noChangeAspect="1" noMove="1" noResize="1" noEditPoints="1" noAdjustHandles="1" noChangeArrowheads="1" noChangeShapeType="1" noTextEdit="1"/>
              </p:cNvSpPr>
              <p:nvPr/>
            </p:nvSpPr>
            <p:spPr bwMode="auto">
              <a:xfrm>
                <a:off x="953732" y="3720379"/>
                <a:ext cx="7200800" cy="889154"/>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bject 5">
                <a:extLst>
                  <a:ext uri="{FF2B5EF4-FFF2-40B4-BE49-F238E27FC236}">
                    <a16:creationId xmlns:a16="http://schemas.microsoft.com/office/drawing/2014/main" id="{DCD62FEB-A95D-4267-91E5-40D1066B2164}"/>
                  </a:ext>
                </a:extLst>
              </p:cNvPr>
              <p:cNvSpPr txBox="1"/>
              <p:nvPr/>
            </p:nvSpPr>
            <p:spPr bwMode="auto">
              <a:xfrm>
                <a:off x="953732" y="4840382"/>
                <a:ext cx="7733068" cy="1685974"/>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𝑎</m:t>
                      </m:r>
                      <m:r>
                        <a:rPr lang="en-US" sz="2400" i="1" smtClean="0">
                          <a:solidFill>
                            <a:srgbClr val="000000"/>
                          </a:solidFill>
                          <a:latin typeface="Cambria Math" panose="02040503050406030204" pitchFamily="18" charset="0"/>
                        </a:rPr>
                        <m:t>&lt;0:  </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𝑎</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𝑑</m:t>
                          </m:r>
                          <m:r>
                            <a:rPr lang="en-US" sz="2400" i="1">
                              <a:solidFill>
                                <a:srgbClr val="000000"/>
                              </a:solidFill>
                              <a:latin typeface="Cambria Math" panose="02040503050406030204" pitchFamily="18" charset="0"/>
                            </a:rPr>
                            <m:t>𝜏</m:t>
                          </m:r>
                        </m:e>
                      </m:nary>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𝑎</m:t>
                          </m:r>
                        </m:den>
                      </m:f>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𝑎</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𝑑</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𝑎</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e>
                      </m:nary>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𝑎</m:t>
                          </m:r>
                        </m:den>
                      </m:f>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𝑑𝑡</m:t>
                          </m:r>
                        </m:e>
                      </m:nary>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𝑎</m:t>
                          </m:r>
                        </m:den>
                      </m:f>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𝑑𝑡</m:t>
                          </m:r>
                        </m:e>
                      </m:nary>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𝑎</m:t>
                          </m:r>
                        </m:den>
                      </m:f>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𝑎</m:t>
                              </m:r>
                            </m:e>
                          </m:d>
                        </m:den>
                      </m:f>
                    </m:oMath>
                  </m:oMathPara>
                </a14:m>
                <a:endParaRPr lang="en-US" sz="2400" dirty="0"/>
              </a:p>
            </p:txBody>
          </p:sp>
        </mc:Choice>
        <mc:Fallback xmlns="">
          <p:sp>
            <p:nvSpPr>
              <p:cNvPr id="14" name="Object 5">
                <a:extLst>
                  <a:ext uri="{FF2B5EF4-FFF2-40B4-BE49-F238E27FC236}">
                    <a16:creationId xmlns:a16="http://schemas.microsoft.com/office/drawing/2014/main" id="{DCD62FEB-A95D-4267-91E5-40D1066B2164}"/>
                  </a:ext>
                </a:extLst>
              </p:cNvPr>
              <p:cNvSpPr txBox="1">
                <a:spLocks noRot="1" noChangeAspect="1" noMove="1" noResize="1" noEditPoints="1" noAdjustHandles="1" noChangeArrowheads="1" noChangeShapeType="1" noTextEdit="1"/>
              </p:cNvSpPr>
              <p:nvPr/>
            </p:nvSpPr>
            <p:spPr bwMode="auto">
              <a:xfrm>
                <a:off x="953732" y="4840382"/>
                <a:ext cx="7733068" cy="1685974"/>
              </a:xfrm>
              <a:prstGeom prst="rect">
                <a:avLst/>
              </a:prstGeom>
              <a:blipFill>
                <a:blip r:embed="rId4"/>
                <a:stretch>
                  <a:fillRect/>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2250910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1" grpId="0"/>
      <p:bldP spid="14"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a:extLst>
              <a:ext uri="{FF2B5EF4-FFF2-40B4-BE49-F238E27FC236}">
                <a16:creationId xmlns:a16="http://schemas.microsoft.com/office/drawing/2014/main" id="{4350A1FC-E063-4939-B8FD-1AC71EB62999}"/>
              </a:ext>
            </a:extLst>
          </p:cNvPr>
          <p:cNvPicPr>
            <a:picLocks noChangeAspect="1"/>
          </p:cNvPicPr>
          <p:nvPr/>
        </p:nvPicPr>
        <p:blipFill>
          <a:blip r:embed="rId2"/>
          <a:stretch>
            <a:fillRect/>
          </a:stretch>
        </p:blipFill>
        <p:spPr>
          <a:xfrm>
            <a:off x="6764982" y="4371520"/>
            <a:ext cx="1695450" cy="2200275"/>
          </a:xfrm>
          <a:prstGeom prst="rect">
            <a:avLst/>
          </a:prstGeom>
        </p:spPr>
      </p:pic>
      <p:sp>
        <p:nvSpPr>
          <p:cNvPr id="31757" name="标题 1">
            <a:extLst>
              <a:ext uri="{FF2B5EF4-FFF2-40B4-BE49-F238E27FC236}">
                <a16:creationId xmlns:a16="http://schemas.microsoft.com/office/drawing/2014/main" id="{A305C42B-B102-40FD-BEB4-6360A8E6A233}"/>
              </a:ext>
            </a:extLst>
          </p:cNvPr>
          <p:cNvSpPr>
            <a:spLocks noGrp="1"/>
          </p:cNvSpPr>
          <p:nvPr>
            <p:ph type="title"/>
          </p:nvPr>
        </p:nvSpPr>
        <p:spPr/>
        <p:txBody>
          <a:bodyPr/>
          <a:lstStyle/>
          <a:p>
            <a:r>
              <a:rPr lang="en-US" altLang="zh-CN"/>
              <a:t>2.5 </a:t>
            </a:r>
            <a:r>
              <a:rPr lang="zh-CN" altLang="en-US"/>
              <a:t>奇异函数</a:t>
            </a:r>
          </a:p>
        </p:txBody>
      </p:sp>
      <mc:AlternateContent xmlns:mc="http://schemas.openxmlformats.org/markup-compatibility/2006" xmlns:a14="http://schemas.microsoft.com/office/drawing/2010/main">
        <mc:Choice Requires="a14">
          <p:sp>
            <p:nvSpPr>
              <p:cNvPr id="31758" name="内容占位符 2">
                <a:extLst>
                  <a:ext uri="{FF2B5EF4-FFF2-40B4-BE49-F238E27FC236}">
                    <a16:creationId xmlns:a16="http://schemas.microsoft.com/office/drawing/2014/main" id="{51D50951-1364-4336-8743-0FA21BB41461}"/>
                  </a:ext>
                </a:extLst>
              </p:cNvPr>
              <p:cNvSpPr>
                <a:spLocks noGrp="1"/>
              </p:cNvSpPr>
              <p:nvPr>
                <p:ph idx="1"/>
              </p:nvPr>
            </p:nvSpPr>
            <p:spPr>
              <a:xfrm>
                <a:off x="457200" y="1285875"/>
                <a:ext cx="8229600" cy="1446550"/>
              </a:xfrm>
            </p:spPr>
            <p:txBody>
              <a:bodyPr>
                <a:spAutoFit/>
              </a:bodyPr>
              <a:lstStyle/>
              <a:p>
                <a:pPr marL="0" indent="0" algn="just">
                  <a:buNone/>
                </a:pPr>
                <a:r>
                  <a:rPr lang="zh-CN" altLang="en-US" sz="2000" b="0" dirty="0"/>
                  <a:t>三</a:t>
                </a:r>
                <a:r>
                  <a:rPr lang="en-US" altLang="zh-CN" sz="2000" b="0" dirty="0"/>
                  <a:t>. </a:t>
                </a:r>
                <a:r>
                  <a:rPr lang="zh-CN" altLang="en-US" sz="2000" b="0" dirty="0">
                    <a:solidFill>
                      <a:srgbClr val="0000FF"/>
                    </a:solidFill>
                  </a:rPr>
                  <a:t>单位冲激偶及其他奇异函数</a:t>
                </a:r>
                <a:endParaRPr lang="en-US" altLang="zh-CN" sz="2000" b="0" dirty="0">
                  <a:solidFill>
                    <a:srgbClr val="0000FF"/>
                  </a:solidFill>
                </a:endParaRPr>
              </a:p>
              <a:p>
                <a:pPr algn="just"/>
                <a:r>
                  <a:rPr lang="zh-CN" altLang="en-US" sz="2000" dirty="0">
                    <a:solidFill>
                      <a:srgbClr val="FF0000"/>
                    </a:solidFill>
                    <a:cs typeface="楷体_GB2312" panose="02010609030101010101" pitchFamily="49" charset="-122"/>
                  </a:rPr>
                  <a:t>单位冲激偶</a:t>
                </a:r>
                <a:r>
                  <a:rPr lang="zh-CN" altLang="en-US" sz="2000" b="0" dirty="0"/>
                  <a:t>：理想微分器的单位冲激响应，即</a:t>
                </a:r>
                <a14:m>
                  <m:oMath xmlns:m="http://schemas.openxmlformats.org/officeDocument/2006/math">
                    <m:r>
                      <a:rPr lang="en-US" sz="2000" b="0" i="1" smtClean="0">
                        <a:solidFill>
                          <a:srgbClr val="000000"/>
                        </a:solidFill>
                        <a:latin typeface="Cambria Math" panose="02040503050406030204" pitchFamily="18" charset="0"/>
                      </a:rPr>
                      <m:t>𝛿</m:t>
                    </m:r>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𝑡</m:t>
                    </m:r>
                    <m:r>
                      <a:rPr lang="en-US" sz="2000" b="0" i="1" smtClean="0">
                        <a:solidFill>
                          <a:srgbClr val="000000"/>
                        </a:solidFill>
                        <a:latin typeface="Cambria Math" panose="02040503050406030204" pitchFamily="18" charset="0"/>
                      </a:rPr>
                      <m:t>)</m:t>
                    </m:r>
                  </m:oMath>
                </a14:m>
                <a:r>
                  <a:rPr lang="zh-CN" altLang="en-US" sz="2000" b="0" dirty="0"/>
                  <a:t>的微分：</a:t>
                </a:r>
                <a:endParaRPr lang="en-US" sz="2000" b="0" i="1" dirty="0">
                  <a:solidFill>
                    <a:srgbClr val="FF0000"/>
                  </a:solidFill>
                  <a:latin typeface="Cambria Math" panose="02040503050406030204" pitchFamily="18" charset="0"/>
                </a:endParaRPr>
              </a:p>
              <a:p>
                <a:pPr marL="0" indent="0" algn="just">
                  <a:buNone/>
                </a:pPr>
                <a14:m>
                  <m:oMathPara xmlns:m="http://schemas.openxmlformats.org/officeDocument/2006/math">
                    <m:oMathParaPr>
                      <m:jc m:val="centerGroup"/>
                    </m:oMathParaPr>
                    <m:oMath xmlns:m="http://schemas.openxmlformats.org/officeDocument/2006/math">
                      <m:sSub>
                        <m:sSubPr>
                          <m:ctrlPr>
                            <a:rPr lang="en-US" sz="2000" b="0" i="1" smtClean="0">
                              <a:solidFill>
                                <a:srgbClr val="FF0000"/>
                              </a:solidFill>
                              <a:latin typeface="Cambria Math" panose="02040503050406030204" pitchFamily="18" charset="0"/>
                            </a:rPr>
                          </m:ctrlPr>
                        </m:sSubPr>
                        <m:e>
                          <m:r>
                            <a:rPr lang="en-US" sz="2000" b="0" i="1">
                              <a:solidFill>
                                <a:srgbClr val="FF0000"/>
                              </a:solidFill>
                              <a:latin typeface="Cambria Math" panose="02040503050406030204" pitchFamily="18" charset="0"/>
                            </a:rPr>
                            <m:t>𝑢</m:t>
                          </m:r>
                        </m:e>
                        <m:sub>
                          <m:r>
                            <a:rPr lang="en-US" sz="2000" b="0" i="1">
                              <a:solidFill>
                                <a:srgbClr val="FF0000"/>
                              </a:solidFill>
                              <a:latin typeface="Cambria Math" panose="02040503050406030204" pitchFamily="18" charset="0"/>
                            </a:rPr>
                            <m:t>1</m:t>
                          </m:r>
                        </m:sub>
                      </m:sSub>
                      <m:r>
                        <a:rPr lang="en-US" sz="2000" b="0" i="1">
                          <a:solidFill>
                            <a:srgbClr val="FF0000"/>
                          </a:solidFill>
                          <a:latin typeface="Cambria Math" panose="02040503050406030204" pitchFamily="18" charset="0"/>
                        </a:rPr>
                        <m:t>(</m:t>
                      </m:r>
                      <m:r>
                        <a:rPr lang="en-US" sz="2000" b="0" i="1">
                          <a:solidFill>
                            <a:srgbClr val="FF0000"/>
                          </a:solidFill>
                          <a:latin typeface="Cambria Math" panose="02040503050406030204" pitchFamily="18" charset="0"/>
                        </a:rPr>
                        <m:t>𝑡</m:t>
                      </m:r>
                      <m:r>
                        <a:rPr lang="en-US" sz="2000" b="0" i="1">
                          <a:solidFill>
                            <a:srgbClr val="FF0000"/>
                          </a:solidFill>
                          <a:latin typeface="Cambria Math" panose="02040503050406030204" pitchFamily="18" charset="0"/>
                        </a:rPr>
                        <m:t>)=</m:t>
                      </m:r>
                      <m:r>
                        <m:rPr>
                          <m:sty m:val="p"/>
                        </m:rPr>
                        <a:rPr lang="en-US" sz="2000" b="0">
                          <a:solidFill>
                            <a:srgbClr val="FF0000"/>
                          </a:solidFill>
                          <a:latin typeface="Cambria Math" panose="02040503050406030204" pitchFamily="18" charset="0"/>
                        </a:rPr>
                        <m:t>d</m:t>
                      </m:r>
                      <m:r>
                        <a:rPr lang="en-US" sz="2000" b="0" i="1">
                          <a:solidFill>
                            <a:srgbClr val="FF0000"/>
                          </a:solidFill>
                          <a:latin typeface="Cambria Math" panose="02040503050406030204" pitchFamily="18" charset="0"/>
                        </a:rPr>
                        <m:t>𝛿</m:t>
                      </m:r>
                      <m:r>
                        <a:rPr lang="en-US" sz="2000" b="0" i="1">
                          <a:solidFill>
                            <a:srgbClr val="FF0000"/>
                          </a:solidFill>
                          <a:latin typeface="Cambria Math" panose="02040503050406030204" pitchFamily="18" charset="0"/>
                        </a:rPr>
                        <m:t>(</m:t>
                      </m:r>
                      <m:r>
                        <a:rPr lang="en-US" sz="2000" b="0" i="1">
                          <a:solidFill>
                            <a:srgbClr val="FF0000"/>
                          </a:solidFill>
                          <a:latin typeface="Cambria Math" panose="02040503050406030204" pitchFamily="18" charset="0"/>
                        </a:rPr>
                        <m:t>𝑡</m:t>
                      </m:r>
                      <m:r>
                        <a:rPr lang="en-US" sz="2000" b="0" i="1">
                          <a:solidFill>
                            <a:srgbClr val="FF0000"/>
                          </a:solidFill>
                          <a:latin typeface="Cambria Math" panose="02040503050406030204" pitchFamily="18" charset="0"/>
                        </a:rPr>
                        <m:t>)/</m:t>
                      </m:r>
                      <m:r>
                        <m:rPr>
                          <m:sty m:val="p"/>
                        </m:rPr>
                        <a:rPr lang="en-US" sz="2000" b="0">
                          <a:solidFill>
                            <a:srgbClr val="FF0000"/>
                          </a:solidFill>
                          <a:latin typeface="Cambria Math" panose="02040503050406030204" pitchFamily="18" charset="0"/>
                        </a:rPr>
                        <m:t>d</m:t>
                      </m:r>
                      <m:r>
                        <a:rPr lang="en-US" sz="2000" b="0" i="1">
                          <a:solidFill>
                            <a:srgbClr val="FF0000"/>
                          </a:solidFill>
                          <a:latin typeface="Cambria Math" panose="02040503050406030204" pitchFamily="18" charset="0"/>
                        </a:rPr>
                        <m:t>𝑡</m:t>
                      </m:r>
                    </m:oMath>
                  </m:oMathPara>
                </a14:m>
                <a:endParaRPr lang="en-US" altLang="zh-CN" sz="2000" b="0" dirty="0"/>
              </a:p>
              <a:p>
                <a:pPr algn="just"/>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运算定义</a:t>
                </a:r>
                <a:r>
                  <a:rPr kumimoji="0" lang="zh-CN" altLang="en-US" sz="2000" b="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r>
                  <a:rPr lang="zh-CN" altLang="en-US" sz="2000" b="0" dirty="0"/>
                  <a:t>从卷积运算或</a:t>
                </a:r>
                <a:r>
                  <a:rPr lang="en-US" altLang="zh-CN" sz="2000" b="0" dirty="0"/>
                  <a:t>LTI</a:t>
                </a:r>
                <a:r>
                  <a:rPr lang="zh-CN" altLang="en-US" sz="2000" b="0" dirty="0"/>
                  <a:t>系统分析的角度有：</a:t>
                </a:r>
              </a:p>
            </p:txBody>
          </p:sp>
        </mc:Choice>
        <mc:Fallback xmlns="">
          <p:sp>
            <p:nvSpPr>
              <p:cNvPr id="31758" name="内容占位符 2">
                <a:extLst>
                  <a:ext uri="{FF2B5EF4-FFF2-40B4-BE49-F238E27FC236}">
                    <a16:creationId xmlns:a16="http://schemas.microsoft.com/office/drawing/2014/main" id="{51D50951-1364-4336-8743-0FA21BB41461}"/>
                  </a:ext>
                </a:extLst>
              </p:cNvPr>
              <p:cNvSpPr>
                <a:spLocks noGrp="1" noRot="1" noChangeAspect="1" noMove="1" noResize="1" noEditPoints="1" noAdjustHandles="1" noChangeArrowheads="1" noChangeShapeType="1" noTextEdit="1"/>
              </p:cNvSpPr>
              <p:nvPr>
                <p:ph idx="1"/>
              </p:nvPr>
            </p:nvSpPr>
            <p:spPr>
              <a:xfrm>
                <a:off x="457200" y="1285875"/>
                <a:ext cx="8229600" cy="1446550"/>
              </a:xfrm>
              <a:blipFill>
                <a:blip r:embed="rId3"/>
                <a:stretch>
                  <a:fillRect l="-741" t="-2954" b="-7173"/>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08D39306-FEA6-487D-BAAB-D61052AA06F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793B050-E86E-4479-8F77-05E756795D2A}"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84</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31748" name="Object 7">
                <a:extLst>
                  <a:ext uri="{FF2B5EF4-FFF2-40B4-BE49-F238E27FC236}">
                    <a16:creationId xmlns:a16="http://schemas.microsoft.com/office/drawing/2014/main" id="{C701A785-44A8-4AA9-AC06-04EC94107411}"/>
                  </a:ext>
                </a:extLst>
              </p:cNvPr>
              <p:cNvSpPr txBox="1"/>
              <p:nvPr/>
            </p:nvSpPr>
            <p:spPr bwMode="auto">
              <a:xfrm>
                <a:off x="1122434" y="2758232"/>
                <a:ext cx="3519664" cy="676788"/>
              </a:xfrm>
              <a:prstGeom prst="rect">
                <a:avLst/>
              </a:prstGeom>
              <a:noFill/>
              <a:ln>
                <a:noFill/>
              </a:ln>
              <a:effectLst/>
            </p:spPr>
            <p:txBody>
              <a:bodyPr>
                <a:spAutoFit/>
              </a:bodyPr>
              <a:lstStyle/>
              <a:p>
                <a:pPr/>
                <a14:m>
                  <m:oMathPara xmlns:m="http://schemas.openxmlformats.org/officeDocument/2006/math">
                    <m:oMathParaPr>
                      <m:jc m:val="center"/>
                    </m:oMathParaPr>
                    <m:oMath xmlns:m="http://schemas.openxmlformats.org/officeDocument/2006/math">
                      <m:r>
                        <a:rPr lang="en-US" sz="2000" i="1" smtClean="0">
                          <a:solidFill>
                            <a:srgbClr val="FF0000"/>
                          </a:solidFill>
                          <a:latin typeface="Cambria Math" panose="02040503050406030204" pitchFamily="18" charset="0"/>
                        </a:rPr>
                        <m:t>𝑥</m:t>
                      </m:r>
                      <m:r>
                        <a:rPr lang="en-US" sz="2000" i="1" smtClean="0">
                          <a:solidFill>
                            <a:srgbClr val="FF0000"/>
                          </a:solidFill>
                          <a:latin typeface="Cambria Math" panose="02040503050406030204" pitchFamily="18" charset="0"/>
                        </a:rPr>
                        <m:t>(</m:t>
                      </m:r>
                      <m:r>
                        <a:rPr lang="en-US" sz="2000" i="1" smtClean="0">
                          <a:solidFill>
                            <a:srgbClr val="FF0000"/>
                          </a:solidFill>
                          <a:latin typeface="Cambria Math" panose="02040503050406030204" pitchFamily="18" charset="0"/>
                        </a:rPr>
                        <m:t>𝑡</m:t>
                      </m:r>
                      <m:r>
                        <a:rPr lang="en-US" sz="2000" i="1" smtClean="0">
                          <a:solidFill>
                            <a:srgbClr val="FF0000"/>
                          </a:solidFill>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𝑢</m:t>
                          </m:r>
                        </m:e>
                        <m:sub>
                          <m:r>
                            <a:rPr lang="en-US" sz="2000" i="1">
                              <a:solidFill>
                                <a:srgbClr val="FF0000"/>
                              </a:solidFill>
                              <a:latin typeface="Cambria Math" panose="02040503050406030204" pitchFamily="18" charset="0"/>
                            </a:rPr>
                            <m:t>1</m:t>
                          </m:r>
                        </m:sub>
                      </m:sSub>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𝑡</m:t>
                      </m:r>
                      <m:r>
                        <a:rPr lang="en-US" sz="2000" i="1">
                          <a:solidFill>
                            <a:srgbClr val="FF0000"/>
                          </a:solidFill>
                          <a:latin typeface="Cambria Math" panose="02040503050406030204" pitchFamily="18" charset="0"/>
                        </a:rPr>
                        <m:t>)=</m:t>
                      </m:r>
                      <m:f>
                        <m:fPr>
                          <m:ctrlPr>
                            <a:rPr lang="en-US" sz="2000" i="1">
                              <a:solidFill>
                                <a:srgbClr val="FF0000"/>
                              </a:solidFill>
                              <a:latin typeface="Cambria Math" panose="02040503050406030204" pitchFamily="18" charset="0"/>
                            </a:rPr>
                          </m:ctrlPr>
                        </m:fPr>
                        <m:num>
                          <m:r>
                            <m:rPr>
                              <m:sty m:val="p"/>
                            </m:rPr>
                            <a:rPr lang="en-US" sz="2000" i="0">
                              <a:solidFill>
                                <a:srgbClr val="FF0000"/>
                              </a:solidFill>
                              <a:latin typeface="Cambria Math" panose="02040503050406030204" pitchFamily="18" charset="0"/>
                            </a:rPr>
                            <m:t>d</m:t>
                          </m:r>
                        </m:num>
                        <m:den>
                          <m:r>
                            <m:rPr>
                              <m:sty m:val="p"/>
                            </m:rPr>
                            <a:rPr lang="en-US" sz="2000" i="0">
                              <a:solidFill>
                                <a:srgbClr val="FF0000"/>
                              </a:solidFill>
                              <a:latin typeface="Cambria Math" panose="02040503050406030204" pitchFamily="18" charset="0"/>
                            </a:rPr>
                            <m:t>d</m:t>
                          </m:r>
                          <m:r>
                            <a:rPr lang="en-US" sz="2000" i="1">
                              <a:solidFill>
                                <a:srgbClr val="FF0000"/>
                              </a:solidFill>
                              <a:latin typeface="Cambria Math" panose="02040503050406030204" pitchFamily="18" charset="0"/>
                            </a:rPr>
                            <m:t>𝑡</m:t>
                          </m:r>
                        </m:den>
                      </m:f>
                      <m:r>
                        <a:rPr lang="en-US" sz="2000" i="1">
                          <a:solidFill>
                            <a:srgbClr val="FF0000"/>
                          </a:solidFill>
                          <a:latin typeface="Cambria Math" panose="02040503050406030204" pitchFamily="18" charset="0"/>
                        </a:rPr>
                        <m:t>𝑥</m:t>
                      </m:r>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𝑡</m:t>
                      </m:r>
                      <m:r>
                        <a:rPr lang="en-US" sz="2000" i="1">
                          <a:solidFill>
                            <a:srgbClr val="FF0000"/>
                          </a:solidFill>
                          <a:latin typeface="Cambria Math" panose="02040503050406030204" pitchFamily="18" charset="0"/>
                        </a:rPr>
                        <m:t>)</m:t>
                      </m:r>
                    </m:oMath>
                  </m:oMathPara>
                </a14:m>
                <a:endParaRPr lang="en-US" sz="2000" dirty="0">
                  <a:solidFill>
                    <a:srgbClr val="FF0000"/>
                  </a:solidFill>
                </a:endParaRPr>
              </a:p>
            </p:txBody>
          </p:sp>
        </mc:Choice>
        <mc:Fallback xmlns="">
          <p:sp>
            <p:nvSpPr>
              <p:cNvPr id="31748" name="Object 7">
                <a:extLst>
                  <a:ext uri="{FF2B5EF4-FFF2-40B4-BE49-F238E27FC236}">
                    <a16:creationId xmlns:a16="http://schemas.microsoft.com/office/drawing/2014/main" id="{C701A785-44A8-4AA9-AC06-04EC94107411}"/>
                  </a:ext>
                </a:extLst>
              </p:cNvPr>
              <p:cNvSpPr txBox="1">
                <a:spLocks noRot="1" noChangeAspect="1" noMove="1" noResize="1" noEditPoints="1" noAdjustHandles="1" noChangeArrowheads="1" noChangeShapeType="1" noTextEdit="1"/>
              </p:cNvSpPr>
              <p:nvPr/>
            </p:nvSpPr>
            <p:spPr bwMode="auto">
              <a:xfrm>
                <a:off x="1122434" y="2758232"/>
                <a:ext cx="3519664" cy="676788"/>
              </a:xfrm>
              <a:prstGeom prst="rect">
                <a:avLst/>
              </a:prstGeom>
              <a:blipFill>
                <a:blip r:embed="rId4"/>
                <a:stretch>
                  <a:fillRect/>
                </a:stretch>
              </a:blipFill>
              <a:ln>
                <a:noFill/>
              </a:ln>
              <a:effectLst/>
            </p:spPr>
            <p:txBody>
              <a:bodyPr/>
              <a:lstStyle/>
              <a:p>
                <a:r>
                  <a:rPr lang="en-US">
                    <a:noFill/>
                  </a:rPr>
                  <a:t> </a:t>
                </a:r>
              </a:p>
            </p:txBody>
          </p:sp>
        </mc:Fallback>
      </mc:AlternateContent>
      <p:grpSp>
        <p:nvGrpSpPr>
          <p:cNvPr id="31760" name="Group 8">
            <a:extLst>
              <a:ext uri="{FF2B5EF4-FFF2-40B4-BE49-F238E27FC236}">
                <a16:creationId xmlns:a16="http://schemas.microsoft.com/office/drawing/2014/main" id="{A4C45213-E656-4CEE-B568-49925A9889A7}"/>
              </a:ext>
            </a:extLst>
          </p:cNvPr>
          <p:cNvGrpSpPr>
            <a:grpSpLocks/>
          </p:cNvGrpSpPr>
          <p:nvPr/>
        </p:nvGrpSpPr>
        <p:grpSpPr bwMode="auto">
          <a:xfrm>
            <a:off x="1115616" y="3638850"/>
            <a:ext cx="1967214" cy="2526454"/>
            <a:chOff x="4081" y="2306"/>
            <a:chExt cx="1179" cy="1518"/>
          </a:xfrm>
        </p:grpSpPr>
        <p:sp>
          <p:nvSpPr>
            <p:cNvPr id="31766" name="Line 9">
              <a:extLst>
                <a:ext uri="{FF2B5EF4-FFF2-40B4-BE49-F238E27FC236}">
                  <a16:creationId xmlns:a16="http://schemas.microsoft.com/office/drawing/2014/main" id="{81298A54-A2B9-4AE2-8614-30CA53B9F19F}"/>
                </a:ext>
              </a:extLst>
            </p:cNvPr>
            <p:cNvSpPr>
              <a:spLocks noChangeShapeType="1"/>
            </p:cNvSpPr>
            <p:nvPr/>
          </p:nvSpPr>
          <p:spPr bwMode="auto">
            <a:xfrm>
              <a:off x="4081" y="3179"/>
              <a:ext cx="1079"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1767" name="Line 10">
              <a:extLst>
                <a:ext uri="{FF2B5EF4-FFF2-40B4-BE49-F238E27FC236}">
                  <a16:creationId xmlns:a16="http://schemas.microsoft.com/office/drawing/2014/main" id="{FD98498D-5D9E-48AC-B736-4D70F327E3C2}"/>
                </a:ext>
              </a:extLst>
            </p:cNvPr>
            <p:cNvSpPr>
              <a:spLocks noChangeShapeType="1"/>
            </p:cNvSpPr>
            <p:nvPr/>
          </p:nvSpPr>
          <p:spPr bwMode="auto">
            <a:xfrm flipV="1">
              <a:off x="4588" y="2526"/>
              <a:ext cx="0" cy="129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1768" name="Line 11">
              <a:extLst>
                <a:ext uri="{FF2B5EF4-FFF2-40B4-BE49-F238E27FC236}">
                  <a16:creationId xmlns:a16="http://schemas.microsoft.com/office/drawing/2014/main" id="{68991385-8EE2-4CF1-8003-887FE59B5919}"/>
                </a:ext>
              </a:extLst>
            </p:cNvPr>
            <p:cNvSpPr>
              <a:spLocks noChangeShapeType="1"/>
            </p:cNvSpPr>
            <p:nvPr/>
          </p:nvSpPr>
          <p:spPr bwMode="auto">
            <a:xfrm flipV="1">
              <a:off x="4588" y="2735"/>
              <a:ext cx="0" cy="444"/>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31769" name="Line 12">
              <a:extLst>
                <a:ext uri="{FF2B5EF4-FFF2-40B4-BE49-F238E27FC236}">
                  <a16:creationId xmlns:a16="http://schemas.microsoft.com/office/drawing/2014/main" id="{A91E19D8-C4F9-46DC-A989-EC63B7CB47A2}"/>
                </a:ext>
              </a:extLst>
            </p:cNvPr>
            <p:cNvSpPr>
              <a:spLocks noChangeShapeType="1"/>
            </p:cNvSpPr>
            <p:nvPr/>
          </p:nvSpPr>
          <p:spPr bwMode="auto">
            <a:xfrm>
              <a:off x="4588" y="3179"/>
              <a:ext cx="0" cy="44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31752" name="Object 13">
                  <a:extLst>
                    <a:ext uri="{FF2B5EF4-FFF2-40B4-BE49-F238E27FC236}">
                      <a16:creationId xmlns:a16="http://schemas.microsoft.com/office/drawing/2014/main" id="{F1D19774-CB4A-486B-9E81-350F3B9A66AC}"/>
                    </a:ext>
                  </a:extLst>
                </p:cNvPr>
                <p:cNvSpPr txBox="1"/>
                <p:nvPr/>
              </p:nvSpPr>
              <p:spPr bwMode="auto">
                <a:xfrm>
                  <a:off x="4398" y="3159"/>
                  <a:ext cx="203" cy="24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0</m:t>
                        </m:r>
                      </m:oMath>
                    </m:oMathPara>
                  </a14:m>
                  <a:endParaRPr lang="en-US" sz="2000" dirty="0"/>
                </a:p>
              </p:txBody>
            </p:sp>
          </mc:Choice>
          <mc:Fallback xmlns="">
            <p:sp>
              <p:nvSpPr>
                <p:cNvPr id="31752" name="Object 13">
                  <a:extLst>
                    <a:ext uri="{FF2B5EF4-FFF2-40B4-BE49-F238E27FC236}">
                      <a16:creationId xmlns:a16="http://schemas.microsoft.com/office/drawing/2014/main" id="{F1D19774-CB4A-486B-9E81-350F3B9A66AC}"/>
                    </a:ext>
                  </a:extLst>
                </p:cNvPr>
                <p:cNvSpPr txBox="1">
                  <a:spLocks noRot="1" noChangeAspect="1" noMove="1" noResize="1" noEditPoints="1" noAdjustHandles="1" noChangeArrowheads="1" noChangeShapeType="1" noTextEdit="1"/>
                </p:cNvSpPr>
                <p:nvPr/>
              </p:nvSpPr>
              <p:spPr bwMode="auto">
                <a:xfrm>
                  <a:off x="4398" y="3159"/>
                  <a:ext cx="203" cy="240"/>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753" name="Object 14">
                  <a:extLst>
                    <a:ext uri="{FF2B5EF4-FFF2-40B4-BE49-F238E27FC236}">
                      <a16:creationId xmlns:a16="http://schemas.microsoft.com/office/drawing/2014/main" id="{459A1E4A-3875-4665-A6B0-8496A7A7EF37}"/>
                    </a:ext>
                  </a:extLst>
                </p:cNvPr>
                <p:cNvSpPr txBox="1"/>
                <p:nvPr/>
              </p:nvSpPr>
              <p:spPr bwMode="auto">
                <a:xfrm>
                  <a:off x="5057" y="2862"/>
                  <a:ext cx="203" cy="24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𝑡</m:t>
                        </m:r>
                      </m:oMath>
                    </m:oMathPara>
                  </a14:m>
                  <a:endParaRPr lang="en-US" sz="2000" dirty="0"/>
                </a:p>
              </p:txBody>
            </p:sp>
          </mc:Choice>
          <mc:Fallback xmlns="">
            <p:sp>
              <p:nvSpPr>
                <p:cNvPr id="31753" name="Object 14">
                  <a:extLst>
                    <a:ext uri="{FF2B5EF4-FFF2-40B4-BE49-F238E27FC236}">
                      <a16:creationId xmlns:a16="http://schemas.microsoft.com/office/drawing/2014/main" id="{459A1E4A-3875-4665-A6B0-8496A7A7EF37}"/>
                    </a:ext>
                  </a:extLst>
                </p:cNvPr>
                <p:cNvSpPr txBox="1">
                  <a:spLocks noRot="1" noChangeAspect="1" noMove="1" noResize="1" noEditPoints="1" noAdjustHandles="1" noChangeArrowheads="1" noChangeShapeType="1" noTextEdit="1"/>
                </p:cNvSpPr>
                <p:nvPr/>
              </p:nvSpPr>
              <p:spPr bwMode="auto">
                <a:xfrm>
                  <a:off x="5057" y="2862"/>
                  <a:ext cx="203" cy="240"/>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756" name="Object 17">
                  <a:extLst>
                    <a:ext uri="{FF2B5EF4-FFF2-40B4-BE49-F238E27FC236}">
                      <a16:creationId xmlns:a16="http://schemas.microsoft.com/office/drawing/2014/main" id="{9E38E03F-4042-42CF-A175-C65167C57ADE}"/>
                    </a:ext>
                  </a:extLst>
                </p:cNvPr>
                <p:cNvSpPr txBox="1"/>
                <p:nvPr/>
              </p:nvSpPr>
              <p:spPr bwMode="auto">
                <a:xfrm>
                  <a:off x="4597" y="2306"/>
                  <a:ext cx="493" cy="24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𝑢</m:t>
                            </m:r>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m:t>
                        </m:r>
                      </m:oMath>
                    </m:oMathPara>
                  </a14:m>
                  <a:endParaRPr lang="en-US" sz="2000" dirty="0"/>
                </a:p>
              </p:txBody>
            </p:sp>
          </mc:Choice>
          <mc:Fallback xmlns="">
            <p:sp>
              <p:nvSpPr>
                <p:cNvPr id="31756" name="Object 17">
                  <a:extLst>
                    <a:ext uri="{FF2B5EF4-FFF2-40B4-BE49-F238E27FC236}">
                      <a16:creationId xmlns:a16="http://schemas.microsoft.com/office/drawing/2014/main" id="{9E38E03F-4042-42CF-A175-C65167C57ADE}"/>
                    </a:ext>
                  </a:extLst>
                </p:cNvPr>
                <p:cNvSpPr txBox="1">
                  <a:spLocks noRot="1" noChangeAspect="1" noMove="1" noResize="1" noEditPoints="1" noAdjustHandles="1" noChangeArrowheads="1" noChangeShapeType="1" noTextEdit="1"/>
                </p:cNvSpPr>
                <p:nvPr/>
              </p:nvSpPr>
              <p:spPr bwMode="auto">
                <a:xfrm>
                  <a:off x="4597" y="2306"/>
                  <a:ext cx="493" cy="240"/>
                </a:xfrm>
                <a:prstGeom prst="rect">
                  <a:avLst/>
                </a:prstGeom>
                <a:blipFill>
                  <a:blip r:embed="rId9"/>
                  <a:stretch>
                    <a:fillRect b="-18462"/>
                  </a:stretch>
                </a:blipFill>
                <a:ln>
                  <a:noFill/>
                </a:ln>
                <a:effectLst/>
              </p:spPr>
              <p:txBody>
                <a:bodyPr/>
                <a:lstStyle/>
                <a:p>
                  <a:r>
                    <a:rPr lang="en-US">
                      <a:noFill/>
                    </a:rPr>
                    <a:t> </a:t>
                  </a:r>
                </a:p>
              </p:txBody>
            </p:sp>
          </mc:Fallback>
        </mc:AlternateContent>
      </p:grpSp>
      <p:sp>
        <p:nvSpPr>
          <p:cNvPr id="31761" name="Rectangle 20">
            <a:extLst>
              <a:ext uri="{FF2B5EF4-FFF2-40B4-BE49-F238E27FC236}">
                <a16:creationId xmlns:a16="http://schemas.microsoft.com/office/drawing/2014/main" id="{CB3F8F8B-2E59-498E-A8F5-7501504C197E}"/>
              </a:ext>
            </a:extLst>
          </p:cNvPr>
          <p:cNvSpPr>
            <a:spLocks noChangeArrowheads="1"/>
          </p:cNvSpPr>
          <p:nvPr/>
        </p:nvSpPr>
        <p:spPr bwMode="auto">
          <a:xfrm>
            <a:off x="3945143" y="3789040"/>
            <a:ext cx="48033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lg"/>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spcBef>
                <a:spcPts val="0"/>
              </a:spcBef>
              <a:spcAft>
                <a:spcPct val="0"/>
              </a:spcAft>
              <a:buClrTx/>
              <a:buSzTx/>
              <a:buFontTx/>
              <a:buNone/>
              <a:tabLst/>
              <a:defRPr/>
            </a:pPr>
            <a:r>
              <a:rPr lang="zh-CN" altLang="en-US" sz="2000" dirty="0">
                <a:latin typeface="Times New Roman" panose="02020603050405020304" pitchFamily="18" charset="0"/>
                <a:ea typeface="华文楷体" panose="02010600040101010101" pitchFamily="2" charset="-122"/>
                <a:cs typeface="楷体_GB2312" panose="02010609030101010101" pitchFamily="49" charset="-122"/>
              </a:rPr>
              <a:t>该信号可视为短脉冲求导的理想化结果。</a:t>
            </a:r>
            <a:endParaRPr kumimoji="0" lang="zh-CN" altLang="en-US" sz="20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p:grpSp>
        <p:nvGrpSpPr>
          <p:cNvPr id="31762" name="Group 21">
            <a:extLst>
              <a:ext uri="{FF2B5EF4-FFF2-40B4-BE49-F238E27FC236}">
                <a16:creationId xmlns:a16="http://schemas.microsoft.com/office/drawing/2014/main" id="{342CBBA8-110B-4389-8617-9F3ACAEE703D}"/>
              </a:ext>
            </a:extLst>
          </p:cNvPr>
          <p:cNvGrpSpPr>
            <a:grpSpLocks/>
          </p:cNvGrpSpPr>
          <p:nvPr/>
        </p:nvGrpSpPr>
        <p:grpSpPr bwMode="auto">
          <a:xfrm>
            <a:off x="4743449" y="2576636"/>
            <a:ext cx="3619501" cy="1068388"/>
            <a:chOff x="2259" y="1598"/>
            <a:chExt cx="2280" cy="673"/>
          </a:xfrm>
        </p:grpSpPr>
        <p:sp>
          <p:nvSpPr>
            <p:cNvPr id="31763" name="Rectangle 22">
              <a:extLst>
                <a:ext uri="{FF2B5EF4-FFF2-40B4-BE49-F238E27FC236}">
                  <a16:creationId xmlns:a16="http://schemas.microsoft.com/office/drawing/2014/main" id="{12ABDCA3-22A2-4E5B-A650-AA161B891EAC}"/>
                </a:ext>
              </a:extLst>
            </p:cNvPr>
            <p:cNvSpPr>
              <a:spLocks noChangeArrowheads="1"/>
            </p:cNvSpPr>
            <p:nvPr/>
          </p:nvSpPr>
          <p:spPr bwMode="auto">
            <a:xfrm>
              <a:off x="2802" y="1815"/>
              <a:ext cx="802" cy="456"/>
            </a:xfrm>
            <a:prstGeom prst="rect">
              <a:avLst/>
            </a:prstGeom>
            <a:solidFill>
              <a:srgbClr val="CCFFFF"/>
            </a:solidFill>
            <a:ln w="25400">
              <a:solidFill>
                <a:schemeClr val="tx1"/>
              </a:solidFill>
              <a:miter lim="800000"/>
              <a:headEnd/>
              <a:tailEnd type="none" w="sm" len="lg"/>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i="0" u="none" strike="noStrike" kern="1200" cap="none" spc="0" normalizeH="0" baseline="0" noProof="0" dirty="0">
                  <a:ln>
                    <a:noFill/>
                  </a:ln>
                  <a:solidFill>
                    <a:srgbClr val="000099"/>
                  </a:solidFill>
                  <a:effectLst/>
                  <a:uLnTx/>
                  <a:uFillTx/>
                  <a:latin typeface="华文楷体" panose="02010600040101010101" pitchFamily="2" charset="-122"/>
                  <a:ea typeface="华文楷体" panose="02010600040101010101" pitchFamily="2" charset="-122"/>
                  <a:cs typeface="楷体_GB2312" panose="02010609030101010101" pitchFamily="49" charset="-122"/>
                </a:rPr>
                <a:t>微分器</a:t>
              </a:r>
            </a:p>
          </p:txBody>
        </p:sp>
        <p:sp>
          <p:nvSpPr>
            <p:cNvPr id="31764" name="Line 23">
              <a:extLst>
                <a:ext uri="{FF2B5EF4-FFF2-40B4-BE49-F238E27FC236}">
                  <a16:creationId xmlns:a16="http://schemas.microsoft.com/office/drawing/2014/main" id="{A8890000-C505-4A47-A671-66AEDE43DACF}"/>
                </a:ext>
              </a:extLst>
            </p:cNvPr>
            <p:cNvSpPr>
              <a:spLocks noChangeShapeType="1"/>
            </p:cNvSpPr>
            <p:nvPr/>
          </p:nvSpPr>
          <p:spPr bwMode="auto">
            <a:xfrm>
              <a:off x="3604" y="2043"/>
              <a:ext cx="387"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31750" name="Object 24">
                  <a:extLst>
                    <a:ext uri="{FF2B5EF4-FFF2-40B4-BE49-F238E27FC236}">
                      <a16:creationId xmlns:a16="http://schemas.microsoft.com/office/drawing/2014/main" id="{E6652F7A-5D45-4697-9C6C-E19A6BAEE0E1}"/>
                    </a:ext>
                  </a:extLst>
                </p:cNvPr>
                <p:cNvSpPr txBox="1"/>
                <p:nvPr/>
              </p:nvSpPr>
              <p:spPr bwMode="auto">
                <a:xfrm>
                  <a:off x="2259" y="1697"/>
                  <a:ext cx="526" cy="252"/>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𝑥</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m:t>
                        </m:r>
                      </m:oMath>
                    </m:oMathPara>
                  </a14:m>
                  <a:endParaRPr lang="en-US" sz="2000" dirty="0"/>
                </a:p>
              </p:txBody>
            </p:sp>
          </mc:Choice>
          <mc:Fallback xmlns="">
            <p:sp>
              <p:nvSpPr>
                <p:cNvPr id="31750" name="Object 24">
                  <a:extLst>
                    <a:ext uri="{FF2B5EF4-FFF2-40B4-BE49-F238E27FC236}">
                      <a16:creationId xmlns:a16="http://schemas.microsoft.com/office/drawing/2014/main" id="{E6652F7A-5D45-4697-9C6C-E19A6BAEE0E1}"/>
                    </a:ext>
                  </a:extLst>
                </p:cNvPr>
                <p:cNvSpPr txBox="1">
                  <a:spLocks noRot="1" noChangeAspect="1" noMove="1" noResize="1" noEditPoints="1" noAdjustHandles="1" noChangeArrowheads="1" noChangeShapeType="1" noTextEdit="1"/>
                </p:cNvSpPr>
                <p:nvPr/>
              </p:nvSpPr>
              <p:spPr bwMode="auto">
                <a:xfrm>
                  <a:off x="2259" y="1697"/>
                  <a:ext cx="526" cy="252"/>
                </a:xfrm>
                <a:prstGeom prst="rect">
                  <a:avLst/>
                </a:prstGeom>
                <a:blipFill>
                  <a:blip r:embed="rId10"/>
                  <a:stretch>
                    <a:fillRect b="-1818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751" name="Object 25">
                  <a:extLst>
                    <a:ext uri="{FF2B5EF4-FFF2-40B4-BE49-F238E27FC236}">
                      <a16:creationId xmlns:a16="http://schemas.microsoft.com/office/drawing/2014/main" id="{AFC62EB4-0B8F-42A5-9216-C9C73A3EF1C6}"/>
                    </a:ext>
                  </a:extLst>
                </p:cNvPr>
                <p:cNvSpPr txBox="1"/>
                <p:nvPr/>
              </p:nvSpPr>
              <p:spPr bwMode="auto">
                <a:xfrm>
                  <a:off x="3877" y="1598"/>
                  <a:ext cx="662" cy="427"/>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f>
                          <m:fPr>
                            <m:ctrlPr>
                              <a:rPr lang="en-US" sz="2000" i="1">
                                <a:solidFill>
                                  <a:srgbClr val="000000"/>
                                </a:solidFill>
                                <a:latin typeface="Cambria Math" panose="02040503050406030204" pitchFamily="18" charset="0"/>
                              </a:rPr>
                            </m:ctrlPr>
                          </m:fPr>
                          <m:num>
                            <m:r>
                              <m:rPr>
                                <m:sty m:val="p"/>
                              </m:rPr>
                              <a:rPr lang="en-US" sz="2000" i="0">
                                <a:solidFill>
                                  <a:srgbClr val="000000"/>
                                </a:solidFill>
                                <a:latin typeface="Cambria Math" panose="02040503050406030204" pitchFamily="18" charset="0"/>
                              </a:rPr>
                              <m:t>d</m:t>
                            </m:r>
                            <m:r>
                              <a:rPr lang="en-US" sz="2000" i="1">
                                <a:solidFill>
                                  <a:srgbClr val="000000"/>
                                </a:solidFill>
                                <a:latin typeface="Cambria Math" panose="02040503050406030204" pitchFamily="18" charset="0"/>
                              </a:rPr>
                              <m:t>𝑥</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m:t>
                            </m:r>
                          </m:num>
                          <m:den>
                            <m:r>
                              <m:rPr>
                                <m:sty m:val="p"/>
                              </m:rPr>
                              <a:rPr lang="en-US" sz="2000" i="0">
                                <a:solidFill>
                                  <a:srgbClr val="000000"/>
                                </a:solidFill>
                                <a:latin typeface="Cambria Math" panose="02040503050406030204" pitchFamily="18" charset="0"/>
                              </a:rPr>
                              <m:t>d</m:t>
                            </m:r>
                            <m:r>
                              <a:rPr lang="en-US" sz="2000" i="1">
                                <a:solidFill>
                                  <a:srgbClr val="000000"/>
                                </a:solidFill>
                                <a:latin typeface="Cambria Math" panose="02040503050406030204" pitchFamily="18" charset="0"/>
                              </a:rPr>
                              <m:t>𝑡</m:t>
                            </m:r>
                          </m:den>
                        </m:f>
                      </m:oMath>
                    </m:oMathPara>
                  </a14:m>
                  <a:endParaRPr lang="en-US" sz="2000" dirty="0"/>
                </a:p>
              </p:txBody>
            </p:sp>
          </mc:Choice>
          <mc:Fallback xmlns="">
            <p:sp>
              <p:nvSpPr>
                <p:cNvPr id="31751" name="Object 25">
                  <a:extLst>
                    <a:ext uri="{FF2B5EF4-FFF2-40B4-BE49-F238E27FC236}">
                      <a16:creationId xmlns:a16="http://schemas.microsoft.com/office/drawing/2014/main" id="{AFC62EB4-0B8F-42A5-9216-C9C73A3EF1C6}"/>
                    </a:ext>
                  </a:extLst>
                </p:cNvPr>
                <p:cNvSpPr txBox="1">
                  <a:spLocks noRot="1" noChangeAspect="1" noMove="1" noResize="1" noEditPoints="1" noAdjustHandles="1" noChangeArrowheads="1" noChangeShapeType="1" noTextEdit="1"/>
                </p:cNvSpPr>
                <p:nvPr/>
              </p:nvSpPr>
              <p:spPr bwMode="auto">
                <a:xfrm>
                  <a:off x="3877" y="1598"/>
                  <a:ext cx="662" cy="427"/>
                </a:xfrm>
                <a:prstGeom prst="rect">
                  <a:avLst/>
                </a:prstGeom>
                <a:blipFill>
                  <a:blip r:embed="rId11"/>
                  <a:stretch>
                    <a:fillRect/>
                  </a:stretch>
                </a:blipFill>
                <a:ln>
                  <a:noFill/>
                </a:ln>
                <a:effectLst/>
              </p:spPr>
              <p:txBody>
                <a:bodyPr/>
                <a:lstStyle/>
                <a:p>
                  <a:r>
                    <a:rPr lang="en-US">
                      <a:noFill/>
                    </a:rPr>
                    <a:t> </a:t>
                  </a:r>
                </a:p>
              </p:txBody>
            </p:sp>
          </mc:Fallback>
        </mc:AlternateContent>
        <p:sp>
          <p:nvSpPr>
            <p:cNvPr id="31765" name="Line 26">
              <a:extLst>
                <a:ext uri="{FF2B5EF4-FFF2-40B4-BE49-F238E27FC236}">
                  <a16:creationId xmlns:a16="http://schemas.microsoft.com/office/drawing/2014/main" id="{A2147F80-AB1F-4C31-9584-D9EDEBCA5628}"/>
                </a:ext>
              </a:extLst>
            </p:cNvPr>
            <p:cNvSpPr>
              <a:spLocks noChangeShapeType="1"/>
            </p:cNvSpPr>
            <p:nvPr/>
          </p:nvSpPr>
          <p:spPr bwMode="auto">
            <a:xfrm>
              <a:off x="2418" y="2043"/>
              <a:ext cx="384"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pic>
        <p:nvPicPr>
          <p:cNvPr id="49" name="Picture 5" descr="01-34">
            <a:extLst>
              <a:ext uri="{FF2B5EF4-FFF2-40B4-BE49-F238E27FC236}">
                <a16:creationId xmlns:a16="http://schemas.microsoft.com/office/drawing/2014/main" id="{3AD050FE-85F0-4B6E-ADD0-B4B64C5390D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79912" y="4234377"/>
            <a:ext cx="2667000" cy="159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7" name="标题 1">
            <a:extLst>
              <a:ext uri="{FF2B5EF4-FFF2-40B4-BE49-F238E27FC236}">
                <a16:creationId xmlns:a16="http://schemas.microsoft.com/office/drawing/2014/main" id="{9E18B397-BBA2-4E31-9F2B-54905594AC3C}"/>
              </a:ext>
            </a:extLst>
          </p:cNvPr>
          <p:cNvSpPr>
            <a:spLocks noGrp="1"/>
          </p:cNvSpPr>
          <p:nvPr>
            <p:ph type="title"/>
          </p:nvPr>
        </p:nvSpPr>
        <p:spPr/>
        <p:txBody>
          <a:bodyPr/>
          <a:lstStyle/>
          <a:p>
            <a:r>
              <a:rPr lang="en-US" altLang="zh-CN"/>
              <a:t>2.5 </a:t>
            </a:r>
            <a:r>
              <a:rPr lang="zh-CN" altLang="en-US"/>
              <a:t>奇异函数</a:t>
            </a:r>
          </a:p>
        </p:txBody>
      </p:sp>
      <p:sp>
        <p:nvSpPr>
          <p:cNvPr id="4" name="灯片编号占位符 3">
            <a:extLst>
              <a:ext uri="{FF2B5EF4-FFF2-40B4-BE49-F238E27FC236}">
                <a16:creationId xmlns:a16="http://schemas.microsoft.com/office/drawing/2014/main" id="{1AE85B82-215E-4271-817B-5A540E7B99C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3876AB1-B1C6-4483-A66F-0303F2675E4B}"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85</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32771" name="Object 5">
                <a:extLst>
                  <a:ext uri="{FF2B5EF4-FFF2-40B4-BE49-F238E27FC236}">
                    <a16:creationId xmlns:a16="http://schemas.microsoft.com/office/drawing/2014/main" id="{677C15B2-2D38-4770-A0FD-2FAB8A9F183C}"/>
                  </a:ext>
                </a:extLst>
              </p:cNvPr>
              <p:cNvSpPr txBox="1"/>
              <p:nvPr/>
            </p:nvSpPr>
            <p:spPr bwMode="auto">
              <a:xfrm>
                <a:off x="418963" y="1668805"/>
                <a:ext cx="8424935" cy="889154"/>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0=</m:t>
                      </m:r>
                      <m:f>
                        <m:fPr>
                          <m:ctrlPr>
                            <a:rPr lang="en-US" sz="2400" i="1">
                              <a:solidFill>
                                <a:srgbClr val="000000"/>
                              </a:solidFill>
                              <a:latin typeface="Cambria Math" panose="02040503050406030204" pitchFamily="18" charset="0"/>
                            </a:rPr>
                          </m:ctrlPr>
                        </m:fPr>
                        <m:num>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num>
                        <m:den>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den>
                      </m:f>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𝑢</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𝑢</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e>
                      </m:nary>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𝑢</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e>
                      </m:nary>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𝜏</m:t>
                      </m:r>
                    </m:oMath>
                  </m:oMathPara>
                </a14:m>
                <a:endParaRPr lang="en-US" sz="2400" dirty="0"/>
              </a:p>
            </p:txBody>
          </p:sp>
        </mc:Choice>
        <mc:Fallback xmlns="">
          <p:sp>
            <p:nvSpPr>
              <p:cNvPr id="32771" name="Object 5">
                <a:extLst>
                  <a:ext uri="{FF2B5EF4-FFF2-40B4-BE49-F238E27FC236}">
                    <a16:creationId xmlns:a16="http://schemas.microsoft.com/office/drawing/2014/main" id="{677C15B2-2D38-4770-A0FD-2FAB8A9F183C}"/>
                  </a:ext>
                </a:extLst>
              </p:cNvPr>
              <p:cNvSpPr txBox="1">
                <a:spLocks noRot="1" noChangeAspect="1" noMove="1" noResize="1" noEditPoints="1" noAdjustHandles="1" noChangeArrowheads="1" noChangeShapeType="1" noTextEdit="1"/>
              </p:cNvSpPr>
              <p:nvPr/>
            </p:nvSpPr>
            <p:spPr bwMode="auto">
              <a:xfrm>
                <a:off x="418963" y="1668805"/>
                <a:ext cx="8424935" cy="889154"/>
              </a:xfrm>
              <a:prstGeom prst="rect">
                <a:avLst/>
              </a:prstGeom>
              <a:blipFill>
                <a:blip r:embed="rId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772" name="Object 6">
                <a:extLst>
                  <a:ext uri="{FF2B5EF4-FFF2-40B4-BE49-F238E27FC236}">
                    <a16:creationId xmlns:a16="http://schemas.microsoft.com/office/drawing/2014/main" id="{3BD9025F-675B-47B1-9376-CAA4744A5E15}"/>
                  </a:ext>
                </a:extLst>
              </p:cNvPr>
              <p:cNvSpPr txBox="1"/>
              <p:nvPr/>
            </p:nvSpPr>
            <p:spPr bwMode="auto">
              <a:xfrm>
                <a:off x="3469450" y="2568347"/>
                <a:ext cx="2511722" cy="889154"/>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nary>
                        <m:naryPr>
                          <m:ctrlPr>
                            <a:rPr lang="en-US" sz="2400" i="1">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m:t>
                          </m:r>
                        </m:sup>
                        <m:e>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𝑢</m:t>
                              </m:r>
                            </m:e>
                            <m:sub>
                              <m:r>
                                <a:rPr lang="en-US" sz="2400" i="1">
                                  <a:solidFill>
                                    <a:srgbClr val="FF0000"/>
                                  </a:solidFill>
                                  <a:latin typeface="Cambria Math" panose="02040503050406030204" pitchFamily="18" charset="0"/>
                                </a:rPr>
                                <m:t>1</m:t>
                              </m:r>
                            </m:sub>
                          </m:sSub>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𝑑𝑡</m:t>
                          </m:r>
                        </m:e>
                      </m:nary>
                      <m:r>
                        <a:rPr lang="en-US" sz="2400" i="1">
                          <a:solidFill>
                            <a:srgbClr val="FF0000"/>
                          </a:solidFill>
                          <a:latin typeface="Cambria Math" panose="02040503050406030204" pitchFamily="18" charset="0"/>
                        </a:rPr>
                        <m:t>=0</m:t>
                      </m:r>
                    </m:oMath>
                  </m:oMathPara>
                </a14:m>
                <a:endParaRPr lang="en-US" sz="2400" dirty="0"/>
              </a:p>
            </p:txBody>
          </p:sp>
        </mc:Choice>
        <mc:Fallback xmlns="">
          <p:sp>
            <p:nvSpPr>
              <p:cNvPr id="32772" name="Object 6">
                <a:extLst>
                  <a:ext uri="{FF2B5EF4-FFF2-40B4-BE49-F238E27FC236}">
                    <a16:creationId xmlns:a16="http://schemas.microsoft.com/office/drawing/2014/main" id="{3BD9025F-675B-47B1-9376-CAA4744A5E15}"/>
                  </a:ext>
                </a:extLst>
              </p:cNvPr>
              <p:cNvSpPr txBox="1">
                <a:spLocks noRot="1" noChangeAspect="1" noMove="1" noResize="1" noEditPoints="1" noAdjustHandles="1" noChangeArrowheads="1" noChangeShapeType="1" noTextEdit="1"/>
              </p:cNvSpPr>
              <p:nvPr/>
            </p:nvSpPr>
            <p:spPr bwMode="auto">
              <a:xfrm>
                <a:off x="3469450" y="2568347"/>
                <a:ext cx="2511722" cy="889154"/>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775" name="Object 11">
                <a:extLst>
                  <a:ext uri="{FF2B5EF4-FFF2-40B4-BE49-F238E27FC236}">
                    <a16:creationId xmlns:a16="http://schemas.microsoft.com/office/drawing/2014/main" id="{FA764DD7-E381-460E-85D5-D151D491DF75}"/>
                  </a:ext>
                </a:extLst>
              </p:cNvPr>
              <p:cNvSpPr txBox="1"/>
              <p:nvPr/>
            </p:nvSpPr>
            <p:spPr bwMode="auto">
              <a:xfrm>
                <a:off x="3059832" y="5311537"/>
                <a:ext cx="3726730" cy="889154"/>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FF0000"/>
                          </a:solidFill>
                          <a:latin typeface="Cambria Math" panose="02040503050406030204" pitchFamily="18" charset="0"/>
                        </a:rPr>
                        <m:t>−</m:t>
                      </m:r>
                      <m:sSup>
                        <m:sSupPr>
                          <m:ctrlPr>
                            <a:rPr lang="en-US" sz="2400" i="1">
                              <a:solidFill>
                                <a:srgbClr val="FF0000"/>
                              </a:solidFill>
                              <a:latin typeface="Cambria Math" panose="02040503050406030204" pitchFamily="18" charset="0"/>
                            </a:rPr>
                          </m:ctrlPr>
                        </m:sSupPr>
                        <m:e>
                          <m:r>
                            <a:rPr lang="en-US" sz="2400" i="1">
                              <a:solidFill>
                                <a:srgbClr val="FF0000"/>
                              </a:solidFill>
                              <a:latin typeface="Cambria Math" panose="02040503050406030204" pitchFamily="18" charset="0"/>
                            </a:rPr>
                            <m:t>𝑔</m:t>
                          </m:r>
                        </m:e>
                        <m:sup>
                          <m:r>
                            <a:rPr lang="en-US" sz="2400" i="1">
                              <a:solidFill>
                                <a:srgbClr val="FF0000"/>
                              </a:solidFill>
                              <a:latin typeface="Cambria Math" panose="02040503050406030204" pitchFamily="18" charset="0"/>
                            </a:rPr>
                            <m:t>′</m:t>
                          </m:r>
                        </m:sup>
                      </m:sSup>
                      <m:r>
                        <a:rPr lang="en-US" sz="2400" i="1">
                          <a:solidFill>
                            <a:srgbClr val="FF0000"/>
                          </a:solidFill>
                          <a:latin typeface="Cambria Math" panose="02040503050406030204" pitchFamily="18" charset="0"/>
                        </a:rPr>
                        <m:t>(0)=</m:t>
                      </m:r>
                      <m:nary>
                        <m:naryPr>
                          <m:ctrlPr>
                            <a:rPr lang="en-US" sz="2400" i="1">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m:t>
                          </m:r>
                        </m:sup>
                        <m:e>
                          <m:r>
                            <a:rPr lang="en-US" sz="2400" i="1">
                              <a:solidFill>
                                <a:srgbClr val="FF0000"/>
                              </a:solidFill>
                              <a:latin typeface="Cambria Math" panose="02040503050406030204" pitchFamily="18" charset="0"/>
                            </a:rPr>
                            <m:t>𝑔</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𝜏</m:t>
                          </m:r>
                          <m:r>
                            <a:rPr lang="en-US" sz="2400" i="1">
                              <a:solidFill>
                                <a:srgbClr val="FF0000"/>
                              </a:solidFill>
                              <a:latin typeface="Cambria Math" panose="02040503050406030204" pitchFamily="18" charset="0"/>
                            </a:rPr>
                            <m:t>)</m:t>
                          </m:r>
                        </m:e>
                      </m:nary>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𝑢</m:t>
                          </m:r>
                        </m:e>
                        <m:sub>
                          <m:r>
                            <a:rPr lang="en-US" sz="2400" i="1">
                              <a:solidFill>
                                <a:srgbClr val="FF0000"/>
                              </a:solidFill>
                              <a:latin typeface="Cambria Math" panose="02040503050406030204" pitchFamily="18" charset="0"/>
                            </a:rPr>
                            <m:t>1</m:t>
                          </m:r>
                        </m:sub>
                      </m:sSub>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𝜏</m:t>
                      </m:r>
                      <m:r>
                        <a:rPr lang="en-US" sz="2400" i="1">
                          <a:solidFill>
                            <a:srgbClr val="FF0000"/>
                          </a:solidFill>
                          <a:latin typeface="Cambria Math" panose="02040503050406030204" pitchFamily="18" charset="0"/>
                        </a:rPr>
                        <m:t>)</m:t>
                      </m:r>
                      <m:r>
                        <m:rPr>
                          <m:sty m:val="p"/>
                        </m:rPr>
                        <a:rPr lang="en-US" sz="2400" i="0">
                          <a:solidFill>
                            <a:srgbClr val="FF0000"/>
                          </a:solidFill>
                          <a:latin typeface="Cambria Math" panose="02040503050406030204" pitchFamily="18" charset="0"/>
                        </a:rPr>
                        <m:t>d</m:t>
                      </m:r>
                      <m:r>
                        <a:rPr lang="en-US" sz="2400" i="1">
                          <a:solidFill>
                            <a:srgbClr val="FF0000"/>
                          </a:solidFill>
                          <a:latin typeface="Cambria Math" panose="02040503050406030204" pitchFamily="18" charset="0"/>
                        </a:rPr>
                        <m:t>𝜏</m:t>
                      </m:r>
                    </m:oMath>
                  </m:oMathPara>
                </a14:m>
                <a:endParaRPr lang="en-US" sz="2400" dirty="0"/>
              </a:p>
            </p:txBody>
          </p:sp>
        </mc:Choice>
        <mc:Fallback xmlns="">
          <p:sp>
            <p:nvSpPr>
              <p:cNvPr id="32775" name="Object 11">
                <a:extLst>
                  <a:ext uri="{FF2B5EF4-FFF2-40B4-BE49-F238E27FC236}">
                    <a16:creationId xmlns:a16="http://schemas.microsoft.com/office/drawing/2014/main" id="{FA764DD7-E381-460E-85D5-D151D491DF75}"/>
                  </a:ext>
                </a:extLst>
              </p:cNvPr>
              <p:cNvSpPr txBox="1">
                <a:spLocks noRot="1" noChangeAspect="1" noMove="1" noResize="1" noEditPoints="1" noAdjustHandles="1" noChangeArrowheads="1" noChangeShapeType="1" noTextEdit="1"/>
              </p:cNvSpPr>
              <p:nvPr/>
            </p:nvSpPr>
            <p:spPr bwMode="auto">
              <a:xfrm>
                <a:off x="3059832" y="5311537"/>
                <a:ext cx="3726730" cy="889154"/>
              </a:xfrm>
              <a:prstGeom prst="rect">
                <a:avLst/>
              </a:prstGeom>
              <a:blipFill>
                <a:blip r:embed="rId4"/>
                <a:stretch>
                  <a:fillRect/>
                </a:stretch>
              </a:blipFill>
              <a:ln>
                <a:noFill/>
              </a:ln>
              <a:effectLst/>
            </p:spPr>
            <p:txBody>
              <a:bodyPr/>
              <a:lstStyle/>
              <a:p>
                <a:r>
                  <a:rPr lang="en-US">
                    <a:noFill/>
                  </a:rPr>
                  <a:t> </a:t>
                </a:r>
              </a:p>
            </p:txBody>
          </p:sp>
        </mc:Fallback>
      </mc:AlternateContent>
      <p:sp>
        <p:nvSpPr>
          <p:cNvPr id="19" name="文本框 18">
            <a:extLst>
              <a:ext uri="{FF2B5EF4-FFF2-40B4-BE49-F238E27FC236}">
                <a16:creationId xmlns:a16="http://schemas.microsoft.com/office/drawing/2014/main" id="{E8D24036-6E50-4167-A6DB-A3C25BE23C11}"/>
              </a:ext>
            </a:extLst>
          </p:cNvPr>
          <p:cNvSpPr txBox="1"/>
          <p:nvPr/>
        </p:nvSpPr>
        <p:spPr>
          <a:xfrm>
            <a:off x="418963" y="3467889"/>
            <a:ext cx="1344725" cy="461665"/>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考察</a:t>
            </a:r>
          </a:p>
        </p:txBody>
      </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F36333AC-7D64-494F-AFFB-9F50C5541613}"/>
                  </a:ext>
                </a:extLst>
              </p:cNvPr>
              <p:cNvSpPr txBox="1"/>
              <p:nvPr/>
            </p:nvSpPr>
            <p:spPr>
              <a:xfrm>
                <a:off x="418963" y="1196752"/>
                <a:ext cx="3360949" cy="461665"/>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当</a:t>
                </a:r>
                <a14:m>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𝑥</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𝑡</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)=1</m:t>
                    </m:r>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时，有： </a:t>
                </a:r>
                <a:endPar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endParaRPr>
              </a:p>
            </p:txBody>
          </p:sp>
        </mc:Choice>
        <mc:Fallback xmlns="">
          <p:sp>
            <p:nvSpPr>
              <p:cNvPr id="23" name="文本框 22">
                <a:extLst>
                  <a:ext uri="{FF2B5EF4-FFF2-40B4-BE49-F238E27FC236}">
                    <a16:creationId xmlns:a16="http://schemas.microsoft.com/office/drawing/2014/main" id="{F36333AC-7D64-494F-AFFB-9F50C5541613}"/>
                  </a:ext>
                </a:extLst>
              </p:cNvPr>
              <p:cNvSpPr txBox="1">
                <a:spLocks noRot="1" noChangeAspect="1" noMove="1" noResize="1" noEditPoints="1" noAdjustHandles="1" noChangeArrowheads="1" noChangeShapeType="1" noTextEdit="1"/>
              </p:cNvSpPr>
              <p:nvPr/>
            </p:nvSpPr>
            <p:spPr>
              <a:xfrm>
                <a:off x="418963" y="1196752"/>
                <a:ext cx="3360949" cy="461665"/>
              </a:xfrm>
              <a:prstGeom prst="rect">
                <a:avLst/>
              </a:prstGeom>
              <a:blipFill>
                <a:blip r:embed="rId5"/>
                <a:stretch>
                  <a:fillRect l="-2541" t="-9211" b="-30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FCBF4056-E739-4EEC-937B-49AD70A8C9B6}"/>
                  </a:ext>
                </a:extLst>
              </p:cNvPr>
              <p:cNvSpPr txBox="1"/>
              <p:nvPr/>
            </p:nvSpPr>
            <p:spPr>
              <a:xfrm>
                <a:off x="781766" y="4839484"/>
                <a:ext cx="2506731" cy="461665"/>
              </a:xfrm>
              <a:prstGeom prst="rect">
                <a:avLst/>
              </a:prstGeom>
              <a:noFill/>
            </p:spPr>
            <p:txBody>
              <a:bodyPr wrap="square">
                <a:spAutoFit/>
              </a:bodyPr>
              <a:lstStyle/>
              <a:p>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rPr>
                  <a:t>当</a:t>
                </a:r>
                <a14:m>
                  <m:oMath xmlns:m="http://schemas.openxmlformats.org/officeDocument/2006/math">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=0</m:t>
                    </m:r>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rPr>
                  <a:t>时，有：</a:t>
                </a:r>
                <a:endParaRPr lang="en-US" sz="2400" dirty="0"/>
              </a:p>
            </p:txBody>
          </p:sp>
        </mc:Choice>
        <mc:Fallback xmlns="">
          <p:sp>
            <p:nvSpPr>
              <p:cNvPr id="31" name="文本框 30">
                <a:extLst>
                  <a:ext uri="{FF2B5EF4-FFF2-40B4-BE49-F238E27FC236}">
                    <a16:creationId xmlns:a16="http://schemas.microsoft.com/office/drawing/2014/main" id="{FCBF4056-E739-4EEC-937B-49AD70A8C9B6}"/>
                  </a:ext>
                </a:extLst>
              </p:cNvPr>
              <p:cNvSpPr txBox="1">
                <a:spLocks noRot="1" noChangeAspect="1" noMove="1" noResize="1" noEditPoints="1" noAdjustHandles="1" noChangeArrowheads="1" noChangeShapeType="1" noTextEdit="1"/>
              </p:cNvSpPr>
              <p:nvPr/>
            </p:nvSpPr>
            <p:spPr>
              <a:xfrm>
                <a:off x="781766" y="4839484"/>
                <a:ext cx="2506731" cy="461665"/>
              </a:xfrm>
              <a:prstGeom prst="rect">
                <a:avLst/>
              </a:prstGeom>
              <a:blipFill>
                <a:blip r:embed="rId6"/>
                <a:stretch>
                  <a:fillRect l="-3650" t="-9211" b="-30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588765FB-14E4-4DA1-89E0-78C344ECF367}"/>
                  </a:ext>
                </a:extLst>
              </p:cNvPr>
              <p:cNvSpPr txBox="1"/>
              <p:nvPr/>
            </p:nvSpPr>
            <p:spPr>
              <a:xfrm>
                <a:off x="777514" y="6211079"/>
                <a:ext cx="6004796" cy="461665"/>
              </a:xfrm>
              <a:prstGeom prst="rect">
                <a:avLst/>
              </a:prstGeom>
              <a:noFill/>
            </p:spPr>
            <p:txBody>
              <a:bodyPr wrap="square">
                <a:spAutoFit/>
              </a:bodyPr>
              <a:lstStyle/>
              <a:p>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rPr>
                  <a:t>此积分可作为</a:t>
                </a:r>
                <a14:m>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𝑢</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rPr>
                  <a:t>在</a:t>
                </a:r>
                <a:r>
                  <a:rPr kumimoji="0" lang="zh-CN" altLang="en-US" sz="2400" b="0" i="0" u="none" strike="noStrike" kern="1200" cap="none" spc="0" normalizeH="0" baseline="0" noProof="0" dirty="0">
                    <a:ln>
                      <a:noFill/>
                    </a:ln>
                    <a:solidFill>
                      <a:srgbClr val="FF0000"/>
                    </a:solidFill>
                    <a:effectLst/>
                    <a:uLnTx/>
                    <a:uFillTx/>
                    <a:latin typeface="Times New Roman" pitchFamily="18" charset="0"/>
                    <a:ea typeface="华文楷体" pitchFamily="2" charset="-122"/>
                  </a:rPr>
                  <a:t>积分意义下的定义</a:t>
                </a: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rPr>
                  <a:t>。</a:t>
                </a:r>
                <a:endParaRPr lang="en-US" sz="2400" dirty="0"/>
              </a:p>
            </p:txBody>
          </p:sp>
        </mc:Choice>
        <mc:Fallback xmlns="">
          <p:sp>
            <p:nvSpPr>
              <p:cNvPr id="43" name="文本框 42">
                <a:extLst>
                  <a:ext uri="{FF2B5EF4-FFF2-40B4-BE49-F238E27FC236}">
                    <a16:creationId xmlns:a16="http://schemas.microsoft.com/office/drawing/2014/main" id="{588765FB-14E4-4DA1-89E0-78C344ECF367}"/>
                  </a:ext>
                </a:extLst>
              </p:cNvPr>
              <p:cNvSpPr txBox="1">
                <a:spLocks noRot="1" noChangeAspect="1" noMove="1" noResize="1" noEditPoints="1" noAdjustHandles="1" noChangeArrowheads="1" noChangeShapeType="1" noTextEdit="1"/>
              </p:cNvSpPr>
              <p:nvPr/>
            </p:nvSpPr>
            <p:spPr>
              <a:xfrm>
                <a:off x="777514" y="6211079"/>
                <a:ext cx="6004796" cy="461665"/>
              </a:xfrm>
              <a:prstGeom prst="rect">
                <a:avLst/>
              </a:prstGeom>
              <a:blipFill>
                <a:blip r:embed="rId7"/>
                <a:stretch>
                  <a:fillRect l="-1624" t="-9211" b="-30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Object 4">
                <a:extLst>
                  <a:ext uri="{FF2B5EF4-FFF2-40B4-BE49-F238E27FC236}">
                    <a16:creationId xmlns:a16="http://schemas.microsoft.com/office/drawing/2014/main" id="{7E86182F-490A-4B53-9D6D-AE89DC1EC806}"/>
                  </a:ext>
                </a:extLst>
              </p:cNvPr>
              <p:cNvSpPr txBox="1"/>
              <p:nvPr/>
            </p:nvSpPr>
            <p:spPr bwMode="auto">
              <a:xfrm>
                <a:off x="781766" y="3939942"/>
                <a:ext cx="7887089" cy="889154"/>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𝑔</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𝑢</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𝑑</m:t>
                          </m:r>
                          <m:r>
                            <a:rPr lang="en-US" sz="2400" i="1">
                              <a:solidFill>
                                <a:srgbClr val="000000"/>
                              </a:solidFill>
                              <a:latin typeface="Cambria Math" panose="02040503050406030204" pitchFamily="18" charset="0"/>
                            </a:rPr>
                            <m:t>𝜏</m:t>
                          </m:r>
                        </m:e>
                      </m:nary>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𝑔</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𝑢</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𝑑𝑔</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num>
                        <m:den>
                          <m:r>
                            <a:rPr lang="en-US" sz="2400" i="1">
                              <a:solidFill>
                                <a:srgbClr val="000000"/>
                              </a:solidFill>
                              <a:latin typeface="Cambria Math" panose="02040503050406030204" pitchFamily="18" charset="0"/>
                            </a:rPr>
                            <m:t>𝑑𝑡</m:t>
                          </m:r>
                        </m:den>
                      </m:f>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𝑔</m:t>
                          </m:r>
                        </m:e>
                        <m:sup>
                          <m:r>
                            <a:rPr lang="en-US" sz="2400" i="1">
                              <a:solidFill>
                                <a:srgbClr val="000000"/>
                              </a:solidFill>
                              <a:latin typeface="Cambria Math" panose="02040503050406030204" pitchFamily="18" charset="0"/>
                            </a:rPr>
                            <m:t>′</m:t>
                          </m:r>
                        </m:sup>
                      </m:s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47" name="Object 4">
                <a:extLst>
                  <a:ext uri="{FF2B5EF4-FFF2-40B4-BE49-F238E27FC236}">
                    <a16:creationId xmlns:a16="http://schemas.microsoft.com/office/drawing/2014/main" id="{7E86182F-490A-4B53-9D6D-AE89DC1EC806}"/>
                  </a:ext>
                </a:extLst>
              </p:cNvPr>
              <p:cNvSpPr txBox="1">
                <a:spLocks noRot="1" noChangeAspect="1" noMove="1" noResize="1" noEditPoints="1" noAdjustHandles="1" noChangeArrowheads="1" noChangeShapeType="1" noTextEdit="1"/>
              </p:cNvSpPr>
              <p:nvPr/>
            </p:nvSpPr>
            <p:spPr bwMode="auto">
              <a:xfrm>
                <a:off x="781766" y="3939942"/>
                <a:ext cx="7887089" cy="889154"/>
              </a:xfrm>
              <a:prstGeom prst="rect">
                <a:avLst/>
              </a:prstGeom>
              <a:blipFill>
                <a:blip r:embed="rId8"/>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5" name="标题 1">
            <a:extLst>
              <a:ext uri="{FF2B5EF4-FFF2-40B4-BE49-F238E27FC236}">
                <a16:creationId xmlns:a16="http://schemas.microsoft.com/office/drawing/2014/main" id="{137E5BA3-B34F-49E9-A48D-6CC40E6F80D7}"/>
              </a:ext>
            </a:extLst>
          </p:cNvPr>
          <p:cNvSpPr>
            <a:spLocks noGrp="1"/>
          </p:cNvSpPr>
          <p:nvPr>
            <p:ph type="title"/>
          </p:nvPr>
        </p:nvSpPr>
        <p:spPr/>
        <p:txBody>
          <a:bodyPr/>
          <a:lstStyle/>
          <a:p>
            <a:r>
              <a:rPr lang="en-US" altLang="zh-CN"/>
              <a:t>2.5 </a:t>
            </a:r>
            <a:r>
              <a:rPr lang="zh-CN" altLang="en-US"/>
              <a:t>奇异函数</a:t>
            </a:r>
          </a:p>
        </p:txBody>
      </p:sp>
      <p:sp>
        <p:nvSpPr>
          <p:cNvPr id="34826" name="内容占位符 2">
            <a:extLst>
              <a:ext uri="{FF2B5EF4-FFF2-40B4-BE49-F238E27FC236}">
                <a16:creationId xmlns:a16="http://schemas.microsoft.com/office/drawing/2014/main" id="{D88862BA-4472-4E2B-8D6D-0C19D137172A}"/>
              </a:ext>
            </a:extLst>
          </p:cNvPr>
          <p:cNvSpPr>
            <a:spLocks noGrp="1"/>
          </p:cNvSpPr>
          <p:nvPr>
            <p:ph idx="1"/>
          </p:nvPr>
        </p:nvSpPr>
        <p:spPr>
          <a:xfrm>
            <a:off x="457200" y="1285875"/>
            <a:ext cx="8229600" cy="523220"/>
          </a:xfrm>
        </p:spPr>
        <p:txBody>
          <a:bodyPr>
            <a:spAutoFit/>
          </a:bodyPr>
          <a:lstStyle/>
          <a:p>
            <a:r>
              <a:rPr lang="zh-CN" altLang="en-US" sz="2800" b="0" dirty="0"/>
              <a:t>按此定义方式推广，有：</a:t>
            </a:r>
          </a:p>
        </p:txBody>
      </p:sp>
      <p:sp>
        <p:nvSpPr>
          <p:cNvPr id="4" name="灯片编号占位符 3">
            <a:extLst>
              <a:ext uri="{FF2B5EF4-FFF2-40B4-BE49-F238E27FC236}">
                <a16:creationId xmlns:a16="http://schemas.microsoft.com/office/drawing/2014/main" id="{2E1EC9B1-7159-4AA4-ADAF-820172EE3E9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1E77B5-F02A-4C26-A959-5D2617C3F0EA}"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86</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34821" name="Object 11">
                <a:extLst>
                  <a:ext uri="{FF2B5EF4-FFF2-40B4-BE49-F238E27FC236}">
                    <a16:creationId xmlns:a16="http://schemas.microsoft.com/office/drawing/2014/main" id="{A401B350-7BF5-4063-A8E1-AEC39A613F11}"/>
                  </a:ext>
                </a:extLst>
              </p:cNvPr>
              <p:cNvSpPr txBox="1"/>
              <p:nvPr/>
            </p:nvSpPr>
            <p:spPr bwMode="auto">
              <a:xfrm>
                <a:off x="1259632" y="3376832"/>
                <a:ext cx="3435846" cy="523220"/>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𝑢</m:t>
                          </m:r>
                        </m:e>
                        <m:sub>
                          <m:r>
                            <a:rPr lang="en-US" sz="2800" i="1">
                              <a:solidFill>
                                <a:srgbClr val="FF0000"/>
                              </a:solidFill>
                              <a:latin typeface="Cambria Math" panose="02040503050406030204" pitchFamily="18" charset="0"/>
                            </a:rPr>
                            <m:t>2</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𝑢</m:t>
                          </m:r>
                        </m:e>
                        <m:sub>
                          <m:r>
                            <a:rPr lang="en-US" sz="2800" i="1">
                              <a:solidFill>
                                <a:srgbClr val="FF0000"/>
                              </a:solidFill>
                              <a:latin typeface="Cambria Math" panose="02040503050406030204" pitchFamily="18" charset="0"/>
                            </a:rPr>
                            <m:t>1</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𝑢</m:t>
                          </m:r>
                        </m:e>
                        <m:sub>
                          <m:r>
                            <a:rPr lang="en-US" sz="2800" i="1">
                              <a:solidFill>
                                <a:srgbClr val="FF0000"/>
                              </a:solidFill>
                              <a:latin typeface="Cambria Math" panose="02040503050406030204" pitchFamily="18" charset="0"/>
                            </a:rPr>
                            <m:t>1</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oMath>
                  </m:oMathPara>
                </a14:m>
                <a:endParaRPr lang="en-US" sz="2800" dirty="0"/>
              </a:p>
            </p:txBody>
          </p:sp>
        </mc:Choice>
        <mc:Fallback xmlns="">
          <p:sp>
            <p:nvSpPr>
              <p:cNvPr id="34821" name="Object 11">
                <a:extLst>
                  <a:ext uri="{FF2B5EF4-FFF2-40B4-BE49-F238E27FC236}">
                    <a16:creationId xmlns:a16="http://schemas.microsoft.com/office/drawing/2014/main" id="{A401B350-7BF5-4063-A8E1-AEC39A613F11}"/>
                  </a:ext>
                </a:extLst>
              </p:cNvPr>
              <p:cNvSpPr txBox="1">
                <a:spLocks noRot="1" noChangeAspect="1" noMove="1" noResize="1" noEditPoints="1" noAdjustHandles="1" noChangeArrowheads="1" noChangeShapeType="1" noTextEdit="1"/>
              </p:cNvSpPr>
              <p:nvPr/>
            </p:nvSpPr>
            <p:spPr bwMode="auto">
              <a:xfrm>
                <a:off x="1259632" y="3376832"/>
                <a:ext cx="3435846" cy="523220"/>
              </a:xfrm>
              <a:prstGeom prst="rect">
                <a:avLst/>
              </a:prstGeom>
              <a:blipFill>
                <a:blip r:embed="rId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22" name="Object 12">
                <a:extLst>
                  <a:ext uri="{FF2B5EF4-FFF2-40B4-BE49-F238E27FC236}">
                    <a16:creationId xmlns:a16="http://schemas.microsoft.com/office/drawing/2014/main" id="{141427B3-7393-4147-9D44-AB95F809C547}"/>
                  </a:ext>
                </a:extLst>
              </p:cNvPr>
              <p:cNvSpPr txBox="1"/>
              <p:nvPr/>
            </p:nvSpPr>
            <p:spPr bwMode="auto">
              <a:xfrm>
                <a:off x="1259632" y="2114499"/>
                <a:ext cx="6820222" cy="956929"/>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800" i="1">
                          <a:solidFill>
                            <a:srgbClr val="FF0000"/>
                          </a:solidFill>
                          <a:latin typeface="Cambria Math" panose="02040503050406030204" pitchFamily="18" charset="0"/>
                        </a:rPr>
                        <m:t>𝑥</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𝑢</m:t>
                          </m:r>
                        </m:e>
                        <m:sub>
                          <m:r>
                            <a:rPr lang="en-US" sz="2800" i="1">
                              <a:solidFill>
                                <a:srgbClr val="FF0000"/>
                              </a:solidFill>
                              <a:latin typeface="Cambria Math" panose="02040503050406030204" pitchFamily="18" charset="0"/>
                            </a:rPr>
                            <m:t>2</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f>
                        <m:fPr>
                          <m:ctrlPr>
                            <a:rPr lang="en-US" sz="2800" i="1">
                              <a:solidFill>
                                <a:srgbClr val="FF0000"/>
                              </a:solidFill>
                              <a:latin typeface="Cambria Math" panose="02040503050406030204" pitchFamily="18" charset="0"/>
                            </a:rPr>
                          </m:ctrlPr>
                        </m:fPr>
                        <m:num>
                          <m:sSup>
                            <m:sSupPr>
                              <m:ctrlPr>
                                <a:rPr lang="en-US" sz="2800" i="1">
                                  <a:solidFill>
                                    <a:srgbClr val="FF0000"/>
                                  </a:solidFill>
                                  <a:latin typeface="Cambria Math" panose="02040503050406030204" pitchFamily="18" charset="0"/>
                                </a:rPr>
                              </m:ctrlPr>
                            </m:sSupPr>
                            <m:e>
                              <m:r>
                                <m:rPr>
                                  <m:sty m:val="p"/>
                                </m:rPr>
                                <a:rPr lang="en-US" sz="2800" i="0">
                                  <a:solidFill>
                                    <a:srgbClr val="FF0000"/>
                                  </a:solidFill>
                                  <a:latin typeface="Cambria Math" panose="02040503050406030204" pitchFamily="18" charset="0"/>
                                </a:rPr>
                                <m:t>d</m:t>
                              </m:r>
                            </m:e>
                            <m:sup>
                              <m:r>
                                <a:rPr lang="en-US" sz="2800" i="1">
                                  <a:solidFill>
                                    <a:srgbClr val="FF0000"/>
                                  </a:solidFill>
                                  <a:latin typeface="Cambria Math" panose="02040503050406030204" pitchFamily="18" charset="0"/>
                                </a:rPr>
                                <m:t>2</m:t>
                              </m:r>
                            </m:sup>
                          </m:sSup>
                          <m:r>
                            <a:rPr lang="en-US" sz="2800" i="1">
                              <a:solidFill>
                                <a:srgbClr val="FF0000"/>
                              </a:solidFill>
                              <a:latin typeface="Cambria Math" panose="02040503050406030204" pitchFamily="18" charset="0"/>
                            </a:rPr>
                            <m:t>𝑥</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num>
                        <m:den>
                          <m:r>
                            <m:rPr>
                              <m:sty m:val="p"/>
                            </m:rPr>
                            <a:rPr lang="en-US" sz="2800" i="0">
                              <a:solidFill>
                                <a:srgbClr val="FF0000"/>
                              </a:solidFill>
                              <a:latin typeface="Cambria Math" panose="02040503050406030204" pitchFamily="18" charset="0"/>
                            </a:rPr>
                            <m:t>d</m:t>
                          </m:r>
                          <m:sSup>
                            <m:sSupPr>
                              <m:ctrlPr>
                                <a:rPr lang="en-US" sz="2800" i="1">
                                  <a:solidFill>
                                    <a:srgbClr val="FF0000"/>
                                  </a:solidFill>
                                  <a:latin typeface="Cambria Math" panose="02040503050406030204" pitchFamily="18" charset="0"/>
                                </a:rPr>
                              </m:ctrlPr>
                            </m:sSupPr>
                            <m:e>
                              <m:r>
                                <a:rPr lang="en-US" sz="2800" i="1">
                                  <a:solidFill>
                                    <a:srgbClr val="FF0000"/>
                                  </a:solidFill>
                                  <a:latin typeface="Cambria Math" panose="02040503050406030204" pitchFamily="18" charset="0"/>
                                </a:rPr>
                                <m:t>𝑡</m:t>
                              </m:r>
                            </m:e>
                            <m:sup>
                              <m:r>
                                <a:rPr lang="en-US" sz="2800" i="1">
                                  <a:solidFill>
                                    <a:srgbClr val="FF0000"/>
                                  </a:solidFill>
                                  <a:latin typeface="Cambria Math" panose="02040503050406030204" pitchFamily="18" charset="0"/>
                                </a:rPr>
                                <m:t>2</m:t>
                              </m:r>
                            </m:sup>
                          </m:sSup>
                        </m:den>
                      </m:f>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𝑢</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𝑢</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34822" name="Object 12">
                <a:extLst>
                  <a:ext uri="{FF2B5EF4-FFF2-40B4-BE49-F238E27FC236}">
                    <a16:creationId xmlns:a16="http://schemas.microsoft.com/office/drawing/2014/main" id="{141427B3-7393-4147-9D44-AB95F809C547}"/>
                  </a:ext>
                </a:extLst>
              </p:cNvPr>
              <p:cNvSpPr txBox="1">
                <a:spLocks noRot="1" noChangeAspect="1" noMove="1" noResize="1" noEditPoints="1" noAdjustHandles="1" noChangeArrowheads="1" noChangeShapeType="1" noTextEdit="1"/>
              </p:cNvSpPr>
              <p:nvPr/>
            </p:nvSpPr>
            <p:spPr bwMode="auto">
              <a:xfrm>
                <a:off x="1259632" y="2114499"/>
                <a:ext cx="6820222" cy="956929"/>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23" name="Object 13">
                <a:extLst>
                  <a:ext uri="{FF2B5EF4-FFF2-40B4-BE49-F238E27FC236}">
                    <a16:creationId xmlns:a16="http://schemas.microsoft.com/office/drawing/2014/main" id="{5745BF86-D57A-4B42-BFE7-3125961B749A}"/>
                  </a:ext>
                </a:extLst>
              </p:cNvPr>
              <p:cNvSpPr txBox="1"/>
              <p:nvPr/>
            </p:nvSpPr>
            <p:spPr bwMode="auto">
              <a:xfrm>
                <a:off x="2247206" y="4205456"/>
                <a:ext cx="325438" cy="646331"/>
              </a:xfrm>
              <a:prstGeom prst="rect">
                <a:avLst/>
              </a:prstGeom>
              <a:noFill/>
              <a:ln>
                <a:noFill/>
              </a:ln>
              <a:effectLst/>
            </p:spPr>
            <p:txBody>
              <a:bodyPr>
                <a:spAutoFit/>
              </a:bodyPr>
              <a:lstStyle/>
              <a:p>
                <a:pPr/>
                <a14:m>
                  <m:oMathPara xmlns:m="http://schemas.openxmlformats.org/officeDocument/2006/math">
                    <m:oMathParaPr>
                      <m:jc m:val="center"/>
                    </m:oMathParaPr>
                    <m:oMath xmlns:m="http://schemas.openxmlformats.org/officeDocument/2006/math">
                      <m:r>
                        <a:rPr lang="en-US" sz="3600" i="1">
                          <a:solidFill>
                            <a:srgbClr val="000000"/>
                          </a:solidFill>
                          <a:latin typeface="Cambria Math" panose="02040503050406030204" pitchFamily="18" charset="0"/>
                        </a:rPr>
                        <m:t>⋮</m:t>
                      </m:r>
                    </m:oMath>
                  </m:oMathPara>
                </a14:m>
                <a:endParaRPr lang="en-US" sz="3600" dirty="0"/>
              </a:p>
            </p:txBody>
          </p:sp>
        </mc:Choice>
        <mc:Fallback xmlns="">
          <p:sp>
            <p:nvSpPr>
              <p:cNvPr id="34823" name="Object 13">
                <a:extLst>
                  <a:ext uri="{FF2B5EF4-FFF2-40B4-BE49-F238E27FC236}">
                    <a16:creationId xmlns:a16="http://schemas.microsoft.com/office/drawing/2014/main" id="{5745BF86-D57A-4B42-BFE7-3125961B749A}"/>
                  </a:ext>
                </a:extLst>
              </p:cNvPr>
              <p:cNvSpPr txBox="1">
                <a:spLocks noRot="1" noChangeAspect="1" noMove="1" noResize="1" noEditPoints="1" noAdjustHandles="1" noChangeArrowheads="1" noChangeShapeType="1" noTextEdit="1"/>
              </p:cNvSpPr>
              <p:nvPr/>
            </p:nvSpPr>
            <p:spPr bwMode="auto">
              <a:xfrm>
                <a:off x="2247206" y="4205456"/>
                <a:ext cx="325438" cy="646331"/>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24" name="Object 14">
                <a:extLst>
                  <a:ext uri="{FF2B5EF4-FFF2-40B4-BE49-F238E27FC236}">
                    <a16:creationId xmlns:a16="http://schemas.microsoft.com/office/drawing/2014/main" id="{EBBF6CDF-9A1C-44BB-B731-4DC05BFEF0B4}"/>
                  </a:ext>
                </a:extLst>
              </p:cNvPr>
              <p:cNvSpPr txBox="1"/>
              <p:nvPr/>
            </p:nvSpPr>
            <p:spPr bwMode="auto">
              <a:xfrm>
                <a:off x="1259632" y="5157192"/>
                <a:ext cx="5236046" cy="1005596"/>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𝑢</m:t>
                          </m:r>
                        </m:e>
                        <m:sub>
                          <m:r>
                            <a:rPr lang="en-US" sz="2800" i="1">
                              <a:solidFill>
                                <a:srgbClr val="FF0000"/>
                              </a:solidFill>
                              <a:latin typeface="Cambria Math" panose="02040503050406030204" pitchFamily="18" charset="0"/>
                            </a:rPr>
                            <m:t>𝑘</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limLow>
                        <m:limLowPr>
                          <m:ctrlPr>
                            <a:rPr lang="en-US" sz="2800" i="1">
                              <a:solidFill>
                                <a:srgbClr val="FF0000"/>
                              </a:solidFill>
                              <a:latin typeface="Cambria Math" panose="02040503050406030204" pitchFamily="18" charset="0"/>
                            </a:rPr>
                          </m:ctrlPr>
                        </m:limLowPr>
                        <m:e>
                          <m:groupChr>
                            <m:groupChrPr>
                              <m:chr m:val="⏟"/>
                              <m:ctrlPr>
                                <a:rPr lang="en-US" sz="2800" i="1">
                                  <a:solidFill>
                                    <a:srgbClr val="FF0000"/>
                                  </a:solidFill>
                                  <a:latin typeface="Cambria Math" panose="02040503050406030204" pitchFamily="18" charset="0"/>
                                </a:rPr>
                              </m:ctrlPr>
                            </m:groupChrPr>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𝑢</m:t>
                                  </m:r>
                                </m:e>
                                <m:sub>
                                  <m:r>
                                    <a:rPr lang="en-US" sz="2800" i="1">
                                      <a:solidFill>
                                        <a:srgbClr val="FF0000"/>
                                      </a:solidFill>
                                      <a:latin typeface="Cambria Math" panose="02040503050406030204" pitchFamily="18" charset="0"/>
                                    </a:rPr>
                                    <m:t>1</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𝑢</m:t>
                                  </m:r>
                                </m:e>
                                <m:sub>
                                  <m:r>
                                    <a:rPr lang="en-US" sz="2800" i="1">
                                      <a:solidFill>
                                        <a:srgbClr val="FF0000"/>
                                      </a:solidFill>
                                      <a:latin typeface="Cambria Math" panose="02040503050406030204" pitchFamily="18" charset="0"/>
                                    </a:rPr>
                                    <m:t>1</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𝑢</m:t>
                                  </m:r>
                                </m:e>
                                <m:sub>
                                  <m:r>
                                    <a:rPr lang="en-US" sz="2800" i="1">
                                      <a:solidFill>
                                        <a:srgbClr val="FF0000"/>
                                      </a:solidFill>
                                      <a:latin typeface="Cambria Math" panose="02040503050406030204" pitchFamily="18" charset="0"/>
                                    </a:rPr>
                                    <m:t>1</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e>
                          </m:groupChr>
                        </m:e>
                        <m:lim>
                          <m:r>
                            <a:rPr lang="en-US" sz="2800" i="1">
                              <a:solidFill>
                                <a:srgbClr val="FF0000"/>
                              </a:solidFill>
                              <a:latin typeface="Cambria Math" panose="02040503050406030204" pitchFamily="18" charset="0"/>
                            </a:rPr>
                            <m:t>𝑘</m:t>
                          </m:r>
                          <m:r>
                            <a:rPr lang="en-US" sz="2800" i="1">
                              <a:solidFill>
                                <a:srgbClr val="FF0000"/>
                              </a:solidFill>
                              <a:latin typeface="Cambria Math" panose="02040503050406030204" pitchFamily="18" charset="0"/>
                            </a:rPr>
                            <m:t>个</m:t>
                          </m:r>
                        </m:lim>
                      </m:limLow>
                    </m:oMath>
                  </m:oMathPara>
                </a14:m>
                <a:endParaRPr lang="en-US" sz="2800" dirty="0"/>
              </a:p>
            </p:txBody>
          </p:sp>
        </mc:Choice>
        <mc:Fallback xmlns="">
          <p:sp>
            <p:nvSpPr>
              <p:cNvPr id="34824" name="Object 14">
                <a:extLst>
                  <a:ext uri="{FF2B5EF4-FFF2-40B4-BE49-F238E27FC236}">
                    <a16:creationId xmlns:a16="http://schemas.microsoft.com/office/drawing/2014/main" id="{EBBF6CDF-9A1C-44BB-B731-4DC05BFEF0B4}"/>
                  </a:ext>
                </a:extLst>
              </p:cNvPr>
              <p:cNvSpPr txBox="1">
                <a:spLocks noRot="1" noChangeAspect="1" noMove="1" noResize="1" noEditPoints="1" noAdjustHandles="1" noChangeArrowheads="1" noChangeShapeType="1" noTextEdit="1"/>
              </p:cNvSpPr>
              <p:nvPr/>
            </p:nvSpPr>
            <p:spPr bwMode="auto">
              <a:xfrm>
                <a:off x="1259632" y="5157192"/>
                <a:ext cx="5236046" cy="1005596"/>
              </a:xfrm>
              <a:prstGeom prst="rect">
                <a:avLst/>
              </a:prstGeom>
              <a:blipFill>
                <a:blip r:embed="rId5"/>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2" name="标题 1">
            <a:extLst>
              <a:ext uri="{FF2B5EF4-FFF2-40B4-BE49-F238E27FC236}">
                <a16:creationId xmlns:a16="http://schemas.microsoft.com/office/drawing/2014/main" id="{F0A4729A-8FE0-4383-B6EA-C8391FF081D3}"/>
              </a:ext>
            </a:extLst>
          </p:cNvPr>
          <p:cNvSpPr>
            <a:spLocks noGrp="1"/>
          </p:cNvSpPr>
          <p:nvPr>
            <p:ph type="title"/>
          </p:nvPr>
        </p:nvSpPr>
        <p:spPr/>
        <p:txBody>
          <a:bodyPr/>
          <a:lstStyle/>
          <a:p>
            <a:r>
              <a:rPr lang="en-US" altLang="zh-CN"/>
              <a:t>2.5 </a:t>
            </a:r>
            <a:r>
              <a:rPr lang="zh-CN" altLang="en-US"/>
              <a:t>奇异函数</a:t>
            </a:r>
          </a:p>
        </p:txBody>
      </p:sp>
      <mc:AlternateContent xmlns:mc="http://schemas.openxmlformats.org/markup-compatibility/2006" xmlns:a14="http://schemas.microsoft.com/office/drawing/2010/main">
        <mc:Choice Requires="a14">
          <p:sp>
            <p:nvSpPr>
              <p:cNvPr id="36873" name="内容占位符 2">
                <a:extLst>
                  <a:ext uri="{FF2B5EF4-FFF2-40B4-BE49-F238E27FC236}">
                    <a16:creationId xmlns:a16="http://schemas.microsoft.com/office/drawing/2014/main" id="{82389E78-6CDE-4D6D-A280-22D71F8913D8}"/>
                  </a:ext>
                </a:extLst>
              </p:cNvPr>
              <p:cNvSpPr>
                <a:spLocks noGrp="1"/>
              </p:cNvSpPr>
              <p:nvPr>
                <p:ph idx="1"/>
              </p:nvPr>
            </p:nvSpPr>
            <p:spPr>
              <a:xfrm>
                <a:off x="457200" y="1285875"/>
                <a:ext cx="8229600" cy="523220"/>
              </a:xfrm>
            </p:spPr>
            <p:txBody>
              <a:bodyPr>
                <a:spAutoFit/>
              </a:bodyPr>
              <a:lstStyle/>
              <a:p>
                <a:pPr marL="0" indent="0">
                  <a:buNone/>
                </a:pPr>
                <a:r>
                  <a:rPr lang="zh-CN" altLang="en-US" sz="2800" b="0" dirty="0"/>
                  <a:t>四</a:t>
                </a:r>
                <a:r>
                  <a:rPr lang="en-US" altLang="zh-CN" sz="2800" b="0" dirty="0"/>
                  <a:t>. </a:t>
                </a:r>
                <a14:m>
                  <m:oMath xmlns:m="http://schemas.openxmlformats.org/officeDocument/2006/math">
                    <m:r>
                      <a:rPr lang="en-US" sz="2800" i="1" smtClean="0">
                        <a:solidFill>
                          <a:srgbClr val="0000FF"/>
                        </a:solidFill>
                        <a:latin typeface="Cambria Math" panose="02040503050406030204" pitchFamily="18" charset="0"/>
                      </a:rPr>
                      <m:t>𝛿</m:t>
                    </m:r>
                    <m:r>
                      <a:rPr lang="en-US" sz="2800" i="1" smtClean="0">
                        <a:solidFill>
                          <a:srgbClr val="0000FF"/>
                        </a:solidFill>
                        <a:latin typeface="Cambria Math" panose="02040503050406030204" pitchFamily="18" charset="0"/>
                      </a:rPr>
                      <m:t>(</m:t>
                    </m:r>
                    <m:r>
                      <a:rPr lang="en-US" sz="2800" i="1" smtClean="0">
                        <a:solidFill>
                          <a:srgbClr val="0000FF"/>
                        </a:solidFill>
                        <a:latin typeface="Cambria Math" panose="02040503050406030204" pitchFamily="18" charset="0"/>
                      </a:rPr>
                      <m:t>𝑡</m:t>
                    </m:r>
                    <m:r>
                      <a:rPr lang="en-US" sz="2800" i="1" smtClean="0">
                        <a:solidFill>
                          <a:srgbClr val="0000FF"/>
                        </a:solidFill>
                        <a:latin typeface="Cambria Math" panose="02040503050406030204" pitchFamily="18" charset="0"/>
                      </a:rPr>
                      <m:t>)</m:t>
                    </m:r>
                  </m:oMath>
                </a14:m>
                <a:r>
                  <a:rPr lang="zh-CN" altLang="en-US" sz="2800" b="0" dirty="0">
                    <a:solidFill>
                      <a:srgbClr val="0000FF"/>
                    </a:solidFill>
                  </a:rPr>
                  <a:t>的积分</a:t>
                </a:r>
                <a:r>
                  <a:rPr lang="zh-CN" altLang="en-US" sz="2800" b="0" dirty="0"/>
                  <a:t>：类似可定义</a:t>
                </a:r>
                <a14:m>
                  <m:oMath xmlns:m="http://schemas.openxmlformats.org/officeDocument/2006/math">
                    <m:r>
                      <a:rPr lang="en-US" sz="2800" i="1">
                        <a:solidFill>
                          <a:srgbClr val="000000"/>
                        </a:solidFill>
                        <a:latin typeface="Cambria Math" panose="02040503050406030204" pitchFamily="18" charset="0"/>
                      </a:rPr>
                      <m:t>𝛿</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r>
                  <a:rPr lang="zh-CN" altLang="en-US" sz="2800" b="0" dirty="0"/>
                  <a:t>的积分 </a:t>
                </a:r>
              </a:p>
            </p:txBody>
          </p:sp>
        </mc:Choice>
        <mc:Fallback xmlns="">
          <p:sp>
            <p:nvSpPr>
              <p:cNvPr id="36873" name="内容占位符 2">
                <a:extLst>
                  <a:ext uri="{FF2B5EF4-FFF2-40B4-BE49-F238E27FC236}">
                    <a16:creationId xmlns:a16="http://schemas.microsoft.com/office/drawing/2014/main" id="{82389E78-6CDE-4D6D-A280-22D71F8913D8}"/>
                  </a:ext>
                </a:extLst>
              </p:cNvPr>
              <p:cNvSpPr>
                <a:spLocks noGrp="1" noRot="1" noChangeAspect="1" noMove="1" noResize="1" noEditPoints="1" noAdjustHandles="1" noChangeArrowheads="1" noChangeShapeType="1" noTextEdit="1"/>
              </p:cNvSpPr>
              <p:nvPr>
                <p:ph idx="1"/>
              </p:nvPr>
            </p:nvSpPr>
            <p:spPr>
              <a:xfrm>
                <a:off x="457200" y="1285875"/>
                <a:ext cx="8229600" cy="523220"/>
              </a:xfrm>
              <a:blipFill>
                <a:blip r:embed="rId2"/>
                <a:stretch>
                  <a:fillRect l="-1481" t="-15116" b="-31395"/>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94CB3E2D-444C-4F40-91E1-2E4422FD270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5A2F1A3-7331-41E0-A41E-D047CC4CEC22}"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87</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36875" name="Text Box 6">
                <a:extLst>
                  <a:ext uri="{FF2B5EF4-FFF2-40B4-BE49-F238E27FC236}">
                    <a16:creationId xmlns:a16="http://schemas.microsoft.com/office/drawing/2014/main" id="{DCBDC1ED-7A88-4CB6-BAF5-0C138D675B3C}"/>
                  </a:ext>
                </a:extLst>
              </p:cNvPr>
              <p:cNvSpPr txBox="1">
                <a:spLocks noChangeArrowheads="1"/>
              </p:cNvSpPr>
              <p:nvPr/>
            </p:nvSpPr>
            <p:spPr bwMode="auto">
              <a:xfrm>
                <a:off x="1021867" y="5842809"/>
                <a:ext cx="3478125" cy="673069"/>
              </a:xfrm>
              <a:prstGeom prst="rect">
                <a:avLst/>
              </a:prstGeom>
              <a:noFill/>
              <a:ln>
                <a:noFill/>
              </a:ln>
              <a:extLst>
                <a:ext uri="{909E8E84-426E-40DD-AFC4-6F175D3DCCD1}">
                  <a14:hiddenFill>
                    <a:solidFill>
                      <a:srgbClr val="FFFFFF"/>
                    </a:solidFill>
                  </a14:hiddenFill>
                </a:ext>
                <a:ext uri="{91240B29-F687-4F45-9708-019B960494DF}">
                  <a14:hiddenLine w="25400">
                    <a:solidFill>
                      <a:srgbClr val="000000"/>
                    </a:solidFill>
                    <a:miter lim="800000"/>
                    <a:headEnd/>
                    <a:tailEnd type="none" w="sm" len="lg"/>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just" eaLnBrk="1" hangingPunct="1">
                  <a:lnSpc>
                    <a:spcPct val="150000"/>
                  </a:lnSpc>
                  <a:defRPr/>
                </a:pPr>
                <a:r>
                  <a:rPr lang="zh-CN" altLang="en-US" sz="2800" noProof="0" dirty="0">
                    <a:latin typeface="华文楷体" panose="02010600040101010101" pitchFamily="2" charset="-122"/>
                    <a:ea typeface="华文楷体" panose="02010600040101010101" pitchFamily="2" charset="-122"/>
                    <a:cs typeface="楷体_GB2312" panose="02010609030101010101" pitchFamily="49" charset="-122"/>
                  </a:rPr>
                  <a:t>可</a:t>
                </a:r>
                <a:r>
                  <a:rPr kumimoji="0" lang="zh-CN" altLang="en-US" sz="28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用</a:t>
                </a:r>
                <a14:m>
                  <m:oMath xmlns:m="http://schemas.openxmlformats.org/officeDocument/2006/math">
                    <m:sSub>
                      <m:sSubPr>
                        <m:ctrlPr>
                          <a:rPr lang="en-US" sz="2800" i="1" smtClean="0">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𝑢</m:t>
                        </m:r>
                      </m:e>
                      <m:sub>
                        <m:r>
                          <a:rPr lang="en-US" sz="2800" i="1">
                            <a:solidFill>
                              <a:srgbClr val="FF0000"/>
                            </a:solidFill>
                            <a:latin typeface="Cambria Math" panose="02040503050406030204" pitchFamily="18" charset="0"/>
                          </a:rPr>
                          <m:t>0</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𝛿</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oMath>
                </a14:m>
                <a:r>
                  <a:rPr kumimoji="0" lang="zh-CN" altLang="en-US" sz="28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a:t>
                </a:r>
              </a:p>
            </p:txBody>
          </p:sp>
        </mc:Choice>
        <mc:Fallback xmlns="">
          <p:sp>
            <p:nvSpPr>
              <p:cNvPr id="36875" name="Text Box 6">
                <a:extLst>
                  <a:ext uri="{FF2B5EF4-FFF2-40B4-BE49-F238E27FC236}">
                    <a16:creationId xmlns:a16="http://schemas.microsoft.com/office/drawing/2014/main" id="{DCBDC1ED-7A88-4CB6-BAF5-0C138D675B3C}"/>
                  </a:ext>
                </a:extLst>
              </p:cNvPr>
              <p:cNvSpPr txBox="1">
                <a:spLocks noRot="1" noChangeAspect="1" noMove="1" noResize="1" noEditPoints="1" noAdjustHandles="1" noChangeArrowheads="1" noChangeShapeType="1" noTextEdit="1"/>
              </p:cNvSpPr>
              <p:nvPr/>
            </p:nvSpPr>
            <p:spPr bwMode="auto">
              <a:xfrm>
                <a:off x="1021867" y="5842809"/>
                <a:ext cx="3478125" cy="673069"/>
              </a:xfrm>
              <a:prstGeom prst="rect">
                <a:avLst/>
              </a:prstGeom>
              <a:blipFill>
                <a:blip r:embed="rId3"/>
                <a:stretch>
                  <a:fillRect l="-3684" b="-2432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lg"/>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869" name="Object 8">
                <a:extLst>
                  <a:ext uri="{FF2B5EF4-FFF2-40B4-BE49-F238E27FC236}">
                    <a16:creationId xmlns:a16="http://schemas.microsoft.com/office/drawing/2014/main" id="{674110C8-D8CD-459E-AD6F-5E32E0B287E1}"/>
                  </a:ext>
                </a:extLst>
              </p:cNvPr>
              <p:cNvSpPr txBox="1"/>
              <p:nvPr/>
            </p:nvSpPr>
            <p:spPr bwMode="auto">
              <a:xfrm>
                <a:off x="2555776" y="1938915"/>
                <a:ext cx="4464496" cy="1053173"/>
              </a:xfrm>
              <a:prstGeom prst="rect">
                <a:avLst/>
              </a:prstGeom>
              <a:noFill/>
              <a:ln>
                <a:noFill/>
              </a:ln>
              <a:effectLst/>
            </p:spPr>
            <p:txBody>
              <a:bodyPr>
                <a:spAutoFit/>
              </a:bodyPr>
              <a:lstStyle/>
              <a:p>
                <a:pPr/>
                <a14:m>
                  <m:oMathPara xmlns:m="http://schemas.openxmlformats.org/officeDocument/2006/math">
                    <m:oMathParaPr>
                      <m:jc m:val="center"/>
                    </m:oMathParaPr>
                    <m:oMath xmlns:m="http://schemas.openxmlformats.org/officeDocument/2006/math">
                      <m:sSub>
                        <m:sSubPr>
                          <m:ctrlPr>
                            <a:rPr lang="en-US" sz="2800" i="1" smtClean="0">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𝑢</m:t>
                          </m:r>
                        </m:e>
                        <m:sub>
                          <m:r>
                            <a:rPr lang="en-US" sz="2800" i="1">
                              <a:solidFill>
                                <a:srgbClr val="FF0000"/>
                              </a:solidFill>
                              <a:latin typeface="Cambria Math" panose="02040503050406030204" pitchFamily="18" charset="0"/>
                            </a:rPr>
                            <m:t>−1</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nary>
                        <m:naryPr>
                          <m:ctrlPr>
                            <a:rPr lang="en-US" sz="2800" i="1">
                              <a:solidFill>
                                <a:srgbClr val="FF0000"/>
                              </a:solidFill>
                              <a:latin typeface="Cambria Math" panose="02040503050406030204" pitchFamily="18" charset="0"/>
                            </a:rPr>
                          </m:ctrlPr>
                        </m:naryPr>
                        <m:sub>
                          <m:r>
                            <a:rPr lang="en-US" sz="2800" i="1">
                              <a:solidFill>
                                <a:srgbClr val="FF0000"/>
                              </a:solidFill>
                              <a:latin typeface="Cambria Math" panose="02040503050406030204" pitchFamily="18" charset="0"/>
                            </a:rPr>
                            <m:t>−∞</m:t>
                          </m:r>
                        </m:sub>
                        <m:sup>
                          <m:r>
                            <a:rPr lang="en-US" sz="2800" i="1">
                              <a:solidFill>
                                <a:srgbClr val="FF0000"/>
                              </a:solidFill>
                              <a:latin typeface="Cambria Math" panose="02040503050406030204" pitchFamily="18" charset="0"/>
                            </a:rPr>
                            <m:t>𝑡</m:t>
                          </m:r>
                        </m:sup>
                        <m:e>
                          <m:r>
                            <a:rPr lang="en-US" sz="2800" i="1">
                              <a:solidFill>
                                <a:srgbClr val="FF0000"/>
                              </a:solidFill>
                              <a:latin typeface="Cambria Math" panose="02040503050406030204" pitchFamily="18" charset="0"/>
                            </a:rPr>
                            <m:t>𝛿</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𝜏</m:t>
                          </m:r>
                          <m:r>
                            <a:rPr lang="en-US" sz="2800" i="1">
                              <a:solidFill>
                                <a:srgbClr val="FF0000"/>
                              </a:solidFill>
                              <a:latin typeface="Cambria Math" panose="02040503050406030204" pitchFamily="18" charset="0"/>
                            </a:rPr>
                            <m:t>)</m:t>
                          </m:r>
                        </m:e>
                      </m:nary>
                      <m:r>
                        <m:rPr>
                          <m:sty m:val="p"/>
                        </m:rPr>
                        <a:rPr lang="en-US" sz="2800" i="0">
                          <a:solidFill>
                            <a:srgbClr val="FF0000"/>
                          </a:solidFill>
                          <a:latin typeface="Cambria Math" panose="02040503050406030204" pitchFamily="18" charset="0"/>
                        </a:rPr>
                        <m:t>d</m:t>
                      </m:r>
                      <m:r>
                        <a:rPr lang="en-US" sz="2800" i="1">
                          <a:solidFill>
                            <a:srgbClr val="FF0000"/>
                          </a:solidFill>
                          <a:latin typeface="Cambria Math" panose="02040503050406030204" pitchFamily="18" charset="0"/>
                        </a:rPr>
                        <m:t>𝜏</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𝑢</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oMath>
                  </m:oMathPara>
                </a14:m>
                <a:endParaRPr lang="en-US" sz="2800" dirty="0">
                  <a:solidFill>
                    <a:srgbClr val="FF0000"/>
                  </a:solidFill>
                </a:endParaRPr>
              </a:p>
            </p:txBody>
          </p:sp>
        </mc:Choice>
        <mc:Fallback xmlns="">
          <p:sp>
            <p:nvSpPr>
              <p:cNvPr id="36869" name="Object 8">
                <a:extLst>
                  <a:ext uri="{FF2B5EF4-FFF2-40B4-BE49-F238E27FC236}">
                    <a16:creationId xmlns:a16="http://schemas.microsoft.com/office/drawing/2014/main" id="{674110C8-D8CD-459E-AD6F-5E32E0B287E1}"/>
                  </a:ext>
                </a:extLst>
              </p:cNvPr>
              <p:cNvSpPr txBox="1">
                <a:spLocks noRot="1" noChangeAspect="1" noMove="1" noResize="1" noEditPoints="1" noAdjustHandles="1" noChangeArrowheads="1" noChangeShapeType="1" noTextEdit="1"/>
              </p:cNvSpPr>
              <p:nvPr/>
            </p:nvSpPr>
            <p:spPr bwMode="auto">
              <a:xfrm>
                <a:off x="2555776" y="1938915"/>
                <a:ext cx="4464496" cy="1053173"/>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876" name="Text Box 10">
                <a:extLst>
                  <a:ext uri="{FF2B5EF4-FFF2-40B4-BE49-F238E27FC236}">
                    <a16:creationId xmlns:a16="http://schemas.microsoft.com/office/drawing/2014/main" id="{E82DF979-4EC6-4017-AE33-806E88AA347C}"/>
                  </a:ext>
                </a:extLst>
              </p:cNvPr>
              <p:cNvSpPr txBox="1">
                <a:spLocks noChangeArrowheads="1"/>
              </p:cNvSpPr>
              <p:nvPr/>
            </p:nvSpPr>
            <p:spPr bwMode="auto">
              <a:xfrm>
                <a:off x="1021867" y="3055977"/>
                <a:ext cx="6358446" cy="674736"/>
              </a:xfrm>
              <a:prstGeom prst="rect">
                <a:avLst/>
              </a:prstGeom>
              <a:noFill/>
              <a:ln>
                <a:noFill/>
              </a:ln>
              <a:extLst>
                <a:ext uri="{909E8E84-426E-40DD-AFC4-6F175D3DCCD1}">
                  <a14:hiddenFill>
                    <a:solidFill>
                      <a:srgbClr val="FFFFFF"/>
                    </a:solidFill>
                  </a14:hiddenFill>
                </a:ext>
                <a:ext uri="{91240B29-F687-4F45-9708-019B960494DF}">
                  <a14:hiddenLine w="25400">
                    <a:solidFill>
                      <a:srgbClr val="000000"/>
                    </a:solidFill>
                    <a:miter lim="800000"/>
                    <a:headEnd/>
                    <a:tailEnd type="none" w="sm" len="lg"/>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tabLst/>
                  <a:defRPr/>
                </a:pPr>
                <a14:m>
                  <m:oMath xmlns:m="http://schemas.openxmlformats.org/officeDocument/2006/math">
                    <m:sSub>
                      <m:sSubPr>
                        <m:ctrlPr>
                          <a:rPr lang="en-US" sz="2800" i="1" smtClean="0">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𝑢</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r>
                  <a:rPr kumimoji="0" lang="zh-CN" altLang="en-US" sz="28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是</a:t>
                </a:r>
                <a:r>
                  <a:rPr kumimoji="0" lang="zh-CN" altLang="en-US" sz="2800"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楷体_GB2312" panose="02010609030101010101" pitchFamily="49" charset="-122"/>
                  </a:rPr>
                  <a:t>理想积分器</a:t>
                </a:r>
                <a:r>
                  <a:rPr kumimoji="0" lang="zh-CN" altLang="en-US" sz="28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的单位冲激响应。</a:t>
                </a:r>
              </a:p>
            </p:txBody>
          </p:sp>
        </mc:Choice>
        <mc:Fallback xmlns="">
          <p:sp>
            <p:nvSpPr>
              <p:cNvPr id="36876" name="Text Box 10">
                <a:extLst>
                  <a:ext uri="{FF2B5EF4-FFF2-40B4-BE49-F238E27FC236}">
                    <a16:creationId xmlns:a16="http://schemas.microsoft.com/office/drawing/2014/main" id="{E82DF979-4EC6-4017-AE33-806E88AA347C}"/>
                  </a:ext>
                </a:extLst>
              </p:cNvPr>
              <p:cNvSpPr txBox="1">
                <a:spLocks noRot="1" noChangeAspect="1" noMove="1" noResize="1" noEditPoints="1" noAdjustHandles="1" noChangeArrowheads="1" noChangeShapeType="1" noTextEdit="1"/>
              </p:cNvSpPr>
              <p:nvPr/>
            </p:nvSpPr>
            <p:spPr bwMode="auto">
              <a:xfrm>
                <a:off x="1021867" y="3055977"/>
                <a:ext cx="6358446" cy="674736"/>
              </a:xfrm>
              <a:prstGeom prst="rect">
                <a:avLst/>
              </a:prstGeom>
              <a:blipFill>
                <a:blip r:embed="rId5"/>
                <a:stretch>
                  <a:fillRect b="-2432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lg"/>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870" name="Object 11">
                <a:extLst>
                  <a:ext uri="{FF2B5EF4-FFF2-40B4-BE49-F238E27FC236}">
                    <a16:creationId xmlns:a16="http://schemas.microsoft.com/office/drawing/2014/main" id="{A2D84856-0BC3-4D4B-AE82-B15C7EC9B5C6}"/>
                  </a:ext>
                </a:extLst>
              </p:cNvPr>
              <p:cNvSpPr txBox="1"/>
              <p:nvPr/>
            </p:nvSpPr>
            <p:spPr bwMode="auto">
              <a:xfrm>
                <a:off x="2634345" y="4630673"/>
                <a:ext cx="4307358" cy="1053173"/>
              </a:xfrm>
              <a:prstGeom prst="rect">
                <a:avLst/>
              </a:prstGeom>
              <a:solidFill>
                <a:srgbClr val="CCFFFF"/>
              </a:solidFill>
              <a:ln>
                <a:noFill/>
              </a:ln>
              <a:effectLst/>
            </p:spPr>
            <p:txBody>
              <a:bodyPr>
                <a:spAutoFit/>
              </a:bodyPr>
              <a:lstStyle/>
              <a:p>
                <a:pPr/>
                <a14:m>
                  <m:oMathPara xmlns:m="http://schemas.openxmlformats.org/officeDocument/2006/math">
                    <m:oMathParaPr>
                      <m:jc m:val="center"/>
                    </m:oMathParaPr>
                    <m:oMath xmlns:m="http://schemas.openxmlformats.org/officeDocument/2006/math">
                      <m:r>
                        <a:rPr lang="en-US" sz="2800" i="1" smtClean="0">
                          <a:solidFill>
                            <a:srgbClr val="FF0000"/>
                          </a:solidFill>
                          <a:latin typeface="Cambria Math" panose="02040503050406030204" pitchFamily="18" charset="0"/>
                        </a:rPr>
                        <m:t>𝑥</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𝑡</m:t>
                      </m:r>
                      <m:r>
                        <a:rPr lang="en-US" sz="2800" i="1" smtClean="0">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𝑢</m:t>
                          </m:r>
                        </m:e>
                        <m:sub>
                          <m:r>
                            <a:rPr lang="en-US" sz="2800" i="1">
                              <a:solidFill>
                                <a:srgbClr val="FF0000"/>
                              </a:solidFill>
                              <a:latin typeface="Cambria Math" panose="02040503050406030204" pitchFamily="18" charset="0"/>
                            </a:rPr>
                            <m:t>−1</m:t>
                          </m:r>
                        </m:sub>
                      </m:sSub>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nary>
                        <m:naryPr>
                          <m:ctrlPr>
                            <a:rPr lang="en-US" sz="2800" i="1">
                              <a:solidFill>
                                <a:srgbClr val="FF0000"/>
                              </a:solidFill>
                              <a:latin typeface="Cambria Math" panose="02040503050406030204" pitchFamily="18" charset="0"/>
                            </a:rPr>
                          </m:ctrlPr>
                        </m:naryPr>
                        <m:sub>
                          <m:r>
                            <a:rPr lang="en-US" sz="2800" i="1">
                              <a:solidFill>
                                <a:srgbClr val="FF0000"/>
                              </a:solidFill>
                              <a:latin typeface="Cambria Math" panose="02040503050406030204" pitchFamily="18" charset="0"/>
                            </a:rPr>
                            <m:t>−∞</m:t>
                          </m:r>
                        </m:sub>
                        <m:sup>
                          <m:r>
                            <a:rPr lang="en-US" sz="2800" i="1">
                              <a:solidFill>
                                <a:srgbClr val="FF0000"/>
                              </a:solidFill>
                              <a:latin typeface="Cambria Math" panose="02040503050406030204" pitchFamily="18" charset="0"/>
                            </a:rPr>
                            <m:t>𝑡</m:t>
                          </m:r>
                        </m:sup>
                        <m:e>
                          <m:r>
                            <a:rPr lang="en-US" sz="2800" i="1">
                              <a:solidFill>
                                <a:srgbClr val="FF0000"/>
                              </a:solidFill>
                              <a:latin typeface="Cambria Math" panose="02040503050406030204" pitchFamily="18" charset="0"/>
                            </a:rPr>
                            <m:t>𝑥</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𝜏</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𝑑</m:t>
                          </m:r>
                          <m:r>
                            <a:rPr lang="en-US" sz="2800" i="1">
                              <a:solidFill>
                                <a:srgbClr val="FF0000"/>
                              </a:solidFill>
                              <a:latin typeface="Cambria Math" panose="02040503050406030204" pitchFamily="18" charset="0"/>
                            </a:rPr>
                            <m:t>𝜏</m:t>
                          </m:r>
                        </m:e>
                      </m:nary>
                    </m:oMath>
                  </m:oMathPara>
                </a14:m>
                <a:endParaRPr lang="en-US" sz="2800" dirty="0">
                  <a:solidFill>
                    <a:srgbClr val="FF0000"/>
                  </a:solidFill>
                </a:endParaRPr>
              </a:p>
            </p:txBody>
          </p:sp>
        </mc:Choice>
        <mc:Fallback xmlns="">
          <p:sp>
            <p:nvSpPr>
              <p:cNvPr id="36870" name="Object 11">
                <a:extLst>
                  <a:ext uri="{FF2B5EF4-FFF2-40B4-BE49-F238E27FC236}">
                    <a16:creationId xmlns:a16="http://schemas.microsoft.com/office/drawing/2014/main" id="{A2D84856-0BC3-4D4B-AE82-B15C7EC9B5C6}"/>
                  </a:ext>
                </a:extLst>
              </p:cNvPr>
              <p:cNvSpPr txBox="1">
                <a:spLocks noRot="1" noChangeAspect="1" noMove="1" noResize="1" noEditPoints="1" noAdjustHandles="1" noChangeArrowheads="1" noChangeShapeType="1" noTextEdit="1"/>
              </p:cNvSpPr>
              <p:nvPr/>
            </p:nvSpPr>
            <p:spPr bwMode="auto">
              <a:xfrm>
                <a:off x="2634345" y="4630673"/>
                <a:ext cx="4307358" cy="1053173"/>
              </a:xfrm>
              <a:prstGeom prst="rect">
                <a:avLst/>
              </a:prstGeom>
              <a:blipFill>
                <a:blip r:embed="rId6"/>
                <a:stretch>
                  <a:fillRect/>
                </a:stretch>
              </a:blipFill>
              <a:ln>
                <a:noFill/>
              </a:ln>
              <a:effectLst/>
            </p:spPr>
            <p:txBody>
              <a:bodyPr/>
              <a:lstStyle/>
              <a:p>
                <a:r>
                  <a:rPr lang="en-US">
                    <a:noFill/>
                  </a:rPr>
                  <a:t> </a:t>
                </a:r>
              </a:p>
            </p:txBody>
          </p:sp>
        </mc:Fallback>
      </mc:AlternateContent>
      <p:sp>
        <p:nvSpPr>
          <p:cNvPr id="36877" name="矩形 14">
            <a:extLst>
              <a:ext uri="{FF2B5EF4-FFF2-40B4-BE49-F238E27FC236}">
                <a16:creationId xmlns:a16="http://schemas.microsoft.com/office/drawing/2014/main" id="{CDA76520-C877-47EB-A62D-1FB98722E6AD}"/>
              </a:ext>
            </a:extLst>
          </p:cNvPr>
          <p:cNvSpPr>
            <a:spLocks noChangeArrowheads="1"/>
          </p:cNvSpPr>
          <p:nvPr/>
        </p:nvSpPr>
        <p:spPr bwMode="auto">
          <a:xfrm>
            <a:off x="1021867" y="3889676"/>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spcBef>
                <a:spcPct val="0"/>
              </a:spcBef>
              <a:spcAft>
                <a:spcPct val="0"/>
              </a:spcAft>
              <a:buClrTx/>
              <a:buSzTx/>
              <a:buFontTx/>
              <a:buNone/>
              <a:tabLst/>
              <a:defRPr/>
            </a:pPr>
            <a:r>
              <a:rPr kumimoji="0" lang="zh-CN" altLang="en-US" sz="28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其运算定义为：</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5" name="标题 1">
            <a:extLst>
              <a:ext uri="{FF2B5EF4-FFF2-40B4-BE49-F238E27FC236}">
                <a16:creationId xmlns:a16="http://schemas.microsoft.com/office/drawing/2014/main" id="{31264C06-8C33-4688-AD43-62AB10CCC0FB}"/>
              </a:ext>
            </a:extLst>
          </p:cNvPr>
          <p:cNvSpPr>
            <a:spLocks noGrp="1"/>
          </p:cNvSpPr>
          <p:nvPr>
            <p:ph type="title"/>
          </p:nvPr>
        </p:nvSpPr>
        <p:spPr/>
        <p:txBody>
          <a:bodyPr/>
          <a:lstStyle/>
          <a:p>
            <a:r>
              <a:rPr lang="en-US" altLang="zh-CN"/>
              <a:t>2.5 </a:t>
            </a:r>
            <a:r>
              <a:rPr lang="zh-CN" altLang="en-US"/>
              <a:t>奇异函数</a:t>
            </a:r>
          </a:p>
        </p:txBody>
      </p:sp>
      <p:sp>
        <p:nvSpPr>
          <p:cNvPr id="37896" name="内容占位符 2">
            <a:extLst>
              <a:ext uri="{FF2B5EF4-FFF2-40B4-BE49-F238E27FC236}">
                <a16:creationId xmlns:a16="http://schemas.microsoft.com/office/drawing/2014/main" id="{196B28CB-9140-4AD0-BD52-5E5D332EBBE7}"/>
              </a:ext>
            </a:extLst>
          </p:cNvPr>
          <p:cNvSpPr>
            <a:spLocks noGrp="1"/>
          </p:cNvSpPr>
          <p:nvPr>
            <p:ph idx="1"/>
          </p:nvPr>
        </p:nvSpPr>
        <p:spPr>
          <a:xfrm>
            <a:off x="457200" y="1285875"/>
            <a:ext cx="8229600" cy="461665"/>
          </a:xfrm>
        </p:spPr>
        <p:txBody>
          <a:bodyPr>
            <a:spAutoFit/>
          </a:bodyPr>
          <a:lstStyle/>
          <a:p>
            <a:r>
              <a:rPr kumimoji="0" lang="zh-CN" altLang="en-US" sz="2400" b="1" i="0" u="none" strike="noStrike" kern="1200" cap="none" spc="0" normalizeH="0" baseline="0" noProof="0" dirty="0">
                <a:ln>
                  <a:noFill/>
                </a:ln>
                <a:solidFill>
                  <a:srgbClr val="FF0000"/>
                </a:solidFill>
                <a:effectLst/>
                <a:uLnTx/>
                <a:uFillTx/>
                <a:cs typeface="楷体_GB2312" panose="02010609030101010101" pitchFamily="49" charset="-122"/>
              </a:rPr>
              <a:t>单位斜坡函数</a:t>
            </a:r>
            <a:r>
              <a:rPr lang="zh-CN" altLang="en-US" sz="2400" b="0" dirty="0"/>
              <a:t>：</a:t>
            </a:r>
          </a:p>
        </p:txBody>
      </p:sp>
      <p:sp>
        <p:nvSpPr>
          <p:cNvPr id="4" name="灯片编号占位符 3">
            <a:extLst>
              <a:ext uri="{FF2B5EF4-FFF2-40B4-BE49-F238E27FC236}">
                <a16:creationId xmlns:a16="http://schemas.microsoft.com/office/drawing/2014/main" id="{64047CEF-690E-4261-ACEC-442E81542EE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AB9AE02-BDDB-4E2A-9574-41558F58AFA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88</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37890" name="Object 15">
                <a:extLst>
                  <a:ext uri="{FF2B5EF4-FFF2-40B4-BE49-F238E27FC236}">
                    <a16:creationId xmlns:a16="http://schemas.microsoft.com/office/drawing/2014/main" id="{00F9216C-96F2-45A5-8018-5EBDB2C61282}"/>
                  </a:ext>
                </a:extLst>
              </p:cNvPr>
              <p:cNvSpPr txBox="1"/>
              <p:nvPr/>
            </p:nvSpPr>
            <p:spPr bwMode="auto">
              <a:xfrm>
                <a:off x="1395400" y="1872822"/>
                <a:ext cx="6353199" cy="915956"/>
              </a:xfrm>
              <a:prstGeom prst="rect">
                <a:avLst/>
              </a:prstGeom>
              <a:no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𝑢</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𝑢</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𝑢</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𝑡</m:t>
                          </m:r>
                        </m:sup>
                        <m:e>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𝑑𝑡</m:t>
                          </m:r>
                        </m:e>
                      </m:nary>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37890" name="Object 15">
                <a:extLst>
                  <a:ext uri="{FF2B5EF4-FFF2-40B4-BE49-F238E27FC236}">
                    <a16:creationId xmlns:a16="http://schemas.microsoft.com/office/drawing/2014/main" id="{00F9216C-96F2-45A5-8018-5EBDB2C61282}"/>
                  </a:ext>
                </a:extLst>
              </p:cNvPr>
              <p:cNvSpPr txBox="1">
                <a:spLocks noRot="1" noChangeAspect="1" noMove="1" noResize="1" noEditPoints="1" noAdjustHandles="1" noChangeArrowheads="1" noChangeShapeType="1" noTextEdit="1"/>
              </p:cNvSpPr>
              <p:nvPr/>
            </p:nvSpPr>
            <p:spPr bwMode="auto">
              <a:xfrm>
                <a:off x="1395400" y="1872822"/>
                <a:ext cx="6353199" cy="915956"/>
              </a:xfrm>
              <a:prstGeom prst="rect">
                <a:avLst/>
              </a:prstGeom>
              <a:blipFill>
                <a:blip r:embed="rId2"/>
                <a:stretch>
                  <a:fillRect/>
                </a:stretch>
              </a:blipFill>
              <a:ln>
                <a:noFill/>
              </a:ln>
              <a:effectLst/>
            </p:spPr>
            <p:txBody>
              <a:bodyPr/>
              <a:lstStyle/>
              <a:p>
                <a:r>
                  <a:rPr lang="en-US">
                    <a:noFill/>
                  </a:rPr>
                  <a:t> </a:t>
                </a:r>
              </a:p>
            </p:txBody>
          </p:sp>
        </mc:Fallback>
      </mc:AlternateContent>
      <p:sp>
        <p:nvSpPr>
          <p:cNvPr id="16" name="Text Box 6">
            <a:extLst>
              <a:ext uri="{FF2B5EF4-FFF2-40B4-BE49-F238E27FC236}">
                <a16:creationId xmlns:a16="http://schemas.microsoft.com/office/drawing/2014/main" id="{3AC672A2-7639-42A1-A761-F6EE268C88E8}"/>
              </a:ext>
            </a:extLst>
          </p:cNvPr>
          <p:cNvSpPr txBox="1">
            <a:spLocks noChangeArrowheads="1"/>
          </p:cNvSpPr>
          <p:nvPr/>
        </p:nvSpPr>
        <p:spPr bwMode="auto">
          <a:xfrm>
            <a:off x="827584" y="2914060"/>
            <a:ext cx="20581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har char="•"/>
              <a:defRPr sz="3100">
                <a:solidFill>
                  <a:srgbClr val="CC0099"/>
                </a:solidFill>
                <a:latin typeface="Times New Roman" panose="02020603050405020304" pitchFamily="18" charset="0"/>
              </a:defRPr>
            </a:lvl1pPr>
            <a:lvl2pPr marL="742950" indent="-285750">
              <a:spcBef>
                <a:spcPct val="20000"/>
              </a:spcBef>
              <a:buChar char="–"/>
              <a:defRPr sz="2800">
                <a:solidFill>
                  <a:srgbClr val="800000"/>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100">
                <a:solidFill>
                  <a:schemeClr val="tx1"/>
                </a:solidFill>
                <a:latin typeface="Times New Roman" panose="02020603050405020304" pitchFamily="18" charset="0"/>
              </a:defRPr>
            </a:lvl4pPr>
            <a:lvl5pPr marL="2057400" indent="-228600">
              <a:spcBef>
                <a:spcPct val="20000"/>
              </a:spcBef>
              <a:buChar char="»"/>
              <a:defRPr sz="21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1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1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1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100">
                <a:solidFill>
                  <a:schemeClr val="tx1"/>
                </a:solidFill>
                <a:latin typeface="Times New Roman" panose="02020603050405020304" pitchFamily="18" charset="0"/>
              </a:defRPr>
            </a:lvl9pPr>
          </a:lstStyle>
          <a:p>
            <a:pPr eaLnBrk="1" hangingPunct="1">
              <a:spcBef>
                <a:spcPct val="50000"/>
              </a:spcBef>
              <a:buFontTx/>
              <a:buNone/>
            </a:pPr>
            <a:r>
              <a:rPr lang="zh-CN" altLang="en-US" sz="2400" dirty="0">
                <a:solidFill>
                  <a:srgbClr val="000000"/>
                </a:solidFill>
                <a:latin typeface="Cambria Math" panose="02040503050406030204" pitchFamily="18" charset="0"/>
                <a:ea typeface="楷体" panose="02010609060101010101" pitchFamily="49" charset="-122"/>
              </a:rPr>
              <a:t>运算定义：</a:t>
            </a:r>
            <a:endParaRPr lang="en-US" altLang="zh-CN" sz="2400" dirty="0">
              <a:solidFill>
                <a:srgbClr val="000000"/>
              </a:solidFill>
              <a:latin typeface="Cambria Math" panose="02040503050406030204" pitchFamily="18" charset="0"/>
              <a:ea typeface="楷体" panose="02010609060101010101" pitchFamily="49" charset="-122"/>
            </a:endParaRPr>
          </a:p>
        </p:txBody>
      </p:sp>
      <p:pic>
        <p:nvPicPr>
          <p:cNvPr id="6" name="图片 5">
            <a:extLst>
              <a:ext uri="{FF2B5EF4-FFF2-40B4-BE49-F238E27FC236}">
                <a16:creationId xmlns:a16="http://schemas.microsoft.com/office/drawing/2014/main" id="{404336A4-EDA4-4EAD-869D-747ABDC50FCC}"/>
              </a:ext>
            </a:extLst>
          </p:cNvPr>
          <p:cNvPicPr>
            <a:picLocks noChangeAspect="1"/>
          </p:cNvPicPr>
          <p:nvPr/>
        </p:nvPicPr>
        <p:blipFill>
          <a:blip r:embed="rId3"/>
          <a:stretch>
            <a:fillRect/>
          </a:stretch>
        </p:blipFill>
        <p:spPr>
          <a:xfrm>
            <a:off x="4613026" y="3744813"/>
            <a:ext cx="3943350" cy="2276475"/>
          </a:xfrm>
          <a:prstGeom prst="rect">
            <a:avLst/>
          </a:prstGeom>
        </p:spPr>
      </p:pic>
      <p:sp>
        <p:nvSpPr>
          <p:cNvPr id="21" name="矩形 14">
            <a:extLst>
              <a:ext uri="{FF2B5EF4-FFF2-40B4-BE49-F238E27FC236}">
                <a16:creationId xmlns:a16="http://schemas.microsoft.com/office/drawing/2014/main" id="{15C9C58F-5FF2-4220-8FA8-22E499EC873A}"/>
              </a:ext>
            </a:extLst>
          </p:cNvPr>
          <p:cNvSpPr>
            <a:spLocks noChangeArrowheads="1"/>
          </p:cNvSpPr>
          <p:nvPr/>
        </p:nvSpPr>
        <p:spPr bwMode="auto">
          <a:xfrm>
            <a:off x="7117648" y="4862897"/>
            <a:ext cx="10246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spcBef>
                <a:spcPct val="0"/>
              </a:spcBef>
              <a:spcAft>
                <a:spcPct val="0"/>
              </a:spcAft>
              <a:buClrTx/>
              <a:buSzTx/>
              <a:buFontTx/>
              <a:buNone/>
              <a:tabLst/>
              <a:defRPr/>
            </a:pPr>
            <a:r>
              <a:rPr kumimoji="0" lang="zh-CN" altLang="en-US"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斜率 </a:t>
            </a:r>
            <a:r>
              <a:rPr kumimoji="0" lang="en-US" altLang="zh-CN"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 1</a:t>
            </a:r>
            <a:endParaRPr kumimoji="0" lang="zh-CN" altLang="en-US"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endParaRPr>
          </a:p>
        </p:txBody>
      </p:sp>
      <mc:AlternateContent xmlns:mc="http://schemas.openxmlformats.org/markup-compatibility/2006" xmlns:a14="http://schemas.microsoft.com/office/drawing/2010/main">
        <mc:Choice Requires="a14">
          <p:sp>
            <p:nvSpPr>
              <p:cNvPr id="18" name="Object 7">
                <a:extLst>
                  <a:ext uri="{FF2B5EF4-FFF2-40B4-BE49-F238E27FC236}">
                    <a16:creationId xmlns:a16="http://schemas.microsoft.com/office/drawing/2014/main" id="{51B187F4-C946-4FE9-8190-D607CAB87ACB}"/>
                  </a:ext>
                </a:extLst>
              </p:cNvPr>
              <p:cNvSpPr txBox="1"/>
              <p:nvPr/>
            </p:nvSpPr>
            <p:spPr bwMode="auto">
              <a:xfrm>
                <a:off x="1001713" y="3501008"/>
                <a:ext cx="4578399" cy="2748573"/>
              </a:xfrm>
              <a:prstGeom prst="rect">
                <a:avLst/>
              </a:prstGeom>
              <a:noFill/>
              <a:ln>
                <a:noFill/>
              </a:ln>
              <a:effectLst/>
            </p:spPr>
            <p:txBody>
              <a:bodyPr>
                <a:spAutoFit/>
              </a:bodyPr>
              <a:lstStyle/>
              <a:p>
                <a:pPr>
                  <a:lnSpc>
                    <a:spcPct val="130000"/>
                  </a:lnSpc>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𝑢</m:t>
                          </m:r>
                        </m:e>
                        <m:sub>
                          <m:r>
                            <a:rPr lang="en-US" sz="2400" i="1">
                              <a:solidFill>
                                <a:srgbClr val="000000"/>
                              </a:solidFill>
                              <a:latin typeface="Cambria Math" panose="02040503050406030204" pitchFamily="18" charset="0"/>
                            </a:rPr>
                            <m:t>−2</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 xmlns:m="http://schemas.openxmlformats.org/officeDocument/2006/math">
                      <m:r>
                        <a:rPr lang="en-US" sz="2400" i="1">
                          <a:solidFill>
                            <a:srgbClr val="000000"/>
                          </a:solidFill>
                          <a:latin typeface="Cambria Math" panose="02040503050406030204" pitchFamily="18" charset="0"/>
                        </a:rPr>
                        <m:t>=</m:t>
                      </m:r>
                      <m:d>
                        <m:dPr>
                          <m:ctrlPr>
                            <a:rPr lang="en-US" sz="2400" i="1" smtClean="0">
                              <a:solidFill>
                                <a:srgbClr val="000000"/>
                              </a:solidFill>
                              <a:latin typeface="Cambria Math" panose="02040503050406030204" pitchFamily="18" charset="0"/>
                            </a:rPr>
                          </m:ctrlPr>
                        </m:dPr>
                        <m:e>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𝑡</m:t>
                              </m:r>
                            </m:sup>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𝜎</m:t>
                              </m:r>
                              <m:r>
                                <a:rPr lang="en-US" sz="2400" i="1">
                                  <a:solidFill>
                                    <a:srgbClr val="000000"/>
                                  </a:solidFill>
                                  <a:latin typeface="Cambria Math" panose="02040503050406030204" pitchFamily="18" charset="0"/>
                                </a:rPr>
                                <m:t>)</m:t>
                              </m:r>
                            </m:e>
                          </m:nary>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𝜎</m:t>
                          </m:r>
                        </m:e>
                      </m:d>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 xmlns:m="http://schemas.openxmlformats.org/officeDocument/2006/math">
                      <m:r>
                        <a:rPr lang="en-US" sz="2400" i="1">
                          <a:solidFill>
                            <a:srgbClr val="000000"/>
                          </a:solidFill>
                          <a:latin typeface="Cambria Math" panose="02040503050406030204" pitchFamily="18" charset="0"/>
                        </a:rPr>
                        <m:t>=</m:t>
                      </m:r>
                      <m:nary>
                        <m:naryPr>
                          <m:ctrlPr>
                            <a:rPr lang="en-US" sz="2400" i="1">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𝑡</m:t>
                          </m:r>
                        </m:sup>
                        <m:e>
                          <m:d>
                            <m:dPr>
                              <m:ctrlPr>
                                <a:rPr lang="en-US" sz="2400" i="1" smtClean="0">
                                  <a:solidFill>
                                    <a:srgbClr val="FF0000"/>
                                  </a:solidFill>
                                  <a:latin typeface="Cambria Math" panose="02040503050406030204" pitchFamily="18" charset="0"/>
                                </a:rPr>
                              </m:ctrlPr>
                            </m:dPr>
                            <m:e>
                              <m:nary>
                                <m:naryPr>
                                  <m:ctrlPr>
                                    <a:rPr lang="en-US" sz="2400" i="1">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𝜏</m:t>
                                  </m:r>
                                </m:sup>
                                <m:e>
                                  <m:r>
                                    <a:rPr lang="en-US" sz="2400" i="1">
                                      <a:solidFill>
                                        <a:srgbClr val="FF0000"/>
                                      </a:solidFill>
                                      <a:latin typeface="Cambria Math" panose="02040503050406030204" pitchFamily="18" charset="0"/>
                                    </a:rPr>
                                    <m:t>𝑥</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𝜎</m:t>
                                  </m:r>
                                  <m:r>
                                    <a:rPr lang="en-US" sz="2400" i="1">
                                      <a:solidFill>
                                        <a:srgbClr val="FF0000"/>
                                      </a:solidFill>
                                      <a:latin typeface="Cambria Math" panose="02040503050406030204" pitchFamily="18" charset="0"/>
                                    </a:rPr>
                                    <m:t>)</m:t>
                                  </m:r>
                                </m:e>
                              </m:nary>
                              <m:r>
                                <a:rPr lang="en-US" sz="2400" i="1">
                                  <a:solidFill>
                                    <a:srgbClr val="FF0000"/>
                                  </a:solidFill>
                                  <a:latin typeface="Cambria Math" panose="02040503050406030204" pitchFamily="18" charset="0"/>
                                </a:rPr>
                                <m:t>𝑑</m:t>
                              </m:r>
                              <m:r>
                                <a:rPr lang="en-US" sz="2400" i="1">
                                  <a:solidFill>
                                    <a:srgbClr val="FF0000"/>
                                  </a:solidFill>
                                  <a:latin typeface="Cambria Math" panose="02040503050406030204" pitchFamily="18" charset="0"/>
                                </a:rPr>
                                <m:t>𝜎</m:t>
                              </m:r>
                            </m:e>
                          </m:d>
                          <m:r>
                            <m:rPr>
                              <m:sty m:val="p"/>
                            </m:rPr>
                            <a:rPr lang="en-US" sz="2400" i="0">
                              <a:solidFill>
                                <a:srgbClr val="FF0000"/>
                              </a:solidFill>
                              <a:latin typeface="Cambria Math" panose="02040503050406030204" pitchFamily="18" charset="0"/>
                            </a:rPr>
                            <m:t>d</m:t>
                          </m:r>
                          <m:r>
                            <a:rPr lang="en-US" sz="2400" i="1">
                              <a:solidFill>
                                <a:srgbClr val="FF0000"/>
                              </a:solidFill>
                              <a:latin typeface="Cambria Math" panose="02040503050406030204" pitchFamily="18" charset="0"/>
                            </a:rPr>
                            <m:t>𝜏</m:t>
                          </m:r>
                        </m:e>
                      </m:nary>
                    </m:oMath>
                  </m:oMathPara>
                </a14:m>
                <a:endParaRPr lang="en-US" sz="2400" dirty="0"/>
              </a:p>
            </p:txBody>
          </p:sp>
        </mc:Choice>
        <mc:Fallback xmlns="">
          <p:sp>
            <p:nvSpPr>
              <p:cNvPr id="18" name="Object 7">
                <a:extLst>
                  <a:ext uri="{FF2B5EF4-FFF2-40B4-BE49-F238E27FC236}">
                    <a16:creationId xmlns:a16="http://schemas.microsoft.com/office/drawing/2014/main" id="{51B187F4-C946-4FE9-8190-D607CAB87ACB}"/>
                  </a:ext>
                </a:extLst>
              </p:cNvPr>
              <p:cNvSpPr txBox="1">
                <a:spLocks noRot="1" noChangeAspect="1" noMove="1" noResize="1" noEditPoints="1" noAdjustHandles="1" noChangeArrowheads="1" noChangeShapeType="1" noTextEdit="1"/>
              </p:cNvSpPr>
              <p:nvPr/>
            </p:nvSpPr>
            <p:spPr bwMode="auto">
              <a:xfrm>
                <a:off x="1001713" y="3501008"/>
                <a:ext cx="4578399" cy="2748573"/>
              </a:xfrm>
              <a:prstGeom prst="rect">
                <a:avLst/>
              </a:prstGeom>
              <a:blipFill>
                <a:blip r:embed="rId4"/>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5" name="标题 1">
            <a:extLst>
              <a:ext uri="{FF2B5EF4-FFF2-40B4-BE49-F238E27FC236}">
                <a16:creationId xmlns:a16="http://schemas.microsoft.com/office/drawing/2014/main" id="{31264C06-8C33-4688-AD43-62AB10CCC0FB}"/>
              </a:ext>
            </a:extLst>
          </p:cNvPr>
          <p:cNvSpPr>
            <a:spLocks noGrp="1"/>
          </p:cNvSpPr>
          <p:nvPr>
            <p:ph type="title"/>
          </p:nvPr>
        </p:nvSpPr>
        <p:spPr/>
        <p:txBody>
          <a:bodyPr/>
          <a:lstStyle/>
          <a:p>
            <a:r>
              <a:rPr lang="en-US" altLang="zh-CN"/>
              <a:t>2.5 </a:t>
            </a:r>
            <a:r>
              <a:rPr lang="zh-CN" altLang="en-US"/>
              <a:t>奇异函数</a:t>
            </a:r>
          </a:p>
        </p:txBody>
      </p:sp>
      <p:sp>
        <p:nvSpPr>
          <p:cNvPr id="4" name="灯片编号占位符 3">
            <a:extLst>
              <a:ext uri="{FF2B5EF4-FFF2-40B4-BE49-F238E27FC236}">
                <a16:creationId xmlns:a16="http://schemas.microsoft.com/office/drawing/2014/main" id="{64047CEF-690E-4261-ACEC-442E81542EE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AB9AE02-BDDB-4E2A-9574-41558F58AFA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89</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37891" name="Object 5">
                <a:extLst>
                  <a:ext uri="{FF2B5EF4-FFF2-40B4-BE49-F238E27FC236}">
                    <a16:creationId xmlns:a16="http://schemas.microsoft.com/office/drawing/2014/main" id="{8D68564E-9DF5-4D7B-8085-06B8293A578B}"/>
                  </a:ext>
                </a:extLst>
              </p:cNvPr>
              <p:cNvSpPr txBox="1"/>
              <p:nvPr/>
            </p:nvSpPr>
            <p:spPr bwMode="auto">
              <a:xfrm>
                <a:off x="1593411" y="2087704"/>
                <a:ext cx="6079009" cy="783804"/>
              </a:xfrm>
              <a:prstGeom prst="rect">
                <a:avLst/>
              </a:prstGeom>
              <a:no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𝑢</m:t>
                          </m:r>
                        </m:e>
                        <m:sub>
                          <m:r>
                            <a:rPr lang="en-US" sz="2400" i="1">
                              <a:solidFill>
                                <a:srgbClr val="000000"/>
                              </a:solidFill>
                              <a:latin typeface="Cambria Math" panose="02040503050406030204" pitchFamily="18" charset="0"/>
                            </a:rPr>
                            <m:t>−3</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𝑢</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𝑢</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𝑢</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2</m:t>
                          </m:r>
                        </m:den>
                      </m:f>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𝑡</m:t>
                          </m:r>
                        </m:e>
                        <m:sup>
                          <m:r>
                            <a:rPr lang="en-US" sz="2400" i="1">
                              <a:solidFill>
                                <a:srgbClr val="000000"/>
                              </a:solidFill>
                              <a:latin typeface="Cambria Math" panose="02040503050406030204" pitchFamily="18" charset="0"/>
                            </a:rPr>
                            <m:t>2</m:t>
                          </m:r>
                        </m:sup>
                      </m:sSup>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37891" name="Object 5">
                <a:extLst>
                  <a:ext uri="{FF2B5EF4-FFF2-40B4-BE49-F238E27FC236}">
                    <a16:creationId xmlns:a16="http://schemas.microsoft.com/office/drawing/2014/main" id="{8D68564E-9DF5-4D7B-8085-06B8293A578B}"/>
                  </a:ext>
                </a:extLst>
              </p:cNvPr>
              <p:cNvSpPr txBox="1">
                <a:spLocks noRot="1" noChangeAspect="1" noMove="1" noResize="1" noEditPoints="1" noAdjustHandles="1" noChangeArrowheads="1" noChangeShapeType="1" noTextEdit="1"/>
              </p:cNvSpPr>
              <p:nvPr/>
            </p:nvSpPr>
            <p:spPr bwMode="auto">
              <a:xfrm>
                <a:off x="1593411" y="2087704"/>
                <a:ext cx="6079009" cy="783804"/>
              </a:xfrm>
              <a:prstGeom prst="rect">
                <a:avLst/>
              </a:prstGeom>
              <a:blipFill>
                <a:blip r:embed="rId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892" name="Object 7">
                <a:extLst>
                  <a:ext uri="{FF2B5EF4-FFF2-40B4-BE49-F238E27FC236}">
                    <a16:creationId xmlns:a16="http://schemas.microsoft.com/office/drawing/2014/main" id="{F63A225C-92AA-4761-BA51-1DDB8F00A173}"/>
                  </a:ext>
                </a:extLst>
              </p:cNvPr>
              <p:cNvSpPr txBox="1"/>
              <p:nvPr/>
            </p:nvSpPr>
            <p:spPr bwMode="auto">
              <a:xfrm>
                <a:off x="1021419" y="3813983"/>
                <a:ext cx="7222989" cy="1123128"/>
              </a:xfrm>
              <a:prstGeom prst="rect">
                <a:avLst/>
              </a:prstGeom>
              <a:no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𝑢</m:t>
                          </m:r>
                        </m:e>
                        <m:sub>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𝑘</m:t>
                          </m:r>
                        </m:sub>
                      </m:sSub>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limLow>
                        <m:limLowPr>
                          <m:ctrlPr>
                            <a:rPr lang="en-US" sz="2400" i="1">
                              <a:solidFill>
                                <a:srgbClr val="FF0000"/>
                              </a:solidFill>
                              <a:latin typeface="Cambria Math" panose="02040503050406030204" pitchFamily="18" charset="0"/>
                            </a:rPr>
                          </m:ctrlPr>
                        </m:limLowPr>
                        <m:e>
                          <m:groupChr>
                            <m:groupChrPr>
                              <m:chr m:val="⏟"/>
                              <m:ctrlPr>
                                <a:rPr lang="en-US" sz="2400" i="1">
                                  <a:solidFill>
                                    <a:srgbClr val="FF0000"/>
                                  </a:solidFill>
                                  <a:latin typeface="Cambria Math" panose="02040503050406030204" pitchFamily="18" charset="0"/>
                                </a:rPr>
                              </m:ctrlPr>
                            </m:groupChrPr>
                            <m:e>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𝑢</m:t>
                                  </m:r>
                                </m:e>
                                <m:sub>
                                  <m:r>
                                    <a:rPr lang="en-US" sz="2400" i="1">
                                      <a:solidFill>
                                        <a:srgbClr val="FF0000"/>
                                      </a:solidFill>
                                      <a:latin typeface="Cambria Math" panose="02040503050406030204" pitchFamily="18" charset="0"/>
                                    </a:rPr>
                                    <m:t>−1</m:t>
                                  </m:r>
                                </m:sub>
                              </m:sSub>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𝑢</m:t>
                                  </m:r>
                                </m:e>
                                <m:sub>
                                  <m:r>
                                    <a:rPr lang="en-US" sz="2400" i="1">
                                      <a:solidFill>
                                        <a:srgbClr val="FF0000"/>
                                      </a:solidFill>
                                      <a:latin typeface="Cambria Math" panose="02040503050406030204" pitchFamily="18" charset="0"/>
                                    </a:rPr>
                                    <m:t>−1</m:t>
                                  </m:r>
                                </m:sub>
                              </m:sSub>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𝑢</m:t>
                                  </m:r>
                                </m:e>
                                <m:sub>
                                  <m:r>
                                    <a:rPr lang="en-US" sz="2400" i="1">
                                      <a:solidFill>
                                        <a:srgbClr val="FF0000"/>
                                      </a:solidFill>
                                      <a:latin typeface="Cambria Math" panose="02040503050406030204" pitchFamily="18" charset="0"/>
                                    </a:rPr>
                                    <m:t>−1</m:t>
                                  </m:r>
                                </m:sub>
                              </m:sSub>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e>
                          </m:groupChr>
                        </m:e>
                        <m:lim>
                          <m:r>
                            <a:rPr lang="en-US" sz="2400" i="1">
                              <a:solidFill>
                                <a:srgbClr val="FF0000"/>
                              </a:solidFill>
                              <a:latin typeface="Cambria Math" panose="02040503050406030204" pitchFamily="18" charset="0"/>
                            </a:rPr>
                            <m:t>𝑘</m:t>
                          </m:r>
                          <m:r>
                            <a:rPr lang="en-US" sz="2400" i="1">
                              <a:solidFill>
                                <a:srgbClr val="FF0000"/>
                              </a:solidFill>
                              <a:latin typeface="Cambria Math" panose="02040503050406030204" pitchFamily="18" charset="0"/>
                            </a:rPr>
                            <m:t>个</m:t>
                          </m:r>
                        </m:lim>
                      </m:limLow>
                      <m:r>
                        <a:rPr lang="en-US" sz="2400" i="1">
                          <a:solidFill>
                            <a:srgbClr val="FF0000"/>
                          </a:solidFill>
                          <a:latin typeface="Cambria Math" panose="02040503050406030204" pitchFamily="18" charset="0"/>
                        </a:rPr>
                        <m:t>=</m:t>
                      </m:r>
                      <m:f>
                        <m:fPr>
                          <m:ctrlPr>
                            <a:rPr lang="en-US" sz="2400" i="1">
                              <a:solidFill>
                                <a:srgbClr val="FF0000"/>
                              </a:solidFill>
                              <a:latin typeface="Cambria Math" panose="02040503050406030204" pitchFamily="18" charset="0"/>
                            </a:rPr>
                          </m:ctrlPr>
                        </m:fPr>
                        <m:num>
                          <m:sSup>
                            <m:sSupPr>
                              <m:ctrlPr>
                                <a:rPr lang="en-US" sz="2400" i="1">
                                  <a:solidFill>
                                    <a:srgbClr val="FF0000"/>
                                  </a:solidFill>
                                  <a:latin typeface="Cambria Math" panose="02040503050406030204" pitchFamily="18" charset="0"/>
                                </a:rPr>
                              </m:ctrlPr>
                            </m:sSupPr>
                            <m:e>
                              <m:r>
                                <a:rPr lang="en-US" sz="2400" i="1">
                                  <a:solidFill>
                                    <a:srgbClr val="FF0000"/>
                                  </a:solidFill>
                                  <a:latin typeface="Cambria Math" panose="02040503050406030204" pitchFamily="18" charset="0"/>
                                </a:rPr>
                                <m:t>𝑡</m:t>
                              </m:r>
                            </m:e>
                            <m:sup>
                              <m:r>
                                <a:rPr lang="en-US" sz="2400" i="1">
                                  <a:solidFill>
                                    <a:srgbClr val="FF0000"/>
                                  </a:solidFill>
                                  <a:latin typeface="Cambria Math" panose="02040503050406030204" pitchFamily="18" charset="0"/>
                                </a:rPr>
                                <m:t>𝑘</m:t>
                              </m:r>
                              <m:r>
                                <a:rPr lang="en-US" sz="2400" i="1">
                                  <a:solidFill>
                                    <a:srgbClr val="FF0000"/>
                                  </a:solidFill>
                                  <a:latin typeface="Cambria Math" panose="02040503050406030204" pitchFamily="18" charset="0"/>
                                </a:rPr>
                                <m:t>−1</m:t>
                              </m:r>
                            </m:sup>
                          </m:sSup>
                        </m:num>
                        <m:den>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𝑘</m:t>
                          </m:r>
                          <m:r>
                            <a:rPr lang="en-US" sz="2400" i="1">
                              <a:solidFill>
                                <a:srgbClr val="FF0000"/>
                              </a:solidFill>
                              <a:latin typeface="Cambria Math" panose="02040503050406030204" pitchFamily="18" charset="0"/>
                            </a:rPr>
                            <m:t>−1)!</m:t>
                          </m:r>
                        </m:den>
                      </m:f>
                      <m:r>
                        <a:rPr lang="en-US" sz="2400" i="1">
                          <a:solidFill>
                            <a:srgbClr val="FF0000"/>
                          </a:solidFill>
                          <a:latin typeface="Cambria Math" panose="02040503050406030204" pitchFamily="18" charset="0"/>
                        </a:rPr>
                        <m:t>𝑢</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oMath>
                  </m:oMathPara>
                </a14:m>
                <a:endParaRPr lang="en-US" sz="2400" dirty="0"/>
              </a:p>
            </p:txBody>
          </p:sp>
        </mc:Choice>
        <mc:Fallback xmlns="">
          <p:sp>
            <p:nvSpPr>
              <p:cNvPr id="37892" name="Object 7">
                <a:extLst>
                  <a:ext uri="{FF2B5EF4-FFF2-40B4-BE49-F238E27FC236}">
                    <a16:creationId xmlns:a16="http://schemas.microsoft.com/office/drawing/2014/main" id="{F63A225C-92AA-4761-BA51-1DDB8F00A173}"/>
                  </a:ext>
                </a:extLst>
              </p:cNvPr>
              <p:cNvSpPr txBox="1">
                <a:spLocks noRot="1" noChangeAspect="1" noMove="1" noResize="1" noEditPoints="1" noAdjustHandles="1" noChangeArrowheads="1" noChangeShapeType="1" noTextEdit="1"/>
              </p:cNvSpPr>
              <p:nvPr/>
            </p:nvSpPr>
            <p:spPr bwMode="auto">
              <a:xfrm>
                <a:off x="1021419" y="3813983"/>
                <a:ext cx="7222989" cy="1123128"/>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893" name="Object 8">
                <a:extLst>
                  <a:ext uri="{FF2B5EF4-FFF2-40B4-BE49-F238E27FC236}">
                    <a16:creationId xmlns:a16="http://schemas.microsoft.com/office/drawing/2014/main" id="{4F0E39C6-D5B8-420F-B6E7-5594EBCC79A8}"/>
                  </a:ext>
                </a:extLst>
              </p:cNvPr>
              <p:cNvSpPr txBox="1"/>
              <p:nvPr/>
            </p:nvSpPr>
            <p:spPr bwMode="auto">
              <a:xfrm>
                <a:off x="4478927" y="3019580"/>
                <a:ext cx="307975" cy="646331"/>
              </a:xfrm>
              <a:prstGeom prst="rect">
                <a:avLst/>
              </a:prstGeom>
              <a:noFill/>
              <a:ln>
                <a:noFill/>
              </a:ln>
              <a:effectLst/>
            </p:spPr>
            <p:txBody>
              <a:bodyPr>
                <a:spAutoFit/>
              </a:bodyPr>
              <a:lstStyle/>
              <a:p>
                <a:pPr/>
                <a14:m>
                  <m:oMathPara xmlns:m="http://schemas.openxmlformats.org/officeDocument/2006/math">
                    <m:oMathParaPr>
                      <m:jc m:val="center"/>
                    </m:oMathParaPr>
                    <m:oMath xmlns:m="http://schemas.openxmlformats.org/officeDocument/2006/math">
                      <m:r>
                        <a:rPr lang="en-US" sz="3600" i="1">
                          <a:solidFill>
                            <a:srgbClr val="000000"/>
                          </a:solidFill>
                          <a:latin typeface="Cambria Math" panose="02040503050406030204" pitchFamily="18" charset="0"/>
                        </a:rPr>
                        <m:t>⋮</m:t>
                      </m:r>
                    </m:oMath>
                  </m:oMathPara>
                </a14:m>
                <a:endParaRPr lang="en-US" sz="3600" dirty="0"/>
              </a:p>
            </p:txBody>
          </p:sp>
        </mc:Choice>
        <mc:Fallback xmlns="">
          <p:sp>
            <p:nvSpPr>
              <p:cNvPr id="37893" name="Object 8">
                <a:extLst>
                  <a:ext uri="{FF2B5EF4-FFF2-40B4-BE49-F238E27FC236}">
                    <a16:creationId xmlns:a16="http://schemas.microsoft.com/office/drawing/2014/main" id="{4F0E39C6-D5B8-420F-B6E7-5594EBCC79A8}"/>
                  </a:ext>
                </a:extLst>
              </p:cNvPr>
              <p:cNvSpPr txBox="1">
                <a:spLocks noRot="1" noChangeAspect="1" noMove="1" noResize="1" noEditPoints="1" noAdjustHandles="1" noChangeArrowheads="1" noChangeShapeType="1" noTextEdit="1"/>
              </p:cNvSpPr>
              <p:nvPr/>
            </p:nvSpPr>
            <p:spPr bwMode="auto">
              <a:xfrm>
                <a:off x="4478927" y="3019580"/>
                <a:ext cx="307975" cy="646331"/>
              </a:xfrm>
              <a:prstGeom prst="rect">
                <a:avLst/>
              </a:prstGeom>
              <a:blipFill>
                <a:blip r:embed="rId4"/>
                <a:stretch>
                  <a:fillRect/>
                </a:stretch>
              </a:blipFill>
              <a:ln>
                <a:noFill/>
              </a:ln>
              <a:effectLst/>
            </p:spPr>
            <p:txBody>
              <a:bodyPr/>
              <a:lstStyle/>
              <a:p>
                <a:r>
                  <a:rPr lang="en-US">
                    <a:noFill/>
                  </a:rPr>
                  <a:t> </a:t>
                </a:r>
              </a:p>
            </p:txBody>
          </p:sp>
        </mc:Fallback>
      </mc:AlternateContent>
      <p:sp>
        <p:nvSpPr>
          <p:cNvPr id="37900" name="Text Box 6">
            <a:extLst>
              <a:ext uri="{FF2B5EF4-FFF2-40B4-BE49-F238E27FC236}">
                <a16:creationId xmlns:a16="http://schemas.microsoft.com/office/drawing/2014/main" id="{7CFD98FF-8328-4D1C-85D4-08D47E1E21EF}"/>
              </a:ext>
            </a:extLst>
          </p:cNvPr>
          <p:cNvSpPr txBox="1">
            <a:spLocks noChangeArrowheads="1"/>
          </p:cNvSpPr>
          <p:nvPr/>
        </p:nvSpPr>
        <p:spPr bwMode="auto">
          <a:xfrm>
            <a:off x="672476" y="1477967"/>
            <a:ext cx="708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lg"/>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推广：单位阶跃函数的高阶积分</a:t>
            </a:r>
          </a:p>
        </p:txBody>
      </p:sp>
      <mc:AlternateContent xmlns:mc="http://schemas.openxmlformats.org/markup-compatibility/2006" xmlns:a14="http://schemas.microsoft.com/office/drawing/2010/main">
        <mc:Choice Requires="a14">
          <p:sp>
            <p:nvSpPr>
              <p:cNvPr id="37901" name="Text Box 3">
                <a:extLst>
                  <a:ext uri="{FF2B5EF4-FFF2-40B4-BE49-F238E27FC236}">
                    <a16:creationId xmlns:a16="http://schemas.microsoft.com/office/drawing/2014/main" id="{476B0EC5-8AEC-4550-BF0B-86C3AE4C95C9}"/>
                  </a:ext>
                </a:extLst>
              </p:cNvPr>
              <p:cNvSpPr txBox="1">
                <a:spLocks noChangeArrowheads="1"/>
              </p:cNvSpPr>
              <p:nvPr/>
            </p:nvSpPr>
            <p:spPr bwMode="auto">
              <a:xfrm>
                <a:off x="672476" y="5343599"/>
                <a:ext cx="6372578" cy="461665"/>
              </a:xfrm>
              <a:prstGeom prst="rect">
                <a:avLst/>
              </a:prstGeom>
              <a:noFill/>
              <a:ln>
                <a:noFill/>
              </a:ln>
              <a:extLst>
                <a:ext uri="{909E8E84-426E-40DD-AFC4-6F175D3DCCD1}">
                  <a14:hiddenFill>
                    <a:solidFill>
                      <a:srgbClr val="FFFFFF"/>
                    </a:solidFill>
                  </a14:hiddenFill>
                </a:ext>
                <a:ext uri="{91240B29-F687-4F45-9708-019B960494DF}">
                  <a14:hiddenLine w="25400">
                    <a:solidFill>
                      <a:srgbClr val="000000"/>
                    </a:solidFill>
                    <a:miter lim="800000"/>
                    <a:headEnd/>
                    <a:tailEnd type="none" w="sm"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spcBef>
                    <a:spcPct val="0"/>
                  </a:spcBef>
                  <a:spcAft>
                    <a:spcPct val="0"/>
                  </a:spcAft>
                  <a:buClrTx/>
                  <a:buSzTx/>
                  <a:buFontTx/>
                  <a:buNone/>
                  <a:tabLst/>
                  <a:defRPr/>
                </a:pPr>
                <a:r>
                  <a:rPr kumimoji="0" lang="zh-CN" altLang="en-US" sz="24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实际上，</a:t>
                </a:r>
                <a:r>
                  <a:rPr lang="en-US" sz="2400" dirty="0">
                    <a:solidFill>
                      <a:srgbClr val="000000"/>
                    </a:solidFill>
                  </a:rPr>
                  <a:t> </a:t>
                </a:r>
                <a14:m>
                  <m:oMath xmlns:m="http://schemas.openxmlformats.org/officeDocument/2006/math">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kumimoji="0" lang="zh-CN" altLang="en-US" sz="24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的各次积分已经是常规函数了。</a:t>
                </a:r>
              </a:p>
            </p:txBody>
          </p:sp>
        </mc:Choice>
        <mc:Fallback xmlns="">
          <p:sp>
            <p:nvSpPr>
              <p:cNvPr id="37901" name="Text Box 3">
                <a:extLst>
                  <a:ext uri="{FF2B5EF4-FFF2-40B4-BE49-F238E27FC236}">
                    <a16:creationId xmlns:a16="http://schemas.microsoft.com/office/drawing/2014/main" id="{476B0EC5-8AEC-4550-BF0B-86C3AE4C95C9}"/>
                  </a:ext>
                </a:extLst>
              </p:cNvPr>
              <p:cNvSpPr txBox="1">
                <a:spLocks noRot="1" noChangeAspect="1" noMove="1" noResize="1" noEditPoints="1" noAdjustHandles="1" noChangeArrowheads="1" noChangeShapeType="1" noTextEdit="1"/>
              </p:cNvSpPr>
              <p:nvPr/>
            </p:nvSpPr>
            <p:spPr bwMode="auto">
              <a:xfrm>
                <a:off x="672476" y="5343599"/>
                <a:ext cx="6372578" cy="461665"/>
              </a:xfrm>
              <a:prstGeom prst="rect">
                <a:avLst/>
              </a:prstGeom>
              <a:blipFill>
                <a:blip r:embed="rId5"/>
                <a:stretch>
                  <a:fillRect l="-1434" t="-9333" r="-478" b="-32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lg"/>
                  </a14:hiddenLine>
                </a:ext>
              </a:extLst>
            </p:spPr>
            <p:txBody>
              <a:bodyPr/>
              <a:lstStyle/>
              <a:p>
                <a:r>
                  <a:rPr lang="en-US">
                    <a:noFill/>
                  </a:rPr>
                  <a:t> </a:t>
                </a:r>
              </a:p>
            </p:txBody>
          </p:sp>
        </mc:Fallback>
      </mc:AlternateContent>
    </p:spTree>
    <p:extLst>
      <p:ext uri="{BB962C8B-B14F-4D97-AF65-F5344CB8AC3E}">
        <p14:creationId xmlns:p14="http://schemas.microsoft.com/office/powerpoint/2010/main" val="2592963253"/>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30AD8-5AFE-48AB-9C71-9149836067B8}"/>
              </a:ext>
            </a:extLst>
          </p:cNvPr>
          <p:cNvSpPr>
            <a:spLocks noGrp="1"/>
          </p:cNvSpPr>
          <p:nvPr>
            <p:ph type="title"/>
          </p:nvPr>
        </p:nvSpPr>
        <p:spPr/>
        <p:txBody>
          <a:bodyPr/>
          <a:lstStyle/>
          <a:p>
            <a:r>
              <a:rPr lang="zh-CN" altLang="en-US" dirty="0"/>
              <a:t>课后作业</a:t>
            </a:r>
            <a:endParaRPr lang="en-US" dirty="0"/>
          </a:p>
        </p:txBody>
      </p:sp>
      <p:sp>
        <p:nvSpPr>
          <p:cNvPr id="3" name="内容占位符 2">
            <a:extLst>
              <a:ext uri="{FF2B5EF4-FFF2-40B4-BE49-F238E27FC236}">
                <a16:creationId xmlns:a16="http://schemas.microsoft.com/office/drawing/2014/main" id="{2D1D437D-C598-40E2-B0B9-F3A9C6B201DE}"/>
              </a:ext>
            </a:extLst>
          </p:cNvPr>
          <p:cNvSpPr>
            <a:spLocks noGrp="1"/>
          </p:cNvSpPr>
          <p:nvPr>
            <p:ph idx="1"/>
          </p:nvPr>
        </p:nvSpPr>
        <p:spPr>
          <a:xfrm>
            <a:off x="457200" y="1285875"/>
            <a:ext cx="8229600" cy="523220"/>
          </a:xfrm>
        </p:spPr>
        <p:txBody>
          <a:bodyPr>
            <a:spAutoFit/>
          </a:bodyPr>
          <a:lstStyle/>
          <a:p>
            <a:pPr>
              <a:spcBef>
                <a:spcPts val="0"/>
              </a:spcBef>
              <a:spcAft>
                <a:spcPts val="0"/>
              </a:spcAft>
            </a:pPr>
            <a:r>
              <a:rPr lang="en-US" altLang="zh-CN" sz="2800" b="0" dirty="0"/>
              <a:t>2.39(b)</a:t>
            </a:r>
            <a:r>
              <a:rPr lang="zh-CN" altLang="en-US" sz="2800" b="0" dirty="0"/>
              <a:t>、</a:t>
            </a:r>
            <a:r>
              <a:rPr lang="en-US" altLang="zh-CN" sz="2800" b="0" dirty="0"/>
              <a:t>2.20</a:t>
            </a:r>
            <a:endParaRPr lang="en-US" sz="2800" b="0" dirty="0"/>
          </a:p>
        </p:txBody>
      </p:sp>
      <p:sp>
        <p:nvSpPr>
          <p:cNvPr id="4" name="灯片编号占位符 3">
            <a:extLst>
              <a:ext uri="{FF2B5EF4-FFF2-40B4-BE49-F238E27FC236}">
                <a16:creationId xmlns:a16="http://schemas.microsoft.com/office/drawing/2014/main" id="{C018AEBB-9A02-4033-B315-77405E85549F}"/>
              </a:ext>
            </a:extLst>
          </p:cNvPr>
          <p:cNvSpPr>
            <a:spLocks noGrp="1"/>
          </p:cNvSpPr>
          <p:nvPr>
            <p:ph type="sldNum" sz="quarter" idx="12"/>
          </p:nvPr>
        </p:nvSpPr>
        <p:spPr/>
        <p:txBody>
          <a:bodyPr/>
          <a:lstStyle/>
          <a:p>
            <a:fld id="{D6CC5206-228A-4188-B6B3-2BFCD2AC1E6E}" type="slidenum">
              <a:rPr lang="zh-CN" altLang="en-US" smtClean="0"/>
              <a:pPr/>
              <a:t>90</a:t>
            </a:fld>
            <a:endParaRPr lang="zh-CN" altLang="en-US"/>
          </a:p>
        </p:txBody>
      </p:sp>
    </p:spTree>
    <p:extLst>
      <p:ext uri="{BB962C8B-B14F-4D97-AF65-F5344CB8AC3E}">
        <p14:creationId xmlns:p14="http://schemas.microsoft.com/office/powerpoint/2010/main" val="257314870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标题 1">
            <a:extLst>
              <a:ext uri="{FF2B5EF4-FFF2-40B4-BE49-F238E27FC236}">
                <a16:creationId xmlns:a16="http://schemas.microsoft.com/office/drawing/2014/main" id="{F75D41E0-D060-4B2F-B61E-AAE752210619}"/>
              </a:ext>
            </a:extLst>
          </p:cNvPr>
          <p:cNvSpPr>
            <a:spLocks noGrp="1"/>
          </p:cNvSpPr>
          <p:nvPr>
            <p:ph type="title"/>
          </p:nvPr>
        </p:nvSpPr>
        <p:spPr/>
        <p:txBody>
          <a:bodyPr/>
          <a:lstStyle/>
          <a:p>
            <a:r>
              <a:rPr lang="zh-CN" altLang="en-US"/>
              <a:t>本章小结</a:t>
            </a:r>
          </a:p>
        </p:txBody>
      </p:sp>
      <mc:AlternateContent xmlns:mc="http://schemas.openxmlformats.org/markup-compatibility/2006" xmlns:a14="http://schemas.microsoft.com/office/drawing/2010/main">
        <mc:Choice Requires="a14">
          <p:sp>
            <p:nvSpPr>
              <p:cNvPr id="7174" name="内容占位符 2">
                <a:extLst>
                  <a:ext uri="{FF2B5EF4-FFF2-40B4-BE49-F238E27FC236}">
                    <a16:creationId xmlns:a16="http://schemas.microsoft.com/office/drawing/2014/main" id="{2C045CEB-E46C-4CBF-904D-F6AF81FADB94}"/>
                  </a:ext>
                </a:extLst>
              </p:cNvPr>
              <p:cNvSpPr>
                <a:spLocks noGrp="1"/>
              </p:cNvSpPr>
              <p:nvPr>
                <p:ph idx="1"/>
              </p:nvPr>
            </p:nvSpPr>
            <p:spPr>
              <a:xfrm>
                <a:off x="457200" y="1285875"/>
                <a:ext cx="8229600" cy="5115759"/>
              </a:xfrm>
            </p:spPr>
            <p:txBody>
              <a:bodyPr>
                <a:spAutoFit/>
              </a:bodyPr>
              <a:lstStyle/>
              <a:p>
                <a:pPr>
                  <a:spcBef>
                    <a:spcPts val="0"/>
                  </a:spcBef>
                  <a:spcAft>
                    <a:spcPts val="600"/>
                  </a:spcAft>
                </a:pPr>
                <a:r>
                  <a:rPr lang="zh-CN" altLang="en-US" sz="2400" b="0" dirty="0" smtClean="0"/>
                  <a:t>信号在时域可分解为单位脉冲</a:t>
                </a:r>
                <a:r>
                  <a:rPr lang="en-US" altLang="zh-CN" sz="2400" b="0" dirty="0"/>
                  <a:t>/</a:t>
                </a:r>
                <a:r>
                  <a:rPr lang="zh-CN" altLang="en-US" sz="2400" b="0" dirty="0"/>
                  <a:t>冲激信号的叠加</a:t>
                </a:r>
                <a:r>
                  <a:rPr lang="en-US" altLang="zh-CN" sz="2400" b="0" dirty="0"/>
                  <a:t>:</a:t>
                </a:r>
              </a:p>
              <a:p>
                <a:pPr marL="0" indent="0">
                  <a:spcBef>
                    <a:spcPts val="0"/>
                  </a:spcBef>
                  <a:spcAft>
                    <a:spcPts val="600"/>
                  </a:spcAft>
                  <a:buNone/>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𝑥</m:t>
                      </m:r>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𝑛</m:t>
                          </m:r>
                        </m:e>
                      </m:d>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𝑛</m:t>
                          </m:r>
                        </m:e>
                      </m:d>
                      <m:r>
                        <a:rPr lang="en-US" sz="2400" b="1"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𝑥</m:t>
                          </m:r>
                          <m:d>
                            <m:dPr>
                              <m:begChr m:val="["/>
                              <m:endChr m:val="]"/>
                              <m:ctrlPr>
                                <a:rPr lang="en-US" sz="2400" i="1" smtClean="0">
                                  <a:solidFill>
                                    <a:srgbClr val="000000"/>
                                  </a:solidFill>
                                  <a:latin typeface="Cambria Math" panose="02040503050406030204" pitchFamily="18" charset="0"/>
                                </a:rPr>
                              </m:ctrlPr>
                            </m:dPr>
                            <m:e>
                              <m:r>
                                <a:rPr lang="en-US" sz="2400" i="1" smtClean="0">
                                  <a:solidFill>
                                    <a:srgbClr val="000000"/>
                                  </a:solidFill>
                                  <a:latin typeface="Cambria Math" panose="02040503050406030204" pitchFamily="18" charset="0"/>
                                </a:rPr>
                                <m:t>𝑘</m:t>
                              </m:r>
                            </m:e>
                          </m:d>
                          <m:r>
                            <a:rPr lang="en-US" sz="2400" i="1">
                              <a:solidFill>
                                <a:srgbClr val="000000"/>
                              </a:solidFill>
                              <a:latin typeface="Cambria Math" panose="02040503050406030204" pitchFamily="18" charset="0"/>
                            </a:rPr>
                            <m:t>𝛿</m:t>
                          </m:r>
                          <m:r>
                            <a:rPr lang="en-US" sz="2400" b="1"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b="1" i="1" smtClean="0">
                              <a:solidFill>
                                <a:srgbClr val="000000"/>
                              </a:solidFill>
                              <a:latin typeface="Cambria Math" panose="02040503050406030204" pitchFamily="18" charset="0"/>
                            </a:rPr>
                            <m:t>]</m:t>
                          </m:r>
                        </m:e>
                      </m:nary>
                    </m:oMath>
                    <m:oMath xmlns:m="http://schemas.openxmlformats.org/officeDocument/2006/math">
                      <m:r>
                        <a:rPr lang="en-US" sz="2400" i="1">
                          <a:solidFill>
                            <a:srgbClr val="000000"/>
                          </a:solidFill>
                          <a:latin typeface="Cambria Math" panose="02040503050406030204" pitchFamily="18" charset="0"/>
                        </a:rPr>
                        <m:t>𝑥</m:t>
                      </m:r>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𝑡</m:t>
                          </m:r>
                        </m:e>
                      </m:d>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𝑡</m:t>
                          </m:r>
                        </m:e>
                      </m:d>
                      <m:r>
                        <a:rPr lang="en-US" sz="2400" b="1"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𝑡</m:t>
                      </m:r>
                      <m:r>
                        <a:rPr lang="en-US" sz="2400" b="0" i="1" smtClean="0">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e>
                      </m:nary>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𝑑</m:t>
                      </m:r>
                      <m:r>
                        <a:rPr lang="en-US" sz="2400" i="1">
                          <a:solidFill>
                            <a:srgbClr val="000000"/>
                          </a:solidFill>
                          <a:latin typeface="Cambria Math" panose="02040503050406030204" pitchFamily="18" charset="0"/>
                        </a:rPr>
                        <m:t>𝜏</m:t>
                      </m:r>
                    </m:oMath>
                  </m:oMathPara>
                </a14:m>
                <a:endParaRPr lang="en-US" altLang="zh-CN" sz="2400" b="0" dirty="0"/>
              </a:p>
              <a:p>
                <a:pPr>
                  <a:spcBef>
                    <a:spcPts val="0"/>
                  </a:spcBef>
                  <a:spcAft>
                    <a:spcPts val="600"/>
                  </a:spcAft>
                </a:pPr>
                <a:r>
                  <a:rPr lang="en-US" altLang="zh-CN" sz="2400" b="0" dirty="0"/>
                  <a:t>LTI</a:t>
                </a:r>
                <a:r>
                  <a:rPr lang="zh-CN" altLang="en-US" sz="2400" b="0" dirty="0"/>
                  <a:t>系统的时域分析</a:t>
                </a:r>
                <a:r>
                  <a:rPr lang="en-US" altLang="zh-CN" sz="2400" b="0" dirty="0"/>
                  <a:t>——</a:t>
                </a:r>
                <a:r>
                  <a:rPr lang="zh-CN" altLang="en-US" sz="2400" b="0" dirty="0"/>
                  <a:t>输出可表示为输入信号与单位脉冲</a:t>
                </a:r>
                <a:r>
                  <a:rPr lang="en-US" altLang="zh-CN" sz="2400" b="0" dirty="0"/>
                  <a:t>/</a:t>
                </a:r>
                <a:r>
                  <a:rPr lang="zh-CN" altLang="en-US" sz="2400" b="0" dirty="0"/>
                  <a:t>冲激响应的卷积</a:t>
                </a:r>
                <a:endParaRPr lang="en-US" altLang="zh-CN" sz="2400" b="0" dirty="0"/>
              </a:p>
              <a:p>
                <a:pPr marL="0" indent="0">
                  <a:spcBef>
                    <a:spcPts val="0"/>
                  </a:spcBef>
                  <a:spcAft>
                    <a:spcPts val="600"/>
                  </a:spcAft>
                  <a:buNone/>
                </a:pPr>
                <a14:m>
                  <m:oMathPara xmlns:m="http://schemas.openxmlformats.org/officeDocument/2006/math">
                    <m:oMathParaPr>
                      <m:jc m:val="centerGroup"/>
                    </m:oMathParaPr>
                    <m:oMath xmlns:m="http://schemas.openxmlformats.org/officeDocument/2006/math">
                      <m:r>
                        <a:rPr lang="en-US" sz="2400" b="1" i="1" smtClean="0">
                          <a:solidFill>
                            <a:srgbClr val="000000"/>
                          </a:solidFill>
                          <a:latin typeface="Cambria Math" panose="02040503050406030204" pitchFamily="18" charset="0"/>
                        </a:rPr>
                        <m:t>𝒚</m:t>
                      </m:r>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𝑛</m:t>
                          </m:r>
                        </m:e>
                      </m:d>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𝑛</m:t>
                          </m:r>
                        </m:e>
                      </m:d>
                      <m:r>
                        <a:rPr lang="en-US" sz="2400" b="1"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h</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𝑛</m:t>
                      </m:r>
                      <m:r>
                        <a:rPr lang="en-US" sz="2400" b="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𝑥</m:t>
                          </m:r>
                          <m:d>
                            <m:dPr>
                              <m:begChr m:val="["/>
                              <m:endChr m:val="]"/>
                              <m:ctrlPr>
                                <a:rPr lang="en-US" sz="2400" i="1" smtClean="0">
                                  <a:solidFill>
                                    <a:srgbClr val="000000"/>
                                  </a:solidFill>
                                  <a:latin typeface="Cambria Math" panose="02040503050406030204" pitchFamily="18" charset="0"/>
                                </a:rPr>
                              </m:ctrlPr>
                            </m:dPr>
                            <m:e>
                              <m:r>
                                <a:rPr lang="en-US" sz="2400" i="1" smtClean="0">
                                  <a:solidFill>
                                    <a:srgbClr val="000000"/>
                                  </a:solidFill>
                                  <a:latin typeface="Cambria Math" panose="02040503050406030204" pitchFamily="18" charset="0"/>
                                </a:rPr>
                                <m:t>𝑘</m:t>
                              </m:r>
                            </m:e>
                          </m:d>
                          <m:r>
                            <a:rPr lang="en-US" sz="2400" b="0" i="1" smtClean="0">
                              <a:solidFill>
                                <a:srgbClr val="000000"/>
                              </a:solidFill>
                              <a:latin typeface="Cambria Math" panose="02040503050406030204" pitchFamily="18" charset="0"/>
                            </a:rPr>
                            <m:t>h</m:t>
                          </m:r>
                          <m:r>
                            <a:rPr lang="en-US" sz="2400" b="1"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b="1" i="1" smtClean="0">
                              <a:solidFill>
                                <a:srgbClr val="000000"/>
                              </a:solidFill>
                              <a:latin typeface="Cambria Math" panose="02040503050406030204" pitchFamily="18" charset="0"/>
                            </a:rPr>
                            <m:t>]</m:t>
                          </m:r>
                        </m:e>
                      </m:nary>
                    </m:oMath>
                    <m:oMath xmlns:m="http://schemas.openxmlformats.org/officeDocument/2006/math">
                      <m:r>
                        <a:rPr lang="en-US" sz="2400" b="1" i="1" smtClean="0">
                          <a:solidFill>
                            <a:srgbClr val="000000"/>
                          </a:solidFill>
                          <a:latin typeface="Cambria Math" panose="02040503050406030204" pitchFamily="18" charset="0"/>
                        </a:rPr>
                        <m:t>𝒚</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𝑡</m:t>
                          </m:r>
                        </m:e>
                      </m:d>
                      <m:r>
                        <a:rPr lang="en-US" sz="2400" i="1">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h</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𝑡</m:t>
                      </m:r>
                      <m:r>
                        <a:rPr lang="en-US" sz="2400" b="0" i="1">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e>
                      </m:nary>
                      <m:r>
                        <a:rPr lang="en-US" sz="2400" b="0" i="1" smtClean="0">
                          <a:solidFill>
                            <a:srgbClr val="000000"/>
                          </a:solidFill>
                          <a:latin typeface="Cambria Math" panose="02040503050406030204" pitchFamily="18" charset="0"/>
                        </a:rPr>
                        <m:t>h</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𝑑</m:t>
                      </m:r>
                      <m:r>
                        <a:rPr lang="en-US" sz="2400" i="1">
                          <a:solidFill>
                            <a:srgbClr val="000000"/>
                          </a:solidFill>
                          <a:latin typeface="Cambria Math" panose="02040503050406030204" pitchFamily="18" charset="0"/>
                        </a:rPr>
                        <m:t>𝜏</m:t>
                      </m:r>
                    </m:oMath>
                  </m:oMathPara>
                </a14:m>
                <a:endParaRPr lang="en-US" altLang="zh-CN" sz="2400" b="0" dirty="0"/>
              </a:p>
            </p:txBody>
          </p:sp>
        </mc:Choice>
        <mc:Fallback xmlns="">
          <p:sp>
            <p:nvSpPr>
              <p:cNvPr id="7174" name="内容占位符 2">
                <a:extLst>
                  <a:ext uri="{FF2B5EF4-FFF2-40B4-BE49-F238E27FC236}">
                    <a16:creationId xmlns:a16="http://schemas.microsoft.com/office/drawing/2014/main" id="{2C045CEB-E46C-4CBF-904D-F6AF81FADB94}"/>
                  </a:ext>
                </a:extLst>
              </p:cNvPr>
              <p:cNvSpPr>
                <a:spLocks noGrp="1" noRot="1" noChangeAspect="1" noMove="1" noResize="1" noEditPoints="1" noAdjustHandles="1" noChangeArrowheads="1" noChangeShapeType="1" noTextEdit="1"/>
              </p:cNvSpPr>
              <p:nvPr>
                <p:ph idx="1"/>
              </p:nvPr>
            </p:nvSpPr>
            <p:spPr>
              <a:xfrm>
                <a:off x="457200" y="1285875"/>
                <a:ext cx="8229600" cy="5115759"/>
              </a:xfrm>
              <a:blipFill>
                <a:blip r:embed="rId2"/>
                <a:stretch>
                  <a:fillRect l="-963" t="-1073"/>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1C377C83-7523-42B3-BF50-ABE95042231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70CB96D-575D-4EE3-8AA6-6C9E1E24B396}"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91</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标题 1">
            <a:extLst>
              <a:ext uri="{FF2B5EF4-FFF2-40B4-BE49-F238E27FC236}">
                <a16:creationId xmlns:a16="http://schemas.microsoft.com/office/drawing/2014/main" id="{F7DEC4DF-47B2-4D9C-BCC4-AD63A4C88E07}"/>
              </a:ext>
            </a:extLst>
          </p:cNvPr>
          <p:cNvSpPr>
            <a:spLocks noGrp="1"/>
          </p:cNvSpPr>
          <p:nvPr>
            <p:ph type="title"/>
          </p:nvPr>
        </p:nvSpPr>
        <p:spPr/>
        <p:txBody>
          <a:bodyPr/>
          <a:lstStyle/>
          <a:p>
            <a:r>
              <a:rPr lang="zh-CN" altLang="en-US"/>
              <a:t>本章小结</a:t>
            </a:r>
          </a:p>
        </p:txBody>
      </p:sp>
      <mc:AlternateContent xmlns:mc="http://schemas.openxmlformats.org/markup-compatibility/2006" xmlns:a14="http://schemas.microsoft.com/office/drawing/2010/main">
        <mc:Choice Requires="a14">
          <p:sp>
            <p:nvSpPr>
              <p:cNvPr id="8198" name="内容占位符 2">
                <a:extLst>
                  <a:ext uri="{FF2B5EF4-FFF2-40B4-BE49-F238E27FC236}">
                    <a16:creationId xmlns:a16="http://schemas.microsoft.com/office/drawing/2014/main" id="{EF9AF69B-582F-44F3-A483-49A04E488DB1}"/>
                  </a:ext>
                </a:extLst>
              </p:cNvPr>
              <p:cNvSpPr>
                <a:spLocks noGrp="1"/>
              </p:cNvSpPr>
              <p:nvPr>
                <p:ph idx="1"/>
              </p:nvPr>
            </p:nvSpPr>
            <p:spPr>
              <a:xfrm>
                <a:off x="457200" y="1285875"/>
                <a:ext cx="8229600" cy="4930196"/>
              </a:xfrm>
            </p:spPr>
            <p:txBody>
              <a:bodyPr>
                <a:spAutoFit/>
              </a:bodyPr>
              <a:lstStyle/>
              <a:p>
                <a:pPr>
                  <a:lnSpc>
                    <a:spcPct val="150000"/>
                  </a:lnSpc>
                  <a:spcBef>
                    <a:spcPts val="0"/>
                  </a:spcBef>
                  <a:spcAft>
                    <a:spcPts val="600"/>
                  </a:spcAft>
                </a:pPr>
                <a:r>
                  <a:rPr lang="en-US" altLang="zh-CN" sz="2400" b="0" dirty="0"/>
                  <a:t>LTI</a:t>
                </a:r>
                <a:r>
                  <a:rPr lang="zh-CN" altLang="en-US" sz="2400" b="0" dirty="0"/>
                  <a:t>系统的描述方法：</a:t>
                </a:r>
              </a:p>
              <a:p>
                <a:pPr lvl="1">
                  <a:lnSpc>
                    <a:spcPct val="150000"/>
                  </a:lnSpc>
                  <a:spcBef>
                    <a:spcPts val="0"/>
                  </a:spcBef>
                  <a:spcAft>
                    <a:spcPts val="600"/>
                  </a:spcAft>
                </a:pPr>
                <a:r>
                  <a:rPr lang="zh-CN" altLang="en-US" sz="2400" b="0" dirty="0"/>
                  <a:t>①用</a:t>
                </a:r>
                <a14:m>
                  <m:oMath xmlns:m="http://schemas.openxmlformats.org/officeDocument/2006/math">
                    <m:r>
                      <a:rPr lang="en-US" sz="2400" i="1">
                        <a:solidFill>
                          <a:srgbClr val="000000"/>
                        </a:solidFill>
                        <a:latin typeface="Cambria Math" panose="02040503050406030204" pitchFamily="18" charset="0"/>
                      </a:rPr>
                      <m:t>h</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h</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oMath>
                </a14:m>
                <a:r>
                  <a:rPr lang="zh-CN" altLang="en-US" sz="2400" b="0" dirty="0"/>
                  <a:t>描述系统</a:t>
                </a:r>
                <a:r>
                  <a:rPr lang="en-US" altLang="zh-CN" sz="2400" b="0" dirty="0"/>
                  <a:t>(</a:t>
                </a:r>
                <a:r>
                  <a:rPr lang="zh-CN" altLang="en-US" sz="2400" b="0" dirty="0"/>
                  <a:t>也可用</a:t>
                </a:r>
                <a14:m>
                  <m:oMath xmlns:m="http://schemas.openxmlformats.org/officeDocument/2006/math">
                    <m:r>
                      <a:rPr lang="en-US" sz="2400" i="1">
                        <a:solidFill>
                          <a:srgbClr val="000000"/>
                        </a:solidFill>
                        <a:latin typeface="Cambria Math" panose="02040503050406030204" pitchFamily="18" charset="0"/>
                      </a:rPr>
                      <m:t>𝑠</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𝑠</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oMath>
                </a14:m>
                <a:r>
                  <a:rPr lang="zh-CN" altLang="en-US" sz="2400" b="0" dirty="0"/>
                  <a:t>描述</a:t>
                </a:r>
                <a:r>
                  <a:rPr lang="en-US" altLang="zh-CN" sz="2400" b="0" dirty="0"/>
                  <a:t>)</a:t>
                </a:r>
                <a:r>
                  <a:rPr lang="zh-CN" altLang="en-US" sz="2400" b="0" dirty="0"/>
                  <a:t>；</a:t>
                </a:r>
              </a:p>
              <a:p>
                <a:pPr lvl="1">
                  <a:lnSpc>
                    <a:spcPct val="150000"/>
                  </a:lnSpc>
                  <a:spcBef>
                    <a:spcPts val="0"/>
                  </a:spcBef>
                  <a:spcAft>
                    <a:spcPts val="600"/>
                  </a:spcAft>
                </a:pPr>
                <a:r>
                  <a:rPr lang="zh-CN" altLang="en-US" sz="2400" b="0" dirty="0"/>
                  <a:t>②用线性常系数微分或差分方程连同初始松弛条件描述</a:t>
                </a:r>
                <a:r>
                  <a:rPr lang="en-US" altLang="zh-CN" sz="2400" b="0" dirty="0"/>
                  <a:t>LTI</a:t>
                </a:r>
                <a:r>
                  <a:rPr lang="zh-CN" altLang="en-US" sz="2400" b="0" dirty="0"/>
                  <a:t>系统，或用等价的方框图描述。</a:t>
                </a:r>
              </a:p>
              <a:p>
                <a:pPr>
                  <a:lnSpc>
                    <a:spcPct val="150000"/>
                  </a:lnSpc>
                  <a:spcBef>
                    <a:spcPts val="0"/>
                  </a:spcBef>
                  <a:spcAft>
                    <a:spcPts val="600"/>
                  </a:spcAft>
                </a:pPr>
                <a:r>
                  <a:rPr lang="en-US" altLang="zh-CN" sz="2400" b="0" dirty="0"/>
                  <a:t>LTI</a:t>
                </a:r>
                <a:r>
                  <a:rPr lang="zh-CN" altLang="en-US" sz="2400" b="0" dirty="0"/>
                  <a:t>系统的特性与</a:t>
                </a:r>
                <a14:m>
                  <m:oMath xmlns:m="http://schemas.openxmlformats.org/officeDocument/2006/math">
                    <m:r>
                      <a:rPr lang="en-US" sz="2400" b="0" i="1" smtClean="0">
                        <a:solidFill>
                          <a:srgbClr val="000000"/>
                        </a:solidFill>
                        <a:latin typeface="Cambria Math" panose="02040503050406030204" pitchFamily="18" charset="0"/>
                      </a:rPr>
                      <m:t>h</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𝑡</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h</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a14:m>
                <a:r>
                  <a:rPr lang="zh-CN" altLang="en-US" sz="2400" b="0" dirty="0"/>
                  <a:t>的关系：</a:t>
                </a:r>
                <a:endParaRPr lang="en-US" altLang="zh-CN" sz="2400" b="0" dirty="0"/>
              </a:p>
              <a:p>
                <a:pPr lvl="1">
                  <a:lnSpc>
                    <a:spcPct val="150000"/>
                  </a:lnSpc>
                  <a:spcBef>
                    <a:spcPts val="0"/>
                  </a:spcBef>
                  <a:spcAft>
                    <a:spcPts val="600"/>
                  </a:spcAft>
                </a:pPr>
                <a:r>
                  <a:rPr lang="zh-CN" altLang="en-US" sz="2400" b="0" spc="-80" dirty="0"/>
                  <a:t>记忆性、因果性、稳定性、可逆性可由</a:t>
                </a:r>
                <a14:m>
                  <m:oMath xmlns:m="http://schemas.openxmlformats.org/officeDocument/2006/math">
                    <m:r>
                      <a:rPr lang="en-US" sz="2400" b="0" i="1" spc="-80" smtClean="0">
                        <a:solidFill>
                          <a:srgbClr val="000000"/>
                        </a:solidFill>
                        <a:latin typeface="Cambria Math" panose="02040503050406030204" pitchFamily="18" charset="0"/>
                      </a:rPr>
                      <m:t>h</m:t>
                    </m:r>
                    <m:r>
                      <a:rPr lang="en-US" sz="2400" b="0" i="1" spc="-80" smtClean="0">
                        <a:solidFill>
                          <a:srgbClr val="000000"/>
                        </a:solidFill>
                        <a:latin typeface="Cambria Math" panose="02040503050406030204" pitchFamily="18" charset="0"/>
                      </a:rPr>
                      <m:t>(</m:t>
                    </m:r>
                    <m:r>
                      <a:rPr lang="en-US" sz="2400" b="0" i="1" spc="-80" smtClean="0">
                        <a:solidFill>
                          <a:srgbClr val="000000"/>
                        </a:solidFill>
                        <a:latin typeface="Cambria Math" panose="02040503050406030204" pitchFamily="18" charset="0"/>
                      </a:rPr>
                      <m:t>𝑡</m:t>
                    </m:r>
                    <m:r>
                      <a:rPr lang="en-US" sz="2400" b="0" i="1" spc="-80" smtClean="0">
                        <a:solidFill>
                          <a:srgbClr val="000000"/>
                        </a:solidFill>
                        <a:latin typeface="Cambria Math" panose="02040503050406030204" pitchFamily="18" charset="0"/>
                      </a:rPr>
                      <m:t>)</m:t>
                    </m:r>
                    <m:r>
                      <a:rPr lang="en-US" sz="2400" b="0" i="1" spc="-80" smtClean="0">
                        <a:solidFill>
                          <a:srgbClr val="000000"/>
                        </a:solidFill>
                        <a:latin typeface="Cambria Math" panose="02040503050406030204" pitchFamily="18" charset="0"/>
                      </a:rPr>
                      <m:t>、</m:t>
                    </m:r>
                    <m:r>
                      <a:rPr lang="en-US" sz="2400" b="0" i="1" spc="-80" smtClean="0">
                        <a:solidFill>
                          <a:srgbClr val="000000"/>
                        </a:solidFill>
                        <a:latin typeface="Cambria Math" panose="02040503050406030204" pitchFamily="18" charset="0"/>
                      </a:rPr>
                      <m:t>h</m:t>
                    </m:r>
                    <m:r>
                      <a:rPr lang="en-US" sz="2400" b="0" i="1" spc="-80" smtClean="0">
                        <a:solidFill>
                          <a:srgbClr val="000000"/>
                        </a:solidFill>
                        <a:latin typeface="Cambria Math" panose="02040503050406030204" pitchFamily="18" charset="0"/>
                      </a:rPr>
                      <m:t>[</m:t>
                    </m:r>
                    <m:r>
                      <a:rPr lang="en-US" sz="2400" b="0" i="1" spc="-80" smtClean="0">
                        <a:solidFill>
                          <a:srgbClr val="000000"/>
                        </a:solidFill>
                        <a:latin typeface="Cambria Math" panose="02040503050406030204" pitchFamily="18" charset="0"/>
                      </a:rPr>
                      <m:t>𝑛</m:t>
                    </m:r>
                    <m:r>
                      <a:rPr lang="en-US" sz="2400" b="0" i="1" spc="-80" smtClean="0">
                        <a:solidFill>
                          <a:srgbClr val="000000"/>
                        </a:solidFill>
                        <a:latin typeface="Cambria Math" panose="02040503050406030204" pitchFamily="18" charset="0"/>
                      </a:rPr>
                      <m:t>]</m:t>
                    </m:r>
                  </m:oMath>
                </a14:m>
                <a:r>
                  <a:rPr lang="zh-CN" altLang="en-US" sz="2400" b="0" spc="-80" dirty="0"/>
                  <a:t>描述；</a:t>
                </a:r>
                <a:endParaRPr lang="en-US" altLang="zh-CN" sz="2400" b="0" spc="-80" dirty="0"/>
              </a:p>
              <a:p>
                <a:pPr lvl="1">
                  <a:lnSpc>
                    <a:spcPct val="150000"/>
                  </a:lnSpc>
                  <a:spcBef>
                    <a:spcPts val="0"/>
                  </a:spcBef>
                  <a:spcAft>
                    <a:spcPts val="600"/>
                  </a:spcAft>
                </a:pPr>
                <a:r>
                  <a:rPr lang="zh-CN" altLang="en-US" sz="2400" b="0" dirty="0"/>
                  <a:t>系统级联、并联时，</a:t>
                </a:r>
                <a14:m>
                  <m:oMath xmlns:m="http://schemas.openxmlformats.org/officeDocument/2006/math">
                    <m:r>
                      <a:rPr lang="en-US" sz="2400" b="0" i="1">
                        <a:solidFill>
                          <a:srgbClr val="000000"/>
                        </a:solidFill>
                        <a:latin typeface="Cambria Math" panose="02040503050406030204" pitchFamily="18" charset="0"/>
                      </a:rPr>
                      <m:t>h</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𝑡</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h</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a14:m>
                <a:r>
                  <a:rPr lang="zh-CN" altLang="en-US" sz="2400" b="0" dirty="0"/>
                  <a:t>与各子系统的关系。</a:t>
                </a:r>
                <a:endParaRPr lang="en-US" altLang="zh-CN" sz="2400" b="0" dirty="0"/>
              </a:p>
              <a:p>
                <a:pPr>
                  <a:lnSpc>
                    <a:spcPct val="150000"/>
                  </a:lnSpc>
                  <a:spcBef>
                    <a:spcPts val="0"/>
                  </a:spcBef>
                  <a:spcAft>
                    <a:spcPts val="600"/>
                  </a:spcAft>
                </a:pPr>
                <a:r>
                  <a:rPr lang="zh-CN" altLang="en-US" sz="2400" b="0" dirty="0"/>
                  <a:t>奇异函数：单位冲激函数、单位冲激偶</a:t>
                </a:r>
              </a:p>
            </p:txBody>
          </p:sp>
        </mc:Choice>
        <mc:Fallback xmlns="">
          <p:sp>
            <p:nvSpPr>
              <p:cNvPr id="8198" name="内容占位符 2">
                <a:extLst>
                  <a:ext uri="{FF2B5EF4-FFF2-40B4-BE49-F238E27FC236}">
                    <a16:creationId xmlns:a16="http://schemas.microsoft.com/office/drawing/2014/main" id="{EF9AF69B-582F-44F3-A483-49A04E488DB1}"/>
                  </a:ext>
                </a:extLst>
              </p:cNvPr>
              <p:cNvSpPr>
                <a:spLocks noGrp="1" noRot="1" noChangeAspect="1" noMove="1" noResize="1" noEditPoints="1" noAdjustHandles="1" noChangeArrowheads="1" noChangeShapeType="1" noTextEdit="1"/>
              </p:cNvSpPr>
              <p:nvPr>
                <p:ph idx="1"/>
              </p:nvPr>
            </p:nvSpPr>
            <p:spPr>
              <a:xfrm>
                <a:off x="457200" y="1285875"/>
                <a:ext cx="8229600" cy="4930196"/>
              </a:xfrm>
              <a:blipFill>
                <a:blip r:embed="rId2"/>
                <a:stretch>
                  <a:fillRect l="-963" b="-1978"/>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61384C7C-A0D3-4990-BEB5-A21107C7120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310BBFD-3821-47D9-A54D-7DDF0D10A21F}"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92</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SOURCE" val="\documentclass{seminar}\pagestyle{empty}&#10;\usepackage[dvips]{pstcol,graphicx}&#10;\usepackage{semrot,epsf}&#10;\usepackage{amsmath,pstricks,semcolor}&#10;\usepackage{epic}&#10;\begin{document}&#10;\begin{center}&#10;\begin{equation*}&#10;x[n]=\cdots + x[-2]\delta[n+2] + x[-1]\delta[n+1] + x[0]\delta[n]+x[1]\delta[n-1]+\cdots &#10;\end{equation*}&#10;\begin{equation*}&#10;\Downarrow&#10;\end{equation*}&#10;\begin{equation*}&#10;x[n] = \sum_{k=-\infty}^\infty \underbrace{x[k]}_{} \underbrace{\delta[n-k]}_{}&#10;\end{equation*}&#10;\end{center}&#10;&#10;\end{document}&#10;"/>
  <p:tag name="EXTERNALNAME" val="lec3s4"/>
  <p:tag name="BLEND" val="False"/>
  <p:tag name="TRANSPARENT" val="False"/>
  <p:tag name="KEEPFILES" val="True"/>
  <p:tag name="DEBUGPAUSE" val="False"/>
  <p:tag name="RESOLUTION" val="300"/>
  <p:tag name="TIMEOUT" val="15"/>
  <p:tag name="BITMAPFORMAT" val="bmpmono"/>
  <p:tag name="DEBUGINTERACTIVE" val="True"/>
  <p:tag name="ORIGWIDTH" val="644.875"/>
  <p:tag name="PICTUREFILESIZE" val="19595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10038</TotalTime>
  <Words>4133</Words>
  <Application>Microsoft Office PowerPoint</Application>
  <PresentationFormat>全屏显示(4:3)</PresentationFormat>
  <Paragraphs>847</Paragraphs>
  <Slides>92</Slides>
  <Notes>12</Notes>
  <HiddenSlides>0</HiddenSlides>
  <MMClips>0</MMClips>
  <ScaleCrop>false</ScaleCrop>
  <HeadingPairs>
    <vt:vector size="8" baseType="variant">
      <vt:variant>
        <vt:lpstr>已用的字体</vt:lpstr>
      </vt:variant>
      <vt:variant>
        <vt:i4>12</vt:i4>
      </vt:variant>
      <vt:variant>
        <vt:lpstr>主题</vt:lpstr>
      </vt:variant>
      <vt:variant>
        <vt:i4>4</vt:i4>
      </vt:variant>
      <vt:variant>
        <vt:lpstr>嵌入 OLE 服务器</vt:lpstr>
      </vt:variant>
      <vt:variant>
        <vt:i4>1</vt:i4>
      </vt:variant>
      <vt:variant>
        <vt:lpstr>幻灯片标题</vt:lpstr>
      </vt:variant>
      <vt:variant>
        <vt:i4>92</vt:i4>
      </vt:variant>
    </vt:vector>
  </HeadingPairs>
  <TitlesOfParts>
    <vt:vector size="109" baseType="lpstr">
      <vt:lpstr>黑体</vt:lpstr>
      <vt:lpstr>华文楷体</vt:lpstr>
      <vt:lpstr>华文行楷</vt:lpstr>
      <vt:lpstr>楷体</vt:lpstr>
      <vt:lpstr>楷体_GB2312</vt:lpstr>
      <vt:lpstr>宋体</vt:lpstr>
      <vt:lpstr>Arial</vt:lpstr>
      <vt:lpstr>Arial Black</vt:lpstr>
      <vt:lpstr>Calibri</vt:lpstr>
      <vt:lpstr>Cambria Math</vt:lpstr>
      <vt:lpstr>Georgia</vt:lpstr>
      <vt:lpstr>Times New Roman</vt:lpstr>
      <vt:lpstr>Office 主题</vt:lpstr>
      <vt:lpstr>1_Office 主题</vt:lpstr>
      <vt:lpstr>2_Office 主题</vt:lpstr>
      <vt:lpstr>3_Office 主题</vt:lpstr>
      <vt:lpstr>Equation</vt:lpstr>
      <vt:lpstr>第二章 线性时不变系统</vt:lpstr>
      <vt:lpstr>引言</vt:lpstr>
      <vt:lpstr>引言</vt:lpstr>
      <vt:lpstr>2.1 离散时间LTI系统：卷积和</vt:lpstr>
      <vt:lpstr>2.1 离散时间LTI系统：卷积和</vt:lpstr>
      <vt:lpstr>2.1 离散时间LTI系统：卷积和</vt:lpstr>
      <vt:lpstr>2.1 离散时间LTI系统：卷积和</vt:lpstr>
      <vt:lpstr>2.1 离散时间LTI系统：卷积和</vt:lpstr>
      <vt:lpstr>2.1 离散时间LTI系统：卷积和</vt:lpstr>
      <vt:lpstr>1.4  单位冲激与单位阶跃函数</vt:lpstr>
      <vt:lpstr>2.1 离散时间LTI系统：卷积和</vt:lpstr>
      <vt:lpstr>2.1 离散时间LTI系统：卷积和</vt:lpstr>
      <vt:lpstr>2.1 离散时间LTI系统：卷积和</vt:lpstr>
      <vt:lpstr>2.1 离散时间LTI系统：卷积和</vt:lpstr>
      <vt:lpstr>2.1 离散时间LTI系统：卷积和</vt:lpstr>
      <vt:lpstr>2.1 离散时间LTI系统：卷积和</vt:lpstr>
      <vt:lpstr>2.1 离散时间LTI系统：卷积和</vt:lpstr>
      <vt:lpstr>2.1 离散时间LTI系统：卷积和</vt:lpstr>
      <vt:lpstr>2.1 离散时间LTI系统：卷积和</vt:lpstr>
      <vt:lpstr>2.1 离散时间LTI系统：卷积和</vt:lpstr>
      <vt:lpstr>2.1 离散时间LTI系统：卷积和</vt:lpstr>
      <vt:lpstr>2.2 连续时间LTI系统：卷积积分</vt:lpstr>
      <vt:lpstr>2.2 连续时间LTI系统：卷积积分</vt:lpstr>
      <vt:lpstr>2.2 连续时间LTI系统：卷积积分</vt:lpstr>
      <vt:lpstr>2.2 连续时间LTI系统：卷积积分</vt:lpstr>
      <vt:lpstr>2.2 连续时间LTI系统：卷积积分</vt:lpstr>
      <vt:lpstr>2.2 连续时间LTI系统：卷积积分</vt:lpstr>
      <vt:lpstr>2.2 连续时间LTI系统：卷积积分</vt:lpstr>
      <vt:lpstr>2.2 连续时间LTI系统：卷积积分</vt:lpstr>
      <vt:lpstr>2.2 连续时间LTI系统：卷积积分</vt:lpstr>
      <vt:lpstr>2.2 连续时间LTI系统：卷积积分</vt:lpstr>
      <vt:lpstr>PowerPoint 演示文稿</vt:lpstr>
      <vt:lpstr>2.2 连续时间LTI系统：卷积积分</vt:lpstr>
      <vt:lpstr>2.2 连续时间LTI系统：卷积积分</vt:lpstr>
      <vt:lpstr>课后作业</vt:lpstr>
      <vt:lpstr>2.3 线性时不变系统的性质</vt:lpstr>
      <vt:lpstr>2.3 线性时不变系统的性质</vt:lpstr>
      <vt:lpstr>2.3 线性时不变系统的性质</vt:lpstr>
      <vt:lpstr>2.3 线性时不变系统的性质</vt:lpstr>
      <vt:lpstr>2.3 线性时不变系统的性质</vt:lpstr>
      <vt:lpstr>2.3 线性时不变系统的性质</vt:lpstr>
      <vt:lpstr>2.3 线性时不变系统的性质</vt:lpstr>
      <vt:lpstr>2.3 线性时不变系统的性质</vt:lpstr>
      <vt:lpstr>2.3 线性时不变系统的性质</vt:lpstr>
      <vt:lpstr>2.3 线性时不变系统的性质</vt:lpstr>
      <vt:lpstr>2.3 线性时不变系统的性质</vt:lpstr>
      <vt:lpstr>2.3 线性时不变系统的性质</vt:lpstr>
      <vt:lpstr>2.3 线性时不变系统的性质</vt:lpstr>
      <vt:lpstr>2.3 线性时不变系统的性质</vt:lpstr>
      <vt:lpstr>2.3 线性时不变系统的性质</vt:lpstr>
      <vt:lpstr>2.3 线性时不变系统的性质</vt:lpstr>
      <vt:lpstr>2.3 线性时不变系统的性质</vt:lpstr>
      <vt:lpstr>2.3 线性时不变系统的性质</vt:lpstr>
      <vt:lpstr>2.4 用微分和差分方程描述的因果LTI系统</vt:lpstr>
      <vt:lpstr>2.4 用微分和差分方程描述的因果LTI系统</vt:lpstr>
      <vt:lpstr>2.4 用微分和差分方程描述的因果LTI系统</vt:lpstr>
      <vt:lpstr>2.4 用微分和差分方程描述的因果LTI系统</vt:lpstr>
      <vt:lpstr>2.4 用微分和差分方程描述的因果LTI系统</vt:lpstr>
      <vt:lpstr>2.4 用微分和差分方程描述的因果LTI系统</vt:lpstr>
      <vt:lpstr>课后作业</vt:lpstr>
      <vt:lpstr>2.4 用微分和差分方程描述的因果LTI系统</vt:lpstr>
      <vt:lpstr>2.4 用微分和差分方程描述的因果LTI系统</vt:lpstr>
      <vt:lpstr>2.4 用微分和差分方程描述的因果LTI系统</vt:lpstr>
      <vt:lpstr>2.4 用微分和差分方程描述的因果LTI系统</vt:lpstr>
      <vt:lpstr>2.4 用微分和差分方程描述的因果LTI系统</vt:lpstr>
      <vt:lpstr>2.4 用微分和差分方程描述的因果LTI系统</vt:lpstr>
      <vt:lpstr>2.4 用微分和差分方程描述的因果LTI系统</vt:lpstr>
      <vt:lpstr>2.4 用微分和差分方程描述的因果LTI系统</vt:lpstr>
      <vt:lpstr>2.4 用微分和差分方程描述的因果LTI系统</vt:lpstr>
      <vt:lpstr>2.4 用微分和差分方程描述的因果LTI系统</vt:lpstr>
      <vt:lpstr>2.4 用微分和差分方程描述的因果LTI系统</vt:lpstr>
      <vt:lpstr>2.4 用微分和差分方程描述的因果LTI系统</vt:lpstr>
      <vt:lpstr>2.4 用微分和差分方程描述的因果LTI系统</vt:lpstr>
      <vt:lpstr>2.4 用微分和差分方程描述的因果LTI系统</vt:lpstr>
      <vt:lpstr>2.5 奇异函数</vt:lpstr>
      <vt:lpstr>2.5 奇异函数</vt:lpstr>
      <vt:lpstr>2.5 奇异函数</vt:lpstr>
      <vt:lpstr>2.5 奇异函数</vt:lpstr>
      <vt:lpstr>2.5 奇异函数</vt:lpstr>
      <vt:lpstr>2.5 奇异函数</vt:lpstr>
      <vt:lpstr>2.5 奇异函数</vt:lpstr>
      <vt:lpstr>2.5 奇异函数</vt:lpstr>
      <vt:lpstr>2.5 奇异函数</vt:lpstr>
      <vt:lpstr>2.5 奇异函数</vt:lpstr>
      <vt:lpstr>2.5 奇异函数</vt:lpstr>
      <vt:lpstr>2.5 奇异函数</vt:lpstr>
      <vt:lpstr>2.5 奇异函数</vt:lpstr>
      <vt:lpstr>2.5 奇异函数</vt:lpstr>
      <vt:lpstr>2.5 奇异函数</vt:lpstr>
      <vt:lpstr>课后作业</vt:lpstr>
      <vt:lpstr>本章小结</vt:lpstr>
      <vt:lpstr>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hp</dc:creator>
  <cp:lastModifiedBy>Dell</cp:lastModifiedBy>
  <cp:revision>562</cp:revision>
  <dcterms:created xsi:type="dcterms:W3CDTF">2009-02-26T06:47:18Z</dcterms:created>
  <dcterms:modified xsi:type="dcterms:W3CDTF">2024-03-12T13:54:31Z</dcterms:modified>
</cp:coreProperties>
</file>